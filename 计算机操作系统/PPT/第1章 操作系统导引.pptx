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55"/>
  </p:notesMasterIdLst>
  <p:sldIdLst>
    <p:sldId id="1252" r:id="rId2"/>
    <p:sldId id="1254" r:id="rId3"/>
    <p:sldId id="1322" r:id="rId4"/>
    <p:sldId id="1321" r:id="rId5"/>
    <p:sldId id="1255" r:id="rId6"/>
    <p:sldId id="1288" r:id="rId7"/>
    <p:sldId id="1287" r:id="rId8"/>
    <p:sldId id="1290" r:id="rId9"/>
    <p:sldId id="1289" r:id="rId10"/>
    <p:sldId id="1291" r:id="rId11"/>
    <p:sldId id="1260" r:id="rId12"/>
    <p:sldId id="1262" r:id="rId13"/>
    <p:sldId id="1261" r:id="rId14"/>
    <p:sldId id="1264" r:id="rId15"/>
    <p:sldId id="1267" r:id="rId16"/>
    <p:sldId id="1265" r:id="rId17"/>
    <p:sldId id="1266" r:id="rId18"/>
    <p:sldId id="1272" r:id="rId19"/>
    <p:sldId id="1273" r:id="rId20"/>
    <p:sldId id="1274" r:id="rId21"/>
    <p:sldId id="1275" r:id="rId22"/>
    <p:sldId id="1276" r:id="rId23"/>
    <p:sldId id="1277" r:id="rId24"/>
    <p:sldId id="1278" r:id="rId25"/>
    <p:sldId id="1292" r:id="rId26"/>
    <p:sldId id="1293" r:id="rId27"/>
    <p:sldId id="1294" r:id="rId28"/>
    <p:sldId id="1268" r:id="rId29"/>
    <p:sldId id="1269" r:id="rId30"/>
    <p:sldId id="1295" r:id="rId31"/>
    <p:sldId id="1296" r:id="rId32"/>
    <p:sldId id="1297" r:id="rId33"/>
    <p:sldId id="1270" r:id="rId34"/>
    <p:sldId id="1298" r:id="rId35"/>
    <p:sldId id="1299" r:id="rId36"/>
    <p:sldId id="1300" r:id="rId37"/>
    <p:sldId id="1301" r:id="rId38"/>
    <p:sldId id="1302" r:id="rId39"/>
    <p:sldId id="1303" r:id="rId40"/>
    <p:sldId id="1304" r:id="rId41"/>
    <p:sldId id="1305" r:id="rId42"/>
    <p:sldId id="1306" r:id="rId43"/>
    <p:sldId id="1307" r:id="rId44"/>
    <p:sldId id="1271" r:id="rId45"/>
    <p:sldId id="1308" r:id="rId46"/>
    <p:sldId id="1313" r:id="rId47"/>
    <p:sldId id="1314" r:id="rId48"/>
    <p:sldId id="1315" r:id="rId49"/>
    <p:sldId id="1316" r:id="rId50"/>
    <p:sldId id="1317" r:id="rId51"/>
    <p:sldId id="1318" r:id="rId52"/>
    <p:sldId id="1319" r:id="rId53"/>
    <p:sldId id="1320"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 id="2" name="先亮 江" initials="先亮" lastIdx="1" clrIdx="1">
    <p:extLst>
      <p:ext uri="{19B8F6BF-5375-455C-9EA6-DF929625EA0E}">
        <p15:presenceInfo xmlns:p15="http://schemas.microsoft.com/office/powerpoint/2012/main" userId="c2205197a7c947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79" autoAdjust="0"/>
    <p:restoredTop sz="84431" autoAdjust="0"/>
  </p:normalViewPr>
  <p:slideViewPr>
    <p:cSldViewPr snapToGrid="0" snapToObjects="1">
      <p:cViewPr varScale="1">
        <p:scale>
          <a:sx n="97" d="100"/>
          <a:sy n="97" d="100"/>
        </p:scale>
        <p:origin x="2418" y="96"/>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2024/9/23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p:cNvSpPr>
            <a:spLocks noGrp="1"/>
          </p:cNvSpPr>
          <p:nvPr>
            <p:ph type="subTitle" idx="1" hasCustomPrompt="1"/>
          </p:nvPr>
        </p:nvSpPr>
        <p:spPr>
          <a:xfrm>
            <a:off x="1524000" y="3602038"/>
            <a:ext cx="9144000" cy="1655762"/>
          </a:xfrm>
          <a:ln>
            <a:noFill/>
          </a:ln>
        </p:spPr>
        <p:txBody>
          <a:bodyPr/>
          <a:lstStyle>
            <a:lvl1pPr marL="0" indent="0" algn="ctr">
              <a:buNone/>
              <a:defRPr sz="2400">
                <a:latin typeface="Times New Roman" panose="02020603050405020304" pitchFamily="18" charset="0"/>
                <a:ea typeface="+mj-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E6C9AC36-F551-8142-B918-8641B516A611}" type="datetime1">
              <a:rPr kumimoji="1" lang="zh-CN" altLang="en-US" smtClean="0"/>
              <a:pPr/>
              <a:t>2024/9/23</a:t>
            </a:fld>
            <a:endParaRPr kumimoji="1" lang="zh-CN" altLang="en-US" dirty="0"/>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dirty="0"/>
          </a:p>
        </p:txBody>
      </p:sp>
      <p:sp>
        <p:nvSpPr>
          <p:cNvPr id="7" name="矩形 6"/>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j-ea"/>
                <a:cs typeface="Times New Roman" panose="02020603050405020304" pitchFamily="18" charset="0"/>
              </a:rPr>
              <a:t>操作系统讲义</a:t>
            </a:r>
          </a:p>
        </p:txBody>
      </p:sp>
      <p:sp>
        <p:nvSpPr>
          <p:cNvPr id="9" name="文本框 8"/>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j-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j-ea"/>
                <a:cs typeface="Times New Roman" panose="02020603050405020304" pitchFamily="18" charset="0"/>
              </a:rPr>
              <a:t>·</a:t>
            </a:r>
            <a:r>
              <a:rPr lang="zh-CN" altLang="en-US" sz="2000" spc="600" dirty="0">
                <a:solidFill>
                  <a:srgbClr val="5B307E"/>
                </a:solidFill>
                <a:latin typeface="Times New Roman" panose="02020603050405020304" pitchFamily="18" charset="0"/>
                <a:ea typeface="+mj-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j-ea"/>
                <a:cs typeface="Times New Roman" panose="02020603050405020304" pitchFamily="18" charset="0"/>
              </a:rPr>
              <a:t>·</a:t>
            </a:r>
            <a:r>
              <a:rPr lang="zh-CN" altLang="en-US" sz="2000" spc="600" dirty="0">
                <a:solidFill>
                  <a:srgbClr val="5B307E"/>
                </a:solidFill>
                <a:latin typeface="Times New Roman" panose="02020603050405020304" pitchFamily="18" charset="0"/>
                <a:ea typeface="+mj-ea"/>
                <a:cs typeface="Times New Roman" panose="02020603050405020304" pitchFamily="18" charset="0"/>
              </a:rPr>
              <a:t>系统</a:t>
            </a:r>
          </a:p>
        </p:txBody>
      </p:sp>
      <p:sp>
        <p:nvSpPr>
          <p:cNvPr id="8" name="文本框 7"/>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j-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j-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j-ea"/>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20000"/>
              </a:lnSpc>
              <a:spcBef>
                <a:spcPts val="600"/>
              </a:spcBef>
              <a:buFont typeface="Wingdings" panose="05000000000000000000" pitchFamily="2" charset="2"/>
              <a:buChar char="Ø"/>
              <a:defRPr>
                <a:latin typeface="Times New Roman" panose="02020603050405020304" pitchFamily="18" charset="0"/>
                <a:ea typeface="+mj-ea"/>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mj-ea"/>
                <a:cs typeface="Times New Roman" panose="02020603050405020304" pitchFamily="18" charset="0"/>
              </a:defRPr>
            </a:lvl2pPr>
            <a:lvl3pPr>
              <a:lnSpc>
                <a:spcPct val="120000"/>
              </a:lnSpc>
              <a:spcBef>
                <a:spcPts val="600"/>
              </a:spcBef>
              <a:defRPr>
                <a:latin typeface="Times New Roman" panose="02020603050405020304" pitchFamily="18" charset="0"/>
                <a:ea typeface="+mj-ea"/>
                <a:cs typeface="Times New Roman" panose="02020603050405020304" pitchFamily="18" charset="0"/>
              </a:defRPr>
            </a:lvl3pPr>
            <a:lvl4pPr>
              <a:lnSpc>
                <a:spcPct val="120000"/>
              </a:lnSpc>
              <a:spcBef>
                <a:spcPts val="600"/>
              </a:spcBef>
              <a:defRPr>
                <a:latin typeface="Times New Roman" panose="02020603050405020304" pitchFamily="18" charset="0"/>
                <a:ea typeface="+mj-ea"/>
                <a:cs typeface="Times New Roman" panose="02020603050405020304" pitchFamily="18" charset="0"/>
              </a:defRPr>
            </a:lvl4pPr>
            <a:lvl5pPr>
              <a:lnSpc>
                <a:spcPct val="120000"/>
              </a:lnSpc>
              <a:spcBef>
                <a:spcPts val="600"/>
              </a:spcBef>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D9F44458-A3AD-7248-AB3A-A80099144E2A}" type="datetime1">
              <a:rPr kumimoji="1" lang="zh-CN" altLang="en-US" smtClean="0"/>
              <a:pPr/>
              <a:t>2024/9/23</a:t>
            </a:fld>
            <a:endParaRPr kumimoji="1"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pPr/>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grpSp>
      <p:pic>
        <p:nvPicPr>
          <p:cNvPr id="8" name="图片 7"/>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603050405020304" pitchFamily="18" charset="0"/>
              <a:ea typeface="+mj-ea"/>
              <a:cs typeface="Times New Roman" panose="02020603050405020304" pitchFamily="18" charset="0"/>
            </a:endParaRPr>
          </a:p>
        </p:txBody>
      </p:sp>
      <p:pic>
        <p:nvPicPr>
          <p:cNvPr id="10" name="图片 9"/>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lvl1pPr>
              <a:defRPr>
                <a:latin typeface="Times New Roman" panose="02020603050405020304" pitchFamily="18" charset="0"/>
                <a:ea typeface="+mj-ea"/>
                <a:cs typeface="Times New Roman" panose="02020603050405020304" pitchFamily="18" charset="0"/>
              </a:defRPr>
            </a:lvl1pPr>
            <a:lvl2pPr>
              <a:defRPr>
                <a:latin typeface="Times New Roman" panose="02020603050405020304" pitchFamily="18" charset="0"/>
                <a:ea typeface="+mj-ea"/>
                <a:cs typeface="Times New Roman" panose="02020603050405020304" pitchFamily="18" charset="0"/>
              </a:defRPr>
            </a:lvl2pPr>
            <a:lvl3pPr>
              <a:defRPr>
                <a:latin typeface="Times New Roman" panose="02020603050405020304" pitchFamily="18" charset="0"/>
                <a:ea typeface="+mj-ea"/>
                <a:cs typeface="Times New Roman" panose="02020603050405020304" pitchFamily="18" charset="0"/>
              </a:defRPr>
            </a:lvl3pPr>
            <a:lvl4pPr>
              <a:defRPr>
                <a:latin typeface="Times New Roman" panose="02020603050405020304" pitchFamily="18" charset="0"/>
                <a:ea typeface="+mj-ea"/>
                <a:cs typeface="Times New Roman" panose="02020603050405020304" pitchFamily="18" charset="0"/>
              </a:defRPr>
            </a:lvl4pPr>
            <a:lvl5pPr>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j-ea"/>
                <a:cs typeface="Times New Roman" panose="02020603050405020304" pitchFamily="18" charset="0"/>
              </a:defRPr>
            </a:lvl1pPr>
            <a:lvl2pPr>
              <a:defRPr>
                <a:latin typeface="Times New Roman" panose="02020603050405020304" pitchFamily="18" charset="0"/>
                <a:ea typeface="+mj-ea"/>
                <a:cs typeface="Times New Roman" panose="02020603050405020304" pitchFamily="18" charset="0"/>
              </a:defRPr>
            </a:lvl2pPr>
            <a:lvl3pPr>
              <a:defRPr>
                <a:latin typeface="Times New Roman" panose="02020603050405020304" pitchFamily="18" charset="0"/>
                <a:ea typeface="+mj-ea"/>
                <a:cs typeface="Times New Roman" panose="02020603050405020304" pitchFamily="18" charset="0"/>
              </a:defRPr>
            </a:lvl3pPr>
            <a:lvl4pPr>
              <a:defRPr>
                <a:latin typeface="Times New Roman" panose="02020603050405020304" pitchFamily="18" charset="0"/>
                <a:ea typeface="+mj-ea"/>
                <a:cs typeface="Times New Roman" panose="02020603050405020304" pitchFamily="18" charset="0"/>
              </a:defRPr>
            </a:lvl4pPr>
            <a:lvl5pPr>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4290EBB2-4D7C-084A-BE30-AC939B671EC1}" type="datetime1">
              <a:rPr kumimoji="1" lang="zh-CN" altLang="en-US" smtClean="0"/>
              <a:pPr/>
              <a:t>2024/9/23</a:t>
            </a:fld>
            <a:endParaRPr kumimoji="1" lang="zh-CN" altLang="en-US"/>
          </a:p>
        </p:txBody>
      </p:sp>
      <p:sp>
        <p:nvSpPr>
          <p:cNvPr id="6" name="页脚占位符 5"/>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7" name="灯片编号占位符 6"/>
          <p:cNvSpPr>
            <a:spLocks noGrp="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p>
        </p:txBody>
      </p:sp>
      <p:cxnSp>
        <p:nvCxnSpPr>
          <p:cNvPr id="77"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userDrawn="1"/>
        </p:nvGrpSpPr>
        <p:grpSpPr>
          <a:xfrm>
            <a:off x="715452" y="634525"/>
            <a:ext cx="403039" cy="321898"/>
            <a:chOff x="1368170" y="664579"/>
            <a:chExt cx="550582" cy="439737"/>
          </a:xfrm>
          <a:solidFill>
            <a:schemeClr val="bg1"/>
          </a:solidFill>
        </p:grpSpPr>
        <p:sp>
          <p:nvSpPr>
            <p:cNvPr id="80"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1"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2"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3"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4"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5"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6"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7"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8"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9"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90"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grpSp>
      <p:pic>
        <p:nvPicPr>
          <p:cNvPr id="91" name="图片 90"/>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pPr/>
              <a:t>2024/9/23</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jpe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openeuler.org/" TargetMode="Externa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gitee.com/openeul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lstStyle/>
          <a:p>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1</a:t>
            </a:r>
            <a:r>
              <a:rPr lang="zh-CN" altLang="en-US" sz="5400" b="1" dirty="0">
                <a:solidFill>
                  <a:srgbClr val="CC0099"/>
                </a:solidFill>
                <a:latin typeface="方正琥珀简体" pitchFamily="65" charset="-122"/>
                <a:ea typeface="方正琥珀简体" pitchFamily="65" charset="-122"/>
              </a:rPr>
              <a:t>章  </a:t>
            </a:r>
            <a:r>
              <a:rPr lang="zh-CN" altLang="en-US" b="1" dirty="0">
                <a:solidFill>
                  <a:schemeClr val="hlink"/>
                </a:solidFill>
                <a:ea typeface="方正琥珀简体" pitchFamily="65" charset="-122"/>
              </a:rPr>
              <a:t>操作系统导引</a:t>
            </a:r>
            <a:endParaRPr lang="zh-CN" altLang="en-US" dirty="0"/>
          </a:p>
        </p:txBody>
      </p:sp>
      <p:sp>
        <p:nvSpPr>
          <p:cNvPr id="3" name="副标题 2"/>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教师：江先亮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学习操作系统需要了解</a:t>
            </a:r>
            <a:r>
              <a:rPr lang="en-US" altLang="zh-CN" dirty="0"/>
              <a:t>……</a:t>
            </a:r>
            <a:endParaRPr lang="zh-CN" altLang="en-US" dirty="0"/>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t>计算机的结构是什么样子的？</a:t>
            </a:r>
            <a:endParaRPr lang="en-US" altLang="zh-CN" dirty="0"/>
          </a:p>
          <a:p>
            <a:pPr lvl="1"/>
            <a:r>
              <a:rPr lang="en-US" altLang="zh-CN" dirty="0"/>
              <a:t>CPU(</a:t>
            </a:r>
            <a:r>
              <a:rPr lang="zh-CN" altLang="en-US" dirty="0"/>
              <a:t>寄存器</a:t>
            </a:r>
            <a:r>
              <a:rPr lang="en-US" altLang="zh-CN" dirty="0"/>
              <a:t>)</a:t>
            </a:r>
            <a:r>
              <a:rPr lang="zh-CN" altLang="en-US" dirty="0"/>
              <a:t>、一级</a:t>
            </a:r>
            <a:r>
              <a:rPr lang="en-US" altLang="zh-CN" dirty="0"/>
              <a:t>/</a:t>
            </a:r>
            <a:r>
              <a:rPr lang="zh-CN" altLang="en-US" dirty="0"/>
              <a:t>二级</a:t>
            </a:r>
            <a:r>
              <a:rPr lang="en-US" altLang="zh-CN" dirty="0"/>
              <a:t>Cache</a:t>
            </a:r>
            <a:r>
              <a:rPr lang="zh-CN" altLang="en-US" dirty="0"/>
              <a:t>、内存、磁盘</a:t>
            </a:r>
            <a:r>
              <a:rPr lang="en-US" altLang="zh-CN" dirty="0"/>
              <a:t>(</a:t>
            </a:r>
            <a:r>
              <a:rPr lang="zh-CN" altLang="en-US" dirty="0"/>
              <a:t>机械</a:t>
            </a:r>
            <a:r>
              <a:rPr lang="en-US" altLang="zh-CN" dirty="0"/>
              <a:t>/</a:t>
            </a:r>
            <a:r>
              <a:rPr lang="zh-CN" altLang="en-US" dirty="0"/>
              <a:t>固态</a:t>
            </a:r>
            <a:r>
              <a:rPr lang="en-US" altLang="zh-CN" dirty="0"/>
              <a:t>)</a:t>
            </a:r>
            <a:r>
              <a:rPr lang="zh-CN" altLang="en-US" dirty="0"/>
              <a:t>、其他外设</a:t>
            </a:r>
            <a:r>
              <a:rPr lang="en-US" altLang="zh-CN" dirty="0"/>
              <a:t>…</a:t>
            </a:r>
          </a:p>
          <a:p>
            <a:pPr lvl="1"/>
            <a:r>
              <a:rPr lang="zh-CN" altLang="en-US" dirty="0"/>
              <a:t>推荐</a:t>
            </a:r>
            <a:r>
              <a:rPr lang="en-US" altLang="zh-CN" dirty="0"/>
              <a:t>(</a:t>
            </a:r>
            <a:r>
              <a:rPr lang="zh-CN" altLang="en-US" dirty="0"/>
              <a:t>计算机科学速成课</a:t>
            </a:r>
            <a:r>
              <a:rPr lang="en-US" altLang="zh-CN" dirty="0"/>
              <a:t>)</a:t>
            </a:r>
            <a:r>
              <a:rPr lang="zh-CN" altLang="en-US" dirty="0"/>
              <a:t>：</a:t>
            </a:r>
            <a:r>
              <a:rPr lang="en-US" altLang="zh-CN" b="1" dirty="0">
                <a:solidFill>
                  <a:srgbClr val="FF0000"/>
                </a:solidFill>
              </a:rPr>
              <a:t>https://www.bilibili.com/video/av21376839/</a:t>
            </a:r>
            <a:r>
              <a:rPr lang="zh-CN" altLang="en-US" dirty="0"/>
              <a:t>）</a:t>
            </a:r>
            <a:endParaRPr lang="en-US" altLang="zh-CN" dirty="0"/>
          </a:p>
          <a:p>
            <a:r>
              <a:rPr lang="zh-CN" altLang="en-US" dirty="0"/>
              <a:t>什么是虚拟化？平时接触过虚拟化吗？虚拟化层次结构？</a:t>
            </a:r>
            <a:endParaRPr lang="en-US" altLang="zh-CN" dirty="0"/>
          </a:p>
          <a:p>
            <a:r>
              <a:rPr lang="zh-CN" altLang="en-US" dirty="0"/>
              <a:t>为什么程序比内存大很多还能运行？多线程和多进程有什么差异？</a:t>
            </a:r>
            <a:endParaRPr lang="en-US" altLang="zh-CN" dirty="0"/>
          </a:p>
          <a:p>
            <a:pPr algn="just"/>
            <a:r>
              <a:rPr lang="zh-CN" altLang="en-US" dirty="0"/>
              <a:t>冰箱</a:t>
            </a:r>
            <a:r>
              <a:rPr lang="en-US" altLang="zh-CN" dirty="0"/>
              <a:t>/</a:t>
            </a:r>
            <a:r>
              <a:rPr lang="zh-CN" altLang="en-US" dirty="0"/>
              <a:t>智能手表</a:t>
            </a:r>
            <a:r>
              <a:rPr lang="en-US" altLang="zh-CN" dirty="0"/>
              <a:t>/</a:t>
            </a:r>
            <a:r>
              <a:rPr lang="zh-CN" altLang="en-US" dirty="0"/>
              <a:t>智能电视</a:t>
            </a:r>
            <a:r>
              <a:rPr lang="en-US" altLang="zh-CN" dirty="0"/>
              <a:t>/</a:t>
            </a:r>
            <a:r>
              <a:rPr lang="zh-CN" altLang="en-US" dirty="0"/>
              <a:t>无人车</a:t>
            </a:r>
            <a:r>
              <a:rPr lang="en-US" altLang="zh-CN" dirty="0"/>
              <a:t>/</a:t>
            </a:r>
            <a:r>
              <a:rPr lang="zh-CN" altLang="en-US" dirty="0"/>
              <a:t>个人电脑</a:t>
            </a:r>
            <a:r>
              <a:rPr lang="en-US" altLang="zh-CN" dirty="0"/>
              <a:t>/</a:t>
            </a:r>
            <a:r>
              <a:rPr lang="zh-CN" altLang="en-US" dirty="0"/>
              <a:t>服务器各自用什么类型系统？有差别吗？你了解的操作系统有哪些？</a:t>
            </a:r>
            <a:endParaRPr lang="en-US" altLang="zh-CN" dirty="0"/>
          </a:p>
          <a:p>
            <a:r>
              <a:rPr lang="zh-CN" altLang="en-US" dirty="0"/>
              <a:t>中断是什么？其在操作系统中的地位如何？</a:t>
            </a:r>
            <a:endParaRPr lang="en-US" altLang="zh-CN" dirty="0"/>
          </a:p>
          <a:p>
            <a:r>
              <a:rPr lang="zh-CN" altLang="en-US" dirty="0"/>
              <a:t>什么是微内核、宏内核、混合内核？</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3DDFC-E0F5-41DF-AAB6-A43F6F87E143}"/>
              </a:ext>
            </a:extLst>
          </p:cNvPr>
          <p:cNvSpPr>
            <a:spLocks noGrp="1"/>
          </p:cNvSpPr>
          <p:nvPr>
            <p:ph type="title"/>
          </p:nvPr>
        </p:nvSpPr>
        <p:spPr/>
        <p:txBody>
          <a:bodyPr/>
          <a:lstStyle/>
          <a:p>
            <a:r>
              <a:rPr lang="zh-CN" altLang="en-US" dirty="0"/>
              <a:t>虚拟化与</a:t>
            </a:r>
            <a:r>
              <a:rPr lang="en-US" altLang="zh-CN" dirty="0"/>
              <a:t>Docker</a:t>
            </a:r>
            <a:endParaRPr lang="zh-CN" altLang="en-US" dirty="0"/>
          </a:p>
        </p:txBody>
      </p:sp>
      <p:sp>
        <p:nvSpPr>
          <p:cNvPr id="4" name="灯片编号占位符 3">
            <a:extLst>
              <a:ext uri="{FF2B5EF4-FFF2-40B4-BE49-F238E27FC236}">
                <a16:creationId xmlns:a16="http://schemas.microsoft.com/office/drawing/2014/main" id="{95A79B4A-D90D-4205-AC35-2D480A326AD0}"/>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pic>
        <p:nvPicPr>
          <p:cNvPr id="5" name="图片 4">
            <a:extLst>
              <a:ext uri="{FF2B5EF4-FFF2-40B4-BE49-F238E27FC236}">
                <a16:creationId xmlns:a16="http://schemas.microsoft.com/office/drawing/2014/main" id="{1C71C042-6943-4B92-9698-B98968C1D404}"/>
              </a:ext>
            </a:extLst>
          </p:cNvPr>
          <p:cNvPicPr>
            <a:picLocks noChangeAspect="1"/>
          </p:cNvPicPr>
          <p:nvPr/>
        </p:nvPicPr>
        <p:blipFill>
          <a:blip r:embed="rId2"/>
          <a:stretch>
            <a:fillRect/>
          </a:stretch>
        </p:blipFill>
        <p:spPr>
          <a:xfrm>
            <a:off x="302570" y="1989361"/>
            <a:ext cx="11586859" cy="4059150"/>
          </a:xfrm>
          <a:prstGeom prst="rect">
            <a:avLst/>
          </a:prstGeom>
        </p:spPr>
      </p:pic>
      <p:sp>
        <p:nvSpPr>
          <p:cNvPr id="6" name="文本框 5">
            <a:extLst>
              <a:ext uri="{FF2B5EF4-FFF2-40B4-BE49-F238E27FC236}">
                <a16:creationId xmlns:a16="http://schemas.microsoft.com/office/drawing/2014/main" id="{0E39BE23-A181-7730-BDD3-D4AB19B63B59}"/>
              </a:ext>
            </a:extLst>
          </p:cNvPr>
          <p:cNvSpPr txBox="1"/>
          <p:nvPr/>
        </p:nvSpPr>
        <p:spPr>
          <a:xfrm>
            <a:off x="302570" y="6292819"/>
            <a:ext cx="6094268" cy="400110"/>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Docker</a:t>
            </a:r>
            <a:r>
              <a:rPr lang="zh-CN" altLang="en-US" sz="2000" dirty="0">
                <a:latin typeface="Times New Roman" panose="02020603050405020304" pitchFamily="18" charset="0"/>
                <a:cs typeface="Times New Roman" panose="02020603050405020304" pitchFamily="18" charset="0"/>
              </a:rPr>
              <a:t>中文社区：https://www.docker.org.cn/</a:t>
            </a:r>
          </a:p>
        </p:txBody>
      </p:sp>
    </p:spTree>
    <p:extLst>
      <p:ext uri="{BB962C8B-B14F-4D97-AF65-F5344CB8AC3E}">
        <p14:creationId xmlns:p14="http://schemas.microsoft.com/office/powerpoint/2010/main" val="360502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A5E174-85BA-40A6-8BA3-DAAED419E034}"/>
              </a:ext>
            </a:extLst>
          </p:cNvPr>
          <p:cNvSpPr>
            <a:spLocks noGrp="1"/>
          </p:cNvSpPr>
          <p:nvPr>
            <p:ph type="title"/>
          </p:nvPr>
        </p:nvSpPr>
        <p:spPr/>
        <p:txBody>
          <a:bodyPr/>
          <a:lstStyle/>
          <a:p>
            <a:r>
              <a:rPr lang="zh-CN" altLang="en-US" dirty="0"/>
              <a:t>嵌入式操作系统</a:t>
            </a:r>
          </a:p>
        </p:txBody>
      </p:sp>
      <p:sp>
        <p:nvSpPr>
          <p:cNvPr id="4" name="灯片编号占位符 3">
            <a:extLst>
              <a:ext uri="{FF2B5EF4-FFF2-40B4-BE49-F238E27FC236}">
                <a16:creationId xmlns:a16="http://schemas.microsoft.com/office/drawing/2014/main" id="{7CDDB7DD-7C57-42EB-A4FF-7424BCE5C97B}"/>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pic>
        <p:nvPicPr>
          <p:cNvPr id="5" name="Picture 2">
            <a:extLst>
              <a:ext uri="{FF2B5EF4-FFF2-40B4-BE49-F238E27FC236}">
                <a16:creationId xmlns:a16="http://schemas.microsoft.com/office/drawing/2014/main" id="{0CB67264-D659-40AC-8BD4-C77629DD2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9818" y="1325801"/>
            <a:ext cx="7147327" cy="553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496F4FFA-9A83-421F-BD61-DB6D041C5341}"/>
              </a:ext>
            </a:extLst>
          </p:cNvPr>
          <p:cNvPicPr>
            <a:picLocks noChangeAspect="1"/>
          </p:cNvPicPr>
          <p:nvPr/>
        </p:nvPicPr>
        <p:blipFill>
          <a:blip r:embed="rId3"/>
          <a:stretch>
            <a:fillRect/>
          </a:stretch>
        </p:blipFill>
        <p:spPr>
          <a:xfrm>
            <a:off x="394855" y="1275385"/>
            <a:ext cx="3690431" cy="5582615"/>
          </a:xfrm>
          <a:prstGeom prst="rect">
            <a:avLst/>
          </a:prstGeom>
        </p:spPr>
      </p:pic>
    </p:spTree>
    <p:extLst>
      <p:ext uri="{BB962C8B-B14F-4D97-AF65-F5344CB8AC3E}">
        <p14:creationId xmlns:p14="http://schemas.microsoft.com/office/powerpoint/2010/main" val="21671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功能各异的系统和硬件</a:t>
            </a:r>
            <a:r>
              <a:rPr lang="en-US" altLang="zh-CN" dirty="0"/>
              <a:t>……</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pic>
        <p:nvPicPr>
          <p:cNvPr id="5" name="内容占位符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92926" y="2023417"/>
            <a:ext cx="1648845" cy="1005970"/>
          </a:xfrm>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951" y="1978738"/>
            <a:ext cx="1134806"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7494" y="1989394"/>
            <a:ext cx="1057320" cy="1006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322886" y="4327223"/>
            <a:ext cx="611977" cy="68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2"/>
          <p:cNvSpPr txBox="1">
            <a:spLocks noChangeArrowheads="1"/>
          </p:cNvSpPr>
          <p:nvPr/>
        </p:nvSpPr>
        <p:spPr bwMode="auto">
          <a:xfrm>
            <a:off x="1055771" y="6273431"/>
            <a:ext cx="13628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600" dirty="0">
                <a:ea typeface="MS PGothic" panose="020B0600070205080204" pitchFamily="34" charset="-128"/>
              </a:rPr>
              <a:t>Arduino UNO</a:t>
            </a:r>
            <a:endParaRPr kumimoji="1" lang="zh-CN" altLang="en-US" sz="1600" dirty="0">
              <a:ea typeface="MS PGothic" panose="020B0600070205080204" pitchFamily="34" charset="-128"/>
            </a:endParaRPr>
          </a:p>
        </p:txBody>
      </p:sp>
      <p:pic>
        <p:nvPicPr>
          <p:cNvPr id="10"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91241" y="5176490"/>
            <a:ext cx="1648845" cy="10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4"/>
          <p:cNvSpPr txBox="1">
            <a:spLocks noChangeArrowheads="1"/>
          </p:cNvSpPr>
          <p:nvPr/>
        </p:nvSpPr>
        <p:spPr bwMode="auto">
          <a:xfrm>
            <a:off x="2623884" y="6290992"/>
            <a:ext cx="1977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dirty="0">
                <a:ea typeface="MS PGothic" panose="020B0600070205080204" pitchFamily="34" charset="-128"/>
              </a:rPr>
              <a:t>MinnowBoard MAX</a:t>
            </a:r>
            <a:endParaRPr kumimoji="1" lang="zh-CN" altLang="en-US" sz="1600" dirty="0">
              <a:ea typeface="MS PGothic" panose="020B0600070205080204" pitchFamily="34" charset="-128"/>
            </a:endParaRPr>
          </a:p>
        </p:txBody>
      </p:sp>
      <p:pic>
        <p:nvPicPr>
          <p:cNvPr id="12" name="图片 5"/>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1951" y="5176490"/>
            <a:ext cx="1592262" cy="10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693836" y="5194723"/>
            <a:ext cx="1648845" cy="108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7"/>
          <p:cNvSpPr txBox="1">
            <a:spLocks noChangeArrowheads="1"/>
          </p:cNvSpPr>
          <p:nvPr/>
        </p:nvSpPr>
        <p:spPr bwMode="auto">
          <a:xfrm>
            <a:off x="4853676" y="6260214"/>
            <a:ext cx="12795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dirty="0">
                <a:ea typeface="MS PGothic" panose="020B0600070205080204" pitchFamily="34" charset="-128"/>
              </a:rPr>
              <a:t>Raspberry</a:t>
            </a:r>
            <a:r>
              <a:rPr lang="en-US" altLang="zh-CN" sz="1800" dirty="0">
                <a:ea typeface="MS PGothic" panose="020B0600070205080204" pitchFamily="34" charset="-128"/>
              </a:rPr>
              <a:t> Pi</a:t>
            </a:r>
            <a:endParaRPr kumimoji="1" lang="zh-CN" altLang="en-US" sz="1800" dirty="0">
              <a:ea typeface="MS PGothic" panose="020B0600070205080204" pitchFamily="34" charset="-128"/>
            </a:endParaRPr>
          </a:p>
        </p:txBody>
      </p:sp>
      <p:pic>
        <p:nvPicPr>
          <p:cNvPr id="15" name="图片 16"/>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78466" y="4121915"/>
            <a:ext cx="1592262" cy="566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9795" y="4038923"/>
            <a:ext cx="17145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82395" y="4214508"/>
            <a:ext cx="1332391" cy="813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9"/>
          <p:cNvPicPr>
            <a:picLocks noChangeAspect="1"/>
          </p:cNvPicPr>
          <p:nvPr/>
        </p:nvPicPr>
        <p:blipFill>
          <a:blip r:embed="rId12"/>
          <a:stretch>
            <a:fillRect/>
          </a:stretch>
        </p:blipFill>
        <p:spPr>
          <a:xfrm>
            <a:off x="8637092" y="2129047"/>
            <a:ext cx="1080440" cy="879086"/>
          </a:xfrm>
          <a:prstGeom prst="rect">
            <a:avLst/>
          </a:prstGeom>
        </p:spPr>
      </p:pic>
      <p:pic>
        <p:nvPicPr>
          <p:cNvPr id="22" name="图片 21"/>
          <p:cNvPicPr>
            <a:picLocks noChangeAspect="1"/>
          </p:cNvPicPr>
          <p:nvPr/>
        </p:nvPicPr>
        <p:blipFill>
          <a:blip r:embed="rId13"/>
          <a:stretch>
            <a:fillRect/>
          </a:stretch>
        </p:blipFill>
        <p:spPr>
          <a:xfrm>
            <a:off x="5601766" y="2023330"/>
            <a:ext cx="2519679" cy="963350"/>
          </a:xfrm>
          <a:prstGeom prst="rect">
            <a:avLst/>
          </a:prstGeom>
        </p:spPr>
      </p:pic>
      <p:pic>
        <p:nvPicPr>
          <p:cNvPr id="24" name="图片 23"/>
          <p:cNvPicPr>
            <a:picLocks noChangeAspect="1"/>
          </p:cNvPicPr>
          <p:nvPr/>
        </p:nvPicPr>
        <p:blipFill>
          <a:blip r:embed="rId14"/>
          <a:stretch>
            <a:fillRect/>
          </a:stretch>
        </p:blipFill>
        <p:spPr>
          <a:xfrm>
            <a:off x="967850" y="3179486"/>
            <a:ext cx="2514286" cy="523810"/>
          </a:xfrm>
          <a:prstGeom prst="rect">
            <a:avLst/>
          </a:prstGeom>
        </p:spPr>
      </p:pic>
      <p:pic>
        <p:nvPicPr>
          <p:cNvPr id="26" name="图片 25"/>
          <p:cNvPicPr>
            <a:picLocks noChangeAspect="1"/>
          </p:cNvPicPr>
          <p:nvPr/>
        </p:nvPicPr>
        <p:blipFill>
          <a:blip r:embed="rId15"/>
          <a:stretch>
            <a:fillRect/>
          </a:stretch>
        </p:blipFill>
        <p:spPr>
          <a:xfrm>
            <a:off x="3668991" y="3150177"/>
            <a:ext cx="2790804" cy="614620"/>
          </a:xfrm>
          <a:prstGeom prst="rect">
            <a:avLst/>
          </a:prstGeom>
        </p:spPr>
      </p:pic>
      <p:pic>
        <p:nvPicPr>
          <p:cNvPr id="28" name="图片 27"/>
          <p:cNvPicPr>
            <a:picLocks noChangeAspect="1"/>
          </p:cNvPicPr>
          <p:nvPr/>
        </p:nvPicPr>
        <p:blipFill>
          <a:blip r:embed="rId16"/>
          <a:stretch>
            <a:fillRect/>
          </a:stretch>
        </p:blipFill>
        <p:spPr>
          <a:xfrm>
            <a:off x="2758665" y="4104275"/>
            <a:ext cx="1470746" cy="601398"/>
          </a:xfrm>
          <a:prstGeom prst="rect">
            <a:avLst/>
          </a:prstGeom>
        </p:spPr>
      </p:pic>
      <p:pic>
        <p:nvPicPr>
          <p:cNvPr id="30" name="图片 29"/>
          <p:cNvPicPr>
            <a:picLocks noChangeAspect="1"/>
          </p:cNvPicPr>
          <p:nvPr/>
        </p:nvPicPr>
        <p:blipFill>
          <a:blip r:embed="rId17"/>
          <a:stretch>
            <a:fillRect/>
          </a:stretch>
        </p:blipFill>
        <p:spPr>
          <a:xfrm>
            <a:off x="4417349" y="4174679"/>
            <a:ext cx="1741512" cy="467235"/>
          </a:xfrm>
          <a:prstGeom prst="rect">
            <a:avLst/>
          </a:prstGeom>
        </p:spPr>
      </p:pic>
      <p:pic>
        <p:nvPicPr>
          <p:cNvPr id="1026"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322886" y="2024674"/>
            <a:ext cx="800011" cy="990555"/>
          </a:xfrm>
          <a:prstGeom prst="rect">
            <a:avLst/>
          </a:prstGeom>
          <a:noFill/>
          <a:extLst>
            <a:ext uri="{909E8E84-426E-40DD-AFC4-6F175D3DCCD1}">
              <a14:hiddenFill xmlns:a14="http://schemas.microsoft.com/office/drawing/2010/main">
                <a:solidFill>
                  <a:srgbClr val="FFFFFF"/>
                </a:solidFill>
              </a14:hiddenFill>
            </a:ext>
          </a:extLst>
        </p:spPr>
      </p:pic>
      <p:pic>
        <p:nvPicPr>
          <p:cNvPr id="32" name="图片 31"/>
          <p:cNvPicPr>
            <a:picLocks noChangeAspect="1"/>
          </p:cNvPicPr>
          <p:nvPr/>
        </p:nvPicPr>
        <p:blipFill>
          <a:blip r:embed="rId19"/>
          <a:stretch>
            <a:fillRect/>
          </a:stretch>
        </p:blipFill>
        <p:spPr>
          <a:xfrm>
            <a:off x="6662214" y="3097203"/>
            <a:ext cx="2025191" cy="646700"/>
          </a:xfrm>
          <a:prstGeom prst="rect">
            <a:avLst/>
          </a:prstGeom>
        </p:spPr>
      </p:pic>
      <p:pic>
        <p:nvPicPr>
          <p:cNvPr id="34" name="图片 33"/>
          <p:cNvPicPr>
            <a:picLocks noChangeAspect="1"/>
          </p:cNvPicPr>
          <p:nvPr/>
        </p:nvPicPr>
        <p:blipFill>
          <a:blip r:embed="rId20"/>
          <a:stretch>
            <a:fillRect/>
          </a:stretch>
        </p:blipFill>
        <p:spPr>
          <a:xfrm>
            <a:off x="8817972" y="3174950"/>
            <a:ext cx="2332791" cy="621667"/>
          </a:xfrm>
          <a:prstGeom prst="rect">
            <a:avLst/>
          </a:prstGeom>
        </p:spPr>
      </p:pic>
      <p:pic>
        <p:nvPicPr>
          <p:cNvPr id="36" name="图片 35"/>
          <p:cNvPicPr>
            <a:picLocks noChangeAspect="1"/>
          </p:cNvPicPr>
          <p:nvPr/>
        </p:nvPicPr>
        <p:blipFill>
          <a:blip r:embed="rId21"/>
          <a:stretch>
            <a:fillRect/>
          </a:stretch>
        </p:blipFill>
        <p:spPr>
          <a:xfrm>
            <a:off x="8475229" y="3832973"/>
            <a:ext cx="2616537" cy="457894"/>
          </a:xfrm>
          <a:prstGeom prst="rect">
            <a:avLst/>
          </a:prstGeom>
        </p:spPr>
      </p:pic>
      <p:pic>
        <p:nvPicPr>
          <p:cNvPr id="1028" name="Picture 4" descr="华为Atlas 200 DK"/>
          <p:cNvPicPr>
            <a:picLocks noChangeAspect="1" noChangeArrowheads="1"/>
          </p:cNvPicPr>
          <p:nvPr/>
        </p:nvPicPr>
        <p:blipFill rotWithShape="1">
          <a:blip r:embed="rId22">
            <a:extLst>
              <a:ext uri="{28A0092B-C50C-407E-A947-70E740481C1C}">
                <a14:useLocalDpi xmlns:a14="http://schemas.microsoft.com/office/drawing/2010/main" val="0"/>
              </a:ext>
            </a:extLst>
          </a:blip>
          <a:srcRect l="2500" t="22224" r="2187" b="24304"/>
          <a:stretch>
            <a:fillRect/>
          </a:stretch>
        </p:blipFill>
        <p:spPr bwMode="auto">
          <a:xfrm>
            <a:off x="6753247" y="5265613"/>
            <a:ext cx="2408089" cy="1013240"/>
          </a:xfrm>
          <a:prstGeom prst="rect">
            <a:avLst/>
          </a:prstGeom>
          <a:noFill/>
          <a:extLst>
            <a:ext uri="{909E8E84-426E-40DD-AFC4-6F175D3DCCD1}">
              <a14:hiddenFill xmlns:a14="http://schemas.microsoft.com/office/drawing/2010/main">
                <a:solidFill>
                  <a:srgbClr val="FFFFFF"/>
                </a:solidFill>
              </a14:hiddenFill>
            </a:ext>
          </a:extLst>
        </p:spPr>
      </p:pic>
      <p:pic>
        <p:nvPicPr>
          <p:cNvPr id="38" name="图片 37"/>
          <p:cNvPicPr>
            <a:picLocks noChangeAspect="1"/>
          </p:cNvPicPr>
          <p:nvPr/>
        </p:nvPicPr>
        <p:blipFill>
          <a:blip r:embed="rId23"/>
          <a:stretch>
            <a:fillRect/>
          </a:stretch>
        </p:blipFill>
        <p:spPr>
          <a:xfrm>
            <a:off x="9528320" y="5124561"/>
            <a:ext cx="1452642" cy="1227717"/>
          </a:xfrm>
          <a:prstGeom prst="rect">
            <a:avLst/>
          </a:prstGeom>
        </p:spPr>
      </p:pic>
      <p:sp>
        <p:nvSpPr>
          <p:cNvPr id="41" name="文本框 4"/>
          <p:cNvSpPr txBox="1">
            <a:spLocks noChangeArrowheads="1"/>
          </p:cNvSpPr>
          <p:nvPr/>
        </p:nvSpPr>
        <p:spPr bwMode="auto">
          <a:xfrm>
            <a:off x="6990632" y="6290992"/>
            <a:ext cx="190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dirty="0">
                <a:ea typeface="MS PGothic" panose="020B0600070205080204" pitchFamily="34" charset="-128"/>
              </a:rPr>
              <a:t>Atlas dk200</a:t>
            </a:r>
            <a:endParaRPr kumimoji="1" lang="zh-CN" altLang="en-US" sz="1600" dirty="0">
              <a:ea typeface="MS PGothic" panose="020B0600070205080204" pitchFamily="34" charset="-128"/>
            </a:endParaRPr>
          </a:p>
        </p:txBody>
      </p:sp>
      <p:sp>
        <p:nvSpPr>
          <p:cNvPr id="42" name="文本框 4"/>
          <p:cNvSpPr txBox="1">
            <a:spLocks noChangeArrowheads="1"/>
          </p:cNvSpPr>
          <p:nvPr/>
        </p:nvSpPr>
        <p:spPr bwMode="auto">
          <a:xfrm>
            <a:off x="9307582" y="6290992"/>
            <a:ext cx="190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dirty="0">
                <a:ea typeface="MS PGothic" panose="020B0600070205080204" pitchFamily="34" charset="-128"/>
              </a:rPr>
              <a:t>Jetson nano</a:t>
            </a:r>
            <a:endParaRPr kumimoji="1" lang="zh-CN" altLang="en-US" sz="1600" dirty="0">
              <a:ea typeface="MS PGothic"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a:extLst>
              <a:ext uri="{FF2B5EF4-FFF2-40B4-BE49-F238E27FC236}">
                <a16:creationId xmlns:a16="http://schemas.microsoft.com/office/drawing/2014/main" id="{7E11D823-2610-4EF9-B264-BC0FADCD41A7}"/>
              </a:ext>
            </a:extLst>
          </p:cNvPr>
          <p:cNvSpPr/>
          <p:nvPr/>
        </p:nvSpPr>
        <p:spPr>
          <a:xfrm>
            <a:off x="8544030" y="3340858"/>
            <a:ext cx="845574" cy="8126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0000"/>
                </a:solidFill>
                <a:latin typeface="微软雅黑" panose="020B0503020204020204" pitchFamily="34" charset="-122"/>
                <a:ea typeface="微软雅黑" panose="020B0503020204020204" pitchFamily="34" charset="-122"/>
              </a:rPr>
              <a:t>创新实践课</a:t>
            </a:r>
          </a:p>
        </p:txBody>
      </p:sp>
      <p:sp>
        <p:nvSpPr>
          <p:cNvPr id="2" name="标题 1">
            <a:extLst>
              <a:ext uri="{FF2B5EF4-FFF2-40B4-BE49-F238E27FC236}">
                <a16:creationId xmlns:a16="http://schemas.microsoft.com/office/drawing/2014/main" id="{BD24C255-5518-46BB-B69D-362FF504E49A}"/>
              </a:ext>
            </a:extLst>
          </p:cNvPr>
          <p:cNvSpPr>
            <a:spLocks noGrp="1"/>
          </p:cNvSpPr>
          <p:nvPr>
            <p:ph type="title"/>
          </p:nvPr>
        </p:nvSpPr>
        <p:spPr/>
        <p:txBody>
          <a:bodyPr/>
          <a:lstStyle/>
          <a:p>
            <a:r>
              <a:rPr lang="en-US" altLang="zh-CN" dirty="0"/>
              <a:t>openEuler</a:t>
            </a:r>
            <a:r>
              <a:rPr lang="zh-CN" altLang="en-US" dirty="0"/>
              <a:t>是什么？</a:t>
            </a:r>
          </a:p>
        </p:txBody>
      </p:sp>
      <p:sp>
        <p:nvSpPr>
          <p:cNvPr id="3" name="内容占位符 2">
            <a:extLst>
              <a:ext uri="{FF2B5EF4-FFF2-40B4-BE49-F238E27FC236}">
                <a16:creationId xmlns:a16="http://schemas.microsoft.com/office/drawing/2014/main" id="{8A6560DE-0044-4A6F-A756-F9847D055083}"/>
              </a:ext>
            </a:extLst>
          </p:cNvPr>
          <p:cNvSpPr>
            <a:spLocks noGrp="1"/>
          </p:cNvSpPr>
          <p:nvPr>
            <p:ph idx="1"/>
          </p:nvPr>
        </p:nvSpPr>
        <p:spPr/>
        <p:txBody>
          <a:bodyPr/>
          <a:lstStyle/>
          <a:p>
            <a:r>
              <a:rPr lang="en-US" altLang="zh-CN" sz="2400" dirty="0"/>
              <a:t>openEuler </a:t>
            </a:r>
            <a:r>
              <a:rPr lang="zh-CN" altLang="en-US" sz="2400" dirty="0"/>
              <a:t>是一个开源、免费的</a:t>
            </a:r>
            <a:r>
              <a:rPr lang="en-US" altLang="zh-CN" sz="2400" dirty="0"/>
              <a:t>Linux</a:t>
            </a:r>
            <a:r>
              <a:rPr lang="zh-CN" altLang="en-US" sz="2400" dirty="0"/>
              <a:t>发行平台</a:t>
            </a:r>
          </a:p>
          <a:p>
            <a:r>
              <a:rPr lang="zh-CN" altLang="en-US" sz="2400" dirty="0"/>
              <a:t>支持</a:t>
            </a:r>
            <a:r>
              <a:rPr lang="en-US" altLang="zh-CN" sz="2400" dirty="0"/>
              <a:t>x86</a:t>
            </a:r>
            <a:r>
              <a:rPr lang="zh-CN" altLang="en-US" sz="2400" dirty="0"/>
              <a:t>、</a:t>
            </a:r>
            <a:r>
              <a:rPr lang="en-US" altLang="zh-CN" sz="2400" dirty="0"/>
              <a:t>ARM</a:t>
            </a:r>
            <a:r>
              <a:rPr lang="zh-CN" altLang="en-US" sz="2400" dirty="0"/>
              <a:t>、</a:t>
            </a:r>
            <a:r>
              <a:rPr lang="en-US" altLang="zh-CN" sz="2400" dirty="0"/>
              <a:t>RISC-V</a:t>
            </a:r>
            <a:r>
              <a:rPr lang="zh-CN" altLang="en-US" sz="2400" dirty="0"/>
              <a:t>等多种处理器架构</a:t>
            </a:r>
          </a:p>
          <a:p>
            <a:r>
              <a:rPr lang="zh-CN" altLang="en-US" sz="2400" dirty="0"/>
              <a:t>所有开发者、企业、商业组织都可以使用</a:t>
            </a:r>
            <a:r>
              <a:rPr lang="en-US" altLang="zh-CN" sz="2400" dirty="0"/>
              <a:t>openEuler</a:t>
            </a:r>
            <a:r>
              <a:rPr lang="zh-CN" altLang="en-US" sz="2400" dirty="0"/>
              <a:t>社区版本，也可以基于社区版本发布自己二次开发的操作系统版本</a:t>
            </a:r>
          </a:p>
          <a:p>
            <a:endParaRPr lang="zh-CN" altLang="en-US" dirty="0"/>
          </a:p>
        </p:txBody>
      </p:sp>
      <p:sp>
        <p:nvSpPr>
          <p:cNvPr id="4" name="灯片编号占位符 3">
            <a:extLst>
              <a:ext uri="{FF2B5EF4-FFF2-40B4-BE49-F238E27FC236}">
                <a16:creationId xmlns:a16="http://schemas.microsoft.com/office/drawing/2014/main" id="{83C7986F-C0D2-4FFC-8DA0-B70C4BA9F5D7}"/>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
        <p:nvSpPr>
          <p:cNvPr id="6" name="文本框 5">
            <a:extLst>
              <a:ext uri="{FF2B5EF4-FFF2-40B4-BE49-F238E27FC236}">
                <a16:creationId xmlns:a16="http://schemas.microsoft.com/office/drawing/2014/main" id="{810ECE68-8ECC-4D88-9C6E-FA77F3114E62}"/>
              </a:ext>
            </a:extLst>
          </p:cNvPr>
          <p:cNvSpPr txBox="1"/>
          <p:nvPr/>
        </p:nvSpPr>
        <p:spPr>
          <a:xfrm>
            <a:off x="2447872" y="4560362"/>
            <a:ext cx="3126838" cy="461665"/>
          </a:xfrm>
          <a:prstGeom prst="rect">
            <a:avLst/>
          </a:prstGeom>
          <a:noFill/>
        </p:spPr>
        <p:txBody>
          <a:bodyPr wrap="square">
            <a:spAutoFit/>
          </a:bodyPr>
          <a:lstStyle/>
          <a:p>
            <a:pPr marL="0" indent="0">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2"/>
              </a:rPr>
              <a:t>https://openeuler.org/</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426B3300-AB44-4D2D-978F-661476D8FA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710" y="4413877"/>
            <a:ext cx="2994584" cy="754634"/>
          </a:xfrm>
          <a:prstGeom prst="rect">
            <a:avLst/>
          </a:prstGeom>
        </p:spPr>
      </p:pic>
      <p:sp>
        <p:nvSpPr>
          <p:cNvPr id="9" name="文本框 8">
            <a:extLst>
              <a:ext uri="{FF2B5EF4-FFF2-40B4-BE49-F238E27FC236}">
                <a16:creationId xmlns:a16="http://schemas.microsoft.com/office/drawing/2014/main" id="{EB468557-BC49-43C6-B8A7-DDB26A937DB1}"/>
              </a:ext>
            </a:extLst>
          </p:cNvPr>
          <p:cNvSpPr txBox="1"/>
          <p:nvPr/>
        </p:nvSpPr>
        <p:spPr>
          <a:xfrm>
            <a:off x="2447872" y="5545733"/>
            <a:ext cx="3746451" cy="461665"/>
          </a:xfrm>
          <a:prstGeom prst="rect">
            <a:avLst/>
          </a:prstGeom>
          <a:noFill/>
        </p:spPr>
        <p:txBody>
          <a:bodyPr wrap="square">
            <a:spAutoFit/>
          </a:bodyPr>
          <a:lstStyle/>
          <a:p>
            <a:pPr marL="0" indent="0">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4"/>
              </a:rPr>
              <a:t>https://gitee.com/openeuler/</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Picture 9">
            <a:extLst>
              <a:ext uri="{FF2B5EF4-FFF2-40B4-BE49-F238E27FC236}">
                <a16:creationId xmlns:a16="http://schemas.microsoft.com/office/drawing/2014/main" id="{37EB8E1A-C648-4269-A358-2AE79C21BE0A}"/>
              </a:ext>
            </a:extLst>
          </p:cNvPr>
          <p:cNvPicPr>
            <a:picLocks noChangeAspect="1"/>
          </p:cNvPicPr>
          <p:nvPr/>
        </p:nvPicPr>
        <p:blipFill>
          <a:blip r:embed="rId5"/>
          <a:stretch>
            <a:fillRect/>
          </a:stretch>
        </p:blipFill>
        <p:spPr>
          <a:xfrm>
            <a:off x="6511565" y="5464619"/>
            <a:ext cx="1857634" cy="571580"/>
          </a:xfrm>
          <a:prstGeom prst="rect">
            <a:avLst/>
          </a:prstGeom>
        </p:spPr>
      </p:pic>
      <p:pic>
        <p:nvPicPr>
          <p:cNvPr id="11" name="Picture 8">
            <a:extLst>
              <a:ext uri="{FF2B5EF4-FFF2-40B4-BE49-F238E27FC236}">
                <a16:creationId xmlns:a16="http://schemas.microsoft.com/office/drawing/2014/main" id="{AA2E4B13-7CA7-4811-B106-E26E9C9CA6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88261" y="5244970"/>
            <a:ext cx="952500" cy="952500"/>
          </a:xfrm>
          <a:prstGeom prst="rect">
            <a:avLst/>
          </a:prstGeom>
        </p:spPr>
      </p:pic>
      <p:sp>
        <p:nvSpPr>
          <p:cNvPr id="12" name="TextBox 10">
            <a:extLst>
              <a:ext uri="{FF2B5EF4-FFF2-40B4-BE49-F238E27FC236}">
                <a16:creationId xmlns:a16="http://schemas.microsoft.com/office/drawing/2014/main" id="{926D4525-77A9-4A25-8648-118FCCDE16CF}"/>
              </a:ext>
            </a:extLst>
          </p:cNvPr>
          <p:cNvSpPr txBox="1"/>
          <p:nvPr/>
        </p:nvSpPr>
        <p:spPr>
          <a:xfrm>
            <a:off x="8244090" y="5366722"/>
            <a:ext cx="344171" cy="707886"/>
          </a:xfrm>
          <a:prstGeom prst="rect">
            <a:avLst/>
          </a:prstGeom>
          <a:noFill/>
        </p:spPr>
        <p:txBody>
          <a:bodyPr wrap="square"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r>
              <a:rPr lang="en-US" altLang="zh-CN" sz="4000" dirty="0">
                <a:latin typeface="Times New Roman" panose="02020603050405020304" pitchFamily="18" charset="0"/>
                <a:cs typeface="Times New Roman" panose="02020603050405020304" pitchFamily="18" charset="0"/>
              </a:rPr>
              <a:t>|</a:t>
            </a:r>
            <a:endParaRPr lang="zh-CN" altLang="en-US" sz="40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B357A3A5-1B2A-403C-A81C-DBA75846D3FD}"/>
              </a:ext>
            </a:extLst>
          </p:cNvPr>
          <p:cNvSpPr txBox="1"/>
          <p:nvPr/>
        </p:nvSpPr>
        <p:spPr>
          <a:xfrm>
            <a:off x="1672182" y="3586554"/>
            <a:ext cx="6933974" cy="400110"/>
          </a:xfrm>
          <a:prstGeom prst="rect">
            <a:avLst/>
          </a:prstGeom>
          <a:noFill/>
        </p:spPr>
        <p:txBody>
          <a:bodyPr wrap="square">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定制自己的</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Linux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发行版：</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https://www.linuxfromscratch.org/</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39592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openEuler出现的背景</a:t>
            </a:r>
          </a:p>
        </p:txBody>
      </p:sp>
      <p:sp>
        <p:nvSpPr>
          <p:cNvPr id="3" name="内容占位符 2"/>
          <p:cNvSpPr>
            <a:spLocks noGrp="1"/>
          </p:cNvSpPr>
          <p:nvPr>
            <p:ph idx="1"/>
          </p:nvPr>
        </p:nvSpPr>
        <p:spPr/>
        <p:txBody>
          <a:bodyPr>
            <a:normAutofit/>
          </a:bodyPr>
          <a:lstStyle/>
          <a:p>
            <a:pPr algn="just">
              <a:buFont typeface="Wingdings" panose="05000000000000000000" charset="0"/>
              <a:buChar char="ü"/>
            </a:pPr>
            <a:r>
              <a:rPr lang="zh-CN" altLang="en-US" sz="2400" dirty="0"/>
              <a:t>EulerOS是一款基于Linux内核的服务器操作系统，支持x86和ARM等多种处理器架构，适用于数据库、大数据、云计算、人工智能等应用场景 </a:t>
            </a:r>
          </a:p>
          <a:p>
            <a:pPr algn="just">
              <a:buFont typeface="Wingdings" panose="05000000000000000000" charset="0"/>
              <a:buChar char="ü"/>
            </a:pPr>
            <a:r>
              <a:rPr lang="zh-CN" altLang="en-US" sz="2400" dirty="0"/>
              <a:t>在近10年的发展</a:t>
            </a:r>
            <a:r>
              <a:rPr lang="en-US" altLang="zh-CN" sz="2400" dirty="0"/>
              <a:t>(2010</a:t>
            </a:r>
            <a:r>
              <a:rPr lang="zh-CN" altLang="en-US" sz="2400" dirty="0"/>
              <a:t>年开始</a:t>
            </a:r>
            <a:r>
              <a:rPr lang="en-US" altLang="zh-CN" sz="2400" dirty="0"/>
              <a:t>)</a:t>
            </a:r>
            <a:r>
              <a:rPr lang="zh-CN" altLang="en-US" sz="2400" dirty="0"/>
              <a:t>中，EulerOS成功支持了华为各种产品解决方案，以安全、稳定、高效被业界认可</a:t>
            </a:r>
          </a:p>
          <a:p>
            <a:pPr algn="just">
              <a:buFont typeface="Wingdings" panose="05000000000000000000" charset="0"/>
              <a:buChar char="ü"/>
            </a:pPr>
            <a:r>
              <a:rPr lang="zh-CN" altLang="en-US" sz="2400" dirty="0"/>
              <a:t>随着云计算的兴起和鲲鹏芯片的发展，EulerOS成为与鲲鹏芯片配套最合适的软件基础设施</a:t>
            </a:r>
          </a:p>
          <a:p>
            <a:pPr algn="just">
              <a:buFont typeface="Wingdings" panose="05000000000000000000" charset="0"/>
              <a:buChar char="ü"/>
            </a:pPr>
            <a:r>
              <a:rPr lang="zh-CN" altLang="en-US" sz="2400" dirty="0"/>
              <a:t>为推动鲲鹏生态的发展，繁荣国内和全球的计算产业，2019年底EulerOS被正式推送开源社区，命名为openEuler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D5767-EFF7-4CF1-9826-C432E30D641D}"/>
              </a:ext>
            </a:extLst>
          </p:cNvPr>
          <p:cNvSpPr>
            <a:spLocks noGrp="1"/>
          </p:cNvSpPr>
          <p:nvPr>
            <p:ph type="title"/>
          </p:nvPr>
        </p:nvSpPr>
        <p:spPr/>
        <p:txBody>
          <a:bodyPr/>
          <a:lstStyle/>
          <a:p>
            <a:r>
              <a:rPr lang="en-US" altLang="zh-CN" dirty="0"/>
              <a:t>openEuler</a:t>
            </a:r>
            <a:r>
              <a:rPr lang="zh-CN" altLang="en-US" dirty="0"/>
              <a:t>社区版本生命周期</a:t>
            </a:r>
          </a:p>
        </p:txBody>
      </p:sp>
      <p:sp>
        <p:nvSpPr>
          <p:cNvPr id="4" name="灯片编号占位符 3">
            <a:extLst>
              <a:ext uri="{FF2B5EF4-FFF2-40B4-BE49-F238E27FC236}">
                <a16:creationId xmlns:a16="http://schemas.microsoft.com/office/drawing/2014/main" id="{7F463312-78BD-4E5F-91A8-CA5CF7262C25}"/>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pic>
        <p:nvPicPr>
          <p:cNvPr id="5" name="内容占位符 4">
            <a:extLst>
              <a:ext uri="{FF2B5EF4-FFF2-40B4-BE49-F238E27FC236}">
                <a16:creationId xmlns:a16="http://schemas.microsoft.com/office/drawing/2014/main" id="{B71C98D0-EBA6-44A5-B968-BCFFFFF5AF71}"/>
              </a:ext>
            </a:extLst>
          </p:cNvPr>
          <p:cNvPicPr>
            <a:picLocks noGrp="1" noChangeAspect="1"/>
          </p:cNvPicPr>
          <p:nvPr>
            <p:ph idx="1"/>
          </p:nvPr>
        </p:nvPicPr>
        <p:blipFill>
          <a:blip r:embed="rId2"/>
          <a:stretch>
            <a:fillRect/>
          </a:stretch>
        </p:blipFill>
        <p:spPr>
          <a:xfrm>
            <a:off x="1103246" y="1507137"/>
            <a:ext cx="9985507" cy="4586288"/>
          </a:xfrm>
          <a:prstGeom prst="rect">
            <a:avLst/>
          </a:prstGeom>
        </p:spPr>
      </p:pic>
    </p:spTree>
    <p:extLst>
      <p:ext uri="{BB962C8B-B14F-4D97-AF65-F5344CB8AC3E}">
        <p14:creationId xmlns:p14="http://schemas.microsoft.com/office/powerpoint/2010/main" val="4179507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4FE7CF-37DB-4828-A0C1-97A1173E73C4}"/>
              </a:ext>
            </a:extLst>
          </p:cNvPr>
          <p:cNvSpPr>
            <a:spLocks noGrp="1"/>
          </p:cNvSpPr>
          <p:nvPr>
            <p:ph type="title"/>
          </p:nvPr>
        </p:nvSpPr>
        <p:spPr/>
        <p:txBody>
          <a:bodyPr>
            <a:normAutofit/>
          </a:bodyPr>
          <a:lstStyle/>
          <a:p>
            <a:r>
              <a:rPr lang="en-US" altLang="zh-CN" dirty="0"/>
              <a:t>openEuler</a:t>
            </a:r>
            <a:r>
              <a:rPr lang="zh-CN" altLang="en-US" dirty="0"/>
              <a:t>和主流</a:t>
            </a:r>
            <a:r>
              <a:rPr lang="en-US" altLang="zh-CN" dirty="0"/>
              <a:t>OS</a:t>
            </a:r>
            <a:r>
              <a:rPr lang="zh-CN" altLang="en-US" dirty="0"/>
              <a:t>系的关系</a:t>
            </a:r>
          </a:p>
        </p:txBody>
      </p:sp>
      <p:sp>
        <p:nvSpPr>
          <p:cNvPr id="4" name="灯片编号占位符 3">
            <a:extLst>
              <a:ext uri="{FF2B5EF4-FFF2-40B4-BE49-F238E27FC236}">
                <a16:creationId xmlns:a16="http://schemas.microsoft.com/office/drawing/2014/main" id="{53F2C295-33E1-4E2F-BD8A-D2EECFF7542C}"/>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pic>
        <p:nvPicPr>
          <p:cNvPr id="61" name="图片 60">
            <a:extLst>
              <a:ext uri="{FF2B5EF4-FFF2-40B4-BE49-F238E27FC236}">
                <a16:creationId xmlns:a16="http://schemas.microsoft.com/office/drawing/2014/main" id="{9E7AC276-9C45-4842-91B3-DBD81A672E62}"/>
              </a:ext>
            </a:extLst>
          </p:cNvPr>
          <p:cNvPicPr>
            <a:picLocks noChangeAspect="1"/>
          </p:cNvPicPr>
          <p:nvPr/>
        </p:nvPicPr>
        <p:blipFill>
          <a:blip r:embed="rId2"/>
          <a:stretch>
            <a:fillRect/>
          </a:stretch>
        </p:blipFill>
        <p:spPr>
          <a:xfrm>
            <a:off x="792857" y="1448462"/>
            <a:ext cx="9894808" cy="4907888"/>
          </a:xfrm>
          <a:prstGeom prst="rect">
            <a:avLst/>
          </a:prstGeom>
        </p:spPr>
      </p:pic>
    </p:spTree>
    <p:extLst>
      <p:ext uri="{BB962C8B-B14F-4D97-AF65-F5344CB8AC3E}">
        <p14:creationId xmlns:p14="http://schemas.microsoft.com/office/powerpoint/2010/main" val="1974760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9EB238-EDF2-4A0B-868D-CD725CD43647}"/>
              </a:ext>
            </a:extLst>
          </p:cNvPr>
          <p:cNvSpPr>
            <a:spLocks noGrp="1"/>
          </p:cNvSpPr>
          <p:nvPr>
            <p:ph type="title"/>
          </p:nvPr>
        </p:nvSpPr>
        <p:spPr/>
        <p:txBody>
          <a:bodyPr/>
          <a:lstStyle/>
          <a:p>
            <a:r>
              <a:rPr lang="en-US" altLang="zh-CN" dirty="0"/>
              <a:t>openEuler</a:t>
            </a:r>
            <a:r>
              <a:rPr lang="zh-CN" altLang="en-US" dirty="0"/>
              <a:t>平台框架</a:t>
            </a:r>
          </a:p>
        </p:txBody>
      </p:sp>
      <p:sp>
        <p:nvSpPr>
          <p:cNvPr id="3" name="内容占位符 2">
            <a:extLst>
              <a:ext uri="{FF2B5EF4-FFF2-40B4-BE49-F238E27FC236}">
                <a16:creationId xmlns:a16="http://schemas.microsoft.com/office/drawing/2014/main" id="{BB406F63-5ECC-4120-84C7-88F783D4D816}"/>
              </a:ext>
            </a:extLst>
          </p:cNvPr>
          <p:cNvSpPr>
            <a:spLocks noGrp="1"/>
          </p:cNvSpPr>
          <p:nvPr>
            <p:ph idx="1"/>
          </p:nvPr>
        </p:nvSpPr>
        <p:spPr>
          <a:xfrm>
            <a:off x="838200" y="1510758"/>
            <a:ext cx="10515600" cy="1043203"/>
          </a:xfrm>
        </p:spPr>
        <p:txBody>
          <a:bodyPr>
            <a:normAutofit lnSpcReduction="10000"/>
          </a:bodyPr>
          <a:lstStyle/>
          <a:p>
            <a:r>
              <a:rPr lang="zh-CN" altLang="en-US" dirty="0"/>
              <a:t>为充分发挥鲲鹏处理器的优势，</a:t>
            </a:r>
            <a:r>
              <a:rPr lang="en-US" altLang="zh-CN" dirty="0"/>
              <a:t>openEuler</a:t>
            </a:r>
            <a:r>
              <a:rPr lang="zh-CN" altLang="en-US" dirty="0"/>
              <a:t>对通用</a:t>
            </a:r>
            <a:r>
              <a:rPr lang="en-US" altLang="zh-CN" dirty="0"/>
              <a:t>Linux</a:t>
            </a:r>
            <a:r>
              <a:rPr lang="zh-CN" altLang="en-US" dirty="0"/>
              <a:t>操作系统作了增强。</a:t>
            </a:r>
          </a:p>
          <a:p>
            <a:endParaRPr lang="zh-CN" altLang="en-US" dirty="0"/>
          </a:p>
        </p:txBody>
      </p:sp>
      <p:sp>
        <p:nvSpPr>
          <p:cNvPr id="4" name="灯片编号占位符 3">
            <a:extLst>
              <a:ext uri="{FF2B5EF4-FFF2-40B4-BE49-F238E27FC236}">
                <a16:creationId xmlns:a16="http://schemas.microsoft.com/office/drawing/2014/main" id="{CD848C60-E9FD-41A4-BD40-7973F478F936}"/>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7" name="矩形 33">
            <a:extLst>
              <a:ext uri="{FF2B5EF4-FFF2-40B4-BE49-F238E27FC236}">
                <a16:creationId xmlns:a16="http://schemas.microsoft.com/office/drawing/2014/main" id="{121C59A3-C37D-411E-B110-EAB6C92953B8}"/>
              </a:ext>
            </a:extLst>
          </p:cNvPr>
          <p:cNvSpPr/>
          <p:nvPr/>
        </p:nvSpPr>
        <p:spPr>
          <a:xfrm>
            <a:off x="2371553" y="2656791"/>
            <a:ext cx="7559104" cy="40394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34">
            <a:extLst>
              <a:ext uri="{FF2B5EF4-FFF2-40B4-BE49-F238E27FC236}">
                <a16:creationId xmlns:a16="http://schemas.microsoft.com/office/drawing/2014/main" id="{D52DB58C-0D50-42C7-BC53-4C7D37AA83FF}"/>
              </a:ext>
            </a:extLst>
          </p:cNvPr>
          <p:cNvSpPr/>
          <p:nvPr/>
        </p:nvSpPr>
        <p:spPr>
          <a:xfrm>
            <a:off x="2495491" y="6227043"/>
            <a:ext cx="970438" cy="243281"/>
          </a:xfrm>
          <a:prstGeom prst="rect">
            <a:avLst/>
          </a:prstGeom>
          <a:ln>
            <a:solidFill>
              <a:schemeClr val="bg1">
                <a:lumMod val="9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芯片</a:t>
            </a:r>
          </a:p>
        </p:txBody>
      </p:sp>
      <p:sp>
        <p:nvSpPr>
          <p:cNvPr id="9" name="矩形 35">
            <a:extLst>
              <a:ext uri="{FF2B5EF4-FFF2-40B4-BE49-F238E27FC236}">
                <a16:creationId xmlns:a16="http://schemas.microsoft.com/office/drawing/2014/main" id="{80A7FB58-E027-4D77-9425-AF5D39BD369C}"/>
              </a:ext>
            </a:extLst>
          </p:cNvPr>
          <p:cNvSpPr/>
          <p:nvPr/>
        </p:nvSpPr>
        <p:spPr>
          <a:xfrm>
            <a:off x="3654470" y="6322780"/>
            <a:ext cx="2179429" cy="243281"/>
          </a:xfrm>
          <a:prstGeom prst="rect">
            <a:avLst/>
          </a:prstGeom>
          <a:effectLst/>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x86 ARM RISC-V</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36">
            <a:extLst>
              <a:ext uri="{FF2B5EF4-FFF2-40B4-BE49-F238E27FC236}">
                <a16:creationId xmlns:a16="http://schemas.microsoft.com/office/drawing/2014/main" id="{017C1D3D-7165-47A6-BF0B-6B2E3DDD5B29}"/>
              </a:ext>
            </a:extLst>
          </p:cNvPr>
          <p:cNvSpPr/>
          <p:nvPr/>
        </p:nvSpPr>
        <p:spPr>
          <a:xfrm>
            <a:off x="5908401" y="6309727"/>
            <a:ext cx="1020660" cy="243281"/>
          </a:xfrm>
          <a:prstGeom prst="rect">
            <a:avLst/>
          </a:prstGeom>
          <a:effectLst/>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GPU</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37">
            <a:extLst>
              <a:ext uri="{FF2B5EF4-FFF2-40B4-BE49-F238E27FC236}">
                <a16:creationId xmlns:a16="http://schemas.microsoft.com/office/drawing/2014/main" id="{619AC1EA-4C33-4939-A2CD-3BF8A93E33AD}"/>
              </a:ext>
            </a:extLst>
          </p:cNvPr>
          <p:cNvSpPr/>
          <p:nvPr/>
        </p:nvSpPr>
        <p:spPr>
          <a:xfrm>
            <a:off x="7037604" y="6309727"/>
            <a:ext cx="975920" cy="243281"/>
          </a:xfrm>
          <a:prstGeom prst="rect">
            <a:avLst/>
          </a:prstGeom>
          <a:effectLst/>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NPU</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41">
            <a:extLst>
              <a:ext uri="{FF2B5EF4-FFF2-40B4-BE49-F238E27FC236}">
                <a16:creationId xmlns:a16="http://schemas.microsoft.com/office/drawing/2014/main" id="{239421B4-A4D4-44E4-A167-2576EBC5164F}"/>
              </a:ext>
            </a:extLst>
          </p:cNvPr>
          <p:cNvSpPr/>
          <p:nvPr/>
        </p:nvSpPr>
        <p:spPr>
          <a:xfrm>
            <a:off x="3641886" y="5316101"/>
            <a:ext cx="4371638" cy="849786"/>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42">
            <a:extLst>
              <a:ext uri="{FF2B5EF4-FFF2-40B4-BE49-F238E27FC236}">
                <a16:creationId xmlns:a16="http://schemas.microsoft.com/office/drawing/2014/main" id="{9FF5E2DE-4A2F-4D27-ACE9-9DC67D9B33FD}"/>
              </a:ext>
            </a:extLst>
          </p:cNvPr>
          <p:cNvSpPr/>
          <p:nvPr/>
        </p:nvSpPr>
        <p:spPr>
          <a:xfrm>
            <a:off x="3720184" y="5835951"/>
            <a:ext cx="1335601" cy="25730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芯片、外设驱动</a:t>
            </a:r>
          </a:p>
        </p:txBody>
      </p:sp>
      <p:sp>
        <p:nvSpPr>
          <p:cNvPr id="14" name="矩形 43">
            <a:extLst>
              <a:ext uri="{FF2B5EF4-FFF2-40B4-BE49-F238E27FC236}">
                <a16:creationId xmlns:a16="http://schemas.microsoft.com/office/drawing/2014/main" id="{44D33731-53D3-450F-A38D-AFD30428D4F1}"/>
              </a:ext>
            </a:extLst>
          </p:cNvPr>
          <p:cNvSpPr/>
          <p:nvPr/>
        </p:nvSpPr>
        <p:spPr>
          <a:xfrm>
            <a:off x="5172641" y="5835951"/>
            <a:ext cx="1208015" cy="25730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文件系统</a:t>
            </a:r>
          </a:p>
        </p:txBody>
      </p:sp>
      <p:sp>
        <p:nvSpPr>
          <p:cNvPr id="15" name="矩形 44">
            <a:extLst>
              <a:ext uri="{FF2B5EF4-FFF2-40B4-BE49-F238E27FC236}">
                <a16:creationId xmlns:a16="http://schemas.microsoft.com/office/drawing/2014/main" id="{7DAAD96D-D9B0-4929-908B-E9002B0B3553}"/>
              </a:ext>
            </a:extLst>
          </p:cNvPr>
          <p:cNvSpPr/>
          <p:nvPr/>
        </p:nvSpPr>
        <p:spPr>
          <a:xfrm>
            <a:off x="6507303" y="5827831"/>
            <a:ext cx="1333849" cy="265430"/>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安全框架</a:t>
            </a:r>
          </a:p>
        </p:txBody>
      </p:sp>
      <p:sp>
        <p:nvSpPr>
          <p:cNvPr id="16" name="矩形 45">
            <a:extLst>
              <a:ext uri="{FF2B5EF4-FFF2-40B4-BE49-F238E27FC236}">
                <a16:creationId xmlns:a16="http://schemas.microsoft.com/office/drawing/2014/main" id="{AE0B71C1-0EF3-4E19-9128-DD7E80C5E673}"/>
              </a:ext>
            </a:extLst>
          </p:cNvPr>
          <p:cNvSpPr/>
          <p:nvPr/>
        </p:nvSpPr>
        <p:spPr>
          <a:xfrm>
            <a:off x="3720184" y="5391992"/>
            <a:ext cx="494951" cy="35739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架构</a:t>
            </a:r>
          </a:p>
        </p:txBody>
      </p:sp>
      <p:sp>
        <p:nvSpPr>
          <p:cNvPr id="17" name="矩形 46">
            <a:extLst>
              <a:ext uri="{FF2B5EF4-FFF2-40B4-BE49-F238E27FC236}">
                <a16:creationId xmlns:a16="http://schemas.microsoft.com/office/drawing/2014/main" id="{B6777185-D01D-4B86-9DF6-DA15BBF947ED}"/>
              </a:ext>
            </a:extLst>
          </p:cNvPr>
          <p:cNvSpPr/>
          <p:nvPr/>
        </p:nvSpPr>
        <p:spPr>
          <a:xfrm>
            <a:off x="4279799" y="5395578"/>
            <a:ext cx="494951"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驱动框架</a:t>
            </a:r>
          </a:p>
        </p:txBody>
      </p:sp>
      <p:sp>
        <p:nvSpPr>
          <p:cNvPr id="18" name="矩形 47">
            <a:extLst>
              <a:ext uri="{FF2B5EF4-FFF2-40B4-BE49-F238E27FC236}">
                <a16:creationId xmlns:a16="http://schemas.microsoft.com/office/drawing/2014/main" id="{97489D4F-73C8-40E1-8C7C-B521DECEA8DE}"/>
              </a:ext>
            </a:extLst>
          </p:cNvPr>
          <p:cNvSpPr/>
          <p:nvPr/>
        </p:nvSpPr>
        <p:spPr>
          <a:xfrm>
            <a:off x="4842734" y="5392365"/>
            <a:ext cx="494951" cy="353805"/>
          </a:xfrm>
          <a:prstGeom prst="rect">
            <a:avLst/>
          </a:prstGeom>
          <a:solidFill>
            <a:srgbClr val="C00000"/>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进程管理</a:t>
            </a:r>
          </a:p>
        </p:txBody>
      </p:sp>
      <p:sp>
        <p:nvSpPr>
          <p:cNvPr id="19" name="矩形 48">
            <a:extLst>
              <a:ext uri="{FF2B5EF4-FFF2-40B4-BE49-F238E27FC236}">
                <a16:creationId xmlns:a16="http://schemas.microsoft.com/office/drawing/2014/main" id="{5C375EC8-40C7-4E22-A1B9-6866D20C3B86}"/>
              </a:ext>
            </a:extLst>
          </p:cNvPr>
          <p:cNvSpPr/>
          <p:nvPr/>
        </p:nvSpPr>
        <p:spPr>
          <a:xfrm>
            <a:off x="5413450" y="5394735"/>
            <a:ext cx="494951"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内存管理</a:t>
            </a:r>
          </a:p>
        </p:txBody>
      </p:sp>
      <p:sp>
        <p:nvSpPr>
          <p:cNvPr id="20" name="矩形 49">
            <a:extLst>
              <a:ext uri="{FF2B5EF4-FFF2-40B4-BE49-F238E27FC236}">
                <a16:creationId xmlns:a16="http://schemas.microsoft.com/office/drawing/2014/main" id="{A4E71751-A743-4CC6-9E43-270456F188BB}"/>
              </a:ext>
            </a:extLst>
          </p:cNvPr>
          <p:cNvSpPr/>
          <p:nvPr/>
        </p:nvSpPr>
        <p:spPr>
          <a:xfrm>
            <a:off x="5974024" y="5395578"/>
            <a:ext cx="682307"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虚拟化系统</a:t>
            </a:r>
          </a:p>
        </p:txBody>
      </p:sp>
      <p:sp>
        <p:nvSpPr>
          <p:cNvPr id="21" name="矩形 50">
            <a:extLst>
              <a:ext uri="{FF2B5EF4-FFF2-40B4-BE49-F238E27FC236}">
                <a16:creationId xmlns:a16="http://schemas.microsoft.com/office/drawing/2014/main" id="{CCC18C63-5F4D-4EC7-A726-3F282D8F5612}"/>
              </a:ext>
            </a:extLst>
          </p:cNvPr>
          <p:cNvSpPr/>
          <p:nvPr/>
        </p:nvSpPr>
        <p:spPr>
          <a:xfrm>
            <a:off x="6710947" y="5395212"/>
            <a:ext cx="494951"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容器</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实施</a:t>
            </a:r>
          </a:p>
        </p:txBody>
      </p:sp>
      <p:sp>
        <p:nvSpPr>
          <p:cNvPr id="22" name="矩形 51">
            <a:extLst>
              <a:ext uri="{FF2B5EF4-FFF2-40B4-BE49-F238E27FC236}">
                <a16:creationId xmlns:a16="http://schemas.microsoft.com/office/drawing/2014/main" id="{5F4A76A6-B9EF-40A6-810E-ABD516CCD206}"/>
              </a:ext>
            </a:extLst>
          </p:cNvPr>
          <p:cNvSpPr/>
          <p:nvPr/>
        </p:nvSpPr>
        <p:spPr>
          <a:xfrm>
            <a:off x="7264622" y="5394507"/>
            <a:ext cx="578798" cy="353805"/>
          </a:xfrm>
          <a:prstGeom prst="rect">
            <a:avLst/>
          </a:prstGeom>
          <a:solidFill>
            <a:srgbClr val="C00000"/>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KAE</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52">
            <a:extLst>
              <a:ext uri="{FF2B5EF4-FFF2-40B4-BE49-F238E27FC236}">
                <a16:creationId xmlns:a16="http://schemas.microsoft.com/office/drawing/2014/main" id="{9D5433E7-FF5B-4323-964E-D210038B6804}"/>
              </a:ext>
            </a:extLst>
          </p:cNvPr>
          <p:cNvSpPr/>
          <p:nvPr/>
        </p:nvSpPr>
        <p:spPr>
          <a:xfrm>
            <a:off x="2495489" y="5540829"/>
            <a:ext cx="970440" cy="419717"/>
          </a:xfrm>
          <a:prstGeom prst="rect">
            <a:avLst/>
          </a:prstGeom>
          <a:ln>
            <a:solidFill>
              <a:schemeClr val="bg1">
                <a:lumMod val="9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内核</a:t>
            </a:r>
          </a:p>
        </p:txBody>
      </p:sp>
      <p:sp>
        <p:nvSpPr>
          <p:cNvPr id="24" name="矩形 53">
            <a:extLst>
              <a:ext uri="{FF2B5EF4-FFF2-40B4-BE49-F238E27FC236}">
                <a16:creationId xmlns:a16="http://schemas.microsoft.com/office/drawing/2014/main" id="{590A6310-9A1D-48AA-8AF0-F539B9654363}"/>
              </a:ext>
            </a:extLst>
          </p:cNvPr>
          <p:cNvSpPr/>
          <p:nvPr/>
        </p:nvSpPr>
        <p:spPr>
          <a:xfrm>
            <a:off x="3641886" y="4577870"/>
            <a:ext cx="2585053" cy="574821"/>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虚</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拟</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化</a:t>
            </a:r>
          </a:p>
        </p:txBody>
      </p:sp>
      <p:sp>
        <p:nvSpPr>
          <p:cNvPr id="25" name="矩形 54">
            <a:extLst>
              <a:ext uri="{FF2B5EF4-FFF2-40B4-BE49-F238E27FC236}">
                <a16:creationId xmlns:a16="http://schemas.microsoft.com/office/drawing/2014/main" id="{D1425E68-EAA7-46EA-959E-AF2AAF96411F}"/>
              </a:ext>
            </a:extLst>
          </p:cNvPr>
          <p:cNvSpPr/>
          <p:nvPr/>
        </p:nvSpPr>
        <p:spPr>
          <a:xfrm>
            <a:off x="4871773" y="4688377"/>
            <a:ext cx="671158"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Qemu</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55">
            <a:extLst>
              <a:ext uri="{FF2B5EF4-FFF2-40B4-BE49-F238E27FC236}">
                <a16:creationId xmlns:a16="http://schemas.microsoft.com/office/drawing/2014/main" id="{45E3D4ED-74E6-4F7F-9EC0-E18E901161CE}"/>
              </a:ext>
            </a:extLst>
          </p:cNvPr>
          <p:cNvSpPr/>
          <p:nvPr/>
        </p:nvSpPr>
        <p:spPr>
          <a:xfrm>
            <a:off x="3922391" y="4689569"/>
            <a:ext cx="962334" cy="353805"/>
          </a:xfrm>
          <a:prstGeom prst="rect">
            <a:avLst/>
          </a:prstGeom>
          <a:solidFill>
            <a:srgbClr val="C00000"/>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StratoVirt</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矩形 56">
            <a:extLst>
              <a:ext uri="{FF2B5EF4-FFF2-40B4-BE49-F238E27FC236}">
                <a16:creationId xmlns:a16="http://schemas.microsoft.com/office/drawing/2014/main" id="{96D27D29-41A1-442B-BF8B-72C7013B6B4A}"/>
              </a:ext>
            </a:extLst>
          </p:cNvPr>
          <p:cNvSpPr/>
          <p:nvPr/>
        </p:nvSpPr>
        <p:spPr>
          <a:xfrm>
            <a:off x="5549061" y="4688377"/>
            <a:ext cx="641124"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libvirt</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矩形 57">
            <a:extLst>
              <a:ext uri="{FF2B5EF4-FFF2-40B4-BE49-F238E27FC236}">
                <a16:creationId xmlns:a16="http://schemas.microsoft.com/office/drawing/2014/main" id="{71405E5D-7580-44F5-94B3-537714EFAB29}"/>
              </a:ext>
            </a:extLst>
          </p:cNvPr>
          <p:cNvSpPr/>
          <p:nvPr/>
        </p:nvSpPr>
        <p:spPr>
          <a:xfrm>
            <a:off x="6258744" y="4577870"/>
            <a:ext cx="1754780" cy="574821"/>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容</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器</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矩形 58">
            <a:extLst>
              <a:ext uri="{FF2B5EF4-FFF2-40B4-BE49-F238E27FC236}">
                <a16:creationId xmlns:a16="http://schemas.microsoft.com/office/drawing/2014/main" id="{E6D7B81E-626E-4D6D-B95C-017D65262313}"/>
              </a:ext>
            </a:extLst>
          </p:cNvPr>
          <p:cNvSpPr/>
          <p:nvPr/>
        </p:nvSpPr>
        <p:spPr>
          <a:xfrm>
            <a:off x="6550032" y="4688377"/>
            <a:ext cx="580650" cy="353805"/>
          </a:xfrm>
          <a:prstGeom prst="rect">
            <a:avLst/>
          </a:prstGeom>
          <a:solidFill>
            <a:srgbClr val="C00000"/>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iSula</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矩形 59">
            <a:extLst>
              <a:ext uri="{FF2B5EF4-FFF2-40B4-BE49-F238E27FC236}">
                <a16:creationId xmlns:a16="http://schemas.microsoft.com/office/drawing/2014/main" id="{1D7CCBAA-33F7-4182-9A97-F59EB83C0192}"/>
              </a:ext>
            </a:extLst>
          </p:cNvPr>
          <p:cNvSpPr/>
          <p:nvPr/>
        </p:nvSpPr>
        <p:spPr>
          <a:xfrm>
            <a:off x="7166093" y="4688377"/>
            <a:ext cx="768936"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Docker</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矩形 60">
            <a:extLst>
              <a:ext uri="{FF2B5EF4-FFF2-40B4-BE49-F238E27FC236}">
                <a16:creationId xmlns:a16="http://schemas.microsoft.com/office/drawing/2014/main" id="{27402CD6-CB74-483F-AB03-FE1DB28CF3C1}"/>
              </a:ext>
            </a:extLst>
          </p:cNvPr>
          <p:cNvSpPr/>
          <p:nvPr/>
        </p:nvSpPr>
        <p:spPr>
          <a:xfrm>
            <a:off x="2495490" y="4577870"/>
            <a:ext cx="976739" cy="574821"/>
          </a:xfrm>
          <a:prstGeom prst="rect">
            <a:avLst/>
          </a:prstGeom>
          <a:ln>
            <a:solidFill>
              <a:schemeClr val="bg1">
                <a:lumMod val="9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虚拟化及容器</a:t>
            </a:r>
          </a:p>
        </p:txBody>
      </p:sp>
      <p:sp>
        <p:nvSpPr>
          <p:cNvPr id="32" name="矩形 62">
            <a:extLst>
              <a:ext uri="{FF2B5EF4-FFF2-40B4-BE49-F238E27FC236}">
                <a16:creationId xmlns:a16="http://schemas.microsoft.com/office/drawing/2014/main" id="{31274451-40AF-477E-9157-1AE540B540BF}"/>
              </a:ext>
            </a:extLst>
          </p:cNvPr>
          <p:cNvSpPr/>
          <p:nvPr/>
        </p:nvSpPr>
        <p:spPr>
          <a:xfrm>
            <a:off x="3641887" y="3861536"/>
            <a:ext cx="2044547" cy="574821"/>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运</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行</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时</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矩形 63">
            <a:extLst>
              <a:ext uri="{FF2B5EF4-FFF2-40B4-BE49-F238E27FC236}">
                <a16:creationId xmlns:a16="http://schemas.microsoft.com/office/drawing/2014/main" id="{97865CC3-E18B-43C1-AD43-44E61F96BCA7}"/>
              </a:ext>
            </a:extLst>
          </p:cNvPr>
          <p:cNvSpPr/>
          <p:nvPr/>
        </p:nvSpPr>
        <p:spPr>
          <a:xfrm>
            <a:off x="3922391" y="4022068"/>
            <a:ext cx="811022" cy="353805"/>
          </a:xfrm>
          <a:prstGeom prst="rect">
            <a:avLst/>
          </a:prstGeom>
          <a:solidFill>
            <a:srgbClr val="C00000"/>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毕昇</a:t>
            </a:r>
            <a:r>
              <a:rPr lang="en-US" altLang="zh-CN"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JDK</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矩形 64">
            <a:extLst>
              <a:ext uri="{FF2B5EF4-FFF2-40B4-BE49-F238E27FC236}">
                <a16:creationId xmlns:a16="http://schemas.microsoft.com/office/drawing/2014/main" id="{641133E1-1FD9-4EEB-87A8-2D3A74927031}"/>
              </a:ext>
            </a:extLst>
          </p:cNvPr>
          <p:cNvSpPr/>
          <p:nvPr/>
        </p:nvSpPr>
        <p:spPr>
          <a:xfrm>
            <a:off x="4824223" y="4022068"/>
            <a:ext cx="771401" cy="35380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Python</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矩形 65">
            <a:extLst>
              <a:ext uri="{FF2B5EF4-FFF2-40B4-BE49-F238E27FC236}">
                <a16:creationId xmlns:a16="http://schemas.microsoft.com/office/drawing/2014/main" id="{4A43C762-04C3-4C70-8A4A-D9AD8F511A9B}"/>
              </a:ext>
            </a:extLst>
          </p:cNvPr>
          <p:cNvSpPr/>
          <p:nvPr/>
        </p:nvSpPr>
        <p:spPr>
          <a:xfrm>
            <a:off x="5760936" y="3861536"/>
            <a:ext cx="928952" cy="574821"/>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加速库</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矩形 66">
            <a:extLst>
              <a:ext uri="{FF2B5EF4-FFF2-40B4-BE49-F238E27FC236}">
                <a16:creationId xmlns:a16="http://schemas.microsoft.com/office/drawing/2014/main" id="{5EA38933-AB18-4F05-BCF9-52A55275D775}"/>
              </a:ext>
            </a:extLst>
          </p:cNvPr>
          <p:cNvSpPr/>
          <p:nvPr/>
        </p:nvSpPr>
        <p:spPr>
          <a:xfrm>
            <a:off x="7020115" y="3869562"/>
            <a:ext cx="982956" cy="574821"/>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图形库</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矩形 67">
            <a:extLst>
              <a:ext uri="{FF2B5EF4-FFF2-40B4-BE49-F238E27FC236}">
                <a16:creationId xmlns:a16="http://schemas.microsoft.com/office/drawing/2014/main" id="{9632F519-8832-420B-96DF-D9D5E9EA3ED1}"/>
              </a:ext>
            </a:extLst>
          </p:cNvPr>
          <p:cNvSpPr/>
          <p:nvPr/>
        </p:nvSpPr>
        <p:spPr>
          <a:xfrm>
            <a:off x="2495490" y="3869562"/>
            <a:ext cx="981695" cy="562141"/>
          </a:xfrm>
          <a:prstGeom prst="rect">
            <a:avLst/>
          </a:prstGeom>
          <a:ln>
            <a:solidFill>
              <a:schemeClr val="bg1">
                <a:lumMod val="9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运行时及加速库</a:t>
            </a:r>
          </a:p>
        </p:txBody>
      </p:sp>
      <p:sp>
        <p:nvSpPr>
          <p:cNvPr id="38" name="矩形 68">
            <a:extLst>
              <a:ext uri="{FF2B5EF4-FFF2-40B4-BE49-F238E27FC236}">
                <a16:creationId xmlns:a16="http://schemas.microsoft.com/office/drawing/2014/main" id="{6963AA7A-AFC7-44E3-AEE3-B50A121C878F}"/>
              </a:ext>
            </a:extLst>
          </p:cNvPr>
          <p:cNvSpPr/>
          <p:nvPr/>
        </p:nvSpPr>
        <p:spPr>
          <a:xfrm>
            <a:off x="3647626" y="3327725"/>
            <a:ext cx="437329" cy="378238"/>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DB</a:t>
            </a:r>
          </a:p>
        </p:txBody>
      </p:sp>
      <p:sp>
        <p:nvSpPr>
          <p:cNvPr id="39" name="矩形 70">
            <a:extLst>
              <a:ext uri="{FF2B5EF4-FFF2-40B4-BE49-F238E27FC236}">
                <a16:creationId xmlns:a16="http://schemas.microsoft.com/office/drawing/2014/main" id="{9D2FCE3E-0E49-4810-AC93-C15C8A70627F}"/>
              </a:ext>
            </a:extLst>
          </p:cNvPr>
          <p:cNvSpPr/>
          <p:nvPr/>
        </p:nvSpPr>
        <p:spPr>
          <a:xfrm>
            <a:off x="4126226" y="3319792"/>
            <a:ext cx="575414" cy="389188"/>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Web</a:t>
            </a:r>
          </a:p>
        </p:txBody>
      </p:sp>
      <p:sp>
        <p:nvSpPr>
          <p:cNvPr id="40" name="矩形 71">
            <a:extLst>
              <a:ext uri="{FF2B5EF4-FFF2-40B4-BE49-F238E27FC236}">
                <a16:creationId xmlns:a16="http://schemas.microsoft.com/office/drawing/2014/main" id="{4B0369A8-F647-4F28-8AF6-60D4A974D34A}"/>
              </a:ext>
            </a:extLst>
          </p:cNvPr>
          <p:cNvSpPr/>
          <p:nvPr/>
        </p:nvSpPr>
        <p:spPr>
          <a:xfrm>
            <a:off x="4748050" y="3327725"/>
            <a:ext cx="576703" cy="38125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资源编排</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矩形 73">
            <a:extLst>
              <a:ext uri="{FF2B5EF4-FFF2-40B4-BE49-F238E27FC236}">
                <a16:creationId xmlns:a16="http://schemas.microsoft.com/office/drawing/2014/main" id="{30539373-5FDA-42F5-90A3-4C3B0B4F6A40}"/>
              </a:ext>
            </a:extLst>
          </p:cNvPr>
          <p:cNvSpPr/>
          <p:nvPr/>
        </p:nvSpPr>
        <p:spPr>
          <a:xfrm>
            <a:off x="5379958" y="3327725"/>
            <a:ext cx="951035" cy="38135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消息中间件</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矩形 74">
            <a:extLst>
              <a:ext uri="{FF2B5EF4-FFF2-40B4-BE49-F238E27FC236}">
                <a16:creationId xmlns:a16="http://schemas.microsoft.com/office/drawing/2014/main" id="{4E4C2012-D923-4D1E-8ACC-AFB3303555F6}"/>
              </a:ext>
            </a:extLst>
          </p:cNvPr>
          <p:cNvSpPr/>
          <p:nvPr/>
        </p:nvSpPr>
        <p:spPr>
          <a:xfrm>
            <a:off x="6382037" y="3316432"/>
            <a:ext cx="1018614" cy="41730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机密计算框架</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矩形 75">
            <a:extLst>
              <a:ext uri="{FF2B5EF4-FFF2-40B4-BE49-F238E27FC236}">
                <a16:creationId xmlns:a16="http://schemas.microsoft.com/office/drawing/2014/main" id="{086B73D1-AB2B-4654-A70C-9B8BC9BA4CCB}"/>
              </a:ext>
            </a:extLst>
          </p:cNvPr>
          <p:cNvSpPr/>
          <p:nvPr/>
        </p:nvSpPr>
        <p:spPr>
          <a:xfrm>
            <a:off x="7432456" y="3316432"/>
            <a:ext cx="606517" cy="417307"/>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桌面</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系统</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矩形 76">
            <a:extLst>
              <a:ext uri="{FF2B5EF4-FFF2-40B4-BE49-F238E27FC236}">
                <a16:creationId xmlns:a16="http://schemas.microsoft.com/office/drawing/2014/main" id="{37B6B3ED-661E-4716-B162-D4EC12AA88FE}"/>
              </a:ext>
            </a:extLst>
          </p:cNvPr>
          <p:cNvSpPr/>
          <p:nvPr/>
        </p:nvSpPr>
        <p:spPr>
          <a:xfrm>
            <a:off x="2495491" y="3462199"/>
            <a:ext cx="970438" cy="248198"/>
          </a:xfrm>
          <a:prstGeom prst="rect">
            <a:avLst/>
          </a:prstGeom>
          <a:ln>
            <a:solidFill>
              <a:schemeClr val="bg1">
                <a:lumMod val="9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应用中间件</a:t>
            </a:r>
          </a:p>
        </p:txBody>
      </p:sp>
      <p:sp>
        <p:nvSpPr>
          <p:cNvPr id="45" name="矩形 77">
            <a:extLst>
              <a:ext uri="{FF2B5EF4-FFF2-40B4-BE49-F238E27FC236}">
                <a16:creationId xmlns:a16="http://schemas.microsoft.com/office/drawing/2014/main" id="{1070F6E8-5A9C-457E-B4F8-6C33A9B649D8}"/>
              </a:ext>
            </a:extLst>
          </p:cNvPr>
          <p:cNvSpPr/>
          <p:nvPr/>
        </p:nvSpPr>
        <p:spPr>
          <a:xfrm>
            <a:off x="3654470" y="2948565"/>
            <a:ext cx="6130955" cy="292592"/>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应用程序</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矩形 78">
            <a:extLst>
              <a:ext uri="{FF2B5EF4-FFF2-40B4-BE49-F238E27FC236}">
                <a16:creationId xmlns:a16="http://schemas.microsoft.com/office/drawing/2014/main" id="{A5EE2BEC-C634-43EF-B7F1-C201CE29BBF7}"/>
              </a:ext>
            </a:extLst>
          </p:cNvPr>
          <p:cNvSpPr/>
          <p:nvPr/>
        </p:nvSpPr>
        <p:spPr>
          <a:xfrm>
            <a:off x="8121515" y="3417921"/>
            <a:ext cx="1663909" cy="3149538"/>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79">
            <a:extLst>
              <a:ext uri="{FF2B5EF4-FFF2-40B4-BE49-F238E27FC236}">
                <a16:creationId xmlns:a16="http://schemas.microsoft.com/office/drawing/2014/main" id="{2A0C9B28-D9EE-4470-921C-BD0D3F449625}"/>
              </a:ext>
            </a:extLst>
          </p:cNvPr>
          <p:cNvSpPr txBox="1"/>
          <p:nvPr/>
        </p:nvSpPr>
        <p:spPr>
          <a:xfrm>
            <a:off x="8376075" y="3450195"/>
            <a:ext cx="1140902" cy="276999"/>
          </a:xfrm>
          <a:prstGeom prst="rect">
            <a:avLst/>
          </a:prstGeom>
          <a:noFill/>
        </p:spPr>
        <p:txBody>
          <a:bodyPr wrap="square" rtlCol="0">
            <a:spAutoFit/>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工具链</a:t>
            </a:r>
          </a:p>
        </p:txBody>
      </p:sp>
      <p:sp>
        <p:nvSpPr>
          <p:cNvPr id="48" name="矩形 80">
            <a:extLst>
              <a:ext uri="{FF2B5EF4-FFF2-40B4-BE49-F238E27FC236}">
                <a16:creationId xmlns:a16="http://schemas.microsoft.com/office/drawing/2014/main" id="{80B7F03C-1493-4049-8F46-974F4A67C398}"/>
              </a:ext>
            </a:extLst>
          </p:cNvPr>
          <p:cNvSpPr/>
          <p:nvPr/>
        </p:nvSpPr>
        <p:spPr>
          <a:xfrm>
            <a:off x="8239964" y="3710513"/>
            <a:ext cx="1444155" cy="456297"/>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Compass-CI</a:t>
            </a: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测试平台</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矩形 81">
            <a:extLst>
              <a:ext uri="{FF2B5EF4-FFF2-40B4-BE49-F238E27FC236}">
                <a16:creationId xmlns:a16="http://schemas.microsoft.com/office/drawing/2014/main" id="{D0E4D69F-AE19-4FBC-8B74-6966BCA430DC}"/>
              </a:ext>
            </a:extLst>
          </p:cNvPr>
          <p:cNvSpPr/>
          <p:nvPr/>
        </p:nvSpPr>
        <p:spPr>
          <a:xfrm>
            <a:off x="8239964" y="4267457"/>
            <a:ext cx="1444155" cy="456297"/>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A-Tune</a:t>
            </a: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自动调优工具</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矩形 82">
            <a:extLst>
              <a:ext uri="{FF2B5EF4-FFF2-40B4-BE49-F238E27FC236}">
                <a16:creationId xmlns:a16="http://schemas.microsoft.com/office/drawing/2014/main" id="{021E5758-8CC4-40A7-A1CA-F1AF1F965126}"/>
              </a:ext>
            </a:extLst>
          </p:cNvPr>
          <p:cNvSpPr/>
          <p:nvPr/>
        </p:nvSpPr>
        <p:spPr>
          <a:xfrm>
            <a:off x="8245462" y="4826584"/>
            <a:ext cx="1419158" cy="48951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编译器</a:t>
            </a:r>
          </a:p>
        </p:txBody>
      </p:sp>
      <p:sp>
        <p:nvSpPr>
          <p:cNvPr id="51" name="矩形 83">
            <a:extLst>
              <a:ext uri="{FF2B5EF4-FFF2-40B4-BE49-F238E27FC236}">
                <a16:creationId xmlns:a16="http://schemas.microsoft.com/office/drawing/2014/main" id="{51CB9661-BC96-4B11-8750-E6766E5A3767}"/>
              </a:ext>
            </a:extLst>
          </p:cNvPr>
          <p:cNvSpPr/>
          <p:nvPr/>
        </p:nvSpPr>
        <p:spPr>
          <a:xfrm>
            <a:off x="8245462" y="5391992"/>
            <a:ext cx="1419158" cy="53734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迁移工具</a:t>
            </a:r>
          </a:p>
        </p:txBody>
      </p:sp>
      <p:sp>
        <p:nvSpPr>
          <p:cNvPr id="52" name="矩形 84">
            <a:extLst>
              <a:ext uri="{FF2B5EF4-FFF2-40B4-BE49-F238E27FC236}">
                <a16:creationId xmlns:a16="http://schemas.microsoft.com/office/drawing/2014/main" id="{BA0DEB48-4728-47FA-99D6-F74E74CD5EF5}"/>
              </a:ext>
            </a:extLst>
          </p:cNvPr>
          <p:cNvSpPr/>
          <p:nvPr/>
        </p:nvSpPr>
        <p:spPr>
          <a:xfrm>
            <a:off x="8245462" y="6007747"/>
            <a:ext cx="1419158" cy="51021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IDE</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16477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操作系统的目标和作用</a:t>
            </a:r>
          </a:p>
        </p:txBody>
      </p:sp>
      <p:sp>
        <p:nvSpPr>
          <p:cNvPr id="3" name="内容占位符 2"/>
          <p:cNvSpPr>
            <a:spLocks noGrp="1"/>
          </p:cNvSpPr>
          <p:nvPr>
            <p:ph idx="1"/>
          </p:nvPr>
        </p:nvSpPr>
        <p:spPr>
          <a:xfrm>
            <a:off x="838200" y="1510758"/>
            <a:ext cx="10515600" cy="4982116"/>
          </a:xfrm>
        </p:spPr>
        <p:txBody>
          <a:bodyPr>
            <a:normAutofit/>
          </a:bodyPr>
          <a:lstStyle/>
          <a:p>
            <a:pPr marL="0" indent="0" algn="just">
              <a:lnSpc>
                <a:spcPct val="120000"/>
              </a:lnSpc>
              <a:buNone/>
            </a:pPr>
            <a:r>
              <a:rPr lang="zh-CN" altLang="en-US" sz="2400" dirty="0">
                <a:solidFill>
                  <a:schemeClr val="accent6">
                    <a:lumMod val="50000"/>
                  </a:schemeClr>
                </a:solidFill>
                <a:latin typeface="Times New Roman" panose="02020603050405020304" pitchFamily="18" charset="0"/>
                <a:cs typeface="Times New Roman" panose="02020603050405020304" pitchFamily="18" charset="0"/>
              </a:rPr>
              <a:t>        操作系统目标与应用环境有关，如查询系统的</a:t>
            </a:r>
            <a:r>
              <a:rPr lang="en-US" altLang="zh-CN" sz="2400" dirty="0">
                <a:solidFill>
                  <a:schemeClr val="accent6">
                    <a:lumMod val="50000"/>
                  </a:schemeClr>
                </a:solidFill>
                <a:latin typeface="Times New Roman" panose="02020603050405020304" pitchFamily="18" charset="0"/>
                <a:cs typeface="Times New Roman" panose="02020603050405020304" pitchFamily="18" charset="0"/>
              </a:rPr>
              <a:t>OS</a:t>
            </a:r>
            <a:r>
              <a:rPr lang="zh-CN" altLang="en-US" sz="2400" dirty="0">
                <a:solidFill>
                  <a:schemeClr val="accent6">
                    <a:lumMod val="50000"/>
                  </a:schemeClr>
                </a:solidFill>
                <a:latin typeface="Times New Roman" panose="02020603050405020304" pitchFamily="18" charset="0"/>
                <a:cs typeface="Times New Roman" panose="02020603050405020304" pitchFamily="18" charset="0"/>
              </a:rPr>
              <a:t>希望能提供良好的人机交互性，对于应用于工业控制、武器控制以及多媒体环境下的</a:t>
            </a:r>
            <a:r>
              <a:rPr lang="en-US" altLang="zh-CN" sz="2400" dirty="0">
                <a:solidFill>
                  <a:schemeClr val="accent6">
                    <a:lumMod val="50000"/>
                  </a:schemeClr>
                </a:solidFill>
                <a:latin typeface="Times New Roman" panose="02020603050405020304" pitchFamily="18" charset="0"/>
                <a:cs typeface="Times New Roman" panose="02020603050405020304" pitchFamily="18" charset="0"/>
              </a:rPr>
              <a:t>OS</a:t>
            </a:r>
            <a:r>
              <a:rPr lang="zh-CN" altLang="en-US" sz="2400" dirty="0">
                <a:solidFill>
                  <a:schemeClr val="accent6">
                    <a:lumMod val="50000"/>
                  </a:schemeClr>
                </a:solidFill>
                <a:latin typeface="Times New Roman" panose="02020603050405020304" pitchFamily="18" charset="0"/>
                <a:cs typeface="Times New Roman" panose="02020603050405020304" pitchFamily="18" charset="0"/>
              </a:rPr>
              <a:t>，要求其具有实时性，而对于微机上配置的</a:t>
            </a:r>
            <a:r>
              <a:rPr lang="en-US" altLang="zh-CN" sz="2400" dirty="0">
                <a:solidFill>
                  <a:schemeClr val="accent6">
                    <a:lumMod val="50000"/>
                  </a:schemeClr>
                </a:solidFill>
                <a:latin typeface="Times New Roman" panose="02020603050405020304" pitchFamily="18" charset="0"/>
                <a:cs typeface="Times New Roman" panose="02020603050405020304" pitchFamily="18" charset="0"/>
              </a:rPr>
              <a:t>OS</a:t>
            </a:r>
            <a:r>
              <a:rPr lang="zh-CN" altLang="en-US" sz="2400" dirty="0">
                <a:solidFill>
                  <a:schemeClr val="accent6">
                    <a:lumMod val="50000"/>
                  </a:schemeClr>
                </a:solidFill>
                <a:latin typeface="Times New Roman" panose="02020603050405020304" pitchFamily="18" charset="0"/>
                <a:cs typeface="Times New Roman" panose="02020603050405020304" pitchFamily="18" charset="0"/>
              </a:rPr>
              <a:t>，则更看重的是其使用的方便性。</a:t>
            </a:r>
            <a:endParaRPr lang="en-US" altLang="zh-CN" sz="2400" dirty="0">
              <a:solidFill>
                <a:schemeClr val="accent6">
                  <a:lumMod val="50000"/>
                </a:schemeClr>
              </a:solidFill>
              <a:latin typeface="Times New Roman" panose="02020603050405020304" pitchFamily="18" charset="0"/>
              <a:cs typeface="Times New Roman" panose="02020603050405020304" pitchFamily="18" charset="0"/>
            </a:endParaRPr>
          </a:p>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操作系统的目标</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方便性</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有效性</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可扩充性</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开放性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操作系统的目标和作用</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操作系统的作用</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作为用户与计算机硬件系统之间的接口</a:t>
            </a:r>
            <a:endParaRPr lang="en-US" altLang="zh-CN" dirty="0">
              <a:latin typeface="Times New Roman" panose="02020603050405020304" pitchFamily="18" charset="0"/>
              <a:cs typeface="Times New Roman" panose="02020603050405020304" pitchFamily="18" charset="0"/>
            </a:endParaRPr>
          </a:p>
          <a:p>
            <a:pPr marL="914400" lvl="2" indent="0">
              <a:lnSpc>
                <a:spcPct val="120000"/>
              </a:lnSpc>
              <a:buNone/>
            </a:pP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作为用户与计算机硬件系统之间接口的含义是：</a:t>
            </a: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处于用户与计算机硬件系统之间，用户通过</a:t>
            </a: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来使用计算机系统。或者说，用户在</a:t>
            </a: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帮助下能够方便、快捷、可靠地操纵计算机硬件和运行自己的程序。下图是</a:t>
            </a: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作为接口的示意图。</a:t>
            </a: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pic>
        <p:nvPicPr>
          <p:cNvPr id="5" name="图片 4"/>
          <p:cNvPicPr>
            <a:picLocks noChangeAspect="1"/>
          </p:cNvPicPr>
          <p:nvPr/>
        </p:nvPicPr>
        <p:blipFill>
          <a:blip r:embed="rId2"/>
          <a:stretch>
            <a:fillRect/>
          </a:stretch>
        </p:blipFill>
        <p:spPr>
          <a:xfrm>
            <a:off x="2654600" y="3963616"/>
            <a:ext cx="6656548" cy="25292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操作系统的目标和作用</a:t>
            </a:r>
          </a:p>
        </p:txBody>
      </p:sp>
      <p:sp>
        <p:nvSpPr>
          <p:cNvPr id="3" name="内容占位符 2"/>
          <p:cNvSpPr>
            <a:spLocks noGrp="1"/>
          </p:cNvSpPr>
          <p:nvPr>
            <p:ph idx="1"/>
          </p:nvPr>
        </p:nvSpPr>
        <p:spPr/>
        <p:txBody>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操作系统的作用</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作为计算机系统资源的管理者</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ea typeface="+mn-ea"/>
              </a:rPr>
              <a:t>在一个计算机系统中，通常含有多种硬件和软件资源，可将这些资源分为四类：处理机、存储器、</a:t>
            </a:r>
            <a:r>
              <a:rPr lang="en-US" altLang="zh-CN" dirty="0">
                <a:ea typeface="+mn-ea"/>
              </a:rPr>
              <a:t>I/O</a:t>
            </a:r>
            <a:r>
              <a:rPr lang="zh-CN" altLang="en-US" dirty="0">
                <a:ea typeface="+mn-ea"/>
              </a:rPr>
              <a:t>设备以及文件</a:t>
            </a:r>
            <a:r>
              <a:rPr lang="en-US" altLang="zh-CN" dirty="0">
                <a:ea typeface="+mn-ea"/>
              </a:rPr>
              <a:t>(</a:t>
            </a:r>
            <a:r>
              <a:rPr lang="zh-CN" altLang="en-US" dirty="0">
                <a:ea typeface="+mn-ea"/>
              </a:rPr>
              <a:t>数据和程序</a:t>
            </a:r>
            <a:r>
              <a:rPr lang="en-US" altLang="zh-CN" dirty="0">
                <a:ea typeface="+mn-ea"/>
              </a:rPr>
              <a:t>)</a:t>
            </a:r>
            <a:r>
              <a:rPr lang="zh-CN" altLang="en-US" dirty="0">
                <a:ea typeface="+mn-ea"/>
              </a:rPr>
              <a:t>。相应地，</a:t>
            </a:r>
            <a:r>
              <a:rPr lang="en-US" altLang="zh-CN" dirty="0">
                <a:ea typeface="+mn-ea"/>
              </a:rPr>
              <a:t>OS</a:t>
            </a:r>
            <a:r>
              <a:rPr lang="zh-CN" altLang="en-US" dirty="0">
                <a:ea typeface="+mn-ea"/>
              </a:rPr>
              <a:t>的主要功能也正是对这四类资源进行有效的管理。处理机管理是用于分配和控制处理机；存储器管理主要负责内存的分配与回收；</a:t>
            </a:r>
            <a:r>
              <a:rPr lang="en-US" altLang="zh-CN" dirty="0">
                <a:ea typeface="+mn-ea"/>
              </a:rPr>
              <a:t>I/O</a:t>
            </a:r>
            <a:r>
              <a:rPr lang="zh-CN" altLang="en-US" dirty="0">
                <a:ea typeface="+mn-ea"/>
              </a:rPr>
              <a:t>设备管理是负责</a:t>
            </a:r>
            <a:r>
              <a:rPr lang="en-US" altLang="zh-CN" dirty="0">
                <a:ea typeface="+mn-ea"/>
              </a:rPr>
              <a:t>I/O</a:t>
            </a:r>
            <a:r>
              <a:rPr lang="zh-CN" altLang="en-US" dirty="0">
                <a:ea typeface="+mn-ea"/>
              </a:rPr>
              <a:t>设备的分配</a:t>
            </a:r>
            <a:r>
              <a:rPr lang="en-US" altLang="zh-CN" dirty="0">
                <a:ea typeface="+mn-ea"/>
              </a:rPr>
              <a:t>(</a:t>
            </a:r>
            <a:r>
              <a:rPr lang="zh-CN" altLang="en-US" dirty="0">
                <a:ea typeface="+mn-ea"/>
              </a:rPr>
              <a:t>回收</a:t>
            </a:r>
            <a:r>
              <a:rPr lang="en-US" altLang="zh-CN" dirty="0">
                <a:ea typeface="+mn-ea"/>
              </a:rPr>
              <a:t>)</a:t>
            </a:r>
            <a:r>
              <a:rPr lang="zh-CN" altLang="en-US" dirty="0">
                <a:ea typeface="+mn-ea"/>
              </a:rPr>
              <a:t>与操纵；文件管理是用于实现对文件的存取、共享和保护。可见，</a:t>
            </a:r>
            <a:r>
              <a:rPr lang="en-US" altLang="zh-CN" dirty="0">
                <a:ea typeface="+mn-ea"/>
              </a:rPr>
              <a:t>OS</a:t>
            </a:r>
            <a:r>
              <a:rPr lang="zh-CN" altLang="en-US" dirty="0">
                <a:ea typeface="+mn-ea"/>
              </a:rPr>
              <a:t>的确是计算机系统资源的管理者。</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操作系统的目标和作用</a:t>
            </a:r>
          </a:p>
        </p:txBody>
      </p:sp>
      <p:sp>
        <p:nvSpPr>
          <p:cNvPr id="3" name="内容占位符 2"/>
          <p:cNvSpPr>
            <a:spLocks noGrp="1"/>
          </p:cNvSpPr>
          <p:nvPr>
            <p:ph idx="1"/>
          </p:nvPr>
        </p:nvSpPr>
        <p:spPr>
          <a:xfrm>
            <a:off x="838200" y="1510757"/>
            <a:ext cx="6398342" cy="5210717"/>
          </a:xfrm>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操作系统的作用</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OS</a:t>
            </a:r>
            <a:r>
              <a:rPr lang="zh-CN" altLang="en-US" dirty="0">
                <a:latin typeface="Times New Roman" panose="02020603050405020304" pitchFamily="18" charset="0"/>
                <a:cs typeface="Times New Roman" panose="02020603050405020304" pitchFamily="18" charset="0"/>
              </a:rPr>
              <a:t>实现了对计算机资源的抽象</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一台完全无软件的计算机系统</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即裸机</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，它向用户提供的仅是硬件接口</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物理接口</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，因此用户必须对物理接口的实现细节有充分的了解，致使该物理机器难于广泛使用。为方便用户使用</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设备，在裸机上覆盖一层</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设备管理软件，如右图所示。由它实现对</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设备操作的细节，并向上将</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设备抽象为一组数据结构以及一组</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操作命令，如</a:t>
            </a:r>
            <a:r>
              <a:rPr lang="en-US" altLang="zh-CN" dirty="0">
                <a:latin typeface="Times New Roman" panose="02020603050405020304" pitchFamily="18" charset="0"/>
                <a:cs typeface="Times New Roman" panose="02020603050405020304" pitchFamily="18" charset="0"/>
              </a:rPr>
              <a:t>read</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write</a:t>
            </a:r>
            <a:r>
              <a:rPr lang="zh-CN" altLang="en-US" dirty="0">
                <a:latin typeface="Times New Roman" panose="02020603050405020304" pitchFamily="18" charset="0"/>
                <a:cs typeface="Times New Roman" panose="02020603050405020304" pitchFamily="18" charset="0"/>
              </a:rPr>
              <a:t>命令。这样用户即可利用这些数据结构及操作命令来进行数据输入或输出，而无需关心</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是如何具体实现的。 </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pic>
        <p:nvPicPr>
          <p:cNvPr id="5" name="图片 4"/>
          <p:cNvPicPr>
            <a:picLocks noChangeAspect="1"/>
          </p:cNvPicPr>
          <p:nvPr/>
        </p:nvPicPr>
        <p:blipFill>
          <a:blip r:embed="rId2"/>
          <a:stretch>
            <a:fillRect/>
          </a:stretch>
        </p:blipFill>
        <p:spPr>
          <a:xfrm>
            <a:off x="7236542" y="2614552"/>
            <a:ext cx="4937583" cy="35306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操作系统的目标和作用</a:t>
            </a:r>
          </a:p>
        </p:txBody>
      </p:sp>
      <p:sp>
        <p:nvSpPr>
          <p:cNvPr id="3" name="内容占位符 2"/>
          <p:cNvSpPr>
            <a:spLocks noGrp="1"/>
          </p:cNvSpPr>
          <p:nvPr>
            <p:ph idx="1"/>
          </p:nvPr>
        </p:nvSpPr>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推动操作系统发展的主要动力</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不断提高计算机资源利用率</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方便用户</a:t>
            </a:r>
            <a:endParaRPr lang="en-US" altLang="zh-CN" dirty="0"/>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器件的不断更新换代</a:t>
            </a:r>
            <a:endParaRPr lang="en-US" altLang="zh-CN" dirty="0"/>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计算机体系结构的不断发展</a:t>
            </a:r>
            <a:endParaRPr lang="en-US" altLang="zh-CN" dirty="0"/>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不断提出新的应用需求</a:t>
            </a: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lstStyle/>
          <a:p>
            <a:pPr marL="0" indent="0" algn="just">
              <a:buNone/>
            </a:pPr>
            <a:r>
              <a:rPr lang="en-US" altLang="zh-CN" dirty="0">
                <a:solidFill>
                  <a:schemeClr val="accent6">
                    <a:lumMod val="50000"/>
                  </a:schemeClr>
                </a:solidFill>
              </a:rPr>
              <a:t>        </a:t>
            </a:r>
            <a:r>
              <a:rPr lang="en-US" altLang="zh-CN" sz="2400" dirty="0">
                <a:solidFill>
                  <a:schemeClr val="accent6">
                    <a:lumMod val="50000"/>
                  </a:schemeClr>
                </a:solidFill>
              </a:rPr>
              <a:t>20</a:t>
            </a:r>
            <a:r>
              <a:rPr lang="zh-CN" altLang="en-US" sz="2400" dirty="0">
                <a:solidFill>
                  <a:schemeClr val="accent6">
                    <a:lumMod val="50000"/>
                  </a:schemeClr>
                </a:solidFill>
              </a:rPr>
              <a:t>世纪</a:t>
            </a:r>
            <a:r>
              <a:rPr lang="en-US" altLang="zh-CN" sz="2400" dirty="0">
                <a:solidFill>
                  <a:schemeClr val="accent6">
                    <a:lumMod val="50000"/>
                  </a:schemeClr>
                </a:solidFill>
              </a:rPr>
              <a:t>50</a:t>
            </a:r>
            <a:r>
              <a:rPr lang="zh-CN" altLang="en-US" sz="2400" dirty="0">
                <a:solidFill>
                  <a:schemeClr val="accent6">
                    <a:lumMod val="50000"/>
                  </a:schemeClr>
                </a:solidFill>
              </a:rPr>
              <a:t>年代中期出现第一个简单的批处理</a:t>
            </a:r>
            <a:r>
              <a:rPr lang="en-US" altLang="zh-CN" sz="2400" dirty="0">
                <a:solidFill>
                  <a:schemeClr val="accent6">
                    <a:lumMod val="50000"/>
                  </a:schemeClr>
                </a:solidFill>
              </a:rPr>
              <a:t>OS</a:t>
            </a:r>
            <a:r>
              <a:rPr lang="zh-CN" altLang="en-US" sz="2400" dirty="0">
                <a:solidFill>
                  <a:schemeClr val="accent6">
                    <a:lumMod val="50000"/>
                  </a:schemeClr>
                </a:solidFill>
              </a:rPr>
              <a:t>，</a:t>
            </a:r>
            <a:r>
              <a:rPr lang="en-US" altLang="zh-CN" sz="2400" dirty="0">
                <a:solidFill>
                  <a:schemeClr val="accent6">
                    <a:lumMod val="50000"/>
                  </a:schemeClr>
                </a:solidFill>
              </a:rPr>
              <a:t>60</a:t>
            </a:r>
            <a:r>
              <a:rPr lang="zh-CN" altLang="en-US" sz="2400" dirty="0">
                <a:solidFill>
                  <a:schemeClr val="accent6">
                    <a:lumMod val="50000"/>
                  </a:schemeClr>
                </a:solidFill>
              </a:rPr>
              <a:t>年代中期开发出多道程序批处理系统，不久又推出分时系统。与此同时，用于工业和武器控制的实时</a:t>
            </a:r>
            <a:r>
              <a:rPr lang="en-US" altLang="zh-CN" sz="2400" dirty="0">
                <a:solidFill>
                  <a:schemeClr val="accent6">
                    <a:lumMod val="50000"/>
                  </a:schemeClr>
                </a:solidFill>
              </a:rPr>
              <a:t>OS</a:t>
            </a:r>
            <a:r>
              <a:rPr lang="zh-CN" altLang="en-US" sz="2400" dirty="0">
                <a:solidFill>
                  <a:schemeClr val="accent6">
                    <a:lumMod val="50000"/>
                  </a:schemeClr>
                </a:solidFill>
              </a:rPr>
              <a:t>也相继问世。</a:t>
            </a:r>
            <a:r>
              <a:rPr lang="en-US" altLang="zh-CN" sz="2400" dirty="0">
                <a:solidFill>
                  <a:schemeClr val="accent6">
                    <a:lumMod val="50000"/>
                  </a:schemeClr>
                </a:solidFill>
              </a:rPr>
              <a:t>20</a:t>
            </a:r>
            <a:r>
              <a:rPr lang="zh-CN" altLang="en-US" sz="2400" dirty="0">
                <a:solidFill>
                  <a:schemeClr val="accent6">
                    <a:lumMod val="50000"/>
                  </a:schemeClr>
                </a:solidFill>
              </a:rPr>
              <a:t>世纪</a:t>
            </a:r>
            <a:r>
              <a:rPr lang="en-US" altLang="zh-CN" sz="2400" dirty="0">
                <a:solidFill>
                  <a:schemeClr val="accent6">
                    <a:lumMod val="50000"/>
                  </a:schemeClr>
                </a:solidFill>
              </a:rPr>
              <a:t>70</a:t>
            </a:r>
            <a:r>
              <a:rPr lang="zh-CN" altLang="en-US" sz="2400" dirty="0">
                <a:solidFill>
                  <a:schemeClr val="accent6">
                    <a:lumMod val="50000"/>
                  </a:schemeClr>
                </a:solidFill>
              </a:rPr>
              <a:t>到</a:t>
            </a:r>
            <a:r>
              <a:rPr lang="en-US" altLang="zh-CN" sz="2400" dirty="0">
                <a:solidFill>
                  <a:schemeClr val="accent6">
                    <a:lumMod val="50000"/>
                  </a:schemeClr>
                </a:solidFill>
              </a:rPr>
              <a:t>90</a:t>
            </a:r>
            <a:r>
              <a:rPr lang="zh-CN" altLang="en-US" sz="2400" dirty="0">
                <a:solidFill>
                  <a:schemeClr val="accent6">
                    <a:lumMod val="50000"/>
                  </a:schemeClr>
                </a:solidFill>
              </a:rPr>
              <a:t>年代，是</a:t>
            </a:r>
            <a:r>
              <a:rPr lang="en-US" altLang="zh-CN" sz="2400" dirty="0">
                <a:solidFill>
                  <a:schemeClr val="accent6">
                    <a:lumMod val="50000"/>
                  </a:schemeClr>
                </a:solidFill>
              </a:rPr>
              <a:t>VLSI</a:t>
            </a:r>
            <a:r>
              <a:rPr lang="zh-CN" altLang="en-US" sz="2400" dirty="0">
                <a:solidFill>
                  <a:schemeClr val="accent6">
                    <a:lumMod val="50000"/>
                  </a:schemeClr>
                </a:solidFill>
              </a:rPr>
              <a:t>和计算机体系结构大发展的年代，导致了微型机、多处理机和计算机网络的诞生和发展，与此相应地，也相继开发出了微机</a:t>
            </a:r>
            <a:r>
              <a:rPr lang="en-US" altLang="zh-CN" sz="2400" dirty="0">
                <a:solidFill>
                  <a:schemeClr val="accent6">
                    <a:lumMod val="50000"/>
                  </a:schemeClr>
                </a:solidFill>
              </a:rPr>
              <a:t>OS</a:t>
            </a:r>
            <a:r>
              <a:rPr lang="zh-CN" altLang="en-US" sz="2400" dirty="0">
                <a:solidFill>
                  <a:schemeClr val="accent6">
                    <a:lumMod val="50000"/>
                  </a:schemeClr>
                </a:solidFill>
              </a:rPr>
              <a:t>、多处理机</a:t>
            </a:r>
            <a:r>
              <a:rPr lang="en-US" altLang="zh-CN" sz="2400" dirty="0">
                <a:solidFill>
                  <a:schemeClr val="accent6">
                    <a:lumMod val="50000"/>
                  </a:schemeClr>
                </a:solidFill>
              </a:rPr>
              <a:t>OS</a:t>
            </a:r>
            <a:r>
              <a:rPr lang="zh-CN" altLang="en-US" sz="2400" dirty="0">
                <a:solidFill>
                  <a:schemeClr val="accent6">
                    <a:lumMod val="50000"/>
                  </a:schemeClr>
                </a:solidFill>
              </a:rPr>
              <a:t>和网络</a:t>
            </a:r>
            <a:r>
              <a:rPr lang="en-US" altLang="zh-CN" sz="2400" dirty="0">
                <a:solidFill>
                  <a:schemeClr val="accent6">
                    <a:lumMod val="50000"/>
                  </a:schemeClr>
                </a:solidFill>
              </a:rPr>
              <a:t>OS</a:t>
            </a:r>
            <a:r>
              <a:rPr lang="zh-CN" altLang="en-US" sz="2400" dirty="0">
                <a:solidFill>
                  <a:schemeClr val="accent6">
                    <a:lumMod val="50000"/>
                  </a:schemeClr>
                </a:solidFill>
              </a:rPr>
              <a:t>，并得到极为迅猛的发展。</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未配置操作系统的计算机系统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人工操作方式</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早期的操作方式是由程序员将事先已穿孔的纸带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或卡片</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，装入纸带输入机</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或卡片输入机</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，再启动它们将纸带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或卡片</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上的程序和数据输入计算机，然后启动计算机运行。仅当程序运行完毕并取走计算结果后，才允许下一个用户上机。这种人工操作方式有以下两方面的缺点：</a:t>
            </a:r>
            <a:endParaRPr lang="en-US" altLang="zh-CN" dirty="0"/>
          </a:p>
          <a:p>
            <a:pPr marL="914400" lvl="2" indent="0">
              <a:lnSpc>
                <a:spcPct val="120000"/>
              </a:lnSpc>
              <a:buNone/>
            </a:pPr>
            <a:r>
              <a:rPr lang="en-US" altLang="zh-CN" dirty="0">
                <a:latin typeface="Times New Roman" panose="02020603050405020304" pitchFamily="18" charset="0"/>
                <a:cs typeface="Times New Roman" panose="02020603050405020304" pitchFamily="18" charset="0"/>
              </a:rPr>
              <a:t>        (1)</a:t>
            </a:r>
            <a:r>
              <a:rPr lang="zh-CN" altLang="en-US" dirty="0">
                <a:latin typeface="Times New Roman" panose="02020603050405020304" pitchFamily="18" charset="0"/>
                <a:cs typeface="Times New Roman" panose="02020603050405020304" pitchFamily="18" charset="0"/>
              </a:rPr>
              <a:t>用户独占全机，即一台计算机的全部资源由上机用户所独占。</a:t>
            </a:r>
            <a:endParaRPr lang="en-US" altLang="zh-CN" dirty="0"/>
          </a:p>
          <a:p>
            <a:pPr marL="914400" lvl="2" indent="0">
              <a:lnSpc>
                <a:spcPct val="120000"/>
              </a:lnSpc>
              <a:buNone/>
            </a:pPr>
            <a:r>
              <a:rPr lang="en-US" altLang="zh-CN" dirty="0">
                <a:latin typeface="Times New Roman" panose="02020603050405020304" pitchFamily="18" charset="0"/>
                <a:cs typeface="Times New Roman" panose="02020603050405020304" pitchFamily="18" charset="0"/>
              </a:rPr>
              <a:t>        (2)CPU</a:t>
            </a:r>
            <a:r>
              <a:rPr lang="zh-CN" altLang="en-US" dirty="0">
                <a:latin typeface="Times New Roman" panose="02020603050405020304" pitchFamily="18" charset="0"/>
                <a:cs typeface="Times New Roman" panose="02020603050405020304" pitchFamily="18" charset="0"/>
              </a:rPr>
              <a:t>等待人工操作。当用户进行装带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卡</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、卸带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卡</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等人工操作时，</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及内存等资源是空闲的。</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未配置操作系统的计算机系统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脱机输入</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输出</a:t>
            </a:r>
            <a:r>
              <a:rPr lang="en-US" altLang="zh-CN" dirty="0">
                <a:latin typeface="Times New Roman" panose="02020603050405020304" pitchFamily="18" charset="0"/>
                <a:cs typeface="Times New Roman" panose="02020603050405020304" pitchFamily="18" charset="0"/>
              </a:rPr>
              <a:t>(Off-Line I/O)</a:t>
            </a:r>
            <a:r>
              <a:rPr lang="zh-CN" altLang="en-US" dirty="0">
                <a:latin typeface="Times New Roman" panose="02020603050405020304" pitchFamily="18" charset="0"/>
                <a:cs typeface="Times New Roman" panose="02020603050405020304" pitchFamily="18" charset="0"/>
              </a:rPr>
              <a:t>方式</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为了解决人机矛盾及</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设备之间速度不匹配的矛盾，</a:t>
            </a:r>
            <a:r>
              <a:rPr lang="en-US" altLang="zh-CN" dirty="0">
                <a:latin typeface="Times New Roman" panose="02020603050405020304" pitchFamily="18" charset="0"/>
                <a:cs typeface="Times New Roman" panose="02020603050405020304" pitchFamily="18" charset="0"/>
              </a:rPr>
              <a:t>20</a:t>
            </a:r>
            <a:r>
              <a:rPr lang="zh-CN" altLang="en-US" dirty="0">
                <a:latin typeface="Times New Roman" panose="02020603050405020304" pitchFamily="18" charset="0"/>
                <a:cs typeface="Times New Roman" panose="02020603050405020304" pitchFamily="18" charset="0"/>
              </a:rPr>
              <a:t>世纪</a:t>
            </a:r>
            <a:r>
              <a:rPr lang="en-US" altLang="zh-CN" dirty="0">
                <a:latin typeface="Times New Roman" panose="02020603050405020304" pitchFamily="18" charset="0"/>
                <a:cs typeface="Times New Roman" panose="02020603050405020304" pitchFamily="18" charset="0"/>
              </a:rPr>
              <a:t>50</a:t>
            </a:r>
            <a:r>
              <a:rPr lang="zh-CN" altLang="en-US" dirty="0">
                <a:latin typeface="Times New Roman" panose="02020603050405020304" pitchFamily="18" charset="0"/>
                <a:cs typeface="Times New Roman" panose="02020603050405020304" pitchFamily="18" charset="0"/>
              </a:rPr>
              <a:t>年代末出现了脱机</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技术。该技术是事先将装有用户程序和数据的纸带装入纸带输入机，在一台外围机的控制下，把纸带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卡片</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上的数据</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程序</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输入到磁带上。当</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需要这些程序和数据时，再从磁带上高速地调入内存。</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pic>
        <p:nvPicPr>
          <p:cNvPr id="5" name="Picture 4" descr="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5204" y="4140006"/>
            <a:ext cx="4187948" cy="2568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单道批处理系统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单道批处理系统处理过程</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为实现对作业的连续处理，需要先把一批作业以脱机方式输入到磁带上，并在系统中配上监督程序</a:t>
            </a:r>
            <a:r>
              <a:rPr lang="en-US" altLang="zh-CN" dirty="0">
                <a:latin typeface="Times New Roman" panose="02020603050405020304" pitchFamily="18" charset="0"/>
                <a:cs typeface="Times New Roman" panose="02020603050405020304" pitchFamily="18" charset="0"/>
              </a:rPr>
              <a:t>(Monitor)</a:t>
            </a:r>
            <a:r>
              <a:rPr lang="zh-CN" altLang="en-US" dirty="0">
                <a:latin typeface="Times New Roman" panose="02020603050405020304" pitchFamily="18" charset="0"/>
                <a:cs typeface="Times New Roman" panose="02020603050405020304" pitchFamily="18" charset="0"/>
              </a:rPr>
              <a:t>，在它的控制下，使这批作业能一个接一个地连续处理。</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pic>
        <p:nvPicPr>
          <p:cNvPr id="5" name="Picture 4" descr="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3192" y="3492774"/>
            <a:ext cx="4075502" cy="3200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单道批处理系统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单道批处理系统的缺点</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单道批处理系统最主要缺点：系统的资源得不到充分的利用。这是因为在内存中仅有一道程序，每逢该程序在运行中发出</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请求后，</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便处于等待状态，必须在其</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完成后才继续运行。又因</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设备的低速性，更使</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的利用率显著降低。下图为单道程序的运行情况，从图可以看出：在</a:t>
            </a:r>
            <a:r>
              <a:rPr lang="en-US" altLang="zh-CN" dirty="0">
                <a:latin typeface="Times New Roman" panose="02020603050405020304" pitchFamily="18" charset="0"/>
                <a:cs typeface="Times New Roman" panose="02020603050405020304" pitchFamily="18" charset="0"/>
              </a:rPr>
              <a:t>t</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t</a:t>
            </a:r>
            <a:r>
              <a:rPr lang="en-US" altLang="zh-CN" baseline="-25000" dirty="0"/>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t</a:t>
            </a:r>
            <a:r>
              <a:rPr lang="en-US" altLang="zh-CN" baseline="-25000" dirty="0"/>
              <a:t>6</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t</a:t>
            </a:r>
            <a:r>
              <a:rPr lang="en-US" altLang="zh-CN" baseline="-25000" dirty="0"/>
              <a:t>7</a:t>
            </a:r>
            <a:r>
              <a:rPr lang="zh-CN" altLang="en-US" dirty="0">
                <a:latin typeface="Times New Roman" panose="02020603050405020304" pitchFamily="18" charset="0"/>
                <a:cs typeface="Times New Roman" panose="02020603050405020304" pitchFamily="18" charset="0"/>
              </a:rPr>
              <a:t>时间间隔内</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空闲。</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pic>
        <p:nvPicPr>
          <p:cNvPr id="6" name="Picture 4" descr="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805" y="4352924"/>
            <a:ext cx="8250286"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多道批处理系统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多道程序设计的基本概念</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latin typeface="Times New Roman" panose="02020603050405020304" pitchFamily="18" charset="0"/>
                <a:cs typeface="Times New Roman" panose="02020603050405020304" pitchFamily="18" charset="0"/>
              </a:rPr>
              <a:t>为了进一步提高资源的利用率和系统吞吐量，在</a:t>
            </a:r>
            <a:r>
              <a:rPr lang="en-US" altLang="zh-CN" dirty="0">
                <a:latin typeface="Times New Roman" panose="02020603050405020304" pitchFamily="18" charset="0"/>
                <a:cs typeface="Times New Roman" panose="02020603050405020304" pitchFamily="18" charset="0"/>
              </a:rPr>
              <a:t>20</a:t>
            </a:r>
            <a:r>
              <a:rPr lang="zh-CN" altLang="en-US" dirty="0">
                <a:latin typeface="Times New Roman" panose="02020603050405020304" pitchFamily="18" charset="0"/>
                <a:cs typeface="Times New Roman" panose="02020603050405020304" pitchFamily="18" charset="0"/>
              </a:rPr>
              <a:t>世纪</a:t>
            </a:r>
            <a:r>
              <a:rPr lang="en-US" altLang="zh-CN" dirty="0">
                <a:latin typeface="Times New Roman" panose="02020603050405020304" pitchFamily="18" charset="0"/>
                <a:cs typeface="Times New Roman" panose="02020603050405020304" pitchFamily="18" charset="0"/>
              </a:rPr>
              <a:t>60</a:t>
            </a:r>
            <a:r>
              <a:rPr lang="zh-CN" altLang="en-US" dirty="0">
                <a:latin typeface="Times New Roman" panose="02020603050405020304" pitchFamily="18" charset="0"/>
                <a:cs typeface="Times New Roman" panose="02020603050405020304" pitchFamily="18" charset="0"/>
              </a:rPr>
              <a:t>年代中期引入了多道程序设计技术，由此形成了多道批处理系统。下图为</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道程序时的运行情况。</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pic>
        <p:nvPicPr>
          <p:cNvPr id="5" name="Picture 4" descr="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831" y="3686553"/>
            <a:ext cx="6043049" cy="2901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多道批处理系统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多道批处理系统的优缺点</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en-US" altLang="zh-CN" dirty="0"/>
              <a:t>(1)</a:t>
            </a:r>
            <a:r>
              <a:rPr lang="zh-CN" altLang="en-US" dirty="0"/>
              <a:t>资源利用率高。引入多道批处理能使多道程序交替运行，以保持</a:t>
            </a:r>
            <a:r>
              <a:rPr lang="en-US" altLang="zh-CN" dirty="0"/>
              <a:t>CPU</a:t>
            </a:r>
            <a:r>
              <a:rPr lang="zh-CN" altLang="en-US" dirty="0"/>
              <a:t>处于忙碌状态；在内存中装入多道程序可提高内存的利用率；此外还可以提高</a:t>
            </a:r>
            <a:r>
              <a:rPr lang="en-US" altLang="zh-CN" dirty="0"/>
              <a:t>I/O</a:t>
            </a:r>
            <a:r>
              <a:rPr lang="zh-CN" altLang="en-US" dirty="0"/>
              <a:t>设备的利用率。</a:t>
            </a:r>
            <a:br>
              <a:rPr lang="zh-CN" altLang="en-US" dirty="0"/>
            </a:br>
            <a:r>
              <a:rPr lang="en-US" altLang="zh-CN" dirty="0"/>
              <a:t>(2)</a:t>
            </a:r>
            <a:r>
              <a:rPr lang="zh-CN" altLang="en-US" dirty="0"/>
              <a:t>系统吞吐量大。主要原因可归结为：①</a:t>
            </a:r>
            <a:r>
              <a:rPr lang="en-US" altLang="zh-CN" dirty="0"/>
              <a:t>CPU</a:t>
            </a:r>
            <a:r>
              <a:rPr lang="zh-CN" altLang="en-US" dirty="0"/>
              <a:t>和其它资源保持“忙碌”状态；②仅当作业完成时或运行不下去时才进行切换，系统开销小。</a:t>
            </a:r>
            <a:endParaRPr lang="en-US" altLang="zh-CN" dirty="0"/>
          </a:p>
          <a:p>
            <a:pPr marL="914400" lvl="2" indent="0" algn="just">
              <a:lnSpc>
                <a:spcPct val="120000"/>
              </a:lnSpc>
              <a:buNone/>
            </a:pPr>
            <a:r>
              <a:rPr lang="en-US" altLang="zh-CN" dirty="0"/>
              <a:t>(3)</a:t>
            </a:r>
            <a:r>
              <a:rPr lang="zh-CN" altLang="en-US" dirty="0"/>
              <a:t>平均周转时间长。由于作业要排队依次进行处理，因而作业的周转时间较长，通常需几个小时，甚至几天。</a:t>
            </a:r>
            <a:endParaRPr lang="en-US" altLang="zh-CN" dirty="0"/>
          </a:p>
          <a:p>
            <a:pPr marL="914400" lvl="2" indent="0" algn="just">
              <a:lnSpc>
                <a:spcPct val="120000"/>
              </a:lnSpc>
              <a:buNone/>
            </a:pPr>
            <a:r>
              <a:rPr lang="en-US" altLang="zh-CN" dirty="0"/>
              <a:t>(4)</a:t>
            </a:r>
            <a:r>
              <a:rPr lang="zh-CN" altLang="en-US" dirty="0"/>
              <a:t>无交互能力。用户一旦把作业提交给系统后，直至作业完成，用户都不能与自己的作业进行交互，修改和调试程序极不方便。</a:t>
            </a:r>
            <a:endParaRPr lang="en-US" altLang="zh-CN" dirty="0"/>
          </a:p>
          <a:p>
            <a:pPr marL="914400" lvl="2" indent="0" algn="just">
              <a:lnSpc>
                <a:spcPct val="120000"/>
              </a:lnSpc>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a:xfrm>
            <a:off x="838200" y="1510757"/>
            <a:ext cx="10515600" cy="5347243"/>
          </a:xfrm>
        </p:spPr>
        <p:txBody>
          <a:bodyPr>
            <a:normAutofit lnSpcReduction="10000"/>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多道批处理系统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多道批处理系统需要解决的问题</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en-US" altLang="zh-CN" dirty="0"/>
              <a:t>(1)</a:t>
            </a:r>
            <a:r>
              <a:rPr lang="zh-CN" altLang="en-US" dirty="0"/>
              <a:t>处理机争用问题。满足各道程序运行需要，提高处理机利用率。</a:t>
            </a:r>
            <a:endParaRPr lang="en-US" altLang="zh-CN" dirty="0"/>
          </a:p>
          <a:p>
            <a:pPr marL="914400" lvl="2" indent="0" algn="just">
              <a:lnSpc>
                <a:spcPct val="120000"/>
              </a:lnSpc>
              <a:buNone/>
            </a:pPr>
            <a:r>
              <a:rPr lang="en-US" altLang="zh-CN" dirty="0"/>
              <a:t>(2)</a:t>
            </a:r>
            <a:r>
              <a:rPr lang="zh-CN" altLang="en-US" dirty="0"/>
              <a:t>内存分配和保护问题。系统应能为每道程序分配必要的内存空间，使它们“各得其所”，且不会因某道程序出现异常情况而破坏其它程序。</a:t>
            </a:r>
            <a:endParaRPr lang="en-US" altLang="zh-CN" dirty="0"/>
          </a:p>
          <a:p>
            <a:pPr marL="914400" lvl="2" indent="0" algn="just">
              <a:lnSpc>
                <a:spcPct val="120000"/>
              </a:lnSpc>
              <a:buNone/>
            </a:pPr>
            <a:r>
              <a:rPr lang="en-US" altLang="zh-CN" dirty="0"/>
              <a:t>(3)I/O</a:t>
            </a:r>
            <a:r>
              <a:rPr lang="zh-CN" altLang="en-US" dirty="0"/>
              <a:t>设备分配问题。系统应采取适当的策略来分配系统中的</a:t>
            </a:r>
            <a:r>
              <a:rPr lang="en-US" altLang="zh-CN" dirty="0"/>
              <a:t>I/O</a:t>
            </a:r>
            <a:r>
              <a:rPr lang="zh-CN" altLang="en-US" dirty="0"/>
              <a:t>设备，以达到既能方便用户对设备的使用，又能提高设备利用率的目的。</a:t>
            </a:r>
            <a:endParaRPr lang="en-US" altLang="zh-CN" dirty="0"/>
          </a:p>
          <a:p>
            <a:pPr marL="914400" lvl="2" indent="0" algn="just">
              <a:lnSpc>
                <a:spcPct val="120000"/>
              </a:lnSpc>
              <a:buNone/>
            </a:pPr>
            <a:r>
              <a:rPr lang="en-US" altLang="zh-CN" dirty="0"/>
              <a:t>(4)</a:t>
            </a:r>
            <a:r>
              <a:rPr lang="zh-CN" altLang="en-US" dirty="0"/>
              <a:t>文件的组织和管理问题。系统应能有效地组织存放在系统中的大量的程序和数据，使它们既便于用户使用，又能保证数据的安全性。</a:t>
            </a:r>
            <a:endParaRPr lang="en-US" altLang="zh-CN" dirty="0"/>
          </a:p>
          <a:p>
            <a:pPr marL="914400" lvl="2" indent="0" algn="just">
              <a:lnSpc>
                <a:spcPct val="120000"/>
              </a:lnSpc>
              <a:buNone/>
            </a:pPr>
            <a:r>
              <a:rPr lang="en-US" altLang="zh-CN" dirty="0"/>
              <a:t>(5)</a:t>
            </a:r>
            <a:r>
              <a:rPr lang="zh-CN" altLang="en-US" dirty="0"/>
              <a:t>作业管理问题。系统中存在着各种作业</a:t>
            </a:r>
            <a:r>
              <a:rPr lang="en-US" altLang="zh-CN" dirty="0"/>
              <a:t>(</a:t>
            </a:r>
            <a:r>
              <a:rPr lang="zh-CN" altLang="en-US" dirty="0"/>
              <a:t>应用程序</a:t>
            </a:r>
            <a:r>
              <a:rPr lang="en-US" altLang="zh-CN" dirty="0"/>
              <a:t>)</a:t>
            </a:r>
            <a:r>
              <a:rPr lang="zh-CN" altLang="en-US" dirty="0"/>
              <a:t>，系统应能对系统中所有的作业进行合理的组织，以满足这些作业用户的不同要求。</a:t>
            </a:r>
            <a:endParaRPr lang="en-US" altLang="zh-CN" dirty="0"/>
          </a:p>
          <a:p>
            <a:pPr marL="914400" lvl="2" indent="0" algn="just">
              <a:lnSpc>
                <a:spcPct val="120000"/>
              </a:lnSpc>
              <a:buNone/>
            </a:pPr>
            <a:r>
              <a:rPr lang="en-US" altLang="zh-CN" dirty="0"/>
              <a:t>(6)</a:t>
            </a:r>
            <a:r>
              <a:rPr lang="zh-CN" altLang="en-US" dirty="0"/>
              <a:t>用户与系统的接口问题。为使用户能方便的使用操作系统，</a:t>
            </a:r>
            <a:r>
              <a:rPr lang="en-US" altLang="zh-CN" dirty="0"/>
              <a:t>OS</a:t>
            </a:r>
            <a:r>
              <a:rPr lang="zh-CN" altLang="en-US" dirty="0"/>
              <a:t>应提供用户与</a:t>
            </a:r>
            <a:r>
              <a:rPr lang="en-US" altLang="zh-CN" dirty="0"/>
              <a:t>OS</a:t>
            </a:r>
            <a:r>
              <a:rPr lang="zh-CN" altLang="en-US" dirty="0"/>
              <a:t>之间的接口。</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a:xfrm>
            <a:off x="838200" y="1510757"/>
            <a:ext cx="10515600" cy="5347243"/>
          </a:xfrm>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分时系统</a:t>
            </a:r>
            <a:endParaRPr lang="en-US" altLang="zh-CN" dirty="0">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分时系统的引入</a:t>
            </a:r>
            <a:endParaRPr lang="en-US" altLang="zh-CN" dirty="0">
              <a:latin typeface="Times New Roman" panose="02020603050405020304" pitchFamily="18" charset="0"/>
              <a:cs typeface="Times New Roman" panose="02020603050405020304" pitchFamily="18" charset="0"/>
            </a:endParaRPr>
          </a:p>
          <a:p>
            <a:pPr marL="914400" lvl="2" indent="0" algn="just">
              <a:lnSpc>
                <a:spcPct val="120000"/>
              </a:lnSpc>
              <a:buNone/>
            </a:pPr>
            <a:r>
              <a:rPr lang="zh-CN" altLang="en-US" dirty="0"/>
              <a:t>如果说推动多道批处理系统形成和发展的主要动力是提高资源利用率和系统吞吐量，那么，推动分时系统形成和发展的主要动力，则是为了满足用户对人</a:t>
            </a:r>
            <a:r>
              <a:rPr lang="en-US" altLang="zh-CN" dirty="0"/>
              <a:t>—</a:t>
            </a:r>
            <a:r>
              <a:rPr lang="zh-CN" altLang="en-US" dirty="0"/>
              <a:t>机交互的需求，由此形成了一种新型</a:t>
            </a:r>
            <a:r>
              <a:rPr lang="en-US" altLang="zh-CN" dirty="0"/>
              <a:t>OS</a:t>
            </a:r>
            <a:r>
              <a:rPr lang="zh-CN" altLang="en-US" dirty="0"/>
              <a:t>。用户的需求具体表现在以下几个方面</a:t>
            </a:r>
            <a:endParaRPr lang="en-US" altLang="zh-CN" dirty="0"/>
          </a:p>
          <a:p>
            <a:pPr marL="914400" lvl="2" indent="0" algn="just">
              <a:lnSpc>
                <a:spcPct val="120000"/>
              </a:lnSpc>
              <a:buNone/>
            </a:pPr>
            <a:r>
              <a:rPr lang="en-US" altLang="zh-CN" dirty="0"/>
              <a:t>(1)</a:t>
            </a:r>
            <a:r>
              <a:rPr lang="zh-CN" altLang="en-US" dirty="0"/>
              <a:t>人</a:t>
            </a:r>
            <a:r>
              <a:rPr lang="en-US" altLang="zh-CN" dirty="0"/>
              <a:t>—</a:t>
            </a:r>
            <a:r>
              <a:rPr lang="zh-CN" altLang="en-US" dirty="0"/>
              <a:t>机交互；</a:t>
            </a:r>
            <a:r>
              <a:rPr lang="en-US" altLang="zh-CN" dirty="0"/>
              <a:t>(2) </a:t>
            </a:r>
            <a:r>
              <a:rPr lang="zh-CN" altLang="en-US" dirty="0"/>
              <a:t>共享主机</a:t>
            </a:r>
          </a:p>
          <a:p>
            <a:pPr lvl="1">
              <a:buFont typeface="Wingdings" panose="05000000000000000000" pitchFamily="2" charset="2"/>
              <a:buChar char="ü"/>
            </a:pPr>
            <a:r>
              <a:rPr lang="zh-CN" altLang="en-US" dirty="0"/>
              <a:t>分时系统实现中的关键问题</a:t>
            </a:r>
            <a:endParaRPr lang="en-US" altLang="zh-CN" dirty="0"/>
          </a:p>
          <a:p>
            <a:pPr marL="914400" lvl="2" indent="0">
              <a:buNone/>
            </a:pPr>
            <a:r>
              <a:rPr lang="zh-CN" altLang="en-US" dirty="0"/>
              <a:t>在多道批处理系统中，用户无法与自己的作业进行交互的主要原因是：作业都先驻留在外存上，即使以后被调入内存，也要经过较长时间的等待后方能运行，用户无法与自己的作业进行交互</a:t>
            </a:r>
            <a:endParaRPr lang="en-US" altLang="zh-CN" dirty="0"/>
          </a:p>
          <a:p>
            <a:pPr marL="914400" lvl="2" indent="0">
              <a:buNone/>
            </a:pPr>
            <a:r>
              <a:rPr lang="en-US" altLang="zh-CN" dirty="0"/>
              <a:t>(1)</a:t>
            </a:r>
            <a:r>
              <a:rPr lang="zh-CN" altLang="en-US" dirty="0"/>
              <a:t>及时接收；</a:t>
            </a:r>
            <a:r>
              <a:rPr lang="en-US" altLang="zh-CN" dirty="0"/>
              <a:t>(2)</a:t>
            </a:r>
            <a:r>
              <a:rPr lang="zh-CN" altLang="en-US" dirty="0"/>
              <a:t>及时处理</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a:xfrm>
            <a:off x="838200" y="1510757"/>
            <a:ext cx="10515600" cy="5347243"/>
          </a:xfrm>
        </p:spPr>
        <p:txBody>
          <a:bodyPr>
            <a:normAutofit/>
          </a:bodyPr>
          <a:lstStyle/>
          <a:p>
            <a:r>
              <a:rPr lang="zh-CN" altLang="en-US" dirty="0">
                <a:solidFill>
                  <a:schemeClr val="accent2">
                    <a:lumMod val="75000"/>
                  </a:schemeClr>
                </a:solidFill>
              </a:rPr>
              <a:t>分时系统</a:t>
            </a:r>
            <a:endParaRPr lang="en-US" altLang="zh-CN" dirty="0"/>
          </a:p>
          <a:p>
            <a:pPr lvl="1">
              <a:buFont typeface="Wingdings" panose="05000000000000000000" pitchFamily="2" charset="2"/>
              <a:buChar char="ü"/>
            </a:pPr>
            <a:r>
              <a:rPr lang="zh-CN" altLang="en-US" dirty="0"/>
              <a:t>分时系统的特征</a:t>
            </a:r>
            <a:endParaRPr lang="en-US" altLang="zh-CN" dirty="0"/>
          </a:p>
          <a:p>
            <a:pPr marL="914400" lvl="2" indent="0" algn="just">
              <a:buNone/>
            </a:pPr>
            <a:r>
              <a:rPr lang="zh-CN" altLang="en-US" dirty="0"/>
              <a:t>分时系统与多道批处理系统相比，具有非常明显的不同特性，可归纳为以下四个方面：</a:t>
            </a:r>
            <a:endParaRPr lang="en-US" altLang="zh-CN" dirty="0"/>
          </a:p>
          <a:p>
            <a:pPr marL="914400" lvl="2" indent="0">
              <a:buNone/>
            </a:pPr>
            <a:r>
              <a:rPr lang="en-US" altLang="zh-CN" dirty="0"/>
              <a:t>(1)</a:t>
            </a:r>
            <a:r>
              <a:rPr lang="zh-CN" altLang="en-US" dirty="0"/>
              <a:t>多路性；</a:t>
            </a:r>
            <a:r>
              <a:rPr lang="en-US" altLang="zh-CN" dirty="0"/>
              <a:t>(2)</a:t>
            </a:r>
            <a:r>
              <a:rPr lang="zh-CN" altLang="en-US" dirty="0"/>
              <a:t>独立性；</a:t>
            </a:r>
            <a:r>
              <a:rPr lang="en-US" altLang="zh-CN" dirty="0"/>
              <a:t>(3)</a:t>
            </a:r>
            <a:r>
              <a:rPr lang="zh-CN" altLang="en-US" dirty="0"/>
              <a:t>及时性；</a:t>
            </a:r>
            <a:r>
              <a:rPr lang="en-US" altLang="zh-CN" dirty="0"/>
              <a:t>(4)</a:t>
            </a:r>
            <a:r>
              <a:rPr lang="zh-CN" altLang="en-US" dirty="0"/>
              <a:t>交互性</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Tree>
    <p:extLst>
      <p:ext uri="{BB962C8B-B14F-4D97-AF65-F5344CB8AC3E}">
        <p14:creationId xmlns:p14="http://schemas.microsoft.com/office/powerpoint/2010/main" val="2586900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a:xfrm>
            <a:off x="838200" y="1510757"/>
            <a:ext cx="10515600" cy="5347243"/>
          </a:xfrm>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实时系统</a:t>
            </a:r>
            <a:endParaRPr lang="en-US" altLang="zh-CN" dirty="0">
              <a:solidFill>
                <a:schemeClr val="accent2">
                  <a:lumMod val="7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zh-CN" altLang="en-US" dirty="0"/>
              <a:t>实时系统的类型</a:t>
            </a:r>
            <a:endParaRPr lang="en-US" altLang="zh-CN" dirty="0"/>
          </a:p>
          <a:p>
            <a:pPr marL="914400" lvl="2" indent="0">
              <a:buNone/>
            </a:pPr>
            <a:r>
              <a:rPr lang="zh-CN" altLang="en-US" dirty="0"/>
              <a:t>随着计算机应用的普及，实时系统的类型也相应增多，下面列出当前常见的几种：</a:t>
            </a:r>
            <a:br>
              <a:rPr lang="zh-CN" altLang="en-US" dirty="0"/>
            </a:br>
            <a:r>
              <a:rPr lang="en-US" altLang="zh-CN" dirty="0"/>
              <a:t>(1)</a:t>
            </a:r>
            <a:r>
              <a:rPr lang="zh-CN" altLang="en-US" dirty="0"/>
              <a:t>工业</a:t>
            </a:r>
            <a:r>
              <a:rPr lang="en-US" altLang="zh-CN" dirty="0"/>
              <a:t>(</a:t>
            </a:r>
            <a:r>
              <a:rPr lang="zh-CN" altLang="en-US" dirty="0"/>
              <a:t>武器</a:t>
            </a:r>
            <a:r>
              <a:rPr lang="en-US" altLang="zh-CN" dirty="0"/>
              <a:t>)</a:t>
            </a:r>
            <a:r>
              <a:rPr lang="zh-CN" altLang="en-US" dirty="0"/>
              <a:t>控制系统；</a:t>
            </a:r>
            <a:r>
              <a:rPr lang="en-US" altLang="zh-CN" dirty="0"/>
              <a:t>(2)</a:t>
            </a:r>
            <a:r>
              <a:rPr lang="zh-CN" altLang="en-US" dirty="0"/>
              <a:t>信息查询系统；</a:t>
            </a:r>
            <a:r>
              <a:rPr lang="en-US" altLang="zh-CN" dirty="0"/>
              <a:t>(3)</a:t>
            </a:r>
            <a:r>
              <a:rPr lang="zh-CN" altLang="en-US" dirty="0"/>
              <a:t>多媒体系统；</a:t>
            </a:r>
            <a:r>
              <a:rPr lang="en-US" altLang="zh-CN" dirty="0"/>
              <a:t>(4)</a:t>
            </a:r>
            <a:r>
              <a:rPr lang="zh-CN" altLang="en-US" dirty="0"/>
              <a:t>嵌入式系统</a:t>
            </a:r>
            <a:endParaRPr lang="en-US" altLang="zh-CN" dirty="0"/>
          </a:p>
          <a:p>
            <a:pPr lvl="1">
              <a:buFont typeface="Wingdings" panose="05000000000000000000" pitchFamily="2" charset="2"/>
              <a:buChar char="ü"/>
            </a:pPr>
            <a:r>
              <a:rPr lang="zh-CN" altLang="en-US" sz="2400" dirty="0"/>
              <a:t>实时任务的类型</a:t>
            </a:r>
            <a:endParaRPr lang="en-US" altLang="zh-CN" sz="2400" dirty="0"/>
          </a:p>
          <a:p>
            <a:pPr marL="914400" lvl="2" indent="0">
              <a:buNone/>
            </a:pPr>
            <a:r>
              <a:rPr lang="en-US" altLang="zh-CN" dirty="0"/>
              <a:t>(1)</a:t>
            </a:r>
            <a:r>
              <a:rPr lang="zh-CN" altLang="en-US" dirty="0"/>
              <a:t>周期性实时任务和非周期性实时任务</a:t>
            </a:r>
            <a:br>
              <a:rPr lang="zh-CN" altLang="en-US" dirty="0"/>
            </a:br>
            <a:r>
              <a:rPr lang="en-US" altLang="zh-CN" dirty="0"/>
              <a:t>(2)</a:t>
            </a:r>
            <a:r>
              <a:rPr lang="zh-CN" altLang="en-US" dirty="0"/>
              <a:t>硬实时任务和软实时任务</a:t>
            </a:r>
            <a:endParaRPr lang="en-US" altLang="zh-CN" dirty="0">
              <a:solidFill>
                <a:schemeClr val="accent2">
                  <a:lumMod val="7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zh-CN" altLang="en-US" dirty="0"/>
              <a:t>实时系统与分时系统特征的比较</a:t>
            </a:r>
            <a:endParaRPr lang="en-US" altLang="zh-CN" dirty="0"/>
          </a:p>
          <a:p>
            <a:pPr marL="914400" lvl="2" indent="0">
              <a:buNone/>
            </a:pPr>
            <a:r>
              <a:rPr lang="en-US" altLang="zh-CN" dirty="0"/>
              <a:t>(1)</a:t>
            </a:r>
            <a:r>
              <a:rPr lang="zh-CN" altLang="en-US" dirty="0"/>
              <a:t>多路性；</a:t>
            </a:r>
            <a:r>
              <a:rPr lang="en-US" altLang="zh-CN" dirty="0"/>
              <a:t>(2)</a:t>
            </a:r>
            <a:r>
              <a:rPr lang="zh-CN" altLang="en-US" dirty="0"/>
              <a:t>独立性；</a:t>
            </a:r>
            <a:r>
              <a:rPr lang="en-US" altLang="zh-CN" dirty="0"/>
              <a:t>(3)</a:t>
            </a:r>
            <a:r>
              <a:rPr lang="zh-CN" altLang="en-US" dirty="0"/>
              <a:t>及时性；</a:t>
            </a:r>
            <a:r>
              <a:rPr lang="en-US" altLang="zh-CN" dirty="0"/>
              <a:t>(4)</a:t>
            </a:r>
            <a:r>
              <a:rPr lang="zh-CN" altLang="en-US" dirty="0"/>
              <a:t>交互性；</a:t>
            </a:r>
            <a:r>
              <a:rPr lang="en-US" altLang="zh-CN" dirty="0"/>
              <a:t>(5)</a:t>
            </a:r>
            <a:r>
              <a:rPr lang="zh-CN" altLang="en-US" dirty="0"/>
              <a:t>可靠性 </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Tree>
    <p:extLst>
      <p:ext uri="{BB962C8B-B14F-4D97-AF65-F5344CB8AC3E}">
        <p14:creationId xmlns:p14="http://schemas.microsoft.com/office/powerpoint/2010/main" val="3693394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操作系统的发展过程</a:t>
            </a:r>
          </a:p>
        </p:txBody>
      </p:sp>
      <p:sp>
        <p:nvSpPr>
          <p:cNvPr id="3" name="内容占位符 2"/>
          <p:cNvSpPr>
            <a:spLocks noGrp="1"/>
          </p:cNvSpPr>
          <p:nvPr>
            <p:ph idx="1"/>
          </p:nvPr>
        </p:nvSpPr>
        <p:spPr>
          <a:xfrm>
            <a:off x="838200" y="1510757"/>
            <a:ext cx="10515600" cy="5347243"/>
          </a:xfrm>
        </p:spPr>
        <p:txBody>
          <a:bodyPr>
            <a:normAutofit/>
          </a:bodyPr>
          <a:lstStyle/>
          <a:p>
            <a:pPr>
              <a:lnSpc>
                <a:spcPct val="120000"/>
              </a:lnSpc>
            </a:pPr>
            <a:r>
              <a:rPr lang="zh-CN" altLang="en-US" dirty="0">
                <a:solidFill>
                  <a:schemeClr val="accent2">
                    <a:lumMod val="75000"/>
                  </a:schemeClr>
                </a:solidFill>
                <a:latin typeface="Times New Roman" panose="02020603050405020304" pitchFamily="18" charset="0"/>
                <a:cs typeface="Times New Roman" panose="02020603050405020304" pitchFamily="18" charset="0"/>
              </a:rPr>
              <a:t>微机操作系统的发展</a:t>
            </a:r>
            <a:endParaRPr lang="en-US" altLang="zh-CN" dirty="0">
              <a:solidFill>
                <a:schemeClr val="accent2">
                  <a:lumMod val="7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zh-CN" altLang="en-US" dirty="0"/>
              <a:t>单用户单任务操作系统</a:t>
            </a:r>
            <a:endParaRPr lang="en-US" altLang="zh-CN" dirty="0"/>
          </a:p>
          <a:p>
            <a:pPr marL="914400" lvl="2" indent="0">
              <a:buNone/>
            </a:pPr>
            <a:r>
              <a:rPr lang="pt-BR" altLang="zh-CN" dirty="0"/>
              <a:t>(1)CP/M </a:t>
            </a:r>
            <a:r>
              <a:rPr lang="zh-CN" altLang="en-US" dirty="0"/>
              <a:t>；</a:t>
            </a:r>
            <a:r>
              <a:rPr lang="en-US" altLang="zh-CN" dirty="0"/>
              <a:t>(</a:t>
            </a:r>
            <a:r>
              <a:rPr lang="pt-BR" altLang="zh-CN" dirty="0"/>
              <a:t>2)MS-DOS</a:t>
            </a:r>
            <a:endParaRPr lang="en-US" altLang="zh-CN" dirty="0"/>
          </a:p>
          <a:p>
            <a:pPr lvl="1">
              <a:buFont typeface="Wingdings" panose="05000000000000000000" pitchFamily="2" charset="2"/>
              <a:buChar char="ü"/>
            </a:pPr>
            <a:r>
              <a:rPr lang="zh-CN" altLang="en-US" sz="2400" dirty="0"/>
              <a:t>单用户多任务操作系统</a:t>
            </a:r>
            <a:endParaRPr lang="en-US" altLang="zh-CN" sz="2400" dirty="0"/>
          </a:p>
          <a:p>
            <a:pPr marL="914400" lvl="2" indent="0">
              <a:buNone/>
            </a:pPr>
            <a:r>
              <a:rPr lang="zh-CN" altLang="en-US" dirty="0"/>
              <a:t>单用户多任务操作系统的含义是，只允许一个用户上机，但允许用户把程序分为若干个任务，使它们并发执行，从而有效地改善了系统的性能。</a:t>
            </a:r>
            <a:endParaRPr lang="en-US" altLang="zh-CN" dirty="0">
              <a:solidFill>
                <a:schemeClr val="accent2">
                  <a:lumMod val="7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zh-CN" altLang="en-US" dirty="0"/>
              <a:t>多用户多任务操作系统</a:t>
            </a:r>
            <a:endParaRPr lang="en-US" altLang="zh-CN" dirty="0"/>
          </a:p>
          <a:p>
            <a:pPr marL="914400" lvl="2" indent="0">
              <a:buNone/>
            </a:pPr>
            <a:r>
              <a:rPr lang="zh-CN" altLang="en-US" dirty="0"/>
              <a:t>多用户多任务操作系统含义：允许多个用户通过各自的终端，使用同一台机器，共享主机系统中的各种资源，而每个用户程序又可进一步分为几个任务，使它们能并发执行，从而可进一步提高资源利用率和系统吞吐量。</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Tree>
    <p:extLst>
      <p:ext uri="{BB962C8B-B14F-4D97-AF65-F5344CB8AC3E}">
        <p14:creationId xmlns:p14="http://schemas.microsoft.com/office/powerpoint/2010/main" val="1238069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操作系统的基本特性</a:t>
            </a:r>
          </a:p>
        </p:txBody>
      </p:sp>
      <p:sp>
        <p:nvSpPr>
          <p:cNvPr id="3" name="内容占位符 2"/>
          <p:cNvSpPr>
            <a:spLocks noGrp="1"/>
          </p:cNvSpPr>
          <p:nvPr>
            <p:ph idx="1"/>
          </p:nvPr>
        </p:nvSpPr>
        <p:spPr/>
        <p:txBody>
          <a:bodyPr>
            <a:normAutofit/>
          </a:bodyPr>
          <a:lstStyle/>
          <a:p>
            <a:pPr marL="0" indent="0" algn="just">
              <a:buNone/>
            </a:pPr>
            <a:r>
              <a:rPr lang="zh-CN" altLang="en-US" sz="2400" dirty="0">
                <a:solidFill>
                  <a:schemeClr val="accent6">
                    <a:lumMod val="50000"/>
                  </a:schemeClr>
                </a:solidFill>
              </a:rPr>
              <a:t>        多道批处理、分时和实时系统具有各自不同的特征：批处理系统资源利用率和系统吞吐量高，分时系统能获得及时响应，实时系统具有实时特征。除此之外，它们还共同具有并发、共享、虚拟和异步四个基本特征。</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操作系统的基本特性</a:t>
            </a:r>
          </a:p>
        </p:txBody>
      </p:sp>
      <p:sp>
        <p:nvSpPr>
          <p:cNvPr id="3" name="内容占位符 2"/>
          <p:cNvSpPr>
            <a:spLocks noGrp="1"/>
          </p:cNvSpPr>
          <p:nvPr>
            <p:ph idx="1"/>
          </p:nvPr>
        </p:nvSpPr>
        <p:spPr/>
        <p:txBody>
          <a:bodyPr/>
          <a:lstStyle/>
          <a:p>
            <a:r>
              <a:rPr lang="zh-CN" altLang="en-US" dirty="0">
                <a:solidFill>
                  <a:schemeClr val="accent2">
                    <a:lumMod val="75000"/>
                  </a:schemeClr>
                </a:solidFill>
              </a:rPr>
              <a:t>并发</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并行与并发</a:t>
            </a:r>
            <a:endParaRPr lang="en-US" altLang="zh-CN" dirty="0"/>
          </a:p>
          <a:p>
            <a:pPr marL="914400" lvl="2" indent="0">
              <a:buNone/>
            </a:pPr>
            <a:r>
              <a:rPr lang="zh-CN" altLang="en-US" dirty="0"/>
              <a:t>并行性和并发性是既相似又有区别的两个概念。并行性是指两个或多个事件在同一时刻发生。而并发性是指两个或多个事件在同一时间间隔内发生。 </a:t>
            </a:r>
          </a:p>
          <a:p>
            <a:pPr lvl="1">
              <a:buFont typeface="Wingdings" panose="05000000000000000000" pitchFamily="2" charset="2"/>
              <a:buChar char="ü"/>
            </a:pPr>
            <a:r>
              <a:rPr lang="zh-CN" altLang="en-US" dirty="0"/>
              <a:t>引入进程</a:t>
            </a:r>
            <a:endParaRPr lang="en-US" altLang="zh-CN" dirty="0"/>
          </a:p>
          <a:p>
            <a:pPr marL="914400" lvl="2" indent="0" algn="just">
              <a:buNone/>
            </a:pPr>
            <a:r>
              <a:rPr lang="zh-CN" altLang="en-US" dirty="0"/>
              <a:t>在一个未引入进程的系统中，属于同一个应用程序的计算程序和</a:t>
            </a:r>
            <a:r>
              <a:rPr lang="en-US" altLang="zh-CN" dirty="0"/>
              <a:t>I/O</a:t>
            </a:r>
            <a:r>
              <a:rPr lang="zh-CN" altLang="en-US" dirty="0"/>
              <a:t>程序之间只能是顺序执行，即只有在计算程序执行告一段落后，才允许</a:t>
            </a:r>
            <a:r>
              <a:rPr lang="en-US" altLang="zh-CN" dirty="0"/>
              <a:t>I/O</a:t>
            </a:r>
            <a:r>
              <a:rPr lang="zh-CN" altLang="en-US" dirty="0"/>
              <a:t>程序执行。反之，在程序执行</a:t>
            </a:r>
            <a:r>
              <a:rPr lang="en-US" altLang="zh-CN" dirty="0"/>
              <a:t>I/O</a:t>
            </a:r>
            <a:r>
              <a:rPr lang="zh-CN" altLang="en-US" dirty="0"/>
              <a:t>操作时，计算程序也不能执行。但在为计算程序和</a:t>
            </a:r>
            <a:r>
              <a:rPr lang="en-US" altLang="zh-CN" dirty="0"/>
              <a:t>I/O</a:t>
            </a:r>
            <a:r>
              <a:rPr lang="zh-CN" altLang="en-US" dirty="0"/>
              <a:t>程序分别建立一个进程后，这两个进程便可并发执行。若对内存中的多个程序都分别建立一个进程，它们就可以并发执行，这样便能极大地提高系统资源的利用率，增加系统的吞吐量。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操作系统的基本特性</a:t>
            </a:r>
          </a:p>
        </p:txBody>
      </p:sp>
      <p:sp>
        <p:nvSpPr>
          <p:cNvPr id="3" name="内容占位符 2"/>
          <p:cNvSpPr>
            <a:spLocks noGrp="1"/>
          </p:cNvSpPr>
          <p:nvPr>
            <p:ph idx="1"/>
          </p:nvPr>
        </p:nvSpPr>
        <p:spPr/>
        <p:txBody>
          <a:bodyPr>
            <a:normAutofit/>
          </a:bodyPr>
          <a:lstStyle/>
          <a:p>
            <a:r>
              <a:rPr lang="zh-CN" altLang="en-US" dirty="0">
                <a:solidFill>
                  <a:schemeClr val="accent2">
                    <a:lumMod val="75000"/>
                  </a:schemeClr>
                </a:solidFill>
              </a:rPr>
              <a:t>共享</a:t>
            </a:r>
            <a:endParaRPr lang="en-US" altLang="zh-CN" dirty="0">
              <a:solidFill>
                <a:schemeClr val="accent2">
                  <a:lumMod val="75000"/>
                </a:schemeClr>
              </a:solidFill>
            </a:endParaRPr>
          </a:p>
          <a:p>
            <a:pPr lvl="1">
              <a:buFont typeface="Wingdings" panose="05000000000000000000" pitchFamily="2" charset="2"/>
              <a:buChar char="ü"/>
            </a:pPr>
            <a:r>
              <a:rPr lang="zh-CN" altLang="en-US" dirty="0"/>
              <a:t>互斥共享方式</a:t>
            </a:r>
            <a:endParaRPr lang="en-US" altLang="zh-CN" dirty="0"/>
          </a:p>
          <a:p>
            <a:pPr marL="914400" lvl="2" indent="0" algn="just">
              <a:buNone/>
            </a:pPr>
            <a:r>
              <a:rPr lang="zh-CN" altLang="en-US" dirty="0"/>
              <a:t>系统中的某些资源，如打印机、磁带机等，虽然可以提供给多个进程</a:t>
            </a:r>
            <a:r>
              <a:rPr lang="en-US" altLang="zh-CN" dirty="0"/>
              <a:t>(</a:t>
            </a:r>
            <a:r>
              <a:rPr lang="zh-CN" altLang="en-US" dirty="0"/>
              <a:t>线程</a:t>
            </a:r>
            <a:r>
              <a:rPr lang="en-US" altLang="zh-CN" dirty="0"/>
              <a:t>)</a:t>
            </a:r>
            <a:r>
              <a:rPr lang="zh-CN" altLang="en-US" dirty="0"/>
              <a:t>使用，但应规定在一段时间内，只允许一个进程访问该资源。为此，在系统中应建立一种机制，以保证多个进程对这类资源的互斥访问。 </a:t>
            </a:r>
          </a:p>
          <a:p>
            <a:pPr lvl="1">
              <a:buFont typeface="Wingdings" panose="05000000000000000000" pitchFamily="2" charset="2"/>
              <a:buChar char="ü"/>
            </a:pPr>
            <a:r>
              <a:rPr lang="zh-CN" altLang="en-US" dirty="0"/>
              <a:t>同时访问方式</a:t>
            </a:r>
            <a:endParaRPr lang="en-US" altLang="zh-CN" dirty="0"/>
          </a:p>
          <a:p>
            <a:pPr marL="914400" lvl="2" indent="0" algn="just">
              <a:buNone/>
            </a:pPr>
            <a:r>
              <a:rPr lang="zh-CN" altLang="en-US" dirty="0"/>
              <a:t>系统中还有另一类资源，允许在一段时间内由多个进程“同时”对它们进行访问。这里所谓的“同时”，在单处理机环境下是宏观意义上的，而在微观上，这些进程对该资源的访问是交替进行的。典型的可供多个进程“同时”访问的资源是磁盘设备。一些用重入码编写的文件也可以被“同时”共享，即允许若干个用户同时访问该文件。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Tree>
    <p:extLst>
      <p:ext uri="{BB962C8B-B14F-4D97-AF65-F5344CB8AC3E}">
        <p14:creationId xmlns:p14="http://schemas.microsoft.com/office/powerpoint/2010/main" val="1095254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操作系统的基本特性</a:t>
            </a:r>
          </a:p>
        </p:txBody>
      </p:sp>
      <p:sp>
        <p:nvSpPr>
          <p:cNvPr id="3" name="内容占位符 2"/>
          <p:cNvSpPr>
            <a:spLocks noGrp="1"/>
          </p:cNvSpPr>
          <p:nvPr>
            <p:ph idx="1"/>
          </p:nvPr>
        </p:nvSpPr>
        <p:spPr/>
        <p:txBody>
          <a:bodyPr>
            <a:normAutofit/>
          </a:bodyPr>
          <a:lstStyle/>
          <a:p>
            <a:r>
              <a:rPr lang="zh-CN" altLang="en-US" dirty="0">
                <a:solidFill>
                  <a:schemeClr val="accent2">
                    <a:lumMod val="75000"/>
                  </a:schemeClr>
                </a:solidFill>
              </a:rPr>
              <a:t>虚拟</a:t>
            </a:r>
            <a:endParaRPr lang="en-US" altLang="zh-CN" dirty="0">
              <a:solidFill>
                <a:schemeClr val="accent2">
                  <a:lumMod val="75000"/>
                </a:schemeClr>
              </a:solidFill>
            </a:endParaRPr>
          </a:p>
          <a:p>
            <a:pPr lvl="1">
              <a:buFont typeface="Wingdings" panose="05000000000000000000" pitchFamily="2" charset="2"/>
              <a:buChar char="ü"/>
            </a:pPr>
            <a:r>
              <a:rPr lang="zh-CN" altLang="en-US" dirty="0"/>
              <a:t>时分复用技术</a:t>
            </a:r>
            <a:endParaRPr lang="en-US" altLang="zh-CN" dirty="0"/>
          </a:p>
          <a:p>
            <a:pPr marL="914400" lvl="2" indent="0" algn="just">
              <a:buNone/>
            </a:pPr>
            <a:r>
              <a:rPr lang="en-US" altLang="zh-CN" dirty="0"/>
              <a:t>(1)</a:t>
            </a:r>
            <a:r>
              <a:rPr lang="zh-CN" altLang="en-US" dirty="0"/>
              <a:t>虚拟处理机技术；</a:t>
            </a:r>
            <a:r>
              <a:rPr lang="en-US" altLang="zh-CN" dirty="0"/>
              <a:t>(2)</a:t>
            </a:r>
            <a:r>
              <a:rPr lang="zh-CN" altLang="en-US" dirty="0"/>
              <a:t>虚拟设备技术 </a:t>
            </a:r>
          </a:p>
          <a:p>
            <a:pPr lvl="1">
              <a:buFont typeface="Wingdings" panose="05000000000000000000" pitchFamily="2" charset="2"/>
              <a:buChar char="ü"/>
            </a:pPr>
            <a:r>
              <a:rPr lang="zh-CN" altLang="en-US" dirty="0"/>
              <a:t>空分复用技术</a:t>
            </a:r>
            <a:endParaRPr lang="en-US" altLang="zh-CN" dirty="0"/>
          </a:p>
          <a:p>
            <a:pPr marL="914400" lvl="2" indent="0" algn="just">
              <a:buNone/>
            </a:pPr>
            <a:r>
              <a:rPr lang="zh-CN" altLang="en-US" dirty="0"/>
              <a:t>将一个频率范围比较宽的信道划分为多个频率范围较窄的信道</a:t>
            </a:r>
            <a:r>
              <a:rPr lang="en-US" altLang="zh-CN" dirty="0"/>
              <a:t>(</a:t>
            </a:r>
            <a:r>
              <a:rPr lang="zh-CN" altLang="en-US" dirty="0"/>
              <a:t>称为频带</a:t>
            </a:r>
            <a:r>
              <a:rPr lang="en-US" altLang="zh-CN" dirty="0"/>
              <a:t>)</a:t>
            </a:r>
            <a:r>
              <a:rPr lang="zh-CN" altLang="en-US" dirty="0"/>
              <a:t>，其中任何一个频带都仅供一对用户通话。早期的频分复用技术只能将一条物理信道划分为几条到几十条话路，后来又很快发展到成千上万条话路，每条话路供一对用户通话。再后来在计算机中也把空分复用技术用于对存储空间的管理，用以提高存储空间的利用率。</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Tree>
    <p:extLst>
      <p:ext uri="{BB962C8B-B14F-4D97-AF65-F5344CB8AC3E}">
        <p14:creationId xmlns:p14="http://schemas.microsoft.com/office/powerpoint/2010/main" val="19047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操作系统的基本特性</a:t>
            </a:r>
          </a:p>
        </p:txBody>
      </p:sp>
      <p:sp>
        <p:nvSpPr>
          <p:cNvPr id="3" name="内容占位符 2"/>
          <p:cNvSpPr>
            <a:spLocks noGrp="1"/>
          </p:cNvSpPr>
          <p:nvPr>
            <p:ph idx="1"/>
          </p:nvPr>
        </p:nvSpPr>
        <p:spPr/>
        <p:txBody>
          <a:bodyPr>
            <a:normAutofit/>
          </a:bodyPr>
          <a:lstStyle/>
          <a:p>
            <a:r>
              <a:rPr lang="zh-CN" altLang="en-US" dirty="0">
                <a:solidFill>
                  <a:schemeClr val="accent2">
                    <a:lumMod val="75000"/>
                  </a:schemeClr>
                </a:solidFill>
              </a:rPr>
              <a:t>异步</a:t>
            </a:r>
            <a:endParaRPr lang="en-US" altLang="zh-CN" dirty="0">
              <a:solidFill>
                <a:schemeClr val="accent2">
                  <a:lumMod val="75000"/>
                </a:schemeClr>
              </a:solidFill>
            </a:endParaRPr>
          </a:p>
          <a:p>
            <a:pPr marL="457200" lvl="1" indent="0">
              <a:buNone/>
            </a:pPr>
            <a:r>
              <a:rPr lang="zh-CN" altLang="en-US" sz="2000"/>
              <a:t>在</a:t>
            </a:r>
            <a:r>
              <a:rPr lang="zh-CN" altLang="en-US" sz="2000" dirty="0"/>
              <a:t>多道程序环境下，系统允许多个进程并发执行。在单处理机环境下，由于系统中只有一台处理机，因而每次只允许一个进程执行，其余进程只能等待。当正在执行的进程提出某种资源要求时，如打印请求，而此时打印机正在为其它进程打印，由于打印机属于临界资源，因此正在执行的进程必须等待，并释放出处理机，直到打印机空闲，并再次获得处理机时，该进程方能继续执行。可见，由于资源等因素的限制，使进程的执行通常都不可能“一气呵成”，而是以“停停走走”的方式运行。</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Tree>
    <p:extLst>
      <p:ext uri="{BB962C8B-B14F-4D97-AF65-F5344CB8AC3E}">
        <p14:creationId xmlns:p14="http://schemas.microsoft.com/office/powerpoint/2010/main" val="424607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p:txBody>
          <a:bodyPr>
            <a:normAutofit/>
          </a:bodyPr>
          <a:lstStyle/>
          <a:p>
            <a:pPr marL="0" indent="0" algn="just">
              <a:buNone/>
            </a:pPr>
            <a:r>
              <a:rPr lang="zh-CN" altLang="en-US" sz="2400" dirty="0">
                <a:solidFill>
                  <a:schemeClr val="accent6">
                    <a:lumMod val="50000"/>
                  </a:schemeClr>
                </a:solidFill>
              </a:rPr>
              <a:t>        引入</a:t>
            </a:r>
            <a:r>
              <a:rPr lang="en-US" altLang="zh-CN" sz="2400" dirty="0">
                <a:solidFill>
                  <a:schemeClr val="accent6">
                    <a:lumMod val="50000"/>
                  </a:schemeClr>
                </a:solidFill>
              </a:rPr>
              <a:t>OS</a:t>
            </a:r>
            <a:r>
              <a:rPr lang="zh-CN" altLang="en-US" sz="2400" dirty="0">
                <a:solidFill>
                  <a:schemeClr val="accent6">
                    <a:lumMod val="50000"/>
                  </a:schemeClr>
                </a:solidFill>
              </a:rPr>
              <a:t>的主要目的是，为多道程序的运行提供良好的运行环境，以保证多道程序能有条不紊地、高效地运行，并能最大程度地提高系统中各种资源的利用率，方便用户的使用。为此，在传统的</a:t>
            </a:r>
            <a:r>
              <a:rPr lang="en-US" altLang="zh-CN" sz="2400" dirty="0">
                <a:solidFill>
                  <a:schemeClr val="accent6">
                    <a:lumMod val="50000"/>
                  </a:schemeClr>
                </a:solidFill>
              </a:rPr>
              <a:t>OS</a:t>
            </a:r>
            <a:r>
              <a:rPr lang="zh-CN" altLang="en-US" sz="2400" dirty="0">
                <a:solidFill>
                  <a:schemeClr val="accent6">
                    <a:lumMod val="50000"/>
                  </a:schemeClr>
                </a:solidFill>
              </a:rPr>
              <a:t>中应具有处理机管理、存储器管理、设备管理和文件管理等基本功能。此外，为了方便用户使用</a:t>
            </a:r>
            <a:r>
              <a:rPr lang="en-US" altLang="zh-CN" sz="2400" dirty="0">
                <a:solidFill>
                  <a:schemeClr val="accent6">
                    <a:lumMod val="50000"/>
                  </a:schemeClr>
                </a:solidFill>
              </a:rPr>
              <a:t>OS</a:t>
            </a:r>
            <a:r>
              <a:rPr lang="zh-CN" altLang="en-US" sz="2400" dirty="0">
                <a:solidFill>
                  <a:schemeClr val="accent6">
                    <a:lumMod val="50000"/>
                  </a:schemeClr>
                </a:solidFill>
              </a:rPr>
              <a:t>，还需向用户提供方便的用户接口。</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p:txBody>
          <a:bodyPr>
            <a:normAutofit/>
          </a:bodyPr>
          <a:lstStyle/>
          <a:p>
            <a:r>
              <a:rPr lang="zh-CN" altLang="en-US" dirty="0">
                <a:solidFill>
                  <a:schemeClr val="accent2">
                    <a:lumMod val="75000"/>
                  </a:schemeClr>
                </a:solidFill>
              </a:rPr>
              <a:t>处理机管理功能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进程控制</a:t>
            </a:r>
            <a:endParaRPr lang="en-US" altLang="zh-CN" dirty="0"/>
          </a:p>
          <a:p>
            <a:pPr lvl="1">
              <a:buFont typeface="Wingdings" panose="05000000000000000000" pitchFamily="2" charset="2"/>
              <a:buChar char="ü"/>
            </a:pPr>
            <a:r>
              <a:rPr lang="zh-CN" altLang="en-US" dirty="0"/>
              <a:t>进程同步</a:t>
            </a:r>
            <a:endParaRPr lang="en-US" altLang="zh-CN" dirty="0"/>
          </a:p>
          <a:p>
            <a:pPr lvl="1">
              <a:buFont typeface="Wingdings" panose="05000000000000000000" pitchFamily="2" charset="2"/>
              <a:buChar char="ü"/>
            </a:pPr>
            <a:r>
              <a:rPr lang="zh-CN" altLang="en-US" dirty="0"/>
              <a:t>进程通信</a:t>
            </a:r>
            <a:endParaRPr lang="en-US" altLang="zh-CN" dirty="0"/>
          </a:p>
          <a:p>
            <a:pPr lvl="1">
              <a:buFont typeface="Wingdings" panose="05000000000000000000" pitchFamily="2" charset="2"/>
              <a:buChar char="ü"/>
            </a:pPr>
            <a:r>
              <a:rPr lang="zh-CN" altLang="en-US" dirty="0"/>
              <a:t>调度</a:t>
            </a:r>
            <a:endParaRPr lang="en-US" altLang="zh-CN" dirty="0"/>
          </a:p>
          <a:p>
            <a:pPr marL="914400" lvl="2" indent="0" algn="just">
              <a:buNone/>
            </a:pPr>
            <a:r>
              <a:rPr lang="en-US" altLang="zh-CN" dirty="0"/>
              <a:t>(1)</a:t>
            </a:r>
            <a:r>
              <a:rPr lang="zh-CN" altLang="en-US" dirty="0"/>
              <a:t>作业调度；</a:t>
            </a:r>
            <a:r>
              <a:rPr lang="en-US" altLang="zh-CN" dirty="0"/>
              <a:t>(2)</a:t>
            </a:r>
            <a:r>
              <a:rPr lang="zh-CN" altLang="en-US" dirty="0"/>
              <a:t>进程调度</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pic>
        <p:nvPicPr>
          <p:cNvPr id="8" name="图片 7">
            <a:extLst>
              <a:ext uri="{FF2B5EF4-FFF2-40B4-BE49-F238E27FC236}">
                <a16:creationId xmlns:a16="http://schemas.microsoft.com/office/drawing/2014/main" id="{2C27F58D-7941-4E83-BC85-84C3CE7C04A8}"/>
              </a:ext>
            </a:extLst>
          </p:cNvPr>
          <p:cNvPicPr>
            <a:picLocks noChangeAspect="1"/>
          </p:cNvPicPr>
          <p:nvPr/>
        </p:nvPicPr>
        <p:blipFill>
          <a:blip r:embed="rId2"/>
          <a:stretch>
            <a:fillRect/>
          </a:stretch>
        </p:blipFill>
        <p:spPr>
          <a:xfrm>
            <a:off x="5192806" y="1991087"/>
            <a:ext cx="6604339" cy="3626036"/>
          </a:xfrm>
          <a:prstGeom prst="rect">
            <a:avLst/>
          </a:prstGeom>
        </p:spPr>
      </p:pic>
    </p:spTree>
    <p:extLst>
      <p:ext uri="{BB962C8B-B14F-4D97-AF65-F5344CB8AC3E}">
        <p14:creationId xmlns:p14="http://schemas.microsoft.com/office/powerpoint/2010/main" val="3764116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p:txBody>
          <a:bodyPr>
            <a:normAutofit/>
          </a:bodyPr>
          <a:lstStyle/>
          <a:p>
            <a:r>
              <a:rPr lang="zh-CN" altLang="en-US" dirty="0">
                <a:solidFill>
                  <a:schemeClr val="accent2">
                    <a:lumMod val="75000"/>
                  </a:schemeClr>
                </a:solidFill>
              </a:rPr>
              <a:t>存储器管理功能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内存分配</a:t>
            </a:r>
            <a:endParaRPr lang="en-US" altLang="zh-CN" dirty="0"/>
          </a:p>
          <a:p>
            <a:pPr marL="914400" lvl="2" indent="0" algn="just">
              <a:buNone/>
            </a:pPr>
            <a:r>
              <a:rPr lang="zh-CN" altLang="en-US" dirty="0"/>
              <a:t>内存分配的主要任务是：</a:t>
            </a:r>
            <a:r>
              <a:rPr lang="en-US" altLang="zh-CN" dirty="0"/>
              <a:t>(1)</a:t>
            </a:r>
            <a:r>
              <a:rPr lang="zh-CN" altLang="en-US" dirty="0"/>
              <a:t>为每道程序分配内存空间，使它们“各得其所”；</a:t>
            </a:r>
            <a:r>
              <a:rPr lang="en-US" altLang="zh-CN" dirty="0"/>
              <a:t>(2)</a:t>
            </a:r>
            <a:r>
              <a:rPr lang="zh-CN" altLang="en-US" dirty="0"/>
              <a:t>提高存储器的利用率，尽量减少不可用的内存空间</a:t>
            </a:r>
            <a:r>
              <a:rPr lang="en-US" altLang="zh-CN" dirty="0"/>
              <a:t>(</a:t>
            </a:r>
            <a:r>
              <a:rPr lang="zh-CN" altLang="en-US" dirty="0"/>
              <a:t>碎片</a:t>
            </a:r>
            <a:r>
              <a:rPr lang="en-US" altLang="zh-CN" dirty="0"/>
              <a:t>)</a:t>
            </a:r>
            <a:r>
              <a:rPr lang="zh-CN" altLang="en-US" dirty="0"/>
              <a:t>；</a:t>
            </a:r>
            <a:r>
              <a:rPr lang="en-US" altLang="zh-CN" dirty="0"/>
              <a:t>(3)</a:t>
            </a:r>
            <a:r>
              <a:rPr lang="zh-CN" altLang="en-US" dirty="0"/>
              <a:t>允许正在运行的程序申请附加的内存空间，以适应程序和数据动态增长的需要；</a:t>
            </a:r>
            <a:endParaRPr lang="en-US" altLang="zh-CN" dirty="0"/>
          </a:p>
          <a:p>
            <a:pPr marL="914400" lvl="2" indent="0" algn="just">
              <a:buNone/>
            </a:pPr>
            <a:r>
              <a:rPr lang="en-US" altLang="zh-CN" dirty="0"/>
              <a:t>OS</a:t>
            </a:r>
            <a:r>
              <a:rPr lang="zh-CN" altLang="en-US" dirty="0"/>
              <a:t>在实现内存分配时，可采取静态和动态两种方式：</a:t>
            </a:r>
            <a:r>
              <a:rPr lang="en-US" altLang="zh-CN" dirty="0"/>
              <a:t>(1)</a:t>
            </a:r>
            <a:r>
              <a:rPr lang="zh-CN" altLang="en-US" dirty="0"/>
              <a:t>静态分配方式。每个作业的内存空间是在作业装入时确定的，在作业装入后的整个运行期间不允许该作业再申请新的内存空间，也不允许作业在内存中“移动”；</a:t>
            </a:r>
            <a:r>
              <a:rPr lang="en-US" altLang="zh-CN" dirty="0"/>
              <a:t>(2)</a:t>
            </a:r>
            <a:r>
              <a:rPr lang="zh-CN" altLang="en-US" dirty="0"/>
              <a:t>动态分配方式。每个作业所要求的基本内存空间虽然也是在装入时确定的，但允许作业在运行过程中继续申请新的附加内存空间，以适应程序和数据的动态增长，也允许作业在内存中“移动”。</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Tree>
    <p:extLst>
      <p:ext uri="{BB962C8B-B14F-4D97-AF65-F5344CB8AC3E}">
        <p14:creationId xmlns:p14="http://schemas.microsoft.com/office/powerpoint/2010/main" val="874769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存储器管理功能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内存保护</a:t>
            </a:r>
            <a:endParaRPr lang="en-US" altLang="zh-CN" dirty="0"/>
          </a:p>
          <a:p>
            <a:pPr marL="914400" lvl="2" indent="0" algn="just">
              <a:buNone/>
            </a:pPr>
            <a:r>
              <a:rPr lang="zh-CN" altLang="en-US" dirty="0"/>
              <a:t>内存保护的主要任务是：①确保每道用户程序都仅在自己的内存空间内运行，彼此互不干扰。②绝不允许用户程序访问操作系统的程序和数据，也不允许用户程序转移到非共享的其它用户程序中去执行。</a:t>
            </a:r>
          </a:p>
          <a:p>
            <a:pPr lvl="1">
              <a:buFont typeface="Wingdings" panose="05000000000000000000" pitchFamily="2" charset="2"/>
              <a:buChar char="ü"/>
            </a:pPr>
            <a:r>
              <a:rPr lang="zh-CN" altLang="en-US" dirty="0"/>
              <a:t>地址映射</a:t>
            </a:r>
            <a:endParaRPr lang="en-US" altLang="zh-CN" dirty="0"/>
          </a:p>
          <a:p>
            <a:pPr marL="914400" lvl="2" indent="0" algn="just">
              <a:buNone/>
            </a:pPr>
            <a:r>
              <a:rPr lang="zh-CN" altLang="en-US" dirty="0"/>
              <a:t>在多道程序环境下，由于每道程序经编译和链接后所形成的可装入程序其地址都是从</a:t>
            </a:r>
            <a:r>
              <a:rPr lang="en-US" altLang="zh-CN" dirty="0"/>
              <a:t>0</a:t>
            </a:r>
            <a:r>
              <a:rPr lang="zh-CN" altLang="en-US" dirty="0"/>
              <a:t>开始的，但不可能将它们从“</a:t>
            </a:r>
            <a:r>
              <a:rPr lang="en-US" altLang="zh-CN" dirty="0"/>
              <a:t>0</a:t>
            </a:r>
            <a:r>
              <a:rPr lang="zh-CN" altLang="en-US" dirty="0"/>
              <a:t>”地址</a:t>
            </a:r>
            <a:r>
              <a:rPr lang="en-US" altLang="zh-CN" dirty="0"/>
              <a:t>(</a:t>
            </a:r>
            <a:r>
              <a:rPr lang="zh-CN" altLang="en-US" dirty="0"/>
              <a:t>物理</a:t>
            </a:r>
            <a:r>
              <a:rPr lang="en-US" altLang="zh-CN" dirty="0"/>
              <a:t>)</a:t>
            </a:r>
            <a:r>
              <a:rPr lang="zh-CN" altLang="en-US" dirty="0"/>
              <a:t>开始装入内存，致使</a:t>
            </a:r>
            <a:r>
              <a:rPr lang="en-US" altLang="zh-CN" dirty="0"/>
              <a:t>(</a:t>
            </a:r>
            <a:r>
              <a:rPr lang="zh-CN" altLang="en-US" dirty="0"/>
              <a:t>各程序段的</a:t>
            </a:r>
            <a:r>
              <a:rPr lang="en-US" altLang="zh-CN" dirty="0"/>
              <a:t>)</a:t>
            </a:r>
            <a:r>
              <a:rPr lang="zh-CN" altLang="en-US" dirty="0"/>
              <a:t>地址空间内的逻辑地址与其在内存空间中的物理地址并不相一致。为保证程序能正确运行，存储器管理必须提供地址映射功能，即能够将地址空间中的逻辑地址转换为内存空间中与之对应的物理地址。该功能应在硬件的支持下完成。</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Tree>
    <p:extLst>
      <p:ext uri="{BB962C8B-B14F-4D97-AF65-F5344CB8AC3E}">
        <p14:creationId xmlns:p14="http://schemas.microsoft.com/office/powerpoint/2010/main" val="4245806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存储器管理功能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内存扩充</a:t>
            </a:r>
            <a:endParaRPr lang="en-US" altLang="zh-CN" dirty="0"/>
          </a:p>
          <a:p>
            <a:pPr marL="914400" lvl="2" indent="0" algn="just">
              <a:buNone/>
            </a:pPr>
            <a:r>
              <a:rPr lang="zh-CN" altLang="en-US" dirty="0"/>
              <a:t>内存扩充并非是从物理上去扩大内存的容量，而是借助于虚拟存储技术，从逻辑上扩充内存容量，使用户所感觉到的内存容量比实际内存容量大得多，以便让更多的用户程序能并发运行。这样既满足了用户的需要，又改善了系统的性能。为了能在逻辑上扩充内存，系统必须设置内存扩充机制</a:t>
            </a:r>
            <a:r>
              <a:rPr lang="en-US" altLang="zh-CN" dirty="0"/>
              <a:t>(</a:t>
            </a:r>
            <a:r>
              <a:rPr lang="zh-CN" altLang="en-US" dirty="0"/>
              <a:t>包含少量的硬件</a:t>
            </a:r>
            <a:r>
              <a:rPr lang="en-US" altLang="zh-CN" dirty="0"/>
              <a:t>)</a:t>
            </a:r>
            <a:r>
              <a:rPr lang="zh-CN" altLang="en-US" dirty="0"/>
              <a:t>，用于实现下述各功能：　</a:t>
            </a:r>
            <a:endParaRPr lang="en-US" altLang="zh-CN" dirty="0"/>
          </a:p>
          <a:p>
            <a:pPr marL="914400" lvl="2" indent="0" algn="just">
              <a:buNone/>
            </a:pPr>
            <a:r>
              <a:rPr lang="en-US" altLang="zh-CN" dirty="0"/>
              <a:t>        (1)</a:t>
            </a:r>
            <a:r>
              <a:rPr lang="zh-CN" altLang="en-US" dirty="0"/>
              <a:t>请求调入功能</a:t>
            </a:r>
            <a:endParaRPr lang="en-US" altLang="zh-CN" dirty="0"/>
          </a:p>
          <a:p>
            <a:pPr marL="914400" lvl="2" indent="0" algn="just">
              <a:buNone/>
            </a:pPr>
            <a:r>
              <a:rPr lang="en-US" altLang="zh-CN" dirty="0"/>
              <a:t>        (2)</a:t>
            </a:r>
            <a:r>
              <a:rPr lang="zh-CN" altLang="en-US" dirty="0"/>
              <a:t>置换功能。</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Tree>
    <p:extLst>
      <p:ext uri="{BB962C8B-B14F-4D97-AF65-F5344CB8AC3E}">
        <p14:creationId xmlns:p14="http://schemas.microsoft.com/office/powerpoint/2010/main" val="3000755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设备管理功能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设备管理主要任务</a:t>
            </a:r>
            <a:endParaRPr lang="en-US" altLang="zh-CN" dirty="0"/>
          </a:p>
          <a:p>
            <a:pPr marL="914400" lvl="2" indent="0">
              <a:buNone/>
            </a:pPr>
            <a:r>
              <a:rPr lang="en-US" altLang="zh-CN" dirty="0"/>
              <a:t>(1)</a:t>
            </a:r>
            <a:r>
              <a:rPr lang="zh-CN" altLang="en-US" dirty="0"/>
              <a:t>完成用户进程提出的</a:t>
            </a:r>
            <a:r>
              <a:rPr lang="en-US" altLang="zh-CN" dirty="0"/>
              <a:t>I/O</a:t>
            </a:r>
            <a:r>
              <a:rPr lang="zh-CN" altLang="en-US" dirty="0"/>
              <a:t>请求，为用户进程分配所需</a:t>
            </a:r>
            <a:r>
              <a:rPr lang="en-US" altLang="zh-CN" dirty="0"/>
              <a:t>I/O</a:t>
            </a:r>
            <a:r>
              <a:rPr lang="zh-CN" altLang="en-US" dirty="0"/>
              <a:t>设备，并完成指定</a:t>
            </a:r>
            <a:r>
              <a:rPr lang="en-US" altLang="zh-CN" dirty="0"/>
              <a:t>I/O</a:t>
            </a:r>
            <a:r>
              <a:rPr lang="zh-CN" altLang="en-US" dirty="0"/>
              <a:t>操作</a:t>
            </a:r>
            <a:endParaRPr lang="en-US" altLang="zh-CN" dirty="0"/>
          </a:p>
          <a:p>
            <a:pPr marL="914400" lvl="2" indent="0">
              <a:buNone/>
            </a:pPr>
            <a:r>
              <a:rPr lang="en-US" altLang="zh-CN" dirty="0"/>
              <a:t>(2)</a:t>
            </a:r>
            <a:r>
              <a:rPr lang="zh-CN" altLang="en-US" dirty="0"/>
              <a:t>提高</a:t>
            </a:r>
            <a:r>
              <a:rPr lang="en-US" altLang="zh-CN" dirty="0"/>
              <a:t>CPU</a:t>
            </a:r>
            <a:r>
              <a:rPr lang="zh-CN" altLang="en-US" dirty="0"/>
              <a:t>和</a:t>
            </a:r>
            <a:r>
              <a:rPr lang="en-US" altLang="zh-CN" dirty="0"/>
              <a:t>I/O</a:t>
            </a:r>
            <a:r>
              <a:rPr lang="zh-CN" altLang="en-US" dirty="0"/>
              <a:t>设备的利用率，提高</a:t>
            </a:r>
            <a:r>
              <a:rPr lang="en-US" altLang="zh-CN" dirty="0"/>
              <a:t>I/O</a:t>
            </a:r>
            <a:r>
              <a:rPr lang="zh-CN" altLang="en-US" dirty="0"/>
              <a:t>速度，方便用户使用</a:t>
            </a:r>
            <a:r>
              <a:rPr lang="en-US" altLang="zh-CN" dirty="0"/>
              <a:t>I/O</a:t>
            </a:r>
            <a:r>
              <a:rPr lang="zh-CN" altLang="en-US" dirty="0"/>
              <a:t>设备</a:t>
            </a:r>
            <a:endParaRPr lang="en-US" altLang="zh-CN" dirty="0"/>
          </a:p>
          <a:p>
            <a:pPr lvl="1">
              <a:buFont typeface="Wingdings" panose="05000000000000000000" pitchFamily="2" charset="2"/>
              <a:buChar char="ü"/>
            </a:pPr>
            <a:r>
              <a:rPr lang="zh-CN" altLang="en-US" dirty="0"/>
              <a:t>为实现上述任务，设备管理应具有缓冲管理、设备分配和设备处理以及虚拟设备等功能。</a:t>
            </a:r>
          </a:p>
          <a:p>
            <a:pPr lvl="1">
              <a:buFont typeface="Wingdings" panose="05000000000000000000" pitchFamily="2" charset="2"/>
              <a:buChar char="ü"/>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Tree>
    <p:extLst>
      <p:ext uri="{BB962C8B-B14F-4D97-AF65-F5344CB8AC3E}">
        <p14:creationId xmlns:p14="http://schemas.microsoft.com/office/powerpoint/2010/main" val="1859043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文件管理功能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文件存储空间的管理</a:t>
            </a:r>
            <a:endParaRPr lang="en-US" altLang="zh-CN" dirty="0"/>
          </a:p>
          <a:p>
            <a:pPr lvl="1">
              <a:buFont typeface="Wingdings" panose="05000000000000000000" pitchFamily="2" charset="2"/>
              <a:buChar char="ü"/>
            </a:pPr>
            <a:r>
              <a:rPr lang="zh-CN" altLang="en-US" dirty="0"/>
              <a:t>目录管理</a:t>
            </a:r>
            <a:endParaRPr lang="en-US" altLang="zh-CN" dirty="0"/>
          </a:p>
          <a:p>
            <a:pPr lvl="1">
              <a:buFont typeface="Wingdings" panose="05000000000000000000" pitchFamily="2" charset="2"/>
              <a:buChar char="ü"/>
            </a:pPr>
            <a:r>
              <a:rPr lang="zh-CN" altLang="en-US" dirty="0"/>
              <a:t>文件的读</a:t>
            </a:r>
            <a:r>
              <a:rPr lang="en-US" altLang="zh-CN" dirty="0"/>
              <a:t>/</a:t>
            </a:r>
            <a:r>
              <a:rPr lang="zh-CN" altLang="en-US" dirty="0"/>
              <a:t>写管理和保护</a:t>
            </a:r>
            <a:endParaRPr lang="en-US" altLang="zh-CN" dirty="0"/>
          </a:p>
          <a:p>
            <a:pPr marL="914400" lvl="2" indent="0">
              <a:buNone/>
            </a:pPr>
            <a:r>
              <a:rPr lang="en-US" altLang="zh-CN" dirty="0"/>
              <a:t>(1)</a:t>
            </a:r>
            <a:r>
              <a:rPr lang="zh-CN" altLang="en-US" dirty="0"/>
              <a:t>文件的读</a:t>
            </a:r>
            <a:r>
              <a:rPr lang="en-US" altLang="zh-CN" dirty="0"/>
              <a:t>/</a:t>
            </a:r>
            <a:r>
              <a:rPr lang="zh-CN" altLang="en-US" dirty="0"/>
              <a:t>写管理</a:t>
            </a:r>
            <a:endParaRPr lang="en-US" altLang="zh-CN" dirty="0"/>
          </a:p>
          <a:p>
            <a:pPr marL="914400" lvl="2" indent="0">
              <a:buNone/>
            </a:pPr>
            <a:r>
              <a:rPr lang="en-US" altLang="zh-CN" dirty="0"/>
              <a:t>(2)</a:t>
            </a:r>
            <a:r>
              <a:rPr lang="zh-CN" altLang="en-US" dirty="0"/>
              <a:t>文件保护</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Tree>
    <p:extLst>
      <p:ext uri="{BB962C8B-B14F-4D97-AF65-F5344CB8AC3E}">
        <p14:creationId xmlns:p14="http://schemas.microsoft.com/office/powerpoint/2010/main" val="27479411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操作系统与用户之间的接口</a:t>
            </a:r>
            <a:endParaRPr lang="en-US" altLang="zh-CN" dirty="0">
              <a:solidFill>
                <a:schemeClr val="accent2">
                  <a:lumMod val="75000"/>
                </a:schemeClr>
              </a:solidFill>
            </a:endParaRPr>
          </a:p>
          <a:p>
            <a:pPr lvl="1">
              <a:buFont typeface="Wingdings" panose="05000000000000000000" pitchFamily="2" charset="2"/>
              <a:buChar char="ü"/>
            </a:pPr>
            <a:r>
              <a:rPr lang="zh-CN" altLang="en-US" dirty="0"/>
              <a:t>用户接口</a:t>
            </a:r>
            <a:endParaRPr lang="en-US" altLang="zh-CN" dirty="0"/>
          </a:p>
          <a:p>
            <a:pPr marL="914400" lvl="2" indent="0">
              <a:spcBef>
                <a:spcPts val="0"/>
              </a:spcBef>
              <a:buNone/>
            </a:pPr>
            <a:r>
              <a:rPr lang="en-US" altLang="zh-CN" dirty="0"/>
              <a:t>(1)</a:t>
            </a:r>
            <a:r>
              <a:rPr lang="zh-CN" altLang="en-US" dirty="0"/>
              <a:t>联机用户接口；</a:t>
            </a:r>
            <a:r>
              <a:rPr lang="en-US" altLang="zh-CN" dirty="0"/>
              <a:t>(2)</a:t>
            </a:r>
            <a:r>
              <a:rPr lang="zh-CN" altLang="en-US" dirty="0"/>
              <a:t>脱机用户接口；</a:t>
            </a:r>
            <a:r>
              <a:rPr lang="en-US" altLang="zh-CN" dirty="0"/>
              <a:t>(3)</a:t>
            </a:r>
            <a:r>
              <a:rPr lang="zh-CN" altLang="en-US" dirty="0"/>
              <a:t>图形用户接口</a:t>
            </a:r>
            <a:endParaRPr lang="en-US" altLang="zh-CN" dirty="0"/>
          </a:p>
          <a:p>
            <a:pPr lvl="1">
              <a:buFont typeface="Wingdings" panose="05000000000000000000" pitchFamily="2" charset="2"/>
              <a:buChar char="ü"/>
            </a:pPr>
            <a:r>
              <a:rPr lang="zh-CN" altLang="en-US" dirty="0"/>
              <a:t>程序接口</a:t>
            </a:r>
            <a:endParaRPr lang="en-US" altLang="zh-CN" dirty="0"/>
          </a:p>
          <a:p>
            <a:pPr marL="914400" lvl="2" indent="0" algn="just">
              <a:buNone/>
            </a:pPr>
            <a:r>
              <a:rPr lang="zh-CN" altLang="en-US" dirty="0"/>
              <a:t>程序接口是为用户程序在执行中访问系统资源而设置的，是用户程序取得操作系统服务的唯一途径。它是由一组系统调用组成的，每一个系统调用都是一个能完成特定功能的子程序。每当应用程序要求</a:t>
            </a:r>
            <a:r>
              <a:rPr lang="en-US" altLang="zh-CN" dirty="0"/>
              <a:t>OS</a:t>
            </a:r>
            <a:r>
              <a:rPr lang="zh-CN" altLang="en-US" dirty="0"/>
              <a:t>提供某种服务</a:t>
            </a:r>
            <a:r>
              <a:rPr lang="en-US" altLang="zh-CN" dirty="0"/>
              <a:t>(</a:t>
            </a:r>
            <a:r>
              <a:rPr lang="zh-CN" altLang="en-US" dirty="0"/>
              <a:t>功能</a:t>
            </a:r>
            <a:r>
              <a:rPr lang="en-US" altLang="zh-CN" dirty="0"/>
              <a:t>)</a:t>
            </a:r>
            <a:r>
              <a:rPr lang="zh-CN" altLang="en-US" dirty="0"/>
              <a:t>时，便调用具有相应功能的系统调用</a:t>
            </a:r>
            <a:r>
              <a:rPr lang="en-US" altLang="zh-CN" dirty="0"/>
              <a:t>(</a:t>
            </a:r>
            <a:r>
              <a:rPr lang="zh-CN" altLang="en-US" dirty="0"/>
              <a:t>子程序</a:t>
            </a:r>
            <a:r>
              <a:rPr lang="en-US" altLang="zh-CN" dirty="0"/>
              <a:t>)</a:t>
            </a:r>
            <a:r>
              <a:rPr lang="zh-CN" altLang="en-US" dirty="0"/>
              <a:t>。早期的系统调用都是用汇编语言提供的，只有在用汇编语言书写的程序中才能直接使用系统调用。</a:t>
            </a:r>
          </a:p>
          <a:p>
            <a:pPr lvl="1">
              <a:buFont typeface="Wingdings" panose="05000000000000000000" pitchFamily="2" charset="2"/>
              <a:buChar char="ü"/>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Tree>
    <p:extLst>
      <p:ext uri="{BB962C8B-B14F-4D97-AF65-F5344CB8AC3E}">
        <p14:creationId xmlns:p14="http://schemas.microsoft.com/office/powerpoint/2010/main" val="1347043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操作系统的主要功能</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现代操作系统的新功能</a:t>
            </a:r>
            <a:endParaRPr lang="en-US" altLang="zh-CN" dirty="0">
              <a:solidFill>
                <a:schemeClr val="accent2">
                  <a:lumMod val="75000"/>
                </a:schemeClr>
              </a:solidFill>
            </a:endParaRPr>
          </a:p>
          <a:p>
            <a:pPr lvl="1">
              <a:buFont typeface="Wingdings" panose="05000000000000000000" pitchFamily="2" charset="2"/>
              <a:buChar char="ü"/>
            </a:pPr>
            <a:r>
              <a:rPr lang="zh-CN" altLang="en-US" dirty="0"/>
              <a:t>系统安全</a:t>
            </a:r>
            <a:endParaRPr lang="en-US" altLang="zh-CN" dirty="0"/>
          </a:p>
          <a:p>
            <a:pPr marL="914400" lvl="2" indent="0">
              <a:buNone/>
            </a:pPr>
            <a:r>
              <a:rPr lang="en-US" altLang="zh-CN" dirty="0"/>
              <a:t>(1)</a:t>
            </a:r>
            <a:r>
              <a:rPr lang="zh-CN" altLang="en-US" dirty="0"/>
              <a:t>认证技术；</a:t>
            </a:r>
            <a:r>
              <a:rPr lang="en-US" altLang="zh-CN" dirty="0"/>
              <a:t>(2)</a:t>
            </a:r>
            <a:r>
              <a:rPr lang="zh-CN" altLang="en-US" dirty="0"/>
              <a:t>密码技术；</a:t>
            </a:r>
            <a:r>
              <a:rPr lang="en-US" altLang="zh-CN" dirty="0"/>
              <a:t>(3) </a:t>
            </a:r>
            <a:r>
              <a:rPr lang="zh-CN" altLang="en-US" dirty="0"/>
              <a:t>访问控制技术；</a:t>
            </a:r>
            <a:r>
              <a:rPr lang="en-US" altLang="zh-CN" dirty="0"/>
              <a:t>(4)</a:t>
            </a:r>
            <a:r>
              <a:rPr lang="zh-CN" altLang="en-US" dirty="0"/>
              <a:t>反病毒技术</a:t>
            </a:r>
            <a:endParaRPr lang="en-US" altLang="zh-CN" dirty="0"/>
          </a:p>
          <a:p>
            <a:pPr lvl="1">
              <a:buFont typeface="Wingdings" panose="05000000000000000000" pitchFamily="2" charset="2"/>
              <a:buChar char="ü"/>
            </a:pPr>
            <a:r>
              <a:rPr lang="zh-CN" altLang="en-US" dirty="0"/>
              <a:t>网络的功能和服务</a:t>
            </a:r>
            <a:endParaRPr lang="en-US" altLang="zh-CN" dirty="0"/>
          </a:p>
          <a:p>
            <a:pPr marL="914400" lvl="2" indent="0" algn="just">
              <a:buNone/>
            </a:pPr>
            <a:r>
              <a:rPr lang="en-US" altLang="zh-CN" dirty="0"/>
              <a:t>(1)</a:t>
            </a:r>
            <a:r>
              <a:rPr lang="zh-CN" altLang="en-US" dirty="0"/>
              <a:t>网络通信；</a:t>
            </a:r>
            <a:r>
              <a:rPr lang="en-US" altLang="zh-CN" dirty="0"/>
              <a:t>(2)</a:t>
            </a:r>
            <a:r>
              <a:rPr lang="zh-CN" altLang="en-US" dirty="0"/>
              <a:t>资源管理；</a:t>
            </a:r>
            <a:r>
              <a:rPr lang="en-US" altLang="zh-CN" dirty="0"/>
              <a:t>(3)</a:t>
            </a:r>
            <a:r>
              <a:rPr lang="zh-CN" altLang="en-US" dirty="0"/>
              <a:t>应用互操作</a:t>
            </a:r>
            <a:endParaRPr lang="en-US" altLang="zh-CN" dirty="0"/>
          </a:p>
          <a:p>
            <a:pPr lvl="1">
              <a:buFont typeface="Wingdings" panose="05000000000000000000" pitchFamily="2" charset="2"/>
              <a:buChar char="ü"/>
            </a:pPr>
            <a:r>
              <a:rPr lang="zh-CN" altLang="en-US" dirty="0"/>
              <a:t>支持多媒体</a:t>
            </a:r>
            <a:endParaRPr lang="en-US" altLang="zh-CN" dirty="0"/>
          </a:p>
          <a:p>
            <a:pPr marL="914400" lvl="2" indent="0">
              <a:buNone/>
            </a:pPr>
            <a:r>
              <a:rPr lang="en-US" altLang="zh-CN" dirty="0"/>
              <a:t>(1)</a:t>
            </a:r>
            <a:r>
              <a:rPr lang="zh-CN" altLang="en-US" dirty="0"/>
              <a:t>接纳控制功能；</a:t>
            </a:r>
            <a:r>
              <a:rPr lang="en-US" altLang="zh-CN" dirty="0"/>
              <a:t>(2)</a:t>
            </a:r>
            <a:r>
              <a:rPr lang="zh-CN" altLang="en-US" dirty="0"/>
              <a:t>实时调度；</a:t>
            </a:r>
            <a:r>
              <a:rPr lang="en-US" altLang="zh-CN" dirty="0"/>
              <a:t>(3)</a:t>
            </a:r>
            <a:r>
              <a:rPr lang="zh-CN" altLang="en-US" dirty="0"/>
              <a:t>多媒体文件的存储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Tree>
    <p:extLst>
      <p:ext uri="{BB962C8B-B14F-4D97-AF65-F5344CB8AC3E}">
        <p14:creationId xmlns:p14="http://schemas.microsoft.com/office/powerpoint/2010/main" val="3488874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p:txBody>
          <a:bodyPr>
            <a:normAutofit/>
          </a:bodyPr>
          <a:lstStyle/>
          <a:p>
            <a:pPr marL="0" indent="0" algn="just">
              <a:buNone/>
            </a:pPr>
            <a:r>
              <a:rPr lang="zh-CN" altLang="en-US" sz="2400" dirty="0">
                <a:solidFill>
                  <a:schemeClr val="accent6">
                    <a:lumMod val="50000"/>
                  </a:schemeClr>
                </a:solidFill>
              </a:rPr>
              <a:t>        早期</a:t>
            </a:r>
            <a:r>
              <a:rPr lang="en-US" altLang="zh-CN" sz="2400" dirty="0">
                <a:solidFill>
                  <a:schemeClr val="accent6">
                    <a:lumMod val="50000"/>
                  </a:schemeClr>
                </a:solidFill>
              </a:rPr>
              <a:t>OS</a:t>
            </a:r>
            <a:r>
              <a:rPr lang="zh-CN" altLang="en-US" sz="2400" dirty="0">
                <a:solidFill>
                  <a:schemeClr val="accent6">
                    <a:lumMod val="50000"/>
                  </a:schemeClr>
                </a:solidFill>
              </a:rPr>
              <a:t>的规模很小，如只有几十</a:t>
            </a:r>
            <a:r>
              <a:rPr lang="en-US" altLang="zh-CN" sz="2400" dirty="0">
                <a:solidFill>
                  <a:schemeClr val="accent6">
                    <a:lumMod val="50000"/>
                  </a:schemeClr>
                </a:solidFill>
              </a:rPr>
              <a:t>KB</a:t>
            </a:r>
            <a:r>
              <a:rPr lang="zh-CN" altLang="en-US" sz="2400" dirty="0">
                <a:solidFill>
                  <a:schemeClr val="accent6">
                    <a:lumMod val="50000"/>
                  </a:schemeClr>
                </a:solidFill>
              </a:rPr>
              <a:t>，完全可以由一个人以手工方式，用几个月的时间编制出来。此时，编制程序基本上是一种技巧，</a:t>
            </a:r>
            <a:r>
              <a:rPr lang="en-US" altLang="zh-CN" sz="2400" dirty="0">
                <a:solidFill>
                  <a:schemeClr val="accent6">
                    <a:lumMod val="50000"/>
                  </a:schemeClr>
                </a:solidFill>
              </a:rPr>
              <a:t>OS</a:t>
            </a:r>
            <a:r>
              <a:rPr lang="zh-CN" altLang="en-US" sz="2400" dirty="0">
                <a:solidFill>
                  <a:schemeClr val="accent6">
                    <a:lumMod val="50000"/>
                  </a:schemeClr>
                </a:solidFill>
              </a:rPr>
              <a:t>是否是有结构的并不那么重要，重要的是程序员的程序设计技巧。但随着</a:t>
            </a:r>
            <a:r>
              <a:rPr lang="en-US" altLang="zh-CN" sz="2400" dirty="0">
                <a:solidFill>
                  <a:schemeClr val="accent6">
                    <a:lumMod val="50000"/>
                  </a:schemeClr>
                </a:solidFill>
              </a:rPr>
              <a:t>OS</a:t>
            </a:r>
            <a:r>
              <a:rPr lang="zh-CN" altLang="en-US" sz="2400" dirty="0">
                <a:solidFill>
                  <a:schemeClr val="accent6">
                    <a:lumMod val="50000"/>
                  </a:schemeClr>
                </a:solidFill>
              </a:rPr>
              <a:t>规模的愈来愈大，其所具有的代码也愈来愈多，往往需要由数十人或数百人甚至更多的人参与，分工合作，共同来完成操作系统的设计。这意味着，应采用工程化的开发方法对大型软件进行开发。由此产生了“软件工程学”。</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Tree>
    <p:extLst>
      <p:ext uri="{BB962C8B-B14F-4D97-AF65-F5344CB8AC3E}">
        <p14:creationId xmlns:p14="http://schemas.microsoft.com/office/powerpoint/2010/main" val="3988826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传统操作系统结构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无结构操作系统</a:t>
            </a:r>
            <a:endParaRPr lang="en-US" altLang="zh-CN" dirty="0"/>
          </a:p>
          <a:p>
            <a:pPr marL="914400" lvl="2" indent="0" algn="just">
              <a:spcBef>
                <a:spcPts val="0"/>
              </a:spcBef>
              <a:buNone/>
            </a:pPr>
            <a:r>
              <a:rPr lang="zh-CN" altLang="en-US" dirty="0"/>
              <a:t>在早期开发操作系统时，设计者只是把他的注意力放在功能的实现和获得高的效率上，缺乏首尾一致的设计思想。此时的</a:t>
            </a:r>
            <a:r>
              <a:rPr lang="en-US" altLang="zh-CN" dirty="0"/>
              <a:t>OS</a:t>
            </a:r>
            <a:r>
              <a:rPr lang="zh-CN" altLang="en-US" dirty="0"/>
              <a:t>是为数众多的一组过程的集合，每个过程可以任意地相互调用其它过程，致使操作系统内部既复杂又混乱，因此，这种</a:t>
            </a:r>
            <a:r>
              <a:rPr lang="en-US" altLang="zh-CN" dirty="0"/>
              <a:t>OS</a:t>
            </a:r>
            <a:r>
              <a:rPr lang="zh-CN" altLang="en-US" dirty="0"/>
              <a:t>是无结构的，也有人把它称为整体系统结构。</a:t>
            </a:r>
            <a:endParaRPr lang="en-US" altLang="zh-CN" dirty="0"/>
          </a:p>
          <a:p>
            <a:pPr lvl="1">
              <a:buFont typeface="Wingdings" panose="05000000000000000000" pitchFamily="2" charset="2"/>
              <a:buChar char="ü"/>
            </a:pPr>
            <a:r>
              <a:rPr lang="zh-CN" altLang="en-US" dirty="0"/>
              <a:t>模块化结构</a:t>
            </a:r>
            <a:r>
              <a:rPr lang="en-US" altLang="zh-CN" dirty="0"/>
              <a:t>OS</a:t>
            </a:r>
          </a:p>
          <a:p>
            <a:pPr lvl="2" algn="just">
              <a:buFont typeface="Wingdings" panose="05000000000000000000" pitchFamily="2" charset="2"/>
              <a:buChar char="l"/>
            </a:pPr>
            <a:r>
              <a:rPr lang="zh-CN" altLang="en-US" dirty="0"/>
              <a:t>模块化程序设计技术的基本概念</a:t>
            </a:r>
            <a:endParaRPr lang="en-US" altLang="zh-CN" dirty="0"/>
          </a:p>
          <a:p>
            <a:pPr marL="914400" lvl="2" indent="0" algn="just">
              <a:buNone/>
            </a:pPr>
            <a:r>
              <a:rPr lang="zh-CN" altLang="en-US"/>
              <a:t>模块化</a:t>
            </a:r>
            <a:r>
              <a:rPr lang="zh-CN" altLang="en-US" dirty="0"/>
              <a:t>程序设计技术是</a:t>
            </a:r>
            <a:r>
              <a:rPr lang="en-US" altLang="zh-CN" dirty="0"/>
              <a:t>20</a:t>
            </a:r>
            <a:r>
              <a:rPr lang="zh-CN" altLang="en-US" dirty="0"/>
              <a:t>世纪</a:t>
            </a:r>
            <a:r>
              <a:rPr lang="en-US" altLang="zh-CN" dirty="0"/>
              <a:t>60</a:t>
            </a:r>
            <a:r>
              <a:rPr lang="zh-CN" altLang="en-US" dirty="0"/>
              <a:t>年代出现的一种结构化程序设计技术。该技术基于“分解”和“模块化”的原则来控制大型软件的复杂度。为使</a:t>
            </a:r>
            <a:r>
              <a:rPr lang="en-US" altLang="zh-CN" dirty="0"/>
              <a:t>OS</a:t>
            </a:r>
            <a:r>
              <a:rPr lang="zh-CN" altLang="en-US" dirty="0"/>
              <a:t>具有较清晰的结构，</a:t>
            </a:r>
            <a:r>
              <a:rPr lang="en-US" altLang="zh-CN" dirty="0"/>
              <a:t>OS</a:t>
            </a:r>
            <a:r>
              <a:rPr lang="zh-CN" altLang="en-US" dirty="0"/>
              <a:t>不再是由众多的过程直接构成的，而是按其功能精心地划分为若干个具有一定独立性和大小的模块。图</a:t>
            </a:r>
            <a:r>
              <a:rPr lang="en-US" altLang="zh-CN" dirty="0"/>
              <a:t>1-7</a:t>
            </a:r>
            <a:r>
              <a:rPr lang="zh-CN" altLang="en-US" dirty="0"/>
              <a:t>示出了由模块、子模块等组成的模块化</a:t>
            </a:r>
            <a:r>
              <a:rPr lang="en-US" altLang="zh-CN" dirty="0"/>
              <a:t>OS</a:t>
            </a:r>
            <a:r>
              <a:rPr lang="zh-CN" altLang="en-US" dirty="0"/>
              <a:t>结构。</a:t>
            </a:r>
          </a:p>
          <a:p>
            <a:pPr lvl="1">
              <a:buFont typeface="Wingdings" panose="05000000000000000000" pitchFamily="2" charset="2"/>
              <a:buChar char="ü"/>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extLst>
      <p:ext uri="{BB962C8B-B14F-4D97-AF65-F5344CB8AC3E}">
        <p14:creationId xmlns:p14="http://schemas.microsoft.com/office/powerpoint/2010/main" val="325992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5" name="Picture 4" descr="1-7">
            <a:extLst>
              <a:ext uri="{FF2B5EF4-FFF2-40B4-BE49-F238E27FC236}">
                <a16:creationId xmlns:a16="http://schemas.microsoft.com/office/drawing/2014/main" id="{E0DE0217-5A93-44C3-9729-BEB9F2BAB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508" y="2206682"/>
            <a:ext cx="8952084" cy="3253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0BE3966E-B944-4284-B9E3-4F1921E04504}"/>
              </a:ext>
            </a:extLst>
          </p:cNvPr>
          <p:cNvSpPr txBox="1"/>
          <p:nvPr/>
        </p:nvSpPr>
        <p:spPr>
          <a:xfrm>
            <a:off x="4759153" y="5712128"/>
            <a:ext cx="3342628" cy="461665"/>
          </a:xfrm>
          <a:prstGeom prst="rect">
            <a:avLst/>
          </a:prstGeom>
          <a:noFill/>
        </p:spPr>
        <p:txBody>
          <a:bodyPr wrap="square">
            <a:spAutoFit/>
          </a:bodyPr>
          <a:lstStyle/>
          <a:p>
            <a:r>
              <a:rPr lang="zh-CN" altLang="en-US" sz="2400" dirty="0"/>
              <a:t>模块化结构的操作系统</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传统操作系统结构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模块化结构</a:t>
            </a:r>
            <a:r>
              <a:rPr lang="en-US" altLang="zh-CN" dirty="0"/>
              <a:t>OS</a:t>
            </a:r>
          </a:p>
          <a:p>
            <a:pPr lvl="2" algn="just">
              <a:buFont typeface="Wingdings" panose="05000000000000000000" pitchFamily="2" charset="2"/>
              <a:buChar char="l"/>
            </a:pPr>
            <a:r>
              <a:rPr lang="zh-CN" altLang="en-US" dirty="0"/>
              <a:t>模块独立性</a:t>
            </a:r>
            <a:endParaRPr lang="en-US" altLang="zh-CN" dirty="0"/>
          </a:p>
          <a:p>
            <a:pPr marL="914400" lvl="2" indent="0" algn="just">
              <a:buNone/>
            </a:pPr>
            <a:r>
              <a:rPr lang="zh-CN" altLang="en-US"/>
              <a:t>在</a:t>
            </a:r>
            <a:r>
              <a:rPr lang="zh-CN" altLang="en-US" dirty="0"/>
              <a:t>模块</a:t>
            </a:r>
            <a:r>
              <a:rPr lang="en-US" altLang="zh-CN" dirty="0"/>
              <a:t>-</a:t>
            </a:r>
            <a:r>
              <a:rPr lang="zh-CN" altLang="en-US" dirty="0"/>
              <a:t>接口法中，关键问题是模块的划分和规定好模块之间的接口。如果我们在划分模块时将模块划分得太小，虽然可以降低模块本身的复杂性，但会引起模块之间的联系过多，从而会造成系统比较混乱；如果将模块划分得过大，又会增加模块内部的复杂性，使内部的联系增加，因此在划分模块时，应在两者间进行权衡。</a:t>
            </a:r>
          </a:p>
          <a:p>
            <a:pPr lvl="2">
              <a:buFont typeface="Wingdings" panose="05000000000000000000" pitchFamily="2" charset="2"/>
              <a:buChar char="l"/>
            </a:pPr>
            <a:r>
              <a:rPr lang="zh-CN" altLang="en-US" dirty="0"/>
              <a:t>模块接口法的优缺点</a:t>
            </a:r>
            <a:endParaRPr lang="en-US" altLang="zh-CN" dirty="0"/>
          </a:p>
          <a:p>
            <a:pPr marL="914400" lvl="2" indent="0">
              <a:buNone/>
            </a:pPr>
            <a:r>
              <a:rPr lang="zh-CN" altLang="en-US"/>
              <a:t>利用</a:t>
            </a:r>
            <a:r>
              <a:rPr lang="zh-CN" altLang="en-US" dirty="0"/>
              <a:t>模块</a:t>
            </a:r>
            <a:r>
              <a:rPr lang="en-US" altLang="zh-CN" dirty="0"/>
              <a:t>-</a:t>
            </a:r>
            <a:r>
              <a:rPr lang="zh-CN" altLang="en-US" dirty="0"/>
              <a:t>接口法开发的</a:t>
            </a:r>
            <a:r>
              <a:rPr lang="en-US" altLang="zh-CN" dirty="0"/>
              <a:t>OS</a:t>
            </a:r>
            <a:r>
              <a:rPr lang="zh-CN" altLang="en-US" dirty="0"/>
              <a:t>，较之无结构</a:t>
            </a:r>
            <a:r>
              <a:rPr lang="en-US" altLang="zh-CN" dirty="0"/>
              <a:t>OS</a:t>
            </a:r>
            <a:r>
              <a:rPr lang="zh-CN" altLang="en-US" dirty="0"/>
              <a:t>具有以下明显的优点：</a:t>
            </a:r>
            <a:br>
              <a:rPr lang="zh-CN" altLang="en-US"/>
            </a:br>
            <a:r>
              <a:rPr lang="en-US" altLang="zh-CN"/>
              <a:t>(</a:t>
            </a:r>
            <a:r>
              <a:rPr lang="en-US" altLang="zh-CN" dirty="0"/>
              <a:t>1)</a:t>
            </a:r>
            <a:r>
              <a:rPr lang="zh-CN" altLang="en-US" dirty="0"/>
              <a:t>提高</a:t>
            </a:r>
            <a:r>
              <a:rPr lang="en-US" altLang="zh-CN" dirty="0"/>
              <a:t>OS</a:t>
            </a:r>
            <a:r>
              <a:rPr lang="zh-CN" altLang="en-US" dirty="0"/>
              <a:t>设计的正确性、可理解性和可维护性；</a:t>
            </a:r>
            <a:r>
              <a:rPr lang="en-US" altLang="zh-CN" dirty="0"/>
              <a:t>(2)</a:t>
            </a:r>
            <a:r>
              <a:rPr lang="zh-CN" altLang="en-US" dirty="0"/>
              <a:t>增强</a:t>
            </a:r>
            <a:r>
              <a:rPr lang="en-US" altLang="zh-CN" dirty="0"/>
              <a:t>OS</a:t>
            </a:r>
            <a:r>
              <a:rPr lang="zh-CN" altLang="en-US" dirty="0"/>
              <a:t>的可适应性；</a:t>
            </a:r>
            <a:r>
              <a:rPr lang="en-US" altLang="zh-CN" dirty="0"/>
              <a:t>(3)</a:t>
            </a:r>
            <a:r>
              <a:rPr lang="zh-CN" altLang="en-US" dirty="0"/>
              <a:t>加速</a:t>
            </a:r>
            <a:r>
              <a:rPr lang="en-US" altLang="zh-CN" dirty="0"/>
              <a:t>OS</a:t>
            </a:r>
            <a:r>
              <a:rPr lang="zh-CN" altLang="en-US"/>
              <a:t>的开发过程。</a:t>
            </a:r>
            <a:endParaRPr lang="en-US" altLang="zh-CN" dirty="0"/>
          </a:p>
          <a:p>
            <a:pPr lvl="1">
              <a:buFont typeface="Wingdings" panose="05000000000000000000" pitchFamily="2" charset="2"/>
              <a:buChar char="ü"/>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Tree>
    <p:extLst>
      <p:ext uri="{BB962C8B-B14F-4D97-AF65-F5344CB8AC3E}">
        <p14:creationId xmlns:p14="http://schemas.microsoft.com/office/powerpoint/2010/main" val="3002567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传统操作系统结构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模块化结构</a:t>
            </a:r>
            <a:r>
              <a:rPr lang="en-US" altLang="zh-CN" dirty="0"/>
              <a:t>OS</a:t>
            </a:r>
          </a:p>
          <a:p>
            <a:pPr marL="914400" lvl="2" indent="0" algn="just">
              <a:buNone/>
            </a:pPr>
            <a:r>
              <a:rPr lang="zh-CN" altLang="en-US" dirty="0"/>
              <a:t>模块化结构设计仍存在下述问题：</a:t>
            </a:r>
            <a:r>
              <a:rPr lang="en-US" altLang="zh-CN" dirty="0"/>
              <a:t>(1)</a:t>
            </a:r>
            <a:r>
              <a:rPr lang="zh-CN" altLang="en-US" dirty="0"/>
              <a:t>在</a:t>
            </a:r>
            <a:r>
              <a:rPr lang="en-US" altLang="zh-CN" dirty="0"/>
              <a:t>OS</a:t>
            </a:r>
            <a:r>
              <a:rPr lang="zh-CN" altLang="en-US" dirty="0"/>
              <a:t>设计时，对各模块间的接口规定很难满足在模块设计完成后对接口的实际需求。</a:t>
            </a:r>
            <a:r>
              <a:rPr lang="en-US" altLang="zh-CN" dirty="0"/>
              <a:t>(2) </a:t>
            </a:r>
            <a:r>
              <a:rPr lang="zh-CN" altLang="en-US" dirty="0"/>
              <a:t>在</a:t>
            </a:r>
            <a:r>
              <a:rPr lang="en-US" altLang="zh-CN" dirty="0"/>
              <a:t>OS</a:t>
            </a:r>
            <a:r>
              <a:rPr lang="zh-CN" altLang="en-US" dirty="0"/>
              <a:t>设计阶段，设计者必须做出一系列的决定</a:t>
            </a:r>
            <a:r>
              <a:rPr lang="en-US" altLang="zh-CN" dirty="0"/>
              <a:t>(</a:t>
            </a:r>
            <a:r>
              <a:rPr lang="zh-CN" altLang="en-US" dirty="0"/>
              <a:t>决策</a:t>
            </a:r>
            <a:r>
              <a:rPr lang="en-US" altLang="zh-CN" dirty="0"/>
              <a:t>)</a:t>
            </a:r>
            <a:r>
              <a:rPr lang="zh-CN" altLang="en-US" dirty="0"/>
              <a:t>，每一个决定必须建立在上一个决定的基础上，但模块化结构设计中，各模块的设计齐头并进，无法寻找一个可靠的决定顺序，造成各种决定的“无序性”，这将使程序人员很难做到“设计中的每一步决定”都是建立在可靠的基础上，因此模块</a:t>
            </a:r>
            <a:r>
              <a:rPr lang="en-US" altLang="zh-CN" dirty="0"/>
              <a:t>-</a:t>
            </a:r>
            <a:r>
              <a:rPr lang="zh-CN" altLang="en-US" dirty="0"/>
              <a:t>接口法又被称为“无序模块法”。</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Tree>
    <p:extLst>
      <p:ext uri="{BB962C8B-B14F-4D97-AF65-F5344CB8AC3E}">
        <p14:creationId xmlns:p14="http://schemas.microsoft.com/office/powerpoint/2010/main" val="7587978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传统操作系统结构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分层式结构</a:t>
            </a:r>
            <a:r>
              <a:rPr lang="en-US" altLang="zh-CN" dirty="0"/>
              <a:t>OS</a:t>
            </a:r>
          </a:p>
          <a:p>
            <a:pPr lvl="2" algn="just">
              <a:buFont typeface="Wingdings" panose="05000000000000000000" pitchFamily="2" charset="2"/>
              <a:buChar char="l"/>
            </a:pPr>
            <a:r>
              <a:rPr lang="zh-CN" altLang="en-US" dirty="0"/>
              <a:t>分层式结构的基本概念</a:t>
            </a:r>
            <a:endParaRPr lang="en-US" altLang="zh-CN" dirty="0"/>
          </a:p>
          <a:p>
            <a:pPr marL="914400" lvl="2" indent="0" algn="just">
              <a:buNone/>
            </a:pPr>
            <a:r>
              <a:rPr lang="zh-CN" altLang="en-US"/>
              <a:t>为</a:t>
            </a:r>
            <a:r>
              <a:rPr lang="zh-CN" altLang="en-US" dirty="0"/>
              <a:t>将模块</a:t>
            </a:r>
            <a:r>
              <a:rPr lang="en-US" altLang="zh-CN" dirty="0"/>
              <a:t>-</a:t>
            </a:r>
            <a:r>
              <a:rPr lang="zh-CN" altLang="en-US" dirty="0"/>
              <a:t>接口法中“决定顺序”的无序性变为有序性，引入了有序分层法，分层法的设计任务是，在目标系统</a:t>
            </a:r>
            <a:r>
              <a:rPr lang="en-US" altLang="zh-CN" dirty="0"/>
              <a:t>A</a:t>
            </a:r>
            <a:r>
              <a:rPr lang="en-US" altLang="zh-CN" baseline="-25000" dirty="0"/>
              <a:t>n</a:t>
            </a:r>
            <a:r>
              <a:rPr lang="zh-CN" altLang="en-US" dirty="0"/>
              <a:t>和裸机系统</a:t>
            </a:r>
            <a:r>
              <a:rPr lang="en-US" altLang="zh-CN" dirty="0"/>
              <a:t>(</a:t>
            </a:r>
            <a:r>
              <a:rPr lang="zh-CN" altLang="en-US" dirty="0"/>
              <a:t>又称宿主系统</a:t>
            </a:r>
            <a:r>
              <a:rPr lang="en-US" altLang="zh-CN" dirty="0"/>
              <a:t>)A</a:t>
            </a:r>
            <a:r>
              <a:rPr lang="en-US" altLang="zh-CN" baseline="-25000" dirty="0"/>
              <a:t>0</a:t>
            </a:r>
            <a:r>
              <a:rPr lang="zh-CN" altLang="en-US" dirty="0"/>
              <a:t>之间，铺设若干个层次的软件</a:t>
            </a:r>
            <a:r>
              <a:rPr lang="en-US" altLang="zh-CN" dirty="0"/>
              <a:t>A</a:t>
            </a:r>
            <a:r>
              <a:rPr lang="en-US" altLang="zh-CN" baseline="-25000" dirty="0"/>
              <a:t>1</a:t>
            </a:r>
            <a:r>
              <a:rPr lang="zh-CN" altLang="en-US" dirty="0"/>
              <a:t>、</a:t>
            </a:r>
            <a:r>
              <a:rPr lang="en-US" altLang="zh-CN" dirty="0"/>
              <a:t>A</a:t>
            </a:r>
            <a:r>
              <a:rPr lang="en-US" altLang="zh-CN" baseline="-25000" dirty="0"/>
              <a:t>2</a:t>
            </a:r>
            <a:r>
              <a:rPr lang="zh-CN" altLang="en-US" dirty="0"/>
              <a:t>、</a:t>
            </a:r>
            <a:r>
              <a:rPr lang="en-US" altLang="zh-CN" dirty="0"/>
              <a:t>A</a:t>
            </a:r>
            <a:r>
              <a:rPr lang="en-US" altLang="zh-CN" baseline="-25000" dirty="0"/>
              <a:t>3</a:t>
            </a:r>
            <a:r>
              <a:rPr lang="zh-CN" altLang="en-US" dirty="0"/>
              <a:t>、</a:t>
            </a:r>
            <a:r>
              <a:rPr lang="en-US" altLang="zh-CN" dirty="0"/>
              <a:t>…</a:t>
            </a:r>
            <a:r>
              <a:rPr lang="zh-CN" altLang="en-US" dirty="0"/>
              <a:t>、</a:t>
            </a:r>
            <a:r>
              <a:rPr lang="en-US" altLang="zh-CN" dirty="0"/>
              <a:t>A</a:t>
            </a:r>
            <a:r>
              <a:rPr lang="en-US" altLang="zh-CN" baseline="-25000" dirty="0"/>
              <a:t>n-1</a:t>
            </a:r>
            <a:r>
              <a:rPr lang="zh-CN" altLang="en-US" dirty="0"/>
              <a:t>，使</a:t>
            </a:r>
            <a:r>
              <a:rPr lang="en-US" altLang="zh-CN" dirty="0"/>
              <a:t>A</a:t>
            </a:r>
            <a:r>
              <a:rPr lang="en-US" altLang="zh-CN" baseline="-25000" dirty="0"/>
              <a:t>n</a:t>
            </a:r>
            <a:r>
              <a:rPr lang="zh-CN" altLang="en-US" dirty="0"/>
              <a:t>通过</a:t>
            </a:r>
            <a:r>
              <a:rPr lang="en-US" altLang="zh-CN" dirty="0"/>
              <a:t>A</a:t>
            </a:r>
            <a:r>
              <a:rPr lang="en-US" altLang="zh-CN" baseline="-25000" dirty="0"/>
              <a:t>n-1</a:t>
            </a:r>
            <a:r>
              <a:rPr lang="zh-CN" altLang="en-US" dirty="0"/>
              <a:t>、</a:t>
            </a:r>
            <a:r>
              <a:rPr lang="en-US" altLang="zh-CN" dirty="0"/>
              <a:t>A</a:t>
            </a:r>
            <a:r>
              <a:rPr lang="en-US" altLang="zh-CN" baseline="-25000" dirty="0"/>
              <a:t>n-2</a:t>
            </a:r>
            <a:r>
              <a:rPr lang="zh-CN" altLang="en-US" dirty="0"/>
              <a:t>、</a:t>
            </a:r>
            <a:r>
              <a:rPr lang="en-US" altLang="zh-CN" dirty="0"/>
              <a:t>…</a:t>
            </a:r>
            <a:r>
              <a:rPr lang="zh-CN" altLang="en-US" dirty="0"/>
              <a:t>、</a:t>
            </a:r>
            <a:r>
              <a:rPr lang="en-US" altLang="zh-CN" dirty="0"/>
              <a:t>A</a:t>
            </a:r>
            <a:r>
              <a:rPr lang="en-US" altLang="zh-CN" baseline="-25000" dirty="0"/>
              <a:t>2</a:t>
            </a:r>
            <a:r>
              <a:rPr lang="zh-CN" altLang="en-US" dirty="0"/>
              <a:t>、</a:t>
            </a:r>
            <a:r>
              <a:rPr lang="en-US" altLang="zh-CN" dirty="0"/>
              <a:t>A</a:t>
            </a:r>
            <a:r>
              <a:rPr lang="en-US" altLang="zh-CN" baseline="-25000" dirty="0"/>
              <a:t>1</a:t>
            </a:r>
            <a:r>
              <a:rPr lang="zh-CN" altLang="en-US" dirty="0"/>
              <a:t>层，最终能在</a:t>
            </a:r>
            <a:r>
              <a:rPr lang="en-US" altLang="zh-CN" dirty="0"/>
              <a:t>A</a:t>
            </a:r>
            <a:r>
              <a:rPr lang="en-US" altLang="zh-CN" baseline="-25000" dirty="0"/>
              <a:t>0</a:t>
            </a:r>
            <a:r>
              <a:rPr lang="zh-CN" altLang="en-US" dirty="0"/>
              <a:t>上运行。在操作系统中，常采用自底向上法来铺设这些中间层。</a:t>
            </a:r>
            <a:endParaRPr lang="en-US" altLang="zh-CN" dirty="0"/>
          </a:p>
          <a:p>
            <a:pPr lvl="2" algn="just">
              <a:buFont typeface="Wingdings" panose="05000000000000000000" pitchFamily="2" charset="2"/>
              <a:buChar char="l"/>
            </a:pPr>
            <a:r>
              <a:rPr lang="zh-CN" altLang="en-US" dirty="0"/>
              <a:t>分层结构的优缺点</a:t>
            </a:r>
            <a:endParaRPr lang="en-US" altLang="zh-CN" dirty="0"/>
          </a:p>
          <a:p>
            <a:pPr marL="914400" lvl="2" indent="0" algn="just">
              <a:spcBef>
                <a:spcPts val="0"/>
              </a:spcBef>
              <a:buNone/>
            </a:pPr>
            <a:r>
              <a:rPr lang="zh-CN" altLang="en-US"/>
              <a:t>分层结构</a:t>
            </a:r>
            <a:r>
              <a:rPr lang="zh-CN" altLang="en-US" dirty="0"/>
              <a:t>的主要优点有：</a:t>
            </a:r>
            <a:r>
              <a:rPr lang="en-US" altLang="zh-CN" dirty="0"/>
              <a:t>(1)</a:t>
            </a:r>
            <a:r>
              <a:rPr lang="zh-CN" altLang="en-US" dirty="0"/>
              <a:t>易保证系统的正确性；</a:t>
            </a:r>
            <a:r>
              <a:rPr lang="en-US" altLang="zh-CN" dirty="0"/>
              <a:t>(2)</a:t>
            </a:r>
            <a:r>
              <a:rPr lang="zh-CN" altLang="en-US" dirty="0"/>
              <a:t>易扩充和易维护性</a:t>
            </a:r>
            <a:endParaRPr lang="en-US" altLang="zh-CN" dirty="0"/>
          </a:p>
          <a:p>
            <a:pPr marL="914400" lvl="2" indent="0" algn="just">
              <a:spcBef>
                <a:spcPts val="0"/>
              </a:spcBef>
              <a:buNone/>
            </a:pPr>
            <a:r>
              <a:rPr lang="zh-CN" altLang="en-US"/>
              <a:t>分层结构</a:t>
            </a:r>
            <a:r>
              <a:rPr lang="zh-CN" altLang="en-US" dirty="0"/>
              <a:t>的主要缺点是系统效率降低。由于层次结构是分层单向依赖的，必须在每层之间都建立层次间的通信机制，</a:t>
            </a:r>
            <a:r>
              <a:rPr lang="en-US" altLang="zh-CN" dirty="0"/>
              <a:t>OS</a:t>
            </a:r>
            <a:r>
              <a:rPr lang="zh-CN" altLang="en-US" dirty="0"/>
              <a:t>每执行一个功能，通常要自上而下地穿越多个层次，这无疑会增加系统的通信开销，从而导致系统效率的降低。</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extLst>
      <p:ext uri="{BB962C8B-B14F-4D97-AF65-F5344CB8AC3E}">
        <p14:creationId xmlns:p14="http://schemas.microsoft.com/office/powerpoint/2010/main" val="886997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客户</a:t>
            </a:r>
            <a:r>
              <a:rPr lang="en-US" altLang="zh-CN" dirty="0">
                <a:solidFill>
                  <a:schemeClr val="accent2">
                    <a:lumMod val="75000"/>
                  </a:schemeClr>
                </a:solidFill>
              </a:rPr>
              <a:t>/</a:t>
            </a:r>
            <a:r>
              <a:rPr lang="zh-CN" altLang="en-US" dirty="0">
                <a:solidFill>
                  <a:schemeClr val="accent2">
                    <a:lumMod val="75000"/>
                  </a:schemeClr>
                </a:solidFill>
              </a:rPr>
              <a:t>服务器模式</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客户</a:t>
            </a:r>
            <a:r>
              <a:rPr lang="en-US" altLang="zh-CN" dirty="0"/>
              <a:t>/</a:t>
            </a:r>
            <a:r>
              <a:rPr lang="zh-CN" altLang="en-US" dirty="0"/>
              <a:t>服务器模式的由来、组成和类型</a:t>
            </a:r>
            <a:endParaRPr lang="en-US" altLang="zh-CN" dirty="0"/>
          </a:p>
          <a:p>
            <a:pPr marL="914400" lvl="2" indent="0" algn="just">
              <a:spcBef>
                <a:spcPts val="0"/>
              </a:spcBef>
              <a:buNone/>
            </a:pPr>
            <a:r>
              <a:rPr lang="zh-CN" altLang="en-US" dirty="0"/>
              <a:t>客户</a:t>
            </a:r>
            <a:r>
              <a:rPr lang="en-US" altLang="zh-CN" dirty="0"/>
              <a:t>/</a:t>
            </a:r>
            <a:r>
              <a:rPr lang="zh-CN" altLang="en-US" dirty="0"/>
              <a:t>服务器系统主要由三部分组成：</a:t>
            </a:r>
            <a:r>
              <a:rPr lang="en-US" altLang="zh-CN" dirty="0"/>
              <a:t>(1)</a:t>
            </a:r>
            <a:r>
              <a:rPr lang="zh-CN" altLang="en-US" dirty="0"/>
              <a:t>客户机；</a:t>
            </a:r>
            <a:r>
              <a:rPr lang="en-US" altLang="zh-CN" dirty="0"/>
              <a:t>(2)</a:t>
            </a:r>
            <a:r>
              <a:rPr lang="zh-CN" altLang="en-US" dirty="0"/>
              <a:t>服务器；</a:t>
            </a:r>
            <a:r>
              <a:rPr lang="en-US" altLang="zh-CN" dirty="0"/>
              <a:t>(3)</a:t>
            </a:r>
            <a:r>
              <a:rPr lang="zh-CN" altLang="en-US" dirty="0"/>
              <a:t>网络系统</a:t>
            </a:r>
            <a:endParaRPr lang="en-US" altLang="zh-CN" dirty="0"/>
          </a:p>
          <a:p>
            <a:pPr lvl="1">
              <a:buFont typeface="Wingdings" panose="05000000000000000000" pitchFamily="2" charset="2"/>
              <a:buChar char="ü"/>
            </a:pPr>
            <a:r>
              <a:rPr lang="zh-CN" altLang="en-US" dirty="0"/>
              <a:t>客户</a:t>
            </a:r>
            <a:r>
              <a:rPr lang="en-US" altLang="zh-CN" dirty="0"/>
              <a:t>/</a:t>
            </a:r>
            <a:r>
              <a:rPr lang="zh-CN" altLang="en-US" dirty="0"/>
              <a:t>服务器之间的交互</a:t>
            </a:r>
            <a:endParaRPr lang="en-US" altLang="zh-CN" dirty="0"/>
          </a:p>
          <a:p>
            <a:pPr marL="914400" lvl="2" indent="0" algn="just">
              <a:buNone/>
            </a:pPr>
            <a:r>
              <a:rPr lang="en-US" altLang="zh-CN" dirty="0"/>
              <a:t>(1)</a:t>
            </a:r>
            <a:r>
              <a:rPr lang="zh-CN" altLang="en-US" dirty="0"/>
              <a:t>客户发送请求消息；</a:t>
            </a:r>
            <a:r>
              <a:rPr lang="en-US" altLang="zh-CN" dirty="0"/>
              <a:t>(2)</a:t>
            </a:r>
            <a:r>
              <a:rPr lang="zh-CN" altLang="en-US" dirty="0"/>
              <a:t>服务器接收消息；</a:t>
            </a:r>
            <a:r>
              <a:rPr lang="en-US" altLang="zh-CN" dirty="0"/>
              <a:t>(3)</a:t>
            </a:r>
            <a:r>
              <a:rPr lang="zh-CN" altLang="en-US" dirty="0"/>
              <a:t>服务器回送消息；</a:t>
            </a:r>
            <a:r>
              <a:rPr lang="en-US" altLang="zh-CN" dirty="0"/>
              <a:t>(4)</a:t>
            </a:r>
            <a:r>
              <a:rPr lang="zh-CN" altLang="en-US" dirty="0"/>
              <a:t>客户机接收消息</a:t>
            </a:r>
            <a:endParaRPr lang="en-US" altLang="zh-CN" dirty="0"/>
          </a:p>
          <a:p>
            <a:pPr lvl="1">
              <a:buFont typeface="Wingdings" panose="05000000000000000000" pitchFamily="2" charset="2"/>
              <a:buChar char="ü"/>
            </a:pPr>
            <a:r>
              <a:rPr lang="zh-CN" altLang="en-US" dirty="0"/>
              <a:t>客户</a:t>
            </a:r>
            <a:r>
              <a:rPr lang="en-US" altLang="zh-CN" dirty="0"/>
              <a:t>/</a:t>
            </a:r>
            <a:r>
              <a:rPr lang="zh-CN" altLang="en-US" dirty="0"/>
              <a:t>服务器模式的优点</a:t>
            </a:r>
            <a:endParaRPr lang="en-US" altLang="zh-CN" dirty="0"/>
          </a:p>
          <a:p>
            <a:pPr marL="914400" lvl="2" indent="0">
              <a:buNone/>
            </a:pPr>
            <a:r>
              <a:rPr lang="en-US" altLang="zh-CN" dirty="0"/>
              <a:t>(1)</a:t>
            </a:r>
            <a:r>
              <a:rPr lang="zh-CN" altLang="en-US" dirty="0"/>
              <a:t>数据的分布处理和存储；</a:t>
            </a:r>
            <a:r>
              <a:rPr lang="en-US" altLang="zh-CN" dirty="0"/>
              <a:t>(2)</a:t>
            </a:r>
            <a:r>
              <a:rPr lang="zh-CN" altLang="en-US" dirty="0"/>
              <a:t>便于集中管理；</a:t>
            </a:r>
            <a:r>
              <a:rPr lang="en-US" altLang="zh-CN" dirty="0"/>
              <a:t>(3)</a:t>
            </a:r>
            <a:r>
              <a:rPr lang="zh-CN" altLang="en-US" dirty="0"/>
              <a:t>灵活性和可扩充性；</a:t>
            </a:r>
            <a:r>
              <a:rPr lang="en-US" altLang="zh-CN" dirty="0"/>
              <a:t>(4)</a:t>
            </a:r>
            <a:r>
              <a:rPr lang="zh-CN" altLang="en-US" dirty="0"/>
              <a:t>易于改编应用软件</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Tree>
    <p:extLst>
      <p:ext uri="{BB962C8B-B14F-4D97-AF65-F5344CB8AC3E}">
        <p14:creationId xmlns:p14="http://schemas.microsoft.com/office/powerpoint/2010/main" val="1476397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微内核</a:t>
            </a:r>
            <a:r>
              <a:rPr lang="en-US" altLang="zh-CN" dirty="0">
                <a:solidFill>
                  <a:schemeClr val="accent2">
                    <a:lumMod val="75000"/>
                  </a:schemeClr>
                </a:solidFill>
              </a:rPr>
              <a:t>OS</a:t>
            </a:r>
            <a:r>
              <a:rPr lang="zh-CN" altLang="en-US" dirty="0">
                <a:solidFill>
                  <a:schemeClr val="accent2">
                    <a:lumMod val="75000"/>
                  </a:schemeClr>
                </a:solidFill>
              </a:rPr>
              <a:t>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微内核操作系统的基本概念</a:t>
            </a:r>
            <a:endParaRPr lang="en-US" altLang="zh-CN" dirty="0"/>
          </a:p>
          <a:p>
            <a:pPr lvl="2" algn="just">
              <a:spcBef>
                <a:spcPts val="0"/>
              </a:spcBef>
              <a:buFont typeface="Wingdings" panose="05000000000000000000" pitchFamily="2" charset="2"/>
              <a:buChar char="l"/>
            </a:pPr>
            <a:r>
              <a:rPr lang="zh-CN" altLang="en-US" dirty="0"/>
              <a:t>足够小的内核</a:t>
            </a:r>
            <a:endParaRPr lang="en-US" altLang="zh-CN" dirty="0"/>
          </a:p>
          <a:p>
            <a:pPr marL="914400" lvl="2" indent="0" algn="just">
              <a:spcBef>
                <a:spcPts val="0"/>
              </a:spcBef>
              <a:buNone/>
            </a:pPr>
            <a:r>
              <a:rPr lang="zh-CN" altLang="en-US"/>
              <a:t>微</a:t>
            </a:r>
            <a:r>
              <a:rPr lang="zh-CN" altLang="en-US" dirty="0"/>
              <a:t>内核是指精心设计、能实现现代</a:t>
            </a:r>
            <a:r>
              <a:rPr lang="en-US" altLang="zh-CN" dirty="0"/>
              <a:t>OS</a:t>
            </a:r>
            <a:r>
              <a:rPr lang="zh-CN" altLang="en-US" dirty="0"/>
              <a:t>最基本核心功能的小型内核。微内核并非是完整的</a:t>
            </a:r>
            <a:r>
              <a:rPr lang="en-US" altLang="zh-CN" dirty="0"/>
              <a:t>OS</a:t>
            </a:r>
            <a:r>
              <a:rPr lang="zh-CN" altLang="en-US" dirty="0"/>
              <a:t>，而只是将操作系统中最基本的部分放入微内核，通常包含有：① 与硬件处理紧密相关的部分；② 一些较基本的功能；③ 客户和服务器之间的通信。这些</a:t>
            </a:r>
            <a:r>
              <a:rPr lang="en-US" altLang="zh-CN" dirty="0"/>
              <a:t>OS</a:t>
            </a:r>
            <a:r>
              <a:rPr lang="zh-CN" altLang="en-US" dirty="0"/>
              <a:t>最基本的部分只是为构建通用</a:t>
            </a:r>
            <a:r>
              <a:rPr lang="en-US" altLang="zh-CN" dirty="0"/>
              <a:t>OS</a:t>
            </a:r>
            <a:r>
              <a:rPr lang="zh-CN" altLang="en-US" dirty="0"/>
              <a:t>提供一个重要基础，这样就可以确保把操作系统内核做得很小。</a:t>
            </a:r>
            <a:endParaRPr lang="en-US" altLang="zh-CN" dirty="0"/>
          </a:p>
          <a:p>
            <a:pPr marL="914400" lvl="2" indent="0" algn="just">
              <a:spcBef>
                <a:spcPts val="0"/>
              </a:spcBef>
              <a:buNone/>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pic>
        <p:nvPicPr>
          <p:cNvPr id="6" name="图片 5">
            <a:extLst>
              <a:ext uri="{FF2B5EF4-FFF2-40B4-BE49-F238E27FC236}">
                <a16:creationId xmlns:a16="http://schemas.microsoft.com/office/drawing/2014/main" id="{CEEDC593-D387-4C5D-AD7B-6D5C8607D4BE}"/>
              </a:ext>
            </a:extLst>
          </p:cNvPr>
          <p:cNvPicPr>
            <a:picLocks noChangeAspect="1"/>
          </p:cNvPicPr>
          <p:nvPr/>
        </p:nvPicPr>
        <p:blipFill rotWithShape="1">
          <a:blip r:embed="rId2"/>
          <a:srcRect l="14549"/>
          <a:stretch/>
        </p:blipFill>
        <p:spPr>
          <a:xfrm>
            <a:off x="3563275" y="4595868"/>
            <a:ext cx="7625835" cy="2262132"/>
          </a:xfrm>
          <a:prstGeom prst="rect">
            <a:avLst/>
          </a:prstGeom>
        </p:spPr>
      </p:pic>
    </p:spTree>
    <p:extLst>
      <p:ext uri="{BB962C8B-B14F-4D97-AF65-F5344CB8AC3E}">
        <p14:creationId xmlns:p14="http://schemas.microsoft.com/office/powerpoint/2010/main" val="3355624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微内核</a:t>
            </a:r>
            <a:r>
              <a:rPr lang="en-US" altLang="zh-CN" dirty="0">
                <a:solidFill>
                  <a:schemeClr val="accent2">
                    <a:lumMod val="75000"/>
                  </a:schemeClr>
                </a:solidFill>
              </a:rPr>
              <a:t>OS</a:t>
            </a:r>
            <a:r>
              <a:rPr lang="zh-CN" altLang="en-US" dirty="0">
                <a:solidFill>
                  <a:schemeClr val="accent2">
                    <a:lumMod val="75000"/>
                  </a:schemeClr>
                </a:solidFill>
              </a:rPr>
              <a:t>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微内核操作系统的基本概念</a:t>
            </a:r>
            <a:endParaRPr lang="en-US" altLang="zh-CN" dirty="0"/>
          </a:p>
          <a:p>
            <a:pPr lvl="2" algn="just">
              <a:spcBef>
                <a:spcPts val="0"/>
              </a:spcBef>
              <a:buFont typeface="Wingdings" panose="05000000000000000000" pitchFamily="2" charset="2"/>
              <a:buChar char="l"/>
            </a:pPr>
            <a:r>
              <a:rPr lang="zh-CN" altLang="en-US" dirty="0"/>
              <a:t>基于客户</a:t>
            </a:r>
            <a:r>
              <a:rPr lang="en-US" altLang="zh-CN" dirty="0"/>
              <a:t>/</a:t>
            </a:r>
            <a:r>
              <a:rPr lang="zh-CN" altLang="en-US" dirty="0"/>
              <a:t>服务器模式</a:t>
            </a:r>
            <a:endParaRPr lang="en-US" altLang="zh-CN" dirty="0"/>
          </a:p>
          <a:p>
            <a:pPr marL="914400" lvl="2" indent="0" algn="just">
              <a:spcBef>
                <a:spcPts val="0"/>
              </a:spcBef>
              <a:buNone/>
            </a:pPr>
            <a:r>
              <a:rPr lang="zh-CN" altLang="en-US"/>
              <a:t>由于</a:t>
            </a:r>
            <a:r>
              <a:rPr lang="zh-CN" altLang="en-US" dirty="0"/>
              <a:t>客户</a:t>
            </a:r>
            <a:r>
              <a:rPr lang="en-US" altLang="zh-CN" dirty="0"/>
              <a:t>/</a:t>
            </a:r>
            <a:r>
              <a:rPr lang="zh-CN" altLang="en-US" dirty="0"/>
              <a:t>服务器模式具有非常多的优点，故在单机微内核操作系统中几乎无一例外地都采用客户</a:t>
            </a:r>
            <a:r>
              <a:rPr lang="en-US" altLang="zh-CN" dirty="0"/>
              <a:t>/</a:t>
            </a:r>
            <a:r>
              <a:rPr lang="zh-CN" altLang="en-US" dirty="0"/>
              <a:t>服务器模式，将操作系统中最基本的部分放入内核中，而把操作系统的绝大部分功能都放在微内核外面的一组服务器</a:t>
            </a:r>
            <a:r>
              <a:rPr lang="en-US" altLang="zh-CN" dirty="0"/>
              <a:t>(</a:t>
            </a:r>
            <a:r>
              <a:rPr lang="zh-CN" altLang="en-US" dirty="0"/>
              <a:t>进程</a:t>
            </a:r>
            <a:r>
              <a:rPr lang="en-US" altLang="zh-CN" dirty="0"/>
              <a:t>)</a:t>
            </a:r>
            <a:r>
              <a:rPr lang="zh-CN" altLang="en-US" dirty="0"/>
              <a:t>中实现，如用于提供对进程</a:t>
            </a:r>
            <a:r>
              <a:rPr lang="en-US" altLang="zh-CN" dirty="0"/>
              <a:t>(</a:t>
            </a:r>
            <a:r>
              <a:rPr lang="zh-CN" altLang="en-US" dirty="0"/>
              <a:t>线程</a:t>
            </a:r>
            <a:r>
              <a:rPr lang="en-US" altLang="zh-CN" dirty="0"/>
              <a:t>)</a:t>
            </a:r>
            <a:r>
              <a:rPr lang="zh-CN" altLang="en-US" dirty="0"/>
              <a:t>进行管理的进程</a:t>
            </a:r>
            <a:r>
              <a:rPr lang="en-US" altLang="zh-CN" dirty="0"/>
              <a:t>(</a:t>
            </a:r>
            <a:r>
              <a:rPr lang="zh-CN" altLang="en-US" dirty="0"/>
              <a:t>线程</a:t>
            </a:r>
            <a:r>
              <a:rPr lang="en-US" altLang="zh-CN" dirty="0"/>
              <a:t>)</a:t>
            </a:r>
            <a:r>
              <a:rPr lang="zh-CN" altLang="en-US" dirty="0"/>
              <a:t>服务器、提供虚拟存储器管理功能的虚拟存储器服务器、提供</a:t>
            </a:r>
            <a:r>
              <a:rPr lang="en-US" altLang="zh-CN" dirty="0"/>
              <a:t>I/O</a:t>
            </a:r>
            <a:r>
              <a:rPr lang="zh-CN" altLang="en-US" dirty="0"/>
              <a:t>设备管理的</a:t>
            </a:r>
            <a:r>
              <a:rPr lang="en-US" altLang="zh-CN" dirty="0"/>
              <a:t>I/O</a:t>
            </a:r>
            <a:r>
              <a:rPr lang="zh-CN" altLang="en-US" dirty="0"/>
              <a:t>设备管理服务器等，它们都是被作为进程来实现的，运行在用户态，客户与服务器之间是借助微内核提供的消息传递机制来实现信息交互的。</a:t>
            </a:r>
            <a:endParaRPr lang="en-US" altLang="zh-CN" dirty="0"/>
          </a:p>
          <a:p>
            <a:pPr marL="914400" lvl="2" indent="0" algn="just">
              <a:spcBef>
                <a:spcPts val="0"/>
              </a:spcBef>
              <a:buNone/>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pic>
        <p:nvPicPr>
          <p:cNvPr id="5" name="图片 4">
            <a:extLst>
              <a:ext uri="{FF2B5EF4-FFF2-40B4-BE49-F238E27FC236}">
                <a16:creationId xmlns:a16="http://schemas.microsoft.com/office/drawing/2014/main" id="{A6594D4D-264A-42EB-8C85-C47D77240B14}"/>
              </a:ext>
            </a:extLst>
          </p:cNvPr>
          <p:cNvPicPr>
            <a:picLocks noChangeAspect="1"/>
          </p:cNvPicPr>
          <p:nvPr/>
        </p:nvPicPr>
        <p:blipFill>
          <a:blip r:embed="rId2"/>
          <a:stretch>
            <a:fillRect/>
          </a:stretch>
        </p:blipFill>
        <p:spPr>
          <a:xfrm>
            <a:off x="4355763" y="5130776"/>
            <a:ext cx="6646535" cy="1727224"/>
          </a:xfrm>
          <a:prstGeom prst="rect">
            <a:avLst/>
          </a:prstGeom>
        </p:spPr>
      </p:pic>
      <p:sp>
        <p:nvSpPr>
          <p:cNvPr id="8" name="文本框 7">
            <a:extLst>
              <a:ext uri="{FF2B5EF4-FFF2-40B4-BE49-F238E27FC236}">
                <a16:creationId xmlns:a16="http://schemas.microsoft.com/office/drawing/2014/main" id="{C2C523E0-7345-432C-9AA5-9F80BE182FD6}"/>
              </a:ext>
            </a:extLst>
          </p:cNvPr>
          <p:cNvSpPr txBox="1"/>
          <p:nvPr/>
        </p:nvSpPr>
        <p:spPr>
          <a:xfrm>
            <a:off x="2234453" y="5636641"/>
            <a:ext cx="1995949" cy="646331"/>
          </a:xfrm>
          <a:prstGeom prst="rect">
            <a:avLst/>
          </a:prstGeom>
          <a:noFill/>
        </p:spPr>
        <p:txBody>
          <a:bodyPr wrap="square">
            <a:spAutoFit/>
          </a:bodyPr>
          <a:lstStyle/>
          <a:p>
            <a:r>
              <a:rPr lang="zh-CN" altLang="en-US" b="1" dirty="0">
                <a:solidFill>
                  <a:schemeClr val="accent3">
                    <a:lumMod val="75000"/>
                  </a:schemeClr>
                </a:solidFill>
                <a:latin typeface="微软雅黑" panose="020B0503020204020204" pitchFamily="34" charset="-122"/>
                <a:ea typeface="微软雅黑" panose="020B0503020204020204" pitchFamily="34" charset="-122"/>
              </a:rPr>
              <a:t>在单机环境下的客户服务器模式</a:t>
            </a:r>
          </a:p>
        </p:txBody>
      </p:sp>
    </p:spTree>
    <p:extLst>
      <p:ext uri="{BB962C8B-B14F-4D97-AF65-F5344CB8AC3E}">
        <p14:creationId xmlns:p14="http://schemas.microsoft.com/office/powerpoint/2010/main" val="38702722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微内核</a:t>
            </a:r>
            <a:r>
              <a:rPr lang="en-US" altLang="zh-CN" dirty="0">
                <a:solidFill>
                  <a:schemeClr val="accent2">
                    <a:lumMod val="75000"/>
                  </a:schemeClr>
                </a:solidFill>
              </a:rPr>
              <a:t>OS</a:t>
            </a:r>
            <a:r>
              <a:rPr lang="zh-CN" altLang="en-US" dirty="0">
                <a:solidFill>
                  <a:schemeClr val="accent2">
                    <a:lumMod val="75000"/>
                  </a:schemeClr>
                </a:solidFill>
              </a:rPr>
              <a:t>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微内核操作系统的基本概念</a:t>
            </a:r>
            <a:endParaRPr lang="en-US" altLang="zh-CN" dirty="0"/>
          </a:p>
          <a:p>
            <a:pPr lvl="2" algn="just">
              <a:spcBef>
                <a:spcPts val="0"/>
              </a:spcBef>
              <a:buFont typeface="Wingdings" panose="05000000000000000000" pitchFamily="2" charset="2"/>
              <a:buChar char="l"/>
            </a:pPr>
            <a:r>
              <a:rPr lang="zh-CN" altLang="en-US" dirty="0"/>
              <a:t>应用“机制与策略分离”原理</a:t>
            </a:r>
            <a:endParaRPr lang="en-US" altLang="zh-CN" dirty="0"/>
          </a:p>
          <a:p>
            <a:pPr marL="914400" lvl="2" indent="0" algn="just">
              <a:spcBef>
                <a:spcPts val="0"/>
              </a:spcBef>
              <a:buNone/>
            </a:pPr>
            <a:r>
              <a:rPr lang="zh-CN" altLang="en-US"/>
              <a:t>在</a:t>
            </a:r>
            <a:r>
              <a:rPr lang="zh-CN" altLang="en-US" dirty="0"/>
              <a:t>现在操作系统的结构设计中，经常利用“机制与策略分离”的原理来构造</a:t>
            </a:r>
            <a:r>
              <a:rPr lang="en-US" altLang="zh-CN" dirty="0"/>
              <a:t>OS</a:t>
            </a:r>
            <a:r>
              <a:rPr lang="zh-CN" altLang="en-US" dirty="0"/>
              <a:t>结构。所谓机制，是指实现某一功能的具体执行机构。而策略，则是在机制的基础上借助于某些参数和算法来实现该功能的优化，或达到不同的功能目标。</a:t>
            </a:r>
            <a:endParaRPr lang="en-US" altLang="zh-CN" dirty="0"/>
          </a:p>
          <a:p>
            <a:pPr lvl="2" algn="just">
              <a:spcBef>
                <a:spcPts val="0"/>
              </a:spcBef>
              <a:buFont typeface="Wingdings" panose="05000000000000000000" pitchFamily="2" charset="2"/>
              <a:buChar char="l"/>
            </a:pPr>
            <a:r>
              <a:rPr lang="zh-CN" altLang="en-US" dirty="0"/>
              <a:t>采用面向对象技术</a:t>
            </a:r>
            <a:endParaRPr lang="en-US" altLang="zh-CN" dirty="0"/>
          </a:p>
          <a:p>
            <a:pPr marL="914400" lvl="2" indent="0" algn="just">
              <a:spcBef>
                <a:spcPts val="0"/>
              </a:spcBef>
              <a:buNone/>
            </a:pPr>
            <a:r>
              <a:rPr lang="zh-CN" altLang="en-US"/>
              <a:t>操作系统</a:t>
            </a:r>
            <a:r>
              <a:rPr lang="zh-CN" altLang="en-US" dirty="0"/>
              <a:t>是一个极其复杂的大型软件系统，我们不仅可以通过结构设计来分解操作系统的复杂度，还可以基于面向对象技术中的“抽象”和“隐蔽”原则控制系统的复杂性，再进一步利用“对象”、“封装”和“继承”等概念来确保操作系统的“正确性”、“可靠性”、“易修改性”、“易扩展性”等，并提高操作系统的设计速度。正因为面向对象技术能带来如此多的好处，故面向对象技术被广泛应用于现代操作系统的设计中。</a:t>
            </a:r>
            <a:endParaRPr lang="en-US" altLang="zh-CN" dirty="0"/>
          </a:p>
          <a:p>
            <a:pPr marL="914400" lvl="2" indent="0" algn="just">
              <a:spcBef>
                <a:spcPts val="0"/>
              </a:spcBef>
              <a:buNone/>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Tree>
    <p:extLst>
      <p:ext uri="{BB962C8B-B14F-4D97-AF65-F5344CB8AC3E}">
        <p14:creationId xmlns:p14="http://schemas.microsoft.com/office/powerpoint/2010/main" val="2142409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10515600" cy="5210717"/>
          </a:xfrm>
        </p:spPr>
        <p:txBody>
          <a:bodyPr>
            <a:normAutofit/>
          </a:bodyPr>
          <a:lstStyle/>
          <a:p>
            <a:r>
              <a:rPr lang="zh-CN" altLang="en-US" dirty="0">
                <a:solidFill>
                  <a:schemeClr val="accent2">
                    <a:lumMod val="75000"/>
                  </a:schemeClr>
                </a:solidFill>
              </a:rPr>
              <a:t>微内核</a:t>
            </a:r>
            <a:r>
              <a:rPr lang="en-US" altLang="zh-CN" dirty="0">
                <a:solidFill>
                  <a:schemeClr val="accent2">
                    <a:lumMod val="75000"/>
                  </a:schemeClr>
                </a:solidFill>
              </a:rPr>
              <a:t>OS</a:t>
            </a:r>
            <a:r>
              <a:rPr lang="zh-CN" altLang="en-US" dirty="0">
                <a:solidFill>
                  <a:schemeClr val="accent2">
                    <a:lumMod val="75000"/>
                  </a:schemeClr>
                </a:solidFill>
              </a:rPr>
              <a:t>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微内核的基本功能</a:t>
            </a:r>
            <a:endParaRPr lang="en-US" altLang="zh-CN" dirty="0"/>
          </a:p>
          <a:p>
            <a:pPr marL="914400" lvl="2" indent="0" algn="just">
              <a:spcBef>
                <a:spcPts val="0"/>
              </a:spcBef>
              <a:buNone/>
            </a:pPr>
            <a:r>
              <a:rPr lang="zh-CN" altLang="en-US"/>
              <a:t>微</a:t>
            </a:r>
            <a:r>
              <a:rPr lang="zh-CN" altLang="en-US" dirty="0"/>
              <a:t>内核应具有哪些功能，或者说哪些功能应放在微内核内，哪些应放在微内核外，目前尚无明确的规定。现在一般都采用“机制与策略分离”的原理，将机制部分以及与硬件紧密相关的部分放入微内核中。微内核功能通常具有：</a:t>
            </a:r>
            <a:r>
              <a:rPr lang="en-US" altLang="zh-CN" dirty="0"/>
              <a:t>(1)</a:t>
            </a:r>
            <a:r>
              <a:rPr lang="zh-CN" altLang="en-US" dirty="0"/>
              <a:t>进程</a:t>
            </a:r>
            <a:r>
              <a:rPr lang="en-US" altLang="zh-CN" dirty="0"/>
              <a:t>(</a:t>
            </a:r>
            <a:r>
              <a:rPr lang="zh-CN" altLang="en-US" dirty="0"/>
              <a:t>线程</a:t>
            </a:r>
            <a:r>
              <a:rPr lang="en-US" altLang="zh-CN" dirty="0"/>
              <a:t>)</a:t>
            </a:r>
            <a:r>
              <a:rPr lang="zh-CN" altLang="en-US" dirty="0"/>
              <a:t>管理；</a:t>
            </a:r>
            <a:r>
              <a:rPr lang="en-US" altLang="zh-CN" dirty="0"/>
              <a:t>(2)</a:t>
            </a:r>
            <a:r>
              <a:rPr lang="zh-CN" altLang="en-US" dirty="0"/>
              <a:t>低级存储器管理；</a:t>
            </a:r>
            <a:r>
              <a:rPr lang="en-US" altLang="zh-CN" dirty="0"/>
              <a:t>(3)</a:t>
            </a:r>
            <a:r>
              <a:rPr lang="zh-CN" altLang="en-US" dirty="0"/>
              <a:t>中断和陷入处理。</a:t>
            </a:r>
            <a:endParaRPr lang="en-US" altLang="zh-CN" dirty="0"/>
          </a:p>
          <a:p>
            <a:pPr lvl="1">
              <a:buFont typeface="Wingdings" panose="05000000000000000000" pitchFamily="2" charset="2"/>
              <a:buChar char="ü"/>
            </a:pPr>
            <a:r>
              <a:rPr lang="zh-CN" altLang="en-US" dirty="0"/>
              <a:t>微内核操作系统的优点</a:t>
            </a:r>
            <a:endParaRPr lang="en-US" altLang="zh-CN" dirty="0"/>
          </a:p>
          <a:p>
            <a:pPr marL="914400" lvl="2" indent="0" algn="just">
              <a:buNone/>
            </a:pPr>
            <a:r>
              <a:rPr lang="zh-CN" altLang="en-US"/>
              <a:t>由于</a:t>
            </a:r>
            <a:r>
              <a:rPr lang="zh-CN" altLang="en-US" dirty="0"/>
              <a:t>微内核</a:t>
            </a:r>
            <a:r>
              <a:rPr lang="en-US" altLang="zh-CN" dirty="0"/>
              <a:t>OS</a:t>
            </a:r>
            <a:r>
              <a:rPr lang="zh-CN" altLang="en-US" dirty="0"/>
              <a:t>结构是建立在模块化、层次化结构的基础上的，并采用了客户</a:t>
            </a:r>
            <a:r>
              <a:rPr lang="en-US" altLang="zh-CN" dirty="0"/>
              <a:t>/</a:t>
            </a:r>
            <a:r>
              <a:rPr lang="zh-CN" altLang="en-US" dirty="0"/>
              <a:t>服务器模式和面向对象的程序设计技术，因此，微内核结构的操作系统是集各种技术优点之大成，具有的优点包括：</a:t>
            </a:r>
            <a:r>
              <a:rPr lang="en-US" altLang="zh-CN" dirty="0"/>
              <a:t>(1) </a:t>
            </a:r>
            <a:r>
              <a:rPr lang="zh-CN" altLang="en-US" dirty="0"/>
              <a:t>提高了系统可扩展性；</a:t>
            </a:r>
            <a:r>
              <a:rPr lang="en-US" altLang="zh-CN" dirty="0"/>
              <a:t>(2) </a:t>
            </a:r>
            <a:r>
              <a:rPr lang="zh-CN" altLang="en-US" dirty="0"/>
              <a:t>增强了系统可靠性；</a:t>
            </a:r>
            <a:r>
              <a:rPr lang="en-US" altLang="zh-CN" dirty="0"/>
              <a:t>(3) </a:t>
            </a:r>
            <a:r>
              <a:rPr lang="zh-CN" altLang="en-US" dirty="0"/>
              <a:t>可移植性强；</a:t>
            </a:r>
            <a:r>
              <a:rPr lang="en-US" altLang="zh-CN" dirty="0"/>
              <a:t>(4) </a:t>
            </a:r>
            <a:r>
              <a:rPr lang="zh-CN" altLang="en-US" dirty="0"/>
              <a:t>提供了对分布式系统支持；</a:t>
            </a:r>
            <a:r>
              <a:rPr lang="en-US" altLang="zh-CN" dirty="0"/>
              <a:t>(5) </a:t>
            </a:r>
            <a:r>
              <a:rPr lang="zh-CN" altLang="en-US" dirty="0"/>
              <a:t>融入了面向对象技术。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Tree>
    <p:extLst>
      <p:ext uri="{BB962C8B-B14F-4D97-AF65-F5344CB8AC3E}">
        <p14:creationId xmlns:p14="http://schemas.microsoft.com/office/powerpoint/2010/main" val="26318675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操作系统的结构设计</a:t>
            </a:r>
          </a:p>
        </p:txBody>
      </p:sp>
      <p:sp>
        <p:nvSpPr>
          <p:cNvPr id="3" name="内容占位符 2"/>
          <p:cNvSpPr>
            <a:spLocks noGrp="1"/>
          </p:cNvSpPr>
          <p:nvPr>
            <p:ph idx="1"/>
          </p:nvPr>
        </p:nvSpPr>
        <p:spPr>
          <a:xfrm>
            <a:off x="838200" y="1510757"/>
            <a:ext cx="4756355" cy="5210717"/>
          </a:xfrm>
        </p:spPr>
        <p:txBody>
          <a:bodyPr>
            <a:normAutofit/>
          </a:bodyPr>
          <a:lstStyle/>
          <a:p>
            <a:r>
              <a:rPr lang="zh-CN" altLang="en-US" dirty="0">
                <a:solidFill>
                  <a:schemeClr val="accent2">
                    <a:lumMod val="75000"/>
                  </a:schemeClr>
                </a:solidFill>
              </a:rPr>
              <a:t>微内核</a:t>
            </a:r>
            <a:r>
              <a:rPr lang="en-US" altLang="zh-CN" dirty="0">
                <a:solidFill>
                  <a:schemeClr val="accent2">
                    <a:lumMod val="75000"/>
                  </a:schemeClr>
                </a:solidFill>
              </a:rPr>
              <a:t>OS</a:t>
            </a:r>
            <a:r>
              <a:rPr lang="zh-CN" altLang="en-US" dirty="0">
                <a:solidFill>
                  <a:schemeClr val="accent2">
                    <a:lumMod val="75000"/>
                  </a:schemeClr>
                </a:solidFill>
              </a:rPr>
              <a:t>结构</a:t>
            </a:r>
            <a:endParaRPr lang="en-US" altLang="zh-CN" dirty="0">
              <a:solidFill>
                <a:schemeClr val="accent2">
                  <a:lumMod val="75000"/>
                </a:schemeClr>
              </a:solidFill>
            </a:endParaRPr>
          </a:p>
          <a:p>
            <a:pPr lvl="1">
              <a:buFont typeface="Wingdings" panose="05000000000000000000" pitchFamily="2" charset="2"/>
              <a:buChar char="ü"/>
            </a:pPr>
            <a:r>
              <a:rPr lang="zh-CN" altLang="en-US" dirty="0"/>
              <a:t>微内核操作系统存在的问题</a:t>
            </a:r>
            <a:endParaRPr lang="en-US" altLang="zh-CN" dirty="0"/>
          </a:p>
          <a:p>
            <a:pPr marL="914400" lvl="2" indent="0" algn="just">
              <a:spcBef>
                <a:spcPts val="0"/>
              </a:spcBef>
              <a:buNone/>
            </a:pPr>
            <a:r>
              <a:rPr lang="zh-CN" altLang="en-US"/>
              <a:t>在</a:t>
            </a:r>
            <a:r>
              <a:rPr lang="zh-CN" altLang="en-US" dirty="0"/>
              <a:t>微内核操作系统中，由于采用了非常小的内核，客户</a:t>
            </a:r>
            <a:r>
              <a:rPr lang="en-US" altLang="zh-CN" dirty="0"/>
              <a:t>/</a:t>
            </a:r>
            <a:r>
              <a:rPr lang="zh-CN" altLang="en-US" dirty="0"/>
              <a:t>服务器模式和消息传递机制虽给微内核操作系统带来许多优点，但由此也使微内核</a:t>
            </a:r>
            <a:r>
              <a:rPr lang="en-US" altLang="zh-CN" dirty="0"/>
              <a:t>OS</a:t>
            </a:r>
            <a:r>
              <a:rPr lang="zh-CN" altLang="en-US" dirty="0"/>
              <a:t>存在着潜在缺点，其中最主要的是，较之早期的操作系统，微内核操作系统的运行效率有所降低。实际情况是往往还会引起更多的上下文切换。</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pic>
        <p:nvPicPr>
          <p:cNvPr id="5" name="Picture 4" descr="1-12">
            <a:extLst>
              <a:ext uri="{FF2B5EF4-FFF2-40B4-BE49-F238E27FC236}">
                <a16:creationId xmlns:a16="http://schemas.microsoft.com/office/drawing/2014/main" id="{109610F1-0674-46BF-9737-0C8F13A19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6450" y="1972990"/>
            <a:ext cx="54673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581372"/>
      </p:ext>
    </p:extLst>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TotalTime>
  <Words>5690</Words>
  <Application>Microsoft Office PowerPoint</Application>
  <PresentationFormat>宽屏</PresentationFormat>
  <Paragraphs>379</Paragraphs>
  <Slides>53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53</vt:i4>
      </vt:variant>
    </vt:vector>
  </HeadingPairs>
  <TitlesOfParts>
    <vt:vector size="61" baseType="lpstr">
      <vt:lpstr>MS PGothic</vt:lpstr>
      <vt:lpstr>等线</vt:lpstr>
      <vt:lpstr>方正琥珀简体</vt:lpstr>
      <vt:lpstr>微软雅黑</vt:lpstr>
      <vt:lpstr>Arial</vt:lpstr>
      <vt:lpstr>Times New Roman</vt:lpstr>
      <vt:lpstr>Wingdings</vt:lpstr>
      <vt:lpstr>2_Office 主题​​</vt:lpstr>
      <vt:lpstr>第1章  操作系统导引</vt:lpstr>
      <vt:lpstr>学习操作系统需要了解……</vt:lpstr>
      <vt:lpstr>虚拟化与Docker</vt:lpstr>
      <vt:lpstr>嵌入式操作系统</vt:lpstr>
      <vt:lpstr>功能各异的系统和硬件……</vt:lpstr>
      <vt:lpstr>openEuler是什么？</vt:lpstr>
      <vt:lpstr>openEuler出现的背景</vt:lpstr>
      <vt:lpstr>openEuler社区版本生命周期</vt:lpstr>
      <vt:lpstr>openEuler和主流OS系的关系</vt:lpstr>
      <vt:lpstr>openEuler平台框架</vt:lpstr>
      <vt:lpstr>操作系统的目标和作用</vt:lpstr>
      <vt:lpstr>操作系统的目标和作用</vt:lpstr>
      <vt:lpstr>操作系统的目标和作用</vt:lpstr>
      <vt:lpstr>操作系统的目标和作用</vt:lpstr>
      <vt:lpstr>操作系统的目标和作用</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操作系统的发展过程</vt:lpstr>
      <vt:lpstr>操作系统的基本特性</vt:lpstr>
      <vt:lpstr>操作系统的基本特性</vt:lpstr>
      <vt:lpstr>操作系统的基本特性</vt:lpstr>
      <vt:lpstr>操作系统的基本特性</vt:lpstr>
      <vt:lpstr>操作系统的基本特性</vt:lpstr>
      <vt:lpstr>操作系统的主要功能</vt:lpstr>
      <vt:lpstr>操作系统的主要功能</vt:lpstr>
      <vt:lpstr>操作系统的主要功能</vt:lpstr>
      <vt:lpstr>操作系统的主要功能</vt:lpstr>
      <vt:lpstr>操作系统的主要功能</vt:lpstr>
      <vt:lpstr>操作系统的主要功能</vt:lpstr>
      <vt:lpstr>操作系统的主要功能</vt:lpstr>
      <vt:lpstr>操作系统的主要功能</vt:lpstr>
      <vt:lpstr>操作系统的主要功能</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lpstr>操作系统的结构设计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1327</cp:revision>
  <dcterms:created xsi:type="dcterms:W3CDTF">2021-01-06T05:35:00Z</dcterms:created>
  <dcterms:modified xsi:type="dcterms:W3CDTF">2024-09-23T11:49:53Z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E448926E91324763BF6F6ADC85B785EF</vt:lpwstr>
  </property>
  <property fmtid="{D5CDD505-2E9C-101B-9397-08002B2CF9AE}" pid="3" name="KSOProductBuildVer">
    <vt:lpwstr>2052-11.1.0.10700</vt:lpwstr>
  </property>
</Properties>
</file>