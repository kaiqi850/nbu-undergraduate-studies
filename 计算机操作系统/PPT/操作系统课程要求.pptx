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sldIdLst>
    <p:sldId id="1252" r:id="rId2"/>
    <p:sldId id="1265" r:id="rId3"/>
    <p:sldId id="1269" r:id="rId4"/>
    <p:sldId id="1272" r:id="rId5"/>
    <p:sldId id="1253" r:id="rId6"/>
    <p:sldId id="1270" r:id="rId7"/>
    <p:sldId id="1268" r:id="rId8"/>
    <p:sldId id="1266" r:id="rId9"/>
    <p:sldId id="1264" r:id="rId10"/>
    <p:sldId id="1271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 jr" initials="z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307E"/>
    <a:srgbClr val="FDCB0B"/>
    <a:srgbClr val="FFD700"/>
    <a:srgbClr val="F9BC12"/>
    <a:srgbClr val="FFD801"/>
    <a:srgbClr val="EFB914"/>
    <a:srgbClr val="F5BD15"/>
    <a:srgbClr val="F8BF15"/>
    <a:srgbClr val="FEC60D"/>
    <a:srgbClr val="FFC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61"/>
    <p:restoredTop sz="84431" autoAdjust="0"/>
  </p:normalViewPr>
  <p:slideViewPr>
    <p:cSldViewPr snapToGrid="0" snapToObjects="1">
      <p:cViewPr varScale="1">
        <p:scale>
          <a:sx n="97" d="100"/>
          <a:sy n="97" d="100"/>
        </p:scale>
        <p:origin x="2370" y="96"/>
      </p:cViewPr>
      <p:guideLst/>
    </p:cSldViewPr>
  </p:slideViewPr>
  <p:outlineViewPr>
    <p:cViewPr>
      <p:scale>
        <a:sx n="33" d="100"/>
        <a:sy n="33" d="100"/>
      </p:scale>
      <p:origin x="0" y="-264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5E8472-67E5-DE40-B53F-0C0FEA434AA0}" type="datetimeFigureOut">
              <a:rPr kumimoji="1" lang="zh-CN" altLang="en-US" smtClean="0"/>
              <a:t>2024/9/16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0B8802-914A-7C41-BC77-CC54DEE99EE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  <a:br>
              <a:rPr kumimoji="1" lang="en-US" altLang="zh-CN" dirty="0"/>
            </a:br>
            <a:endParaRPr kumimoji="1"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ln>
            <a:noFill/>
          </a:ln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kumimoji="1" lang="en-US" altLang="zh-CN" dirty="0"/>
          </a:p>
          <a:p>
            <a:r>
              <a:rPr kumimoji="1" lang="zh-CN" altLang="en-US" dirty="0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E6C9AC36-F551-8142-B918-8641B516A611}" type="datetime1">
              <a:rPr kumimoji="1" lang="zh-CN" altLang="en-US" smtClean="0"/>
              <a:pPr/>
              <a:t>2024/9/16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矩形 6"/>
          <p:cNvSpPr/>
          <p:nvPr userDrawn="1"/>
        </p:nvSpPr>
        <p:spPr>
          <a:xfrm>
            <a:off x="-9939" y="-8627"/>
            <a:ext cx="9307502" cy="56781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0" spc="6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操作系统讲义</a:t>
            </a:r>
          </a:p>
        </p:txBody>
      </p:sp>
      <p:sp>
        <p:nvSpPr>
          <p:cNvPr id="9" name="文本框 8"/>
          <p:cNvSpPr txBox="1"/>
          <p:nvPr userDrawn="1"/>
        </p:nvSpPr>
        <p:spPr>
          <a:xfrm>
            <a:off x="9488849" y="123270"/>
            <a:ext cx="25090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2000" spc="600" dirty="0">
                <a:solidFill>
                  <a:srgbClr val="5B307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分享</a:t>
            </a:r>
            <a:r>
              <a:rPr lang="en-US" altLang="zh-CN" sz="2000" spc="600" dirty="0">
                <a:solidFill>
                  <a:srgbClr val="5B307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·</a:t>
            </a:r>
            <a:r>
              <a:rPr lang="zh-CN" altLang="en-US" sz="2000" spc="600" dirty="0">
                <a:solidFill>
                  <a:srgbClr val="5B307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开源</a:t>
            </a:r>
            <a:r>
              <a:rPr lang="en-US" altLang="zh-CN" sz="2000" spc="600" dirty="0">
                <a:solidFill>
                  <a:srgbClr val="5B307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·</a:t>
            </a:r>
            <a:r>
              <a:rPr lang="zh-CN" altLang="en-US" sz="2000" spc="600" dirty="0">
                <a:solidFill>
                  <a:srgbClr val="5B307E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系统</a:t>
            </a:r>
          </a:p>
        </p:txBody>
      </p:sp>
      <p:sp>
        <p:nvSpPr>
          <p:cNvPr id="8" name="文本框 7"/>
          <p:cNvSpPr txBox="1"/>
          <p:nvPr userDrawn="1"/>
        </p:nvSpPr>
        <p:spPr>
          <a:xfrm>
            <a:off x="9831318" y="6365398"/>
            <a:ext cx="2166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Contributor: </a:t>
            </a:r>
            <a:r>
              <a:rPr lang="zh-CN" altLang="en-US" b="0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江先亮</a:t>
            </a:r>
            <a:endParaRPr lang="en-US" altLang="zh-CN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8"/>
            <a:ext cx="10515600" cy="4586694"/>
          </a:xfrm>
        </p:spPr>
        <p:txBody>
          <a:bodyPr/>
          <a:lstStyle>
            <a:lvl1pPr marL="360680" indent="-360680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Ø"/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lnSpc>
                <a:spcPct val="12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>
              <a:lnSpc>
                <a:spcPct val="120000"/>
              </a:lnSpc>
              <a:spcBef>
                <a:spcPts val="600"/>
              </a:spcBef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>
              <a:lnSpc>
                <a:spcPct val="120000"/>
              </a:lnSpc>
              <a:spcBef>
                <a:spcPts val="600"/>
              </a:spcBef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>
              <a:lnSpc>
                <a:spcPct val="120000"/>
              </a:lnSpc>
              <a:spcBef>
                <a:spcPts val="600"/>
              </a:spcBef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D9F44458-A3AD-7248-AB3A-A80099144E2A}" type="datetime1">
              <a:rPr kumimoji="1" lang="zh-CN" altLang="en-US" smtClean="0"/>
              <a:pPr/>
              <a:t>2024/9/16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cxnSp>
        <p:nvCxnSpPr>
          <p:cNvPr id="40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线连接符 63"/>
          <p:cNvCxnSpPr/>
          <p:nvPr userDrawn="1"/>
        </p:nvCxnSpPr>
        <p:spPr>
          <a:xfrm>
            <a:off x="9640085" y="559432"/>
            <a:ext cx="0" cy="625672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1" name="组合 70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72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3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4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5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6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7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8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79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0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1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2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5897" y="497386"/>
            <a:ext cx="2172649" cy="665946"/>
          </a:xfrm>
          <a:prstGeom prst="rect">
            <a:avLst/>
          </a:prstGeom>
        </p:spPr>
      </p:pic>
      <p:sp>
        <p:nvSpPr>
          <p:cNvPr id="7" name="AutoShape 4" descr="华为 openEuler 开源社区如约而至，上千个代码仓库已开放！"/>
          <p:cNvSpPr>
            <a:spLocks noChangeAspect="1" noChangeArrowheads="1"/>
          </p:cNvSpPr>
          <p:nvPr userDrawn="1"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3"/>
          <a:srcRect l="14829" r="13965"/>
          <a:stretch>
            <a:fillRect/>
          </a:stretch>
        </p:blipFill>
        <p:spPr>
          <a:xfrm>
            <a:off x="369018" y="485954"/>
            <a:ext cx="803904" cy="67737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4290EBB2-4D7C-084A-BE30-AC939B671EC1}" type="datetime1">
              <a:rPr kumimoji="1" lang="zh-CN" altLang="en-US" smtClean="0"/>
              <a:pPr/>
              <a:t>2024/9/16</a:t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  <p:sp>
        <p:nvSpPr>
          <p:cNvPr id="76" name="标题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</p:spPr>
        <p:txBody>
          <a:bodyPr>
            <a:normAutofit/>
          </a:bodyPr>
          <a:lstStyle>
            <a:lvl1pPr>
              <a:defRPr sz="400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cxnSp>
        <p:nvCxnSpPr>
          <p:cNvPr id="77" name="直线连接符 39"/>
          <p:cNvCxnSpPr/>
          <p:nvPr userDrawn="1"/>
        </p:nvCxnSpPr>
        <p:spPr>
          <a:xfrm>
            <a:off x="1314788" y="1244212"/>
            <a:ext cx="7295812" cy="0"/>
          </a:xfrm>
          <a:prstGeom prst="line">
            <a:avLst/>
          </a:prstGeom>
          <a:ln w="19050">
            <a:solidFill>
              <a:srgbClr val="5C307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线连接符 63"/>
          <p:cNvCxnSpPr/>
          <p:nvPr userDrawn="1"/>
        </p:nvCxnSpPr>
        <p:spPr>
          <a:xfrm>
            <a:off x="9640085" y="559432"/>
            <a:ext cx="0" cy="625672"/>
          </a:xfrm>
          <a:prstGeom prst="line">
            <a:avLst/>
          </a:prstGeom>
          <a:ln w="12700" cap="rnd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/>
          <p:cNvGrpSpPr/>
          <p:nvPr userDrawn="1"/>
        </p:nvGrpSpPr>
        <p:grpSpPr>
          <a:xfrm>
            <a:off x="715452" y="634525"/>
            <a:ext cx="403039" cy="321898"/>
            <a:chOff x="1368170" y="664579"/>
            <a:chExt cx="550582" cy="439737"/>
          </a:xfrm>
          <a:solidFill>
            <a:schemeClr val="bg1"/>
          </a:solidFill>
        </p:grpSpPr>
        <p:sp>
          <p:nvSpPr>
            <p:cNvPr id="80" name="Freeform 1"/>
            <p:cNvSpPr>
              <a:spLocks noChangeArrowheads="1"/>
            </p:cNvSpPr>
            <p:nvPr/>
          </p:nvSpPr>
          <p:spPr bwMode="auto">
            <a:xfrm>
              <a:off x="1481203" y="771778"/>
              <a:ext cx="437549" cy="332538"/>
            </a:xfrm>
            <a:custGeom>
              <a:avLst/>
              <a:gdLst>
                <a:gd name="T0" fmla="*/ 25 w 2647"/>
                <a:gd name="T1" fmla="*/ 1478 h 2011"/>
                <a:gd name="T2" fmla="*/ 525 w 2647"/>
                <a:gd name="T3" fmla="*/ 1865 h 2011"/>
                <a:gd name="T4" fmla="*/ 736 w 2647"/>
                <a:gd name="T5" fmla="*/ 1972 h 2011"/>
                <a:gd name="T6" fmla="*/ 940 w 2647"/>
                <a:gd name="T7" fmla="*/ 2010 h 2011"/>
                <a:gd name="T8" fmla="*/ 1078 w 2647"/>
                <a:gd name="T9" fmla="*/ 1991 h 2011"/>
                <a:gd name="T10" fmla="*/ 1286 w 2647"/>
                <a:gd name="T11" fmla="*/ 1894 h 2011"/>
                <a:gd name="T12" fmla="*/ 1506 w 2647"/>
                <a:gd name="T13" fmla="*/ 1715 h 2011"/>
                <a:gd name="T14" fmla="*/ 1506 w 2647"/>
                <a:gd name="T15" fmla="*/ 1715 h 2011"/>
                <a:gd name="T16" fmla="*/ 2630 w 2647"/>
                <a:gd name="T17" fmla="*/ 624 h 2011"/>
                <a:gd name="T18" fmla="*/ 2646 w 2647"/>
                <a:gd name="T19" fmla="*/ 586 h 2011"/>
                <a:gd name="T20" fmla="*/ 2630 w 2647"/>
                <a:gd name="T21" fmla="*/ 548 h 2011"/>
                <a:gd name="T22" fmla="*/ 2090 w 2647"/>
                <a:gd name="T23" fmla="*/ 21 h 2011"/>
                <a:gd name="T24" fmla="*/ 2016 w 2647"/>
                <a:gd name="T25" fmla="*/ 22 h 2011"/>
                <a:gd name="T26" fmla="*/ 2017 w 2647"/>
                <a:gd name="T27" fmla="*/ 96 h 2011"/>
                <a:gd name="T28" fmla="*/ 2518 w 2647"/>
                <a:gd name="T29" fmla="*/ 586 h 2011"/>
                <a:gd name="T30" fmla="*/ 1433 w 2647"/>
                <a:gd name="T31" fmla="*/ 1639 h 2011"/>
                <a:gd name="T32" fmla="*/ 1433 w 2647"/>
                <a:gd name="T33" fmla="*/ 1639 h 2011"/>
                <a:gd name="T34" fmla="*/ 1167 w 2647"/>
                <a:gd name="T35" fmla="*/ 1843 h 2011"/>
                <a:gd name="T36" fmla="*/ 1051 w 2647"/>
                <a:gd name="T37" fmla="*/ 1889 h 2011"/>
                <a:gd name="T38" fmla="*/ 940 w 2647"/>
                <a:gd name="T39" fmla="*/ 1904 h 2011"/>
                <a:gd name="T40" fmla="*/ 772 w 2647"/>
                <a:gd name="T41" fmla="*/ 1872 h 2011"/>
                <a:gd name="T42" fmla="*/ 474 w 2647"/>
                <a:gd name="T43" fmla="*/ 1704 h 2011"/>
                <a:gd name="T44" fmla="*/ 93 w 2647"/>
                <a:gd name="T45" fmla="*/ 1398 h 2011"/>
                <a:gd name="T46" fmla="*/ 19 w 2647"/>
                <a:gd name="T47" fmla="*/ 1404 h 2011"/>
                <a:gd name="T48" fmla="*/ 25 w 2647"/>
                <a:gd name="T49" fmla="*/ 1478 h 20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47" h="2011">
                  <a:moveTo>
                    <a:pt x="25" y="1478"/>
                  </a:moveTo>
                  <a:cubicBezTo>
                    <a:pt x="219" y="1643"/>
                    <a:pt x="380" y="1773"/>
                    <a:pt x="525" y="1865"/>
                  </a:cubicBezTo>
                  <a:cubicBezTo>
                    <a:pt x="598" y="1911"/>
                    <a:pt x="668" y="1947"/>
                    <a:pt x="736" y="1972"/>
                  </a:cubicBezTo>
                  <a:cubicBezTo>
                    <a:pt x="805" y="1996"/>
                    <a:pt x="872" y="2010"/>
                    <a:pt x="940" y="2010"/>
                  </a:cubicBezTo>
                  <a:cubicBezTo>
                    <a:pt x="986" y="2010"/>
                    <a:pt x="1032" y="2004"/>
                    <a:pt x="1078" y="1991"/>
                  </a:cubicBezTo>
                  <a:cubicBezTo>
                    <a:pt x="1147" y="1973"/>
                    <a:pt x="1216" y="1940"/>
                    <a:pt x="1286" y="1894"/>
                  </a:cubicBezTo>
                  <a:cubicBezTo>
                    <a:pt x="1357" y="1848"/>
                    <a:pt x="1429" y="1789"/>
                    <a:pt x="1506" y="1715"/>
                  </a:cubicBezTo>
                  <a:lnTo>
                    <a:pt x="1506" y="1715"/>
                  </a:lnTo>
                  <a:lnTo>
                    <a:pt x="2630" y="624"/>
                  </a:lnTo>
                  <a:cubicBezTo>
                    <a:pt x="2640" y="614"/>
                    <a:pt x="2646" y="600"/>
                    <a:pt x="2646" y="586"/>
                  </a:cubicBezTo>
                  <a:cubicBezTo>
                    <a:pt x="2646" y="572"/>
                    <a:pt x="2641" y="558"/>
                    <a:pt x="2630" y="548"/>
                  </a:cubicBezTo>
                  <a:lnTo>
                    <a:pt x="2090" y="21"/>
                  </a:lnTo>
                  <a:cubicBezTo>
                    <a:pt x="2069" y="0"/>
                    <a:pt x="2036" y="1"/>
                    <a:pt x="2016" y="22"/>
                  </a:cubicBezTo>
                  <a:cubicBezTo>
                    <a:pt x="1995" y="42"/>
                    <a:pt x="1996" y="76"/>
                    <a:pt x="2017" y="96"/>
                  </a:cubicBezTo>
                  <a:lnTo>
                    <a:pt x="2518" y="586"/>
                  </a:lnTo>
                  <a:lnTo>
                    <a:pt x="1433" y="1639"/>
                  </a:lnTo>
                  <a:lnTo>
                    <a:pt x="1433" y="1639"/>
                  </a:lnTo>
                  <a:cubicBezTo>
                    <a:pt x="1335" y="1733"/>
                    <a:pt x="1247" y="1800"/>
                    <a:pt x="1167" y="1843"/>
                  </a:cubicBezTo>
                  <a:cubicBezTo>
                    <a:pt x="1127" y="1864"/>
                    <a:pt x="1088" y="1879"/>
                    <a:pt x="1051" y="1889"/>
                  </a:cubicBezTo>
                  <a:cubicBezTo>
                    <a:pt x="1013" y="1899"/>
                    <a:pt x="977" y="1904"/>
                    <a:pt x="940" y="1904"/>
                  </a:cubicBezTo>
                  <a:cubicBezTo>
                    <a:pt x="886" y="1904"/>
                    <a:pt x="831" y="1894"/>
                    <a:pt x="772" y="1872"/>
                  </a:cubicBezTo>
                  <a:cubicBezTo>
                    <a:pt x="683" y="1840"/>
                    <a:pt x="586" y="1784"/>
                    <a:pt x="474" y="1704"/>
                  </a:cubicBezTo>
                  <a:cubicBezTo>
                    <a:pt x="363" y="1624"/>
                    <a:pt x="238" y="1521"/>
                    <a:pt x="93" y="1398"/>
                  </a:cubicBezTo>
                  <a:cubicBezTo>
                    <a:pt x="71" y="1379"/>
                    <a:pt x="38" y="1382"/>
                    <a:pt x="19" y="1404"/>
                  </a:cubicBezTo>
                  <a:cubicBezTo>
                    <a:pt x="0" y="1426"/>
                    <a:pt x="3" y="1459"/>
                    <a:pt x="25" y="147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1" name="Freeform 2"/>
            <p:cNvSpPr>
              <a:spLocks noChangeArrowheads="1"/>
            </p:cNvSpPr>
            <p:nvPr/>
          </p:nvSpPr>
          <p:spPr bwMode="auto">
            <a:xfrm>
              <a:off x="1511832" y="868769"/>
              <a:ext cx="356603" cy="190334"/>
            </a:xfrm>
            <a:custGeom>
              <a:avLst/>
              <a:gdLst>
                <a:gd name="T0" fmla="*/ 15 w 2158"/>
                <a:gd name="T1" fmla="*/ 713 h 1152"/>
                <a:gd name="T2" fmla="*/ 432 w 2158"/>
                <a:gd name="T3" fmla="*/ 1033 h 1152"/>
                <a:gd name="T4" fmla="*/ 605 w 2158"/>
                <a:gd name="T5" fmla="*/ 1120 h 1152"/>
                <a:gd name="T6" fmla="*/ 771 w 2158"/>
                <a:gd name="T7" fmla="*/ 1151 h 1152"/>
                <a:gd name="T8" fmla="*/ 896 w 2158"/>
                <a:gd name="T9" fmla="*/ 1132 h 1152"/>
                <a:gd name="T10" fmla="*/ 1089 w 2158"/>
                <a:gd name="T11" fmla="*/ 1036 h 1152"/>
                <a:gd name="T12" fmla="*/ 1305 w 2158"/>
                <a:gd name="T13" fmla="*/ 856 h 1152"/>
                <a:gd name="T14" fmla="*/ 1305 w 2158"/>
                <a:gd name="T15" fmla="*/ 856 h 1152"/>
                <a:gd name="T16" fmla="*/ 2144 w 2158"/>
                <a:gd name="T17" fmla="*/ 57 h 1152"/>
                <a:gd name="T18" fmla="*/ 2145 w 2158"/>
                <a:gd name="T19" fmla="*/ 13 h 1152"/>
                <a:gd name="T20" fmla="*/ 2100 w 2158"/>
                <a:gd name="T21" fmla="*/ 12 h 1152"/>
                <a:gd name="T22" fmla="*/ 1262 w 2158"/>
                <a:gd name="T23" fmla="*/ 811 h 1152"/>
                <a:gd name="T24" fmla="*/ 1262 w 2158"/>
                <a:gd name="T25" fmla="*/ 811 h 1152"/>
                <a:gd name="T26" fmla="*/ 993 w 2158"/>
                <a:gd name="T27" fmla="*/ 1023 h 1152"/>
                <a:gd name="T28" fmla="*/ 878 w 2158"/>
                <a:gd name="T29" fmla="*/ 1072 h 1152"/>
                <a:gd name="T30" fmla="*/ 771 w 2158"/>
                <a:gd name="T31" fmla="*/ 1088 h 1152"/>
                <a:gd name="T32" fmla="*/ 626 w 2158"/>
                <a:gd name="T33" fmla="*/ 1061 h 1152"/>
                <a:gd name="T34" fmla="*/ 376 w 2158"/>
                <a:gd name="T35" fmla="*/ 920 h 1152"/>
                <a:gd name="T36" fmla="*/ 55 w 2158"/>
                <a:gd name="T37" fmla="*/ 665 h 1152"/>
                <a:gd name="T38" fmla="*/ 11 w 2158"/>
                <a:gd name="T39" fmla="*/ 669 h 1152"/>
                <a:gd name="T40" fmla="*/ 15 w 2158"/>
                <a:gd name="T41" fmla="*/ 713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15" y="713"/>
                  </a:moveTo>
                  <a:cubicBezTo>
                    <a:pt x="179" y="850"/>
                    <a:pt x="312" y="958"/>
                    <a:pt x="432" y="1033"/>
                  </a:cubicBezTo>
                  <a:cubicBezTo>
                    <a:pt x="492" y="1071"/>
                    <a:pt x="549" y="1100"/>
                    <a:pt x="605" y="1120"/>
                  </a:cubicBezTo>
                  <a:cubicBezTo>
                    <a:pt x="661" y="1140"/>
                    <a:pt x="716" y="1151"/>
                    <a:pt x="771" y="1151"/>
                  </a:cubicBezTo>
                  <a:cubicBezTo>
                    <a:pt x="812" y="1151"/>
                    <a:pt x="854" y="1145"/>
                    <a:pt x="896" y="1132"/>
                  </a:cubicBezTo>
                  <a:cubicBezTo>
                    <a:pt x="959" y="1114"/>
                    <a:pt x="1022" y="1082"/>
                    <a:pt x="1089" y="1036"/>
                  </a:cubicBezTo>
                  <a:cubicBezTo>
                    <a:pt x="1156" y="990"/>
                    <a:pt x="1227" y="931"/>
                    <a:pt x="1305" y="856"/>
                  </a:cubicBezTo>
                  <a:lnTo>
                    <a:pt x="1305" y="856"/>
                  </a:lnTo>
                  <a:lnTo>
                    <a:pt x="2144" y="57"/>
                  </a:lnTo>
                  <a:cubicBezTo>
                    <a:pt x="2156" y="45"/>
                    <a:pt x="2157" y="25"/>
                    <a:pt x="2145" y="13"/>
                  </a:cubicBezTo>
                  <a:cubicBezTo>
                    <a:pt x="2133" y="0"/>
                    <a:pt x="2113" y="0"/>
                    <a:pt x="2100" y="12"/>
                  </a:cubicBezTo>
                  <a:lnTo>
                    <a:pt x="1262" y="811"/>
                  </a:lnTo>
                  <a:lnTo>
                    <a:pt x="1262" y="811"/>
                  </a:lnTo>
                  <a:cubicBezTo>
                    <a:pt x="1160" y="908"/>
                    <a:pt x="1072" y="978"/>
                    <a:pt x="993" y="1023"/>
                  </a:cubicBezTo>
                  <a:cubicBezTo>
                    <a:pt x="953" y="1045"/>
                    <a:pt x="915" y="1062"/>
                    <a:pt x="878" y="1072"/>
                  </a:cubicBezTo>
                  <a:cubicBezTo>
                    <a:pt x="842" y="1083"/>
                    <a:pt x="806" y="1088"/>
                    <a:pt x="771" y="1088"/>
                  </a:cubicBezTo>
                  <a:cubicBezTo>
                    <a:pt x="724" y="1088"/>
                    <a:pt x="677" y="1079"/>
                    <a:pt x="626" y="1061"/>
                  </a:cubicBezTo>
                  <a:cubicBezTo>
                    <a:pt x="551" y="1034"/>
                    <a:pt x="469" y="987"/>
                    <a:pt x="376" y="920"/>
                  </a:cubicBezTo>
                  <a:cubicBezTo>
                    <a:pt x="282" y="853"/>
                    <a:pt x="177" y="767"/>
                    <a:pt x="55" y="665"/>
                  </a:cubicBezTo>
                  <a:cubicBezTo>
                    <a:pt x="42" y="654"/>
                    <a:pt x="22" y="656"/>
                    <a:pt x="11" y="669"/>
                  </a:cubicBezTo>
                  <a:cubicBezTo>
                    <a:pt x="0" y="682"/>
                    <a:pt x="1" y="702"/>
                    <a:pt x="15" y="713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2" name="Freeform 3"/>
            <p:cNvSpPr>
              <a:spLocks noChangeArrowheads="1"/>
            </p:cNvSpPr>
            <p:nvPr/>
          </p:nvSpPr>
          <p:spPr bwMode="auto">
            <a:xfrm>
              <a:off x="1540273" y="847620"/>
              <a:ext cx="304826" cy="169186"/>
            </a:xfrm>
            <a:custGeom>
              <a:avLst/>
              <a:gdLst>
                <a:gd name="T0" fmla="*/ 12 w 1845"/>
                <a:gd name="T1" fmla="*/ 672 h 1022"/>
                <a:gd name="T2" fmla="*/ 350 w 1845"/>
                <a:gd name="T3" fmla="*/ 928 h 1022"/>
                <a:gd name="T4" fmla="*/ 488 w 1845"/>
                <a:gd name="T5" fmla="*/ 997 h 1022"/>
                <a:gd name="T6" fmla="*/ 620 w 1845"/>
                <a:gd name="T7" fmla="*/ 1021 h 1022"/>
                <a:gd name="T8" fmla="*/ 734 w 1845"/>
                <a:gd name="T9" fmla="*/ 1003 h 1022"/>
                <a:gd name="T10" fmla="*/ 915 w 1845"/>
                <a:gd name="T11" fmla="*/ 905 h 1022"/>
                <a:gd name="T12" fmla="*/ 1129 w 1845"/>
                <a:gd name="T13" fmla="*/ 720 h 1022"/>
                <a:gd name="T14" fmla="*/ 1129 w 1845"/>
                <a:gd name="T15" fmla="*/ 720 h 1022"/>
                <a:gd name="T16" fmla="*/ 1834 w 1845"/>
                <a:gd name="T17" fmla="*/ 42 h 1022"/>
                <a:gd name="T18" fmla="*/ 1835 w 1845"/>
                <a:gd name="T19" fmla="*/ 10 h 1022"/>
                <a:gd name="T20" fmla="*/ 1802 w 1845"/>
                <a:gd name="T21" fmla="*/ 9 h 1022"/>
                <a:gd name="T22" fmla="*/ 1097 w 1845"/>
                <a:gd name="T23" fmla="*/ 687 h 1022"/>
                <a:gd name="T24" fmla="*/ 1097 w 1845"/>
                <a:gd name="T25" fmla="*/ 687 h 1022"/>
                <a:gd name="T26" fmla="*/ 828 w 1845"/>
                <a:gd name="T27" fmla="*/ 907 h 1022"/>
                <a:gd name="T28" fmla="*/ 720 w 1845"/>
                <a:gd name="T29" fmla="*/ 959 h 1022"/>
                <a:gd name="T30" fmla="*/ 620 w 1845"/>
                <a:gd name="T31" fmla="*/ 975 h 1022"/>
                <a:gd name="T32" fmla="*/ 504 w 1845"/>
                <a:gd name="T33" fmla="*/ 954 h 1022"/>
                <a:gd name="T34" fmla="*/ 302 w 1845"/>
                <a:gd name="T35" fmla="*/ 841 h 1022"/>
                <a:gd name="T36" fmla="*/ 41 w 1845"/>
                <a:gd name="T37" fmla="*/ 636 h 1022"/>
                <a:gd name="T38" fmla="*/ 9 w 1845"/>
                <a:gd name="T39" fmla="*/ 640 h 1022"/>
                <a:gd name="T40" fmla="*/ 12 w 1845"/>
                <a:gd name="T41" fmla="*/ 672 h 10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5" h="1022">
                  <a:moveTo>
                    <a:pt x="12" y="672"/>
                  </a:moveTo>
                  <a:cubicBezTo>
                    <a:pt x="146" y="782"/>
                    <a:pt x="254" y="868"/>
                    <a:pt x="350" y="928"/>
                  </a:cubicBezTo>
                  <a:cubicBezTo>
                    <a:pt x="398" y="958"/>
                    <a:pt x="444" y="981"/>
                    <a:pt x="488" y="997"/>
                  </a:cubicBezTo>
                  <a:cubicBezTo>
                    <a:pt x="533" y="1013"/>
                    <a:pt x="576" y="1021"/>
                    <a:pt x="620" y="1021"/>
                  </a:cubicBezTo>
                  <a:cubicBezTo>
                    <a:pt x="658" y="1021"/>
                    <a:pt x="695" y="1015"/>
                    <a:pt x="734" y="1003"/>
                  </a:cubicBezTo>
                  <a:cubicBezTo>
                    <a:pt x="791" y="984"/>
                    <a:pt x="850" y="952"/>
                    <a:pt x="915" y="905"/>
                  </a:cubicBezTo>
                  <a:cubicBezTo>
                    <a:pt x="980" y="858"/>
                    <a:pt x="1050" y="797"/>
                    <a:pt x="1129" y="720"/>
                  </a:cubicBezTo>
                  <a:lnTo>
                    <a:pt x="1129" y="720"/>
                  </a:lnTo>
                  <a:lnTo>
                    <a:pt x="1834" y="42"/>
                  </a:lnTo>
                  <a:cubicBezTo>
                    <a:pt x="1843" y="34"/>
                    <a:pt x="1844" y="19"/>
                    <a:pt x="1835" y="10"/>
                  </a:cubicBezTo>
                  <a:cubicBezTo>
                    <a:pt x="1826" y="1"/>
                    <a:pt x="1811" y="0"/>
                    <a:pt x="1802" y="9"/>
                  </a:cubicBezTo>
                  <a:lnTo>
                    <a:pt x="1097" y="687"/>
                  </a:lnTo>
                  <a:lnTo>
                    <a:pt x="1097" y="687"/>
                  </a:lnTo>
                  <a:cubicBezTo>
                    <a:pt x="992" y="788"/>
                    <a:pt x="905" y="861"/>
                    <a:pt x="828" y="907"/>
                  </a:cubicBezTo>
                  <a:cubicBezTo>
                    <a:pt x="790" y="931"/>
                    <a:pt x="754" y="948"/>
                    <a:pt x="720" y="959"/>
                  </a:cubicBezTo>
                  <a:cubicBezTo>
                    <a:pt x="685" y="970"/>
                    <a:pt x="653" y="975"/>
                    <a:pt x="620" y="975"/>
                  </a:cubicBezTo>
                  <a:cubicBezTo>
                    <a:pt x="582" y="975"/>
                    <a:pt x="544" y="968"/>
                    <a:pt x="504" y="954"/>
                  </a:cubicBezTo>
                  <a:cubicBezTo>
                    <a:pt x="443" y="932"/>
                    <a:pt x="378" y="894"/>
                    <a:pt x="302" y="841"/>
                  </a:cubicBezTo>
                  <a:cubicBezTo>
                    <a:pt x="227" y="787"/>
                    <a:pt x="141" y="718"/>
                    <a:pt x="41" y="636"/>
                  </a:cubicBezTo>
                  <a:cubicBezTo>
                    <a:pt x="31" y="628"/>
                    <a:pt x="17" y="630"/>
                    <a:pt x="9" y="640"/>
                  </a:cubicBezTo>
                  <a:cubicBezTo>
                    <a:pt x="0" y="649"/>
                    <a:pt x="2" y="664"/>
                    <a:pt x="12" y="67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3" name="Freeform 4"/>
            <p:cNvSpPr>
              <a:spLocks noChangeArrowheads="1"/>
            </p:cNvSpPr>
            <p:nvPr/>
          </p:nvSpPr>
          <p:spPr bwMode="auto">
            <a:xfrm>
              <a:off x="1568713" y="826472"/>
              <a:ext cx="253050" cy="148037"/>
            </a:xfrm>
            <a:custGeom>
              <a:avLst/>
              <a:gdLst>
                <a:gd name="T0" fmla="*/ 8 w 1531"/>
                <a:gd name="T1" fmla="*/ 630 h 895"/>
                <a:gd name="T2" fmla="*/ 269 w 1531"/>
                <a:gd name="T3" fmla="*/ 824 h 895"/>
                <a:gd name="T4" fmla="*/ 374 w 1531"/>
                <a:gd name="T5" fmla="*/ 876 h 895"/>
                <a:gd name="T6" fmla="*/ 473 w 1531"/>
                <a:gd name="T7" fmla="*/ 894 h 895"/>
                <a:gd name="T8" fmla="*/ 573 w 1531"/>
                <a:gd name="T9" fmla="*/ 875 h 895"/>
                <a:gd name="T10" fmla="*/ 739 w 1531"/>
                <a:gd name="T11" fmla="*/ 775 h 895"/>
                <a:gd name="T12" fmla="*/ 953 w 1531"/>
                <a:gd name="T13" fmla="*/ 584 h 895"/>
                <a:gd name="T14" fmla="*/ 953 w 1531"/>
                <a:gd name="T15" fmla="*/ 584 h 895"/>
                <a:gd name="T16" fmla="*/ 1524 w 1531"/>
                <a:gd name="T17" fmla="*/ 27 h 895"/>
                <a:gd name="T18" fmla="*/ 1524 w 1531"/>
                <a:gd name="T19" fmla="*/ 6 h 895"/>
                <a:gd name="T20" fmla="*/ 1503 w 1531"/>
                <a:gd name="T21" fmla="*/ 6 h 895"/>
                <a:gd name="T22" fmla="*/ 932 w 1531"/>
                <a:gd name="T23" fmla="*/ 563 h 895"/>
                <a:gd name="T24" fmla="*/ 932 w 1531"/>
                <a:gd name="T25" fmla="*/ 563 h 895"/>
                <a:gd name="T26" fmla="*/ 663 w 1531"/>
                <a:gd name="T27" fmla="*/ 793 h 895"/>
                <a:gd name="T28" fmla="*/ 562 w 1531"/>
                <a:gd name="T29" fmla="*/ 847 h 895"/>
                <a:gd name="T30" fmla="*/ 473 w 1531"/>
                <a:gd name="T31" fmla="*/ 865 h 895"/>
                <a:gd name="T32" fmla="*/ 384 w 1531"/>
                <a:gd name="T33" fmla="*/ 848 h 895"/>
                <a:gd name="T34" fmla="*/ 229 w 1531"/>
                <a:gd name="T35" fmla="*/ 762 h 895"/>
                <a:gd name="T36" fmla="*/ 26 w 1531"/>
                <a:gd name="T37" fmla="*/ 607 h 895"/>
                <a:gd name="T38" fmla="*/ 5 w 1531"/>
                <a:gd name="T39" fmla="*/ 609 h 895"/>
                <a:gd name="T40" fmla="*/ 8 w 1531"/>
                <a:gd name="T41" fmla="*/ 630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1" h="895">
                  <a:moveTo>
                    <a:pt x="8" y="630"/>
                  </a:moveTo>
                  <a:cubicBezTo>
                    <a:pt x="113" y="714"/>
                    <a:pt x="196" y="779"/>
                    <a:pt x="269" y="824"/>
                  </a:cubicBezTo>
                  <a:cubicBezTo>
                    <a:pt x="306" y="847"/>
                    <a:pt x="340" y="864"/>
                    <a:pt x="374" y="876"/>
                  </a:cubicBezTo>
                  <a:cubicBezTo>
                    <a:pt x="407" y="888"/>
                    <a:pt x="440" y="894"/>
                    <a:pt x="473" y="894"/>
                  </a:cubicBezTo>
                  <a:cubicBezTo>
                    <a:pt x="506" y="894"/>
                    <a:pt x="539" y="888"/>
                    <a:pt x="573" y="875"/>
                  </a:cubicBezTo>
                  <a:cubicBezTo>
                    <a:pt x="624" y="856"/>
                    <a:pt x="678" y="823"/>
                    <a:pt x="739" y="775"/>
                  </a:cubicBezTo>
                  <a:cubicBezTo>
                    <a:pt x="801" y="727"/>
                    <a:pt x="870" y="663"/>
                    <a:pt x="953" y="584"/>
                  </a:cubicBezTo>
                  <a:lnTo>
                    <a:pt x="953" y="584"/>
                  </a:lnTo>
                  <a:lnTo>
                    <a:pt x="1524" y="27"/>
                  </a:lnTo>
                  <a:cubicBezTo>
                    <a:pt x="1529" y="21"/>
                    <a:pt x="1530" y="12"/>
                    <a:pt x="1524" y="6"/>
                  </a:cubicBezTo>
                  <a:cubicBezTo>
                    <a:pt x="1518" y="0"/>
                    <a:pt x="1509" y="0"/>
                    <a:pt x="1503" y="6"/>
                  </a:cubicBezTo>
                  <a:lnTo>
                    <a:pt x="932" y="563"/>
                  </a:lnTo>
                  <a:lnTo>
                    <a:pt x="932" y="563"/>
                  </a:lnTo>
                  <a:cubicBezTo>
                    <a:pt x="823" y="668"/>
                    <a:pt x="737" y="744"/>
                    <a:pt x="663" y="793"/>
                  </a:cubicBezTo>
                  <a:cubicBezTo>
                    <a:pt x="627" y="818"/>
                    <a:pt x="594" y="836"/>
                    <a:pt x="562" y="847"/>
                  </a:cubicBezTo>
                  <a:cubicBezTo>
                    <a:pt x="531" y="859"/>
                    <a:pt x="502" y="865"/>
                    <a:pt x="473" y="865"/>
                  </a:cubicBezTo>
                  <a:cubicBezTo>
                    <a:pt x="444" y="865"/>
                    <a:pt x="415" y="859"/>
                    <a:pt x="384" y="848"/>
                  </a:cubicBezTo>
                  <a:cubicBezTo>
                    <a:pt x="338" y="832"/>
                    <a:pt x="288" y="803"/>
                    <a:pt x="229" y="762"/>
                  </a:cubicBezTo>
                  <a:cubicBezTo>
                    <a:pt x="171" y="722"/>
                    <a:pt x="105" y="669"/>
                    <a:pt x="26" y="607"/>
                  </a:cubicBezTo>
                  <a:cubicBezTo>
                    <a:pt x="20" y="602"/>
                    <a:pt x="10" y="603"/>
                    <a:pt x="5" y="609"/>
                  </a:cubicBezTo>
                  <a:cubicBezTo>
                    <a:pt x="0" y="615"/>
                    <a:pt x="1" y="625"/>
                    <a:pt x="8" y="63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4" name="Freeform 5"/>
            <p:cNvSpPr>
              <a:spLocks noChangeArrowheads="1"/>
            </p:cNvSpPr>
            <p:nvPr/>
          </p:nvSpPr>
          <p:spPr bwMode="auto">
            <a:xfrm>
              <a:off x="1596425" y="805324"/>
              <a:ext cx="201273" cy="127619"/>
            </a:xfrm>
            <a:custGeom>
              <a:avLst/>
              <a:gdLst>
                <a:gd name="T0" fmla="*/ 4 w 1217"/>
                <a:gd name="T1" fmla="*/ 588 h 773"/>
                <a:gd name="T2" fmla="*/ 193 w 1217"/>
                <a:gd name="T3" fmla="*/ 724 h 773"/>
                <a:gd name="T4" fmla="*/ 332 w 1217"/>
                <a:gd name="T5" fmla="*/ 772 h 773"/>
                <a:gd name="T6" fmla="*/ 415 w 1217"/>
                <a:gd name="T7" fmla="*/ 752 h 773"/>
                <a:gd name="T8" fmla="*/ 563 w 1217"/>
                <a:gd name="T9" fmla="*/ 648 h 773"/>
                <a:gd name="T10" fmla="*/ 776 w 1217"/>
                <a:gd name="T11" fmla="*/ 448 h 773"/>
                <a:gd name="T12" fmla="*/ 776 w 1217"/>
                <a:gd name="T13" fmla="*/ 448 h 773"/>
                <a:gd name="T14" fmla="*/ 1213 w 1217"/>
                <a:gd name="T15" fmla="*/ 12 h 773"/>
                <a:gd name="T16" fmla="*/ 1213 w 1217"/>
                <a:gd name="T17" fmla="*/ 2 h 773"/>
                <a:gd name="T18" fmla="*/ 1204 w 1217"/>
                <a:gd name="T19" fmla="*/ 2 h 773"/>
                <a:gd name="T20" fmla="*/ 767 w 1217"/>
                <a:gd name="T21" fmla="*/ 439 h 773"/>
                <a:gd name="T22" fmla="*/ 500 w 1217"/>
                <a:gd name="T23" fmla="*/ 682 h 773"/>
                <a:gd name="T24" fmla="*/ 410 w 1217"/>
                <a:gd name="T25" fmla="*/ 740 h 773"/>
                <a:gd name="T26" fmla="*/ 332 w 1217"/>
                <a:gd name="T27" fmla="*/ 759 h 773"/>
                <a:gd name="T28" fmla="*/ 199 w 1217"/>
                <a:gd name="T29" fmla="*/ 712 h 773"/>
                <a:gd name="T30" fmla="*/ 12 w 1217"/>
                <a:gd name="T31" fmla="*/ 577 h 773"/>
                <a:gd name="T32" fmla="*/ 2 w 1217"/>
                <a:gd name="T33" fmla="*/ 578 h 773"/>
                <a:gd name="T34" fmla="*/ 4 w 1217"/>
                <a:gd name="T35" fmla="*/ 588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4" y="588"/>
                  </a:moveTo>
                  <a:cubicBezTo>
                    <a:pt x="81" y="647"/>
                    <a:pt x="141" y="692"/>
                    <a:pt x="193" y="724"/>
                  </a:cubicBezTo>
                  <a:cubicBezTo>
                    <a:pt x="244" y="755"/>
                    <a:pt x="288" y="772"/>
                    <a:pt x="332" y="772"/>
                  </a:cubicBezTo>
                  <a:cubicBezTo>
                    <a:pt x="359" y="772"/>
                    <a:pt x="386" y="765"/>
                    <a:pt x="415" y="752"/>
                  </a:cubicBezTo>
                  <a:cubicBezTo>
                    <a:pt x="458" y="733"/>
                    <a:pt x="505" y="698"/>
                    <a:pt x="563" y="648"/>
                  </a:cubicBezTo>
                  <a:cubicBezTo>
                    <a:pt x="620" y="597"/>
                    <a:pt x="689" y="531"/>
                    <a:pt x="776" y="448"/>
                  </a:cubicBezTo>
                  <a:lnTo>
                    <a:pt x="776" y="448"/>
                  </a:lnTo>
                  <a:lnTo>
                    <a:pt x="1213" y="12"/>
                  </a:lnTo>
                  <a:cubicBezTo>
                    <a:pt x="1216" y="9"/>
                    <a:pt x="1216" y="5"/>
                    <a:pt x="1213" y="2"/>
                  </a:cubicBezTo>
                  <a:cubicBezTo>
                    <a:pt x="1210" y="0"/>
                    <a:pt x="1206" y="0"/>
                    <a:pt x="1204" y="2"/>
                  </a:cubicBezTo>
                  <a:lnTo>
                    <a:pt x="767" y="439"/>
                  </a:lnTo>
                  <a:cubicBezTo>
                    <a:pt x="651" y="549"/>
                    <a:pt x="568" y="630"/>
                    <a:pt x="500" y="682"/>
                  </a:cubicBezTo>
                  <a:cubicBezTo>
                    <a:pt x="466" y="709"/>
                    <a:pt x="437" y="728"/>
                    <a:pt x="410" y="740"/>
                  </a:cubicBezTo>
                  <a:cubicBezTo>
                    <a:pt x="382" y="753"/>
                    <a:pt x="357" y="759"/>
                    <a:pt x="332" y="759"/>
                  </a:cubicBezTo>
                  <a:cubicBezTo>
                    <a:pt x="291" y="759"/>
                    <a:pt x="250" y="743"/>
                    <a:pt x="199" y="712"/>
                  </a:cubicBezTo>
                  <a:cubicBezTo>
                    <a:pt x="149" y="682"/>
                    <a:pt x="89" y="636"/>
                    <a:pt x="12" y="577"/>
                  </a:cubicBezTo>
                  <a:cubicBezTo>
                    <a:pt x="9" y="575"/>
                    <a:pt x="4" y="575"/>
                    <a:pt x="2" y="578"/>
                  </a:cubicBezTo>
                  <a:cubicBezTo>
                    <a:pt x="0" y="581"/>
                    <a:pt x="1" y="585"/>
                    <a:pt x="4" y="58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5" name="Freeform 6"/>
            <p:cNvSpPr>
              <a:spLocks noChangeArrowheads="1"/>
            </p:cNvSpPr>
            <p:nvPr/>
          </p:nvSpPr>
          <p:spPr bwMode="auto">
            <a:xfrm>
              <a:off x="1368170" y="664579"/>
              <a:ext cx="439737" cy="330350"/>
            </a:xfrm>
            <a:custGeom>
              <a:avLst/>
              <a:gdLst>
                <a:gd name="T0" fmla="*/ 2631 w 2657"/>
                <a:gd name="T1" fmla="*/ 532 h 1998"/>
                <a:gd name="T2" fmla="*/ 2130 w 2657"/>
                <a:gd name="T3" fmla="*/ 145 h 1998"/>
                <a:gd name="T4" fmla="*/ 1920 w 2657"/>
                <a:gd name="T5" fmla="*/ 38 h 1998"/>
                <a:gd name="T6" fmla="*/ 1715 w 2657"/>
                <a:gd name="T7" fmla="*/ 0 h 1998"/>
                <a:gd name="T8" fmla="*/ 1578 w 2657"/>
                <a:gd name="T9" fmla="*/ 19 h 1998"/>
                <a:gd name="T10" fmla="*/ 1370 w 2657"/>
                <a:gd name="T11" fmla="*/ 116 h 1998"/>
                <a:gd name="T12" fmla="*/ 1150 w 2657"/>
                <a:gd name="T13" fmla="*/ 295 h 1998"/>
                <a:gd name="T14" fmla="*/ 1150 w 2657"/>
                <a:gd name="T15" fmla="*/ 295 h 1998"/>
                <a:gd name="T16" fmla="*/ 16 w 2657"/>
                <a:gd name="T17" fmla="*/ 1368 h 1998"/>
                <a:gd name="T18" fmla="*/ 0 w 2657"/>
                <a:gd name="T19" fmla="*/ 1406 h 1998"/>
                <a:gd name="T20" fmla="*/ 16 w 2657"/>
                <a:gd name="T21" fmla="*/ 1444 h 1998"/>
                <a:gd name="T22" fmla="*/ 566 w 2657"/>
                <a:gd name="T23" fmla="*/ 1977 h 1998"/>
                <a:gd name="T24" fmla="*/ 640 w 2657"/>
                <a:gd name="T25" fmla="*/ 1976 h 1998"/>
                <a:gd name="T26" fmla="*/ 639 w 2657"/>
                <a:gd name="T27" fmla="*/ 1901 h 1998"/>
                <a:gd name="T28" fmla="*/ 129 w 2657"/>
                <a:gd name="T29" fmla="*/ 1406 h 1998"/>
                <a:gd name="T30" fmla="*/ 1223 w 2657"/>
                <a:gd name="T31" fmla="*/ 371 h 1998"/>
                <a:gd name="T32" fmla="*/ 1223 w 2657"/>
                <a:gd name="T33" fmla="*/ 371 h 1998"/>
                <a:gd name="T34" fmla="*/ 1489 w 2657"/>
                <a:gd name="T35" fmla="*/ 167 h 1998"/>
                <a:gd name="T36" fmla="*/ 1605 w 2657"/>
                <a:gd name="T37" fmla="*/ 121 h 1998"/>
                <a:gd name="T38" fmla="*/ 1715 w 2657"/>
                <a:gd name="T39" fmla="*/ 106 h 1998"/>
                <a:gd name="T40" fmla="*/ 1884 w 2657"/>
                <a:gd name="T41" fmla="*/ 138 h 1998"/>
                <a:gd name="T42" fmla="*/ 2181 w 2657"/>
                <a:gd name="T43" fmla="*/ 306 h 1998"/>
                <a:gd name="T44" fmla="*/ 2562 w 2657"/>
                <a:gd name="T45" fmla="*/ 612 h 1998"/>
                <a:gd name="T46" fmla="*/ 2637 w 2657"/>
                <a:gd name="T47" fmla="*/ 606 h 1998"/>
                <a:gd name="T48" fmla="*/ 2631 w 2657"/>
                <a:gd name="T49" fmla="*/ 532 h 19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657" h="1998">
                  <a:moveTo>
                    <a:pt x="2631" y="532"/>
                  </a:moveTo>
                  <a:cubicBezTo>
                    <a:pt x="2437" y="367"/>
                    <a:pt x="2276" y="237"/>
                    <a:pt x="2130" y="145"/>
                  </a:cubicBezTo>
                  <a:cubicBezTo>
                    <a:pt x="2058" y="99"/>
                    <a:pt x="1988" y="63"/>
                    <a:pt x="1920" y="38"/>
                  </a:cubicBezTo>
                  <a:cubicBezTo>
                    <a:pt x="1851" y="14"/>
                    <a:pt x="1783" y="0"/>
                    <a:pt x="1715" y="0"/>
                  </a:cubicBezTo>
                  <a:cubicBezTo>
                    <a:pt x="1669" y="0"/>
                    <a:pt x="1623" y="6"/>
                    <a:pt x="1578" y="19"/>
                  </a:cubicBezTo>
                  <a:cubicBezTo>
                    <a:pt x="1509" y="37"/>
                    <a:pt x="1440" y="70"/>
                    <a:pt x="1370" y="116"/>
                  </a:cubicBezTo>
                  <a:cubicBezTo>
                    <a:pt x="1299" y="162"/>
                    <a:pt x="1227" y="221"/>
                    <a:pt x="1150" y="295"/>
                  </a:cubicBezTo>
                  <a:lnTo>
                    <a:pt x="1150" y="295"/>
                  </a:lnTo>
                  <a:lnTo>
                    <a:pt x="16" y="1368"/>
                  </a:lnTo>
                  <a:cubicBezTo>
                    <a:pt x="6" y="1378"/>
                    <a:pt x="0" y="1391"/>
                    <a:pt x="0" y="1406"/>
                  </a:cubicBezTo>
                  <a:cubicBezTo>
                    <a:pt x="0" y="1420"/>
                    <a:pt x="6" y="1434"/>
                    <a:pt x="16" y="1444"/>
                  </a:cubicBezTo>
                  <a:lnTo>
                    <a:pt x="566" y="1977"/>
                  </a:lnTo>
                  <a:cubicBezTo>
                    <a:pt x="587" y="1997"/>
                    <a:pt x="619" y="1997"/>
                    <a:pt x="640" y="1976"/>
                  </a:cubicBezTo>
                  <a:cubicBezTo>
                    <a:pt x="660" y="1955"/>
                    <a:pt x="660" y="1921"/>
                    <a:pt x="639" y="1901"/>
                  </a:cubicBezTo>
                  <a:lnTo>
                    <a:pt x="129" y="1406"/>
                  </a:lnTo>
                  <a:lnTo>
                    <a:pt x="1223" y="371"/>
                  </a:lnTo>
                  <a:lnTo>
                    <a:pt x="1223" y="371"/>
                  </a:lnTo>
                  <a:cubicBezTo>
                    <a:pt x="1321" y="277"/>
                    <a:pt x="1409" y="210"/>
                    <a:pt x="1489" y="167"/>
                  </a:cubicBezTo>
                  <a:cubicBezTo>
                    <a:pt x="1529" y="146"/>
                    <a:pt x="1568" y="131"/>
                    <a:pt x="1605" y="121"/>
                  </a:cubicBezTo>
                  <a:cubicBezTo>
                    <a:pt x="1642" y="111"/>
                    <a:pt x="1679" y="106"/>
                    <a:pt x="1715" y="106"/>
                  </a:cubicBezTo>
                  <a:cubicBezTo>
                    <a:pt x="1770" y="106"/>
                    <a:pt x="1825" y="116"/>
                    <a:pt x="1884" y="138"/>
                  </a:cubicBezTo>
                  <a:cubicBezTo>
                    <a:pt x="1972" y="170"/>
                    <a:pt x="2070" y="226"/>
                    <a:pt x="2181" y="306"/>
                  </a:cubicBezTo>
                  <a:cubicBezTo>
                    <a:pt x="2293" y="387"/>
                    <a:pt x="2418" y="490"/>
                    <a:pt x="2562" y="612"/>
                  </a:cubicBezTo>
                  <a:cubicBezTo>
                    <a:pt x="2585" y="631"/>
                    <a:pt x="2618" y="628"/>
                    <a:pt x="2637" y="606"/>
                  </a:cubicBezTo>
                  <a:cubicBezTo>
                    <a:pt x="2656" y="584"/>
                    <a:pt x="2653" y="551"/>
                    <a:pt x="2631" y="532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6" name="Freeform 7"/>
            <p:cNvSpPr>
              <a:spLocks noChangeArrowheads="1"/>
            </p:cNvSpPr>
            <p:nvPr/>
          </p:nvSpPr>
          <p:spPr bwMode="auto">
            <a:xfrm>
              <a:off x="1419946" y="709792"/>
              <a:ext cx="356603" cy="190334"/>
            </a:xfrm>
            <a:custGeom>
              <a:avLst/>
              <a:gdLst>
                <a:gd name="T0" fmla="*/ 2142 w 2158"/>
                <a:gd name="T1" fmla="*/ 438 h 1152"/>
                <a:gd name="T2" fmla="*/ 1725 w 2158"/>
                <a:gd name="T3" fmla="*/ 118 h 1152"/>
                <a:gd name="T4" fmla="*/ 1552 w 2158"/>
                <a:gd name="T5" fmla="*/ 31 h 1152"/>
                <a:gd name="T6" fmla="*/ 1386 w 2158"/>
                <a:gd name="T7" fmla="*/ 0 h 1152"/>
                <a:gd name="T8" fmla="*/ 1261 w 2158"/>
                <a:gd name="T9" fmla="*/ 19 h 1152"/>
                <a:gd name="T10" fmla="*/ 1068 w 2158"/>
                <a:gd name="T11" fmla="*/ 115 h 1152"/>
                <a:gd name="T12" fmla="*/ 852 w 2158"/>
                <a:gd name="T13" fmla="*/ 295 h 1152"/>
                <a:gd name="T14" fmla="*/ 852 w 2158"/>
                <a:gd name="T15" fmla="*/ 295 h 1152"/>
                <a:gd name="T16" fmla="*/ 13 w 2158"/>
                <a:gd name="T17" fmla="*/ 1094 h 1152"/>
                <a:gd name="T18" fmla="*/ 12 w 2158"/>
                <a:gd name="T19" fmla="*/ 1138 h 1152"/>
                <a:gd name="T20" fmla="*/ 56 w 2158"/>
                <a:gd name="T21" fmla="*/ 1139 h 1152"/>
                <a:gd name="T22" fmla="*/ 895 w 2158"/>
                <a:gd name="T23" fmla="*/ 340 h 1152"/>
                <a:gd name="T24" fmla="*/ 895 w 2158"/>
                <a:gd name="T25" fmla="*/ 340 h 1152"/>
                <a:gd name="T26" fmla="*/ 1164 w 2158"/>
                <a:gd name="T27" fmla="*/ 128 h 1152"/>
                <a:gd name="T28" fmla="*/ 1279 w 2158"/>
                <a:gd name="T29" fmla="*/ 79 h 1152"/>
                <a:gd name="T30" fmla="*/ 1386 w 2158"/>
                <a:gd name="T31" fmla="*/ 63 h 1152"/>
                <a:gd name="T32" fmla="*/ 1531 w 2158"/>
                <a:gd name="T33" fmla="*/ 90 h 1152"/>
                <a:gd name="T34" fmla="*/ 1781 w 2158"/>
                <a:gd name="T35" fmla="*/ 231 h 1152"/>
                <a:gd name="T36" fmla="*/ 2102 w 2158"/>
                <a:gd name="T37" fmla="*/ 486 h 1152"/>
                <a:gd name="T38" fmla="*/ 2146 w 2158"/>
                <a:gd name="T39" fmla="*/ 482 h 1152"/>
                <a:gd name="T40" fmla="*/ 2142 w 2158"/>
                <a:gd name="T41" fmla="*/ 438 h 1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58" h="1152">
                  <a:moveTo>
                    <a:pt x="2142" y="438"/>
                  </a:moveTo>
                  <a:cubicBezTo>
                    <a:pt x="1978" y="301"/>
                    <a:pt x="1845" y="193"/>
                    <a:pt x="1725" y="118"/>
                  </a:cubicBezTo>
                  <a:cubicBezTo>
                    <a:pt x="1664" y="80"/>
                    <a:pt x="1608" y="51"/>
                    <a:pt x="1552" y="31"/>
                  </a:cubicBezTo>
                  <a:cubicBezTo>
                    <a:pt x="1496" y="11"/>
                    <a:pt x="1441" y="0"/>
                    <a:pt x="1386" y="0"/>
                  </a:cubicBezTo>
                  <a:cubicBezTo>
                    <a:pt x="1344" y="0"/>
                    <a:pt x="1303" y="6"/>
                    <a:pt x="1261" y="19"/>
                  </a:cubicBezTo>
                  <a:cubicBezTo>
                    <a:pt x="1198" y="37"/>
                    <a:pt x="1135" y="69"/>
                    <a:pt x="1068" y="115"/>
                  </a:cubicBezTo>
                  <a:cubicBezTo>
                    <a:pt x="1000" y="161"/>
                    <a:pt x="930" y="220"/>
                    <a:pt x="852" y="295"/>
                  </a:cubicBezTo>
                  <a:lnTo>
                    <a:pt x="852" y="295"/>
                  </a:lnTo>
                  <a:lnTo>
                    <a:pt x="13" y="1094"/>
                  </a:lnTo>
                  <a:cubicBezTo>
                    <a:pt x="1" y="1106"/>
                    <a:pt x="0" y="1126"/>
                    <a:pt x="12" y="1138"/>
                  </a:cubicBezTo>
                  <a:cubicBezTo>
                    <a:pt x="24" y="1151"/>
                    <a:pt x="44" y="1151"/>
                    <a:pt x="56" y="1139"/>
                  </a:cubicBezTo>
                  <a:lnTo>
                    <a:pt x="895" y="340"/>
                  </a:lnTo>
                  <a:lnTo>
                    <a:pt x="895" y="340"/>
                  </a:lnTo>
                  <a:cubicBezTo>
                    <a:pt x="997" y="243"/>
                    <a:pt x="1085" y="173"/>
                    <a:pt x="1164" y="128"/>
                  </a:cubicBezTo>
                  <a:cubicBezTo>
                    <a:pt x="1204" y="106"/>
                    <a:pt x="1242" y="89"/>
                    <a:pt x="1279" y="79"/>
                  </a:cubicBezTo>
                  <a:cubicBezTo>
                    <a:pt x="1315" y="68"/>
                    <a:pt x="1351" y="63"/>
                    <a:pt x="1386" y="63"/>
                  </a:cubicBezTo>
                  <a:cubicBezTo>
                    <a:pt x="1433" y="63"/>
                    <a:pt x="1480" y="72"/>
                    <a:pt x="1531" y="90"/>
                  </a:cubicBezTo>
                  <a:cubicBezTo>
                    <a:pt x="1606" y="117"/>
                    <a:pt x="1688" y="164"/>
                    <a:pt x="1781" y="231"/>
                  </a:cubicBezTo>
                  <a:cubicBezTo>
                    <a:pt x="1874" y="298"/>
                    <a:pt x="1979" y="384"/>
                    <a:pt x="2102" y="486"/>
                  </a:cubicBezTo>
                  <a:cubicBezTo>
                    <a:pt x="2115" y="497"/>
                    <a:pt x="2135" y="495"/>
                    <a:pt x="2146" y="482"/>
                  </a:cubicBezTo>
                  <a:cubicBezTo>
                    <a:pt x="2157" y="469"/>
                    <a:pt x="2155" y="449"/>
                    <a:pt x="2142" y="438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7" name="Freeform 8"/>
            <p:cNvSpPr>
              <a:spLocks noChangeArrowheads="1"/>
            </p:cNvSpPr>
            <p:nvPr/>
          </p:nvSpPr>
          <p:spPr bwMode="auto">
            <a:xfrm>
              <a:off x="1444012" y="752818"/>
              <a:ext cx="304826" cy="169186"/>
            </a:xfrm>
            <a:custGeom>
              <a:avLst/>
              <a:gdLst>
                <a:gd name="T0" fmla="*/ 1832 w 1844"/>
                <a:gd name="T1" fmla="*/ 349 h 1021"/>
                <a:gd name="T2" fmla="*/ 1494 w 1844"/>
                <a:gd name="T3" fmla="*/ 93 h 1021"/>
                <a:gd name="T4" fmla="*/ 1356 w 1844"/>
                <a:gd name="T5" fmla="*/ 24 h 1021"/>
                <a:gd name="T6" fmla="*/ 1224 w 1844"/>
                <a:gd name="T7" fmla="*/ 0 h 1021"/>
                <a:gd name="T8" fmla="*/ 1110 w 1844"/>
                <a:gd name="T9" fmla="*/ 18 h 1021"/>
                <a:gd name="T10" fmla="*/ 929 w 1844"/>
                <a:gd name="T11" fmla="*/ 116 h 1021"/>
                <a:gd name="T12" fmla="*/ 715 w 1844"/>
                <a:gd name="T13" fmla="*/ 301 h 1021"/>
                <a:gd name="T14" fmla="*/ 714 w 1844"/>
                <a:gd name="T15" fmla="*/ 301 h 1021"/>
                <a:gd name="T16" fmla="*/ 10 w 1844"/>
                <a:gd name="T17" fmla="*/ 978 h 1021"/>
                <a:gd name="T18" fmla="*/ 9 w 1844"/>
                <a:gd name="T19" fmla="*/ 1011 h 1021"/>
                <a:gd name="T20" fmla="*/ 42 w 1844"/>
                <a:gd name="T21" fmla="*/ 1012 h 1021"/>
                <a:gd name="T22" fmla="*/ 746 w 1844"/>
                <a:gd name="T23" fmla="*/ 334 h 1021"/>
                <a:gd name="T24" fmla="*/ 746 w 1844"/>
                <a:gd name="T25" fmla="*/ 334 h 1021"/>
                <a:gd name="T26" fmla="*/ 1016 w 1844"/>
                <a:gd name="T27" fmla="*/ 114 h 1021"/>
                <a:gd name="T28" fmla="*/ 1124 w 1844"/>
                <a:gd name="T29" fmla="*/ 62 h 1021"/>
                <a:gd name="T30" fmla="*/ 1224 w 1844"/>
                <a:gd name="T31" fmla="*/ 46 h 1021"/>
                <a:gd name="T32" fmla="*/ 1340 w 1844"/>
                <a:gd name="T33" fmla="*/ 67 h 1021"/>
                <a:gd name="T34" fmla="*/ 1542 w 1844"/>
                <a:gd name="T35" fmla="*/ 180 h 1021"/>
                <a:gd name="T36" fmla="*/ 1803 w 1844"/>
                <a:gd name="T37" fmla="*/ 385 h 1021"/>
                <a:gd name="T38" fmla="*/ 1835 w 1844"/>
                <a:gd name="T39" fmla="*/ 381 h 1021"/>
                <a:gd name="T40" fmla="*/ 1832 w 1844"/>
                <a:gd name="T41" fmla="*/ 349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844" h="1021">
                  <a:moveTo>
                    <a:pt x="1832" y="349"/>
                  </a:moveTo>
                  <a:cubicBezTo>
                    <a:pt x="1698" y="239"/>
                    <a:pt x="1590" y="153"/>
                    <a:pt x="1494" y="93"/>
                  </a:cubicBezTo>
                  <a:cubicBezTo>
                    <a:pt x="1446" y="63"/>
                    <a:pt x="1400" y="40"/>
                    <a:pt x="1356" y="24"/>
                  </a:cubicBezTo>
                  <a:cubicBezTo>
                    <a:pt x="1311" y="8"/>
                    <a:pt x="1268" y="0"/>
                    <a:pt x="1224" y="0"/>
                  </a:cubicBezTo>
                  <a:cubicBezTo>
                    <a:pt x="1186" y="0"/>
                    <a:pt x="1148" y="6"/>
                    <a:pt x="1110" y="18"/>
                  </a:cubicBezTo>
                  <a:cubicBezTo>
                    <a:pt x="1052" y="37"/>
                    <a:pt x="993" y="69"/>
                    <a:pt x="929" y="116"/>
                  </a:cubicBezTo>
                  <a:cubicBezTo>
                    <a:pt x="864" y="163"/>
                    <a:pt x="794" y="224"/>
                    <a:pt x="715" y="301"/>
                  </a:cubicBezTo>
                  <a:lnTo>
                    <a:pt x="714" y="301"/>
                  </a:lnTo>
                  <a:lnTo>
                    <a:pt x="10" y="978"/>
                  </a:lnTo>
                  <a:cubicBezTo>
                    <a:pt x="1" y="987"/>
                    <a:pt x="0" y="1002"/>
                    <a:pt x="9" y="1011"/>
                  </a:cubicBezTo>
                  <a:cubicBezTo>
                    <a:pt x="18" y="1020"/>
                    <a:pt x="33" y="1020"/>
                    <a:pt x="42" y="1012"/>
                  </a:cubicBezTo>
                  <a:lnTo>
                    <a:pt x="746" y="334"/>
                  </a:lnTo>
                  <a:lnTo>
                    <a:pt x="746" y="334"/>
                  </a:lnTo>
                  <a:cubicBezTo>
                    <a:pt x="851" y="233"/>
                    <a:pt x="939" y="160"/>
                    <a:pt x="1016" y="114"/>
                  </a:cubicBezTo>
                  <a:cubicBezTo>
                    <a:pt x="1054" y="90"/>
                    <a:pt x="1090" y="73"/>
                    <a:pt x="1124" y="62"/>
                  </a:cubicBezTo>
                  <a:cubicBezTo>
                    <a:pt x="1159" y="51"/>
                    <a:pt x="1191" y="46"/>
                    <a:pt x="1224" y="46"/>
                  </a:cubicBezTo>
                  <a:cubicBezTo>
                    <a:pt x="1262" y="46"/>
                    <a:pt x="1300" y="53"/>
                    <a:pt x="1340" y="67"/>
                  </a:cubicBezTo>
                  <a:cubicBezTo>
                    <a:pt x="1401" y="89"/>
                    <a:pt x="1466" y="127"/>
                    <a:pt x="1542" y="180"/>
                  </a:cubicBezTo>
                  <a:cubicBezTo>
                    <a:pt x="1617" y="234"/>
                    <a:pt x="1702" y="303"/>
                    <a:pt x="1803" y="385"/>
                  </a:cubicBezTo>
                  <a:cubicBezTo>
                    <a:pt x="1813" y="393"/>
                    <a:pt x="1827" y="391"/>
                    <a:pt x="1835" y="381"/>
                  </a:cubicBezTo>
                  <a:cubicBezTo>
                    <a:pt x="1843" y="372"/>
                    <a:pt x="1842" y="357"/>
                    <a:pt x="1832" y="34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8" name="Freeform 9"/>
            <p:cNvSpPr>
              <a:spLocks noChangeArrowheads="1"/>
            </p:cNvSpPr>
            <p:nvPr/>
          </p:nvSpPr>
          <p:spPr bwMode="auto">
            <a:xfrm>
              <a:off x="1467348" y="795114"/>
              <a:ext cx="253049" cy="148038"/>
            </a:xfrm>
            <a:custGeom>
              <a:avLst/>
              <a:gdLst>
                <a:gd name="T0" fmla="*/ 1522 w 1530"/>
                <a:gd name="T1" fmla="*/ 264 h 895"/>
                <a:gd name="T2" fmla="*/ 1260 w 1530"/>
                <a:gd name="T3" fmla="*/ 70 h 895"/>
                <a:gd name="T4" fmla="*/ 1156 w 1530"/>
                <a:gd name="T5" fmla="*/ 18 h 895"/>
                <a:gd name="T6" fmla="*/ 1057 w 1530"/>
                <a:gd name="T7" fmla="*/ 0 h 895"/>
                <a:gd name="T8" fmla="*/ 957 w 1530"/>
                <a:gd name="T9" fmla="*/ 19 h 895"/>
                <a:gd name="T10" fmla="*/ 791 w 1530"/>
                <a:gd name="T11" fmla="*/ 119 h 895"/>
                <a:gd name="T12" fmla="*/ 577 w 1530"/>
                <a:gd name="T13" fmla="*/ 310 h 895"/>
                <a:gd name="T14" fmla="*/ 577 w 1530"/>
                <a:gd name="T15" fmla="*/ 310 h 895"/>
                <a:gd name="T16" fmla="*/ 6 w 1530"/>
                <a:gd name="T17" fmla="*/ 867 h 895"/>
                <a:gd name="T18" fmla="*/ 6 w 1530"/>
                <a:gd name="T19" fmla="*/ 888 h 895"/>
                <a:gd name="T20" fmla="*/ 27 w 1530"/>
                <a:gd name="T21" fmla="*/ 888 h 895"/>
                <a:gd name="T22" fmla="*/ 598 w 1530"/>
                <a:gd name="T23" fmla="*/ 331 h 895"/>
                <a:gd name="T24" fmla="*/ 598 w 1530"/>
                <a:gd name="T25" fmla="*/ 331 h 895"/>
                <a:gd name="T26" fmla="*/ 866 w 1530"/>
                <a:gd name="T27" fmla="*/ 101 h 895"/>
                <a:gd name="T28" fmla="*/ 968 w 1530"/>
                <a:gd name="T29" fmla="*/ 47 h 895"/>
                <a:gd name="T30" fmla="*/ 1057 w 1530"/>
                <a:gd name="T31" fmla="*/ 29 h 895"/>
                <a:gd name="T32" fmla="*/ 1146 w 1530"/>
                <a:gd name="T33" fmla="*/ 46 h 895"/>
                <a:gd name="T34" fmla="*/ 1300 w 1530"/>
                <a:gd name="T35" fmla="*/ 132 h 895"/>
                <a:gd name="T36" fmla="*/ 1504 w 1530"/>
                <a:gd name="T37" fmla="*/ 287 h 895"/>
                <a:gd name="T38" fmla="*/ 1524 w 1530"/>
                <a:gd name="T39" fmla="*/ 285 h 895"/>
                <a:gd name="T40" fmla="*/ 1522 w 1530"/>
                <a:gd name="T41" fmla="*/ 264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530" h="895">
                  <a:moveTo>
                    <a:pt x="1522" y="264"/>
                  </a:moveTo>
                  <a:cubicBezTo>
                    <a:pt x="1417" y="180"/>
                    <a:pt x="1334" y="115"/>
                    <a:pt x="1260" y="70"/>
                  </a:cubicBezTo>
                  <a:cubicBezTo>
                    <a:pt x="1224" y="47"/>
                    <a:pt x="1189" y="30"/>
                    <a:pt x="1156" y="18"/>
                  </a:cubicBezTo>
                  <a:cubicBezTo>
                    <a:pt x="1123" y="6"/>
                    <a:pt x="1090" y="0"/>
                    <a:pt x="1057" y="0"/>
                  </a:cubicBezTo>
                  <a:cubicBezTo>
                    <a:pt x="1024" y="0"/>
                    <a:pt x="991" y="6"/>
                    <a:pt x="957" y="19"/>
                  </a:cubicBezTo>
                  <a:cubicBezTo>
                    <a:pt x="906" y="38"/>
                    <a:pt x="852" y="71"/>
                    <a:pt x="791" y="119"/>
                  </a:cubicBezTo>
                  <a:cubicBezTo>
                    <a:pt x="729" y="167"/>
                    <a:pt x="660" y="231"/>
                    <a:pt x="577" y="310"/>
                  </a:cubicBezTo>
                  <a:lnTo>
                    <a:pt x="577" y="310"/>
                  </a:lnTo>
                  <a:lnTo>
                    <a:pt x="6" y="867"/>
                  </a:lnTo>
                  <a:cubicBezTo>
                    <a:pt x="0" y="873"/>
                    <a:pt x="0" y="882"/>
                    <a:pt x="6" y="888"/>
                  </a:cubicBezTo>
                  <a:cubicBezTo>
                    <a:pt x="12" y="894"/>
                    <a:pt x="21" y="894"/>
                    <a:pt x="27" y="888"/>
                  </a:cubicBezTo>
                  <a:lnTo>
                    <a:pt x="598" y="331"/>
                  </a:lnTo>
                  <a:lnTo>
                    <a:pt x="598" y="331"/>
                  </a:lnTo>
                  <a:cubicBezTo>
                    <a:pt x="707" y="226"/>
                    <a:pt x="793" y="150"/>
                    <a:pt x="866" y="101"/>
                  </a:cubicBezTo>
                  <a:cubicBezTo>
                    <a:pt x="903" y="76"/>
                    <a:pt x="936" y="58"/>
                    <a:pt x="968" y="47"/>
                  </a:cubicBezTo>
                  <a:cubicBezTo>
                    <a:pt x="999" y="35"/>
                    <a:pt x="1028" y="29"/>
                    <a:pt x="1057" y="29"/>
                  </a:cubicBezTo>
                  <a:cubicBezTo>
                    <a:pt x="1086" y="29"/>
                    <a:pt x="1115" y="35"/>
                    <a:pt x="1146" y="46"/>
                  </a:cubicBezTo>
                  <a:cubicBezTo>
                    <a:pt x="1192" y="62"/>
                    <a:pt x="1242" y="91"/>
                    <a:pt x="1300" y="132"/>
                  </a:cubicBezTo>
                  <a:cubicBezTo>
                    <a:pt x="1359" y="172"/>
                    <a:pt x="1425" y="225"/>
                    <a:pt x="1504" y="287"/>
                  </a:cubicBezTo>
                  <a:cubicBezTo>
                    <a:pt x="1510" y="292"/>
                    <a:pt x="1518" y="291"/>
                    <a:pt x="1524" y="285"/>
                  </a:cubicBezTo>
                  <a:cubicBezTo>
                    <a:pt x="1529" y="279"/>
                    <a:pt x="1528" y="269"/>
                    <a:pt x="1522" y="26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89" name="Freeform 10"/>
            <p:cNvSpPr>
              <a:spLocks noChangeArrowheads="1"/>
            </p:cNvSpPr>
            <p:nvPr/>
          </p:nvSpPr>
          <p:spPr bwMode="auto">
            <a:xfrm>
              <a:off x="1491413" y="835952"/>
              <a:ext cx="201273" cy="127619"/>
            </a:xfrm>
            <a:custGeom>
              <a:avLst/>
              <a:gdLst>
                <a:gd name="T0" fmla="*/ 1212 w 1217"/>
                <a:gd name="T1" fmla="*/ 184 h 773"/>
                <a:gd name="T2" fmla="*/ 1023 w 1217"/>
                <a:gd name="T3" fmla="*/ 48 h 773"/>
                <a:gd name="T4" fmla="*/ 884 w 1217"/>
                <a:gd name="T5" fmla="*/ 0 h 773"/>
                <a:gd name="T6" fmla="*/ 801 w 1217"/>
                <a:gd name="T7" fmla="*/ 20 h 773"/>
                <a:gd name="T8" fmla="*/ 653 w 1217"/>
                <a:gd name="T9" fmla="*/ 124 h 773"/>
                <a:gd name="T10" fmla="*/ 440 w 1217"/>
                <a:gd name="T11" fmla="*/ 324 h 773"/>
                <a:gd name="T12" fmla="*/ 440 w 1217"/>
                <a:gd name="T13" fmla="*/ 324 h 773"/>
                <a:gd name="T14" fmla="*/ 3 w 1217"/>
                <a:gd name="T15" fmla="*/ 760 h 773"/>
                <a:gd name="T16" fmla="*/ 3 w 1217"/>
                <a:gd name="T17" fmla="*/ 770 h 773"/>
                <a:gd name="T18" fmla="*/ 12 w 1217"/>
                <a:gd name="T19" fmla="*/ 770 h 773"/>
                <a:gd name="T20" fmla="*/ 449 w 1217"/>
                <a:gd name="T21" fmla="*/ 333 h 773"/>
                <a:gd name="T22" fmla="*/ 716 w 1217"/>
                <a:gd name="T23" fmla="*/ 90 h 773"/>
                <a:gd name="T24" fmla="*/ 806 w 1217"/>
                <a:gd name="T25" fmla="*/ 32 h 773"/>
                <a:gd name="T26" fmla="*/ 884 w 1217"/>
                <a:gd name="T27" fmla="*/ 13 h 773"/>
                <a:gd name="T28" fmla="*/ 1016 w 1217"/>
                <a:gd name="T29" fmla="*/ 60 h 773"/>
                <a:gd name="T30" fmla="*/ 1204 w 1217"/>
                <a:gd name="T31" fmla="*/ 195 h 773"/>
                <a:gd name="T32" fmla="*/ 1214 w 1217"/>
                <a:gd name="T33" fmla="*/ 194 h 773"/>
                <a:gd name="T34" fmla="*/ 1212 w 1217"/>
                <a:gd name="T35" fmla="*/ 184 h 7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217" h="773">
                  <a:moveTo>
                    <a:pt x="1212" y="184"/>
                  </a:moveTo>
                  <a:cubicBezTo>
                    <a:pt x="1135" y="125"/>
                    <a:pt x="1075" y="80"/>
                    <a:pt x="1023" y="48"/>
                  </a:cubicBezTo>
                  <a:cubicBezTo>
                    <a:pt x="971" y="17"/>
                    <a:pt x="928" y="0"/>
                    <a:pt x="884" y="0"/>
                  </a:cubicBezTo>
                  <a:cubicBezTo>
                    <a:pt x="856" y="0"/>
                    <a:pt x="829" y="7"/>
                    <a:pt x="801" y="20"/>
                  </a:cubicBezTo>
                  <a:cubicBezTo>
                    <a:pt x="758" y="39"/>
                    <a:pt x="711" y="74"/>
                    <a:pt x="653" y="124"/>
                  </a:cubicBezTo>
                  <a:cubicBezTo>
                    <a:pt x="595" y="175"/>
                    <a:pt x="527" y="241"/>
                    <a:pt x="440" y="324"/>
                  </a:cubicBezTo>
                  <a:lnTo>
                    <a:pt x="440" y="324"/>
                  </a:lnTo>
                  <a:lnTo>
                    <a:pt x="3" y="760"/>
                  </a:lnTo>
                  <a:cubicBezTo>
                    <a:pt x="0" y="763"/>
                    <a:pt x="0" y="767"/>
                    <a:pt x="3" y="770"/>
                  </a:cubicBezTo>
                  <a:cubicBezTo>
                    <a:pt x="5" y="772"/>
                    <a:pt x="10" y="772"/>
                    <a:pt x="12" y="770"/>
                  </a:cubicBezTo>
                  <a:lnTo>
                    <a:pt x="449" y="333"/>
                  </a:lnTo>
                  <a:cubicBezTo>
                    <a:pt x="565" y="223"/>
                    <a:pt x="648" y="142"/>
                    <a:pt x="716" y="90"/>
                  </a:cubicBezTo>
                  <a:cubicBezTo>
                    <a:pt x="749" y="63"/>
                    <a:pt x="778" y="44"/>
                    <a:pt x="806" y="32"/>
                  </a:cubicBezTo>
                  <a:cubicBezTo>
                    <a:pt x="833" y="19"/>
                    <a:pt x="859" y="13"/>
                    <a:pt x="884" y="13"/>
                  </a:cubicBezTo>
                  <a:cubicBezTo>
                    <a:pt x="924" y="13"/>
                    <a:pt x="966" y="29"/>
                    <a:pt x="1016" y="60"/>
                  </a:cubicBezTo>
                  <a:cubicBezTo>
                    <a:pt x="1067" y="90"/>
                    <a:pt x="1127" y="136"/>
                    <a:pt x="1204" y="195"/>
                  </a:cubicBezTo>
                  <a:cubicBezTo>
                    <a:pt x="1207" y="197"/>
                    <a:pt x="1211" y="197"/>
                    <a:pt x="1214" y="194"/>
                  </a:cubicBezTo>
                  <a:cubicBezTo>
                    <a:pt x="1216" y="191"/>
                    <a:pt x="1215" y="187"/>
                    <a:pt x="1212" y="18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90" name="Freeform 11"/>
            <p:cNvSpPr>
              <a:spLocks noChangeArrowheads="1"/>
            </p:cNvSpPr>
            <p:nvPr/>
          </p:nvSpPr>
          <p:spPr bwMode="auto">
            <a:xfrm>
              <a:off x="1608093" y="858559"/>
              <a:ext cx="72925" cy="48130"/>
            </a:xfrm>
            <a:custGeom>
              <a:avLst/>
              <a:gdLst>
                <a:gd name="T0" fmla="*/ 49 w 442"/>
                <a:gd name="T1" fmla="*/ 200 h 293"/>
                <a:gd name="T2" fmla="*/ 0 w 442"/>
                <a:gd name="T3" fmla="*/ 156 h 293"/>
                <a:gd name="T4" fmla="*/ 45 w 442"/>
                <a:gd name="T5" fmla="*/ 107 h 293"/>
                <a:gd name="T6" fmla="*/ 392 w 442"/>
                <a:gd name="T7" fmla="*/ 91 h 293"/>
                <a:gd name="T8" fmla="*/ 441 w 442"/>
                <a:gd name="T9" fmla="*/ 137 h 293"/>
                <a:gd name="T10" fmla="*/ 396 w 442"/>
                <a:gd name="T11" fmla="*/ 185 h 293"/>
                <a:gd name="T12" fmla="*/ 49 w 442"/>
                <a:gd name="T13" fmla="*/ 20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42" h="293">
                  <a:moveTo>
                    <a:pt x="49" y="200"/>
                  </a:moveTo>
                  <a:lnTo>
                    <a:pt x="0" y="156"/>
                  </a:lnTo>
                  <a:lnTo>
                    <a:pt x="45" y="107"/>
                  </a:lnTo>
                  <a:cubicBezTo>
                    <a:pt x="136" y="7"/>
                    <a:pt x="292" y="0"/>
                    <a:pt x="392" y="91"/>
                  </a:cubicBezTo>
                  <a:lnTo>
                    <a:pt x="441" y="137"/>
                  </a:lnTo>
                  <a:lnTo>
                    <a:pt x="396" y="185"/>
                  </a:lnTo>
                  <a:cubicBezTo>
                    <a:pt x="304" y="285"/>
                    <a:pt x="149" y="292"/>
                    <a:pt x="49" y="2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808080"/>
                  </a:solidFill>
                  <a:bevel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pic>
        <p:nvPicPr>
          <p:cNvPr id="91" name="图片 9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45897" y="497386"/>
            <a:ext cx="2172649" cy="665946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 rotWithShape="1">
          <a:blip r:embed="rId3"/>
          <a:srcRect l="14829" r="13965"/>
          <a:stretch>
            <a:fillRect/>
          </a:stretch>
        </p:blipFill>
        <p:spPr>
          <a:xfrm>
            <a:off x="369018" y="485954"/>
            <a:ext cx="803904" cy="67737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307508" y="365126"/>
            <a:ext cx="8220812" cy="87908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590270"/>
            <a:ext cx="10515600" cy="45866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6B5948C6-0782-6042-A859-FD82FD45C478}" type="datetime1">
              <a:rPr kumimoji="1" lang="zh-CN" altLang="en-US" smtClean="0"/>
              <a:pPr/>
              <a:t>2024/9/16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539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D4D1E41-7A09-AB4A-A4E1-09765ADA2698}" type="slidenum">
              <a:rPr kumimoji="1" lang="zh-CN" altLang="en-US" smtClean="0"/>
              <a:p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 anchor="ctr" anchorCtr="0"/>
          <a:lstStyle/>
          <a:p>
            <a:r>
              <a:rPr lang="zh-CN" altLang="en-US" sz="5400" b="1" dirty="0">
                <a:solidFill>
                  <a:srgbClr val="CC0099"/>
                </a:solidFill>
                <a:latin typeface="方正琥珀简体" pitchFamily="65" charset="-122"/>
                <a:ea typeface="方正琥珀简体" pitchFamily="65" charset="-122"/>
              </a:rPr>
              <a:t>操作系统课程要求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93376"/>
            <a:ext cx="9144000" cy="1655762"/>
          </a:xfrm>
        </p:spPr>
        <p:txBody>
          <a:bodyPr/>
          <a:lstStyle/>
          <a:p>
            <a:endParaRPr lang="en-US" altLang="zh-CN" dirty="0"/>
          </a:p>
          <a:p>
            <a:r>
              <a:rPr lang="zh-CN" altLang="en-US" sz="2800" b="1" dirty="0">
                <a:solidFill>
                  <a:srgbClr val="002060"/>
                </a:solidFill>
                <a:ea typeface="方正琥珀简体"/>
              </a:rPr>
              <a:t>教师：江先亮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1" y="1510758"/>
            <a:ext cx="5995218" cy="5347242"/>
          </a:xfrm>
        </p:spPr>
        <p:txBody>
          <a:bodyPr>
            <a:noAutofit/>
          </a:bodyPr>
          <a:lstStyle/>
          <a:p>
            <a:pPr algn="just"/>
            <a:r>
              <a:rPr lang="zh-CN" altLang="en-US" sz="2400" dirty="0"/>
              <a:t>操作系统</a:t>
            </a:r>
            <a:r>
              <a:rPr lang="en-US" altLang="zh-CN" sz="2400" dirty="0"/>
              <a:t>(102J05C</a:t>
            </a:r>
            <a:r>
              <a:rPr lang="zh-CN" altLang="en-US" sz="2400" dirty="0"/>
              <a:t>，专业必修，</a:t>
            </a:r>
            <a:r>
              <a:rPr lang="en-US" altLang="zh-CN" sz="2400" dirty="0"/>
              <a:t>3.1</a:t>
            </a:r>
            <a:r>
              <a:rPr lang="zh-CN" altLang="en-US" sz="2400" dirty="0"/>
              <a:t>学期，</a:t>
            </a:r>
            <a:r>
              <a:rPr lang="en-US" altLang="zh-CN" sz="2400" dirty="0"/>
              <a:t>4</a:t>
            </a:r>
            <a:r>
              <a:rPr lang="zh-CN" altLang="en-US" sz="2400" dirty="0"/>
              <a:t>学分</a:t>
            </a:r>
            <a:r>
              <a:rPr lang="en-US" altLang="zh-CN" sz="2400" dirty="0"/>
              <a:t>)</a:t>
            </a:r>
            <a:r>
              <a:rPr lang="zh-CN" altLang="en-US" sz="2400" dirty="0"/>
              <a:t>课程以“计算机组成原理”、“面向对象程序设计”、“数据结构和算法”等为基础。课程总学时</a:t>
            </a:r>
            <a:r>
              <a:rPr lang="en-US" altLang="zh-CN" sz="2400" dirty="0"/>
              <a:t>85</a:t>
            </a:r>
            <a:r>
              <a:rPr lang="zh-CN" altLang="en-US" sz="2400" dirty="0"/>
              <a:t>，其中，理论</a:t>
            </a:r>
            <a:r>
              <a:rPr lang="en-US" altLang="zh-CN" sz="2400" dirty="0"/>
              <a:t>51</a:t>
            </a:r>
            <a:r>
              <a:rPr lang="zh-CN" altLang="en-US" sz="2400" dirty="0"/>
              <a:t>学时，实验</a:t>
            </a:r>
            <a:r>
              <a:rPr lang="en-US" altLang="zh-CN" sz="2400" dirty="0"/>
              <a:t>34</a:t>
            </a:r>
            <a:r>
              <a:rPr lang="zh-CN" altLang="en-US" sz="2400" dirty="0"/>
              <a:t>学时。理论部分包括操作系统结构、算法原理等内容，同时辅以随堂测验、文献阅读与分享、课后练习等进行有效的补充。实验包括</a:t>
            </a:r>
            <a:r>
              <a:rPr lang="en-US" altLang="zh-CN" sz="2400" dirty="0"/>
              <a:t>Shell</a:t>
            </a:r>
            <a:r>
              <a:rPr lang="zh-CN" altLang="en-US" sz="2400" dirty="0"/>
              <a:t>命令及其脚本实现、</a:t>
            </a:r>
            <a:r>
              <a:rPr lang="en-US" altLang="zh-CN" sz="2400" dirty="0"/>
              <a:t>Linux</a:t>
            </a:r>
            <a:r>
              <a:rPr lang="zh-CN" altLang="en-US" sz="2400" dirty="0"/>
              <a:t>内核配置</a:t>
            </a:r>
            <a:r>
              <a:rPr lang="en-US" altLang="zh-CN" sz="2400" dirty="0"/>
              <a:t>(</a:t>
            </a:r>
            <a:r>
              <a:rPr lang="zh-CN" altLang="en-US" sz="2400" dirty="0"/>
              <a:t>裁剪</a:t>
            </a:r>
            <a:r>
              <a:rPr lang="en-US" altLang="zh-CN" sz="2400" dirty="0"/>
              <a:t>)</a:t>
            </a:r>
            <a:r>
              <a:rPr lang="zh-CN" altLang="en-US" sz="2400" dirty="0"/>
              <a:t>和编译、内核模块开发以及操作系统基本算法实现等。通过理论教学和实践。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1006" y="2314134"/>
            <a:ext cx="2515021" cy="35494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0904" y="2123768"/>
            <a:ext cx="2650429" cy="396124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189702" y="6462428"/>
            <a:ext cx="740369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/>
              <a:t>计算机科学速成课</a:t>
            </a:r>
            <a:r>
              <a:rPr lang="zh-CN" altLang="en-US" sz="2000" b="1" dirty="0">
                <a:solidFill>
                  <a:srgbClr val="FF0000"/>
                </a:solidFill>
              </a:rPr>
              <a:t>：https://www.bilibili.com/video/av21376839/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其他推荐教材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pic>
        <p:nvPicPr>
          <p:cNvPr id="5" name="Picture 4" descr="âæä½ç³»ç»ââç²¾é«ä¸è®¾è®¡åçâçå¾çæç´¢ç»æ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" b="3413"/>
          <a:stretch>
            <a:fillRect/>
          </a:stretch>
        </p:blipFill>
        <p:spPr bwMode="auto">
          <a:xfrm>
            <a:off x="1297802" y="1472229"/>
            <a:ext cx="3680508" cy="511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8310" y="1488151"/>
            <a:ext cx="3629947" cy="5096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BCC3311-CD3E-8726-4009-C34FD438F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4357" y="1701837"/>
            <a:ext cx="2831210" cy="211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858516D-00CA-ADC9-CB27-A9222DE37F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8818" y="4272233"/>
            <a:ext cx="3076749" cy="1952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8BF662-AA81-55C9-8AF6-7B780367F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其他推荐教材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8246856-3379-A4C5-006D-544AB2C2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pPr/>
              <a:t>4</a:t>
            </a:fld>
            <a:endParaRPr kumimoji="1"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7575F9-1183-129C-BE15-B21F043213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944" y="1844827"/>
            <a:ext cx="9012808" cy="3807390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4CDF76B-AE07-7BB4-1945-B80A8B5251B3}"/>
              </a:ext>
            </a:extLst>
          </p:cNvPr>
          <p:cNvSpPr txBox="1"/>
          <p:nvPr/>
        </p:nvSpPr>
        <p:spPr>
          <a:xfrm>
            <a:off x="5029243" y="5863874"/>
            <a:ext cx="248421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https://os-book.com/</a:t>
            </a:r>
          </a:p>
        </p:txBody>
      </p:sp>
    </p:spTree>
    <p:extLst>
      <p:ext uri="{BB962C8B-B14F-4D97-AF65-F5344CB8AC3E}">
        <p14:creationId xmlns:p14="http://schemas.microsoft.com/office/powerpoint/2010/main" val="597483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课程考核要求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pic>
        <p:nvPicPr>
          <p:cNvPr id="5" name="图片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4470" y="3414713"/>
            <a:ext cx="6480175" cy="330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5633" y="1816100"/>
            <a:ext cx="8486775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课程实验要求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10757"/>
            <a:ext cx="6241026" cy="5210717"/>
          </a:xfrm>
        </p:spPr>
        <p:txBody>
          <a:bodyPr>
            <a:normAutofit/>
          </a:bodyPr>
          <a:lstStyle/>
          <a:p>
            <a:pPr algn="just"/>
            <a:r>
              <a:rPr lang="zh-CN" altLang="en-US" sz="2400" dirty="0"/>
              <a:t>实验环境：虚拟机系统</a:t>
            </a:r>
            <a:r>
              <a:rPr lang="en-US" altLang="zh-CN" sz="2400" dirty="0"/>
              <a:t>(openEuler) +VirtualBox+Finalshell</a:t>
            </a:r>
            <a:r>
              <a:rPr lang="zh-CN" altLang="en-US" sz="2400" dirty="0"/>
              <a:t>，宿主系统为</a:t>
            </a:r>
            <a:r>
              <a:rPr lang="en-US" altLang="zh-CN" sz="2400" dirty="0"/>
              <a:t>Win10</a:t>
            </a:r>
            <a:r>
              <a:rPr lang="zh-CN" altLang="en-US" sz="2400" dirty="0"/>
              <a:t>，硬件配置不宜过低</a:t>
            </a:r>
            <a:r>
              <a:rPr lang="en-US" altLang="zh-CN" sz="2400" dirty="0"/>
              <a:t>(</a:t>
            </a:r>
            <a:r>
              <a:rPr lang="zh-CN" altLang="en-US" sz="2400" dirty="0"/>
              <a:t>推荐：</a:t>
            </a:r>
            <a:r>
              <a:rPr lang="zh-CN" altLang="en-US" sz="2400" b="1" dirty="0">
                <a:solidFill>
                  <a:srgbClr val="FF0000"/>
                </a:solidFill>
              </a:rPr>
              <a:t>内存</a:t>
            </a:r>
            <a:r>
              <a:rPr lang="en-US" altLang="zh-CN" sz="2400" b="1" dirty="0">
                <a:solidFill>
                  <a:srgbClr val="FF0000"/>
                </a:solidFill>
              </a:rPr>
              <a:t>16GB</a:t>
            </a:r>
            <a:r>
              <a:rPr lang="zh-CN" altLang="en-US" sz="2400" b="1" dirty="0">
                <a:solidFill>
                  <a:srgbClr val="FF0000"/>
                </a:solidFill>
              </a:rPr>
              <a:t>以上、空余硬盘空间</a:t>
            </a:r>
            <a:r>
              <a:rPr lang="en-US" altLang="zh-CN" sz="2400" b="1" dirty="0">
                <a:solidFill>
                  <a:srgbClr val="FF0000"/>
                </a:solidFill>
              </a:rPr>
              <a:t>60GB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algn="just"/>
            <a:r>
              <a:rPr lang="zh-CN" altLang="en-US" sz="2400" dirty="0"/>
              <a:t>实验报告</a:t>
            </a:r>
            <a:r>
              <a:rPr lang="en-US" altLang="zh-CN" sz="2400" dirty="0"/>
              <a:t>(</a:t>
            </a:r>
            <a:r>
              <a:rPr lang="zh-CN" altLang="en-US" sz="2400" dirty="0"/>
              <a:t>电子版</a:t>
            </a:r>
            <a:r>
              <a:rPr lang="en-US" altLang="zh-CN" sz="2400" dirty="0"/>
              <a:t>)</a:t>
            </a:r>
            <a:r>
              <a:rPr lang="zh-CN" altLang="en-US" sz="2400" dirty="0"/>
              <a:t>：</a:t>
            </a:r>
            <a:r>
              <a:rPr lang="en-US" altLang="zh-CN" sz="2400" dirty="0"/>
              <a:t>1</a:t>
            </a:r>
            <a:r>
              <a:rPr lang="zh-CN" altLang="en-US" sz="2400" dirty="0"/>
              <a:t>份</a:t>
            </a:r>
            <a:r>
              <a:rPr lang="en-US" altLang="zh-CN" sz="2400" dirty="0"/>
              <a:t>/</a:t>
            </a:r>
            <a:r>
              <a:rPr lang="zh-CN" altLang="en-US" sz="2400" dirty="0"/>
              <a:t>实验，按实验报告模板撰写，</a:t>
            </a:r>
            <a:r>
              <a:rPr lang="zh-CN" altLang="en-US" sz="2400" b="1" dirty="0">
                <a:solidFill>
                  <a:srgbClr val="FF0000"/>
                </a:solidFill>
              </a:rPr>
              <a:t>不得相互抄袭，否则抄袭和被抄袭者都为零分</a:t>
            </a:r>
            <a:r>
              <a:rPr lang="zh-CN" altLang="en-US" sz="2400" dirty="0"/>
              <a:t>。实验报告提交均为下次实验之前</a:t>
            </a:r>
            <a:r>
              <a:rPr lang="en-US" altLang="zh-CN" sz="2400" dirty="0"/>
              <a:t>(</a:t>
            </a:r>
            <a:r>
              <a:rPr lang="zh-CN" altLang="en-US" sz="2400" dirty="0"/>
              <a:t>即</a:t>
            </a:r>
            <a:r>
              <a:rPr lang="zh-CN" altLang="en-US" sz="2400" b="1" dirty="0">
                <a:solidFill>
                  <a:srgbClr val="FF0000"/>
                </a:solidFill>
              </a:rPr>
              <a:t>当次实验课前提交上次实验报告</a:t>
            </a:r>
            <a:r>
              <a:rPr lang="en-US" altLang="zh-CN" sz="2400" dirty="0"/>
              <a:t>)</a:t>
            </a:r>
            <a:r>
              <a:rPr lang="zh-CN" altLang="en-US" sz="2400" dirty="0"/>
              <a:t>，错过截止实验则本次实验最高分为</a:t>
            </a:r>
            <a:r>
              <a:rPr lang="en-US" altLang="zh-CN" sz="2400" dirty="0"/>
              <a:t>60(</a:t>
            </a:r>
            <a:r>
              <a:rPr lang="zh-CN" altLang="en-US" sz="2400" dirty="0"/>
              <a:t>有截图证明除外</a:t>
            </a:r>
            <a:r>
              <a:rPr lang="en-US" altLang="zh-CN" sz="2400" dirty="0"/>
              <a:t>)</a:t>
            </a:r>
            <a:r>
              <a:rPr lang="zh-CN" altLang="en-US" sz="24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6438" y="2203342"/>
            <a:ext cx="4877407" cy="3634146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797661" y="6218280"/>
            <a:ext cx="65966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rgbClr val="FF0000"/>
                </a:solidFill>
              </a:rPr>
              <a:t>实验课建议自己携带笔记本，机房电脑性能可能不够！！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文献阅读报告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sz="2400" dirty="0"/>
              <a:t>课程阅读的论文请从最近</a:t>
            </a:r>
            <a:r>
              <a:rPr lang="en-US" altLang="zh-CN" sz="2400" dirty="0"/>
              <a:t>3</a:t>
            </a:r>
            <a:r>
              <a:rPr lang="zh-CN" altLang="en-US" sz="2400" dirty="0"/>
              <a:t>年的</a:t>
            </a:r>
            <a:r>
              <a:rPr lang="en-US" altLang="zh-CN" sz="2400" dirty="0"/>
              <a:t>OSDI(</a:t>
            </a:r>
            <a:r>
              <a:rPr lang="zh-CN" altLang="en-US" sz="2400" dirty="0"/>
              <a:t>偶数年</a:t>
            </a:r>
            <a:r>
              <a:rPr lang="en-US" altLang="zh-CN" sz="2400" dirty="0"/>
              <a:t>11</a:t>
            </a:r>
            <a:r>
              <a:rPr lang="zh-CN" altLang="en-US" sz="2400" dirty="0"/>
              <a:t>月召开</a:t>
            </a:r>
            <a:r>
              <a:rPr lang="en-US" altLang="zh-CN" sz="2400" dirty="0"/>
              <a:t>)</a:t>
            </a:r>
            <a:r>
              <a:rPr lang="zh-CN" altLang="en-US" sz="2400" dirty="0"/>
              <a:t>、</a:t>
            </a:r>
            <a:r>
              <a:rPr lang="en-US" altLang="zh-CN" sz="2400" dirty="0"/>
              <a:t>SOSP(</a:t>
            </a:r>
            <a:r>
              <a:rPr lang="zh-CN" altLang="en-US" sz="2400" dirty="0"/>
              <a:t>奇数年</a:t>
            </a:r>
            <a:r>
              <a:rPr lang="en-US" altLang="zh-CN" sz="2400" dirty="0"/>
              <a:t>10</a:t>
            </a:r>
            <a:r>
              <a:rPr lang="zh-CN" altLang="en-US" sz="2400" dirty="0"/>
              <a:t>月召开</a:t>
            </a:r>
            <a:r>
              <a:rPr lang="en-US" altLang="zh-CN" sz="2400" dirty="0"/>
              <a:t>)</a:t>
            </a:r>
            <a:r>
              <a:rPr lang="zh-CN" altLang="en-US" sz="2400" dirty="0"/>
              <a:t>、</a:t>
            </a:r>
            <a:r>
              <a:rPr lang="en-US" altLang="zh-CN" sz="2400" dirty="0"/>
              <a:t>ASPLOS</a:t>
            </a:r>
            <a:r>
              <a:rPr lang="zh-CN" altLang="en-US" sz="2400" dirty="0"/>
              <a:t>等操作系统顶会网站上选择，尽可能去作者主页寻找更多有用资源。论文阅读自由组队，每组人数控制在</a:t>
            </a:r>
            <a:r>
              <a:rPr lang="en-US" altLang="zh-CN" sz="2400" dirty="0"/>
              <a:t>1-2</a:t>
            </a:r>
            <a:r>
              <a:rPr lang="zh-CN" altLang="en-US" sz="2400" dirty="0"/>
              <a:t>人</a:t>
            </a:r>
            <a:r>
              <a:rPr lang="en-US" altLang="zh-CN" sz="2400" dirty="0"/>
              <a:t>(</a:t>
            </a:r>
            <a:r>
              <a:rPr lang="zh-CN" altLang="en-US" sz="2400" b="1" dirty="0">
                <a:solidFill>
                  <a:srgbClr val="FF0000"/>
                </a:solidFill>
              </a:rPr>
              <a:t>若为</a:t>
            </a:r>
            <a:r>
              <a:rPr lang="en-US" altLang="zh-CN" sz="2400" b="1" dirty="0">
                <a:solidFill>
                  <a:srgbClr val="FF0000"/>
                </a:solidFill>
              </a:rPr>
              <a:t>2</a:t>
            </a:r>
            <a:r>
              <a:rPr lang="zh-CN" altLang="en-US" sz="2400" b="1" dirty="0">
                <a:solidFill>
                  <a:srgbClr val="FF0000"/>
                </a:solidFill>
              </a:rPr>
              <a:t>人组队，报告中请注明每人的贡献百分比</a:t>
            </a:r>
            <a:r>
              <a:rPr lang="en-US" altLang="zh-CN" sz="2400" dirty="0"/>
              <a:t>)</a:t>
            </a:r>
            <a:r>
              <a:rPr lang="zh-CN" altLang="en-US" sz="2400" dirty="0"/>
              <a:t>。课程提供了一些可供选择的论文，大家可以根据兴趣进行选择，每组不允许重复。</a:t>
            </a:r>
          </a:p>
          <a:p>
            <a:pPr algn="just"/>
            <a:r>
              <a:rPr lang="zh-CN" altLang="en-US" sz="2400" dirty="0"/>
              <a:t>论文阅读报告请按模版撰写，</a:t>
            </a:r>
            <a:r>
              <a:rPr lang="zh-CN" altLang="en-US" sz="2400" b="1" dirty="0">
                <a:solidFill>
                  <a:srgbClr val="FF0000"/>
                </a:solidFill>
              </a:rPr>
              <a:t>字体、板式、摘要、正文、参考文献及引用务必与模版一致</a:t>
            </a:r>
            <a:r>
              <a:rPr lang="zh-CN" altLang="en-US" sz="2400" dirty="0"/>
              <a:t>，否则论文阅读成绩最高为原来的</a:t>
            </a:r>
            <a:r>
              <a:rPr lang="en-US" altLang="zh-CN" sz="2400" dirty="0"/>
              <a:t>60%</a:t>
            </a:r>
            <a:r>
              <a:rPr lang="zh-CN" altLang="en-US" sz="2400" dirty="0"/>
              <a:t>。另外，对于稍有余力的同学，可进行</a:t>
            </a:r>
            <a:r>
              <a:rPr lang="en-US" altLang="zh-CN" sz="2400" dirty="0"/>
              <a:t>openEuler</a:t>
            </a:r>
            <a:r>
              <a:rPr lang="zh-CN" altLang="en-US" sz="2400" dirty="0"/>
              <a:t>、</a:t>
            </a:r>
            <a:r>
              <a:rPr lang="en-US" altLang="zh-CN" sz="2400" dirty="0"/>
              <a:t>HarmonyOS</a:t>
            </a:r>
            <a:r>
              <a:rPr lang="zh-CN" altLang="en-US" sz="2400" dirty="0"/>
              <a:t>、</a:t>
            </a:r>
            <a:r>
              <a:rPr lang="en-US" altLang="zh-CN" sz="2400" dirty="0"/>
              <a:t>RT-Thread</a:t>
            </a:r>
            <a:r>
              <a:rPr lang="zh-CN" altLang="en-US" sz="2400" dirty="0"/>
              <a:t>等操作系统的实现架构或特定模块分析，可获得额外加分。关于论文阅读后的报告讲演，每组时间为</a:t>
            </a:r>
            <a:r>
              <a:rPr lang="en-US" altLang="zh-CN" sz="2400" dirty="0"/>
              <a:t>20</a:t>
            </a:r>
            <a:r>
              <a:rPr lang="zh-CN" altLang="en-US" sz="2400" dirty="0"/>
              <a:t>分钟。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课程思政要求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 rotWithShape="1">
          <a:blip r:embed="rId2"/>
          <a:srcRect b="3984"/>
          <a:stretch/>
        </p:blipFill>
        <p:spPr>
          <a:xfrm>
            <a:off x="3334701" y="1380738"/>
            <a:ext cx="5241605" cy="5259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联系信息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ea typeface="+mj-ea"/>
              </a:rPr>
              <a:t>教师</a:t>
            </a:r>
            <a:r>
              <a:rPr lang="zh-CN" altLang="en-US" dirty="0">
                <a:ea typeface="+mj-ea"/>
              </a:rPr>
              <a:t>：江先亮（</a:t>
            </a:r>
            <a:r>
              <a:rPr lang="en-US" altLang="zh-CN" dirty="0">
                <a:ea typeface="+mj-ea"/>
              </a:rPr>
              <a:t>13616880564/660564</a:t>
            </a:r>
            <a:r>
              <a:rPr lang="zh-CN" altLang="en-US" dirty="0">
                <a:ea typeface="+mj-ea"/>
              </a:rPr>
              <a:t>）</a:t>
            </a:r>
            <a:endParaRPr lang="en-US" altLang="zh-CN" dirty="0">
              <a:ea typeface="+mj-ea"/>
            </a:endParaRPr>
          </a:p>
          <a:p>
            <a:pPr marL="0" indent="0">
              <a:buNone/>
            </a:pPr>
            <a:r>
              <a:rPr lang="en-US" altLang="zh-CN" dirty="0">
                <a:ea typeface="+mj-ea"/>
              </a:rPr>
              <a:t>    </a:t>
            </a:r>
            <a:r>
              <a:rPr lang="zh-CN" altLang="en-US" b="1" dirty="0">
                <a:ea typeface="+mj-ea"/>
              </a:rPr>
              <a:t>办公地址</a:t>
            </a:r>
            <a:r>
              <a:rPr lang="zh-CN" altLang="en-US" dirty="0">
                <a:ea typeface="+mj-ea"/>
              </a:rPr>
              <a:t>：宁波大学北校区杨咏曼楼</a:t>
            </a:r>
            <a:r>
              <a:rPr lang="en-US" altLang="zh-CN" dirty="0">
                <a:ea typeface="+mj-ea"/>
              </a:rPr>
              <a:t>503</a:t>
            </a:r>
          </a:p>
          <a:p>
            <a:pPr marL="0" indent="0">
              <a:buNone/>
            </a:pPr>
            <a:r>
              <a:rPr lang="zh-CN" altLang="en-US" dirty="0">
                <a:ea typeface="+mj-ea"/>
              </a:rPr>
              <a:t>   </a:t>
            </a:r>
            <a:r>
              <a:rPr lang="zh-CN" altLang="en-US" b="1" dirty="0">
                <a:ea typeface="+mj-ea"/>
              </a:rPr>
              <a:t> 电子邮件</a:t>
            </a:r>
            <a:r>
              <a:rPr lang="zh-CN" altLang="en-US" dirty="0">
                <a:ea typeface="+mj-ea"/>
              </a:rPr>
              <a:t>：</a:t>
            </a:r>
            <a:r>
              <a:rPr lang="en-US" altLang="zh-CN" dirty="0">
                <a:ea typeface="+mj-ea"/>
              </a:rPr>
              <a:t>jiangxianliang@nbu.edu.cn</a:t>
            </a:r>
            <a:endParaRPr lang="zh-CN" altLang="en-US" dirty="0">
              <a:ea typeface="+mj-ea"/>
            </a:endParaRPr>
          </a:p>
          <a:p>
            <a:r>
              <a:rPr lang="zh-CN" altLang="en-US" b="1" dirty="0">
                <a:ea typeface="+mj-ea"/>
              </a:rPr>
              <a:t>助教</a:t>
            </a:r>
            <a:r>
              <a:rPr lang="zh-CN" altLang="en-US" dirty="0">
                <a:ea typeface="+mj-ea"/>
              </a:rPr>
              <a:t>：沈乐（</a:t>
            </a:r>
            <a:r>
              <a:rPr lang="en-US" altLang="zh-CN" dirty="0">
                <a:ea typeface="+mj-ea"/>
              </a:rPr>
              <a:t>18857484740</a:t>
            </a:r>
            <a:r>
              <a:rPr lang="zh-CN" altLang="en-US" dirty="0">
                <a:ea typeface="+mj-ea"/>
              </a:rPr>
              <a:t>）</a:t>
            </a:r>
            <a:endParaRPr lang="en-US" altLang="zh-CN" dirty="0">
              <a:ea typeface="+mj-ea"/>
            </a:endParaRPr>
          </a:p>
          <a:p>
            <a:pPr marL="0" indent="0">
              <a:buNone/>
            </a:pPr>
            <a:r>
              <a:rPr lang="en-US" altLang="zh-CN" dirty="0">
                <a:ea typeface="+mj-ea"/>
              </a:rPr>
              <a:t>    </a:t>
            </a:r>
            <a:r>
              <a:rPr lang="zh-CN" altLang="en-US" b="1" dirty="0">
                <a:ea typeface="+mj-ea"/>
              </a:rPr>
              <a:t>办公地址</a:t>
            </a:r>
            <a:r>
              <a:rPr lang="zh-CN" altLang="en-US" dirty="0">
                <a:ea typeface="+mj-ea"/>
              </a:rPr>
              <a:t>：宁波大学北校区杨咏曼楼五楼</a:t>
            </a:r>
            <a:endParaRPr lang="en-US" altLang="zh-CN" dirty="0">
              <a:ea typeface="+mj-ea"/>
            </a:endParaRPr>
          </a:p>
          <a:p>
            <a:pPr marL="0" indent="0">
              <a:buNone/>
            </a:pPr>
            <a:r>
              <a:rPr lang="en-US" altLang="zh-CN" dirty="0">
                <a:ea typeface="+mj-ea"/>
              </a:rPr>
              <a:t>    </a:t>
            </a:r>
            <a:r>
              <a:rPr lang="zh-CN" altLang="en-US" b="1" dirty="0">
                <a:ea typeface="+mj-ea"/>
              </a:rPr>
              <a:t>电子邮件</a:t>
            </a:r>
            <a:r>
              <a:rPr lang="zh-CN" altLang="en-US" dirty="0">
                <a:ea typeface="+mj-ea"/>
              </a:rPr>
              <a:t>：</a:t>
            </a:r>
            <a:r>
              <a:rPr lang="en-US" altLang="zh-CN" dirty="0">
                <a:ea typeface="+mj-ea"/>
              </a:rPr>
              <a:t>1463127791@qq.com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D1E41-7A09-AB4A-A4E1-09765ADA2698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F3783A6-A0EE-2BB6-D332-4C265B91D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4151" y="2395691"/>
            <a:ext cx="3139256" cy="329753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F423ED-007F-66AA-D6E9-F8D625C66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Backup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AA84C81-10B9-3575-2CE7-178900841A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zh-CN" altLang="en-US" dirty="0"/>
              <a:t>上课要签到</a:t>
            </a:r>
            <a:r>
              <a:rPr lang="en-US" altLang="zh-CN" dirty="0"/>
              <a:t>(</a:t>
            </a:r>
            <a:r>
              <a:rPr lang="zh-CN" altLang="en-US" dirty="0"/>
              <a:t>学习通</a:t>
            </a:r>
            <a:r>
              <a:rPr lang="en-US" altLang="zh-CN" dirty="0"/>
              <a:t>)</a:t>
            </a:r>
            <a:r>
              <a:rPr lang="zh-CN" altLang="en-US" dirty="0"/>
              <a:t>、每章会有随堂测验</a:t>
            </a:r>
            <a:r>
              <a:rPr lang="en-US" altLang="zh-CN" dirty="0"/>
              <a:t>(20~25</a:t>
            </a:r>
            <a:r>
              <a:rPr lang="zh-CN" altLang="en-US" dirty="0"/>
              <a:t>分钟</a:t>
            </a:r>
            <a:r>
              <a:rPr lang="en-US" altLang="zh-CN" dirty="0"/>
              <a:t>)</a:t>
            </a:r>
            <a:r>
              <a:rPr lang="zh-CN" altLang="en-US" dirty="0"/>
              <a:t>、课后作业每章都有</a:t>
            </a:r>
            <a:r>
              <a:rPr lang="en-US" altLang="zh-CN" dirty="0"/>
              <a:t>(</a:t>
            </a:r>
            <a:r>
              <a:rPr lang="zh-CN" altLang="en-US" dirty="0"/>
              <a:t>题量很少</a:t>
            </a:r>
            <a:r>
              <a:rPr lang="en-US" altLang="zh-CN" dirty="0"/>
              <a:t>~~)</a:t>
            </a:r>
            <a:r>
              <a:rPr lang="zh-CN" altLang="en-US" dirty="0"/>
              <a:t>、课程思政按要求完成即可</a:t>
            </a:r>
            <a:endParaRPr lang="en-US" altLang="zh-CN" dirty="0"/>
          </a:p>
          <a:p>
            <a:pPr algn="just"/>
            <a:r>
              <a:rPr lang="zh-CN" altLang="en-US" dirty="0"/>
              <a:t>文献阅读每</a:t>
            </a:r>
            <a:r>
              <a:rPr lang="en-US" altLang="zh-CN" dirty="0"/>
              <a:t>2</a:t>
            </a:r>
            <a:r>
              <a:rPr lang="zh-CN" altLang="en-US" dirty="0"/>
              <a:t>人一组</a:t>
            </a:r>
            <a:r>
              <a:rPr lang="en-US" altLang="zh-CN" dirty="0"/>
              <a:t>(</a:t>
            </a:r>
            <a:r>
              <a:rPr lang="zh-CN" altLang="en-US" dirty="0"/>
              <a:t>理解翻译的文档上注明分工，纯机翻零分</a:t>
            </a:r>
            <a:r>
              <a:rPr lang="en-US" altLang="zh-CN" dirty="0"/>
              <a:t>)</a:t>
            </a:r>
          </a:p>
          <a:p>
            <a:pPr algn="just"/>
            <a:r>
              <a:rPr lang="zh-CN" altLang="en-US" dirty="0"/>
              <a:t>报告讲演与文献阅读的内容一致</a:t>
            </a:r>
            <a:r>
              <a:rPr lang="en-US" altLang="zh-CN" dirty="0"/>
              <a:t>(10</a:t>
            </a:r>
            <a:r>
              <a:rPr lang="zh-CN" altLang="en-US" dirty="0"/>
              <a:t>分钟表达清楚自己理解的知识点，有</a:t>
            </a:r>
            <a:r>
              <a:rPr lang="en-US" altLang="zh-CN" dirty="0"/>
              <a:t>Q&amp;A</a:t>
            </a:r>
            <a:r>
              <a:rPr lang="zh-CN" altLang="en-US" dirty="0"/>
              <a:t>环节</a:t>
            </a:r>
            <a:r>
              <a:rPr lang="en-US" altLang="zh-CN" dirty="0"/>
              <a:t>)</a:t>
            </a:r>
          </a:p>
          <a:p>
            <a:pPr algn="just"/>
            <a:r>
              <a:rPr lang="zh-CN" altLang="en-US" dirty="0"/>
              <a:t>实验报告按模板写，态度认真，撰写工整的同学分数普遍会高很多</a:t>
            </a:r>
            <a:endParaRPr lang="en-US" altLang="zh-CN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8E76383-160A-ED93-CD1E-DF8CF7B1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279A2F-85B5-794E-ADF1-0805CD3C44B7}" type="slidenum">
              <a:rPr lang="en-US" altLang="zh-CN" smtClean="0"/>
              <a:pPr/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58005049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639</Words>
  <Application>Microsoft Office PowerPoint</Application>
  <PresentationFormat>宽屏</PresentationFormat>
  <Paragraphs>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等线</vt:lpstr>
      <vt:lpstr>方正琥珀简体</vt:lpstr>
      <vt:lpstr>Arial</vt:lpstr>
      <vt:lpstr>Times New Roman</vt:lpstr>
      <vt:lpstr>Wingdings</vt:lpstr>
      <vt:lpstr>2_Office 主题​​</vt:lpstr>
      <vt:lpstr>操作系统课程要求</vt:lpstr>
      <vt:lpstr>课程信息</vt:lpstr>
      <vt:lpstr>其他推荐教材</vt:lpstr>
      <vt:lpstr>其他推荐教材</vt:lpstr>
      <vt:lpstr>课程考核要求</vt:lpstr>
      <vt:lpstr>课程实验要求</vt:lpstr>
      <vt:lpstr>文献阅读报告</vt:lpstr>
      <vt:lpstr>课程思政要求</vt:lpstr>
      <vt:lpstr>联系信息</vt:lpstr>
      <vt:lpstr>Backup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Yong Cui</dc:creator>
  <cp:lastModifiedBy>先亮 江</cp:lastModifiedBy>
  <cp:revision>1070</cp:revision>
  <dcterms:created xsi:type="dcterms:W3CDTF">2021-01-06T05:35:00Z</dcterms:created>
  <dcterms:modified xsi:type="dcterms:W3CDTF">2024-09-16T15:16:08Z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E448926E91324763BF6F6ADC85B785EF</vt:lpwstr>
  </property>
  <property fmtid="{D5CDD505-2E9C-101B-9397-08002B2CF9AE}" pid="3" name="KSOProductBuildVer">
    <vt:lpwstr>2052-11.1.0.10700</vt:lpwstr>
  </property>
</Properties>
</file>