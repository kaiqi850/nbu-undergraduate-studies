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65"/>
  </p:notesMasterIdLst>
  <p:sldIdLst>
    <p:sldId id="1252" r:id="rId2"/>
    <p:sldId id="1247" r:id="rId3"/>
    <p:sldId id="1251" r:id="rId4"/>
    <p:sldId id="1253" r:id="rId5"/>
    <p:sldId id="1254" r:id="rId6"/>
    <p:sldId id="1255" r:id="rId7"/>
    <p:sldId id="1256" r:id="rId8"/>
    <p:sldId id="1257" r:id="rId9"/>
    <p:sldId id="1258" r:id="rId10"/>
    <p:sldId id="1259" r:id="rId11"/>
    <p:sldId id="1260" r:id="rId12"/>
    <p:sldId id="1261" r:id="rId13"/>
    <p:sldId id="1262" r:id="rId14"/>
    <p:sldId id="1263" r:id="rId15"/>
    <p:sldId id="1264" r:id="rId16"/>
    <p:sldId id="1265" r:id="rId17"/>
    <p:sldId id="1267" r:id="rId18"/>
    <p:sldId id="1268" r:id="rId19"/>
    <p:sldId id="1269" r:id="rId20"/>
    <p:sldId id="1270" r:id="rId21"/>
    <p:sldId id="1271" r:id="rId22"/>
    <p:sldId id="1272" r:id="rId23"/>
    <p:sldId id="1273" r:id="rId24"/>
    <p:sldId id="1274" r:id="rId25"/>
    <p:sldId id="1275" r:id="rId26"/>
    <p:sldId id="1276" r:id="rId27"/>
    <p:sldId id="1277" r:id="rId28"/>
    <p:sldId id="1278" r:id="rId29"/>
    <p:sldId id="1279" r:id="rId30"/>
    <p:sldId id="1280" r:id="rId31"/>
    <p:sldId id="1281" r:id="rId32"/>
    <p:sldId id="1282" r:id="rId33"/>
    <p:sldId id="1283" r:id="rId34"/>
    <p:sldId id="1284" r:id="rId35"/>
    <p:sldId id="1285" r:id="rId36"/>
    <p:sldId id="1286" r:id="rId37"/>
    <p:sldId id="1289" r:id="rId38"/>
    <p:sldId id="1291" r:id="rId39"/>
    <p:sldId id="1292" r:id="rId40"/>
    <p:sldId id="1293" r:id="rId41"/>
    <p:sldId id="1294" r:id="rId42"/>
    <p:sldId id="1295" r:id="rId43"/>
    <p:sldId id="1297" r:id="rId44"/>
    <p:sldId id="1296" r:id="rId45"/>
    <p:sldId id="1298" r:id="rId46"/>
    <p:sldId id="1299" r:id="rId47"/>
    <p:sldId id="1300" r:id="rId48"/>
    <p:sldId id="1301" r:id="rId49"/>
    <p:sldId id="1302" r:id="rId50"/>
    <p:sldId id="1303" r:id="rId51"/>
    <p:sldId id="1304" r:id="rId52"/>
    <p:sldId id="1305" r:id="rId53"/>
    <p:sldId id="1306" r:id="rId54"/>
    <p:sldId id="1307" r:id="rId55"/>
    <p:sldId id="1308" r:id="rId56"/>
    <p:sldId id="1309" r:id="rId57"/>
    <p:sldId id="1310" r:id="rId58"/>
    <p:sldId id="1311" r:id="rId59"/>
    <p:sldId id="1312" r:id="rId60"/>
    <p:sldId id="1313" r:id="rId61"/>
    <p:sldId id="1314" r:id="rId62"/>
    <p:sldId id="1315" r:id="rId63"/>
    <p:sldId id="1316"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jr" initials="z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DCB0B"/>
    <a:srgbClr val="FFD700"/>
    <a:srgbClr val="F9BC12"/>
    <a:srgbClr val="FFD801"/>
    <a:srgbClr val="EFB914"/>
    <a:srgbClr val="F5BD15"/>
    <a:srgbClr val="F8BF15"/>
    <a:srgbClr val="FEC60D"/>
    <a:srgbClr val="FFC2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61"/>
    <p:restoredTop sz="84431" autoAdjust="0"/>
  </p:normalViewPr>
  <p:slideViewPr>
    <p:cSldViewPr snapToGrid="0" snapToObjects="1">
      <p:cViewPr varScale="1">
        <p:scale>
          <a:sx n="94" d="100"/>
          <a:sy n="94" d="100"/>
        </p:scale>
        <p:origin x="954" y="66"/>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2024/9/30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24</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34</a:t>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35</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extLst>
      <p:ext uri="{BB962C8B-B14F-4D97-AF65-F5344CB8AC3E}">
        <p14:creationId xmlns:p14="http://schemas.microsoft.com/office/powerpoint/2010/main" val="4281791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extLst>
      <p:ext uri="{BB962C8B-B14F-4D97-AF65-F5344CB8AC3E}">
        <p14:creationId xmlns:p14="http://schemas.microsoft.com/office/powerpoint/2010/main" val="3906062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40</a:t>
            </a:fld>
            <a:endParaRPr kumimoji="1" lang="zh-CN" altLang="en-US"/>
          </a:p>
        </p:txBody>
      </p:sp>
    </p:spTree>
    <p:extLst>
      <p:ext uri="{BB962C8B-B14F-4D97-AF65-F5344CB8AC3E}">
        <p14:creationId xmlns:p14="http://schemas.microsoft.com/office/powerpoint/2010/main" val="2734716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41</a:t>
            </a:fld>
            <a:endParaRPr kumimoji="1" lang="zh-CN" altLang="en-US"/>
          </a:p>
        </p:txBody>
      </p:sp>
    </p:spTree>
    <p:extLst>
      <p:ext uri="{BB962C8B-B14F-4D97-AF65-F5344CB8AC3E}">
        <p14:creationId xmlns:p14="http://schemas.microsoft.com/office/powerpoint/2010/main" val="13666180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42</a:t>
            </a:fld>
            <a:endParaRPr kumimoji="1" lang="zh-CN" altLang="en-US"/>
          </a:p>
        </p:txBody>
      </p:sp>
    </p:spTree>
    <p:extLst>
      <p:ext uri="{BB962C8B-B14F-4D97-AF65-F5344CB8AC3E}">
        <p14:creationId xmlns:p14="http://schemas.microsoft.com/office/powerpoint/2010/main" val="33419349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43</a:t>
            </a:fld>
            <a:endParaRPr kumimoji="1" lang="zh-CN" altLang="en-US"/>
          </a:p>
        </p:txBody>
      </p:sp>
    </p:spTree>
    <p:extLst>
      <p:ext uri="{BB962C8B-B14F-4D97-AF65-F5344CB8AC3E}">
        <p14:creationId xmlns:p14="http://schemas.microsoft.com/office/powerpoint/2010/main" val="1260873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44</a:t>
            </a:fld>
            <a:endParaRPr kumimoji="1" lang="zh-CN" altLang="en-US"/>
          </a:p>
        </p:txBody>
      </p:sp>
    </p:spTree>
    <p:extLst>
      <p:ext uri="{BB962C8B-B14F-4D97-AF65-F5344CB8AC3E}">
        <p14:creationId xmlns:p14="http://schemas.microsoft.com/office/powerpoint/2010/main" val="41276047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45</a:t>
            </a:fld>
            <a:endParaRPr kumimoji="1" lang="zh-CN" altLang="en-US"/>
          </a:p>
        </p:txBody>
      </p:sp>
    </p:spTree>
    <p:extLst>
      <p:ext uri="{BB962C8B-B14F-4D97-AF65-F5344CB8AC3E}">
        <p14:creationId xmlns:p14="http://schemas.microsoft.com/office/powerpoint/2010/main" val="31486787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46</a:t>
            </a:fld>
            <a:endParaRPr kumimoji="1" lang="zh-CN" altLang="en-US"/>
          </a:p>
        </p:txBody>
      </p:sp>
    </p:spTree>
    <p:extLst>
      <p:ext uri="{BB962C8B-B14F-4D97-AF65-F5344CB8AC3E}">
        <p14:creationId xmlns:p14="http://schemas.microsoft.com/office/powerpoint/2010/main" val="1019406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47</a:t>
            </a:fld>
            <a:endParaRPr kumimoji="1" lang="zh-CN" altLang="en-US"/>
          </a:p>
        </p:txBody>
      </p:sp>
    </p:spTree>
    <p:extLst>
      <p:ext uri="{BB962C8B-B14F-4D97-AF65-F5344CB8AC3E}">
        <p14:creationId xmlns:p14="http://schemas.microsoft.com/office/powerpoint/2010/main" val="16236894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48</a:t>
            </a:fld>
            <a:endParaRPr kumimoji="1" lang="zh-CN" altLang="en-US"/>
          </a:p>
        </p:txBody>
      </p:sp>
    </p:spTree>
    <p:extLst>
      <p:ext uri="{BB962C8B-B14F-4D97-AF65-F5344CB8AC3E}">
        <p14:creationId xmlns:p14="http://schemas.microsoft.com/office/powerpoint/2010/main" val="41446418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49</a:t>
            </a:fld>
            <a:endParaRPr kumimoji="1" lang="zh-CN" altLang="en-US"/>
          </a:p>
        </p:txBody>
      </p:sp>
    </p:spTree>
    <p:extLst>
      <p:ext uri="{BB962C8B-B14F-4D97-AF65-F5344CB8AC3E}">
        <p14:creationId xmlns:p14="http://schemas.microsoft.com/office/powerpoint/2010/main" val="13610150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50</a:t>
            </a:fld>
            <a:endParaRPr kumimoji="1" lang="zh-CN" altLang="en-US"/>
          </a:p>
        </p:txBody>
      </p:sp>
    </p:spTree>
    <p:extLst>
      <p:ext uri="{BB962C8B-B14F-4D97-AF65-F5344CB8AC3E}">
        <p14:creationId xmlns:p14="http://schemas.microsoft.com/office/powerpoint/2010/main" val="192536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51</a:t>
            </a:fld>
            <a:endParaRPr kumimoji="1" lang="zh-CN" altLang="en-US"/>
          </a:p>
        </p:txBody>
      </p:sp>
    </p:spTree>
    <p:extLst>
      <p:ext uri="{BB962C8B-B14F-4D97-AF65-F5344CB8AC3E}">
        <p14:creationId xmlns:p14="http://schemas.microsoft.com/office/powerpoint/2010/main" val="21024108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52</a:t>
            </a:fld>
            <a:endParaRPr kumimoji="1" lang="zh-CN" altLang="en-US"/>
          </a:p>
        </p:txBody>
      </p:sp>
    </p:spTree>
    <p:extLst>
      <p:ext uri="{BB962C8B-B14F-4D97-AF65-F5344CB8AC3E}">
        <p14:creationId xmlns:p14="http://schemas.microsoft.com/office/powerpoint/2010/main" val="40273792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53</a:t>
            </a:fld>
            <a:endParaRPr kumimoji="1" lang="zh-CN" altLang="en-US"/>
          </a:p>
        </p:txBody>
      </p:sp>
    </p:spTree>
    <p:extLst>
      <p:ext uri="{BB962C8B-B14F-4D97-AF65-F5344CB8AC3E}">
        <p14:creationId xmlns:p14="http://schemas.microsoft.com/office/powerpoint/2010/main" val="1935409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54</a:t>
            </a:fld>
            <a:endParaRPr kumimoji="1" lang="zh-CN" altLang="en-US"/>
          </a:p>
        </p:txBody>
      </p:sp>
    </p:spTree>
    <p:extLst>
      <p:ext uri="{BB962C8B-B14F-4D97-AF65-F5344CB8AC3E}">
        <p14:creationId xmlns:p14="http://schemas.microsoft.com/office/powerpoint/2010/main" val="24116000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55</a:t>
            </a:fld>
            <a:endParaRPr kumimoji="1" lang="zh-CN" altLang="en-US"/>
          </a:p>
        </p:txBody>
      </p:sp>
    </p:spTree>
    <p:extLst>
      <p:ext uri="{BB962C8B-B14F-4D97-AF65-F5344CB8AC3E}">
        <p14:creationId xmlns:p14="http://schemas.microsoft.com/office/powerpoint/2010/main" val="32055977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56</a:t>
            </a:fld>
            <a:endParaRPr kumimoji="1" lang="zh-CN" altLang="en-US"/>
          </a:p>
        </p:txBody>
      </p:sp>
    </p:spTree>
    <p:extLst>
      <p:ext uri="{BB962C8B-B14F-4D97-AF65-F5344CB8AC3E}">
        <p14:creationId xmlns:p14="http://schemas.microsoft.com/office/powerpoint/2010/main" val="12004201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57</a:t>
            </a:fld>
            <a:endParaRPr kumimoji="1" lang="zh-CN" altLang="en-US"/>
          </a:p>
        </p:txBody>
      </p:sp>
    </p:spTree>
    <p:extLst>
      <p:ext uri="{BB962C8B-B14F-4D97-AF65-F5344CB8AC3E}">
        <p14:creationId xmlns:p14="http://schemas.microsoft.com/office/powerpoint/2010/main" val="25892089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58</a:t>
            </a:fld>
            <a:endParaRPr kumimoji="1" lang="zh-CN" altLang="en-US"/>
          </a:p>
        </p:txBody>
      </p:sp>
    </p:spTree>
    <p:extLst>
      <p:ext uri="{BB962C8B-B14F-4D97-AF65-F5344CB8AC3E}">
        <p14:creationId xmlns:p14="http://schemas.microsoft.com/office/powerpoint/2010/main" val="13771324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59</a:t>
            </a:fld>
            <a:endParaRPr kumimoji="1" lang="zh-CN" altLang="en-US"/>
          </a:p>
        </p:txBody>
      </p:sp>
    </p:spTree>
    <p:extLst>
      <p:ext uri="{BB962C8B-B14F-4D97-AF65-F5344CB8AC3E}">
        <p14:creationId xmlns:p14="http://schemas.microsoft.com/office/powerpoint/2010/main" val="36252290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60</a:t>
            </a:fld>
            <a:endParaRPr kumimoji="1" lang="zh-CN" altLang="en-US"/>
          </a:p>
        </p:txBody>
      </p:sp>
    </p:spTree>
    <p:extLst>
      <p:ext uri="{BB962C8B-B14F-4D97-AF65-F5344CB8AC3E}">
        <p14:creationId xmlns:p14="http://schemas.microsoft.com/office/powerpoint/2010/main" val="9113230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61</a:t>
            </a:fld>
            <a:endParaRPr kumimoji="1" lang="zh-CN" altLang="en-US"/>
          </a:p>
        </p:txBody>
      </p:sp>
    </p:spTree>
    <p:extLst>
      <p:ext uri="{BB962C8B-B14F-4D97-AF65-F5344CB8AC3E}">
        <p14:creationId xmlns:p14="http://schemas.microsoft.com/office/powerpoint/2010/main" val="21418529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62</a:t>
            </a:fld>
            <a:endParaRPr kumimoji="1" lang="zh-CN" altLang="en-US"/>
          </a:p>
        </p:txBody>
      </p:sp>
    </p:spTree>
    <p:extLst>
      <p:ext uri="{BB962C8B-B14F-4D97-AF65-F5344CB8AC3E}">
        <p14:creationId xmlns:p14="http://schemas.microsoft.com/office/powerpoint/2010/main" val="472358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63</a:t>
            </a:fld>
            <a:endParaRPr kumimoji="1" lang="zh-CN" altLang="en-US"/>
          </a:p>
        </p:txBody>
      </p:sp>
    </p:spTree>
    <p:extLst>
      <p:ext uri="{BB962C8B-B14F-4D97-AF65-F5344CB8AC3E}">
        <p14:creationId xmlns:p14="http://schemas.microsoft.com/office/powerpoint/2010/main" val="2211064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122363"/>
            <a:ext cx="9144000" cy="2387600"/>
          </a:xfrm>
        </p:spPr>
        <p:txBody>
          <a:bodyPr anchor="b">
            <a:normAutofit/>
          </a:bodyPr>
          <a:lstStyle>
            <a:lvl1pPr algn="ctr">
              <a:defRPr sz="5400">
                <a:latin typeface="Times New Roman" panose="02020603050405020304" pitchFamily="18" charset="0"/>
                <a:ea typeface="+mj-ea"/>
                <a:cs typeface="Times New Roman" panose="02020603050405020304" pitchFamily="18" charset="0"/>
              </a:defRPr>
            </a:lvl1pPr>
          </a:lstStyle>
          <a:p>
            <a:r>
              <a:rPr kumimoji="1" lang="zh-CN" altLang="en-US" dirty="0"/>
              <a:t>单击此处编辑母版标题样式</a:t>
            </a:r>
            <a:br>
              <a:rPr kumimoji="1" lang="en-US" altLang="zh-CN" dirty="0"/>
            </a:br>
            <a:endParaRPr kumimoji="1" lang="zh-CN" altLang="en-US" dirty="0"/>
          </a:p>
        </p:txBody>
      </p:sp>
      <p:sp>
        <p:nvSpPr>
          <p:cNvPr id="3" name="副标题 2"/>
          <p:cNvSpPr>
            <a:spLocks noGrp="1"/>
          </p:cNvSpPr>
          <p:nvPr>
            <p:ph type="subTitle" idx="1" hasCustomPrompt="1"/>
          </p:nvPr>
        </p:nvSpPr>
        <p:spPr>
          <a:xfrm>
            <a:off x="1524000" y="3602038"/>
            <a:ext cx="9144000" cy="1655762"/>
          </a:xfrm>
          <a:ln>
            <a:noFill/>
          </a:ln>
        </p:spPr>
        <p:txBody>
          <a:bodyPr/>
          <a:lstStyle>
            <a:lvl1pPr marL="0" indent="0" algn="ctr">
              <a:buNone/>
              <a:defRPr sz="2400">
                <a:latin typeface="Times New Roman" panose="02020603050405020304" pitchFamily="18" charset="0"/>
                <a:ea typeface="+mj-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en-US" altLang="zh-CN" dirty="0"/>
          </a:p>
          <a:p>
            <a:r>
              <a:rPr kumimoji="1" lang="zh-CN" altLang="en-US" dirty="0"/>
              <a:t>单击此处编辑母版副标题样式</a:t>
            </a:r>
          </a:p>
        </p:txBody>
      </p:sp>
      <p:sp>
        <p:nvSpPr>
          <p:cNvPr id="4" name="日期占位符 3"/>
          <p:cNvSpPr>
            <a:spLocks noGrp="1"/>
          </p:cNvSpPr>
          <p:nvPr>
            <p:ph type="dt" sz="half" idx="10"/>
          </p:nvPr>
        </p:nvSpPr>
        <p:spPr/>
        <p:txBody>
          <a:bodyPr/>
          <a:lstStyle>
            <a:lvl1pPr>
              <a:defRPr>
                <a:latin typeface="Times New Roman" panose="02020603050405020304" pitchFamily="18" charset="0"/>
                <a:ea typeface="+mj-ea"/>
                <a:cs typeface="Times New Roman" panose="02020603050405020304" pitchFamily="18" charset="0"/>
              </a:defRPr>
            </a:lvl1pPr>
          </a:lstStyle>
          <a:p>
            <a:fld id="{E6C9AC36-F551-8142-B918-8641B516A611}" type="datetime1">
              <a:rPr kumimoji="1" lang="zh-CN" altLang="en-US" smtClean="0"/>
              <a:t>2024/9/30</a:t>
            </a:fld>
            <a:endParaRPr kumimoji="1" lang="zh-CN" altLang="en-US" dirty="0"/>
          </a:p>
        </p:txBody>
      </p:sp>
      <p:sp>
        <p:nvSpPr>
          <p:cNvPr id="5" name="页脚占位符 4"/>
          <p:cNvSpPr>
            <a:spLocks noGrp="1"/>
          </p:cNvSpPr>
          <p:nvPr>
            <p:ph type="ftr" sz="quarter" idx="11"/>
          </p:nvPr>
        </p:nvSpPr>
        <p:spPr/>
        <p:txBody>
          <a:bodyPr/>
          <a:lstStyle>
            <a:lvl1pPr>
              <a:defRPr>
                <a:latin typeface="Times New Roman" panose="02020603050405020304" pitchFamily="18" charset="0"/>
                <a:ea typeface="+mj-ea"/>
                <a:cs typeface="Times New Roman" panose="02020603050405020304" pitchFamily="18" charset="0"/>
              </a:defRPr>
            </a:lvl1pPr>
          </a:lstStyle>
          <a:p>
            <a:endParaRPr kumimoji="1" lang="zh-CN" altLang="en-US" dirty="0"/>
          </a:p>
        </p:txBody>
      </p:sp>
      <p:sp>
        <p:nvSpPr>
          <p:cNvPr id="7" name="矩形 6"/>
          <p:cNvSpPr/>
          <p:nvPr userDrawn="1"/>
        </p:nvSpPr>
        <p:spPr>
          <a:xfrm>
            <a:off x="-9939" y="-8627"/>
            <a:ext cx="9307502" cy="56781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0" spc="600" dirty="0">
                <a:solidFill>
                  <a:schemeClr val="bg1"/>
                </a:solidFill>
                <a:latin typeface="Times New Roman" panose="02020603050405020304" pitchFamily="18" charset="0"/>
                <a:ea typeface="+mj-ea"/>
                <a:cs typeface="Times New Roman" panose="02020603050405020304" pitchFamily="18" charset="0"/>
              </a:rPr>
              <a:t>操作系统讲义</a:t>
            </a:r>
          </a:p>
        </p:txBody>
      </p:sp>
      <p:sp>
        <p:nvSpPr>
          <p:cNvPr id="9" name="文本框 8"/>
          <p:cNvSpPr txBox="1"/>
          <p:nvPr userDrawn="1"/>
        </p:nvSpPr>
        <p:spPr>
          <a:xfrm>
            <a:off x="9488849" y="123270"/>
            <a:ext cx="2509020" cy="400110"/>
          </a:xfrm>
          <a:prstGeom prst="rect">
            <a:avLst/>
          </a:prstGeom>
          <a:noFill/>
        </p:spPr>
        <p:txBody>
          <a:bodyPr wrap="none" rtlCol="0">
            <a:spAutoFit/>
          </a:bodyPr>
          <a:lstStyle/>
          <a:p>
            <a:pPr algn="r"/>
            <a:r>
              <a:rPr lang="zh-CN" altLang="en-US" sz="2000" spc="600" dirty="0">
                <a:solidFill>
                  <a:srgbClr val="5B307E"/>
                </a:solidFill>
                <a:latin typeface="Times New Roman" panose="02020603050405020304" pitchFamily="18" charset="0"/>
                <a:ea typeface="+mj-ea"/>
                <a:cs typeface="Times New Roman" panose="02020603050405020304" pitchFamily="18" charset="0"/>
              </a:rPr>
              <a:t>分享</a:t>
            </a:r>
            <a:r>
              <a:rPr lang="en-US" altLang="zh-CN" sz="2000" spc="600" dirty="0">
                <a:solidFill>
                  <a:srgbClr val="5B307E"/>
                </a:solidFill>
                <a:latin typeface="Times New Roman" panose="02020603050405020304" pitchFamily="18" charset="0"/>
                <a:ea typeface="+mj-ea"/>
                <a:cs typeface="Times New Roman" panose="02020603050405020304" pitchFamily="18" charset="0"/>
              </a:rPr>
              <a:t>·</a:t>
            </a:r>
            <a:r>
              <a:rPr lang="zh-CN" altLang="en-US" sz="2000" spc="600" dirty="0">
                <a:solidFill>
                  <a:srgbClr val="5B307E"/>
                </a:solidFill>
                <a:latin typeface="Times New Roman" panose="02020603050405020304" pitchFamily="18" charset="0"/>
                <a:ea typeface="+mj-ea"/>
                <a:cs typeface="Times New Roman" panose="02020603050405020304" pitchFamily="18" charset="0"/>
              </a:rPr>
              <a:t>开源</a:t>
            </a:r>
            <a:r>
              <a:rPr lang="en-US" altLang="zh-CN" sz="2000" spc="600" dirty="0">
                <a:solidFill>
                  <a:srgbClr val="5B307E"/>
                </a:solidFill>
                <a:latin typeface="Times New Roman" panose="02020603050405020304" pitchFamily="18" charset="0"/>
                <a:ea typeface="+mj-ea"/>
                <a:cs typeface="Times New Roman" panose="02020603050405020304" pitchFamily="18" charset="0"/>
              </a:rPr>
              <a:t>·</a:t>
            </a:r>
            <a:r>
              <a:rPr lang="zh-CN" altLang="en-US" sz="2000" spc="600" dirty="0">
                <a:solidFill>
                  <a:srgbClr val="5B307E"/>
                </a:solidFill>
                <a:latin typeface="Times New Roman" panose="02020603050405020304" pitchFamily="18" charset="0"/>
                <a:ea typeface="+mj-ea"/>
                <a:cs typeface="Times New Roman" panose="02020603050405020304" pitchFamily="18" charset="0"/>
              </a:rPr>
              <a:t>系统</a:t>
            </a:r>
          </a:p>
        </p:txBody>
      </p:sp>
      <p:sp>
        <p:nvSpPr>
          <p:cNvPr id="10" name="文本框 9"/>
          <p:cNvSpPr txBox="1"/>
          <p:nvPr userDrawn="1"/>
        </p:nvSpPr>
        <p:spPr>
          <a:xfrm>
            <a:off x="9831318" y="6365398"/>
            <a:ext cx="2166551" cy="369332"/>
          </a:xfrm>
          <a:prstGeom prst="rect">
            <a:avLst/>
          </a:prstGeom>
          <a:noFill/>
        </p:spPr>
        <p:txBody>
          <a:bodyPr wrap="square">
            <a:spAutoFit/>
          </a:bodyPr>
          <a:lstStyle/>
          <a:p>
            <a:r>
              <a:rPr lang="en-US" altLang="zh-CN" b="0" i="0" dirty="0">
                <a:solidFill>
                  <a:schemeClr val="accent1">
                    <a:lumMod val="60000"/>
                    <a:lumOff val="40000"/>
                  </a:schemeClr>
                </a:solidFill>
                <a:effectLst/>
                <a:latin typeface="Times New Roman" panose="02020603050405020304" pitchFamily="18" charset="0"/>
                <a:ea typeface="+mj-ea"/>
                <a:cs typeface="Times New Roman" panose="02020603050405020304" pitchFamily="18" charset="0"/>
              </a:rPr>
              <a:t>Contributor: </a:t>
            </a:r>
            <a:r>
              <a:rPr lang="zh-CN" altLang="en-US" b="0" i="0" dirty="0">
                <a:solidFill>
                  <a:schemeClr val="accent1">
                    <a:lumMod val="60000"/>
                    <a:lumOff val="40000"/>
                  </a:schemeClr>
                </a:solidFill>
                <a:effectLst/>
                <a:latin typeface="Times New Roman" panose="02020603050405020304" pitchFamily="18" charset="0"/>
                <a:ea typeface="+mj-ea"/>
                <a:cs typeface="Times New Roman" panose="02020603050405020304" pitchFamily="18" charset="0"/>
              </a:rPr>
              <a:t>江先亮</a:t>
            </a:r>
            <a:endParaRPr lang="en-US" altLang="zh-CN" dirty="0">
              <a:solidFill>
                <a:schemeClr val="accent1">
                  <a:lumMod val="60000"/>
                  <a:lumOff val="40000"/>
                </a:schemeClr>
              </a:solidFill>
              <a:latin typeface="Times New Roman" panose="02020603050405020304" pitchFamily="18" charset="0"/>
              <a:ea typeface="+mj-ea"/>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atin typeface="Times New Roman" panose="02020603050405020304" pitchFamily="18" charset="0"/>
                <a:ea typeface="+mj-ea"/>
                <a:cs typeface="Times New Roman" panose="02020603050405020304" pitchFamily="18" charset="0"/>
              </a:defRPr>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marL="360680" indent="-360680">
              <a:lnSpc>
                <a:spcPct val="120000"/>
              </a:lnSpc>
              <a:spcBef>
                <a:spcPts val="600"/>
              </a:spcBef>
              <a:buFont typeface="Wingdings" panose="05000000000000000000" pitchFamily="2" charset="2"/>
              <a:buChar char="Ø"/>
              <a:defRPr>
                <a:latin typeface="Times New Roman" panose="02020603050405020304" pitchFamily="18" charset="0"/>
                <a:ea typeface="+mj-ea"/>
                <a:cs typeface="Times New Roman" panose="02020603050405020304" pitchFamily="18" charset="0"/>
              </a:defRPr>
            </a:lvl1pPr>
            <a:lvl2pPr>
              <a:lnSpc>
                <a:spcPct val="120000"/>
              </a:lnSpc>
              <a:spcBef>
                <a:spcPts val="600"/>
              </a:spcBef>
              <a:buFont typeface="Arial" panose="020B0604020202020204" pitchFamily="34" charset="0"/>
              <a:buChar char="•"/>
              <a:defRPr>
                <a:latin typeface="Times New Roman" panose="02020603050405020304" pitchFamily="18" charset="0"/>
                <a:ea typeface="+mj-ea"/>
                <a:cs typeface="Times New Roman" panose="02020603050405020304" pitchFamily="18" charset="0"/>
              </a:defRPr>
            </a:lvl2pPr>
            <a:lvl3pPr>
              <a:lnSpc>
                <a:spcPct val="120000"/>
              </a:lnSpc>
              <a:spcBef>
                <a:spcPts val="600"/>
              </a:spcBef>
              <a:defRPr>
                <a:latin typeface="Times New Roman" panose="02020603050405020304" pitchFamily="18" charset="0"/>
                <a:ea typeface="+mj-ea"/>
                <a:cs typeface="Times New Roman" panose="02020603050405020304" pitchFamily="18" charset="0"/>
              </a:defRPr>
            </a:lvl3pPr>
            <a:lvl4pPr>
              <a:lnSpc>
                <a:spcPct val="120000"/>
              </a:lnSpc>
              <a:spcBef>
                <a:spcPts val="600"/>
              </a:spcBef>
              <a:defRPr>
                <a:latin typeface="Times New Roman" panose="02020603050405020304" pitchFamily="18" charset="0"/>
                <a:ea typeface="+mj-ea"/>
                <a:cs typeface="Times New Roman" panose="02020603050405020304" pitchFamily="18" charset="0"/>
              </a:defRPr>
            </a:lvl4pPr>
            <a:lvl5pPr>
              <a:lnSpc>
                <a:spcPct val="120000"/>
              </a:lnSpc>
              <a:spcBef>
                <a:spcPts val="600"/>
              </a:spcBef>
              <a:defRPr>
                <a:latin typeface="Times New Roman" panose="02020603050405020304" pitchFamily="18" charset="0"/>
                <a:ea typeface="+mj-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p:txBody>
          <a:bodyPr/>
          <a:lstStyle>
            <a:lvl1pPr>
              <a:defRPr>
                <a:latin typeface="Times New Roman" panose="02020603050405020304" pitchFamily="18" charset="0"/>
                <a:ea typeface="+mj-ea"/>
                <a:cs typeface="Times New Roman" panose="02020603050405020304" pitchFamily="18" charset="0"/>
              </a:defRPr>
            </a:lvl1pPr>
          </a:lstStyle>
          <a:p>
            <a:fld id="{D9F44458-A3AD-7248-AB3A-A80099144E2A}" type="datetime1">
              <a:rPr kumimoji="1" lang="zh-CN" altLang="en-US" smtClean="0"/>
              <a:t>2024/9/30</a:t>
            </a:fld>
            <a:endParaRPr kumimoji="1" lang="zh-CN" altLang="en-US"/>
          </a:p>
        </p:txBody>
      </p:sp>
      <p:sp>
        <p:nvSpPr>
          <p:cNvPr id="5" name="页脚占位符 4"/>
          <p:cNvSpPr>
            <a:spLocks noGrp="1"/>
          </p:cNvSpPr>
          <p:nvPr>
            <p:ph type="ftr" sz="quarter" idx="11"/>
          </p:nvPr>
        </p:nvSpPr>
        <p:spPr/>
        <p:txBody>
          <a:bodyPr/>
          <a:lstStyle>
            <a:lvl1pPr>
              <a:defRPr>
                <a:latin typeface="Times New Roman" panose="02020603050405020304" pitchFamily="18" charset="0"/>
                <a:ea typeface="+mj-ea"/>
                <a:cs typeface="Times New Roman" panose="02020603050405020304" pitchFamily="18" charset="0"/>
              </a:defRPr>
            </a:lvl1pPr>
          </a:lstStyle>
          <a:p>
            <a:endParaRPr kumimoji="1" lang="zh-CN" altLang="en-US"/>
          </a:p>
        </p:txBody>
      </p:sp>
      <p:sp>
        <p:nvSpPr>
          <p:cNvPr id="6" name="灯片编号占位符 5"/>
          <p:cNvSpPr>
            <a:spLocks noGrp="1"/>
          </p:cNvSpPr>
          <p:nvPr>
            <p:ph type="sldNum" sz="quarter" idx="12"/>
          </p:nvPr>
        </p:nvSpPr>
        <p:spPr/>
        <p:txBody>
          <a:bodyPr/>
          <a:lstStyle>
            <a:lvl1pPr>
              <a:defRPr>
                <a:latin typeface="Times New Roman" panose="02020603050405020304" pitchFamily="18" charset="0"/>
                <a:ea typeface="+mj-ea"/>
                <a:cs typeface="Times New Roman" panose="02020603050405020304" pitchFamily="18" charset="0"/>
              </a:defRPr>
            </a:lvl1pPr>
          </a:lstStyle>
          <a:p>
            <a:fld id="{8D4D1E41-7A09-AB4A-A4E1-09765ADA2698}" type="slidenum">
              <a:rPr kumimoji="1" lang="zh-CN" altLang="en-US" smtClean="0"/>
              <a:t>‹#›</a:t>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grpSp>
      <p:pic>
        <p:nvPicPr>
          <p:cNvPr id="8" name="图片 7"/>
          <p:cNvPicPr>
            <a:picLocks noChangeAspect="1"/>
          </p:cNvPicPr>
          <p:nvPr userDrawn="1"/>
        </p:nvPicPr>
        <p:blipFill>
          <a:blip r:embed="rId2"/>
          <a:stretch>
            <a:fillRect/>
          </a:stretch>
        </p:blipFill>
        <p:spPr>
          <a:xfrm>
            <a:off x="9745897" y="497386"/>
            <a:ext cx="2172649" cy="665946"/>
          </a:xfrm>
          <a:prstGeom prst="rect">
            <a:avLst/>
          </a:prstGeom>
        </p:spPr>
      </p:pic>
      <p:sp>
        <p:nvSpPr>
          <p:cNvPr id="7" name="AutoShape 4" descr="华为 openEuler 开源社区如约而至，上千个代码仓库已开放！"/>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603050405020304" pitchFamily="18" charset="0"/>
              <a:ea typeface="+mj-ea"/>
              <a:cs typeface="Times New Roman" panose="02020603050405020304" pitchFamily="18" charset="0"/>
            </a:endParaRPr>
          </a:p>
        </p:txBody>
      </p:sp>
      <p:pic>
        <p:nvPicPr>
          <p:cNvPr id="10" name="图片 9"/>
          <p:cNvPicPr>
            <a:picLocks noChangeAspect="1"/>
          </p:cNvPicPr>
          <p:nvPr userDrawn="1"/>
        </p:nvPicPr>
        <p:blipFill rotWithShape="1">
          <a:blip r:embed="rId3"/>
          <a:srcRect l="14829" r="13965"/>
          <a:stretch>
            <a:fillRect/>
          </a:stretch>
        </p:blipFill>
        <p:spPr>
          <a:xfrm>
            <a:off x="369018" y="485954"/>
            <a:ext cx="803904" cy="67737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4351338"/>
          </a:xfrm>
        </p:spPr>
        <p:txBody>
          <a:bodyPr/>
          <a:lstStyle>
            <a:lvl1pPr>
              <a:defRPr>
                <a:latin typeface="Times New Roman" panose="02020603050405020304" pitchFamily="18" charset="0"/>
                <a:ea typeface="+mj-ea"/>
                <a:cs typeface="Times New Roman" panose="02020603050405020304" pitchFamily="18" charset="0"/>
              </a:defRPr>
            </a:lvl1pPr>
            <a:lvl2pPr>
              <a:defRPr>
                <a:latin typeface="Times New Roman" panose="02020603050405020304" pitchFamily="18" charset="0"/>
                <a:ea typeface="+mj-ea"/>
                <a:cs typeface="Times New Roman" panose="02020603050405020304" pitchFamily="18" charset="0"/>
              </a:defRPr>
            </a:lvl2pPr>
            <a:lvl3pPr>
              <a:defRPr>
                <a:latin typeface="Times New Roman" panose="02020603050405020304" pitchFamily="18" charset="0"/>
                <a:ea typeface="+mj-ea"/>
                <a:cs typeface="Times New Roman" panose="02020603050405020304" pitchFamily="18" charset="0"/>
              </a:defRPr>
            </a:lvl3pPr>
            <a:lvl4pPr>
              <a:defRPr>
                <a:latin typeface="Times New Roman" panose="02020603050405020304" pitchFamily="18" charset="0"/>
                <a:ea typeface="+mj-ea"/>
                <a:cs typeface="Times New Roman" panose="02020603050405020304" pitchFamily="18" charset="0"/>
              </a:defRPr>
            </a:lvl4pPr>
            <a:lvl5pPr>
              <a:defRPr>
                <a:latin typeface="Times New Roman" panose="02020603050405020304" pitchFamily="18" charset="0"/>
                <a:ea typeface="+mj-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lvl1pPr>
              <a:defRPr>
                <a:latin typeface="Times New Roman" panose="02020603050405020304" pitchFamily="18" charset="0"/>
                <a:ea typeface="+mj-ea"/>
                <a:cs typeface="Times New Roman" panose="02020603050405020304" pitchFamily="18" charset="0"/>
              </a:defRPr>
            </a:lvl1pPr>
            <a:lvl2pPr>
              <a:defRPr>
                <a:latin typeface="Times New Roman" panose="02020603050405020304" pitchFamily="18" charset="0"/>
                <a:ea typeface="+mj-ea"/>
                <a:cs typeface="Times New Roman" panose="02020603050405020304" pitchFamily="18" charset="0"/>
              </a:defRPr>
            </a:lvl2pPr>
            <a:lvl3pPr>
              <a:defRPr>
                <a:latin typeface="Times New Roman" panose="02020603050405020304" pitchFamily="18" charset="0"/>
                <a:ea typeface="+mj-ea"/>
                <a:cs typeface="Times New Roman" panose="02020603050405020304" pitchFamily="18" charset="0"/>
              </a:defRPr>
            </a:lvl3pPr>
            <a:lvl4pPr>
              <a:defRPr>
                <a:latin typeface="Times New Roman" panose="02020603050405020304" pitchFamily="18" charset="0"/>
                <a:ea typeface="+mj-ea"/>
                <a:cs typeface="Times New Roman" panose="02020603050405020304" pitchFamily="18" charset="0"/>
              </a:defRPr>
            </a:lvl4pPr>
            <a:lvl5pPr>
              <a:defRPr>
                <a:latin typeface="Times New Roman" panose="02020603050405020304" pitchFamily="18" charset="0"/>
                <a:ea typeface="+mj-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p:cNvSpPr>
            <a:spLocks noGrp="1"/>
          </p:cNvSpPr>
          <p:nvPr>
            <p:ph type="dt" sz="half" idx="10"/>
          </p:nvPr>
        </p:nvSpPr>
        <p:spPr/>
        <p:txBody>
          <a:bodyPr/>
          <a:lstStyle>
            <a:lvl1pPr>
              <a:defRPr>
                <a:latin typeface="Times New Roman" panose="02020603050405020304" pitchFamily="18" charset="0"/>
                <a:ea typeface="+mj-ea"/>
                <a:cs typeface="Times New Roman" panose="02020603050405020304" pitchFamily="18" charset="0"/>
              </a:defRPr>
            </a:lvl1pPr>
          </a:lstStyle>
          <a:p>
            <a:fld id="{4290EBB2-4D7C-084A-BE30-AC939B671EC1}" type="datetime1">
              <a:rPr kumimoji="1" lang="zh-CN" altLang="en-US" smtClean="0"/>
              <a:t>2024/9/30</a:t>
            </a:fld>
            <a:endParaRPr kumimoji="1" lang="zh-CN" altLang="en-US"/>
          </a:p>
        </p:txBody>
      </p:sp>
      <p:sp>
        <p:nvSpPr>
          <p:cNvPr id="6" name="页脚占位符 5"/>
          <p:cNvSpPr>
            <a:spLocks noGrp="1"/>
          </p:cNvSpPr>
          <p:nvPr>
            <p:ph type="ftr" sz="quarter" idx="11"/>
          </p:nvPr>
        </p:nvSpPr>
        <p:spPr/>
        <p:txBody>
          <a:bodyPr/>
          <a:lstStyle>
            <a:lvl1pPr>
              <a:defRPr>
                <a:latin typeface="Times New Roman" panose="02020603050405020304" pitchFamily="18" charset="0"/>
                <a:ea typeface="+mj-ea"/>
                <a:cs typeface="Times New Roman" panose="02020603050405020304" pitchFamily="18" charset="0"/>
              </a:defRPr>
            </a:lvl1pPr>
          </a:lstStyle>
          <a:p>
            <a:endParaRPr kumimoji="1" lang="zh-CN" altLang="en-US"/>
          </a:p>
        </p:txBody>
      </p:sp>
      <p:sp>
        <p:nvSpPr>
          <p:cNvPr id="7" name="灯片编号占位符 6"/>
          <p:cNvSpPr>
            <a:spLocks noGrp="1"/>
          </p:cNvSpPr>
          <p:nvPr>
            <p:ph type="sldNum" sz="quarter" idx="12"/>
          </p:nvPr>
        </p:nvSpPr>
        <p:spPr/>
        <p:txBody>
          <a:bodyPr/>
          <a:lstStyle>
            <a:lvl1pPr>
              <a:defRPr>
                <a:latin typeface="Times New Roman" panose="02020603050405020304" pitchFamily="18" charset="0"/>
                <a:ea typeface="+mj-ea"/>
                <a:cs typeface="Times New Roman" panose="02020603050405020304" pitchFamily="18" charset="0"/>
              </a:defRPr>
            </a:lvl1pPr>
          </a:lstStyle>
          <a:p>
            <a:fld id="{8D4D1E41-7A09-AB4A-A4E1-09765ADA2698}" type="slidenum">
              <a:rPr kumimoji="1" lang="zh-CN" altLang="en-US" smtClean="0"/>
              <a:t>‹#›</a:t>
            </a:fld>
            <a:endParaRPr kumimoji="1" lang="zh-CN" altLang="en-US"/>
          </a:p>
        </p:txBody>
      </p:sp>
      <p:sp>
        <p:nvSpPr>
          <p:cNvPr id="76" name="标题 1"/>
          <p:cNvSpPr>
            <a:spLocks noGrp="1"/>
          </p:cNvSpPr>
          <p:nvPr>
            <p:ph type="title"/>
          </p:nvPr>
        </p:nvSpPr>
        <p:spPr>
          <a:xfrm>
            <a:off x="1307508" y="365126"/>
            <a:ext cx="8220812" cy="879086"/>
          </a:xfrm>
        </p:spPr>
        <p:txBody>
          <a:bodyPr>
            <a:normAutofit/>
          </a:bodyPr>
          <a:lstStyle>
            <a:lvl1pPr>
              <a:defRPr sz="4000">
                <a:latin typeface="Times New Roman" panose="02020603050405020304" pitchFamily="18" charset="0"/>
                <a:ea typeface="+mj-ea"/>
                <a:cs typeface="Times New Roman" panose="02020603050405020304" pitchFamily="18" charset="0"/>
              </a:defRPr>
            </a:lvl1pPr>
          </a:lstStyle>
          <a:p>
            <a:r>
              <a:rPr kumimoji="1" lang="zh-CN" altLang="en-US" dirty="0"/>
              <a:t>单击此处编辑母版标题样式</a:t>
            </a:r>
          </a:p>
        </p:txBody>
      </p:sp>
      <p:cxnSp>
        <p:nvCxnSpPr>
          <p:cNvPr id="77"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78" name="直线连接符 63"/>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p:cNvGrpSpPr/>
          <p:nvPr userDrawn="1"/>
        </p:nvGrpSpPr>
        <p:grpSpPr>
          <a:xfrm>
            <a:off x="715452" y="634525"/>
            <a:ext cx="403039" cy="321898"/>
            <a:chOff x="1368170" y="664579"/>
            <a:chExt cx="550582" cy="439737"/>
          </a:xfrm>
          <a:solidFill>
            <a:schemeClr val="bg1"/>
          </a:solidFill>
        </p:grpSpPr>
        <p:sp>
          <p:nvSpPr>
            <p:cNvPr id="80"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1"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2"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3"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4"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5"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6"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7"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8"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9"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90"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grpSp>
      <p:pic>
        <p:nvPicPr>
          <p:cNvPr id="91" name="图片 90"/>
          <p:cNvPicPr>
            <a:picLocks noChangeAspect="1"/>
          </p:cNvPicPr>
          <p:nvPr userDrawn="1"/>
        </p:nvPicPr>
        <p:blipFill>
          <a:blip r:embed="rId2"/>
          <a:stretch>
            <a:fillRect/>
          </a:stretch>
        </p:blipFill>
        <p:spPr>
          <a:xfrm>
            <a:off x="9745897" y="497386"/>
            <a:ext cx="2172649" cy="665946"/>
          </a:xfrm>
          <a:prstGeom prst="rect">
            <a:avLst/>
          </a:prstGeom>
        </p:spPr>
      </p:pic>
      <p:pic>
        <p:nvPicPr>
          <p:cNvPr id="24" name="图片 23"/>
          <p:cNvPicPr>
            <a:picLocks noChangeAspect="1"/>
          </p:cNvPicPr>
          <p:nvPr userDrawn="1"/>
        </p:nvPicPr>
        <p:blipFill rotWithShape="1">
          <a:blip r:embed="rId3"/>
          <a:srcRect l="14829" r="13965"/>
          <a:stretch>
            <a:fillRect/>
          </a:stretch>
        </p:blipFill>
        <p:spPr>
          <a:xfrm>
            <a:off x="369018" y="485954"/>
            <a:ext cx="803904" cy="67737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ea typeface="+mj-ea"/>
                <a:cs typeface="Times New Roman" panose="02020603050405020304" pitchFamily="18" charset="0"/>
              </a:defRPr>
            </a:lvl1pPr>
          </a:lstStyle>
          <a:p>
            <a:r>
              <a:rPr lang="zh-CN" altLang="en-US"/>
              <a:t>单击此处编辑母版标题样式</a:t>
            </a:r>
          </a:p>
        </p:txBody>
      </p:sp>
      <p:sp>
        <p:nvSpPr>
          <p:cNvPr id="3" name="Rectangle 6"/>
          <p:cNvSpPr>
            <a:spLocks noGrp="1" noChangeArrowheads="1"/>
          </p:cNvSpPr>
          <p:nvPr>
            <p:ph type="dt" sz="half" idx="10"/>
          </p:nvPr>
        </p:nvSpPr>
        <p:spPr/>
        <p:txBody>
          <a:bodyPr/>
          <a:lstStyle>
            <a:lvl1pPr>
              <a:defRPr>
                <a:latin typeface="Times New Roman" panose="02020603050405020304" pitchFamily="18" charset="0"/>
                <a:ea typeface="+mj-ea"/>
                <a:cs typeface="Times New Roman" panose="02020603050405020304" pitchFamily="18" charset="0"/>
              </a:defRPr>
            </a:lvl1pPr>
          </a:lstStyle>
          <a:p>
            <a:pPr>
              <a:defRPr/>
            </a:pPr>
            <a:fld id="{45C7992C-DF72-7644-B12E-329898B62496}" type="datetime1">
              <a:rPr lang="zh-CN" altLang="en-US" smtClean="0"/>
              <a:t>2024/9/30</a:t>
            </a:fld>
            <a:endParaRPr lang="en-US" altLang="zh-CN"/>
          </a:p>
        </p:txBody>
      </p:sp>
      <p:sp>
        <p:nvSpPr>
          <p:cNvPr id="4" name="Rectangle 7"/>
          <p:cNvSpPr>
            <a:spLocks noGrp="1" noChangeArrowheads="1"/>
          </p:cNvSpPr>
          <p:nvPr>
            <p:ph type="ftr" sz="quarter" idx="11"/>
          </p:nvPr>
        </p:nvSpPr>
        <p:spPr/>
        <p:txBody>
          <a:bodyPr/>
          <a:lstStyle>
            <a:lvl1pPr>
              <a:defRPr>
                <a:latin typeface="Times New Roman" panose="02020603050405020304" pitchFamily="18" charset="0"/>
                <a:ea typeface="+mj-ea"/>
                <a:cs typeface="Times New Roman" panose="02020603050405020304" pitchFamily="18" charset="0"/>
              </a:defRPr>
            </a:lvl1pPr>
          </a:lstStyle>
          <a:p>
            <a:pPr>
              <a:defRPr/>
            </a:pPr>
            <a:endParaRPr lang="en-US" altLang="zh-CN"/>
          </a:p>
        </p:txBody>
      </p:sp>
      <p:sp>
        <p:nvSpPr>
          <p:cNvPr id="5" name="Rectangle 8"/>
          <p:cNvSpPr>
            <a:spLocks noGrp="1" noChangeArrowheads="1"/>
          </p:cNvSpPr>
          <p:nvPr>
            <p:ph type="sldNum" sz="quarter" idx="12"/>
          </p:nvPr>
        </p:nvSpPr>
        <p:spPr/>
        <p:txBody>
          <a:bodyPr/>
          <a:lstStyle>
            <a:lvl1pPr>
              <a:defRPr>
                <a:latin typeface="Times New Roman" panose="02020603050405020304" pitchFamily="18" charset="0"/>
                <a:ea typeface="+mj-ea"/>
                <a:cs typeface="Times New Roman" panose="02020603050405020304" pitchFamily="18" charset="0"/>
              </a:defRPr>
            </a:lvl1pPr>
          </a:lstStyle>
          <a:p>
            <a:fld id="{07279A2F-85B5-794E-ADF1-0805CD3C44B7}" type="slidenum">
              <a:rPr lang="en-US" altLang="zh-CN" smtClean="0"/>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ea typeface="+mj-ea"/>
                <a:cs typeface="Times New Roman" panose="02020603050405020304" pitchFamily="18" charset="0"/>
              </a:defRPr>
            </a:lvl1pPr>
          </a:lstStyle>
          <a:p>
            <a:fld id="{6B5948C6-0782-6042-A859-FD82FD45C478}" type="datetime1">
              <a:rPr kumimoji="1" lang="zh-CN" altLang="en-US" smtClean="0"/>
              <a:t>2024/9/30</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mj-ea"/>
                <a:cs typeface="Times New Roman" panose="02020603050405020304" pitchFamily="18" charset="0"/>
              </a:defRPr>
            </a:lvl1pPr>
          </a:lstStyle>
          <a:p>
            <a:endParaRPr kumimoji="1" lang="zh-CN" altLang="en-US"/>
          </a:p>
        </p:txBody>
      </p:sp>
      <p:sp>
        <p:nvSpPr>
          <p:cNvPr id="6" name="灯片编号占位符 5"/>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ea typeface="+mj-ea"/>
                <a:cs typeface="Times New Roman" panose="02020603050405020304" pitchFamily="18" charset="0"/>
              </a:defRPr>
            </a:lvl1pPr>
          </a:lstStyle>
          <a:p>
            <a:fld id="{8D4D1E41-7A09-AB4A-A4E1-09765ADA269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Times New Roman" panose="02020603050405020304" pitchFamily="18" charset="0"/>
          <a:ea typeface="+mj-ea"/>
          <a:cs typeface="Times New Roman" panose="02020603050405020304" pitchFamily="18"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Times New Roman" panose="02020603050405020304" pitchFamily="18" charset="0"/>
          <a:ea typeface="+mj-ea"/>
          <a:cs typeface="Times New Roman" panose="02020603050405020304" pitchFamily="18" charset="0"/>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Times New Roman" panose="02020603050405020304" pitchFamily="18" charset="0"/>
          <a:ea typeface="+mj-ea"/>
          <a:cs typeface="Times New Roman" panose="02020603050405020304" pitchFamily="18" charset="0"/>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mj-ea"/>
          <a:cs typeface="Times New Roman" panose="02020603050405020304" pitchFamily="18" charset="0"/>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mj-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18.jpeg"/><Relationship Id="rId4" Type="http://schemas.openxmlformats.org/officeDocument/2006/relationships/image" Target="../media/image17.jpeg"/></Relationships>
</file>

<file path=ppt/slides/_rels/slide3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3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4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eaLnBrk="1" hangingPunct="1">
              <a:spcBef>
                <a:spcPct val="50000"/>
              </a:spcBef>
            </a:pPr>
            <a:r>
              <a:rPr lang="zh-CN" altLang="en-US" sz="5400" b="1" dirty="0">
                <a:solidFill>
                  <a:srgbClr val="CC0099"/>
                </a:solidFill>
                <a:latin typeface="方正琥珀简体" pitchFamily="65" charset="-122"/>
                <a:ea typeface="方正琥珀简体" pitchFamily="65" charset="-122"/>
              </a:rPr>
              <a:t>第</a:t>
            </a:r>
            <a:r>
              <a:rPr lang="en-US" altLang="zh-CN" sz="5400" b="1" dirty="0">
                <a:solidFill>
                  <a:srgbClr val="CC0099"/>
                </a:solidFill>
                <a:latin typeface="方正琥珀简体" pitchFamily="65" charset="-122"/>
                <a:ea typeface="方正琥珀简体" pitchFamily="65" charset="-122"/>
              </a:rPr>
              <a:t>3</a:t>
            </a:r>
            <a:r>
              <a:rPr lang="zh-CN" altLang="en-US" sz="5400" b="1" dirty="0">
                <a:solidFill>
                  <a:srgbClr val="CC0099"/>
                </a:solidFill>
                <a:latin typeface="方正琥珀简体" pitchFamily="65" charset="-122"/>
                <a:ea typeface="方正琥珀简体" pitchFamily="65" charset="-122"/>
              </a:rPr>
              <a:t>章  </a:t>
            </a:r>
            <a:r>
              <a:rPr lang="zh-CN" altLang="en-US" sz="5400" b="1" dirty="0">
                <a:solidFill>
                  <a:schemeClr val="hlink"/>
                </a:solidFill>
                <a:ea typeface="方正琥珀简体" pitchFamily="65" charset="-122"/>
              </a:rPr>
              <a:t>处理机调度与死锁</a:t>
            </a:r>
            <a:br>
              <a:rPr lang="zh-CN" altLang="en-US" sz="5400" b="1" dirty="0">
                <a:solidFill>
                  <a:schemeClr val="hlink"/>
                </a:solidFill>
                <a:ea typeface="方正琥珀简体" pitchFamily="65" charset="-122"/>
              </a:rPr>
            </a:br>
            <a:r>
              <a:rPr lang="zh-CN" altLang="en-US" sz="5400" dirty="0">
                <a:solidFill>
                  <a:schemeClr val="tx2"/>
                </a:solidFill>
              </a:rPr>
              <a:t> </a:t>
            </a:r>
          </a:p>
        </p:txBody>
      </p:sp>
      <p:sp>
        <p:nvSpPr>
          <p:cNvPr id="3" name="副标题 2"/>
          <p:cNvSpPr>
            <a:spLocks noGrp="1"/>
          </p:cNvSpPr>
          <p:nvPr>
            <p:ph type="subTitle" idx="1"/>
          </p:nvPr>
        </p:nvSpPr>
        <p:spPr>
          <a:xfrm>
            <a:off x="1524000" y="3693376"/>
            <a:ext cx="9144000" cy="1655762"/>
          </a:xfrm>
        </p:spPr>
        <p:txBody>
          <a:bodyPr/>
          <a:lstStyle/>
          <a:p>
            <a:endParaRPr lang="en-US" altLang="zh-CN" dirty="0"/>
          </a:p>
          <a:p>
            <a:r>
              <a:rPr lang="zh-CN" altLang="en-US" sz="2800" b="1">
                <a:solidFill>
                  <a:srgbClr val="002060"/>
                </a:solidFill>
                <a:ea typeface="方正琥珀简体"/>
              </a:rPr>
              <a:t>教师：江先亮</a:t>
            </a:r>
            <a:endParaRPr lang="zh-CN" altLang="en-US" sz="2800" b="1" dirty="0">
              <a:solidFill>
                <a:srgbClr val="002060"/>
              </a:solidFill>
              <a:ea typeface="方正琥珀简体"/>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30555" cy="879086"/>
          </a:xfrm>
        </p:spPr>
        <p:txBody>
          <a:bodyPr>
            <a:normAutofit/>
          </a:bodyPr>
          <a:lstStyle/>
          <a:p>
            <a:r>
              <a:rPr kumimoji="1" lang="zh-CN" altLang="en-US"/>
              <a:t>处理机调度的层次和调度算法的目标</a:t>
            </a: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p:cNvSpPr txBox="1"/>
          <p:nvPr/>
        </p:nvSpPr>
        <p:spPr>
          <a:xfrm>
            <a:off x="451690" y="1858018"/>
            <a:ext cx="11268336" cy="2246769"/>
          </a:xfrm>
          <a:prstGeom prst="rect">
            <a:avLst/>
          </a:prstGeom>
          <a:noFill/>
        </p:spPr>
        <p:txBody>
          <a:bodyPr wrap="square">
            <a:spAutoFit/>
          </a:bodyPr>
          <a:lstStyle/>
          <a:p>
            <a:r>
              <a:rPr lang="zh-CN" altLang="en-US" sz="2800">
                <a:solidFill>
                  <a:schemeClr val="accent4">
                    <a:lumMod val="75000"/>
                  </a:schemeClr>
                </a:solidFill>
                <a:latin typeface="Times New Roman" panose="02020603050405020304" pitchFamily="18" charset="0"/>
                <a:cs typeface="Times New Roman" panose="02020603050405020304" pitchFamily="18" charset="0"/>
              </a:rPr>
              <a:t>        在多道程序系统中，调度的实质是一种资源分配，处理机调度是对处理机资源进行分配。处理机调度算法是指根据处理机分配策略所规定的处理机分配算法。在多道批处理系统中，一个作业从提交到获得处理机执行，直至作业运行完毕，可能需要经历多级处理机调度，下面先来了解处理机调度的层次。</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处理机调度的层次和调度算法的目标</a:t>
            </a:r>
            <a:endParaRPr kumimoji="1" lang="zh-CN" altLang="en-US" dirty="0"/>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a:t>处理机调度的层次</a:t>
            </a:r>
            <a:endParaRPr kumimoji="1" lang="en-US" altLang="zh-CN" dirty="0"/>
          </a:p>
          <a:p>
            <a:pPr lvl="1">
              <a:lnSpc>
                <a:spcPct val="120000"/>
              </a:lnSpc>
              <a:buFont typeface="Wingdings" panose="05000000000000000000" pitchFamily="2" charset="2"/>
              <a:buChar char="ü"/>
            </a:pPr>
            <a:r>
              <a:rPr kumimoji="1" lang="zh-CN" altLang="en-US"/>
              <a:t>高级调度</a:t>
            </a:r>
            <a:endParaRPr kumimoji="1" lang="en-US" altLang="zh-CN"/>
          </a:p>
          <a:p>
            <a:pPr marL="914400" lvl="2" indent="0">
              <a:buNone/>
            </a:pPr>
            <a:r>
              <a:rPr kumimoji="1" lang="zh-CN" altLang="en-US"/>
              <a:t>按</a:t>
            </a:r>
            <a:r>
              <a:rPr kumimoji="1" lang="zh-CN" altLang="en-US" b="1">
                <a:solidFill>
                  <a:srgbClr val="FF0000"/>
                </a:solidFill>
              </a:rPr>
              <a:t>某种调度算法</a:t>
            </a:r>
            <a:r>
              <a:rPr kumimoji="1" lang="zh-CN" altLang="en-US"/>
              <a:t>在</a:t>
            </a:r>
            <a:r>
              <a:rPr kumimoji="1" lang="zh-CN" altLang="en-US" b="1">
                <a:solidFill>
                  <a:srgbClr val="FF0000"/>
                </a:solidFill>
              </a:rPr>
              <a:t>外存</a:t>
            </a:r>
            <a:r>
              <a:rPr kumimoji="1" lang="zh-CN" altLang="en-US"/>
              <a:t>中处于后备队列的作业中挑选一个</a:t>
            </a:r>
            <a:r>
              <a:rPr kumimoji="1" lang="en-US" altLang="zh-CN"/>
              <a:t>(</a:t>
            </a:r>
            <a:r>
              <a:rPr kumimoji="1" lang="zh-CN" altLang="en-US"/>
              <a:t>或多个</a:t>
            </a:r>
            <a:r>
              <a:rPr kumimoji="1" lang="en-US" altLang="zh-CN"/>
              <a:t>)</a:t>
            </a:r>
            <a:r>
              <a:rPr kumimoji="1" lang="zh-CN" altLang="en-US"/>
              <a:t>作业，给它分配</a:t>
            </a:r>
            <a:r>
              <a:rPr kumimoji="1" lang="zh-CN" altLang="en-US" b="1">
                <a:solidFill>
                  <a:srgbClr val="FF0000"/>
                </a:solidFill>
              </a:rPr>
              <a:t>内存</a:t>
            </a:r>
            <a:r>
              <a:rPr kumimoji="1" lang="zh-CN" altLang="en-US"/>
              <a:t>等必要资源，并建立相应的进程</a:t>
            </a:r>
            <a:r>
              <a:rPr kumimoji="1" lang="en-US" altLang="zh-CN"/>
              <a:t>(</a:t>
            </a:r>
            <a:r>
              <a:rPr kumimoji="1" lang="zh-CN" altLang="en-US"/>
              <a:t>建立</a:t>
            </a:r>
            <a:r>
              <a:rPr kumimoji="1" lang="en-US" altLang="zh-CN"/>
              <a:t>PCB)</a:t>
            </a:r>
            <a:r>
              <a:rPr kumimoji="1" lang="zh-CN" altLang="en-US"/>
              <a:t>，以使它</a:t>
            </a:r>
            <a:r>
              <a:rPr kumimoji="1" lang="en-US" altLang="zh-CN"/>
              <a:t>(</a:t>
            </a:r>
            <a:r>
              <a:rPr kumimoji="1" lang="zh-CN" altLang="en-US"/>
              <a:t>们</a:t>
            </a:r>
            <a:r>
              <a:rPr kumimoji="1" lang="en-US" altLang="zh-CN"/>
              <a:t>)</a:t>
            </a:r>
            <a:r>
              <a:rPr kumimoji="1" lang="zh-CN" altLang="en-US"/>
              <a:t>获得竞争处理机的权利。</a:t>
            </a:r>
            <a:endParaRPr kumimoji="1" lang="en-US" altLang="zh-CN"/>
          </a:p>
          <a:p>
            <a:pPr lvl="1">
              <a:lnSpc>
                <a:spcPct val="120000"/>
              </a:lnSpc>
              <a:buFont typeface="Wingdings" panose="05000000000000000000" pitchFamily="2" charset="2"/>
              <a:buChar char="ü"/>
            </a:pPr>
            <a:r>
              <a:rPr kumimoji="1" lang="zh-CN" altLang="en-US"/>
              <a:t>中级调度</a:t>
            </a:r>
            <a:endParaRPr kumimoji="1" lang="en-US" altLang="zh-CN"/>
          </a:p>
          <a:p>
            <a:pPr marL="914400" lvl="2" indent="0">
              <a:buNone/>
            </a:pPr>
            <a:r>
              <a:rPr kumimoji="1" lang="zh-CN" altLang="en-US"/>
              <a:t>决定将哪个挂起状态的进程从外存重新调回内存。注意，高级调度是</a:t>
            </a:r>
            <a:r>
              <a:rPr kumimoji="1" lang="zh-CN" altLang="en-US" b="1">
                <a:solidFill>
                  <a:srgbClr val="FF0000"/>
                </a:solidFill>
              </a:rPr>
              <a:t>调入</a:t>
            </a:r>
            <a:r>
              <a:rPr kumimoji="1" lang="zh-CN" altLang="en-US"/>
              <a:t>，中级调度是</a:t>
            </a:r>
            <a:r>
              <a:rPr kumimoji="1" lang="zh-CN" altLang="en-US" b="1">
                <a:solidFill>
                  <a:srgbClr val="FF0000"/>
                </a:solidFill>
              </a:rPr>
              <a:t>调回</a:t>
            </a:r>
            <a:r>
              <a:rPr kumimoji="1" lang="zh-CN" altLang="en-US"/>
              <a:t>。中级调度发生的频率要比高级调度的高。</a:t>
            </a:r>
            <a:endParaRPr kumimoji="1" lang="en-US" altLang="zh-CN"/>
          </a:p>
          <a:p>
            <a:pPr lvl="1">
              <a:lnSpc>
                <a:spcPct val="120000"/>
              </a:lnSpc>
              <a:buFont typeface="Wingdings" panose="05000000000000000000" pitchFamily="2" charset="2"/>
              <a:buChar char="ü"/>
            </a:pPr>
            <a:r>
              <a:rPr kumimoji="1" lang="zh-CN" altLang="en-US"/>
              <a:t>低级调度</a:t>
            </a:r>
            <a:endParaRPr kumimoji="1" lang="en-US" altLang="zh-CN"/>
          </a:p>
          <a:p>
            <a:pPr marL="914400" lvl="2" indent="0">
              <a:buNone/>
            </a:pPr>
            <a:r>
              <a:rPr kumimoji="1" lang="zh-CN" altLang="en-US"/>
              <a:t>按照某种规则从就绪队列中选取一个进程，将</a:t>
            </a:r>
            <a:r>
              <a:rPr kumimoji="1" lang="en-US" altLang="zh-CN"/>
              <a:t>CPU</a:t>
            </a:r>
            <a:r>
              <a:rPr kumimoji="1" lang="zh-CN" altLang="en-US"/>
              <a:t>分配给它。低级调度频率很高，一般几十毫秒一次。</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处理机调度的层次和调度算法的目标</a:t>
            </a:r>
            <a:endParaRPr kumimoji="1" lang="zh-CN" altLang="en-US" dirty="0"/>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a:t>处理机调度算法的目标</a:t>
            </a:r>
            <a:endParaRPr kumimoji="1" lang="en-US" altLang="zh-CN" dirty="0"/>
          </a:p>
          <a:p>
            <a:pPr lvl="1">
              <a:lnSpc>
                <a:spcPct val="120000"/>
              </a:lnSpc>
              <a:buFont typeface="Wingdings" panose="05000000000000000000" pitchFamily="2" charset="2"/>
              <a:buChar char="ü"/>
            </a:pPr>
            <a:r>
              <a:rPr kumimoji="1" lang="zh-CN" altLang="en-US"/>
              <a:t>处理机调度算法的共同目标</a:t>
            </a:r>
            <a:endParaRPr kumimoji="1" lang="en-US" altLang="zh-CN"/>
          </a:p>
          <a:p>
            <a:pPr marL="914400" lvl="2" indent="0" algn="just">
              <a:buNone/>
            </a:pPr>
            <a:r>
              <a:rPr kumimoji="1" lang="en-US" altLang="zh-CN"/>
              <a:t>(1)</a:t>
            </a:r>
            <a:r>
              <a:rPr kumimoji="1" lang="zh-CN" altLang="en-US" b="1">
                <a:solidFill>
                  <a:srgbClr val="FF0000"/>
                </a:solidFill>
              </a:rPr>
              <a:t>资源利用率</a:t>
            </a:r>
            <a:r>
              <a:rPr kumimoji="1" lang="zh-CN" altLang="en-US"/>
              <a:t>：为提高系统的资源利用率，应使系统中的处理机和其它所有资源都尽可能地保持忙碌状态，其中最重要的处理机利用率可用以下方法计算</a:t>
            </a:r>
            <a:endParaRPr kumimoji="1" lang="en-US" altLang="zh-CN"/>
          </a:p>
          <a:p>
            <a:pPr marL="914400" lvl="2" indent="0">
              <a:buNone/>
            </a:pPr>
            <a:endParaRPr kumimoji="1" lang="en-US" altLang="zh-CN"/>
          </a:p>
          <a:p>
            <a:pPr marL="914400" lvl="2" indent="0">
              <a:buNone/>
            </a:pPr>
            <a:endParaRPr kumimoji="1" lang="en-US" altLang="zh-CN"/>
          </a:p>
          <a:p>
            <a:pPr marL="914400" lvl="2" indent="0" algn="just">
              <a:buNone/>
            </a:pPr>
            <a:r>
              <a:rPr kumimoji="1" lang="en-US" altLang="zh-CN"/>
              <a:t>(2)</a:t>
            </a:r>
            <a:r>
              <a:rPr kumimoji="1" lang="zh-CN" altLang="en-US" b="1">
                <a:solidFill>
                  <a:srgbClr val="FF0000"/>
                </a:solidFill>
              </a:rPr>
              <a:t>公平性</a:t>
            </a:r>
            <a:r>
              <a:rPr kumimoji="1" lang="zh-CN" altLang="en-US"/>
              <a:t>：使诸进程都获得合理</a:t>
            </a:r>
            <a:r>
              <a:rPr kumimoji="1" lang="en-US" altLang="zh-CN"/>
              <a:t>CPU </a:t>
            </a:r>
            <a:r>
              <a:rPr kumimoji="1" lang="zh-CN" altLang="en-US"/>
              <a:t>时间，不会发生进程饥饿现象。公平性是相对的，对相同类型的进程应获得相同的服务，但对于不同类型的进程，由于其紧急程度或重要性的不同，则应提供不同的服务。</a:t>
            </a:r>
            <a:endParaRPr kumimoji="1" lang="en-US" altLang="zh-CN"/>
          </a:p>
          <a:p>
            <a:pPr marL="914400" lvl="2" indent="0">
              <a:buNone/>
            </a:pPr>
            <a:endParaRPr kumimoji="1" lang="en-US" altLang="zh-CN"/>
          </a:p>
          <a:p>
            <a:pPr marL="914400" lvl="2" indent="0">
              <a:buNone/>
            </a:pP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l="17108" t="-18819" r="17667" b="-23616"/>
          <a:stretch>
            <a:fillRect/>
          </a:stretch>
        </p:blipFill>
        <p:spPr bwMode="auto">
          <a:xfrm>
            <a:off x="3252941" y="3298525"/>
            <a:ext cx="6624637"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处理机调度的层次和调度算法的目标</a:t>
            </a:r>
            <a:endParaRPr kumimoji="1" lang="zh-CN" altLang="en-US" dirty="0"/>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dirty="0"/>
              <a:t>处理机调度算法的目标</a:t>
            </a:r>
            <a:endParaRPr kumimoji="1" lang="en-US" altLang="zh-CN" dirty="0"/>
          </a:p>
          <a:p>
            <a:pPr lvl="1">
              <a:lnSpc>
                <a:spcPct val="120000"/>
              </a:lnSpc>
              <a:buFont typeface="Wingdings" panose="05000000000000000000" pitchFamily="2" charset="2"/>
              <a:buChar char="ü"/>
            </a:pPr>
            <a:r>
              <a:rPr kumimoji="1" lang="zh-CN" altLang="en-US" dirty="0"/>
              <a:t>处理机调度算法的共同目标</a:t>
            </a:r>
            <a:endParaRPr kumimoji="1" lang="en-US" altLang="zh-CN" dirty="0"/>
          </a:p>
          <a:p>
            <a:pPr marL="914400" lvl="2" indent="0" algn="just">
              <a:buNone/>
            </a:pPr>
            <a:r>
              <a:rPr kumimoji="1" lang="en-US" altLang="zh-CN" dirty="0"/>
              <a:t>(3)</a:t>
            </a:r>
            <a:r>
              <a:rPr kumimoji="1" lang="zh-CN" altLang="en-US" b="1" dirty="0">
                <a:solidFill>
                  <a:srgbClr val="FF0000"/>
                </a:solidFill>
              </a:rPr>
              <a:t>平衡性</a:t>
            </a:r>
            <a:r>
              <a:rPr kumimoji="1" lang="zh-CN" altLang="en-US" dirty="0"/>
              <a:t>：由于在系统中可能具有多种类型的进程，有的属于计算型作业，有的属于</a:t>
            </a:r>
            <a:r>
              <a:rPr kumimoji="1" lang="en-US" altLang="zh-CN" dirty="0"/>
              <a:t>I/O</a:t>
            </a:r>
            <a:r>
              <a:rPr kumimoji="1" lang="zh-CN" altLang="en-US" dirty="0"/>
              <a:t>型。为使系统中的</a:t>
            </a:r>
            <a:r>
              <a:rPr kumimoji="1" lang="en-US" altLang="zh-CN" dirty="0"/>
              <a:t>CPU</a:t>
            </a:r>
            <a:r>
              <a:rPr kumimoji="1" lang="zh-CN" altLang="en-US" dirty="0"/>
              <a:t>和各种外部设备都能经常处于忙碌状态，调度算法应尽可能保持系统资源使用的平衡性。</a:t>
            </a:r>
            <a:endParaRPr kumimoji="1" lang="en-US" altLang="zh-CN" dirty="0"/>
          </a:p>
          <a:p>
            <a:pPr marL="914400" lvl="2" indent="0" algn="just">
              <a:buNone/>
            </a:pPr>
            <a:r>
              <a:rPr kumimoji="1" lang="en-US" altLang="zh-CN" dirty="0"/>
              <a:t>(4)</a:t>
            </a:r>
            <a:r>
              <a:rPr kumimoji="1" lang="zh-CN" altLang="en-US" b="1" dirty="0">
                <a:solidFill>
                  <a:srgbClr val="FF0000"/>
                </a:solidFill>
              </a:rPr>
              <a:t>策略强制执行</a:t>
            </a:r>
            <a:r>
              <a:rPr kumimoji="1" lang="zh-CN" altLang="en-US" dirty="0"/>
              <a:t>：对所制订的策略其中包括安全策略，只要需要，就必须予以准确地执行，即使会造成某些工作的延迟也要执行。</a:t>
            </a:r>
            <a:endParaRPr kumimoji="1" lang="en-US" altLang="zh-CN" dirty="0"/>
          </a:p>
          <a:p>
            <a:pPr marL="914400" lvl="2" indent="0">
              <a:buNone/>
            </a:pPr>
            <a:endParaRPr kumimoji="1" lang="en-US" altLang="zh-CN" dirty="0"/>
          </a:p>
          <a:p>
            <a:pPr marL="914400" lvl="2" indent="0">
              <a:buNone/>
            </a:pP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处理机调度的层次和调度算法的目标</a:t>
            </a:r>
            <a:endParaRPr kumimoji="1" lang="zh-CN" altLang="en-US" dirty="0"/>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a:t>处理机调度算法的目标</a:t>
            </a:r>
            <a:endParaRPr kumimoji="1" lang="en-US" altLang="zh-CN" dirty="0"/>
          </a:p>
          <a:p>
            <a:pPr lvl="1">
              <a:lnSpc>
                <a:spcPct val="120000"/>
              </a:lnSpc>
              <a:buFont typeface="Wingdings" panose="05000000000000000000" pitchFamily="2" charset="2"/>
              <a:buChar char="ü"/>
            </a:pPr>
            <a:r>
              <a:rPr kumimoji="1" lang="zh-CN" altLang="en-US"/>
              <a:t>批处理系统的目标</a:t>
            </a:r>
            <a:endParaRPr kumimoji="1" lang="en-US" altLang="zh-CN"/>
          </a:p>
          <a:p>
            <a:pPr marL="914400" lvl="2" indent="0" algn="just">
              <a:buNone/>
            </a:pPr>
            <a:r>
              <a:rPr kumimoji="1" lang="en-US" altLang="zh-CN"/>
              <a:t>(1)</a:t>
            </a:r>
            <a:r>
              <a:rPr kumimoji="1" lang="zh-CN" altLang="en-US" b="1">
                <a:solidFill>
                  <a:srgbClr val="FF0000"/>
                </a:solidFill>
              </a:rPr>
              <a:t>平均周转时间短</a:t>
            </a:r>
            <a:r>
              <a:rPr kumimoji="1" lang="zh-CN" altLang="en-US"/>
              <a:t>：对每个用户而言，都希望自己作业的周转时间最短。但作为计算机系统的管理者，则总是希望能使平均周转时间最短，这不仅会有效地提高系统资源的利用率，而且还可使大多数用户都感到满意。应使作业周转时间和作业的平均周转时间尽可能短。否则，会使许多用户的等待时间过长，这将会引起用户特别是短作业用户的不满。可把平均周转时间描述为</a:t>
            </a:r>
            <a:endParaRPr kumimoji="1" lang="en-US" altLang="zh-CN"/>
          </a:p>
          <a:p>
            <a:pPr marL="914400" lvl="2" indent="0" algn="just">
              <a:buNone/>
            </a:pPr>
            <a:endParaRPr kumimoji="1" lang="en-US" altLang="zh-CN"/>
          </a:p>
          <a:p>
            <a:pPr marL="914400" lvl="2" indent="0" algn="just">
              <a:buNone/>
            </a:pPr>
            <a:r>
              <a:rPr kumimoji="1" lang="zh-CN" altLang="en-US"/>
              <a:t>为进一步反映调度的性能，更清晰地描述各进程在其周转时间中，等待和执行时间的具体分配状况，往往使用带权周转时间，即作业的周转时间</a:t>
            </a:r>
            <a:r>
              <a:rPr kumimoji="1" lang="en-US" altLang="zh-CN"/>
              <a:t>T</a:t>
            </a:r>
            <a:r>
              <a:rPr kumimoji="1" lang="zh-CN" altLang="en-US"/>
              <a:t>与系统为它提供服务的时间</a:t>
            </a:r>
            <a:r>
              <a:rPr kumimoji="1" lang="en-US" altLang="zh-CN"/>
              <a:t>T</a:t>
            </a:r>
            <a:r>
              <a:rPr kumimoji="1" lang="en-US" altLang="zh-CN" baseline="-25000"/>
              <a:t>s</a:t>
            </a:r>
            <a:r>
              <a:rPr kumimoji="1" lang="zh-CN" altLang="en-US"/>
              <a:t>之比，即</a:t>
            </a:r>
            <a:r>
              <a:rPr kumimoji="1" lang="en-US" altLang="zh-CN"/>
              <a:t>W = T/T</a:t>
            </a:r>
            <a:r>
              <a:rPr kumimoji="1" lang="en-US" altLang="zh-CN" baseline="-25000"/>
              <a:t>s</a:t>
            </a:r>
            <a:r>
              <a:rPr kumimoji="1" lang="zh-CN" altLang="en-US"/>
              <a:t>。而平均带权周转时间则可表示为</a:t>
            </a:r>
            <a:endParaRPr kumimoji="1" lang="en-US" altLang="zh-CN"/>
          </a:p>
          <a:p>
            <a:pPr marL="914400" lvl="2" indent="0">
              <a:buNone/>
            </a:pP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graphicFrame>
        <p:nvGraphicFramePr>
          <p:cNvPr id="5" name="Object 4"/>
          <p:cNvGraphicFramePr>
            <a:graphicFrameLocks noChangeAspect="1"/>
          </p:cNvGraphicFramePr>
          <p:nvPr/>
        </p:nvGraphicFramePr>
        <p:xfrm>
          <a:off x="6510778" y="4176942"/>
          <a:ext cx="1511300" cy="860425"/>
        </p:xfrm>
        <a:graphic>
          <a:graphicData uri="http://schemas.openxmlformats.org/presentationml/2006/ole">
            <mc:AlternateContent xmlns:mc="http://schemas.openxmlformats.org/markup-compatibility/2006">
              <mc:Choice xmlns:v="urn:schemas-microsoft-com:vml" Requires="v">
                <p:oleObj name="公式" r:id="rId2" imgW="748665" imgH="431800" progId="Equation.3">
                  <p:embed/>
                </p:oleObj>
              </mc:Choice>
              <mc:Fallback>
                <p:oleObj name="公式" r:id="rId2" imgW="748665" imgH="4318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778" y="4176942"/>
                        <a:ext cx="1511300" cy="8604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nvGraphicFramePr>
        <p:xfrm>
          <a:off x="6510778" y="6022975"/>
          <a:ext cx="1874838" cy="835025"/>
        </p:xfrm>
        <a:graphic>
          <a:graphicData uri="http://schemas.openxmlformats.org/presentationml/2006/ole">
            <mc:AlternateContent xmlns:mc="http://schemas.openxmlformats.org/markup-compatibility/2006">
              <mc:Choice xmlns:v="urn:schemas-microsoft-com:vml" Requires="v">
                <p:oleObj name="公式" r:id="rId4" imgW="748665" imgH="431800" progId="Equation.3">
                  <p:embed/>
                </p:oleObj>
              </mc:Choice>
              <mc:Fallback>
                <p:oleObj name="公式" r:id="rId4" imgW="748665" imgH="431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0778" y="6022975"/>
                        <a:ext cx="1874838" cy="8350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处理机调度的层次和调度算法的目标</a:t>
            </a:r>
            <a:endParaRPr kumimoji="1" lang="zh-CN" altLang="en-US" dirty="0"/>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a:t>处理机调度算法的目标</a:t>
            </a:r>
            <a:endParaRPr kumimoji="1" lang="en-US" altLang="zh-CN" dirty="0"/>
          </a:p>
          <a:p>
            <a:pPr lvl="1">
              <a:lnSpc>
                <a:spcPct val="120000"/>
              </a:lnSpc>
              <a:buFont typeface="Wingdings" panose="05000000000000000000" pitchFamily="2" charset="2"/>
              <a:buChar char="ü"/>
            </a:pPr>
            <a:r>
              <a:rPr kumimoji="1" lang="zh-CN" altLang="en-US"/>
              <a:t>批处理系统的目标</a:t>
            </a:r>
            <a:endParaRPr kumimoji="1" lang="en-US" altLang="zh-CN"/>
          </a:p>
          <a:p>
            <a:pPr marL="914400" lvl="2" indent="0" algn="just">
              <a:buNone/>
            </a:pPr>
            <a:r>
              <a:rPr kumimoji="1" lang="en-US" altLang="zh-CN"/>
              <a:t>(2)</a:t>
            </a:r>
            <a:r>
              <a:rPr kumimoji="1" lang="zh-CN" altLang="en-US" b="1">
                <a:solidFill>
                  <a:srgbClr val="FF0000"/>
                </a:solidFill>
              </a:rPr>
              <a:t>系统吞吐量高</a:t>
            </a:r>
            <a:r>
              <a:rPr kumimoji="1" lang="zh-CN" altLang="en-US"/>
              <a:t>：由于吞吐量是指在单位时间内系统所完成的作业数，因而它与批处理作业的平均长度有关。事实上，如果单纯是为了获得高的系统吞吐量，就应尽量多地选择短作业运行。</a:t>
            </a:r>
            <a:endParaRPr kumimoji="1" lang="en-US" altLang="zh-CN"/>
          </a:p>
          <a:p>
            <a:pPr marL="914400" lvl="2" indent="0" algn="just">
              <a:buNone/>
            </a:pPr>
            <a:r>
              <a:rPr kumimoji="1" lang="en-US" altLang="zh-CN"/>
              <a:t>(3)</a:t>
            </a:r>
            <a:r>
              <a:rPr kumimoji="1" lang="zh-CN" altLang="en-US" b="1">
                <a:solidFill>
                  <a:srgbClr val="FF0000"/>
                </a:solidFill>
              </a:rPr>
              <a:t>处理机利用率高</a:t>
            </a:r>
            <a:r>
              <a:rPr kumimoji="1" lang="zh-CN" altLang="en-US"/>
              <a:t>：对于大、中型计算机，</a:t>
            </a:r>
            <a:r>
              <a:rPr kumimoji="1" lang="en-US" altLang="zh-CN"/>
              <a:t>CPU</a:t>
            </a:r>
            <a:r>
              <a:rPr kumimoji="1" lang="zh-CN" altLang="en-US"/>
              <a:t>价格十分昂贵，致使处理机的利用率成为衡量系统性能的十分重要的指标；而调度方式和算法又对处理机的利用率起着十分重要的作用。如果单纯是为使处理机利用率高，应尽量多地选择计算量大的作业运行。由上所述可以看出，这些要求之间是存在着一定矛盾的。</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处理机调度的层次和调度算法的目标</a:t>
            </a:r>
            <a:endParaRPr kumimoji="1" lang="zh-CN" altLang="en-US" dirty="0"/>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a:t>处理机调度算法的目标</a:t>
            </a:r>
            <a:endParaRPr kumimoji="1" lang="en-US" altLang="zh-CN" dirty="0"/>
          </a:p>
          <a:p>
            <a:pPr lvl="1">
              <a:buFont typeface="Wingdings" panose="05000000000000000000" pitchFamily="2" charset="2"/>
              <a:buChar char="ü"/>
            </a:pPr>
            <a:r>
              <a:rPr kumimoji="1" lang="zh-CN" altLang="en-US"/>
              <a:t>分时系统的目标</a:t>
            </a:r>
            <a:endParaRPr kumimoji="1" lang="en-US" altLang="zh-CN"/>
          </a:p>
          <a:p>
            <a:pPr marL="914400" lvl="2" indent="0" algn="just">
              <a:buNone/>
            </a:pPr>
            <a:r>
              <a:rPr kumimoji="1" lang="en-US" altLang="zh-CN"/>
              <a:t>(1)</a:t>
            </a:r>
            <a:r>
              <a:rPr kumimoji="1" lang="zh-CN" altLang="en-US" b="1">
                <a:solidFill>
                  <a:srgbClr val="FF0000"/>
                </a:solidFill>
              </a:rPr>
              <a:t>响应时间快</a:t>
            </a:r>
            <a:endParaRPr kumimoji="1" lang="en-US" altLang="zh-CN"/>
          </a:p>
          <a:p>
            <a:pPr marL="914400" lvl="2" indent="0" algn="just">
              <a:buNone/>
            </a:pPr>
            <a:r>
              <a:rPr kumimoji="1" lang="en-US" altLang="zh-CN"/>
              <a:t>(2)</a:t>
            </a:r>
            <a:r>
              <a:rPr kumimoji="1" lang="zh-CN" altLang="en-US" b="1">
                <a:solidFill>
                  <a:srgbClr val="FF0000"/>
                </a:solidFill>
              </a:rPr>
              <a:t>均衡性</a:t>
            </a:r>
            <a:endParaRPr kumimoji="1" lang="en-US" altLang="zh-CN" b="1">
              <a:solidFill>
                <a:srgbClr val="FF0000"/>
              </a:solidFill>
            </a:endParaRPr>
          </a:p>
          <a:p>
            <a:pPr lvl="1">
              <a:lnSpc>
                <a:spcPct val="120000"/>
              </a:lnSpc>
              <a:buFont typeface="Wingdings" panose="05000000000000000000" pitchFamily="2" charset="2"/>
              <a:buChar char="ü"/>
            </a:pPr>
            <a:r>
              <a:rPr kumimoji="1" lang="zh-CN" altLang="en-US"/>
              <a:t>实时系统的目标</a:t>
            </a:r>
            <a:endParaRPr kumimoji="1" lang="en-US" altLang="zh-CN"/>
          </a:p>
          <a:p>
            <a:pPr marL="914400" lvl="2" indent="0">
              <a:buNone/>
            </a:pPr>
            <a:r>
              <a:rPr kumimoji="1" lang="en-US" altLang="zh-CN"/>
              <a:t>(1)</a:t>
            </a:r>
            <a:r>
              <a:rPr kumimoji="1" lang="zh-CN" altLang="en-US" b="1">
                <a:solidFill>
                  <a:srgbClr val="FF0000"/>
                </a:solidFill>
              </a:rPr>
              <a:t>截止时间的保证</a:t>
            </a:r>
            <a:endParaRPr kumimoji="1" lang="en-US" altLang="zh-CN" b="1">
              <a:solidFill>
                <a:srgbClr val="FF0000"/>
              </a:solidFill>
            </a:endParaRPr>
          </a:p>
          <a:p>
            <a:pPr marL="914400" lvl="2" indent="0">
              <a:buNone/>
            </a:pPr>
            <a:r>
              <a:rPr kumimoji="1" lang="en-US" altLang="zh-CN"/>
              <a:t>(2)</a:t>
            </a:r>
            <a:r>
              <a:rPr kumimoji="1" lang="zh-CN" altLang="en-US" b="1">
                <a:solidFill>
                  <a:srgbClr val="FF0000"/>
                </a:solidFill>
              </a:rPr>
              <a:t>可预测性</a:t>
            </a:r>
            <a:endParaRPr kumimoji="1" lang="en-US" altLang="zh-CN" b="1">
              <a:solidFill>
                <a:srgbClr val="FF0000"/>
              </a:solidFill>
            </a:endParaRPr>
          </a:p>
          <a:p>
            <a:pPr marL="914400" lvl="2" indent="0" algn="just">
              <a:buNone/>
            </a:pP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作业与作业调度</a:t>
            </a: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p:cNvSpPr txBox="1"/>
          <p:nvPr/>
        </p:nvSpPr>
        <p:spPr>
          <a:xfrm>
            <a:off x="596578" y="1858018"/>
            <a:ext cx="11149071" cy="1815882"/>
          </a:xfrm>
          <a:prstGeom prst="rect">
            <a:avLst/>
          </a:prstGeom>
          <a:noFill/>
        </p:spPr>
        <p:txBody>
          <a:bodyPr wrap="square">
            <a:spAutoFit/>
          </a:bodyPr>
          <a:lstStyle/>
          <a:p>
            <a:pPr algn="just"/>
            <a:r>
              <a:rPr lang="zh-CN" altLang="en-US" sz="2800">
                <a:solidFill>
                  <a:schemeClr val="accent4">
                    <a:lumMod val="75000"/>
                  </a:schemeClr>
                </a:solidFill>
                <a:latin typeface="Times New Roman" panose="02020603050405020304" pitchFamily="18" charset="0"/>
                <a:cs typeface="Times New Roman" panose="02020603050405020304" pitchFamily="18" charset="0"/>
              </a:rPr>
              <a:t>        在多道批处理系统中，作业是用户提交给系统的一项相对独立的工作。操作员把用户提交的作业通过相应的输入设备输入到磁盘存储器，并保存在一个后备作业队列中。再由作业调度程序将其从外存调入内存。</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作业与作业调度</a:t>
            </a:r>
            <a:endParaRPr kumimoji="1" lang="zh-CN" altLang="en-US" dirty="0"/>
          </a:p>
        </p:txBody>
      </p:sp>
      <p:sp>
        <p:nvSpPr>
          <p:cNvPr id="3" name="内容占位符 2"/>
          <p:cNvSpPr>
            <a:spLocks noGrp="1"/>
          </p:cNvSpPr>
          <p:nvPr>
            <p:ph idx="1"/>
          </p:nvPr>
        </p:nvSpPr>
        <p:spPr>
          <a:xfrm>
            <a:off x="838200" y="1510757"/>
            <a:ext cx="10515600" cy="5210717"/>
          </a:xfrm>
        </p:spPr>
        <p:txBody>
          <a:bodyPr>
            <a:normAutofit/>
          </a:bodyPr>
          <a:lstStyle/>
          <a:p>
            <a:pPr>
              <a:lnSpc>
                <a:spcPct val="120000"/>
              </a:lnSpc>
            </a:pPr>
            <a:r>
              <a:rPr kumimoji="1" lang="zh-CN" altLang="en-US" dirty="0"/>
              <a:t>批处理系统中的作业</a:t>
            </a:r>
            <a:endParaRPr kumimoji="1" lang="en-US" altLang="zh-CN" dirty="0"/>
          </a:p>
          <a:p>
            <a:pPr lvl="1">
              <a:buFont typeface="Wingdings" panose="05000000000000000000" pitchFamily="2" charset="2"/>
              <a:buChar char="ü"/>
            </a:pPr>
            <a:r>
              <a:rPr kumimoji="1" lang="zh-CN" altLang="en-US" dirty="0"/>
              <a:t>作业和作业步</a:t>
            </a:r>
            <a:endParaRPr kumimoji="1" lang="en-US" altLang="zh-CN" dirty="0"/>
          </a:p>
          <a:p>
            <a:pPr marL="914400" lvl="2" indent="0" algn="just">
              <a:buNone/>
            </a:pPr>
            <a:r>
              <a:rPr kumimoji="1" lang="en-US" altLang="zh-CN" dirty="0"/>
              <a:t>(1)</a:t>
            </a:r>
            <a:r>
              <a:rPr kumimoji="1" lang="zh-CN" altLang="en-US" b="1" dirty="0">
                <a:solidFill>
                  <a:srgbClr val="FF0000"/>
                </a:solidFill>
              </a:rPr>
              <a:t>作业</a:t>
            </a:r>
            <a:r>
              <a:rPr kumimoji="1" lang="zh-CN" altLang="en-US" dirty="0"/>
              <a:t>：用户提交给操作系统的一个独立任务。</a:t>
            </a:r>
            <a:endParaRPr kumimoji="1" lang="en-US" altLang="zh-CN" dirty="0"/>
          </a:p>
          <a:p>
            <a:pPr marL="914400" lvl="2" indent="0" algn="just">
              <a:buNone/>
            </a:pPr>
            <a:r>
              <a:rPr kumimoji="1" lang="en-US" altLang="zh-CN" dirty="0"/>
              <a:t>(2)</a:t>
            </a:r>
            <a:r>
              <a:rPr kumimoji="1" lang="zh-CN" altLang="en-US" b="1" dirty="0">
                <a:solidFill>
                  <a:srgbClr val="FF0000"/>
                </a:solidFill>
              </a:rPr>
              <a:t>作业步</a:t>
            </a:r>
            <a:r>
              <a:rPr kumimoji="1" lang="zh-CN" altLang="en-US" dirty="0"/>
              <a:t>：每个作业必须经过若干相对独立且相互关联的顺序加工步骤才能得到结果</a:t>
            </a:r>
            <a:r>
              <a:rPr kumimoji="1" lang="en-US" altLang="zh-CN" dirty="0"/>
              <a:t>,</a:t>
            </a:r>
            <a:r>
              <a:rPr kumimoji="1" lang="zh-CN" altLang="en-US" dirty="0"/>
              <a:t>其中每个加工步骤称为作业步。</a:t>
            </a:r>
            <a:endParaRPr kumimoji="1" lang="en-US" altLang="zh-CN" dirty="0"/>
          </a:p>
          <a:p>
            <a:pPr lvl="1">
              <a:lnSpc>
                <a:spcPct val="120000"/>
              </a:lnSpc>
              <a:buFont typeface="Wingdings" panose="05000000000000000000" pitchFamily="2" charset="2"/>
              <a:buChar char="ü"/>
            </a:pPr>
            <a:r>
              <a:rPr kumimoji="1" lang="zh-CN" altLang="en-US" dirty="0"/>
              <a:t>作业控制块</a:t>
            </a:r>
            <a:r>
              <a:rPr kumimoji="1" lang="en-US" altLang="zh-CN" dirty="0"/>
              <a:t>JCB</a:t>
            </a:r>
          </a:p>
          <a:p>
            <a:pPr marL="914400" lvl="2" indent="0" algn="just">
              <a:buNone/>
            </a:pPr>
            <a:r>
              <a:rPr kumimoji="1" lang="zh-CN" altLang="en-US" dirty="0"/>
              <a:t>多道批处理系统为每个作业设置一个作业控制块</a:t>
            </a:r>
            <a:r>
              <a:rPr kumimoji="1" lang="en-US" altLang="zh-CN" dirty="0"/>
              <a:t>JCB</a:t>
            </a:r>
            <a:r>
              <a:rPr kumimoji="1" lang="zh-CN" altLang="en-US" dirty="0"/>
              <a:t>，它是作业在系统中存在的标志，其中保存了系统对作业进行管理和调度所需的全部信息。通常在</a:t>
            </a:r>
            <a:r>
              <a:rPr kumimoji="1" lang="en-US" altLang="zh-CN" dirty="0"/>
              <a:t>JCB</a:t>
            </a:r>
            <a:r>
              <a:rPr kumimoji="1" lang="zh-CN" altLang="en-US" dirty="0"/>
              <a:t>中包含的内容有：作业标识、用户名称、用户账号、作业类型</a:t>
            </a:r>
            <a:r>
              <a:rPr kumimoji="1" lang="en-US" altLang="zh-CN" dirty="0"/>
              <a:t>(CPU </a:t>
            </a:r>
            <a:r>
              <a:rPr kumimoji="1" lang="zh-CN" altLang="en-US" dirty="0"/>
              <a:t>繁忙型、</a:t>
            </a:r>
            <a:r>
              <a:rPr kumimoji="1" lang="en-US" altLang="zh-CN" dirty="0"/>
              <a:t>I/O </a:t>
            </a:r>
            <a:r>
              <a:rPr kumimoji="1" lang="zh-CN" altLang="en-US" dirty="0"/>
              <a:t>繁忙型、批量型、终端型</a:t>
            </a:r>
            <a:r>
              <a:rPr kumimoji="1" lang="en-US" altLang="zh-CN" dirty="0"/>
              <a:t>)</a:t>
            </a:r>
            <a:r>
              <a:rPr kumimoji="1" lang="zh-CN" altLang="en-US" dirty="0"/>
              <a:t>、作业状态、调度信息</a:t>
            </a:r>
            <a:r>
              <a:rPr kumimoji="1" lang="en-US" altLang="zh-CN" dirty="0"/>
              <a:t>(</a:t>
            </a:r>
            <a:r>
              <a:rPr kumimoji="1" lang="zh-CN" altLang="en-US" dirty="0"/>
              <a:t>优先级、作业运行时间</a:t>
            </a:r>
            <a:r>
              <a:rPr kumimoji="1" lang="en-US" altLang="zh-CN" dirty="0"/>
              <a:t>)</a:t>
            </a:r>
            <a:r>
              <a:rPr kumimoji="1" lang="zh-CN" altLang="en-US" dirty="0"/>
              <a:t>、资源需求</a:t>
            </a:r>
            <a:r>
              <a:rPr kumimoji="1" lang="en-US" altLang="zh-CN" dirty="0"/>
              <a:t>(</a:t>
            </a:r>
            <a:r>
              <a:rPr kumimoji="1" lang="zh-CN" altLang="en-US" dirty="0"/>
              <a:t>预计运行时间、要求内存大小等</a:t>
            </a:r>
            <a:r>
              <a:rPr kumimoji="1" lang="en-US" altLang="zh-CN" dirty="0"/>
              <a:t>)</a:t>
            </a:r>
            <a:r>
              <a:rPr kumimoji="1" lang="zh-CN" altLang="en-US" dirty="0"/>
              <a:t>、资源使用情况等。</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作业与作业调度</a:t>
            </a:r>
            <a:endParaRPr kumimoji="1" lang="zh-CN" altLang="en-US" dirty="0"/>
          </a:p>
        </p:txBody>
      </p:sp>
      <p:sp>
        <p:nvSpPr>
          <p:cNvPr id="3" name="内容占位符 2"/>
          <p:cNvSpPr>
            <a:spLocks noGrp="1"/>
          </p:cNvSpPr>
          <p:nvPr>
            <p:ph idx="1"/>
          </p:nvPr>
        </p:nvSpPr>
        <p:spPr>
          <a:xfrm>
            <a:off x="838200" y="1510757"/>
            <a:ext cx="10515600" cy="5210717"/>
          </a:xfrm>
        </p:spPr>
        <p:txBody>
          <a:bodyPr>
            <a:normAutofit/>
          </a:bodyPr>
          <a:lstStyle/>
          <a:p>
            <a:pPr>
              <a:lnSpc>
                <a:spcPct val="120000"/>
              </a:lnSpc>
            </a:pPr>
            <a:r>
              <a:rPr kumimoji="1" lang="zh-CN" altLang="en-US"/>
              <a:t>批处理系统中的作业</a:t>
            </a:r>
            <a:endParaRPr kumimoji="1" lang="en-US" altLang="zh-CN" dirty="0"/>
          </a:p>
          <a:p>
            <a:pPr lvl="1">
              <a:buFont typeface="Wingdings" panose="05000000000000000000" pitchFamily="2" charset="2"/>
              <a:buChar char="ü"/>
            </a:pPr>
            <a:r>
              <a:rPr kumimoji="1" lang="zh-CN" altLang="en-US"/>
              <a:t>作业运行的三个阶段和三种状态</a:t>
            </a:r>
            <a:endParaRPr kumimoji="1" lang="en-US" altLang="zh-CN"/>
          </a:p>
          <a:p>
            <a:pPr marL="914400" lvl="2" indent="0">
              <a:buNone/>
            </a:pPr>
            <a:r>
              <a:rPr kumimoji="1" lang="zh-CN" altLang="en-US"/>
              <a:t>作业从进入系统到运行结束，通常需要经历收容、运行和完成三个阶段。相应的作业也就有“后备状态”、“运行状态”和“完成状态”。</a:t>
            </a:r>
            <a:endParaRPr kumimoji="1" lang="en-US" altLang="zh-CN"/>
          </a:p>
          <a:p>
            <a:pPr marL="914400" lvl="2" indent="0">
              <a:buNone/>
            </a:pP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作业与作业调度</a:t>
            </a:r>
            <a:endParaRPr kumimoji="1" lang="zh-CN" altLang="en-US" dirty="0"/>
          </a:p>
        </p:txBody>
      </p:sp>
      <p:sp>
        <p:nvSpPr>
          <p:cNvPr id="3" name="内容占位符 2"/>
          <p:cNvSpPr>
            <a:spLocks noGrp="1"/>
          </p:cNvSpPr>
          <p:nvPr>
            <p:ph idx="1"/>
          </p:nvPr>
        </p:nvSpPr>
        <p:spPr>
          <a:xfrm>
            <a:off x="838200" y="1510757"/>
            <a:ext cx="4868537" cy="5210717"/>
          </a:xfrm>
        </p:spPr>
        <p:txBody>
          <a:bodyPr>
            <a:normAutofit lnSpcReduction="10000"/>
          </a:bodyPr>
          <a:lstStyle/>
          <a:p>
            <a:pPr>
              <a:lnSpc>
                <a:spcPct val="120000"/>
              </a:lnSpc>
            </a:pPr>
            <a:r>
              <a:rPr kumimoji="1" lang="zh-CN" altLang="en-US"/>
              <a:t>作业调度的主要任务</a:t>
            </a:r>
            <a:endParaRPr kumimoji="1" lang="en-US" altLang="zh-CN" dirty="0"/>
          </a:p>
          <a:p>
            <a:pPr marL="914400" lvl="2" indent="0" algn="just">
              <a:buNone/>
            </a:pPr>
            <a:r>
              <a:rPr kumimoji="1" lang="zh-CN" altLang="en-US"/>
              <a:t>作业调度的主要任务是，根据</a:t>
            </a:r>
            <a:r>
              <a:rPr kumimoji="1" lang="en-US" altLang="zh-CN"/>
              <a:t>JCB</a:t>
            </a:r>
            <a:r>
              <a:rPr kumimoji="1" lang="zh-CN" altLang="en-US"/>
              <a:t>中的信息，检查系统中的资源能否满足作业对资源的需求，以及按照一定的调度算法，从外存的后备队列中选取某些作业调入内存，并为它们创建进程、分配必要的资源。然后再将新创建的进程排在就绪队列上等待调度。因此，也把作业调度称为接纳调度</a:t>
            </a:r>
            <a:r>
              <a:rPr kumimoji="1" lang="en-US" altLang="zh-CN"/>
              <a:t>(Admission Scheduling)</a:t>
            </a:r>
            <a:r>
              <a:rPr kumimoji="1" lang="zh-CN" altLang="en-US"/>
              <a:t>。每次执行作业调度时，都需做出两个决定</a:t>
            </a:r>
            <a:r>
              <a:rPr kumimoji="1" lang="zh-CN" altLang="en-US">
                <a:sym typeface="Wingdings" panose="05000000000000000000" pitchFamily="2" charset="2"/>
              </a:rPr>
              <a:t>：</a:t>
            </a:r>
            <a:r>
              <a:rPr kumimoji="1" lang="en-US" altLang="zh-CN">
                <a:sym typeface="Wingdings" panose="05000000000000000000" pitchFamily="2" charset="2"/>
              </a:rPr>
              <a:t>(1)</a:t>
            </a:r>
            <a:r>
              <a:rPr kumimoji="1" lang="zh-CN" altLang="en-US">
                <a:sym typeface="Wingdings" panose="05000000000000000000" pitchFamily="2" charset="2"/>
              </a:rPr>
              <a:t>接纳多少个作业；</a:t>
            </a:r>
            <a:r>
              <a:rPr kumimoji="1" lang="en-US" altLang="zh-CN">
                <a:sym typeface="Wingdings" panose="05000000000000000000" pitchFamily="2" charset="2"/>
              </a:rPr>
              <a:t>(2)</a:t>
            </a:r>
            <a:r>
              <a:rPr kumimoji="1" lang="zh-CN" altLang="en-US">
                <a:sym typeface="Wingdings" panose="05000000000000000000" pitchFamily="2" charset="2"/>
              </a:rPr>
              <a:t>接纳哪些作业。</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图片 4"/>
          <p:cNvPicPr>
            <a:picLocks noChangeAspect="1"/>
          </p:cNvPicPr>
          <p:nvPr/>
        </p:nvPicPr>
        <p:blipFill>
          <a:blip r:embed="rId2"/>
          <a:stretch>
            <a:fillRect/>
          </a:stretch>
        </p:blipFill>
        <p:spPr>
          <a:xfrm>
            <a:off x="5706737" y="1918381"/>
            <a:ext cx="6296666" cy="4190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作业与作业调度</a:t>
            </a:r>
            <a:endParaRPr kumimoji="1" lang="zh-CN" altLang="en-US" dirty="0"/>
          </a:p>
        </p:txBody>
      </p:sp>
      <p:sp>
        <p:nvSpPr>
          <p:cNvPr id="3" name="内容占位符 2"/>
          <p:cNvSpPr>
            <a:spLocks noGrp="1"/>
          </p:cNvSpPr>
          <p:nvPr>
            <p:ph idx="1"/>
          </p:nvPr>
        </p:nvSpPr>
        <p:spPr>
          <a:xfrm>
            <a:off x="838200" y="1510757"/>
            <a:ext cx="10515600" cy="5210717"/>
          </a:xfrm>
        </p:spPr>
        <p:txBody>
          <a:bodyPr>
            <a:normAutofit/>
          </a:bodyPr>
          <a:lstStyle/>
          <a:p>
            <a:pPr>
              <a:lnSpc>
                <a:spcPct val="120000"/>
              </a:lnSpc>
            </a:pPr>
            <a:r>
              <a:rPr kumimoji="1" lang="zh-CN" altLang="en-US"/>
              <a:t>先来先服务和短作业优先调度算法</a:t>
            </a:r>
            <a:endParaRPr kumimoji="1" lang="en-US" altLang="zh-CN" dirty="0"/>
          </a:p>
          <a:p>
            <a:pPr lvl="1">
              <a:buFont typeface="Wingdings" panose="05000000000000000000" pitchFamily="2" charset="2"/>
              <a:buChar char="ü"/>
            </a:pPr>
            <a:r>
              <a:rPr kumimoji="1" lang="zh-CN" altLang="en-US"/>
              <a:t>先来先服务</a:t>
            </a:r>
            <a:r>
              <a:rPr kumimoji="1" lang="en-US" altLang="zh-CN"/>
              <a:t>(FCFS)</a:t>
            </a:r>
            <a:r>
              <a:rPr kumimoji="1" lang="zh-CN" altLang="en-US"/>
              <a:t>调度算法</a:t>
            </a:r>
            <a:endParaRPr kumimoji="1" lang="en-US" altLang="zh-CN"/>
          </a:p>
          <a:p>
            <a:pPr marL="914400" lvl="2" indent="0" algn="just">
              <a:buNone/>
            </a:pPr>
            <a:r>
              <a:rPr kumimoji="1" lang="en-US" altLang="zh-CN"/>
              <a:t>FCFS</a:t>
            </a:r>
            <a:r>
              <a:rPr kumimoji="1" lang="zh-CN" altLang="en-US"/>
              <a:t>是最简单的调度算法，该算法既可用于作业调度，也可用于进程调度。当在作业调度中采用该算法时，系统将按照作业到达的先后次序来进行调度，或者说它是优先考虑在系统中等待时间最长的作业，而不管该作业所需执行时间的长短，从后备作业队列中选择几个最先进入该队列的作业，将它们调入内存，为它们分配资源和创建进程。然后把它放入就绪队列。</a:t>
            </a:r>
            <a:endParaRPr kumimoji="1" lang="en-US" altLang="zh-CN"/>
          </a:p>
          <a:p>
            <a:pPr lvl="1">
              <a:buFont typeface="Wingdings" panose="05000000000000000000" pitchFamily="2" charset="2"/>
              <a:buChar char="ü"/>
            </a:pPr>
            <a:r>
              <a:rPr kumimoji="1" lang="zh-CN" altLang="en-US"/>
              <a:t>短作业优先</a:t>
            </a:r>
            <a:r>
              <a:rPr kumimoji="1" lang="en-US" altLang="zh-CN"/>
              <a:t>(SJF)</a:t>
            </a:r>
            <a:r>
              <a:rPr kumimoji="1" lang="zh-CN" altLang="en-US"/>
              <a:t>调度算法</a:t>
            </a:r>
            <a:endParaRPr kumimoji="1" lang="en-US" altLang="zh-CN"/>
          </a:p>
          <a:p>
            <a:pPr marL="914400" lvl="2" indent="0" algn="just">
              <a:buNone/>
            </a:pPr>
            <a:r>
              <a:rPr kumimoji="1" lang="en-US" altLang="zh-CN"/>
              <a:t>SJF</a:t>
            </a:r>
            <a:r>
              <a:rPr kumimoji="1" lang="zh-CN" altLang="en-US"/>
              <a:t>算法是以作业的长短来计算优先级，作业越短，其优先级越高。作业的长短是以作业所要求的运行时间来衡量的。</a:t>
            </a:r>
            <a:r>
              <a:rPr kumimoji="1" lang="en-US" altLang="zh-CN"/>
              <a:t>SJF</a:t>
            </a:r>
            <a:r>
              <a:rPr kumimoji="1" lang="zh-CN" altLang="en-US"/>
              <a:t>算法可以分别用于作业调度和进程调度。在把短作业优先调度算法用于作业调度时，它将从外存的作业后备队列中选择若干个估计运行时间最短的作业，优先将它们调入内存运行。</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作业与作业调度</a:t>
            </a:r>
            <a:endParaRPr kumimoji="1" lang="zh-CN" altLang="en-US" dirty="0"/>
          </a:p>
        </p:txBody>
      </p:sp>
      <p:sp>
        <p:nvSpPr>
          <p:cNvPr id="3" name="内容占位符 2"/>
          <p:cNvSpPr>
            <a:spLocks noGrp="1"/>
          </p:cNvSpPr>
          <p:nvPr>
            <p:ph idx="1"/>
          </p:nvPr>
        </p:nvSpPr>
        <p:spPr>
          <a:xfrm>
            <a:off x="838200" y="1510757"/>
            <a:ext cx="10515600" cy="5210717"/>
          </a:xfrm>
        </p:spPr>
        <p:txBody>
          <a:bodyPr>
            <a:normAutofit/>
          </a:bodyPr>
          <a:lstStyle/>
          <a:p>
            <a:pPr>
              <a:lnSpc>
                <a:spcPct val="120000"/>
              </a:lnSpc>
            </a:pPr>
            <a:r>
              <a:rPr kumimoji="1" lang="zh-CN" altLang="en-US"/>
              <a:t>先来先服务和短作业优先调度算法</a:t>
            </a:r>
            <a:endParaRPr kumimoji="1" lang="en-US" altLang="zh-CN" dirty="0"/>
          </a:p>
          <a:p>
            <a:pPr lvl="1">
              <a:buFont typeface="Wingdings" panose="05000000000000000000" pitchFamily="2" charset="2"/>
              <a:buChar char="ü"/>
            </a:pPr>
            <a:r>
              <a:rPr kumimoji="1" lang="zh-CN" altLang="en-US"/>
              <a:t>短作业优先</a:t>
            </a:r>
            <a:r>
              <a:rPr kumimoji="1" lang="en-US" altLang="zh-CN"/>
              <a:t>(SJF)</a:t>
            </a:r>
            <a:r>
              <a:rPr kumimoji="1" lang="zh-CN" altLang="en-US"/>
              <a:t>调度算法</a:t>
            </a:r>
            <a:endParaRPr kumimoji="1" lang="en-US" altLang="zh-CN"/>
          </a:p>
          <a:p>
            <a:pPr marL="914400" lvl="2" indent="0">
              <a:buNone/>
            </a:pPr>
            <a:r>
              <a:rPr kumimoji="1" lang="en-US" altLang="zh-CN"/>
              <a:t>SJF</a:t>
            </a:r>
            <a:r>
              <a:rPr kumimoji="1" lang="zh-CN" altLang="en-US"/>
              <a:t>调度算法较之</a:t>
            </a:r>
            <a:r>
              <a:rPr kumimoji="1" lang="en-US" altLang="zh-CN"/>
              <a:t>FCFS</a:t>
            </a:r>
            <a:r>
              <a:rPr kumimoji="1" lang="zh-CN" altLang="en-US"/>
              <a:t>算法有了明显的改进，但仍然存在不容忽视的缺点：</a:t>
            </a:r>
            <a:endParaRPr kumimoji="1" lang="en-US" altLang="zh-CN"/>
          </a:p>
          <a:p>
            <a:pPr marL="914400" lvl="2" indent="0" algn="just">
              <a:buNone/>
            </a:pPr>
            <a:r>
              <a:rPr kumimoji="1" lang="en-US" altLang="zh-CN"/>
              <a:t>(1)</a:t>
            </a:r>
            <a:r>
              <a:rPr kumimoji="1" lang="zh-CN" altLang="en-US" b="1">
                <a:solidFill>
                  <a:srgbClr val="FF0000"/>
                </a:solidFill>
              </a:rPr>
              <a:t>必须预知作业的运行时间</a:t>
            </a:r>
            <a:r>
              <a:rPr kumimoji="1" lang="zh-CN" altLang="en-US"/>
              <a:t>。该算法需先知道每个作业的运行时间。然而，即使是程序员也很难准确估计作业的运行时间，如果估计过低，系统就可能按估计的时间终止作业的运行，但此时作业并未完成，故一般都会偏长估计。</a:t>
            </a:r>
            <a:endParaRPr kumimoji="1" lang="en-US" altLang="zh-CN"/>
          </a:p>
          <a:p>
            <a:pPr marL="914400" lvl="2" indent="0" algn="just">
              <a:buNone/>
            </a:pPr>
            <a:r>
              <a:rPr kumimoji="1" lang="en-US" altLang="zh-CN"/>
              <a:t>(2)</a:t>
            </a:r>
            <a:r>
              <a:rPr kumimoji="1" lang="zh-CN" altLang="en-US" b="1">
                <a:solidFill>
                  <a:srgbClr val="FF0000"/>
                </a:solidFill>
              </a:rPr>
              <a:t>对长作业非常不利</a:t>
            </a:r>
            <a:r>
              <a:rPr kumimoji="1" lang="zh-CN" altLang="en-US"/>
              <a:t>，</a:t>
            </a:r>
            <a:r>
              <a:rPr kumimoji="1" lang="zh-CN" altLang="en-US" b="1">
                <a:solidFill>
                  <a:srgbClr val="FF0000"/>
                </a:solidFill>
              </a:rPr>
              <a:t>长作业的周转时间会明显地增长</a:t>
            </a:r>
            <a:r>
              <a:rPr kumimoji="1" lang="zh-CN" altLang="en-US"/>
              <a:t>。更严重的是，该算法完全忽视作业的等待时间，可能使作业等待时间过长，出现饥饿现象。</a:t>
            </a:r>
            <a:endParaRPr kumimoji="1" lang="en-US" altLang="zh-CN"/>
          </a:p>
          <a:p>
            <a:pPr marL="914400" lvl="2" indent="0" algn="just">
              <a:buNone/>
            </a:pPr>
            <a:r>
              <a:rPr kumimoji="1" lang="en-US" altLang="zh-CN"/>
              <a:t>(3)</a:t>
            </a:r>
            <a:r>
              <a:rPr kumimoji="1" lang="zh-CN" altLang="en-US"/>
              <a:t>在采用</a:t>
            </a:r>
            <a:r>
              <a:rPr kumimoji="1" lang="en-US" altLang="zh-CN"/>
              <a:t>SJF</a:t>
            </a:r>
            <a:r>
              <a:rPr kumimoji="1" lang="zh-CN" altLang="en-US"/>
              <a:t>算法时，人</a:t>
            </a:r>
            <a:r>
              <a:rPr kumimoji="1" lang="en-US" altLang="zh-CN"/>
              <a:t>—</a:t>
            </a:r>
            <a:r>
              <a:rPr kumimoji="1" lang="zh-CN" altLang="en-US"/>
              <a:t>机无法实现交互。</a:t>
            </a:r>
            <a:endParaRPr kumimoji="1" lang="en-US" altLang="zh-CN"/>
          </a:p>
          <a:p>
            <a:pPr marL="914400" lvl="2" indent="0" algn="just">
              <a:buNone/>
            </a:pPr>
            <a:r>
              <a:rPr kumimoji="1" lang="en-US" altLang="zh-CN"/>
              <a:t>(4)</a:t>
            </a:r>
            <a:r>
              <a:rPr kumimoji="1" lang="zh-CN" altLang="en-US"/>
              <a:t>该调度算法完全未考虑作业的紧迫程度，故不能保证紧迫性作业能得到及时处理。</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作业与作业调度</a:t>
            </a:r>
            <a:endParaRPr kumimoji="1" lang="zh-CN" altLang="en-US" dirty="0"/>
          </a:p>
        </p:txBody>
      </p:sp>
      <p:sp>
        <p:nvSpPr>
          <p:cNvPr id="3" name="内容占位符 2"/>
          <p:cNvSpPr>
            <a:spLocks noGrp="1"/>
          </p:cNvSpPr>
          <p:nvPr>
            <p:ph idx="1"/>
          </p:nvPr>
        </p:nvSpPr>
        <p:spPr>
          <a:xfrm>
            <a:off x="838200" y="1510757"/>
            <a:ext cx="10515600" cy="5210717"/>
          </a:xfrm>
        </p:spPr>
        <p:txBody>
          <a:bodyPr>
            <a:normAutofit/>
          </a:bodyPr>
          <a:lstStyle/>
          <a:p>
            <a:pPr>
              <a:lnSpc>
                <a:spcPct val="120000"/>
              </a:lnSpc>
            </a:pPr>
            <a:r>
              <a:rPr kumimoji="1" lang="zh-CN" altLang="en-US"/>
              <a:t>优先级调度算法和高响应比优先调度算法</a:t>
            </a:r>
            <a:endParaRPr kumimoji="1" lang="en-US" altLang="zh-CN" dirty="0"/>
          </a:p>
          <a:p>
            <a:pPr lvl="1">
              <a:buFont typeface="Wingdings" panose="05000000000000000000" pitchFamily="2" charset="2"/>
              <a:buChar char="ü"/>
            </a:pPr>
            <a:r>
              <a:rPr kumimoji="1" lang="zh-CN" altLang="en-US"/>
              <a:t>优先级调度</a:t>
            </a:r>
            <a:r>
              <a:rPr kumimoji="1" lang="en-US" altLang="zh-CN"/>
              <a:t>(PS)</a:t>
            </a:r>
            <a:r>
              <a:rPr kumimoji="1" lang="zh-CN" altLang="en-US"/>
              <a:t>算法</a:t>
            </a:r>
            <a:endParaRPr kumimoji="1" lang="en-US" altLang="zh-CN"/>
          </a:p>
          <a:p>
            <a:pPr marL="914400" lvl="2" indent="0" algn="just">
              <a:buNone/>
            </a:pPr>
            <a:r>
              <a:rPr kumimoji="1" lang="zh-CN" altLang="en-US"/>
              <a:t>可这样来看作业的优先级，对于先来先服务调度算法，作业的等待时间就是作业的优先级，等待时间越长，其优先级越高。对于短作业优先调度算法，作业的长短就是作业的优先级，作业所需运行的时间越短，其优先级越高。但上述两种优先级都不能反映作业的紧迫程度。</a:t>
            </a:r>
            <a:endParaRPr kumimoji="1" lang="en-US" altLang="zh-CN"/>
          </a:p>
          <a:p>
            <a:pPr lvl="1">
              <a:buFont typeface="Wingdings" panose="05000000000000000000" pitchFamily="2" charset="2"/>
              <a:buChar char="ü"/>
            </a:pPr>
            <a:r>
              <a:rPr kumimoji="1" lang="zh-CN" altLang="en-US"/>
              <a:t>高响应比优先</a:t>
            </a:r>
            <a:r>
              <a:rPr kumimoji="1" lang="en-US" altLang="zh-CN"/>
              <a:t>(HRRN)</a:t>
            </a:r>
            <a:r>
              <a:rPr kumimoji="1" lang="zh-CN" altLang="en-US"/>
              <a:t>调度算法</a:t>
            </a:r>
            <a:endParaRPr kumimoji="1" lang="en-US" altLang="zh-CN"/>
          </a:p>
          <a:p>
            <a:pPr marL="914400" lvl="2" indent="0" algn="just">
              <a:buNone/>
            </a:pPr>
            <a:r>
              <a:rPr kumimoji="1" lang="zh-CN" altLang="en-US"/>
              <a:t>在批处理系统中，</a:t>
            </a:r>
            <a:r>
              <a:rPr kumimoji="1" lang="en-US" altLang="zh-CN"/>
              <a:t>FCFS</a:t>
            </a:r>
            <a:r>
              <a:rPr kumimoji="1" lang="zh-CN" altLang="en-US"/>
              <a:t>所考虑的只是作业的等待时间，而忽视作业的运行时间。而</a:t>
            </a:r>
            <a:r>
              <a:rPr kumimoji="1" lang="en-US" altLang="zh-CN"/>
              <a:t>SJF</a:t>
            </a:r>
            <a:r>
              <a:rPr kumimoji="1" lang="zh-CN" altLang="en-US"/>
              <a:t>算法正好与之相反，只考虑作业的运行时间，而忽视了作业的等待时间。高响应比优先调度算法则是既考虑了作业的等待时间，又考虑作业运行时间的调度算法，因此既照顾了短作业，又不致使长作业的等待时间过长，从而改善了处理机调度的性能。</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作业与作业调度</a:t>
            </a:r>
            <a:endParaRPr kumimoji="1" lang="zh-CN" altLang="en-US" dirty="0"/>
          </a:p>
        </p:txBody>
      </p:sp>
      <p:sp>
        <p:nvSpPr>
          <p:cNvPr id="3" name="内容占位符 2"/>
          <p:cNvSpPr>
            <a:spLocks noGrp="1"/>
          </p:cNvSpPr>
          <p:nvPr>
            <p:ph idx="1"/>
          </p:nvPr>
        </p:nvSpPr>
        <p:spPr>
          <a:xfrm>
            <a:off x="838200" y="1510757"/>
            <a:ext cx="10515600" cy="5210717"/>
          </a:xfrm>
        </p:spPr>
        <p:txBody>
          <a:bodyPr>
            <a:normAutofit/>
          </a:bodyPr>
          <a:lstStyle/>
          <a:p>
            <a:pPr>
              <a:lnSpc>
                <a:spcPct val="120000"/>
              </a:lnSpc>
            </a:pPr>
            <a:r>
              <a:rPr kumimoji="1" lang="zh-CN" altLang="en-US"/>
              <a:t>优先级调度算法和高响应比优先调度算法</a:t>
            </a:r>
            <a:endParaRPr kumimoji="1" lang="en-US" altLang="zh-CN" dirty="0"/>
          </a:p>
          <a:p>
            <a:pPr lvl="1">
              <a:buFont typeface="Wingdings" panose="05000000000000000000" pitchFamily="2" charset="2"/>
              <a:buChar char="ü"/>
            </a:pPr>
            <a:r>
              <a:rPr kumimoji="1" lang="zh-CN" altLang="en-US"/>
              <a:t>高响应比优先</a:t>
            </a:r>
            <a:r>
              <a:rPr kumimoji="1" lang="en-US" altLang="zh-CN"/>
              <a:t>(HRRN)</a:t>
            </a:r>
            <a:r>
              <a:rPr kumimoji="1" lang="zh-CN" altLang="en-US"/>
              <a:t>调度算法</a:t>
            </a:r>
            <a:endParaRPr kumimoji="1" lang="en-US" altLang="zh-CN"/>
          </a:p>
          <a:p>
            <a:pPr marL="914400" lvl="2" indent="0" algn="just">
              <a:buNone/>
            </a:pPr>
            <a:r>
              <a:rPr kumimoji="1" lang="zh-CN" altLang="en-US"/>
              <a:t>高响应比优先算法是如何实现的呢</a:t>
            </a:r>
            <a:r>
              <a:rPr kumimoji="1" lang="en-US" altLang="zh-CN"/>
              <a:t>? </a:t>
            </a:r>
            <a:r>
              <a:rPr kumimoji="1" lang="zh-CN" altLang="en-US"/>
              <a:t>如果我们能为每个作业引入一个动态优先级，即优先级是可以改变的，令它随等待时间延长而增加，这将使长作业的优先级在等待期间不断地增加，等到足够的时间后，必然有机会获得处理机。该优先级的变化规律可描述为：</a:t>
            </a:r>
            <a:endParaRPr kumimoji="1" lang="en-US" altLang="zh-CN"/>
          </a:p>
          <a:p>
            <a:pPr marL="914400" lvl="2" indent="0" algn="just">
              <a:buNone/>
            </a:pPr>
            <a:endParaRPr kumimoji="1" lang="en-US" altLang="zh-CN"/>
          </a:p>
          <a:p>
            <a:pPr marL="914400" lvl="2" indent="0" algn="just">
              <a:buNone/>
            </a:pPr>
            <a:r>
              <a:rPr kumimoji="1" lang="zh-CN" altLang="en-US"/>
              <a:t>由于等待时间与服务时间之和就是系统对该作业的响应时间，故该优先级又相当于响应比</a:t>
            </a:r>
            <a:r>
              <a:rPr kumimoji="1" lang="en-US" altLang="zh-CN" i="1"/>
              <a:t>R</a:t>
            </a:r>
            <a:r>
              <a:rPr kumimoji="1" lang="en-US" altLang="zh-CN" i="1" baseline="-25000"/>
              <a:t>P</a:t>
            </a:r>
            <a:r>
              <a:rPr kumimoji="1" lang="zh-CN" altLang="en-US"/>
              <a:t>。据此，优先又可表示为：</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graphicFrame>
        <p:nvGraphicFramePr>
          <p:cNvPr id="5" name="Object 4"/>
          <p:cNvGraphicFramePr>
            <a:graphicFrameLocks noChangeAspect="1"/>
          </p:cNvGraphicFramePr>
          <p:nvPr/>
        </p:nvGraphicFramePr>
        <p:xfrm>
          <a:off x="4442954" y="3860800"/>
          <a:ext cx="4243387" cy="785813"/>
        </p:xfrm>
        <a:graphic>
          <a:graphicData uri="http://schemas.openxmlformats.org/presentationml/2006/ole">
            <mc:AlternateContent xmlns:mc="http://schemas.openxmlformats.org/markup-compatibility/2006">
              <mc:Choice xmlns:v="urn:schemas-microsoft-com:vml" Requires="v">
                <p:oleObj name="公式" r:id="rId2" imgW="2057400" imgH="381000" progId="Equation.3">
                  <p:embed/>
                </p:oleObj>
              </mc:Choice>
              <mc:Fallback>
                <p:oleObj name="公式" r:id="rId2" imgW="2057400" imgH="3810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2954" y="3860800"/>
                        <a:ext cx="4243387"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nvGraphicFramePr>
        <p:xfrm>
          <a:off x="3719847" y="5694133"/>
          <a:ext cx="5689600" cy="779463"/>
        </p:xfrm>
        <a:graphic>
          <a:graphicData uri="http://schemas.openxmlformats.org/presentationml/2006/ole">
            <mc:AlternateContent xmlns:mc="http://schemas.openxmlformats.org/markup-compatibility/2006">
              <mc:Choice xmlns:v="urn:schemas-microsoft-com:vml" Requires="v">
                <p:oleObj name="公式" r:id="rId4" imgW="2781300" imgH="381000" progId="Equation.3">
                  <p:embed/>
                </p:oleObj>
              </mc:Choice>
              <mc:Fallback>
                <p:oleObj name="公式" r:id="rId4" imgW="2781300" imgH="381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9847" y="5694133"/>
                        <a:ext cx="56896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p:cNvSpPr txBox="1"/>
          <p:nvPr/>
        </p:nvSpPr>
        <p:spPr>
          <a:xfrm>
            <a:off x="521464" y="1858018"/>
            <a:ext cx="11149071" cy="1384995"/>
          </a:xfrm>
          <a:prstGeom prst="rect">
            <a:avLst/>
          </a:prstGeom>
          <a:noFill/>
        </p:spPr>
        <p:txBody>
          <a:bodyPr wrap="square">
            <a:spAutoFit/>
          </a:bodyPr>
          <a:lstStyle/>
          <a:p>
            <a:pPr algn="just"/>
            <a:r>
              <a:rPr lang="zh-CN" altLang="en-US" sz="2800">
                <a:solidFill>
                  <a:schemeClr val="accent4">
                    <a:lumMod val="75000"/>
                  </a:schemeClr>
                </a:solidFill>
                <a:latin typeface="Times New Roman" panose="02020603050405020304" pitchFamily="18" charset="0"/>
                <a:cs typeface="Times New Roman" panose="02020603050405020304" pitchFamily="18" charset="0"/>
              </a:rPr>
              <a:t>        进程调度是</a:t>
            </a:r>
            <a:r>
              <a:rPr lang="en-US" altLang="zh-CN" sz="2800">
                <a:solidFill>
                  <a:schemeClr val="accent4">
                    <a:lumMod val="75000"/>
                  </a:schemeClr>
                </a:solidFill>
                <a:latin typeface="Times New Roman" panose="02020603050405020304" pitchFamily="18" charset="0"/>
                <a:cs typeface="Times New Roman" panose="02020603050405020304" pitchFamily="18" charset="0"/>
              </a:rPr>
              <a:t>OS</a:t>
            </a:r>
            <a:r>
              <a:rPr lang="zh-CN" altLang="en-US" sz="2800">
                <a:solidFill>
                  <a:schemeClr val="accent4">
                    <a:lumMod val="75000"/>
                  </a:schemeClr>
                </a:solidFill>
                <a:latin typeface="Times New Roman" panose="02020603050405020304" pitchFamily="18" charset="0"/>
                <a:cs typeface="Times New Roman" panose="02020603050405020304" pitchFamily="18" charset="0"/>
              </a:rPr>
              <a:t>必不可少的一种调度。因此在三种类型的</a:t>
            </a:r>
            <a:r>
              <a:rPr lang="en-US" altLang="zh-CN" sz="2800">
                <a:solidFill>
                  <a:schemeClr val="accent4">
                    <a:lumMod val="75000"/>
                  </a:schemeClr>
                </a:solidFill>
                <a:latin typeface="Times New Roman" panose="02020603050405020304" pitchFamily="18" charset="0"/>
                <a:cs typeface="Times New Roman" panose="02020603050405020304" pitchFamily="18" charset="0"/>
              </a:rPr>
              <a:t>OS</a:t>
            </a:r>
            <a:r>
              <a:rPr lang="zh-CN" altLang="en-US" sz="2800">
                <a:solidFill>
                  <a:schemeClr val="accent4">
                    <a:lumMod val="75000"/>
                  </a:schemeClr>
                </a:solidFill>
                <a:latin typeface="Times New Roman" panose="02020603050405020304" pitchFamily="18" charset="0"/>
                <a:cs typeface="Times New Roman" panose="02020603050405020304" pitchFamily="18" charset="0"/>
              </a:rPr>
              <a:t>中，都无一例外地配置了进程调度。此外它也是对系统性能影响最大的一种处理机调度，相应的，有关进程调度的算法也较多。</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7"/>
            <a:ext cx="10515600" cy="5210717"/>
          </a:xfrm>
        </p:spPr>
        <p:txBody>
          <a:bodyPr>
            <a:normAutofit/>
          </a:bodyPr>
          <a:lstStyle/>
          <a:p>
            <a:pPr>
              <a:lnSpc>
                <a:spcPct val="120000"/>
              </a:lnSpc>
            </a:pPr>
            <a:r>
              <a:rPr kumimoji="1" lang="zh-CN" altLang="en-US"/>
              <a:t>进程调度的任务、机制和方式</a:t>
            </a:r>
            <a:endParaRPr kumimoji="1" lang="en-US" altLang="zh-CN" dirty="0"/>
          </a:p>
          <a:p>
            <a:pPr lvl="1">
              <a:buFont typeface="Wingdings" panose="05000000000000000000" pitchFamily="2" charset="2"/>
              <a:buChar char="ü"/>
            </a:pPr>
            <a:r>
              <a:rPr kumimoji="1" lang="zh-CN" altLang="en-US"/>
              <a:t>进程调度的任务</a:t>
            </a:r>
            <a:endParaRPr kumimoji="1" lang="en-US" altLang="zh-CN"/>
          </a:p>
          <a:p>
            <a:pPr marL="914400" lvl="2" indent="0" algn="just">
              <a:buNone/>
            </a:pPr>
            <a:r>
              <a:rPr kumimoji="1" lang="zh-CN" altLang="en-US"/>
              <a:t>进程调度的任务主要有三</a:t>
            </a:r>
            <a:r>
              <a:rPr kumimoji="1" lang="zh-CN" altLang="en-US">
                <a:sym typeface="Wingdings" panose="05000000000000000000" pitchFamily="2" charset="2"/>
              </a:rPr>
              <a:t>：</a:t>
            </a:r>
            <a:r>
              <a:rPr kumimoji="1" lang="en-US" altLang="zh-CN">
                <a:sym typeface="Wingdings" panose="05000000000000000000" pitchFamily="2" charset="2"/>
              </a:rPr>
              <a:t>(1)</a:t>
            </a:r>
            <a:r>
              <a:rPr kumimoji="1" lang="zh-CN" altLang="en-US">
                <a:sym typeface="Wingdings" panose="05000000000000000000" pitchFamily="2" charset="2"/>
              </a:rPr>
              <a:t>保存处理机的现场信息；</a:t>
            </a:r>
            <a:r>
              <a:rPr kumimoji="1" lang="en-US" altLang="zh-CN">
                <a:sym typeface="Wingdings" panose="05000000000000000000" pitchFamily="2" charset="2"/>
              </a:rPr>
              <a:t>(2)</a:t>
            </a:r>
            <a:r>
              <a:rPr kumimoji="1" lang="zh-CN" altLang="en-US">
                <a:sym typeface="Wingdings" panose="05000000000000000000" pitchFamily="2" charset="2"/>
              </a:rPr>
              <a:t>按某种算法选取进程；</a:t>
            </a:r>
            <a:r>
              <a:rPr kumimoji="1" lang="en-US" altLang="zh-CN">
                <a:sym typeface="Wingdings" panose="05000000000000000000" pitchFamily="2" charset="2"/>
              </a:rPr>
              <a:t>(3)</a:t>
            </a:r>
            <a:r>
              <a:rPr kumimoji="1" lang="zh-CN" altLang="en-US">
                <a:sym typeface="Wingdings" panose="05000000000000000000" pitchFamily="2" charset="2"/>
              </a:rPr>
              <a:t>把处理器分配给进程</a:t>
            </a:r>
            <a:r>
              <a:rPr kumimoji="1" lang="zh-CN" altLang="en-US"/>
              <a:t>。</a:t>
            </a:r>
            <a:endParaRPr kumimoji="1" lang="en-US" altLang="zh-CN"/>
          </a:p>
          <a:p>
            <a:pPr lvl="1">
              <a:buFont typeface="Wingdings" panose="05000000000000000000" pitchFamily="2" charset="2"/>
              <a:buChar char="ü"/>
            </a:pPr>
            <a:r>
              <a:rPr kumimoji="1" lang="zh-CN" altLang="en-US"/>
              <a:t>进程调度机制</a:t>
            </a:r>
            <a:endParaRPr kumimoji="1" lang="en-US" altLang="zh-CN"/>
          </a:p>
          <a:p>
            <a:pPr marL="914400" lvl="2" indent="0" algn="just">
              <a:buNone/>
            </a:pPr>
            <a:r>
              <a:rPr kumimoji="1" lang="zh-CN" altLang="en-US"/>
              <a:t>为实现进程调度，在进程调度机制中，应具有三个基本部分：</a:t>
            </a:r>
            <a:r>
              <a:rPr kumimoji="1" lang="en-US" altLang="zh-CN"/>
              <a:t>(1)</a:t>
            </a:r>
            <a:r>
              <a:rPr kumimoji="1" lang="zh-CN" altLang="en-US"/>
              <a:t>排队器；</a:t>
            </a:r>
            <a:r>
              <a:rPr kumimoji="1" lang="en-US" altLang="zh-CN"/>
              <a:t>(2)</a:t>
            </a:r>
            <a:r>
              <a:rPr kumimoji="1" lang="zh-CN" altLang="en-US"/>
              <a:t>分派器；</a:t>
            </a:r>
            <a:r>
              <a:rPr kumimoji="1" lang="en-US" altLang="zh-CN"/>
              <a:t>(3)</a:t>
            </a:r>
            <a:r>
              <a:rPr kumimoji="1" lang="zh-CN" altLang="en-US"/>
              <a:t>上下文切换器。</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9742" y="4348790"/>
            <a:ext cx="5377983" cy="250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7"/>
            <a:ext cx="10515600" cy="5210717"/>
          </a:xfrm>
        </p:spPr>
        <p:txBody>
          <a:bodyPr>
            <a:normAutofit/>
          </a:bodyPr>
          <a:lstStyle/>
          <a:p>
            <a:pPr>
              <a:lnSpc>
                <a:spcPct val="120000"/>
              </a:lnSpc>
            </a:pPr>
            <a:r>
              <a:rPr kumimoji="1" lang="zh-CN" altLang="en-US"/>
              <a:t>进程调度的任务、机制和方式</a:t>
            </a:r>
            <a:endParaRPr kumimoji="1" lang="en-US" altLang="zh-CN" dirty="0"/>
          </a:p>
          <a:p>
            <a:pPr lvl="1">
              <a:buFont typeface="Wingdings" panose="05000000000000000000" pitchFamily="2" charset="2"/>
              <a:buChar char="ü"/>
            </a:pPr>
            <a:r>
              <a:rPr kumimoji="1" lang="zh-CN" altLang="en-US"/>
              <a:t>进程调度方式</a:t>
            </a:r>
            <a:endParaRPr kumimoji="1" lang="en-US" altLang="zh-CN"/>
          </a:p>
          <a:p>
            <a:pPr marL="914400" lvl="2" indent="0" algn="just">
              <a:buNone/>
            </a:pPr>
            <a:r>
              <a:rPr kumimoji="1" lang="zh-CN" altLang="en-US" b="1">
                <a:solidFill>
                  <a:srgbClr val="FF0000"/>
                </a:solidFill>
              </a:rPr>
              <a:t>非抢占方式</a:t>
            </a:r>
            <a:r>
              <a:rPr kumimoji="1" lang="zh-CN" altLang="en-US"/>
              <a:t>：在采用这种调度方式时，一旦把处理机分配给某进程后，就一直让它运行下去，决不会因为时钟中断或任何其它原因去抢占当前正在运行进程的处理机，直至该进程完成，或发生某事件而被阻塞时，才把处理机分配给其它进程。</a:t>
            </a:r>
            <a:endParaRPr kumimoji="1" lang="en-US" altLang="zh-CN"/>
          </a:p>
          <a:p>
            <a:pPr marL="914400" lvl="2" indent="0" algn="just">
              <a:buNone/>
            </a:pPr>
            <a:r>
              <a:rPr kumimoji="1" lang="zh-CN" altLang="en-US" b="1">
                <a:solidFill>
                  <a:srgbClr val="FF0000"/>
                </a:solidFill>
              </a:rPr>
              <a:t>抢占方式</a:t>
            </a:r>
            <a:r>
              <a:rPr kumimoji="1" lang="zh-CN" altLang="en-US"/>
              <a:t>：这种调度方式允许调度程序根据某种原则，去暂停某个正在执行的进程，将已分配给该进程的处理机重新分配给另一进程。在现代</a:t>
            </a:r>
            <a:r>
              <a:rPr kumimoji="1" lang="en-US" altLang="zh-CN"/>
              <a:t>OS</a:t>
            </a:r>
            <a:r>
              <a:rPr kumimoji="1" lang="zh-CN" altLang="en-US"/>
              <a:t>中广泛采用抢占方式，这是因为：对于批处理机系统，可以防止一个长进程长时间地占用处理机，以确保处理机能为所有进程提供更为公平的服务。在分时系统中，只有采用抢占方式才有可能实现人</a:t>
            </a:r>
            <a:r>
              <a:rPr kumimoji="1" lang="en-US" altLang="zh-CN"/>
              <a:t>—</a:t>
            </a:r>
            <a:r>
              <a:rPr kumimoji="1" lang="zh-CN" altLang="en-US"/>
              <a:t>机交互。在实时系统中，抢占方式能满足实时任务的需求。但抢占方式比较复杂，所需付出的系统开销也较大。</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8"/>
            <a:ext cx="10515600" cy="5210718"/>
          </a:xfrm>
        </p:spPr>
        <p:txBody>
          <a:bodyPr>
            <a:normAutofit lnSpcReduction="10000"/>
          </a:bodyPr>
          <a:lstStyle/>
          <a:p>
            <a:pPr>
              <a:lnSpc>
                <a:spcPct val="120000"/>
              </a:lnSpc>
            </a:pPr>
            <a:r>
              <a:rPr kumimoji="1" lang="zh-CN" altLang="en-US"/>
              <a:t>轮转调度算法</a:t>
            </a:r>
            <a:endParaRPr kumimoji="1" lang="en-US" altLang="zh-CN" dirty="0"/>
          </a:p>
          <a:p>
            <a:pPr lvl="1">
              <a:buFont typeface="Wingdings" panose="05000000000000000000" pitchFamily="2" charset="2"/>
              <a:buChar char="ü"/>
            </a:pPr>
            <a:r>
              <a:rPr kumimoji="1" lang="zh-CN" altLang="en-US"/>
              <a:t>轮转法基本原理</a:t>
            </a:r>
            <a:endParaRPr kumimoji="1" lang="en-US" altLang="zh-CN"/>
          </a:p>
          <a:p>
            <a:pPr marL="914400" lvl="2" indent="0" algn="just">
              <a:buNone/>
            </a:pPr>
            <a:r>
              <a:rPr kumimoji="1" lang="zh-CN" altLang="en-US"/>
              <a:t>在轮转</a:t>
            </a:r>
            <a:r>
              <a:rPr kumimoji="1" lang="en-US" altLang="zh-CN"/>
              <a:t>(RR)</a:t>
            </a:r>
            <a:r>
              <a:rPr kumimoji="1" lang="zh-CN" altLang="en-US"/>
              <a:t>法中，系统将所有的就绪进程按</a:t>
            </a:r>
            <a:r>
              <a:rPr kumimoji="1" lang="en-US" altLang="zh-CN"/>
              <a:t>FCFS</a:t>
            </a:r>
            <a:r>
              <a:rPr kumimoji="1" lang="zh-CN" altLang="en-US"/>
              <a:t>策略排成一个就绪队列。系统可设置每隔一定时间</a:t>
            </a:r>
            <a:r>
              <a:rPr kumimoji="1" lang="en-US" altLang="zh-CN"/>
              <a:t>(</a:t>
            </a:r>
            <a:r>
              <a:rPr kumimoji="1" lang="zh-CN" altLang="en-US"/>
              <a:t>如</a:t>
            </a:r>
            <a:r>
              <a:rPr kumimoji="1" lang="en-US" altLang="zh-CN"/>
              <a:t>30 ms)</a:t>
            </a:r>
            <a:r>
              <a:rPr kumimoji="1" lang="zh-CN" altLang="en-US"/>
              <a:t>便产生一次中断，去激活进程调度程序进行调度，把</a:t>
            </a:r>
            <a:r>
              <a:rPr kumimoji="1" lang="en-US" altLang="zh-CN"/>
              <a:t>CPU</a:t>
            </a:r>
            <a:r>
              <a:rPr kumimoji="1" lang="zh-CN" altLang="en-US"/>
              <a:t>分配给队首进程，并令其执行一个时间片。当它运行完毕后，又把处理机分配给就绪队列中新的队首进程，也让它执行一个时间片。这样，就可以保证就绪队列中的所有进程在确定的时间段内，都能获得一个时间片的处理机时间。</a:t>
            </a:r>
            <a:endParaRPr kumimoji="1" lang="en-US" altLang="zh-CN"/>
          </a:p>
          <a:p>
            <a:pPr lvl="1">
              <a:buFont typeface="Wingdings" panose="05000000000000000000" pitchFamily="2" charset="2"/>
              <a:buChar char="ü"/>
            </a:pPr>
            <a:r>
              <a:rPr kumimoji="1" lang="zh-CN" altLang="en-US"/>
              <a:t>进程切换时机</a:t>
            </a:r>
            <a:endParaRPr kumimoji="1" lang="en-US" altLang="zh-CN"/>
          </a:p>
          <a:p>
            <a:pPr marL="914400" lvl="2" indent="0" algn="just">
              <a:buNone/>
            </a:pPr>
            <a:r>
              <a:rPr kumimoji="1" lang="zh-CN" altLang="en-US"/>
              <a:t>在</a:t>
            </a:r>
            <a:r>
              <a:rPr kumimoji="1" lang="en-US" altLang="zh-CN"/>
              <a:t>RR</a:t>
            </a:r>
            <a:r>
              <a:rPr kumimoji="1" lang="zh-CN" altLang="en-US"/>
              <a:t>调度算法中，应何时进行进程切换，可分为两种情况：① 若一个</a:t>
            </a:r>
            <a:r>
              <a:rPr kumimoji="1" lang="zh-CN" altLang="en-US" b="1">
                <a:solidFill>
                  <a:srgbClr val="FF0000"/>
                </a:solidFill>
              </a:rPr>
              <a:t>时间片尚未用完</a:t>
            </a:r>
            <a:r>
              <a:rPr kumimoji="1" lang="zh-CN" altLang="en-US"/>
              <a:t>，正在运行的进程便已经完成，立即激活调度程序，将它从就绪队列中删除，再调度就绪队列中队首进程运行，并启动一个新的时间片。② 在一个</a:t>
            </a:r>
            <a:r>
              <a:rPr kumimoji="1" lang="zh-CN" altLang="en-US" b="1">
                <a:solidFill>
                  <a:srgbClr val="FF0000"/>
                </a:solidFill>
              </a:rPr>
              <a:t>时间片用完</a:t>
            </a:r>
            <a:r>
              <a:rPr kumimoji="1" lang="zh-CN" altLang="en-US"/>
              <a:t>时，计时器中断处理程序被激活。如果进程尚未运行完毕，调度程序将把它送往就绪队列的末尾。</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8"/>
            <a:ext cx="4251593" cy="5210718"/>
          </a:xfrm>
        </p:spPr>
        <p:txBody>
          <a:bodyPr>
            <a:normAutofit/>
          </a:bodyPr>
          <a:lstStyle/>
          <a:p>
            <a:pPr>
              <a:lnSpc>
                <a:spcPct val="120000"/>
              </a:lnSpc>
            </a:pPr>
            <a:r>
              <a:rPr kumimoji="1" lang="zh-CN" altLang="en-US"/>
              <a:t>轮转调度算法</a:t>
            </a:r>
            <a:endParaRPr kumimoji="1" lang="en-US" altLang="zh-CN" dirty="0"/>
          </a:p>
          <a:p>
            <a:pPr lvl="1">
              <a:buFont typeface="Wingdings" panose="05000000000000000000" pitchFamily="2" charset="2"/>
              <a:buChar char="ü"/>
            </a:pPr>
            <a:r>
              <a:rPr kumimoji="1" lang="zh-CN" altLang="en-US"/>
              <a:t>时间片大小确定</a:t>
            </a:r>
            <a:endParaRPr kumimoji="1" lang="en-US" altLang="zh-CN"/>
          </a:p>
          <a:p>
            <a:pPr marL="914400" lvl="2" indent="0" algn="just">
              <a:buNone/>
            </a:pPr>
            <a:r>
              <a:rPr kumimoji="1" lang="zh-CN" altLang="en-US"/>
              <a:t>在轮转算法中，时间片大小对系统性能有很大影响。下图给出了时间片大小对响应时间的影响，其中图</a:t>
            </a:r>
            <a:r>
              <a:rPr kumimoji="1" lang="en-US" altLang="zh-CN"/>
              <a:t>(a)</a:t>
            </a:r>
            <a:r>
              <a:rPr kumimoji="1" lang="zh-CN" altLang="en-US"/>
              <a:t>是时间片略大于典型交互的时间，而图</a:t>
            </a:r>
            <a:r>
              <a:rPr kumimoji="1" lang="en-US" altLang="zh-CN"/>
              <a:t>(b)</a:t>
            </a:r>
            <a:r>
              <a:rPr kumimoji="1" lang="zh-CN" altLang="en-US"/>
              <a:t>是时间片小于典型交互的时间。</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3351" y="2092252"/>
            <a:ext cx="6206140" cy="3930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8"/>
            <a:ext cx="10958945" cy="5210718"/>
          </a:xfrm>
        </p:spPr>
        <p:txBody>
          <a:bodyPr>
            <a:normAutofit/>
          </a:bodyPr>
          <a:lstStyle/>
          <a:p>
            <a:pPr>
              <a:lnSpc>
                <a:spcPct val="120000"/>
              </a:lnSpc>
            </a:pPr>
            <a:r>
              <a:rPr kumimoji="1" lang="zh-CN" altLang="en-US"/>
              <a:t>轮转调度算法</a:t>
            </a:r>
            <a:endParaRPr kumimoji="1" lang="en-US" altLang="zh-CN" dirty="0"/>
          </a:p>
          <a:p>
            <a:pPr lvl="1">
              <a:buFont typeface="Wingdings" panose="05000000000000000000" pitchFamily="2" charset="2"/>
              <a:buChar char="ü"/>
            </a:pPr>
            <a:r>
              <a:rPr kumimoji="1" lang="zh-CN" altLang="en-US"/>
              <a:t>时间片大小确定</a:t>
            </a:r>
            <a:endParaRPr kumimoji="1" lang="en-US" altLang="zh-CN"/>
          </a:p>
          <a:p>
            <a:pPr marL="914400" lvl="2" indent="0" algn="just">
              <a:buNone/>
            </a:pPr>
            <a:r>
              <a:rPr kumimoji="1" lang="zh-CN" altLang="en-US"/>
              <a:t>时间片分别为</a:t>
            </a:r>
            <a:r>
              <a:rPr kumimoji="1" lang="en-US" altLang="zh-CN"/>
              <a:t>q = 1</a:t>
            </a:r>
            <a:r>
              <a:rPr kumimoji="1" lang="zh-CN" altLang="en-US"/>
              <a:t>和</a:t>
            </a:r>
            <a:r>
              <a:rPr kumimoji="1" lang="en-US" altLang="zh-CN"/>
              <a:t>q = 4</a:t>
            </a:r>
            <a:r>
              <a:rPr kumimoji="1" lang="zh-CN" altLang="en-US"/>
              <a:t>时对平均周转时间的影响。</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00926" y="3278615"/>
            <a:ext cx="9616546" cy="31872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8"/>
            <a:ext cx="10515600" cy="5210718"/>
          </a:xfrm>
        </p:spPr>
        <p:txBody>
          <a:bodyPr>
            <a:normAutofit/>
          </a:bodyPr>
          <a:lstStyle/>
          <a:p>
            <a:pPr>
              <a:lnSpc>
                <a:spcPct val="120000"/>
              </a:lnSpc>
            </a:pPr>
            <a:r>
              <a:rPr kumimoji="1" lang="zh-CN" altLang="en-US"/>
              <a:t>优先级调度算法</a:t>
            </a:r>
            <a:endParaRPr kumimoji="1" lang="en-US" altLang="zh-CN" dirty="0"/>
          </a:p>
          <a:p>
            <a:pPr lvl="1">
              <a:buFont typeface="Wingdings" panose="05000000000000000000" pitchFamily="2" charset="2"/>
              <a:buChar char="ü"/>
            </a:pPr>
            <a:r>
              <a:rPr kumimoji="1" lang="zh-CN" altLang="en-US"/>
              <a:t>优先级调度算法类型</a:t>
            </a:r>
            <a:endParaRPr kumimoji="1" lang="en-US" altLang="zh-CN"/>
          </a:p>
          <a:p>
            <a:pPr marL="914400" lvl="2" indent="0" algn="just">
              <a:buNone/>
            </a:pPr>
            <a:r>
              <a:rPr kumimoji="1" lang="zh-CN" altLang="en-US"/>
              <a:t>优先级进程调度算法是把处理机分配给就绪队列中优先级最高的进程。此时，又可进一步把该算法分成：</a:t>
            </a:r>
            <a:r>
              <a:rPr kumimoji="1" lang="en-US" altLang="zh-CN"/>
              <a:t>(1)</a:t>
            </a:r>
            <a:r>
              <a:rPr kumimoji="1" lang="zh-CN" altLang="en-US"/>
              <a:t>非抢占式优先级调度算法；</a:t>
            </a:r>
            <a:r>
              <a:rPr kumimoji="1" lang="en-US" altLang="zh-CN"/>
              <a:t>(2)</a:t>
            </a:r>
            <a:r>
              <a:rPr kumimoji="1" lang="zh-CN" altLang="en-US"/>
              <a:t>抢占式优先级调度算法。</a:t>
            </a:r>
            <a:endParaRPr kumimoji="1" lang="en-US" altLang="zh-CN"/>
          </a:p>
          <a:p>
            <a:pPr lvl="1">
              <a:buFont typeface="Wingdings" panose="05000000000000000000" pitchFamily="2" charset="2"/>
              <a:buChar char="ü"/>
            </a:pPr>
            <a:r>
              <a:rPr kumimoji="1" lang="zh-CN" altLang="en-US"/>
              <a:t>优先级的类型</a:t>
            </a:r>
            <a:endParaRPr kumimoji="1" lang="en-US" altLang="zh-CN"/>
          </a:p>
          <a:p>
            <a:pPr marL="914400" lvl="2" indent="0" algn="just">
              <a:buNone/>
            </a:pPr>
            <a:r>
              <a:rPr kumimoji="1" lang="zh-CN" altLang="en-US" b="1">
                <a:solidFill>
                  <a:srgbClr val="FF0000"/>
                </a:solidFill>
              </a:rPr>
              <a:t>静态优先级</a:t>
            </a:r>
            <a:r>
              <a:rPr kumimoji="1" lang="zh-CN" altLang="en-US"/>
              <a:t>：在创建进程时确定，在进程的整个运行期间保持不变。优先级是利用某一范围内的一个整数来表示，例如</a:t>
            </a:r>
            <a:r>
              <a:rPr kumimoji="1" lang="en-US" altLang="zh-CN"/>
              <a:t>0</a:t>
            </a:r>
            <a:r>
              <a:rPr kumimoji="1" lang="zh-CN" altLang="en-US"/>
              <a:t>～</a:t>
            </a:r>
            <a:r>
              <a:rPr kumimoji="1" lang="en-US" altLang="zh-CN"/>
              <a:t>255</a:t>
            </a:r>
            <a:r>
              <a:rPr kumimoji="1" lang="zh-CN" altLang="en-US"/>
              <a:t>中某一整数，又把该整数称为优先数。确定进程优先级大小的依据有：</a:t>
            </a:r>
            <a:r>
              <a:rPr kumimoji="1" lang="en-US" altLang="zh-CN"/>
              <a:t>(1)</a:t>
            </a:r>
            <a:r>
              <a:rPr kumimoji="1" lang="zh-CN" altLang="en-US"/>
              <a:t>进程类型；</a:t>
            </a:r>
            <a:r>
              <a:rPr kumimoji="1" lang="en-US" altLang="zh-CN"/>
              <a:t>(2)</a:t>
            </a:r>
            <a:r>
              <a:rPr kumimoji="1" lang="zh-CN" altLang="en-US"/>
              <a:t>进程对资源的需求；</a:t>
            </a:r>
            <a:r>
              <a:rPr kumimoji="1" lang="en-US" altLang="zh-CN"/>
              <a:t>(3)</a:t>
            </a:r>
            <a:r>
              <a:rPr kumimoji="1" lang="zh-CN" altLang="en-US"/>
              <a:t>用户要求。</a:t>
            </a:r>
            <a:endParaRPr kumimoji="1" lang="en-US" altLang="zh-CN"/>
          </a:p>
          <a:p>
            <a:pPr marL="914400" lvl="2" indent="0" algn="just">
              <a:buNone/>
            </a:pPr>
            <a:r>
              <a:rPr lang="zh-CN" altLang="en-US" b="1">
                <a:solidFill>
                  <a:srgbClr val="FF0000"/>
                </a:solidFill>
              </a:rPr>
              <a:t>动态优先级</a:t>
            </a:r>
            <a:r>
              <a:rPr lang="zh-CN" altLang="en-US"/>
              <a:t>：在创建进程之初，先赋予其一个优先级，然后其值随进程的推进或等待时间的增加而改变，以便获得更好的调度性能</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5" name="文本框 4"/>
          <p:cNvSpPr txBox="1">
            <a:spLocks noChangeArrowheads="1"/>
          </p:cNvSpPr>
          <p:nvPr/>
        </p:nvSpPr>
        <p:spPr bwMode="auto">
          <a:xfrm>
            <a:off x="3765473" y="3429000"/>
            <a:ext cx="1702565" cy="461665"/>
          </a:xfrm>
          <a:prstGeom prst="rect">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lgn="ctr">
              <a:defRPr sz="2200">
                <a:solidFill>
                  <a:schemeClr val="tx1"/>
                </a:solidFill>
                <a:latin typeface="Times New Roman" panose="02020603050405020304" pitchFamily="18" charset="0"/>
                <a:ea typeface="宋体" panose="02010600030101010101" pitchFamily="2" charset="-122"/>
              </a:defRPr>
            </a:lvl1pPr>
            <a:lvl2pPr marL="742950" indent="-285750" algn="ctr">
              <a:defRPr sz="2200">
                <a:solidFill>
                  <a:schemeClr val="tx1"/>
                </a:solidFill>
                <a:latin typeface="Times New Roman" panose="02020603050405020304" pitchFamily="18" charset="0"/>
                <a:ea typeface="宋体" panose="02010600030101010101" pitchFamily="2" charset="-122"/>
              </a:defRPr>
            </a:lvl2pPr>
            <a:lvl3pPr marL="1143000" indent="-228600" algn="ctr">
              <a:defRPr sz="2200">
                <a:solidFill>
                  <a:schemeClr val="tx1"/>
                </a:solidFill>
                <a:latin typeface="Times New Roman" panose="02020603050405020304" pitchFamily="18" charset="0"/>
                <a:ea typeface="宋体" panose="02010600030101010101" pitchFamily="2" charset="-122"/>
              </a:defRPr>
            </a:lvl3pPr>
            <a:lvl4pPr marL="1600200" indent="-228600" algn="ctr">
              <a:defRPr sz="2200">
                <a:solidFill>
                  <a:schemeClr val="tx1"/>
                </a:solidFill>
                <a:latin typeface="Times New Roman" panose="02020603050405020304" pitchFamily="18" charset="0"/>
                <a:ea typeface="宋体" panose="02010600030101010101" pitchFamily="2" charset="-122"/>
              </a:defRPr>
            </a:lvl4pPr>
            <a:lvl5pPr marL="2057400" indent="-228600" algn="ctr">
              <a:defRPr sz="2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Times New Roman" panose="02020603050405020304" pitchFamily="18" charset="0"/>
                <a:ea typeface="宋体" panose="02010600030101010101" pitchFamily="2" charset="-122"/>
              </a:defRPr>
            </a:lvl9pPr>
          </a:lstStyle>
          <a:p>
            <a:pPr algn="l"/>
            <a:r>
              <a:rPr lang="en-US" altLang="zh-CN" sz="2400" b="1">
                <a:solidFill>
                  <a:srgbClr val="FF0000"/>
                </a:solidFill>
              </a:rPr>
              <a:t>ps -l -p pid</a:t>
            </a:r>
            <a:endParaRPr lang="zh-CN" altLang="en-US" sz="2400" b="1">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8"/>
            <a:ext cx="4416846" cy="5210718"/>
          </a:xfrm>
        </p:spPr>
        <p:txBody>
          <a:bodyPr>
            <a:normAutofit/>
          </a:bodyPr>
          <a:lstStyle/>
          <a:p>
            <a:r>
              <a:rPr kumimoji="1" lang="zh-CN" altLang="en-US"/>
              <a:t>多队列调度算法</a:t>
            </a:r>
            <a:endParaRPr kumimoji="1" lang="en-US" altLang="zh-CN"/>
          </a:p>
          <a:p>
            <a:pPr marL="914400" lvl="2" indent="0" algn="just">
              <a:buNone/>
            </a:pPr>
            <a:r>
              <a:rPr kumimoji="1" lang="zh-CN" altLang="en-US"/>
              <a:t>如前所述的各种调度算法，尤其在应用于进程调度时，由于系统中仅设置一个进程的就绪队列，即低级调度算法是固定的、单一的，无法满足系统中不同用户对进程调度策略的不同要求，在多处理机系统中，这种单一调度策略实现机制的缺点更显突出，由此，多级队列调度算法能够在一定程度上弥补这一缺点。</a:t>
            </a:r>
          </a:p>
          <a:p>
            <a:pPr marL="914400" lvl="2" indent="0">
              <a:buNone/>
            </a:pPr>
            <a:endParaRPr kumimoji="1" lang="en-US" altLang="zh-CN"/>
          </a:p>
          <a:p>
            <a:pPr lvl="1"/>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4395" y="1998207"/>
            <a:ext cx="5972630" cy="42358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8"/>
            <a:ext cx="10515600" cy="5210718"/>
          </a:xfrm>
        </p:spPr>
        <p:txBody>
          <a:bodyPr>
            <a:normAutofit lnSpcReduction="10000"/>
          </a:bodyPr>
          <a:lstStyle/>
          <a:p>
            <a:pPr>
              <a:lnSpc>
                <a:spcPct val="120000"/>
              </a:lnSpc>
            </a:pPr>
            <a:r>
              <a:rPr kumimoji="1" lang="zh-CN" altLang="en-US" dirty="0"/>
              <a:t>多级反馈队列调度算法</a:t>
            </a:r>
            <a:endParaRPr kumimoji="1" lang="en-US" altLang="zh-CN" dirty="0"/>
          </a:p>
          <a:p>
            <a:pPr lvl="1">
              <a:buFont typeface="Wingdings" panose="05000000000000000000" pitchFamily="2" charset="2"/>
              <a:buChar char="ü"/>
            </a:pPr>
            <a:r>
              <a:rPr kumimoji="1" lang="zh-CN" altLang="en-US" dirty="0"/>
              <a:t>调度机制</a:t>
            </a:r>
            <a:endParaRPr kumimoji="1" lang="en-US" altLang="zh-CN" dirty="0"/>
          </a:p>
          <a:p>
            <a:pPr marL="914400" lvl="2" indent="0" algn="just">
              <a:buNone/>
            </a:pPr>
            <a:r>
              <a:rPr kumimoji="1" lang="zh-CN" altLang="en-US" dirty="0"/>
              <a:t>多级反馈队列调度算法的调度机制为</a:t>
            </a:r>
            <a:r>
              <a:rPr kumimoji="1" lang="zh-CN" altLang="en-US" dirty="0">
                <a:sym typeface="Wingdings" panose="05000000000000000000" pitchFamily="2" charset="2"/>
              </a:rPr>
              <a:t>：</a:t>
            </a:r>
            <a:r>
              <a:rPr kumimoji="1" lang="en-US" altLang="zh-CN" dirty="0">
                <a:sym typeface="Wingdings" panose="05000000000000000000" pitchFamily="2" charset="2"/>
              </a:rPr>
              <a:t>(1)</a:t>
            </a:r>
            <a:r>
              <a:rPr kumimoji="1" lang="zh-CN" altLang="en-US" dirty="0">
                <a:sym typeface="Wingdings" panose="05000000000000000000" pitchFamily="2" charset="2"/>
              </a:rPr>
              <a:t>设置</a:t>
            </a:r>
            <a:r>
              <a:rPr kumimoji="1" lang="zh-CN" altLang="en-US" b="1" dirty="0">
                <a:solidFill>
                  <a:srgbClr val="FF0000"/>
                </a:solidFill>
                <a:sym typeface="Wingdings" panose="05000000000000000000" pitchFamily="2" charset="2"/>
              </a:rPr>
              <a:t>多个就绪队列</a:t>
            </a:r>
            <a:r>
              <a:rPr kumimoji="1" lang="zh-CN" altLang="en-US" dirty="0">
                <a:sym typeface="Wingdings" panose="05000000000000000000" pitchFamily="2" charset="2"/>
              </a:rPr>
              <a:t>；</a:t>
            </a:r>
            <a:r>
              <a:rPr kumimoji="1" lang="en-US" altLang="zh-CN" dirty="0">
                <a:sym typeface="Wingdings" panose="05000000000000000000" pitchFamily="2" charset="2"/>
              </a:rPr>
              <a:t>(2)</a:t>
            </a:r>
            <a:r>
              <a:rPr kumimoji="1" lang="zh-CN" altLang="en-US" b="1" dirty="0">
                <a:solidFill>
                  <a:srgbClr val="FF0000"/>
                </a:solidFill>
                <a:sym typeface="Wingdings" panose="05000000000000000000" pitchFamily="2" charset="2"/>
              </a:rPr>
              <a:t>每个队列都采用</a:t>
            </a:r>
            <a:r>
              <a:rPr kumimoji="1" lang="en-US" altLang="zh-CN" b="1" dirty="0">
                <a:solidFill>
                  <a:srgbClr val="FF0000"/>
                </a:solidFill>
                <a:sym typeface="Wingdings" panose="05000000000000000000" pitchFamily="2" charset="2"/>
              </a:rPr>
              <a:t>FCFS</a:t>
            </a:r>
            <a:r>
              <a:rPr kumimoji="1" lang="zh-CN" altLang="en-US" b="1" dirty="0">
                <a:solidFill>
                  <a:srgbClr val="FF0000"/>
                </a:solidFill>
                <a:sym typeface="Wingdings" panose="05000000000000000000" pitchFamily="2" charset="2"/>
              </a:rPr>
              <a:t>算法</a:t>
            </a:r>
            <a:r>
              <a:rPr kumimoji="1" lang="zh-CN" altLang="en-US" dirty="0">
                <a:sym typeface="Wingdings" panose="05000000000000000000" pitchFamily="2" charset="2"/>
              </a:rPr>
              <a:t>。当新进程进入内存后，首先将它放入第一队列的末尾，按</a:t>
            </a:r>
            <a:r>
              <a:rPr kumimoji="1" lang="en-US" altLang="zh-CN" dirty="0">
                <a:sym typeface="Wingdings" panose="05000000000000000000" pitchFamily="2" charset="2"/>
              </a:rPr>
              <a:t>FCFS</a:t>
            </a:r>
            <a:r>
              <a:rPr kumimoji="1" lang="zh-CN" altLang="en-US" dirty="0">
                <a:sym typeface="Wingdings" panose="05000000000000000000" pitchFamily="2" charset="2"/>
              </a:rPr>
              <a:t>原则等待调度。当轮到该进程执行时，如它能在该时间片内完成，便可撤离系统。否则，即它在一个时间片结束时尚未完成，调度程序将其转入第二队列的末尾等待调度；如果它在第二队列中运行一个时间片后仍未完成，再依次将它放入第三队列，</a:t>
            </a:r>
            <a:r>
              <a:rPr kumimoji="1" lang="en-US" altLang="zh-CN" dirty="0">
                <a:sym typeface="Wingdings" panose="05000000000000000000" pitchFamily="2" charset="2"/>
              </a:rPr>
              <a:t>……</a:t>
            </a:r>
            <a:r>
              <a:rPr kumimoji="1" lang="zh-CN" altLang="en-US" dirty="0">
                <a:sym typeface="Wingdings" panose="05000000000000000000" pitchFamily="2" charset="2"/>
              </a:rPr>
              <a:t>，依此类推。当进程最后被降到第</a:t>
            </a:r>
            <a:r>
              <a:rPr kumimoji="1" lang="en-US" altLang="zh-CN" i="1" dirty="0">
                <a:sym typeface="Wingdings" panose="05000000000000000000" pitchFamily="2" charset="2"/>
              </a:rPr>
              <a:t>n</a:t>
            </a:r>
            <a:r>
              <a:rPr kumimoji="1" lang="zh-CN" altLang="en-US" dirty="0">
                <a:sym typeface="Wingdings" panose="05000000000000000000" pitchFamily="2" charset="2"/>
              </a:rPr>
              <a:t>队列后，在第</a:t>
            </a:r>
            <a:r>
              <a:rPr kumimoji="1" lang="en-US" altLang="zh-CN" i="1" dirty="0">
                <a:sym typeface="Wingdings" panose="05000000000000000000" pitchFamily="2" charset="2"/>
              </a:rPr>
              <a:t>n</a:t>
            </a:r>
            <a:r>
              <a:rPr kumimoji="1" lang="zh-CN" altLang="en-US" dirty="0">
                <a:sym typeface="Wingdings" panose="05000000000000000000" pitchFamily="2" charset="2"/>
              </a:rPr>
              <a:t>队列中便采取按</a:t>
            </a:r>
            <a:r>
              <a:rPr kumimoji="1" lang="en-US" altLang="zh-CN" dirty="0">
                <a:sym typeface="Wingdings" panose="05000000000000000000" pitchFamily="2" charset="2"/>
              </a:rPr>
              <a:t>RR</a:t>
            </a:r>
            <a:r>
              <a:rPr kumimoji="1" lang="zh-CN" altLang="en-US" dirty="0">
                <a:sym typeface="Wingdings" panose="05000000000000000000" pitchFamily="2" charset="2"/>
              </a:rPr>
              <a:t>方式运行；</a:t>
            </a:r>
            <a:r>
              <a:rPr kumimoji="1" lang="en-US" altLang="zh-CN" dirty="0">
                <a:sym typeface="Wingdings" panose="05000000000000000000" pitchFamily="2" charset="2"/>
              </a:rPr>
              <a:t>(3)</a:t>
            </a:r>
            <a:r>
              <a:rPr kumimoji="1" lang="zh-CN" altLang="en-US" b="1" dirty="0">
                <a:solidFill>
                  <a:srgbClr val="FF0000"/>
                </a:solidFill>
                <a:sym typeface="Wingdings" panose="05000000000000000000" pitchFamily="2" charset="2"/>
              </a:rPr>
              <a:t>按队列优先级调度</a:t>
            </a:r>
            <a:r>
              <a:rPr kumimoji="1" lang="zh-CN" altLang="en-US" dirty="0">
                <a:sym typeface="Wingdings" panose="05000000000000000000" pitchFamily="2" charset="2"/>
              </a:rPr>
              <a:t>。调度程序先调度最高优先级队列中的诸进程运行，仅当第一队列空闲时才调度第二队列中的进程运行；换言之，仅当第</a:t>
            </a:r>
            <a:r>
              <a:rPr kumimoji="1" lang="en-US" altLang="zh-CN" dirty="0">
                <a:sym typeface="Wingdings" panose="05000000000000000000" pitchFamily="2" charset="2"/>
              </a:rPr>
              <a:t>1</a:t>
            </a:r>
            <a:r>
              <a:rPr kumimoji="1" lang="zh-CN" altLang="en-US" dirty="0">
                <a:sym typeface="Wingdings" panose="05000000000000000000" pitchFamily="2" charset="2"/>
              </a:rPr>
              <a:t>～</a:t>
            </a:r>
            <a:r>
              <a:rPr kumimoji="1" lang="en-US" altLang="zh-CN" dirty="0">
                <a:sym typeface="Wingdings" panose="05000000000000000000" pitchFamily="2" charset="2"/>
              </a:rPr>
              <a:t>(</a:t>
            </a:r>
            <a:r>
              <a:rPr kumimoji="1" lang="en-US" altLang="zh-CN" i="1" dirty="0">
                <a:sym typeface="Wingdings" panose="05000000000000000000" pitchFamily="2" charset="2"/>
              </a:rPr>
              <a:t>i</a:t>
            </a:r>
            <a:r>
              <a:rPr kumimoji="1" lang="en-US" altLang="zh-CN" dirty="0">
                <a:sym typeface="Wingdings" panose="05000000000000000000" pitchFamily="2" charset="2"/>
              </a:rPr>
              <a:t>-1)</a:t>
            </a:r>
            <a:r>
              <a:rPr kumimoji="1" lang="zh-CN" altLang="en-US" dirty="0">
                <a:sym typeface="Wingdings" panose="05000000000000000000" pitchFamily="2" charset="2"/>
              </a:rPr>
              <a:t>所有队列均空时，才会调度第</a:t>
            </a:r>
            <a:r>
              <a:rPr kumimoji="1" lang="en-US" altLang="zh-CN" i="1" dirty="0">
                <a:sym typeface="Wingdings" panose="05000000000000000000" pitchFamily="2" charset="2"/>
              </a:rPr>
              <a:t>i</a:t>
            </a:r>
            <a:r>
              <a:rPr kumimoji="1" lang="zh-CN" altLang="en-US" dirty="0">
                <a:sym typeface="Wingdings" panose="05000000000000000000" pitchFamily="2" charset="2"/>
              </a:rPr>
              <a:t>队列中的进程运行。如果处理机正在第</a:t>
            </a:r>
            <a:r>
              <a:rPr kumimoji="1" lang="en-US" altLang="zh-CN" dirty="0">
                <a:sym typeface="Wingdings" panose="05000000000000000000" pitchFamily="2" charset="2"/>
              </a:rPr>
              <a:t>i</a:t>
            </a:r>
            <a:r>
              <a:rPr kumimoji="1" lang="zh-CN" altLang="en-US" dirty="0">
                <a:sym typeface="Wingdings" panose="05000000000000000000" pitchFamily="2" charset="2"/>
              </a:rPr>
              <a:t>队列中为某进程服务时又有新进程进入任一优先级较高的队列，此时须立即把正在运行的进程放回到第</a:t>
            </a:r>
            <a:r>
              <a:rPr kumimoji="1" lang="en-US" altLang="zh-CN" dirty="0">
                <a:sym typeface="Wingdings" panose="05000000000000000000" pitchFamily="2" charset="2"/>
              </a:rPr>
              <a:t>i</a:t>
            </a:r>
            <a:r>
              <a:rPr kumimoji="1" lang="zh-CN" altLang="en-US" dirty="0">
                <a:sym typeface="Wingdings" panose="05000000000000000000" pitchFamily="2" charset="2"/>
              </a:rPr>
              <a:t>队列的末尾，而把处理机分配给新到的高优先级进程。</a:t>
            </a:r>
            <a:endParaRPr kumimoji="1" lang="en-US" altLang="zh-CN" dirty="0"/>
          </a:p>
          <a:p>
            <a:pPr lvl="1"/>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8"/>
            <a:ext cx="10515600" cy="5210718"/>
          </a:xfrm>
        </p:spPr>
        <p:txBody>
          <a:bodyPr>
            <a:normAutofit/>
          </a:bodyPr>
          <a:lstStyle/>
          <a:p>
            <a:pPr>
              <a:lnSpc>
                <a:spcPct val="120000"/>
              </a:lnSpc>
            </a:pPr>
            <a:r>
              <a:rPr kumimoji="1" lang="zh-CN" altLang="en-US"/>
              <a:t>多级反馈队列调度算法</a:t>
            </a:r>
            <a:endParaRPr kumimoji="1" lang="en-US" altLang="zh-CN"/>
          </a:p>
          <a:p>
            <a:pPr lvl="1">
              <a:buFont typeface="Wingdings" panose="05000000000000000000" pitchFamily="2" charset="2"/>
              <a:buChar char="ü"/>
            </a:pPr>
            <a:r>
              <a:rPr kumimoji="1" lang="zh-CN" altLang="en-US"/>
              <a:t>调度机制</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8056" y="2455863"/>
            <a:ext cx="6152078" cy="423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8"/>
            <a:ext cx="10515600" cy="5210718"/>
          </a:xfrm>
        </p:spPr>
        <p:txBody>
          <a:bodyPr>
            <a:normAutofit/>
          </a:bodyPr>
          <a:lstStyle/>
          <a:p>
            <a:pPr>
              <a:lnSpc>
                <a:spcPct val="120000"/>
              </a:lnSpc>
            </a:pPr>
            <a:r>
              <a:rPr kumimoji="1" lang="zh-CN" altLang="en-US"/>
              <a:t>多级反馈队列调度算法</a:t>
            </a:r>
            <a:endParaRPr kumimoji="1" lang="en-US" altLang="zh-CN"/>
          </a:p>
          <a:p>
            <a:pPr lvl="1">
              <a:buFont typeface="Wingdings" panose="05000000000000000000" pitchFamily="2" charset="2"/>
              <a:buChar char="ü"/>
            </a:pPr>
            <a:r>
              <a:rPr kumimoji="1" lang="zh-CN" altLang="en-US"/>
              <a:t>调度算法性能</a:t>
            </a:r>
            <a:endParaRPr kumimoji="1" lang="en-US" altLang="zh-CN"/>
          </a:p>
          <a:p>
            <a:pPr marL="914400" lvl="2" indent="0" algn="just">
              <a:buNone/>
            </a:pPr>
            <a:r>
              <a:rPr kumimoji="1" lang="zh-CN" altLang="en-US"/>
              <a:t>在多级反馈队列调度算法中，如果规定第一个队列的时间片略大于多数人机交互所需之处理时间时，便能较好地满足各种类型用户的需要。</a:t>
            </a:r>
            <a:endParaRPr kumimoji="1" lang="en-US" altLang="zh-CN"/>
          </a:p>
          <a:p>
            <a:pPr marL="914400" lvl="2" indent="0" algn="just">
              <a:buNone/>
            </a:pPr>
            <a:r>
              <a:rPr kumimoji="1" lang="en-US" altLang="zh-CN"/>
              <a:t>(1)</a:t>
            </a:r>
            <a:r>
              <a:rPr kumimoji="1" lang="zh-CN" altLang="en-US"/>
              <a:t>终端型用户</a:t>
            </a:r>
            <a:endParaRPr kumimoji="1" lang="en-US" altLang="zh-CN"/>
          </a:p>
          <a:p>
            <a:pPr marL="914400" lvl="2" indent="0" algn="just">
              <a:buNone/>
            </a:pPr>
            <a:r>
              <a:rPr kumimoji="1" lang="en-US" altLang="zh-CN"/>
              <a:t>(2)</a:t>
            </a:r>
            <a:r>
              <a:rPr kumimoji="1" lang="zh-CN" altLang="en-US"/>
              <a:t>短批处理作业用户</a:t>
            </a:r>
            <a:endParaRPr kumimoji="1" lang="en-US" altLang="zh-CN"/>
          </a:p>
          <a:p>
            <a:pPr marL="914400" lvl="2" indent="0" algn="just">
              <a:buNone/>
            </a:pPr>
            <a:r>
              <a:rPr kumimoji="1" lang="en-US" altLang="zh-CN"/>
              <a:t>(3)</a:t>
            </a:r>
            <a:r>
              <a:rPr kumimoji="1" lang="zh-CN" altLang="en-US"/>
              <a:t>长批处理作业用户</a:t>
            </a:r>
            <a:endParaRPr kumimoji="1" lang="en-US" altLang="zh-CN"/>
          </a:p>
          <a:p>
            <a:pPr lvl="1"/>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a:t>基于公平原则的调度算法</a:t>
            </a:r>
            <a:endParaRPr kumimoji="1" lang="en-US" altLang="zh-CN"/>
          </a:p>
          <a:p>
            <a:pPr lvl="1">
              <a:buFont typeface="Wingdings" panose="05000000000000000000" pitchFamily="2" charset="2"/>
              <a:buChar char="ü"/>
            </a:pPr>
            <a:r>
              <a:rPr kumimoji="1" lang="zh-CN" altLang="en-US"/>
              <a:t>保证调度算法</a:t>
            </a:r>
            <a:endParaRPr kumimoji="1" lang="en-US" altLang="zh-CN"/>
          </a:p>
          <a:p>
            <a:pPr marL="914400" lvl="2" indent="0" algn="just">
              <a:buNone/>
            </a:pPr>
            <a:r>
              <a:rPr kumimoji="1" lang="zh-CN" altLang="en-US" sz="2200"/>
              <a:t>保证调度算法是另外一种类型的调度算法，它向用户所做出的保证并不是优先运行，而是明确的性能保证，该算法可以做到调度的公平性。一种比较容易实现的性能保证是处理机分配的公平性。如果在系统中有</a:t>
            </a:r>
            <a:r>
              <a:rPr kumimoji="1" lang="en-US" altLang="zh-CN" sz="2200" i="1"/>
              <a:t>n</a:t>
            </a:r>
            <a:r>
              <a:rPr kumimoji="1" lang="zh-CN" altLang="en-US" sz="2200"/>
              <a:t>个相同类型的进程同时运行，为公平起见，须保证每个进程都获得相同的处理机时间</a:t>
            </a:r>
            <a:r>
              <a:rPr kumimoji="1" lang="en-US" altLang="zh-CN" sz="2200"/>
              <a:t>1/</a:t>
            </a:r>
            <a:r>
              <a:rPr kumimoji="1" lang="en-US" altLang="zh-CN" sz="2200" i="1"/>
              <a:t>n</a:t>
            </a:r>
            <a:r>
              <a:rPr kumimoji="1" lang="zh-CN" altLang="en-US" sz="2200"/>
              <a:t>。在实施公平调度算法时系统中必须具有这样一些功能：</a:t>
            </a:r>
            <a:endParaRPr kumimoji="1" lang="en-US" altLang="zh-CN" sz="2200"/>
          </a:p>
          <a:p>
            <a:pPr marL="914400" lvl="2" indent="0" algn="just">
              <a:buNone/>
            </a:pPr>
            <a:r>
              <a:rPr kumimoji="1" lang="en-US" altLang="zh-CN" sz="2200"/>
              <a:t>(1)</a:t>
            </a:r>
            <a:r>
              <a:rPr kumimoji="1" lang="zh-CN" altLang="en-US" sz="2200" b="1">
                <a:solidFill>
                  <a:srgbClr val="FF0000"/>
                </a:solidFill>
              </a:rPr>
              <a:t>跟踪</a:t>
            </a:r>
            <a:r>
              <a:rPr kumimoji="1" lang="zh-CN" altLang="en-US" sz="2200"/>
              <a:t>计算每个</a:t>
            </a:r>
            <a:r>
              <a:rPr kumimoji="1" lang="zh-CN" altLang="en-US" sz="2200" b="1">
                <a:solidFill>
                  <a:srgbClr val="FF0000"/>
                </a:solidFill>
              </a:rPr>
              <a:t>进程</a:t>
            </a:r>
            <a:r>
              <a:rPr kumimoji="1" lang="zh-CN" altLang="en-US" sz="2200"/>
              <a:t>自创建以来已经执行的</a:t>
            </a:r>
            <a:r>
              <a:rPr kumimoji="1" lang="zh-CN" altLang="en-US" sz="2200" b="1">
                <a:solidFill>
                  <a:srgbClr val="FF0000"/>
                </a:solidFill>
              </a:rPr>
              <a:t>处理时间</a:t>
            </a:r>
            <a:r>
              <a:rPr kumimoji="1" lang="zh-CN" altLang="en-US" sz="2200"/>
              <a:t>；</a:t>
            </a:r>
            <a:r>
              <a:rPr kumimoji="1" lang="en-US" altLang="zh-CN" sz="2200"/>
              <a:t>(2)</a:t>
            </a:r>
            <a:r>
              <a:rPr kumimoji="1" lang="zh-CN" altLang="en-US" sz="2200" b="1">
                <a:solidFill>
                  <a:srgbClr val="FF0000"/>
                </a:solidFill>
              </a:rPr>
              <a:t>计算</a:t>
            </a:r>
            <a:r>
              <a:rPr kumimoji="1" lang="zh-CN" altLang="en-US" sz="2200"/>
              <a:t>每个</a:t>
            </a:r>
            <a:r>
              <a:rPr kumimoji="1" lang="zh-CN" altLang="en-US" sz="2200" b="1">
                <a:solidFill>
                  <a:srgbClr val="FF0000"/>
                </a:solidFill>
              </a:rPr>
              <a:t>进程应获得的处理机时间</a:t>
            </a:r>
            <a:r>
              <a:rPr kumimoji="1" lang="zh-CN" altLang="en-US" sz="2200"/>
              <a:t>，即自创建以来的时间除以</a:t>
            </a:r>
            <a:r>
              <a:rPr kumimoji="1" lang="en-US" altLang="zh-CN" sz="2200" i="1"/>
              <a:t>n</a:t>
            </a:r>
            <a:r>
              <a:rPr kumimoji="1" lang="zh-CN" altLang="en-US" sz="2200"/>
              <a:t>；</a:t>
            </a:r>
            <a:r>
              <a:rPr kumimoji="1" lang="en-US" altLang="zh-CN" sz="2200"/>
              <a:t>(3)</a:t>
            </a:r>
            <a:r>
              <a:rPr kumimoji="1" lang="zh-CN" altLang="en-US" sz="2200" b="1">
                <a:solidFill>
                  <a:srgbClr val="FF0000"/>
                </a:solidFill>
              </a:rPr>
              <a:t>计算进程获得处理机时间比率</a:t>
            </a:r>
            <a:r>
              <a:rPr kumimoji="1" lang="zh-CN" altLang="en-US" sz="2200"/>
              <a:t>，即进程实际的处理时间和应获得的处理机时间之比；</a:t>
            </a:r>
            <a:r>
              <a:rPr kumimoji="1" lang="en-US" altLang="zh-CN" sz="2200"/>
              <a:t>(4)</a:t>
            </a:r>
            <a:r>
              <a:rPr kumimoji="1" lang="zh-CN" altLang="en-US" sz="2200" b="1">
                <a:solidFill>
                  <a:srgbClr val="FF0000"/>
                </a:solidFill>
              </a:rPr>
              <a:t>比较各进程获得处理机时间的比率</a:t>
            </a:r>
            <a:r>
              <a:rPr kumimoji="1" lang="zh-CN" altLang="en-US" sz="2200"/>
              <a:t>；</a:t>
            </a:r>
            <a:r>
              <a:rPr kumimoji="1" lang="en-US" altLang="zh-CN" sz="2200"/>
              <a:t>(5)</a:t>
            </a:r>
            <a:r>
              <a:rPr kumimoji="1" lang="zh-CN" altLang="en-US" sz="2200"/>
              <a:t>调度程序</a:t>
            </a:r>
            <a:r>
              <a:rPr kumimoji="1" lang="zh-CN" altLang="en-US" sz="2200" b="1">
                <a:solidFill>
                  <a:srgbClr val="FF0000"/>
                </a:solidFill>
              </a:rPr>
              <a:t>选择比率最小的进程将处理机分配给它</a:t>
            </a:r>
            <a:r>
              <a:rPr kumimoji="1" lang="zh-CN" altLang="en-US" sz="2200"/>
              <a:t>，并让该进程一直运行，直到超过最接近它的进程比率为止。</a:t>
            </a:r>
            <a:endParaRPr kumimoji="1" lang="en-US" altLang="zh-CN" sz="220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进程调度</a:t>
            </a:r>
            <a:endParaRPr kumimoji="1" lang="zh-CN" altLang="en-US" dirty="0"/>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a:t>基于公平原则的调度算法</a:t>
            </a:r>
            <a:endParaRPr kumimoji="1" lang="en-US" altLang="zh-CN"/>
          </a:p>
          <a:p>
            <a:pPr lvl="1">
              <a:buFont typeface="Wingdings" panose="05000000000000000000" pitchFamily="2" charset="2"/>
              <a:buChar char="ü"/>
            </a:pPr>
            <a:r>
              <a:rPr kumimoji="1" lang="zh-CN" altLang="en-US"/>
              <a:t>公平分享调度算法</a:t>
            </a:r>
            <a:endParaRPr kumimoji="1" lang="en-US" altLang="zh-CN"/>
          </a:p>
          <a:p>
            <a:pPr marL="914400" lvl="2" indent="0" algn="just">
              <a:buNone/>
            </a:pPr>
            <a:r>
              <a:rPr kumimoji="1" lang="zh-CN" altLang="en-US" sz="2200"/>
              <a:t>分配给每个进程相同的处理机时间，显然，这对诸进程而言，是体现了一定程度的公平，但如果各个用户所拥有的进程数不同，就会发生对用户的不公平问题。若系统中仅有两个用户，用户</a:t>
            </a:r>
            <a:r>
              <a:rPr kumimoji="1" lang="en-US" altLang="zh-CN" sz="2200"/>
              <a:t>1</a:t>
            </a:r>
            <a:r>
              <a:rPr kumimoji="1" lang="zh-CN" altLang="en-US" sz="2200"/>
              <a:t>启动</a:t>
            </a:r>
            <a:r>
              <a:rPr kumimoji="1" lang="en-US" altLang="zh-CN" sz="2200"/>
              <a:t>4</a:t>
            </a:r>
            <a:r>
              <a:rPr kumimoji="1" lang="zh-CN" altLang="en-US" sz="2200"/>
              <a:t>个进程，用户</a:t>
            </a:r>
            <a:r>
              <a:rPr kumimoji="1" lang="en-US" altLang="zh-CN" sz="2200"/>
              <a:t>2</a:t>
            </a:r>
            <a:r>
              <a:rPr kumimoji="1" lang="zh-CN" altLang="en-US" sz="2200"/>
              <a:t>只启动</a:t>
            </a:r>
            <a:r>
              <a:rPr kumimoji="1" lang="en-US" altLang="zh-CN" sz="2200"/>
              <a:t>1</a:t>
            </a:r>
            <a:r>
              <a:rPr kumimoji="1" lang="zh-CN" altLang="en-US" sz="2200"/>
              <a:t>个进程，采用轮转法让每个进程轮流运行一个时间片，对进程而言很公平，但用户</a:t>
            </a:r>
            <a:r>
              <a:rPr kumimoji="1" lang="en-US" altLang="zh-CN" sz="2200"/>
              <a:t>1</a:t>
            </a:r>
            <a:r>
              <a:rPr kumimoji="1" lang="zh-CN" altLang="en-US" sz="2200"/>
              <a:t>和用户</a:t>
            </a:r>
            <a:r>
              <a:rPr kumimoji="1" lang="en-US" altLang="zh-CN" sz="2200"/>
              <a:t>2</a:t>
            </a:r>
            <a:r>
              <a:rPr kumimoji="1" lang="zh-CN" altLang="en-US" sz="2200"/>
              <a:t>得到的处理机时间分别为</a:t>
            </a:r>
            <a:r>
              <a:rPr kumimoji="1" lang="en-US" altLang="zh-CN" sz="2200"/>
              <a:t>80%</a:t>
            </a:r>
            <a:r>
              <a:rPr kumimoji="1" lang="zh-CN" altLang="en-US" sz="2200"/>
              <a:t>和</a:t>
            </a:r>
            <a:r>
              <a:rPr kumimoji="1" lang="en-US" altLang="zh-CN" sz="2200"/>
              <a:t>20%</a:t>
            </a:r>
            <a:r>
              <a:rPr kumimoji="1" lang="zh-CN" altLang="en-US" sz="2200"/>
              <a:t>，显然对用户</a:t>
            </a:r>
            <a:r>
              <a:rPr kumimoji="1" lang="en-US" altLang="zh-CN" sz="2200"/>
              <a:t>2</a:t>
            </a:r>
            <a:r>
              <a:rPr kumimoji="1" lang="zh-CN" altLang="en-US" sz="2200"/>
              <a:t>而言有失公平。</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实时调度</a:t>
            </a: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p:cNvSpPr txBox="1"/>
          <p:nvPr/>
        </p:nvSpPr>
        <p:spPr>
          <a:xfrm>
            <a:off x="451690" y="1858018"/>
            <a:ext cx="11268336" cy="1815882"/>
          </a:xfrm>
          <a:prstGeom prst="rect">
            <a:avLst/>
          </a:prstGeom>
          <a:noFill/>
        </p:spPr>
        <p:txBody>
          <a:bodyPr wrap="square">
            <a:spAutoFit/>
          </a:bodyPr>
          <a:lstStyle/>
          <a:p>
            <a:pPr algn="just"/>
            <a:r>
              <a:rPr lang="zh-CN" altLang="en-US" sz="2800">
                <a:solidFill>
                  <a:schemeClr val="accent4">
                    <a:lumMod val="75000"/>
                  </a:schemeClr>
                </a:solidFill>
                <a:latin typeface="Times New Roman" panose="02020603050405020304" pitchFamily="18" charset="0"/>
                <a:cs typeface="Times New Roman" panose="02020603050405020304" pitchFamily="18" charset="0"/>
              </a:rPr>
              <a:t>        在实时系统中，可能存在着两类不同性质的实时任务，即</a:t>
            </a:r>
            <a:r>
              <a:rPr lang="en-US" altLang="zh-CN" sz="2800">
                <a:solidFill>
                  <a:schemeClr val="accent4">
                    <a:lumMod val="75000"/>
                  </a:schemeClr>
                </a:solidFill>
                <a:latin typeface="Times New Roman" panose="02020603050405020304" pitchFamily="18" charset="0"/>
                <a:cs typeface="Times New Roman" panose="02020603050405020304" pitchFamily="18" charset="0"/>
              </a:rPr>
              <a:t>HRT</a:t>
            </a:r>
            <a:r>
              <a:rPr lang="zh-CN" altLang="en-US" sz="2800">
                <a:solidFill>
                  <a:schemeClr val="accent4">
                    <a:lumMod val="75000"/>
                  </a:schemeClr>
                </a:solidFill>
                <a:latin typeface="Times New Roman" panose="02020603050405020304" pitchFamily="18" charset="0"/>
                <a:cs typeface="Times New Roman" panose="02020603050405020304" pitchFamily="18" charset="0"/>
              </a:rPr>
              <a:t>任务和</a:t>
            </a:r>
            <a:r>
              <a:rPr lang="en-US" altLang="zh-CN" sz="2800">
                <a:solidFill>
                  <a:schemeClr val="accent4">
                    <a:lumMod val="75000"/>
                  </a:schemeClr>
                </a:solidFill>
                <a:latin typeface="Times New Roman" panose="02020603050405020304" pitchFamily="18" charset="0"/>
                <a:cs typeface="Times New Roman" panose="02020603050405020304" pitchFamily="18" charset="0"/>
              </a:rPr>
              <a:t>SRT</a:t>
            </a:r>
            <a:r>
              <a:rPr lang="zh-CN" altLang="en-US" sz="2800">
                <a:solidFill>
                  <a:schemeClr val="accent4">
                    <a:lumMod val="75000"/>
                  </a:schemeClr>
                </a:solidFill>
                <a:latin typeface="Times New Roman" panose="02020603050405020304" pitchFamily="18" charset="0"/>
                <a:cs typeface="Times New Roman" panose="02020603050405020304" pitchFamily="18" charset="0"/>
              </a:rPr>
              <a:t>任务，它们都联系着一个截止时间。为保证系统能正常工作，实时调度必须能满足实时任务对截止时间的要求。为此，实现实时调度应具备一定的条件。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实时调度</a:t>
            </a:r>
            <a:endParaRPr kumimoji="1" lang="zh-CN" altLang="en-US" dirty="0"/>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a:t>实现实时调度的基本条件</a:t>
            </a:r>
            <a:endParaRPr kumimoji="1" lang="en-US" altLang="zh-CN"/>
          </a:p>
          <a:p>
            <a:pPr lvl="1">
              <a:buFont typeface="Wingdings" panose="05000000000000000000" pitchFamily="2" charset="2"/>
              <a:buChar char="ü"/>
            </a:pPr>
            <a:r>
              <a:rPr kumimoji="1" lang="zh-CN" altLang="en-US"/>
              <a:t>提供必要的信息</a:t>
            </a:r>
            <a:endParaRPr kumimoji="1" lang="en-US" altLang="zh-CN"/>
          </a:p>
          <a:p>
            <a:pPr marL="914400" lvl="2" indent="0" algn="just">
              <a:buNone/>
            </a:pPr>
            <a:r>
              <a:rPr kumimoji="1" lang="zh-CN" altLang="en-US" sz="2200"/>
              <a:t>为实现实时调度，系统应向调度程序提供有关任务的信息：</a:t>
            </a:r>
            <a:endParaRPr kumimoji="1" lang="en-US" altLang="zh-CN" sz="2200"/>
          </a:p>
          <a:p>
            <a:pPr marL="914400" lvl="2" indent="0" algn="just">
              <a:buNone/>
            </a:pPr>
            <a:r>
              <a:rPr kumimoji="1" lang="en-US" altLang="zh-CN" sz="2200"/>
              <a:t>(1)</a:t>
            </a:r>
            <a:r>
              <a:rPr kumimoji="1" lang="zh-CN" altLang="en-US" sz="2200" b="1">
                <a:solidFill>
                  <a:srgbClr val="FF0000"/>
                </a:solidFill>
              </a:rPr>
              <a:t>就绪时间</a:t>
            </a:r>
            <a:r>
              <a:rPr kumimoji="1" lang="zh-CN" altLang="en-US" sz="2200"/>
              <a:t>，是指某任务成为就绪状态的起始时间，在周期任务的情况下，它是事先预知的一串时间序列；</a:t>
            </a:r>
            <a:r>
              <a:rPr kumimoji="1" lang="en-US" altLang="zh-CN" sz="2200"/>
              <a:t>(2)</a:t>
            </a:r>
            <a:r>
              <a:rPr kumimoji="1" lang="zh-CN" altLang="en-US" sz="2200" b="1">
                <a:solidFill>
                  <a:srgbClr val="FF0000"/>
                </a:solidFill>
              </a:rPr>
              <a:t>开始截止时间和完成截止时间</a:t>
            </a:r>
            <a:r>
              <a:rPr kumimoji="1" lang="zh-CN" altLang="en-US" sz="2200"/>
              <a:t>，对于典型的实时应用，只须知道开始截止时间，或者完成截止时间；</a:t>
            </a:r>
            <a:r>
              <a:rPr kumimoji="1" lang="en-US" altLang="zh-CN" sz="2200"/>
              <a:t>(3)</a:t>
            </a:r>
            <a:r>
              <a:rPr kumimoji="1" lang="zh-CN" altLang="en-US" sz="2200" b="1">
                <a:solidFill>
                  <a:srgbClr val="FF0000"/>
                </a:solidFill>
              </a:rPr>
              <a:t>处理时间</a:t>
            </a:r>
            <a:r>
              <a:rPr kumimoji="1" lang="zh-CN" altLang="en-US" sz="2200"/>
              <a:t>，一个任务从开始执行，直至完成时所需的时间；</a:t>
            </a:r>
            <a:r>
              <a:rPr kumimoji="1" lang="en-US" altLang="zh-CN" sz="2200"/>
              <a:t>(4)</a:t>
            </a:r>
            <a:r>
              <a:rPr kumimoji="1" lang="zh-CN" altLang="en-US" sz="2200" b="1">
                <a:solidFill>
                  <a:srgbClr val="FF0000"/>
                </a:solidFill>
              </a:rPr>
              <a:t>资源要求</a:t>
            </a:r>
            <a:r>
              <a:rPr kumimoji="1" lang="zh-CN" altLang="en-US" sz="2200"/>
              <a:t>，任务执行时所需的一组资源；</a:t>
            </a:r>
            <a:r>
              <a:rPr kumimoji="1" lang="en-US" altLang="zh-CN" sz="2200"/>
              <a:t>(5)</a:t>
            </a:r>
            <a:r>
              <a:rPr kumimoji="1" lang="zh-CN" altLang="en-US" sz="2200" b="1">
                <a:solidFill>
                  <a:srgbClr val="FF0000"/>
                </a:solidFill>
              </a:rPr>
              <a:t>优先级</a:t>
            </a:r>
            <a:r>
              <a:rPr kumimoji="1" lang="zh-CN" altLang="en-US" sz="2200"/>
              <a:t>，若某任务开始截止时间错过，势必引起故障，则应为该任务赋予“绝对”优先级；如果其开始截止时间的错过，对任务的继续运行无重大影响，则可为其赋予“相对”优先级，供调度程序参考。</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实时调度</a:t>
            </a:r>
            <a:endParaRPr kumimoji="1" lang="zh-CN" altLang="en-US" dirty="0"/>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a:t>实现实时调度的基本条件</a:t>
            </a:r>
            <a:endParaRPr kumimoji="1" lang="en-US" altLang="zh-CN"/>
          </a:p>
          <a:p>
            <a:pPr lvl="1">
              <a:buFont typeface="Wingdings" panose="05000000000000000000" pitchFamily="2" charset="2"/>
              <a:buChar char="ü"/>
            </a:pPr>
            <a:r>
              <a:rPr kumimoji="1" lang="zh-CN" altLang="en-US"/>
              <a:t>系统处理能力强</a:t>
            </a:r>
            <a:endParaRPr kumimoji="1" lang="en-US" altLang="zh-CN"/>
          </a:p>
          <a:p>
            <a:pPr marL="914400" lvl="2" indent="0" algn="just">
              <a:buNone/>
            </a:pPr>
            <a:r>
              <a:rPr kumimoji="1" lang="zh-CN" altLang="en-US" sz="2200"/>
              <a:t>在实时系统中，若处理机的处理能力不够强，则有可能因处理机忙不过，而致使某些实时任务不能得到及时处理，从而导致发生难以预料的后果。假定系统中有</a:t>
            </a:r>
            <a:r>
              <a:rPr kumimoji="1" lang="en-US" altLang="zh-CN" sz="2200" i="1"/>
              <a:t>m</a:t>
            </a:r>
            <a:r>
              <a:rPr kumimoji="1" lang="zh-CN" altLang="en-US" sz="2200"/>
              <a:t>个周期性的硬实时任务</a:t>
            </a:r>
            <a:r>
              <a:rPr kumimoji="1" lang="en-US" altLang="zh-CN" sz="2200"/>
              <a:t>HRT</a:t>
            </a:r>
            <a:r>
              <a:rPr kumimoji="1" lang="zh-CN" altLang="en-US" sz="2200"/>
              <a:t>，它们的处理时间可表示为</a:t>
            </a:r>
            <a:r>
              <a:rPr kumimoji="1" lang="en-US" altLang="zh-CN" sz="2200" i="1"/>
              <a:t>C</a:t>
            </a:r>
            <a:r>
              <a:rPr kumimoji="1" lang="en-US" altLang="zh-CN" sz="2200" i="1" baseline="-25000"/>
              <a:t>i</a:t>
            </a:r>
            <a:r>
              <a:rPr kumimoji="1" lang="zh-CN" altLang="en-US" sz="2200"/>
              <a:t>，周期时间表示为</a:t>
            </a:r>
            <a:r>
              <a:rPr kumimoji="1" lang="en-US" altLang="zh-CN" sz="2200" i="1"/>
              <a:t>P</a:t>
            </a:r>
            <a:r>
              <a:rPr kumimoji="1" lang="en-US" altLang="zh-CN" sz="2200" i="1" baseline="-25000"/>
              <a:t>i</a:t>
            </a:r>
            <a:r>
              <a:rPr kumimoji="1" lang="zh-CN" altLang="en-US" sz="2200"/>
              <a:t>，则在单处理机情况下，必须满足下面的限制条件系统才是可调度的：</a:t>
            </a:r>
            <a:endParaRPr kumimoji="1" lang="en-US" altLang="zh-CN" sz="220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graphicFrame>
        <p:nvGraphicFramePr>
          <p:cNvPr id="5" name="Object 4"/>
          <p:cNvGraphicFramePr>
            <a:graphicFrameLocks noChangeAspect="1"/>
          </p:cNvGraphicFramePr>
          <p:nvPr/>
        </p:nvGraphicFramePr>
        <p:xfrm>
          <a:off x="5408612" y="4832098"/>
          <a:ext cx="1374775" cy="1030288"/>
        </p:xfrm>
        <a:graphic>
          <a:graphicData uri="http://schemas.openxmlformats.org/presentationml/2006/ole">
            <mc:AlternateContent xmlns:mc="http://schemas.openxmlformats.org/markup-compatibility/2006">
              <mc:Choice xmlns:v="urn:schemas-microsoft-com:vml" Requires="v">
                <p:oleObj name="公式" r:id="rId3" imgW="571500" imgH="431800" progId="Equation.3">
                  <p:embed/>
                </p:oleObj>
              </mc:Choice>
              <mc:Fallback>
                <p:oleObj name="公式" r:id="rId3" imgW="5715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8612" y="4832098"/>
                        <a:ext cx="1374775"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实时调度</a:t>
            </a:r>
            <a:endParaRPr kumimoji="1" lang="zh-CN" altLang="en-US" dirty="0"/>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a:t>实现实时调度的基本条件</a:t>
            </a:r>
            <a:endParaRPr kumimoji="1" lang="en-US" altLang="zh-CN"/>
          </a:p>
          <a:p>
            <a:pPr lvl="1">
              <a:buFont typeface="Wingdings" panose="05000000000000000000" pitchFamily="2" charset="2"/>
              <a:buChar char="ü"/>
            </a:pPr>
            <a:r>
              <a:rPr kumimoji="1" lang="zh-CN" altLang="en-US"/>
              <a:t>系统处理能力强</a:t>
            </a:r>
            <a:endParaRPr kumimoji="1" lang="en-US" altLang="zh-CN"/>
          </a:p>
          <a:p>
            <a:pPr marL="914400" lvl="2" indent="0" algn="just">
              <a:buNone/>
            </a:pPr>
            <a:r>
              <a:rPr kumimoji="1" lang="zh-CN" altLang="en-US" sz="2200"/>
              <a:t>提高系统处理能力的途径有二：一是采用单处理机系统，但须增强其处理能力，以显著地减少对每一个任务的处理时间；二是采用多处理机系统。假定系统中的处理机数为</a:t>
            </a:r>
            <a:r>
              <a:rPr kumimoji="1" lang="en-US" altLang="zh-CN" sz="2200" i="1"/>
              <a:t>N</a:t>
            </a:r>
            <a:r>
              <a:rPr kumimoji="1" lang="zh-CN" altLang="en-US" sz="2200"/>
              <a:t>，则应将上述的限制条件改为：</a:t>
            </a:r>
            <a:endParaRPr kumimoji="1" lang="en-US" altLang="zh-CN" sz="220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graphicFrame>
        <p:nvGraphicFramePr>
          <p:cNvPr id="6" name="Object 4"/>
          <p:cNvGraphicFramePr>
            <a:graphicFrameLocks noChangeAspect="1"/>
          </p:cNvGraphicFramePr>
          <p:nvPr/>
        </p:nvGraphicFramePr>
        <p:xfrm>
          <a:off x="5644395" y="4006056"/>
          <a:ext cx="1504950" cy="1011237"/>
        </p:xfrm>
        <a:graphic>
          <a:graphicData uri="http://schemas.openxmlformats.org/presentationml/2006/ole">
            <mc:AlternateContent xmlns:mc="http://schemas.openxmlformats.org/markup-compatibility/2006">
              <mc:Choice xmlns:v="urn:schemas-microsoft-com:vml" Requires="v">
                <p:oleObj name="公式" r:id="rId3" imgW="635000" imgH="431800" progId="Equation.3">
                  <p:embed/>
                </p:oleObj>
              </mc:Choice>
              <mc:Fallback>
                <p:oleObj name="公式" r:id="rId3" imgW="6350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4395" y="4006056"/>
                        <a:ext cx="1504950"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实时调度</a:t>
            </a:r>
            <a:endParaRPr kumimoji="1" lang="zh-CN" altLang="en-US" dirty="0"/>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a:t>实现实时调度的基本条件</a:t>
            </a:r>
            <a:endParaRPr kumimoji="1" lang="en-US" altLang="zh-CN"/>
          </a:p>
          <a:p>
            <a:pPr lvl="1">
              <a:buFont typeface="Wingdings" panose="05000000000000000000" pitchFamily="2" charset="2"/>
              <a:buChar char="ü"/>
            </a:pPr>
            <a:r>
              <a:rPr kumimoji="1" lang="zh-CN" altLang="en-US"/>
              <a:t>采用抢占式调度机制</a:t>
            </a:r>
            <a:endParaRPr kumimoji="1" lang="en-US" altLang="zh-CN"/>
          </a:p>
          <a:p>
            <a:pPr marL="914400" lvl="2" indent="0" algn="just">
              <a:buNone/>
            </a:pPr>
            <a:r>
              <a:rPr kumimoji="1" lang="zh-CN" altLang="en-US" sz="2200"/>
              <a:t>在含有</a:t>
            </a:r>
            <a:r>
              <a:rPr kumimoji="1" lang="en-US" altLang="zh-CN" sz="2200"/>
              <a:t>HRT</a:t>
            </a:r>
            <a:r>
              <a:rPr kumimoji="1" lang="zh-CN" altLang="en-US" sz="2200"/>
              <a:t>任务的实时系统中，广泛采用抢占机制，可满足</a:t>
            </a:r>
            <a:r>
              <a:rPr kumimoji="1" lang="en-US" altLang="zh-CN" sz="2200"/>
              <a:t>HRT</a:t>
            </a:r>
            <a:r>
              <a:rPr kumimoji="1" lang="zh-CN" altLang="en-US" sz="2200"/>
              <a:t>任务对截止时间的要求，但这种调度机制比较复杂。</a:t>
            </a:r>
            <a:endParaRPr kumimoji="1" lang="en-US" altLang="zh-CN" sz="2200"/>
          </a:p>
          <a:p>
            <a:pPr lvl="1">
              <a:buFont typeface="Wingdings" panose="05000000000000000000" pitchFamily="2" charset="2"/>
              <a:buChar char="ü"/>
            </a:pPr>
            <a:r>
              <a:rPr kumimoji="1" lang="zh-CN" altLang="en-US"/>
              <a:t>具有快速切换机制</a:t>
            </a:r>
            <a:endParaRPr kumimoji="1" lang="en-US" altLang="zh-CN"/>
          </a:p>
          <a:p>
            <a:pPr marL="914400" lvl="2" indent="0" algn="just">
              <a:buNone/>
            </a:pPr>
            <a:r>
              <a:rPr kumimoji="1" lang="zh-CN" altLang="en-US" sz="2200"/>
              <a:t>为保证硬实时任务能及时运行，在系统中还应具有快速切换机制，使之能进行任务的快速切换。该机制应具有如下两方面的能力：</a:t>
            </a:r>
            <a:r>
              <a:rPr kumimoji="1" lang="en-US" altLang="zh-CN" sz="2200"/>
              <a:t>(1)</a:t>
            </a:r>
            <a:r>
              <a:rPr kumimoji="1" lang="zh-CN" altLang="en-US" sz="2200" b="1">
                <a:solidFill>
                  <a:srgbClr val="FF0000"/>
                </a:solidFill>
              </a:rPr>
              <a:t>对中断的快速响应能力</a:t>
            </a:r>
            <a:r>
              <a:rPr kumimoji="1" lang="zh-CN" altLang="en-US" sz="2200"/>
              <a:t>。对紧迫的外部事件请求中断能及时响应，要求系统具有快速硬件中断机构，还应使禁止中断的时间间隔尽量短，以免耽误时机</a:t>
            </a:r>
            <a:r>
              <a:rPr kumimoji="1" lang="en-US" altLang="zh-CN" sz="2200"/>
              <a:t>(</a:t>
            </a:r>
            <a:r>
              <a:rPr kumimoji="1" lang="zh-CN" altLang="en-US" sz="2200"/>
              <a:t>其它紧迫任务</a:t>
            </a:r>
            <a:r>
              <a:rPr kumimoji="1" lang="en-US" altLang="zh-CN" sz="2200"/>
              <a:t>)</a:t>
            </a:r>
            <a:r>
              <a:rPr kumimoji="1" lang="zh-CN" altLang="en-US" sz="2200"/>
              <a:t>；</a:t>
            </a:r>
            <a:r>
              <a:rPr kumimoji="1" lang="en-US" altLang="zh-CN" sz="2200"/>
              <a:t>(2) </a:t>
            </a:r>
            <a:r>
              <a:rPr kumimoji="1" lang="zh-CN" altLang="en-US" sz="2200" b="1">
                <a:solidFill>
                  <a:srgbClr val="FF0000"/>
                </a:solidFill>
              </a:rPr>
              <a:t>快速的任务分派能力</a:t>
            </a:r>
            <a:r>
              <a:rPr kumimoji="1" lang="zh-CN" altLang="en-US" sz="2200"/>
              <a:t>。为了提高分派程序进行任务切换时的速度，应使系统中的每个运行功能单位适当的小，以减少任务切换的时间开销。</a:t>
            </a:r>
            <a:endParaRPr kumimoji="1" lang="en-US" altLang="zh-CN" sz="220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实时调度</a:t>
            </a:r>
            <a:endParaRPr kumimoji="1" lang="zh-CN" altLang="en-US" dirty="0"/>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a:t>实时调度算法的分类</a:t>
            </a:r>
            <a:endParaRPr kumimoji="1" lang="en-US" altLang="zh-CN"/>
          </a:p>
          <a:p>
            <a:pPr marL="457200" lvl="1" indent="0" algn="just">
              <a:buNone/>
            </a:pPr>
            <a:r>
              <a:rPr kumimoji="1" lang="zh-CN" altLang="en-US" sz="2000"/>
              <a:t>可以按不同方式对实时调度算法加以分类：①根据</a:t>
            </a:r>
            <a:r>
              <a:rPr kumimoji="1" lang="zh-CN" altLang="en-US" sz="2000" b="1">
                <a:solidFill>
                  <a:srgbClr val="FF0000"/>
                </a:solidFill>
              </a:rPr>
              <a:t>实时任务性质</a:t>
            </a:r>
            <a:r>
              <a:rPr kumimoji="1" lang="zh-CN" altLang="en-US" sz="2000"/>
              <a:t>，可将实时调度的算法分为硬实时调度算法和软实时调度算法；②按</a:t>
            </a:r>
            <a:r>
              <a:rPr kumimoji="1" lang="zh-CN" altLang="en-US" sz="2000" b="1">
                <a:solidFill>
                  <a:srgbClr val="FF0000"/>
                </a:solidFill>
              </a:rPr>
              <a:t>调度方式</a:t>
            </a:r>
            <a:r>
              <a:rPr kumimoji="1" lang="zh-CN" altLang="en-US" sz="2000"/>
              <a:t>，则可分为非抢占调度算法和抢占调度算法。</a:t>
            </a:r>
            <a:endParaRPr kumimoji="1" lang="en-US" altLang="zh-CN" sz="2000"/>
          </a:p>
          <a:p>
            <a:pPr lvl="1">
              <a:buFont typeface="Wingdings" panose="05000000000000000000" pitchFamily="2" charset="2"/>
              <a:buChar char="ü"/>
            </a:pPr>
            <a:r>
              <a:rPr kumimoji="1" lang="zh-CN" altLang="en-US"/>
              <a:t>非抢占式调度算法</a:t>
            </a:r>
            <a:endParaRPr kumimoji="1" lang="en-US" altLang="zh-CN"/>
          </a:p>
          <a:p>
            <a:pPr marL="914400" lvl="2" indent="0" algn="just">
              <a:buNone/>
            </a:pPr>
            <a:r>
              <a:rPr kumimoji="1" lang="en-US" altLang="zh-CN"/>
              <a:t>(1)</a:t>
            </a:r>
            <a:r>
              <a:rPr kumimoji="1" lang="zh-CN" altLang="en-US"/>
              <a:t>非抢占式轮转调度算法；</a:t>
            </a:r>
            <a:r>
              <a:rPr kumimoji="1" lang="en-US" altLang="zh-CN"/>
              <a:t>(2)</a:t>
            </a:r>
            <a:r>
              <a:rPr kumimoji="1" lang="zh-CN" altLang="en-US"/>
              <a:t>非抢占式优先调度算法。</a:t>
            </a:r>
            <a:endParaRPr kumimoji="1" lang="en-US" altLang="zh-CN"/>
          </a:p>
          <a:p>
            <a:pPr lvl="1">
              <a:buFont typeface="Wingdings" panose="05000000000000000000" pitchFamily="2" charset="2"/>
              <a:buChar char="ü"/>
            </a:pPr>
            <a:r>
              <a:rPr kumimoji="1" lang="zh-CN" altLang="en-US"/>
              <a:t>抢占式调度算法</a:t>
            </a:r>
            <a:endParaRPr kumimoji="1" lang="en-US" altLang="zh-CN"/>
          </a:p>
          <a:p>
            <a:pPr marL="914400" lvl="2" indent="0" algn="just">
              <a:buNone/>
            </a:pPr>
            <a:r>
              <a:rPr kumimoji="1" lang="zh-CN" altLang="en-US"/>
              <a:t>可根据抢占发生时间的不同而进一步分成以下两种调度算法：</a:t>
            </a:r>
            <a:r>
              <a:rPr kumimoji="1" lang="en-US" altLang="zh-CN"/>
              <a:t>(1)</a:t>
            </a:r>
            <a:r>
              <a:rPr kumimoji="1" lang="zh-CN" altLang="en-US"/>
              <a:t>基于时钟中断的抢占式优先级调度算法；</a:t>
            </a:r>
            <a:r>
              <a:rPr kumimoji="1" lang="en-US" altLang="zh-CN"/>
              <a:t>(2)</a:t>
            </a:r>
            <a:r>
              <a:rPr kumimoji="1" lang="zh-CN" altLang="en-US"/>
              <a:t>立即抢占</a:t>
            </a:r>
            <a:r>
              <a:rPr kumimoji="1" lang="en-US" altLang="zh-CN"/>
              <a:t>(Immediate Preemption)</a:t>
            </a:r>
            <a:r>
              <a:rPr kumimoji="1" lang="zh-CN" altLang="en-US"/>
              <a:t>的优先级调度算法。</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实时调度</a:t>
            </a:r>
            <a:endParaRPr kumimoji="1" lang="zh-CN" altLang="en-US" dirty="0"/>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a:t>实时调度算法的分类</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4970" y="2486567"/>
            <a:ext cx="9162060" cy="36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实时调度</a:t>
            </a:r>
            <a:endParaRPr kumimoji="1" lang="zh-CN" altLang="en-US" dirty="0"/>
          </a:p>
        </p:txBody>
      </p:sp>
      <p:sp>
        <p:nvSpPr>
          <p:cNvPr id="3" name="内容占位符 2"/>
          <p:cNvSpPr>
            <a:spLocks noGrp="1"/>
          </p:cNvSpPr>
          <p:nvPr>
            <p:ph idx="1"/>
          </p:nvPr>
        </p:nvSpPr>
        <p:spPr>
          <a:xfrm>
            <a:off x="838200" y="1510665"/>
            <a:ext cx="6251575" cy="5347335"/>
          </a:xfrm>
        </p:spPr>
        <p:txBody>
          <a:bodyPr>
            <a:normAutofit/>
          </a:bodyPr>
          <a:lstStyle/>
          <a:p>
            <a:pPr>
              <a:lnSpc>
                <a:spcPct val="120000"/>
              </a:lnSpc>
            </a:pPr>
            <a:r>
              <a:rPr kumimoji="1" lang="zh-CN" altLang="en-US"/>
              <a:t>最早截止时间优先EDF</a:t>
            </a:r>
          </a:p>
          <a:p>
            <a:pPr lvl="1">
              <a:buFont typeface="Wingdings" panose="05000000000000000000" pitchFamily="2" charset="2"/>
              <a:buChar char="ü"/>
            </a:pPr>
            <a:r>
              <a:rPr kumimoji="1" lang="zh-CN" altLang="en-US"/>
              <a:t>非抢占式调度方式用于非周期实时任务</a:t>
            </a:r>
            <a:endParaRPr kumimoji="1" lang="en-US" altLang="zh-CN"/>
          </a:p>
          <a:p>
            <a:pPr marL="914400" lvl="2" indent="0" algn="just">
              <a:buNone/>
            </a:pPr>
            <a:endParaRPr kumimoji="1" lang="en-US" altLang="zh-CN"/>
          </a:p>
          <a:p>
            <a:pPr marL="914400" lvl="2" indent="0" algn="just">
              <a:buNone/>
            </a:pPr>
            <a:endParaRPr kumimoji="1" lang="en-US" altLang="zh-CN"/>
          </a:p>
          <a:p>
            <a:pPr marL="914400" lvl="2" indent="0" algn="just">
              <a:buNone/>
            </a:pPr>
            <a:endParaRPr kumimoji="1" lang="en-US" altLang="zh-CN"/>
          </a:p>
          <a:p>
            <a:pPr marL="914400" lvl="2" indent="0" algn="just">
              <a:buNone/>
            </a:pPr>
            <a:endParaRPr kumimoji="1" lang="en-US" altLang="zh-CN"/>
          </a:p>
          <a:p>
            <a:pPr lvl="1">
              <a:buFont typeface="Wingdings" panose="05000000000000000000" pitchFamily="2" charset="2"/>
              <a:buChar char="ü"/>
            </a:pPr>
            <a:r>
              <a:rPr kumimoji="1" lang="zh-CN" altLang="en-US"/>
              <a:t>抢占式调度方式用于周期实时任务</a:t>
            </a:r>
            <a:endParaRPr kumimoji="1" lang="en-US" altLang="zh-CN"/>
          </a:p>
          <a:p>
            <a:pPr marL="914400" lvl="2" indent="0" algn="just">
              <a:buNone/>
            </a:pPr>
            <a:r>
              <a:rPr kumimoji="1" lang="zh-CN"/>
              <a:t>右图为</a:t>
            </a:r>
            <a:r>
              <a:rPr kumimoji="1"/>
              <a:t>两个周期任务，任务A和任务B的周期时间分别为20 ms和50 ms，每个周期的处理时间分别为10 ms和25 ms</a:t>
            </a:r>
            <a:r>
              <a:rPr kumimoji="1" lang="zh-CN" altLang="en-US"/>
              <a:t>。</a:t>
            </a:r>
            <a:endParaRPr kumimoji="1" lang="en-US" altLang="zh-CN"/>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5540" name="Picture 4" descr="3-6"/>
          <p:cNvPicPr>
            <a:picLocks noChangeAspect="1"/>
          </p:cNvPicPr>
          <p:nvPr>
            <p:custDataLst>
              <p:tags r:id="rId1"/>
            </p:custDataLst>
          </p:nvPr>
        </p:nvPicPr>
        <p:blipFill>
          <a:blip r:embed="rId4"/>
          <a:stretch>
            <a:fillRect/>
          </a:stretch>
        </p:blipFill>
        <p:spPr>
          <a:xfrm>
            <a:off x="1818005" y="2833370"/>
            <a:ext cx="4521200" cy="1303020"/>
          </a:xfrm>
          <a:prstGeom prst="rect">
            <a:avLst/>
          </a:prstGeom>
          <a:noFill/>
          <a:ln w="9525">
            <a:noFill/>
          </a:ln>
        </p:spPr>
      </p:pic>
      <p:pic>
        <p:nvPicPr>
          <p:cNvPr id="67588" name="Picture 4" descr="3-7"/>
          <p:cNvPicPr>
            <a:picLocks noChangeAspect="1"/>
          </p:cNvPicPr>
          <p:nvPr/>
        </p:nvPicPr>
        <p:blipFill>
          <a:blip r:embed="rId5"/>
          <a:stretch>
            <a:fillRect/>
          </a:stretch>
        </p:blipFill>
        <p:spPr>
          <a:xfrm>
            <a:off x="7183755" y="2696845"/>
            <a:ext cx="4909820" cy="3535045"/>
          </a:xfrm>
          <a:prstGeom prst="rect">
            <a:avLst/>
          </a:prstGeom>
          <a:noFill/>
          <a:ln w="9525">
            <a:noFill/>
          </a:ln>
        </p:spPr>
      </p:pic>
      <p:sp>
        <p:nvSpPr>
          <p:cNvPr id="6" name="文本框 5">
            <a:extLst>
              <a:ext uri="{FF2B5EF4-FFF2-40B4-BE49-F238E27FC236}">
                <a16:creationId xmlns:a16="http://schemas.microsoft.com/office/drawing/2014/main" id="{6E3A4BB8-D920-E723-955F-31189B848BDA}"/>
              </a:ext>
            </a:extLst>
          </p:cNvPr>
          <p:cNvSpPr txBox="1"/>
          <p:nvPr/>
        </p:nvSpPr>
        <p:spPr>
          <a:xfrm>
            <a:off x="1307508" y="6397760"/>
            <a:ext cx="8435510" cy="400110"/>
          </a:xfrm>
          <a:prstGeom prst="rect">
            <a:avLst/>
          </a:prstGeom>
          <a:noFill/>
        </p:spPr>
        <p:txBody>
          <a:bodyPr wrap="square">
            <a:spAutoFit/>
          </a:bodyPr>
          <a:lstStyle/>
          <a:p>
            <a:r>
              <a:rPr lang="en-US" altLang="zh-CN" sz="2000" b="1" dirty="0" err="1">
                <a:latin typeface="Times New Roman" panose="02020603050405020304" pitchFamily="18" charset="0"/>
                <a:cs typeface="Times New Roman" panose="02020603050405020304" pitchFamily="18" charset="0"/>
              </a:rPr>
              <a:t>pFabric</a:t>
            </a:r>
            <a:r>
              <a:rPr lang="en-US" altLang="zh-CN" sz="2000" b="1" dirty="0">
                <a:latin typeface="Times New Roman" panose="02020603050405020304" pitchFamily="18" charset="0"/>
                <a:cs typeface="Times New Roman" panose="02020603050405020304" pitchFamily="18" charset="0"/>
              </a:rPr>
              <a:t>: Minimal Near-Optimal Datacenter Transport. SIGCOMM’2013</a:t>
            </a:r>
            <a:endParaRPr lang="zh-CN"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实时调度</a:t>
            </a:r>
            <a:endParaRPr kumimoji="1" lang="zh-CN" altLang="en-US" dirty="0"/>
          </a:p>
        </p:txBody>
      </p:sp>
      <p:sp>
        <p:nvSpPr>
          <p:cNvPr id="3" name="内容占位符 2"/>
          <p:cNvSpPr>
            <a:spLocks noGrp="1"/>
          </p:cNvSpPr>
          <p:nvPr>
            <p:ph idx="1"/>
          </p:nvPr>
        </p:nvSpPr>
        <p:spPr>
          <a:xfrm>
            <a:off x="838200" y="1510665"/>
            <a:ext cx="10654145" cy="3414625"/>
          </a:xfrm>
        </p:spPr>
        <p:txBody>
          <a:bodyPr>
            <a:normAutofit/>
          </a:bodyPr>
          <a:lstStyle/>
          <a:p>
            <a:pPr>
              <a:lnSpc>
                <a:spcPct val="120000"/>
              </a:lnSpc>
            </a:pPr>
            <a:r>
              <a:rPr kumimoji="1" lang="zh-CN" altLang="en-US" dirty="0"/>
              <a:t>最低松弛度优先</a:t>
            </a:r>
            <a:r>
              <a:rPr kumimoji="1" lang="en-US" altLang="zh-CN" dirty="0"/>
              <a:t>LLF</a:t>
            </a:r>
            <a:endParaRPr kumimoji="1" lang="zh-CN" altLang="en-US" dirty="0"/>
          </a:p>
          <a:p>
            <a:pPr marL="457200" lvl="1" indent="0">
              <a:buNone/>
            </a:pPr>
            <a:r>
              <a:rPr kumimoji="1" lang="en-US" altLang="zh-CN" sz="2000" dirty="0"/>
              <a:t>	</a:t>
            </a:r>
            <a:r>
              <a:rPr kumimoji="1" lang="zh-CN" altLang="en-US" dirty="0"/>
              <a:t>该算法在确定任务的优先级时，根据的是任务的紧急</a:t>
            </a:r>
            <a:r>
              <a:rPr kumimoji="1" lang="en-US" altLang="zh-CN" dirty="0"/>
              <a:t>(</a:t>
            </a:r>
            <a:r>
              <a:rPr kumimoji="1" lang="zh-CN" altLang="en-US" dirty="0"/>
              <a:t>或松弛</a:t>
            </a:r>
            <a:r>
              <a:rPr kumimoji="1" lang="en-US" altLang="zh-CN" dirty="0"/>
              <a:t>)</a:t>
            </a:r>
            <a:r>
              <a:rPr kumimoji="1" lang="zh-CN" altLang="en-US" dirty="0"/>
              <a:t>程度。任务紧急程度愈高，赋予该任务的优先级就愈高，以使之优先执行。</a:t>
            </a:r>
            <a:endParaRPr kumimoji="1" lang="en-US" altLang="zh-CN" dirty="0"/>
          </a:p>
          <a:p>
            <a:pPr marL="457200" lvl="1" indent="0" algn="just">
              <a:buNone/>
            </a:pPr>
            <a:r>
              <a:rPr kumimoji="1" lang="en-US" altLang="zh-CN" dirty="0"/>
              <a:t>	</a:t>
            </a:r>
            <a:r>
              <a:rPr kumimoji="1" lang="zh-CN" altLang="en-US" dirty="0"/>
              <a:t>该算法主要用于可抢占调度中。若在一个实时系统中有两个周期性实时任务</a:t>
            </a:r>
            <a:r>
              <a:rPr kumimoji="1" lang="en-US" altLang="zh-CN" dirty="0"/>
              <a:t>A</a:t>
            </a:r>
            <a:r>
              <a:rPr kumimoji="1" lang="zh-CN" altLang="en-US" dirty="0"/>
              <a:t>和</a:t>
            </a:r>
            <a:r>
              <a:rPr kumimoji="1" lang="en-US" altLang="zh-CN" dirty="0"/>
              <a:t>B</a:t>
            </a:r>
            <a:r>
              <a:rPr kumimoji="1" lang="zh-CN" altLang="en-US" dirty="0"/>
              <a:t>，任务</a:t>
            </a:r>
            <a:r>
              <a:rPr kumimoji="1" lang="en-US" altLang="zh-CN" dirty="0"/>
              <a:t>A</a:t>
            </a:r>
            <a:r>
              <a:rPr kumimoji="1" lang="zh-CN" altLang="en-US" dirty="0"/>
              <a:t>要求每</a:t>
            </a:r>
            <a:r>
              <a:rPr kumimoji="1" lang="en-US" altLang="zh-CN" b="1" dirty="0">
                <a:solidFill>
                  <a:srgbClr val="FF0000"/>
                </a:solidFill>
              </a:rPr>
              <a:t>20ms</a:t>
            </a:r>
            <a:r>
              <a:rPr kumimoji="1" lang="zh-CN" altLang="en-US" dirty="0"/>
              <a:t>执行一次，执行时间为</a:t>
            </a:r>
            <a:r>
              <a:rPr kumimoji="1" lang="en-US" altLang="zh-CN" b="1" dirty="0">
                <a:solidFill>
                  <a:srgbClr val="FF0000"/>
                </a:solidFill>
              </a:rPr>
              <a:t>10ms</a:t>
            </a:r>
            <a:r>
              <a:rPr kumimoji="1" lang="zh-CN" altLang="en-US" dirty="0"/>
              <a:t>，任务</a:t>
            </a:r>
            <a:r>
              <a:rPr kumimoji="1" lang="en-US" altLang="zh-CN" dirty="0"/>
              <a:t>B</a:t>
            </a:r>
            <a:r>
              <a:rPr kumimoji="1" lang="zh-CN" altLang="en-US" dirty="0"/>
              <a:t>要求每</a:t>
            </a:r>
            <a:r>
              <a:rPr kumimoji="1" lang="en-US" altLang="zh-CN" b="1" dirty="0">
                <a:solidFill>
                  <a:srgbClr val="FF0000"/>
                </a:solidFill>
              </a:rPr>
              <a:t>50ms</a:t>
            </a:r>
            <a:r>
              <a:rPr kumimoji="1" lang="zh-CN" altLang="en-US" dirty="0"/>
              <a:t>执行一次，执行时间为</a:t>
            </a:r>
            <a:r>
              <a:rPr kumimoji="1" lang="en-US" altLang="zh-CN" b="1" dirty="0">
                <a:solidFill>
                  <a:srgbClr val="FF0000"/>
                </a:solidFill>
              </a:rPr>
              <a:t>25ms</a:t>
            </a:r>
            <a:r>
              <a:rPr kumimoji="1" lang="zh-CN" altLang="en-US" dirty="0"/>
              <a:t>。由此可知，任务</a:t>
            </a:r>
            <a:r>
              <a:rPr kumimoji="1" lang="en-US" altLang="zh-CN" dirty="0"/>
              <a:t>A</a:t>
            </a:r>
            <a:r>
              <a:rPr kumimoji="1" lang="zh-CN" altLang="en-US" dirty="0"/>
              <a:t>和</a:t>
            </a:r>
            <a:r>
              <a:rPr kumimoji="1" lang="en-US" altLang="zh-CN" dirty="0"/>
              <a:t>B</a:t>
            </a:r>
            <a:r>
              <a:rPr kumimoji="1" lang="zh-CN" altLang="en-US" dirty="0"/>
              <a:t>每次必须完成的时间分别为：</a:t>
            </a:r>
            <a:r>
              <a:rPr kumimoji="1" lang="en-US" altLang="zh-CN" dirty="0"/>
              <a:t>A1</a:t>
            </a:r>
            <a:r>
              <a:rPr kumimoji="1" lang="zh-CN" altLang="en-US" dirty="0"/>
              <a:t>、</a:t>
            </a:r>
            <a:r>
              <a:rPr kumimoji="1" lang="en-US" altLang="zh-CN" dirty="0"/>
              <a:t>A2</a:t>
            </a:r>
            <a:r>
              <a:rPr kumimoji="1" lang="zh-CN" altLang="en-US" dirty="0"/>
              <a:t>、</a:t>
            </a:r>
            <a:r>
              <a:rPr kumimoji="1" lang="en-US" altLang="zh-CN" dirty="0"/>
              <a:t>A3</a:t>
            </a:r>
            <a:r>
              <a:rPr kumimoji="1" lang="zh-CN" altLang="en-US" dirty="0"/>
              <a:t>、</a:t>
            </a:r>
            <a:r>
              <a:rPr kumimoji="1" lang="en-US" altLang="zh-CN" dirty="0"/>
              <a:t>…</a:t>
            </a:r>
            <a:r>
              <a:rPr kumimoji="1" lang="zh-CN" altLang="en-US" dirty="0"/>
              <a:t>和</a:t>
            </a:r>
            <a:r>
              <a:rPr kumimoji="1" lang="en-US" altLang="zh-CN" dirty="0"/>
              <a:t>B1</a:t>
            </a:r>
            <a:r>
              <a:rPr kumimoji="1" lang="zh-CN" altLang="en-US" dirty="0"/>
              <a:t>、</a:t>
            </a:r>
            <a:r>
              <a:rPr kumimoji="1" lang="en-US" altLang="zh-CN" dirty="0"/>
              <a:t>B2</a:t>
            </a:r>
            <a:r>
              <a:rPr kumimoji="1" lang="zh-CN" altLang="en-US" dirty="0"/>
              <a:t>、</a:t>
            </a:r>
            <a:r>
              <a:rPr kumimoji="1" lang="en-US" altLang="zh-CN" dirty="0"/>
              <a:t>B3</a:t>
            </a:r>
            <a:r>
              <a:rPr kumimoji="1" lang="zh-CN" altLang="en-US" dirty="0"/>
              <a:t>、</a:t>
            </a:r>
            <a:r>
              <a:rPr kumimoji="1" lang="en-US" altLang="zh-CN" dirty="0"/>
              <a:t>…</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7" name="Picture 4" descr="3-8">
            <a:extLst>
              <a:ext uri="{FF2B5EF4-FFF2-40B4-BE49-F238E27FC236}">
                <a16:creationId xmlns:a16="http://schemas.microsoft.com/office/drawing/2014/main" id="{50BE4186-C8AF-4B31-9491-88D97B8F62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834" y="5131809"/>
            <a:ext cx="4935393" cy="1168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3-9">
            <a:extLst>
              <a:ext uri="{FF2B5EF4-FFF2-40B4-BE49-F238E27FC236}">
                <a16:creationId xmlns:a16="http://schemas.microsoft.com/office/drawing/2014/main" id="{1AD26DC2-0E73-4908-9386-50B5AF59F4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5080" y="5076126"/>
            <a:ext cx="6027771" cy="125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33AFE210-0487-42A1-B52D-95CC003E9720}"/>
              </a:ext>
            </a:extLst>
          </p:cNvPr>
          <p:cNvSpPr txBox="1"/>
          <p:nvPr/>
        </p:nvSpPr>
        <p:spPr>
          <a:xfrm>
            <a:off x="1953491" y="6356350"/>
            <a:ext cx="1569660" cy="369332"/>
          </a:xfrm>
          <a:prstGeom prst="rect">
            <a:avLst/>
          </a:prstGeom>
          <a:noFill/>
        </p:spPr>
        <p:txBody>
          <a:bodyPr wrap="none" rtlCol="0">
            <a:spAutoFit/>
          </a:bodyPr>
          <a:lstStyle/>
          <a:p>
            <a:r>
              <a:rPr lang="zh-CN" altLang="en-US" dirty="0"/>
              <a:t>任务截止时间</a:t>
            </a:r>
          </a:p>
        </p:txBody>
      </p:sp>
      <p:sp>
        <p:nvSpPr>
          <p:cNvPr id="8" name="文本框 7">
            <a:extLst>
              <a:ext uri="{FF2B5EF4-FFF2-40B4-BE49-F238E27FC236}">
                <a16:creationId xmlns:a16="http://schemas.microsoft.com/office/drawing/2014/main" id="{33304033-F9EA-4E44-8783-21365BF5D8C6}"/>
              </a:ext>
            </a:extLst>
          </p:cNvPr>
          <p:cNvSpPr txBox="1"/>
          <p:nvPr/>
        </p:nvSpPr>
        <p:spPr>
          <a:xfrm>
            <a:off x="8030124" y="6383264"/>
            <a:ext cx="1569660" cy="369332"/>
          </a:xfrm>
          <a:prstGeom prst="rect">
            <a:avLst/>
          </a:prstGeom>
          <a:noFill/>
        </p:spPr>
        <p:txBody>
          <a:bodyPr wrap="none" rtlCol="0">
            <a:spAutoFit/>
          </a:bodyPr>
          <a:lstStyle/>
          <a:p>
            <a:r>
              <a:rPr lang="zh-CN" altLang="en-US" dirty="0"/>
              <a:t>任务调度情况</a:t>
            </a:r>
          </a:p>
        </p:txBody>
      </p:sp>
    </p:spTree>
    <p:extLst>
      <p:ext uri="{BB962C8B-B14F-4D97-AF65-F5344CB8AC3E}">
        <p14:creationId xmlns:p14="http://schemas.microsoft.com/office/powerpoint/2010/main" val="12960377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a:t>实时调度</a:t>
            </a:r>
            <a:endParaRPr kumimoji="1" lang="zh-CN" altLang="en-US" dirty="0"/>
          </a:p>
        </p:txBody>
      </p:sp>
      <p:sp>
        <p:nvSpPr>
          <p:cNvPr id="3" name="内容占位符 2"/>
          <p:cNvSpPr>
            <a:spLocks noGrp="1"/>
          </p:cNvSpPr>
          <p:nvPr>
            <p:ph idx="1"/>
          </p:nvPr>
        </p:nvSpPr>
        <p:spPr>
          <a:xfrm>
            <a:off x="838200" y="1510758"/>
            <a:ext cx="5035063" cy="5347242"/>
          </a:xfrm>
        </p:spPr>
        <p:txBody>
          <a:bodyPr>
            <a:normAutofit/>
          </a:bodyPr>
          <a:lstStyle/>
          <a:p>
            <a:pPr>
              <a:lnSpc>
                <a:spcPct val="120000"/>
              </a:lnSpc>
            </a:pPr>
            <a:r>
              <a:rPr kumimoji="1" lang="zh-CN" altLang="en-US" dirty="0"/>
              <a:t>优先级倒置</a:t>
            </a:r>
            <a:endParaRPr kumimoji="1" lang="en-US" altLang="zh-CN" dirty="0"/>
          </a:p>
          <a:p>
            <a:pPr marL="914400" lvl="2" indent="0" algn="just">
              <a:buNone/>
            </a:pPr>
            <a:r>
              <a:rPr kumimoji="1" lang="zh-CN" altLang="en-US" sz="2200" dirty="0"/>
              <a:t>当前</a:t>
            </a:r>
            <a:r>
              <a:rPr kumimoji="1" lang="en-US" altLang="zh-CN" sz="2200" dirty="0"/>
              <a:t>OS</a:t>
            </a:r>
            <a:r>
              <a:rPr kumimoji="1" lang="zh-CN" altLang="en-US" sz="2200" dirty="0"/>
              <a:t>广泛采用优先级调度算法和抢占方式，然而在系统中存在着影响进程运行的资源而可能产生“优先级倒置”的现象，即高优先级进程</a:t>
            </a:r>
            <a:r>
              <a:rPr kumimoji="1" lang="en-US" altLang="zh-CN" sz="2200" dirty="0"/>
              <a:t>(</a:t>
            </a:r>
            <a:r>
              <a:rPr kumimoji="1" lang="zh-CN" altLang="en-US" sz="2200" dirty="0"/>
              <a:t>或线程</a:t>
            </a:r>
            <a:r>
              <a:rPr kumimoji="1" lang="en-US" altLang="zh-CN" sz="2200" dirty="0"/>
              <a:t>)</a:t>
            </a:r>
            <a:r>
              <a:rPr kumimoji="1" lang="zh-CN" altLang="en-US" sz="2200" dirty="0"/>
              <a:t>被低优先级进程</a:t>
            </a:r>
            <a:r>
              <a:rPr kumimoji="1" lang="en-US" altLang="zh-CN" sz="2200" dirty="0"/>
              <a:t>(</a:t>
            </a:r>
            <a:r>
              <a:rPr kumimoji="1" lang="zh-CN" altLang="en-US" sz="2200" dirty="0"/>
              <a:t>或线程</a:t>
            </a:r>
            <a:r>
              <a:rPr kumimoji="1" lang="en-US" altLang="zh-CN" sz="2200" dirty="0"/>
              <a:t>)</a:t>
            </a:r>
            <a:r>
              <a:rPr kumimoji="1" lang="zh-CN" altLang="en-US" sz="2200" dirty="0"/>
              <a:t>延迟或阻塞。假如</a:t>
            </a:r>
            <a:r>
              <a:rPr kumimoji="1" lang="en-US" altLang="zh-CN" sz="2200" dirty="0"/>
              <a:t>P</a:t>
            </a:r>
            <a:r>
              <a:rPr kumimoji="1" lang="en-US" altLang="zh-CN" sz="2200" baseline="-25000" dirty="0"/>
              <a:t>3</a:t>
            </a:r>
            <a:r>
              <a:rPr kumimoji="1" lang="zh-CN" altLang="en-US" sz="2200" dirty="0"/>
              <a:t>最先执行，在执行了</a:t>
            </a:r>
            <a:r>
              <a:rPr kumimoji="1" lang="en-US" altLang="zh-CN" sz="2200" dirty="0"/>
              <a:t>P(mutex)</a:t>
            </a:r>
            <a:r>
              <a:rPr kumimoji="1" lang="zh-CN" altLang="en-US" sz="2200" dirty="0"/>
              <a:t>操作后，进入到临界区</a:t>
            </a:r>
            <a:r>
              <a:rPr kumimoji="1" lang="en-US" altLang="zh-CN" sz="2200" dirty="0"/>
              <a:t>CS-3</a:t>
            </a:r>
            <a:r>
              <a:rPr kumimoji="1" lang="zh-CN" altLang="en-US" sz="2200" dirty="0"/>
              <a:t>。在时刻</a:t>
            </a:r>
            <a:r>
              <a:rPr kumimoji="1" lang="en-US" altLang="zh-CN" sz="2200" dirty="0"/>
              <a:t>a</a:t>
            </a:r>
            <a:r>
              <a:rPr kumimoji="1" lang="zh-CN" altLang="en-US" sz="2200" dirty="0"/>
              <a:t>，</a:t>
            </a:r>
            <a:r>
              <a:rPr kumimoji="1" lang="en-US" altLang="zh-CN" sz="2200" dirty="0"/>
              <a:t>P</a:t>
            </a:r>
            <a:r>
              <a:rPr kumimoji="1" lang="en-US" altLang="zh-CN" sz="2200" baseline="-25000" dirty="0"/>
              <a:t>2</a:t>
            </a:r>
            <a:r>
              <a:rPr kumimoji="1" lang="zh-CN" altLang="en-US" sz="2200" dirty="0"/>
              <a:t>就绪，因为它比</a:t>
            </a:r>
            <a:r>
              <a:rPr kumimoji="1" lang="en-US" altLang="zh-CN" sz="2200" dirty="0"/>
              <a:t>P</a:t>
            </a:r>
            <a:r>
              <a:rPr kumimoji="1" lang="en-US" altLang="zh-CN" sz="2200" baseline="-25000" dirty="0"/>
              <a:t>3</a:t>
            </a:r>
            <a:r>
              <a:rPr kumimoji="1" lang="zh-CN" altLang="en-US" sz="2200" dirty="0"/>
              <a:t>的优先级高，</a:t>
            </a:r>
            <a:r>
              <a:rPr kumimoji="1" lang="en-US" altLang="zh-CN" sz="2200" dirty="0"/>
              <a:t>P</a:t>
            </a:r>
            <a:r>
              <a:rPr kumimoji="1" lang="en-US" altLang="zh-CN" sz="2200" baseline="-25000" dirty="0"/>
              <a:t>2</a:t>
            </a:r>
            <a:r>
              <a:rPr kumimoji="1" lang="zh-CN" altLang="en-US" sz="2200" dirty="0"/>
              <a:t>抢占了</a:t>
            </a:r>
            <a:r>
              <a:rPr kumimoji="1" lang="en-US" altLang="zh-CN" sz="2200" dirty="0"/>
              <a:t>P</a:t>
            </a:r>
            <a:r>
              <a:rPr kumimoji="1" lang="en-US" altLang="zh-CN" sz="2200" baseline="-25000" dirty="0"/>
              <a:t>3</a:t>
            </a:r>
            <a:r>
              <a:rPr kumimoji="1" lang="zh-CN" altLang="en-US" sz="2200" dirty="0"/>
              <a:t>的处理机而运行，如右图所示。 </a:t>
            </a:r>
            <a:endParaRPr kumimoji="1" lang="en-US" altLang="zh-CN" sz="2200" dirty="0"/>
          </a:p>
        </p:txBody>
      </p:sp>
      <p:sp>
        <p:nvSpPr>
          <p:cNvPr id="4" name="灯片编号占位符 3"/>
          <p:cNvSpPr>
            <a:spLocks noGrp="1"/>
          </p:cNvSpPr>
          <p:nvPr>
            <p:ph type="sldNum" sz="quarter" idx="12"/>
          </p:nvPr>
        </p:nvSpPr>
        <p:spPr>
          <a:xfrm>
            <a:off x="8804561"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3-10">
            <a:extLst>
              <a:ext uri="{FF2B5EF4-FFF2-40B4-BE49-F238E27FC236}">
                <a16:creationId xmlns:a16="http://schemas.microsoft.com/office/drawing/2014/main" id="{309C8E35-1E95-4A03-9BF1-705DC5CC2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9354" y="1412123"/>
            <a:ext cx="5692087" cy="2514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EE0A1DC1-A1C7-470E-A691-AA0F8F77B196}"/>
              </a:ext>
            </a:extLst>
          </p:cNvPr>
          <p:cNvPicPr>
            <a:picLocks noChangeAspect="1"/>
          </p:cNvPicPr>
          <p:nvPr/>
        </p:nvPicPr>
        <p:blipFill>
          <a:blip r:embed="rId4"/>
          <a:stretch>
            <a:fillRect/>
          </a:stretch>
        </p:blipFill>
        <p:spPr>
          <a:xfrm>
            <a:off x="6069354" y="4094488"/>
            <a:ext cx="5484617" cy="2396327"/>
          </a:xfrm>
          <a:prstGeom prst="rect">
            <a:avLst/>
          </a:prstGeom>
        </p:spPr>
      </p:pic>
      <p:sp>
        <p:nvSpPr>
          <p:cNvPr id="7" name="文本框 6">
            <a:extLst>
              <a:ext uri="{FF2B5EF4-FFF2-40B4-BE49-F238E27FC236}">
                <a16:creationId xmlns:a16="http://schemas.microsoft.com/office/drawing/2014/main" id="{ECC5FD82-E975-4A7D-B12C-EF3A79E252F0}"/>
              </a:ext>
            </a:extLst>
          </p:cNvPr>
          <p:cNvSpPr txBox="1"/>
          <p:nvPr/>
        </p:nvSpPr>
        <p:spPr>
          <a:xfrm>
            <a:off x="8135147" y="3647209"/>
            <a:ext cx="1338828" cy="369332"/>
          </a:xfrm>
          <a:prstGeom prst="rect">
            <a:avLst/>
          </a:prstGeom>
          <a:noFill/>
        </p:spPr>
        <p:txBody>
          <a:bodyPr wrap="none" rtlCol="0">
            <a:spAutoFit/>
          </a:bodyPr>
          <a:lstStyle/>
          <a:p>
            <a:r>
              <a:rPr lang="zh-CN" altLang="en-US" b="1" dirty="0">
                <a:solidFill>
                  <a:schemeClr val="bg2">
                    <a:lumMod val="50000"/>
                  </a:schemeClr>
                </a:solidFill>
              </a:rPr>
              <a:t>优先级倒置</a:t>
            </a:r>
          </a:p>
        </p:txBody>
      </p:sp>
      <p:sp>
        <p:nvSpPr>
          <p:cNvPr id="8" name="文本框 7">
            <a:extLst>
              <a:ext uri="{FF2B5EF4-FFF2-40B4-BE49-F238E27FC236}">
                <a16:creationId xmlns:a16="http://schemas.microsoft.com/office/drawing/2014/main" id="{2C75C7EB-AC63-4198-A799-230AD89A0BFB}"/>
              </a:ext>
            </a:extLst>
          </p:cNvPr>
          <p:cNvSpPr txBox="1"/>
          <p:nvPr/>
        </p:nvSpPr>
        <p:spPr>
          <a:xfrm>
            <a:off x="7777104" y="6474060"/>
            <a:ext cx="2276585" cy="369332"/>
          </a:xfrm>
          <a:prstGeom prst="rect">
            <a:avLst/>
          </a:prstGeom>
          <a:noFill/>
        </p:spPr>
        <p:txBody>
          <a:bodyPr wrap="none" rtlCol="0">
            <a:spAutoFit/>
          </a:bodyPr>
          <a:lstStyle/>
          <a:p>
            <a:r>
              <a:rPr lang="zh-CN" altLang="en-US" b="1" dirty="0">
                <a:solidFill>
                  <a:schemeClr val="bg2">
                    <a:lumMod val="50000"/>
                  </a:schemeClr>
                </a:solidFill>
              </a:rPr>
              <a:t>动态优先级解决倒置</a:t>
            </a:r>
          </a:p>
        </p:txBody>
      </p:sp>
      <p:sp>
        <p:nvSpPr>
          <p:cNvPr id="10" name="文本框 9">
            <a:extLst>
              <a:ext uri="{FF2B5EF4-FFF2-40B4-BE49-F238E27FC236}">
                <a16:creationId xmlns:a16="http://schemas.microsoft.com/office/drawing/2014/main" id="{4E23CBAF-894A-4147-8DAE-D4BA290D96FB}"/>
              </a:ext>
            </a:extLst>
          </p:cNvPr>
          <p:cNvSpPr txBox="1"/>
          <p:nvPr/>
        </p:nvSpPr>
        <p:spPr>
          <a:xfrm>
            <a:off x="6276824" y="4691162"/>
            <a:ext cx="5484617" cy="369332"/>
          </a:xfrm>
          <a:prstGeom prst="rect">
            <a:avLst/>
          </a:prstGeom>
          <a:noFill/>
        </p:spPr>
        <p:txBody>
          <a:bodyPr wrap="square">
            <a:spAutoFit/>
          </a:bodyPr>
          <a:lstStyle/>
          <a:p>
            <a:r>
              <a:rPr lang="en-US" altLang="zh-CN" b="1" dirty="0">
                <a:solidFill>
                  <a:srgbClr val="FF0000"/>
                </a:solidFill>
                <a:latin typeface="Times New Roman" panose="02020603050405020304" pitchFamily="18" charset="0"/>
                <a:cs typeface="Times New Roman" panose="02020603050405020304" pitchFamily="18" charset="0"/>
              </a:rPr>
              <a:t>P</a:t>
            </a:r>
            <a:r>
              <a:rPr lang="en-US" altLang="zh-CN" b="1" baseline="-25000" dirty="0">
                <a:solidFill>
                  <a:srgbClr val="FF0000"/>
                </a:solidFill>
                <a:latin typeface="Times New Roman" panose="02020603050405020304" pitchFamily="18" charset="0"/>
                <a:cs typeface="Times New Roman" panose="02020603050405020304" pitchFamily="18" charset="0"/>
              </a:rPr>
              <a:t>3</a:t>
            </a:r>
            <a:r>
              <a:rPr lang="zh-CN" altLang="en-US" b="1" dirty="0">
                <a:solidFill>
                  <a:srgbClr val="FF0000"/>
                </a:solidFill>
                <a:latin typeface="Times New Roman" panose="02020603050405020304" pitchFamily="18" charset="0"/>
                <a:cs typeface="Times New Roman" panose="02020603050405020304" pitchFamily="18" charset="0"/>
              </a:rPr>
              <a:t>在进入临界区后</a:t>
            </a:r>
            <a:r>
              <a:rPr lang="en-US" altLang="zh-CN" b="1" dirty="0">
                <a:solidFill>
                  <a:srgbClr val="FF0000"/>
                </a:solidFill>
                <a:latin typeface="Times New Roman" panose="02020603050405020304" pitchFamily="18" charset="0"/>
                <a:cs typeface="Times New Roman" panose="02020603050405020304" pitchFamily="18" charset="0"/>
              </a:rPr>
              <a:t>P</a:t>
            </a:r>
            <a:r>
              <a:rPr lang="en-US" altLang="zh-CN" b="1" baseline="-25000" dirty="0">
                <a:solidFill>
                  <a:srgbClr val="FF0000"/>
                </a:solidFill>
                <a:latin typeface="Times New Roman" panose="02020603050405020304" pitchFamily="18" charset="0"/>
                <a:cs typeface="Times New Roman" panose="02020603050405020304" pitchFamily="18" charset="0"/>
              </a:rPr>
              <a:t>3</a:t>
            </a:r>
            <a:r>
              <a:rPr lang="zh-CN" altLang="en-US" b="1" dirty="0">
                <a:solidFill>
                  <a:srgbClr val="FF0000"/>
                </a:solidFill>
                <a:latin typeface="Times New Roman" panose="02020603050405020304" pitchFamily="18" charset="0"/>
                <a:cs typeface="Times New Roman" panose="02020603050405020304" pitchFamily="18" charset="0"/>
              </a:rPr>
              <a:t>所占用的处理机就不允许被抢占</a:t>
            </a:r>
          </a:p>
        </p:txBody>
      </p:sp>
    </p:spTree>
    <p:extLst>
      <p:ext uri="{BB962C8B-B14F-4D97-AF65-F5344CB8AC3E}">
        <p14:creationId xmlns:p14="http://schemas.microsoft.com/office/powerpoint/2010/main" val="13170863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死锁概述</a:t>
            </a:r>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dirty="0"/>
              <a:t>资源问题</a:t>
            </a:r>
            <a:endParaRPr kumimoji="1" lang="en-US" altLang="zh-CN" sz="2000" dirty="0"/>
          </a:p>
          <a:p>
            <a:pPr marL="457200" lvl="1" indent="0">
              <a:buNone/>
            </a:pPr>
            <a:r>
              <a:rPr kumimoji="1" lang="en-US" altLang="zh-CN" sz="2000" dirty="0"/>
              <a:t>        </a:t>
            </a:r>
            <a:r>
              <a:rPr kumimoji="1" lang="zh-CN" altLang="en-US" sz="2000" dirty="0"/>
              <a:t>在系统中有许多不同类型的资源，其中可引起死锁的主要是需要互斥访问的不可被抢占的资源，即前面的临界资源。系统中这类资源有很多，如打印机、数据文件、队列、信号量等。</a:t>
            </a:r>
          </a:p>
          <a:p>
            <a:pPr lvl="1">
              <a:buFont typeface="Wingdings" panose="05000000000000000000" pitchFamily="2" charset="2"/>
              <a:buChar char="ü"/>
            </a:pPr>
            <a:r>
              <a:rPr kumimoji="1" lang="zh-CN" altLang="en-US" dirty="0"/>
              <a:t>可重用性资源和消耗性资源</a:t>
            </a:r>
            <a:endParaRPr kumimoji="1" lang="en-US" altLang="zh-CN" dirty="0"/>
          </a:p>
          <a:p>
            <a:pPr marL="914400" lvl="2" indent="0" algn="just">
              <a:buNone/>
            </a:pPr>
            <a:r>
              <a:rPr kumimoji="1" lang="zh-CN" altLang="en-US" b="1" dirty="0">
                <a:solidFill>
                  <a:srgbClr val="FF0000"/>
                </a:solidFill>
              </a:rPr>
              <a:t>可重用性资源</a:t>
            </a:r>
            <a:r>
              <a:rPr kumimoji="1" lang="zh-CN" altLang="en-US" dirty="0"/>
              <a:t>：一种可供用户重复使用多次的资源，其具有</a:t>
            </a:r>
            <a:r>
              <a:rPr kumimoji="1" lang="en-US" altLang="zh-CN" dirty="0"/>
              <a:t>(1)</a:t>
            </a:r>
            <a:r>
              <a:rPr kumimoji="1" lang="zh-CN" altLang="en-US" dirty="0"/>
              <a:t>每一个可重用性资源中的单元只能分配给一个进程使用，不允许多个进程共享；</a:t>
            </a:r>
            <a:r>
              <a:rPr kumimoji="1" lang="en-US" altLang="zh-CN" dirty="0"/>
              <a:t>(2)</a:t>
            </a:r>
            <a:r>
              <a:rPr kumimoji="1" lang="zh-CN" altLang="en-US" dirty="0"/>
              <a:t>进程在使用可重用性资源时，须按照这样的顺序：①</a:t>
            </a:r>
            <a:r>
              <a:rPr kumimoji="1" lang="zh-CN" altLang="en-US" b="1" dirty="0">
                <a:solidFill>
                  <a:srgbClr val="FF0000"/>
                </a:solidFill>
              </a:rPr>
              <a:t>请求资源</a:t>
            </a:r>
            <a:r>
              <a:rPr kumimoji="1" lang="zh-CN" altLang="en-US" dirty="0"/>
              <a:t>。如果请求资源失败，请求进程将会被阻塞或循环等待。②</a:t>
            </a:r>
            <a:r>
              <a:rPr kumimoji="1" lang="zh-CN" altLang="en-US" b="1" dirty="0">
                <a:solidFill>
                  <a:srgbClr val="FF0000"/>
                </a:solidFill>
              </a:rPr>
              <a:t>使用资源</a:t>
            </a:r>
            <a:r>
              <a:rPr kumimoji="1" lang="zh-CN" altLang="en-US" dirty="0"/>
              <a:t>。进程对资源进行操作，如用打印机进行打印；③</a:t>
            </a:r>
            <a:r>
              <a:rPr kumimoji="1" lang="zh-CN" altLang="en-US" b="1" dirty="0">
                <a:solidFill>
                  <a:srgbClr val="FF0000"/>
                </a:solidFill>
              </a:rPr>
              <a:t>释放资源</a:t>
            </a:r>
            <a:r>
              <a:rPr kumimoji="1" lang="zh-CN" altLang="en-US" dirty="0"/>
              <a:t>。当进程使用完后自己释放资源；</a:t>
            </a:r>
            <a:r>
              <a:rPr kumimoji="1" lang="en-US" altLang="zh-CN" dirty="0"/>
              <a:t>(3)</a:t>
            </a:r>
            <a:r>
              <a:rPr kumimoji="1" lang="zh-CN" altLang="en-US" dirty="0"/>
              <a:t>系统中每一类可重用性资源中的单元数目是相对固定的，进程在运行期间既不能创建也不能删除它。</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5310407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死锁概述</a:t>
            </a:r>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dirty="0"/>
              <a:t>资源问题</a:t>
            </a:r>
            <a:endParaRPr kumimoji="1" lang="en-US" altLang="zh-CN" sz="2000" dirty="0"/>
          </a:p>
          <a:p>
            <a:pPr lvl="1">
              <a:buFont typeface="Wingdings" panose="05000000000000000000" pitchFamily="2" charset="2"/>
              <a:buChar char="ü"/>
            </a:pPr>
            <a:r>
              <a:rPr kumimoji="1" lang="zh-CN" altLang="en-US" dirty="0"/>
              <a:t>可重用性资源和消耗性资源</a:t>
            </a:r>
            <a:endParaRPr kumimoji="1" lang="en-US" altLang="zh-CN" dirty="0"/>
          </a:p>
          <a:p>
            <a:pPr marL="914400" lvl="2" indent="0" algn="just">
              <a:buNone/>
            </a:pPr>
            <a:r>
              <a:rPr kumimoji="1" lang="zh-CN" altLang="en-US" b="1" dirty="0">
                <a:solidFill>
                  <a:srgbClr val="FF0000"/>
                </a:solidFill>
              </a:rPr>
              <a:t>可消耗性资源</a:t>
            </a:r>
            <a:r>
              <a:rPr kumimoji="1" lang="zh-CN" altLang="en-US" dirty="0"/>
              <a:t>：又称临时性资源，在进程运行期间由进程动态创建和消耗。主要性质包括①每一类可消耗性资源的单元数目在进程运行期间是可以不断变化的，有时它可以有许多，有时可能为</a:t>
            </a:r>
            <a:r>
              <a:rPr kumimoji="1" lang="en-US" altLang="zh-CN" dirty="0"/>
              <a:t>0</a:t>
            </a:r>
            <a:r>
              <a:rPr kumimoji="1" lang="zh-CN" altLang="en-US" dirty="0"/>
              <a:t>；②进程在运行过程中，可以不断地创造可消耗性资源的单元，将它们放入该资源类的缓冲区中，以增加该资源类的单元数目；③进程在运行过程中，可以请求若干个可消耗性资源单元，用于进程自己的消耗，不再将它们返回给该资源类中。</a:t>
            </a:r>
            <a:endParaRPr kumimoji="1" lang="en-US" altLang="zh-CN" dirty="0"/>
          </a:p>
          <a:p>
            <a:pPr lvl="1">
              <a:buFont typeface="Wingdings" panose="05000000000000000000" pitchFamily="2" charset="2"/>
              <a:buChar char="ü"/>
            </a:pPr>
            <a:r>
              <a:rPr kumimoji="1" lang="zh-CN" altLang="en-US" dirty="0"/>
              <a:t>可抢占性资源和不可抢占性资源</a:t>
            </a:r>
            <a:endParaRPr kumimoji="1" lang="en-US" altLang="zh-CN" dirty="0"/>
          </a:p>
          <a:p>
            <a:pPr marL="914400" lvl="2" indent="0" algn="just">
              <a:buNone/>
            </a:pPr>
            <a:r>
              <a:rPr kumimoji="1" lang="zh-CN" altLang="en-US" b="1" dirty="0">
                <a:solidFill>
                  <a:srgbClr val="FF0000"/>
                </a:solidFill>
              </a:rPr>
              <a:t>可抢占性资源</a:t>
            </a:r>
            <a:r>
              <a:rPr kumimoji="1" lang="zh-CN" altLang="en-US" dirty="0"/>
              <a:t>：指某进程在获得这类资源后，该资源可以再被其它进程或系统抢占。</a:t>
            </a:r>
            <a:endParaRPr kumimoji="1" lang="en-US" altLang="zh-CN" dirty="0"/>
          </a:p>
          <a:p>
            <a:pPr marL="914400" lvl="2" indent="0" algn="just">
              <a:buNone/>
            </a:pPr>
            <a:r>
              <a:rPr kumimoji="1" lang="zh-CN" altLang="en-US" b="1" dirty="0">
                <a:solidFill>
                  <a:srgbClr val="FF0000"/>
                </a:solidFill>
              </a:rPr>
              <a:t>不可抢占性资源</a:t>
            </a:r>
            <a:r>
              <a:rPr kumimoji="1" lang="zh-CN" altLang="en-US" dirty="0"/>
              <a:t>：一旦系统把某资源分配给该进程后，就不能将它强行收回，只能在进程用完后自行释放。</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518642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死锁概述</a:t>
            </a:r>
          </a:p>
        </p:txBody>
      </p:sp>
      <p:sp>
        <p:nvSpPr>
          <p:cNvPr id="3" name="内容占位符 2"/>
          <p:cNvSpPr>
            <a:spLocks noGrp="1"/>
          </p:cNvSpPr>
          <p:nvPr>
            <p:ph idx="1"/>
          </p:nvPr>
        </p:nvSpPr>
        <p:spPr>
          <a:xfrm>
            <a:off x="838199" y="1510758"/>
            <a:ext cx="7550295" cy="5347242"/>
          </a:xfrm>
        </p:spPr>
        <p:txBody>
          <a:bodyPr>
            <a:normAutofit/>
          </a:bodyPr>
          <a:lstStyle/>
          <a:p>
            <a:pPr>
              <a:lnSpc>
                <a:spcPct val="120000"/>
              </a:lnSpc>
            </a:pPr>
            <a:r>
              <a:rPr kumimoji="1" lang="zh-CN" altLang="en-US" dirty="0"/>
              <a:t>计算机系统中的死锁</a:t>
            </a:r>
            <a:endParaRPr kumimoji="1" lang="en-US" altLang="zh-CN" sz="2000" dirty="0"/>
          </a:p>
          <a:p>
            <a:pPr lvl="1">
              <a:buFont typeface="Wingdings" panose="05000000000000000000" pitchFamily="2" charset="2"/>
              <a:buChar char="ü"/>
            </a:pPr>
            <a:r>
              <a:rPr kumimoji="1" lang="zh-CN" altLang="en-US" dirty="0"/>
              <a:t>竞争不可抢占性资源引起死锁</a:t>
            </a:r>
            <a:endParaRPr kumimoji="1" lang="en-US" altLang="zh-CN" dirty="0"/>
          </a:p>
          <a:p>
            <a:pPr marL="914400" lvl="2" indent="0" algn="just">
              <a:buNone/>
            </a:pPr>
            <a:r>
              <a:rPr kumimoji="1" lang="zh-CN" altLang="en-US" dirty="0"/>
              <a:t>通常系统中所拥有的不可抢占性资源其数量不足以满足多个进程运行的需要，使得进程在运行过程中，会因争夺资源而陷入僵局。将该问题利用资源分配图进行描述，用方块代表可重用的资源</a:t>
            </a:r>
            <a:r>
              <a:rPr kumimoji="1" lang="en-US" altLang="zh-CN" dirty="0"/>
              <a:t>(</a:t>
            </a:r>
            <a:r>
              <a:rPr kumimoji="1" lang="zh-CN" altLang="en-US" dirty="0"/>
              <a:t>文件</a:t>
            </a:r>
            <a:r>
              <a:rPr kumimoji="1" lang="en-US" altLang="zh-CN" dirty="0"/>
              <a:t>)</a:t>
            </a:r>
            <a:r>
              <a:rPr kumimoji="1" lang="zh-CN" altLang="en-US" dirty="0"/>
              <a:t>，用圆圈代表进程，可表示为右图。</a:t>
            </a:r>
            <a:endParaRPr kumimoji="1" lang="en-US" altLang="zh-CN" dirty="0"/>
          </a:p>
          <a:p>
            <a:pPr lvl="1">
              <a:buFont typeface="Wingdings" panose="05000000000000000000" pitchFamily="2" charset="2"/>
              <a:buChar char="ü"/>
            </a:pPr>
            <a:r>
              <a:rPr kumimoji="1" lang="zh-CN" altLang="en-US" dirty="0"/>
              <a:t>竞争可消耗资源引起死锁</a:t>
            </a:r>
            <a:endParaRPr kumimoji="1" lang="en-US" altLang="zh-CN" dirty="0"/>
          </a:p>
          <a:p>
            <a:pPr marL="914400" lvl="2" indent="0" algn="just">
              <a:buNone/>
            </a:pPr>
            <a:r>
              <a:rPr kumimoji="1" lang="zh-CN" altLang="en-US" dirty="0"/>
              <a:t>右图所示为三个进程之间利用消息通信机制进行通信时所形成的死锁情况。</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3-12">
            <a:extLst>
              <a:ext uri="{FF2B5EF4-FFF2-40B4-BE49-F238E27FC236}">
                <a16:creationId xmlns:a16="http://schemas.microsoft.com/office/drawing/2014/main" id="{FED81A38-82C6-4150-AEED-B3AF6154F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8495" y="1257538"/>
            <a:ext cx="2689561" cy="2470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4BA8A607-B83A-4BDB-B155-186577D0FC8F}"/>
              </a:ext>
            </a:extLst>
          </p:cNvPr>
          <p:cNvSpPr txBox="1"/>
          <p:nvPr/>
        </p:nvSpPr>
        <p:spPr>
          <a:xfrm>
            <a:off x="8695483" y="3784804"/>
            <a:ext cx="2075584" cy="369332"/>
          </a:xfrm>
          <a:prstGeom prst="rect">
            <a:avLst/>
          </a:prstGeom>
          <a:noFill/>
        </p:spPr>
        <p:txBody>
          <a:bodyPr wrap="square">
            <a:spAutoFit/>
          </a:bodyPr>
          <a:lstStyle/>
          <a:p>
            <a:r>
              <a:rPr lang="zh-CN" altLang="en-US" dirty="0"/>
              <a:t>共享文件时的死锁</a:t>
            </a:r>
          </a:p>
        </p:txBody>
      </p:sp>
      <p:pic>
        <p:nvPicPr>
          <p:cNvPr id="8" name="Picture 4" descr="3-13">
            <a:extLst>
              <a:ext uri="{FF2B5EF4-FFF2-40B4-BE49-F238E27FC236}">
                <a16:creationId xmlns:a16="http://schemas.microsoft.com/office/drawing/2014/main" id="{934C427F-052C-4F65-A137-A072A3A228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2796" y="4111642"/>
            <a:ext cx="2689562" cy="2435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FD344CB9-F3AD-48F3-924F-81F2FF347FCB}"/>
              </a:ext>
            </a:extLst>
          </p:cNvPr>
          <p:cNvSpPr txBox="1"/>
          <p:nvPr/>
        </p:nvSpPr>
        <p:spPr>
          <a:xfrm>
            <a:off x="8586835" y="6504365"/>
            <a:ext cx="2491221" cy="369332"/>
          </a:xfrm>
          <a:prstGeom prst="rect">
            <a:avLst/>
          </a:prstGeom>
          <a:noFill/>
        </p:spPr>
        <p:txBody>
          <a:bodyPr wrap="square">
            <a:spAutoFit/>
          </a:bodyPr>
          <a:lstStyle/>
          <a:p>
            <a:r>
              <a:rPr lang="zh-CN" altLang="en-US" dirty="0"/>
              <a:t>进程之间通信时的死锁 </a:t>
            </a:r>
          </a:p>
        </p:txBody>
      </p:sp>
    </p:spTree>
    <p:extLst>
      <p:ext uri="{BB962C8B-B14F-4D97-AF65-F5344CB8AC3E}">
        <p14:creationId xmlns:p14="http://schemas.microsoft.com/office/powerpoint/2010/main" val="8830352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死锁概述</a:t>
            </a:r>
          </a:p>
        </p:txBody>
      </p:sp>
      <p:sp>
        <p:nvSpPr>
          <p:cNvPr id="3" name="内容占位符 2"/>
          <p:cNvSpPr>
            <a:spLocks noGrp="1"/>
          </p:cNvSpPr>
          <p:nvPr>
            <p:ph idx="1"/>
          </p:nvPr>
        </p:nvSpPr>
        <p:spPr>
          <a:xfrm>
            <a:off x="0" y="1353845"/>
            <a:ext cx="6539347" cy="5347242"/>
          </a:xfrm>
        </p:spPr>
        <p:txBody>
          <a:bodyPr>
            <a:normAutofit lnSpcReduction="10000"/>
          </a:bodyPr>
          <a:lstStyle/>
          <a:p>
            <a:pPr algn="just">
              <a:lnSpc>
                <a:spcPct val="120000"/>
              </a:lnSpc>
            </a:pPr>
            <a:r>
              <a:rPr kumimoji="1" lang="zh-CN" altLang="en-US" dirty="0"/>
              <a:t>计算机系统中的死锁</a:t>
            </a:r>
            <a:endParaRPr kumimoji="1" lang="en-US" altLang="zh-CN" sz="2000" dirty="0"/>
          </a:p>
          <a:p>
            <a:pPr lvl="1" algn="just">
              <a:buFont typeface="Wingdings" panose="05000000000000000000" pitchFamily="2" charset="2"/>
              <a:buChar char="ü"/>
            </a:pPr>
            <a:r>
              <a:rPr kumimoji="1" lang="zh-CN" altLang="en-US" dirty="0"/>
              <a:t>进程推进顺序不当引起死锁</a:t>
            </a:r>
            <a:endParaRPr kumimoji="1" lang="en-US" altLang="zh-CN" dirty="0"/>
          </a:p>
          <a:p>
            <a:pPr marL="914400" lvl="2" indent="0" algn="just">
              <a:buNone/>
            </a:pPr>
            <a:r>
              <a:rPr kumimoji="1" lang="zh-CN" altLang="en-US" dirty="0"/>
              <a:t>除系统中多个进程对资源竞争会引发死锁外，进程在运行过程中，对资源进行申请和释放的顺序是否合法，也是在系统中是否会产生死锁的一个重要因素。</a:t>
            </a:r>
            <a:endParaRPr kumimoji="1" lang="en-US" altLang="zh-CN" dirty="0"/>
          </a:p>
          <a:p>
            <a:pPr marL="914400" lvl="2" indent="0" algn="just">
              <a:buNone/>
            </a:pPr>
            <a:r>
              <a:rPr kumimoji="1" lang="zh-CN" altLang="en-US" b="1" dirty="0">
                <a:solidFill>
                  <a:srgbClr val="FF0000"/>
                </a:solidFill>
              </a:rPr>
              <a:t>进程推进顺序合法</a:t>
            </a:r>
            <a:r>
              <a:rPr kumimoji="1" lang="zh-CN" altLang="en-US" dirty="0"/>
              <a:t>：进程</a:t>
            </a:r>
            <a:r>
              <a:rPr kumimoji="1" lang="en-US" altLang="zh-CN" dirty="0"/>
              <a:t>P</a:t>
            </a:r>
            <a:r>
              <a:rPr kumimoji="1" lang="en-US" altLang="zh-CN" baseline="-25000" dirty="0"/>
              <a:t>1</a:t>
            </a:r>
            <a:r>
              <a:rPr kumimoji="1" lang="zh-CN" altLang="en-US" dirty="0"/>
              <a:t>和</a:t>
            </a:r>
            <a:r>
              <a:rPr kumimoji="1" lang="en-US" altLang="zh-CN" dirty="0"/>
              <a:t>P</a:t>
            </a:r>
            <a:r>
              <a:rPr kumimoji="1" lang="en-US" altLang="zh-CN" baseline="-25000" dirty="0"/>
              <a:t>2</a:t>
            </a:r>
            <a:r>
              <a:rPr kumimoji="1" lang="zh-CN" altLang="en-US" dirty="0"/>
              <a:t>并发执行时，若按右图中的曲线①所示顺序推进：</a:t>
            </a:r>
            <a:r>
              <a:rPr kumimoji="1" lang="en-US" altLang="zh-CN" dirty="0"/>
              <a:t>P</a:t>
            </a:r>
            <a:r>
              <a:rPr kumimoji="1" lang="en-US" altLang="zh-CN" baseline="-25000" dirty="0"/>
              <a:t>1</a:t>
            </a:r>
            <a:r>
              <a:rPr kumimoji="1" lang="en-US" altLang="zh-CN" dirty="0"/>
              <a:t>: Request(R</a:t>
            </a:r>
            <a:r>
              <a:rPr kumimoji="1" lang="en-US" altLang="zh-CN" baseline="-25000" dirty="0"/>
              <a:t>1</a:t>
            </a:r>
            <a:r>
              <a:rPr kumimoji="1" lang="en-US" altLang="zh-CN" dirty="0"/>
              <a:t>)→P</a:t>
            </a:r>
            <a:r>
              <a:rPr kumimoji="1" lang="en-US" altLang="zh-CN" baseline="-25000" dirty="0"/>
              <a:t>1</a:t>
            </a:r>
            <a:r>
              <a:rPr kumimoji="1" lang="en-US" altLang="zh-CN" dirty="0"/>
              <a:t>: Request(R</a:t>
            </a:r>
            <a:r>
              <a:rPr kumimoji="1" lang="en-US" altLang="zh-CN" baseline="-25000" dirty="0"/>
              <a:t>2</a:t>
            </a:r>
            <a:r>
              <a:rPr kumimoji="1" lang="en-US" altLang="zh-CN" dirty="0"/>
              <a:t>)→P</a:t>
            </a:r>
            <a:r>
              <a:rPr kumimoji="1" lang="en-US" altLang="zh-CN" baseline="-25000" dirty="0"/>
              <a:t>1</a:t>
            </a:r>
            <a:r>
              <a:rPr kumimoji="1" lang="en-US" altLang="zh-CN" dirty="0"/>
              <a:t>: Release(R</a:t>
            </a:r>
            <a:r>
              <a:rPr kumimoji="1" lang="en-US" altLang="zh-CN" baseline="-25000" dirty="0"/>
              <a:t>1</a:t>
            </a:r>
            <a:r>
              <a:rPr kumimoji="1" lang="en-US" altLang="zh-CN" dirty="0"/>
              <a:t>)→P</a:t>
            </a:r>
            <a:r>
              <a:rPr kumimoji="1" lang="en-US" altLang="zh-CN" baseline="-25000" dirty="0"/>
              <a:t>1</a:t>
            </a:r>
            <a:r>
              <a:rPr kumimoji="1" lang="en-US" altLang="zh-CN" dirty="0"/>
              <a:t>: Release(R</a:t>
            </a:r>
            <a:r>
              <a:rPr kumimoji="1" lang="en-US" altLang="zh-CN" baseline="-25000" dirty="0"/>
              <a:t>2</a:t>
            </a:r>
            <a:r>
              <a:rPr kumimoji="1" lang="en-US" altLang="zh-CN" dirty="0"/>
              <a:t>)→P</a:t>
            </a:r>
            <a:r>
              <a:rPr kumimoji="1" lang="en-US" altLang="zh-CN" baseline="-25000" dirty="0"/>
              <a:t>2</a:t>
            </a:r>
            <a:r>
              <a:rPr kumimoji="1" lang="en-US" altLang="zh-CN" dirty="0"/>
              <a:t>: Request(R</a:t>
            </a:r>
            <a:r>
              <a:rPr kumimoji="1" lang="en-US" altLang="zh-CN" baseline="-25000" dirty="0"/>
              <a:t>2</a:t>
            </a:r>
            <a:r>
              <a:rPr kumimoji="1" lang="en-US" altLang="zh-CN" dirty="0"/>
              <a:t>)→P</a:t>
            </a:r>
            <a:r>
              <a:rPr kumimoji="1" lang="en-US" altLang="zh-CN" baseline="-25000" dirty="0"/>
              <a:t>2</a:t>
            </a:r>
            <a:r>
              <a:rPr kumimoji="1" lang="en-US" altLang="zh-CN" dirty="0"/>
              <a:t>: Request(R</a:t>
            </a:r>
            <a:r>
              <a:rPr kumimoji="1" lang="en-US" altLang="zh-CN" baseline="-25000" dirty="0"/>
              <a:t>1</a:t>
            </a:r>
            <a:r>
              <a:rPr kumimoji="1" lang="en-US" altLang="zh-CN" dirty="0"/>
              <a:t>)→P</a:t>
            </a:r>
            <a:r>
              <a:rPr kumimoji="1" lang="en-US" altLang="zh-CN" baseline="-25000" dirty="0"/>
              <a:t>2</a:t>
            </a:r>
            <a:r>
              <a:rPr kumimoji="1" lang="en-US" altLang="zh-CN" dirty="0"/>
              <a:t>: Release(R</a:t>
            </a:r>
            <a:r>
              <a:rPr kumimoji="1" lang="en-US" altLang="zh-CN" baseline="-25000" dirty="0"/>
              <a:t>2</a:t>
            </a:r>
            <a:r>
              <a:rPr kumimoji="1" lang="en-US" altLang="zh-CN" dirty="0"/>
              <a:t>)→P</a:t>
            </a:r>
            <a:r>
              <a:rPr kumimoji="1" lang="en-US" altLang="zh-CN" baseline="-25000" dirty="0"/>
              <a:t>2</a:t>
            </a:r>
            <a:r>
              <a:rPr kumimoji="1" lang="en-US" altLang="zh-CN" dirty="0"/>
              <a:t>: Release(R</a:t>
            </a:r>
            <a:r>
              <a:rPr kumimoji="1" lang="en-US" altLang="zh-CN" baseline="-25000" dirty="0"/>
              <a:t>1</a:t>
            </a:r>
            <a:r>
              <a:rPr kumimoji="1" lang="en-US" altLang="zh-CN" dirty="0"/>
              <a:t>)</a:t>
            </a:r>
            <a:r>
              <a:rPr kumimoji="1" lang="zh-CN" altLang="en-US" dirty="0"/>
              <a:t>，两个进程可顺利完成。类似地，若按图中曲线②和③所示的顺序推进，两进程也可以顺利完成。我们称这种不会引起进程死锁的推进顺序是合法的。</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9" name="Picture 4" descr="3-14">
            <a:extLst>
              <a:ext uri="{FF2B5EF4-FFF2-40B4-BE49-F238E27FC236}">
                <a16:creationId xmlns:a16="http://schemas.microsoft.com/office/drawing/2014/main" id="{99681120-3A1F-4263-AB1A-A450128C2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895" y="2488279"/>
            <a:ext cx="5619105" cy="3324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6752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死锁概述</a:t>
            </a:r>
          </a:p>
        </p:txBody>
      </p:sp>
      <p:sp>
        <p:nvSpPr>
          <p:cNvPr id="3" name="内容占位符 2"/>
          <p:cNvSpPr>
            <a:spLocks noGrp="1"/>
          </p:cNvSpPr>
          <p:nvPr>
            <p:ph idx="1"/>
          </p:nvPr>
        </p:nvSpPr>
        <p:spPr>
          <a:xfrm>
            <a:off x="1" y="1353845"/>
            <a:ext cx="6096000" cy="5347242"/>
          </a:xfrm>
        </p:spPr>
        <p:txBody>
          <a:bodyPr>
            <a:normAutofit/>
          </a:bodyPr>
          <a:lstStyle/>
          <a:p>
            <a:pPr algn="just">
              <a:lnSpc>
                <a:spcPct val="120000"/>
              </a:lnSpc>
            </a:pPr>
            <a:r>
              <a:rPr kumimoji="1" lang="zh-CN" altLang="en-US" dirty="0"/>
              <a:t>计算机系统中的死锁</a:t>
            </a:r>
            <a:endParaRPr kumimoji="1" lang="en-US" altLang="zh-CN" sz="2000" dirty="0"/>
          </a:p>
          <a:p>
            <a:pPr lvl="1" algn="just">
              <a:buFont typeface="Wingdings" panose="05000000000000000000" pitchFamily="2" charset="2"/>
              <a:buChar char="ü"/>
            </a:pPr>
            <a:r>
              <a:rPr kumimoji="1" lang="zh-CN" altLang="en-US" dirty="0"/>
              <a:t>进程推进顺序不当引起死锁</a:t>
            </a:r>
            <a:endParaRPr kumimoji="1" lang="en-US" altLang="zh-CN" dirty="0"/>
          </a:p>
          <a:p>
            <a:pPr marL="914400" lvl="2" indent="0" algn="just">
              <a:buNone/>
            </a:pPr>
            <a:r>
              <a:rPr kumimoji="1" lang="zh-CN" altLang="en-US" b="1" dirty="0">
                <a:solidFill>
                  <a:srgbClr val="FF0000"/>
                </a:solidFill>
              </a:rPr>
              <a:t>进程推进顺序非法</a:t>
            </a:r>
            <a:r>
              <a:rPr kumimoji="1" lang="zh-CN" altLang="en-US" dirty="0"/>
              <a:t>：若并发进程</a:t>
            </a:r>
            <a:r>
              <a:rPr kumimoji="1" lang="en-US" altLang="zh-CN" dirty="0"/>
              <a:t>P</a:t>
            </a:r>
            <a:r>
              <a:rPr kumimoji="1" lang="en-US" altLang="zh-CN" baseline="-25000" dirty="0"/>
              <a:t>1</a:t>
            </a:r>
            <a:r>
              <a:rPr kumimoji="1" lang="zh-CN" altLang="en-US" dirty="0"/>
              <a:t>和</a:t>
            </a:r>
            <a:r>
              <a:rPr kumimoji="1" lang="en-US" altLang="zh-CN" dirty="0"/>
              <a:t>P</a:t>
            </a:r>
            <a:r>
              <a:rPr kumimoji="1" lang="en-US" altLang="zh-CN" baseline="-25000" dirty="0"/>
              <a:t>2</a:t>
            </a:r>
            <a:r>
              <a:rPr kumimoji="1" lang="zh-CN" altLang="en-US" dirty="0"/>
              <a:t>按右图曲线④所示顺序推进，它们将进入不安全区</a:t>
            </a:r>
            <a:r>
              <a:rPr kumimoji="1" lang="en-US" altLang="zh-CN" dirty="0"/>
              <a:t>D</a:t>
            </a:r>
            <a:r>
              <a:rPr kumimoji="1" lang="zh-CN" altLang="en-US" dirty="0"/>
              <a:t>内。此时</a:t>
            </a:r>
            <a:r>
              <a:rPr kumimoji="1" lang="en-US" altLang="zh-CN" dirty="0"/>
              <a:t>P</a:t>
            </a:r>
            <a:r>
              <a:rPr kumimoji="1" lang="en-US" altLang="zh-CN" baseline="-25000" dirty="0"/>
              <a:t>1</a:t>
            </a:r>
            <a:r>
              <a:rPr kumimoji="1" lang="zh-CN" altLang="en-US" dirty="0"/>
              <a:t>保持了资源</a:t>
            </a:r>
            <a:r>
              <a:rPr kumimoji="1" lang="en-US" altLang="zh-CN" dirty="0"/>
              <a:t>R</a:t>
            </a:r>
            <a:r>
              <a:rPr kumimoji="1" lang="en-US" altLang="zh-CN" baseline="-25000" dirty="0"/>
              <a:t>1</a:t>
            </a:r>
            <a:r>
              <a:rPr kumimoji="1" lang="zh-CN" altLang="en-US" dirty="0"/>
              <a:t>，</a:t>
            </a:r>
            <a:r>
              <a:rPr kumimoji="1" lang="en-US" altLang="zh-CN" dirty="0"/>
              <a:t>P</a:t>
            </a:r>
            <a:r>
              <a:rPr kumimoji="1" lang="en-US" altLang="zh-CN" baseline="-25000" dirty="0"/>
              <a:t>2</a:t>
            </a:r>
            <a:r>
              <a:rPr kumimoji="1" lang="zh-CN" altLang="en-US" dirty="0"/>
              <a:t>保持了资源</a:t>
            </a:r>
            <a:r>
              <a:rPr kumimoji="1" lang="en-US" altLang="zh-CN" dirty="0"/>
              <a:t>R</a:t>
            </a:r>
            <a:r>
              <a:rPr kumimoji="1" lang="en-US" altLang="zh-CN" baseline="-25000" dirty="0"/>
              <a:t>2</a:t>
            </a:r>
            <a:r>
              <a:rPr kumimoji="1" lang="zh-CN" altLang="en-US" dirty="0"/>
              <a:t>，系统处于不安全状态。此刻，如果两个进程继续向前推进，就</a:t>
            </a:r>
            <a:r>
              <a:rPr kumimoji="1" lang="zh-CN" altLang="en-US" b="1" dirty="0">
                <a:solidFill>
                  <a:srgbClr val="FF0000"/>
                </a:solidFill>
              </a:rPr>
              <a:t>可能发生死锁</a:t>
            </a:r>
            <a:r>
              <a:rPr kumimoji="1" lang="zh-CN" altLang="en-US" dirty="0"/>
              <a:t>。例如，当</a:t>
            </a:r>
            <a:r>
              <a:rPr kumimoji="1" lang="en-US" altLang="zh-CN" dirty="0"/>
              <a:t>P</a:t>
            </a:r>
            <a:r>
              <a:rPr kumimoji="1" lang="en-US" altLang="zh-CN" baseline="-25000" dirty="0"/>
              <a:t>1</a:t>
            </a:r>
            <a:r>
              <a:rPr kumimoji="1" lang="zh-CN" altLang="en-US" dirty="0"/>
              <a:t>运行到</a:t>
            </a:r>
            <a:r>
              <a:rPr kumimoji="1" lang="en-US" altLang="zh-CN" dirty="0"/>
              <a:t>P</a:t>
            </a:r>
            <a:r>
              <a:rPr kumimoji="1" lang="en-US" altLang="zh-CN" baseline="-25000" dirty="0"/>
              <a:t>1</a:t>
            </a:r>
            <a:r>
              <a:rPr kumimoji="1" lang="zh-CN" altLang="en-US" dirty="0"/>
              <a:t>：</a:t>
            </a:r>
            <a:r>
              <a:rPr kumimoji="1" lang="en-US" altLang="zh-CN" dirty="0"/>
              <a:t>Request(R</a:t>
            </a:r>
            <a:r>
              <a:rPr kumimoji="1" lang="en-US" altLang="zh-CN" baseline="-25000" dirty="0"/>
              <a:t>2</a:t>
            </a:r>
            <a:r>
              <a:rPr kumimoji="1" lang="en-US" altLang="zh-CN" dirty="0"/>
              <a:t>)</a:t>
            </a:r>
            <a:r>
              <a:rPr kumimoji="1" lang="zh-CN" altLang="en-US" dirty="0"/>
              <a:t>时，将因</a:t>
            </a:r>
            <a:r>
              <a:rPr kumimoji="1" lang="en-US" altLang="zh-CN" dirty="0"/>
              <a:t>R</a:t>
            </a:r>
            <a:r>
              <a:rPr kumimoji="1" lang="en-US" altLang="zh-CN" baseline="-25000" dirty="0"/>
              <a:t>2</a:t>
            </a:r>
            <a:r>
              <a:rPr kumimoji="1" lang="zh-CN" altLang="en-US" dirty="0"/>
              <a:t>已被</a:t>
            </a:r>
            <a:r>
              <a:rPr kumimoji="1" lang="en-US" altLang="zh-CN" dirty="0"/>
              <a:t>P</a:t>
            </a:r>
            <a:r>
              <a:rPr kumimoji="1" lang="en-US" altLang="zh-CN" baseline="-25000" dirty="0"/>
              <a:t>2</a:t>
            </a:r>
            <a:r>
              <a:rPr kumimoji="1" lang="zh-CN" altLang="en-US" dirty="0"/>
              <a:t>占用而阻塞；当</a:t>
            </a:r>
            <a:r>
              <a:rPr kumimoji="1" lang="en-US" altLang="zh-CN" dirty="0"/>
              <a:t>P</a:t>
            </a:r>
            <a:r>
              <a:rPr kumimoji="1" lang="en-US" altLang="zh-CN" baseline="-25000" dirty="0"/>
              <a:t>2</a:t>
            </a:r>
            <a:r>
              <a:rPr kumimoji="1" lang="zh-CN" altLang="en-US" dirty="0"/>
              <a:t>运行到</a:t>
            </a:r>
            <a:r>
              <a:rPr kumimoji="1" lang="en-US" altLang="zh-CN" dirty="0"/>
              <a:t>P</a:t>
            </a:r>
            <a:r>
              <a:rPr kumimoji="1" lang="en-US" altLang="zh-CN" baseline="-25000" dirty="0"/>
              <a:t>2</a:t>
            </a:r>
            <a:r>
              <a:rPr kumimoji="1" lang="zh-CN" altLang="en-US" dirty="0"/>
              <a:t>：</a:t>
            </a:r>
            <a:r>
              <a:rPr kumimoji="1" lang="en-US" altLang="zh-CN" dirty="0"/>
              <a:t>Request(R</a:t>
            </a:r>
            <a:r>
              <a:rPr kumimoji="1" lang="en-US" altLang="zh-CN" baseline="-25000" dirty="0"/>
              <a:t>1</a:t>
            </a:r>
            <a:r>
              <a:rPr kumimoji="1" lang="en-US" altLang="zh-CN" dirty="0"/>
              <a:t>)</a:t>
            </a:r>
            <a:r>
              <a:rPr kumimoji="1" lang="zh-CN" altLang="en-US" dirty="0"/>
              <a:t>时，也将因</a:t>
            </a:r>
            <a:r>
              <a:rPr kumimoji="1" lang="en-US" altLang="zh-CN" dirty="0"/>
              <a:t>R</a:t>
            </a:r>
            <a:r>
              <a:rPr kumimoji="1" lang="en-US" altLang="zh-CN" baseline="-25000" dirty="0"/>
              <a:t>1</a:t>
            </a:r>
            <a:r>
              <a:rPr kumimoji="1" lang="zh-CN" altLang="en-US" dirty="0"/>
              <a:t>已被</a:t>
            </a:r>
            <a:r>
              <a:rPr kumimoji="1" lang="en-US" altLang="zh-CN" dirty="0"/>
              <a:t>P</a:t>
            </a:r>
            <a:r>
              <a:rPr kumimoji="1" lang="en-US" altLang="zh-CN" baseline="-25000" dirty="0"/>
              <a:t>1</a:t>
            </a:r>
            <a:r>
              <a:rPr kumimoji="1" lang="zh-CN" altLang="en-US" dirty="0"/>
              <a:t>占用而阻塞，于是发生了进程死锁，这样的进程推进顺序就是非法的。</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9" name="Picture 4" descr="3-14">
            <a:extLst>
              <a:ext uri="{FF2B5EF4-FFF2-40B4-BE49-F238E27FC236}">
                <a16:creationId xmlns:a16="http://schemas.microsoft.com/office/drawing/2014/main" id="{99681120-3A1F-4263-AB1A-A450128C2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9377" y="2488279"/>
            <a:ext cx="5619105" cy="3324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6353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死锁概述</a:t>
            </a:r>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dirty="0"/>
              <a:t>死锁的定义、必要条件和处理方法</a:t>
            </a:r>
            <a:endParaRPr kumimoji="1" lang="en-US" altLang="zh-CN" sz="2000" dirty="0"/>
          </a:p>
          <a:p>
            <a:pPr lvl="1">
              <a:buFont typeface="Wingdings" panose="05000000000000000000" pitchFamily="2" charset="2"/>
              <a:buChar char="ü"/>
            </a:pPr>
            <a:r>
              <a:rPr kumimoji="1" lang="zh-CN" altLang="en-US" dirty="0"/>
              <a:t>死锁的定义</a:t>
            </a:r>
            <a:endParaRPr kumimoji="1" lang="en-US" altLang="zh-CN" dirty="0"/>
          </a:p>
          <a:p>
            <a:pPr marL="914400" lvl="2" indent="0" algn="just">
              <a:buNone/>
            </a:pPr>
            <a:r>
              <a:rPr kumimoji="1" lang="zh-CN" altLang="en-US" dirty="0"/>
              <a:t>在一组进程发生死锁的情况下，这组死锁进程中的每一个进程，都在等待另一个死锁进程所占有的资源。</a:t>
            </a:r>
            <a:endParaRPr kumimoji="1" lang="en-US" altLang="zh-CN" dirty="0"/>
          </a:p>
          <a:p>
            <a:pPr lvl="1">
              <a:buFont typeface="Wingdings" panose="05000000000000000000" pitchFamily="2" charset="2"/>
              <a:buChar char="ü"/>
            </a:pPr>
            <a:r>
              <a:rPr kumimoji="1" lang="zh-CN" altLang="en-US" dirty="0"/>
              <a:t>产生死锁的必要条件</a:t>
            </a:r>
            <a:endParaRPr kumimoji="1" lang="en-US" altLang="zh-CN" dirty="0"/>
          </a:p>
          <a:p>
            <a:pPr marL="914400" lvl="2" indent="0" algn="just">
              <a:buNone/>
            </a:pPr>
            <a:r>
              <a:rPr kumimoji="1" lang="zh-CN" altLang="en-US" dirty="0"/>
              <a:t>进程在运行过程中可能会发生死锁，但进程产生死锁必须具备一定条件。</a:t>
            </a:r>
            <a:r>
              <a:rPr kumimoji="1" lang="zh-CN" altLang="en-US" b="1" dirty="0">
                <a:solidFill>
                  <a:srgbClr val="FF0000"/>
                </a:solidFill>
              </a:rPr>
              <a:t>产生死锁必须同时具备四个必要条件</a:t>
            </a:r>
            <a:r>
              <a:rPr kumimoji="1" lang="zh-CN" altLang="en-US" dirty="0"/>
              <a:t>，只要其中任一个条件不成立，死锁就不会发生：</a:t>
            </a:r>
            <a:r>
              <a:rPr kumimoji="1" lang="en-US" altLang="zh-CN" dirty="0"/>
              <a:t>(1)</a:t>
            </a:r>
            <a:r>
              <a:rPr kumimoji="1" lang="zh-CN" altLang="en-US" dirty="0"/>
              <a:t>互斥条件；</a:t>
            </a:r>
            <a:r>
              <a:rPr kumimoji="1" lang="en-US" altLang="zh-CN" dirty="0"/>
              <a:t>(2)</a:t>
            </a:r>
            <a:r>
              <a:rPr kumimoji="1" lang="zh-CN" altLang="en-US" dirty="0"/>
              <a:t>请求和保持条件；</a:t>
            </a:r>
            <a:r>
              <a:rPr kumimoji="1" lang="en-US" altLang="zh-CN" dirty="0"/>
              <a:t>(3)</a:t>
            </a:r>
            <a:r>
              <a:rPr kumimoji="1" lang="zh-CN" altLang="en-US" dirty="0"/>
              <a:t>不可抢占条件；</a:t>
            </a:r>
            <a:r>
              <a:rPr kumimoji="1" lang="en-US" altLang="zh-CN" dirty="0"/>
              <a:t>(4)</a:t>
            </a:r>
            <a:r>
              <a:rPr kumimoji="1" lang="zh-CN" altLang="en-US" dirty="0"/>
              <a:t>循环等待条件。</a:t>
            </a:r>
            <a:endParaRPr kumimoji="1" lang="en-US" altLang="zh-CN" dirty="0"/>
          </a:p>
          <a:p>
            <a:pPr lvl="1">
              <a:buFont typeface="Wingdings" panose="05000000000000000000" pitchFamily="2" charset="2"/>
              <a:buChar char="ü"/>
            </a:pPr>
            <a:r>
              <a:rPr kumimoji="1" lang="zh-CN" altLang="en-US" dirty="0"/>
              <a:t>处理死锁的方法</a:t>
            </a:r>
            <a:endParaRPr kumimoji="1" lang="en-US" altLang="zh-CN" dirty="0"/>
          </a:p>
          <a:p>
            <a:pPr marL="914400" lvl="2" indent="0" algn="just">
              <a:buNone/>
            </a:pPr>
            <a:r>
              <a:rPr kumimoji="1" lang="en-US" altLang="zh-CN" dirty="0"/>
              <a:t>(1)</a:t>
            </a:r>
            <a:r>
              <a:rPr kumimoji="1" lang="zh-CN" altLang="en-US" dirty="0"/>
              <a:t>预防死锁；</a:t>
            </a:r>
            <a:r>
              <a:rPr kumimoji="1" lang="en-US" altLang="zh-CN" dirty="0"/>
              <a:t>(2)</a:t>
            </a:r>
            <a:r>
              <a:rPr kumimoji="1" lang="zh-CN" altLang="en-US" dirty="0"/>
              <a:t>避免死锁；</a:t>
            </a:r>
            <a:r>
              <a:rPr kumimoji="1" lang="en-US" altLang="zh-CN" dirty="0"/>
              <a:t>(3)</a:t>
            </a:r>
            <a:r>
              <a:rPr kumimoji="1" lang="zh-CN" altLang="en-US" dirty="0"/>
              <a:t>检测死锁；</a:t>
            </a:r>
            <a:r>
              <a:rPr kumimoji="1" lang="en-US" altLang="zh-CN" dirty="0"/>
              <a:t>(4)</a:t>
            </a:r>
            <a:r>
              <a:rPr kumimoji="1" lang="zh-CN" altLang="en-US" dirty="0"/>
              <a:t>解除死锁。</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6797635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预防死锁</a:t>
            </a:r>
          </a:p>
        </p:txBody>
      </p:sp>
      <p:sp>
        <p:nvSpPr>
          <p:cNvPr id="3" name="内容占位符 2"/>
          <p:cNvSpPr>
            <a:spLocks noGrp="1"/>
          </p:cNvSpPr>
          <p:nvPr>
            <p:ph idx="1"/>
          </p:nvPr>
        </p:nvSpPr>
        <p:spPr>
          <a:xfrm>
            <a:off x="838200" y="1510758"/>
            <a:ext cx="10515600" cy="5347242"/>
          </a:xfrm>
        </p:spPr>
        <p:txBody>
          <a:bodyPr>
            <a:normAutofit/>
          </a:bodyPr>
          <a:lstStyle/>
          <a:p>
            <a:pPr>
              <a:lnSpc>
                <a:spcPct val="120000"/>
              </a:lnSpc>
            </a:pPr>
            <a:r>
              <a:rPr kumimoji="1" lang="zh-CN" altLang="en-US" dirty="0"/>
              <a:t>破坏“请求和保持”条件</a:t>
            </a:r>
            <a:endParaRPr kumimoji="1" lang="en-US" altLang="zh-CN" sz="2000" dirty="0"/>
          </a:p>
          <a:p>
            <a:pPr marL="457200" lvl="1" indent="0" algn="just">
              <a:buNone/>
            </a:pPr>
            <a:r>
              <a:rPr kumimoji="1" lang="zh-CN" altLang="en-US" sz="2000" dirty="0"/>
              <a:t>        为能破坏“请求和保持”条件，系统必须保证做到：当一个进程在请求资源时，它不能持有不可抢占资源。该保证可通过如下两个不同的协议实现</a:t>
            </a:r>
            <a:endParaRPr kumimoji="1" lang="en-US" altLang="zh-CN" sz="2000" dirty="0"/>
          </a:p>
          <a:p>
            <a:pPr lvl="1">
              <a:buFont typeface="Wingdings" panose="05000000000000000000" pitchFamily="2" charset="2"/>
              <a:buChar char="ü"/>
            </a:pPr>
            <a:r>
              <a:rPr kumimoji="1" lang="zh-CN" altLang="en-US" dirty="0"/>
              <a:t>第一种协议</a:t>
            </a:r>
            <a:endParaRPr kumimoji="1" lang="en-US" altLang="zh-CN" dirty="0"/>
          </a:p>
          <a:p>
            <a:pPr marL="914400" lvl="2" indent="0" algn="just">
              <a:buNone/>
            </a:pPr>
            <a:r>
              <a:rPr kumimoji="1" lang="zh-CN" altLang="en-US" dirty="0"/>
              <a:t>协议规定所有进程在开始运行之前，必须一次性地申请其在整个运行过程中所需全部资源。</a:t>
            </a:r>
            <a:endParaRPr kumimoji="1" lang="en-US" altLang="zh-CN" dirty="0"/>
          </a:p>
          <a:p>
            <a:pPr lvl="1">
              <a:buFont typeface="Wingdings" panose="05000000000000000000" pitchFamily="2" charset="2"/>
              <a:buChar char="ü"/>
            </a:pPr>
            <a:r>
              <a:rPr kumimoji="1" lang="zh-CN" altLang="en-US" dirty="0"/>
              <a:t>第二种协议</a:t>
            </a:r>
            <a:endParaRPr kumimoji="1" lang="en-US" altLang="zh-CN" dirty="0"/>
          </a:p>
          <a:p>
            <a:pPr marL="914400" lvl="2" indent="0" algn="just">
              <a:buNone/>
            </a:pPr>
            <a:r>
              <a:rPr kumimoji="1" lang="zh-CN" altLang="en-US" dirty="0"/>
              <a:t>对第一种协议改进，允许一个进程只获得运行初期所需的资源后，便开始运行。</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6" name="文本框 5">
            <a:extLst>
              <a:ext uri="{FF2B5EF4-FFF2-40B4-BE49-F238E27FC236}">
                <a16:creationId xmlns:a16="http://schemas.microsoft.com/office/drawing/2014/main" id="{309AE994-8741-41B8-9E1A-8B1E378A3B9B}"/>
              </a:ext>
            </a:extLst>
          </p:cNvPr>
          <p:cNvSpPr txBox="1"/>
          <p:nvPr/>
        </p:nvSpPr>
        <p:spPr>
          <a:xfrm>
            <a:off x="1307508" y="5511452"/>
            <a:ext cx="9868767" cy="943207"/>
          </a:xfrm>
          <a:prstGeom prst="rect">
            <a:avLst/>
          </a:prstGeom>
          <a:noFill/>
        </p:spPr>
        <p:txBody>
          <a:bodyPr wrap="square">
            <a:spAutoFit/>
          </a:bodyPr>
          <a:lstStyle/>
          <a:p>
            <a:pPr marL="0" indent="0" algn="ctr">
              <a:lnSpc>
                <a:spcPct val="120000"/>
              </a:lnSpc>
              <a:buNone/>
            </a:pPr>
            <a:r>
              <a:rPr kumimoji="1" lang="zh-CN" altLang="en-US" sz="2400" b="1" dirty="0">
                <a:solidFill>
                  <a:srgbClr val="FF0000"/>
                </a:solidFill>
              </a:rPr>
              <a:t>互斥条件</a:t>
            </a:r>
            <a:r>
              <a:rPr kumimoji="1" lang="zh-CN" altLang="en-US" sz="2400" b="1" dirty="0"/>
              <a:t>是非共享设备所必须的，不仅</a:t>
            </a:r>
            <a:r>
              <a:rPr kumimoji="1" lang="zh-CN" altLang="en-US" sz="2400" b="1" dirty="0">
                <a:solidFill>
                  <a:srgbClr val="FF0000"/>
                </a:solidFill>
              </a:rPr>
              <a:t>不能改变</a:t>
            </a:r>
            <a:r>
              <a:rPr kumimoji="1" lang="zh-CN" altLang="en-US" sz="2400" b="1" dirty="0"/>
              <a:t>，还应</a:t>
            </a:r>
            <a:r>
              <a:rPr kumimoji="1" lang="zh-CN" altLang="en-US" sz="2400" b="1" dirty="0">
                <a:solidFill>
                  <a:srgbClr val="FF0000"/>
                </a:solidFill>
              </a:rPr>
              <a:t>加以保证</a:t>
            </a:r>
            <a:r>
              <a:rPr kumimoji="1" lang="zh-CN" altLang="en-US" sz="2400" b="1" dirty="0"/>
              <a:t>，因此主要是破坏产生死锁的后三个条件。</a:t>
            </a:r>
            <a:endParaRPr kumimoji="1" lang="en-US" altLang="zh-CN" sz="2400" b="1" dirty="0"/>
          </a:p>
        </p:txBody>
      </p:sp>
    </p:spTree>
    <p:extLst>
      <p:ext uri="{BB962C8B-B14F-4D97-AF65-F5344CB8AC3E}">
        <p14:creationId xmlns:p14="http://schemas.microsoft.com/office/powerpoint/2010/main" val="3506467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预防死锁</a:t>
            </a:r>
          </a:p>
        </p:txBody>
      </p:sp>
      <p:sp>
        <p:nvSpPr>
          <p:cNvPr id="3" name="内容占位符 2"/>
          <p:cNvSpPr>
            <a:spLocks noGrp="1"/>
          </p:cNvSpPr>
          <p:nvPr>
            <p:ph idx="1"/>
          </p:nvPr>
        </p:nvSpPr>
        <p:spPr>
          <a:xfrm>
            <a:off x="838200" y="1510758"/>
            <a:ext cx="10515600" cy="5347242"/>
          </a:xfrm>
        </p:spPr>
        <p:txBody>
          <a:bodyPr>
            <a:normAutofit/>
          </a:bodyPr>
          <a:lstStyle/>
          <a:p>
            <a:r>
              <a:rPr kumimoji="1" lang="zh-CN" altLang="en-US" dirty="0"/>
              <a:t>破坏“不可抢占”条件</a:t>
            </a:r>
            <a:endParaRPr kumimoji="1" lang="en-US" altLang="zh-CN" sz="2000" dirty="0"/>
          </a:p>
          <a:p>
            <a:pPr marL="457200" lvl="1" indent="0" algn="just">
              <a:buNone/>
            </a:pPr>
            <a:r>
              <a:rPr kumimoji="1" lang="zh-CN" altLang="en-US" sz="2000" dirty="0"/>
              <a:t>为了能破坏“不可抢占”条件，协议中规定，当一个已经保持了某些不可被抢占资源的进程，提出新的资源请求而不能得到满足时，它必须释放已经保持的所有资源，待以后需要时再重新申请。这意味着进程已占有的资源会被暂时地释放，或者说是被抢占了，从而破坏了“不可抢占”条件。</a:t>
            </a:r>
            <a:endParaRPr kumimoji="1" lang="en-US" altLang="zh-CN" sz="2000" dirty="0"/>
          </a:p>
          <a:p>
            <a:pPr>
              <a:lnSpc>
                <a:spcPct val="120000"/>
              </a:lnSpc>
            </a:pPr>
            <a:r>
              <a:rPr kumimoji="1" lang="zh-CN" altLang="en-US" dirty="0"/>
              <a:t>破坏“循环等待”条件</a:t>
            </a:r>
            <a:endParaRPr kumimoji="1" lang="en-US" altLang="zh-CN" dirty="0"/>
          </a:p>
          <a:p>
            <a:pPr marL="457200" lvl="1" indent="0" algn="just">
              <a:buNone/>
            </a:pPr>
            <a:r>
              <a:rPr kumimoji="1" lang="zh-CN" altLang="en-US" sz="2000" dirty="0"/>
              <a:t>一个能保证“循环等待”条件不成立的方法是，对系统所有资源类型进行线性排序，并赋予不同的序号。</a:t>
            </a:r>
            <a:endParaRPr kumimoji="1" lang="en-US" altLang="zh-CN" sz="2000"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8870532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避免死锁</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6" name="文本框 5">
            <a:extLst>
              <a:ext uri="{FF2B5EF4-FFF2-40B4-BE49-F238E27FC236}">
                <a16:creationId xmlns:a16="http://schemas.microsoft.com/office/drawing/2014/main" id="{0FE99794-DED4-4B3F-9B3D-0AC8C7107D2D}"/>
              </a:ext>
            </a:extLst>
          </p:cNvPr>
          <p:cNvSpPr txBox="1"/>
          <p:nvPr/>
        </p:nvSpPr>
        <p:spPr>
          <a:xfrm>
            <a:off x="477983" y="1778057"/>
            <a:ext cx="11242962" cy="1569660"/>
          </a:xfrm>
          <a:prstGeom prst="rect">
            <a:avLst/>
          </a:prstGeom>
          <a:noFill/>
        </p:spPr>
        <p:txBody>
          <a:bodyPr wrap="square">
            <a:spAutoFit/>
          </a:bodyPr>
          <a:lstStyle/>
          <a:p>
            <a:r>
              <a:rPr lang="zh-CN" altLang="en-US" sz="2400" dirty="0">
                <a:solidFill>
                  <a:schemeClr val="accent6">
                    <a:lumMod val="50000"/>
                  </a:schemeClr>
                </a:solidFill>
              </a:rPr>
              <a:t>         避免死锁同样是属于</a:t>
            </a:r>
            <a:r>
              <a:rPr lang="zh-CN" altLang="en-US" sz="2400" b="1" dirty="0">
                <a:solidFill>
                  <a:schemeClr val="accent6">
                    <a:lumMod val="50000"/>
                  </a:schemeClr>
                </a:solidFill>
              </a:rPr>
              <a:t>事先预防</a:t>
            </a:r>
            <a:r>
              <a:rPr lang="zh-CN" altLang="en-US" sz="2400" dirty="0">
                <a:solidFill>
                  <a:schemeClr val="accent6">
                    <a:lumMod val="50000"/>
                  </a:schemeClr>
                </a:solidFill>
              </a:rPr>
              <a:t>的策略，但并不是事先采取某种限制措施，破坏产生死锁的必要条件，而是在资源动态分配过程中，</a:t>
            </a:r>
            <a:r>
              <a:rPr lang="zh-CN" altLang="en-US" sz="2400" b="1" dirty="0">
                <a:solidFill>
                  <a:schemeClr val="accent6">
                    <a:lumMod val="50000"/>
                  </a:schemeClr>
                </a:solidFill>
              </a:rPr>
              <a:t>防止系统进入不安全状态</a:t>
            </a:r>
            <a:r>
              <a:rPr lang="zh-CN" altLang="en-US" sz="2400" dirty="0">
                <a:solidFill>
                  <a:schemeClr val="accent6">
                    <a:lumMod val="50000"/>
                  </a:schemeClr>
                </a:solidFill>
              </a:rPr>
              <a:t>，以避免发生死锁。这种方法所施加的限制条件较弱，可能获得较好的系统性能，目前常用此方法来避免发生死锁。</a:t>
            </a:r>
          </a:p>
        </p:txBody>
      </p:sp>
    </p:spTree>
    <p:extLst>
      <p:ext uri="{BB962C8B-B14F-4D97-AF65-F5344CB8AC3E}">
        <p14:creationId xmlns:p14="http://schemas.microsoft.com/office/powerpoint/2010/main" val="8355805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避免死锁</a:t>
            </a:r>
          </a:p>
        </p:txBody>
      </p:sp>
      <p:sp>
        <p:nvSpPr>
          <p:cNvPr id="3" name="内容占位符 2"/>
          <p:cNvSpPr>
            <a:spLocks noGrp="1"/>
          </p:cNvSpPr>
          <p:nvPr>
            <p:ph idx="1"/>
          </p:nvPr>
        </p:nvSpPr>
        <p:spPr>
          <a:xfrm>
            <a:off x="838200" y="1510758"/>
            <a:ext cx="10515600" cy="5347242"/>
          </a:xfrm>
        </p:spPr>
        <p:txBody>
          <a:bodyPr>
            <a:normAutofit/>
          </a:bodyPr>
          <a:lstStyle/>
          <a:p>
            <a:r>
              <a:rPr kumimoji="1" lang="zh-CN" altLang="en-US" dirty="0"/>
              <a:t>系统安全状态</a:t>
            </a:r>
            <a:endParaRPr kumimoji="1" lang="en-US" altLang="zh-CN" sz="2000" dirty="0"/>
          </a:p>
          <a:p>
            <a:pPr lvl="1">
              <a:buFont typeface="Wingdings" panose="05000000000000000000" pitchFamily="2" charset="2"/>
              <a:buChar char="ü"/>
            </a:pPr>
            <a:r>
              <a:rPr kumimoji="1" lang="zh-CN" altLang="en-US" dirty="0"/>
              <a:t>安全状态</a:t>
            </a:r>
            <a:endParaRPr kumimoji="1" lang="en-US" altLang="zh-CN" dirty="0"/>
          </a:p>
          <a:p>
            <a:pPr marL="914400" lvl="2" indent="0" algn="just">
              <a:buNone/>
            </a:pPr>
            <a:r>
              <a:rPr kumimoji="1" lang="zh-CN" altLang="en-US" dirty="0"/>
              <a:t>在该方法中，允许进程动态地申请资源，但系统在进行资源分配之前，应先计算此次资源分配的安全性。</a:t>
            </a:r>
            <a:endParaRPr kumimoji="1" lang="en-US" altLang="zh-CN" dirty="0"/>
          </a:p>
          <a:p>
            <a:pPr lvl="1">
              <a:buFont typeface="Wingdings" panose="05000000000000000000" pitchFamily="2" charset="2"/>
              <a:buChar char="ü"/>
            </a:pPr>
            <a:r>
              <a:rPr kumimoji="1" lang="zh-CN" altLang="en-US" dirty="0"/>
              <a:t>安全状态之例</a:t>
            </a:r>
            <a:endParaRPr kumimoji="1" lang="en-US" altLang="zh-CN" dirty="0"/>
          </a:p>
          <a:p>
            <a:pPr marL="914400" lvl="2" indent="0" algn="just">
              <a:buNone/>
            </a:pPr>
            <a:r>
              <a:rPr kumimoji="1" lang="zh-CN" altLang="en-US" dirty="0"/>
              <a:t>假定系统中有三个进程</a:t>
            </a:r>
            <a:r>
              <a:rPr kumimoji="1" lang="en-US" altLang="zh-CN" dirty="0"/>
              <a:t>P</a:t>
            </a:r>
            <a:r>
              <a:rPr kumimoji="1" lang="en-US" altLang="zh-CN" baseline="-25000" dirty="0"/>
              <a:t>1</a:t>
            </a:r>
            <a:r>
              <a:rPr kumimoji="1" lang="zh-CN" altLang="en-US" dirty="0"/>
              <a:t>、</a:t>
            </a:r>
            <a:r>
              <a:rPr kumimoji="1" lang="en-US" altLang="zh-CN" dirty="0"/>
              <a:t>P</a:t>
            </a:r>
            <a:r>
              <a:rPr kumimoji="1" lang="en-US" altLang="zh-CN" baseline="-25000" dirty="0"/>
              <a:t>2</a:t>
            </a:r>
            <a:r>
              <a:rPr kumimoji="1" lang="zh-CN" altLang="en-US" dirty="0"/>
              <a:t>和</a:t>
            </a:r>
            <a:r>
              <a:rPr kumimoji="1" lang="en-US" altLang="zh-CN" dirty="0"/>
              <a:t>P</a:t>
            </a:r>
            <a:r>
              <a:rPr kumimoji="1" lang="en-US" altLang="zh-CN" baseline="-25000" dirty="0"/>
              <a:t>3</a:t>
            </a:r>
            <a:r>
              <a:rPr kumimoji="1" lang="zh-CN" altLang="en-US" dirty="0"/>
              <a:t>，共</a:t>
            </a:r>
            <a:r>
              <a:rPr kumimoji="1" lang="en-US" altLang="zh-CN" dirty="0"/>
              <a:t>12</a:t>
            </a:r>
            <a:r>
              <a:rPr kumimoji="1" lang="zh-CN" altLang="en-US" dirty="0"/>
              <a:t>台磁带机。进程</a:t>
            </a:r>
            <a:r>
              <a:rPr kumimoji="1" lang="en-US" altLang="zh-CN" dirty="0"/>
              <a:t>P</a:t>
            </a:r>
            <a:r>
              <a:rPr kumimoji="1" lang="en-US" altLang="zh-CN" baseline="-25000" dirty="0"/>
              <a:t>1</a:t>
            </a:r>
            <a:r>
              <a:rPr kumimoji="1" lang="zh-CN" altLang="en-US" dirty="0"/>
              <a:t>需</a:t>
            </a:r>
            <a:r>
              <a:rPr kumimoji="1" lang="en-US" altLang="zh-CN" dirty="0"/>
              <a:t>10</a:t>
            </a:r>
            <a:r>
              <a:rPr kumimoji="1" lang="zh-CN" altLang="en-US" dirty="0"/>
              <a:t>台磁带机，</a:t>
            </a:r>
            <a:r>
              <a:rPr kumimoji="1" lang="en-US" altLang="zh-CN" dirty="0"/>
              <a:t>P</a:t>
            </a:r>
            <a:r>
              <a:rPr kumimoji="1" lang="en-US" altLang="zh-CN" baseline="-25000" dirty="0"/>
              <a:t>2</a:t>
            </a:r>
            <a:r>
              <a:rPr kumimoji="1" lang="zh-CN" altLang="en-US" dirty="0"/>
              <a:t>和</a:t>
            </a:r>
            <a:r>
              <a:rPr kumimoji="1" lang="en-US" altLang="zh-CN" dirty="0"/>
              <a:t>P</a:t>
            </a:r>
            <a:r>
              <a:rPr kumimoji="1" lang="en-US" altLang="zh-CN" baseline="-25000" dirty="0"/>
              <a:t>3</a:t>
            </a:r>
            <a:r>
              <a:rPr kumimoji="1" lang="zh-CN" altLang="en-US" dirty="0"/>
              <a:t>分别需</a:t>
            </a:r>
            <a:r>
              <a:rPr kumimoji="1" lang="en-US" altLang="zh-CN" dirty="0"/>
              <a:t>4</a:t>
            </a:r>
            <a:r>
              <a:rPr kumimoji="1" lang="zh-CN" altLang="en-US" dirty="0"/>
              <a:t>台和</a:t>
            </a:r>
            <a:r>
              <a:rPr kumimoji="1" lang="en-US" altLang="zh-CN" dirty="0"/>
              <a:t>9</a:t>
            </a:r>
            <a:r>
              <a:rPr kumimoji="1" lang="zh-CN" altLang="en-US" dirty="0"/>
              <a:t>台。假设在</a:t>
            </a:r>
            <a:r>
              <a:rPr kumimoji="1" lang="en-US" altLang="zh-CN" dirty="0"/>
              <a:t>T0</a:t>
            </a:r>
            <a:r>
              <a:rPr kumimoji="1" lang="zh-CN" altLang="en-US" dirty="0"/>
              <a:t>时刻，进程</a:t>
            </a:r>
            <a:r>
              <a:rPr kumimoji="1" lang="en-US" altLang="zh-CN" dirty="0"/>
              <a:t>P</a:t>
            </a:r>
            <a:r>
              <a:rPr kumimoji="1" lang="en-US" altLang="zh-CN" baseline="-25000" dirty="0"/>
              <a:t>1</a:t>
            </a:r>
            <a:r>
              <a:rPr kumimoji="1" lang="zh-CN" altLang="en-US" dirty="0"/>
              <a:t>、</a:t>
            </a:r>
            <a:r>
              <a:rPr kumimoji="1" lang="en-US" altLang="zh-CN" dirty="0"/>
              <a:t>P</a:t>
            </a:r>
            <a:r>
              <a:rPr kumimoji="1" lang="en-US" altLang="zh-CN" baseline="-25000" dirty="0"/>
              <a:t>2</a:t>
            </a:r>
            <a:r>
              <a:rPr kumimoji="1" lang="zh-CN" altLang="en-US" dirty="0"/>
              <a:t>和</a:t>
            </a:r>
            <a:r>
              <a:rPr kumimoji="1" lang="en-US" altLang="zh-CN" dirty="0"/>
              <a:t>P</a:t>
            </a:r>
            <a:r>
              <a:rPr kumimoji="1" lang="en-US" altLang="zh-CN" baseline="-25000" dirty="0"/>
              <a:t>3</a:t>
            </a:r>
            <a:r>
              <a:rPr kumimoji="1" lang="zh-CN" altLang="en-US" dirty="0"/>
              <a:t>已分别获得</a:t>
            </a:r>
            <a:r>
              <a:rPr kumimoji="1" lang="en-US" altLang="zh-CN" dirty="0"/>
              <a:t>5</a:t>
            </a:r>
            <a:r>
              <a:rPr kumimoji="1" lang="zh-CN" altLang="en-US" dirty="0"/>
              <a:t>、</a:t>
            </a:r>
            <a:r>
              <a:rPr kumimoji="1" lang="en-US" altLang="zh-CN" dirty="0"/>
              <a:t>2</a:t>
            </a:r>
            <a:r>
              <a:rPr kumimoji="1" lang="zh-CN" altLang="en-US" dirty="0"/>
              <a:t>和</a:t>
            </a:r>
            <a:r>
              <a:rPr kumimoji="1" lang="en-US" altLang="zh-CN" dirty="0"/>
              <a:t>2</a:t>
            </a:r>
            <a:r>
              <a:rPr kumimoji="1" lang="zh-CN" altLang="en-US" dirty="0"/>
              <a:t>台磁带机，尚有</a:t>
            </a:r>
            <a:r>
              <a:rPr kumimoji="1" lang="en-US" altLang="zh-CN" dirty="0"/>
              <a:t>3</a:t>
            </a:r>
            <a:r>
              <a:rPr kumimoji="1" lang="zh-CN" altLang="en-US" dirty="0"/>
              <a:t>台空闲未分配，如下表所示：</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7" name="Picture 4">
            <a:extLst>
              <a:ext uri="{FF2B5EF4-FFF2-40B4-BE49-F238E27FC236}">
                <a16:creationId xmlns:a16="http://schemas.microsoft.com/office/drawing/2014/main" id="{2A2E67B9-B116-4114-867E-A98CC8D9B6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945" y="5226050"/>
            <a:ext cx="8112826"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D0475435-9AE0-4835-B3A6-54D85CAA27A5}"/>
              </a:ext>
            </a:extLst>
          </p:cNvPr>
          <p:cNvSpPr txBox="1"/>
          <p:nvPr/>
        </p:nvSpPr>
        <p:spPr>
          <a:xfrm>
            <a:off x="4726131" y="1511599"/>
            <a:ext cx="6627669" cy="830997"/>
          </a:xfrm>
          <a:prstGeom prst="rect">
            <a:avLst/>
          </a:prstGeom>
          <a:noFill/>
        </p:spPr>
        <p:txBody>
          <a:bodyPr wrap="square">
            <a:spAutoFit/>
          </a:bodyPr>
          <a:lstStyle/>
          <a:p>
            <a:r>
              <a:rPr lang="zh-CN" altLang="en-US" sz="2400" b="1" dirty="0"/>
              <a:t>若不按照安全序列分配资源，则系统</a:t>
            </a:r>
            <a:r>
              <a:rPr lang="zh-CN" altLang="en-US" sz="2400" b="1" dirty="0">
                <a:solidFill>
                  <a:srgbClr val="FF0000"/>
                </a:solidFill>
              </a:rPr>
              <a:t>可能会由安全状态进入不安全状态。</a:t>
            </a:r>
          </a:p>
        </p:txBody>
      </p:sp>
    </p:spTree>
    <p:extLst>
      <p:ext uri="{BB962C8B-B14F-4D97-AF65-F5344CB8AC3E}">
        <p14:creationId xmlns:p14="http://schemas.microsoft.com/office/powerpoint/2010/main" val="37031982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避免死锁</a:t>
            </a:r>
          </a:p>
        </p:txBody>
      </p:sp>
      <p:sp>
        <p:nvSpPr>
          <p:cNvPr id="3" name="内容占位符 2"/>
          <p:cNvSpPr>
            <a:spLocks noGrp="1"/>
          </p:cNvSpPr>
          <p:nvPr>
            <p:ph idx="1"/>
          </p:nvPr>
        </p:nvSpPr>
        <p:spPr>
          <a:xfrm>
            <a:off x="838200" y="1510758"/>
            <a:ext cx="10515600" cy="5347242"/>
          </a:xfrm>
        </p:spPr>
        <p:txBody>
          <a:bodyPr>
            <a:normAutofit/>
          </a:bodyPr>
          <a:lstStyle/>
          <a:p>
            <a:r>
              <a:rPr kumimoji="1" lang="zh-CN" altLang="en-US" dirty="0"/>
              <a:t>银行家算法</a:t>
            </a:r>
            <a:endParaRPr kumimoji="1" lang="en-US" altLang="zh-CN" sz="2000" dirty="0"/>
          </a:p>
          <a:p>
            <a:pPr lvl="1">
              <a:buFont typeface="Wingdings" panose="05000000000000000000" pitchFamily="2" charset="2"/>
              <a:buChar char="ü"/>
            </a:pPr>
            <a:r>
              <a:rPr kumimoji="1" lang="zh-CN" altLang="en-US" dirty="0"/>
              <a:t>银行家算法中的数据结构</a:t>
            </a:r>
            <a:endParaRPr kumimoji="1" lang="en-US" altLang="zh-CN" dirty="0"/>
          </a:p>
          <a:p>
            <a:pPr marL="914400" lvl="2" indent="0" algn="just">
              <a:buNone/>
            </a:pPr>
            <a:r>
              <a:rPr kumimoji="1" lang="zh-CN" altLang="en-US" dirty="0"/>
              <a:t>为实现银行家算法，在系统中必须设置四个数据结构，分别用于描述系统中可利用的资源、所有进程对资源的最大需求、系统中的资源分配，以及所有进程还需要多少资源的情况：</a:t>
            </a:r>
            <a:r>
              <a:rPr kumimoji="1" lang="en-US" altLang="zh-CN" dirty="0">
                <a:sym typeface="Wingdings" panose="05000000000000000000" pitchFamily="2" charset="2"/>
              </a:rPr>
              <a:t>(1)</a:t>
            </a:r>
            <a:r>
              <a:rPr kumimoji="1" lang="zh-CN" altLang="en-US" dirty="0">
                <a:sym typeface="Wingdings" panose="05000000000000000000" pitchFamily="2" charset="2"/>
              </a:rPr>
              <a:t>可利用资源向量</a:t>
            </a:r>
            <a:r>
              <a:rPr kumimoji="1" lang="en-US" altLang="zh-CN" b="1" dirty="0">
                <a:solidFill>
                  <a:srgbClr val="FF0000"/>
                </a:solidFill>
                <a:sym typeface="Wingdings" panose="05000000000000000000" pitchFamily="2" charset="2"/>
              </a:rPr>
              <a:t>Available</a:t>
            </a:r>
            <a:r>
              <a:rPr kumimoji="1" lang="zh-CN" altLang="en-US" dirty="0">
                <a:sym typeface="Wingdings" panose="05000000000000000000" pitchFamily="2" charset="2"/>
              </a:rPr>
              <a:t>；</a:t>
            </a:r>
            <a:r>
              <a:rPr kumimoji="1" lang="en-US" altLang="zh-CN" dirty="0">
                <a:sym typeface="Wingdings" panose="05000000000000000000" pitchFamily="2" charset="2"/>
              </a:rPr>
              <a:t>(2)</a:t>
            </a:r>
            <a:r>
              <a:rPr kumimoji="1" lang="zh-CN" altLang="en-US" dirty="0">
                <a:sym typeface="Wingdings" panose="05000000000000000000" pitchFamily="2" charset="2"/>
              </a:rPr>
              <a:t>最大需求矩阵</a:t>
            </a:r>
            <a:r>
              <a:rPr kumimoji="1" lang="en-US" altLang="zh-CN" b="1" dirty="0">
                <a:solidFill>
                  <a:srgbClr val="FF0000"/>
                </a:solidFill>
                <a:sym typeface="Wingdings" panose="05000000000000000000" pitchFamily="2" charset="2"/>
              </a:rPr>
              <a:t>Max</a:t>
            </a:r>
            <a:r>
              <a:rPr kumimoji="1" lang="zh-CN" altLang="en-US" dirty="0">
                <a:sym typeface="Wingdings" panose="05000000000000000000" pitchFamily="2" charset="2"/>
              </a:rPr>
              <a:t>；</a:t>
            </a:r>
            <a:r>
              <a:rPr kumimoji="1" lang="en-US" altLang="zh-CN" dirty="0">
                <a:sym typeface="Wingdings" panose="05000000000000000000" pitchFamily="2" charset="2"/>
              </a:rPr>
              <a:t>(3)</a:t>
            </a:r>
            <a:r>
              <a:rPr kumimoji="1" lang="zh-CN" altLang="en-US" dirty="0">
                <a:sym typeface="Wingdings" panose="05000000000000000000" pitchFamily="2" charset="2"/>
              </a:rPr>
              <a:t>分配矩阵</a:t>
            </a:r>
            <a:r>
              <a:rPr kumimoji="1" lang="en-US" altLang="zh-CN" b="1" dirty="0">
                <a:solidFill>
                  <a:srgbClr val="FF0000"/>
                </a:solidFill>
                <a:sym typeface="Wingdings" panose="05000000000000000000" pitchFamily="2" charset="2"/>
              </a:rPr>
              <a:t>Allocation</a:t>
            </a:r>
            <a:r>
              <a:rPr kumimoji="1" lang="zh-CN" altLang="en-US" dirty="0">
                <a:sym typeface="Wingdings" panose="05000000000000000000" pitchFamily="2" charset="2"/>
              </a:rPr>
              <a:t>；</a:t>
            </a:r>
            <a:r>
              <a:rPr kumimoji="1" lang="en-US" altLang="zh-CN" dirty="0">
                <a:sym typeface="Wingdings" panose="05000000000000000000" pitchFamily="2" charset="2"/>
              </a:rPr>
              <a:t>(4)</a:t>
            </a:r>
            <a:r>
              <a:rPr kumimoji="1" lang="zh-CN" altLang="en-US" dirty="0">
                <a:sym typeface="Wingdings" panose="05000000000000000000" pitchFamily="2" charset="2"/>
              </a:rPr>
              <a:t>需求矩阵</a:t>
            </a:r>
            <a:r>
              <a:rPr kumimoji="1" lang="en-US" altLang="zh-CN" b="1" dirty="0">
                <a:solidFill>
                  <a:srgbClr val="FF0000"/>
                </a:solidFill>
                <a:sym typeface="Wingdings" panose="05000000000000000000" pitchFamily="2" charset="2"/>
              </a:rPr>
              <a:t>Need</a:t>
            </a:r>
            <a:r>
              <a:rPr kumimoji="1" lang="zh-CN" altLang="en-US" dirty="0">
                <a:sym typeface="Wingdings" panose="05000000000000000000" pitchFamily="2" charset="2"/>
              </a:rPr>
              <a:t>。</a:t>
            </a:r>
            <a:endParaRPr kumimoji="1" lang="en-US" altLang="zh-CN" dirty="0"/>
          </a:p>
          <a:p>
            <a:pPr lvl="1">
              <a:buFont typeface="Wingdings" panose="05000000000000000000" pitchFamily="2" charset="2"/>
              <a:buChar char="ü"/>
            </a:pPr>
            <a:endParaRPr kumimoji="1" lang="en-US" altLang="zh-CN" dirty="0"/>
          </a:p>
          <a:p>
            <a:pPr marL="914400" lvl="2" indent="0" algn="just">
              <a:buNone/>
            </a:pP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9" name="文本框 8">
            <a:extLst>
              <a:ext uri="{FF2B5EF4-FFF2-40B4-BE49-F238E27FC236}">
                <a16:creationId xmlns:a16="http://schemas.microsoft.com/office/drawing/2014/main" id="{DC4806C4-47E5-41FF-BCC0-6B2D642DE188}"/>
              </a:ext>
            </a:extLst>
          </p:cNvPr>
          <p:cNvSpPr txBox="1"/>
          <p:nvPr/>
        </p:nvSpPr>
        <p:spPr>
          <a:xfrm>
            <a:off x="2790340" y="4816001"/>
            <a:ext cx="6899997" cy="830997"/>
          </a:xfrm>
          <a:prstGeom prst="rect">
            <a:avLst/>
          </a:prstGeom>
          <a:noFill/>
        </p:spPr>
        <p:txBody>
          <a:bodyPr wrap="square">
            <a:spAutoFit/>
          </a:bodyPr>
          <a:lstStyle/>
          <a:p>
            <a:r>
              <a:rPr kumimoji="1" lang="zh-CN" altLang="en-US" sz="2400" dirty="0">
                <a:solidFill>
                  <a:schemeClr val="bg2">
                    <a:lumMod val="10000"/>
                  </a:schemeClr>
                </a:solidFill>
              </a:rPr>
              <a:t>该算法原为银行系统设计，以确保银行在发放现金贷款时不会发生不能满足所有客户需要的情况。</a:t>
            </a:r>
            <a:endParaRPr lang="zh-CN" altLang="en-US" sz="2400" dirty="0">
              <a:solidFill>
                <a:schemeClr val="bg2">
                  <a:lumMod val="10000"/>
                </a:schemeClr>
              </a:solidFill>
            </a:endParaRPr>
          </a:p>
        </p:txBody>
      </p:sp>
    </p:spTree>
    <p:extLst>
      <p:ext uri="{BB962C8B-B14F-4D97-AF65-F5344CB8AC3E}">
        <p14:creationId xmlns:p14="http://schemas.microsoft.com/office/powerpoint/2010/main" val="42912515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避免死锁</a:t>
            </a:r>
          </a:p>
        </p:txBody>
      </p:sp>
      <p:sp>
        <p:nvSpPr>
          <p:cNvPr id="3" name="内容占位符 2"/>
          <p:cNvSpPr>
            <a:spLocks noGrp="1"/>
          </p:cNvSpPr>
          <p:nvPr>
            <p:ph idx="1"/>
          </p:nvPr>
        </p:nvSpPr>
        <p:spPr>
          <a:xfrm>
            <a:off x="838200" y="1348579"/>
            <a:ext cx="10515600" cy="5544669"/>
          </a:xfrm>
        </p:spPr>
        <p:txBody>
          <a:bodyPr>
            <a:normAutofit/>
          </a:bodyPr>
          <a:lstStyle/>
          <a:p>
            <a:r>
              <a:rPr kumimoji="1" lang="zh-CN" altLang="en-US" dirty="0"/>
              <a:t>银行家算法</a:t>
            </a:r>
            <a:endParaRPr kumimoji="1" lang="en-US" altLang="zh-CN" sz="2000" dirty="0"/>
          </a:p>
          <a:p>
            <a:pPr lvl="1">
              <a:buFont typeface="Wingdings" panose="05000000000000000000" pitchFamily="2" charset="2"/>
              <a:buChar char="ü"/>
            </a:pPr>
            <a:r>
              <a:rPr kumimoji="1" lang="zh-CN" altLang="en-US" dirty="0"/>
              <a:t>算法步骤</a:t>
            </a:r>
            <a:endParaRPr kumimoji="1" lang="en-US" altLang="zh-CN" dirty="0"/>
          </a:p>
          <a:p>
            <a:pPr marL="914400" lvl="2" indent="0" algn="just">
              <a:spcBef>
                <a:spcPts val="0"/>
              </a:spcBef>
              <a:buNone/>
            </a:pPr>
            <a:r>
              <a:rPr kumimoji="1" lang="zh-CN" altLang="en-US" dirty="0"/>
              <a:t>设</a:t>
            </a:r>
            <a:r>
              <a:rPr kumimoji="1" lang="en-US" altLang="zh-CN" dirty="0"/>
              <a:t>Request</a:t>
            </a:r>
            <a:r>
              <a:rPr kumimoji="1" lang="en-US" altLang="zh-CN" baseline="-25000" dirty="0"/>
              <a:t>i</a:t>
            </a:r>
            <a:r>
              <a:rPr kumimoji="1" lang="zh-CN" altLang="en-US" dirty="0"/>
              <a:t>是进程</a:t>
            </a:r>
            <a:r>
              <a:rPr kumimoji="1" lang="en-US" altLang="zh-CN" dirty="0"/>
              <a:t>P</a:t>
            </a:r>
            <a:r>
              <a:rPr kumimoji="1" lang="en-US" altLang="zh-CN" baseline="-25000" dirty="0"/>
              <a:t>i</a:t>
            </a:r>
            <a:r>
              <a:rPr kumimoji="1" lang="zh-CN" altLang="en-US" dirty="0"/>
              <a:t>的请求向量，如果</a:t>
            </a:r>
            <a:r>
              <a:rPr kumimoji="1" lang="en-US" altLang="zh-CN" dirty="0"/>
              <a:t>Request</a:t>
            </a:r>
            <a:r>
              <a:rPr kumimoji="1" lang="en-US" altLang="zh-CN" baseline="-25000" dirty="0"/>
              <a:t>i</a:t>
            </a:r>
            <a:r>
              <a:rPr kumimoji="1" lang="en-US" altLang="zh-CN" dirty="0"/>
              <a:t>[j]=K</a:t>
            </a:r>
            <a:r>
              <a:rPr kumimoji="1" lang="zh-CN" altLang="en-US" dirty="0"/>
              <a:t>，表示进程</a:t>
            </a:r>
            <a:r>
              <a:rPr kumimoji="1" lang="en-US" altLang="zh-CN" dirty="0"/>
              <a:t>P</a:t>
            </a:r>
            <a:r>
              <a:rPr kumimoji="1" lang="en-US" altLang="zh-CN" baseline="-25000" dirty="0"/>
              <a:t>i</a:t>
            </a:r>
            <a:r>
              <a:rPr kumimoji="1" lang="zh-CN" altLang="en-US" dirty="0"/>
              <a:t>需要</a:t>
            </a:r>
            <a:r>
              <a:rPr kumimoji="1" lang="en-US" altLang="zh-CN" dirty="0"/>
              <a:t>K</a:t>
            </a:r>
            <a:r>
              <a:rPr kumimoji="1" lang="zh-CN" altLang="en-US" dirty="0"/>
              <a:t>个</a:t>
            </a:r>
            <a:r>
              <a:rPr kumimoji="1" lang="en-US" altLang="zh-CN" dirty="0"/>
              <a:t>R</a:t>
            </a:r>
            <a:r>
              <a:rPr kumimoji="1" lang="en-US" altLang="zh-CN" baseline="-25000" dirty="0"/>
              <a:t>j</a:t>
            </a:r>
            <a:r>
              <a:rPr kumimoji="1" lang="zh-CN" altLang="en-US" dirty="0"/>
              <a:t>类型的资源。当</a:t>
            </a:r>
            <a:r>
              <a:rPr kumimoji="1" lang="en-US" altLang="zh-CN" dirty="0"/>
              <a:t>P</a:t>
            </a:r>
            <a:r>
              <a:rPr kumimoji="1" lang="en-US" altLang="zh-CN" baseline="-25000" dirty="0"/>
              <a:t>i</a:t>
            </a:r>
            <a:r>
              <a:rPr kumimoji="1" lang="zh-CN" altLang="en-US" dirty="0"/>
              <a:t>发出资源请求后，系统按下述步骤进行检查：</a:t>
            </a:r>
            <a:endParaRPr kumimoji="1" lang="en-US" altLang="zh-CN" dirty="0"/>
          </a:p>
          <a:p>
            <a:pPr marL="914400" lvl="2" indent="0" algn="just">
              <a:spcBef>
                <a:spcPts val="0"/>
              </a:spcBef>
              <a:buNone/>
            </a:pPr>
            <a:r>
              <a:rPr kumimoji="1" lang="en-US" altLang="zh-CN" dirty="0"/>
              <a:t>(1)</a:t>
            </a:r>
            <a:r>
              <a:rPr kumimoji="1" lang="zh-CN" altLang="en-US" dirty="0"/>
              <a:t>如果</a:t>
            </a:r>
            <a:r>
              <a:rPr kumimoji="1" lang="en-US" altLang="zh-CN" b="1" dirty="0">
                <a:solidFill>
                  <a:srgbClr val="FF0000"/>
                </a:solidFill>
              </a:rPr>
              <a:t>Request</a:t>
            </a:r>
            <a:r>
              <a:rPr kumimoji="1" lang="en-US" altLang="zh-CN" b="1" baseline="-25000" dirty="0">
                <a:solidFill>
                  <a:srgbClr val="FF0000"/>
                </a:solidFill>
              </a:rPr>
              <a:t>i</a:t>
            </a:r>
            <a:r>
              <a:rPr kumimoji="1" lang="en-US" altLang="zh-CN" b="1" dirty="0">
                <a:solidFill>
                  <a:srgbClr val="FF0000"/>
                </a:solidFill>
              </a:rPr>
              <a:t>[j]≤Need[i, j]</a:t>
            </a:r>
            <a:r>
              <a:rPr kumimoji="1" lang="zh-CN" altLang="en-US" dirty="0"/>
              <a:t>，便转向步骤</a:t>
            </a:r>
            <a:r>
              <a:rPr kumimoji="1" lang="en-US" altLang="zh-CN" dirty="0"/>
              <a:t>(2)</a:t>
            </a:r>
            <a:r>
              <a:rPr kumimoji="1" lang="zh-CN" altLang="en-US" dirty="0"/>
              <a:t>，否则认为出错，因为它所需要的资源数已超过它所宣布的最大值；</a:t>
            </a:r>
            <a:endParaRPr kumimoji="1" lang="en-US" altLang="zh-CN" dirty="0"/>
          </a:p>
          <a:p>
            <a:pPr marL="914400" lvl="2" indent="0" algn="just">
              <a:spcBef>
                <a:spcPts val="0"/>
              </a:spcBef>
              <a:buNone/>
            </a:pPr>
            <a:r>
              <a:rPr kumimoji="1" lang="en-US" altLang="zh-CN" dirty="0"/>
              <a:t>(2)</a:t>
            </a:r>
            <a:r>
              <a:rPr kumimoji="1" lang="zh-CN" altLang="en-US" dirty="0"/>
              <a:t>如果</a:t>
            </a:r>
            <a:r>
              <a:rPr kumimoji="1" lang="en-US" altLang="zh-CN" b="1" dirty="0">
                <a:solidFill>
                  <a:srgbClr val="FF0000"/>
                </a:solidFill>
              </a:rPr>
              <a:t>Request</a:t>
            </a:r>
            <a:r>
              <a:rPr kumimoji="1" lang="en-US" altLang="zh-CN" b="1" baseline="-25000" dirty="0">
                <a:solidFill>
                  <a:srgbClr val="FF0000"/>
                </a:solidFill>
              </a:rPr>
              <a:t>i</a:t>
            </a:r>
            <a:r>
              <a:rPr kumimoji="1" lang="en-US" altLang="zh-CN" b="1" dirty="0">
                <a:solidFill>
                  <a:srgbClr val="FF0000"/>
                </a:solidFill>
              </a:rPr>
              <a:t>[j]≤Available[j]</a:t>
            </a:r>
            <a:r>
              <a:rPr kumimoji="1" lang="zh-CN" altLang="en-US" dirty="0"/>
              <a:t>，便转向步骤</a:t>
            </a:r>
            <a:r>
              <a:rPr kumimoji="1" lang="en-US" altLang="zh-CN" dirty="0"/>
              <a:t>(3)</a:t>
            </a:r>
            <a:r>
              <a:rPr kumimoji="1" lang="zh-CN" altLang="en-US" dirty="0"/>
              <a:t>，否则表示尚无足够资源，</a:t>
            </a:r>
            <a:r>
              <a:rPr kumimoji="1" lang="en-US" altLang="zh-CN" dirty="0"/>
              <a:t>P</a:t>
            </a:r>
            <a:r>
              <a:rPr kumimoji="1" lang="en-US" altLang="zh-CN" baseline="-25000" dirty="0"/>
              <a:t>i</a:t>
            </a:r>
            <a:r>
              <a:rPr kumimoji="1" lang="zh-CN" altLang="en-US" dirty="0"/>
              <a:t>须等待；</a:t>
            </a:r>
            <a:endParaRPr kumimoji="1" lang="en-US" altLang="zh-CN" dirty="0"/>
          </a:p>
          <a:p>
            <a:pPr marL="914400" lvl="2" indent="0" algn="just">
              <a:spcBef>
                <a:spcPts val="0"/>
              </a:spcBef>
              <a:buNone/>
            </a:pPr>
            <a:r>
              <a:rPr kumimoji="1" lang="en-US" altLang="zh-CN" dirty="0"/>
              <a:t>(3)</a:t>
            </a:r>
            <a:r>
              <a:rPr kumimoji="1" lang="zh-CN" altLang="en-US" dirty="0"/>
              <a:t>系统试探着把资源分配给进程</a:t>
            </a:r>
            <a:r>
              <a:rPr kumimoji="1" lang="en-US" altLang="zh-CN" dirty="0"/>
              <a:t>P</a:t>
            </a:r>
            <a:r>
              <a:rPr kumimoji="1" lang="en-US" altLang="zh-CN" baseline="-25000" dirty="0"/>
              <a:t>i</a:t>
            </a:r>
            <a:r>
              <a:rPr kumimoji="1" lang="zh-CN" altLang="en-US" dirty="0"/>
              <a:t>，并修改下面数据结构中的数值</a:t>
            </a:r>
            <a:endParaRPr kumimoji="1" lang="en-US" altLang="zh-CN" dirty="0"/>
          </a:p>
          <a:p>
            <a:pPr marL="914400" lvl="2" indent="0" algn="just">
              <a:spcBef>
                <a:spcPts val="0"/>
              </a:spcBef>
              <a:buNone/>
            </a:pPr>
            <a:r>
              <a:rPr lang="en-US" altLang="zh-CN" dirty="0"/>
              <a:t>        Available[j]=Available[j]-</a:t>
            </a:r>
            <a:r>
              <a:rPr kumimoji="1" lang="en-US" altLang="zh-CN" dirty="0"/>
              <a:t>Request</a:t>
            </a:r>
            <a:r>
              <a:rPr kumimoji="1" lang="en-US" altLang="zh-CN" baseline="-25000" dirty="0"/>
              <a:t>i</a:t>
            </a:r>
            <a:r>
              <a:rPr lang="en-US" altLang="zh-CN" dirty="0"/>
              <a:t>[j]</a:t>
            </a:r>
            <a:r>
              <a:rPr lang="zh-CN" altLang="en-US" dirty="0"/>
              <a:t>；</a:t>
            </a:r>
            <a:endParaRPr lang="en-US" altLang="zh-CN" dirty="0"/>
          </a:p>
          <a:p>
            <a:pPr marL="914400" lvl="2" indent="0" algn="just">
              <a:spcBef>
                <a:spcPts val="0"/>
              </a:spcBef>
              <a:buNone/>
            </a:pPr>
            <a:r>
              <a:rPr lang="en-US" altLang="zh-CN" dirty="0"/>
              <a:t>        Allocation[i, j]=Allocation[i, j]+</a:t>
            </a:r>
            <a:r>
              <a:rPr kumimoji="1" lang="en-US" altLang="zh-CN" dirty="0"/>
              <a:t>Request</a:t>
            </a:r>
            <a:r>
              <a:rPr kumimoji="1" lang="en-US" altLang="zh-CN" baseline="-25000" dirty="0"/>
              <a:t>i</a:t>
            </a:r>
            <a:r>
              <a:rPr lang="en-US" altLang="zh-CN" dirty="0"/>
              <a:t>[j]</a:t>
            </a:r>
            <a:r>
              <a:rPr lang="zh-CN" altLang="en-US" dirty="0"/>
              <a:t>；</a:t>
            </a:r>
            <a:endParaRPr lang="en-US" altLang="zh-CN" dirty="0"/>
          </a:p>
          <a:p>
            <a:pPr marL="914400" lvl="2" indent="0" algn="just">
              <a:spcBef>
                <a:spcPts val="0"/>
              </a:spcBef>
              <a:buNone/>
            </a:pPr>
            <a:r>
              <a:rPr lang="en-US" altLang="zh-CN" dirty="0"/>
              <a:t>        Need[i, j]=Need[i, j]-</a:t>
            </a:r>
            <a:r>
              <a:rPr kumimoji="1" lang="en-US" altLang="zh-CN" dirty="0"/>
              <a:t>Request</a:t>
            </a:r>
            <a:r>
              <a:rPr kumimoji="1" lang="en-US" altLang="zh-CN" baseline="-25000" dirty="0"/>
              <a:t>i</a:t>
            </a:r>
            <a:r>
              <a:rPr lang="en-US" altLang="zh-CN" dirty="0"/>
              <a:t>[j]</a:t>
            </a:r>
            <a:r>
              <a:rPr lang="zh-CN" altLang="en-US" dirty="0"/>
              <a:t>；</a:t>
            </a:r>
            <a:endParaRPr kumimoji="1" lang="en-US" altLang="zh-CN" dirty="0"/>
          </a:p>
          <a:p>
            <a:pPr marL="914400" lvl="2" indent="0" algn="just">
              <a:spcBef>
                <a:spcPts val="0"/>
              </a:spcBef>
              <a:buNone/>
            </a:pPr>
            <a:r>
              <a:rPr kumimoji="1" lang="en-US" altLang="zh-CN" dirty="0"/>
              <a:t>(4)</a:t>
            </a:r>
            <a:r>
              <a:rPr kumimoji="1" lang="zh-CN" altLang="en-US" dirty="0"/>
              <a:t>系统执行安全性算法，检查此次资源分配后系统是否处于安全状态。若安全，才正式将资源分配给进程</a:t>
            </a:r>
            <a:r>
              <a:rPr kumimoji="1" lang="en-US" altLang="zh-CN" dirty="0"/>
              <a:t>P</a:t>
            </a:r>
            <a:r>
              <a:rPr kumimoji="1" lang="en-US" altLang="zh-CN" baseline="-25000" dirty="0"/>
              <a:t>i</a:t>
            </a:r>
            <a:r>
              <a:rPr kumimoji="1" lang="zh-CN" altLang="en-US" dirty="0"/>
              <a:t>，以完成本次分配；否则，将本次的试探分配作废，恢复原来的资源分配状态，让进程</a:t>
            </a:r>
            <a:r>
              <a:rPr kumimoji="1" lang="en-US" altLang="zh-CN" dirty="0"/>
              <a:t>P</a:t>
            </a:r>
            <a:r>
              <a:rPr kumimoji="1" lang="en-US" altLang="zh-CN" baseline="-25000" dirty="0"/>
              <a:t>i</a:t>
            </a:r>
            <a:r>
              <a:rPr kumimoji="1" lang="zh-CN" altLang="en-US" dirty="0"/>
              <a:t>等待</a:t>
            </a:r>
            <a:endParaRPr kumimoji="1" lang="en-US" altLang="zh-CN" dirty="0"/>
          </a:p>
          <a:p>
            <a:pPr marL="914400" lvl="2" indent="0" algn="just">
              <a:buNone/>
            </a:pP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7830559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避免死锁</a:t>
            </a:r>
          </a:p>
        </p:txBody>
      </p:sp>
      <p:sp>
        <p:nvSpPr>
          <p:cNvPr id="3" name="内容占位符 2"/>
          <p:cNvSpPr>
            <a:spLocks noGrp="1"/>
          </p:cNvSpPr>
          <p:nvPr>
            <p:ph idx="1"/>
          </p:nvPr>
        </p:nvSpPr>
        <p:spPr>
          <a:xfrm>
            <a:off x="838200" y="1348579"/>
            <a:ext cx="10515600" cy="5544669"/>
          </a:xfrm>
        </p:spPr>
        <p:txBody>
          <a:bodyPr>
            <a:normAutofit/>
          </a:bodyPr>
          <a:lstStyle/>
          <a:p>
            <a:r>
              <a:rPr kumimoji="1" lang="zh-CN" altLang="en-US" dirty="0"/>
              <a:t>银行家算法</a:t>
            </a:r>
            <a:endParaRPr kumimoji="1" lang="en-US" altLang="zh-CN" sz="2000" dirty="0"/>
          </a:p>
          <a:p>
            <a:pPr lvl="1">
              <a:buFont typeface="Wingdings" panose="05000000000000000000" pitchFamily="2" charset="2"/>
              <a:buChar char="ü"/>
            </a:pPr>
            <a:r>
              <a:rPr kumimoji="1" lang="zh-CN" altLang="en-US" dirty="0"/>
              <a:t>安全性算法</a:t>
            </a:r>
            <a:endParaRPr kumimoji="1" lang="en-US" altLang="zh-CN" dirty="0"/>
          </a:p>
          <a:p>
            <a:pPr marL="914400" lvl="2" indent="0" algn="just">
              <a:spcBef>
                <a:spcPts val="0"/>
              </a:spcBef>
              <a:buNone/>
            </a:pPr>
            <a:r>
              <a:rPr kumimoji="1" lang="zh-CN" altLang="en-US" dirty="0"/>
              <a:t>系统所执行的安全性算法可描述如下：</a:t>
            </a:r>
            <a:endParaRPr kumimoji="1" lang="en-US" altLang="zh-CN" dirty="0"/>
          </a:p>
          <a:p>
            <a:pPr marL="914400" lvl="2" indent="0" algn="just">
              <a:spcBef>
                <a:spcPts val="0"/>
              </a:spcBef>
              <a:buNone/>
            </a:pPr>
            <a:r>
              <a:rPr kumimoji="1" lang="en-US" altLang="zh-CN" dirty="0"/>
              <a:t>(1)</a:t>
            </a:r>
            <a:r>
              <a:rPr kumimoji="1" lang="zh-CN" altLang="en-US" dirty="0"/>
              <a:t>设置两个向量：①工作向量</a:t>
            </a:r>
            <a:r>
              <a:rPr kumimoji="1" lang="en-US" altLang="zh-CN" dirty="0"/>
              <a:t>Work</a:t>
            </a:r>
            <a:r>
              <a:rPr kumimoji="1" lang="zh-CN" altLang="en-US" dirty="0"/>
              <a:t>表示系统可提供给进程继续运行所需的各类资源数目，它含有</a:t>
            </a:r>
            <a:r>
              <a:rPr kumimoji="1" lang="en-US" altLang="zh-CN" dirty="0"/>
              <a:t>m</a:t>
            </a:r>
            <a:r>
              <a:rPr kumimoji="1" lang="zh-CN" altLang="en-US" dirty="0"/>
              <a:t>个元素，在执行安全算法开始时，</a:t>
            </a:r>
            <a:r>
              <a:rPr kumimoji="1" lang="en-US" altLang="zh-CN" b="1" dirty="0">
                <a:solidFill>
                  <a:srgbClr val="FF0000"/>
                </a:solidFill>
              </a:rPr>
              <a:t>Work:=Available</a:t>
            </a:r>
            <a:r>
              <a:rPr kumimoji="1" lang="zh-CN" altLang="en-US" dirty="0"/>
              <a:t>；②</a:t>
            </a:r>
            <a:r>
              <a:rPr kumimoji="1" lang="en-US" altLang="zh-CN" dirty="0"/>
              <a:t>Finish</a:t>
            </a:r>
            <a:r>
              <a:rPr kumimoji="1" lang="zh-CN" altLang="en-US" dirty="0"/>
              <a:t>表示系统是否有足够的资源分配给进程，使之运行完成。开始时先做</a:t>
            </a:r>
            <a:r>
              <a:rPr kumimoji="1" lang="en-US" altLang="zh-CN" b="1" dirty="0">
                <a:solidFill>
                  <a:srgbClr val="FF0000"/>
                </a:solidFill>
              </a:rPr>
              <a:t>Finish[i]:=false</a:t>
            </a:r>
            <a:r>
              <a:rPr kumimoji="1" lang="zh-CN" altLang="en-US" dirty="0"/>
              <a:t>；当有足够资源分配给进程时，再令</a:t>
            </a:r>
            <a:r>
              <a:rPr kumimoji="1" lang="en-US" altLang="zh-CN" b="1" dirty="0">
                <a:solidFill>
                  <a:srgbClr val="FF0000"/>
                </a:solidFill>
              </a:rPr>
              <a:t>Finish[i]:=true</a:t>
            </a:r>
            <a:r>
              <a:rPr kumimoji="1" lang="zh-CN" altLang="en-US" dirty="0"/>
              <a:t>；</a:t>
            </a:r>
            <a:endParaRPr kumimoji="1" lang="en-US" altLang="zh-CN" dirty="0"/>
          </a:p>
          <a:p>
            <a:pPr marL="914400" lvl="2" indent="0" algn="just">
              <a:spcBef>
                <a:spcPts val="0"/>
              </a:spcBef>
              <a:buNone/>
            </a:pPr>
            <a:r>
              <a:rPr kumimoji="1" lang="en-US" altLang="zh-CN" dirty="0"/>
              <a:t>(2)</a:t>
            </a:r>
            <a:r>
              <a:rPr kumimoji="1" lang="zh-CN" altLang="en-US" dirty="0"/>
              <a:t>从进程集合中找到一个能满足条件的进程：</a:t>
            </a:r>
            <a:r>
              <a:rPr kumimoji="1" lang="zh-CN" altLang="en-US" b="1" dirty="0">
                <a:solidFill>
                  <a:srgbClr val="FF0000"/>
                </a:solidFill>
              </a:rPr>
              <a:t>①</a:t>
            </a:r>
            <a:r>
              <a:rPr kumimoji="1" lang="en-US" altLang="zh-CN" b="1" dirty="0">
                <a:solidFill>
                  <a:srgbClr val="FF0000"/>
                </a:solidFill>
              </a:rPr>
              <a:t>Finish[i]=false</a:t>
            </a:r>
            <a:r>
              <a:rPr kumimoji="1" lang="zh-CN" altLang="en-US" b="1" dirty="0">
                <a:solidFill>
                  <a:srgbClr val="FF0000"/>
                </a:solidFill>
              </a:rPr>
              <a:t>；②</a:t>
            </a:r>
            <a:r>
              <a:rPr kumimoji="1" lang="en-US" altLang="zh-CN" b="1" dirty="0">
                <a:solidFill>
                  <a:srgbClr val="FF0000"/>
                </a:solidFill>
              </a:rPr>
              <a:t>Need[i, j]≤Work[j]</a:t>
            </a:r>
            <a:r>
              <a:rPr kumimoji="1" lang="zh-CN" altLang="en-US" dirty="0"/>
              <a:t>，若找到执行步骤</a:t>
            </a:r>
            <a:r>
              <a:rPr kumimoji="1" lang="en-US" altLang="zh-CN" dirty="0"/>
              <a:t>(3)</a:t>
            </a:r>
            <a:r>
              <a:rPr kumimoji="1" lang="zh-CN" altLang="en-US" dirty="0"/>
              <a:t>，否则执行步骤</a:t>
            </a:r>
            <a:r>
              <a:rPr kumimoji="1" lang="en-US" altLang="zh-CN" dirty="0"/>
              <a:t>(4)</a:t>
            </a:r>
            <a:r>
              <a:rPr kumimoji="1" lang="zh-CN" altLang="en-US" dirty="0"/>
              <a:t>；</a:t>
            </a:r>
            <a:endParaRPr kumimoji="1" lang="en-US" altLang="zh-CN" dirty="0"/>
          </a:p>
          <a:p>
            <a:pPr marL="914400" lvl="2" indent="0" algn="just">
              <a:spcBef>
                <a:spcPts val="0"/>
              </a:spcBef>
              <a:buNone/>
            </a:pPr>
            <a:r>
              <a:rPr kumimoji="1" lang="en-US" altLang="zh-CN" dirty="0"/>
              <a:t>(3)</a:t>
            </a:r>
            <a:r>
              <a:rPr kumimoji="1" lang="zh-CN" altLang="en-US" dirty="0"/>
              <a:t>当进程</a:t>
            </a:r>
            <a:r>
              <a:rPr kumimoji="1" lang="en-US" altLang="zh-CN" dirty="0"/>
              <a:t>P</a:t>
            </a:r>
            <a:r>
              <a:rPr kumimoji="1" lang="en-US" altLang="zh-CN" baseline="-25000" dirty="0"/>
              <a:t>i</a:t>
            </a:r>
            <a:r>
              <a:rPr kumimoji="1" lang="zh-CN" altLang="en-US" dirty="0"/>
              <a:t>获得资源后，可顺利执行，直至完成，并释放出分配给它的资源，故应执行：</a:t>
            </a:r>
            <a:r>
              <a:rPr kumimoji="1" lang="en-US" altLang="zh-CN" b="1" dirty="0">
                <a:solidFill>
                  <a:srgbClr val="FF0000"/>
                </a:solidFill>
              </a:rPr>
              <a:t>Work[j]=Work[j]+Allocation[i, j]</a:t>
            </a:r>
            <a:r>
              <a:rPr kumimoji="1" lang="zh-CN" altLang="en-US" b="1" dirty="0">
                <a:solidFill>
                  <a:srgbClr val="FF0000"/>
                </a:solidFill>
              </a:rPr>
              <a:t>；</a:t>
            </a:r>
            <a:r>
              <a:rPr kumimoji="1" lang="en-US" altLang="zh-CN" b="1" dirty="0">
                <a:solidFill>
                  <a:srgbClr val="FF0000"/>
                </a:solidFill>
              </a:rPr>
              <a:t>Finish[i]=true</a:t>
            </a:r>
            <a:r>
              <a:rPr kumimoji="1" lang="zh-CN" altLang="en-US" b="1" dirty="0">
                <a:solidFill>
                  <a:srgbClr val="FF0000"/>
                </a:solidFill>
              </a:rPr>
              <a:t>；</a:t>
            </a:r>
            <a:r>
              <a:rPr kumimoji="1" lang="en-US" altLang="zh-CN" b="1" dirty="0">
                <a:solidFill>
                  <a:srgbClr val="FF0000"/>
                </a:solidFill>
              </a:rPr>
              <a:t>go to step (2)</a:t>
            </a:r>
            <a:r>
              <a:rPr kumimoji="1" lang="en-US" altLang="zh-CN" dirty="0"/>
              <a:t>;</a:t>
            </a:r>
          </a:p>
          <a:p>
            <a:pPr marL="914400" lvl="2" indent="0" algn="just">
              <a:spcBef>
                <a:spcPts val="0"/>
              </a:spcBef>
              <a:buNone/>
            </a:pPr>
            <a:r>
              <a:rPr kumimoji="1" lang="en-US" altLang="zh-CN" dirty="0"/>
              <a:t>(4)</a:t>
            </a:r>
            <a:r>
              <a:rPr kumimoji="1" lang="zh-CN" altLang="en-US" dirty="0"/>
              <a:t>如果所有进程的</a:t>
            </a:r>
            <a:r>
              <a:rPr kumimoji="1" lang="en-US" altLang="zh-CN" b="1" dirty="0">
                <a:solidFill>
                  <a:srgbClr val="FF0000"/>
                </a:solidFill>
              </a:rPr>
              <a:t>Finish[i]=true</a:t>
            </a:r>
            <a:r>
              <a:rPr kumimoji="1" lang="zh-CN" altLang="en-US" dirty="0"/>
              <a:t>都满足，则表示系统处于安全状态；否则，系统处于不安全状态。</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3855252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避免死锁</a:t>
            </a:r>
          </a:p>
        </p:txBody>
      </p:sp>
      <p:sp>
        <p:nvSpPr>
          <p:cNvPr id="3" name="内容占位符 2"/>
          <p:cNvSpPr>
            <a:spLocks noGrp="1"/>
          </p:cNvSpPr>
          <p:nvPr>
            <p:ph idx="1"/>
          </p:nvPr>
        </p:nvSpPr>
        <p:spPr>
          <a:xfrm>
            <a:off x="838200" y="1348579"/>
            <a:ext cx="10515600" cy="5544669"/>
          </a:xfrm>
        </p:spPr>
        <p:txBody>
          <a:bodyPr>
            <a:normAutofit/>
          </a:bodyPr>
          <a:lstStyle/>
          <a:p>
            <a:r>
              <a:rPr kumimoji="1" lang="zh-CN" altLang="en-US" dirty="0"/>
              <a:t>银行家算法</a:t>
            </a:r>
            <a:endParaRPr kumimoji="1" lang="en-US" altLang="zh-CN" sz="2000" dirty="0"/>
          </a:p>
          <a:p>
            <a:pPr lvl="1">
              <a:buFont typeface="Wingdings" panose="05000000000000000000" pitchFamily="2" charset="2"/>
              <a:buChar char="ü"/>
            </a:pPr>
            <a:r>
              <a:rPr kumimoji="1" lang="zh-CN" altLang="en-US" dirty="0"/>
              <a:t>算法实例</a:t>
            </a:r>
            <a:endParaRPr kumimoji="1" lang="en-US" altLang="zh-CN" dirty="0"/>
          </a:p>
          <a:p>
            <a:pPr marL="914400" lvl="2" indent="0" algn="just">
              <a:spcBef>
                <a:spcPts val="0"/>
              </a:spcBef>
              <a:buNone/>
            </a:pPr>
            <a:r>
              <a:rPr kumimoji="1" lang="zh-CN" altLang="en-US" dirty="0"/>
              <a:t>假定系统中有五个进程</a:t>
            </a:r>
            <a:r>
              <a:rPr kumimoji="1" lang="en-US" altLang="zh-CN" dirty="0"/>
              <a:t>{P</a:t>
            </a:r>
            <a:r>
              <a:rPr kumimoji="1" lang="en-US" altLang="zh-CN" baseline="-25000" dirty="0"/>
              <a:t>0</a:t>
            </a:r>
            <a:r>
              <a:rPr kumimoji="1" lang="en-US" altLang="zh-CN" dirty="0"/>
              <a:t>, P</a:t>
            </a:r>
            <a:r>
              <a:rPr kumimoji="1" lang="en-US" altLang="zh-CN" baseline="-25000" dirty="0"/>
              <a:t>1</a:t>
            </a:r>
            <a:r>
              <a:rPr kumimoji="1" lang="en-US" altLang="zh-CN" dirty="0"/>
              <a:t>, P</a:t>
            </a:r>
            <a:r>
              <a:rPr kumimoji="1" lang="en-US" altLang="zh-CN" baseline="-25000" dirty="0"/>
              <a:t>2</a:t>
            </a:r>
            <a:r>
              <a:rPr kumimoji="1" lang="en-US" altLang="zh-CN" dirty="0"/>
              <a:t>, P</a:t>
            </a:r>
            <a:r>
              <a:rPr kumimoji="1" lang="en-US" altLang="zh-CN" baseline="-25000" dirty="0"/>
              <a:t>3</a:t>
            </a:r>
            <a:r>
              <a:rPr kumimoji="1" lang="en-US" altLang="zh-CN" dirty="0"/>
              <a:t>, P</a:t>
            </a:r>
            <a:r>
              <a:rPr kumimoji="1" lang="en-US" altLang="zh-CN" baseline="-25000" dirty="0"/>
              <a:t>4</a:t>
            </a:r>
            <a:r>
              <a:rPr kumimoji="1" lang="en-US" altLang="zh-CN" dirty="0"/>
              <a:t>}</a:t>
            </a:r>
            <a:r>
              <a:rPr kumimoji="1" lang="zh-CN" altLang="en-US" dirty="0"/>
              <a:t>和三类资源</a:t>
            </a:r>
            <a:r>
              <a:rPr kumimoji="1" lang="en-US" altLang="zh-CN" dirty="0"/>
              <a:t>{A, B, C}</a:t>
            </a:r>
            <a:r>
              <a:rPr kumimoji="1" lang="zh-CN" altLang="en-US" dirty="0"/>
              <a:t>，各种资源的数量分别为</a:t>
            </a:r>
            <a:r>
              <a:rPr kumimoji="1" lang="en-US" altLang="zh-CN" dirty="0"/>
              <a:t>10</a:t>
            </a:r>
            <a:r>
              <a:rPr kumimoji="1" lang="zh-CN" altLang="en-US" dirty="0"/>
              <a:t>、</a:t>
            </a:r>
            <a:r>
              <a:rPr kumimoji="1" lang="en-US" altLang="zh-CN" dirty="0"/>
              <a:t>5</a:t>
            </a:r>
            <a:r>
              <a:rPr kumimoji="1" lang="zh-CN" altLang="en-US" dirty="0"/>
              <a:t>、</a:t>
            </a:r>
            <a:r>
              <a:rPr kumimoji="1" lang="en-US" altLang="zh-CN" dirty="0"/>
              <a:t>7</a:t>
            </a:r>
            <a:r>
              <a:rPr kumimoji="1" lang="zh-CN" altLang="en-US" dirty="0"/>
              <a:t>，在</a:t>
            </a:r>
            <a:r>
              <a:rPr kumimoji="1" lang="en-US" altLang="zh-CN" dirty="0"/>
              <a:t>T0</a:t>
            </a:r>
            <a:r>
              <a:rPr kumimoji="1" lang="zh-CN" altLang="en-US" dirty="0"/>
              <a:t>时刻的资源分配情况如下表：</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a:extLst>
              <a:ext uri="{FF2B5EF4-FFF2-40B4-BE49-F238E27FC236}">
                <a16:creationId xmlns:a16="http://schemas.microsoft.com/office/drawing/2014/main" id="{953C08A9-CEE9-40C1-A8CF-673DF4660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154525" y="3689350"/>
            <a:ext cx="8135938" cy="3168650"/>
          </a:xfrm>
          <a:prstGeom prst="rect">
            <a:avLst/>
          </a:prstGeom>
        </p:spPr>
      </p:pic>
      <p:sp>
        <p:nvSpPr>
          <p:cNvPr id="7" name="文本框 6">
            <a:extLst>
              <a:ext uri="{FF2B5EF4-FFF2-40B4-BE49-F238E27FC236}">
                <a16:creationId xmlns:a16="http://schemas.microsoft.com/office/drawing/2014/main" id="{5CC00914-279E-42DF-881E-2C3F5E33A858}"/>
              </a:ext>
            </a:extLst>
          </p:cNvPr>
          <p:cNvSpPr txBox="1"/>
          <p:nvPr/>
        </p:nvSpPr>
        <p:spPr>
          <a:xfrm>
            <a:off x="5198051" y="3299098"/>
            <a:ext cx="2626303" cy="400110"/>
          </a:xfrm>
          <a:prstGeom prst="rect">
            <a:avLst/>
          </a:prstGeom>
          <a:noFill/>
        </p:spPr>
        <p:txBody>
          <a:bodyPr wrap="square">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T</a:t>
            </a:r>
            <a:r>
              <a:rPr lang="en-US" altLang="zh-CN" sz="2000" b="1" baseline="-25000" dirty="0">
                <a:solidFill>
                  <a:srgbClr val="002060"/>
                </a:solidFill>
                <a:latin typeface="Times New Roman" panose="02020603050405020304" pitchFamily="18" charset="0"/>
                <a:cs typeface="Times New Roman" panose="02020603050405020304" pitchFamily="18" charset="0"/>
              </a:rPr>
              <a:t>0</a:t>
            </a:r>
            <a:r>
              <a:rPr lang="zh-CN" altLang="en-US" sz="2000" b="1" dirty="0">
                <a:solidFill>
                  <a:srgbClr val="002060"/>
                </a:solidFill>
                <a:latin typeface="Times New Roman" panose="02020603050405020304" pitchFamily="18" charset="0"/>
                <a:cs typeface="Times New Roman" panose="02020603050405020304" pitchFamily="18" charset="0"/>
              </a:rPr>
              <a:t>时刻的资源分配表</a:t>
            </a:r>
          </a:p>
        </p:txBody>
      </p:sp>
    </p:spTree>
    <p:extLst>
      <p:ext uri="{BB962C8B-B14F-4D97-AF65-F5344CB8AC3E}">
        <p14:creationId xmlns:p14="http://schemas.microsoft.com/office/powerpoint/2010/main" val="23568644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避免死锁</a:t>
            </a:r>
          </a:p>
        </p:txBody>
      </p:sp>
      <p:sp>
        <p:nvSpPr>
          <p:cNvPr id="3" name="内容占位符 2"/>
          <p:cNvSpPr>
            <a:spLocks noGrp="1"/>
          </p:cNvSpPr>
          <p:nvPr>
            <p:ph idx="1"/>
          </p:nvPr>
        </p:nvSpPr>
        <p:spPr>
          <a:xfrm>
            <a:off x="838200" y="1348579"/>
            <a:ext cx="10515600" cy="5544669"/>
          </a:xfrm>
        </p:spPr>
        <p:txBody>
          <a:bodyPr>
            <a:normAutofit/>
          </a:bodyPr>
          <a:lstStyle/>
          <a:p>
            <a:r>
              <a:rPr kumimoji="1" lang="zh-CN" altLang="en-US" dirty="0"/>
              <a:t>银行家算法</a:t>
            </a:r>
            <a:endParaRPr kumimoji="1" lang="en-US" altLang="zh-CN" sz="2000" dirty="0"/>
          </a:p>
          <a:p>
            <a:pPr lvl="1">
              <a:buFont typeface="Wingdings" panose="05000000000000000000" pitchFamily="2" charset="2"/>
              <a:buChar char="ü"/>
            </a:pPr>
            <a:r>
              <a:rPr kumimoji="1" lang="zh-CN" altLang="en-US" dirty="0"/>
              <a:t>算法实例</a:t>
            </a:r>
            <a:endParaRPr kumimoji="1" lang="en-US" altLang="zh-CN" dirty="0"/>
          </a:p>
          <a:p>
            <a:pPr marL="914400" lvl="2" indent="0" algn="just">
              <a:spcBef>
                <a:spcPts val="0"/>
              </a:spcBef>
              <a:buNone/>
            </a:pPr>
            <a:r>
              <a:rPr kumimoji="1" lang="en-US" altLang="zh-CN" b="1" dirty="0">
                <a:solidFill>
                  <a:srgbClr val="FF0000"/>
                </a:solidFill>
              </a:rPr>
              <a:t>T</a:t>
            </a:r>
            <a:r>
              <a:rPr kumimoji="1" lang="en-US" altLang="zh-CN" b="1" baseline="-25000" dirty="0">
                <a:solidFill>
                  <a:srgbClr val="FF0000"/>
                </a:solidFill>
              </a:rPr>
              <a:t>0</a:t>
            </a:r>
            <a:r>
              <a:rPr kumimoji="1" lang="zh-CN" altLang="en-US" b="1" dirty="0">
                <a:solidFill>
                  <a:srgbClr val="FF0000"/>
                </a:solidFill>
              </a:rPr>
              <a:t>时刻安全性</a:t>
            </a:r>
            <a:r>
              <a:rPr kumimoji="1" lang="zh-CN" altLang="en-US" dirty="0"/>
              <a:t>：利用安全性算法对</a:t>
            </a:r>
            <a:r>
              <a:rPr kumimoji="1" lang="en-US" altLang="zh-CN" dirty="0"/>
              <a:t>T</a:t>
            </a:r>
            <a:r>
              <a:rPr kumimoji="1" lang="en-US" altLang="zh-CN" baseline="-25000" dirty="0"/>
              <a:t>0</a:t>
            </a:r>
            <a:r>
              <a:rPr kumimoji="1" lang="zh-CN" altLang="en-US" dirty="0"/>
              <a:t>时刻的资源分配情况进行分析可知，在</a:t>
            </a:r>
            <a:r>
              <a:rPr kumimoji="1" lang="en-US" altLang="zh-CN" dirty="0"/>
              <a:t>T</a:t>
            </a:r>
            <a:r>
              <a:rPr kumimoji="1" lang="en-US" altLang="zh-CN" baseline="-25000" dirty="0"/>
              <a:t>0</a:t>
            </a:r>
            <a:r>
              <a:rPr kumimoji="1" lang="zh-CN" altLang="en-US" dirty="0"/>
              <a:t>时刻存在着一个安全序列</a:t>
            </a:r>
            <a:r>
              <a:rPr kumimoji="1" lang="en-US" altLang="zh-CN" dirty="0"/>
              <a:t>{P</a:t>
            </a:r>
            <a:r>
              <a:rPr kumimoji="1" lang="en-US" altLang="zh-CN" baseline="-25000" dirty="0"/>
              <a:t>0</a:t>
            </a:r>
            <a:r>
              <a:rPr kumimoji="1" lang="en-US" altLang="zh-CN" dirty="0"/>
              <a:t>, P</a:t>
            </a:r>
            <a:r>
              <a:rPr kumimoji="1" lang="en-US" altLang="zh-CN" baseline="-25000" dirty="0"/>
              <a:t>1</a:t>
            </a:r>
            <a:r>
              <a:rPr kumimoji="1" lang="en-US" altLang="zh-CN" dirty="0"/>
              <a:t>, P</a:t>
            </a:r>
            <a:r>
              <a:rPr kumimoji="1" lang="en-US" altLang="zh-CN" baseline="-25000" dirty="0"/>
              <a:t>2</a:t>
            </a:r>
            <a:r>
              <a:rPr kumimoji="1" lang="en-US" altLang="zh-CN" dirty="0"/>
              <a:t>, P</a:t>
            </a:r>
            <a:r>
              <a:rPr kumimoji="1" lang="en-US" altLang="zh-CN" baseline="-25000" dirty="0"/>
              <a:t>3</a:t>
            </a:r>
            <a:r>
              <a:rPr kumimoji="1" lang="en-US" altLang="zh-CN" dirty="0"/>
              <a:t>, P</a:t>
            </a:r>
            <a:r>
              <a:rPr kumimoji="1" lang="en-US" altLang="zh-CN" baseline="-25000" dirty="0"/>
              <a:t>4</a:t>
            </a:r>
            <a:r>
              <a:rPr kumimoji="1" lang="en-US" altLang="zh-CN" dirty="0"/>
              <a:t>} </a:t>
            </a:r>
            <a:r>
              <a:rPr kumimoji="1" lang="zh-CN" altLang="en-US" dirty="0"/>
              <a:t>，故系统是安全的。</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8" name="Picture 4">
            <a:extLst>
              <a:ext uri="{FF2B5EF4-FFF2-40B4-BE49-F238E27FC236}">
                <a16:creationId xmlns:a16="http://schemas.microsoft.com/office/drawing/2014/main" id="{16834668-8B60-4168-B12B-D66889442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028031" y="3719512"/>
            <a:ext cx="8135937" cy="3001963"/>
          </a:xfrm>
          <a:prstGeom prst="rect">
            <a:avLst/>
          </a:prstGeom>
        </p:spPr>
      </p:pic>
      <p:sp>
        <p:nvSpPr>
          <p:cNvPr id="9" name="文本框 8">
            <a:extLst>
              <a:ext uri="{FF2B5EF4-FFF2-40B4-BE49-F238E27FC236}">
                <a16:creationId xmlns:a16="http://schemas.microsoft.com/office/drawing/2014/main" id="{FE9BFE77-E011-4411-894B-BF17B9646D76}"/>
              </a:ext>
            </a:extLst>
          </p:cNvPr>
          <p:cNvSpPr txBox="1"/>
          <p:nvPr/>
        </p:nvSpPr>
        <p:spPr>
          <a:xfrm>
            <a:off x="5104534" y="3319402"/>
            <a:ext cx="2314575" cy="400110"/>
          </a:xfrm>
          <a:prstGeom prst="rect">
            <a:avLst/>
          </a:prstGeom>
          <a:noFill/>
        </p:spPr>
        <p:txBody>
          <a:bodyPr wrap="square">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T</a:t>
            </a:r>
            <a:r>
              <a:rPr lang="en-US" altLang="zh-CN" sz="2000" b="1" baseline="-25000" dirty="0">
                <a:solidFill>
                  <a:srgbClr val="002060"/>
                </a:solidFill>
                <a:latin typeface="Times New Roman" panose="02020603050405020304" pitchFamily="18" charset="0"/>
                <a:cs typeface="Times New Roman" panose="02020603050405020304" pitchFamily="18" charset="0"/>
              </a:rPr>
              <a:t>0</a:t>
            </a:r>
            <a:r>
              <a:rPr lang="zh-CN" altLang="en-US" sz="2000" b="1" dirty="0">
                <a:solidFill>
                  <a:srgbClr val="002060"/>
                </a:solidFill>
                <a:latin typeface="Times New Roman" panose="02020603050405020304" pitchFamily="18" charset="0"/>
                <a:cs typeface="Times New Roman" panose="02020603050405020304" pitchFamily="18" charset="0"/>
              </a:rPr>
              <a:t>时刻的安全序列</a:t>
            </a:r>
          </a:p>
        </p:txBody>
      </p:sp>
    </p:spTree>
    <p:extLst>
      <p:ext uri="{BB962C8B-B14F-4D97-AF65-F5344CB8AC3E}">
        <p14:creationId xmlns:p14="http://schemas.microsoft.com/office/powerpoint/2010/main" val="8959447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避免死锁</a:t>
            </a:r>
          </a:p>
        </p:txBody>
      </p:sp>
      <p:sp>
        <p:nvSpPr>
          <p:cNvPr id="3" name="内容占位符 2"/>
          <p:cNvSpPr>
            <a:spLocks noGrp="1"/>
          </p:cNvSpPr>
          <p:nvPr>
            <p:ph idx="1"/>
          </p:nvPr>
        </p:nvSpPr>
        <p:spPr>
          <a:xfrm>
            <a:off x="838200" y="1348579"/>
            <a:ext cx="10515600" cy="5544669"/>
          </a:xfrm>
        </p:spPr>
        <p:txBody>
          <a:bodyPr>
            <a:normAutofit/>
          </a:bodyPr>
          <a:lstStyle/>
          <a:p>
            <a:r>
              <a:rPr kumimoji="1" lang="zh-CN" altLang="en-US" dirty="0"/>
              <a:t>银行家算法</a:t>
            </a:r>
            <a:endParaRPr kumimoji="1" lang="en-US" altLang="zh-CN" sz="2000" dirty="0"/>
          </a:p>
          <a:p>
            <a:pPr lvl="1">
              <a:buFont typeface="Wingdings" panose="05000000000000000000" pitchFamily="2" charset="2"/>
              <a:buChar char="ü"/>
            </a:pPr>
            <a:r>
              <a:rPr kumimoji="1" lang="zh-CN" altLang="en-US" dirty="0"/>
              <a:t>算法实例</a:t>
            </a:r>
            <a:endParaRPr kumimoji="1" lang="en-US" altLang="zh-CN" dirty="0"/>
          </a:p>
          <a:p>
            <a:pPr marL="914400" lvl="2" indent="0" algn="just">
              <a:spcBef>
                <a:spcPts val="0"/>
              </a:spcBef>
              <a:buNone/>
            </a:pPr>
            <a:r>
              <a:rPr kumimoji="1" lang="en-US" altLang="zh-CN" b="1" dirty="0">
                <a:solidFill>
                  <a:srgbClr val="FF0000"/>
                </a:solidFill>
              </a:rPr>
              <a:t>P</a:t>
            </a:r>
            <a:r>
              <a:rPr kumimoji="1" lang="en-US" altLang="zh-CN" b="1" baseline="-25000" dirty="0">
                <a:solidFill>
                  <a:srgbClr val="FF0000"/>
                </a:solidFill>
              </a:rPr>
              <a:t>1</a:t>
            </a:r>
            <a:r>
              <a:rPr kumimoji="1" lang="zh-CN" altLang="en-US" b="1" dirty="0">
                <a:solidFill>
                  <a:srgbClr val="FF0000"/>
                </a:solidFill>
              </a:rPr>
              <a:t>请求资源</a:t>
            </a:r>
            <a:r>
              <a:rPr kumimoji="1" lang="zh-CN" altLang="en-US" dirty="0"/>
              <a:t>：</a:t>
            </a:r>
            <a:r>
              <a:rPr kumimoji="1" lang="en-US" altLang="zh-CN" dirty="0"/>
              <a:t>P</a:t>
            </a:r>
            <a:r>
              <a:rPr kumimoji="1" lang="en-US" altLang="zh-CN" baseline="-25000" dirty="0"/>
              <a:t>1</a:t>
            </a:r>
            <a:r>
              <a:rPr kumimoji="1" lang="zh-CN" altLang="en-US" dirty="0"/>
              <a:t>发出请求向量</a:t>
            </a:r>
            <a:r>
              <a:rPr kumimoji="1" lang="en-US" altLang="zh-CN" dirty="0"/>
              <a:t>Request1(1, 0, 2)</a:t>
            </a:r>
            <a:r>
              <a:rPr kumimoji="1" lang="zh-CN" altLang="en-US" dirty="0"/>
              <a:t>，系统按银行家算法进行检查：</a:t>
            </a:r>
            <a:r>
              <a:rPr kumimoji="1" lang="en-US" altLang="zh-CN" dirty="0"/>
              <a:t>①Request</a:t>
            </a:r>
            <a:r>
              <a:rPr kumimoji="1" lang="en-US" altLang="zh-CN" baseline="-25000" dirty="0"/>
              <a:t>1</a:t>
            </a:r>
            <a:r>
              <a:rPr kumimoji="1" lang="en-US" altLang="zh-CN" dirty="0"/>
              <a:t>(1, 0, 2)≤Need</a:t>
            </a:r>
            <a:r>
              <a:rPr kumimoji="1" lang="en-US" altLang="zh-CN" baseline="-25000" dirty="0"/>
              <a:t>1</a:t>
            </a:r>
            <a:r>
              <a:rPr kumimoji="1" lang="en-US" altLang="zh-CN" dirty="0"/>
              <a:t>(1, 2, 2)</a:t>
            </a:r>
            <a:r>
              <a:rPr kumimoji="1" lang="zh-CN" altLang="en-US" dirty="0"/>
              <a:t>；</a:t>
            </a:r>
            <a:r>
              <a:rPr kumimoji="1" lang="fr-FR" altLang="zh-CN" dirty="0"/>
              <a:t>②Request</a:t>
            </a:r>
            <a:r>
              <a:rPr kumimoji="1" lang="fr-FR" altLang="zh-CN" baseline="-25000" dirty="0"/>
              <a:t>1</a:t>
            </a:r>
            <a:r>
              <a:rPr kumimoji="1" lang="fr-FR" altLang="zh-CN" dirty="0"/>
              <a:t>(1, 0, 2)≤Available</a:t>
            </a:r>
            <a:r>
              <a:rPr kumimoji="1" lang="fr-FR" altLang="zh-CN" baseline="-25000" dirty="0"/>
              <a:t>1</a:t>
            </a:r>
            <a:r>
              <a:rPr kumimoji="1" lang="fr-FR" altLang="zh-CN" dirty="0"/>
              <a:t>(3, 3, 2)</a:t>
            </a:r>
            <a:r>
              <a:rPr kumimoji="1" lang="zh-CN" altLang="en-US" dirty="0"/>
              <a:t>；③系统先假定可为</a:t>
            </a:r>
            <a:r>
              <a:rPr kumimoji="1" lang="en-US" altLang="zh-CN" dirty="0"/>
              <a:t>P</a:t>
            </a:r>
            <a:r>
              <a:rPr kumimoji="1" lang="en-US" altLang="zh-CN" baseline="-25000" dirty="0"/>
              <a:t>1</a:t>
            </a:r>
            <a:r>
              <a:rPr kumimoji="1" lang="zh-CN" altLang="en-US" dirty="0"/>
              <a:t>分配资源，并修改</a:t>
            </a:r>
            <a:r>
              <a:rPr kumimoji="1" lang="en-US" altLang="zh-CN" dirty="0"/>
              <a:t>Available</a:t>
            </a:r>
            <a:r>
              <a:rPr kumimoji="1" lang="zh-CN" altLang="en-US" dirty="0"/>
              <a:t>，</a:t>
            </a:r>
            <a:r>
              <a:rPr kumimoji="1" lang="en-US" altLang="zh-CN" dirty="0"/>
              <a:t>Allocation</a:t>
            </a:r>
            <a:r>
              <a:rPr kumimoji="1" lang="en-US" altLang="zh-CN" baseline="-25000" dirty="0"/>
              <a:t>1</a:t>
            </a:r>
            <a:r>
              <a:rPr kumimoji="1" lang="zh-CN" altLang="en-US" dirty="0"/>
              <a:t>和</a:t>
            </a:r>
            <a:r>
              <a:rPr kumimoji="1" lang="en-US" altLang="zh-CN" dirty="0"/>
              <a:t>Need</a:t>
            </a:r>
            <a:r>
              <a:rPr kumimoji="1" lang="en-US" altLang="zh-CN" baseline="-25000" dirty="0"/>
              <a:t>1</a:t>
            </a:r>
            <a:r>
              <a:rPr kumimoji="1" lang="zh-CN" altLang="en-US" dirty="0"/>
              <a:t>向量，由此形成的资源变化情况如初始时的圆括号所示；④再利用安全性算法检查此时系统是否安全，如下表所示：</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8" name="Picture 4">
            <a:extLst>
              <a:ext uri="{FF2B5EF4-FFF2-40B4-BE49-F238E27FC236}">
                <a16:creationId xmlns:a16="http://schemas.microsoft.com/office/drawing/2014/main" id="{D3826B7A-9635-4443-A9AE-5270EE7946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145145" y="4243711"/>
            <a:ext cx="8280400" cy="2649537"/>
          </a:xfrm>
          <a:prstGeom prst="rect">
            <a:avLst/>
          </a:prstGeom>
        </p:spPr>
      </p:pic>
      <p:sp>
        <p:nvSpPr>
          <p:cNvPr id="9" name="文本框 8">
            <a:extLst>
              <a:ext uri="{FF2B5EF4-FFF2-40B4-BE49-F238E27FC236}">
                <a16:creationId xmlns:a16="http://schemas.microsoft.com/office/drawing/2014/main" id="{73B96EB2-6956-48A9-A362-25DA99937A1B}"/>
              </a:ext>
            </a:extLst>
          </p:cNvPr>
          <p:cNvSpPr txBox="1"/>
          <p:nvPr/>
        </p:nvSpPr>
        <p:spPr>
          <a:xfrm>
            <a:off x="4795405" y="3936247"/>
            <a:ext cx="3454977" cy="400110"/>
          </a:xfrm>
          <a:prstGeom prst="rect">
            <a:avLst/>
          </a:prstGeom>
          <a:noFill/>
        </p:spPr>
        <p:txBody>
          <a:bodyPr wrap="square">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P</a:t>
            </a:r>
            <a:r>
              <a:rPr lang="en-US" altLang="zh-CN" sz="2000" b="1" baseline="-25000" dirty="0">
                <a:solidFill>
                  <a:srgbClr val="002060"/>
                </a:solidFill>
                <a:latin typeface="Times New Roman" panose="02020603050405020304" pitchFamily="18" charset="0"/>
                <a:cs typeface="Times New Roman" panose="02020603050405020304" pitchFamily="18" charset="0"/>
              </a:rPr>
              <a:t>1</a:t>
            </a:r>
            <a:r>
              <a:rPr lang="zh-CN" altLang="en-US" sz="2000" b="1" dirty="0">
                <a:solidFill>
                  <a:srgbClr val="002060"/>
                </a:solidFill>
                <a:latin typeface="Times New Roman" panose="02020603050405020304" pitchFamily="18" charset="0"/>
                <a:cs typeface="Times New Roman" panose="02020603050405020304" pitchFamily="18" charset="0"/>
              </a:rPr>
              <a:t>申请资源时的安全性检查</a:t>
            </a:r>
          </a:p>
        </p:txBody>
      </p:sp>
    </p:spTree>
    <p:extLst>
      <p:ext uri="{BB962C8B-B14F-4D97-AF65-F5344CB8AC3E}">
        <p14:creationId xmlns:p14="http://schemas.microsoft.com/office/powerpoint/2010/main" val="28324938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避免死锁</a:t>
            </a:r>
          </a:p>
        </p:txBody>
      </p:sp>
      <p:sp>
        <p:nvSpPr>
          <p:cNvPr id="3" name="内容占位符 2"/>
          <p:cNvSpPr>
            <a:spLocks noGrp="1"/>
          </p:cNvSpPr>
          <p:nvPr>
            <p:ph idx="1"/>
          </p:nvPr>
        </p:nvSpPr>
        <p:spPr>
          <a:xfrm>
            <a:off x="838200" y="1348579"/>
            <a:ext cx="10515600" cy="5544669"/>
          </a:xfrm>
        </p:spPr>
        <p:txBody>
          <a:bodyPr>
            <a:normAutofit/>
          </a:bodyPr>
          <a:lstStyle/>
          <a:p>
            <a:r>
              <a:rPr kumimoji="1" lang="zh-CN" altLang="en-US" dirty="0"/>
              <a:t>银行家算法</a:t>
            </a:r>
            <a:endParaRPr kumimoji="1" lang="en-US" altLang="zh-CN" sz="2000" dirty="0"/>
          </a:p>
          <a:p>
            <a:pPr lvl="1">
              <a:buFont typeface="Wingdings" panose="05000000000000000000" pitchFamily="2" charset="2"/>
              <a:buChar char="ü"/>
            </a:pPr>
            <a:r>
              <a:rPr kumimoji="1" lang="zh-CN" altLang="en-US" dirty="0"/>
              <a:t>算法实例</a:t>
            </a:r>
            <a:endParaRPr kumimoji="1" lang="en-US" altLang="zh-CN" dirty="0"/>
          </a:p>
          <a:p>
            <a:pPr marL="914400" lvl="2" indent="0" algn="just">
              <a:spcBef>
                <a:spcPts val="0"/>
              </a:spcBef>
              <a:buNone/>
            </a:pPr>
            <a:r>
              <a:rPr kumimoji="1" lang="en-US" altLang="zh-CN" b="1" dirty="0">
                <a:solidFill>
                  <a:srgbClr val="FF0000"/>
                </a:solidFill>
              </a:rPr>
              <a:t>P</a:t>
            </a:r>
            <a:r>
              <a:rPr kumimoji="1" lang="en-US" altLang="zh-CN" b="1" baseline="-25000" dirty="0">
                <a:solidFill>
                  <a:srgbClr val="FF0000"/>
                </a:solidFill>
              </a:rPr>
              <a:t>4</a:t>
            </a:r>
            <a:r>
              <a:rPr kumimoji="1" lang="zh-CN" altLang="en-US" b="1" dirty="0">
                <a:solidFill>
                  <a:srgbClr val="FF0000"/>
                </a:solidFill>
              </a:rPr>
              <a:t>请求资源</a:t>
            </a:r>
            <a:r>
              <a:rPr kumimoji="1" lang="zh-CN" altLang="en-US" dirty="0"/>
              <a:t>：</a:t>
            </a:r>
            <a:r>
              <a:rPr kumimoji="1" lang="en-US" altLang="zh-CN" dirty="0"/>
              <a:t>P</a:t>
            </a:r>
            <a:r>
              <a:rPr kumimoji="1" lang="en-US" altLang="zh-CN" baseline="-25000" dirty="0"/>
              <a:t>4</a:t>
            </a:r>
            <a:r>
              <a:rPr kumimoji="1" lang="zh-CN" altLang="en-US" dirty="0"/>
              <a:t>发出请求向量</a:t>
            </a:r>
            <a:r>
              <a:rPr kumimoji="1" lang="en-US" altLang="zh-CN" dirty="0"/>
              <a:t>Request</a:t>
            </a:r>
            <a:r>
              <a:rPr kumimoji="1" lang="en-US" altLang="zh-CN" baseline="-25000" dirty="0"/>
              <a:t>4</a:t>
            </a:r>
            <a:r>
              <a:rPr kumimoji="1" lang="en-US" altLang="zh-CN" dirty="0"/>
              <a:t>(3,3,0)</a:t>
            </a:r>
            <a:r>
              <a:rPr kumimoji="1" lang="zh-CN" altLang="en-US" dirty="0"/>
              <a:t>，系统按银行家算法进行检查：</a:t>
            </a:r>
            <a:r>
              <a:rPr lang="zh-CN" altLang="en-US" dirty="0"/>
              <a:t>①</a:t>
            </a:r>
            <a:r>
              <a:rPr lang="en-US" altLang="zh-CN" dirty="0"/>
              <a:t>Request</a:t>
            </a:r>
            <a:r>
              <a:rPr lang="en-US" altLang="zh-CN" baseline="-25000" dirty="0"/>
              <a:t>4</a:t>
            </a:r>
            <a:r>
              <a:rPr lang="en-US" altLang="zh-CN" dirty="0"/>
              <a:t>(3,3,0)≤Need</a:t>
            </a:r>
            <a:r>
              <a:rPr lang="en-US" altLang="zh-CN" baseline="-25000" dirty="0"/>
              <a:t>4</a:t>
            </a:r>
            <a:r>
              <a:rPr lang="en-US" altLang="zh-CN" dirty="0"/>
              <a:t>(4,3,1)</a:t>
            </a:r>
            <a:r>
              <a:rPr lang="zh-CN" altLang="en-US" dirty="0"/>
              <a:t>；②</a:t>
            </a:r>
            <a:r>
              <a:rPr lang="en-US" altLang="zh-CN" dirty="0"/>
              <a:t>Request</a:t>
            </a:r>
            <a:r>
              <a:rPr lang="en-US" altLang="zh-CN" baseline="-25000" dirty="0"/>
              <a:t>4</a:t>
            </a:r>
            <a:r>
              <a:rPr lang="en-US" altLang="zh-CN" dirty="0"/>
              <a:t>(3,3,0)</a:t>
            </a:r>
            <a:r>
              <a:rPr lang="zh-CN" altLang="en-US" dirty="0"/>
              <a:t>＞</a:t>
            </a:r>
            <a:r>
              <a:rPr lang="en-US" altLang="zh-CN" dirty="0"/>
              <a:t>Available(2,3,0)</a:t>
            </a:r>
            <a:r>
              <a:rPr lang="zh-CN" altLang="en-US" dirty="0"/>
              <a:t>，让</a:t>
            </a:r>
            <a:r>
              <a:rPr lang="en-US" altLang="zh-CN" dirty="0"/>
              <a:t>P</a:t>
            </a:r>
            <a:r>
              <a:rPr lang="en-US" altLang="zh-CN" baseline="-25000" dirty="0"/>
              <a:t>4</a:t>
            </a:r>
            <a:r>
              <a:rPr lang="zh-CN" altLang="en-US" dirty="0"/>
              <a:t>等待。</a:t>
            </a:r>
            <a:endParaRPr lang="en-US" altLang="zh-CN" dirty="0"/>
          </a:p>
          <a:p>
            <a:pPr marL="914400" lvl="2" indent="0" algn="just">
              <a:spcBef>
                <a:spcPts val="0"/>
              </a:spcBef>
              <a:buNone/>
            </a:pPr>
            <a:r>
              <a:rPr lang="en-US" altLang="zh-CN" b="1" dirty="0">
                <a:solidFill>
                  <a:srgbClr val="FF0000"/>
                </a:solidFill>
              </a:rPr>
              <a:t>P</a:t>
            </a:r>
            <a:r>
              <a:rPr lang="en-US" altLang="zh-CN" b="1" baseline="-25000" dirty="0">
                <a:solidFill>
                  <a:srgbClr val="FF0000"/>
                </a:solidFill>
              </a:rPr>
              <a:t>0</a:t>
            </a:r>
            <a:r>
              <a:rPr lang="zh-CN" altLang="en-US" b="1" dirty="0">
                <a:solidFill>
                  <a:srgbClr val="FF0000"/>
                </a:solidFill>
              </a:rPr>
              <a:t>请求资源</a:t>
            </a:r>
            <a:r>
              <a:rPr lang="zh-CN" altLang="en-US" dirty="0"/>
              <a:t>：</a:t>
            </a:r>
            <a:r>
              <a:rPr lang="en-US" altLang="zh-CN" dirty="0"/>
              <a:t>P</a:t>
            </a:r>
            <a:r>
              <a:rPr lang="en-US" altLang="zh-CN" baseline="-25000" dirty="0"/>
              <a:t>0</a:t>
            </a:r>
            <a:r>
              <a:rPr lang="zh-CN" altLang="en-US" dirty="0"/>
              <a:t>发出请求向量</a:t>
            </a:r>
            <a:r>
              <a:rPr lang="en-US" altLang="zh-CN" dirty="0"/>
              <a:t>Request</a:t>
            </a:r>
            <a:r>
              <a:rPr lang="en-US" altLang="zh-CN" baseline="-25000" dirty="0"/>
              <a:t>0</a:t>
            </a:r>
            <a:r>
              <a:rPr lang="en-US" altLang="zh-CN" dirty="0"/>
              <a:t>(0,2,0)</a:t>
            </a:r>
            <a:r>
              <a:rPr lang="zh-CN" altLang="en-US" dirty="0"/>
              <a:t>，系统按银行家算法进行检查： ①</a:t>
            </a:r>
            <a:r>
              <a:rPr lang="en-US" altLang="zh-CN" dirty="0"/>
              <a:t>Request</a:t>
            </a:r>
            <a:r>
              <a:rPr lang="en-US" altLang="zh-CN" baseline="-25000" dirty="0"/>
              <a:t>0</a:t>
            </a:r>
            <a:r>
              <a:rPr lang="en-US" altLang="zh-CN" dirty="0"/>
              <a:t>(0,2,0)≤Need</a:t>
            </a:r>
            <a:r>
              <a:rPr lang="en-US" altLang="zh-CN" baseline="-25000" dirty="0"/>
              <a:t>0</a:t>
            </a:r>
            <a:r>
              <a:rPr lang="en-US" altLang="zh-CN" dirty="0"/>
              <a:t>(7,4,3)</a:t>
            </a:r>
            <a:r>
              <a:rPr lang="zh-CN" altLang="en-US" dirty="0"/>
              <a:t>；②</a:t>
            </a:r>
            <a:r>
              <a:rPr lang="en-US" altLang="zh-CN" dirty="0"/>
              <a:t>Request</a:t>
            </a:r>
            <a:r>
              <a:rPr lang="en-US" altLang="zh-CN" baseline="-25000" dirty="0"/>
              <a:t>0</a:t>
            </a:r>
            <a:r>
              <a:rPr lang="en-US" altLang="zh-CN" dirty="0"/>
              <a:t>(0,2,0)≤Available(2,3,0)</a:t>
            </a:r>
            <a:r>
              <a:rPr lang="zh-CN" altLang="en-US" dirty="0"/>
              <a:t>；③系统暂时先假定可为</a:t>
            </a:r>
            <a:r>
              <a:rPr lang="en-US" altLang="zh-CN" dirty="0"/>
              <a:t>P</a:t>
            </a:r>
            <a:r>
              <a:rPr lang="en-US" altLang="zh-CN" baseline="-25000" dirty="0"/>
              <a:t>0</a:t>
            </a:r>
            <a:r>
              <a:rPr lang="zh-CN" altLang="en-US" dirty="0"/>
              <a:t>分配资源，并修改有关数据，如下表所示：</a:t>
            </a:r>
            <a:endParaRPr lang="en-US" altLang="zh-CN" dirty="0"/>
          </a:p>
          <a:p>
            <a:pPr marL="914400" lvl="2" indent="0" algn="just">
              <a:spcBef>
                <a:spcPts val="0"/>
              </a:spcBef>
              <a:buNone/>
            </a:pPr>
            <a:br>
              <a:rPr lang="zh-CN" altLang="en-US" dirty="0"/>
            </a:b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7" name="Picture 4">
            <a:extLst>
              <a:ext uri="{FF2B5EF4-FFF2-40B4-BE49-F238E27FC236}">
                <a16:creationId xmlns:a16="http://schemas.microsoft.com/office/drawing/2014/main" id="{3DBD8119-5489-415D-8D63-345F2DD6F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349193" y="4417614"/>
            <a:ext cx="8208962" cy="2486025"/>
          </a:xfrm>
          <a:prstGeom prst="rect">
            <a:avLst/>
          </a:prstGeom>
        </p:spPr>
      </p:pic>
      <p:sp>
        <p:nvSpPr>
          <p:cNvPr id="10" name="文本框 9">
            <a:extLst>
              <a:ext uri="{FF2B5EF4-FFF2-40B4-BE49-F238E27FC236}">
                <a16:creationId xmlns:a16="http://schemas.microsoft.com/office/drawing/2014/main" id="{3ED2C178-87EA-4F5D-AB0A-954B3FB93E35}"/>
              </a:ext>
            </a:extLst>
          </p:cNvPr>
          <p:cNvSpPr txBox="1"/>
          <p:nvPr/>
        </p:nvSpPr>
        <p:spPr>
          <a:xfrm>
            <a:off x="5831031" y="4128609"/>
            <a:ext cx="3811732" cy="400110"/>
          </a:xfrm>
          <a:prstGeom prst="rect">
            <a:avLst/>
          </a:prstGeom>
          <a:noFill/>
        </p:spPr>
        <p:txBody>
          <a:bodyPr wrap="square">
            <a:spAutoFit/>
          </a:bodyPr>
          <a:lstStyle/>
          <a:p>
            <a:r>
              <a:rPr lang="zh-CN" altLang="en-US" sz="2000" b="1" dirty="0">
                <a:solidFill>
                  <a:srgbClr val="002060"/>
                </a:solidFill>
                <a:latin typeface="Times New Roman" panose="02020603050405020304" pitchFamily="18" charset="0"/>
                <a:cs typeface="Times New Roman" panose="02020603050405020304" pitchFamily="18" charset="0"/>
              </a:rPr>
              <a:t>为</a:t>
            </a:r>
            <a:r>
              <a:rPr lang="en-US" altLang="zh-CN" sz="2000" b="1" dirty="0">
                <a:solidFill>
                  <a:srgbClr val="002060"/>
                </a:solidFill>
                <a:latin typeface="Times New Roman" panose="02020603050405020304" pitchFamily="18" charset="0"/>
                <a:cs typeface="Times New Roman" panose="02020603050405020304" pitchFamily="18" charset="0"/>
              </a:rPr>
              <a:t>P</a:t>
            </a:r>
            <a:r>
              <a:rPr lang="en-US" altLang="zh-CN" sz="2000" b="1" baseline="-25000" dirty="0">
                <a:solidFill>
                  <a:srgbClr val="002060"/>
                </a:solidFill>
                <a:latin typeface="Times New Roman" panose="02020603050405020304" pitchFamily="18" charset="0"/>
                <a:cs typeface="Times New Roman" panose="02020603050405020304" pitchFamily="18" charset="0"/>
              </a:rPr>
              <a:t>0</a:t>
            </a:r>
            <a:r>
              <a:rPr lang="zh-CN" altLang="en-US" sz="2000" b="1" dirty="0">
                <a:solidFill>
                  <a:srgbClr val="002060"/>
                </a:solidFill>
                <a:latin typeface="Times New Roman" panose="02020603050405020304" pitchFamily="18" charset="0"/>
                <a:cs typeface="Times New Roman" panose="02020603050405020304" pitchFamily="18" charset="0"/>
              </a:rPr>
              <a:t>分配资源后的有关资源数据</a:t>
            </a:r>
          </a:p>
        </p:txBody>
      </p:sp>
      <p:sp>
        <p:nvSpPr>
          <p:cNvPr id="11" name="文本框 10">
            <a:extLst>
              <a:ext uri="{FF2B5EF4-FFF2-40B4-BE49-F238E27FC236}">
                <a16:creationId xmlns:a16="http://schemas.microsoft.com/office/drawing/2014/main" id="{2A339245-0B25-4739-9983-BB278070F90D}"/>
              </a:ext>
            </a:extLst>
          </p:cNvPr>
          <p:cNvSpPr txBox="1"/>
          <p:nvPr/>
        </p:nvSpPr>
        <p:spPr>
          <a:xfrm>
            <a:off x="394855" y="4569810"/>
            <a:ext cx="2647951" cy="1938992"/>
          </a:xfrm>
          <a:prstGeom prst="rect">
            <a:avLst/>
          </a:prstGeom>
          <a:noFill/>
        </p:spPr>
        <p:txBody>
          <a:bodyPr wrap="square">
            <a:spAutoFit/>
          </a:bodyPr>
          <a:lstStyle/>
          <a:p>
            <a:pPr algn="just"/>
            <a:r>
              <a:rPr lang="zh-CN" altLang="en-US" sz="2000" b="1" dirty="0">
                <a:solidFill>
                  <a:srgbClr val="FF0000"/>
                </a:solidFill>
                <a:latin typeface="Times New Roman" panose="02020603050405020304" pitchFamily="18" charset="0"/>
                <a:cs typeface="Times New Roman" panose="02020603050405020304" pitchFamily="18" charset="0"/>
              </a:rPr>
              <a:t>进行安全性检查</a:t>
            </a:r>
            <a:r>
              <a:rPr lang="zh-CN" altLang="en-US" sz="2000" dirty="0">
                <a:latin typeface="Times New Roman" panose="02020603050405020304" pitchFamily="18" charset="0"/>
                <a:cs typeface="Times New Roman" panose="02020603050405020304" pitchFamily="18" charset="0"/>
              </a:rPr>
              <a:t>：可用资源</a:t>
            </a:r>
            <a:r>
              <a:rPr lang="en-US" altLang="zh-CN" sz="2000" dirty="0">
                <a:latin typeface="Times New Roman" panose="02020603050405020304" pitchFamily="18" charset="0"/>
                <a:cs typeface="Times New Roman" panose="02020603050405020304" pitchFamily="18" charset="0"/>
              </a:rPr>
              <a:t>Available(2,1,0)</a:t>
            </a:r>
            <a:r>
              <a:rPr lang="zh-CN" altLang="en-US" sz="2000" dirty="0">
                <a:latin typeface="Times New Roman" panose="02020603050405020304" pitchFamily="18" charset="0"/>
                <a:cs typeface="Times New Roman" panose="02020603050405020304" pitchFamily="18" charset="0"/>
              </a:rPr>
              <a:t>已不能满足任何进程的需要，故系统进入不安全状态，此时系统不分配资源</a:t>
            </a:r>
          </a:p>
        </p:txBody>
      </p:sp>
    </p:spTree>
    <p:extLst>
      <p:ext uri="{BB962C8B-B14F-4D97-AF65-F5344CB8AC3E}">
        <p14:creationId xmlns:p14="http://schemas.microsoft.com/office/powerpoint/2010/main" val="23099119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死锁的检测与解除</a:t>
            </a:r>
          </a:p>
        </p:txBody>
      </p:sp>
      <p:sp>
        <p:nvSpPr>
          <p:cNvPr id="3" name="内容占位符 2"/>
          <p:cNvSpPr>
            <a:spLocks noGrp="1"/>
          </p:cNvSpPr>
          <p:nvPr>
            <p:ph idx="1"/>
          </p:nvPr>
        </p:nvSpPr>
        <p:spPr>
          <a:xfrm>
            <a:off x="838200" y="1974273"/>
            <a:ext cx="10515600" cy="4918975"/>
          </a:xfrm>
        </p:spPr>
        <p:txBody>
          <a:bodyPr>
            <a:normAutofit/>
          </a:bodyPr>
          <a:lstStyle/>
          <a:p>
            <a:pPr marL="0" lvl="1" indent="0" algn="just">
              <a:buNone/>
            </a:pPr>
            <a:r>
              <a:rPr kumimoji="1" lang="zh-CN" altLang="en-US" dirty="0">
                <a:solidFill>
                  <a:schemeClr val="accent4">
                    <a:lumMod val="50000"/>
                  </a:schemeClr>
                </a:solidFill>
              </a:rPr>
              <a:t>        如果在系统中，既不采取死锁预防措施，也未配有死锁避免算法，系统很可能会发生死锁。这种情况下，系统应当提供两个算法：①</a:t>
            </a:r>
            <a:r>
              <a:rPr kumimoji="1" lang="zh-CN" altLang="en-US" b="1" dirty="0">
                <a:solidFill>
                  <a:schemeClr val="accent4">
                    <a:lumMod val="50000"/>
                  </a:schemeClr>
                </a:solidFill>
              </a:rPr>
              <a:t>死锁检测算法</a:t>
            </a:r>
            <a:r>
              <a:rPr kumimoji="1" lang="zh-CN" altLang="en-US" dirty="0">
                <a:solidFill>
                  <a:schemeClr val="accent4">
                    <a:lumMod val="50000"/>
                  </a:schemeClr>
                </a:solidFill>
              </a:rPr>
              <a:t>。该方法用于检测系统状态，以确定系统中是否发生死锁；②</a:t>
            </a:r>
            <a:r>
              <a:rPr kumimoji="1" lang="zh-CN" altLang="en-US" b="1" dirty="0">
                <a:solidFill>
                  <a:schemeClr val="accent4">
                    <a:lumMod val="50000"/>
                  </a:schemeClr>
                </a:solidFill>
              </a:rPr>
              <a:t>死锁解除算法</a:t>
            </a:r>
            <a:r>
              <a:rPr kumimoji="1" lang="zh-CN" altLang="en-US" dirty="0">
                <a:solidFill>
                  <a:schemeClr val="accent4">
                    <a:lumMod val="50000"/>
                  </a:schemeClr>
                </a:solidFill>
              </a:rPr>
              <a:t>。当认定系统中已发生了死锁，利用该算法可将系统从死锁状态中解脱出来。</a:t>
            </a:r>
            <a:endParaRPr kumimoji="1" lang="en-US" altLang="zh-CN" dirty="0">
              <a:solidFill>
                <a:schemeClr val="accent4">
                  <a:lumMod val="50000"/>
                </a:schemeClr>
              </a:solidFill>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4761757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死锁的检测与解除</a:t>
            </a:r>
          </a:p>
        </p:txBody>
      </p:sp>
      <p:sp>
        <p:nvSpPr>
          <p:cNvPr id="3" name="内容占位符 2"/>
          <p:cNvSpPr>
            <a:spLocks noGrp="1"/>
          </p:cNvSpPr>
          <p:nvPr>
            <p:ph idx="1"/>
          </p:nvPr>
        </p:nvSpPr>
        <p:spPr>
          <a:xfrm>
            <a:off x="838200" y="1348579"/>
            <a:ext cx="10515600" cy="5696457"/>
          </a:xfrm>
        </p:spPr>
        <p:txBody>
          <a:bodyPr>
            <a:normAutofit/>
          </a:bodyPr>
          <a:lstStyle/>
          <a:p>
            <a:r>
              <a:rPr kumimoji="1" lang="zh-CN" altLang="en-US" dirty="0"/>
              <a:t>死锁的检测</a:t>
            </a:r>
            <a:endParaRPr kumimoji="1" lang="en-US" altLang="zh-CN" sz="2000" dirty="0"/>
          </a:p>
          <a:p>
            <a:pPr marL="457200" lvl="1" indent="0" algn="just">
              <a:buNone/>
            </a:pPr>
            <a:r>
              <a:rPr kumimoji="1" lang="zh-CN" altLang="en-US" sz="2000" dirty="0"/>
              <a:t>        为能对系统中是否已发生了死锁进行检测，在系统中必须：①保存有关资源的请求和分配信息；②提供一种算法，它利用这些信息来检测系统是否已进入死锁状态</a:t>
            </a:r>
            <a:r>
              <a:rPr kumimoji="1" lang="zh-CN" altLang="en-US" dirty="0"/>
              <a:t>。</a:t>
            </a:r>
            <a:endParaRPr kumimoji="1" lang="en-US" altLang="zh-CN" dirty="0"/>
          </a:p>
          <a:p>
            <a:pPr lvl="1">
              <a:buFont typeface="Wingdings" panose="05000000000000000000" pitchFamily="2" charset="2"/>
              <a:buChar char="ü"/>
            </a:pPr>
            <a:r>
              <a:rPr kumimoji="1" lang="zh-CN" altLang="en-US" dirty="0"/>
              <a:t>资源分配图</a:t>
            </a:r>
            <a:endParaRPr kumimoji="1" lang="en-US" altLang="zh-CN" dirty="0"/>
          </a:p>
          <a:p>
            <a:pPr marL="914400" lvl="2" indent="0" algn="just">
              <a:buNone/>
            </a:pPr>
            <a:r>
              <a:rPr kumimoji="1" lang="zh-CN" altLang="en-US" dirty="0"/>
              <a:t>该图由一组结点</a:t>
            </a:r>
            <a:r>
              <a:rPr kumimoji="1" lang="en-US" altLang="zh-CN" i="1" dirty="0"/>
              <a:t>N</a:t>
            </a:r>
            <a:r>
              <a:rPr kumimoji="1" lang="zh-CN" altLang="en-US" dirty="0"/>
              <a:t>和一组边</a:t>
            </a:r>
            <a:r>
              <a:rPr kumimoji="1" lang="en-US" altLang="zh-CN" i="1" dirty="0"/>
              <a:t>E</a:t>
            </a:r>
            <a:r>
              <a:rPr kumimoji="1" lang="zh-CN" altLang="en-US" dirty="0"/>
              <a:t>所组成的一个对偶</a:t>
            </a:r>
            <a:r>
              <a:rPr kumimoji="1" lang="en-US" altLang="zh-CN" dirty="0"/>
              <a:t>G=(</a:t>
            </a:r>
            <a:r>
              <a:rPr kumimoji="1" lang="en-US" altLang="zh-CN" i="1" dirty="0"/>
              <a:t>N</a:t>
            </a:r>
            <a:r>
              <a:rPr kumimoji="1" lang="en-US" altLang="zh-CN" dirty="0"/>
              <a:t>, </a:t>
            </a:r>
            <a:r>
              <a:rPr kumimoji="1" lang="en-US" altLang="zh-CN" i="1" dirty="0"/>
              <a:t>E</a:t>
            </a:r>
            <a:r>
              <a:rPr kumimoji="1" lang="en-US" altLang="zh-CN" dirty="0"/>
              <a:t>)</a:t>
            </a:r>
            <a:r>
              <a:rPr kumimoji="1" lang="zh-CN" altLang="en-US" dirty="0"/>
              <a:t>，它具有下述形式的定义和限制：</a:t>
            </a:r>
            <a:r>
              <a:rPr kumimoji="1" lang="en-US" altLang="zh-CN" dirty="0"/>
              <a:t>(1)</a:t>
            </a:r>
            <a:r>
              <a:rPr kumimoji="1" lang="zh-CN" altLang="en-US" dirty="0"/>
              <a:t>把</a:t>
            </a:r>
            <a:r>
              <a:rPr kumimoji="1" lang="en-US" altLang="zh-CN" i="1" dirty="0"/>
              <a:t>N</a:t>
            </a:r>
            <a:r>
              <a:rPr kumimoji="1" lang="zh-CN" altLang="en-US" dirty="0"/>
              <a:t>分为两个互斥的子集，即一组进程结点</a:t>
            </a:r>
            <a:r>
              <a:rPr kumimoji="1" lang="en-US" altLang="zh-CN" dirty="0"/>
              <a:t>P={P</a:t>
            </a:r>
            <a:r>
              <a:rPr kumimoji="1" lang="en-US" altLang="zh-CN" baseline="-25000" dirty="0"/>
              <a:t>1</a:t>
            </a:r>
            <a:r>
              <a:rPr kumimoji="1" lang="en-US" altLang="zh-CN" dirty="0"/>
              <a:t>, P</a:t>
            </a:r>
            <a:r>
              <a:rPr kumimoji="1" lang="en-US" altLang="zh-CN" baseline="-25000" dirty="0"/>
              <a:t>2</a:t>
            </a:r>
            <a:r>
              <a:rPr kumimoji="1" lang="en-US" altLang="zh-CN" dirty="0"/>
              <a:t>, …, </a:t>
            </a:r>
            <a:r>
              <a:rPr kumimoji="1" lang="en-US" altLang="zh-CN" dirty="0" err="1"/>
              <a:t>P</a:t>
            </a:r>
            <a:r>
              <a:rPr kumimoji="1" lang="en-US" altLang="zh-CN" baseline="-25000" dirty="0" err="1"/>
              <a:t>n</a:t>
            </a:r>
            <a:r>
              <a:rPr kumimoji="1" lang="en-US" altLang="zh-CN" dirty="0"/>
              <a:t>}</a:t>
            </a:r>
            <a:r>
              <a:rPr kumimoji="1" lang="zh-CN" altLang="en-US" dirty="0"/>
              <a:t>和一组资源结点</a:t>
            </a:r>
            <a:r>
              <a:rPr kumimoji="1" lang="en-US" altLang="zh-CN" dirty="0"/>
              <a:t>R={R</a:t>
            </a:r>
            <a:r>
              <a:rPr kumimoji="1" lang="en-US" altLang="zh-CN" baseline="-25000" dirty="0"/>
              <a:t>1</a:t>
            </a:r>
            <a:r>
              <a:rPr kumimoji="1" lang="en-US" altLang="zh-CN" dirty="0"/>
              <a:t>, R</a:t>
            </a:r>
            <a:r>
              <a:rPr kumimoji="1" lang="en-US" altLang="zh-CN" baseline="-25000" dirty="0"/>
              <a:t>2</a:t>
            </a:r>
            <a:r>
              <a:rPr kumimoji="1" lang="en-US" altLang="zh-CN" dirty="0"/>
              <a:t>, …, R</a:t>
            </a:r>
            <a:r>
              <a:rPr kumimoji="1" lang="en-US" altLang="zh-CN" baseline="-25000" dirty="0"/>
              <a:t>n</a:t>
            </a:r>
            <a:r>
              <a:rPr kumimoji="1" lang="en-US" altLang="zh-CN" dirty="0"/>
              <a:t>}</a:t>
            </a:r>
            <a:r>
              <a:rPr kumimoji="1" lang="zh-CN" altLang="en-US" dirty="0"/>
              <a:t>，</a:t>
            </a:r>
            <a:r>
              <a:rPr kumimoji="1" lang="en-US" altLang="zh-CN" i="1" dirty="0"/>
              <a:t>N</a:t>
            </a:r>
            <a:r>
              <a:rPr kumimoji="1" lang="en-US" altLang="zh-CN" dirty="0"/>
              <a:t>=P∪R</a:t>
            </a:r>
            <a:r>
              <a:rPr kumimoji="1" lang="zh-CN" altLang="en-US" dirty="0"/>
              <a:t>。在后图所示的例子中，</a:t>
            </a:r>
            <a:r>
              <a:rPr kumimoji="1" lang="en-US" altLang="zh-CN" dirty="0"/>
              <a:t>P={P</a:t>
            </a:r>
            <a:r>
              <a:rPr kumimoji="1" lang="en-US" altLang="zh-CN" baseline="-25000" dirty="0"/>
              <a:t>1</a:t>
            </a:r>
            <a:r>
              <a:rPr kumimoji="1" lang="en-US" altLang="zh-CN" dirty="0"/>
              <a:t>, P</a:t>
            </a:r>
            <a:r>
              <a:rPr kumimoji="1" lang="en-US" altLang="zh-CN" baseline="-25000" dirty="0"/>
              <a:t>2</a:t>
            </a:r>
            <a:r>
              <a:rPr kumimoji="1" lang="en-US" altLang="zh-CN" dirty="0"/>
              <a:t>}</a:t>
            </a:r>
            <a:r>
              <a:rPr kumimoji="1" lang="zh-CN" altLang="en-US" dirty="0"/>
              <a:t>，</a:t>
            </a:r>
            <a:r>
              <a:rPr kumimoji="1" lang="en-US" altLang="zh-CN" dirty="0"/>
              <a:t>R = {R</a:t>
            </a:r>
            <a:r>
              <a:rPr kumimoji="1" lang="en-US" altLang="zh-CN" baseline="-25000" dirty="0"/>
              <a:t>1</a:t>
            </a:r>
            <a:r>
              <a:rPr kumimoji="1" lang="en-US" altLang="zh-CN" dirty="0"/>
              <a:t>, R</a:t>
            </a:r>
            <a:r>
              <a:rPr kumimoji="1" lang="en-US" altLang="zh-CN" baseline="-25000" dirty="0"/>
              <a:t>2</a:t>
            </a:r>
            <a:r>
              <a:rPr kumimoji="1" lang="en-US" altLang="zh-CN" dirty="0"/>
              <a:t>}</a:t>
            </a:r>
            <a:r>
              <a:rPr kumimoji="1" lang="zh-CN" altLang="en-US" dirty="0"/>
              <a:t>，</a:t>
            </a:r>
            <a:r>
              <a:rPr kumimoji="1" lang="en-US" altLang="zh-CN" i="1" dirty="0"/>
              <a:t>N</a:t>
            </a:r>
            <a:r>
              <a:rPr kumimoji="1" lang="en-US" altLang="zh-CN" dirty="0"/>
              <a:t>={R</a:t>
            </a:r>
            <a:r>
              <a:rPr kumimoji="1" lang="en-US" altLang="zh-CN" baseline="-25000" dirty="0"/>
              <a:t>1</a:t>
            </a:r>
            <a:r>
              <a:rPr kumimoji="1" lang="en-US" altLang="zh-CN" dirty="0"/>
              <a:t>, R</a:t>
            </a:r>
            <a:r>
              <a:rPr kumimoji="1" lang="en-US" altLang="zh-CN" baseline="-25000" dirty="0"/>
              <a:t>2</a:t>
            </a:r>
            <a:r>
              <a:rPr kumimoji="1" lang="en-US" altLang="zh-CN" dirty="0"/>
              <a:t>}∪{P</a:t>
            </a:r>
            <a:r>
              <a:rPr kumimoji="1" lang="en-US" altLang="zh-CN" baseline="-25000" dirty="0"/>
              <a:t>1</a:t>
            </a:r>
            <a:r>
              <a:rPr kumimoji="1" lang="en-US" altLang="zh-CN" dirty="0"/>
              <a:t>, P</a:t>
            </a:r>
            <a:r>
              <a:rPr kumimoji="1" lang="en-US" altLang="zh-CN" baseline="-25000" dirty="0"/>
              <a:t>2</a:t>
            </a:r>
            <a:r>
              <a:rPr kumimoji="1" lang="en-US" altLang="zh-CN" dirty="0"/>
              <a:t>}</a:t>
            </a:r>
            <a:r>
              <a:rPr kumimoji="1" lang="zh-CN" altLang="en-US" dirty="0"/>
              <a:t>。</a:t>
            </a:r>
            <a:r>
              <a:rPr kumimoji="1" lang="en-US" altLang="zh-CN" dirty="0"/>
              <a:t>(2)</a:t>
            </a:r>
            <a:r>
              <a:rPr kumimoji="1" lang="zh-CN" altLang="en-US" dirty="0"/>
              <a:t>凡属于</a:t>
            </a:r>
            <a:r>
              <a:rPr kumimoji="1" lang="en-US" altLang="zh-CN" i="1" dirty="0"/>
              <a:t>E</a:t>
            </a:r>
            <a:r>
              <a:rPr kumimoji="1" lang="zh-CN" altLang="en-US" dirty="0"/>
              <a:t>中的一个边</a:t>
            </a:r>
            <a:r>
              <a:rPr kumimoji="1" lang="en-US" altLang="zh-CN" dirty="0"/>
              <a:t>e∈</a:t>
            </a:r>
            <a:r>
              <a:rPr kumimoji="1" lang="en-US" altLang="zh-CN" i="1" dirty="0"/>
              <a:t>E</a:t>
            </a:r>
            <a:r>
              <a:rPr kumimoji="1" lang="zh-CN" altLang="en-US" dirty="0"/>
              <a:t>，都连接着</a:t>
            </a:r>
            <a:r>
              <a:rPr kumimoji="1" lang="en-US" altLang="zh-CN" dirty="0"/>
              <a:t>P</a:t>
            </a:r>
            <a:r>
              <a:rPr kumimoji="1" lang="zh-CN" altLang="en-US" dirty="0"/>
              <a:t>中的一个结点和</a:t>
            </a:r>
            <a:r>
              <a:rPr kumimoji="1" lang="en-US" altLang="zh-CN" dirty="0"/>
              <a:t>R</a:t>
            </a:r>
            <a:r>
              <a:rPr kumimoji="1" lang="zh-CN" altLang="en-US" dirty="0"/>
              <a:t>中的一个结点，</a:t>
            </a:r>
            <a:r>
              <a:rPr kumimoji="1" lang="en-US" altLang="zh-CN" dirty="0"/>
              <a:t>e = {P</a:t>
            </a:r>
            <a:r>
              <a:rPr kumimoji="1" lang="en-US" altLang="zh-CN" baseline="-25000" dirty="0"/>
              <a:t>i</a:t>
            </a:r>
            <a:r>
              <a:rPr kumimoji="1" lang="en-US" altLang="zh-CN" dirty="0"/>
              <a:t>, R</a:t>
            </a:r>
            <a:r>
              <a:rPr kumimoji="1" lang="en-US" altLang="zh-CN" baseline="-25000" dirty="0"/>
              <a:t>j</a:t>
            </a:r>
            <a:r>
              <a:rPr kumimoji="1" lang="en-US" altLang="zh-CN" dirty="0"/>
              <a:t>}</a:t>
            </a:r>
            <a:r>
              <a:rPr kumimoji="1" lang="zh-CN" altLang="en-US" dirty="0"/>
              <a:t>是资源请求边，由进程</a:t>
            </a:r>
            <a:r>
              <a:rPr kumimoji="1" lang="en-US" altLang="zh-CN" dirty="0"/>
              <a:t>P</a:t>
            </a:r>
            <a:r>
              <a:rPr kumimoji="1" lang="en-US" altLang="zh-CN" baseline="-25000" dirty="0"/>
              <a:t>i</a:t>
            </a:r>
            <a:r>
              <a:rPr kumimoji="1" lang="zh-CN" altLang="en-US" dirty="0"/>
              <a:t>指向资源</a:t>
            </a:r>
            <a:r>
              <a:rPr kumimoji="1" lang="en-US" altLang="zh-CN" dirty="0"/>
              <a:t>R</a:t>
            </a:r>
            <a:r>
              <a:rPr kumimoji="1" lang="en-US" altLang="zh-CN" baseline="-25000" dirty="0"/>
              <a:t>j</a:t>
            </a:r>
            <a:r>
              <a:rPr kumimoji="1" lang="zh-CN" altLang="en-US" dirty="0"/>
              <a:t>，它表示进程</a:t>
            </a:r>
            <a:r>
              <a:rPr kumimoji="1" lang="en-US" altLang="zh-CN" dirty="0"/>
              <a:t>P</a:t>
            </a:r>
            <a:r>
              <a:rPr kumimoji="1" lang="en-US" altLang="zh-CN" baseline="-25000" dirty="0"/>
              <a:t>i</a:t>
            </a:r>
            <a:r>
              <a:rPr kumimoji="1" lang="zh-CN" altLang="en-US" dirty="0"/>
              <a:t>请求一个单位的</a:t>
            </a:r>
            <a:r>
              <a:rPr kumimoji="1" lang="en-US" altLang="zh-CN" dirty="0"/>
              <a:t>R</a:t>
            </a:r>
            <a:r>
              <a:rPr kumimoji="1" lang="en-US" altLang="zh-CN" baseline="-25000" dirty="0"/>
              <a:t>j</a:t>
            </a:r>
            <a:r>
              <a:rPr kumimoji="1" lang="zh-CN" altLang="en-US" dirty="0"/>
              <a:t>资源。</a:t>
            </a:r>
            <a:r>
              <a:rPr kumimoji="1" lang="en-US" altLang="zh-CN" i="1" dirty="0"/>
              <a:t>E</a:t>
            </a:r>
            <a:r>
              <a:rPr kumimoji="1" lang="en-US" altLang="zh-CN" dirty="0"/>
              <a:t> = {R</a:t>
            </a:r>
            <a:r>
              <a:rPr kumimoji="1" lang="en-US" altLang="zh-CN" baseline="-25000" dirty="0"/>
              <a:t>j</a:t>
            </a:r>
            <a:r>
              <a:rPr kumimoji="1" lang="en-US" altLang="zh-CN" dirty="0"/>
              <a:t>, P</a:t>
            </a:r>
            <a:r>
              <a:rPr kumimoji="1" lang="en-US" altLang="zh-CN" baseline="-25000" dirty="0"/>
              <a:t>i</a:t>
            </a:r>
            <a:r>
              <a:rPr kumimoji="1" lang="en-US" altLang="zh-CN" dirty="0"/>
              <a:t>}</a:t>
            </a:r>
            <a:r>
              <a:rPr kumimoji="1" lang="zh-CN" altLang="en-US" dirty="0"/>
              <a:t>是资源分配边，由资源</a:t>
            </a:r>
            <a:r>
              <a:rPr kumimoji="1" lang="en-US" altLang="zh-CN" dirty="0"/>
              <a:t>R</a:t>
            </a:r>
            <a:r>
              <a:rPr kumimoji="1" lang="en-US" altLang="zh-CN" baseline="-25000" dirty="0"/>
              <a:t>j</a:t>
            </a:r>
            <a:r>
              <a:rPr kumimoji="1" lang="zh-CN" altLang="en-US" dirty="0"/>
              <a:t>指向进程</a:t>
            </a:r>
            <a:r>
              <a:rPr kumimoji="1" lang="en-US" altLang="zh-CN" dirty="0"/>
              <a:t>P</a:t>
            </a:r>
            <a:r>
              <a:rPr kumimoji="1" lang="en-US" altLang="zh-CN" baseline="-25000" dirty="0"/>
              <a:t>i</a:t>
            </a:r>
            <a:r>
              <a:rPr kumimoji="1" lang="zh-CN" altLang="en-US" dirty="0"/>
              <a:t>，它表示把一个单位的资源</a:t>
            </a:r>
            <a:r>
              <a:rPr kumimoji="1" lang="en-US" altLang="zh-CN" dirty="0"/>
              <a:t>R</a:t>
            </a:r>
            <a:r>
              <a:rPr kumimoji="1" lang="en-US" altLang="zh-CN" baseline="-25000" dirty="0"/>
              <a:t>j</a:t>
            </a:r>
            <a:r>
              <a:rPr kumimoji="1" lang="zh-CN" altLang="en-US" dirty="0"/>
              <a:t>分配给进程</a:t>
            </a:r>
            <a:r>
              <a:rPr kumimoji="1" lang="en-US" altLang="zh-CN" dirty="0"/>
              <a:t>P</a:t>
            </a:r>
            <a:r>
              <a:rPr kumimoji="1" lang="en-US" altLang="zh-CN" baseline="-25000" dirty="0"/>
              <a:t>i</a:t>
            </a:r>
            <a:r>
              <a:rPr kumimoji="1" lang="zh-CN" altLang="en-US" dirty="0"/>
              <a:t>。图中示出了两个请求边和两个分配边，即</a:t>
            </a:r>
            <a:r>
              <a:rPr kumimoji="1" lang="en-US" altLang="zh-CN" dirty="0"/>
              <a:t>E = {(P</a:t>
            </a:r>
            <a:r>
              <a:rPr kumimoji="1" lang="en-US" altLang="zh-CN" baseline="-25000" dirty="0"/>
              <a:t>1</a:t>
            </a:r>
            <a:r>
              <a:rPr kumimoji="1" lang="en-US" altLang="zh-CN" dirty="0"/>
              <a:t>, R</a:t>
            </a:r>
            <a:r>
              <a:rPr kumimoji="1" lang="en-US" altLang="zh-CN" baseline="-25000" dirty="0"/>
              <a:t>2</a:t>
            </a:r>
            <a:r>
              <a:rPr kumimoji="1" lang="en-US" altLang="zh-CN" dirty="0"/>
              <a:t>), (R</a:t>
            </a:r>
            <a:r>
              <a:rPr kumimoji="1" lang="en-US" altLang="zh-CN" baseline="-25000" dirty="0"/>
              <a:t>2</a:t>
            </a:r>
            <a:r>
              <a:rPr kumimoji="1" lang="en-US" altLang="zh-CN" dirty="0"/>
              <a:t>, P</a:t>
            </a:r>
            <a:r>
              <a:rPr kumimoji="1" lang="en-US" altLang="zh-CN" baseline="-25000" dirty="0"/>
              <a:t>2</a:t>
            </a:r>
            <a:r>
              <a:rPr kumimoji="1" lang="en-US" altLang="zh-CN" dirty="0"/>
              <a:t>), (P</a:t>
            </a:r>
            <a:r>
              <a:rPr kumimoji="1" lang="en-US" altLang="zh-CN" baseline="-25000" dirty="0"/>
              <a:t>2</a:t>
            </a:r>
            <a:r>
              <a:rPr kumimoji="1" lang="en-US" altLang="zh-CN" dirty="0"/>
              <a:t>, R</a:t>
            </a:r>
            <a:r>
              <a:rPr kumimoji="1" lang="en-US" altLang="zh-CN" baseline="-25000" dirty="0"/>
              <a:t>1</a:t>
            </a:r>
            <a:r>
              <a:rPr kumimoji="1" lang="en-US" altLang="zh-CN" dirty="0"/>
              <a:t>), (R</a:t>
            </a:r>
            <a:r>
              <a:rPr kumimoji="1" lang="en-US" altLang="zh-CN" baseline="-25000" dirty="0"/>
              <a:t>1</a:t>
            </a:r>
            <a:r>
              <a:rPr kumimoji="1" lang="en-US" altLang="zh-CN" dirty="0"/>
              <a:t>, P</a:t>
            </a:r>
            <a:r>
              <a:rPr kumimoji="1" lang="en-US" altLang="zh-CN" baseline="-25000" dirty="0"/>
              <a:t>1</a:t>
            </a:r>
            <a:r>
              <a:rPr kumimoji="1" lang="en-US" altLang="zh-CN" dirty="0"/>
              <a:t>)}</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0640314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死锁的检测与解除</a:t>
            </a:r>
          </a:p>
        </p:txBody>
      </p:sp>
      <p:sp>
        <p:nvSpPr>
          <p:cNvPr id="3" name="内容占位符 2"/>
          <p:cNvSpPr>
            <a:spLocks noGrp="1"/>
          </p:cNvSpPr>
          <p:nvPr>
            <p:ph idx="1"/>
          </p:nvPr>
        </p:nvSpPr>
        <p:spPr>
          <a:xfrm>
            <a:off x="838200" y="1348579"/>
            <a:ext cx="10515600" cy="5696457"/>
          </a:xfrm>
        </p:spPr>
        <p:txBody>
          <a:bodyPr>
            <a:normAutofit/>
          </a:bodyPr>
          <a:lstStyle/>
          <a:p>
            <a:r>
              <a:rPr kumimoji="1" lang="zh-CN" altLang="en-US" dirty="0"/>
              <a:t>死锁的检测</a:t>
            </a:r>
            <a:endParaRPr kumimoji="1" lang="en-US" altLang="zh-CN" sz="2000" dirty="0"/>
          </a:p>
          <a:p>
            <a:pPr lvl="1">
              <a:buFont typeface="Wingdings" panose="05000000000000000000" pitchFamily="2" charset="2"/>
              <a:buChar char="ü"/>
            </a:pPr>
            <a:r>
              <a:rPr kumimoji="1" lang="zh-CN" altLang="en-US" dirty="0"/>
              <a:t>资源分配图</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3-19">
            <a:extLst>
              <a:ext uri="{FF2B5EF4-FFF2-40B4-BE49-F238E27FC236}">
                <a16:creationId xmlns:a16="http://schemas.microsoft.com/office/drawing/2014/main" id="{2ED2AABD-A6BB-4AD5-A7AA-0A83ACC3E4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6008" y="2625182"/>
            <a:ext cx="4019983" cy="3596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91963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死锁的检测与解除</a:t>
            </a:r>
          </a:p>
        </p:txBody>
      </p:sp>
      <p:sp>
        <p:nvSpPr>
          <p:cNvPr id="3" name="内容占位符 2"/>
          <p:cNvSpPr>
            <a:spLocks noGrp="1"/>
          </p:cNvSpPr>
          <p:nvPr>
            <p:ph idx="1"/>
          </p:nvPr>
        </p:nvSpPr>
        <p:spPr>
          <a:xfrm>
            <a:off x="838200" y="1348579"/>
            <a:ext cx="10515600" cy="5696457"/>
          </a:xfrm>
        </p:spPr>
        <p:txBody>
          <a:bodyPr>
            <a:normAutofit/>
          </a:bodyPr>
          <a:lstStyle/>
          <a:p>
            <a:r>
              <a:rPr kumimoji="1" lang="zh-CN" altLang="en-US" dirty="0"/>
              <a:t>死锁的检测</a:t>
            </a:r>
            <a:endParaRPr kumimoji="1" lang="en-US" altLang="zh-CN" sz="2000" dirty="0"/>
          </a:p>
          <a:p>
            <a:pPr lvl="1">
              <a:buFont typeface="Wingdings" panose="05000000000000000000" pitchFamily="2" charset="2"/>
              <a:buChar char="ü"/>
            </a:pPr>
            <a:r>
              <a:rPr kumimoji="1" lang="zh-CN" altLang="en-US" dirty="0"/>
              <a:t>死锁定理</a:t>
            </a:r>
            <a:endParaRPr kumimoji="1" lang="en-US" altLang="zh-CN" dirty="0"/>
          </a:p>
          <a:p>
            <a:pPr marL="914400" lvl="2" indent="0">
              <a:spcBef>
                <a:spcPts val="0"/>
              </a:spcBef>
              <a:buNone/>
            </a:pPr>
            <a:r>
              <a:rPr kumimoji="1" lang="zh-CN" altLang="en-US" dirty="0"/>
              <a:t>简化资源分配图以检测当系统是否为死锁状态。具体简化方法如下：</a:t>
            </a:r>
            <a:endParaRPr kumimoji="1" lang="en-US" altLang="zh-CN" dirty="0"/>
          </a:p>
          <a:p>
            <a:pPr marL="914400" lvl="2" indent="0">
              <a:spcBef>
                <a:spcPts val="0"/>
              </a:spcBef>
              <a:buNone/>
            </a:pPr>
            <a:r>
              <a:rPr lang="en-US" altLang="zh-CN" dirty="0"/>
              <a:t>(1)</a:t>
            </a:r>
            <a:r>
              <a:rPr lang="zh-CN" altLang="en-US" dirty="0"/>
              <a:t>在资源分配图中，找出一个既不阻塞又非独立的进程结点</a:t>
            </a:r>
            <a:r>
              <a:rPr lang="en-US" altLang="zh-CN" dirty="0"/>
              <a:t>P</a:t>
            </a:r>
            <a:r>
              <a:rPr lang="en-US" altLang="zh-CN" baseline="-25000" dirty="0"/>
              <a:t>i</a:t>
            </a:r>
            <a:r>
              <a:rPr lang="zh-CN" altLang="en-US" dirty="0"/>
              <a:t>。在顺利的情况下，</a:t>
            </a:r>
            <a:r>
              <a:rPr lang="en-US" altLang="zh-CN" dirty="0"/>
              <a:t>P</a:t>
            </a:r>
            <a:r>
              <a:rPr lang="en-US" altLang="zh-CN" baseline="-25000" dirty="0"/>
              <a:t>i</a:t>
            </a:r>
            <a:r>
              <a:rPr lang="zh-CN" altLang="en-US" dirty="0"/>
              <a:t>可获得所需资源而继续运行，直至运行完毕，再释放其所占有的全部资源，这相当于消去</a:t>
            </a:r>
            <a:r>
              <a:rPr lang="en-US" altLang="zh-CN" dirty="0"/>
              <a:t>P</a:t>
            </a:r>
            <a:r>
              <a:rPr lang="en-US" altLang="zh-CN" baseline="-25000" dirty="0"/>
              <a:t>i</a:t>
            </a:r>
            <a:r>
              <a:rPr lang="zh-CN" altLang="en-US" dirty="0"/>
              <a:t>的请求边和分配边，使之成为孤立的结点。在后图</a:t>
            </a:r>
            <a:r>
              <a:rPr lang="en-US" altLang="zh-CN" dirty="0"/>
              <a:t>(a)</a:t>
            </a:r>
            <a:r>
              <a:rPr lang="zh-CN" altLang="en-US" dirty="0"/>
              <a:t>中，将</a:t>
            </a:r>
            <a:r>
              <a:rPr lang="en-US" altLang="zh-CN" dirty="0"/>
              <a:t>P</a:t>
            </a:r>
            <a:r>
              <a:rPr lang="en-US" altLang="zh-CN" baseline="-25000" dirty="0"/>
              <a:t>1</a:t>
            </a:r>
            <a:r>
              <a:rPr lang="zh-CN" altLang="en-US" dirty="0"/>
              <a:t>的两个分配边和一个请求边消去，便形成后图</a:t>
            </a:r>
            <a:r>
              <a:rPr lang="en-US" altLang="zh-CN" dirty="0"/>
              <a:t>(b)</a:t>
            </a:r>
            <a:r>
              <a:rPr lang="zh-CN" altLang="en-US" dirty="0"/>
              <a:t>所示的情况。</a:t>
            </a:r>
            <a:endParaRPr lang="en-US" altLang="zh-CN" dirty="0"/>
          </a:p>
          <a:p>
            <a:pPr marL="914400" lvl="2" indent="0">
              <a:spcBef>
                <a:spcPts val="0"/>
              </a:spcBef>
              <a:buNone/>
            </a:pPr>
            <a:r>
              <a:rPr lang="en-US" altLang="zh-CN" dirty="0"/>
              <a:t>(2)P</a:t>
            </a:r>
            <a:r>
              <a:rPr lang="en-US" altLang="zh-CN" baseline="-25000" dirty="0"/>
              <a:t>1</a:t>
            </a:r>
            <a:r>
              <a:rPr lang="zh-CN" altLang="en-US" dirty="0"/>
              <a:t>释放资源后，便可使</a:t>
            </a:r>
            <a:r>
              <a:rPr lang="en-US" altLang="zh-CN" dirty="0"/>
              <a:t>P</a:t>
            </a:r>
            <a:r>
              <a:rPr lang="en-US" altLang="zh-CN" baseline="-25000" dirty="0"/>
              <a:t>2</a:t>
            </a:r>
            <a:r>
              <a:rPr lang="zh-CN" altLang="en-US" dirty="0"/>
              <a:t>获得资源而继续运行，直至</a:t>
            </a:r>
            <a:r>
              <a:rPr lang="en-US" altLang="zh-CN" dirty="0"/>
              <a:t>P</a:t>
            </a:r>
            <a:r>
              <a:rPr lang="en-US" altLang="zh-CN" baseline="-25000" dirty="0"/>
              <a:t>2</a:t>
            </a:r>
            <a:r>
              <a:rPr lang="zh-CN" altLang="en-US" dirty="0"/>
              <a:t>完成后又释放出它所占有的全部资源，形成后图</a:t>
            </a:r>
            <a:r>
              <a:rPr lang="en-US" altLang="zh-CN" dirty="0"/>
              <a:t>(c)</a:t>
            </a:r>
            <a:r>
              <a:rPr lang="zh-CN" altLang="en-US" dirty="0"/>
              <a:t>所示的情况，即将</a:t>
            </a:r>
            <a:r>
              <a:rPr lang="en-US" altLang="zh-CN" dirty="0"/>
              <a:t>P</a:t>
            </a:r>
            <a:r>
              <a:rPr lang="en-US" altLang="zh-CN" baseline="-25000" dirty="0"/>
              <a:t>2</a:t>
            </a:r>
            <a:r>
              <a:rPr lang="zh-CN" altLang="en-US" dirty="0"/>
              <a:t>的两条请求边和一条分配边消去。</a:t>
            </a:r>
            <a:endParaRPr lang="en-US" altLang="zh-CN" dirty="0"/>
          </a:p>
          <a:p>
            <a:pPr marL="914400" lvl="2" indent="0">
              <a:spcBef>
                <a:spcPts val="0"/>
              </a:spcBef>
              <a:buNone/>
            </a:pPr>
            <a:r>
              <a:rPr lang="en-US" altLang="zh-CN" dirty="0"/>
              <a:t>(3)</a:t>
            </a:r>
            <a:r>
              <a:rPr lang="zh-CN" altLang="en-US" dirty="0"/>
              <a:t>在进行一系列简化后，若能消去图中所有的边，使所有进程结点都成为孤立结点，则称该图是可完全简化的，若不能通过任何过程使该图完全简化，则称该图是不可完全简化的。</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60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982985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死锁的检测与解除</a:t>
            </a:r>
          </a:p>
        </p:txBody>
      </p:sp>
      <p:sp>
        <p:nvSpPr>
          <p:cNvPr id="3" name="内容占位符 2"/>
          <p:cNvSpPr>
            <a:spLocks noGrp="1"/>
          </p:cNvSpPr>
          <p:nvPr>
            <p:ph idx="1"/>
          </p:nvPr>
        </p:nvSpPr>
        <p:spPr>
          <a:xfrm>
            <a:off x="838200" y="1348579"/>
            <a:ext cx="10515600" cy="5696457"/>
          </a:xfrm>
        </p:spPr>
        <p:txBody>
          <a:bodyPr>
            <a:normAutofit/>
          </a:bodyPr>
          <a:lstStyle/>
          <a:p>
            <a:r>
              <a:rPr kumimoji="1" lang="zh-CN" altLang="en-US" dirty="0"/>
              <a:t>死锁的检测</a:t>
            </a:r>
            <a:endParaRPr kumimoji="1" lang="en-US" altLang="zh-CN" sz="2000" dirty="0"/>
          </a:p>
          <a:p>
            <a:pPr lvl="1">
              <a:buFont typeface="Wingdings" panose="05000000000000000000" pitchFamily="2" charset="2"/>
              <a:buChar char="ü"/>
            </a:pPr>
            <a:r>
              <a:rPr kumimoji="1" lang="zh-CN" altLang="en-US" dirty="0"/>
              <a:t>死锁定理</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61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 name="Picture 4" descr="3-20">
            <a:extLst>
              <a:ext uri="{FF2B5EF4-FFF2-40B4-BE49-F238E27FC236}">
                <a16:creationId xmlns:a16="http://schemas.microsoft.com/office/drawing/2014/main" id="{B09FB936-774A-4D27-AC21-C10032A453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0150" y="3020469"/>
            <a:ext cx="7273925"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9D37FA20-F451-4992-9BD6-F165377DA02A}"/>
              </a:ext>
            </a:extLst>
          </p:cNvPr>
          <p:cNvSpPr txBox="1"/>
          <p:nvPr/>
        </p:nvSpPr>
        <p:spPr>
          <a:xfrm>
            <a:off x="4725411" y="5773321"/>
            <a:ext cx="2283402" cy="400110"/>
          </a:xfrm>
          <a:prstGeom prst="rect">
            <a:avLst/>
          </a:prstGeom>
          <a:noFill/>
        </p:spPr>
        <p:txBody>
          <a:bodyPr wrap="square">
            <a:spAutoFit/>
          </a:bodyPr>
          <a:lstStyle/>
          <a:p>
            <a:r>
              <a:rPr lang="zh-CN" altLang="en-US" sz="2000" b="1" dirty="0">
                <a:solidFill>
                  <a:schemeClr val="accent4">
                    <a:lumMod val="50000"/>
                  </a:schemeClr>
                </a:solidFill>
              </a:rPr>
              <a:t>资源分配图的简化</a:t>
            </a:r>
          </a:p>
        </p:txBody>
      </p:sp>
    </p:spTree>
    <p:extLst>
      <p:ext uri="{BB962C8B-B14F-4D97-AF65-F5344CB8AC3E}">
        <p14:creationId xmlns:p14="http://schemas.microsoft.com/office/powerpoint/2010/main" val="33272082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死锁的检测与解除</a:t>
            </a:r>
          </a:p>
        </p:txBody>
      </p:sp>
      <p:sp>
        <p:nvSpPr>
          <p:cNvPr id="3" name="内容占位符 2"/>
          <p:cNvSpPr>
            <a:spLocks noGrp="1"/>
          </p:cNvSpPr>
          <p:nvPr>
            <p:ph idx="1"/>
          </p:nvPr>
        </p:nvSpPr>
        <p:spPr>
          <a:xfrm>
            <a:off x="838200" y="1348579"/>
            <a:ext cx="10515600" cy="5696457"/>
          </a:xfrm>
        </p:spPr>
        <p:txBody>
          <a:bodyPr>
            <a:normAutofit/>
          </a:bodyPr>
          <a:lstStyle/>
          <a:p>
            <a:r>
              <a:rPr kumimoji="1" lang="zh-CN" altLang="en-US" dirty="0"/>
              <a:t>死锁的检测</a:t>
            </a:r>
            <a:endParaRPr kumimoji="1" lang="en-US" altLang="zh-CN" sz="2000" dirty="0"/>
          </a:p>
          <a:p>
            <a:pPr lvl="1">
              <a:buFont typeface="Wingdings" panose="05000000000000000000" pitchFamily="2" charset="2"/>
              <a:buChar char="ü"/>
            </a:pPr>
            <a:r>
              <a:rPr kumimoji="1" lang="zh-CN" altLang="en-US" dirty="0"/>
              <a:t>死锁检测中的数据结构</a:t>
            </a:r>
            <a:endParaRPr kumimoji="1" lang="en-US" altLang="zh-CN" dirty="0"/>
          </a:p>
          <a:p>
            <a:pPr marL="914400" lvl="2" indent="0">
              <a:buNone/>
            </a:pPr>
            <a:r>
              <a:rPr lang="zh-CN" altLang="en-US" dirty="0"/>
              <a:t>死锁检测中的数据结构类似于银行家算法中的数据结构：</a:t>
            </a:r>
            <a:endParaRPr lang="en-US" altLang="zh-CN" dirty="0"/>
          </a:p>
          <a:p>
            <a:pPr marL="914400" lvl="2" indent="0">
              <a:buNone/>
            </a:pPr>
            <a:r>
              <a:rPr lang="en-US" altLang="zh-CN" sz="2000" dirty="0"/>
              <a:t>(1)</a:t>
            </a:r>
            <a:r>
              <a:rPr lang="zh-CN" altLang="en-US" sz="2000" dirty="0"/>
              <a:t>可利用资源向量</a:t>
            </a:r>
            <a:r>
              <a:rPr lang="en-US" altLang="zh-CN" sz="2000" dirty="0"/>
              <a:t>Available</a:t>
            </a:r>
            <a:r>
              <a:rPr lang="zh-CN" altLang="en-US" sz="2000" dirty="0"/>
              <a:t>，它表示</a:t>
            </a:r>
            <a:r>
              <a:rPr lang="en-US" altLang="zh-CN" sz="2000" dirty="0"/>
              <a:t>m</a:t>
            </a:r>
            <a:r>
              <a:rPr lang="zh-CN" altLang="en-US" sz="2000" dirty="0"/>
              <a:t>类资源中每一类资源的可用数目；</a:t>
            </a:r>
            <a:endParaRPr lang="en-US" altLang="zh-CN" sz="2000" dirty="0"/>
          </a:p>
          <a:p>
            <a:pPr marL="914400" lvl="2" indent="0">
              <a:buNone/>
            </a:pPr>
            <a:r>
              <a:rPr lang="en-US" altLang="zh-CN" sz="2000" dirty="0"/>
              <a:t>(2)</a:t>
            </a:r>
            <a:r>
              <a:rPr lang="zh-CN" altLang="en-US" sz="2000" dirty="0"/>
              <a:t>把不占用资源的进程</a:t>
            </a:r>
            <a:r>
              <a:rPr lang="en-US" altLang="zh-CN" sz="2000" dirty="0"/>
              <a:t>(</a:t>
            </a:r>
            <a:r>
              <a:rPr lang="zh-CN" altLang="en-US" sz="2000" dirty="0"/>
              <a:t>向量</a:t>
            </a:r>
            <a:r>
              <a:rPr lang="en-US" altLang="zh-CN" sz="2000" dirty="0"/>
              <a:t>Allocation=0)</a:t>
            </a:r>
            <a:r>
              <a:rPr lang="zh-CN" altLang="en-US" sz="2000" dirty="0"/>
              <a:t>记入</a:t>
            </a:r>
            <a:r>
              <a:rPr lang="en-US" altLang="zh-CN" sz="2000" dirty="0"/>
              <a:t>L</a:t>
            </a:r>
            <a:r>
              <a:rPr lang="zh-CN" altLang="en-US" sz="2000" dirty="0"/>
              <a:t>表中，即</a:t>
            </a:r>
            <a:r>
              <a:rPr lang="en-US" altLang="zh-CN" sz="2000" dirty="0"/>
              <a:t>L</a:t>
            </a:r>
            <a:r>
              <a:rPr lang="en-US" altLang="zh-CN" sz="2000" baseline="-25000" dirty="0"/>
              <a:t>i</a:t>
            </a:r>
            <a:r>
              <a:rPr lang="en-US" altLang="zh-CN" sz="2000" dirty="0"/>
              <a:t>∪L</a:t>
            </a:r>
            <a:r>
              <a:rPr lang="zh-CN" altLang="en-US" dirty="0"/>
              <a:t>；</a:t>
            </a:r>
            <a:endParaRPr lang="en-US" altLang="zh-CN" dirty="0"/>
          </a:p>
          <a:p>
            <a:pPr marL="914400" lvl="2" indent="0">
              <a:buNone/>
            </a:pPr>
            <a:r>
              <a:rPr lang="en-US" altLang="zh-CN" sz="2000" dirty="0"/>
              <a:t>(3)</a:t>
            </a:r>
            <a:r>
              <a:rPr lang="zh-CN" altLang="en-US" sz="2000" dirty="0"/>
              <a:t>从进程集合中找到一个</a:t>
            </a:r>
            <a:r>
              <a:rPr lang="en-US" altLang="zh-CN" sz="2000" dirty="0"/>
              <a:t>Request</a:t>
            </a:r>
            <a:r>
              <a:rPr lang="en-US" altLang="zh-CN" sz="2000" baseline="-25000" dirty="0"/>
              <a:t>i</a:t>
            </a:r>
            <a:r>
              <a:rPr lang="en-US" altLang="zh-CN" sz="2000" dirty="0"/>
              <a:t>≤Work</a:t>
            </a:r>
            <a:r>
              <a:rPr lang="zh-CN" altLang="en-US" sz="2000" dirty="0"/>
              <a:t>的进程，做如下处理：</a:t>
            </a:r>
            <a:r>
              <a:rPr lang="en-US" altLang="zh-CN" sz="2000" dirty="0"/>
              <a:t>       </a:t>
            </a:r>
          </a:p>
          <a:p>
            <a:pPr marL="914400" lvl="2" indent="0">
              <a:buNone/>
            </a:pPr>
            <a:r>
              <a:rPr lang="en-US" altLang="zh-CN" dirty="0"/>
              <a:t>        </a:t>
            </a:r>
            <a:r>
              <a:rPr lang="zh-CN" altLang="en-US" sz="2000" dirty="0"/>
              <a:t>①将其资源分配图简化，释放出资源，增加工作向量</a:t>
            </a:r>
            <a:r>
              <a:rPr lang="en-US" altLang="zh-CN" sz="2000" dirty="0"/>
              <a:t>Work =Work + </a:t>
            </a:r>
            <a:r>
              <a:rPr lang="en-US" altLang="zh-CN" sz="2000" dirty="0" err="1"/>
              <a:t>Allocation</a:t>
            </a:r>
            <a:r>
              <a:rPr lang="en-US" altLang="zh-CN" sz="2000" baseline="-25000" dirty="0" err="1"/>
              <a:t>i</a:t>
            </a:r>
            <a:endParaRPr lang="en-US" altLang="zh-CN" baseline="-25000" dirty="0"/>
          </a:p>
          <a:p>
            <a:pPr marL="914400" lvl="2" indent="0">
              <a:buNone/>
            </a:pPr>
            <a:r>
              <a:rPr lang="en-US" altLang="zh-CN" sz="2000" baseline="-25000" dirty="0"/>
              <a:t>            </a:t>
            </a:r>
            <a:r>
              <a:rPr lang="zh-CN" altLang="en-US" sz="2000" dirty="0"/>
              <a:t>②将它记入</a:t>
            </a:r>
            <a:r>
              <a:rPr lang="en-US" altLang="zh-CN" sz="2000" dirty="0"/>
              <a:t>L</a:t>
            </a:r>
            <a:r>
              <a:rPr lang="zh-CN" altLang="en-US" sz="2000" dirty="0"/>
              <a:t>表中</a:t>
            </a:r>
            <a:endParaRPr lang="en-US" altLang="zh-CN" dirty="0"/>
          </a:p>
          <a:p>
            <a:pPr marL="914400" lvl="2" indent="0">
              <a:buNone/>
            </a:pPr>
            <a:r>
              <a:rPr lang="en-US" altLang="zh-CN" sz="2000" dirty="0"/>
              <a:t>(4)</a:t>
            </a:r>
            <a:r>
              <a:rPr lang="zh-CN" altLang="en-US" sz="2000" dirty="0"/>
              <a:t>若不能把所有进程都记入</a:t>
            </a:r>
            <a:r>
              <a:rPr lang="en-US" altLang="zh-CN" sz="2000" dirty="0"/>
              <a:t>L</a:t>
            </a:r>
            <a:r>
              <a:rPr lang="zh-CN" altLang="en-US" sz="2000" dirty="0"/>
              <a:t>表中，便表明系统状态</a:t>
            </a:r>
            <a:r>
              <a:rPr lang="en-US" altLang="zh-CN" sz="2000" dirty="0"/>
              <a:t>S</a:t>
            </a:r>
            <a:r>
              <a:rPr lang="zh-CN" altLang="en-US" sz="2000" dirty="0"/>
              <a:t>的资源分配图是不可完全简化的。因此，该系统状态将发生死锁。</a:t>
            </a:r>
            <a:endParaRPr lang="en-US" altLang="zh-CN" sz="2000"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62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9148356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死锁的检测与解除</a:t>
            </a:r>
          </a:p>
        </p:txBody>
      </p:sp>
      <p:sp>
        <p:nvSpPr>
          <p:cNvPr id="3" name="内容占位符 2"/>
          <p:cNvSpPr>
            <a:spLocks noGrp="1"/>
          </p:cNvSpPr>
          <p:nvPr>
            <p:ph idx="1"/>
          </p:nvPr>
        </p:nvSpPr>
        <p:spPr>
          <a:xfrm>
            <a:off x="838200" y="1348579"/>
            <a:ext cx="10515600" cy="5696457"/>
          </a:xfrm>
        </p:spPr>
        <p:txBody>
          <a:bodyPr>
            <a:normAutofit/>
          </a:bodyPr>
          <a:lstStyle/>
          <a:p>
            <a:r>
              <a:rPr kumimoji="1" lang="zh-CN" altLang="en-US" dirty="0"/>
              <a:t>死锁的解除</a:t>
            </a:r>
            <a:endParaRPr kumimoji="1" lang="en-US" altLang="zh-CN" sz="2000" dirty="0"/>
          </a:p>
          <a:p>
            <a:pPr lvl="1">
              <a:buFont typeface="Wingdings" panose="05000000000000000000" pitchFamily="2" charset="2"/>
              <a:buChar char="ü"/>
            </a:pPr>
            <a:r>
              <a:rPr kumimoji="1" lang="zh-CN" altLang="en-US" dirty="0"/>
              <a:t>终止进程的方法</a:t>
            </a:r>
            <a:endParaRPr kumimoji="1" lang="en-US" altLang="zh-CN" dirty="0"/>
          </a:p>
          <a:p>
            <a:pPr marL="914400" lvl="2" indent="0">
              <a:spcBef>
                <a:spcPts val="0"/>
              </a:spcBef>
              <a:buNone/>
            </a:pPr>
            <a:r>
              <a:rPr lang="zh-CN" altLang="en-US" b="1" dirty="0">
                <a:solidFill>
                  <a:srgbClr val="FF0000"/>
                </a:solidFill>
              </a:rPr>
              <a:t>终止所有死锁进程</a:t>
            </a:r>
            <a:r>
              <a:rPr lang="zh-CN" altLang="en-US" dirty="0"/>
              <a:t>：终止所有的死锁进程，死锁自然也就解除了，但所付出的代价可能会很大。因为其中有些进程可能已经运行了很长时间，已接近结束，一旦被终止真可谓“功亏一篑”，以后还得从头再来。还可能会有其它方面的代价，在此不再一一列举</a:t>
            </a:r>
            <a:r>
              <a:rPr lang="zh-CN" altLang="en-US" sz="2000" dirty="0"/>
              <a:t>。</a:t>
            </a:r>
            <a:endParaRPr lang="en-US" altLang="zh-CN" sz="2000" dirty="0"/>
          </a:p>
          <a:p>
            <a:pPr marL="914400" lvl="2" indent="0">
              <a:spcBef>
                <a:spcPts val="0"/>
              </a:spcBef>
              <a:buNone/>
            </a:pPr>
            <a:r>
              <a:rPr lang="zh-CN" altLang="en-US" sz="2000" b="1" dirty="0">
                <a:solidFill>
                  <a:srgbClr val="FF0000"/>
                </a:solidFill>
              </a:rPr>
              <a:t>逐个终止进程</a:t>
            </a:r>
            <a:r>
              <a:rPr lang="zh-CN" altLang="en-US" sz="2000" dirty="0"/>
              <a:t>：按某种顺序逐个终止进程，直至有足够的资源，以打破循环等待，把系统从死锁状态解脱出来为止。该方法所付出的代价也可能很大，因为每终止一个进程，都需用死锁检测算法确定系统死锁是否已经被解除，若未解除还需再终止另一个进程。另外，在采取逐个终止进程策略时，还涉及到应采用什么策略选择一个要终止的进程。选择策略最主要的依据是，为死锁解除所付出的“代价最小”。但怎么样才算是“代价最小”，很难有一个精确的度量。</a:t>
            </a:r>
            <a:endParaRPr lang="en-US" altLang="zh-CN" sz="2000"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63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634881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465,&quot;width&quot;:12020}"/>
</p:tagLst>
</file>

<file path=ppt/theme/theme1.xml><?xml version="1.0" encoding="utf-8"?>
<a:theme xmlns:a="http://schemas.openxmlformats.org/drawingml/2006/main" name="2_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768</TotalTime>
  <Words>8121</Words>
  <Application>Microsoft Office PowerPoint</Application>
  <PresentationFormat>宽屏</PresentationFormat>
  <Paragraphs>444</Paragraphs>
  <Slides>63</Slides>
  <Notes>41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63</vt:i4>
      </vt:variant>
    </vt:vector>
  </HeadingPairs>
  <TitlesOfParts>
    <vt:vector size="71" baseType="lpstr">
      <vt:lpstr>等线</vt:lpstr>
      <vt:lpstr>方正琥珀简体</vt:lpstr>
      <vt:lpstr>微软雅黑</vt:lpstr>
      <vt:lpstr>Arial</vt:lpstr>
      <vt:lpstr>Times New Roman</vt:lpstr>
      <vt:lpstr>Wingdings</vt:lpstr>
      <vt:lpstr>2_Office 主题​​</vt:lpstr>
      <vt:lpstr>公式</vt:lpstr>
      <vt:lpstr>第3章  处理机调度与死锁  </vt:lpstr>
      <vt:lpstr>处理机调度的层次和调度算法的目标</vt:lpstr>
      <vt:lpstr>处理机调度的层次和调度算法的目标</vt:lpstr>
      <vt:lpstr>处理机调度的层次和调度算法的目标</vt:lpstr>
      <vt:lpstr>处理机调度的层次和调度算法的目标</vt:lpstr>
      <vt:lpstr>处理机调度的层次和调度算法的目标</vt:lpstr>
      <vt:lpstr>处理机调度的层次和调度算法的目标</vt:lpstr>
      <vt:lpstr>处理机调度的层次和调度算法的目标</vt:lpstr>
      <vt:lpstr>作业与作业调度</vt:lpstr>
      <vt:lpstr>作业与作业调度</vt:lpstr>
      <vt:lpstr>作业与作业调度</vt:lpstr>
      <vt:lpstr>作业与作业调度</vt:lpstr>
      <vt:lpstr>作业与作业调度</vt:lpstr>
      <vt:lpstr>作业与作业调度</vt:lpstr>
      <vt:lpstr>作业与作业调度</vt:lpstr>
      <vt:lpstr>作业与作业调度</vt:lpstr>
      <vt:lpstr>进程调度</vt:lpstr>
      <vt:lpstr>进程调度</vt:lpstr>
      <vt:lpstr>进程调度</vt:lpstr>
      <vt:lpstr>进程调度</vt:lpstr>
      <vt:lpstr>进程调度</vt:lpstr>
      <vt:lpstr>进程调度</vt:lpstr>
      <vt:lpstr>进程调度</vt:lpstr>
      <vt:lpstr>进程调度</vt:lpstr>
      <vt:lpstr>进程调度</vt:lpstr>
      <vt:lpstr>进程调度</vt:lpstr>
      <vt:lpstr>进程调度</vt:lpstr>
      <vt:lpstr>进程调度</vt:lpstr>
      <vt:lpstr>进程调度</vt:lpstr>
      <vt:lpstr>实时调度</vt:lpstr>
      <vt:lpstr>实时调度</vt:lpstr>
      <vt:lpstr>实时调度</vt:lpstr>
      <vt:lpstr>实时调度</vt:lpstr>
      <vt:lpstr>实时调度</vt:lpstr>
      <vt:lpstr>实时调度</vt:lpstr>
      <vt:lpstr>实时调度</vt:lpstr>
      <vt:lpstr>实时调度</vt:lpstr>
      <vt:lpstr>实时调度</vt:lpstr>
      <vt:lpstr>实时调度</vt:lpstr>
      <vt:lpstr>死锁概述</vt:lpstr>
      <vt:lpstr>死锁概述</vt:lpstr>
      <vt:lpstr>死锁概述</vt:lpstr>
      <vt:lpstr>死锁概述</vt:lpstr>
      <vt:lpstr>死锁概述</vt:lpstr>
      <vt:lpstr>死锁概述</vt:lpstr>
      <vt:lpstr>预防死锁</vt:lpstr>
      <vt:lpstr>预防死锁</vt:lpstr>
      <vt:lpstr>避免死锁</vt:lpstr>
      <vt:lpstr>避免死锁</vt:lpstr>
      <vt:lpstr>避免死锁</vt:lpstr>
      <vt:lpstr>避免死锁</vt:lpstr>
      <vt:lpstr>避免死锁</vt:lpstr>
      <vt:lpstr>避免死锁</vt:lpstr>
      <vt:lpstr>避免死锁</vt:lpstr>
      <vt:lpstr>避免死锁</vt:lpstr>
      <vt:lpstr>避免死锁</vt:lpstr>
      <vt:lpstr>死锁的检测与解除</vt:lpstr>
      <vt:lpstr>死锁的检测与解除</vt:lpstr>
      <vt:lpstr>死锁的检测与解除</vt:lpstr>
      <vt:lpstr>死锁的检测与解除</vt:lpstr>
      <vt:lpstr>死锁的检测与解除</vt:lpstr>
      <vt:lpstr>死锁的检测与解除</vt:lpstr>
      <vt:lpstr>死锁的检测与解除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先亮 江</cp:lastModifiedBy>
  <cp:revision>1368</cp:revision>
  <dcterms:created xsi:type="dcterms:W3CDTF">2021-01-06T05:35:00Z</dcterms:created>
  <dcterms:modified xsi:type="dcterms:W3CDTF">2024-09-30T03:59:43Z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EA797C645C9B4B96B349079E8B9BE564</vt:lpwstr>
  </property>
  <property fmtid="{D5CDD505-2E9C-101B-9397-08002B2CF9AE}" pid="3" name="KSOProductBuildVer">
    <vt:lpwstr>2052-11.1.0.10700</vt:lpwstr>
  </property>
</Properties>
</file>