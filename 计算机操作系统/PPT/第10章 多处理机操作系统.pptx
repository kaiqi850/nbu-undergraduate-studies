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8"/>
  </p:notesMasterIdLst>
  <p:sldIdLst>
    <p:sldId id="311" r:id="rId3"/>
    <p:sldId id="312" r:id="rId4"/>
    <p:sldId id="353" r:id="rId5"/>
    <p:sldId id="365" r:id="rId6"/>
    <p:sldId id="408" r:id="rId7"/>
    <p:sldId id="366" r:id="rId8"/>
    <p:sldId id="368" r:id="rId9"/>
    <p:sldId id="369" r:id="rId10"/>
    <p:sldId id="370" r:id="rId11"/>
    <p:sldId id="371" r:id="rId12"/>
    <p:sldId id="372" r:id="rId13"/>
    <p:sldId id="373" r:id="rId14"/>
    <p:sldId id="409" r:id="rId15"/>
    <p:sldId id="374" r:id="rId16"/>
    <p:sldId id="411" r:id="rId17"/>
    <p:sldId id="412" r:id="rId18"/>
    <p:sldId id="413" r:id="rId19"/>
    <p:sldId id="379" r:id="rId20"/>
    <p:sldId id="380" r:id="rId21"/>
    <p:sldId id="381" r:id="rId22"/>
    <p:sldId id="414" r:id="rId23"/>
    <p:sldId id="384" r:id="rId24"/>
    <p:sldId id="386" r:id="rId25"/>
    <p:sldId id="387" r:id="rId26"/>
    <p:sldId id="415" r:id="rId27"/>
    <p:sldId id="389" r:id="rId28"/>
    <p:sldId id="390" r:id="rId29"/>
    <p:sldId id="391" r:id="rId30"/>
    <p:sldId id="392" r:id="rId31"/>
    <p:sldId id="393" r:id="rId32"/>
    <p:sldId id="394" r:id="rId33"/>
    <p:sldId id="395" r:id="rId34"/>
    <p:sldId id="396" r:id="rId35"/>
    <p:sldId id="397" r:id="rId36"/>
    <p:sldId id="398" r:id="rId37"/>
    <p:sldId id="400" r:id="rId38"/>
    <p:sldId id="401" r:id="rId39"/>
    <p:sldId id="402" r:id="rId40"/>
    <p:sldId id="403" r:id="rId41"/>
    <p:sldId id="404" r:id="rId42"/>
    <p:sldId id="405" r:id="rId43"/>
    <p:sldId id="406" r:id="rId44"/>
    <p:sldId id="407" r:id="rId45"/>
    <p:sldId id="364" r:id="rId46"/>
    <p:sldId id="363" r:id="rId47"/>
  </p:sldIdLst>
  <p:sldSz cx="12192000" cy="6858000"/>
  <p:notesSz cx="6858000" cy="9144000"/>
  <p:custDataLst>
    <p:tags r:id="rId5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FFC000"/>
    <a:srgbClr val="00005C"/>
    <a:srgbClr val="06D24C"/>
    <a:srgbClr val="035920"/>
    <a:srgbClr val="F6F5F3"/>
    <a:srgbClr val="04862F"/>
    <a:srgbClr val="07DB4E"/>
    <a:srgbClr val="0839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12" autoAdjust="0"/>
    <p:restoredTop sz="96182" autoAdjust="0"/>
  </p:normalViewPr>
  <p:slideViewPr>
    <p:cSldViewPr snapToGrid="0">
      <p:cViewPr varScale="1">
        <p:scale>
          <a:sx n="82" d="100"/>
          <a:sy n="82" d="100"/>
        </p:scale>
        <p:origin x="744" y="53"/>
      </p:cViewPr>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2" Type="http://schemas.openxmlformats.org/officeDocument/2006/relationships/tags" Target="tags/tag11.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3.xml"/><Relationship Id="rId49" Type="http://schemas.openxmlformats.org/officeDocument/2006/relationships/presProps" Target="presProps.xml"/><Relationship Id="rId48" Type="http://schemas.openxmlformats.org/officeDocument/2006/relationships/notesMaster" Target="notesMasters/notesMaster1.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userDrawn="1">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userDrawn="1">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userDrawn="1">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9802" name="标题 1"/>
          <p:cNvSpPr>
            <a:spLocks noGrp="1"/>
          </p:cNvSpPr>
          <p:nvPr userDrawn="1">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showMasterSp="0"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userDrawn="1">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bwMode="auto">
          <a:xfrm flipH="1" flipV="1">
            <a:off x="-1219199" y="239311"/>
            <a:ext cx="13411199" cy="801180"/>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1" name="任意多边形: 形状 10"/>
          <p:cNvSpPr/>
          <p:nvPr userDrawn="1"/>
        </p:nvSpPr>
        <p:spPr>
          <a:xfrm rot="10800000">
            <a:off x="-28575" y="6321199"/>
            <a:ext cx="1222057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任意多边形: 形状 11"/>
          <p:cNvSpPr/>
          <p:nvPr userDrawn="1"/>
        </p:nvSpPr>
        <p:spPr bwMode="auto">
          <a:xfrm>
            <a:off x="-9525" y="6230938"/>
            <a:ext cx="12201525" cy="801179"/>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userDrawn="1">
            <p:ph type="ctrTitle" hasCustomPrompt="1"/>
          </p:nvPr>
        </p:nvSpPr>
        <p:spPr>
          <a:xfrm>
            <a:off x="4034971" y="2163199"/>
            <a:ext cx="6536871" cy="2390427"/>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xml"/><Relationship Id="rId4" Type="http://schemas.openxmlformats.org/officeDocument/2006/relationships/tags" Target="../tags/tag2.xml"/><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4.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tags" Target="../tags/tag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tags" Target="../tags/tag4.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jpe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Slide" r:id="rId2" imgW="9525" imgH="9525" progId="TCLayout.ActiveDocument.1">
                  <p:embed/>
                </p:oleObj>
              </mc:Choice>
              <mc:Fallback>
                <p:oleObj name="think-cell Slide" r:id="rId2" imgW="9525" imgH="9525" progId="TCLayout.ActiveDocument.1">
                  <p:embed/>
                  <p:pic>
                    <p:nvPicPr>
                      <p:cNvPr id="0" name="图片 1036"/>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4" name="矩形 3" hidden="1"/>
          <p:cNvSpPr/>
          <p:nvPr>
            <p:custDataLst>
              <p:tags r:id="rId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cs typeface="+mn-ea"/>
              <a:sym typeface="+mn-lt"/>
            </a:endParaRPr>
          </a:p>
        </p:txBody>
      </p:sp>
      <p:sp>
        <p:nvSpPr>
          <p:cNvPr id="5" name="标题 4"/>
          <p:cNvSpPr>
            <a:spLocks noGrp="1"/>
          </p:cNvSpPr>
          <p:nvPr>
            <p:ph type="ctrTitle"/>
          </p:nvPr>
        </p:nvSpPr>
        <p:spPr>
          <a:xfrm>
            <a:off x="671512" y="1095520"/>
            <a:ext cx="10850563" cy="3136900"/>
          </a:xfrm>
        </p:spPr>
        <p:txBody>
          <a:bodyPr>
            <a:normAutofit/>
          </a:bodyPr>
          <a:lstStyle/>
          <a:p>
            <a:r>
              <a:rPr lang="zh-CN" altLang="en-US" sz="4800" dirty="0">
                <a:latin typeface="+mn-lt"/>
                <a:ea typeface="+mn-ea"/>
                <a:cs typeface="+mn-ea"/>
                <a:sym typeface="+mn-lt"/>
              </a:rPr>
              <a:t>第</a:t>
            </a:r>
            <a:r>
              <a:rPr lang="en-US" altLang="zh-CN" sz="4800" dirty="0">
                <a:latin typeface="+mn-lt"/>
                <a:ea typeface="+mn-ea"/>
                <a:cs typeface="+mn-ea"/>
                <a:sym typeface="+mn-lt"/>
              </a:rPr>
              <a:t>10</a:t>
            </a:r>
            <a:r>
              <a:rPr lang="zh-CN" altLang="en-US" sz="4800" dirty="0">
                <a:latin typeface="+mn-lt"/>
                <a:ea typeface="+mn-ea"/>
                <a:cs typeface="+mn-ea"/>
                <a:sym typeface="+mn-lt"/>
              </a:rPr>
              <a:t>章 </a:t>
            </a:r>
            <a:br>
              <a:rPr lang="en-US" altLang="zh-CN" sz="4800" dirty="0">
                <a:latin typeface="+mn-lt"/>
                <a:ea typeface="+mn-ea"/>
                <a:cs typeface="+mn-ea"/>
                <a:sym typeface="+mn-lt"/>
              </a:rPr>
            </a:br>
            <a:r>
              <a:rPr lang="zh-CN" altLang="en-US" sz="4800" dirty="0">
                <a:latin typeface="+mn-lt"/>
                <a:ea typeface="+mn-ea"/>
                <a:cs typeface="+mn-ea"/>
                <a:sym typeface="+mn-lt"/>
              </a:rPr>
              <a:t>多处理机操作系统</a:t>
            </a:r>
            <a:endParaRPr lang="zh-CN" altLang="en-US" sz="2000" b="0" dirty="0">
              <a:latin typeface="+mn-lt"/>
              <a:ea typeface="+mn-ea"/>
              <a:cs typeface="+mn-ea"/>
              <a:sym typeface="+mn-lt"/>
            </a:endParaRPr>
          </a:p>
        </p:txBody>
      </p:sp>
      <p:sp>
        <p:nvSpPr>
          <p:cNvPr id="29" name="任意多边形: 形状 28"/>
          <p:cNvSpPr/>
          <p:nvPr/>
        </p:nvSpPr>
        <p:spPr>
          <a:xfrm>
            <a:off x="10968292" y="649047"/>
            <a:ext cx="552196" cy="3896208"/>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矩形: 圆角 21"/>
          <p:cNvSpPr/>
          <p:nvPr/>
        </p:nvSpPr>
        <p:spPr>
          <a:xfrm>
            <a:off x="800099" y="4579447"/>
            <a:ext cx="4235540"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cs typeface="+mn-ea"/>
                <a:sym typeface="+mn-lt"/>
              </a:rPr>
              <a:t>主讲教师：江先亮</a:t>
            </a:r>
            <a:endParaRPr lang="en-US" altLang="zh-CN" b="1" dirty="0">
              <a:solidFill>
                <a:schemeClr val="tx1"/>
              </a:solidFill>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2739853" cy="523220"/>
          </a:xfrm>
          <a:prstGeom prst="rect">
            <a:avLst/>
          </a:prstGeom>
        </p:spPr>
        <p:txBody>
          <a:bodyPr wrap="none">
            <a:spAutoFit/>
          </a:bodyPr>
          <a:lstStyle/>
          <a:p>
            <a:r>
              <a:rPr lang="zh-CN" altLang="en-US" sz="2800" b="1" dirty="0">
                <a:solidFill>
                  <a:schemeClr val="bg1"/>
                </a:solidFill>
                <a:cs typeface="+mn-ea"/>
                <a:sym typeface="+mn-lt"/>
              </a:rPr>
              <a:t>第</a:t>
            </a:r>
            <a:r>
              <a:rPr lang="en-US" altLang="zh-CN" sz="2800" b="1" dirty="0">
                <a:solidFill>
                  <a:schemeClr val="bg1"/>
                </a:solidFill>
                <a:cs typeface="+mn-ea"/>
                <a:sym typeface="+mn-lt"/>
              </a:rPr>
              <a:t>10</a:t>
            </a:r>
            <a:r>
              <a:rPr lang="zh-CN" altLang="en-US" sz="2800" b="1" dirty="0">
                <a:solidFill>
                  <a:schemeClr val="bg1"/>
                </a:solidFill>
                <a:cs typeface="+mn-ea"/>
                <a:sym typeface="+mn-lt"/>
              </a:rPr>
              <a:t>章知识导图</a:t>
            </a:r>
            <a:endParaRPr lang="zh-CN" altLang="en-US" sz="2800" b="1" dirty="0">
              <a:solidFill>
                <a:schemeClr val="bg1"/>
              </a:solidFill>
              <a:cs typeface="+mn-ea"/>
              <a:sym typeface="+mn-lt"/>
            </a:endParaRPr>
          </a:p>
        </p:txBody>
      </p:sp>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2" name="图片 1" descr="第10章 知识导图"/>
          <p:cNvPicPr>
            <a:picLocks noChangeAspect="1"/>
          </p:cNvPicPr>
          <p:nvPr/>
        </p:nvPicPr>
        <p:blipFill>
          <a:blip r:embed="rId2"/>
          <a:stretch>
            <a:fillRect/>
          </a:stretch>
        </p:blipFill>
        <p:spPr>
          <a:xfrm>
            <a:off x="2770050" y="1255072"/>
            <a:ext cx="7288349" cy="552120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多处理机系统的引入</a:t>
            </a:r>
            <a:endParaRPr lang="zh-CN" altLang="en-US" sz="2800" b="1" dirty="0">
              <a:solidFill>
                <a:schemeClr val="bg1"/>
              </a:solidFill>
              <a:cs typeface="+mn-ea"/>
              <a:sym typeface="+mn-lt"/>
            </a:endParaRPr>
          </a:p>
        </p:txBody>
      </p:sp>
      <p:sp>
        <p:nvSpPr>
          <p:cNvPr id="6" name="内容占位符 2"/>
          <p:cNvSpPr txBox="1"/>
          <p:nvPr/>
        </p:nvSpPr>
        <p:spPr>
          <a:xfrm>
            <a:off x="1097295" y="1157170"/>
            <a:ext cx="10496262" cy="20265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600"/>
              </a:spcBef>
              <a:buNone/>
            </a:pPr>
            <a:r>
              <a:rPr lang="zh-CN" altLang="en-US" sz="2400" dirty="0">
                <a:latin typeface="+mn-ea"/>
                <a:cs typeface="+mn-ea"/>
                <a:sym typeface="+mn-lt"/>
              </a:rPr>
              <a:t>多处理机系统（</a:t>
            </a:r>
            <a:r>
              <a:rPr lang="zh-CN" altLang="en-US" sz="2400" dirty="0">
                <a:solidFill>
                  <a:srgbClr val="FF0000"/>
                </a:solidFill>
                <a:latin typeface="+mn-ea"/>
                <a:cs typeface="+mn-ea"/>
                <a:sym typeface="+mn-lt"/>
              </a:rPr>
              <a:t>狭义</a:t>
            </a:r>
            <a:r>
              <a:rPr lang="zh-CN" altLang="en-US" sz="2400" dirty="0">
                <a:latin typeface="+mn-ea"/>
                <a:cs typeface="+mn-ea"/>
                <a:sym typeface="+mn-lt"/>
              </a:rPr>
              <a:t>）</a:t>
            </a:r>
            <a:endParaRPr lang="en-US" altLang="zh-CN" sz="2400" dirty="0">
              <a:latin typeface="+mn-ea"/>
              <a:cs typeface="+mn-ea"/>
              <a:sym typeface="+mn-lt"/>
            </a:endParaRPr>
          </a:p>
          <a:p>
            <a:pPr lvl="1" indent="-360045">
              <a:lnSpc>
                <a:spcPct val="123000"/>
              </a:lnSpc>
              <a:spcBef>
                <a:spcPts val="600"/>
              </a:spcBef>
              <a:buClr>
                <a:srgbClr val="FF0000"/>
              </a:buClr>
              <a:buFont typeface="Wingdings" panose="05000000000000000000" pitchFamily="2" charset="2"/>
              <a:buChar char="Ø"/>
            </a:pPr>
            <a:r>
              <a:rPr lang="zh-CN" altLang="zh-CN" sz="2200" dirty="0">
                <a:latin typeface="+mn-ea"/>
                <a:cs typeface="+mn-ea"/>
                <a:sym typeface="+mn-lt"/>
              </a:rPr>
              <a:t>采用并行技术令多个单</a:t>
            </a:r>
            <a:r>
              <a:rPr lang="en-US" altLang="zh-CN" sz="2200" dirty="0">
                <a:latin typeface="+mn-ea"/>
                <a:cs typeface="+mn-ea"/>
                <a:sym typeface="+mn-lt"/>
              </a:rPr>
              <a:t>CPU</a:t>
            </a:r>
            <a:r>
              <a:rPr lang="zh-CN" altLang="zh-CN" sz="2200" dirty="0">
                <a:latin typeface="+mn-ea"/>
                <a:cs typeface="+mn-ea"/>
                <a:sym typeface="+mn-lt"/>
              </a:rPr>
              <a:t>同时运行，使总体的计算能力比单</a:t>
            </a:r>
            <a:r>
              <a:rPr lang="en-US" altLang="zh-CN" sz="2200" dirty="0">
                <a:latin typeface="+mn-ea"/>
                <a:cs typeface="+mn-ea"/>
                <a:sym typeface="+mn-lt"/>
              </a:rPr>
              <a:t>CPU</a:t>
            </a:r>
            <a:r>
              <a:rPr lang="zh-CN" altLang="zh-CN" sz="2200" dirty="0">
                <a:latin typeface="+mn-ea"/>
                <a:cs typeface="+mn-ea"/>
                <a:sym typeface="+mn-lt"/>
              </a:rPr>
              <a:t>计算机系统强大得多</a:t>
            </a:r>
            <a:endParaRPr lang="en-US" altLang="zh-CN" sz="2200" dirty="0">
              <a:latin typeface="+mn-ea"/>
              <a:cs typeface="+mn-ea"/>
              <a:sym typeface="+mn-lt"/>
            </a:endParaRPr>
          </a:p>
          <a:p>
            <a:pPr marL="0" indent="0">
              <a:lnSpc>
                <a:spcPct val="123000"/>
              </a:lnSpc>
              <a:spcBef>
                <a:spcPts val="600"/>
              </a:spcBef>
              <a:buNone/>
            </a:pPr>
            <a:r>
              <a:rPr lang="zh-CN" altLang="en-US" sz="2400" dirty="0">
                <a:latin typeface="+mn-ea"/>
                <a:cs typeface="+mn-ea"/>
                <a:sym typeface="+mn-lt"/>
              </a:rPr>
              <a:t>引入的原因</a:t>
            </a:r>
            <a:endParaRPr lang="en-US" altLang="zh-CN" sz="2400" dirty="0">
              <a:latin typeface="+mn-ea"/>
              <a:cs typeface="+mn-ea"/>
              <a:sym typeface="+mn-lt"/>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06079" y="1157169"/>
            <a:ext cx="527050" cy="527050"/>
          </a:xfrm>
          <a:prstGeom prst="rect">
            <a:avLst/>
          </a:prstGeom>
          <a:ln>
            <a:noFill/>
          </a:ln>
          <a:effectLst>
            <a:softEdge rad="0"/>
          </a:effectLst>
        </p:spPr>
      </p:pic>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06079" y="2656709"/>
            <a:ext cx="527050" cy="527050"/>
          </a:xfrm>
          <a:prstGeom prst="rect">
            <a:avLst/>
          </a:prstGeom>
          <a:ln>
            <a:noFill/>
          </a:ln>
          <a:effectLst>
            <a:softEdge rad="0"/>
          </a:effectLst>
        </p:spPr>
      </p:pic>
      <p:sp>
        <p:nvSpPr>
          <p:cNvPr id="8" name="内容占位符 2"/>
          <p:cNvSpPr txBox="1"/>
          <p:nvPr/>
        </p:nvSpPr>
        <p:spPr>
          <a:xfrm>
            <a:off x="769605" y="3183759"/>
            <a:ext cx="4729216" cy="32143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360045">
              <a:lnSpc>
                <a:spcPct val="123000"/>
              </a:lnSpc>
              <a:spcBef>
                <a:spcPts val="600"/>
              </a:spcBef>
              <a:buClr>
                <a:srgbClr val="FF0000"/>
              </a:buClr>
              <a:buFont typeface="Wingdings" panose="05000000000000000000" pitchFamily="2" charset="2"/>
              <a:buChar char="Ø"/>
            </a:pPr>
            <a:r>
              <a:rPr lang="en-US" altLang="zh-CN" sz="2200" dirty="0">
                <a:latin typeface="+mn-ea"/>
                <a:cs typeface="+mn-ea"/>
                <a:sym typeface="+mn-lt"/>
              </a:rPr>
              <a:t>CPU</a:t>
            </a:r>
            <a:r>
              <a:rPr lang="zh-CN" altLang="en-US" sz="2200" dirty="0">
                <a:latin typeface="+mn-ea"/>
                <a:cs typeface="+mn-ea"/>
                <a:sym typeface="+mn-lt"/>
              </a:rPr>
              <a:t>的时钟频率问题</a:t>
            </a:r>
            <a:endParaRPr lang="en-US" altLang="zh-CN" sz="2200" dirty="0">
              <a:latin typeface="+mn-ea"/>
              <a:cs typeface="+mn-ea"/>
              <a:sym typeface="+mn-lt"/>
            </a:endParaRPr>
          </a:p>
          <a:p>
            <a:pPr lvl="2" indent="-360045">
              <a:lnSpc>
                <a:spcPct val="123000"/>
              </a:lnSpc>
              <a:spcBef>
                <a:spcPts val="600"/>
              </a:spcBef>
              <a:buClr>
                <a:srgbClr val="FF0000"/>
              </a:buClr>
              <a:buFont typeface="Wingdings" panose="05000000000000000000" pitchFamily="2" charset="2"/>
              <a:buChar char="l"/>
            </a:pPr>
            <a:r>
              <a:rPr lang="zh-CN" altLang="zh-CN" sz="2000" dirty="0">
                <a:latin typeface="+mn-ea"/>
                <a:cs typeface="+mn-ea"/>
                <a:sym typeface="+mn-lt"/>
              </a:rPr>
              <a:t>目前依靠提高</a:t>
            </a:r>
            <a:r>
              <a:rPr lang="en-US" altLang="zh-CN" sz="2000" dirty="0">
                <a:latin typeface="+mn-ea"/>
                <a:cs typeface="+mn-ea"/>
                <a:sym typeface="+mn-lt"/>
              </a:rPr>
              <a:t>CPU</a:t>
            </a:r>
            <a:r>
              <a:rPr lang="zh-CN" altLang="zh-CN" sz="2000" dirty="0">
                <a:latin typeface="+mn-ea"/>
                <a:cs typeface="+mn-ea"/>
                <a:sym typeface="+mn-lt"/>
              </a:rPr>
              <a:t>时钟频率来提高计算机运算速度（系统性能）的方法，已经接近极限了</a:t>
            </a:r>
            <a:endParaRPr lang="en-US" altLang="zh-CN" sz="2000" dirty="0">
              <a:latin typeface="+mn-ea"/>
              <a:cs typeface="+mn-ea"/>
              <a:sym typeface="+mn-lt"/>
            </a:endParaRPr>
          </a:p>
          <a:p>
            <a:pPr lvl="1" indent="-360045">
              <a:lnSpc>
                <a:spcPct val="123000"/>
              </a:lnSpc>
              <a:spcBef>
                <a:spcPts val="600"/>
              </a:spcBef>
              <a:buClr>
                <a:srgbClr val="FF0000"/>
              </a:buClr>
              <a:buFont typeface="Wingdings" panose="05000000000000000000" pitchFamily="2" charset="2"/>
              <a:buChar char="Ø"/>
            </a:pPr>
            <a:r>
              <a:rPr lang="zh-CN" altLang="en-US" sz="2200" dirty="0">
                <a:latin typeface="+mn-ea"/>
                <a:cs typeface="+mn-ea"/>
                <a:sym typeface="+mn-lt"/>
              </a:rPr>
              <a:t>增加系统吞吐量</a:t>
            </a:r>
            <a:endParaRPr lang="en-US" altLang="zh-CN" sz="2200" dirty="0">
              <a:latin typeface="+mn-ea"/>
              <a:cs typeface="+mn-ea"/>
              <a:sym typeface="+mn-lt"/>
            </a:endParaRPr>
          </a:p>
          <a:p>
            <a:pPr lvl="2" indent="-360045">
              <a:lnSpc>
                <a:spcPct val="123000"/>
              </a:lnSpc>
              <a:spcBef>
                <a:spcPts val="600"/>
              </a:spcBef>
              <a:buClr>
                <a:srgbClr val="FF0000"/>
              </a:buClr>
              <a:buFont typeface="Wingdings" panose="05000000000000000000" pitchFamily="2" charset="2"/>
              <a:buChar char="l"/>
            </a:pPr>
            <a:r>
              <a:rPr lang="zh-CN" altLang="zh-CN" sz="2000" dirty="0">
                <a:latin typeface="+mn-ea"/>
                <a:cs typeface="+mn-ea"/>
                <a:sym typeface="+mn-lt"/>
              </a:rPr>
              <a:t>随着系统中处理机数目的增加，系统的处理能力也在相应增强</a:t>
            </a:r>
            <a:endParaRPr lang="en-US" altLang="zh-CN" sz="2000" dirty="0">
              <a:latin typeface="+mn-ea"/>
              <a:cs typeface="+mn-ea"/>
              <a:sym typeface="+mn-lt"/>
            </a:endParaRPr>
          </a:p>
        </p:txBody>
      </p:sp>
      <p:sp>
        <p:nvSpPr>
          <p:cNvPr id="9" name="内容占位符 2"/>
          <p:cNvSpPr txBox="1"/>
          <p:nvPr/>
        </p:nvSpPr>
        <p:spPr>
          <a:xfrm>
            <a:off x="5834130" y="3070526"/>
            <a:ext cx="5666704" cy="37193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360045">
              <a:lnSpc>
                <a:spcPct val="123000"/>
              </a:lnSpc>
              <a:spcBef>
                <a:spcPts val="600"/>
              </a:spcBef>
              <a:buClr>
                <a:srgbClr val="FF0000"/>
              </a:buClr>
              <a:buFont typeface="Wingdings" panose="05000000000000000000" pitchFamily="2" charset="2"/>
              <a:buChar char="Ø"/>
            </a:pPr>
            <a:r>
              <a:rPr lang="zh-CN" altLang="en-US" sz="2200" dirty="0">
                <a:latin typeface="+mn-ea"/>
                <a:cs typeface="+mn-ea"/>
                <a:sym typeface="+mn-lt"/>
              </a:rPr>
              <a:t>节省投资</a:t>
            </a:r>
            <a:endParaRPr lang="en-US" altLang="zh-CN" sz="2200" dirty="0">
              <a:latin typeface="+mn-ea"/>
              <a:cs typeface="+mn-ea"/>
              <a:sym typeface="+mn-lt"/>
            </a:endParaRPr>
          </a:p>
          <a:p>
            <a:pPr lvl="2" indent="-360045">
              <a:lnSpc>
                <a:spcPct val="123000"/>
              </a:lnSpc>
              <a:spcBef>
                <a:spcPts val="600"/>
              </a:spcBef>
              <a:buClr>
                <a:srgbClr val="FF0000"/>
              </a:buClr>
              <a:buFont typeface="Wingdings" panose="05000000000000000000" pitchFamily="2" charset="2"/>
              <a:buChar char="l"/>
            </a:pPr>
            <a:r>
              <a:rPr lang="zh-CN" altLang="zh-CN" sz="2000" dirty="0">
                <a:latin typeface="+mn-ea"/>
                <a:cs typeface="+mn-ea"/>
                <a:sym typeface="+mn-lt"/>
              </a:rPr>
              <a:t>在达到相同处理能力的情况下，与</a:t>
            </a:r>
            <a:r>
              <a:rPr lang="en-US" altLang="zh-CN" sz="2000" i="1" dirty="0">
                <a:latin typeface="+mn-ea"/>
                <a:cs typeface="+mn-ea"/>
                <a:sym typeface="+mn-lt"/>
              </a:rPr>
              <a:t>n</a:t>
            </a:r>
            <a:r>
              <a:rPr lang="zh-CN" altLang="zh-CN" sz="2000" dirty="0">
                <a:latin typeface="+mn-ea"/>
                <a:cs typeface="+mn-ea"/>
                <a:sym typeface="+mn-lt"/>
              </a:rPr>
              <a:t>台独立的计算机相比，采用具有</a:t>
            </a:r>
            <a:r>
              <a:rPr lang="en-US" altLang="zh-CN" sz="2000" i="1" dirty="0">
                <a:latin typeface="+mn-ea"/>
                <a:cs typeface="+mn-ea"/>
                <a:sym typeface="+mn-lt"/>
              </a:rPr>
              <a:t>n</a:t>
            </a:r>
            <a:r>
              <a:rPr lang="zh-CN" altLang="zh-CN" sz="2000" dirty="0">
                <a:latin typeface="+mn-ea"/>
                <a:cs typeface="+mn-ea"/>
                <a:sym typeface="+mn-lt"/>
              </a:rPr>
              <a:t>个处理机的系统可以更节省费用</a:t>
            </a:r>
            <a:endParaRPr lang="en-US" altLang="zh-CN" sz="2000" dirty="0">
              <a:latin typeface="+mn-ea"/>
              <a:cs typeface="+mn-ea"/>
              <a:sym typeface="+mn-lt"/>
            </a:endParaRPr>
          </a:p>
          <a:p>
            <a:pPr lvl="1" indent="-360045">
              <a:lnSpc>
                <a:spcPct val="123000"/>
              </a:lnSpc>
              <a:spcBef>
                <a:spcPts val="600"/>
              </a:spcBef>
              <a:buClr>
                <a:srgbClr val="FF0000"/>
              </a:buClr>
              <a:buFont typeface="Wingdings" panose="05000000000000000000" pitchFamily="2" charset="2"/>
              <a:buChar char="Ø"/>
            </a:pPr>
            <a:r>
              <a:rPr lang="zh-CN" altLang="en-US" sz="2200" dirty="0">
                <a:latin typeface="+mn-ea"/>
                <a:cs typeface="+mn-ea"/>
                <a:sym typeface="+mn-lt"/>
              </a:rPr>
              <a:t>提高系统可靠性</a:t>
            </a:r>
            <a:endParaRPr lang="en-US" altLang="zh-CN" sz="2200" dirty="0">
              <a:latin typeface="+mn-ea"/>
              <a:cs typeface="+mn-ea"/>
              <a:sym typeface="+mn-lt"/>
            </a:endParaRPr>
          </a:p>
          <a:p>
            <a:pPr lvl="2" indent="-360045">
              <a:lnSpc>
                <a:spcPct val="123000"/>
              </a:lnSpc>
              <a:spcBef>
                <a:spcPts val="600"/>
              </a:spcBef>
              <a:buClr>
                <a:srgbClr val="FF0000"/>
              </a:buClr>
              <a:buFont typeface="Wingdings" panose="05000000000000000000" pitchFamily="2" charset="2"/>
              <a:buChar char="l"/>
            </a:pPr>
            <a:r>
              <a:rPr lang="zh-CN" altLang="zh-CN" sz="2000" dirty="0">
                <a:latin typeface="+mn-ea"/>
                <a:cs typeface="+mn-ea"/>
                <a:sym typeface="+mn-lt"/>
              </a:rPr>
              <a:t>多处理机系统通常具有系统重构的功能，即当其中任何一个处理机发生故障时，系统可以进行重构，然后继续运行</a:t>
            </a:r>
            <a:endParaRPr lang="zh-CN" altLang="en-US" sz="2000" dirty="0">
              <a:latin typeface="+mn-ea"/>
              <a:cs typeface="+mn-ea"/>
              <a:sym typeface="+mn-lt"/>
            </a:endParaRPr>
          </a:p>
        </p:txBody>
      </p:sp>
      <p:cxnSp>
        <p:nvCxnSpPr>
          <p:cNvPr id="3" name="直接连接符 2"/>
          <p:cNvCxnSpPr/>
          <p:nvPr/>
        </p:nvCxnSpPr>
        <p:spPr>
          <a:xfrm>
            <a:off x="5666475" y="3183759"/>
            <a:ext cx="0" cy="296966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多处理机系统的类型（</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内容占位符 2"/>
          <p:cNvSpPr txBox="1"/>
          <p:nvPr/>
        </p:nvSpPr>
        <p:spPr>
          <a:xfrm>
            <a:off x="669925" y="1203101"/>
            <a:ext cx="9430624" cy="4453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latin typeface="+mn-ea"/>
                <a:cs typeface="+mn-ea"/>
                <a:sym typeface="+mn-lt"/>
              </a:rPr>
              <a:t>根据</a:t>
            </a:r>
            <a:r>
              <a:rPr lang="en-US" altLang="zh-CN" sz="2400" dirty="0">
                <a:latin typeface="+mn-ea"/>
                <a:cs typeface="+mn-ea"/>
                <a:sym typeface="+mn-lt"/>
              </a:rPr>
              <a:t>CPU</a:t>
            </a:r>
            <a:r>
              <a:rPr lang="zh-CN" altLang="en-US" sz="2400" dirty="0">
                <a:latin typeface="+mn-ea"/>
                <a:cs typeface="+mn-ea"/>
                <a:sym typeface="+mn-lt"/>
              </a:rPr>
              <a:t>之间耦合的紧密程度，可分为：</a:t>
            </a:r>
            <a:endParaRPr lang="en-US" altLang="zh-CN" sz="2400" dirty="0">
              <a:latin typeface="+mn-ea"/>
              <a:cs typeface="+mn-ea"/>
              <a:sym typeface="+mn-lt"/>
            </a:endParaRPr>
          </a:p>
        </p:txBody>
      </p:sp>
      <p:sp>
        <p:nvSpPr>
          <p:cNvPr id="5" name="内容占位符 2"/>
          <p:cNvSpPr txBox="1"/>
          <p:nvPr/>
        </p:nvSpPr>
        <p:spPr>
          <a:xfrm>
            <a:off x="945425" y="1824707"/>
            <a:ext cx="10838744" cy="415202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20000"/>
              </a:lnSpc>
              <a:spcBef>
                <a:spcPts val="600"/>
              </a:spcBef>
              <a:spcAft>
                <a:spcPts val="600"/>
              </a:spcAft>
              <a:buNone/>
            </a:pPr>
            <a:r>
              <a:rPr lang="zh-CN" altLang="zh-CN" sz="2400" u="sng" dirty="0">
                <a:solidFill>
                  <a:srgbClr val="FF0000"/>
                </a:solidFill>
                <a:latin typeface="+mn-ea"/>
                <a:cs typeface="+mn-ea"/>
                <a:sym typeface="+mn-lt"/>
              </a:rPr>
              <a:t>紧密耦合</a:t>
            </a:r>
            <a:r>
              <a:rPr lang="zh-CN" altLang="zh-CN" sz="2400" u="sng" dirty="0">
                <a:latin typeface="+mn-ea"/>
                <a:cs typeface="+mn-ea"/>
                <a:sym typeface="+mn-lt"/>
              </a:rPr>
              <a:t>多处理机系统</a:t>
            </a:r>
            <a:endParaRPr lang="en-US" altLang="zh-CN" sz="2400" u="sng" dirty="0">
              <a:latin typeface="+mn-ea"/>
              <a:cs typeface="+mn-ea"/>
              <a:sym typeface="+mn-lt"/>
            </a:endParaRPr>
          </a:p>
          <a:p>
            <a:pPr marL="0" lvl="2" indent="-360045">
              <a:lnSpc>
                <a:spcPct val="120000"/>
              </a:lnSpc>
              <a:spcBef>
                <a:spcPts val="600"/>
              </a:spcBef>
              <a:spcAft>
                <a:spcPts val="600"/>
              </a:spcAft>
              <a:buClr>
                <a:srgbClr val="FF0000"/>
              </a:buClr>
              <a:buFont typeface="Wingdings" panose="05000000000000000000" pitchFamily="2" charset="2"/>
              <a:buChar char="Ø"/>
            </a:pPr>
            <a:r>
              <a:rPr lang="zh-CN" altLang="zh-CN" sz="2400" dirty="0">
                <a:latin typeface="+mn-ea"/>
                <a:cs typeface="+mn-ea"/>
                <a:sym typeface="+mn-lt"/>
              </a:rPr>
              <a:t>通过高速总线或高速交叉开关来</a:t>
            </a:r>
            <a:br>
              <a:rPr lang="en-US" altLang="zh-CN" sz="2400" dirty="0">
                <a:latin typeface="+mn-ea"/>
                <a:cs typeface="+mn-ea"/>
                <a:sym typeface="+mn-lt"/>
              </a:rPr>
            </a:br>
            <a:r>
              <a:rPr lang="en-US" altLang="zh-CN" sz="2400" dirty="0">
                <a:latin typeface="+mn-ea"/>
                <a:cs typeface="+mn-ea"/>
                <a:sym typeface="+mn-lt"/>
              </a:rPr>
              <a:t>    </a:t>
            </a:r>
            <a:r>
              <a:rPr lang="zh-CN" altLang="zh-CN" sz="2400" dirty="0">
                <a:latin typeface="+mn-ea"/>
                <a:cs typeface="+mn-ea"/>
                <a:sym typeface="+mn-lt"/>
              </a:rPr>
              <a:t>实现多个</a:t>
            </a:r>
            <a:r>
              <a:rPr lang="en-US" altLang="zh-CN" sz="2400" dirty="0">
                <a:latin typeface="+mn-ea"/>
                <a:cs typeface="+mn-ea"/>
                <a:sym typeface="+mn-lt"/>
              </a:rPr>
              <a:t>CPU</a:t>
            </a:r>
            <a:r>
              <a:rPr lang="zh-CN" altLang="zh-CN" sz="2400" dirty="0">
                <a:latin typeface="+mn-ea"/>
                <a:cs typeface="+mn-ea"/>
                <a:sym typeface="+mn-lt"/>
              </a:rPr>
              <a:t>之间的互连</a:t>
            </a:r>
            <a:endParaRPr lang="en-US" altLang="zh-CN" sz="2400" dirty="0">
              <a:latin typeface="+mn-ea"/>
              <a:cs typeface="+mn-ea"/>
              <a:sym typeface="+mn-lt"/>
            </a:endParaRPr>
          </a:p>
          <a:p>
            <a:pPr marL="0" lvl="2" indent="-360045">
              <a:lnSpc>
                <a:spcPct val="120000"/>
              </a:lnSpc>
              <a:spcBef>
                <a:spcPts val="600"/>
              </a:spcBef>
              <a:spcAft>
                <a:spcPts val="600"/>
              </a:spcAft>
              <a:buClr>
                <a:srgbClr val="FF0000"/>
              </a:buClr>
              <a:buFont typeface="Wingdings" panose="05000000000000000000" pitchFamily="2" charset="2"/>
              <a:buChar char="Ø"/>
            </a:pPr>
            <a:r>
              <a:rPr lang="zh-CN" altLang="en-US" sz="2400" dirty="0">
                <a:latin typeface="+mn-ea"/>
                <a:cs typeface="+mn-ea"/>
                <a:sym typeface="+mn-lt"/>
              </a:rPr>
              <a:t>实现方式：</a:t>
            </a:r>
            <a:endParaRPr lang="en-US" altLang="zh-CN" sz="2400" dirty="0">
              <a:latin typeface="+mn-ea"/>
              <a:cs typeface="+mn-ea"/>
              <a:sym typeface="+mn-lt"/>
            </a:endParaRPr>
          </a:p>
          <a:p>
            <a:pPr marL="457200" lvl="4" indent="-457200">
              <a:lnSpc>
                <a:spcPct val="120000"/>
              </a:lnSpc>
              <a:spcBef>
                <a:spcPts val="600"/>
              </a:spcBef>
              <a:spcAft>
                <a:spcPts val="600"/>
              </a:spcAft>
              <a:buFont typeface="+mj-ea"/>
              <a:buAutoNum type="circleNumDbPlain"/>
            </a:pPr>
            <a:r>
              <a:rPr lang="zh-CN" altLang="zh-CN" sz="2200" dirty="0">
                <a:latin typeface="+mn-ea"/>
                <a:cs typeface="+mn-ea"/>
                <a:sym typeface="+mn-lt"/>
              </a:rPr>
              <a:t>多处理机共享内存系统和</a:t>
            </a:r>
            <a:r>
              <a:rPr lang="en-US" altLang="zh-CN" sz="2200" dirty="0">
                <a:latin typeface="+mn-ea"/>
                <a:cs typeface="+mn-ea"/>
                <a:sym typeface="+mn-lt"/>
              </a:rPr>
              <a:t>I/O</a:t>
            </a:r>
            <a:r>
              <a:rPr lang="zh-CN" altLang="zh-CN" sz="2200" dirty="0">
                <a:latin typeface="+mn-ea"/>
                <a:cs typeface="+mn-ea"/>
                <a:sym typeface="+mn-lt"/>
              </a:rPr>
              <a:t>设备，每个</a:t>
            </a:r>
            <a:r>
              <a:rPr lang="en-US" altLang="zh-CN" sz="2200" dirty="0">
                <a:latin typeface="+mn-ea"/>
                <a:cs typeface="+mn-ea"/>
                <a:sym typeface="+mn-lt"/>
              </a:rPr>
              <a:t>CPU</a:t>
            </a:r>
            <a:r>
              <a:rPr lang="zh-CN" altLang="zh-CN" sz="2200" dirty="0">
                <a:latin typeface="+mn-ea"/>
                <a:cs typeface="+mn-ea"/>
                <a:sym typeface="+mn-lt"/>
              </a:rPr>
              <a:t>都可以对整个存储器进行访问</a:t>
            </a:r>
            <a:endParaRPr lang="en-US" altLang="zh-CN" sz="2200" dirty="0">
              <a:latin typeface="+mn-ea"/>
              <a:cs typeface="+mn-ea"/>
              <a:sym typeface="+mn-lt"/>
            </a:endParaRPr>
          </a:p>
          <a:p>
            <a:pPr marL="457200" lvl="4" indent="-457200">
              <a:lnSpc>
                <a:spcPct val="120000"/>
              </a:lnSpc>
              <a:spcBef>
                <a:spcPts val="600"/>
              </a:spcBef>
              <a:spcAft>
                <a:spcPts val="600"/>
              </a:spcAft>
              <a:buFont typeface="+mj-ea"/>
              <a:buAutoNum type="circleNumDbPlain"/>
            </a:pPr>
            <a:r>
              <a:rPr lang="zh-CN" altLang="zh-CN" sz="2200" dirty="0">
                <a:latin typeface="+mn-ea"/>
                <a:cs typeface="+mn-ea"/>
                <a:sym typeface="+mn-lt"/>
              </a:rPr>
              <a:t>将多处理机与多个存储器分别相连，或将内存划分为若干个能被独立访问的存储器模块，每个</a:t>
            </a:r>
            <a:r>
              <a:rPr lang="en-US" altLang="zh-CN" sz="2200" dirty="0">
                <a:latin typeface="+mn-ea"/>
                <a:cs typeface="+mn-ea"/>
                <a:sym typeface="+mn-lt"/>
              </a:rPr>
              <a:t>CPU</a:t>
            </a:r>
            <a:r>
              <a:rPr lang="zh-CN" altLang="zh-CN" sz="2200" dirty="0">
                <a:latin typeface="+mn-ea"/>
                <a:cs typeface="+mn-ea"/>
                <a:sym typeface="+mn-lt"/>
              </a:rPr>
              <a:t>对应一个存储器或存储器模块，而且每个</a:t>
            </a:r>
            <a:r>
              <a:rPr lang="en-US" altLang="zh-CN" sz="2200" dirty="0">
                <a:latin typeface="+mn-ea"/>
                <a:cs typeface="+mn-ea"/>
                <a:sym typeface="+mn-lt"/>
              </a:rPr>
              <a:t>CPU</a:t>
            </a:r>
            <a:r>
              <a:rPr lang="zh-CN" altLang="zh-CN" sz="2200" dirty="0">
                <a:latin typeface="+mn-ea"/>
                <a:cs typeface="+mn-ea"/>
                <a:sym typeface="+mn-lt"/>
              </a:rPr>
              <a:t>只能访问其所对应的存储器或存储器模块</a:t>
            </a:r>
            <a:endParaRPr lang="en-US" altLang="zh-CN" sz="2200" dirty="0">
              <a:latin typeface="+mn-ea"/>
              <a:cs typeface="+mn-ea"/>
              <a:sym typeface="+mn-lt"/>
            </a:endParaRPr>
          </a:p>
        </p:txBody>
      </p:sp>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81899" y="1851584"/>
            <a:ext cx="527050" cy="527050"/>
          </a:xfrm>
          <a:prstGeom prst="rect">
            <a:avLst/>
          </a:prstGeom>
          <a:ln>
            <a:noFill/>
          </a:ln>
          <a:effectLst>
            <a:softEdge rad="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多处理机系统的类型（</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pic>
        <p:nvPicPr>
          <p:cNvPr id="27" name="图片 2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97138" y="1555369"/>
            <a:ext cx="527050" cy="527050"/>
          </a:xfrm>
          <a:prstGeom prst="rect">
            <a:avLst/>
          </a:prstGeom>
          <a:ln>
            <a:noFill/>
          </a:ln>
          <a:effectLst>
            <a:softEdge rad="0"/>
          </a:effectLst>
        </p:spPr>
      </p:pic>
      <p:sp>
        <p:nvSpPr>
          <p:cNvPr id="28" name="内容占位符 2"/>
          <p:cNvSpPr txBox="1"/>
          <p:nvPr/>
        </p:nvSpPr>
        <p:spPr>
          <a:xfrm>
            <a:off x="1160663" y="1555369"/>
            <a:ext cx="10005321" cy="27988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20000"/>
              </a:lnSpc>
              <a:spcBef>
                <a:spcPts val="600"/>
              </a:spcBef>
              <a:spcAft>
                <a:spcPts val="600"/>
              </a:spcAft>
              <a:buNone/>
            </a:pPr>
            <a:r>
              <a:rPr lang="zh-CN" altLang="zh-CN" sz="2400" u="sng" dirty="0">
                <a:solidFill>
                  <a:srgbClr val="0000FF"/>
                </a:solidFill>
                <a:latin typeface="+mn-ea"/>
                <a:cs typeface="+mn-ea"/>
                <a:sym typeface="+mn-lt"/>
              </a:rPr>
              <a:t>松弛耦合</a:t>
            </a:r>
            <a:r>
              <a:rPr lang="zh-CN" altLang="zh-CN" sz="2400" u="sng" dirty="0">
                <a:latin typeface="+mn-ea"/>
                <a:cs typeface="+mn-ea"/>
                <a:sym typeface="+mn-lt"/>
              </a:rPr>
              <a:t>多处理机系统</a:t>
            </a:r>
            <a:endParaRPr lang="en-US" altLang="zh-CN" sz="2400" u="sng" dirty="0">
              <a:latin typeface="+mn-ea"/>
              <a:cs typeface="+mn-ea"/>
              <a:sym typeface="+mn-lt"/>
            </a:endParaRPr>
          </a:p>
          <a:p>
            <a:pPr marL="457200" lvl="3" indent="-360045">
              <a:lnSpc>
                <a:spcPct val="120000"/>
              </a:lnSpc>
              <a:spcBef>
                <a:spcPts val="600"/>
              </a:spcBef>
              <a:spcAft>
                <a:spcPts val="600"/>
              </a:spcAft>
              <a:buClr>
                <a:srgbClr val="FF0000"/>
              </a:buClr>
              <a:buFont typeface="Wingdings" panose="05000000000000000000" pitchFamily="2" charset="2"/>
              <a:buChar char="Ø"/>
            </a:pPr>
            <a:r>
              <a:rPr lang="zh-CN" altLang="zh-CN" sz="2400" dirty="0">
                <a:latin typeface="+mn-ea"/>
                <a:cs typeface="+mn-ea"/>
                <a:sym typeface="+mn-lt"/>
              </a:rPr>
              <a:t>通过通道或通信线路来实现多台计算机之间的互连</a:t>
            </a:r>
            <a:r>
              <a:rPr lang="zh-CN" altLang="en-US" sz="2400" dirty="0">
                <a:latin typeface="+mn-ea"/>
                <a:cs typeface="+mn-ea"/>
                <a:sym typeface="+mn-lt"/>
              </a:rPr>
              <a:t>，</a:t>
            </a:r>
            <a:r>
              <a:rPr lang="zh-CN" altLang="zh-CN" sz="2400" dirty="0">
                <a:latin typeface="+mn-ea"/>
                <a:cs typeface="+mn-ea"/>
                <a:sym typeface="+mn-lt"/>
              </a:rPr>
              <a:t>并配置</a:t>
            </a:r>
            <a:r>
              <a:rPr lang="en-US" altLang="zh-CN" sz="2400" dirty="0">
                <a:latin typeface="+mn-ea"/>
                <a:cs typeface="+mn-ea"/>
                <a:sym typeface="+mn-lt"/>
              </a:rPr>
              <a:t>OS</a:t>
            </a:r>
            <a:r>
              <a:rPr lang="zh-CN" altLang="zh-CN" sz="2400" dirty="0">
                <a:latin typeface="+mn-ea"/>
                <a:cs typeface="+mn-ea"/>
                <a:sym typeface="+mn-lt"/>
              </a:rPr>
              <a:t>来管理本地资源和在本地运行的进程</a:t>
            </a:r>
            <a:endParaRPr lang="en-US" altLang="zh-CN" sz="2400" dirty="0">
              <a:latin typeface="+mn-ea"/>
              <a:cs typeface="+mn-ea"/>
              <a:sym typeface="+mn-lt"/>
            </a:endParaRPr>
          </a:p>
          <a:p>
            <a:pPr marL="457200" lvl="3" indent="-360045">
              <a:lnSpc>
                <a:spcPct val="120000"/>
              </a:lnSpc>
              <a:spcBef>
                <a:spcPts val="600"/>
              </a:spcBef>
              <a:spcAft>
                <a:spcPts val="600"/>
              </a:spcAft>
              <a:buClr>
                <a:srgbClr val="FF0000"/>
              </a:buClr>
              <a:buFont typeface="Wingdings" panose="05000000000000000000" pitchFamily="2" charset="2"/>
              <a:buChar char="Ø"/>
            </a:pPr>
            <a:r>
              <a:rPr lang="zh-CN" altLang="zh-CN" sz="2400" dirty="0">
                <a:latin typeface="+mn-ea"/>
                <a:cs typeface="+mn-ea"/>
                <a:sym typeface="+mn-lt"/>
              </a:rPr>
              <a:t>每台计算机都能独立工作，必要时可通过通信线路与其他计算机交换信息</a:t>
            </a:r>
            <a:endParaRPr lang="zh-CN" altLang="zh-CN" sz="2400" dirty="0">
              <a:latin typeface="+mn-ea"/>
              <a:cs typeface="+mn-ea"/>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多处理机系统的类型（</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内容占位符 2"/>
          <p:cNvSpPr txBox="1"/>
          <p:nvPr/>
        </p:nvSpPr>
        <p:spPr>
          <a:xfrm>
            <a:off x="785835" y="1319983"/>
            <a:ext cx="9430624" cy="4453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latin typeface="+mn-ea"/>
                <a:cs typeface="+mn-ea"/>
                <a:sym typeface="+mn-lt"/>
              </a:rPr>
              <a:t>根据系统中</a:t>
            </a:r>
            <a:r>
              <a:rPr lang="zh-CN" altLang="en-US" sz="2400" dirty="0">
                <a:solidFill>
                  <a:srgbClr val="FF0000"/>
                </a:solidFill>
                <a:latin typeface="+mn-ea"/>
                <a:cs typeface="+mn-ea"/>
                <a:sym typeface="+mn-lt"/>
              </a:rPr>
              <a:t>所用的</a:t>
            </a:r>
            <a:r>
              <a:rPr lang="en-US" altLang="zh-CN" sz="2400" dirty="0">
                <a:solidFill>
                  <a:srgbClr val="FF0000"/>
                </a:solidFill>
                <a:latin typeface="+mn-ea"/>
                <a:cs typeface="+mn-ea"/>
                <a:sym typeface="+mn-lt"/>
              </a:rPr>
              <a:t>CPU</a:t>
            </a:r>
            <a:r>
              <a:rPr lang="zh-CN" altLang="en-US" sz="2400" dirty="0">
                <a:solidFill>
                  <a:srgbClr val="FF0000"/>
                </a:solidFill>
                <a:latin typeface="+mn-ea"/>
                <a:cs typeface="+mn-ea"/>
                <a:sym typeface="+mn-lt"/>
              </a:rPr>
              <a:t>相同与否</a:t>
            </a:r>
            <a:r>
              <a:rPr lang="zh-CN" altLang="en-US" sz="2400" dirty="0">
                <a:latin typeface="+mn-ea"/>
                <a:cs typeface="+mn-ea"/>
                <a:sym typeface="+mn-lt"/>
              </a:rPr>
              <a:t>，可分为：</a:t>
            </a:r>
            <a:endParaRPr lang="zh-CN" altLang="en-US" sz="2400" dirty="0">
              <a:latin typeface="+mn-ea"/>
              <a:cs typeface="+mn-ea"/>
              <a:sym typeface="+mn-lt"/>
            </a:endParaRPr>
          </a:p>
        </p:txBody>
      </p:sp>
      <p:sp>
        <p:nvSpPr>
          <p:cNvPr id="6" name="íSľïdé"/>
          <p:cNvSpPr/>
          <p:nvPr/>
        </p:nvSpPr>
        <p:spPr>
          <a:xfrm>
            <a:off x="1906927" y="2264736"/>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7" name="ïŝļíḓê"/>
          <p:cNvSpPr/>
          <p:nvPr/>
        </p:nvSpPr>
        <p:spPr bwMode="auto">
          <a:xfrm>
            <a:off x="7844823" y="2741051"/>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8" name="îṧľîdé"/>
          <p:cNvSpPr/>
          <p:nvPr/>
        </p:nvSpPr>
        <p:spPr>
          <a:xfrm>
            <a:off x="3661266" y="2267539"/>
            <a:ext cx="4034934" cy="985474"/>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9" name="内容占位符 2"/>
          <p:cNvSpPr txBox="1"/>
          <p:nvPr/>
        </p:nvSpPr>
        <p:spPr>
          <a:xfrm>
            <a:off x="894703" y="2896583"/>
            <a:ext cx="3942340" cy="300063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0000FF"/>
                </a:solidFill>
              </a:rPr>
              <a:t>对称多处理机（</a:t>
            </a:r>
            <a:r>
              <a:rPr lang="en-US" altLang="zh-CN" sz="2400" dirty="0">
                <a:solidFill>
                  <a:srgbClr val="0000FF"/>
                </a:solidFill>
              </a:rPr>
              <a:t>SMP</a:t>
            </a:r>
            <a:r>
              <a:rPr lang="zh-CN" altLang="en-US" sz="2400" dirty="0">
                <a:solidFill>
                  <a:srgbClr val="0000FF"/>
                </a:solidFill>
              </a:rPr>
              <a:t>）系统：</a:t>
            </a:r>
            <a:endParaRPr lang="zh-CN" altLang="en-US" sz="2400" dirty="0">
              <a:solidFill>
                <a:srgbClr val="0000FF"/>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系统中所包含的各</a:t>
            </a:r>
            <a:r>
              <a:rPr lang="en-US" altLang="zh-CN" sz="2400" dirty="0">
                <a:solidFill>
                  <a:schemeClr val="tx1">
                    <a:lumMod val="65000"/>
                    <a:lumOff val="35000"/>
                  </a:schemeClr>
                </a:solidFill>
              </a:rPr>
              <a:t>CPU</a:t>
            </a:r>
            <a:r>
              <a:rPr lang="zh-CN" altLang="en-US" sz="2400" dirty="0">
                <a:solidFill>
                  <a:schemeClr val="tx1">
                    <a:lumMod val="65000"/>
                    <a:lumOff val="35000"/>
                  </a:schemeClr>
                </a:solidFill>
              </a:rPr>
              <a:t>在功能和结构上都是相同的；</a:t>
            </a:r>
            <a:endParaRPr lang="zh-CN" altLang="en-US" sz="24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当前的绝大多数多处理机系统都属于</a:t>
            </a:r>
            <a:r>
              <a:rPr lang="en-US" altLang="zh-CN" sz="2400" dirty="0">
                <a:solidFill>
                  <a:schemeClr val="tx1">
                    <a:lumMod val="65000"/>
                    <a:lumOff val="35000"/>
                  </a:schemeClr>
                </a:solidFill>
              </a:rPr>
              <a:t>SMP</a:t>
            </a:r>
            <a:r>
              <a:rPr lang="zh-CN" altLang="en-US" sz="2400" dirty="0">
                <a:solidFill>
                  <a:schemeClr val="tx1">
                    <a:lumMod val="65000"/>
                    <a:lumOff val="35000"/>
                  </a:schemeClr>
                </a:solidFill>
              </a:rPr>
              <a:t>系统。</a:t>
            </a:r>
            <a:endParaRPr lang="zh-CN" altLang="en-US" sz="2400" dirty="0">
              <a:solidFill>
                <a:schemeClr val="tx1">
                  <a:lumMod val="65000"/>
                  <a:lumOff val="35000"/>
                </a:schemeClr>
              </a:solidFill>
            </a:endParaRPr>
          </a:p>
        </p:txBody>
      </p:sp>
      <p:sp>
        <p:nvSpPr>
          <p:cNvPr id="10" name="内容占位符 2"/>
          <p:cNvSpPr txBox="1"/>
          <p:nvPr/>
        </p:nvSpPr>
        <p:spPr>
          <a:xfrm>
            <a:off x="6851730" y="3419419"/>
            <a:ext cx="4507435" cy="2634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0000FF"/>
                </a:solidFill>
              </a:rPr>
              <a:t>非对称多处理机（</a:t>
            </a:r>
            <a:r>
              <a:rPr lang="en-US" altLang="zh-CN" sz="2400" dirty="0">
                <a:solidFill>
                  <a:srgbClr val="0000FF"/>
                </a:solidFill>
              </a:rPr>
              <a:t>ASMP</a:t>
            </a:r>
            <a:r>
              <a:rPr lang="zh-CN" altLang="en-US" sz="2400" dirty="0">
                <a:solidFill>
                  <a:srgbClr val="0000FF"/>
                </a:solidFill>
              </a:rPr>
              <a:t>）系统：</a:t>
            </a:r>
            <a:endParaRPr lang="zh-CN" altLang="en-US" sz="24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系统中有多种类型的</a:t>
            </a:r>
            <a:r>
              <a:rPr lang="en-US" altLang="zh-CN" sz="2400" dirty="0">
                <a:solidFill>
                  <a:schemeClr val="tx1">
                    <a:lumMod val="65000"/>
                    <a:lumOff val="35000"/>
                  </a:schemeClr>
                </a:solidFill>
              </a:rPr>
              <a:t>CPU</a:t>
            </a:r>
            <a:r>
              <a:rPr lang="zh-CN" altLang="en-US" sz="2400" dirty="0">
                <a:solidFill>
                  <a:schemeClr val="tx1">
                    <a:lumMod val="65000"/>
                    <a:lumOff val="35000"/>
                  </a:schemeClr>
                </a:solidFill>
              </a:rPr>
              <a:t>，它们的功能和结构各不相同；</a:t>
            </a:r>
            <a:endParaRPr lang="zh-CN" altLang="en-US"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系统中只有一个主处理器，其余的都是从处理器。</a:t>
            </a:r>
            <a:endParaRPr lang="zh-CN" altLang="en-US" sz="2400" dirty="0">
              <a:solidFill>
                <a:schemeClr val="tx1">
                  <a:lumMod val="65000"/>
                  <a:lumOff val="35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统一内存访问多处理机系统结构</a:t>
            </a:r>
            <a:endParaRPr lang="zh-CN" altLang="en-US" sz="2800" b="1" dirty="0">
              <a:solidFill>
                <a:schemeClr val="bg1"/>
              </a:solidFill>
              <a:cs typeface="+mn-ea"/>
              <a:sym typeface="+mn-lt"/>
            </a:endParaRPr>
          </a:p>
        </p:txBody>
      </p:sp>
      <p:sp>
        <p:nvSpPr>
          <p:cNvPr id="5" name="内容占位符 2"/>
          <p:cNvSpPr txBox="1"/>
          <p:nvPr/>
        </p:nvSpPr>
        <p:spPr>
          <a:xfrm>
            <a:off x="399468" y="1242709"/>
            <a:ext cx="11114245" cy="1448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360045">
              <a:lnSpc>
                <a:spcPct val="123000"/>
              </a:lnSpc>
              <a:buClr>
                <a:srgbClr val="FF0000"/>
              </a:buClr>
              <a:buFont typeface="Wingdings" panose="05000000000000000000" pitchFamily="2" charset="2"/>
              <a:buChar char="n"/>
            </a:pPr>
            <a:r>
              <a:rPr lang="zh-CN" altLang="en-US" sz="2400" dirty="0">
                <a:solidFill>
                  <a:srgbClr val="FF0000"/>
                </a:solidFill>
                <a:cs typeface="+mn-ea"/>
                <a:sym typeface="+mn-lt"/>
              </a:rPr>
              <a:t>统一内存访问</a:t>
            </a:r>
            <a:r>
              <a:rPr lang="zh-CN" altLang="en-US" sz="2400" dirty="0">
                <a:cs typeface="+mn-ea"/>
                <a:sym typeface="+mn-lt"/>
              </a:rPr>
              <a:t>（</a:t>
            </a:r>
            <a:r>
              <a:rPr lang="en-US" altLang="zh-CN" sz="2400" dirty="0">
                <a:cs typeface="+mn-ea"/>
                <a:sym typeface="+mn-lt"/>
              </a:rPr>
              <a:t>uniform memory access</a:t>
            </a:r>
            <a:r>
              <a:rPr lang="zh-CN" altLang="zh-CN" sz="2400" dirty="0">
                <a:cs typeface="+mn-ea"/>
                <a:sym typeface="+mn-lt"/>
              </a:rPr>
              <a:t>，</a:t>
            </a:r>
            <a:r>
              <a:rPr lang="en-US" altLang="zh-CN" sz="2400" dirty="0">
                <a:solidFill>
                  <a:srgbClr val="FF0000"/>
                </a:solidFill>
                <a:cs typeface="+mn-ea"/>
                <a:sym typeface="+mn-lt"/>
              </a:rPr>
              <a:t>UMA</a:t>
            </a:r>
            <a:r>
              <a:rPr lang="zh-CN" altLang="zh-CN" sz="2400" dirty="0">
                <a:cs typeface="+mn-ea"/>
                <a:sym typeface="+mn-lt"/>
              </a:rPr>
              <a:t>），也称为一致性内存访问</a:t>
            </a:r>
            <a:endParaRPr lang="en-US" altLang="zh-CN" sz="2400" dirty="0">
              <a:cs typeface="+mn-ea"/>
              <a:sym typeface="+mn-lt"/>
            </a:endParaRPr>
          </a:p>
          <a:p>
            <a:pPr lvl="1" indent="-360045">
              <a:lnSpc>
                <a:spcPct val="123000"/>
              </a:lnSpc>
              <a:buClr>
                <a:srgbClr val="FF0000"/>
              </a:buClr>
              <a:buFont typeface="Wingdings" panose="05000000000000000000" pitchFamily="2" charset="2"/>
              <a:buChar char="n"/>
            </a:pPr>
            <a:r>
              <a:rPr lang="zh-CN" altLang="en-US" sz="2400" dirty="0">
                <a:cs typeface="+mn-ea"/>
                <a:sym typeface="+mn-lt"/>
              </a:rPr>
              <a:t>系统</a:t>
            </a:r>
            <a:r>
              <a:rPr lang="zh-CN" altLang="zh-CN" sz="2400" dirty="0">
                <a:cs typeface="+mn-ea"/>
                <a:sym typeface="+mn-lt"/>
              </a:rPr>
              <a:t>各</a:t>
            </a:r>
            <a:r>
              <a:rPr lang="en-US" altLang="zh-CN" sz="2400" dirty="0">
                <a:cs typeface="+mn-ea"/>
                <a:sym typeface="+mn-lt"/>
              </a:rPr>
              <a:t>CPU</a:t>
            </a:r>
            <a:r>
              <a:rPr lang="zh-CN" altLang="zh-CN" sz="2400" dirty="0">
                <a:cs typeface="+mn-ea"/>
                <a:sym typeface="+mn-lt"/>
              </a:rPr>
              <a:t>在功能和结构上都是相同的，在处理上没有主</a:t>
            </a:r>
            <a:r>
              <a:rPr lang="en-US" altLang="zh-CN" sz="2400" dirty="0">
                <a:cs typeface="+mn-ea"/>
                <a:sym typeface="+mn-lt"/>
              </a:rPr>
              <a:t>/</a:t>
            </a:r>
            <a:r>
              <a:rPr lang="zh-CN" altLang="zh-CN" sz="2400" dirty="0">
                <a:cs typeface="+mn-ea"/>
                <a:sym typeface="+mn-lt"/>
              </a:rPr>
              <a:t>从之分</a:t>
            </a:r>
            <a:r>
              <a:rPr lang="zh-CN" altLang="en-US" sz="2400" dirty="0">
                <a:cs typeface="+mn-ea"/>
                <a:sym typeface="+mn-lt"/>
              </a:rPr>
              <a:t>，属于</a:t>
            </a:r>
            <a:r>
              <a:rPr lang="en-US" altLang="zh-CN" sz="2400" dirty="0">
                <a:cs typeface="+mn-ea"/>
                <a:sym typeface="+mn-lt"/>
              </a:rPr>
              <a:t>SMP</a:t>
            </a:r>
            <a:r>
              <a:rPr lang="zh-CN" altLang="en-US" sz="2400" dirty="0">
                <a:cs typeface="+mn-ea"/>
                <a:sym typeface="+mn-lt"/>
              </a:rPr>
              <a:t>系统</a:t>
            </a:r>
            <a:endParaRPr lang="en-US" altLang="zh-CN" sz="2400" dirty="0">
              <a:cs typeface="+mn-ea"/>
              <a:sym typeface="+mn-lt"/>
            </a:endParaRPr>
          </a:p>
        </p:txBody>
      </p:sp>
      <p:sp>
        <p:nvSpPr>
          <p:cNvPr id="6" name="矩形: 圆角 4"/>
          <p:cNvSpPr/>
          <p:nvPr/>
        </p:nvSpPr>
        <p:spPr>
          <a:xfrm>
            <a:off x="799516" y="4078124"/>
            <a:ext cx="1734552"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sz="2400" dirty="0">
                <a:solidFill>
                  <a:schemeClr val="bg1"/>
                </a:solidFill>
                <a:cs typeface="+mn-ea"/>
                <a:sym typeface="+mn-lt"/>
              </a:rPr>
              <a:t>四种结构：</a:t>
            </a:r>
            <a:endParaRPr lang="en-US" altLang="zh-CN" sz="2400" dirty="0">
              <a:solidFill>
                <a:schemeClr val="bg1"/>
              </a:solidFill>
              <a:cs typeface="+mn-ea"/>
              <a:sym typeface="+mn-lt"/>
            </a:endParaRPr>
          </a:p>
        </p:txBody>
      </p:sp>
      <p:sp>
        <p:nvSpPr>
          <p:cNvPr id="8" name="内容占位符 2"/>
          <p:cNvSpPr txBox="1"/>
          <p:nvPr/>
        </p:nvSpPr>
        <p:spPr>
          <a:xfrm>
            <a:off x="1109636" y="2691685"/>
            <a:ext cx="9888921" cy="119773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Ø"/>
              <a:defRPr/>
            </a:pPr>
            <a:r>
              <a:rPr lang="zh-CN" altLang="en-US" sz="2400" dirty="0"/>
              <a:t>每个</a:t>
            </a:r>
            <a:r>
              <a:rPr lang="en-US" altLang="zh-CN" sz="2400" dirty="0"/>
              <a:t>CPU</a:t>
            </a:r>
            <a:r>
              <a:rPr lang="zh-CN" altLang="en-US" sz="2400" dirty="0"/>
              <a:t>均可访问不同模块中的存储器单元</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Ø"/>
              <a:defRPr/>
            </a:pPr>
            <a:r>
              <a:rPr lang="zh-CN" altLang="en-US" sz="2400" dirty="0"/>
              <a:t>对于每个存储器单元的读写速度都相同</a:t>
            </a:r>
            <a:endParaRPr lang="zh-CN" altLang="en-US" sz="2200" dirty="0"/>
          </a:p>
        </p:txBody>
      </p:sp>
      <p:sp>
        <p:nvSpPr>
          <p:cNvPr id="9" name="内容占位符 2"/>
          <p:cNvSpPr txBox="1"/>
          <p:nvPr/>
        </p:nvSpPr>
        <p:spPr>
          <a:xfrm>
            <a:off x="799516" y="4778060"/>
            <a:ext cx="5134575" cy="119773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t>使用单总线的</a:t>
            </a:r>
            <a:r>
              <a:rPr lang="en-US" altLang="zh-CN" sz="2400" dirty="0"/>
              <a:t>SMP</a:t>
            </a:r>
            <a:r>
              <a:rPr lang="zh-CN" altLang="en-US" sz="2400" dirty="0"/>
              <a:t>结构</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t>使用多总线的</a:t>
            </a:r>
            <a:r>
              <a:rPr lang="en-US" altLang="zh-CN" sz="2400" dirty="0"/>
              <a:t>SMP</a:t>
            </a:r>
            <a:r>
              <a:rPr lang="zh-CN" altLang="en-US" sz="2400" dirty="0"/>
              <a:t>结构</a:t>
            </a:r>
            <a:endParaRPr lang="zh-CN" altLang="en-US" sz="2400" dirty="0"/>
          </a:p>
        </p:txBody>
      </p:sp>
      <p:sp>
        <p:nvSpPr>
          <p:cNvPr id="10" name="内容占位符 2"/>
          <p:cNvSpPr txBox="1"/>
          <p:nvPr/>
        </p:nvSpPr>
        <p:spPr>
          <a:xfrm>
            <a:off x="5863982" y="4772788"/>
            <a:ext cx="5134575" cy="120300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t>使用单级交叉开关的</a:t>
            </a:r>
            <a:r>
              <a:rPr lang="en-US" altLang="zh-CN" sz="2400" dirty="0"/>
              <a:t>SMP</a:t>
            </a:r>
            <a:r>
              <a:rPr lang="zh-CN" altLang="en-US" sz="2400" dirty="0"/>
              <a:t>结构</a:t>
            </a:r>
            <a:endParaRPr lang="zh-CN" altLang="en-US" sz="2400" dirty="0"/>
          </a:p>
          <a:p>
            <a:pPr marL="342900" lvl="1" indent="-342900">
              <a:lnSpc>
                <a:spcPct val="132000"/>
              </a:lnSpc>
              <a:spcBef>
                <a:spcPts val="370"/>
              </a:spcBef>
              <a:buClr>
                <a:srgbClr val="E71101"/>
              </a:buClr>
              <a:buSzPct val="100000"/>
              <a:buFont typeface="Wingdings" panose="05000000000000000000" pitchFamily="2" charset="2"/>
              <a:buChar char="p"/>
              <a:defRPr/>
            </a:pPr>
            <a:r>
              <a:rPr lang="zh-CN" altLang="en-US" sz="2400" dirty="0"/>
              <a:t>使用多级交换网络的</a:t>
            </a:r>
            <a:r>
              <a:rPr lang="en-US" altLang="zh-CN" sz="2400" dirty="0"/>
              <a:t>SMP</a:t>
            </a:r>
            <a:r>
              <a:rPr lang="zh-CN" altLang="en-US" sz="2400" dirty="0"/>
              <a:t>结构</a:t>
            </a:r>
            <a:endParaRPr lang="zh-CN" alt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使用单总线的</a:t>
            </a:r>
            <a:r>
              <a:rPr lang="en-US" altLang="zh-CN" sz="2800" b="1" dirty="0">
                <a:solidFill>
                  <a:schemeClr val="bg1"/>
                </a:solidFill>
                <a:cs typeface="+mn-ea"/>
                <a:sym typeface="+mn-lt"/>
              </a:rPr>
              <a:t>SMP</a:t>
            </a:r>
            <a:r>
              <a:rPr lang="zh-CN" altLang="en-US" sz="2800" b="1" dirty="0">
                <a:solidFill>
                  <a:schemeClr val="bg1"/>
                </a:solidFill>
                <a:cs typeface="+mn-ea"/>
                <a:sym typeface="+mn-lt"/>
              </a:rPr>
              <a:t>结构</a:t>
            </a:r>
            <a:endParaRPr lang="zh-CN" altLang="en-US" sz="2800" b="1" dirty="0">
              <a:solidFill>
                <a:schemeClr val="bg1"/>
              </a:solidFill>
              <a:cs typeface="+mn-ea"/>
              <a:sym typeface="+mn-lt"/>
            </a:endParaRPr>
          </a:p>
        </p:txBody>
      </p:sp>
      <p:pic>
        <p:nvPicPr>
          <p:cNvPr id="6" name="图片 5"/>
          <p:cNvPicPr>
            <a:picLocks noChangeAspect="1"/>
          </p:cNvPicPr>
          <p:nvPr/>
        </p:nvPicPr>
        <p:blipFill>
          <a:blip r:embed="rId1"/>
          <a:stretch>
            <a:fillRect/>
          </a:stretch>
        </p:blipFill>
        <p:spPr>
          <a:xfrm>
            <a:off x="3746831" y="2836290"/>
            <a:ext cx="7844155" cy="3011170"/>
          </a:xfrm>
          <a:prstGeom prst="rect">
            <a:avLst/>
          </a:prstGeom>
        </p:spPr>
      </p:pic>
      <p:sp>
        <p:nvSpPr>
          <p:cNvPr id="7" name="内容占位符 2"/>
          <p:cNvSpPr txBox="1"/>
          <p:nvPr/>
        </p:nvSpPr>
        <p:spPr>
          <a:xfrm>
            <a:off x="669925" y="1244545"/>
            <a:ext cx="10921061" cy="12482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23000"/>
              </a:lnSpc>
              <a:buNone/>
            </a:pPr>
            <a:r>
              <a:rPr lang="zh-CN" altLang="en-US" sz="2400" dirty="0">
                <a:latin typeface="+mn-ea"/>
                <a:cs typeface="+mn-ea"/>
                <a:sym typeface="+mn-lt"/>
              </a:rPr>
              <a:t>多个</a:t>
            </a:r>
            <a:r>
              <a:rPr lang="en-US" altLang="zh-CN" sz="2400" dirty="0">
                <a:latin typeface="+mn-ea"/>
                <a:cs typeface="+mn-ea"/>
                <a:sym typeface="+mn-lt"/>
              </a:rPr>
              <a:t>CPU</a:t>
            </a:r>
            <a:r>
              <a:rPr lang="zh-CN" altLang="en-US" sz="2400" dirty="0">
                <a:latin typeface="+mn-ea"/>
                <a:cs typeface="+mn-ea"/>
                <a:sym typeface="+mn-lt"/>
              </a:rPr>
              <a:t>与一个集中的存储器相连，所有</a:t>
            </a:r>
            <a:r>
              <a:rPr lang="en-US" altLang="zh-CN" sz="2400" dirty="0">
                <a:latin typeface="+mn-ea"/>
                <a:cs typeface="+mn-ea"/>
                <a:sym typeface="+mn-lt"/>
              </a:rPr>
              <a:t>CPU</a:t>
            </a:r>
            <a:r>
              <a:rPr lang="zh-CN" altLang="en-US" sz="2400" dirty="0">
                <a:latin typeface="+mn-ea"/>
                <a:cs typeface="+mn-ea"/>
                <a:sym typeface="+mn-lt"/>
              </a:rPr>
              <a:t>都通过公用总线访问同一个系统的物理存储器，每个</a:t>
            </a:r>
            <a:r>
              <a:rPr lang="en-US" altLang="zh-CN" sz="2400" dirty="0">
                <a:latin typeface="+mn-ea"/>
                <a:cs typeface="+mn-ea"/>
                <a:sym typeface="+mn-lt"/>
              </a:rPr>
              <a:t>CPU</a:t>
            </a:r>
            <a:r>
              <a:rPr lang="zh-CN" altLang="en-US" sz="2400" dirty="0">
                <a:latin typeface="+mn-ea"/>
                <a:cs typeface="+mn-ea"/>
                <a:sym typeface="+mn-lt"/>
              </a:rPr>
              <a:t>均可访问不同存储器模块中的单元，以及与其他</a:t>
            </a:r>
            <a:r>
              <a:rPr lang="en-US" altLang="zh-CN" sz="2400" dirty="0">
                <a:latin typeface="+mn-ea"/>
                <a:cs typeface="+mn-ea"/>
                <a:sym typeface="+mn-lt"/>
              </a:rPr>
              <a:t>CPU</a:t>
            </a:r>
            <a:r>
              <a:rPr lang="zh-CN" altLang="en-US" sz="2400" dirty="0">
                <a:latin typeface="+mn-ea"/>
                <a:cs typeface="+mn-ea"/>
                <a:sym typeface="+mn-lt"/>
              </a:rPr>
              <a:t>进行通信</a:t>
            </a:r>
            <a:r>
              <a:rPr lang="en-US" altLang="zh-CN" sz="2400" dirty="0">
                <a:latin typeface="+mn-ea"/>
                <a:cs typeface="+mn-ea"/>
                <a:sym typeface="+mn-lt"/>
              </a:rPr>
              <a:t>(</a:t>
            </a:r>
            <a:r>
              <a:rPr lang="zh-CN" altLang="en-US" sz="2400" dirty="0">
                <a:latin typeface="+mn-ea"/>
                <a:cs typeface="+mn-ea"/>
                <a:sym typeface="+mn-lt"/>
              </a:rPr>
              <a:t>图</a:t>
            </a:r>
            <a:r>
              <a:rPr lang="en-US" altLang="zh-CN" sz="2400" dirty="0">
                <a:latin typeface="+mn-ea"/>
                <a:cs typeface="+mn-ea"/>
                <a:sym typeface="+mn-lt"/>
              </a:rPr>
              <a:t>a)</a:t>
            </a:r>
            <a:endParaRPr lang="en-US" altLang="zh-CN" sz="2400" dirty="0">
              <a:latin typeface="+mn-ea"/>
              <a:cs typeface="+mn-ea"/>
              <a:sym typeface="+mn-lt"/>
            </a:endParaRPr>
          </a:p>
        </p:txBody>
      </p:sp>
      <p:sp>
        <p:nvSpPr>
          <p:cNvPr id="8" name="内容占位符 2"/>
          <p:cNvSpPr txBox="1"/>
          <p:nvPr/>
        </p:nvSpPr>
        <p:spPr>
          <a:xfrm>
            <a:off x="669925" y="2836290"/>
            <a:ext cx="2704340" cy="330693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442595">
              <a:lnSpc>
                <a:spcPct val="132000"/>
              </a:lnSpc>
              <a:spcBef>
                <a:spcPts val="370"/>
              </a:spcBef>
              <a:buClr>
                <a:srgbClr val="E71101"/>
              </a:buClr>
              <a:buSzPct val="100000"/>
              <a:buFont typeface="Wingdings" panose="05000000000000000000" pitchFamily="2" charset="2"/>
              <a:buChar char="p"/>
              <a:defRPr/>
            </a:pPr>
            <a:r>
              <a:rPr lang="zh-CN" altLang="en-US" sz="2400" dirty="0">
                <a:solidFill>
                  <a:srgbClr val="FF0000"/>
                </a:solidFill>
              </a:rPr>
              <a:t>缺点：</a:t>
            </a:r>
            <a:r>
              <a:rPr lang="zh-CN" altLang="en-US" sz="2400" dirty="0"/>
              <a:t>伸缩性有限（竞争总线资源，总线瓶颈）</a:t>
            </a:r>
            <a:endParaRPr lang="zh-CN" altLang="en-US" sz="2400" dirty="0"/>
          </a:p>
          <a:p>
            <a:pPr marL="342900" lvl="1" indent="-442595">
              <a:lnSpc>
                <a:spcPct val="132000"/>
              </a:lnSpc>
              <a:spcBef>
                <a:spcPts val="370"/>
              </a:spcBef>
              <a:buClr>
                <a:srgbClr val="E71101"/>
              </a:buClr>
              <a:buSzPct val="100000"/>
              <a:buFont typeface="Wingdings" panose="05000000000000000000" pitchFamily="2" charset="2"/>
              <a:buChar char="p"/>
              <a:defRPr/>
            </a:pPr>
            <a:r>
              <a:rPr lang="zh-CN" altLang="en-US" sz="2400" dirty="0"/>
              <a:t>解决方案：为每个</a:t>
            </a:r>
            <a:r>
              <a:rPr lang="en-US" altLang="zh-CN" sz="2400" dirty="0"/>
              <a:t>CPU</a:t>
            </a:r>
            <a:r>
              <a:rPr lang="zh-CN" altLang="en-US" sz="2400" dirty="0"/>
              <a:t>配置一个高速缓存</a:t>
            </a:r>
            <a:r>
              <a:rPr lang="en-US" altLang="zh-CN" sz="2400" dirty="0"/>
              <a:t>(</a:t>
            </a:r>
            <a:r>
              <a:rPr lang="zh-CN" altLang="en-US" sz="2400" dirty="0"/>
              <a:t>图</a:t>
            </a:r>
            <a:r>
              <a:rPr lang="en-US" altLang="zh-CN" sz="2400" dirty="0"/>
              <a:t>b)</a:t>
            </a:r>
            <a:endParaRPr lang="en-US" altLang="zh-CN" sz="2400" dirty="0"/>
          </a:p>
          <a:p>
            <a:pPr marL="342900" lvl="1" indent="-442595">
              <a:lnSpc>
                <a:spcPct val="132000"/>
              </a:lnSpc>
              <a:spcBef>
                <a:spcPts val="370"/>
              </a:spcBef>
              <a:buClr>
                <a:srgbClr val="E71101"/>
              </a:buClr>
              <a:buSzPct val="100000"/>
              <a:buFont typeface="Wingdings" panose="05000000000000000000" pitchFamily="2" charset="2"/>
              <a:buChar char="p"/>
              <a:defRPr/>
            </a:pPr>
            <a:endParaRPr lang="en-US" altLang="zh-CN" sz="2400" dirty="0"/>
          </a:p>
          <a:p>
            <a:pPr marL="342900" lvl="1" indent="-442595">
              <a:lnSpc>
                <a:spcPct val="132000"/>
              </a:lnSpc>
              <a:spcBef>
                <a:spcPts val="370"/>
              </a:spcBef>
              <a:buClr>
                <a:srgbClr val="E71101"/>
              </a:buClr>
              <a:buSzPct val="100000"/>
              <a:buFont typeface="Wingdings" panose="05000000000000000000" pitchFamily="2" charset="2"/>
              <a:buChar char="p"/>
              <a:defRPr/>
            </a:pPr>
            <a:endParaRPr lang="en-US" altLang="zh-C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使用多总线的</a:t>
            </a:r>
            <a:r>
              <a:rPr lang="en-US" altLang="zh-CN" sz="2800" b="1" dirty="0">
                <a:solidFill>
                  <a:schemeClr val="bg1"/>
                </a:solidFill>
                <a:cs typeface="+mn-ea"/>
                <a:sym typeface="+mn-lt"/>
              </a:rPr>
              <a:t>SMP</a:t>
            </a:r>
            <a:r>
              <a:rPr lang="zh-CN" altLang="en-US" sz="2800" b="1" dirty="0">
                <a:solidFill>
                  <a:schemeClr val="bg1"/>
                </a:solidFill>
                <a:cs typeface="+mn-ea"/>
                <a:sym typeface="+mn-lt"/>
              </a:rPr>
              <a:t>结构</a:t>
            </a:r>
            <a:endParaRPr lang="zh-CN" altLang="en-US" sz="2800" b="1" dirty="0">
              <a:solidFill>
                <a:schemeClr val="bg1"/>
              </a:solidFill>
              <a:cs typeface="+mn-ea"/>
              <a:sym typeface="+mn-lt"/>
            </a:endParaRPr>
          </a:p>
        </p:txBody>
      </p:sp>
      <p:sp>
        <p:nvSpPr>
          <p:cNvPr id="7" name="内容占位符 2"/>
          <p:cNvSpPr txBox="1"/>
          <p:nvPr/>
        </p:nvSpPr>
        <p:spPr>
          <a:xfrm>
            <a:off x="679820" y="1293254"/>
            <a:ext cx="10938457" cy="22870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lnSpc>
                <a:spcPct val="123000"/>
              </a:lnSpc>
              <a:buClr>
                <a:srgbClr val="FF0000"/>
              </a:buClr>
              <a:buFont typeface="Wingdings" panose="05000000000000000000" pitchFamily="2" charset="2"/>
              <a:buChar char="n"/>
            </a:pPr>
            <a:r>
              <a:rPr lang="zh-CN" altLang="en-US" sz="2400" dirty="0">
                <a:latin typeface="+mn-ea"/>
                <a:cs typeface="+mn-ea"/>
                <a:sym typeface="+mn-lt"/>
              </a:rPr>
              <a:t>总线瓶颈的另一个解决方案：</a:t>
            </a:r>
            <a:r>
              <a:rPr lang="zh-CN" altLang="en-US" sz="2400" dirty="0">
                <a:solidFill>
                  <a:srgbClr val="FF0000"/>
                </a:solidFill>
                <a:latin typeface="+mn-ea"/>
                <a:cs typeface="+mn-ea"/>
                <a:sym typeface="+mn-lt"/>
              </a:rPr>
              <a:t>使用多总线结构。</a:t>
            </a:r>
            <a:endParaRPr lang="en-US" altLang="zh-CN" sz="2400" dirty="0">
              <a:latin typeface="+mn-ea"/>
              <a:cs typeface="+mn-ea"/>
              <a:sym typeface="+mn-lt"/>
            </a:endParaRPr>
          </a:p>
          <a:p>
            <a:pPr indent="-457200">
              <a:lnSpc>
                <a:spcPct val="123000"/>
              </a:lnSpc>
              <a:buClr>
                <a:srgbClr val="FF0000"/>
              </a:buClr>
              <a:buFont typeface="Wingdings" panose="05000000000000000000" pitchFamily="2" charset="2"/>
              <a:buChar char="n"/>
            </a:pPr>
            <a:r>
              <a:rPr lang="zh-CN" altLang="zh-CN" sz="2400" dirty="0">
                <a:latin typeface="+mn-ea"/>
                <a:cs typeface="+mn-ea"/>
                <a:sym typeface="+mn-lt"/>
              </a:rPr>
              <a:t>系统中所有的</a:t>
            </a:r>
            <a:r>
              <a:rPr lang="en-US" altLang="zh-CN" sz="2400" dirty="0">
                <a:latin typeface="+mn-ea"/>
                <a:cs typeface="+mn-ea"/>
                <a:sym typeface="+mn-lt"/>
              </a:rPr>
              <a:t>CPU</a:t>
            </a:r>
            <a:r>
              <a:rPr lang="zh-CN" altLang="zh-CN" sz="2400" dirty="0">
                <a:latin typeface="+mn-ea"/>
                <a:cs typeface="+mn-ea"/>
                <a:sym typeface="+mn-lt"/>
              </a:rPr>
              <a:t>不仅共享一个高速缓存，还各有一个本地的私有存储器</a:t>
            </a:r>
            <a:r>
              <a:rPr lang="zh-CN" altLang="en-US" sz="2400" dirty="0">
                <a:latin typeface="+mn-ea"/>
                <a:cs typeface="+mn-ea"/>
                <a:sym typeface="+mn-lt"/>
              </a:rPr>
              <a:t>（图</a:t>
            </a:r>
            <a:r>
              <a:rPr lang="en-US" altLang="zh-CN" sz="2400" dirty="0">
                <a:latin typeface="+mn-ea"/>
                <a:cs typeface="+mn-ea"/>
                <a:sym typeface="+mn-lt"/>
              </a:rPr>
              <a:t>c</a:t>
            </a:r>
            <a:r>
              <a:rPr lang="zh-CN" altLang="en-US" sz="2400" dirty="0">
                <a:latin typeface="+mn-ea"/>
                <a:cs typeface="+mn-ea"/>
                <a:sym typeface="+mn-lt"/>
              </a:rPr>
              <a:t>）。</a:t>
            </a:r>
            <a:endParaRPr lang="en-US" altLang="zh-CN" sz="2400" dirty="0">
              <a:latin typeface="+mn-ea"/>
              <a:cs typeface="+mn-ea"/>
              <a:sym typeface="+mn-lt"/>
            </a:endParaRPr>
          </a:p>
        </p:txBody>
      </p:sp>
      <p:pic>
        <p:nvPicPr>
          <p:cNvPr id="8" name="图片 7"/>
          <p:cNvPicPr>
            <a:picLocks noChangeAspect="1"/>
          </p:cNvPicPr>
          <p:nvPr/>
        </p:nvPicPr>
        <p:blipFill>
          <a:blip r:embed="rId1"/>
          <a:stretch>
            <a:fillRect/>
          </a:stretch>
        </p:blipFill>
        <p:spPr>
          <a:xfrm>
            <a:off x="3168815" y="2692363"/>
            <a:ext cx="7844155" cy="3011170"/>
          </a:xfrm>
          <a:prstGeom prst="rect">
            <a:avLst/>
          </a:prstGeom>
        </p:spPr>
      </p:pic>
      <p:sp>
        <p:nvSpPr>
          <p:cNvPr id="5" name="内容占位符 2"/>
          <p:cNvSpPr txBox="1"/>
          <p:nvPr/>
        </p:nvSpPr>
        <p:spPr>
          <a:xfrm>
            <a:off x="679820" y="2998800"/>
            <a:ext cx="2114895" cy="23982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lnSpc>
                <a:spcPct val="123000"/>
              </a:lnSpc>
              <a:buClr>
                <a:srgbClr val="FF0000"/>
              </a:buClr>
              <a:buFont typeface="Wingdings" panose="05000000000000000000" pitchFamily="2" charset="2"/>
              <a:buChar char="n"/>
            </a:pPr>
            <a:r>
              <a:rPr lang="zh-CN" altLang="en-US" sz="2400" dirty="0">
                <a:latin typeface="+mn-ea"/>
                <a:cs typeface="+mn-ea"/>
                <a:sym typeface="+mn-lt"/>
              </a:rPr>
              <a:t>这种方式</a:t>
            </a:r>
            <a:r>
              <a:rPr lang="zh-CN" altLang="zh-CN" sz="2400" dirty="0">
                <a:latin typeface="+mn-ea"/>
                <a:cs typeface="+mn-ea"/>
                <a:sym typeface="+mn-lt"/>
              </a:rPr>
              <a:t>提高了对程序编译器的要求</a:t>
            </a:r>
            <a:r>
              <a:rPr lang="zh-CN" altLang="en-US" sz="2400" dirty="0">
                <a:latin typeface="+mn-ea"/>
                <a:cs typeface="+mn-ea"/>
                <a:sym typeface="+mn-lt"/>
              </a:rPr>
              <a:t>，增加了编程的难度。</a:t>
            </a:r>
            <a:endParaRPr lang="en-US" altLang="zh-CN" sz="2400" dirty="0">
              <a:latin typeface="+mn-ea"/>
              <a:cs typeface="+mn-ea"/>
              <a:sym typeface="+mn-lt"/>
            </a:endParaRPr>
          </a:p>
          <a:p>
            <a:pPr indent="-457200">
              <a:lnSpc>
                <a:spcPct val="123000"/>
              </a:lnSpc>
              <a:buClr>
                <a:srgbClr val="FF0000"/>
              </a:buClr>
              <a:buFont typeface="Wingdings" panose="05000000000000000000" pitchFamily="2" charset="2"/>
              <a:buChar char="n"/>
            </a:pPr>
            <a:endParaRPr lang="zh-CN" altLang="en-US" sz="2400" dirty="0">
              <a:latin typeface="+mn-ea"/>
              <a:cs typeface="+mn-ea"/>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使用单级交叉开关的</a:t>
            </a:r>
            <a:r>
              <a:rPr lang="en-US" altLang="zh-CN" sz="2800" b="1" dirty="0">
                <a:solidFill>
                  <a:schemeClr val="bg1"/>
                </a:solidFill>
                <a:cs typeface="+mn-ea"/>
                <a:sym typeface="+mn-lt"/>
              </a:rPr>
              <a:t>SMP</a:t>
            </a:r>
            <a:r>
              <a:rPr lang="zh-CN" altLang="en-US" sz="2800" b="1" dirty="0">
                <a:solidFill>
                  <a:schemeClr val="bg1"/>
                </a:solidFill>
                <a:cs typeface="+mn-ea"/>
                <a:sym typeface="+mn-lt"/>
              </a:rPr>
              <a:t>结构</a:t>
            </a:r>
            <a:endParaRPr lang="zh-CN" altLang="en-US" sz="2800" b="1" dirty="0">
              <a:solidFill>
                <a:schemeClr val="bg1"/>
              </a:solidFill>
              <a:cs typeface="+mn-ea"/>
              <a:sym typeface="+mn-lt"/>
            </a:endParaRPr>
          </a:p>
        </p:txBody>
      </p:sp>
      <p:sp>
        <p:nvSpPr>
          <p:cNvPr id="5" name="内容占位符 2"/>
          <p:cNvSpPr txBox="1"/>
          <p:nvPr/>
        </p:nvSpPr>
        <p:spPr>
          <a:xfrm>
            <a:off x="1283854" y="2896462"/>
            <a:ext cx="6000337" cy="34373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25755" lvl="1" indent="0">
              <a:lnSpc>
                <a:spcPct val="123000"/>
              </a:lnSpc>
              <a:spcAft>
                <a:spcPts val="600"/>
              </a:spcAft>
              <a:buNone/>
            </a:pPr>
            <a:r>
              <a:rPr lang="zh-CN" altLang="en-US" sz="2100" dirty="0">
                <a:latin typeface="+mn-ea"/>
                <a:cs typeface="+mn-ea"/>
                <a:sym typeface="+mn-lt"/>
              </a:rPr>
              <a:t>节点之间的联接：在</a:t>
            </a:r>
            <a:r>
              <a:rPr lang="en-US" altLang="zh-CN" sz="2100" i="1" dirty="0">
                <a:latin typeface="+mn-ea"/>
                <a:cs typeface="+mn-ea"/>
                <a:sym typeface="+mn-lt"/>
              </a:rPr>
              <a:t>N</a:t>
            </a:r>
            <a:r>
              <a:rPr lang="en-US" altLang="zh-CN" sz="2100" dirty="0">
                <a:latin typeface="+mn-ea"/>
                <a:cs typeface="+mn-ea"/>
                <a:sym typeface="+mn-lt"/>
              </a:rPr>
              <a:t>×</a:t>
            </a:r>
            <a:r>
              <a:rPr lang="en-US" altLang="zh-CN" sz="2100" i="1" dirty="0">
                <a:latin typeface="+mn-ea"/>
                <a:cs typeface="+mn-ea"/>
                <a:sym typeface="+mn-lt"/>
              </a:rPr>
              <a:t>N</a:t>
            </a:r>
            <a:r>
              <a:rPr lang="zh-CN" altLang="zh-CN" sz="2100" dirty="0">
                <a:latin typeface="+mn-ea"/>
                <a:cs typeface="+mn-ea"/>
                <a:sym typeface="+mn-lt"/>
              </a:rPr>
              <a:t>的阵列</a:t>
            </a:r>
            <a:r>
              <a:rPr lang="zh-CN" altLang="en-US" sz="2100" dirty="0">
                <a:latin typeface="+mn-ea"/>
                <a:cs typeface="+mn-ea"/>
                <a:sym typeface="+mn-lt"/>
              </a:rPr>
              <a:t>中，</a:t>
            </a:r>
            <a:r>
              <a:rPr lang="zh-CN" altLang="zh-CN" sz="2100" dirty="0">
                <a:latin typeface="+mn-ea"/>
                <a:cs typeface="+mn-ea"/>
                <a:sym typeface="+mn-lt"/>
              </a:rPr>
              <a:t>在每一行和每一列中，都同时只能有一个交叉点开关处于“开”状态，从而它同时只能接通</a:t>
            </a:r>
            <a:r>
              <a:rPr lang="en-US" altLang="zh-CN" sz="2100" i="1" dirty="0">
                <a:latin typeface="+mn-ea"/>
                <a:cs typeface="+mn-ea"/>
                <a:sym typeface="+mn-lt"/>
              </a:rPr>
              <a:t>N</a:t>
            </a:r>
            <a:r>
              <a:rPr lang="zh-CN" altLang="zh-CN" sz="2100" dirty="0">
                <a:latin typeface="+mn-ea"/>
                <a:cs typeface="+mn-ea"/>
                <a:sym typeface="+mn-lt"/>
              </a:rPr>
              <a:t>对节点</a:t>
            </a:r>
            <a:endParaRPr lang="en-US" altLang="zh-CN" sz="2100" dirty="0">
              <a:latin typeface="+mn-ea"/>
              <a:cs typeface="+mn-ea"/>
              <a:sym typeface="+mn-lt"/>
            </a:endParaRPr>
          </a:p>
          <a:p>
            <a:pPr marL="325755" lvl="1" indent="0">
              <a:lnSpc>
                <a:spcPct val="123000"/>
              </a:lnSpc>
              <a:spcAft>
                <a:spcPts val="600"/>
              </a:spcAft>
              <a:buNone/>
            </a:pPr>
            <a:r>
              <a:rPr lang="en-US" altLang="zh-CN" sz="2100" dirty="0">
                <a:latin typeface="+mn-ea"/>
                <a:cs typeface="+mn-ea"/>
                <a:sym typeface="+mn-lt"/>
              </a:rPr>
              <a:t>CPU</a:t>
            </a:r>
            <a:r>
              <a:rPr lang="zh-CN" altLang="en-US" sz="2100" dirty="0">
                <a:latin typeface="+mn-ea"/>
                <a:cs typeface="+mn-ea"/>
                <a:sym typeface="+mn-lt"/>
              </a:rPr>
              <a:t>节点与存储器之间的联接：</a:t>
            </a:r>
            <a:r>
              <a:rPr lang="zh-CN" altLang="zh-CN" sz="2100" dirty="0">
                <a:latin typeface="+mn-ea"/>
                <a:cs typeface="+mn-ea"/>
                <a:sym typeface="+mn-lt"/>
              </a:rPr>
              <a:t>每一列只能接通一个交叉点开关，但为了支持并行存储访问，每一行同时可以接通多个交叉点开关</a:t>
            </a:r>
            <a:endParaRPr lang="en-US" altLang="zh-CN" sz="2100" dirty="0">
              <a:latin typeface="+mn-ea"/>
              <a:cs typeface="+mn-ea"/>
              <a:sym typeface="+mn-lt"/>
            </a:endParaRPr>
          </a:p>
          <a:p>
            <a:pPr marL="325755" lvl="1" indent="0">
              <a:lnSpc>
                <a:spcPct val="123000"/>
              </a:lnSpc>
              <a:spcAft>
                <a:spcPts val="600"/>
              </a:spcAft>
              <a:buNone/>
            </a:pPr>
            <a:r>
              <a:rPr lang="zh-CN" altLang="zh-CN" sz="2100" dirty="0">
                <a:latin typeface="+mn-ea"/>
                <a:cs typeface="+mn-ea"/>
                <a:sym typeface="+mn-lt"/>
              </a:rPr>
              <a:t>交叉开关的成本为</a:t>
            </a:r>
            <a:r>
              <a:rPr lang="en-US" altLang="zh-CN" sz="2100" i="1" dirty="0">
                <a:latin typeface="+mn-ea"/>
                <a:cs typeface="+mn-ea"/>
                <a:sym typeface="+mn-lt"/>
              </a:rPr>
              <a:t>N</a:t>
            </a:r>
            <a:r>
              <a:rPr lang="en-US" altLang="zh-CN" sz="2100" baseline="30000" dirty="0">
                <a:latin typeface="+mn-ea"/>
                <a:cs typeface="+mn-ea"/>
                <a:sym typeface="+mn-lt"/>
              </a:rPr>
              <a:t>2</a:t>
            </a:r>
            <a:r>
              <a:rPr lang="zh-CN" altLang="zh-CN" sz="2100" dirty="0">
                <a:latin typeface="+mn-ea"/>
                <a:cs typeface="+mn-ea"/>
                <a:sym typeface="+mn-lt"/>
              </a:rPr>
              <a:t>，</a:t>
            </a:r>
            <a:r>
              <a:rPr lang="en-US" altLang="zh-CN" sz="2100" i="1" dirty="0">
                <a:latin typeface="+mn-ea"/>
                <a:cs typeface="+mn-ea"/>
                <a:sym typeface="+mn-lt"/>
              </a:rPr>
              <a:t>N</a:t>
            </a:r>
            <a:r>
              <a:rPr lang="zh-CN" altLang="zh-CN" sz="2100" dirty="0">
                <a:latin typeface="+mn-ea"/>
                <a:cs typeface="+mn-ea"/>
                <a:sym typeface="+mn-lt"/>
              </a:rPr>
              <a:t>为端口数，其限制了该类结构在大规模系统中的应用</a:t>
            </a:r>
            <a:endParaRPr lang="zh-CN" altLang="en-US" sz="2100" dirty="0">
              <a:latin typeface="+mn-ea"/>
              <a:cs typeface="+mn-ea"/>
              <a:sym typeface="+mn-lt"/>
            </a:endParaRPr>
          </a:p>
        </p:txBody>
      </p:sp>
      <p:pic>
        <p:nvPicPr>
          <p:cNvPr id="6" name="图片 5"/>
          <p:cNvPicPr>
            <a:picLocks noChangeAspect="1"/>
          </p:cNvPicPr>
          <p:nvPr/>
        </p:nvPicPr>
        <p:blipFill>
          <a:blip r:embed="rId1"/>
          <a:stretch>
            <a:fillRect/>
          </a:stretch>
        </p:blipFill>
        <p:spPr>
          <a:xfrm>
            <a:off x="7321169" y="2991040"/>
            <a:ext cx="4522909" cy="3074095"/>
          </a:xfrm>
          <a:prstGeom prst="rect">
            <a:avLst/>
          </a:prstGeom>
        </p:spPr>
      </p:pic>
      <p:sp>
        <p:nvSpPr>
          <p:cNvPr id="7" name="内容占位符 2"/>
          <p:cNvSpPr txBox="1"/>
          <p:nvPr/>
        </p:nvSpPr>
        <p:spPr>
          <a:xfrm>
            <a:off x="669925" y="1137931"/>
            <a:ext cx="11174153" cy="1526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23000"/>
              </a:lnSpc>
              <a:buNone/>
            </a:pPr>
            <a:r>
              <a:rPr lang="zh-CN" altLang="en-US" sz="2400" dirty="0">
                <a:latin typeface="+mn-ea"/>
                <a:cs typeface="+mn-ea"/>
                <a:sym typeface="+mn-lt"/>
              </a:rPr>
              <a:t>利用电话交换系统中使用交叉开关，可将系统中所有的</a:t>
            </a:r>
            <a:r>
              <a:rPr lang="en-US" altLang="zh-CN" sz="2400" dirty="0">
                <a:latin typeface="+mn-ea"/>
                <a:cs typeface="+mn-ea"/>
                <a:sym typeface="+mn-lt"/>
              </a:rPr>
              <a:t>CPU</a:t>
            </a:r>
            <a:r>
              <a:rPr lang="zh-CN" altLang="en-US" sz="2400" dirty="0">
                <a:latin typeface="+mn-ea"/>
                <a:cs typeface="+mn-ea"/>
                <a:sym typeface="+mn-lt"/>
              </a:rPr>
              <a:t>与存储器节点通过交叉开关阵列相互连接</a:t>
            </a:r>
            <a:endParaRPr lang="en-US" altLang="zh-CN" sz="2400" dirty="0">
              <a:latin typeface="+mn-ea"/>
              <a:cs typeface="+mn-ea"/>
              <a:sym typeface="+mn-lt"/>
            </a:endParaRPr>
          </a:p>
          <a:p>
            <a:pPr marL="0" indent="457200">
              <a:lnSpc>
                <a:spcPct val="123000"/>
              </a:lnSpc>
              <a:buNone/>
            </a:pPr>
            <a:r>
              <a:rPr lang="zh-CN" altLang="en-US" sz="2400" dirty="0">
                <a:latin typeface="+mn-ea"/>
                <a:cs typeface="+mn-ea"/>
                <a:sym typeface="+mn-lt"/>
              </a:rPr>
              <a:t>具有的</a:t>
            </a:r>
            <a:r>
              <a:rPr lang="zh-CN" altLang="en-US" sz="2400" dirty="0">
                <a:solidFill>
                  <a:srgbClr val="FF0000"/>
                </a:solidFill>
                <a:latin typeface="+mn-ea"/>
                <a:cs typeface="+mn-ea"/>
                <a:sym typeface="+mn-lt"/>
              </a:rPr>
              <a:t>特征</a:t>
            </a:r>
            <a:r>
              <a:rPr lang="zh-CN" altLang="en-US" sz="2400" dirty="0">
                <a:latin typeface="+mn-ea"/>
                <a:cs typeface="+mn-ea"/>
                <a:sym typeface="+mn-lt"/>
              </a:rPr>
              <a:t>：</a:t>
            </a:r>
            <a:endParaRPr lang="zh-CN" altLang="en-US" sz="2400" dirty="0">
              <a:latin typeface="+mn-ea"/>
              <a:cs typeface="+mn-ea"/>
              <a:sym typeface="+mn-lt"/>
            </a:endParaRPr>
          </a:p>
        </p:txBody>
      </p:sp>
      <p:sp>
        <p:nvSpPr>
          <p:cNvPr id="17" name="îśḻiďé"/>
          <p:cNvSpPr/>
          <p:nvPr/>
        </p:nvSpPr>
        <p:spPr bwMode="auto">
          <a:xfrm>
            <a:off x="669925" y="2896462"/>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p>
        </p:txBody>
      </p:sp>
      <p:sp>
        <p:nvSpPr>
          <p:cNvPr id="18" name="išľiďe"/>
          <p:cNvSpPr/>
          <p:nvPr/>
        </p:nvSpPr>
        <p:spPr bwMode="auto">
          <a:xfrm>
            <a:off x="669925" y="4260975"/>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p>
        </p:txBody>
      </p:sp>
      <p:sp>
        <p:nvSpPr>
          <p:cNvPr id="19" name="íśľîḋé"/>
          <p:cNvSpPr/>
          <p:nvPr/>
        </p:nvSpPr>
        <p:spPr bwMode="auto">
          <a:xfrm>
            <a:off x="669925" y="5486393"/>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p>
        </p:txBody>
      </p:sp>
      <p:sp>
        <p:nvSpPr>
          <p:cNvPr id="21" name="ïṡḷidè"/>
          <p:cNvSpPr/>
          <p:nvPr/>
        </p:nvSpPr>
        <p:spPr bwMode="auto">
          <a:xfrm>
            <a:off x="902166" y="4528088"/>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2" name="iṡļîḍé"/>
          <p:cNvSpPr/>
          <p:nvPr/>
        </p:nvSpPr>
        <p:spPr bwMode="auto">
          <a:xfrm>
            <a:off x="902166" y="5737996"/>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
        <p:nvSpPr>
          <p:cNvPr id="23" name="ïslíḓé"/>
          <p:cNvSpPr/>
          <p:nvPr/>
        </p:nvSpPr>
        <p:spPr bwMode="auto">
          <a:xfrm>
            <a:off x="940399" y="3149846"/>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使用多级交换网络的</a:t>
            </a:r>
            <a:r>
              <a:rPr lang="en-US" altLang="zh-CN" sz="2800" b="1" dirty="0">
                <a:solidFill>
                  <a:schemeClr val="bg1"/>
                </a:solidFill>
                <a:cs typeface="+mn-ea"/>
                <a:sym typeface="+mn-lt"/>
              </a:rPr>
              <a:t>SMP</a:t>
            </a:r>
            <a:r>
              <a:rPr lang="zh-CN" altLang="en-US" sz="2800" b="1" dirty="0">
                <a:solidFill>
                  <a:schemeClr val="bg1"/>
                </a:solidFill>
                <a:cs typeface="+mn-ea"/>
                <a:sym typeface="+mn-lt"/>
              </a:rPr>
              <a:t>结构</a:t>
            </a:r>
            <a:endParaRPr lang="zh-CN" altLang="en-US" sz="2800" b="1" dirty="0">
              <a:solidFill>
                <a:schemeClr val="bg1"/>
              </a:solidFill>
              <a:cs typeface="+mn-ea"/>
              <a:sym typeface="+mn-lt"/>
            </a:endParaRPr>
          </a:p>
        </p:txBody>
      </p:sp>
      <p:pic>
        <p:nvPicPr>
          <p:cNvPr id="8" name="图片 7"/>
          <p:cNvPicPr>
            <a:picLocks noChangeAspect="1"/>
          </p:cNvPicPr>
          <p:nvPr/>
        </p:nvPicPr>
        <p:blipFill rotWithShape="1">
          <a:blip r:embed="rId1">
            <a:clrChange>
              <a:clrFrom>
                <a:srgbClr val="FFFFFF"/>
              </a:clrFrom>
              <a:clrTo>
                <a:srgbClr val="FFFFFF">
                  <a:alpha val="0"/>
                </a:srgbClr>
              </a:clrTo>
            </a:clrChange>
          </a:blip>
          <a:srcRect t="67742" r="73645"/>
          <a:stretch>
            <a:fillRect/>
          </a:stretch>
        </p:blipFill>
        <p:spPr>
          <a:xfrm>
            <a:off x="2369713" y="4600166"/>
            <a:ext cx="2975019" cy="1568647"/>
          </a:xfrm>
          <a:prstGeom prst="rect">
            <a:avLst/>
          </a:prstGeom>
        </p:spPr>
      </p:pic>
      <p:sp>
        <p:nvSpPr>
          <p:cNvPr id="6" name="i$lîďê"/>
          <p:cNvSpPr/>
          <p:nvPr/>
        </p:nvSpPr>
        <p:spPr>
          <a:xfrm>
            <a:off x="1506266" y="2327665"/>
            <a:ext cx="9804983" cy="392877"/>
          </a:xfrm>
          <a:prstGeom prst="rect">
            <a:avLst/>
          </a:prstGeom>
          <a:noFill/>
          <a:ln>
            <a:noFill/>
          </a:ln>
        </p:spPr>
        <p:txBody>
          <a:bodyPr wrap="square" lIns="91440" tIns="45720" rIns="91440" bIns="45720" anchor="ctr" anchorCtr="0">
            <a:noAutofit/>
          </a:bodyPr>
          <a:lstStyle/>
          <a:p>
            <a:pPr>
              <a:lnSpc>
                <a:spcPct val="123000"/>
              </a:lnSpc>
            </a:pPr>
            <a:r>
              <a:rPr lang="zh-CN" altLang="en-US" sz="2400" dirty="0">
                <a:solidFill>
                  <a:srgbClr val="FF0000"/>
                </a:solidFill>
              </a:rPr>
              <a:t>缺点</a:t>
            </a:r>
            <a:r>
              <a:rPr lang="zh-CN" altLang="en-US" sz="2400" dirty="0"/>
              <a:t>：硬件结构昂贵，且系统中</a:t>
            </a:r>
            <a:r>
              <a:rPr lang="en-US" altLang="zh-CN" sz="2400" dirty="0"/>
              <a:t>CPU</a:t>
            </a:r>
            <a:r>
              <a:rPr lang="zh-CN" altLang="en-US" sz="2400" dirty="0"/>
              <a:t>的数目不适合过多，一般在</a:t>
            </a:r>
            <a:r>
              <a:rPr lang="en-US" altLang="zh-CN" sz="2400" dirty="0"/>
              <a:t>100</a:t>
            </a:r>
            <a:r>
              <a:rPr lang="zh-CN" altLang="en-US" sz="2400" dirty="0"/>
              <a:t>个以</a:t>
            </a:r>
            <a:endParaRPr lang="zh-CN" altLang="en-US" sz="2400" dirty="0"/>
          </a:p>
        </p:txBody>
      </p:sp>
      <p:sp>
        <p:nvSpPr>
          <p:cNvPr id="9" name="î$ļíḋè"/>
          <p:cNvSpPr/>
          <p:nvPr/>
        </p:nvSpPr>
        <p:spPr>
          <a:xfrm>
            <a:off x="1506267" y="3672401"/>
            <a:ext cx="5019532" cy="107990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系统中的所有资源（如内存、</a:t>
            </a:r>
            <a:r>
              <a:rPr lang="en-US" altLang="zh-CN" sz="2200" dirty="0"/>
              <a:t>I/O</a:t>
            </a:r>
            <a:r>
              <a:rPr lang="zh-CN" altLang="en-US" sz="2200" dirty="0"/>
              <a:t>等）对于每个</a:t>
            </a:r>
            <a:r>
              <a:rPr lang="en-US" altLang="zh-CN" sz="2200" dirty="0"/>
              <a:t>CPU</a:t>
            </a:r>
            <a:r>
              <a:rPr lang="zh-CN" altLang="en-US" sz="2200" dirty="0"/>
              <a:t>而言都是共享的</a:t>
            </a:r>
            <a:endParaRPr lang="zh-CN" altLang="en-US" sz="2200" dirty="0"/>
          </a:p>
        </p:txBody>
      </p:sp>
      <p:sp>
        <p:nvSpPr>
          <p:cNvPr id="10" name="ïṧḷïḋè"/>
          <p:cNvSpPr/>
          <p:nvPr/>
        </p:nvSpPr>
        <p:spPr>
          <a:xfrm>
            <a:off x="1506267" y="3159625"/>
            <a:ext cx="5459358" cy="415102"/>
          </a:xfrm>
          <a:prstGeom prst="rect">
            <a:avLst/>
          </a:prstGeom>
          <a:noFill/>
          <a:ln>
            <a:noFill/>
          </a:ln>
        </p:spPr>
        <p:txBody>
          <a:bodyPr wrap="square" lIns="91440" tIns="45720" rIns="91440" bIns="45720" anchor="ctr" anchorCtr="0">
            <a:noAutofit/>
          </a:bodyPr>
          <a:lstStyle/>
          <a:p>
            <a:r>
              <a:rPr lang="zh-CN" altLang="en-US" sz="2400" dirty="0">
                <a:cs typeface="+mn-ea"/>
                <a:sym typeface="+mn-lt"/>
              </a:rPr>
              <a:t>四种</a:t>
            </a:r>
            <a:r>
              <a:rPr lang="en-US" altLang="zh-CN" sz="2400" dirty="0">
                <a:cs typeface="+mn-ea"/>
                <a:sym typeface="+mn-lt"/>
              </a:rPr>
              <a:t>SMP</a:t>
            </a:r>
            <a:r>
              <a:rPr lang="zh-CN" altLang="en-US" sz="2400" dirty="0">
                <a:cs typeface="+mn-ea"/>
                <a:sym typeface="+mn-lt"/>
              </a:rPr>
              <a:t>结构的系统共同特征：</a:t>
            </a:r>
            <a:r>
              <a:rPr lang="zh-CN" altLang="en-US" sz="2400" dirty="0">
                <a:solidFill>
                  <a:srgbClr val="0000FF"/>
                </a:solidFill>
                <a:cs typeface="+mn-ea"/>
                <a:sym typeface="+mn-lt"/>
              </a:rPr>
              <a:t>共享</a:t>
            </a:r>
            <a:endParaRPr lang="en-US" altLang="zh-CN" sz="2400" dirty="0">
              <a:cs typeface="+mn-ea"/>
              <a:sym typeface="+mn-lt"/>
            </a:endParaRPr>
          </a:p>
        </p:txBody>
      </p:sp>
      <p:sp>
        <p:nvSpPr>
          <p:cNvPr id="12" name="íšḻíḑê"/>
          <p:cNvSpPr/>
          <p:nvPr/>
        </p:nvSpPr>
        <p:spPr>
          <a:xfrm>
            <a:off x="1506266" y="1168373"/>
            <a:ext cx="9711233" cy="1046793"/>
          </a:xfrm>
          <a:prstGeom prst="rect">
            <a:avLst/>
          </a:prstGeom>
          <a:noFill/>
          <a:ln>
            <a:noFill/>
          </a:ln>
        </p:spPr>
        <p:txBody>
          <a:bodyPr wrap="square" lIns="91440" tIns="45720" rIns="91440" bIns="45720" anchor="ctr" anchorCtr="0">
            <a:noAutofit/>
          </a:bodyPr>
          <a:lstStyle/>
          <a:p>
            <a:pPr>
              <a:lnSpc>
                <a:spcPct val="123000"/>
              </a:lnSpc>
            </a:pPr>
            <a:r>
              <a:rPr lang="zh-CN" altLang="en-US" sz="2400" dirty="0"/>
              <a:t>为每个</a:t>
            </a:r>
            <a:r>
              <a:rPr lang="en-US" altLang="zh-CN" sz="2400" dirty="0"/>
              <a:t>CPU</a:t>
            </a:r>
            <a:r>
              <a:rPr lang="zh-CN" altLang="en-US" sz="2400" dirty="0"/>
              <a:t>都提供了多条到每个存储器模块的路径，减少了阻塞概率，很好地分散了流量，提高了访问速度。</a:t>
            </a:r>
            <a:endParaRPr lang="zh-CN" altLang="en-US" sz="2400" dirty="0"/>
          </a:p>
        </p:txBody>
      </p:sp>
      <p:sp>
        <p:nvSpPr>
          <p:cNvPr id="13" name="îSļiḓè"/>
          <p:cNvSpPr/>
          <p:nvPr/>
        </p:nvSpPr>
        <p:spPr>
          <a:xfrm>
            <a:off x="822763" y="115481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4" name="íṥḻîḓe"/>
          <p:cNvSpPr/>
          <p:nvPr/>
        </p:nvSpPr>
        <p:spPr>
          <a:xfrm>
            <a:off x="822763" y="307702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5" name="îşļiḓè"/>
          <p:cNvSpPr/>
          <p:nvPr/>
        </p:nvSpPr>
        <p:spPr>
          <a:xfrm>
            <a:off x="822765" y="222713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6" name="îṡḷíďe"/>
          <p:cNvSpPr/>
          <p:nvPr/>
        </p:nvSpPr>
        <p:spPr>
          <a:xfrm>
            <a:off x="1013018" y="1350949"/>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7" name="íSlíḋe"/>
          <p:cNvSpPr/>
          <p:nvPr/>
        </p:nvSpPr>
        <p:spPr>
          <a:xfrm>
            <a:off x="1013019" y="2449156"/>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8" name="ïśḷïḓe"/>
          <p:cNvSpPr/>
          <p:nvPr/>
        </p:nvSpPr>
        <p:spPr>
          <a:xfrm>
            <a:off x="1041956" y="326648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pic>
        <p:nvPicPr>
          <p:cNvPr id="24" name="图片 23"/>
          <p:cNvPicPr>
            <a:picLocks noChangeAspect="1"/>
          </p:cNvPicPr>
          <p:nvPr/>
        </p:nvPicPr>
        <p:blipFill rotWithShape="1">
          <a:blip r:embed="rId1">
            <a:clrChange>
              <a:clrFrom>
                <a:srgbClr val="FFFFFF"/>
              </a:clrFrom>
              <a:clrTo>
                <a:srgbClr val="FFFFFF">
                  <a:alpha val="0"/>
                </a:srgbClr>
              </a:clrTo>
            </a:clrChange>
          </a:blip>
          <a:srcRect l="38225"/>
          <a:stretch>
            <a:fillRect/>
          </a:stretch>
        </p:blipFill>
        <p:spPr>
          <a:xfrm>
            <a:off x="6774288" y="2964394"/>
            <a:ext cx="4691509" cy="32715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cs typeface="+mn-ea"/>
                <a:sym typeface="+mn-lt"/>
              </a:rPr>
              <a:t>非统一内存访问多处理系统结构</a:t>
            </a:r>
            <a:endParaRPr lang="zh-CN" altLang="en-US" sz="2800" b="1" dirty="0">
              <a:solidFill>
                <a:schemeClr val="bg1"/>
              </a:solidFill>
              <a:cs typeface="+mn-ea"/>
              <a:sym typeface="+mn-lt"/>
            </a:endParaRPr>
          </a:p>
        </p:txBody>
      </p:sp>
      <p:sp>
        <p:nvSpPr>
          <p:cNvPr id="5" name="内容占位符 2"/>
          <p:cNvSpPr txBox="1"/>
          <p:nvPr/>
        </p:nvSpPr>
        <p:spPr>
          <a:xfrm>
            <a:off x="669925" y="1203100"/>
            <a:ext cx="10616485" cy="11292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3000"/>
              </a:lnSpc>
              <a:spcBef>
                <a:spcPts val="600"/>
              </a:spcBef>
              <a:spcAft>
                <a:spcPts val="600"/>
              </a:spcAft>
              <a:buFont typeface="+mj-lt"/>
              <a:buAutoNum type="arabicPeriod"/>
            </a:pPr>
            <a:r>
              <a:rPr lang="zh-CN" altLang="zh-CN" sz="2400" dirty="0">
                <a:solidFill>
                  <a:srgbClr val="0000FF"/>
                </a:solidFill>
                <a:latin typeface="+mn-ea"/>
                <a:cs typeface="+mn-ea"/>
                <a:sym typeface="+mn-lt"/>
              </a:rPr>
              <a:t>非统一内存访问</a:t>
            </a:r>
            <a:r>
              <a:rPr lang="zh-CN" altLang="zh-CN" sz="2400" dirty="0">
                <a:latin typeface="+mn-ea"/>
                <a:cs typeface="+mn-ea"/>
                <a:sym typeface="+mn-lt"/>
              </a:rPr>
              <a:t>（</a:t>
            </a:r>
            <a:r>
              <a:rPr lang="en-US" altLang="zh-CN" sz="2400" dirty="0" err="1">
                <a:latin typeface="+mn-ea"/>
                <a:cs typeface="+mn-ea"/>
                <a:sym typeface="+mn-lt"/>
              </a:rPr>
              <a:t>nonuniform</a:t>
            </a:r>
            <a:r>
              <a:rPr lang="en-US" altLang="zh-CN" sz="2400" dirty="0">
                <a:latin typeface="+mn-ea"/>
                <a:cs typeface="+mn-ea"/>
                <a:sym typeface="+mn-lt"/>
              </a:rPr>
              <a:t> memory access</a:t>
            </a:r>
            <a:r>
              <a:rPr lang="zh-CN" altLang="zh-CN" sz="2400" dirty="0">
                <a:latin typeface="+mn-ea"/>
                <a:cs typeface="+mn-ea"/>
                <a:sym typeface="+mn-lt"/>
              </a:rPr>
              <a:t>，</a:t>
            </a:r>
            <a:r>
              <a:rPr lang="en-US" altLang="zh-CN" sz="2400" dirty="0">
                <a:solidFill>
                  <a:srgbClr val="0000FF"/>
                </a:solidFill>
                <a:latin typeface="+mn-ea"/>
                <a:cs typeface="+mn-ea"/>
                <a:sym typeface="+mn-lt"/>
              </a:rPr>
              <a:t>NUMA</a:t>
            </a:r>
            <a:r>
              <a:rPr lang="zh-CN" altLang="zh-CN" sz="2400" dirty="0">
                <a:latin typeface="+mn-ea"/>
                <a:cs typeface="+mn-ea"/>
                <a:sym typeface="+mn-lt"/>
              </a:rPr>
              <a:t>），也称为非一致存储访问。</a:t>
            </a:r>
            <a:endParaRPr lang="en-US" altLang="zh-CN" sz="2400" dirty="0">
              <a:latin typeface="+mn-ea"/>
              <a:cs typeface="+mn-ea"/>
              <a:sym typeface="+mn-lt"/>
            </a:endParaRPr>
          </a:p>
        </p:txBody>
      </p:sp>
      <p:pic>
        <p:nvPicPr>
          <p:cNvPr id="9" name="图片 8"/>
          <p:cNvPicPr>
            <a:picLocks noChangeAspect="1"/>
          </p:cNvPicPr>
          <p:nvPr/>
        </p:nvPicPr>
        <p:blipFill>
          <a:blip r:embed="rId1"/>
          <a:stretch>
            <a:fillRect/>
          </a:stretch>
        </p:blipFill>
        <p:spPr>
          <a:xfrm>
            <a:off x="5282072" y="2403217"/>
            <a:ext cx="6350335" cy="3566141"/>
          </a:xfrm>
          <a:prstGeom prst="rect">
            <a:avLst/>
          </a:prstGeom>
          <a:ln>
            <a:solidFill>
              <a:schemeClr val="bg2">
                <a:lumMod val="90000"/>
              </a:schemeClr>
            </a:solidFill>
          </a:ln>
        </p:spPr>
      </p:pic>
      <p:sp>
        <p:nvSpPr>
          <p:cNvPr id="12" name="内容占位符 2"/>
          <p:cNvSpPr txBox="1"/>
          <p:nvPr/>
        </p:nvSpPr>
        <p:spPr>
          <a:xfrm>
            <a:off x="452188" y="2332383"/>
            <a:ext cx="4739731" cy="370780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457200">
              <a:lnSpc>
                <a:spcPct val="123000"/>
              </a:lnSpc>
              <a:spcBef>
                <a:spcPts val="600"/>
              </a:spcBef>
              <a:spcAft>
                <a:spcPts val="600"/>
              </a:spcAft>
              <a:buClr>
                <a:srgbClr val="FF0000"/>
              </a:buClr>
              <a:buFont typeface="Wingdings" panose="05000000000000000000" pitchFamily="2" charset="2"/>
              <a:buChar char="Ø"/>
            </a:pPr>
            <a:r>
              <a:rPr lang="zh-CN" altLang="zh-CN" sz="2400" dirty="0">
                <a:latin typeface="+mn-ea"/>
                <a:cs typeface="+mn-ea"/>
                <a:sym typeface="+mn-lt"/>
              </a:rPr>
              <a:t>访问时间会因存储字的位置不同而变化。</a:t>
            </a:r>
            <a:endParaRPr lang="en-US" altLang="zh-CN" sz="2400" dirty="0">
              <a:latin typeface="+mn-ea"/>
              <a:cs typeface="+mn-ea"/>
              <a:sym typeface="+mn-lt"/>
            </a:endParaRPr>
          </a:p>
          <a:p>
            <a:pPr lvl="1" indent="-457200">
              <a:lnSpc>
                <a:spcPct val="123000"/>
              </a:lnSpc>
              <a:spcBef>
                <a:spcPts val="600"/>
              </a:spcBef>
              <a:spcAft>
                <a:spcPts val="600"/>
              </a:spcAft>
              <a:buClr>
                <a:srgbClr val="FF0000"/>
              </a:buClr>
              <a:buFont typeface="Wingdings" panose="05000000000000000000" pitchFamily="2" charset="2"/>
              <a:buChar char="Ø"/>
            </a:pPr>
            <a:r>
              <a:rPr lang="zh-CN" altLang="zh-CN" sz="2400" dirty="0">
                <a:latin typeface="+mn-ea"/>
                <a:cs typeface="+mn-ea"/>
                <a:sym typeface="+mn-lt"/>
              </a:rPr>
              <a:t>系统中的共享存储器（也称全局共享存储器）和分布在所有</a:t>
            </a:r>
            <a:r>
              <a:rPr lang="en-US" altLang="zh-CN" sz="2400" dirty="0">
                <a:latin typeface="+mn-ea"/>
                <a:cs typeface="+mn-ea"/>
                <a:sym typeface="+mn-lt"/>
              </a:rPr>
              <a:t>CPU</a:t>
            </a:r>
            <a:r>
              <a:rPr lang="zh-CN" altLang="zh-CN" sz="2400" dirty="0">
                <a:latin typeface="+mn-ea"/>
                <a:cs typeface="+mn-ea"/>
                <a:sym typeface="+mn-lt"/>
              </a:rPr>
              <a:t>的本地存储器，共同构成了系统的全局地址空间，可被所有</a:t>
            </a:r>
            <a:r>
              <a:rPr lang="en-US" altLang="zh-CN" sz="2400" dirty="0">
                <a:latin typeface="+mn-ea"/>
                <a:cs typeface="+mn-ea"/>
                <a:sym typeface="+mn-lt"/>
              </a:rPr>
              <a:t>CPU</a:t>
            </a:r>
            <a:r>
              <a:rPr lang="zh-CN" altLang="zh-CN" sz="2400" dirty="0">
                <a:latin typeface="+mn-ea"/>
                <a:cs typeface="+mn-ea"/>
                <a:sym typeface="+mn-lt"/>
              </a:rPr>
              <a:t>访问。</a:t>
            </a:r>
            <a:endParaRPr lang="en-US" altLang="zh-CN" sz="2400" dirty="0">
              <a:latin typeface="+mn-ea"/>
              <a:cs typeface="+mn-ea"/>
              <a:sym typeface="+mn-lt"/>
            </a:endParaRPr>
          </a:p>
          <a:p>
            <a:pPr>
              <a:lnSpc>
                <a:spcPct val="123000"/>
              </a:lnSpc>
              <a:spcBef>
                <a:spcPts val="600"/>
              </a:spcBef>
              <a:spcAft>
                <a:spcPts val="600"/>
              </a:spcAft>
            </a:pPr>
            <a:endParaRPr lang="zh-CN" altLang="en-US" sz="2400" dirty="0">
              <a:latin typeface="+mn-ea"/>
              <a:cs typeface="+mn-ea"/>
              <a:sym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cs typeface="+mn-ea"/>
                <a:sym typeface="+mn-lt"/>
              </a:rPr>
              <a:t>非统一内存访问多处理系统结构</a:t>
            </a:r>
            <a:endParaRPr lang="zh-CN" altLang="en-US" sz="2800" b="1" dirty="0">
              <a:solidFill>
                <a:schemeClr val="bg1"/>
              </a:solidFill>
              <a:cs typeface="+mn-ea"/>
              <a:sym typeface="+mn-lt"/>
            </a:endParaRPr>
          </a:p>
        </p:txBody>
      </p:sp>
      <p:sp>
        <p:nvSpPr>
          <p:cNvPr id="6" name="TextBox 3"/>
          <p:cNvSpPr txBox="1"/>
          <p:nvPr/>
        </p:nvSpPr>
        <p:spPr>
          <a:xfrm>
            <a:off x="691573" y="1090484"/>
            <a:ext cx="10611969" cy="506101"/>
          </a:xfrm>
          <a:prstGeom prst="rect">
            <a:avLst/>
          </a:prstGeom>
          <a:noFill/>
        </p:spPr>
        <p:txBody>
          <a:bodyPr wrap="square" rtlCol="0">
            <a:spAutoFit/>
          </a:bodyPr>
          <a:lstStyle/>
          <a:p>
            <a:pPr>
              <a:lnSpc>
                <a:spcPct val="123000"/>
              </a:lnSpc>
              <a:spcBef>
                <a:spcPts val="600"/>
              </a:spcBef>
              <a:spcAft>
                <a:spcPts val="600"/>
              </a:spcAft>
            </a:pPr>
            <a:r>
              <a:rPr lang="en-US" altLang="zh-CN" sz="2400" dirty="0">
                <a:cs typeface="+mn-ea"/>
                <a:sym typeface="+mn-lt"/>
              </a:rPr>
              <a:t>NUMA</a:t>
            </a:r>
            <a:r>
              <a:rPr lang="zh-CN" altLang="en-US" sz="2400" dirty="0">
                <a:cs typeface="+mn-ea"/>
                <a:sym typeface="+mn-lt"/>
              </a:rPr>
              <a:t>的</a:t>
            </a:r>
            <a:r>
              <a:rPr lang="zh-CN" altLang="en-US" sz="2400" dirty="0">
                <a:solidFill>
                  <a:srgbClr val="FF0000"/>
                </a:solidFill>
                <a:cs typeface="+mn-ea"/>
                <a:sym typeface="+mn-lt"/>
              </a:rPr>
              <a:t>特点</a:t>
            </a:r>
            <a:r>
              <a:rPr lang="zh-CN" altLang="en-US" sz="2400" dirty="0">
                <a:cs typeface="+mn-ea"/>
                <a:sym typeface="+mn-lt"/>
              </a:rPr>
              <a:t>：</a:t>
            </a:r>
            <a:endParaRPr lang="en-US" altLang="zh-CN" sz="2400" dirty="0">
              <a:cs typeface="+mn-ea"/>
              <a:sym typeface="+mn-lt"/>
            </a:endParaRPr>
          </a:p>
        </p:txBody>
      </p:sp>
      <p:grpSp>
        <p:nvGrpSpPr>
          <p:cNvPr id="8"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78077" y="1792946"/>
            <a:ext cx="11399275" cy="4334858"/>
            <a:chOff x="660400" y="1580300"/>
            <a:chExt cx="11399275" cy="4334858"/>
          </a:xfrm>
        </p:grpSpPr>
        <p:sp>
          <p:nvSpPr>
            <p:cNvPr id="10" name="íṥḻîḑe"/>
            <p:cNvSpPr/>
            <p:nvPr/>
          </p:nvSpPr>
          <p:spPr>
            <a:xfrm>
              <a:off x="682048" y="1580300"/>
              <a:ext cx="3476055" cy="2567583"/>
            </a:xfrm>
            <a:prstGeom prst="rect">
              <a:avLst/>
            </a:prstGeom>
            <a:blipFill>
              <a:blip r:embed="rId2"/>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1" name="ïşḻiḍé"/>
            <p:cNvSpPr/>
            <p:nvPr/>
          </p:nvSpPr>
          <p:spPr>
            <a:xfrm>
              <a:off x="660400"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0000"/>
                </a:lnSpc>
              </a:pPr>
              <a:r>
                <a:rPr lang="zh-CN" altLang="en-US" sz="2400" dirty="0">
                  <a:solidFill>
                    <a:schemeClr val="tx1"/>
                  </a:solidFill>
                  <a:latin typeface="+mn-ea"/>
                </a:rPr>
                <a:t>所有共享存储器在物理上是分布式的，在逻辑上是连续的，所有这些存储器的集合就是全局地址空间；</a:t>
              </a:r>
              <a:endParaRPr lang="zh-CN" altLang="en-US" sz="2400" dirty="0">
                <a:solidFill>
                  <a:schemeClr val="tx1"/>
                </a:solidFill>
                <a:latin typeface="+mn-ea"/>
              </a:endParaRPr>
            </a:p>
          </p:txBody>
        </p:sp>
        <p:sp>
          <p:nvSpPr>
            <p:cNvPr id="12" name="îŝļiḋe"/>
            <p:cNvSpPr/>
            <p:nvPr/>
          </p:nvSpPr>
          <p:spPr>
            <a:xfrm>
              <a:off x="4352677" y="1580300"/>
              <a:ext cx="3476055" cy="2567583"/>
            </a:xfrm>
            <a:prstGeom prst="rect">
              <a:avLst/>
            </a:prstGeom>
            <a:blipFill>
              <a:blip r:embed="rId3"/>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3" name="ïšlïḑè"/>
            <p:cNvSpPr/>
            <p:nvPr/>
          </p:nvSpPr>
          <p:spPr>
            <a:xfrm>
              <a:off x="4331029" y="4245058"/>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fontScale="92500"/>
            </a:bodyPr>
            <a:lstStyle/>
            <a:p>
              <a:pPr>
                <a:lnSpc>
                  <a:spcPct val="120000"/>
                </a:lnSpc>
              </a:pPr>
              <a:r>
                <a:rPr lang="zh-CN" altLang="en-US" sz="2400" dirty="0">
                  <a:solidFill>
                    <a:schemeClr val="tx1"/>
                  </a:solidFill>
                  <a:latin typeface="+mn-ea"/>
                </a:rPr>
                <a:t>系统中的每个</a:t>
              </a:r>
              <a:r>
                <a:rPr lang="en-US" altLang="zh-CN" sz="2400" dirty="0">
                  <a:solidFill>
                    <a:schemeClr val="tx1"/>
                  </a:solidFill>
                  <a:latin typeface="+mn-ea"/>
                </a:rPr>
                <a:t>CPU</a:t>
              </a:r>
              <a:r>
                <a:rPr lang="zh-CN" altLang="en-US" sz="2400" dirty="0">
                  <a:solidFill>
                    <a:schemeClr val="tx1"/>
                  </a:solidFill>
                  <a:latin typeface="+mn-ea"/>
                </a:rPr>
                <a:t>都可以访问整个系统的内存，但它们在访问时所使用的指令却不同；</a:t>
              </a:r>
              <a:endParaRPr lang="zh-CN" altLang="en-US" sz="2400" dirty="0">
                <a:solidFill>
                  <a:schemeClr val="tx1"/>
                </a:solidFill>
                <a:latin typeface="+mn-ea"/>
              </a:endParaRPr>
            </a:p>
          </p:txBody>
        </p:sp>
        <p:sp>
          <p:nvSpPr>
            <p:cNvPr id="14" name="íŝḻiďé"/>
            <p:cNvSpPr/>
            <p:nvPr/>
          </p:nvSpPr>
          <p:spPr>
            <a:xfrm>
              <a:off x="8023305" y="1580300"/>
              <a:ext cx="4036370" cy="2567583"/>
            </a:xfrm>
            <a:prstGeom prst="rect">
              <a:avLst/>
            </a:prstGeom>
            <a:blipFill>
              <a:blip r:embed="rId4"/>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5" name="í$ḷîḋe"/>
            <p:cNvSpPr/>
            <p:nvPr/>
          </p:nvSpPr>
          <p:spPr>
            <a:xfrm>
              <a:off x="8001657" y="4245058"/>
              <a:ext cx="4058018"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nSpc>
                  <a:spcPct val="120000"/>
                </a:lnSpc>
              </a:pPr>
              <a:r>
                <a:rPr lang="zh-CN" altLang="en-US" sz="2400" dirty="0">
                  <a:solidFill>
                    <a:schemeClr val="tx1"/>
                  </a:solidFill>
                  <a:latin typeface="+mn-ea"/>
                </a:rPr>
                <a:t>每个</a:t>
              </a:r>
              <a:r>
                <a:rPr lang="en-US" altLang="zh-CN" sz="2400" dirty="0">
                  <a:solidFill>
                    <a:schemeClr val="tx1"/>
                  </a:solidFill>
                  <a:latin typeface="+mn-ea"/>
                </a:rPr>
                <a:t>CPU</a:t>
              </a:r>
              <a:r>
                <a:rPr lang="zh-CN" altLang="en-US" sz="2400" dirty="0">
                  <a:solidFill>
                    <a:schemeClr val="tx1"/>
                  </a:solidFill>
                  <a:latin typeface="+mn-ea"/>
                </a:rPr>
                <a:t>访问本地存储器的速度要远远高于访问共享存储器或远程访问其他节点存储器（远地内存）的速度。</a:t>
              </a:r>
              <a:endParaRPr lang="zh-CN" altLang="en-US" sz="2400" dirty="0">
                <a:solidFill>
                  <a:schemeClr val="tx1"/>
                </a:solidFill>
                <a:latin typeface="+mn-ea"/>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CC-NUMA</a:t>
            </a:r>
            <a:r>
              <a:rPr lang="zh-CN" altLang="en-US" sz="2800" b="1" dirty="0">
                <a:solidFill>
                  <a:schemeClr val="bg1"/>
                </a:solidFill>
                <a:cs typeface="+mn-ea"/>
                <a:sym typeface="+mn-lt"/>
              </a:rPr>
              <a:t>结构的多处理机系统</a:t>
            </a:r>
            <a:endParaRPr lang="zh-CN" altLang="en-US" sz="2800" b="1" dirty="0">
              <a:solidFill>
                <a:schemeClr val="bg1"/>
              </a:solidFill>
              <a:cs typeface="+mn-ea"/>
              <a:sym typeface="+mn-lt"/>
            </a:endParaRPr>
          </a:p>
        </p:txBody>
      </p:sp>
      <p:sp>
        <p:nvSpPr>
          <p:cNvPr id="4" name="íšḻîḋè"/>
          <p:cNvSpPr/>
          <p:nvPr/>
        </p:nvSpPr>
        <p:spPr>
          <a:xfrm>
            <a:off x="1297791" y="2739834"/>
            <a:ext cx="10333541" cy="2396968"/>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000" dirty="0"/>
              <a:t>对于系统中每个</a:t>
            </a:r>
            <a:r>
              <a:rPr lang="en-US" altLang="zh-CN" sz="2000" dirty="0"/>
              <a:t>CPU</a:t>
            </a:r>
            <a:r>
              <a:rPr lang="zh-CN" altLang="en-US" sz="2000" dirty="0"/>
              <a:t>所拥有的若干高速缓存单元，都以一定的数量将它们组成一组，构成高速缓存块；为每个</a:t>
            </a:r>
            <a:r>
              <a:rPr lang="en-US" altLang="zh-CN" sz="2000" dirty="0"/>
              <a:t>CPU</a:t>
            </a:r>
            <a:r>
              <a:rPr lang="zh-CN" altLang="en-US" sz="2000" dirty="0"/>
              <a:t>配置一张高速缓存块目录表，该表对每个高速缓存块的位置和状态进行记录和维护；</a:t>
            </a:r>
            <a:endParaRPr lang="zh-CN" altLang="en-US" sz="2000" dirty="0"/>
          </a:p>
          <a:p>
            <a:pPr marL="342900" indent="-342900">
              <a:lnSpc>
                <a:spcPct val="120000"/>
              </a:lnSpc>
              <a:spcBef>
                <a:spcPts val="600"/>
              </a:spcBef>
              <a:buClr>
                <a:srgbClr val="FF0000"/>
              </a:buClr>
              <a:buFont typeface="Wingdings" panose="05000000000000000000" pitchFamily="2" charset="2"/>
              <a:buChar char="Ø"/>
            </a:pPr>
            <a:r>
              <a:rPr lang="zh-CN" altLang="en-US" sz="2000" dirty="0"/>
              <a:t>每个</a:t>
            </a:r>
            <a:r>
              <a:rPr lang="en-US" altLang="zh-CN" sz="2000" dirty="0"/>
              <a:t>CPU</a:t>
            </a:r>
            <a:r>
              <a:rPr lang="zh-CN" altLang="en-US" sz="2000" dirty="0"/>
              <a:t>的每条访问存储器单元的指令首先查询目录表，判断该存储器单元是否在目录表中，即其内容是否已存在于某个高速缓存块中，并进行相应的操作，如将存储器单元内容移入高速缓存、读取高速缓存内容、变换高速缓存块节点、修改目录表等。</a:t>
            </a:r>
            <a:endParaRPr lang="zh-CN" altLang="en-US" sz="2000" dirty="0"/>
          </a:p>
        </p:txBody>
      </p:sp>
      <p:sp>
        <p:nvSpPr>
          <p:cNvPr id="5" name="i$lîďê"/>
          <p:cNvSpPr/>
          <p:nvPr/>
        </p:nvSpPr>
        <p:spPr>
          <a:xfrm>
            <a:off x="1353427" y="2312697"/>
            <a:ext cx="6504395" cy="392877"/>
          </a:xfrm>
          <a:prstGeom prst="rect">
            <a:avLst/>
          </a:prstGeom>
          <a:noFill/>
          <a:ln>
            <a:noFill/>
          </a:ln>
        </p:spPr>
        <p:txBody>
          <a:bodyPr wrap="square" lIns="91440" tIns="45720" rIns="91440" bIns="45720" anchor="ctr" anchorCtr="0">
            <a:noAutofit/>
          </a:bodyPr>
          <a:lstStyle/>
          <a:p>
            <a:r>
              <a:rPr lang="en-US" altLang="zh-CN" sz="2200" dirty="0"/>
              <a:t>CC-NUMA</a:t>
            </a:r>
            <a:r>
              <a:rPr lang="zh-CN" altLang="en-US" sz="2200" dirty="0"/>
              <a:t>结构的</a:t>
            </a:r>
            <a:r>
              <a:rPr lang="zh-CN" altLang="en-US" sz="2200" dirty="0">
                <a:solidFill>
                  <a:srgbClr val="0000FF"/>
                </a:solidFill>
              </a:rPr>
              <a:t>系统构造方法：</a:t>
            </a:r>
            <a:endParaRPr lang="zh-CN" altLang="en-US" sz="2200" dirty="0">
              <a:solidFill>
                <a:srgbClr val="0000FF"/>
              </a:solidFill>
            </a:endParaRPr>
          </a:p>
        </p:txBody>
      </p:sp>
      <p:sp>
        <p:nvSpPr>
          <p:cNvPr id="6" name="î$ļíḋè"/>
          <p:cNvSpPr/>
          <p:nvPr/>
        </p:nvSpPr>
        <p:spPr>
          <a:xfrm>
            <a:off x="1353428" y="5702044"/>
            <a:ext cx="10649682"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solidFill>
                  <a:srgbClr val="FF0000"/>
                </a:solidFill>
              </a:rPr>
              <a:t>访问远地内存的时延远远超过本地内存</a:t>
            </a:r>
            <a:r>
              <a:rPr lang="zh-CN" altLang="en-US" sz="2000" dirty="0"/>
              <a:t>，因此当</a:t>
            </a:r>
            <a:r>
              <a:rPr lang="en-US" altLang="zh-CN" sz="2000" dirty="0"/>
              <a:t>CPU</a:t>
            </a:r>
            <a:r>
              <a:rPr lang="zh-CN" altLang="en-US" sz="2000" dirty="0"/>
              <a:t>数量增加时，系统性能无法线性增加。</a:t>
            </a:r>
            <a:endParaRPr lang="zh-CN" altLang="en-US" sz="2000" dirty="0"/>
          </a:p>
        </p:txBody>
      </p:sp>
      <p:sp>
        <p:nvSpPr>
          <p:cNvPr id="8" name="ïṧḷïḋè"/>
          <p:cNvSpPr/>
          <p:nvPr/>
        </p:nvSpPr>
        <p:spPr>
          <a:xfrm>
            <a:off x="1353429" y="5253664"/>
            <a:ext cx="3696051" cy="415102"/>
          </a:xfrm>
          <a:prstGeom prst="rect">
            <a:avLst/>
          </a:prstGeom>
          <a:noFill/>
          <a:ln>
            <a:noFill/>
          </a:ln>
        </p:spPr>
        <p:txBody>
          <a:bodyPr wrap="square" lIns="91440" tIns="45720" rIns="91440" bIns="45720" anchor="ctr" anchorCtr="0">
            <a:noAutofit/>
          </a:bodyPr>
          <a:lstStyle/>
          <a:p>
            <a:r>
              <a:rPr lang="zh-CN" altLang="en-US" sz="2200" dirty="0">
                <a:solidFill>
                  <a:srgbClr val="FF0000"/>
                </a:solidFill>
              </a:rPr>
              <a:t>主要问题：</a:t>
            </a:r>
            <a:endParaRPr lang="zh-CN" altLang="en-US" sz="2200" dirty="0">
              <a:solidFill>
                <a:srgbClr val="FF0000"/>
              </a:solidFill>
            </a:endParaRPr>
          </a:p>
        </p:txBody>
      </p:sp>
      <p:sp>
        <p:nvSpPr>
          <p:cNvPr id="10" name="íšḻíḑê"/>
          <p:cNvSpPr/>
          <p:nvPr/>
        </p:nvSpPr>
        <p:spPr>
          <a:xfrm>
            <a:off x="1353428" y="1219889"/>
            <a:ext cx="10277904" cy="866488"/>
          </a:xfrm>
          <a:prstGeom prst="rect">
            <a:avLst/>
          </a:prstGeom>
          <a:noFill/>
          <a:ln>
            <a:noFill/>
          </a:ln>
        </p:spPr>
        <p:txBody>
          <a:bodyPr wrap="square" lIns="91440" tIns="45720" rIns="91440" bIns="45720" anchor="ctr" anchorCtr="0">
            <a:noAutofit/>
          </a:bodyPr>
          <a:lstStyle/>
          <a:p>
            <a:pPr>
              <a:lnSpc>
                <a:spcPct val="120000"/>
              </a:lnSpc>
            </a:pPr>
            <a:r>
              <a:rPr lang="zh-CN" altLang="en-US" sz="2200" dirty="0"/>
              <a:t>对于</a:t>
            </a:r>
            <a:r>
              <a:rPr lang="en-US" altLang="zh-CN" sz="2200" dirty="0"/>
              <a:t>NUMA</a:t>
            </a:r>
            <a:r>
              <a:rPr lang="zh-CN" altLang="en-US" sz="2200" dirty="0"/>
              <a:t>结构的多处理机系统，为减少</a:t>
            </a:r>
            <a:r>
              <a:rPr lang="en-US" altLang="zh-CN" sz="2200" dirty="0"/>
              <a:t>CPU</a:t>
            </a:r>
            <a:r>
              <a:rPr lang="zh-CN" altLang="en-US" sz="2200" dirty="0"/>
              <a:t>对远程内存的访问，可以通过为每个</a:t>
            </a:r>
            <a:r>
              <a:rPr lang="en-US" altLang="zh-CN" sz="2200" dirty="0"/>
              <a:t>CPU</a:t>
            </a:r>
            <a:r>
              <a:rPr lang="zh-CN" altLang="en-US" sz="2200" dirty="0"/>
              <a:t>配备专属高速缓存的方法实现，这样的结构称为</a:t>
            </a:r>
            <a:r>
              <a:rPr lang="en-US" altLang="zh-CN" sz="2200" dirty="0"/>
              <a:t>CC-NUMA</a:t>
            </a:r>
            <a:r>
              <a:rPr lang="zh-CN" altLang="en-US" sz="2200" dirty="0"/>
              <a:t>结构。</a:t>
            </a:r>
            <a:endParaRPr lang="zh-CN" altLang="en-US" sz="2200" dirty="0"/>
          </a:p>
        </p:txBody>
      </p:sp>
      <p:sp>
        <p:nvSpPr>
          <p:cNvPr id="11" name="îSļiḓè"/>
          <p:cNvSpPr/>
          <p:nvPr/>
        </p:nvSpPr>
        <p:spPr>
          <a:xfrm>
            <a:off x="669925" y="129647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2" name="íṥḻîḓe"/>
          <p:cNvSpPr/>
          <p:nvPr/>
        </p:nvSpPr>
        <p:spPr>
          <a:xfrm>
            <a:off x="669925" y="517106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3" name="îşļiḓè"/>
          <p:cNvSpPr/>
          <p:nvPr/>
        </p:nvSpPr>
        <p:spPr>
          <a:xfrm>
            <a:off x="669925" y="221217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4" name="îṡḷíďe"/>
          <p:cNvSpPr/>
          <p:nvPr/>
        </p:nvSpPr>
        <p:spPr>
          <a:xfrm>
            <a:off x="860180" y="1492617"/>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5" name="íSlíḋe"/>
          <p:cNvSpPr/>
          <p:nvPr/>
        </p:nvSpPr>
        <p:spPr>
          <a:xfrm>
            <a:off x="860179" y="243418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6" name="ïśḷïḓe"/>
          <p:cNvSpPr/>
          <p:nvPr/>
        </p:nvSpPr>
        <p:spPr>
          <a:xfrm>
            <a:off x="889118" y="5360522"/>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多处理机操作系统的特征</a:t>
            </a:r>
            <a:endParaRPr lang="zh-CN" altLang="en-US" sz="2800" b="1" dirty="0">
              <a:solidFill>
                <a:schemeClr val="bg1"/>
              </a:solidFill>
              <a:cs typeface="+mn-ea"/>
              <a:sym typeface="+mn-lt"/>
            </a:endParaRPr>
          </a:p>
        </p:txBody>
      </p:sp>
      <p:sp>
        <p:nvSpPr>
          <p:cNvPr id="4" name="íšḻîḋè"/>
          <p:cNvSpPr/>
          <p:nvPr/>
        </p:nvSpPr>
        <p:spPr>
          <a:xfrm>
            <a:off x="1345574" y="1194369"/>
            <a:ext cx="9673744" cy="1883681"/>
          </a:xfrm>
          <a:prstGeom prst="rect">
            <a:avLst/>
          </a:prstGeom>
          <a:noFill/>
          <a:ln>
            <a:noFill/>
          </a:ln>
        </p:spPr>
        <p:txBody>
          <a:bodyPr wrap="square" lIns="91440" tIns="45720" rIns="91440" bIns="45720" anchor="t" anchorCtr="0">
            <a:noAutofit/>
          </a:bodyPr>
          <a:lstStyle/>
          <a:p>
            <a:pPr>
              <a:lnSpc>
                <a:spcPct val="123000"/>
              </a:lnSpc>
              <a:spcBef>
                <a:spcPts val="600"/>
              </a:spcBef>
              <a:spcAft>
                <a:spcPts val="600"/>
              </a:spcAft>
              <a:buClr>
                <a:srgbClr val="FF0000"/>
              </a:buClr>
            </a:pPr>
            <a:r>
              <a:rPr lang="zh-CN" altLang="en-US" sz="2400" dirty="0"/>
              <a:t>安装在多处理机系统上的</a:t>
            </a:r>
            <a:r>
              <a:rPr lang="en-US" altLang="zh-CN" sz="2400" dirty="0"/>
              <a:t>OS</a:t>
            </a:r>
            <a:r>
              <a:rPr lang="zh-CN" altLang="en-US" sz="2400" dirty="0"/>
              <a:t>，称为多处理机操作系统</a:t>
            </a:r>
            <a:endParaRPr lang="zh-CN" altLang="en-US" sz="2400" dirty="0"/>
          </a:p>
          <a:p>
            <a:pPr>
              <a:lnSpc>
                <a:spcPct val="123000"/>
              </a:lnSpc>
              <a:spcBef>
                <a:spcPts val="600"/>
              </a:spcBef>
              <a:spcAft>
                <a:spcPts val="600"/>
              </a:spcAft>
              <a:buClr>
                <a:srgbClr val="FF0000"/>
              </a:buClr>
            </a:pPr>
            <a:r>
              <a:rPr lang="zh-CN" altLang="en-US" sz="2400" dirty="0"/>
              <a:t>与单处理</a:t>
            </a:r>
            <a:r>
              <a:rPr lang="en-US" altLang="zh-CN" sz="2400" dirty="0"/>
              <a:t>OS</a:t>
            </a:r>
            <a:r>
              <a:rPr lang="zh-CN" altLang="en-US" sz="2400" dirty="0"/>
              <a:t>之间有相似之处，也有较大差异</a:t>
            </a:r>
            <a:endParaRPr lang="zh-CN" altLang="en-US" sz="2400" dirty="0"/>
          </a:p>
          <a:p>
            <a:pPr>
              <a:lnSpc>
                <a:spcPct val="123000"/>
              </a:lnSpc>
              <a:spcBef>
                <a:spcPts val="600"/>
              </a:spcBef>
              <a:spcAft>
                <a:spcPts val="600"/>
              </a:spcAft>
              <a:buClr>
                <a:srgbClr val="FF0000"/>
              </a:buClr>
            </a:pPr>
            <a:r>
              <a:rPr lang="zh-CN" altLang="en-US" sz="2400" dirty="0">
                <a:solidFill>
                  <a:srgbClr val="FF0000"/>
                </a:solidFill>
              </a:rPr>
              <a:t>新特征</a:t>
            </a:r>
            <a:r>
              <a:rPr lang="zh-CN" altLang="en-US" sz="2400" dirty="0"/>
              <a:t>：</a:t>
            </a:r>
            <a:endParaRPr lang="zh-CN" altLang="en-US" sz="2400" dirty="0"/>
          </a:p>
        </p:txBody>
      </p:sp>
      <p:pic>
        <p:nvPicPr>
          <p:cNvPr id="25" name="图片 2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3217" y="1194369"/>
            <a:ext cx="527050" cy="527050"/>
          </a:xfrm>
          <a:prstGeom prst="rect">
            <a:avLst/>
          </a:prstGeom>
          <a:ln>
            <a:noFill/>
          </a:ln>
          <a:effectLst>
            <a:softEdge rad="0"/>
          </a:effectLst>
        </p:spPr>
      </p:pic>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3217" y="1812608"/>
            <a:ext cx="527050" cy="527050"/>
          </a:xfrm>
          <a:prstGeom prst="rect">
            <a:avLst/>
          </a:prstGeom>
          <a:ln>
            <a:noFill/>
          </a:ln>
          <a:effectLst>
            <a:softEdge rad="0"/>
          </a:effectLst>
        </p:spPr>
      </p:pic>
      <p:pic>
        <p:nvPicPr>
          <p:cNvPr id="27" name="图片 2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3217" y="2430847"/>
            <a:ext cx="527050" cy="527050"/>
          </a:xfrm>
          <a:prstGeom prst="rect">
            <a:avLst/>
          </a:prstGeom>
          <a:ln>
            <a:noFill/>
          </a:ln>
          <a:effectLst>
            <a:softEdge rad="0"/>
          </a:effectLst>
        </p:spPr>
      </p:pic>
      <p:sp>
        <p:nvSpPr>
          <p:cNvPr id="15" name="íšḻîḋè"/>
          <p:cNvSpPr/>
          <p:nvPr/>
        </p:nvSpPr>
        <p:spPr>
          <a:xfrm>
            <a:off x="1345574" y="3078050"/>
            <a:ext cx="10362082" cy="2979264"/>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200" dirty="0"/>
              <a:t>并行性：多个进程之间存在着并行执行和并发执行两种关系</a:t>
            </a:r>
            <a:endParaRPr lang="zh-CN" altLang="en-US" sz="2200" dirty="0"/>
          </a:p>
          <a:p>
            <a:pPr marL="342900" indent="-342900">
              <a:lnSpc>
                <a:spcPct val="120000"/>
              </a:lnSpc>
              <a:spcBef>
                <a:spcPts val="600"/>
              </a:spcBef>
              <a:buClr>
                <a:srgbClr val="FF0000"/>
              </a:buClr>
              <a:buFont typeface="Wingdings" panose="05000000000000000000" pitchFamily="2" charset="2"/>
              <a:buChar char="Ø"/>
            </a:pPr>
            <a:r>
              <a:rPr lang="zh-CN" altLang="en-US" sz="2200" dirty="0"/>
              <a:t>分布性：任务的分布、资源的分布、控制的分布</a:t>
            </a:r>
            <a:endParaRPr lang="en-US" altLang="zh-CN" sz="2200" dirty="0"/>
          </a:p>
          <a:p>
            <a:pPr marL="342900" indent="-342900">
              <a:lnSpc>
                <a:spcPct val="120000"/>
              </a:lnSpc>
              <a:spcBef>
                <a:spcPts val="600"/>
              </a:spcBef>
              <a:buClr>
                <a:srgbClr val="FF0000"/>
              </a:buClr>
              <a:buFont typeface="Wingdings" panose="05000000000000000000" pitchFamily="2" charset="2"/>
              <a:buChar char="Ø"/>
            </a:pPr>
            <a:r>
              <a:rPr lang="zh-CN" altLang="en-US" sz="2200" dirty="0"/>
              <a:t>处理机间的通信和同步性：不同处理机之间的同步和通信，其实现机制远比单处理机系统要复杂得多</a:t>
            </a:r>
            <a:endParaRPr lang="zh-CN" altLang="en-US" sz="2200" dirty="0"/>
          </a:p>
          <a:p>
            <a:pPr marL="342900" indent="-342900">
              <a:lnSpc>
                <a:spcPct val="120000"/>
              </a:lnSpc>
              <a:spcBef>
                <a:spcPts val="600"/>
              </a:spcBef>
              <a:buClr>
                <a:srgbClr val="FF0000"/>
              </a:buClr>
              <a:buFont typeface="Wingdings" panose="05000000000000000000" pitchFamily="2" charset="2"/>
              <a:buChar char="Ø"/>
            </a:pPr>
            <a:r>
              <a:rPr lang="zh-CN" altLang="en-US" sz="2200" dirty="0"/>
              <a:t>可重构性：系统中某个处理机或存储模块等资源发生故障时，系统能够自动切除故障资源、换上备份资源，并对系统进行重构，以保证系统能够继续工作</a:t>
            </a:r>
            <a:endParaRPr lang="zh-CN" alt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多处理机操作系统的功能（</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íšḻîḋè"/>
          <p:cNvSpPr/>
          <p:nvPr/>
        </p:nvSpPr>
        <p:spPr>
          <a:xfrm>
            <a:off x="669925" y="1129975"/>
            <a:ext cx="1777061" cy="557158"/>
          </a:xfrm>
          <a:prstGeom prst="rect">
            <a:avLst/>
          </a:prstGeom>
          <a:noFill/>
          <a:ln>
            <a:noFill/>
          </a:ln>
        </p:spPr>
        <p:txBody>
          <a:bodyPr wrap="square" lIns="91440" tIns="45720" rIns="91440" bIns="45720" anchor="t" anchorCtr="0">
            <a:noAutofit/>
          </a:bodyPr>
          <a:lstStyle/>
          <a:p>
            <a:pPr>
              <a:lnSpc>
                <a:spcPct val="123000"/>
              </a:lnSpc>
              <a:spcBef>
                <a:spcPts val="600"/>
              </a:spcBef>
              <a:spcAft>
                <a:spcPts val="600"/>
              </a:spcAft>
              <a:buClr>
                <a:srgbClr val="FF0000"/>
              </a:buClr>
            </a:pPr>
            <a:r>
              <a:rPr lang="zh-CN" altLang="en-US" sz="2400" dirty="0">
                <a:solidFill>
                  <a:srgbClr val="FF0000"/>
                </a:solidFill>
              </a:rPr>
              <a:t>进程管理</a:t>
            </a:r>
            <a:endParaRPr lang="zh-CN" altLang="en-US" sz="2400" dirty="0">
              <a:solidFill>
                <a:srgbClr val="FF0000"/>
              </a:solidFill>
            </a:endParaRPr>
          </a:p>
        </p:txBody>
      </p:sp>
      <p:sp>
        <p:nvSpPr>
          <p:cNvPr id="53" name="íšḻîḋè"/>
          <p:cNvSpPr/>
          <p:nvPr/>
        </p:nvSpPr>
        <p:spPr>
          <a:xfrm>
            <a:off x="2550377" y="3916431"/>
            <a:ext cx="8877432" cy="862155"/>
          </a:xfrm>
          <a:prstGeom prst="rect">
            <a:avLst/>
          </a:prstGeom>
          <a:noFill/>
          <a:ln>
            <a:noFill/>
          </a:ln>
        </p:spPr>
        <p:txBody>
          <a:bodyPr wrap="square" lIns="91440" tIns="45720" rIns="91440" bIns="45720" anchor="t" anchorCtr="0">
            <a:normAutofit fontScale="92500" lnSpcReduction="20000"/>
          </a:bodyPr>
          <a:lstStyle/>
          <a:p>
            <a:pPr marL="342900" indent="-342900">
              <a:lnSpc>
                <a:spcPct val="140000"/>
              </a:lnSpc>
              <a:buClr>
                <a:srgbClr val="FF0000"/>
              </a:buClr>
              <a:buFont typeface="Wingdings" panose="05000000000000000000" pitchFamily="2" charset="2"/>
              <a:buChar char="Ø"/>
            </a:pPr>
            <a:r>
              <a:rPr lang="zh-CN" altLang="en-US" sz="2400" dirty="0"/>
              <a:t>相互合作的进程可能运行在不同的处理机上，甚至可能运行在不同的机器上，它们之间的通信涉及处理机间的通信</a:t>
            </a:r>
            <a:endParaRPr lang="zh-CN" altLang="en-US" sz="2400" dirty="0"/>
          </a:p>
        </p:txBody>
      </p:sp>
      <p:sp>
        <p:nvSpPr>
          <p:cNvPr id="54" name="i$lîďê"/>
          <p:cNvSpPr/>
          <p:nvPr/>
        </p:nvSpPr>
        <p:spPr>
          <a:xfrm>
            <a:off x="2550377" y="3475983"/>
            <a:ext cx="3696051" cy="392877"/>
          </a:xfrm>
          <a:prstGeom prst="rect">
            <a:avLst/>
          </a:prstGeom>
          <a:noFill/>
          <a:ln>
            <a:noFill/>
          </a:ln>
        </p:spPr>
        <p:txBody>
          <a:bodyPr wrap="square" lIns="91440" tIns="45720" rIns="91440" bIns="45720" anchor="ctr" anchorCtr="0">
            <a:noAutofit/>
          </a:bodyPr>
          <a:lstStyle/>
          <a:p>
            <a:r>
              <a:rPr lang="zh-CN" altLang="en-US" sz="2400" dirty="0"/>
              <a:t>进程通信</a:t>
            </a:r>
            <a:endParaRPr lang="zh-CN" altLang="en-US" sz="2400" dirty="0"/>
          </a:p>
        </p:txBody>
      </p:sp>
      <p:sp>
        <p:nvSpPr>
          <p:cNvPr id="55" name="î$ļíḋè"/>
          <p:cNvSpPr/>
          <p:nvPr/>
        </p:nvSpPr>
        <p:spPr>
          <a:xfrm>
            <a:off x="3233880" y="5567148"/>
            <a:ext cx="5472237"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t>主要考虑如何实现负载的平衡</a:t>
            </a:r>
            <a:endParaRPr lang="zh-CN" altLang="en-US" sz="2400" dirty="0"/>
          </a:p>
        </p:txBody>
      </p:sp>
      <p:sp>
        <p:nvSpPr>
          <p:cNvPr id="56" name="ïṧḷïḋè"/>
          <p:cNvSpPr/>
          <p:nvPr/>
        </p:nvSpPr>
        <p:spPr>
          <a:xfrm>
            <a:off x="3233881" y="5054373"/>
            <a:ext cx="3696051" cy="415102"/>
          </a:xfrm>
          <a:prstGeom prst="rect">
            <a:avLst/>
          </a:prstGeom>
          <a:noFill/>
          <a:ln>
            <a:noFill/>
          </a:ln>
        </p:spPr>
        <p:txBody>
          <a:bodyPr wrap="square" lIns="91440" tIns="45720" rIns="91440" bIns="45720" anchor="ctr" anchorCtr="0">
            <a:noAutofit/>
          </a:bodyPr>
          <a:lstStyle/>
          <a:p>
            <a:r>
              <a:rPr lang="zh-CN" altLang="en-US" sz="2400" dirty="0"/>
              <a:t>进程调度</a:t>
            </a:r>
            <a:endParaRPr lang="zh-CN" altLang="en-US" sz="2400" dirty="0"/>
          </a:p>
        </p:txBody>
      </p:sp>
      <p:sp>
        <p:nvSpPr>
          <p:cNvPr id="57" name="îs1iďé"/>
          <p:cNvSpPr/>
          <p:nvPr/>
        </p:nvSpPr>
        <p:spPr>
          <a:xfrm>
            <a:off x="1866874" y="2257414"/>
            <a:ext cx="9560935" cy="1018735"/>
          </a:xfrm>
          <a:prstGeom prst="rect">
            <a:avLst/>
          </a:prstGeom>
          <a:noFill/>
          <a:ln>
            <a:noFill/>
          </a:ln>
        </p:spPr>
        <p:txBody>
          <a:bodyPr wrap="square" lIns="91440" tIns="45720" rIns="91440" bIns="45720" anchor="t" anchorCtr="0">
            <a:noAutofit/>
          </a:bodyPr>
          <a:lstStyle/>
          <a:p>
            <a:pPr marL="342900" indent="-342900">
              <a:lnSpc>
                <a:spcPct val="140000"/>
              </a:lnSpc>
              <a:buClr>
                <a:srgbClr val="FF0000"/>
              </a:buClr>
              <a:buFont typeface="Wingdings" panose="05000000000000000000" pitchFamily="2" charset="2"/>
              <a:buChar char="Ø"/>
            </a:pPr>
            <a:r>
              <a:rPr lang="zh-CN" altLang="en-US" sz="2200" dirty="0"/>
              <a:t>不仅需要解决程序并发执行时引发的同步问题，而且需要解决在多个不同的处理机程序并行执行时所引发的同步问题</a:t>
            </a:r>
            <a:endParaRPr lang="zh-CN" altLang="en-US" sz="2200" dirty="0"/>
          </a:p>
        </p:txBody>
      </p:sp>
      <p:sp>
        <p:nvSpPr>
          <p:cNvPr id="58" name="íšḻíḑê"/>
          <p:cNvSpPr/>
          <p:nvPr/>
        </p:nvSpPr>
        <p:spPr>
          <a:xfrm>
            <a:off x="1866875" y="1840868"/>
            <a:ext cx="3696051" cy="405747"/>
          </a:xfrm>
          <a:prstGeom prst="rect">
            <a:avLst/>
          </a:prstGeom>
          <a:noFill/>
          <a:ln>
            <a:noFill/>
          </a:ln>
        </p:spPr>
        <p:txBody>
          <a:bodyPr wrap="square" lIns="91440" tIns="45720" rIns="91440" bIns="45720" anchor="ctr" anchorCtr="0">
            <a:noAutofit/>
          </a:bodyPr>
          <a:lstStyle/>
          <a:p>
            <a:r>
              <a:rPr lang="zh-CN" altLang="en-US" sz="2400" dirty="0"/>
              <a:t>进程同步</a:t>
            </a:r>
            <a:endParaRPr lang="zh-CN" altLang="en-US" sz="2400" dirty="0"/>
          </a:p>
        </p:txBody>
      </p:sp>
      <p:sp>
        <p:nvSpPr>
          <p:cNvPr id="59" name="îSļiḓè"/>
          <p:cNvSpPr/>
          <p:nvPr/>
        </p:nvSpPr>
        <p:spPr>
          <a:xfrm>
            <a:off x="1183372" y="1827306"/>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0" name="íṥḻîḓe"/>
          <p:cNvSpPr/>
          <p:nvPr/>
        </p:nvSpPr>
        <p:spPr>
          <a:xfrm>
            <a:off x="2550377" y="497177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1" name="îşļiḓè"/>
          <p:cNvSpPr/>
          <p:nvPr/>
        </p:nvSpPr>
        <p:spPr>
          <a:xfrm>
            <a:off x="1866875" y="3465610"/>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2" name="îṡḷíďe"/>
          <p:cNvSpPr/>
          <p:nvPr/>
        </p:nvSpPr>
        <p:spPr>
          <a:xfrm>
            <a:off x="1373627" y="2023444"/>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63" name="íSlíḋe"/>
          <p:cNvSpPr/>
          <p:nvPr/>
        </p:nvSpPr>
        <p:spPr>
          <a:xfrm>
            <a:off x="2057129" y="3687627"/>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64" name="ïśḷïḓe"/>
          <p:cNvSpPr/>
          <p:nvPr/>
        </p:nvSpPr>
        <p:spPr>
          <a:xfrm>
            <a:off x="2769570" y="5161231"/>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多处理机操作系统的功能（</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íšḻîḋè"/>
          <p:cNvSpPr/>
          <p:nvPr/>
        </p:nvSpPr>
        <p:spPr>
          <a:xfrm>
            <a:off x="669925" y="1129975"/>
            <a:ext cx="1777061" cy="557158"/>
          </a:xfrm>
          <a:prstGeom prst="rect">
            <a:avLst/>
          </a:prstGeom>
          <a:noFill/>
          <a:ln>
            <a:noFill/>
          </a:ln>
        </p:spPr>
        <p:txBody>
          <a:bodyPr wrap="square" lIns="91440" tIns="45720" rIns="91440" bIns="45720" anchor="t" anchorCtr="0">
            <a:noAutofit/>
          </a:bodyPr>
          <a:lstStyle/>
          <a:p>
            <a:pPr>
              <a:lnSpc>
                <a:spcPct val="123000"/>
              </a:lnSpc>
              <a:spcBef>
                <a:spcPts val="600"/>
              </a:spcBef>
              <a:spcAft>
                <a:spcPts val="600"/>
              </a:spcAft>
              <a:buClr>
                <a:srgbClr val="FF0000"/>
              </a:buClr>
            </a:pPr>
            <a:r>
              <a:rPr lang="zh-CN" altLang="en-US" sz="2400" dirty="0">
                <a:solidFill>
                  <a:srgbClr val="FF0000"/>
                </a:solidFill>
              </a:rPr>
              <a:t>存储器管理</a:t>
            </a:r>
            <a:endParaRPr lang="zh-CN" altLang="en-US" sz="2400" dirty="0">
              <a:solidFill>
                <a:srgbClr val="FF0000"/>
              </a:solidFill>
            </a:endParaRPr>
          </a:p>
        </p:txBody>
      </p:sp>
      <p:sp>
        <p:nvSpPr>
          <p:cNvPr id="53" name="íšḻîḋè"/>
          <p:cNvSpPr/>
          <p:nvPr/>
        </p:nvSpPr>
        <p:spPr>
          <a:xfrm>
            <a:off x="2550377" y="3645972"/>
            <a:ext cx="9027730" cy="1244800"/>
          </a:xfrm>
          <a:prstGeom prst="rect">
            <a:avLst/>
          </a:prstGeom>
          <a:noFill/>
          <a:ln>
            <a:noFill/>
          </a:ln>
        </p:spPr>
        <p:txBody>
          <a:bodyPr wrap="square" lIns="91440" tIns="45720" rIns="91440" bIns="45720" anchor="t" anchorCtr="0">
            <a:normAutofit fontScale="85000" lnSpcReduction="10000"/>
          </a:bodyPr>
          <a:lstStyle/>
          <a:p>
            <a:pPr marL="342900" indent="-342900">
              <a:lnSpc>
                <a:spcPct val="140000"/>
              </a:lnSpc>
              <a:buClr>
                <a:srgbClr val="FF0000"/>
              </a:buClr>
              <a:buFont typeface="Wingdings" panose="05000000000000000000" pitchFamily="2" charset="2"/>
              <a:buChar char="Ø"/>
            </a:pPr>
            <a:r>
              <a:rPr lang="zh-CN" altLang="en-US" sz="2400" dirty="0"/>
              <a:t>当多个处理机上的进程同时竞争访问某个存储器模块时，该机构能够按照一定的规则，决定哪个处理机上的进程可立即访问，哪个或哪些处理机上的进程应等待</a:t>
            </a:r>
            <a:endParaRPr lang="zh-CN" altLang="en-US" sz="2400" dirty="0"/>
          </a:p>
        </p:txBody>
      </p:sp>
      <p:sp>
        <p:nvSpPr>
          <p:cNvPr id="54" name="i$lîďê"/>
          <p:cNvSpPr/>
          <p:nvPr/>
        </p:nvSpPr>
        <p:spPr>
          <a:xfrm>
            <a:off x="2550377" y="3205524"/>
            <a:ext cx="3696051" cy="392877"/>
          </a:xfrm>
          <a:prstGeom prst="rect">
            <a:avLst/>
          </a:prstGeom>
          <a:noFill/>
          <a:ln>
            <a:noFill/>
          </a:ln>
        </p:spPr>
        <p:txBody>
          <a:bodyPr wrap="square" lIns="91440" tIns="45720" rIns="91440" bIns="45720" anchor="ctr" anchorCtr="0">
            <a:noAutofit/>
          </a:bodyPr>
          <a:lstStyle/>
          <a:p>
            <a:r>
              <a:rPr lang="zh-CN" altLang="en-US" sz="2400" dirty="0"/>
              <a:t>访问冲突仲裁机构</a:t>
            </a:r>
            <a:endParaRPr lang="zh-CN" altLang="en-US" sz="2400" dirty="0"/>
          </a:p>
        </p:txBody>
      </p:sp>
      <p:sp>
        <p:nvSpPr>
          <p:cNvPr id="55" name="î$ļíḋè"/>
          <p:cNvSpPr/>
          <p:nvPr/>
        </p:nvSpPr>
        <p:spPr>
          <a:xfrm>
            <a:off x="3233880" y="5296689"/>
            <a:ext cx="8193929"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t>当共享内存中的某个数据在多个处理机的本地存储器出现时，操作系统应保证这些数据的一致性</a:t>
            </a:r>
            <a:endParaRPr lang="zh-CN" altLang="en-US" sz="2000" dirty="0"/>
          </a:p>
        </p:txBody>
      </p:sp>
      <p:sp>
        <p:nvSpPr>
          <p:cNvPr id="56" name="ïṧḷïḋè"/>
          <p:cNvSpPr/>
          <p:nvPr/>
        </p:nvSpPr>
        <p:spPr>
          <a:xfrm>
            <a:off x="3233881" y="4874067"/>
            <a:ext cx="3696051" cy="415102"/>
          </a:xfrm>
          <a:prstGeom prst="rect">
            <a:avLst/>
          </a:prstGeom>
          <a:noFill/>
          <a:ln>
            <a:noFill/>
          </a:ln>
        </p:spPr>
        <p:txBody>
          <a:bodyPr wrap="square" lIns="91440" tIns="45720" rIns="91440" bIns="45720" anchor="ctr" anchorCtr="0">
            <a:noAutofit/>
          </a:bodyPr>
          <a:lstStyle/>
          <a:p>
            <a:r>
              <a:rPr lang="zh-CN" altLang="en-US" sz="2400" dirty="0"/>
              <a:t>数据一致性机制</a:t>
            </a:r>
            <a:endParaRPr lang="zh-CN" altLang="en-US" sz="2400" dirty="0"/>
          </a:p>
        </p:txBody>
      </p:sp>
      <p:sp>
        <p:nvSpPr>
          <p:cNvPr id="57" name="îs1iďé"/>
          <p:cNvSpPr/>
          <p:nvPr/>
        </p:nvSpPr>
        <p:spPr>
          <a:xfrm>
            <a:off x="1866874" y="2180140"/>
            <a:ext cx="9560935" cy="1018735"/>
          </a:xfrm>
          <a:prstGeom prst="rect">
            <a:avLst/>
          </a:prstGeom>
          <a:noFill/>
          <a:ln>
            <a:noFill/>
          </a:ln>
        </p:spPr>
        <p:txBody>
          <a:bodyPr wrap="square" lIns="91440" tIns="45720" rIns="91440" bIns="45720" anchor="t" anchorCtr="0">
            <a:noAutofit/>
          </a:bodyPr>
          <a:lstStyle/>
          <a:p>
            <a:pPr marL="342900" indent="-342900">
              <a:lnSpc>
                <a:spcPct val="140000"/>
              </a:lnSpc>
              <a:buClr>
                <a:srgbClr val="FF0000"/>
              </a:buClr>
              <a:buFont typeface="Wingdings" panose="05000000000000000000" pitchFamily="2" charset="2"/>
              <a:buChar char="Ø"/>
            </a:pPr>
            <a:r>
              <a:rPr lang="zh-CN" altLang="en-US" sz="2000" dirty="0"/>
              <a:t>该机构不仅可以用于将虚拟地址转换成实际物理地址，还可以确定所访问的是本地存储器还是远地存储器。</a:t>
            </a:r>
            <a:endParaRPr lang="zh-CN" altLang="en-US" sz="2000" dirty="0"/>
          </a:p>
        </p:txBody>
      </p:sp>
      <p:sp>
        <p:nvSpPr>
          <p:cNvPr id="58" name="íšḻíḑê"/>
          <p:cNvSpPr/>
          <p:nvPr/>
        </p:nvSpPr>
        <p:spPr>
          <a:xfrm>
            <a:off x="1866875" y="1763594"/>
            <a:ext cx="3696051" cy="405747"/>
          </a:xfrm>
          <a:prstGeom prst="rect">
            <a:avLst/>
          </a:prstGeom>
          <a:noFill/>
          <a:ln>
            <a:noFill/>
          </a:ln>
        </p:spPr>
        <p:txBody>
          <a:bodyPr wrap="square" lIns="91440" tIns="45720" rIns="91440" bIns="45720" anchor="ctr" anchorCtr="0">
            <a:noAutofit/>
          </a:bodyPr>
          <a:lstStyle/>
          <a:p>
            <a:r>
              <a:rPr lang="zh-CN" altLang="en-US" sz="2400" dirty="0"/>
              <a:t>地址变换机构</a:t>
            </a:r>
            <a:endParaRPr lang="zh-CN" altLang="en-US" sz="2400" dirty="0"/>
          </a:p>
        </p:txBody>
      </p:sp>
      <p:sp>
        <p:nvSpPr>
          <p:cNvPr id="59" name="îSļiḓè"/>
          <p:cNvSpPr/>
          <p:nvPr/>
        </p:nvSpPr>
        <p:spPr>
          <a:xfrm>
            <a:off x="1183372" y="1750032"/>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0" name="íṥḻîḓe"/>
          <p:cNvSpPr/>
          <p:nvPr/>
        </p:nvSpPr>
        <p:spPr>
          <a:xfrm>
            <a:off x="2550377" y="4791465"/>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1" name="îşļiḓè"/>
          <p:cNvSpPr/>
          <p:nvPr/>
        </p:nvSpPr>
        <p:spPr>
          <a:xfrm>
            <a:off x="1866875" y="3195151"/>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2" name="îṡḷíďe"/>
          <p:cNvSpPr/>
          <p:nvPr/>
        </p:nvSpPr>
        <p:spPr>
          <a:xfrm>
            <a:off x="1373627" y="194617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63" name="íSlíḋe"/>
          <p:cNvSpPr/>
          <p:nvPr/>
        </p:nvSpPr>
        <p:spPr>
          <a:xfrm>
            <a:off x="2057129" y="341716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
        <p:nvSpPr>
          <p:cNvPr id="64" name="ïśḷïḓe"/>
          <p:cNvSpPr/>
          <p:nvPr/>
        </p:nvSpPr>
        <p:spPr>
          <a:xfrm>
            <a:off x="2769570" y="4980925"/>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多处理机操作系统的功能（</a:t>
            </a:r>
            <a:r>
              <a:rPr lang="en-US" altLang="zh-CN" sz="2800" b="1" dirty="0">
                <a:solidFill>
                  <a:schemeClr val="bg1"/>
                </a:solidFill>
                <a:cs typeface="+mn-ea"/>
                <a:sym typeface="+mn-lt"/>
              </a:rPr>
              <a:t>3</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íšḻîḋè"/>
          <p:cNvSpPr/>
          <p:nvPr/>
        </p:nvSpPr>
        <p:spPr>
          <a:xfrm>
            <a:off x="669925" y="1129975"/>
            <a:ext cx="1777061" cy="557158"/>
          </a:xfrm>
          <a:prstGeom prst="rect">
            <a:avLst/>
          </a:prstGeom>
          <a:noFill/>
          <a:ln>
            <a:noFill/>
          </a:ln>
        </p:spPr>
        <p:txBody>
          <a:bodyPr wrap="square" lIns="91440" tIns="45720" rIns="91440" bIns="45720" anchor="t" anchorCtr="0">
            <a:noAutofit/>
          </a:bodyPr>
          <a:lstStyle/>
          <a:p>
            <a:pPr>
              <a:lnSpc>
                <a:spcPct val="123000"/>
              </a:lnSpc>
              <a:spcBef>
                <a:spcPts val="600"/>
              </a:spcBef>
              <a:spcAft>
                <a:spcPts val="600"/>
              </a:spcAft>
              <a:buClr>
                <a:srgbClr val="FF0000"/>
              </a:buClr>
            </a:pPr>
            <a:r>
              <a:rPr lang="zh-CN" altLang="en-US" sz="2400" dirty="0">
                <a:solidFill>
                  <a:srgbClr val="FF0000"/>
                </a:solidFill>
              </a:rPr>
              <a:t>文件管理</a:t>
            </a:r>
            <a:endParaRPr lang="zh-CN" altLang="en-US" sz="2400" dirty="0">
              <a:solidFill>
                <a:srgbClr val="FF0000"/>
              </a:solidFill>
            </a:endParaRPr>
          </a:p>
        </p:txBody>
      </p:sp>
      <p:sp>
        <p:nvSpPr>
          <p:cNvPr id="6" name="内容占位符 2"/>
          <p:cNvSpPr txBox="1"/>
          <p:nvPr/>
        </p:nvSpPr>
        <p:spPr>
          <a:xfrm>
            <a:off x="1468191" y="1792612"/>
            <a:ext cx="10174181" cy="480137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23000"/>
              </a:lnSpc>
              <a:spcBef>
                <a:spcPts val="600"/>
              </a:spcBef>
              <a:buClr>
                <a:srgbClr val="E71101"/>
              </a:buClr>
              <a:buSzPct val="60000"/>
              <a:buNone/>
              <a:defRPr/>
            </a:pPr>
            <a:r>
              <a:rPr lang="zh-CN" altLang="en-US" sz="2400" dirty="0"/>
              <a:t>集中式</a:t>
            </a:r>
            <a:endParaRPr lang="zh-CN" altLang="en-US" sz="2400" dirty="0"/>
          </a:p>
          <a:p>
            <a:pPr marL="0" lvl="1" indent="-342900">
              <a:lnSpc>
                <a:spcPct val="123000"/>
              </a:lnSpc>
              <a:spcBef>
                <a:spcPts val="60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所有处理机上的用户文件都集中存放在某一个处理机的文件系统中，由该处理机的操作系统进行统一管理</a:t>
            </a:r>
            <a:endParaRPr lang="zh-CN" altLang="en-US" sz="2400" dirty="0">
              <a:solidFill>
                <a:schemeClr val="tx1">
                  <a:lumMod val="65000"/>
                  <a:lumOff val="35000"/>
                </a:schemeClr>
              </a:solidFill>
            </a:endParaRPr>
          </a:p>
          <a:p>
            <a:pPr marL="0" lvl="1" indent="0">
              <a:lnSpc>
                <a:spcPct val="123000"/>
              </a:lnSpc>
              <a:spcBef>
                <a:spcPts val="600"/>
              </a:spcBef>
              <a:buClr>
                <a:srgbClr val="E71101"/>
              </a:buClr>
              <a:buSzPct val="60000"/>
              <a:buNone/>
              <a:defRPr/>
            </a:pPr>
            <a:r>
              <a:rPr lang="zh-CN" altLang="en-US" sz="2400" dirty="0"/>
              <a:t>分散式</a:t>
            </a:r>
            <a:endParaRPr lang="zh-CN" altLang="en-US" sz="2400" dirty="0"/>
          </a:p>
          <a:p>
            <a:pPr marL="0" lvl="1" indent="-342900">
              <a:lnSpc>
                <a:spcPct val="123000"/>
              </a:lnSpc>
              <a:spcBef>
                <a:spcPts val="60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各处理机上都可配置和管理自己的文件系统</a:t>
            </a:r>
            <a:endParaRPr lang="zh-CN" altLang="en-US" sz="2400" dirty="0">
              <a:solidFill>
                <a:schemeClr val="tx1">
                  <a:lumMod val="65000"/>
                  <a:lumOff val="35000"/>
                </a:schemeClr>
              </a:solidFill>
            </a:endParaRPr>
          </a:p>
          <a:p>
            <a:pPr marL="0" lvl="1" indent="0">
              <a:lnSpc>
                <a:spcPct val="123000"/>
              </a:lnSpc>
              <a:spcBef>
                <a:spcPts val="600"/>
              </a:spcBef>
              <a:buClr>
                <a:srgbClr val="E71101"/>
              </a:buClr>
              <a:buSzPct val="60000"/>
              <a:buNone/>
              <a:defRPr/>
            </a:pPr>
            <a:r>
              <a:rPr lang="zh-CN" altLang="en-US" sz="2400" dirty="0"/>
              <a:t>分布式</a:t>
            </a:r>
            <a:endParaRPr lang="zh-CN" altLang="en-US" sz="2400" dirty="0"/>
          </a:p>
          <a:p>
            <a:pPr marL="0" lvl="1" indent="-342900">
              <a:lnSpc>
                <a:spcPct val="123000"/>
              </a:lnSpc>
              <a:spcBef>
                <a:spcPts val="600"/>
              </a:spcBef>
              <a:buClr>
                <a:srgbClr val="E71101"/>
              </a:buClr>
              <a:buSzPct val="100000"/>
              <a:buFont typeface="Wingdings" panose="05000000000000000000" pitchFamily="2" charset="2"/>
              <a:buChar char="Ø"/>
              <a:defRPr/>
            </a:pPr>
            <a:r>
              <a:rPr lang="zh-CN" altLang="en-US" sz="2400" dirty="0">
                <a:solidFill>
                  <a:schemeClr val="tx1">
                    <a:lumMod val="65000"/>
                    <a:lumOff val="35000"/>
                  </a:schemeClr>
                </a:solidFill>
              </a:rPr>
              <a:t>系统中的所有文件均可分布在不同的处理机上，但在逻辑上它们组成了一个整体，每台处理机上的用户无须了解文件的具体物理位置，即可实现对它们的存取</a:t>
            </a:r>
            <a:endParaRPr lang="zh-CN" altLang="en-US" sz="2400" dirty="0">
              <a:solidFill>
                <a:schemeClr val="tx1">
                  <a:lumMod val="65000"/>
                  <a:lumOff val="35000"/>
                </a:schemeClr>
              </a:solidFill>
            </a:endParaRPr>
          </a:p>
        </p:txBody>
      </p:sp>
      <p:sp>
        <p:nvSpPr>
          <p:cNvPr id="7" name="îSļiḓè"/>
          <p:cNvSpPr/>
          <p:nvPr/>
        </p:nvSpPr>
        <p:spPr>
          <a:xfrm>
            <a:off x="669925" y="179261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8" name="íṥḻîḓe"/>
          <p:cNvSpPr/>
          <p:nvPr/>
        </p:nvSpPr>
        <p:spPr>
          <a:xfrm>
            <a:off x="669925" y="432784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9" name="îşļiḓè"/>
          <p:cNvSpPr/>
          <p:nvPr/>
        </p:nvSpPr>
        <p:spPr>
          <a:xfrm>
            <a:off x="669925" y="323866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0" name="îṡḷíďe"/>
          <p:cNvSpPr/>
          <p:nvPr/>
        </p:nvSpPr>
        <p:spPr>
          <a:xfrm>
            <a:off x="860180" y="1988750"/>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1" name="íSlíḋe"/>
          <p:cNvSpPr/>
          <p:nvPr/>
        </p:nvSpPr>
        <p:spPr>
          <a:xfrm>
            <a:off x="860179" y="3460680"/>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2" name="ïśḷïḓe"/>
          <p:cNvSpPr/>
          <p:nvPr/>
        </p:nvSpPr>
        <p:spPr>
          <a:xfrm>
            <a:off x="889118" y="4517309"/>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多处理机操作系统的功能（</a:t>
            </a:r>
            <a:r>
              <a:rPr lang="en-US" altLang="zh-CN" sz="2800" b="1" dirty="0">
                <a:solidFill>
                  <a:schemeClr val="bg1"/>
                </a:solidFill>
                <a:cs typeface="+mn-ea"/>
                <a:sym typeface="+mn-lt"/>
              </a:rPr>
              <a:t>4</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5" name="íšḻîḋè"/>
          <p:cNvSpPr/>
          <p:nvPr/>
        </p:nvSpPr>
        <p:spPr>
          <a:xfrm>
            <a:off x="669925" y="1129975"/>
            <a:ext cx="1777061" cy="557158"/>
          </a:xfrm>
          <a:prstGeom prst="rect">
            <a:avLst/>
          </a:prstGeom>
          <a:noFill/>
          <a:ln>
            <a:noFill/>
          </a:ln>
        </p:spPr>
        <p:txBody>
          <a:bodyPr wrap="square" lIns="91440" tIns="45720" rIns="91440" bIns="45720" anchor="t" anchorCtr="0">
            <a:noAutofit/>
          </a:bodyPr>
          <a:lstStyle/>
          <a:p>
            <a:pPr>
              <a:lnSpc>
                <a:spcPct val="123000"/>
              </a:lnSpc>
              <a:spcBef>
                <a:spcPts val="600"/>
              </a:spcBef>
              <a:spcAft>
                <a:spcPts val="600"/>
              </a:spcAft>
              <a:buClr>
                <a:srgbClr val="FF0000"/>
              </a:buClr>
            </a:pPr>
            <a:r>
              <a:rPr lang="zh-CN" altLang="en-US" sz="2400" dirty="0">
                <a:solidFill>
                  <a:srgbClr val="FF0000"/>
                </a:solidFill>
              </a:rPr>
              <a:t>系统重构</a:t>
            </a:r>
            <a:endParaRPr lang="zh-CN" altLang="en-US" sz="2400" dirty="0">
              <a:solidFill>
                <a:srgbClr val="FF0000"/>
              </a:solidFill>
            </a:endParaRPr>
          </a:p>
        </p:txBody>
      </p:sp>
      <p:grpSp>
        <p:nvGrpSpPr>
          <p:cNvPr id="6" name="18592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9925" y="1812120"/>
            <a:ext cx="10972576" cy="3331474"/>
            <a:chOff x="660400" y="1580300"/>
            <a:chExt cx="10972576" cy="3331474"/>
          </a:xfrm>
        </p:grpSpPr>
        <p:sp>
          <p:nvSpPr>
            <p:cNvPr id="7" name="íṥḻîḑe"/>
            <p:cNvSpPr/>
            <p:nvPr/>
          </p:nvSpPr>
          <p:spPr>
            <a:xfrm>
              <a:off x="682048" y="1580300"/>
              <a:ext cx="3476055" cy="1536387"/>
            </a:xfrm>
            <a:prstGeom prst="rect">
              <a:avLst/>
            </a:prstGeom>
            <a:blipFill>
              <a:blip r:embed="rId2"/>
              <a:srcRect/>
              <a:stretch>
                <a:fillRect t="-17779" b="-17603"/>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8" name="ïşḻiḍé"/>
            <p:cNvSpPr/>
            <p:nvPr/>
          </p:nvSpPr>
          <p:spPr>
            <a:xfrm>
              <a:off x="660400" y="3241674"/>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marL="342900" indent="-342900">
                <a:lnSpc>
                  <a:spcPct val="120000"/>
                </a:lnSpc>
                <a:buClr>
                  <a:srgbClr val="FF0000"/>
                </a:buClr>
                <a:buFont typeface="Wingdings" panose="05000000000000000000" pitchFamily="2" charset="2"/>
                <a:buChar char="Ø"/>
              </a:pPr>
              <a:r>
                <a:rPr lang="zh-CN" altLang="en-US" sz="2200" dirty="0">
                  <a:solidFill>
                    <a:schemeClr val="tx1"/>
                  </a:solidFill>
                </a:rPr>
                <a:t>当系统中某个处理机或存储器模块等资源发生故障时，系统能够自动切除故障资源并换上备份资源，使系统能够继续工作</a:t>
              </a:r>
              <a:endParaRPr lang="zh-CN" altLang="en-US" sz="2200" dirty="0">
                <a:solidFill>
                  <a:schemeClr val="tx1"/>
                </a:solidFill>
              </a:endParaRPr>
            </a:p>
          </p:txBody>
        </p:sp>
        <p:sp>
          <p:nvSpPr>
            <p:cNvPr id="9" name="îŝļiḋe"/>
            <p:cNvSpPr/>
            <p:nvPr/>
          </p:nvSpPr>
          <p:spPr>
            <a:xfrm>
              <a:off x="4352677" y="1580300"/>
              <a:ext cx="3476055" cy="1536387"/>
            </a:xfrm>
            <a:prstGeom prst="rect">
              <a:avLst/>
            </a:prstGeom>
            <a:blipFill>
              <a:blip r:embed="rId3"/>
              <a:srcRect/>
              <a:stretch>
                <a:fillRect t="-50445" b="-4994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0" name="ïšlïḑè"/>
            <p:cNvSpPr/>
            <p:nvPr/>
          </p:nvSpPr>
          <p:spPr>
            <a:xfrm>
              <a:off x="4331029" y="3241674"/>
              <a:ext cx="3517243"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marL="342900" indent="-342900">
                <a:lnSpc>
                  <a:spcPct val="120000"/>
                </a:lnSpc>
                <a:buClr>
                  <a:srgbClr val="FF0000"/>
                </a:buClr>
                <a:buFont typeface="Wingdings" panose="05000000000000000000" pitchFamily="2" charset="2"/>
                <a:buChar char="Ø"/>
              </a:pPr>
              <a:r>
                <a:rPr lang="zh-CN" altLang="en-US" sz="2200" dirty="0">
                  <a:solidFill>
                    <a:schemeClr val="tx1"/>
                  </a:solidFill>
                </a:rPr>
                <a:t>如果没有备份资源，则重构系统使其降级运行</a:t>
              </a:r>
              <a:endParaRPr lang="zh-CN" altLang="en-US" sz="2200" dirty="0">
                <a:solidFill>
                  <a:schemeClr val="tx1"/>
                </a:solidFill>
              </a:endParaRPr>
            </a:p>
          </p:txBody>
        </p:sp>
        <p:sp>
          <p:nvSpPr>
            <p:cNvPr id="11" name="íŝḻiďé"/>
            <p:cNvSpPr/>
            <p:nvPr/>
          </p:nvSpPr>
          <p:spPr>
            <a:xfrm>
              <a:off x="8023305" y="1580300"/>
              <a:ext cx="3609671" cy="1536387"/>
            </a:xfrm>
            <a:prstGeom prst="rect">
              <a:avLst/>
            </a:prstGeom>
            <a:blipFill>
              <a:blip r:embed="rId4"/>
              <a:srcRect/>
              <a:stretch>
                <a:fillRect l="-5418" r="-537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a:p>
          </p:txBody>
        </p:sp>
        <p:sp>
          <p:nvSpPr>
            <p:cNvPr id="12" name="í$ḷîḋe"/>
            <p:cNvSpPr/>
            <p:nvPr/>
          </p:nvSpPr>
          <p:spPr>
            <a:xfrm>
              <a:off x="8001657" y="3241674"/>
              <a:ext cx="3631319" cy="1670100"/>
            </a:xfrm>
            <a:prstGeom prst="rect">
              <a:avLst/>
            </a:prstGeom>
            <a:solidFill>
              <a:schemeClr val="bg1"/>
            </a:solidFill>
            <a:ln w="9525">
              <a:gradFill flip="none" rotWithShape="1">
                <a:gsLst>
                  <a:gs pos="0">
                    <a:schemeClr val="bg1">
                      <a:lumMod val="75000"/>
                    </a:schemeClr>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marL="342900" indent="-342900">
                <a:lnSpc>
                  <a:spcPct val="120000"/>
                </a:lnSpc>
                <a:buClr>
                  <a:srgbClr val="FF0000"/>
                </a:buClr>
                <a:buFont typeface="Wingdings" panose="05000000000000000000" pitchFamily="2" charset="2"/>
                <a:buChar char="Ø"/>
              </a:pPr>
              <a:r>
                <a:rPr lang="zh-CN" altLang="en-US" sz="2200" dirty="0">
                  <a:solidFill>
                    <a:schemeClr val="tx1"/>
                  </a:solidFill>
                </a:rPr>
                <a:t>如果在故障的处理机上有进程亟待执行，则操作系统应能将其安全地迁移到其他正常运行的处理机上继续执行，对处于故障处理机的其他可利用资源同样予以安全转移</a:t>
              </a:r>
              <a:endParaRPr lang="zh-CN" altLang="en-US" sz="2200" dirty="0">
                <a:solidFill>
                  <a:schemeClr val="tx1"/>
                </a:solidFil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多处理机操作系统的类型（</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íšḻîḋè"/>
          <p:cNvSpPr/>
          <p:nvPr/>
        </p:nvSpPr>
        <p:spPr>
          <a:xfrm>
            <a:off x="669925" y="1129975"/>
            <a:ext cx="10251360" cy="557158"/>
          </a:xfrm>
          <a:prstGeom prst="rect">
            <a:avLst/>
          </a:prstGeom>
          <a:noFill/>
          <a:ln>
            <a:noFill/>
          </a:ln>
        </p:spPr>
        <p:txBody>
          <a:bodyPr wrap="square" lIns="91440" tIns="45720" rIns="91440" bIns="45720" anchor="t" anchorCtr="0">
            <a:noAutofit/>
          </a:bodyPr>
          <a:lstStyle/>
          <a:p>
            <a:pPr>
              <a:lnSpc>
                <a:spcPct val="123000"/>
              </a:lnSpc>
              <a:spcBef>
                <a:spcPts val="600"/>
              </a:spcBef>
              <a:spcAft>
                <a:spcPts val="600"/>
              </a:spcAft>
              <a:buClr>
                <a:srgbClr val="FF0000"/>
              </a:buClr>
            </a:pPr>
            <a:r>
              <a:rPr lang="zh-CN" altLang="en-US" sz="2400" u="sng" dirty="0">
                <a:solidFill>
                  <a:srgbClr val="FF0000"/>
                </a:solidFill>
              </a:rPr>
              <a:t>主从式</a:t>
            </a:r>
            <a:r>
              <a:rPr lang="zh-CN" altLang="en-US" sz="2400" dirty="0">
                <a:solidFill>
                  <a:srgbClr val="FF0000"/>
                </a:solidFill>
              </a:rPr>
              <a:t>操作系统：</a:t>
            </a:r>
            <a:r>
              <a:rPr lang="zh-CN" altLang="en-US" sz="2400" dirty="0"/>
              <a:t>一台为主处理机，其他处理机为从处理机</a:t>
            </a:r>
            <a:endParaRPr lang="zh-CN" altLang="en-US" sz="2400" dirty="0"/>
          </a:p>
        </p:txBody>
      </p:sp>
      <p:grpSp>
        <p:nvGrpSpPr>
          <p:cNvPr id="7"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32522" y="1675989"/>
            <a:ext cx="11523718" cy="4777820"/>
            <a:chOff x="275870" y="1929384"/>
            <a:chExt cx="11523718" cy="4777820"/>
          </a:xfrm>
        </p:grpSpPr>
        <p:sp>
          <p:nvSpPr>
            <p:cNvPr id="8"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9"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0"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1"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2"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4" name="isľîdê"/>
            <p:cNvSpPr txBox="1"/>
            <p:nvPr/>
          </p:nvSpPr>
          <p:spPr>
            <a:xfrm>
              <a:off x="275870" y="4074635"/>
              <a:ext cx="3410147"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操作系统始终运行在主处理机上，负责保持和记录系统中所有处理机的属性、状态等信息，而将其他从处理机视作可调度和分配的资源，并为它们分配任务</a:t>
              </a:r>
              <a:endParaRPr lang="zh-CN" altLang="en-US" sz="2200" dirty="0"/>
            </a:p>
          </p:txBody>
        </p:sp>
        <p:sp>
          <p:nvSpPr>
            <p:cNvPr id="18"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9"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1"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2"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3" name="isľîdê"/>
            <p:cNvSpPr txBox="1"/>
            <p:nvPr/>
          </p:nvSpPr>
          <p:spPr>
            <a:xfrm>
              <a:off x="3702826" y="4072816"/>
              <a:ext cx="2236580" cy="1864567"/>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从处理机不具备调度功能，只能运行主处理机分配给它的任务</a:t>
              </a:r>
              <a:endParaRPr lang="zh-CN" altLang="en-US" sz="2200" dirty="0"/>
            </a:p>
          </p:txBody>
        </p:sp>
        <p:sp>
          <p:nvSpPr>
            <p:cNvPr id="24" name="isľîdê"/>
            <p:cNvSpPr txBox="1"/>
            <p:nvPr/>
          </p:nvSpPr>
          <p:spPr>
            <a:xfrm>
              <a:off x="6140057" y="4083974"/>
              <a:ext cx="2764945" cy="1813943"/>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solidFill>
                    <a:srgbClr val="0000FF"/>
                  </a:solidFill>
                </a:rPr>
                <a:t>优缺点</a:t>
              </a:r>
              <a:r>
                <a:rPr lang="zh-CN" altLang="en-US" sz="2200" dirty="0"/>
                <a:t>：</a:t>
              </a:r>
              <a:endParaRPr lang="zh-CN" altLang="en-US" sz="2200" dirty="0"/>
            </a:p>
            <a:p>
              <a:pPr marL="800100" lvl="1" indent="-342900">
                <a:lnSpc>
                  <a:spcPct val="120000"/>
                </a:lnSpc>
                <a:buClr>
                  <a:srgbClr val="0000FF"/>
                </a:buClr>
                <a:buFont typeface="Wingdings" panose="05000000000000000000" pitchFamily="2" charset="2"/>
                <a:buChar char="Ø"/>
              </a:pPr>
              <a:r>
                <a:rPr lang="zh-CN" altLang="en-US" sz="2200" dirty="0"/>
                <a:t>易于实现</a:t>
              </a:r>
              <a:endParaRPr lang="zh-CN" altLang="en-US" sz="2200" dirty="0"/>
            </a:p>
            <a:p>
              <a:pPr marL="800100" lvl="1" indent="-342900">
                <a:lnSpc>
                  <a:spcPct val="120000"/>
                </a:lnSpc>
                <a:buClr>
                  <a:srgbClr val="0000FF"/>
                </a:buClr>
                <a:buFont typeface="Wingdings" panose="05000000000000000000" pitchFamily="2" charset="2"/>
                <a:buChar char="Ø"/>
              </a:pPr>
              <a:r>
                <a:rPr lang="zh-CN" altLang="en-US" sz="2200" dirty="0"/>
                <a:t>资源利用率低</a:t>
              </a:r>
              <a:endParaRPr lang="zh-CN" altLang="en-US" sz="2200" dirty="0"/>
            </a:p>
            <a:p>
              <a:pPr marL="800100" lvl="1" indent="-342900">
                <a:lnSpc>
                  <a:spcPct val="120000"/>
                </a:lnSpc>
                <a:buClr>
                  <a:srgbClr val="0000FF"/>
                </a:buClr>
                <a:buFont typeface="Wingdings" panose="05000000000000000000" pitchFamily="2" charset="2"/>
                <a:buChar char="Ø"/>
              </a:pPr>
              <a:r>
                <a:rPr lang="zh-CN" altLang="en-US" sz="2200" dirty="0"/>
                <a:t>安全性差</a:t>
              </a:r>
              <a:endParaRPr lang="zh-CN" altLang="en-US" sz="2200" dirty="0"/>
            </a:p>
          </p:txBody>
        </p:sp>
        <p:sp>
          <p:nvSpPr>
            <p:cNvPr id="25" name="isľîdê"/>
            <p:cNvSpPr txBox="1"/>
            <p:nvPr/>
          </p:nvSpPr>
          <p:spPr>
            <a:xfrm>
              <a:off x="8612914" y="4098130"/>
              <a:ext cx="3186674" cy="2609074"/>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t>主从式</a:t>
              </a:r>
              <a:r>
                <a:rPr lang="en-US" altLang="zh-CN" sz="2200" dirty="0"/>
                <a:t>OS</a:t>
              </a:r>
              <a:r>
                <a:rPr lang="zh-CN" altLang="en-US" sz="2200" dirty="0"/>
                <a:t>一般用于工作负载不是太重、从处理机数量不是太多、从处理机性能远低于主处理机的非对称多处理机系统中</a:t>
              </a:r>
              <a:endParaRPr lang="zh-CN" altLang="en-US" sz="2200" dirty="0"/>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多处理机操作系统的类型（</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íšḻîḋè"/>
          <p:cNvSpPr/>
          <p:nvPr/>
        </p:nvSpPr>
        <p:spPr>
          <a:xfrm>
            <a:off x="669925" y="1129975"/>
            <a:ext cx="10251360" cy="557158"/>
          </a:xfrm>
          <a:prstGeom prst="rect">
            <a:avLst/>
          </a:prstGeom>
          <a:noFill/>
          <a:ln>
            <a:noFill/>
          </a:ln>
        </p:spPr>
        <p:txBody>
          <a:bodyPr wrap="square" lIns="91440" tIns="45720" rIns="91440" bIns="45720" anchor="t" anchorCtr="0">
            <a:noAutofit/>
          </a:bodyPr>
          <a:lstStyle/>
          <a:p>
            <a:pPr>
              <a:lnSpc>
                <a:spcPct val="123000"/>
              </a:lnSpc>
              <a:spcBef>
                <a:spcPts val="600"/>
              </a:spcBef>
              <a:spcAft>
                <a:spcPts val="600"/>
              </a:spcAft>
              <a:buClr>
                <a:srgbClr val="FF0000"/>
              </a:buClr>
            </a:pPr>
            <a:r>
              <a:rPr lang="zh-CN" altLang="en-US" sz="2400" u="sng" dirty="0">
                <a:solidFill>
                  <a:srgbClr val="0000FF"/>
                </a:solidFill>
              </a:rPr>
              <a:t>独立监督式</a:t>
            </a:r>
            <a:r>
              <a:rPr lang="zh-CN" altLang="en-US" sz="2400" dirty="0"/>
              <a:t>操作系统，也称为独立管理程序系统</a:t>
            </a:r>
            <a:endParaRPr lang="zh-CN" altLang="en-US" sz="2400" dirty="0"/>
          </a:p>
        </p:txBody>
      </p:sp>
      <p:grpSp>
        <p:nvGrpSpPr>
          <p:cNvPr id="7"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60242" y="1675989"/>
            <a:ext cx="12031758" cy="4735054"/>
            <a:chOff x="303590" y="1929384"/>
            <a:chExt cx="12031758" cy="4735054"/>
          </a:xfrm>
        </p:grpSpPr>
        <p:sp>
          <p:nvSpPr>
            <p:cNvPr id="8"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9"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0"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1"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2"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4" name="isľîdê"/>
            <p:cNvSpPr txBox="1"/>
            <p:nvPr/>
          </p:nvSpPr>
          <p:spPr>
            <a:xfrm>
              <a:off x="303590" y="4061665"/>
              <a:ext cx="2810476" cy="146171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每个处理机上都有自己的管理程序（操作系统内核），并拥有各自的专用资源，如</a:t>
              </a:r>
              <a:r>
                <a:rPr lang="en-US" altLang="zh-CN" sz="2200" dirty="0"/>
                <a:t>I/O</a:t>
              </a:r>
              <a:r>
                <a:rPr lang="zh-CN" altLang="en-US" sz="2200" dirty="0"/>
                <a:t>设备和文件系统等</a:t>
              </a:r>
              <a:endParaRPr lang="zh-CN" altLang="en-US" sz="2200" dirty="0"/>
            </a:p>
          </p:txBody>
        </p:sp>
        <p:sp>
          <p:nvSpPr>
            <p:cNvPr id="18"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9"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1"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2"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3" name="isľîdê"/>
            <p:cNvSpPr txBox="1"/>
            <p:nvPr/>
          </p:nvSpPr>
          <p:spPr>
            <a:xfrm>
              <a:off x="3153491" y="4040652"/>
              <a:ext cx="3294667" cy="1864567"/>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每个处理机上所配置的</a:t>
              </a:r>
              <a:r>
                <a:rPr lang="en-US" altLang="zh-CN" sz="2200" dirty="0"/>
                <a:t>OS</a:t>
              </a:r>
              <a:r>
                <a:rPr lang="zh-CN" altLang="en-US" sz="2200" dirty="0"/>
                <a:t>也具有与单处理机操作系统类似的功能，以服务自身的需要、管理自己的资源以及为进程分配任务</a:t>
              </a:r>
              <a:endParaRPr lang="zh-CN" altLang="en-US" sz="2200" dirty="0"/>
            </a:p>
          </p:txBody>
        </p:sp>
        <p:sp>
          <p:nvSpPr>
            <p:cNvPr id="24" name="isľîdê"/>
            <p:cNvSpPr txBox="1"/>
            <p:nvPr/>
          </p:nvSpPr>
          <p:spPr>
            <a:xfrm>
              <a:off x="6543020" y="4038335"/>
              <a:ext cx="2069893" cy="950335"/>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t>实例：</a:t>
              </a:r>
              <a:r>
                <a:rPr lang="en-US" altLang="zh-CN" sz="2200" dirty="0"/>
                <a:t>IBM 370/158</a:t>
              </a:r>
              <a:r>
                <a:rPr lang="zh-CN" altLang="en-US" sz="2200" dirty="0"/>
                <a:t>等</a:t>
              </a:r>
              <a:endParaRPr lang="zh-CN" altLang="en-US" sz="2200" dirty="0"/>
            </a:p>
          </p:txBody>
        </p:sp>
        <p:sp>
          <p:nvSpPr>
            <p:cNvPr id="25" name="isľîdê"/>
            <p:cNvSpPr txBox="1"/>
            <p:nvPr/>
          </p:nvSpPr>
          <p:spPr>
            <a:xfrm>
              <a:off x="8930593" y="4055364"/>
              <a:ext cx="3404755" cy="2609074"/>
            </a:xfrm>
            <a:prstGeom prst="rect">
              <a:avLst/>
            </a:prstGeom>
            <a:noFill/>
            <a:ln>
              <a:noFill/>
            </a:ln>
          </p:spPr>
          <p:txBody>
            <a:bodyPr wrap="square" lIns="91440" tIns="45720" rIns="91440" bIns="45720" anchor="t" anchorCtr="0">
              <a:noAutofit/>
            </a:bodyPr>
            <a:lstStyle/>
            <a:p>
              <a:pPr marL="342900" indent="-342900">
                <a:lnSpc>
                  <a:spcPct val="120000"/>
                </a:lnSpc>
                <a:buClr>
                  <a:srgbClr val="0000FF"/>
                </a:buClr>
                <a:buFont typeface="Wingdings" panose="05000000000000000000" pitchFamily="2" charset="2"/>
                <a:buChar char="Ø"/>
              </a:pPr>
              <a:r>
                <a:rPr lang="zh-CN" altLang="en-US" sz="2200" dirty="0">
                  <a:solidFill>
                    <a:srgbClr val="0000FF"/>
                  </a:solidFill>
                </a:rPr>
                <a:t>特点：</a:t>
              </a:r>
              <a:endParaRPr lang="zh-CN" altLang="en-US" sz="2200" dirty="0">
                <a:solidFill>
                  <a:srgbClr val="0000FF"/>
                </a:solidFill>
              </a:endParaRPr>
            </a:p>
            <a:p>
              <a:pPr marL="800100" lvl="1" indent="-342900">
                <a:lnSpc>
                  <a:spcPct val="120000"/>
                </a:lnSpc>
                <a:buClr>
                  <a:srgbClr val="0000FF"/>
                </a:buClr>
                <a:buFont typeface="Wingdings" panose="05000000000000000000" pitchFamily="2" charset="2"/>
                <a:buChar char="p"/>
              </a:pPr>
              <a:r>
                <a:rPr lang="zh-CN" altLang="en-US" sz="2200" dirty="0">
                  <a:solidFill>
                    <a:srgbClr val="0000FF"/>
                  </a:solidFill>
                </a:rPr>
                <a:t>自主性强</a:t>
              </a:r>
              <a:endParaRPr lang="zh-CN" altLang="en-US" sz="2200" dirty="0">
                <a:solidFill>
                  <a:srgbClr val="0000FF"/>
                </a:solidFill>
              </a:endParaRPr>
            </a:p>
            <a:p>
              <a:pPr marL="800100" lvl="1" indent="-342900">
                <a:lnSpc>
                  <a:spcPct val="120000"/>
                </a:lnSpc>
                <a:buClr>
                  <a:srgbClr val="0000FF"/>
                </a:buClr>
                <a:buFont typeface="Wingdings" panose="05000000000000000000" pitchFamily="2" charset="2"/>
                <a:buChar char="p"/>
              </a:pPr>
              <a:r>
                <a:rPr lang="zh-CN" altLang="en-US" sz="2200" dirty="0">
                  <a:solidFill>
                    <a:srgbClr val="0000FF"/>
                  </a:solidFill>
                </a:rPr>
                <a:t>可靠性高</a:t>
              </a:r>
              <a:endParaRPr lang="zh-CN" altLang="en-US" sz="2200" dirty="0">
                <a:solidFill>
                  <a:srgbClr val="0000FF"/>
                </a:solidFill>
              </a:endParaRPr>
            </a:p>
            <a:p>
              <a:pPr marL="800100" lvl="1" indent="-342900">
                <a:lnSpc>
                  <a:spcPct val="120000"/>
                </a:lnSpc>
                <a:buClr>
                  <a:srgbClr val="0000FF"/>
                </a:buClr>
                <a:buFont typeface="Wingdings" panose="05000000000000000000" pitchFamily="2" charset="2"/>
                <a:buChar char="p"/>
              </a:pPr>
              <a:r>
                <a:rPr lang="zh-CN" altLang="en-US" sz="2200" dirty="0">
                  <a:solidFill>
                    <a:srgbClr val="0000FF"/>
                  </a:solidFill>
                </a:rPr>
                <a:t>实现复杂</a:t>
              </a:r>
              <a:endParaRPr lang="zh-CN" altLang="en-US" sz="2200" dirty="0">
                <a:solidFill>
                  <a:srgbClr val="0000FF"/>
                </a:solidFill>
              </a:endParaRPr>
            </a:p>
            <a:p>
              <a:pPr marL="800100" lvl="1" indent="-342900">
                <a:lnSpc>
                  <a:spcPct val="120000"/>
                </a:lnSpc>
                <a:buClr>
                  <a:srgbClr val="0000FF"/>
                </a:buClr>
                <a:buFont typeface="Wingdings" panose="05000000000000000000" pitchFamily="2" charset="2"/>
                <a:buChar char="p"/>
              </a:pPr>
              <a:r>
                <a:rPr lang="zh-CN" altLang="en-US" sz="2200" dirty="0">
                  <a:solidFill>
                    <a:srgbClr val="0000FF"/>
                  </a:solidFill>
                </a:rPr>
                <a:t>存储空间开销大</a:t>
              </a:r>
              <a:endParaRPr lang="zh-CN" altLang="en-US" sz="2200" dirty="0">
                <a:solidFill>
                  <a:srgbClr val="0000FF"/>
                </a:solidFill>
              </a:endParaRPr>
            </a:p>
            <a:p>
              <a:pPr marL="800100" lvl="1" indent="-342900">
                <a:lnSpc>
                  <a:spcPct val="120000"/>
                </a:lnSpc>
                <a:buClr>
                  <a:srgbClr val="0000FF"/>
                </a:buClr>
                <a:buFont typeface="Wingdings" panose="05000000000000000000" pitchFamily="2" charset="2"/>
                <a:buChar char="p"/>
              </a:pPr>
              <a:r>
                <a:rPr lang="zh-CN" altLang="en-US" sz="2200" dirty="0">
                  <a:solidFill>
                    <a:srgbClr val="0000FF"/>
                  </a:solidFill>
                </a:rPr>
                <a:t>处理机负载不平衡</a:t>
              </a:r>
              <a:endParaRPr lang="zh-CN" altLang="en-US" sz="2200" dirty="0">
                <a:solidFill>
                  <a:srgbClr val="0000FF"/>
                </a:solidFil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集中式同步方式与分布式同步方式</a:t>
            </a:r>
            <a:r>
              <a:rPr lang="en-US" altLang="zh-CN" sz="2800" b="1" dirty="0">
                <a:solidFill>
                  <a:schemeClr val="bg1"/>
                </a:solidFill>
                <a:cs typeface="+mn-ea"/>
                <a:sym typeface="+mn-lt"/>
              </a:rPr>
              <a:t>(1)</a:t>
            </a:r>
            <a:endParaRPr lang="zh-CN" altLang="en-US" sz="2800" b="1" dirty="0">
              <a:solidFill>
                <a:schemeClr val="bg1"/>
              </a:solidFill>
              <a:cs typeface="+mn-ea"/>
              <a:sym typeface="+mn-lt"/>
            </a:endParaRPr>
          </a:p>
        </p:txBody>
      </p:sp>
      <p:sp>
        <p:nvSpPr>
          <p:cNvPr id="5" name="内容占位符 2"/>
          <p:cNvSpPr txBox="1"/>
          <p:nvPr/>
        </p:nvSpPr>
        <p:spPr>
          <a:xfrm>
            <a:off x="1398722" y="1139709"/>
            <a:ext cx="10102111" cy="557018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23000"/>
              </a:lnSpc>
              <a:spcBef>
                <a:spcPts val="600"/>
              </a:spcBef>
              <a:buClr>
                <a:srgbClr val="E71101"/>
              </a:buClr>
              <a:buSzPct val="100000"/>
              <a:buNone/>
              <a:defRPr/>
            </a:pPr>
            <a:r>
              <a:rPr lang="zh-CN" altLang="en-US" sz="2200" dirty="0">
                <a:solidFill>
                  <a:schemeClr val="tx1">
                    <a:lumMod val="65000"/>
                    <a:lumOff val="35000"/>
                  </a:schemeClr>
                </a:solidFill>
              </a:rPr>
              <a:t>同步实体，如硬件锁、信号量、进程等</a:t>
            </a:r>
            <a:endParaRPr lang="zh-CN" altLang="en-US" sz="2200" dirty="0">
              <a:solidFill>
                <a:schemeClr val="tx1">
                  <a:lumMod val="65000"/>
                  <a:lumOff val="35000"/>
                </a:schemeClr>
              </a:solidFill>
            </a:endParaRPr>
          </a:p>
          <a:p>
            <a:pPr marL="0" lvl="1" indent="0">
              <a:lnSpc>
                <a:spcPct val="123000"/>
              </a:lnSpc>
              <a:spcBef>
                <a:spcPts val="600"/>
              </a:spcBef>
              <a:buClr>
                <a:srgbClr val="E71101"/>
              </a:buClr>
              <a:buSzPct val="100000"/>
              <a:buNone/>
              <a:defRPr/>
            </a:pPr>
            <a:r>
              <a:rPr lang="zh-CN" altLang="en-US" sz="2200" dirty="0">
                <a:solidFill>
                  <a:schemeClr val="tx1">
                    <a:lumMod val="65000"/>
                    <a:lumOff val="35000"/>
                  </a:schemeClr>
                </a:solidFill>
              </a:rPr>
              <a:t>同步实体满足下述两个条件，则称之为</a:t>
            </a:r>
            <a:r>
              <a:rPr lang="zh-CN" altLang="en-US" sz="2200" dirty="0">
                <a:solidFill>
                  <a:srgbClr val="0000FF"/>
                </a:solidFill>
              </a:rPr>
              <a:t>中心同步实体</a:t>
            </a:r>
            <a:endParaRPr lang="zh-CN" altLang="en-US" sz="2200" dirty="0">
              <a:solidFill>
                <a:srgbClr val="0000FF"/>
              </a:solidFill>
            </a:endParaRPr>
          </a:p>
          <a:p>
            <a:pPr marL="114300" lvl="1" indent="-457200">
              <a:lnSpc>
                <a:spcPct val="123000"/>
              </a:lnSpc>
              <a:spcBef>
                <a:spcPts val="600"/>
              </a:spcBef>
              <a:buClr>
                <a:srgbClr val="E71101"/>
              </a:buClr>
              <a:buSzPct val="100000"/>
              <a:buFont typeface="+mj-ea"/>
              <a:buAutoNum type="circleNumDbPlain"/>
              <a:defRPr/>
            </a:pPr>
            <a:r>
              <a:rPr lang="zh-CN" altLang="en-US" sz="2000" dirty="0">
                <a:solidFill>
                  <a:schemeClr val="tx1">
                    <a:lumMod val="65000"/>
                    <a:lumOff val="35000"/>
                  </a:schemeClr>
                </a:solidFill>
              </a:rPr>
              <a:t>具有唯一的名字，并且为彼此必须同步的所有进程知道</a:t>
            </a:r>
            <a:endParaRPr lang="zh-CN" altLang="en-US" sz="2000" dirty="0">
              <a:solidFill>
                <a:schemeClr val="tx1">
                  <a:lumMod val="65000"/>
                  <a:lumOff val="35000"/>
                </a:schemeClr>
              </a:solidFill>
            </a:endParaRPr>
          </a:p>
          <a:p>
            <a:pPr marL="114300" lvl="1" indent="-457200">
              <a:lnSpc>
                <a:spcPct val="123000"/>
              </a:lnSpc>
              <a:spcBef>
                <a:spcPts val="600"/>
              </a:spcBef>
              <a:buClr>
                <a:srgbClr val="E71101"/>
              </a:buClr>
              <a:buSzPct val="100000"/>
              <a:buFont typeface="+mj-ea"/>
              <a:buAutoNum type="circleNumDbPlain"/>
              <a:defRPr/>
            </a:pPr>
            <a:r>
              <a:rPr lang="zh-CN" altLang="en-US" sz="2000" dirty="0">
                <a:solidFill>
                  <a:schemeClr val="tx1">
                    <a:lumMod val="65000"/>
                    <a:lumOff val="35000"/>
                  </a:schemeClr>
                </a:solidFill>
              </a:rPr>
              <a:t>在任何时刻，这些进程中的任一进程都可以访问该同步实体</a:t>
            </a:r>
            <a:endParaRPr lang="zh-CN" altLang="en-US" sz="2000" dirty="0">
              <a:solidFill>
                <a:schemeClr val="tx1">
                  <a:lumMod val="65000"/>
                  <a:lumOff val="35000"/>
                </a:schemeClr>
              </a:solidFill>
            </a:endParaRPr>
          </a:p>
          <a:p>
            <a:pPr marL="0" lvl="1" indent="0">
              <a:lnSpc>
                <a:spcPct val="123000"/>
              </a:lnSpc>
              <a:spcBef>
                <a:spcPts val="600"/>
              </a:spcBef>
              <a:buClr>
                <a:srgbClr val="E71101"/>
              </a:buClr>
              <a:buSzPct val="100000"/>
              <a:buNone/>
              <a:defRPr/>
            </a:pPr>
            <a:r>
              <a:rPr lang="zh-CN" altLang="en-US" sz="2200" dirty="0">
                <a:solidFill>
                  <a:schemeClr val="tx1">
                    <a:lumMod val="65000"/>
                    <a:lumOff val="35000"/>
                  </a:schemeClr>
                </a:solidFill>
              </a:rPr>
              <a:t>集中式同步机构：基于中心同步实体所构成的所有同步机构</a:t>
            </a:r>
            <a:endParaRPr lang="zh-CN" altLang="en-US" sz="2200" dirty="0">
              <a:solidFill>
                <a:schemeClr val="tx1">
                  <a:lumMod val="65000"/>
                  <a:lumOff val="35000"/>
                </a:schemeClr>
              </a:solidFill>
            </a:endParaRPr>
          </a:p>
          <a:p>
            <a:pPr marL="0" lvl="1" indent="-342900">
              <a:lnSpc>
                <a:spcPct val="123000"/>
              </a:lnSpc>
              <a:spcBef>
                <a:spcPts val="600"/>
              </a:spcBef>
              <a:buClr>
                <a:srgbClr val="E71101"/>
              </a:buClr>
              <a:buSzPct val="100000"/>
              <a:buFont typeface="Wingdings" panose="05000000000000000000" pitchFamily="2" charset="2"/>
              <a:buChar char="Ø"/>
              <a:defRPr/>
            </a:pPr>
            <a:r>
              <a:rPr lang="zh-CN" altLang="en-US" sz="2000" dirty="0">
                <a:solidFill>
                  <a:schemeClr val="tx1">
                    <a:lumMod val="65000"/>
                    <a:lumOff val="35000"/>
                  </a:schemeClr>
                </a:solidFill>
              </a:rPr>
              <a:t>多处理机</a:t>
            </a:r>
            <a:r>
              <a:rPr lang="en-US" altLang="zh-CN" sz="2000" dirty="0">
                <a:solidFill>
                  <a:schemeClr val="tx1">
                    <a:lumMod val="65000"/>
                    <a:lumOff val="35000"/>
                  </a:schemeClr>
                </a:solidFill>
              </a:rPr>
              <a:t>OS</a:t>
            </a:r>
            <a:r>
              <a:rPr lang="zh-CN" altLang="en-US" sz="2000" dirty="0">
                <a:solidFill>
                  <a:schemeClr val="tx1">
                    <a:lumMod val="65000"/>
                    <a:lumOff val="35000"/>
                  </a:schemeClr>
                </a:solidFill>
              </a:rPr>
              <a:t>中，新增同步机制，如自旋锁、读</a:t>
            </a:r>
            <a:r>
              <a:rPr lang="en-US" altLang="zh-CN" sz="2000" dirty="0">
                <a:solidFill>
                  <a:schemeClr val="tx1">
                    <a:lumMod val="65000"/>
                    <a:lumOff val="35000"/>
                  </a:schemeClr>
                </a:solidFill>
              </a:rPr>
              <a:t>-</a:t>
            </a:r>
            <a:r>
              <a:rPr lang="zh-CN" altLang="en-US" sz="2000" dirty="0">
                <a:solidFill>
                  <a:schemeClr val="tx1">
                    <a:lumMod val="65000"/>
                    <a:lumOff val="35000"/>
                  </a:schemeClr>
                </a:solidFill>
              </a:rPr>
              <a:t>复制</a:t>
            </a:r>
            <a:r>
              <a:rPr lang="en-US" altLang="zh-CN" sz="2000" dirty="0">
                <a:solidFill>
                  <a:schemeClr val="tx1">
                    <a:lumMod val="65000"/>
                    <a:lumOff val="35000"/>
                  </a:schemeClr>
                </a:solidFill>
              </a:rPr>
              <a:t>-</a:t>
            </a:r>
            <a:r>
              <a:rPr lang="zh-CN" altLang="en-US" sz="2000" dirty="0">
                <a:solidFill>
                  <a:schemeClr val="tx1">
                    <a:lumMod val="65000"/>
                    <a:lumOff val="35000"/>
                  </a:schemeClr>
                </a:solidFill>
              </a:rPr>
              <a:t>修改锁等</a:t>
            </a:r>
            <a:endParaRPr lang="zh-CN" altLang="en-US" sz="2000" dirty="0">
              <a:solidFill>
                <a:schemeClr val="tx1">
                  <a:lumMod val="65000"/>
                  <a:lumOff val="35000"/>
                </a:schemeClr>
              </a:solidFill>
            </a:endParaRPr>
          </a:p>
          <a:p>
            <a:pPr marL="0" lvl="1" indent="0">
              <a:lnSpc>
                <a:spcPct val="123000"/>
              </a:lnSpc>
              <a:spcBef>
                <a:spcPts val="600"/>
              </a:spcBef>
              <a:buClr>
                <a:srgbClr val="E71101"/>
              </a:buClr>
              <a:buSzPct val="100000"/>
              <a:buNone/>
              <a:defRPr/>
            </a:pPr>
            <a:r>
              <a:rPr lang="zh-CN" altLang="en-US" sz="2200" dirty="0">
                <a:solidFill>
                  <a:schemeClr val="tx1">
                    <a:lumMod val="65000"/>
                    <a:lumOff val="35000"/>
                  </a:schemeClr>
                </a:solidFill>
              </a:rPr>
              <a:t>集中式同步算法特征</a:t>
            </a:r>
            <a:endParaRPr lang="zh-CN" altLang="en-US" sz="2200" dirty="0">
              <a:solidFill>
                <a:schemeClr val="tx1">
                  <a:lumMod val="65000"/>
                  <a:lumOff val="35000"/>
                </a:schemeClr>
              </a:solidFill>
            </a:endParaRPr>
          </a:p>
          <a:p>
            <a:pPr marL="0" lvl="1" indent="-342900">
              <a:lnSpc>
                <a:spcPct val="123000"/>
              </a:lnSpc>
              <a:spcBef>
                <a:spcPts val="600"/>
              </a:spcBef>
              <a:buClr>
                <a:srgbClr val="E71101"/>
              </a:buClr>
              <a:buSzPct val="100000"/>
              <a:buFont typeface="Wingdings" panose="05000000000000000000" pitchFamily="2" charset="2"/>
              <a:buChar char="Ø"/>
              <a:defRPr/>
            </a:pPr>
            <a:r>
              <a:rPr lang="zh-CN" altLang="en-US" sz="2000" dirty="0">
                <a:solidFill>
                  <a:schemeClr val="tx1">
                    <a:lumMod val="65000"/>
                    <a:lumOff val="35000"/>
                  </a:schemeClr>
                </a:solidFill>
              </a:rPr>
              <a:t>当多个进程需要同时访问共享资源或进行通信时，仅由中心控制节点做出判定，选择一个进程执行</a:t>
            </a:r>
            <a:endParaRPr lang="zh-CN" altLang="en-US" sz="2000" dirty="0">
              <a:solidFill>
                <a:schemeClr val="tx1">
                  <a:lumMod val="65000"/>
                  <a:lumOff val="35000"/>
                </a:schemeClr>
              </a:solidFill>
            </a:endParaRPr>
          </a:p>
          <a:p>
            <a:pPr marL="0" lvl="1" indent="-342900">
              <a:lnSpc>
                <a:spcPct val="123000"/>
              </a:lnSpc>
              <a:spcBef>
                <a:spcPts val="600"/>
              </a:spcBef>
              <a:buClr>
                <a:srgbClr val="E71101"/>
              </a:buClr>
              <a:buSzPct val="100000"/>
              <a:buFont typeface="Wingdings" panose="05000000000000000000" pitchFamily="2" charset="2"/>
              <a:buChar char="Ø"/>
              <a:defRPr/>
            </a:pPr>
            <a:r>
              <a:rPr lang="zh-CN" altLang="en-US" sz="2000" dirty="0">
                <a:solidFill>
                  <a:schemeClr val="tx1">
                    <a:lumMod val="65000"/>
                    <a:lumOff val="35000"/>
                  </a:schemeClr>
                </a:solidFill>
              </a:rPr>
              <a:t>判定所需要的全部信息都集中在中心控制节点</a:t>
            </a:r>
            <a:endParaRPr lang="zh-CN" altLang="en-US" sz="2000" dirty="0">
              <a:solidFill>
                <a:schemeClr val="tx1">
                  <a:lumMod val="65000"/>
                  <a:lumOff val="35000"/>
                </a:schemeClr>
              </a:solidFill>
            </a:endParaRPr>
          </a:p>
          <a:p>
            <a:pPr marL="0" lvl="1" indent="0">
              <a:lnSpc>
                <a:spcPct val="123000"/>
              </a:lnSpc>
              <a:spcBef>
                <a:spcPts val="600"/>
              </a:spcBef>
              <a:buClr>
                <a:srgbClr val="E71101"/>
              </a:buClr>
              <a:buSzPct val="100000"/>
              <a:buNone/>
              <a:defRPr/>
            </a:pPr>
            <a:r>
              <a:rPr lang="zh-CN" altLang="en-US" sz="2200" dirty="0">
                <a:solidFill>
                  <a:schemeClr val="tx1">
                    <a:lumMod val="65000"/>
                    <a:lumOff val="35000"/>
                  </a:schemeClr>
                </a:solidFill>
              </a:rPr>
              <a:t>集中式同步算法</a:t>
            </a:r>
            <a:r>
              <a:rPr lang="zh-CN" altLang="en-US" sz="2200" dirty="0">
                <a:solidFill>
                  <a:srgbClr val="FF0000"/>
                </a:solidFill>
              </a:rPr>
              <a:t>缺点</a:t>
            </a:r>
            <a:r>
              <a:rPr lang="zh-CN" altLang="en-US" sz="2200" dirty="0">
                <a:solidFill>
                  <a:schemeClr val="tx1">
                    <a:lumMod val="65000"/>
                    <a:lumOff val="35000"/>
                  </a:schemeClr>
                </a:solidFill>
              </a:rPr>
              <a:t>：</a:t>
            </a:r>
            <a:endParaRPr lang="zh-CN" altLang="en-US" sz="2200" dirty="0">
              <a:solidFill>
                <a:schemeClr val="tx1">
                  <a:lumMod val="65000"/>
                  <a:lumOff val="35000"/>
                </a:schemeClr>
              </a:solidFill>
            </a:endParaRPr>
          </a:p>
          <a:p>
            <a:pPr marL="0" lvl="1" indent="-342900">
              <a:lnSpc>
                <a:spcPct val="123000"/>
              </a:lnSpc>
              <a:spcBef>
                <a:spcPts val="600"/>
              </a:spcBef>
              <a:buClr>
                <a:srgbClr val="E71101"/>
              </a:buClr>
              <a:buSzPct val="100000"/>
              <a:buFont typeface="Wingdings" panose="05000000000000000000" pitchFamily="2" charset="2"/>
              <a:buChar char="Ø"/>
              <a:defRPr/>
            </a:pPr>
            <a:r>
              <a:rPr lang="zh-CN" altLang="en-US" sz="2000" dirty="0">
                <a:solidFill>
                  <a:schemeClr val="tx1">
                    <a:lumMod val="65000"/>
                    <a:lumOff val="35000"/>
                  </a:schemeClr>
                </a:solidFill>
              </a:rPr>
              <a:t>可靠性差；易形成瓶颈</a:t>
            </a:r>
            <a:endParaRPr lang="zh-CN" altLang="en-US" sz="2000" dirty="0">
              <a:solidFill>
                <a:schemeClr val="tx1">
                  <a:lumMod val="65000"/>
                  <a:lumOff val="35000"/>
                </a:schemeClr>
              </a:solidFill>
            </a:endParaRPr>
          </a:p>
          <a:p>
            <a:pPr marL="0" lvl="1" indent="-342900">
              <a:lnSpc>
                <a:spcPct val="123000"/>
              </a:lnSpc>
              <a:spcBef>
                <a:spcPts val="600"/>
              </a:spcBef>
              <a:buClr>
                <a:srgbClr val="E71101"/>
              </a:buClr>
              <a:buSzPct val="100000"/>
              <a:buFont typeface="Wingdings" panose="05000000000000000000" pitchFamily="2" charset="2"/>
              <a:buChar char="Ø"/>
              <a:defRPr/>
            </a:pPr>
            <a:endParaRPr lang="zh-CN" altLang="en-US" sz="2400" dirty="0">
              <a:solidFill>
                <a:schemeClr val="tx1">
                  <a:lumMod val="65000"/>
                  <a:lumOff val="35000"/>
                </a:schemeClr>
              </a:solidFill>
            </a:endParaRPr>
          </a:p>
        </p:txBody>
      </p:sp>
      <p:sp>
        <p:nvSpPr>
          <p:cNvPr id="11" name="îşļïďè"/>
          <p:cNvSpPr/>
          <p:nvPr/>
        </p:nvSpPr>
        <p:spPr>
          <a:xfrm>
            <a:off x="669925" y="5607038"/>
            <a:ext cx="624349" cy="62434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5</a:t>
            </a:r>
            <a:endParaRPr lang="en-US" altLang="zh-CN" sz="2400" dirty="0">
              <a:solidFill>
                <a:schemeClr val="bg1"/>
              </a:solidFill>
              <a:latin typeface="Impact" panose="020B0806030902050204" pitchFamily="34" charset="0"/>
            </a:endParaRPr>
          </a:p>
        </p:txBody>
      </p:sp>
      <p:sp>
        <p:nvSpPr>
          <p:cNvPr id="12" name="işlíḋé"/>
          <p:cNvSpPr/>
          <p:nvPr/>
        </p:nvSpPr>
        <p:spPr>
          <a:xfrm>
            <a:off x="675364" y="3888255"/>
            <a:ext cx="624349" cy="624349"/>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4</a:t>
            </a:r>
            <a:endParaRPr lang="en-US" altLang="zh-CN" sz="2400" dirty="0">
              <a:solidFill>
                <a:schemeClr val="bg1"/>
              </a:solidFill>
              <a:latin typeface="Impact" panose="020B0806030902050204" pitchFamily="34" charset="0"/>
            </a:endParaRPr>
          </a:p>
        </p:txBody>
      </p:sp>
      <p:sp>
        <p:nvSpPr>
          <p:cNvPr id="13" name="i$1îḑe"/>
          <p:cNvSpPr/>
          <p:nvPr/>
        </p:nvSpPr>
        <p:spPr>
          <a:xfrm>
            <a:off x="675364" y="2948376"/>
            <a:ext cx="624349" cy="62434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3</a:t>
            </a:r>
            <a:endParaRPr lang="en-US" altLang="zh-CN" sz="2400" dirty="0">
              <a:solidFill>
                <a:schemeClr val="bg1"/>
              </a:solidFill>
              <a:latin typeface="Impact" panose="020B0806030902050204" pitchFamily="34" charset="0"/>
            </a:endParaRPr>
          </a:p>
        </p:txBody>
      </p:sp>
      <p:sp>
        <p:nvSpPr>
          <p:cNvPr id="14" name="ïSļïḓè"/>
          <p:cNvSpPr/>
          <p:nvPr/>
        </p:nvSpPr>
        <p:spPr>
          <a:xfrm>
            <a:off x="669927" y="1541767"/>
            <a:ext cx="624349" cy="624349"/>
          </a:xfrm>
          <a:prstGeom prst="diamon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2</a:t>
            </a:r>
            <a:endParaRPr lang="en-US" altLang="zh-CN" sz="2400" dirty="0">
              <a:solidFill>
                <a:schemeClr val="bg1"/>
              </a:solidFill>
              <a:latin typeface="Impact" panose="020B0806030902050204" pitchFamily="34" charset="0"/>
            </a:endParaRPr>
          </a:p>
        </p:txBody>
      </p:sp>
      <p:sp>
        <p:nvSpPr>
          <p:cNvPr id="15" name="ïśľiďe"/>
          <p:cNvSpPr/>
          <p:nvPr/>
        </p:nvSpPr>
        <p:spPr>
          <a:xfrm>
            <a:off x="669927" y="1139709"/>
            <a:ext cx="624349" cy="624349"/>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r>
              <a:rPr lang="en-US" altLang="zh-CN" sz="2400" dirty="0">
                <a:solidFill>
                  <a:schemeClr val="bg1"/>
                </a:solidFill>
                <a:latin typeface="Impact" panose="020B0806030902050204" pitchFamily="34" charset="0"/>
              </a:rPr>
              <a:t>1</a:t>
            </a:r>
            <a:endParaRPr lang="en-US" altLang="zh-CN" sz="2400" dirty="0">
              <a:solidFill>
                <a:schemeClr val="bg1"/>
              </a:solidFill>
              <a:latin typeface="Impact" panose="020B080603090205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集中式同步方式与分布式同步方式</a:t>
            </a:r>
            <a:r>
              <a:rPr lang="en-US" altLang="zh-CN" sz="2800" b="1" dirty="0">
                <a:solidFill>
                  <a:schemeClr val="bg1"/>
                </a:solidFill>
                <a:cs typeface="+mn-ea"/>
                <a:sym typeface="+mn-lt"/>
              </a:rPr>
              <a:t>(2)</a:t>
            </a:r>
            <a:endParaRPr lang="zh-CN" altLang="en-US" sz="2800" b="1" dirty="0">
              <a:solidFill>
                <a:schemeClr val="bg1"/>
              </a:solidFill>
              <a:cs typeface="+mn-ea"/>
              <a:sym typeface="+mn-lt"/>
            </a:endParaRPr>
          </a:p>
        </p:txBody>
      </p:sp>
      <p:grpSp>
        <p:nvGrpSpPr>
          <p:cNvPr id="4"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148052"/>
            <a:ext cx="10736843" cy="5298598"/>
            <a:chOff x="660400" y="1148052"/>
            <a:chExt cx="10736843" cy="5298598"/>
          </a:xfrm>
        </p:grpSpPr>
        <p:grpSp>
          <p:nvGrpSpPr>
            <p:cNvPr id="7" name="iṡļiḓe"/>
            <p:cNvGrpSpPr/>
            <p:nvPr/>
          </p:nvGrpSpPr>
          <p:grpSpPr>
            <a:xfrm>
              <a:off x="660400" y="1148052"/>
              <a:ext cx="8018029" cy="2623965"/>
              <a:chOff x="660400" y="1148052"/>
              <a:chExt cx="8018029" cy="2623965"/>
            </a:xfrm>
          </p:grpSpPr>
          <p:grpSp>
            <p:nvGrpSpPr>
              <p:cNvPr id="16" name="iSḻíḓè"/>
              <p:cNvGrpSpPr/>
              <p:nvPr/>
            </p:nvGrpSpPr>
            <p:grpSpPr>
              <a:xfrm>
                <a:off x="1530997" y="1148052"/>
                <a:ext cx="7147432" cy="2623965"/>
                <a:chOff x="1592242" y="1148052"/>
                <a:chExt cx="9014702" cy="2623965"/>
              </a:xfrm>
            </p:grpSpPr>
            <p:sp>
              <p:nvSpPr>
                <p:cNvPr id="21" name="îṧľîḋé"/>
                <p:cNvSpPr txBox="1"/>
                <p:nvPr/>
              </p:nvSpPr>
              <p:spPr>
                <a:xfrm>
                  <a:off x="1592242" y="1148052"/>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分布式同步算法</a:t>
                  </a:r>
                  <a:r>
                    <a:rPr lang="zh-CN" altLang="en-US" sz="2400" dirty="0">
                      <a:solidFill>
                        <a:srgbClr val="FF0000"/>
                      </a:solidFill>
                    </a:rPr>
                    <a:t>特征</a:t>
                  </a:r>
                  <a:r>
                    <a:rPr lang="zh-CN" altLang="en-US" sz="2400" dirty="0"/>
                    <a:t>：</a:t>
                  </a:r>
                  <a:endParaRPr lang="zh-CN" altLang="en-US" sz="2400" dirty="0"/>
                </a:p>
              </p:txBody>
            </p:sp>
            <p:sp>
              <p:nvSpPr>
                <p:cNvPr id="22" name="íşļîḓé"/>
                <p:cNvSpPr/>
                <p:nvPr/>
              </p:nvSpPr>
              <p:spPr bwMode="auto">
                <a:xfrm>
                  <a:off x="1592242" y="1538767"/>
                  <a:ext cx="9014702" cy="223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所有节点均具有相同的信息；</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所有节点仅基于本地信息做出判定；</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为了做出最后的判定，所有节点担负相同的职责；</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为了做出最后的判定，所有节点要完成同样的工作量；</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通常一个节点发生故障，不会导致整个系统崩溃。</a:t>
                  </a:r>
                  <a:endParaRPr lang="zh-CN" altLang="en-US" sz="2200" dirty="0"/>
                </a:p>
              </p:txBody>
            </p:sp>
          </p:grpSp>
          <p:grpSp>
            <p:nvGrpSpPr>
              <p:cNvPr id="17" name="ïS1íḋé"/>
              <p:cNvGrpSpPr/>
              <p:nvPr/>
            </p:nvGrpSpPr>
            <p:grpSpPr>
              <a:xfrm>
                <a:off x="660400" y="1174550"/>
                <a:ext cx="733394" cy="733394"/>
                <a:chOff x="660400" y="1174550"/>
                <a:chExt cx="733394" cy="733394"/>
              </a:xfrm>
            </p:grpSpPr>
            <p:sp>
              <p:nvSpPr>
                <p:cNvPr id="18" name="islîḋe"/>
                <p:cNvSpPr/>
                <p:nvPr/>
              </p:nvSpPr>
              <p:spPr>
                <a:xfrm>
                  <a:off x="660400" y="1174550"/>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9" name="îŝlîďe"/>
                <p:cNvSpPr/>
                <p:nvPr/>
              </p:nvSpPr>
              <p:spPr>
                <a:xfrm>
                  <a:off x="797603" y="1359421"/>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8" name="iŝļïḓê"/>
            <p:cNvGrpSpPr/>
            <p:nvPr/>
          </p:nvGrpSpPr>
          <p:grpSpPr>
            <a:xfrm>
              <a:off x="660400" y="4066401"/>
              <a:ext cx="10736843" cy="2380249"/>
              <a:chOff x="660400" y="1675057"/>
              <a:chExt cx="10736843" cy="2380249"/>
            </a:xfrm>
          </p:grpSpPr>
          <p:grpSp>
            <p:nvGrpSpPr>
              <p:cNvPr id="10" name="ïṧļïḓe"/>
              <p:cNvGrpSpPr/>
              <p:nvPr/>
            </p:nvGrpSpPr>
            <p:grpSpPr>
              <a:xfrm>
                <a:off x="1539875" y="1704127"/>
                <a:ext cx="9857368" cy="2351179"/>
                <a:chOff x="1603439" y="1704127"/>
                <a:chExt cx="12432611" cy="2351179"/>
              </a:xfrm>
            </p:grpSpPr>
            <p:sp>
              <p:nvSpPr>
                <p:cNvPr id="14" name="ïšļíďè"/>
                <p:cNvSpPr txBox="1"/>
                <p:nvPr/>
              </p:nvSpPr>
              <p:spPr>
                <a:xfrm>
                  <a:off x="1603439" y="1704127"/>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中心进程方式</a:t>
                  </a:r>
                  <a:endParaRPr lang="zh-CN" altLang="en-US" sz="2400" dirty="0"/>
                </a:p>
              </p:txBody>
            </p:sp>
            <p:sp>
              <p:nvSpPr>
                <p:cNvPr id="15" name="íşľíḑè"/>
                <p:cNvSpPr/>
                <p:nvPr/>
              </p:nvSpPr>
              <p:spPr bwMode="auto">
                <a:xfrm>
                  <a:off x="1603439" y="2165700"/>
                  <a:ext cx="12432611" cy="1889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23000"/>
                    </a:lnSpc>
                    <a:spcBef>
                      <a:spcPts val="600"/>
                    </a:spcBef>
                    <a:buFont typeface="Wingdings" panose="05000000000000000000" pitchFamily="2" charset="2"/>
                    <a:buChar char="Ø"/>
                  </a:pPr>
                  <a:r>
                    <a:rPr lang="zh-CN" altLang="en-US" sz="2200" dirty="0">
                      <a:solidFill>
                        <a:srgbClr val="0000FF"/>
                      </a:solidFill>
                    </a:rPr>
                    <a:t>中心进程</a:t>
                  </a:r>
                  <a:r>
                    <a:rPr lang="zh-CN" altLang="en-US" sz="2200" dirty="0"/>
                    <a:t>（协调进程）：保存了所有用户的存取权限、冲突图等信息</a:t>
                  </a:r>
                  <a:endParaRPr lang="zh-CN" altLang="en-US" sz="2200" dirty="0"/>
                </a:p>
                <a:p>
                  <a:pPr marL="342900" lvl="1" indent="-342900">
                    <a:lnSpc>
                      <a:spcPct val="123000"/>
                    </a:lnSpc>
                    <a:spcBef>
                      <a:spcPts val="600"/>
                    </a:spcBef>
                    <a:buFont typeface="Wingdings" panose="05000000000000000000" pitchFamily="2" charset="2"/>
                    <a:buChar char="Ø"/>
                  </a:pPr>
                  <a:r>
                    <a:rPr lang="zh-CN" altLang="en-US" sz="2200" dirty="0"/>
                    <a:t>任何一个进程要进入其临界区，都需要请求进程</a:t>
                  </a:r>
                  <a:r>
                    <a:rPr lang="en-US" altLang="zh-CN" sz="2200" dirty="0"/>
                    <a:t>/</a:t>
                  </a:r>
                  <a:r>
                    <a:rPr lang="zh-CN" altLang="en-US" sz="2200" dirty="0"/>
                    <a:t>中心进程发送请求、回答、释放这三个消息</a:t>
                  </a:r>
                  <a:endParaRPr lang="zh-CN" altLang="en-US" sz="2200" dirty="0"/>
                </a:p>
                <a:p>
                  <a:pPr marL="342900" lvl="1" indent="-342900">
                    <a:lnSpc>
                      <a:spcPct val="123000"/>
                    </a:lnSpc>
                    <a:spcBef>
                      <a:spcPts val="600"/>
                    </a:spcBef>
                    <a:buFont typeface="Wingdings" panose="05000000000000000000" pitchFamily="2" charset="2"/>
                    <a:buChar char="Ø"/>
                  </a:pPr>
                  <a:r>
                    <a:rPr lang="zh-CN" altLang="en-US" sz="2200" dirty="0"/>
                    <a:t>为了提高系统的可靠性，中心进程可以浮动</a:t>
                  </a:r>
                  <a:endParaRPr lang="zh-CN" altLang="en-US" sz="2200" dirty="0"/>
                </a:p>
              </p:txBody>
            </p:sp>
          </p:grpSp>
          <p:grpSp>
            <p:nvGrpSpPr>
              <p:cNvPr id="11" name="ïŝľídè"/>
              <p:cNvGrpSpPr/>
              <p:nvPr/>
            </p:nvGrpSpPr>
            <p:grpSpPr>
              <a:xfrm>
                <a:off x="660400" y="1675057"/>
                <a:ext cx="733394" cy="733394"/>
                <a:chOff x="660400" y="1675057"/>
                <a:chExt cx="733394" cy="733394"/>
              </a:xfrm>
            </p:grpSpPr>
            <p:sp>
              <p:nvSpPr>
                <p:cNvPr id="12" name="ïṡľïde"/>
                <p:cNvSpPr/>
                <p:nvPr/>
              </p:nvSpPr>
              <p:spPr>
                <a:xfrm>
                  <a:off x="660400" y="1675057"/>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3" name="ïšliḍe"/>
                <p:cNvSpPr/>
                <p:nvPr/>
              </p:nvSpPr>
              <p:spPr>
                <a:xfrm>
                  <a:off x="806481" y="1886562"/>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集中式同步方式与分布式同步方式</a:t>
            </a:r>
            <a:r>
              <a:rPr lang="en-US" altLang="zh-CN" sz="2800" b="1" dirty="0">
                <a:solidFill>
                  <a:schemeClr val="bg1"/>
                </a:solidFill>
                <a:cs typeface="+mn-ea"/>
                <a:sym typeface="+mn-lt"/>
              </a:rPr>
              <a:t>(3)</a:t>
            </a:r>
            <a:endParaRPr lang="zh-CN" altLang="en-US" sz="2800" b="1" dirty="0">
              <a:solidFill>
                <a:schemeClr val="bg1"/>
              </a:solidFill>
              <a:cs typeface="+mn-ea"/>
              <a:sym typeface="+mn-lt"/>
            </a:endParaRPr>
          </a:p>
        </p:txBody>
      </p:sp>
      <p:sp>
        <p:nvSpPr>
          <p:cNvPr id="5" name="ïşľîďè"/>
          <p:cNvSpPr/>
          <p:nvPr/>
        </p:nvSpPr>
        <p:spPr>
          <a:xfrm>
            <a:off x="0" y="1250032"/>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6" name="îŝļiḋe"/>
          <p:cNvSpPr/>
          <p:nvPr/>
        </p:nvSpPr>
        <p:spPr>
          <a:xfrm>
            <a:off x="4012707" y="125003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7" name="í$1iďè"/>
          <p:cNvGrpSpPr/>
          <p:nvPr/>
        </p:nvGrpSpPr>
        <p:grpSpPr>
          <a:xfrm>
            <a:off x="4136995" y="1290035"/>
            <a:ext cx="7209292" cy="1453166"/>
            <a:chOff x="4136995" y="1170303"/>
            <a:chExt cx="7381904" cy="1453166"/>
          </a:xfrm>
        </p:grpSpPr>
        <p:sp>
          <p:nvSpPr>
            <p:cNvPr id="8"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9" name="ïSḻiḍé"/>
            <p:cNvSpPr txBox="1"/>
            <p:nvPr/>
          </p:nvSpPr>
          <p:spPr>
            <a:xfrm>
              <a:off x="4882718" y="1170303"/>
              <a:ext cx="6636181" cy="145316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dirty="0">
                  <a:latin typeface="+mj-ea"/>
                  <a:ea typeface="+mj-ea"/>
                </a:rPr>
                <a:t>在单处理机系统和共享存储器的多处理机系统中，基本上采用集中式同步方式</a:t>
              </a:r>
              <a:endParaRPr lang="zh-CN" altLang="en-US" sz="2400" dirty="0">
                <a:latin typeface="+mj-ea"/>
                <a:ea typeface="+mj-ea"/>
              </a:endParaRPr>
            </a:p>
          </p:txBody>
        </p:sp>
      </p:grpSp>
      <p:grpSp>
        <p:nvGrpSpPr>
          <p:cNvPr id="10" name="išḷîḓé"/>
          <p:cNvGrpSpPr/>
          <p:nvPr/>
        </p:nvGrpSpPr>
        <p:grpSpPr>
          <a:xfrm>
            <a:off x="4136994" y="2950756"/>
            <a:ext cx="8378932" cy="801176"/>
            <a:chOff x="4136995" y="3233565"/>
            <a:chExt cx="8378932" cy="801176"/>
          </a:xfrm>
        </p:grpSpPr>
        <p:sp>
          <p:nvSpPr>
            <p:cNvPr id="11"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2" name="îŝľîḓè"/>
            <p:cNvSpPr txBox="1"/>
            <p:nvPr/>
          </p:nvSpPr>
          <p:spPr>
            <a:xfrm>
              <a:off x="4882718" y="3233565"/>
              <a:ext cx="7633209"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t>在分布式系统中，采用分布式同步方式</a:t>
              </a:r>
              <a:endParaRPr lang="zh-CN" altLang="en-US" sz="2400" dirty="0"/>
            </a:p>
          </p:txBody>
        </p:sp>
      </p:grpSp>
      <p:grpSp>
        <p:nvGrpSpPr>
          <p:cNvPr id="13" name="ïSlíḍê"/>
          <p:cNvGrpSpPr/>
          <p:nvPr/>
        </p:nvGrpSpPr>
        <p:grpSpPr>
          <a:xfrm>
            <a:off x="4136994" y="4237059"/>
            <a:ext cx="7209293" cy="1311067"/>
            <a:chOff x="4136995" y="4714289"/>
            <a:chExt cx="7209293" cy="1311067"/>
          </a:xfrm>
        </p:grpSpPr>
        <p:sp>
          <p:nvSpPr>
            <p:cNvPr id="14"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5" name="íṧļîḋê"/>
            <p:cNvSpPr txBox="1"/>
            <p:nvPr/>
          </p:nvSpPr>
          <p:spPr>
            <a:xfrm>
              <a:off x="4882718" y="4714289"/>
              <a:ext cx="6463570"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t>对于松散耦合式多处理机系统（</a:t>
              </a:r>
              <a:r>
                <a:rPr lang="zh-CN" altLang="en-US" sz="2400" dirty="0">
                  <a:solidFill>
                    <a:srgbClr val="FF0000"/>
                  </a:solidFill>
                </a:rPr>
                <a:t>包括计算机网络</a:t>
              </a:r>
              <a:r>
                <a:rPr lang="zh-CN" altLang="en-US" sz="2400" dirty="0"/>
                <a:t>），则一部分采用集中式同步方式，另一部分采用分布式同步方式</a:t>
              </a:r>
              <a:endParaRPr lang="zh-CN" altLang="en-US" sz="2400" dirty="0"/>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自旋锁（</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grpSp>
        <p:nvGrpSpPr>
          <p:cNvPr id="4"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148052"/>
            <a:ext cx="10736843" cy="5162593"/>
            <a:chOff x="660400" y="1148052"/>
            <a:chExt cx="10736843" cy="5162593"/>
          </a:xfrm>
        </p:grpSpPr>
        <p:grpSp>
          <p:nvGrpSpPr>
            <p:cNvPr id="6" name="iṡļiḓe"/>
            <p:cNvGrpSpPr/>
            <p:nvPr/>
          </p:nvGrpSpPr>
          <p:grpSpPr>
            <a:xfrm>
              <a:off x="660400" y="1148052"/>
              <a:ext cx="10736843" cy="2421499"/>
              <a:chOff x="660400" y="1148052"/>
              <a:chExt cx="10736843" cy="2421499"/>
            </a:xfrm>
          </p:grpSpPr>
          <p:grpSp>
            <p:nvGrpSpPr>
              <p:cNvPr id="14" name="iSḻíḓè"/>
              <p:cNvGrpSpPr/>
              <p:nvPr/>
            </p:nvGrpSpPr>
            <p:grpSpPr>
              <a:xfrm>
                <a:off x="1530997" y="1148052"/>
                <a:ext cx="9866246" cy="2421499"/>
                <a:chOff x="1592242" y="1148052"/>
                <a:chExt cx="12443807" cy="2421499"/>
              </a:xfrm>
            </p:grpSpPr>
            <p:sp>
              <p:nvSpPr>
                <p:cNvPr id="18" name="îṧľîḋé"/>
                <p:cNvSpPr txBox="1"/>
                <p:nvPr/>
              </p:nvSpPr>
              <p:spPr>
                <a:xfrm>
                  <a:off x="1592242" y="1148052"/>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自旋锁的</a:t>
                  </a:r>
                  <a:r>
                    <a:rPr lang="zh-CN" altLang="en-US" sz="2400" dirty="0">
                      <a:solidFill>
                        <a:srgbClr val="FF0000"/>
                      </a:solidFill>
                    </a:rPr>
                    <a:t>引入</a:t>
                  </a:r>
                  <a:r>
                    <a:rPr lang="zh-CN" altLang="en-US" sz="2400" dirty="0"/>
                    <a:t>：</a:t>
                  </a:r>
                  <a:endParaRPr lang="zh-CN" altLang="en-US" sz="2400" dirty="0"/>
                </a:p>
              </p:txBody>
            </p:sp>
            <p:sp>
              <p:nvSpPr>
                <p:cNvPr id="19" name="íşļîḓé"/>
                <p:cNvSpPr/>
                <p:nvPr/>
              </p:nvSpPr>
              <p:spPr bwMode="auto">
                <a:xfrm>
                  <a:off x="1592242" y="1603162"/>
                  <a:ext cx="12443807" cy="1966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000" dirty="0">
                      <a:solidFill>
                        <a:srgbClr val="0000FF"/>
                      </a:solidFill>
                    </a:rPr>
                    <a:t>在多处理机系统中，总线往往是由多个处理机共享的，它们是通过竞争来获取总线的，因此必须引入对总线实现互斥的相关机制。</a:t>
                  </a:r>
                  <a:endParaRPr lang="zh-CN" altLang="en-US" sz="2000" dirty="0">
                    <a:solidFill>
                      <a:srgbClr val="0000FF"/>
                    </a:solidFill>
                  </a:endParaRP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000" dirty="0"/>
                    <a:t>自旋锁已被大量应用于存在总线资源竞争的系统当中。</a:t>
                  </a:r>
                  <a:endParaRPr lang="zh-CN" altLang="en-US" sz="20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000" dirty="0"/>
                    <a:t>自旋锁机制并不局限于总线资源竞争问题。</a:t>
                  </a:r>
                  <a:endParaRPr lang="zh-CN" altLang="en-US" sz="2000" dirty="0"/>
                </a:p>
              </p:txBody>
            </p:sp>
          </p:grpSp>
          <p:grpSp>
            <p:nvGrpSpPr>
              <p:cNvPr id="15" name="ïS1íḋé"/>
              <p:cNvGrpSpPr/>
              <p:nvPr/>
            </p:nvGrpSpPr>
            <p:grpSpPr>
              <a:xfrm>
                <a:off x="660400" y="1174550"/>
                <a:ext cx="733394" cy="733394"/>
                <a:chOff x="660400" y="1174550"/>
                <a:chExt cx="733394" cy="733394"/>
              </a:xfrm>
            </p:grpSpPr>
            <p:sp>
              <p:nvSpPr>
                <p:cNvPr id="16" name="islîḋe"/>
                <p:cNvSpPr/>
                <p:nvPr/>
              </p:nvSpPr>
              <p:spPr>
                <a:xfrm>
                  <a:off x="660400" y="1174550"/>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7" name="îŝlîďe"/>
                <p:cNvSpPr/>
                <p:nvPr/>
              </p:nvSpPr>
              <p:spPr>
                <a:xfrm>
                  <a:off x="797603" y="1359421"/>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7" name="iŝļïḓê"/>
            <p:cNvGrpSpPr/>
            <p:nvPr/>
          </p:nvGrpSpPr>
          <p:grpSpPr>
            <a:xfrm>
              <a:off x="660400" y="3380808"/>
              <a:ext cx="10736843" cy="2929837"/>
              <a:chOff x="660400" y="989464"/>
              <a:chExt cx="10736843" cy="2929837"/>
            </a:xfrm>
          </p:grpSpPr>
          <p:grpSp>
            <p:nvGrpSpPr>
              <p:cNvPr id="8" name="ïṧļïḓe"/>
              <p:cNvGrpSpPr/>
              <p:nvPr/>
            </p:nvGrpSpPr>
            <p:grpSpPr>
              <a:xfrm>
                <a:off x="1539875" y="1018534"/>
                <a:ext cx="9857368" cy="2900767"/>
                <a:chOff x="1603439" y="1018534"/>
                <a:chExt cx="12432611" cy="2900767"/>
              </a:xfrm>
            </p:grpSpPr>
            <p:sp>
              <p:nvSpPr>
                <p:cNvPr id="12" name="ïšļíďè"/>
                <p:cNvSpPr txBox="1"/>
                <p:nvPr/>
              </p:nvSpPr>
              <p:spPr>
                <a:xfrm>
                  <a:off x="1603439" y="1018534"/>
                  <a:ext cx="864858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利用自旋锁实现对总线互斥访问的方法：</a:t>
                  </a:r>
                  <a:endParaRPr lang="zh-CN" altLang="en-US" sz="2400" dirty="0"/>
                </a:p>
              </p:txBody>
            </p:sp>
            <p:sp>
              <p:nvSpPr>
                <p:cNvPr id="13" name="íşľíḑè"/>
                <p:cNvSpPr/>
                <p:nvPr/>
              </p:nvSpPr>
              <p:spPr bwMode="auto">
                <a:xfrm>
                  <a:off x="1603439" y="1480106"/>
                  <a:ext cx="12432611" cy="2439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92500"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23000"/>
                    </a:lnSpc>
                    <a:spcBef>
                      <a:spcPts val="600"/>
                    </a:spcBef>
                    <a:buFont typeface="Wingdings" panose="05000000000000000000" pitchFamily="2" charset="2"/>
                    <a:buChar char="Ø"/>
                  </a:pPr>
                  <a:r>
                    <a:rPr lang="zh-CN" altLang="en-US" sz="2200" dirty="0"/>
                    <a:t>在总线上设置一个自旋锁，该锁最多只能被一个内核进程所持有；</a:t>
                  </a:r>
                  <a:endParaRPr lang="zh-CN" altLang="en-US" sz="2200" dirty="0"/>
                </a:p>
                <a:p>
                  <a:pPr marL="342900" lvl="1" indent="-342900">
                    <a:lnSpc>
                      <a:spcPct val="123000"/>
                    </a:lnSpc>
                    <a:spcBef>
                      <a:spcPts val="600"/>
                    </a:spcBef>
                    <a:buFont typeface="Wingdings" panose="05000000000000000000" pitchFamily="2" charset="2"/>
                    <a:buChar char="Ø"/>
                  </a:pPr>
                  <a:r>
                    <a:rPr lang="zh-CN" altLang="en-US" sz="2200" dirty="0"/>
                    <a:t>需要使用总线对某个存储单元读写时，需要先请求自旋锁；</a:t>
                  </a:r>
                  <a:endParaRPr lang="zh-CN" altLang="en-US" sz="2200" dirty="0"/>
                </a:p>
                <a:p>
                  <a:pPr marL="342900" lvl="1" indent="-342900">
                    <a:lnSpc>
                      <a:spcPct val="123000"/>
                    </a:lnSpc>
                    <a:spcBef>
                      <a:spcPts val="600"/>
                    </a:spcBef>
                    <a:buFont typeface="Wingdings" panose="05000000000000000000" pitchFamily="2" charset="2"/>
                    <a:buChar char="Ø"/>
                  </a:pPr>
                  <a:r>
                    <a:rPr lang="zh-CN" altLang="en-US" sz="2200" dirty="0"/>
                    <a:t>如果该锁被占用，那么这个进程就会一直进行“旋转”，循环测试锁的状态，直到该锁可用；</a:t>
                  </a:r>
                  <a:endParaRPr lang="zh-CN" altLang="en-US" sz="2200" dirty="0"/>
                </a:p>
                <a:p>
                  <a:pPr marL="342900" lvl="1" indent="-342900">
                    <a:lnSpc>
                      <a:spcPct val="123000"/>
                    </a:lnSpc>
                    <a:spcBef>
                      <a:spcPts val="600"/>
                    </a:spcBef>
                    <a:buFont typeface="Wingdings" panose="05000000000000000000" pitchFamily="2" charset="2"/>
                    <a:buChar char="Ø"/>
                  </a:pPr>
                  <a:r>
                    <a:rPr lang="zh-CN" altLang="en-US" sz="2200" dirty="0"/>
                    <a:t>如果锁未被占用，则请求该锁的内核进程能立刻得到它，并且继续执行，直到完成对指定存储单元的读写操作后释放该锁。</a:t>
                  </a:r>
                  <a:endParaRPr lang="zh-CN" altLang="en-US" sz="2200" dirty="0"/>
                </a:p>
              </p:txBody>
            </p:sp>
          </p:grpSp>
          <p:grpSp>
            <p:nvGrpSpPr>
              <p:cNvPr id="9" name="ïŝľídè"/>
              <p:cNvGrpSpPr/>
              <p:nvPr/>
            </p:nvGrpSpPr>
            <p:grpSpPr>
              <a:xfrm>
                <a:off x="660400" y="989464"/>
                <a:ext cx="733394" cy="733394"/>
                <a:chOff x="660400" y="989464"/>
                <a:chExt cx="733394" cy="733394"/>
              </a:xfrm>
            </p:grpSpPr>
            <p:sp>
              <p:nvSpPr>
                <p:cNvPr id="10" name="ïṡľïde"/>
                <p:cNvSpPr/>
                <p:nvPr/>
              </p:nvSpPr>
              <p:spPr>
                <a:xfrm>
                  <a:off x="660400" y="989464"/>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 name="ïšliḍe"/>
                <p:cNvSpPr/>
                <p:nvPr/>
              </p:nvSpPr>
              <p:spPr>
                <a:xfrm>
                  <a:off x="806481" y="1200969"/>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自旋锁（</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内容占位符 2"/>
          <p:cNvSpPr txBox="1"/>
          <p:nvPr/>
        </p:nvSpPr>
        <p:spPr>
          <a:xfrm>
            <a:off x="669924" y="1138707"/>
            <a:ext cx="11152881" cy="1127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23000"/>
              </a:lnSpc>
              <a:buNone/>
            </a:pPr>
            <a:r>
              <a:rPr lang="zh-CN" altLang="en-US" sz="2400" dirty="0">
                <a:solidFill>
                  <a:srgbClr val="FF0000"/>
                </a:solidFill>
                <a:cs typeface="+mn-ea"/>
                <a:sym typeface="+mn-lt"/>
              </a:rPr>
              <a:t>自旋锁</a:t>
            </a:r>
            <a:r>
              <a:rPr lang="zh-CN" altLang="en-US" sz="2400" dirty="0">
                <a:cs typeface="+mn-ea"/>
                <a:sym typeface="+mn-lt"/>
              </a:rPr>
              <a:t>与</a:t>
            </a:r>
            <a:r>
              <a:rPr lang="zh-CN" altLang="en-US" sz="2400" dirty="0">
                <a:solidFill>
                  <a:srgbClr val="0000FF"/>
                </a:solidFill>
                <a:cs typeface="+mn-ea"/>
                <a:sym typeface="+mn-lt"/>
              </a:rPr>
              <a:t>信号量</a:t>
            </a:r>
            <a:r>
              <a:rPr lang="zh-CN" altLang="en-US" sz="2400" dirty="0">
                <a:cs typeface="+mn-ea"/>
                <a:sym typeface="+mn-lt"/>
              </a:rPr>
              <a:t>的主要差别：</a:t>
            </a:r>
            <a:r>
              <a:rPr lang="zh-CN" altLang="zh-CN" sz="2400" dirty="0">
                <a:solidFill>
                  <a:srgbClr val="FF0000"/>
                </a:solidFill>
                <a:cs typeface="+mn-ea"/>
                <a:sym typeface="+mn-lt"/>
              </a:rPr>
              <a:t>自旋锁可避免调用进程发生阻塞</a:t>
            </a:r>
            <a:r>
              <a:rPr lang="zh-CN" altLang="en-US" sz="2400" dirty="0">
                <a:solidFill>
                  <a:srgbClr val="FF0000"/>
                </a:solidFill>
                <a:cs typeface="+mn-ea"/>
                <a:sym typeface="+mn-lt"/>
              </a:rPr>
              <a:t>，效率高于信号量机制。</a:t>
            </a:r>
            <a:endParaRPr lang="en-US" altLang="zh-CN" sz="2400" dirty="0">
              <a:solidFill>
                <a:srgbClr val="FF0000"/>
              </a:solidFill>
              <a:cs typeface="+mn-ea"/>
              <a:sym typeface="+mn-lt"/>
            </a:endParaRPr>
          </a:p>
        </p:txBody>
      </p:sp>
      <p:sp>
        <p:nvSpPr>
          <p:cNvPr id="5" name="íSľïdé"/>
          <p:cNvSpPr/>
          <p:nvPr/>
        </p:nvSpPr>
        <p:spPr>
          <a:xfrm>
            <a:off x="1971450" y="2425962"/>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6" name="ïŝļíḓê"/>
          <p:cNvSpPr/>
          <p:nvPr/>
        </p:nvSpPr>
        <p:spPr bwMode="auto">
          <a:xfrm>
            <a:off x="8753815" y="3057810"/>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7" name="îṧľîdé"/>
          <p:cNvSpPr/>
          <p:nvPr/>
        </p:nvSpPr>
        <p:spPr>
          <a:xfrm>
            <a:off x="3768210" y="2266682"/>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8" name="内容占位符 2"/>
          <p:cNvSpPr txBox="1"/>
          <p:nvPr/>
        </p:nvSpPr>
        <p:spPr>
          <a:xfrm>
            <a:off x="959226" y="3057810"/>
            <a:ext cx="4034934"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自旋锁的类型：</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普通自旋锁</a:t>
            </a:r>
            <a:endParaRPr lang="zh-CN" altLang="en-US" sz="24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读写自旋锁</a:t>
            </a:r>
            <a:endParaRPr lang="zh-CN" altLang="en-US" sz="2400" dirty="0">
              <a:solidFill>
                <a:schemeClr val="tx1">
                  <a:lumMod val="65000"/>
                  <a:lumOff val="35000"/>
                </a:schemeClr>
              </a:solidFill>
            </a:endParaRPr>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大读者自旋锁</a:t>
            </a:r>
            <a:endParaRPr lang="zh-CN" altLang="en-US" sz="2400" dirty="0">
              <a:solidFill>
                <a:schemeClr val="tx1">
                  <a:lumMod val="65000"/>
                  <a:lumOff val="35000"/>
                </a:schemeClr>
              </a:solidFill>
            </a:endParaRPr>
          </a:p>
        </p:txBody>
      </p:sp>
      <p:sp>
        <p:nvSpPr>
          <p:cNvPr id="9" name="内容占位符 2"/>
          <p:cNvSpPr txBox="1"/>
          <p:nvPr/>
        </p:nvSpPr>
        <p:spPr>
          <a:xfrm>
            <a:off x="8281115" y="3736179"/>
            <a:ext cx="3541690" cy="230401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基本形式：</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Ø"/>
              <a:defRPr/>
            </a:pPr>
            <a:r>
              <a:rPr lang="en-US" altLang="zh-CN" sz="2400" dirty="0" err="1">
                <a:solidFill>
                  <a:schemeClr val="tx1">
                    <a:lumMod val="65000"/>
                    <a:lumOff val="35000"/>
                  </a:schemeClr>
                </a:solidFill>
              </a:rPr>
              <a:t>spin_lock</a:t>
            </a:r>
            <a:r>
              <a:rPr lang="zh-CN" altLang="en-US" sz="2400" dirty="0">
                <a:solidFill>
                  <a:schemeClr val="tx1">
                    <a:lumMod val="65000"/>
                    <a:lumOff val="35000"/>
                  </a:schemeClr>
                </a:solidFill>
              </a:rPr>
              <a:t>（</a:t>
            </a:r>
            <a:r>
              <a:rPr lang="en-US" altLang="zh-CN" sz="2400" dirty="0">
                <a:solidFill>
                  <a:schemeClr val="tx1">
                    <a:lumMod val="65000"/>
                    <a:lumOff val="35000"/>
                  </a:schemeClr>
                </a:solidFill>
              </a:rPr>
              <a:t>&amp;lock</a:t>
            </a:r>
            <a:r>
              <a:rPr lang="zh-CN" altLang="en-US" sz="2400" dirty="0">
                <a:solidFill>
                  <a:schemeClr val="tx1">
                    <a:lumMod val="65000"/>
                    <a:lumOff val="35000"/>
                  </a:schemeClr>
                </a:solidFill>
              </a:rPr>
              <a:t>）；</a:t>
            </a:r>
            <a:endParaRPr lang="zh-CN" altLang="en-US"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临界区代码；</a:t>
            </a:r>
            <a:endParaRPr lang="zh-CN" altLang="en-US" sz="2400" dirty="0">
              <a:solidFill>
                <a:schemeClr val="tx1">
                  <a:lumMod val="65000"/>
                  <a:lumOff val="35000"/>
                </a:schemeClr>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en-US" altLang="zh-CN" sz="2400" dirty="0" err="1">
                <a:solidFill>
                  <a:schemeClr val="tx1">
                    <a:lumMod val="65000"/>
                    <a:lumOff val="35000"/>
                  </a:schemeClr>
                </a:solidFill>
              </a:rPr>
              <a:t>spin_unlock</a:t>
            </a:r>
            <a:r>
              <a:rPr lang="zh-CN" altLang="en-US" sz="2400" dirty="0">
                <a:solidFill>
                  <a:schemeClr val="tx1">
                    <a:lumMod val="65000"/>
                    <a:lumOff val="35000"/>
                  </a:schemeClr>
                </a:solidFill>
              </a:rPr>
              <a:t>（</a:t>
            </a:r>
            <a:r>
              <a:rPr lang="en-US" altLang="zh-CN" sz="2400" dirty="0">
                <a:solidFill>
                  <a:schemeClr val="tx1">
                    <a:lumMod val="65000"/>
                    <a:lumOff val="35000"/>
                  </a:schemeClr>
                </a:solidFill>
              </a:rPr>
              <a:t>&amp;lock</a:t>
            </a:r>
            <a:r>
              <a:rPr lang="zh-CN" altLang="en-US" sz="2400" dirty="0">
                <a:solidFill>
                  <a:schemeClr val="tx1">
                    <a:lumMod val="65000"/>
                    <a:lumOff val="35000"/>
                  </a:schemeClr>
                </a:solidFill>
              </a:rPr>
              <a:t>）；</a:t>
            </a:r>
            <a:endParaRPr lang="zh-CN" altLang="en-US" sz="2400" dirty="0">
              <a:solidFill>
                <a:schemeClr val="tx1">
                  <a:lumMod val="65000"/>
                  <a:lumOff val="35000"/>
                </a:schemeClr>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读</a:t>
            </a:r>
            <a:r>
              <a:rPr lang="en-US" altLang="zh-CN" sz="2800" b="1" dirty="0">
                <a:solidFill>
                  <a:schemeClr val="bg1"/>
                </a:solidFill>
                <a:cs typeface="+mn-ea"/>
                <a:sym typeface="+mn-lt"/>
              </a:rPr>
              <a:t>-</a:t>
            </a:r>
            <a:r>
              <a:rPr lang="zh-CN" altLang="en-US" sz="2800" b="1" dirty="0">
                <a:solidFill>
                  <a:schemeClr val="bg1"/>
                </a:solidFill>
                <a:cs typeface="+mn-ea"/>
                <a:sym typeface="+mn-lt"/>
              </a:rPr>
              <a:t>复制</a:t>
            </a:r>
            <a:r>
              <a:rPr lang="en-US" altLang="zh-CN" sz="2800" b="1" dirty="0">
                <a:solidFill>
                  <a:schemeClr val="bg1"/>
                </a:solidFill>
                <a:cs typeface="+mn-ea"/>
                <a:sym typeface="+mn-lt"/>
              </a:rPr>
              <a:t>-</a:t>
            </a:r>
            <a:r>
              <a:rPr lang="zh-CN" altLang="en-US" sz="2800" b="1" dirty="0">
                <a:solidFill>
                  <a:schemeClr val="bg1"/>
                </a:solidFill>
                <a:cs typeface="+mn-ea"/>
                <a:sym typeface="+mn-lt"/>
              </a:rPr>
              <a:t>更新锁（</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grpSp>
        <p:nvGrpSpPr>
          <p:cNvPr id="4"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660400" y="1148052"/>
            <a:ext cx="10853313" cy="5330024"/>
            <a:chOff x="660400" y="1148052"/>
            <a:chExt cx="10853313" cy="5330024"/>
          </a:xfrm>
        </p:grpSpPr>
        <p:grpSp>
          <p:nvGrpSpPr>
            <p:cNvPr id="6" name="iṡļiḓe"/>
            <p:cNvGrpSpPr/>
            <p:nvPr/>
          </p:nvGrpSpPr>
          <p:grpSpPr>
            <a:xfrm>
              <a:off x="660400" y="1148052"/>
              <a:ext cx="10853313" cy="3256523"/>
              <a:chOff x="660400" y="1148052"/>
              <a:chExt cx="10853313" cy="3256523"/>
            </a:xfrm>
          </p:grpSpPr>
          <p:grpSp>
            <p:nvGrpSpPr>
              <p:cNvPr id="14" name="iSḻíḓè"/>
              <p:cNvGrpSpPr/>
              <p:nvPr/>
            </p:nvGrpSpPr>
            <p:grpSpPr>
              <a:xfrm>
                <a:off x="1530997" y="1148052"/>
                <a:ext cx="9982716" cy="3256523"/>
                <a:chOff x="1592242" y="1148052"/>
                <a:chExt cx="12590705" cy="3256523"/>
              </a:xfrm>
            </p:grpSpPr>
            <p:sp>
              <p:nvSpPr>
                <p:cNvPr id="18" name="îṧľîḋé"/>
                <p:cNvSpPr txBox="1"/>
                <p:nvPr/>
              </p:nvSpPr>
              <p:spPr>
                <a:xfrm>
                  <a:off x="1592242" y="1148052"/>
                  <a:ext cx="62935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引入</a:t>
                  </a:r>
                  <a:endParaRPr lang="zh-CN" altLang="en-US" sz="2400" dirty="0"/>
                </a:p>
              </p:txBody>
            </p:sp>
            <p:sp>
              <p:nvSpPr>
                <p:cNvPr id="19" name="íşļîḓé"/>
                <p:cNvSpPr/>
                <p:nvPr/>
              </p:nvSpPr>
              <p:spPr bwMode="auto">
                <a:xfrm>
                  <a:off x="1592242" y="1603162"/>
                  <a:ext cx="12590705" cy="280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t>在读写问题中，若有一个写进程在写，所有读进程都阻塞，如果写的时间非常长，则会严重影响多个读进程工作。</a:t>
                  </a:r>
                  <a:endParaRPr lang="zh-CN" altLang="en-US" sz="2200" dirty="0"/>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200" dirty="0">
                      <a:solidFill>
                        <a:srgbClr val="0000FF"/>
                      </a:solidFill>
                    </a:rPr>
                    <a:t>解决方法：</a:t>
                  </a:r>
                  <a:endParaRPr lang="zh-CN" altLang="en-US" sz="2200" dirty="0">
                    <a:solidFill>
                      <a:srgbClr val="0000FF"/>
                    </a:solidFill>
                  </a:endParaRPr>
                </a:p>
                <a:p>
                  <a:pPr marL="800100" lvl="2" indent="-342900">
                    <a:lnSpc>
                      <a:spcPct val="132000"/>
                    </a:lnSpc>
                    <a:buClr>
                      <a:schemeClr val="accent4">
                        <a:lumMod val="40000"/>
                        <a:lumOff val="60000"/>
                      </a:schemeClr>
                    </a:buClr>
                    <a:buFont typeface="Wingdings" panose="05000000000000000000" pitchFamily="2" charset="2"/>
                    <a:buChar char="l"/>
                  </a:pPr>
                  <a:r>
                    <a:rPr lang="zh-CN" altLang="en-US" sz="2200" dirty="0"/>
                    <a:t>改变写进程对文件进行写的方式；</a:t>
                  </a:r>
                  <a:endParaRPr lang="zh-CN" altLang="en-US" sz="2200" dirty="0"/>
                </a:p>
                <a:p>
                  <a:pPr marL="800100" lvl="2" indent="-342900">
                    <a:lnSpc>
                      <a:spcPct val="132000"/>
                    </a:lnSpc>
                    <a:buClr>
                      <a:schemeClr val="accent4">
                        <a:lumMod val="40000"/>
                        <a:lumOff val="60000"/>
                      </a:schemeClr>
                    </a:buClr>
                    <a:buFont typeface="Wingdings" panose="05000000000000000000" pitchFamily="2" charset="2"/>
                    <a:buChar char="l"/>
                  </a:pPr>
                  <a:r>
                    <a:rPr lang="zh-CN" altLang="en-US" sz="2200" dirty="0"/>
                    <a:t>即在写操作时，先读该文件，将文件的内容复制到一个副本上，以后只对副本上的内容进行修改；修改完成后，将修改好的文件全部写回原文件。</a:t>
                  </a:r>
                  <a:endParaRPr lang="zh-CN" altLang="en-US" sz="2200" dirty="0"/>
                </a:p>
              </p:txBody>
            </p:sp>
          </p:grpSp>
          <p:grpSp>
            <p:nvGrpSpPr>
              <p:cNvPr id="15" name="ïS1íḋé"/>
              <p:cNvGrpSpPr/>
              <p:nvPr/>
            </p:nvGrpSpPr>
            <p:grpSpPr>
              <a:xfrm>
                <a:off x="660400" y="1174550"/>
                <a:ext cx="733394" cy="733394"/>
                <a:chOff x="660400" y="1174550"/>
                <a:chExt cx="733394" cy="733394"/>
              </a:xfrm>
            </p:grpSpPr>
            <p:sp>
              <p:nvSpPr>
                <p:cNvPr id="16" name="islîḋe"/>
                <p:cNvSpPr/>
                <p:nvPr/>
              </p:nvSpPr>
              <p:spPr>
                <a:xfrm>
                  <a:off x="660400" y="1174550"/>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7" name="îŝlîďe"/>
                <p:cNvSpPr/>
                <p:nvPr/>
              </p:nvSpPr>
              <p:spPr>
                <a:xfrm>
                  <a:off x="797603" y="1359421"/>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nvGrpSpPr>
            <p:cNvPr id="7" name="iŝļïḓê"/>
            <p:cNvGrpSpPr/>
            <p:nvPr/>
          </p:nvGrpSpPr>
          <p:grpSpPr>
            <a:xfrm>
              <a:off x="660400" y="4849001"/>
              <a:ext cx="10736843" cy="1629075"/>
              <a:chOff x="660400" y="2457657"/>
              <a:chExt cx="10736843" cy="1629075"/>
            </a:xfrm>
          </p:grpSpPr>
          <p:grpSp>
            <p:nvGrpSpPr>
              <p:cNvPr id="8" name="ïṧļïḓe"/>
              <p:cNvGrpSpPr/>
              <p:nvPr/>
            </p:nvGrpSpPr>
            <p:grpSpPr>
              <a:xfrm>
                <a:off x="1539875" y="2486727"/>
                <a:ext cx="9857368" cy="1600005"/>
                <a:chOff x="1603439" y="2486727"/>
                <a:chExt cx="12432611" cy="1600005"/>
              </a:xfrm>
            </p:grpSpPr>
            <p:sp>
              <p:nvSpPr>
                <p:cNvPr id="12" name="ïšļíďè"/>
                <p:cNvSpPr txBox="1"/>
                <p:nvPr/>
              </p:nvSpPr>
              <p:spPr>
                <a:xfrm>
                  <a:off x="1603439" y="2486727"/>
                  <a:ext cx="8648584"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t>读</a:t>
                  </a:r>
                  <a:r>
                    <a:rPr lang="en-US" altLang="zh-CN" sz="2400" dirty="0"/>
                    <a:t>-</a:t>
                  </a:r>
                  <a:r>
                    <a:rPr lang="zh-CN" altLang="en-US" sz="2400" dirty="0"/>
                    <a:t>复制</a:t>
                  </a:r>
                  <a:r>
                    <a:rPr lang="en-US" altLang="zh-CN" sz="2400" dirty="0"/>
                    <a:t>-</a:t>
                  </a:r>
                  <a:r>
                    <a:rPr lang="zh-CN" altLang="en-US" sz="2400" dirty="0"/>
                    <a:t>更新锁</a:t>
                  </a:r>
                  <a:r>
                    <a:rPr lang="en-US" altLang="zh-CN" sz="2400" dirty="0"/>
                    <a:t>RCN</a:t>
                  </a:r>
                  <a:r>
                    <a:rPr lang="zh-CN" altLang="en-US" sz="2400" dirty="0"/>
                    <a:t>，用于解决读者</a:t>
                  </a:r>
                  <a:r>
                    <a:rPr lang="en-US" altLang="zh-CN" sz="2400" dirty="0"/>
                    <a:t>-</a:t>
                  </a:r>
                  <a:r>
                    <a:rPr lang="zh-CN" altLang="en-US" sz="2400" dirty="0"/>
                    <a:t>写者问题</a:t>
                  </a:r>
                  <a:endParaRPr lang="zh-CN" altLang="en-US" sz="2400" dirty="0"/>
                </a:p>
              </p:txBody>
            </p:sp>
            <p:sp>
              <p:nvSpPr>
                <p:cNvPr id="13" name="íşľíḑè"/>
                <p:cNvSpPr/>
                <p:nvPr/>
              </p:nvSpPr>
              <p:spPr bwMode="auto">
                <a:xfrm>
                  <a:off x="1603439" y="2948300"/>
                  <a:ext cx="12432611" cy="113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23000"/>
                    </a:lnSpc>
                    <a:spcBef>
                      <a:spcPts val="600"/>
                    </a:spcBef>
                    <a:buFont typeface="Wingdings" panose="05000000000000000000" pitchFamily="2" charset="2"/>
                    <a:buChar char="Ø"/>
                  </a:pPr>
                  <a:r>
                    <a:rPr lang="zh-CN" altLang="en-US" sz="2200" dirty="0"/>
                    <a:t>对于被</a:t>
                  </a:r>
                  <a:r>
                    <a:rPr lang="en-US" altLang="zh-CN" sz="2200" dirty="0"/>
                    <a:t>RCU</a:t>
                  </a:r>
                  <a:r>
                    <a:rPr lang="zh-CN" altLang="en-US" sz="2200" dirty="0"/>
                    <a:t>锁保护的共享文件，无论读者还是写者，他们都是以读的方式对其进行访问的。</a:t>
                  </a:r>
                  <a:endParaRPr lang="zh-CN" altLang="en-US" sz="2200" dirty="0"/>
                </a:p>
              </p:txBody>
            </p:sp>
          </p:grpSp>
          <p:grpSp>
            <p:nvGrpSpPr>
              <p:cNvPr id="9" name="ïŝľídè"/>
              <p:cNvGrpSpPr/>
              <p:nvPr/>
            </p:nvGrpSpPr>
            <p:grpSpPr>
              <a:xfrm>
                <a:off x="660400" y="2457657"/>
                <a:ext cx="733394" cy="733394"/>
                <a:chOff x="660400" y="2457657"/>
                <a:chExt cx="733394" cy="733394"/>
              </a:xfrm>
            </p:grpSpPr>
            <p:sp>
              <p:nvSpPr>
                <p:cNvPr id="10" name="ïṡľïde"/>
                <p:cNvSpPr/>
                <p:nvPr/>
              </p:nvSpPr>
              <p:spPr>
                <a:xfrm>
                  <a:off x="660400" y="2457657"/>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endParaRPr>
                </a:p>
              </p:txBody>
            </p:sp>
            <p:sp>
              <p:nvSpPr>
                <p:cNvPr id="11" name="ïšliḍe"/>
                <p:cNvSpPr/>
                <p:nvPr/>
              </p:nvSpPr>
              <p:spPr>
                <a:xfrm>
                  <a:off x="806481" y="2669162"/>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读</a:t>
            </a:r>
            <a:r>
              <a:rPr lang="en-US" altLang="zh-CN" sz="2800" b="1" dirty="0">
                <a:solidFill>
                  <a:schemeClr val="bg1"/>
                </a:solidFill>
                <a:cs typeface="+mn-ea"/>
                <a:sym typeface="+mn-lt"/>
              </a:rPr>
              <a:t>-</a:t>
            </a:r>
            <a:r>
              <a:rPr lang="zh-CN" altLang="en-US" sz="2800" b="1" dirty="0">
                <a:solidFill>
                  <a:schemeClr val="bg1"/>
                </a:solidFill>
                <a:cs typeface="+mn-ea"/>
                <a:sym typeface="+mn-lt"/>
              </a:rPr>
              <a:t>复制</a:t>
            </a:r>
            <a:r>
              <a:rPr lang="en-US" altLang="zh-CN" sz="2800" b="1" dirty="0">
                <a:solidFill>
                  <a:schemeClr val="bg1"/>
                </a:solidFill>
                <a:cs typeface="+mn-ea"/>
                <a:sym typeface="+mn-lt"/>
              </a:rPr>
              <a:t>-</a:t>
            </a:r>
            <a:r>
              <a:rPr lang="zh-CN" altLang="en-US" sz="2800" b="1" dirty="0">
                <a:solidFill>
                  <a:schemeClr val="bg1"/>
                </a:solidFill>
                <a:cs typeface="+mn-ea"/>
                <a:sym typeface="+mn-lt"/>
              </a:rPr>
              <a:t>更新锁（</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íSľïdé"/>
          <p:cNvSpPr/>
          <p:nvPr/>
        </p:nvSpPr>
        <p:spPr>
          <a:xfrm>
            <a:off x="1682149" y="1563077"/>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5" name="ïŝļíḓê"/>
          <p:cNvSpPr/>
          <p:nvPr/>
        </p:nvSpPr>
        <p:spPr bwMode="auto">
          <a:xfrm>
            <a:off x="7986543" y="2162134"/>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6" name="îṧľîdé"/>
          <p:cNvSpPr/>
          <p:nvPr/>
        </p:nvSpPr>
        <p:spPr>
          <a:xfrm>
            <a:off x="3328922" y="1391186"/>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7" name="内容占位符 2"/>
          <p:cNvSpPr txBox="1"/>
          <p:nvPr/>
        </p:nvSpPr>
        <p:spPr>
          <a:xfrm>
            <a:off x="669925" y="2194925"/>
            <a:ext cx="2981709" cy="29691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t>写回时机</a:t>
            </a:r>
            <a:endParaRPr lang="zh-CN" altLang="en-US" sz="2400" dirty="0"/>
          </a:p>
          <a:p>
            <a:pPr marL="34290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chemeClr val="tx1">
                    <a:lumMod val="65000"/>
                    <a:lumOff val="35000"/>
                  </a:schemeClr>
                </a:solidFill>
              </a:rPr>
              <a:t>在所有读者都已完成自己的读任务后再将修改后的文件写回</a:t>
            </a:r>
            <a:endParaRPr lang="zh-CN" altLang="en-US" sz="2400" dirty="0">
              <a:solidFill>
                <a:schemeClr val="tx1">
                  <a:lumMod val="65000"/>
                  <a:lumOff val="35000"/>
                </a:schemeClr>
              </a:solidFill>
            </a:endParaRPr>
          </a:p>
        </p:txBody>
      </p:sp>
      <p:sp>
        <p:nvSpPr>
          <p:cNvPr id="8" name="内容占位符 2"/>
          <p:cNvSpPr txBox="1"/>
          <p:nvPr/>
        </p:nvSpPr>
        <p:spPr>
          <a:xfrm>
            <a:off x="7513843" y="2840503"/>
            <a:ext cx="4180174" cy="35087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400" dirty="0"/>
              <a:t>RCU</a:t>
            </a:r>
            <a:r>
              <a:rPr lang="zh-CN" altLang="en-US" sz="2400" dirty="0"/>
              <a:t>的优点</a:t>
            </a:r>
            <a:endParaRPr lang="zh-CN" altLang="en-US" sz="2400" dirty="0"/>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0000FF"/>
                </a:solidFill>
              </a:rPr>
              <a:t>实际是一种改进的读写自旋锁</a:t>
            </a:r>
            <a:endParaRPr lang="zh-CN" altLang="en-US" sz="2400" dirty="0">
              <a:solidFill>
                <a:srgbClr val="0000FF"/>
              </a:solidFill>
            </a:endParaRPr>
          </a:p>
          <a:p>
            <a:pPr marL="0" lvl="1" indent="-342900">
              <a:lnSpc>
                <a:spcPct val="132000"/>
              </a:lnSpc>
              <a:spcBef>
                <a:spcPts val="370"/>
              </a:spcBef>
              <a:buClr>
                <a:srgbClr val="E71101"/>
              </a:buClr>
              <a:buSzPct val="60000"/>
              <a:buFont typeface="Wingdings" panose="05000000000000000000" pitchFamily="2" charset="2"/>
              <a:buChar char="Ø"/>
              <a:defRPr/>
            </a:pPr>
            <a:r>
              <a:rPr lang="zh-CN" altLang="en-US" sz="2400" dirty="0">
                <a:solidFill>
                  <a:srgbClr val="FF0000"/>
                </a:solidFill>
              </a:rPr>
              <a:t>优点：</a:t>
            </a:r>
            <a:endParaRPr lang="zh-CN" altLang="en-US" sz="2400" dirty="0">
              <a:solidFill>
                <a:srgbClr val="FF0000"/>
              </a:solidFill>
            </a:endParaRPr>
          </a:p>
          <a:p>
            <a:pPr marL="457200" lvl="2" indent="-342900">
              <a:lnSpc>
                <a:spcPct val="132000"/>
              </a:lnSpc>
              <a:spcBef>
                <a:spcPts val="370"/>
              </a:spcBef>
              <a:buClr>
                <a:srgbClr val="E71101"/>
              </a:buClr>
              <a:buSzPct val="60000"/>
              <a:buFont typeface="Wingdings" panose="05000000000000000000" pitchFamily="2" charset="2"/>
              <a:buChar char="p"/>
              <a:defRPr/>
            </a:pPr>
            <a:r>
              <a:rPr lang="zh-CN" altLang="en-US" sz="2200" dirty="0">
                <a:solidFill>
                  <a:schemeClr val="tx1">
                    <a:lumMod val="65000"/>
                    <a:lumOff val="35000"/>
                  </a:schemeClr>
                </a:solidFill>
              </a:rPr>
              <a:t>读者不会被阻塞</a:t>
            </a:r>
            <a:endParaRPr lang="zh-CN" altLang="en-US" sz="2200" dirty="0">
              <a:solidFill>
                <a:schemeClr val="tx1">
                  <a:lumMod val="65000"/>
                  <a:lumOff val="35000"/>
                </a:schemeClr>
              </a:solidFill>
            </a:endParaRPr>
          </a:p>
          <a:p>
            <a:pPr marL="457200" lvl="2" indent="-342900">
              <a:lnSpc>
                <a:spcPct val="132000"/>
              </a:lnSpc>
              <a:spcBef>
                <a:spcPts val="370"/>
              </a:spcBef>
              <a:buClr>
                <a:srgbClr val="E71101"/>
              </a:buClr>
              <a:buSzPct val="60000"/>
              <a:buFont typeface="Wingdings" panose="05000000000000000000" pitchFamily="2" charset="2"/>
              <a:buChar char="p"/>
              <a:defRPr/>
            </a:pPr>
            <a:r>
              <a:rPr lang="zh-CN" altLang="en-US" sz="2200" dirty="0">
                <a:solidFill>
                  <a:schemeClr val="tx1">
                    <a:lumMod val="65000"/>
                    <a:lumOff val="35000"/>
                  </a:schemeClr>
                </a:solidFill>
              </a:rPr>
              <a:t>无需为共享文件设置同步机构</a:t>
            </a:r>
            <a:endParaRPr lang="zh-CN" altLang="en-US" sz="2200" dirty="0">
              <a:solidFill>
                <a:schemeClr val="tx1">
                  <a:lumMod val="65000"/>
                  <a:lumOff val="35000"/>
                </a:schemeClr>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二进制指数补偿算法</a:t>
            </a:r>
            <a:endParaRPr lang="zh-CN" altLang="en-US" sz="2800" b="1" dirty="0">
              <a:solidFill>
                <a:schemeClr val="bg1"/>
              </a:solidFill>
              <a:cs typeface="+mn-ea"/>
              <a:sym typeface="+mn-lt"/>
            </a:endParaRPr>
          </a:p>
        </p:txBody>
      </p:sp>
      <p:sp>
        <p:nvSpPr>
          <p:cNvPr id="4" name="ïşľîďè"/>
          <p:cNvSpPr/>
          <p:nvPr/>
        </p:nvSpPr>
        <p:spPr>
          <a:xfrm>
            <a:off x="0" y="1288669"/>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5" name="îŝļiḋe"/>
          <p:cNvSpPr/>
          <p:nvPr/>
        </p:nvSpPr>
        <p:spPr>
          <a:xfrm>
            <a:off x="4012707" y="1288669"/>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6" name="í$1iďè"/>
          <p:cNvGrpSpPr/>
          <p:nvPr/>
        </p:nvGrpSpPr>
        <p:grpSpPr>
          <a:xfrm>
            <a:off x="4136995" y="1225639"/>
            <a:ext cx="7381904" cy="2599385"/>
            <a:chOff x="4136995" y="1170302"/>
            <a:chExt cx="7381904" cy="2599385"/>
          </a:xfrm>
        </p:grpSpPr>
        <p:sp>
          <p:nvSpPr>
            <p:cNvPr id="7"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8" name="ïSḻiḍé"/>
            <p:cNvSpPr txBox="1"/>
            <p:nvPr/>
          </p:nvSpPr>
          <p:spPr>
            <a:xfrm>
              <a:off x="4882718" y="1170302"/>
              <a:ext cx="6636181" cy="259938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dirty="0">
                  <a:latin typeface="+mj-ea"/>
                  <a:ea typeface="+mj-ea"/>
                </a:rPr>
                <a:t>基本思想：</a:t>
              </a:r>
              <a:endParaRPr lang="zh-CN" altLang="en-US" sz="2400" dirty="0">
                <a:latin typeface="+mj-ea"/>
                <a:ea typeface="+mj-ea"/>
              </a:endParaRPr>
            </a:p>
            <a:p>
              <a:pPr marL="342900" indent="-342900" algn="just">
                <a:lnSpc>
                  <a:spcPct val="130000"/>
                </a:lnSpc>
                <a:buClr>
                  <a:srgbClr val="FF0000"/>
                </a:buClr>
                <a:buFont typeface="Wingdings" panose="05000000000000000000" pitchFamily="2" charset="2"/>
                <a:buChar char="Ø"/>
              </a:pPr>
              <a:r>
                <a:rPr lang="zh-CN" altLang="en-US" sz="2200" dirty="0">
                  <a:latin typeface="+mj-ea"/>
                  <a:ea typeface="+mj-ea"/>
                </a:rPr>
                <a:t>为每个</a:t>
              </a:r>
              <a:r>
                <a:rPr lang="en-US" altLang="zh-CN" sz="2200" dirty="0">
                  <a:latin typeface="+mj-ea"/>
                  <a:ea typeface="+mj-ea"/>
                </a:rPr>
                <a:t>CPU</a:t>
              </a:r>
              <a:r>
                <a:rPr lang="zh-CN" altLang="en-US" sz="2200" dirty="0">
                  <a:latin typeface="+mj-ea"/>
                  <a:ea typeface="+mj-ea"/>
                </a:rPr>
                <a:t>对锁进行测试的</a:t>
              </a:r>
              <a:r>
                <a:rPr lang="en-US" altLang="zh-CN" sz="2200" dirty="0">
                  <a:latin typeface="+mj-ea"/>
                  <a:ea typeface="+mj-ea"/>
                </a:rPr>
                <a:t>TSL</a:t>
              </a:r>
              <a:r>
                <a:rPr lang="zh-CN" altLang="en-US" sz="2200" dirty="0">
                  <a:latin typeface="+mj-ea"/>
                  <a:ea typeface="+mj-ea"/>
                </a:rPr>
                <a:t>指令设置一个指令延迟执行时间，使该指令的下次执行在该延迟执行时间设定的时间后进行，其延迟时间是按照一个</a:t>
              </a:r>
              <a:r>
                <a:rPr lang="en-US" altLang="zh-CN" sz="2200" dirty="0">
                  <a:latin typeface="+mj-ea"/>
                  <a:ea typeface="+mj-ea"/>
                </a:rPr>
                <a:t>TSL</a:t>
              </a:r>
              <a:r>
                <a:rPr lang="zh-CN" altLang="en-US" sz="2200" dirty="0">
                  <a:latin typeface="+mj-ea"/>
                  <a:ea typeface="+mj-ea"/>
                </a:rPr>
                <a:t>指令执行周期的二进制指数方式增加的。</a:t>
              </a:r>
              <a:endParaRPr lang="zh-CN" altLang="en-US" sz="2200" dirty="0">
                <a:latin typeface="+mj-ea"/>
                <a:ea typeface="+mj-ea"/>
              </a:endParaRPr>
            </a:p>
          </p:txBody>
        </p:sp>
      </p:grpSp>
      <p:grpSp>
        <p:nvGrpSpPr>
          <p:cNvPr id="9" name="išḷîḓé"/>
          <p:cNvGrpSpPr/>
          <p:nvPr/>
        </p:nvGrpSpPr>
        <p:grpSpPr>
          <a:xfrm>
            <a:off x="4136995" y="4019772"/>
            <a:ext cx="8378932" cy="801176"/>
            <a:chOff x="4136995" y="3233565"/>
            <a:chExt cx="8378932" cy="801176"/>
          </a:xfrm>
        </p:grpSpPr>
        <p:sp>
          <p:nvSpPr>
            <p:cNvPr id="10"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1" name="îŝľîḓè"/>
            <p:cNvSpPr txBox="1"/>
            <p:nvPr/>
          </p:nvSpPr>
          <p:spPr>
            <a:xfrm>
              <a:off x="4882718" y="3233565"/>
              <a:ext cx="7633209"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0000FF"/>
                  </a:solidFill>
                </a:rPr>
                <a:t>优点：</a:t>
              </a:r>
              <a:endParaRPr lang="zh-CN" altLang="en-US" sz="2400" dirty="0">
                <a:solidFill>
                  <a:srgbClr val="0000FF"/>
                </a:solidFill>
              </a:endParaRPr>
            </a:p>
            <a:p>
              <a:pPr marL="342900" indent="-342900">
                <a:lnSpc>
                  <a:spcPct val="130000"/>
                </a:lnSpc>
                <a:buClr>
                  <a:srgbClr val="FF0000"/>
                </a:buClr>
                <a:buFont typeface="Wingdings" panose="05000000000000000000" pitchFamily="2" charset="2"/>
                <a:buChar char="Ø"/>
              </a:pPr>
              <a:r>
                <a:rPr lang="zh-CN" altLang="en-US" sz="2400" dirty="0"/>
                <a:t>可以明显减低总线上的数据流量。</a:t>
              </a:r>
              <a:endParaRPr lang="zh-CN" altLang="en-US" sz="2400" dirty="0"/>
            </a:p>
          </p:txBody>
        </p:sp>
      </p:grpSp>
      <p:grpSp>
        <p:nvGrpSpPr>
          <p:cNvPr id="12" name="ïSlíḍê"/>
          <p:cNvGrpSpPr/>
          <p:nvPr/>
        </p:nvGrpSpPr>
        <p:grpSpPr>
          <a:xfrm>
            <a:off x="4136996" y="4981402"/>
            <a:ext cx="8378931" cy="1311067"/>
            <a:chOff x="4136995" y="4714289"/>
            <a:chExt cx="8378931" cy="1311067"/>
          </a:xfrm>
        </p:grpSpPr>
        <p:sp>
          <p:nvSpPr>
            <p:cNvPr id="13"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4" name="íṧļîḋê"/>
            <p:cNvSpPr txBox="1"/>
            <p:nvPr/>
          </p:nvSpPr>
          <p:spPr>
            <a:xfrm>
              <a:off x="4882717" y="4714289"/>
              <a:ext cx="7633209"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FF0000"/>
                  </a:solidFill>
                </a:rPr>
                <a:t>缺点：</a:t>
              </a:r>
              <a:endParaRPr lang="zh-CN" altLang="en-US" sz="2400" dirty="0">
                <a:solidFill>
                  <a:srgbClr val="FF0000"/>
                </a:solidFill>
              </a:endParaRPr>
            </a:p>
            <a:p>
              <a:pPr marL="342900" indent="-342900">
                <a:lnSpc>
                  <a:spcPct val="130000"/>
                </a:lnSpc>
                <a:buClr>
                  <a:srgbClr val="FF0000"/>
                </a:buClr>
                <a:buFont typeface="Wingdings" panose="05000000000000000000" pitchFamily="2" charset="2"/>
                <a:buChar char="Ø"/>
              </a:pPr>
              <a:r>
                <a:rPr lang="zh-CN" altLang="en-US" sz="2400" dirty="0"/>
                <a:t>不能及时发现锁的空闲，进而造成浪费。</a:t>
              </a:r>
              <a:endParaRPr lang="zh-CN" altLang="en-US" sz="2400" dirty="0"/>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待锁</a:t>
            </a:r>
            <a:r>
              <a:rPr lang="en-US" altLang="zh-CN" sz="2800" b="1" dirty="0">
                <a:solidFill>
                  <a:schemeClr val="bg1"/>
                </a:solidFill>
                <a:cs typeface="+mn-ea"/>
                <a:sym typeface="+mn-lt"/>
              </a:rPr>
              <a:t>CPU</a:t>
            </a:r>
            <a:r>
              <a:rPr lang="zh-CN" altLang="en-US" sz="2800" b="1" dirty="0">
                <a:solidFill>
                  <a:schemeClr val="bg1"/>
                </a:solidFill>
                <a:cs typeface="+mn-ea"/>
                <a:sym typeface="+mn-lt"/>
              </a:rPr>
              <a:t>等待队列机构</a:t>
            </a:r>
            <a:endParaRPr lang="zh-CN" altLang="en-US" sz="2800" b="1" dirty="0">
              <a:solidFill>
                <a:schemeClr val="bg1"/>
              </a:solidFill>
              <a:cs typeface="+mn-ea"/>
              <a:sym typeface="+mn-lt"/>
            </a:endParaRPr>
          </a:p>
        </p:txBody>
      </p:sp>
      <p:sp>
        <p:nvSpPr>
          <p:cNvPr id="4" name="内容占位符 2"/>
          <p:cNvSpPr txBox="1"/>
          <p:nvPr/>
        </p:nvSpPr>
        <p:spPr>
          <a:xfrm>
            <a:off x="322195" y="1188494"/>
            <a:ext cx="11152881" cy="1127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23000"/>
              </a:lnSpc>
              <a:buNone/>
            </a:pPr>
            <a:r>
              <a:rPr lang="zh-CN" altLang="en-US" sz="2400" dirty="0">
                <a:cs typeface="+mn-ea"/>
                <a:sym typeface="+mn-lt"/>
              </a:rPr>
              <a:t>解决锁空闲的问题</a:t>
            </a:r>
            <a:endParaRPr lang="en-US" altLang="zh-CN" sz="2400" dirty="0">
              <a:cs typeface="+mn-ea"/>
              <a:sym typeface="+mn-lt"/>
            </a:endParaRPr>
          </a:p>
          <a:p>
            <a:pPr marL="0" indent="457200">
              <a:lnSpc>
                <a:spcPct val="123000"/>
              </a:lnSpc>
              <a:buNone/>
            </a:pPr>
            <a:r>
              <a:rPr lang="zh-CN" altLang="en-US" sz="2400" dirty="0">
                <a:solidFill>
                  <a:srgbClr val="FF0000"/>
                </a:solidFill>
                <a:cs typeface="+mn-ea"/>
                <a:sym typeface="+mn-lt"/>
              </a:rPr>
              <a:t>核心</a:t>
            </a:r>
            <a:r>
              <a:rPr lang="zh-CN" altLang="en-US" sz="2400" dirty="0">
                <a:cs typeface="+mn-ea"/>
                <a:sym typeface="+mn-lt"/>
              </a:rPr>
              <a:t>思想是：</a:t>
            </a:r>
            <a:endParaRPr lang="zh-CN" altLang="en-US" sz="2400" dirty="0">
              <a:cs typeface="+mn-ea"/>
              <a:sym typeface="+mn-lt"/>
            </a:endParaRPr>
          </a:p>
          <a:p>
            <a:pPr marL="0" indent="457200">
              <a:lnSpc>
                <a:spcPct val="123000"/>
              </a:lnSpc>
              <a:buNone/>
            </a:pPr>
            <a:endParaRPr lang="zh-CN" altLang="en-US" sz="2400" dirty="0">
              <a:cs typeface="+mn-ea"/>
              <a:sym typeface="+mn-lt"/>
            </a:endParaRPr>
          </a:p>
        </p:txBody>
      </p:sp>
      <p:sp>
        <p:nvSpPr>
          <p:cNvPr id="5" name="íSľïdé"/>
          <p:cNvSpPr/>
          <p:nvPr/>
        </p:nvSpPr>
        <p:spPr>
          <a:xfrm>
            <a:off x="1682148" y="2488360"/>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p>
        </p:txBody>
      </p:sp>
      <p:sp>
        <p:nvSpPr>
          <p:cNvPr id="6" name="ïŝļíḓê"/>
          <p:cNvSpPr/>
          <p:nvPr/>
        </p:nvSpPr>
        <p:spPr bwMode="auto">
          <a:xfrm>
            <a:off x="7999421" y="2316469"/>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p>
        </p:txBody>
      </p:sp>
      <p:sp>
        <p:nvSpPr>
          <p:cNvPr id="7" name="îṧľîdé"/>
          <p:cNvSpPr/>
          <p:nvPr/>
        </p:nvSpPr>
        <p:spPr>
          <a:xfrm>
            <a:off x="3393315" y="2316469"/>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p>
        </p:txBody>
      </p:sp>
      <p:sp>
        <p:nvSpPr>
          <p:cNvPr id="8" name="内容占位符 2"/>
          <p:cNvSpPr txBox="1"/>
          <p:nvPr/>
        </p:nvSpPr>
        <p:spPr>
          <a:xfrm>
            <a:off x="669925" y="3120208"/>
            <a:ext cx="2820250" cy="29691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200" dirty="0"/>
              <a:t>为每个</a:t>
            </a:r>
            <a:r>
              <a:rPr lang="en-US" altLang="zh-CN" sz="2200" dirty="0"/>
              <a:t>CPU</a:t>
            </a:r>
            <a:r>
              <a:rPr lang="zh-CN" altLang="en-US" sz="2200" dirty="0"/>
              <a:t>配置一个用于测试的私有锁变量和一个记录下一个待锁</a:t>
            </a:r>
            <a:r>
              <a:rPr lang="en-US" altLang="zh-CN" sz="2200" dirty="0"/>
              <a:t>CPU</a:t>
            </a:r>
            <a:r>
              <a:rPr lang="zh-CN" altLang="en-US" sz="2200" dirty="0"/>
              <a:t>的待锁清单，并将它们存放在其私有的高速缓存中；</a:t>
            </a:r>
            <a:endParaRPr lang="zh-CN" altLang="en-US" sz="2200" dirty="0"/>
          </a:p>
        </p:txBody>
      </p:sp>
      <p:sp>
        <p:nvSpPr>
          <p:cNvPr id="9" name="内容占位符 2"/>
          <p:cNvSpPr txBox="1"/>
          <p:nvPr/>
        </p:nvSpPr>
        <p:spPr>
          <a:xfrm>
            <a:off x="7526721" y="2994838"/>
            <a:ext cx="4141537" cy="332868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200" dirty="0"/>
              <a:t>当多个</a:t>
            </a:r>
            <a:r>
              <a:rPr lang="en-US" altLang="zh-CN" sz="2200" dirty="0"/>
              <a:t>CPU</a:t>
            </a:r>
            <a:r>
              <a:rPr lang="zh-CN" altLang="en-US" sz="2200" dirty="0"/>
              <a:t>需要互斥访问某个共享数据结构时，如果该结构已被占用，则为第一个未获得锁的</a:t>
            </a:r>
            <a:r>
              <a:rPr lang="en-US" altLang="zh-CN" sz="2200" dirty="0"/>
              <a:t>CPU</a:t>
            </a:r>
            <a:r>
              <a:rPr lang="zh-CN" altLang="en-US" sz="2200" dirty="0"/>
              <a:t>分配一个锁变量，并将其附在占用该共享数据结构</a:t>
            </a:r>
            <a:r>
              <a:rPr lang="en-US" altLang="zh-CN" sz="2200" dirty="0"/>
              <a:t>CPU</a:t>
            </a:r>
            <a:r>
              <a:rPr lang="zh-CN" altLang="en-US" sz="2200" dirty="0"/>
              <a:t>的待锁清单末；依此类推，直至第</a:t>
            </a:r>
            <a:r>
              <a:rPr lang="en-US" altLang="zh-CN" sz="2200" dirty="0"/>
              <a:t>n</a:t>
            </a:r>
            <a:r>
              <a:rPr lang="zh-CN" altLang="en-US" sz="2200" dirty="0"/>
              <a:t>个待锁</a:t>
            </a:r>
            <a:r>
              <a:rPr lang="en-US" altLang="zh-CN" sz="2200" dirty="0"/>
              <a:t>CPU</a:t>
            </a:r>
            <a:r>
              <a:rPr lang="zh-CN" altLang="en-US" sz="2200" dirty="0"/>
              <a:t>进入其临界区。</a:t>
            </a:r>
            <a:endParaRPr lang="zh-CN" altLang="en-US" sz="2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定序机构</a:t>
            </a:r>
            <a:endParaRPr lang="zh-CN" altLang="en-US" sz="2800" b="1" dirty="0">
              <a:solidFill>
                <a:schemeClr val="bg1"/>
              </a:solidFill>
              <a:cs typeface="+mn-ea"/>
              <a:sym typeface="+mn-lt"/>
            </a:endParaRPr>
          </a:p>
        </p:txBody>
      </p:sp>
      <p:sp>
        <p:nvSpPr>
          <p:cNvPr id="4" name="内容占位符 2"/>
          <p:cNvSpPr txBox="1"/>
          <p:nvPr/>
        </p:nvSpPr>
        <p:spPr>
          <a:xfrm>
            <a:off x="347952" y="1149858"/>
            <a:ext cx="11152881" cy="575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23000"/>
              </a:lnSpc>
              <a:buNone/>
            </a:pPr>
            <a:r>
              <a:rPr lang="zh-CN" altLang="en-US" sz="2400" dirty="0">
                <a:cs typeface="+mn-ea"/>
                <a:sym typeface="+mn-lt"/>
              </a:rPr>
              <a:t>为了能对各系统中的所有特定事件进行排序，在系统中应有定序机构。</a:t>
            </a:r>
            <a:endParaRPr lang="zh-CN" altLang="en-US" sz="2400" dirty="0">
              <a:cs typeface="+mn-ea"/>
              <a:sym typeface="+mn-lt"/>
            </a:endParaRPr>
          </a:p>
        </p:txBody>
      </p:sp>
      <p:sp>
        <p:nvSpPr>
          <p:cNvPr id="16" name="文本框 15"/>
          <p:cNvSpPr txBox="1"/>
          <p:nvPr/>
        </p:nvSpPr>
        <p:spPr>
          <a:xfrm>
            <a:off x="1584731" y="1896616"/>
            <a:ext cx="10209704" cy="4417363"/>
          </a:xfrm>
          <a:prstGeom prst="rect">
            <a:avLst/>
          </a:prstGeom>
          <a:noFill/>
        </p:spPr>
        <p:txBody>
          <a:bodyPr wrap="square" rtlCol="0">
            <a:spAutoFit/>
          </a:bodyPr>
          <a:lstStyle/>
          <a:p>
            <a:pPr algn="just">
              <a:lnSpc>
                <a:spcPct val="123000"/>
              </a:lnSpc>
              <a:spcBef>
                <a:spcPts val="600"/>
              </a:spcBef>
            </a:pPr>
            <a:r>
              <a:rPr lang="zh-CN" altLang="en-US" sz="2400" dirty="0">
                <a:solidFill>
                  <a:srgbClr val="FF0000"/>
                </a:solidFill>
                <a:latin typeface="+mn-ea"/>
              </a:rPr>
              <a:t>时间邮戳定序机构</a:t>
            </a:r>
            <a:endParaRPr lang="zh-CN" altLang="en-US" sz="2400" dirty="0">
              <a:solidFill>
                <a:srgbClr val="FF0000"/>
              </a:solidFill>
              <a:latin typeface="+mn-ea"/>
            </a:endParaRPr>
          </a:p>
          <a:p>
            <a:pPr marL="342900" indent="-342900" algn="just">
              <a:lnSpc>
                <a:spcPct val="123000"/>
              </a:lnSpc>
              <a:spcBef>
                <a:spcPts val="600"/>
              </a:spcBef>
              <a:buClr>
                <a:srgbClr val="FF0000"/>
              </a:buClr>
              <a:buFont typeface="Wingdings" panose="05000000000000000000" pitchFamily="2" charset="2"/>
              <a:buChar char="Ø"/>
            </a:pPr>
            <a:r>
              <a:rPr lang="zh-CN" altLang="en-US" sz="2200" dirty="0">
                <a:latin typeface="+mn-ea"/>
              </a:rPr>
              <a:t>要求：系统中应具有唯一的、由单一物理时钟驱动的物理时钟体系。</a:t>
            </a:r>
            <a:endParaRPr lang="zh-CN" altLang="en-US" sz="2200" dirty="0">
              <a:latin typeface="+mn-ea"/>
            </a:endParaRPr>
          </a:p>
          <a:p>
            <a:pPr marL="342900" indent="-342900" algn="just">
              <a:lnSpc>
                <a:spcPct val="123000"/>
              </a:lnSpc>
              <a:spcBef>
                <a:spcPts val="600"/>
              </a:spcBef>
              <a:buClr>
                <a:srgbClr val="FF0000"/>
              </a:buClr>
              <a:buFont typeface="Wingdings" panose="05000000000000000000" pitchFamily="2" charset="2"/>
              <a:buChar char="Ø"/>
            </a:pPr>
            <a:r>
              <a:rPr lang="zh-CN" altLang="en-US" sz="2200" dirty="0">
                <a:latin typeface="+mn-ea"/>
              </a:rPr>
              <a:t>功能：</a:t>
            </a:r>
            <a:endParaRPr lang="zh-CN" altLang="en-US" sz="2200" dirty="0">
              <a:latin typeface="+mn-ea"/>
            </a:endParaRPr>
          </a:p>
          <a:p>
            <a:pPr marL="800100" lvl="1" indent="-342900" algn="just">
              <a:lnSpc>
                <a:spcPct val="123000"/>
              </a:lnSpc>
              <a:spcBef>
                <a:spcPts val="600"/>
              </a:spcBef>
              <a:buClr>
                <a:srgbClr val="FF0000"/>
              </a:buClr>
              <a:buFont typeface="Wingdings" panose="05000000000000000000" pitchFamily="2" charset="2"/>
              <a:buChar char="Ø"/>
            </a:pPr>
            <a:r>
              <a:rPr lang="zh-CN" altLang="en-US" sz="2200" dirty="0">
                <a:latin typeface="+mn-ea"/>
              </a:rPr>
              <a:t>①对所有的特殊事件，如资源请求、通信等，加印时间邮戳；</a:t>
            </a:r>
            <a:endParaRPr lang="zh-CN" altLang="en-US" sz="2200" dirty="0">
              <a:latin typeface="+mn-ea"/>
            </a:endParaRPr>
          </a:p>
          <a:p>
            <a:pPr marL="800100" lvl="1" indent="-342900" algn="just">
              <a:lnSpc>
                <a:spcPct val="123000"/>
              </a:lnSpc>
              <a:spcBef>
                <a:spcPts val="600"/>
              </a:spcBef>
              <a:buClr>
                <a:srgbClr val="FF0000"/>
              </a:buClr>
              <a:buFont typeface="Wingdings" panose="05000000000000000000" pitchFamily="2" charset="2"/>
              <a:buChar char="Ø"/>
            </a:pPr>
            <a:r>
              <a:rPr lang="zh-CN" altLang="en-US" sz="2200" dirty="0">
                <a:latin typeface="+mn-ea"/>
              </a:rPr>
              <a:t>②对每种特殊事件，只能使用唯一的时间邮戳；</a:t>
            </a:r>
            <a:endParaRPr lang="zh-CN" altLang="en-US" sz="2200" dirty="0">
              <a:latin typeface="+mn-ea"/>
            </a:endParaRPr>
          </a:p>
          <a:p>
            <a:pPr marL="800100" lvl="1" indent="-342900" algn="just">
              <a:lnSpc>
                <a:spcPct val="123000"/>
              </a:lnSpc>
              <a:spcBef>
                <a:spcPts val="600"/>
              </a:spcBef>
              <a:buClr>
                <a:srgbClr val="FF0000"/>
              </a:buClr>
              <a:buFont typeface="Wingdings" panose="05000000000000000000" pitchFamily="2" charset="2"/>
              <a:buChar char="Ø"/>
            </a:pPr>
            <a:r>
              <a:rPr lang="zh-CN" altLang="en-US" sz="2200" dirty="0">
                <a:latin typeface="+mn-ea"/>
              </a:rPr>
              <a:t>③根据事件上的时间邮戳，定义所有事件的先后顺序利用时间邮戳定序机构，再配以相应的算法，可实现不同处理机上进程的同步。</a:t>
            </a:r>
            <a:endParaRPr lang="zh-CN" altLang="en-US" sz="2200" dirty="0">
              <a:latin typeface="+mn-ea"/>
            </a:endParaRPr>
          </a:p>
          <a:p>
            <a:pPr algn="just">
              <a:lnSpc>
                <a:spcPct val="123000"/>
              </a:lnSpc>
              <a:spcBef>
                <a:spcPts val="600"/>
              </a:spcBef>
            </a:pPr>
            <a:r>
              <a:rPr lang="zh-CN" altLang="en-US" sz="2400" dirty="0">
                <a:latin typeface="+mn-ea"/>
              </a:rPr>
              <a:t>事件计数：</a:t>
            </a:r>
            <a:endParaRPr lang="zh-CN" altLang="en-US" sz="2400" dirty="0">
              <a:latin typeface="+mn-ea"/>
            </a:endParaRPr>
          </a:p>
          <a:p>
            <a:pPr marL="342900" indent="-342900" algn="just">
              <a:lnSpc>
                <a:spcPct val="123000"/>
              </a:lnSpc>
              <a:spcBef>
                <a:spcPts val="600"/>
              </a:spcBef>
              <a:buClr>
                <a:srgbClr val="FF0000"/>
              </a:buClr>
              <a:buFont typeface="Wingdings" panose="05000000000000000000" pitchFamily="2" charset="2"/>
              <a:buChar char="Ø"/>
            </a:pPr>
            <a:r>
              <a:rPr lang="zh-CN" altLang="en-US" sz="2200" dirty="0">
                <a:latin typeface="+mn-ea"/>
              </a:rPr>
              <a:t>使用一个称为定序器的整型量，为所有特定事件进行排序。</a:t>
            </a:r>
            <a:endParaRPr lang="zh-CN" altLang="en-US" sz="2200" dirty="0">
              <a:latin typeface="+mn-ea"/>
            </a:endParaRPr>
          </a:p>
        </p:txBody>
      </p:sp>
      <p:pic>
        <p:nvPicPr>
          <p:cNvPr id="17" name="图片 1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61622" y="1890451"/>
            <a:ext cx="527050" cy="527050"/>
          </a:xfrm>
          <a:prstGeom prst="rect">
            <a:avLst/>
          </a:prstGeom>
          <a:ln>
            <a:noFill/>
          </a:ln>
          <a:effectLst>
            <a:softEdge rad="0"/>
          </a:effectLst>
        </p:spPr>
      </p:pic>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61622" y="5259944"/>
            <a:ext cx="527050" cy="527050"/>
          </a:xfrm>
          <a:prstGeom prst="rect">
            <a:avLst/>
          </a:prstGeom>
          <a:ln>
            <a:noFill/>
          </a:ln>
          <a:effectLst>
            <a:softEdge rad="0"/>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面包店算法</a:t>
            </a:r>
            <a:endParaRPr lang="zh-CN" altLang="en-US" sz="2800" b="1" dirty="0">
              <a:solidFill>
                <a:schemeClr val="bg1"/>
              </a:solidFill>
              <a:cs typeface="+mn-ea"/>
              <a:sym typeface="+mn-lt"/>
            </a:endParaRPr>
          </a:p>
        </p:txBody>
      </p:sp>
      <p:sp>
        <p:nvSpPr>
          <p:cNvPr id="4" name="内容占位符 2"/>
          <p:cNvSpPr txBox="1"/>
          <p:nvPr/>
        </p:nvSpPr>
        <p:spPr>
          <a:xfrm>
            <a:off x="579549" y="1059705"/>
            <a:ext cx="10985678" cy="13744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600"/>
              </a:spcBef>
              <a:buNone/>
            </a:pPr>
            <a:r>
              <a:rPr lang="zh-CN" altLang="en-US" sz="2000" dirty="0">
                <a:cs typeface="+mn-ea"/>
                <a:sym typeface="+mn-lt"/>
              </a:rPr>
              <a:t>是最早的分布式同步算法，算法利用事件排序的方法对要求访问临界资源的全部事件进行排序，按照先来先服务次序对事件进行处理</a:t>
            </a:r>
            <a:endParaRPr lang="en-US" altLang="zh-CN" sz="2000" dirty="0">
              <a:cs typeface="+mn-ea"/>
              <a:sym typeface="+mn-lt"/>
            </a:endParaRPr>
          </a:p>
          <a:p>
            <a:pPr marL="0" indent="0">
              <a:lnSpc>
                <a:spcPct val="123000"/>
              </a:lnSpc>
              <a:spcBef>
                <a:spcPts val="600"/>
              </a:spcBef>
              <a:buNone/>
            </a:pPr>
            <a:r>
              <a:rPr lang="zh-CN" altLang="en-US" sz="2000" dirty="0">
                <a:solidFill>
                  <a:srgbClr val="FF0000"/>
                </a:solidFill>
                <a:cs typeface="+mn-ea"/>
                <a:sym typeface="+mn-lt"/>
              </a:rPr>
              <a:t>算法描述：</a:t>
            </a:r>
            <a:endParaRPr lang="zh-CN" altLang="en-US" sz="2000" dirty="0">
              <a:solidFill>
                <a:srgbClr val="FF0000"/>
              </a:solidFill>
              <a:cs typeface="+mn-ea"/>
              <a:sym typeface="+mn-lt"/>
            </a:endParaRPr>
          </a:p>
        </p:txBody>
      </p:sp>
      <p:sp>
        <p:nvSpPr>
          <p:cNvPr id="5" name="文本框 4"/>
          <p:cNvSpPr txBox="1"/>
          <p:nvPr/>
        </p:nvSpPr>
        <p:spPr>
          <a:xfrm>
            <a:off x="579549" y="2434106"/>
            <a:ext cx="10663483" cy="3915944"/>
          </a:xfrm>
          <a:prstGeom prst="rect">
            <a:avLst/>
          </a:prstGeom>
          <a:noFill/>
        </p:spPr>
        <p:txBody>
          <a:bodyPr wrap="square" rtlCol="0">
            <a:spAutoFit/>
          </a:bodyPr>
          <a:lstStyle/>
          <a:p>
            <a:pPr marL="342900" indent="-342900" algn="just">
              <a:lnSpc>
                <a:spcPct val="110000"/>
              </a:lnSpc>
              <a:spcBef>
                <a:spcPts val="600"/>
              </a:spcBef>
              <a:buClr>
                <a:srgbClr val="FF0000"/>
              </a:buClr>
              <a:buFont typeface="Wingdings" panose="05000000000000000000" pitchFamily="2" charset="2"/>
              <a:buChar char="Ø"/>
            </a:pPr>
            <a:r>
              <a:rPr lang="zh-CN" altLang="en-US" sz="2000" dirty="0">
                <a:latin typeface="+mn-ea"/>
              </a:rPr>
              <a:t>当进程</a:t>
            </a:r>
            <a:r>
              <a:rPr lang="en-US" altLang="zh-CN" sz="2000" dirty="0">
                <a:latin typeface="+mn-ea"/>
              </a:rPr>
              <a:t>Pi</a:t>
            </a:r>
            <a:r>
              <a:rPr lang="zh-CN" altLang="en-US" sz="2000" dirty="0">
                <a:latin typeface="+mn-ea"/>
              </a:rPr>
              <a:t>请求资源时，它把请求消息</a:t>
            </a:r>
            <a:r>
              <a:rPr lang="en-US" altLang="zh-CN" sz="2000" dirty="0">
                <a:latin typeface="+mn-ea"/>
              </a:rPr>
              <a:t>request(</a:t>
            </a:r>
            <a:r>
              <a:rPr lang="en-US" altLang="zh-CN" sz="2000" dirty="0" err="1">
                <a:latin typeface="+mn-ea"/>
              </a:rPr>
              <a:t>Ti,i</a:t>
            </a:r>
            <a:r>
              <a:rPr lang="en-US" altLang="zh-CN" sz="2000" dirty="0">
                <a:latin typeface="+mn-ea"/>
              </a:rPr>
              <a:t>)</a:t>
            </a:r>
            <a:r>
              <a:rPr lang="zh-CN" altLang="en-US" sz="2000" dirty="0">
                <a:latin typeface="+mn-ea"/>
              </a:rPr>
              <a:t>排在自己的请求队列中，同时也把该消息发送给系统中的其他进程。</a:t>
            </a:r>
            <a:endParaRPr lang="zh-CN" altLang="en-US" sz="2000" dirty="0">
              <a:latin typeface="+mn-ea"/>
            </a:endParaRPr>
          </a:p>
          <a:p>
            <a:pPr marL="342900" indent="-342900" algn="just">
              <a:lnSpc>
                <a:spcPct val="110000"/>
              </a:lnSpc>
              <a:spcBef>
                <a:spcPts val="600"/>
              </a:spcBef>
              <a:buClr>
                <a:srgbClr val="FF0000"/>
              </a:buClr>
              <a:buFont typeface="Wingdings" panose="05000000000000000000" pitchFamily="2" charset="2"/>
              <a:buChar char="Ø"/>
            </a:pPr>
            <a:r>
              <a:rPr lang="zh-CN" altLang="en-US" sz="2000" dirty="0">
                <a:latin typeface="+mn-ea"/>
              </a:rPr>
              <a:t>当进程</a:t>
            </a:r>
            <a:r>
              <a:rPr lang="en-US" altLang="zh-CN" sz="2000" dirty="0" err="1">
                <a:latin typeface="+mn-ea"/>
              </a:rPr>
              <a:t>Pj</a:t>
            </a:r>
            <a:r>
              <a:rPr lang="zh-CN" altLang="en-US" sz="2000" dirty="0">
                <a:latin typeface="+mn-ea"/>
              </a:rPr>
              <a:t>接收到外来消息</a:t>
            </a:r>
            <a:r>
              <a:rPr lang="en-US" altLang="zh-CN" sz="2000" dirty="0">
                <a:latin typeface="+mn-ea"/>
              </a:rPr>
              <a:t>request(</a:t>
            </a:r>
            <a:r>
              <a:rPr lang="en-US" altLang="zh-CN" sz="2000" dirty="0" err="1">
                <a:latin typeface="+mn-ea"/>
              </a:rPr>
              <a:t>Ti,i</a:t>
            </a:r>
            <a:r>
              <a:rPr lang="en-US" altLang="zh-CN" sz="2000" dirty="0">
                <a:latin typeface="+mn-ea"/>
              </a:rPr>
              <a:t>)</a:t>
            </a:r>
            <a:r>
              <a:rPr lang="zh-CN" altLang="en-US" sz="2000" dirty="0">
                <a:latin typeface="+mn-ea"/>
              </a:rPr>
              <a:t>后，发送回答消息</a:t>
            </a:r>
            <a:r>
              <a:rPr lang="en-US" altLang="zh-CN" sz="2000" dirty="0">
                <a:latin typeface="+mn-ea"/>
              </a:rPr>
              <a:t>reply(</a:t>
            </a:r>
            <a:r>
              <a:rPr lang="en-US" altLang="zh-CN" sz="2000" dirty="0" err="1">
                <a:latin typeface="+mn-ea"/>
              </a:rPr>
              <a:t>Tj,j</a:t>
            </a:r>
            <a:r>
              <a:rPr lang="en-US" altLang="zh-CN" sz="2000" dirty="0">
                <a:latin typeface="+mn-ea"/>
              </a:rPr>
              <a:t>)</a:t>
            </a:r>
            <a:r>
              <a:rPr lang="zh-CN" altLang="en-US" sz="2000" dirty="0">
                <a:latin typeface="+mn-ea"/>
              </a:rPr>
              <a:t>，并把</a:t>
            </a:r>
            <a:r>
              <a:rPr lang="en-US" altLang="zh-CN" sz="2000" dirty="0">
                <a:latin typeface="+mn-ea"/>
              </a:rPr>
              <a:t>request(</a:t>
            </a:r>
            <a:r>
              <a:rPr lang="en-US" altLang="zh-CN" sz="2000" dirty="0" err="1">
                <a:latin typeface="+mn-ea"/>
              </a:rPr>
              <a:t>Ti,i</a:t>
            </a:r>
            <a:r>
              <a:rPr lang="en-US" altLang="zh-CN" sz="2000" dirty="0">
                <a:latin typeface="+mn-ea"/>
              </a:rPr>
              <a:t>)</a:t>
            </a:r>
            <a:r>
              <a:rPr lang="zh-CN" altLang="en-US" sz="2000" dirty="0">
                <a:latin typeface="+mn-ea"/>
              </a:rPr>
              <a:t>放入自己的请求队列。</a:t>
            </a:r>
            <a:endParaRPr lang="zh-CN" altLang="en-US" sz="2000" dirty="0">
              <a:latin typeface="+mn-ea"/>
            </a:endParaRPr>
          </a:p>
          <a:p>
            <a:pPr marL="342900" indent="-342900" algn="just">
              <a:lnSpc>
                <a:spcPct val="110000"/>
              </a:lnSpc>
              <a:spcBef>
                <a:spcPts val="600"/>
              </a:spcBef>
              <a:buClr>
                <a:srgbClr val="FF0000"/>
              </a:buClr>
              <a:buFont typeface="Wingdings" panose="05000000000000000000" pitchFamily="2" charset="2"/>
              <a:buChar char="Ø"/>
            </a:pPr>
            <a:r>
              <a:rPr lang="zh-CN" altLang="en-US" sz="2000" dirty="0">
                <a:latin typeface="+mn-ea"/>
              </a:rPr>
              <a:t>若满足下述两条件，则允许进程</a:t>
            </a:r>
            <a:r>
              <a:rPr lang="en-US" altLang="zh-CN" sz="2000" dirty="0">
                <a:latin typeface="+mn-ea"/>
              </a:rPr>
              <a:t>Pi</a:t>
            </a:r>
            <a:r>
              <a:rPr lang="zh-CN" altLang="en-US" sz="2000" dirty="0">
                <a:latin typeface="+mn-ea"/>
              </a:rPr>
              <a:t>访问该资源（即允许进入临界区</a:t>
            </a:r>
            <a:r>
              <a:rPr lang="en-US" altLang="zh-CN" sz="2000" dirty="0">
                <a:latin typeface="+mn-ea"/>
              </a:rPr>
              <a:t>)</a:t>
            </a:r>
            <a:r>
              <a:rPr lang="zh-CN" altLang="en-US" sz="2000" dirty="0">
                <a:latin typeface="+mn-ea"/>
              </a:rPr>
              <a:t>：</a:t>
            </a:r>
            <a:endParaRPr lang="zh-CN" altLang="en-US" sz="2000" dirty="0">
              <a:latin typeface="+mn-ea"/>
            </a:endParaRPr>
          </a:p>
          <a:p>
            <a:pPr marL="800100" lvl="1" indent="-342900" algn="just">
              <a:lnSpc>
                <a:spcPct val="110000"/>
              </a:lnSpc>
              <a:spcBef>
                <a:spcPts val="600"/>
              </a:spcBef>
              <a:buClr>
                <a:srgbClr val="FF0000"/>
              </a:buClr>
              <a:buFont typeface="Wingdings" panose="05000000000000000000" pitchFamily="2" charset="2"/>
              <a:buChar char="p"/>
            </a:pPr>
            <a:r>
              <a:rPr lang="en-US" altLang="zh-CN" sz="2000" dirty="0">
                <a:latin typeface="+mn-ea"/>
              </a:rPr>
              <a:t>Pi</a:t>
            </a:r>
            <a:r>
              <a:rPr lang="zh-CN" altLang="en-US" sz="2000" dirty="0">
                <a:latin typeface="+mn-ea"/>
              </a:rPr>
              <a:t>自身请求访问该资源的消息已处于请求队列的最前面；</a:t>
            </a:r>
            <a:endParaRPr lang="zh-CN" altLang="en-US" sz="2000" dirty="0">
              <a:latin typeface="+mn-ea"/>
            </a:endParaRPr>
          </a:p>
          <a:p>
            <a:pPr marL="800100" lvl="1" indent="-342900" algn="just">
              <a:lnSpc>
                <a:spcPct val="110000"/>
              </a:lnSpc>
              <a:spcBef>
                <a:spcPts val="600"/>
              </a:spcBef>
              <a:buClr>
                <a:srgbClr val="FF0000"/>
              </a:buClr>
              <a:buFont typeface="Wingdings" panose="05000000000000000000" pitchFamily="2" charset="2"/>
              <a:buChar char="p"/>
            </a:pPr>
            <a:r>
              <a:rPr lang="en-US" altLang="zh-CN" sz="2000" dirty="0">
                <a:latin typeface="+mn-ea"/>
              </a:rPr>
              <a:t>Pi</a:t>
            </a:r>
            <a:r>
              <a:rPr lang="zh-CN" altLang="en-US" sz="2000" dirty="0">
                <a:latin typeface="+mn-ea"/>
              </a:rPr>
              <a:t>已收到从所有其他进程发来的回答消息，这些消息的时间戳均晚于</a:t>
            </a:r>
            <a:r>
              <a:rPr lang="en-US" altLang="zh-CN" sz="2000" dirty="0">
                <a:latin typeface="+mn-ea"/>
              </a:rPr>
              <a:t>(</a:t>
            </a:r>
            <a:r>
              <a:rPr lang="en-US" altLang="zh-CN" sz="2000" dirty="0" err="1">
                <a:latin typeface="+mn-ea"/>
              </a:rPr>
              <a:t>Ti,i</a:t>
            </a:r>
            <a:r>
              <a:rPr lang="en-US" altLang="zh-CN" sz="2000" dirty="0">
                <a:latin typeface="+mn-ea"/>
              </a:rPr>
              <a:t>)</a:t>
            </a:r>
            <a:r>
              <a:rPr lang="zh-CN" altLang="en-US" sz="2000" dirty="0">
                <a:latin typeface="+mn-ea"/>
              </a:rPr>
              <a:t>。</a:t>
            </a:r>
            <a:endParaRPr lang="zh-CN" altLang="en-US" sz="2000" dirty="0">
              <a:latin typeface="+mn-ea"/>
            </a:endParaRPr>
          </a:p>
          <a:p>
            <a:pPr marL="342900" indent="-342900" algn="just">
              <a:lnSpc>
                <a:spcPct val="110000"/>
              </a:lnSpc>
              <a:spcBef>
                <a:spcPts val="600"/>
              </a:spcBef>
              <a:buClr>
                <a:srgbClr val="FF0000"/>
              </a:buClr>
              <a:buFont typeface="Wingdings" panose="05000000000000000000" pitchFamily="2" charset="2"/>
              <a:buChar char="Ø"/>
            </a:pPr>
            <a:r>
              <a:rPr lang="zh-CN" altLang="en-US" sz="2000" dirty="0">
                <a:latin typeface="+mn-ea"/>
              </a:rPr>
              <a:t>为了释放该资源，</a:t>
            </a:r>
            <a:r>
              <a:rPr lang="en-US" altLang="zh-CN" sz="2000" dirty="0">
                <a:latin typeface="+mn-ea"/>
              </a:rPr>
              <a:t>Pi</a:t>
            </a:r>
            <a:r>
              <a:rPr lang="zh-CN" altLang="en-US" sz="2000" dirty="0">
                <a:latin typeface="+mn-ea"/>
              </a:rPr>
              <a:t>从自己的队列中撤销请求消息，并发送一个打上时间戳的释放消息</a:t>
            </a:r>
            <a:r>
              <a:rPr lang="en-US" altLang="zh-CN" sz="2000" dirty="0">
                <a:latin typeface="+mn-ea"/>
              </a:rPr>
              <a:t>release</a:t>
            </a:r>
            <a:r>
              <a:rPr lang="zh-CN" altLang="en-US" sz="2000" dirty="0">
                <a:latin typeface="+mn-ea"/>
              </a:rPr>
              <a:t>给其他进程。</a:t>
            </a:r>
            <a:endParaRPr lang="zh-CN" altLang="en-US" sz="2000" dirty="0">
              <a:latin typeface="+mn-ea"/>
            </a:endParaRPr>
          </a:p>
          <a:p>
            <a:pPr marL="342900" indent="-342900" algn="just">
              <a:lnSpc>
                <a:spcPct val="110000"/>
              </a:lnSpc>
              <a:spcBef>
                <a:spcPts val="600"/>
              </a:spcBef>
              <a:buClr>
                <a:srgbClr val="FF0000"/>
              </a:buClr>
              <a:buFont typeface="Wingdings" panose="05000000000000000000" pitchFamily="2" charset="2"/>
              <a:buChar char="Ø"/>
            </a:pPr>
            <a:r>
              <a:rPr lang="zh-CN" altLang="en-US" sz="2000" dirty="0">
                <a:latin typeface="+mn-ea"/>
              </a:rPr>
              <a:t>当进程</a:t>
            </a:r>
            <a:r>
              <a:rPr lang="en-US" altLang="zh-CN" sz="2000" dirty="0" err="1">
                <a:latin typeface="+mn-ea"/>
              </a:rPr>
              <a:t>Pj</a:t>
            </a:r>
            <a:r>
              <a:rPr lang="zh-CN" altLang="en-US" sz="2000" dirty="0">
                <a:latin typeface="+mn-ea"/>
              </a:rPr>
              <a:t>收到</a:t>
            </a:r>
            <a:r>
              <a:rPr lang="en-US" altLang="zh-CN" sz="2000" dirty="0">
                <a:latin typeface="+mn-ea"/>
              </a:rPr>
              <a:t>Pi</a:t>
            </a:r>
            <a:r>
              <a:rPr lang="zh-CN" altLang="en-US" sz="2000" dirty="0">
                <a:latin typeface="+mn-ea"/>
              </a:rPr>
              <a:t>的释放消息</a:t>
            </a:r>
            <a:r>
              <a:rPr lang="en-US" altLang="zh-CN" sz="2000" dirty="0">
                <a:latin typeface="+mn-ea"/>
              </a:rPr>
              <a:t>release</a:t>
            </a:r>
            <a:r>
              <a:rPr lang="zh-CN" altLang="en-US" sz="2000" dirty="0">
                <a:latin typeface="+mn-ea"/>
              </a:rPr>
              <a:t>后，撤销自己队列中的原</a:t>
            </a:r>
            <a:r>
              <a:rPr lang="en-US" altLang="zh-CN" sz="2000" dirty="0">
                <a:latin typeface="+mn-ea"/>
              </a:rPr>
              <a:t>Pi</a:t>
            </a:r>
            <a:r>
              <a:rPr lang="zh-CN" altLang="en-US" sz="2000" dirty="0">
                <a:latin typeface="+mn-ea"/>
              </a:rPr>
              <a:t>的</a:t>
            </a:r>
            <a:r>
              <a:rPr lang="en-US" altLang="zh-CN" sz="2000" dirty="0">
                <a:latin typeface="+mn-ea"/>
              </a:rPr>
              <a:t>request(</a:t>
            </a:r>
            <a:r>
              <a:rPr lang="en-US" altLang="zh-CN" sz="2000" dirty="0" err="1">
                <a:latin typeface="+mn-ea"/>
              </a:rPr>
              <a:t>Ti,i</a:t>
            </a:r>
            <a:r>
              <a:rPr lang="en-US" altLang="zh-CN" sz="2000" dirty="0">
                <a:latin typeface="+mn-ea"/>
              </a:rPr>
              <a:t>)</a:t>
            </a:r>
            <a:r>
              <a:rPr lang="zh-CN" altLang="en-US" sz="2000" dirty="0">
                <a:latin typeface="+mn-ea"/>
              </a:rPr>
              <a:t>消息。</a:t>
            </a:r>
            <a:endParaRPr lang="zh-CN" altLang="en-US" sz="2000" dirty="0">
              <a:latin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令牌环算法</a:t>
            </a:r>
            <a:endParaRPr lang="zh-CN" altLang="en-US" sz="2800" b="1" dirty="0">
              <a:solidFill>
                <a:schemeClr val="bg1"/>
              </a:solidFill>
              <a:cs typeface="+mn-ea"/>
              <a:sym typeface="+mn-lt"/>
            </a:endParaRPr>
          </a:p>
        </p:txBody>
      </p:sp>
      <p:sp>
        <p:nvSpPr>
          <p:cNvPr id="4" name="内容占位符 2"/>
          <p:cNvSpPr txBox="1"/>
          <p:nvPr/>
        </p:nvSpPr>
        <p:spPr>
          <a:xfrm>
            <a:off x="1468191" y="1290336"/>
            <a:ext cx="10174181" cy="480137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spcBef>
                <a:spcPts val="600"/>
              </a:spcBef>
              <a:spcAft>
                <a:spcPts val="600"/>
              </a:spcAft>
              <a:buClr>
                <a:srgbClr val="E71101"/>
              </a:buClr>
              <a:buSzPct val="60000"/>
              <a:buNone/>
              <a:defRPr/>
            </a:pPr>
            <a:r>
              <a:rPr lang="zh-CN" altLang="en-US" sz="2400" dirty="0">
                <a:solidFill>
                  <a:srgbClr val="FF0000"/>
                </a:solidFill>
              </a:rPr>
              <a:t>令牌环算法</a:t>
            </a:r>
            <a:r>
              <a:rPr lang="zh-CN" altLang="en-US" sz="2400" dirty="0"/>
              <a:t>属于</a:t>
            </a:r>
            <a:r>
              <a:rPr lang="zh-CN" altLang="en-US" sz="2400" dirty="0">
                <a:solidFill>
                  <a:srgbClr val="FF0000"/>
                </a:solidFill>
              </a:rPr>
              <a:t>分布式同步算法</a:t>
            </a:r>
            <a:r>
              <a:rPr lang="zh-CN" altLang="en-US" sz="2400" dirty="0"/>
              <a:t>。</a:t>
            </a:r>
            <a:endParaRPr lang="zh-CN" altLang="en-US" sz="2400" dirty="0"/>
          </a:p>
          <a:p>
            <a:pPr marL="800100" lvl="2" indent="-342900">
              <a:lnSpc>
                <a:spcPct val="132000"/>
              </a:lnSpc>
              <a:spcBef>
                <a:spcPts val="600"/>
              </a:spcBef>
              <a:spcAft>
                <a:spcPts val="600"/>
              </a:spcAft>
              <a:buClr>
                <a:srgbClr val="E71101"/>
              </a:buClr>
              <a:buSzPct val="100000"/>
              <a:buFont typeface="Wingdings" panose="05000000000000000000" pitchFamily="2" charset="2"/>
              <a:buChar char="Ø"/>
              <a:defRPr/>
            </a:pPr>
            <a:r>
              <a:rPr lang="zh-CN" altLang="en-US" sz="2200" dirty="0"/>
              <a:t>首先会将所有进程组成一个逻辑环；</a:t>
            </a:r>
            <a:endParaRPr lang="zh-CN" altLang="en-US" sz="2200" dirty="0"/>
          </a:p>
          <a:p>
            <a:pPr marL="800100" lvl="2" indent="-342900">
              <a:lnSpc>
                <a:spcPct val="132000"/>
              </a:lnSpc>
              <a:spcBef>
                <a:spcPts val="600"/>
              </a:spcBef>
              <a:spcAft>
                <a:spcPts val="600"/>
              </a:spcAft>
              <a:buClr>
                <a:srgbClr val="E71101"/>
              </a:buClr>
              <a:buSzPct val="100000"/>
              <a:buFont typeface="Wingdings" panose="05000000000000000000" pitchFamily="2" charset="2"/>
              <a:buChar char="Ø"/>
              <a:defRPr/>
            </a:pPr>
            <a:r>
              <a:rPr lang="zh-CN" altLang="en-US" sz="2200" dirty="0"/>
              <a:t>然后会在系统中设置一个象征存取权力的令牌，该令牌是一种特定格式的报文，其在进程所组成的逻辑环中不断地循环传递；</a:t>
            </a:r>
            <a:endParaRPr lang="zh-CN" altLang="en-US" sz="2200" dirty="0"/>
          </a:p>
          <a:p>
            <a:pPr marL="800100" lvl="2" indent="-342900">
              <a:lnSpc>
                <a:spcPct val="132000"/>
              </a:lnSpc>
              <a:spcBef>
                <a:spcPts val="600"/>
              </a:spcBef>
              <a:spcAft>
                <a:spcPts val="600"/>
              </a:spcAft>
              <a:buClr>
                <a:srgbClr val="E71101"/>
              </a:buClr>
              <a:buSzPct val="100000"/>
              <a:buFont typeface="Wingdings" panose="05000000000000000000" pitchFamily="2" charset="2"/>
              <a:buChar char="Ø"/>
              <a:defRPr/>
            </a:pPr>
            <a:r>
              <a:rPr lang="zh-CN" altLang="en-US" sz="2200" dirty="0"/>
              <a:t>只有获得该令牌的进程才有权力进入临界区，访问共享资源。</a:t>
            </a:r>
            <a:endParaRPr lang="zh-CN" altLang="en-US" sz="2400" dirty="0"/>
          </a:p>
          <a:p>
            <a:pPr marL="0" lvl="1" indent="0">
              <a:lnSpc>
                <a:spcPct val="132000"/>
              </a:lnSpc>
              <a:spcBef>
                <a:spcPts val="600"/>
              </a:spcBef>
              <a:spcAft>
                <a:spcPts val="600"/>
              </a:spcAft>
              <a:buClr>
                <a:srgbClr val="E71101"/>
              </a:buClr>
              <a:buSzPct val="60000"/>
              <a:buNone/>
              <a:defRPr/>
            </a:pPr>
            <a:r>
              <a:rPr lang="zh-CN" altLang="en-US" sz="2400" dirty="0"/>
              <a:t>由于</a:t>
            </a:r>
            <a:r>
              <a:rPr lang="zh-CN" altLang="en-US" sz="2400" dirty="0">
                <a:solidFill>
                  <a:srgbClr val="0000FF"/>
                </a:solidFill>
              </a:rPr>
              <a:t>令牌只有一个</a:t>
            </a:r>
            <a:r>
              <a:rPr lang="zh-CN" altLang="en-US" sz="2400" dirty="0"/>
              <a:t>，任何时刻只能有一个进程持有令牌，因此可以实现对共享资源的互斥访问。</a:t>
            </a:r>
            <a:endParaRPr lang="zh-CN" altLang="en-US" sz="2400" dirty="0"/>
          </a:p>
          <a:p>
            <a:pPr marL="0" lvl="1" indent="0">
              <a:lnSpc>
                <a:spcPct val="132000"/>
              </a:lnSpc>
              <a:spcBef>
                <a:spcPts val="600"/>
              </a:spcBef>
              <a:spcAft>
                <a:spcPts val="600"/>
              </a:spcAft>
              <a:buClr>
                <a:srgbClr val="E71101"/>
              </a:buClr>
              <a:buSzPct val="60000"/>
              <a:buNone/>
              <a:defRPr/>
            </a:pPr>
            <a:r>
              <a:rPr lang="zh-CN" altLang="en-US" sz="2400" dirty="0"/>
              <a:t>不足之处在于，较难对一个令牌的丢失或破坏进行检测和判断。</a:t>
            </a:r>
            <a:endParaRPr lang="zh-CN" altLang="en-US" sz="2400" dirty="0"/>
          </a:p>
        </p:txBody>
      </p:sp>
      <p:sp>
        <p:nvSpPr>
          <p:cNvPr id="5" name="îSļiḓè"/>
          <p:cNvSpPr/>
          <p:nvPr/>
        </p:nvSpPr>
        <p:spPr>
          <a:xfrm>
            <a:off x="669925" y="1290336"/>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 name="íṥḻîḓe"/>
          <p:cNvSpPr/>
          <p:nvPr/>
        </p:nvSpPr>
        <p:spPr>
          <a:xfrm>
            <a:off x="669925" y="526800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7" name="îşļiḓè"/>
          <p:cNvSpPr/>
          <p:nvPr/>
        </p:nvSpPr>
        <p:spPr>
          <a:xfrm>
            <a:off x="669925" y="417882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8" name="îṡḷíďe"/>
          <p:cNvSpPr/>
          <p:nvPr/>
        </p:nvSpPr>
        <p:spPr>
          <a:xfrm>
            <a:off x="860180" y="1486474"/>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9" name="íSlíḋe"/>
          <p:cNvSpPr/>
          <p:nvPr/>
        </p:nvSpPr>
        <p:spPr>
          <a:xfrm>
            <a:off x="860179" y="4400838"/>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0" name="ïśḷïḓe"/>
          <p:cNvSpPr/>
          <p:nvPr/>
        </p:nvSpPr>
        <p:spPr>
          <a:xfrm>
            <a:off x="889118" y="5457467"/>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1970"/>
          </a:xfrm>
          <a:prstGeom prst="rect">
            <a:avLst/>
          </a:prstGeom>
        </p:spPr>
        <p:txBody>
          <a:bodyPr wrap="square">
            <a:spAutoFit/>
          </a:bodyPr>
          <a:lstStyle/>
          <a:p>
            <a:r>
              <a:rPr lang="zh-CN" altLang="en-US" sz="2800" b="1" dirty="0">
                <a:solidFill>
                  <a:schemeClr val="bg1"/>
                </a:solidFill>
                <a:cs typeface="+mn-ea"/>
                <a:sym typeface="+mn-lt"/>
              </a:rPr>
              <a:t>调度性能的评价因素</a:t>
            </a:r>
            <a:endParaRPr lang="zh-CN" altLang="en-US" sz="2800" b="1" dirty="0">
              <a:solidFill>
                <a:schemeClr val="bg1"/>
              </a:solidFill>
              <a:cs typeface="+mn-ea"/>
              <a:sym typeface="+mn-lt"/>
            </a:endParaRPr>
          </a:p>
        </p:txBody>
      </p:sp>
      <p:sp>
        <p:nvSpPr>
          <p:cNvPr id="4" name="内容占位符 2"/>
          <p:cNvSpPr txBox="1"/>
          <p:nvPr/>
        </p:nvSpPr>
        <p:spPr>
          <a:xfrm>
            <a:off x="1184857" y="1058515"/>
            <a:ext cx="10650827" cy="505894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2" indent="0">
              <a:lnSpc>
                <a:spcPct val="132000"/>
              </a:lnSpc>
              <a:spcBef>
                <a:spcPts val="600"/>
              </a:spcBef>
              <a:buClr>
                <a:srgbClr val="E71101"/>
              </a:buClr>
              <a:buSzPct val="100000"/>
              <a:buNone/>
              <a:defRPr/>
            </a:pPr>
            <a:r>
              <a:rPr lang="zh-CN" altLang="en-US" sz="2400" dirty="0">
                <a:solidFill>
                  <a:srgbClr val="0000FF"/>
                </a:solidFill>
              </a:rPr>
              <a:t>任务流时间：</a:t>
            </a:r>
            <a:r>
              <a:rPr lang="zh-CN" altLang="en-US" sz="2400" dirty="0"/>
              <a:t>完成任务所需要的时间。</a:t>
            </a:r>
            <a:endParaRPr lang="zh-CN" altLang="en-US" sz="2400" dirty="0"/>
          </a:p>
          <a:p>
            <a:pPr marL="457200" lvl="2" indent="0">
              <a:lnSpc>
                <a:spcPct val="132000"/>
              </a:lnSpc>
              <a:spcBef>
                <a:spcPts val="600"/>
              </a:spcBef>
              <a:buClr>
                <a:srgbClr val="E71101"/>
              </a:buClr>
              <a:buSzPct val="100000"/>
              <a:buNone/>
              <a:defRPr/>
            </a:pPr>
            <a:r>
              <a:rPr lang="zh-CN" altLang="en-US" sz="2400" dirty="0">
                <a:solidFill>
                  <a:srgbClr val="0000FF"/>
                </a:solidFill>
              </a:rPr>
              <a:t>调度流时间：</a:t>
            </a:r>
            <a:r>
              <a:rPr lang="zh-CN" altLang="en-US" sz="2400" dirty="0"/>
              <a:t>系统中所有处理机上的任务流时间的总和。</a:t>
            </a:r>
            <a:endParaRPr lang="zh-CN" altLang="en-US" sz="2400" dirty="0"/>
          </a:p>
          <a:p>
            <a:pPr marL="457200" lvl="2" indent="0">
              <a:lnSpc>
                <a:spcPct val="132000"/>
              </a:lnSpc>
              <a:spcBef>
                <a:spcPts val="600"/>
              </a:spcBef>
              <a:buClr>
                <a:srgbClr val="E71101"/>
              </a:buClr>
              <a:buSzPct val="100000"/>
              <a:buNone/>
              <a:defRPr/>
            </a:pPr>
            <a:r>
              <a:rPr lang="zh-CN" altLang="en-US" sz="2400" dirty="0">
                <a:solidFill>
                  <a:srgbClr val="0000FF"/>
                </a:solidFill>
              </a:rPr>
              <a:t>平均流时间：</a:t>
            </a:r>
            <a:r>
              <a:rPr lang="zh-CN" altLang="en-US" sz="2400" dirty="0"/>
              <a:t>平均流时间等于调度流时间除以任务数。</a:t>
            </a:r>
            <a:endParaRPr lang="zh-CN" altLang="en-US" sz="2400" dirty="0"/>
          </a:p>
          <a:p>
            <a:pPr marL="457200" lvl="2" indent="0">
              <a:lnSpc>
                <a:spcPct val="132000"/>
              </a:lnSpc>
              <a:spcBef>
                <a:spcPts val="600"/>
              </a:spcBef>
              <a:buClr>
                <a:srgbClr val="E71101"/>
              </a:buClr>
              <a:buSzPct val="100000"/>
              <a:buNone/>
              <a:defRPr/>
            </a:pPr>
            <a:r>
              <a:rPr lang="zh-CN" altLang="en-US" sz="2400" dirty="0">
                <a:solidFill>
                  <a:srgbClr val="0000FF"/>
                </a:solidFill>
              </a:rPr>
              <a:t>处理机利用率：</a:t>
            </a:r>
            <a:r>
              <a:rPr lang="zh-CN" altLang="en-US" sz="2400" dirty="0"/>
              <a:t>该处理机上任务流时间之和除以最大有效时间单位。</a:t>
            </a:r>
            <a:endParaRPr lang="zh-CN" altLang="en-US" sz="2400" dirty="0"/>
          </a:p>
          <a:p>
            <a:pPr marL="457200" lvl="2" indent="0">
              <a:lnSpc>
                <a:spcPct val="132000"/>
              </a:lnSpc>
              <a:spcBef>
                <a:spcPts val="600"/>
              </a:spcBef>
              <a:buClr>
                <a:srgbClr val="E71101"/>
              </a:buClr>
              <a:buSzPct val="100000"/>
              <a:buNone/>
              <a:defRPr/>
            </a:pPr>
            <a:r>
              <a:rPr lang="zh-CN" altLang="en-US" sz="2400" dirty="0">
                <a:solidFill>
                  <a:srgbClr val="0000FF"/>
                </a:solidFill>
              </a:rPr>
              <a:t>加速比：</a:t>
            </a:r>
            <a:r>
              <a:rPr lang="zh-CN" altLang="en-US" sz="2400" dirty="0"/>
              <a:t>各处理机的忙时间之和除以并行工作时间。</a:t>
            </a:r>
            <a:endParaRPr lang="zh-CN" altLang="en-US" sz="2400" dirty="0"/>
          </a:p>
          <a:p>
            <a:pPr marL="828040" lvl="3" indent="-342900">
              <a:lnSpc>
                <a:spcPct val="132000"/>
              </a:lnSpc>
              <a:spcBef>
                <a:spcPts val="600"/>
              </a:spcBef>
              <a:buClr>
                <a:srgbClr val="E71101"/>
              </a:buClr>
              <a:buSzPct val="100000"/>
              <a:buFont typeface="Wingdings" panose="05000000000000000000" pitchFamily="2" charset="2"/>
              <a:buChar char="Ø"/>
              <a:defRPr/>
            </a:pPr>
            <a:r>
              <a:rPr lang="zh-CN" altLang="en-US" sz="2200" dirty="0"/>
              <a:t>各处理机忙时间之和相当于单处理机工作时间；</a:t>
            </a:r>
            <a:endParaRPr lang="zh-CN" altLang="en-US" sz="2200" dirty="0"/>
          </a:p>
          <a:p>
            <a:pPr marL="828040" lvl="3" indent="-342900">
              <a:lnSpc>
                <a:spcPct val="132000"/>
              </a:lnSpc>
              <a:spcBef>
                <a:spcPts val="600"/>
              </a:spcBef>
              <a:buClr>
                <a:srgbClr val="E71101"/>
              </a:buClr>
              <a:buSzPct val="100000"/>
              <a:buFont typeface="Wingdings" panose="05000000000000000000" pitchFamily="2" charset="2"/>
              <a:buChar char="Ø"/>
              <a:defRPr/>
            </a:pPr>
            <a:r>
              <a:rPr lang="zh-CN" altLang="en-US" sz="2200" dirty="0"/>
              <a:t>并行工作时间则相当于从第一个任务开始到最后一个任务结束所用的时间；</a:t>
            </a:r>
            <a:endParaRPr lang="zh-CN" altLang="en-US" sz="2200" dirty="0"/>
          </a:p>
          <a:p>
            <a:pPr marL="828040" lvl="3" indent="-342900">
              <a:lnSpc>
                <a:spcPct val="132000"/>
              </a:lnSpc>
              <a:spcBef>
                <a:spcPts val="600"/>
              </a:spcBef>
              <a:buClr>
                <a:srgbClr val="E71101"/>
              </a:buClr>
              <a:buSzPct val="100000"/>
              <a:buFont typeface="Wingdings" panose="05000000000000000000" pitchFamily="2" charset="2"/>
              <a:buChar char="Ø"/>
              <a:defRPr/>
            </a:pPr>
            <a:r>
              <a:rPr lang="zh-CN" altLang="en-US" sz="2200" dirty="0"/>
              <a:t>加速比用于度量多处理机操作系统的加速程度。</a:t>
            </a:r>
            <a:endParaRPr lang="zh-CN" altLang="en-US" sz="2200" dirty="0"/>
          </a:p>
          <a:p>
            <a:pPr marL="457200" lvl="2" indent="0">
              <a:lnSpc>
                <a:spcPct val="132000"/>
              </a:lnSpc>
              <a:spcBef>
                <a:spcPts val="600"/>
              </a:spcBef>
              <a:buClr>
                <a:srgbClr val="E71101"/>
              </a:buClr>
              <a:buSzPct val="100000"/>
              <a:buNone/>
              <a:defRPr/>
            </a:pPr>
            <a:r>
              <a:rPr lang="zh-CN" altLang="en-US" sz="2400" dirty="0">
                <a:solidFill>
                  <a:srgbClr val="0000FF"/>
                </a:solidFill>
              </a:rPr>
              <a:t>吞吐量：</a:t>
            </a:r>
            <a:r>
              <a:rPr lang="zh-CN" altLang="en-US" sz="2400" dirty="0"/>
              <a:t>指单位时间内系统完成的任务数，可以用任务流的最小完成时间来度量系统的吞吐率。</a:t>
            </a:r>
            <a:endParaRPr lang="zh-CN" altLang="en-US" sz="2400" dirty="0"/>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21332" y="1084273"/>
            <a:ext cx="527050" cy="527050"/>
          </a:xfrm>
          <a:prstGeom prst="rect">
            <a:avLst/>
          </a:prstGeom>
          <a:ln>
            <a:noFill/>
          </a:ln>
          <a:effectLst>
            <a:softEdge rad="0"/>
          </a:effectLst>
        </p:spPr>
      </p:pic>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21332" y="1643655"/>
            <a:ext cx="527050" cy="527050"/>
          </a:xfrm>
          <a:prstGeom prst="rect">
            <a:avLst/>
          </a:prstGeom>
          <a:ln>
            <a:noFill/>
          </a:ln>
          <a:effectLst>
            <a:softEdge rad="0"/>
          </a:effectLst>
        </p:spPr>
      </p:pic>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21332" y="2183213"/>
            <a:ext cx="527050" cy="527050"/>
          </a:xfrm>
          <a:prstGeom prst="rect">
            <a:avLst/>
          </a:prstGeom>
          <a:ln>
            <a:noFill/>
          </a:ln>
          <a:effectLst>
            <a:softEdge rad="0"/>
          </a:effectLst>
        </p:spPr>
      </p:pic>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21332" y="2732558"/>
            <a:ext cx="527050" cy="527050"/>
          </a:xfrm>
          <a:prstGeom prst="rect">
            <a:avLst/>
          </a:prstGeom>
          <a:ln>
            <a:noFill/>
          </a:ln>
          <a:effectLst>
            <a:softEdge rad="0"/>
          </a:effectLst>
        </p:spPr>
      </p:pic>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21332" y="3322376"/>
            <a:ext cx="527050" cy="527050"/>
          </a:xfrm>
          <a:prstGeom prst="rect">
            <a:avLst/>
          </a:prstGeom>
          <a:ln>
            <a:noFill/>
          </a:ln>
          <a:effectLst>
            <a:softEdge rad="0"/>
          </a:effectLst>
        </p:spPr>
      </p:pic>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21332" y="5466085"/>
            <a:ext cx="527050" cy="527050"/>
          </a:xfrm>
          <a:prstGeom prst="rect">
            <a:avLst/>
          </a:prstGeom>
          <a:ln>
            <a:noFill/>
          </a:ln>
          <a:effectLst>
            <a:softEdge rad="0"/>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进程分配方式（</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ïşľîďè"/>
          <p:cNvSpPr/>
          <p:nvPr/>
        </p:nvSpPr>
        <p:spPr>
          <a:xfrm>
            <a:off x="0" y="1288669"/>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5" name="îŝļiḋe"/>
          <p:cNvSpPr/>
          <p:nvPr/>
        </p:nvSpPr>
        <p:spPr>
          <a:xfrm>
            <a:off x="4012707" y="127579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6" name="í$1iďè"/>
          <p:cNvGrpSpPr/>
          <p:nvPr/>
        </p:nvGrpSpPr>
        <p:grpSpPr>
          <a:xfrm>
            <a:off x="4136995" y="1368973"/>
            <a:ext cx="7608537" cy="542312"/>
            <a:chOff x="4136995" y="1623421"/>
            <a:chExt cx="7608537" cy="542312"/>
          </a:xfrm>
        </p:grpSpPr>
        <p:sp>
          <p:nvSpPr>
            <p:cNvPr id="7"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8" name="ïSḻiḍé"/>
            <p:cNvSpPr txBox="1"/>
            <p:nvPr/>
          </p:nvSpPr>
          <p:spPr>
            <a:xfrm>
              <a:off x="4882718" y="1623421"/>
              <a:ext cx="6862814" cy="542312"/>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en-US" altLang="zh-CN" sz="2200" dirty="0">
                  <a:latin typeface="+mj-ea"/>
                  <a:ea typeface="+mj-ea"/>
                </a:rPr>
                <a:t>SMP</a:t>
              </a:r>
              <a:r>
                <a:rPr lang="zh-CN" altLang="en-US" sz="2200" dirty="0">
                  <a:latin typeface="+mj-ea"/>
                  <a:ea typeface="+mj-ea"/>
                </a:rPr>
                <a:t>操作系统中的进程分配方式：静态</a:t>
              </a:r>
              <a:r>
                <a:rPr lang="en-US" altLang="zh-CN" sz="2200" dirty="0">
                  <a:latin typeface="+mj-ea"/>
                  <a:ea typeface="+mj-ea"/>
                </a:rPr>
                <a:t>/</a:t>
              </a:r>
              <a:r>
                <a:rPr lang="zh-CN" altLang="en-US" sz="2200" dirty="0">
                  <a:latin typeface="+mj-ea"/>
                  <a:ea typeface="+mj-ea"/>
                </a:rPr>
                <a:t>动态分配方式</a:t>
              </a:r>
              <a:endParaRPr lang="zh-CN" altLang="en-US" sz="2200" dirty="0">
                <a:latin typeface="+mj-ea"/>
                <a:ea typeface="+mj-ea"/>
              </a:endParaRPr>
            </a:p>
          </p:txBody>
        </p:sp>
      </p:grpSp>
      <p:grpSp>
        <p:nvGrpSpPr>
          <p:cNvPr id="9" name="išḷîḓé"/>
          <p:cNvGrpSpPr/>
          <p:nvPr/>
        </p:nvGrpSpPr>
        <p:grpSpPr>
          <a:xfrm>
            <a:off x="4146374" y="1900055"/>
            <a:ext cx="7372525" cy="1886332"/>
            <a:chOff x="4146374" y="1522360"/>
            <a:chExt cx="7372525" cy="1762388"/>
          </a:xfrm>
        </p:grpSpPr>
        <p:sp>
          <p:nvSpPr>
            <p:cNvPr id="10" name="íśľïḋé"/>
            <p:cNvSpPr/>
            <p:nvPr/>
          </p:nvSpPr>
          <p:spPr>
            <a:xfrm>
              <a:off x="4146374" y="1655052"/>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1" name="îŝľîḓè"/>
            <p:cNvSpPr txBox="1"/>
            <p:nvPr/>
          </p:nvSpPr>
          <p:spPr>
            <a:xfrm>
              <a:off x="4882718" y="1522360"/>
              <a:ext cx="6636181" cy="1762388"/>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200" dirty="0">
                  <a:solidFill>
                    <a:srgbClr val="0000FF"/>
                  </a:solidFill>
                </a:rPr>
                <a:t>静态分配方式</a:t>
              </a:r>
              <a:r>
                <a:rPr lang="zh-CN" altLang="en-US" sz="2200" dirty="0"/>
                <a:t>：指一个进程从开始执行直至其完成，都被固定地分配到一个处理机上去执行</a:t>
              </a:r>
              <a:endParaRPr lang="zh-CN" altLang="en-US" sz="2200" dirty="0"/>
            </a:p>
            <a:p>
              <a:pPr marL="342900" indent="-342900">
                <a:lnSpc>
                  <a:spcPct val="130000"/>
                </a:lnSpc>
                <a:buClr>
                  <a:srgbClr val="FF0000"/>
                </a:buClr>
                <a:buFont typeface="Wingdings" panose="05000000000000000000" pitchFamily="2" charset="2"/>
                <a:buChar char="Ø"/>
              </a:pPr>
              <a:r>
                <a:rPr lang="zh-CN" altLang="en-US" sz="2000" dirty="0"/>
                <a:t>优点：进程调度开销小</a:t>
              </a:r>
              <a:endParaRPr lang="zh-CN" altLang="en-US" sz="2000" dirty="0"/>
            </a:p>
            <a:p>
              <a:pPr marL="342900" indent="-342900">
                <a:lnSpc>
                  <a:spcPct val="130000"/>
                </a:lnSpc>
                <a:buClr>
                  <a:srgbClr val="FF0000"/>
                </a:buClr>
                <a:buFont typeface="Wingdings" panose="05000000000000000000" pitchFamily="2" charset="2"/>
                <a:buChar char="Ø"/>
              </a:pPr>
              <a:r>
                <a:rPr lang="zh-CN" altLang="en-US" sz="2000" dirty="0"/>
                <a:t>缺点：会使各处理机的忙闲不均</a:t>
              </a:r>
              <a:endParaRPr lang="zh-CN" altLang="en-US" sz="2000" dirty="0"/>
            </a:p>
          </p:txBody>
        </p:sp>
      </p:grpSp>
      <p:grpSp>
        <p:nvGrpSpPr>
          <p:cNvPr id="12" name="ïSlíḍê"/>
          <p:cNvGrpSpPr/>
          <p:nvPr/>
        </p:nvGrpSpPr>
        <p:grpSpPr>
          <a:xfrm>
            <a:off x="4136996" y="3961022"/>
            <a:ext cx="7381903" cy="2099626"/>
            <a:chOff x="4136995" y="3925731"/>
            <a:chExt cx="7381903" cy="2099626"/>
          </a:xfrm>
        </p:grpSpPr>
        <p:sp>
          <p:nvSpPr>
            <p:cNvPr id="13" name="ïsľíḓê"/>
            <p:cNvSpPr/>
            <p:nvPr/>
          </p:nvSpPr>
          <p:spPr>
            <a:xfrm>
              <a:off x="4136995" y="3925731"/>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4" name="íṧļîḋê"/>
            <p:cNvSpPr txBox="1"/>
            <p:nvPr/>
          </p:nvSpPr>
          <p:spPr>
            <a:xfrm>
              <a:off x="4882717" y="3970037"/>
              <a:ext cx="6636181" cy="2055320"/>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3000"/>
                </a:lnSpc>
              </a:pPr>
              <a:r>
                <a:rPr lang="zh-CN" altLang="en-US" sz="2200" dirty="0">
                  <a:solidFill>
                    <a:srgbClr val="FF0000"/>
                  </a:solidFill>
                </a:rPr>
                <a:t>动态分配方式</a:t>
              </a:r>
              <a:r>
                <a:rPr lang="zh-CN" altLang="en-US" sz="2200" dirty="0"/>
                <a:t>：在系统中仅设置一个公共的就绪队列，系统中的所有就绪进程都被放在该队列中。分配进程时，可将进程分配到任何一个处理机上</a:t>
              </a:r>
              <a:endParaRPr lang="zh-CN" altLang="en-US" sz="2200" dirty="0"/>
            </a:p>
            <a:p>
              <a:pPr marL="342900" indent="-342900">
                <a:lnSpc>
                  <a:spcPct val="130000"/>
                </a:lnSpc>
                <a:buClr>
                  <a:srgbClr val="FF0000"/>
                </a:buClr>
                <a:buFont typeface="Wingdings" panose="05000000000000000000" pitchFamily="2" charset="2"/>
                <a:buChar char="Ø"/>
              </a:pPr>
              <a:r>
                <a:rPr lang="zh-CN" altLang="en-US" sz="2000" dirty="0"/>
                <a:t>优点：消除了各处理机忙闲不均的现象</a:t>
              </a:r>
              <a:endParaRPr lang="zh-CN" altLang="en-US" sz="2000" dirty="0"/>
            </a:p>
            <a:p>
              <a:pPr marL="342900" indent="-342900">
                <a:lnSpc>
                  <a:spcPct val="130000"/>
                </a:lnSpc>
                <a:buClr>
                  <a:srgbClr val="FF0000"/>
                </a:buClr>
                <a:buFont typeface="Wingdings" panose="05000000000000000000" pitchFamily="2" charset="2"/>
                <a:buChar char="Ø"/>
              </a:pPr>
              <a:r>
                <a:rPr lang="zh-CN" altLang="en-US" sz="2000" dirty="0"/>
                <a:t>缺点：对于松散耦合的多处理机操作系统，调度开销的明显增加</a:t>
              </a:r>
              <a:endParaRPr lang="zh-CN" altLang="en-US" sz="2000" dirty="0"/>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进程分配方式（</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内容占位符 2"/>
          <p:cNvSpPr txBox="1"/>
          <p:nvPr/>
        </p:nvSpPr>
        <p:spPr>
          <a:xfrm>
            <a:off x="669925" y="1111220"/>
            <a:ext cx="10985678" cy="13744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600"/>
              </a:spcBef>
              <a:buNone/>
            </a:pPr>
            <a:r>
              <a:rPr lang="en-US" altLang="zh-CN" sz="2400" dirty="0">
                <a:cs typeface="+mn-ea"/>
                <a:sym typeface="+mn-lt"/>
              </a:rPr>
              <a:t>ASMP</a:t>
            </a:r>
            <a:r>
              <a:rPr lang="zh-CN" altLang="en-US" sz="2400" dirty="0">
                <a:cs typeface="+mn-ea"/>
                <a:sym typeface="+mn-lt"/>
              </a:rPr>
              <a:t>操作系统中的进程分配方式：主从式</a:t>
            </a:r>
            <a:endParaRPr lang="zh-CN" altLang="en-US" sz="2400" dirty="0">
              <a:cs typeface="+mn-ea"/>
              <a:sym typeface="+mn-lt"/>
            </a:endParaRPr>
          </a:p>
          <a:p>
            <a:pPr marL="0" indent="0">
              <a:lnSpc>
                <a:spcPct val="150000"/>
              </a:lnSpc>
              <a:spcBef>
                <a:spcPts val="600"/>
              </a:spcBef>
              <a:buNone/>
            </a:pPr>
            <a:r>
              <a:rPr lang="zh-CN" altLang="en-US" sz="2400" dirty="0">
                <a:solidFill>
                  <a:srgbClr val="FF0000"/>
                </a:solidFill>
                <a:cs typeface="+mn-ea"/>
                <a:sym typeface="+mn-lt"/>
              </a:rPr>
              <a:t>主从式的</a:t>
            </a:r>
            <a:r>
              <a:rPr lang="zh-CN" altLang="en-US" sz="2400" dirty="0">
                <a:cs typeface="+mn-ea"/>
                <a:sym typeface="+mn-lt"/>
              </a:rPr>
              <a:t>进程分配方式：进程调度仅由主机执行</a:t>
            </a:r>
            <a:endParaRPr lang="zh-CN" altLang="en-US" sz="2400" dirty="0">
              <a:cs typeface="+mn-ea"/>
              <a:sym typeface="+mn-lt"/>
            </a:endParaRPr>
          </a:p>
        </p:txBody>
      </p:sp>
      <p:sp>
        <p:nvSpPr>
          <p:cNvPr id="5" name="ïṩḷiďè"/>
          <p:cNvSpPr/>
          <p:nvPr/>
        </p:nvSpPr>
        <p:spPr>
          <a:xfrm>
            <a:off x="0" y="2794301"/>
            <a:ext cx="12192000" cy="1420426"/>
          </a:xfrm>
          <a:prstGeom prst="rect">
            <a:avLst/>
          </a:prstGeom>
          <a:blipFill>
            <a:blip r:embed="rId1"/>
            <a:srcRect/>
            <a:stretch>
              <a:fillRect t="-193116" b="-189697"/>
            </a:stretch>
          </a:blipFill>
          <a:ln w="12700" cap="flat" cmpd="sng" algn="ctr">
            <a:noFill/>
            <a:prstDash val="solid"/>
            <a:miter lim="800000"/>
          </a:ln>
          <a:effectLst>
            <a:outerShdw dist="38100" dir="5400000" algn="t" rotWithShape="0">
              <a:prstClr val="black">
                <a:alpha val="15000"/>
              </a:prstClr>
            </a:outerShdw>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6" name="işḷiḍè"/>
          <p:cNvGrpSpPr/>
          <p:nvPr/>
        </p:nvGrpSpPr>
        <p:grpSpPr>
          <a:xfrm>
            <a:off x="968238" y="2843128"/>
            <a:ext cx="2327498" cy="2963372"/>
            <a:chOff x="968238" y="2173427"/>
            <a:chExt cx="2327498" cy="2963372"/>
          </a:xfrm>
        </p:grpSpPr>
        <p:sp>
          <p:nvSpPr>
            <p:cNvPr id="7" name="iṣḻîďé"/>
            <p:cNvSpPr/>
            <p:nvPr/>
          </p:nvSpPr>
          <p:spPr>
            <a:xfrm>
              <a:off x="1448788" y="2173427"/>
              <a:ext cx="1322773" cy="1322773"/>
            </a:xfrm>
            <a:prstGeom prst="ellipse">
              <a:avLst/>
            </a:prstGeom>
            <a:solidFill>
              <a:schemeClr val="accent1">
                <a:alpha val="7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3200" dirty="0">
                  <a:solidFill>
                    <a:schemeClr val="bg1"/>
                  </a:solidFill>
                </a:rPr>
                <a:t>00</a:t>
              </a:r>
              <a:endParaRPr lang="zh-CN" altLang="en-US" sz="3200" dirty="0">
                <a:solidFill>
                  <a:schemeClr val="bg1"/>
                </a:solidFill>
              </a:endParaRPr>
            </a:p>
          </p:txBody>
        </p:sp>
        <p:sp>
          <p:nvSpPr>
            <p:cNvPr id="10" name="iṧľiḑé"/>
            <p:cNvSpPr/>
            <p:nvPr/>
          </p:nvSpPr>
          <p:spPr>
            <a:xfrm>
              <a:off x="968238" y="3593853"/>
              <a:ext cx="2327498" cy="1542946"/>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32000"/>
                </a:lnSpc>
                <a:spcBef>
                  <a:spcPct val="0"/>
                </a:spcBef>
              </a:pPr>
              <a:r>
                <a:rPr lang="zh-CN" altLang="en-US" sz="2400" dirty="0">
                  <a:solidFill>
                    <a:schemeClr val="tx1"/>
                  </a:solidFill>
                </a:rPr>
                <a:t>优点：系统处理比较简单</a:t>
              </a:r>
              <a:endParaRPr lang="zh-CN" altLang="en-US" sz="2400" dirty="0">
                <a:solidFill>
                  <a:schemeClr val="tx1"/>
                </a:solidFill>
              </a:endParaRPr>
            </a:p>
          </p:txBody>
        </p:sp>
      </p:grpSp>
      <p:grpSp>
        <p:nvGrpSpPr>
          <p:cNvPr id="11" name="ïsļïḋê"/>
          <p:cNvGrpSpPr/>
          <p:nvPr/>
        </p:nvGrpSpPr>
        <p:grpSpPr>
          <a:xfrm>
            <a:off x="4639877" y="2843128"/>
            <a:ext cx="2899546" cy="3055395"/>
            <a:chOff x="660401" y="2173427"/>
            <a:chExt cx="2899546" cy="3055395"/>
          </a:xfrm>
        </p:grpSpPr>
        <p:sp>
          <p:nvSpPr>
            <p:cNvPr id="12" name="íSḷiḑê"/>
            <p:cNvSpPr/>
            <p:nvPr/>
          </p:nvSpPr>
          <p:spPr>
            <a:xfrm>
              <a:off x="1448788" y="2173427"/>
              <a:ext cx="1322773" cy="1322773"/>
            </a:xfrm>
            <a:prstGeom prst="ellipse">
              <a:avLst/>
            </a:prstGeom>
            <a:solidFill>
              <a:schemeClr val="accent1">
                <a:alpha val="7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3200" dirty="0">
                  <a:solidFill>
                    <a:schemeClr val="bg1"/>
                  </a:solidFill>
                </a:rPr>
                <a:t>00</a:t>
              </a:r>
              <a:endParaRPr lang="zh-CN" altLang="en-US" sz="3200" dirty="0">
                <a:solidFill>
                  <a:schemeClr val="bg1"/>
                </a:solidFill>
              </a:endParaRPr>
            </a:p>
          </p:txBody>
        </p:sp>
        <p:sp>
          <p:nvSpPr>
            <p:cNvPr id="13" name="í$ḻïḍe"/>
            <p:cNvSpPr/>
            <p:nvPr/>
          </p:nvSpPr>
          <p:spPr>
            <a:xfrm>
              <a:off x="660401" y="3711634"/>
              <a:ext cx="2899546" cy="1517188"/>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32000"/>
                </a:lnSpc>
                <a:spcBef>
                  <a:spcPct val="0"/>
                </a:spcBef>
              </a:pPr>
              <a:r>
                <a:rPr lang="zh-CN" altLang="en-US" sz="2400" dirty="0">
                  <a:solidFill>
                    <a:schemeClr val="tx1"/>
                  </a:solidFill>
                </a:rPr>
                <a:t>缺点：主机一旦出现故障，将会导致整个系统瘫痪</a:t>
              </a:r>
              <a:endParaRPr lang="zh-CN" altLang="en-US" sz="2400" dirty="0">
                <a:solidFill>
                  <a:schemeClr val="tx1"/>
                </a:solidFill>
              </a:endParaRPr>
            </a:p>
          </p:txBody>
        </p:sp>
      </p:grpSp>
      <p:grpSp>
        <p:nvGrpSpPr>
          <p:cNvPr id="14" name="ísľïḍè"/>
          <p:cNvGrpSpPr/>
          <p:nvPr/>
        </p:nvGrpSpPr>
        <p:grpSpPr>
          <a:xfrm>
            <a:off x="8619354" y="2843128"/>
            <a:ext cx="2899546" cy="3197063"/>
            <a:chOff x="660401" y="2173427"/>
            <a:chExt cx="2899546" cy="3197063"/>
          </a:xfrm>
        </p:grpSpPr>
        <p:sp>
          <p:nvSpPr>
            <p:cNvPr id="15" name="îśḷíḍe"/>
            <p:cNvSpPr/>
            <p:nvPr/>
          </p:nvSpPr>
          <p:spPr>
            <a:xfrm>
              <a:off x="1448788" y="2173427"/>
              <a:ext cx="1322773" cy="1322773"/>
            </a:xfrm>
            <a:prstGeom prst="ellipse">
              <a:avLst/>
            </a:prstGeom>
            <a:solidFill>
              <a:schemeClr val="accent1">
                <a:alpha val="7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3200" dirty="0">
                  <a:solidFill>
                    <a:schemeClr val="bg1"/>
                  </a:solidFill>
                </a:rPr>
                <a:t>00</a:t>
              </a:r>
              <a:endParaRPr lang="zh-CN" altLang="en-US" sz="3200" dirty="0">
                <a:solidFill>
                  <a:schemeClr val="bg1"/>
                </a:solidFill>
              </a:endParaRPr>
            </a:p>
          </p:txBody>
        </p:sp>
        <p:sp>
          <p:nvSpPr>
            <p:cNvPr id="18" name="iṧḷiḓê"/>
            <p:cNvSpPr/>
            <p:nvPr/>
          </p:nvSpPr>
          <p:spPr>
            <a:xfrm>
              <a:off x="660401" y="3711634"/>
              <a:ext cx="2899546" cy="1658856"/>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52000"/>
                </a:lnSpc>
                <a:spcBef>
                  <a:spcPct val="0"/>
                </a:spcBef>
              </a:pPr>
              <a:r>
                <a:rPr lang="zh-CN" altLang="en-US" sz="2400" dirty="0">
                  <a:solidFill>
                    <a:schemeClr val="tx1"/>
                  </a:solidFill>
                </a:rPr>
                <a:t>克服缺点的方法：利用多台而非一台处理机来管理整个</a:t>
              </a:r>
              <a:endParaRPr lang="zh-CN" altLang="en-US" sz="2400" dirty="0">
                <a:solidFill>
                  <a:schemeClr val="tx1"/>
                </a:solidFill>
              </a:endParaRPr>
            </a:p>
          </p:txBody>
        </p:sp>
      </p:grpSp>
      <p:cxnSp>
        <p:nvCxnSpPr>
          <p:cNvPr id="19" name="直接连接符 18"/>
          <p:cNvCxnSpPr/>
          <p:nvPr/>
        </p:nvCxnSpPr>
        <p:spPr>
          <a:xfrm>
            <a:off x="4183062" y="4576229"/>
            <a:ext cx="0" cy="641123"/>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066509" y="4576229"/>
            <a:ext cx="0" cy="641123"/>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进程（线程）调度方式</a:t>
            </a:r>
            <a:endParaRPr lang="zh-CN" altLang="en-US" sz="2800" b="1" dirty="0">
              <a:solidFill>
                <a:schemeClr val="bg1"/>
              </a:solidFill>
              <a:cs typeface="+mn-ea"/>
              <a:sym typeface="+mn-lt"/>
            </a:endParaRPr>
          </a:p>
        </p:txBody>
      </p:sp>
      <p:sp>
        <p:nvSpPr>
          <p:cNvPr id="4" name="内容占位符 2"/>
          <p:cNvSpPr txBox="1"/>
          <p:nvPr/>
        </p:nvSpPr>
        <p:spPr>
          <a:xfrm>
            <a:off x="785835" y="1201373"/>
            <a:ext cx="10985678" cy="6016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600"/>
              </a:spcBef>
              <a:buNone/>
            </a:pPr>
            <a:r>
              <a:rPr lang="zh-CN" altLang="en-US" sz="2400" dirty="0">
                <a:solidFill>
                  <a:srgbClr val="FF0000"/>
                </a:solidFill>
                <a:cs typeface="+mn-ea"/>
                <a:sym typeface="+mn-lt"/>
              </a:rPr>
              <a:t>有代表性的</a:t>
            </a:r>
            <a:r>
              <a:rPr lang="zh-CN" altLang="en-US" sz="2400" dirty="0">
                <a:cs typeface="+mn-ea"/>
                <a:sym typeface="+mn-lt"/>
              </a:rPr>
              <a:t>进程（线程）调度方式</a:t>
            </a:r>
            <a:endParaRPr lang="zh-CN" altLang="en-US" sz="2400" dirty="0">
              <a:cs typeface="+mn-ea"/>
              <a:sym typeface="+mn-lt"/>
            </a:endParaRPr>
          </a:p>
        </p:txBody>
      </p:sp>
      <p:grpSp>
        <p:nvGrpSpPr>
          <p:cNvPr id="6" name="2176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515380" y="2402528"/>
            <a:ext cx="10857726" cy="3318684"/>
            <a:chOff x="673100" y="1929384"/>
            <a:chExt cx="10857726" cy="3318684"/>
          </a:xfrm>
        </p:grpSpPr>
        <p:sp>
          <p:nvSpPr>
            <p:cNvPr id="7" name="ïsḷîḋê"/>
            <p:cNvSpPr/>
            <p:nvPr/>
          </p:nvSpPr>
          <p:spPr>
            <a:xfrm>
              <a:off x="673100" y="1929384"/>
              <a:ext cx="10845800" cy="2125980"/>
            </a:xfrm>
            <a:prstGeom prst="rightArrow">
              <a:avLst>
                <a:gd name="adj1" fmla="val 50000"/>
                <a:gd name="adj2" fmla="val 4225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8" name="ïṩḻíḑe"/>
            <p:cNvSpPr/>
            <p:nvPr/>
          </p:nvSpPr>
          <p:spPr>
            <a:xfrm rot="2700000">
              <a:off x="1148317" y="2189617"/>
              <a:ext cx="1605516" cy="1605516"/>
            </a:xfrm>
            <a:custGeom>
              <a:avLst/>
              <a:gdLst>
                <a:gd name="connsiteX0" fmla="*/ 135628 w 1605516"/>
                <a:gd name="connsiteY0" fmla="*/ 135628 h 1605516"/>
                <a:gd name="connsiteX1" fmla="*/ 463063 w 1605516"/>
                <a:gd name="connsiteY1" fmla="*/ 0 h 1605516"/>
                <a:gd name="connsiteX2" fmla="*/ 1142453 w 1605516"/>
                <a:gd name="connsiteY2" fmla="*/ 0 h 1605516"/>
                <a:gd name="connsiteX3" fmla="*/ 1605516 w 1605516"/>
                <a:gd name="connsiteY3" fmla="*/ 463063 h 1605516"/>
                <a:gd name="connsiteX4" fmla="*/ 1605516 w 1605516"/>
                <a:gd name="connsiteY4" fmla="*/ 1142453 h 1605516"/>
                <a:gd name="connsiteX5" fmla="*/ 1142453 w 1605516"/>
                <a:gd name="connsiteY5" fmla="*/ 1605516 h 1605516"/>
                <a:gd name="connsiteX6" fmla="*/ 463063 w 1605516"/>
                <a:gd name="connsiteY6" fmla="*/ 1605516 h 1605516"/>
                <a:gd name="connsiteX7" fmla="*/ 282818 w 1605516"/>
                <a:gd name="connsiteY7" fmla="*/ 1569126 h 1605516"/>
                <a:gd name="connsiteX8" fmla="*/ 247355 w 1605516"/>
                <a:gd name="connsiteY8" fmla="*/ 1549878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637 w 1605516"/>
                <a:gd name="connsiteY14" fmla="*/ 1358159 h 1605516"/>
                <a:gd name="connsiteX15" fmla="*/ 36390 w 1605516"/>
                <a:gd name="connsiteY15" fmla="*/ 1322698 h 1605516"/>
                <a:gd name="connsiteX16" fmla="*/ 0 w 1605516"/>
                <a:gd name="connsiteY16" fmla="*/ 1142453 h 1605516"/>
                <a:gd name="connsiteX17" fmla="*/ 0 w 1605516"/>
                <a:gd name="connsiteY17" fmla="*/ 463063 h 1605516"/>
                <a:gd name="connsiteX18" fmla="*/ 135628 w 1605516"/>
                <a:gd name="connsiteY18" fmla="*/ 135628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628" y="135628"/>
                  </a:moveTo>
                  <a:cubicBezTo>
                    <a:pt x="219426" y="51830"/>
                    <a:pt x="335192" y="0"/>
                    <a:pt x="463063" y="0"/>
                  </a:cubicBezTo>
                  <a:lnTo>
                    <a:pt x="1142453" y="0"/>
                  </a:lnTo>
                  <a:cubicBezTo>
                    <a:pt x="1398196" y="0"/>
                    <a:pt x="1605516" y="207320"/>
                    <a:pt x="1605516" y="463063"/>
                  </a:cubicBezTo>
                  <a:lnTo>
                    <a:pt x="1605516" y="1142453"/>
                  </a:lnTo>
                  <a:cubicBezTo>
                    <a:pt x="1605516" y="1398196"/>
                    <a:pt x="1398196" y="1605516"/>
                    <a:pt x="1142453" y="1605516"/>
                  </a:cubicBezTo>
                  <a:lnTo>
                    <a:pt x="463063" y="1605516"/>
                  </a:lnTo>
                  <a:cubicBezTo>
                    <a:pt x="399127" y="1605516"/>
                    <a:pt x="338218" y="1592559"/>
                    <a:pt x="282818" y="1569126"/>
                  </a:cubicBezTo>
                  <a:lnTo>
                    <a:pt x="247355" y="1549878"/>
                  </a:lnTo>
                  <a:lnTo>
                    <a:pt x="706898" y="1090334"/>
                  </a:lnTo>
                  <a:lnTo>
                    <a:pt x="802757" y="1186193"/>
                  </a:lnTo>
                  <a:lnTo>
                    <a:pt x="802757" y="802757"/>
                  </a:lnTo>
                  <a:lnTo>
                    <a:pt x="419322" y="802757"/>
                  </a:lnTo>
                  <a:lnTo>
                    <a:pt x="515181" y="898616"/>
                  </a:lnTo>
                  <a:lnTo>
                    <a:pt x="55637" y="1358159"/>
                  </a:lnTo>
                  <a:lnTo>
                    <a:pt x="36390" y="1322698"/>
                  </a:lnTo>
                  <a:cubicBezTo>
                    <a:pt x="12957" y="1267298"/>
                    <a:pt x="0" y="1206389"/>
                    <a:pt x="0" y="1142453"/>
                  </a:cubicBezTo>
                  <a:lnTo>
                    <a:pt x="0" y="463063"/>
                  </a:lnTo>
                  <a:cubicBezTo>
                    <a:pt x="0" y="335192"/>
                    <a:pt x="51830" y="219426"/>
                    <a:pt x="135628" y="13562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9" name="is1íḑe"/>
            <p:cNvSpPr/>
            <p:nvPr/>
          </p:nvSpPr>
          <p:spPr>
            <a:xfrm rot="2700000">
              <a:off x="3911600" y="2189617"/>
              <a:ext cx="1605516" cy="1605516"/>
            </a:xfrm>
            <a:custGeom>
              <a:avLst/>
              <a:gdLst>
                <a:gd name="connsiteX0" fmla="*/ 135459 w 1605516"/>
                <a:gd name="connsiteY0" fmla="*/ 135459 h 1605516"/>
                <a:gd name="connsiteX1" fmla="*/ 462485 w 1605516"/>
                <a:gd name="connsiteY1" fmla="*/ 0 h 1605516"/>
                <a:gd name="connsiteX2" fmla="*/ 1143031 w 1605516"/>
                <a:gd name="connsiteY2" fmla="*/ 0 h 1605516"/>
                <a:gd name="connsiteX3" fmla="*/ 1605516 w 1605516"/>
                <a:gd name="connsiteY3" fmla="*/ 462485 h 1605516"/>
                <a:gd name="connsiteX4" fmla="*/ 1605516 w 1605516"/>
                <a:gd name="connsiteY4" fmla="*/ 1143031 h 1605516"/>
                <a:gd name="connsiteX5" fmla="*/ 1143031 w 1605516"/>
                <a:gd name="connsiteY5" fmla="*/ 1605516 h 1605516"/>
                <a:gd name="connsiteX6" fmla="*/ 462485 w 1605516"/>
                <a:gd name="connsiteY6" fmla="*/ 1605516 h 1605516"/>
                <a:gd name="connsiteX7" fmla="*/ 282465 w 1605516"/>
                <a:gd name="connsiteY7" fmla="*/ 1569172 h 1605516"/>
                <a:gd name="connsiteX8" fmla="*/ 247202 w 1605516"/>
                <a:gd name="connsiteY8" fmla="*/ 1550031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84 w 1605516"/>
                <a:gd name="connsiteY14" fmla="*/ 1358313 h 1605516"/>
                <a:gd name="connsiteX15" fmla="*/ 36345 w 1605516"/>
                <a:gd name="connsiteY15" fmla="*/ 1323051 h 1605516"/>
                <a:gd name="connsiteX16" fmla="*/ 0 w 1605516"/>
                <a:gd name="connsiteY16" fmla="*/ 1143031 h 1605516"/>
                <a:gd name="connsiteX17" fmla="*/ 0 w 1605516"/>
                <a:gd name="connsiteY17" fmla="*/ 462485 h 1605516"/>
                <a:gd name="connsiteX18" fmla="*/ 135459 w 1605516"/>
                <a:gd name="connsiteY18" fmla="*/ 135459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59" y="135459"/>
                  </a:moveTo>
                  <a:cubicBezTo>
                    <a:pt x="219152" y="51765"/>
                    <a:pt x="334773" y="0"/>
                    <a:pt x="462485" y="0"/>
                  </a:cubicBezTo>
                  <a:lnTo>
                    <a:pt x="1143031" y="0"/>
                  </a:lnTo>
                  <a:cubicBezTo>
                    <a:pt x="1398454" y="0"/>
                    <a:pt x="1605516" y="207062"/>
                    <a:pt x="1605516" y="462485"/>
                  </a:cubicBezTo>
                  <a:lnTo>
                    <a:pt x="1605516" y="1143031"/>
                  </a:lnTo>
                  <a:cubicBezTo>
                    <a:pt x="1605516" y="1398454"/>
                    <a:pt x="1398454" y="1605516"/>
                    <a:pt x="1143031" y="1605516"/>
                  </a:cubicBezTo>
                  <a:lnTo>
                    <a:pt x="462485" y="1605516"/>
                  </a:lnTo>
                  <a:cubicBezTo>
                    <a:pt x="398629" y="1605516"/>
                    <a:pt x="337796" y="1592575"/>
                    <a:pt x="282465" y="1569172"/>
                  </a:cubicBezTo>
                  <a:lnTo>
                    <a:pt x="247202" y="1550031"/>
                  </a:lnTo>
                  <a:lnTo>
                    <a:pt x="706898" y="1090334"/>
                  </a:lnTo>
                  <a:lnTo>
                    <a:pt x="802757" y="1186193"/>
                  </a:lnTo>
                  <a:lnTo>
                    <a:pt x="802757" y="802757"/>
                  </a:lnTo>
                  <a:lnTo>
                    <a:pt x="419322" y="802757"/>
                  </a:lnTo>
                  <a:lnTo>
                    <a:pt x="515181" y="898616"/>
                  </a:lnTo>
                  <a:lnTo>
                    <a:pt x="55484" y="1358313"/>
                  </a:lnTo>
                  <a:lnTo>
                    <a:pt x="36345" y="1323051"/>
                  </a:lnTo>
                  <a:cubicBezTo>
                    <a:pt x="12941" y="1267720"/>
                    <a:pt x="0" y="1206887"/>
                    <a:pt x="0" y="1143031"/>
                  </a:cubicBezTo>
                  <a:lnTo>
                    <a:pt x="0" y="462485"/>
                  </a:lnTo>
                  <a:cubicBezTo>
                    <a:pt x="0" y="334773"/>
                    <a:pt x="51765" y="219152"/>
                    <a:pt x="135459" y="13545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10" name="íṡ1ïḋé"/>
            <p:cNvSpPr/>
            <p:nvPr/>
          </p:nvSpPr>
          <p:spPr>
            <a:xfrm rot="2700000">
              <a:off x="6674883"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7 w 1605516"/>
                <a:gd name="connsiteY7" fmla="*/ 1569179 h 1605516"/>
                <a:gd name="connsiteX8" fmla="*/ 247177 w 1605516"/>
                <a:gd name="connsiteY8" fmla="*/ 1550057 h 1605516"/>
                <a:gd name="connsiteX9" fmla="*/ 706899 w 1605516"/>
                <a:gd name="connsiteY9" fmla="*/ 1090335 h 1605516"/>
                <a:gd name="connsiteX10" fmla="*/ 802758 w 1605516"/>
                <a:gd name="connsiteY10" fmla="*/ 1186194 h 1605516"/>
                <a:gd name="connsiteX11" fmla="*/ 802758 w 1605516"/>
                <a:gd name="connsiteY11" fmla="*/ 802758 h 1605516"/>
                <a:gd name="connsiteX12" fmla="*/ 419322 w 1605516"/>
                <a:gd name="connsiteY12" fmla="*/ 802758 h 1605516"/>
                <a:gd name="connsiteX13" fmla="*/ 515181 w 1605516"/>
                <a:gd name="connsiteY13" fmla="*/ 898617 h 1605516"/>
                <a:gd name="connsiteX14" fmla="*/ 55459 w 1605516"/>
                <a:gd name="connsiteY14" fmla="*/ 1358339 h 1605516"/>
                <a:gd name="connsiteX15" fmla="*/ 36337 w 1605516"/>
                <a:gd name="connsiteY15" fmla="*/ 1323109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6" y="1605516"/>
                    <a:pt x="337726" y="1592577"/>
                    <a:pt x="282407" y="1569179"/>
                  </a:cubicBezTo>
                  <a:lnTo>
                    <a:pt x="247177" y="1550057"/>
                  </a:lnTo>
                  <a:lnTo>
                    <a:pt x="706899" y="1090335"/>
                  </a:lnTo>
                  <a:lnTo>
                    <a:pt x="802758" y="1186194"/>
                  </a:lnTo>
                  <a:lnTo>
                    <a:pt x="802758" y="802758"/>
                  </a:lnTo>
                  <a:lnTo>
                    <a:pt x="419322" y="802758"/>
                  </a:lnTo>
                  <a:lnTo>
                    <a:pt x="515181" y="898617"/>
                  </a:lnTo>
                  <a:lnTo>
                    <a:pt x="55459" y="1358339"/>
                  </a:lnTo>
                  <a:lnTo>
                    <a:pt x="36337" y="1323109"/>
                  </a:lnTo>
                  <a:cubicBezTo>
                    <a:pt x="12939" y="1267790"/>
                    <a:pt x="0" y="1206970"/>
                    <a:pt x="0" y="1143127"/>
                  </a:cubicBezTo>
                  <a:lnTo>
                    <a:pt x="0" y="462389"/>
                  </a:lnTo>
                  <a:cubicBezTo>
                    <a:pt x="0" y="334704"/>
                    <a:pt x="51755" y="219107"/>
                    <a:pt x="135431" y="135431"/>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1" name="îṡlíḓè"/>
            <p:cNvSpPr/>
            <p:nvPr/>
          </p:nvSpPr>
          <p:spPr>
            <a:xfrm rot="2700000">
              <a:off x="9438167" y="2189617"/>
              <a:ext cx="1605516" cy="1605516"/>
            </a:xfrm>
            <a:custGeom>
              <a:avLst/>
              <a:gdLst>
                <a:gd name="connsiteX0" fmla="*/ 135431 w 1605516"/>
                <a:gd name="connsiteY0" fmla="*/ 135431 h 1605516"/>
                <a:gd name="connsiteX1" fmla="*/ 462389 w 1605516"/>
                <a:gd name="connsiteY1" fmla="*/ 0 h 1605516"/>
                <a:gd name="connsiteX2" fmla="*/ 1143127 w 1605516"/>
                <a:gd name="connsiteY2" fmla="*/ 0 h 1605516"/>
                <a:gd name="connsiteX3" fmla="*/ 1605516 w 1605516"/>
                <a:gd name="connsiteY3" fmla="*/ 462389 h 1605516"/>
                <a:gd name="connsiteX4" fmla="*/ 1605516 w 1605516"/>
                <a:gd name="connsiteY4" fmla="*/ 1143127 h 1605516"/>
                <a:gd name="connsiteX5" fmla="*/ 1143127 w 1605516"/>
                <a:gd name="connsiteY5" fmla="*/ 1605516 h 1605516"/>
                <a:gd name="connsiteX6" fmla="*/ 462389 w 1605516"/>
                <a:gd name="connsiteY6" fmla="*/ 1605516 h 1605516"/>
                <a:gd name="connsiteX7" fmla="*/ 282406 w 1605516"/>
                <a:gd name="connsiteY7" fmla="*/ 1569179 h 1605516"/>
                <a:gd name="connsiteX8" fmla="*/ 247176 w 1605516"/>
                <a:gd name="connsiteY8" fmla="*/ 1550057 h 1605516"/>
                <a:gd name="connsiteX9" fmla="*/ 706898 w 1605516"/>
                <a:gd name="connsiteY9" fmla="*/ 1090334 h 1605516"/>
                <a:gd name="connsiteX10" fmla="*/ 802757 w 1605516"/>
                <a:gd name="connsiteY10" fmla="*/ 1186193 h 1605516"/>
                <a:gd name="connsiteX11" fmla="*/ 802757 w 1605516"/>
                <a:gd name="connsiteY11" fmla="*/ 802757 h 1605516"/>
                <a:gd name="connsiteX12" fmla="*/ 419322 w 1605516"/>
                <a:gd name="connsiteY12" fmla="*/ 802757 h 1605516"/>
                <a:gd name="connsiteX13" fmla="*/ 515181 w 1605516"/>
                <a:gd name="connsiteY13" fmla="*/ 898616 h 1605516"/>
                <a:gd name="connsiteX14" fmla="*/ 55459 w 1605516"/>
                <a:gd name="connsiteY14" fmla="*/ 1358338 h 1605516"/>
                <a:gd name="connsiteX15" fmla="*/ 36337 w 1605516"/>
                <a:gd name="connsiteY15" fmla="*/ 1323110 h 1605516"/>
                <a:gd name="connsiteX16" fmla="*/ 0 w 1605516"/>
                <a:gd name="connsiteY16" fmla="*/ 1143127 h 1605516"/>
                <a:gd name="connsiteX17" fmla="*/ 0 w 1605516"/>
                <a:gd name="connsiteY17" fmla="*/ 462389 h 1605516"/>
                <a:gd name="connsiteX18" fmla="*/ 135431 w 1605516"/>
                <a:gd name="connsiteY18" fmla="*/ 135431 h 160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5516" h="1605516">
                  <a:moveTo>
                    <a:pt x="135431" y="135431"/>
                  </a:moveTo>
                  <a:cubicBezTo>
                    <a:pt x="219107" y="51755"/>
                    <a:pt x="334704" y="0"/>
                    <a:pt x="462389" y="0"/>
                  </a:cubicBezTo>
                  <a:lnTo>
                    <a:pt x="1143127" y="0"/>
                  </a:lnTo>
                  <a:cubicBezTo>
                    <a:pt x="1398497" y="0"/>
                    <a:pt x="1605516" y="207019"/>
                    <a:pt x="1605516" y="462389"/>
                  </a:cubicBezTo>
                  <a:lnTo>
                    <a:pt x="1605516" y="1143127"/>
                  </a:lnTo>
                  <a:cubicBezTo>
                    <a:pt x="1605516" y="1398497"/>
                    <a:pt x="1398497" y="1605516"/>
                    <a:pt x="1143127" y="1605516"/>
                  </a:cubicBezTo>
                  <a:lnTo>
                    <a:pt x="462389" y="1605516"/>
                  </a:lnTo>
                  <a:cubicBezTo>
                    <a:pt x="398547" y="1605516"/>
                    <a:pt x="337726" y="1592577"/>
                    <a:pt x="282406" y="1569179"/>
                  </a:cubicBezTo>
                  <a:lnTo>
                    <a:pt x="247176" y="1550057"/>
                  </a:lnTo>
                  <a:lnTo>
                    <a:pt x="706898" y="1090334"/>
                  </a:lnTo>
                  <a:lnTo>
                    <a:pt x="802757" y="1186193"/>
                  </a:lnTo>
                  <a:lnTo>
                    <a:pt x="802757" y="802757"/>
                  </a:lnTo>
                  <a:lnTo>
                    <a:pt x="419322" y="802757"/>
                  </a:lnTo>
                  <a:lnTo>
                    <a:pt x="515181" y="898616"/>
                  </a:lnTo>
                  <a:lnTo>
                    <a:pt x="55459" y="1358338"/>
                  </a:lnTo>
                  <a:lnTo>
                    <a:pt x="36337" y="1323110"/>
                  </a:lnTo>
                  <a:cubicBezTo>
                    <a:pt x="12939" y="1267790"/>
                    <a:pt x="0" y="1206969"/>
                    <a:pt x="0" y="1143127"/>
                  </a:cubicBezTo>
                  <a:lnTo>
                    <a:pt x="0" y="462389"/>
                  </a:lnTo>
                  <a:cubicBezTo>
                    <a:pt x="0" y="334704"/>
                    <a:pt x="51755" y="219107"/>
                    <a:pt x="135431" y="13543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dirty="0"/>
            </a:p>
          </p:txBody>
        </p:sp>
        <p:sp>
          <p:nvSpPr>
            <p:cNvPr id="13" name="isľîdê"/>
            <p:cNvSpPr txBox="1"/>
            <p:nvPr/>
          </p:nvSpPr>
          <p:spPr>
            <a:xfrm>
              <a:off x="798421" y="4213756"/>
              <a:ext cx="2287926" cy="530142"/>
            </a:xfrm>
            <a:prstGeom prst="rect">
              <a:avLst/>
            </a:prstGeom>
            <a:noFill/>
            <a:ln>
              <a:noFill/>
            </a:ln>
          </p:spPr>
          <p:txBody>
            <a:bodyPr wrap="square" lIns="91440" tIns="45720" rIns="91440" bIns="45720" anchor="t" anchorCtr="0">
              <a:noAutofit/>
            </a:bodyPr>
            <a:lstStyle/>
            <a:p>
              <a:pPr algn="ctr">
                <a:lnSpc>
                  <a:spcPct val="120000"/>
                </a:lnSpc>
                <a:buClr>
                  <a:srgbClr val="FF0000"/>
                </a:buClr>
              </a:pPr>
              <a:r>
                <a:rPr lang="zh-CN" altLang="en-US" sz="2400" dirty="0"/>
                <a:t>自调度方式</a:t>
              </a:r>
              <a:endParaRPr lang="zh-CN" altLang="en-US" sz="2400" dirty="0"/>
            </a:p>
          </p:txBody>
        </p:sp>
        <p:sp>
          <p:nvSpPr>
            <p:cNvPr id="17" name="îṣḻidé"/>
            <p:cNvSpPr txBox="1"/>
            <p:nvPr/>
          </p:nvSpPr>
          <p:spPr>
            <a:xfrm>
              <a:off x="19606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8" name="ïŝ1ïḋè"/>
            <p:cNvSpPr txBox="1"/>
            <p:nvPr/>
          </p:nvSpPr>
          <p:spPr>
            <a:xfrm>
              <a:off x="4741597"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19" name="í$lîdé"/>
            <p:cNvSpPr txBox="1"/>
            <p:nvPr/>
          </p:nvSpPr>
          <p:spPr>
            <a:xfrm>
              <a:off x="7522530"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1" name="išḻïďè"/>
            <p:cNvSpPr txBox="1"/>
            <p:nvPr/>
          </p:nvSpPr>
          <p:spPr>
            <a:xfrm>
              <a:off x="10303464" y="2605404"/>
              <a:ext cx="708108" cy="678249"/>
            </a:xfrm>
            <a:prstGeom prst="rect">
              <a:avLst/>
            </a:prstGeom>
            <a:noFill/>
          </p:spPr>
          <p:txBody>
            <a:bodyPr wrap="square" lIns="91440" tIns="45720" rIns="91440" bIns="45720" rtlCol="0" anchor="ctr">
              <a:normAutofit/>
            </a:bodyPr>
            <a:lstStyle/>
            <a:p>
              <a:pPr algn="ctr"/>
              <a:r>
                <a:rPr lang="en-US" altLang="zh-CN" sz="3200" b="1" i="1" dirty="0">
                  <a:solidFill>
                    <a:schemeClr val="bg1"/>
                  </a:solidFill>
                </a:rPr>
                <a:t>00</a:t>
              </a:r>
              <a:endParaRPr lang="zh-CN" altLang="en-US" sz="3200" b="1" i="1" dirty="0">
                <a:solidFill>
                  <a:schemeClr val="bg1"/>
                </a:solidFill>
              </a:endParaRPr>
            </a:p>
          </p:txBody>
        </p:sp>
        <p:sp>
          <p:nvSpPr>
            <p:cNvPr id="22" name="isľîdê"/>
            <p:cNvSpPr txBox="1"/>
            <p:nvPr/>
          </p:nvSpPr>
          <p:spPr>
            <a:xfrm>
              <a:off x="3523512" y="4222462"/>
              <a:ext cx="2326118" cy="582081"/>
            </a:xfrm>
            <a:prstGeom prst="rect">
              <a:avLst/>
            </a:prstGeom>
            <a:noFill/>
            <a:ln>
              <a:noFill/>
            </a:ln>
          </p:spPr>
          <p:txBody>
            <a:bodyPr wrap="square" lIns="91440" tIns="45720" rIns="91440" bIns="45720" anchor="t" anchorCtr="0">
              <a:noAutofit/>
            </a:bodyPr>
            <a:lstStyle/>
            <a:p>
              <a:pPr algn="ctr">
                <a:lnSpc>
                  <a:spcPct val="120000"/>
                </a:lnSpc>
                <a:buClr>
                  <a:srgbClr val="FF0000"/>
                </a:buClr>
              </a:pPr>
              <a:r>
                <a:rPr lang="zh-CN" altLang="en-US" sz="2400" dirty="0"/>
                <a:t>成组调度方式</a:t>
              </a:r>
              <a:endParaRPr lang="zh-CN" altLang="en-US" sz="2400" dirty="0"/>
            </a:p>
          </p:txBody>
        </p:sp>
        <p:sp>
          <p:nvSpPr>
            <p:cNvPr id="23" name="isľîdê"/>
            <p:cNvSpPr txBox="1"/>
            <p:nvPr/>
          </p:nvSpPr>
          <p:spPr>
            <a:xfrm>
              <a:off x="6317893" y="4239728"/>
              <a:ext cx="2363665" cy="1008340"/>
            </a:xfrm>
            <a:prstGeom prst="rect">
              <a:avLst/>
            </a:prstGeom>
            <a:noFill/>
            <a:ln>
              <a:noFill/>
            </a:ln>
          </p:spPr>
          <p:txBody>
            <a:bodyPr wrap="square" lIns="91440" tIns="45720" rIns="91440" bIns="45720" anchor="t" anchorCtr="0">
              <a:noAutofit/>
            </a:bodyPr>
            <a:lstStyle/>
            <a:p>
              <a:pPr algn="ctr">
                <a:lnSpc>
                  <a:spcPct val="120000"/>
                </a:lnSpc>
                <a:buClr>
                  <a:srgbClr val="0000FF"/>
                </a:buClr>
              </a:pPr>
              <a:r>
                <a:rPr lang="zh-CN" altLang="en-US" sz="2400" dirty="0"/>
                <a:t>专用处理机分配调度方式</a:t>
              </a:r>
              <a:endParaRPr lang="zh-CN" altLang="en-US" sz="2400" dirty="0"/>
            </a:p>
          </p:txBody>
        </p:sp>
        <p:sp>
          <p:nvSpPr>
            <p:cNvPr id="24" name="isľîdê"/>
            <p:cNvSpPr txBox="1"/>
            <p:nvPr/>
          </p:nvSpPr>
          <p:spPr>
            <a:xfrm>
              <a:off x="9161747" y="4274323"/>
              <a:ext cx="2369079" cy="582081"/>
            </a:xfrm>
            <a:prstGeom prst="rect">
              <a:avLst/>
            </a:prstGeom>
            <a:noFill/>
            <a:ln>
              <a:noFill/>
            </a:ln>
          </p:spPr>
          <p:txBody>
            <a:bodyPr wrap="square" lIns="91440" tIns="45720" rIns="91440" bIns="45720" anchor="t" anchorCtr="0">
              <a:noAutofit/>
            </a:bodyPr>
            <a:lstStyle/>
            <a:p>
              <a:pPr algn="ctr">
                <a:lnSpc>
                  <a:spcPct val="120000"/>
                </a:lnSpc>
                <a:buClr>
                  <a:srgbClr val="0000FF"/>
                </a:buClr>
              </a:pPr>
              <a:r>
                <a:rPr lang="zh-CN" altLang="en-US" sz="2400" dirty="0"/>
                <a:t>动态调度方式</a:t>
              </a:r>
              <a:endParaRPr lang="zh-CN" altLang="en-US" sz="2400" dirty="0"/>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自调度方式</a:t>
            </a:r>
            <a:endParaRPr lang="zh-CN" altLang="en-US" sz="2800" b="1" dirty="0">
              <a:solidFill>
                <a:schemeClr val="bg1"/>
              </a:solidFill>
              <a:cs typeface="+mn-ea"/>
              <a:sym typeface="+mn-lt"/>
            </a:endParaRPr>
          </a:p>
        </p:txBody>
      </p:sp>
      <p:sp>
        <p:nvSpPr>
          <p:cNvPr id="4" name="íšḻîḋè"/>
          <p:cNvSpPr/>
          <p:nvPr/>
        </p:nvSpPr>
        <p:spPr>
          <a:xfrm>
            <a:off x="1746844" y="4054038"/>
            <a:ext cx="9785925" cy="173527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t>系统中的公共就绪队列可按照单处理机操作系统中所采用的各种方式加以组织，调度算法也可沿用单处理机操作系统中所用的算法</a:t>
            </a:r>
            <a:endParaRPr lang="zh-CN" altLang="en-US" sz="2200" dirty="0"/>
          </a:p>
          <a:p>
            <a:pPr marL="342900" indent="-342900">
              <a:lnSpc>
                <a:spcPct val="120000"/>
              </a:lnSpc>
              <a:buClr>
                <a:srgbClr val="FF0000"/>
              </a:buClr>
              <a:buFont typeface="Wingdings" panose="05000000000000000000" pitchFamily="2" charset="2"/>
              <a:buChar char="Ø"/>
            </a:pPr>
            <a:r>
              <a:rPr lang="zh-CN" altLang="en-US" sz="2200" dirty="0"/>
              <a:t>只要系统中有任务，就不会出现处理机空闲的情况，也不会发生处理机忙闲不均的现象，</a:t>
            </a:r>
            <a:endParaRPr lang="zh-CN" altLang="en-US" sz="2200" dirty="0"/>
          </a:p>
        </p:txBody>
      </p:sp>
      <p:sp>
        <p:nvSpPr>
          <p:cNvPr id="5" name="i$lîďê"/>
          <p:cNvSpPr/>
          <p:nvPr/>
        </p:nvSpPr>
        <p:spPr>
          <a:xfrm>
            <a:off x="1802479" y="3602912"/>
            <a:ext cx="3696051" cy="392877"/>
          </a:xfrm>
          <a:prstGeom prst="rect">
            <a:avLst/>
          </a:prstGeom>
          <a:noFill/>
          <a:ln>
            <a:noFill/>
          </a:ln>
        </p:spPr>
        <p:txBody>
          <a:bodyPr wrap="square" lIns="91440" tIns="45720" rIns="91440" bIns="45720" anchor="ctr" anchorCtr="0">
            <a:noAutofit/>
          </a:bodyPr>
          <a:lstStyle/>
          <a:p>
            <a:r>
              <a:rPr lang="zh-CN" altLang="en-US" sz="2400" dirty="0"/>
              <a:t>自调度方式的</a:t>
            </a:r>
            <a:r>
              <a:rPr lang="zh-CN" altLang="en-US" sz="2400" dirty="0">
                <a:solidFill>
                  <a:srgbClr val="0000FF"/>
                </a:solidFill>
              </a:rPr>
              <a:t>优点：</a:t>
            </a:r>
            <a:endParaRPr lang="zh-CN" altLang="en-US" sz="2400" dirty="0">
              <a:solidFill>
                <a:srgbClr val="0000FF"/>
              </a:solidFill>
            </a:endParaRPr>
          </a:p>
        </p:txBody>
      </p:sp>
      <p:sp>
        <p:nvSpPr>
          <p:cNvPr id="7" name="ïṧḷïḋè"/>
          <p:cNvSpPr/>
          <p:nvPr/>
        </p:nvSpPr>
        <p:spPr>
          <a:xfrm>
            <a:off x="1802481" y="5743125"/>
            <a:ext cx="8346071" cy="415102"/>
          </a:xfrm>
          <a:prstGeom prst="rect">
            <a:avLst/>
          </a:prstGeom>
          <a:noFill/>
          <a:ln>
            <a:noFill/>
          </a:ln>
        </p:spPr>
        <p:txBody>
          <a:bodyPr wrap="square" lIns="91440" tIns="45720" rIns="91440" bIns="45720" anchor="ctr" anchorCtr="0">
            <a:noAutofit/>
          </a:bodyPr>
          <a:lstStyle/>
          <a:p>
            <a:r>
              <a:rPr lang="zh-CN" altLang="en-US" sz="2400" dirty="0"/>
              <a:t>自调度方式的</a:t>
            </a:r>
            <a:r>
              <a:rPr lang="zh-CN" altLang="en-US" sz="2400" dirty="0">
                <a:solidFill>
                  <a:srgbClr val="FF0000"/>
                </a:solidFill>
              </a:rPr>
              <a:t>缺点：</a:t>
            </a:r>
            <a:r>
              <a:rPr lang="zh-CN" altLang="en-US" sz="2400" dirty="0"/>
              <a:t>瓶颈问题，低效性，线程切换频繁</a:t>
            </a:r>
            <a:endParaRPr lang="zh-CN" altLang="en-US" sz="2400" dirty="0"/>
          </a:p>
        </p:txBody>
      </p:sp>
      <p:sp>
        <p:nvSpPr>
          <p:cNvPr id="8" name="îs1iďé"/>
          <p:cNvSpPr/>
          <p:nvPr/>
        </p:nvSpPr>
        <p:spPr>
          <a:xfrm>
            <a:off x="1821535" y="1637377"/>
            <a:ext cx="9988392" cy="1490610"/>
          </a:xfrm>
          <a:prstGeom prst="rect">
            <a:avLst/>
          </a:prstGeom>
          <a:noFill/>
          <a:ln>
            <a:noFill/>
          </a:ln>
        </p:spPr>
        <p:txBody>
          <a:bodyPr wrap="square" lIns="91440" tIns="45720" rIns="91440" bIns="45720" anchor="t" anchorCtr="0">
            <a:noAutofit/>
          </a:bodyPr>
          <a:lstStyle/>
          <a:p>
            <a:pPr marL="342900" indent="-342900">
              <a:lnSpc>
                <a:spcPct val="123000"/>
              </a:lnSpc>
              <a:spcBef>
                <a:spcPts val="600"/>
              </a:spcBef>
              <a:buClr>
                <a:srgbClr val="FF0000"/>
              </a:buClr>
              <a:buFont typeface="Wingdings" panose="05000000000000000000" pitchFamily="2" charset="2"/>
              <a:buChar char="Ø"/>
            </a:pPr>
            <a:r>
              <a:rPr lang="zh-CN" altLang="en-US" sz="2200" dirty="0"/>
              <a:t>最简单的一种调度方式，由单处理机</a:t>
            </a:r>
            <a:r>
              <a:rPr lang="en-US" altLang="zh-CN" sz="2200" dirty="0"/>
              <a:t>OS</a:t>
            </a:r>
            <a:r>
              <a:rPr lang="zh-CN" altLang="en-US" sz="2200" dirty="0"/>
              <a:t>中的调度方式演变而来</a:t>
            </a:r>
            <a:endParaRPr lang="zh-CN" altLang="en-US" sz="2200" dirty="0"/>
          </a:p>
          <a:p>
            <a:pPr marL="342900" indent="-342900">
              <a:lnSpc>
                <a:spcPct val="123000"/>
              </a:lnSpc>
              <a:spcBef>
                <a:spcPts val="600"/>
              </a:spcBef>
              <a:buClr>
                <a:srgbClr val="FF0000"/>
              </a:buClr>
              <a:buFont typeface="Wingdings" panose="05000000000000000000" pitchFamily="2" charset="2"/>
              <a:buChar char="Ø"/>
            </a:pPr>
            <a:r>
              <a:rPr lang="zh-CN" altLang="en-US" sz="2200" dirty="0"/>
              <a:t>在系统中设置有一个公共的进程或线程就绪队列，所有的处理机在空闲时都可以到该队列中取一进程（或线程）来运行</a:t>
            </a:r>
            <a:endParaRPr lang="zh-CN" altLang="en-US" sz="2200" dirty="0"/>
          </a:p>
          <a:p>
            <a:pPr marL="342900" indent="-342900">
              <a:lnSpc>
                <a:spcPct val="123000"/>
              </a:lnSpc>
              <a:spcBef>
                <a:spcPts val="600"/>
              </a:spcBef>
              <a:buClr>
                <a:srgbClr val="FF0000"/>
              </a:buClr>
              <a:buFont typeface="Wingdings" panose="05000000000000000000" pitchFamily="2" charset="2"/>
              <a:buChar char="Ø"/>
            </a:pPr>
            <a:r>
              <a:rPr lang="zh-CN" altLang="en-US" sz="2200" dirty="0"/>
              <a:t>调度算法：</a:t>
            </a:r>
            <a:r>
              <a:rPr lang="en-US" altLang="zh-CN" sz="2200" dirty="0">
                <a:solidFill>
                  <a:srgbClr val="FF0000"/>
                </a:solidFill>
              </a:rPr>
              <a:t>FCFS</a:t>
            </a:r>
            <a:r>
              <a:rPr lang="zh-CN" altLang="en-US" sz="2200" dirty="0"/>
              <a:t>、最高优先权优先和抢占式最高优先权优先算法</a:t>
            </a:r>
            <a:endParaRPr lang="zh-CN" altLang="en-US" sz="2200" dirty="0"/>
          </a:p>
        </p:txBody>
      </p:sp>
      <p:sp>
        <p:nvSpPr>
          <p:cNvPr id="9" name="íšḻíḑê"/>
          <p:cNvSpPr/>
          <p:nvPr/>
        </p:nvSpPr>
        <p:spPr>
          <a:xfrm>
            <a:off x="1802480" y="1232766"/>
            <a:ext cx="3696051" cy="405747"/>
          </a:xfrm>
          <a:prstGeom prst="rect">
            <a:avLst/>
          </a:prstGeom>
          <a:noFill/>
          <a:ln>
            <a:noFill/>
          </a:ln>
        </p:spPr>
        <p:txBody>
          <a:bodyPr wrap="square" lIns="91440" tIns="45720" rIns="91440" bIns="45720" anchor="ctr" anchorCtr="0">
            <a:noAutofit/>
          </a:bodyPr>
          <a:lstStyle/>
          <a:p>
            <a:r>
              <a:rPr lang="zh-CN" altLang="en-US" sz="2400" dirty="0"/>
              <a:t>自调度机制</a:t>
            </a:r>
            <a:endParaRPr lang="zh-CN" altLang="en-US" sz="2400" dirty="0"/>
          </a:p>
        </p:txBody>
      </p:sp>
      <p:sp>
        <p:nvSpPr>
          <p:cNvPr id="10" name="îSļiḓè"/>
          <p:cNvSpPr/>
          <p:nvPr/>
        </p:nvSpPr>
        <p:spPr>
          <a:xfrm>
            <a:off x="1118977" y="121920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1" name="íṥḻîḓe"/>
          <p:cNvSpPr/>
          <p:nvPr/>
        </p:nvSpPr>
        <p:spPr>
          <a:xfrm>
            <a:off x="1118977" y="5699160"/>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2" name="îşļiḓè"/>
          <p:cNvSpPr/>
          <p:nvPr/>
        </p:nvSpPr>
        <p:spPr>
          <a:xfrm>
            <a:off x="1118977" y="355390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3" name="îṡḷíďe"/>
          <p:cNvSpPr/>
          <p:nvPr/>
        </p:nvSpPr>
        <p:spPr>
          <a:xfrm>
            <a:off x="1309232" y="141534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4" name="íSlíḋe"/>
          <p:cNvSpPr/>
          <p:nvPr/>
        </p:nvSpPr>
        <p:spPr>
          <a:xfrm>
            <a:off x="1309231" y="3775919"/>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5" name="ïśḷïḓe"/>
          <p:cNvSpPr/>
          <p:nvPr/>
        </p:nvSpPr>
        <p:spPr>
          <a:xfrm>
            <a:off x="1338170" y="5888620"/>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成组调度方式</a:t>
            </a:r>
            <a:endParaRPr lang="zh-CN" altLang="en-US" sz="2800" b="1" dirty="0">
              <a:solidFill>
                <a:schemeClr val="bg1"/>
              </a:solidFill>
              <a:cs typeface="+mn-ea"/>
              <a:sym typeface="+mn-lt"/>
            </a:endParaRPr>
          </a:p>
        </p:txBody>
      </p:sp>
      <p:sp>
        <p:nvSpPr>
          <p:cNvPr id="4" name="îs1iďé"/>
          <p:cNvSpPr/>
          <p:nvPr/>
        </p:nvSpPr>
        <p:spPr>
          <a:xfrm>
            <a:off x="1571223" y="1715893"/>
            <a:ext cx="10489016" cy="1083639"/>
          </a:xfrm>
          <a:prstGeom prst="rect">
            <a:avLst/>
          </a:prstGeom>
          <a:noFill/>
          <a:ln>
            <a:noFill/>
          </a:ln>
        </p:spPr>
        <p:txBody>
          <a:bodyPr wrap="square" lIns="91440" tIns="45720" rIns="91440" bIns="45720" anchor="t" anchorCtr="0">
            <a:noAutofit/>
          </a:bodyPr>
          <a:lstStyle/>
          <a:p>
            <a:pPr marL="342900" indent="-342900">
              <a:lnSpc>
                <a:spcPct val="123000"/>
              </a:lnSpc>
              <a:spcBef>
                <a:spcPts val="600"/>
              </a:spcBef>
              <a:buClr>
                <a:srgbClr val="FF0000"/>
              </a:buClr>
              <a:buFont typeface="Wingdings" panose="05000000000000000000" pitchFamily="2" charset="2"/>
              <a:buChar char="Ø"/>
            </a:pPr>
            <a:r>
              <a:rPr lang="zh-CN" altLang="en-US" sz="2200" dirty="0"/>
              <a:t>面向所有应用程序平均分配处理机时间</a:t>
            </a:r>
            <a:endParaRPr lang="zh-CN" altLang="en-US" sz="2200" dirty="0"/>
          </a:p>
          <a:p>
            <a:pPr marL="342900" indent="-342900">
              <a:lnSpc>
                <a:spcPct val="123000"/>
              </a:lnSpc>
              <a:spcBef>
                <a:spcPts val="600"/>
              </a:spcBef>
              <a:buClr>
                <a:srgbClr val="FF0000"/>
              </a:buClr>
              <a:buFont typeface="Wingdings" panose="05000000000000000000" pitchFamily="2" charset="2"/>
              <a:buChar char="Ø"/>
            </a:pPr>
            <a:r>
              <a:rPr lang="zh-CN" altLang="en-US" sz="2200" dirty="0"/>
              <a:t>面向所有线程平均分配处理机时间</a:t>
            </a:r>
            <a:endParaRPr lang="zh-CN" altLang="en-US" sz="2200" dirty="0"/>
          </a:p>
        </p:txBody>
      </p:sp>
      <p:sp>
        <p:nvSpPr>
          <p:cNvPr id="5" name="íšḻíḑê"/>
          <p:cNvSpPr/>
          <p:nvPr/>
        </p:nvSpPr>
        <p:spPr>
          <a:xfrm>
            <a:off x="1467630" y="1198196"/>
            <a:ext cx="7985464" cy="405747"/>
          </a:xfrm>
          <a:prstGeom prst="rect">
            <a:avLst/>
          </a:prstGeom>
          <a:noFill/>
          <a:ln>
            <a:noFill/>
          </a:ln>
        </p:spPr>
        <p:txBody>
          <a:bodyPr wrap="square" lIns="91440" tIns="45720" rIns="91440" bIns="45720" anchor="ctr" anchorCtr="0">
            <a:noAutofit/>
          </a:bodyPr>
          <a:lstStyle/>
          <a:p>
            <a:r>
              <a:rPr lang="zh-CN" altLang="en-US" sz="2400" dirty="0"/>
              <a:t>为了解决在自调度方式中线程被频繁切换的问题</a:t>
            </a:r>
            <a:endParaRPr lang="zh-CN" altLang="en-US" sz="2400" dirty="0"/>
          </a:p>
        </p:txBody>
      </p:sp>
      <p:sp>
        <p:nvSpPr>
          <p:cNvPr id="6" name="íšḻíḑê"/>
          <p:cNvSpPr/>
          <p:nvPr/>
        </p:nvSpPr>
        <p:spPr>
          <a:xfrm>
            <a:off x="1571223" y="2799752"/>
            <a:ext cx="10724370" cy="405747"/>
          </a:xfrm>
          <a:prstGeom prst="rect">
            <a:avLst/>
          </a:prstGeom>
          <a:noFill/>
          <a:ln>
            <a:noFill/>
          </a:ln>
        </p:spPr>
        <p:txBody>
          <a:bodyPr wrap="square" lIns="91440" tIns="45720" rIns="91440" bIns="45720" anchor="ctr" anchorCtr="0">
            <a:noAutofit/>
          </a:bodyPr>
          <a:lstStyle/>
          <a:p>
            <a:r>
              <a:rPr lang="zh-CN" altLang="en-US" sz="2400" dirty="0">
                <a:solidFill>
                  <a:srgbClr val="FF0000"/>
                </a:solidFill>
              </a:rPr>
              <a:t>成组调度方式</a:t>
            </a:r>
            <a:r>
              <a:rPr lang="zh-CN" altLang="en-US" sz="2400" dirty="0"/>
              <a:t>：将一个进程中的一组线程分配到一组处理机上去执行</a:t>
            </a:r>
            <a:endParaRPr lang="zh-CN" altLang="en-US" sz="2400" dirty="0"/>
          </a:p>
        </p:txBody>
      </p:sp>
      <p:sp>
        <p:nvSpPr>
          <p:cNvPr id="7" name="íšḻíḑê"/>
          <p:cNvSpPr/>
          <p:nvPr/>
        </p:nvSpPr>
        <p:spPr>
          <a:xfrm>
            <a:off x="1571223" y="3367691"/>
            <a:ext cx="10724370" cy="405747"/>
          </a:xfrm>
          <a:prstGeom prst="rect">
            <a:avLst/>
          </a:prstGeom>
          <a:noFill/>
          <a:ln>
            <a:noFill/>
          </a:ln>
        </p:spPr>
        <p:txBody>
          <a:bodyPr wrap="square" lIns="91440" tIns="45720" rIns="91440" bIns="45720" anchor="ctr" anchorCtr="0">
            <a:noAutofit/>
          </a:bodyPr>
          <a:lstStyle/>
          <a:p>
            <a:r>
              <a:rPr lang="zh-CN" altLang="en-US" sz="2400" dirty="0"/>
              <a:t>为应用程序分配处理机时间的两种方式</a:t>
            </a:r>
            <a:endParaRPr lang="zh-CN" altLang="en-US" sz="2400" dirty="0"/>
          </a:p>
        </p:txBody>
      </p:sp>
      <p:sp>
        <p:nvSpPr>
          <p:cNvPr id="8" name="íšḻíḑê"/>
          <p:cNvSpPr/>
          <p:nvPr/>
        </p:nvSpPr>
        <p:spPr>
          <a:xfrm>
            <a:off x="1571223" y="3935630"/>
            <a:ext cx="10724370" cy="405747"/>
          </a:xfrm>
          <a:prstGeom prst="rect">
            <a:avLst/>
          </a:prstGeom>
          <a:noFill/>
          <a:ln>
            <a:noFill/>
          </a:ln>
        </p:spPr>
        <p:txBody>
          <a:bodyPr wrap="square" lIns="91440" tIns="45720" rIns="91440" bIns="45720" anchor="ctr" anchorCtr="0">
            <a:noAutofit/>
          </a:bodyPr>
          <a:lstStyle/>
          <a:p>
            <a:r>
              <a:rPr lang="zh-CN" altLang="en-US" sz="2400" dirty="0">
                <a:solidFill>
                  <a:srgbClr val="0000FF"/>
                </a:solidFill>
              </a:rPr>
              <a:t>优点：</a:t>
            </a:r>
            <a:endParaRPr lang="zh-CN" altLang="en-US" sz="2400" dirty="0">
              <a:solidFill>
                <a:srgbClr val="0000FF"/>
              </a:solidFill>
            </a:endParaRPr>
          </a:p>
        </p:txBody>
      </p:sp>
      <p:sp>
        <p:nvSpPr>
          <p:cNvPr id="9" name="îs1iďé"/>
          <p:cNvSpPr/>
          <p:nvPr/>
        </p:nvSpPr>
        <p:spPr>
          <a:xfrm>
            <a:off x="1571223" y="4393255"/>
            <a:ext cx="10084157" cy="1490610"/>
          </a:xfrm>
          <a:prstGeom prst="rect">
            <a:avLst/>
          </a:prstGeom>
          <a:noFill/>
          <a:ln>
            <a:noFill/>
          </a:ln>
        </p:spPr>
        <p:txBody>
          <a:bodyPr wrap="square" lIns="91440" tIns="45720" rIns="91440" bIns="45720" anchor="t" anchorCtr="0">
            <a:noAutofit/>
          </a:bodyPr>
          <a:lstStyle/>
          <a:p>
            <a:pPr marL="342900" indent="-342900">
              <a:lnSpc>
                <a:spcPct val="123000"/>
              </a:lnSpc>
              <a:spcBef>
                <a:spcPts val="600"/>
              </a:spcBef>
              <a:buClr>
                <a:srgbClr val="FF0000"/>
              </a:buClr>
              <a:buFont typeface="Wingdings" panose="05000000000000000000" pitchFamily="2" charset="2"/>
              <a:buChar char="Ø"/>
            </a:pPr>
            <a:r>
              <a:rPr lang="zh-CN" altLang="en-US" sz="2200" dirty="0"/>
              <a:t>如果一组相互合作的线程能并行执行，则可有效地减少线程阻塞情况的发生，从而可以减少线程的切换，使系统性能得到改善</a:t>
            </a:r>
            <a:endParaRPr lang="zh-CN" altLang="en-US" sz="2200" dirty="0"/>
          </a:p>
          <a:p>
            <a:pPr marL="342900" indent="-342900">
              <a:lnSpc>
                <a:spcPct val="123000"/>
              </a:lnSpc>
              <a:spcBef>
                <a:spcPts val="600"/>
              </a:spcBef>
              <a:buClr>
                <a:srgbClr val="FF0000"/>
              </a:buClr>
              <a:buFont typeface="Wingdings" panose="05000000000000000000" pitchFamily="2" charset="2"/>
              <a:buChar char="Ø"/>
            </a:pPr>
            <a:r>
              <a:rPr lang="zh-CN" altLang="en-US" sz="2200" dirty="0"/>
              <a:t>可以显著地减少调度频率，从而减少调度开销</a:t>
            </a:r>
            <a:endParaRPr lang="zh-CN" altLang="en-US" sz="2200" dirty="0"/>
          </a:p>
        </p:txBody>
      </p:sp>
      <p:sp>
        <p:nvSpPr>
          <p:cNvPr id="10" name="íšḻíḑê"/>
          <p:cNvSpPr/>
          <p:nvPr/>
        </p:nvSpPr>
        <p:spPr>
          <a:xfrm>
            <a:off x="1571223" y="5896744"/>
            <a:ext cx="10724370" cy="405747"/>
          </a:xfrm>
          <a:prstGeom prst="rect">
            <a:avLst/>
          </a:prstGeom>
          <a:noFill/>
          <a:ln>
            <a:noFill/>
          </a:ln>
        </p:spPr>
        <p:txBody>
          <a:bodyPr wrap="square" lIns="91440" tIns="45720" rIns="91440" bIns="45720" anchor="ctr" anchorCtr="0">
            <a:noAutofit/>
          </a:bodyPr>
          <a:lstStyle/>
          <a:p>
            <a:r>
              <a:rPr lang="zh-CN" altLang="en-US" sz="2400" dirty="0"/>
              <a:t>性能优于自调度方式，被广泛应用到多处理机</a:t>
            </a:r>
            <a:endParaRPr lang="zh-CN" altLang="en-US" sz="2400" dirty="0"/>
          </a:p>
        </p:txBody>
      </p:sp>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08819" y="1170477"/>
            <a:ext cx="527050" cy="527050"/>
          </a:xfrm>
          <a:prstGeom prst="rect">
            <a:avLst/>
          </a:prstGeom>
          <a:ln>
            <a:noFill/>
          </a:ln>
          <a:effectLst>
            <a:softEdge rad="0"/>
          </a:effectLst>
        </p:spPr>
      </p:pic>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08819" y="2778929"/>
            <a:ext cx="527050" cy="527050"/>
          </a:xfrm>
          <a:prstGeom prst="rect">
            <a:avLst/>
          </a:prstGeom>
          <a:ln>
            <a:noFill/>
          </a:ln>
          <a:effectLst>
            <a:softEdge rad="0"/>
          </a:effectLst>
        </p:spPr>
      </p:pic>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08819" y="3318487"/>
            <a:ext cx="527050" cy="527050"/>
          </a:xfrm>
          <a:prstGeom prst="rect">
            <a:avLst/>
          </a:prstGeom>
          <a:ln>
            <a:noFill/>
          </a:ln>
          <a:effectLst>
            <a:softEdge rad="0"/>
          </a:effectLst>
        </p:spPr>
      </p:pic>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08819" y="3867832"/>
            <a:ext cx="527050" cy="527050"/>
          </a:xfrm>
          <a:prstGeom prst="rect">
            <a:avLst/>
          </a:prstGeom>
          <a:ln>
            <a:noFill/>
          </a:ln>
          <a:effectLst>
            <a:softEdge rad="0"/>
          </a:effectLst>
        </p:spPr>
      </p:pic>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08819" y="5836092"/>
            <a:ext cx="527050" cy="527050"/>
          </a:xfrm>
          <a:prstGeom prst="rect">
            <a:avLst/>
          </a:prstGeom>
          <a:ln>
            <a:noFill/>
          </a:ln>
          <a:effectLst>
            <a:softEdge rad="0"/>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专用处理器分配方式</a:t>
            </a:r>
            <a:endParaRPr lang="zh-CN" altLang="en-US" sz="2800" b="1" dirty="0">
              <a:solidFill>
                <a:schemeClr val="bg1"/>
              </a:solidFill>
              <a:cs typeface="+mn-ea"/>
              <a:sym typeface="+mn-lt"/>
            </a:endParaRPr>
          </a:p>
        </p:txBody>
      </p:sp>
      <p:sp>
        <p:nvSpPr>
          <p:cNvPr id="4" name="ïşľîďè"/>
          <p:cNvSpPr/>
          <p:nvPr/>
        </p:nvSpPr>
        <p:spPr>
          <a:xfrm>
            <a:off x="0" y="1288669"/>
            <a:ext cx="4669654" cy="5003800"/>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5" name="îŝļiḋe"/>
          <p:cNvSpPr/>
          <p:nvPr/>
        </p:nvSpPr>
        <p:spPr>
          <a:xfrm>
            <a:off x="4012707" y="1275790"/>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nvGrpSpPr>
          <p:cNvPr id="6" name="í$1iďè"/>
          <p:cNvGrpSpPr/>
          <p:nvPr/>
        </p:nvGrpSpPr>
        <p:grpSpPr>
          <a:xfrm>
            <a:off x="4136995" y="1873139"/>
            <a:ext cx="7293128" cy="1267381"/>
            <a:chOff x="4136995" y="1260886"/>
            <a:chExt cx="7293128" cy="1267381"/>
          </a:xfrm>
        </p:grpSpPr>
        <p:sp>
          <p:nvSpPr>
            <p:cNvPr id="7"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8" name="ïSḻiḍé"/>
            <p:cNvSpPr txBox="1"/>
            <p:nvPr/>
          </p:nvSpPr>
          <p:spPr>
            <a:xfrm>
              <a:off x="4882718" y="1260886"/>
              <a:ext cx="6547405" cy="1267381"/>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dirty="0">
                  <a:latin typeface="+mj-ea"/>
                  <a:ea typeface="+mj-ea"/>
                </a:rPr>
                <a:t>专用处理器分配方式，是</a:t>
              </a:r>
              <a:r>
                <a:rPr lang="zh-CN" altLang="en-US" sz="2400" dirty="0">
                  <a:solidFill>
                    <a:srgbClr val="0000FF"/>
                  </a:solidFill>
                  <a:latin typeface="+mj-ea"/>
                  <a:ea typeface="+mj-ea"/>
                </a:rPr>
                <a:t>指在一个应用程序执行期间，专门为该程序分配一组处理机，每个线程配一个处理机。</a:t>
              </a:r>
              <a:endParaRPr lang="zh-CN" altLang="en-US" sz="2400" dirty="0">
                <a:solidFill>
                  <a:srgbClr val="0000FF"/>
                </a:solidFill>
                <a:latin typeface="+mj-ea"/>
                <a:ea typeface="+mj-ea"/>
              </a:endParaRPr>
            </a:p>
          </p:txBody>
        </p:sp>
      </p:grpSp>
      <p:grpSp>
        <p:nvGrpSpPr>
          <p:cNvPr id="9" name="išḷîḓé"/>
          <p:cNvGrpSpPr/>
          <p:nvPr/>
        </p:nvGrpSpPr>
        <p:grpSpPr>
          <a:xfrm>
            <a:off x="4136995" y="3876018"/>
            <a:ext cx="7293128" cy="528032"/>
            <a:chOff x="4145426" y="2208388"/>
            <a:chExt cx="7293128" cy="493337"/>
          </a:xfrm>
        </p:grpSpPr>
        <p:sp>
          <p:nvSpPr>
            <p:cNvPr id="10" name="íśľïḋé"/>
            <p:cNvSpPr/>
            <p:nvPr/>
          </p:nvSpPr>
          <p:spPr>
            <a:xfrm>
              <a:off x="4145426" y="224910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1" name="îŝľîḓè"/>
            <p:cNvSpPr txBox="1"/>
            <p:nvPr/>
          </p:nvSpPr>
          <p:spPr>
            <a:xfrm>
              <a:off x="4802373" y="2208388"/>
              <a:ext cx="6636181" cy="49333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t>造成处理机严重浪费。</a:t>
              </a:r>
              <a:endParaRPr lang="zh-CN" altLang="en-US" sz="2400" dirty="0"/>
            </a:p>
          </p:txBody>
        </p:sp>
      </p:grpSp>
      <p:grpSp>
        <p:nvGrpSpPr>
          <p:cNvPr id="12" name="ïSlíḍê"/>
          <p:cNvGrpSpPr/>
          <p:nvPr/>
        </p:nvGrpSpPr>
        <p:grpSpPr>
          <a:xfrm>
            <a:off x="4136996" y="5169747"/>
            <a:ext cx="7381903" cy="515157"/>
            <a:chOff x="4136995" y="3850115"/>
            <a:chExt cx="7381903" cy="515157"/>
          </a:xfrm>
        </p:grpSpPr>
        <p:sp>
          <p:nvSpPr>
            <p:cNvPr id="13" name="ïsľíḓê"/>
            <p:cNvSpPr/>
            <p:nvPr/>
          </p:nvSpPr>
          <p:spPr>
            <a:xfrm>
              <a:off x="4136995" y="3925731"/>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sp>
          <p:nvSpPr>
            <p:cNvPr id="14" name="íṧļîḋê"/>
            <p:cNvSpPr txBox="1"/>
            <p:nvPr/>
          </p:nvSpPr>
          <p:spPr>
            <a:xfrm>
              <a:off x="4882717" y="3850115"/>
              <a:ext cx="6636181" cy="51515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3000"/>
                </a:lnSpc>
              </a:pPr>
              <a:r>
                <a:rPr lang="zh-CN" altLang="en-US" sz="2400" dirty="0"/>
                <a:t>这种方式</a:t>
              </a:r>
              <a:r>
                <a:rPr lang="zh-CN" altLang="en-US" sz="2400" dirty="0">
                  <a:solidFill>
                    <a:srgbClr val="FF0000"/>
                  </a:solidFill>
                </a:rPr>
                <a:t>用于并发程度相当高的多处理机操作系统中。</a:t>
              </a:r>
              <a:endParaRPr lang="zh-CN" altLang="en-US" sz="2400" dirty="0">
                <a:solidFill>
                  <a:srgbClr val="FF0000"/>
                </a:solidFill>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动态调度方式</a:t>
            </a:r>
            <a:endParaRPr lang="zh-CN" altLang="en-US" sz="2800" b="1" dirty="0">
              <a:solidFill>
                <a:schemeClr val="bg1"/>
              </a:solidFill>
              <a:cs typeface="+mn-ea"/>
              <a:sym typeface="+mn-lt"/>
            </a:endParaRPr>
          </a:p>
        </p:txBody>
      </p:sp>
      <p:sp>
        <p:nvSpPr>
          <p:cNvPr id="3" name="内容占位符 2"/>
          <p:cNvSpPr txBox="1"/>
          <p:nvPr/>
        </p:nvSpPr>
        <p:spPr>
          <a:xfrm>
            <a:off x="2013397" y="1270721"/>
            <a:ext cx="10178603" cy="51461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600"/>
              </a:spcBef>
              <a:spcAft>
                <a:spcPts val="600"/>
              </a:spcAft>
              <a:buNone/>
            </a:pPr>
            <a:r>
              <a:rPr lang="zh-CN" altLang="zh-CN" sz="2400" dirty="0">
                <a:latin typeface="+mn-ea"/>
                <a:cs typeface="+mn-ea"/>
                <a:sym typeface="+mn-lt"/>
              </a:rPr>
              <a:t>动态调度方</a:t>
            </a:r>
            <a:r>
              <a:rPr lang="zh-CN" altLang="en-US" sz="2400" dirty="0">
                <a:latin typeface="+mn-ea"/>
                <a:cs typeface="+mn-ea"/>
                <a:sym typeface="+mn-lt"/>
              </a:rPr>
              <a:t>式</a:t>
            </a:r>
            <a:r>
              <a:rPr lang="zh-CN" altLang="zh-CN" sz="2400" dirty="0">
                <a:latin typeface="+mn-ea"/>
                <a:cs typeface="+mn-ea"/>
                <a:sym typeface="+mn-lt"/>
              </a:rPr>
              <a:t>允许进程在执行期间动态地改变其线程的数目</a:t>
            </a:r>
            <a:endParaRPr lang="zh-CN" altLang="en-US" sz="2400" dirty="0">
              <a:latin typeface="+mn-ea"/>
              <a:cs typeface="+mn-ea"/>
              <a:sym typeface="+mn-lt"/>
            </a:endParaRPr>
          </a:p>
          <a:p>
            <a:pPr marL="0" indent="0">
              <a:lnSpc>
                <a:spcPct val="123000"/>
              </a:lnSpc>
              <a:spcBef>
                <a:spcPts val="600"/>
              </a:spcBef>
              <a:spcAft>
                <a:spcPts val="600"/>
              </a:spcAft>
              <a:buNone/>
            </a:pPr>
            <a:r>
              <a:rPr lang="zh-CN" altLang="zh-CN" sz="2400" dirty="0">
                <a:latin typeface="+mn-ea"/>
                <a:cs typeface="+mn-ea"/>
                <a:sym typeface="+mn-lt"/>
              </a:rPr>
              <a:t>操作系统和应用程序共同进行调度决策</a:t>
            </a:r>
            <a:endParaRPr lang="en-US" altLang="zh-CN" sz="2400" dirty="0">
              <a:latin typeface="+mn-ea"/>
              <a:cs typeface="+mn-ea"/>
              <a:sym typeface="+mn-lt"/>
            </a:endParaRPr>
          </a:p>
          <a:p>
            <a:pPr marL="0" indent="0">
              <a:lnSpc>
                <a:spcPct val="123000"/>
              </a:lnSpc>
              <a:spcBef>
                <a:spcPts val="600"/>
              </a:spcBef>
              <a:spcAft>
                <a:spcPts val="600"/>
              </a:spcAft>
              <a:buNone/>
            </a:pPr>
            <a:r>
              <a:rPr lang="zh-CN" altLang="en-US" sz="2400" dirty="0">
                <a:latin typeface="+mn-ea"/>
                <a:cs typeface="+mn-ea"/>
                <a:sym typeface="+mn-lt"/>
              </a:rPr>
              <a:t>操作系统的调度任务主要限于处理机分配，</a:t>
            </a:r>
            <a:r>
              <a:rPr lang="zh-CN" altLang="en-US" sz="2400" dirty="0">
                <a:solidFill>
                  <a:srgbClr val="FF0000"/>
                </a:solidFill>
                <a:latin typeface="+mn-ea"/>
                <a:cs typeface="+mn-ea"/>
                <a:sym typeface="+mn-lt"/>
              </a:rPr>
              <a:t>遵循以下原则</a:t>
            </a:r>
            <a:r>
              <a:rPr lang="zh-CN" altLang="en-US" sz="2400" dirty="0">
                <a:latin typeface="+mn-ea"/>
                <a:cs typeface="+mn-ea"/>
                <a:sym typeface="+mn-lt"/>
              </a:rPr>
              <a:t>：</a:t>
            </a:r>
            <a:endParaRPr lang="en-US" altLang="zh-CN" sz="2400" dirty="0">
              <a:latin typeface="+mn-ea"/>
              <a:cs typeface="+mn-ea"/>
              <a:sym typeface="+mn-lt"/>
            </a:endParaRPr>
          </a:p>
          <a:p>
            <a:pPr marL="360045" lvl="1" indent="-360045">
              <a:lnSpc>
                <a:spcPct val="123000"/>
              </a:lnSpc>
              <a:spcBef>
                <a:spcPts val="600"/>
              </a:spcBef>
              <a:spcAft>
                <a:spcPts val="600"/>
              </a:spcAft>
              <a:buFont typeface="Wingdings" panose="05000000000000000000" pitchFamily="2" charset="2"/>
              <a:buChar char="Ø"/>
            </a:pPr>
            <a:r>
              <a:rPr lang="zh-CN" altLang="en-US" sz="2400" dirty="0">
                <a:solidFill>
                  <a:srgbClr val="0000FF"/>
                </a:solidFill>
                <a:latin typeface="+mn-ea"/>
                <a:cs typeface="+mn-ea"/>
                <a:sym typeface="+mn-lt"/>
              </a:rPr>
              <a:t>空闲则分配</a:t>
            </a:r>
            <a:endParaRPr lang="en-US" altLang="zh-CN" sz="2400" dirty="0">
              <a:solidFill>
                <a:srgbClr val="0000FF"/>
              </a:solidFill>
              <a:latin typeface="+mn-ea"/>
              <a:cs typeface="+mn-ea"/>
              <a:sym typeface="+mn-lt"/>
            </a:endParaRPr>
          </a:p>
          <a:p>
            <a:pPr marL="360045" lvl="1" indent="-360045">
              <a:lnSpc>
                <a:spcPct val="123000"/>
              </a:lnSpc>
              <a:spcBef>
                <a:spcPts val="600"/>
              </a:spcBef>
              <a:spcAft>
                <a:spcPts val="600"/>
              </a:spcAft>
              <a:buFont typeface="Wingdings" panose="05000000000000000000" pitchFamily="2" charset="2"/>
              <a:buChar char="Ø"/>
            </a:pPr>
            <a:r>
              <a:rPr lang="zh-CN" altLang="en-US" sz="2400" dirty="0">
                <a:solidFill>
                  <a:srgbClr val="0000FF"/>
                </a:solidFill>
                <a:latin typeface="+mn-ea"/>
                <a:cs typeface="+mn-ea"/>
                <a:sym typeface="+mn-lt"/>
              </a:rPr>
              <a:t>新作业绝对优先</a:t>
            </a:r>
            <a:endParaRPr lang="en-US" altLang="zh-CN" sz="2400" dirty="0">
              <a:solidFill>
                <a:srgbClr val="0000FF"/>
              </a:solidFill>
              <a:latin typeface="+mn-ea"/>
              <a:cs typeface="+mn-ea"/>
              <a:sym typeface="+mn-lt"/>
            </a:endParaRPr>
          </a:p>
          <a:p>
            <a:pPr marL="360045" lvl="1" indent="-360045">
              <a:lnSpc>
                <a:spcPct val="123000"/>
              </a:lnSpc>
              <a:spcBef>
                <a:spcPts val="600"/>
              </a:spcBef>
              <a:spcAft>
                <a:spcPts val="600"/>
              </a:spcAft>
              <a:buFont typeface="Wingdings" panose="05000000000000000000" pitchFamily="2" charset="2"/>
              <a:buChar char="Ø"/>
            </a:pPr>
            <a:r>
              <a:rPr lang="zh-CN" altLang="en-US" sz="2400" dirty="0">
                <a:solidFill>
                  <a:srgbClr val="0000FF"/>
                </a:solidFill>
                <a:latin typeface="+mn-ea"/>
                <a:cs typeface="+mn-ea"/>
                <a:sym typeface="+mn-lt"/>
              </a:rPr>
              <a:t>保持等待</a:t>
            </a:r>
            <a:endParaRPr lang="en-US" altLang="zh-CN" sz="2400" dirty="0">
              <a:solidFill>
                <a:srgbClr val="0000FF"/>
              </a:solidFill>
              <a:latin typeface="+mn-ea"/>
              <a:cs typeface="+mn-ea"/>
              <a:sym typeface="+mn-lt"/>
            </a:endParaRPr>
          </a:p>
          <a:p>
            <a:pPr marL="360045" lvl="1" indent="-360045">
              <a:lnSpc>
                <a:spcPct val="123000"/>
              </a:lnSpc>
              <a:spcBef>
                <a:spcPts val="600"/>
              </a:spcBef>
              <a:spcAft>
                <a:spcPts val="600"/>
              </a:spcAft>
              <a:buFont typeface="Wingdings" panose="05000000000000000000" pitchFamily="2" charset="2"/>
              <a:buChar char="Ø"/>
            </a:pPr>
            <a:r>
              <a:rPr lang="zh-CN" altLang="en-US" sz="2400" dirty="0">
                <a:solidFill>
                  <a:srgbClr val="0000FF"/>
                </a:solidFill>
                <a:latin typeface="+mn-ea"/>
                <a:cs typeface="+mn-ea"/>
                <a:sym typeface="+mn-lt"/>
              </a:rPr>
              <a:t>释放则分配</a:t>
            </a:r>
            <a:endParaRPr lang="en-US" altLang="zh-CN" sz="2400" dirty="0">
              <a:solidFill>
                <a:srgbClr val="0000FF"/>
              </a:solidFill>
              <a:latin typeface="+mn-ea"/>
              <a:cs typeface="+mn-ea"/>
              <a:sym typeface="+mn-lt"/>
            </a:endParaRPr>
          </a:p>
          <a:p>
            <a:pPr marL="0" indent="0">
              <a:lnSpc>
                <a:spcPct val="123000"/>
              </a:lnSpc>
              <a:spcBef>
                <a:spcPts val="600"/>
              </a:spcBef>
              <a:spcAft>
                <a:spcPts val="600"/>
              </a:spcAft>
              <a:buNone/>
            </a:pPr>
            <a:r>
              <a:rPr lang="zh-CN" altLang="zh-CN" sz="2400" dirty="0">
                <a:latin typeface="+mn-ea"/>
                <a:cs typeface="+mn-ea"/>
                <a:sym typeface="+mn-lt"/>
              </a:rPr>
              <a:t>动态调度方式优于成组调度方式和专用处理机分配方式，但其开销大</a:t>
            </a:r>
            <a:endParaRPr lang="en-US" altLang="zh-CN" sz="2400" dirty="0">
              <a:latin typeface="+mn-ea"/>
              <a:cs typeface="+mn-ea"/>
              <a:sym typeface="+mn-lt"/>
            </a:endParaRPr>
          </a:p>
        </p:txBody>
      </p:sp>
      <p:sp>
        <p:nvSpPr>
          <p:cNvPr id="4" name="îSļiḓè"/>
          <p:cNvSpPr/>
          <p:nvPr/>
        </p:nvSpPr>
        <p:spPr>
          <a:xfrm>
            <a:off x="1264688" y="1270721"/>
            <a:ext cx="555276" cy="555276"/>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5" name="íṥḻîḓe"/>
          <p:cNvSpPr/>
          <p:nvPr/>
        </p:nvSpPr>
        <p:spPr>
          <a:xfrm>
            <a:off x="1264688" y="2485150"/>
            <a:ext cx="555276" cy="555276"/>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6" name="îşļiḓè"/>
          <p:cNvSpPr/>
          <p:nvPr/>
        </p:nvSpPr>
        <p:spPr>
          <a:xfrm>
            <a:off x="1264688" y="1880833"/>
            <a:ext cx="555276" cy="555276"/>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7" name="îṡḷíďe"/>
          <p:cNvSpPr/>
          <p:nvPr/>
        </p:nvSpPr>
        <p:spPr>
          <a:xfrm>
            <a:off x="1432115" y="1415342"/>
            <a:ext cx="230954" cy="219212"/>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8" name="íSlíḋe"/>
          <p:cNvSpPr/>
          <p:nvPr/>
        </p:nvSpPr>
        <p:spPr>
          <a:xfrm>
            <a:off x="1432115" y="2038454"/>
            <a:ext cx="230955" cy="202350"/>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9" name="ïśḷïḓe"/>
          <p:cNvSpPr/>
          <p:nvPr/>
        </p:nvSpPr>
        <p:spPr>
          <a:xfrm>
            <a:off x="1432115" y="2635972"/>
            <a:ext cx="187123" cy="229327"/>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
        <p:nvSpPr>
          <p:cNvPr id="10" name="îSļiḓè"/>
          <p:cNvSpPr/>
          <p:nvPr/>
        </p:nvSpPr>
        <p:spPr>
          <a:xfrm>
            <a:off x="1264688" y="5467654"/>
            <a:ext cx="555276" cy="555276"/>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11" name="îṡḷíďe"/>
          <p:cNvSpPr/>
          <p:nvPr/>
        </p:nvSpPr>
        <p:spPr>
          <a:xfrm>
            <a:off x="1432115" y="5638033"/>
            <a:ext cx="230954" cy="219212"/>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死锁的分类、检测与解除（</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4" name="矩形: 圆角 4"/>
          <p:cNvSpPr/>
          <p:nvPr/>
        </p:nvSpPr>
        <p:spPr>
          <a:xfrm>
            <a:off x="669926" y="1215847"/>
            <a:ext cx="4417230"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sz="2400" dirty="0">
                <a:solidFill>
                  <a:schemeClr val="bg1"/>
                </a:solidFill>
              </a:rPr>
              <a:t>死锁的类型</a:t>
            </a:r>
            <a:endParaRPr lang="zh-CN" altLang="en-US" sz="2400" dirty="0">
              <a:solidFill>
                <a:schemeClr val="bg1"/>
              </a:solidFill>
            </a:endParaRPr>
          </a:p>
        </p:txBody>
      </p:sp>
      <p:sp>
        <p:nvSpPr>
          <p:cNvPr id="5" name="内容占位符 2"/>
          <p:cNvSpPr txBox="1"/>
          <p:nvPr/>
        </p:nvSpPr>
        <p:spPr>
          <a:xfrm>
            <a:off x="669926" y="1938431"/>
            <a:ext cx="4571776" cy="4063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3" indent="-533400">
              <a:lnSpc>
                <a:spcPct val="132000"/>
              </a:lnSpc>
              <a:spcBef>
                <a:spcPts val="370"/>
              </a:spcBef>
              <a:buClr>
                <a:srgbClr val="E71101"/>
              </a:buClr>
              <a:buSzPct val="100000"/>
              <a:buFont typeface="Wingdings" panose="05000000000000000000" pitchFamily="2" charset="2"/>
              <a:buChar char="n"/>
              <a:defRPr/>
            </a:pPr>
            <a:r>
              <a:rPr lang="zh-CN" altLang="en-US" sz="2300" dirty="0">
                <a:solidFill>
                  <a:srgbClr val="FF0000"/>
                </a:solidFill>
              </a:rPr>
              <a:t>资源死锁</a:t>
            </a:r>
            <a:r>
              <a:rPr lang="zh-CN" altLang="en-US" sz="2300" dirty="0"/>
              <a:t>：在竞争系统中的可重复使用资源（如打印机、磁带机以及存储器等）时，由进程的推进顺序不当所引起的</a:t>
            </a:r>
            <a:endParaRPr lang="zh-CN" altLang="en-US" sz="2300" dirty="0"/>
          </a:p>
          <a:p>
            <a:pPr marL="457200" lvl="3" indent="-533400">
              <a:lnSpc>
                <a:spcPct val="132000"/>
              </a:lnSpc>
              <a:spcBef>
                <a:spcPts val="370"/>
              </a:spcBef>
              <a:buClr>
                <a:srgbClr val="E71101"/>
              </a:buClr>
              <a:buSzPct val="100000"/>
              <a:buFont typeface="Wingdings" panose="05000000000000000000" pitchFamily="2" charset="2"/>
              <a:buChar char="n"/>
              <a:defRPr/>
            </a:pPr>
            <a:r>
              <a:rPr lang="zh-CN" altLang="en-US" sz="2300" dirty="0">
                <a:solidFill>
                  <a:srgbClr val="FF0000"/>
                </a:solidFill>
              </a:rPr>
              <a:t>通信死锁</a:t>
            </a:r>
            <a:r>
              <a:rPr lang="zh-CN" altLang="en-US" sz="2300" dirty="0"/>
              <a:t>：在分布式系统中，由处于不同节点中的进程因发送和接收报文而竞争缓冲区所引起的，既不能发送、又不能接收的僵持状态</a:t>
            </a:r>
            <a:endParaRPr lang="zh-CN" altLang="en-US" sz="2300" dirty="0"/>
          </a:p>
        </p:txBody>
      </p:sp>
      <p:sp>
        <p:nvSpPr>
          <p:cNvPr id="6" name="矩形: 圆角 4"/>
          <p:cNvSpPr/>
          <p:nvPr/>
        </p:nvSpPr>
        <p:spPr>
          <a:xfrm>
            <a:off x="6272011" y="1215847"/>
            <a:ext cx="4971245"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sz="2400" dirty="0">
                <a:solidFill>
                  <a:schemeClr val="bg1"/>
                </a:solidFill>
              </a:rPr>
              <a:t>死锁的检测</a:t>
            </a:r>
            <a:endParaRPr lang="zh-CN" altLang="en-US" sz="2400" dirty="0">
              <a:solidFill>
                <a:schemeClr val="bg1"/>
              </a:solidFill>
            </a:endParaRPr>
          </a:p>
        </p:txBody>
      </p:sp>
      <p:sp>
        <p:nvSpPr>
          <p:cNvPr id="7" name="内容占位符 2"/>
          <p:cNvSpPr txBox="1"/>
          <p:nvPr/>
        </p:nvSpPr>
        <p:spPr>
          <a:xfrm>
            <a:off x="6272011" y="1938431"/>
            <a:ext cx="5112913" cy="42047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32000"/>
              </a:lnSpc>
              <a:spcBef>
                <a:spcPts val="370"/>
              </a:spcBef>
              <a:buClr>
                <a:srgbClr val="E71101"/>
              </a:buClr>
              <a:buSzPct val="60000"/>
              <a:buFont typeface="Wingdings" panose="05000000000000000000" pitchFamily="2" charset="2"/>
              <a:buNone/>
              <a:defRPr/>
            </a:pPr>
            <a:r>
              <a:rPr lang="zh-CN" altLang="en-US" sz="2300" dirty="0"/>
              <a:t>集中式检测</a:t>
            </a:r>
            <a:endParaRPr lang="zh-CN" altLang="en-US" sz="2300"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300" dirty="0"/>
              <a:t>每台处理机中都有一张进程资源图，</a:t>
            </a:r>
            <a:endParaRPr lang="zh-CN" altLang="en-US" sz="2300"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300" dirty="0"/>
              <a:t>在负责系统控制的中心处理机上，配置一张整个系统的进程资源图，并设置一个检测进程（负责整个系统的死锁检测）。</a:t>
            </a:r>
            <a:endParaRPr lang="zh-CN" altLang="en-US" sz="2300" dirty="0"/>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300" dirty="0"/>
              <a:t>当检测进程检测到环路时，就选择环路中的一个进程并将其中止，以解除死锁。</a:t>
            </a:r>
            <a:endParaRPr lang="zh-CN" altLang="en-US" sz="2300" dirty="0"/>
          </a:p>
        </p:txBody>
      </p:sp>
      <p:cxnSp>
        <p:nvCxnSpPr>
          <p:cNvPr id="11" name="直接连接符 10"/>
          <p:cNvCxnSpPr/>
          <p:nvPr/>
        </p:nvCxnSpPr>
        <p:spPr>
          <a:xfrm>
            <a:off x="5679583" y="1501024"/>
            <a:ext cx="0" cy="481669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888642" y="6317723"/>
            <a:ext cx="4790941"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死锁的分类、检测与解除（</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3" name="内容占位符 2"/>
          <p:cNvSpPr txBox="1"/>
          <p:nvPr/>
        </p:nvSpPr>
        <p:spPr>
          <a:xfrm>
            <a:off x="610144" y="5359396"/>
            <a:ext cx="11045459" cy="9650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buNone/>
            </a:pPr>
            <a:r>
              <a:rPr lang="zh-CN" altLang="en-US" sz="2400" dirty="0">
                <a:solidFill>
                  <a:srgbClr val="FF0000"/>
                </a:solidFill>
                <a:cs typeface="+mn-ea"/>
                <a:sym typeface="+mn-lt"/>
              </a:rPr>
              <a:t>总之</a:t>
            </a:r>
            <a:r>
              <a:rPr lang="zh-CN" altLang="en-US" sz="2400" dirty="0">
                <a:cs typeface="+mn-ea"/>
                <a:sym typeface="+mn-lt"/>
              </a:rPr>
              <a:t>，</a:t>
            </a:r>
            <a:r>
              <a:rPr lang="en-US" altLang="zh-CN" sz="2400" dirty="0">
                <a:cs typeface="+mn-ea"/>
                <a:sym typeface="+mn-lt"/>
              </a:rPr>
              <a:t>NUMA</a:t>
            </a:r>
            <a:r>
              <a:rPr lang="zh-CN" altLang="en-US" sz="2400" dirty="0">
                <a:cs typeface="+mn-ea"/>
                <a:sym typeface="+mn-lt"/>
              </a:rPr>
              <a:t>结构的</a:t>
            </a:r>
            <a:r>
              <a:rPr lang="zh-CN" altLang="zh-CN" sz="2400" dirty="0">
                <a:cs typeface="+mn-ea"/>
                <a:sym typeface="+mn-lt"/>
              </a:rPr>
              <a:t>多处理机操作系统中的死锁检测需要的通信开销较大，因此，</a:t>
            </a:r>
            <a:r>
              <a:rPr lang="zh-CN" altLang="zh-CN" sz="2400" dirty="0">
                <a:solidFill>
                  <a:srgbClr val="FF0000"/>
                </a:solidFill>
                <a:cs typeface="+mn-ea"/>
                <a:sym typeface="+mn-lt"/>
              </a:rPr>
              <a:t>在实际应用中往往采取的是</a:t>
            </a:r>
            <a:r>
              <a:rPr lang="zh-CN" altLang="zh-CN" sz="2400" b="1" u="sng" dirty="0">
                <a:solidFill>
                  <a:srgbClr val="FF0000"/>
                </a:solidFill>
                <a:cs typeface="+mn-ea"/>
                <a:sym typeface="+mn-lt"/>
              </a:rPr>
              <a:t>死锁预防</a:t>
            </a:r>
            <a:r>
              <a:rPr lang="zh-CN" altLang="zh-CN" sz="2400" dirty="0">
                <a:solidFill>
                  <a:srgbClr val="FF0000"/>
                </a:solidFill>
                <a:cs typeface="+mn-ea"/>
                <a:sym typeface="+mn-lt"/>
              </a:rPr>
              <a:t>方式。</a:t>
            </a:r>
            <a:endParaRPr lang="en-US" altLang="zh-CN" sz="2400" dirty="0">
              <a:solidFill>
                <a:srgbClr val="FF0000"/>
              </a:solidFill>
              <a:cs typeface="+mn-ea"/>
              <a:sym typeface="+mn-lt"/>
            </a:endParaRPr>
          </a:p>
        </p:txBody>
      </p:sp>
      <p:sp>
        <p:nvSpPr>
          <p:cNvPr id="4" name="内容占位符 2"/>
          <p:cNvSpPr txBox="1"/>
          <p:nvPr/>
        </p:nvSpPr>
        <p:spPr>
          <a:xfrm>
            <a:off x="669925" y="1111220"/>
            <a:ext cx="10985678" cy="67894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600"/>
              </a:spcBef>
              <a:buNone/>
            </a:pPr>
            <a:r>
              <a:rPr lang="zh-CN" altLang="en-US" sz="2400" dirty="0">
                <a:solidFill>
                  <a:srgbClr val="0000FF"/>
                </a:solidFill>
                <a:cs typeface="+mn-ea"/>
                <a:sym typeface="+mn-lt"/>
              </a:rPr>
              <a:t>分布式检测：</a:t>
            </a:r>
            <a:endParaRPr lang="zh-CN" altLang="en-US" sz="2400" dirty="0">
              <a:solidFill>
                <a:srgbClr val="0000FF"/>
              </a:solidFill>
              <a:cs typeface="+mn-ea"/>
              <a:sym typeface="+mn-lt"/>
            </a:endParaRPr>
          </a:p>
        </p:txBody>
      </p:sp>
      <p:sp>
        <p:nvSpPr>
          <p:cNvPr id="5" name="ïṩḷiďè"/>
          <p:cNvSpPr/>
          <p:nvPr/>
        </p:nvSpPr>
        <p:spPr>
          <a:xfrm>
            <a:off x="0" y="1944296"/>
            <a:ext cx="12192000" cy="1420426"/>
          </a:xfrm>
          <a:prstGeom prst="rect">
            <a:avLst/>
          </a:prstGeom>
          <a:blipFill>
            <a:blip r:embed="rId1"/>
            <a:srcRect/>
            <a:stretch>
              <a:fillRect t="-193116" b="-189697"/>
            </a:stretch>
          </a:blipFill>
          <a:ln w="12700" cap="flat" cmpd="sng" algn="ctr">
            <a:noFill/>
            <a:prstDash val="solid"/>
            <a:miter lim="800000"/>
          </a:ln>
          <a:effectLst>
            <a:outerShdw dist="38100" dir="5400000" algn="t" rotWithShape="0">
              <a:prstClr val="black">
                <a:alpha val="15000"/>
              </a:prstClr>
            </a:outerShdw>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grpSp>
        <p:nvGrpSpPr>
          <p:cNvPr id="6" name="işḷiḍè"/>
          <p:cNvGrpSpPr/>
          <p:nvPr/>
        </p:nvGrpSpPr>
        <p:grpSpPr>
          <a:xfrm>
            <a:off x="309093" y="1993123"/>
            <a:ext cx="3725186" cy="3055396"/>
            <a:chOff x="309093" y="2173427"/>
            <a:chExt cx="3725186" cy="3055396"/>
          </a:xfrm>
        </p:grpSpPr>
        <p:sp>
          <p:nvSpPr>
            <p:cNvPr id="7" name="iṣḻîďé"/>
            <p:cNvSpPr/>
            <p:nvPr/>
          </p:nvSpPr>
          <p:spPr>
            <a:xfrm>
              <a:off x="1448788" y="2173427"/>
              <a:ext cx="1322773" cy="1322773"/>
            </a:xfrm>
            <a:prstGeom prst="ellipse">
              <a:avLst/>
            </a:prstGeom>
            <a:solidFill>
              <a:schemeClr val="accent1">
                <a:alpha val="7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3200" dirty="0">
                  <a:solidFill>
                    <a:schemeClr val="bg1"/>
                  </a:solidFill>
                </a:rPr>
                <a:t>00</a:t>
              </a:r>
              <a:endParaRPr lang="zh-CN" altLang="en-US" sz="3200" dirty="0">
                <a:solidFill>
                  <a:schemeClr val="bg1"/>
                </a:solidFill>
              </a:endParaRPr>
            </a:p>
          </p:txBody>
        </p:sp>
        <p:sp>
          <p:nvSpPr>
            <p:cNvPr id="8" name="iṧľiḑé"/>
            <p:cNvSpPr/>
            <p:nvPr/>
          </p:nvSpPr>
          <p:spPr>
            <a:xfrm>
              <a:off x="309093" y="3607625"/>
              <a:ext cx="3725186" cy="1621198"/>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32000"/>
                </a:lnSpc>
                <a:spcBef>
                  <a:spcPct val="0"/>
                </a:spcBef>
              </a:pPr>
              <a:r>
                <a:rPr lang="zh-CN" altLang="en-US" sz="2200" dirty="0">
                  <a:solidFill>
                    <a:schemeClr val="tx1"/>
                  </a:solidFill>
                </a:rPr>
                <a:t>分布式检测通过系统中竞争资源的各个进程间的相互协作，实现对死锁的检测；</a:t>
              </a:r>
              <a:endParaRPr lang="zh-CN" altLang="en-US" sz="2200" dirty="0">
                <a:solidFill>
                  <a:schemeClr val="tx1"/>
                </a:solidFill>
              </a:endParaRPr>
            </a:p>
          </p:txBody>
        </p:sp>
      </p:grpSp>
      <p:grpSp>
        <p:nvGrpSpPr>
          <p:cNvPr id="9" name="ïsļïḋê"/>
          <p:cNvGrpSpPr/>
          <p:nvPr/>
        </p:nvGrpSpPr>
        <p:grpSpPr>
          <a:xfrm>
            <a:off x="4675013" y="1993123"/>
            <a:ext cx="2899546" cy="3055395"/>
            <a:chOff x="695537" y="2173427"/>
            <a:chExt cx="2899546" cy="3055395"/>
          </a:xfrm>
        </p:grpSpPr>
        <p:sp>
          <p:nvSpPr>
            <p:cNvPr id="10" name="íSḷiḑê"/>
            <p:cNvSpPr/>
            <p:nvPr/>
          </p:nvSpPr>
          <p:spPr>
            <a:xfrm>
              <a:off x="1448788" y="2173427"/>
              <a:ext cx="1322773" cy="1322773"/>
            </a:xfrm>
            <a:prstGeom prst="ellipse">
              <a:avLst/>
            </a:prstGeom>
            <a:solidFill>
              <a:schemeClr val="accent1">
                <a:alpha val="7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3200" dirty="0">
                  <a:solidFill>
                    <a:schemeClr val="bg1"/>
                  </a:solidFill>
                </a:rPr>
                <a:t>00</a:t>
              </a:r>
              <a:endParaRPr lang="zh-CN" altLang="en-US" sz="3200" dirty="0">
                <a:solidFill>
                  <a:schemeClr val="bg1"/>
                </a:solidFill>
              </a:endParaRPr>
            </a:p>
          </p:txBody>
        </p:sp>
        <p:sp>
          <p:nvSpPr>
            <p:cNvPr id="11" name="í$ḻïḍe"/>
            <p:cNvSpPr/>
            <p:nvPr/>
          </p:nvSpPr>
          <p:spPr>
            <a:xfrm>
              <a:off x="695537" y="3711634"/>
              <a:ext cx="2899546" cy="1517188"/>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32000"/>
                </a:lnSpc>
                <a:spcBef>
                  <a:spcPct val="0"/>
                </a:spcBef>
              </a:pPr>
              <a:r>
                <a:rPr lang="zh-CN" altLang="en-US" sz="2400" dirty="0">
                  <a:solidFill>
                    <a:schemeClr val="tx1"/>
                  </a:solidFill>
                </a:rPr>
                <a:t>无须设置一个检测进程来专门对全局资源使用情况进行检测；</a:t>
              </a:r>
              <a:endParaRPr lang="zh-CN" altLang="en-US" sz="2400" dirty="0">
                <a:solidFill>
                  <a:schemeClr val="tx1"/>
                </a:solidFill>
              </a:endParaRPr>
            </a:p>
          </p:txBody>
        </p:sp>
      </p:grpSp>
      <p:grpSp>
        <p:nvGrpSpPr>
          <p:cNvPr id="12" name="ísľïḍè"/>
          <p:cNvGrpSpPr/>
          <p:nvPr/>
        </p:nvGrpSpPr>
        <p:grpSpPr>
          <a:xfrm>
            <a:off x="8558460" y="1993123"/>
            <a:ext cx="2960440" cy="2714007"/>
            <a:chOff x="599507" y="2173427"/>
            <a:chExt cx="2960440" cy="2714007"/>
          </a:xfrm>
        </p:grpSpPr>
        <p:sp>
          <p:nvSpPr>
            <p:cNvPr id="13" name="îśḷíḍe"/>
            <p:cNvSpPr/>
            <p:nvPr/>
          </p:nvSpPr>
          <p:spPr>
            <a:xfrm>
              <a:off x="1448788" y="2173427"/>
              <a:ext cx="1322773" cy="1322773"/>
            </a:xfrm>
            <a:prstGeom prst="ellipse">
              <a:avLst/>
            </a:prstGeom>
            <a:solidFill>
              <a:schemeClr val="accent1">
                <a:alpha val="70000"/>
              </a:schemeClr>
            </a:solidFill>
            <a:ln w="19050"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3200" dirty="0">
                  <a:solidFill>
                    <a:schemeClr val="bg1"/>
                  </a:solidFill>
                </a:rPr>
                <a:t>00</a:t>
              </a:r>
              <a:endParaRPr lang="zh-CN" altLang="en-US" sz="3200" dirty="0">
                <a:solidFill>
                  <a:schemeClr val="bg1"/>
                </a:solidFill>
              </a:endParaRPr>
            </a:p>
          </p:txBody>
        </p:sp>
        <p:sp>
          <p:nvSpPr>
            <p:cNvPr id="14" name="iṧḷiḓê"/>
            <p:cNvSpPr/>
            <p:nvPr/>
          </p:nvSpPr>
          <p:spPr>
            <a:xfrm>
              <a:off x="599507" y="3711634"/>
              <a:ext cx="2960440" cy="11758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52000"/>
                </a:lnSpc>
                <a:spcBef>
                  <a:spcPct val="0"/>
                </a:spcBef>
              </a:pPr>
              <a:r>
                <a:rPr lang="zh-CN" altLang="en-US" sz="2400" dirty="0">
                  <a:solidFill>
                    <a:schemeClr val="tx1"/>
                  </a:solidFill>
                </a:rPr>
                <a:t>每个节点中都设置了一个死锁检测进程。</a:t>
              </a:r>
              <a:endParaRPr lang="zh-CN" altLang="en-US" sz="2400" dirty="0">
                <a:solidFill>
                  <a:schemeClr val="tx1"/>
                </a:solidFill>
              </a:endParaRPr>
            </a:p>
          </p:txBody>
        </p:sp>
      </p:grpSp>
      <p:cxnSp>
        <p:nvCxnSpPr>
          <p:cNvPr id="15" name="直接连接符 14"/>
          <p:cNvCxnSpPr/>
          <p:nvPr/>
        </p:nvCxnSpPr>
        <p:spPr>
          <a:xfrm>
            <a:off x="4183062" y="3726224"/>
            <a:ext cx="0" cy="641123"/>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8066509" y="3726224"/>
            <a:ext cx="0" cy="641123"/>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10144" y="5203957"/>
            <a:ext cx="109856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33222" y="6517602"/>
            <a:ext cx="575166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课程思政小讲堂</a:t>
            </a:r>
            <a:endParaRPr lang="zh-CN" altLang="en-US" sz="2800" b="1" dirty="0">
              <a:solidFill>
                <a:schemeClr val="bg1"/>
              </a:solidFill>
              <a:cs typeface="+mn-ea"/>
              <a:sym typeface="+mn-lt"/>
            </a:endParaRPr>
          </a:p>
        </p:txBody>
      </p:sp>
      <p:sp>
        <p:nvSpPr>
          <p:cNvPr id="52" name="内容占位符 3"/>
          <p:cNvSpPr txBox="1"/>
          <p:nvPr/>
        </p:nvSpPr>
        <p:spPr>
          <a:xfrm>
            <a:off x="1069419" y="1109446"/>
            <a:ext cx="10267365"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cs typeface="+mn-ea"/>
                <a:sym typeface="+mn-lt"/>
              </a:rPr>
              <a:t>任凭国际市场竞争异常激烈，难挡华为鸿蒙系统立地而生</a:t>
            </a:r>
            <a:endParaRPr lang="en-US" altLang="zh-CN" sz="2400" dirty="0">
              <a:cs typeface="+mn-ea"/>
              <a:sym typeface="+mn-lt"/>
            </a:endParaRPr>
          </a:p>
          <a:p>
            <a:pPr marL="0" indent="457200" algn="just">
              <a:lnSpc>
                <a:spcPct val="125000"/>
              </a:lnSpc>
              <a:spcBef>
                <a:spcPts val="300"/>
              </a:spcBef>
              <a:spcAft>
                <a:spcPts val="300"/>
              </a:spcAft>
              <a:buFont typeface="Arial" panose="020B0604020202020204" pitchFamily="34" charset="0"/>
              <a:buNone/>
            </a:pPr>
            <a:r>
              <a:rPr lang="zh-CN" altLang="en-US" sz="2400" dirty="0">
                <a:cs typeface="+mn-ea"/>
                <a:sym typeface="+mn-lt"/>
              </a:rPr>
              <a:t> 提及华为鸿蒙系统（</a:t>
            </a:r>
            <a:r>
              <a:rPr lang="en-US" altLang="zh-CN" sz="2400" dirty="0" err="1">
                <a:cs typeface="+mn-ea"/>
                <a:sym typeface="+mn-lt"/>
              </a:rPr>
              <a:t>HarmonyOS</a:t>
            </a:r>
            <a:r>
              <a:rPr lang="zh-CN" altLang="en-US" sz="2400" dirty="0">
                <a:cs typeface="+mn-ea"/>
                <a:sym typeface="+mn-lt"/>
              </a:rPr>
              <a:t>），很多人的第一印象便是，鸿蒙系统是一款近两年才突然走进大众视野的操作系统。其实并非如此，鸿蒙系统的起源可以一直追溯到</a:t>
            </a:r>
            <a:r>
              <a:rPr lang="en-US" altLang="zh-CN" sz="2400" dirty="0">
                <a:cs typeface="+mn-ea"/>
                <a:sym typeface="+mn-lt"/>
              </a:rPr>
              <a:t>2012</a:t>
            </a:r>
            <a:r>
              <a:rPr lang="zh-CN" altLang="en-US" sz="2400" dirty="0">
                <a:cs typeface="+mn-ea"/>
                <a:sym typeface="+mn-lt"/>
              </a:rPr>
              <a:t>年。</a:t>
            </a:r>
            <a:endParaRPr lang="zh-CN" altLang="en-US" sz="2400" dirty="0">
              <a:cs typeface="+mn-ea"/>
              <a:sym typeface="+mn-lt"/>
            </a:endParaRPr>
          </a:p>
          <a:p>
            <a:pPr marL="0" indent="457200" algn="just">
              <a:lnSpc>
                <a:spcPct val="125000"/>
              </a:lnSpc>
              <a:spcBef>
                <a:spcPts val="300"/>
              </a:spcBef>
              <a:spcAft>
                <a:spcPts val="300"/>
              </a:spcAft>
              <a:buFont typeface="Arial" panose="020B0604020202020204" pitchFamily="34" charset="0"/>
              <a:buNone/>
            </a:pPr>
            <a:r>
              <a:rPr lang="en-US" altLang="zh-CN" sz="2400" dirty="0">
                <a:cs typeface="+mn-ea"/>
                <a:sym typeface="+mn-lt"/>
              </a:rPr>
              <a:t>2012</a:t>
            </a:r>
            <a:r>
              <a:rPr lang="zh-CN" altLang="en-US" sz="2400" dirty="0">
                <a:cs typeface="+mn-ea"/>
                <a:sym typeface="+mn-lt"/>
              </a:rPr>
              <a:t>年</a:t>
            </a:r>
            <a:r>
              <a:rPr lang="en-US" altLang="zh-CN" sz="2400" dirty="0">
                <a:cs typeface="+mn-ea"/>
                <a:sym typeface="+mn-lt"/>
              </a:rPr>
              <a:t>7</a:t>
            </a:r>
            <a:r>
              <a:rPr lang="zh-CN" altLang="en-US" sz="2400" dirty="0">
                <a:cs typeface="+mn-ea"/>
                <a:sym typeface="+mn-lt"/>
              </a:rPr>
              <a:t>月</a:t>
            </a:r>
            <a:r>
              <a:rPr lang="en-US" altLang="zh-CN" sz="2400" dirty="0">
                <a:cs typeface="+mn-ea"/>
                <a:sym typeface="+mn-lt"/>
              </a:rPr>
              <a:t>2</a:t>
            </a:r>
            <a:r>
              <a:rPr lang="zh-CN" altLang="en-US" sz="2400" dirty="0">
                <a:cs typeface="+mn-ea"/>
                <a:sym typeface="+mn-lt"/>
              </a:rPr>
              <a:t>日，华为总裁任正非同诺亚方舟实验室的干部与专家举行座谈。座谈会中，在回答时任华为欧拉实验室终端操作系统开发部部长李金喜的提问时，任正非说道：“如果说这三个操作系统（</a:t>
            </a:r>
            <a:r>
              <a:rPr lang="en-US" altLang="zh-CN" sz="2400" dirty="0">
                <a:cs typeface="+mn-ea"/>
                <a:sym typeface="+mn-lt"/>
              </a:rPr>
              <a:t>Android</a:t>
            </a:r>
            <a:r>
              <a:rPr lang="zh-CN" altLang="en-US" sz="2400" dirty="0">
                <a:cs typeface="+mn-ea"/>
                <a:sym typeface="+mn-lt"/>
              </a:rPr>
              <a:t>、</a:t>
            </a:r>
            <a:r>
              <a:rPr lang="en-US" altLang="zh-CN" sz="2400" dirty="0">
                <a:cs typeface="+mn-ea"/>
                <a:sym typeface="+mn-lt"/>
              </a:rPr>
              <a:t>iOS</a:t>
            </a:r>
            <a:r>
              <a:rPr lang="zh-CN" altLang="en-US" sz="2400" dirty="0">
                <a:cs typeface="+mn-ea"/>
                <a:sym typeface="+mn-lt"/>
              </a:rPr>
              <a:t>、</a:t>
            </a:r>
            <a:r>
              <a:rPr lang="en-US" altLang="zh-CN" sz="2400" dirty="0">
                <a:cs typeface="+mn-ea"/>
                <a:sym typeface="+mn-lt"/>
              </a:rPr>
              <a:t>Windows Phone 8</a:t>
            </a:r>
            <a:r>
              <a:rPr lang="zh-CN" altLang="en-US" sz="2400" dirty="0">
                <a:cs typeface="+mn-ea"/>
                <a:sym typeface="+mn-lt"/>
              </a:rPr>
              <a:t>）都给华为一个平等权利，那我们的操作系统是不需要的，为什么不可以用别人的优势呢？我们现在做终端操作系统是出于战略的考虑，如果他们突然断了我们的‘粮食’</a:t>
            </a:r>
            <a:r>
              <a:rPr lang="en-US" altLang="zh-CN" sz="2400" dirty="0">
                <a:cs typeface="+mn-ea"/>
                <a:sym typeface="+mn-lt"/>
              </a:rPr>
              <a:t>——Android</a:t>
            </a:r>
            <a:r>
              <a:rPr lang="zh-CN" altLang="en-US" sz="2400" dirty="0">
                <a:cs typeface="+mn-ea"/>
                <a:sym typeface="+mn-lt"/>
              </a:rPr>
              <a:t>系统不给我们用了，</a:t>
            </a:r>
            <a:r>
              <a:rPr lang="en-US" altLang="zh-CN" sz="2400" dirty="0">
                <a:cs typeface="+mn-ea"/>
                <a:sym typeface="+mn-lt"/>
              </a:rPr>
              <a:t>Windows Phone 8</a:t>
            </a:r>
            <a:r>
              <a:rPr lang="zh-CN" altLang="en-US" sz="2400" dirty="0">
                <a:cs typeface="+mn-ea"/>
                <a:sym typeface="+mn-lt"/>
              </a:rPr>
              <a:t>系统也不给我们用了，我们是不是就‘傻’了？”</a:t>
            </a:r>
            <a:endParaRPr lang="zh-CN" altLang="en-US" sz="2400" dirty="0">
              <a:cs typeface="+mn-ea"/>
              <a:sym typeface="+mn-l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课程思政小讲堂</a:t>
            </a:r>
            <a:endParaRPr lang="zh-CN" altLang="en-US" sz="2800" b="1" dirty="0">
              <a:solidFill>
                <a:schemeClr val="bg1"/>
              </a:solidFill>
              <a:cs typeface="+mn-ea"/>
              <a:sym typeface="+mn-lt"/>
            </a:endParaRPr>
          </a:p>
        </p:txBody>
      </p:sp>
      <p:sp>
        <p:nvSpPr>
          <p:cNvPr id="52" name="内容占位符 3"/>
          <p:cNvSpPr txBox="1"/>
          <p:nvPr/>
        </p:nvSpPr>
        <p:spPr>
          <a:xfrm>
            <a:off x="1069419" y="1109446"/>
            <a:ext cx="10267365"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cs typeface="+mn-ea"/>
                <a:sym typeface="+mn-lt"/>
              </a:rPr>
              <a:t>任凭国际市场竞争异常激烈，难挡华为鸿蒙系统立地而生</a:t>
            </a:r>
            <a:endParaRPr lang="en-US" altLang="zh-CN" sz="2400" dirty="0">
              <a:cs typeface="+mn-ea"/>
              <a:sym typeface="+mn-lt"/>
            </a:endParaRPr>
          </a:p>
          <a:p>
            <a:pPr marL="0" indent="457200" algn="just">
              <a:lnSpc>
                <a:spcPct val="125000"/>
              </a:lnSpc>
              <a:spcBef>
                <a:spcPts val="300"/>
              </a:spcBef>
              <a:spcAft>
                <a:spcPts val="300"/>
              </a:spcAft>
              <a:buFont typeface="Arial" panose="020B0604020202020204" pitchFamily="34" charset="0"/>
              <a:buNone/>
            </a:pPr>
            <a:r>
              <a:rPr lang="zh-CN" altLang="en-US" sz="2300" dirty="0">
                <a:cs typeface="+mn-ea"/>
                <a:sym typeface="+mn-lt"/>
              </a:rPr>
              <a:t>于是，</a:t>
            </a:r>
            <a:r>
              <a:rPr lang="en-US" altLang="zh-CN" sz="2300" dirty="0">
                <a:cs typeface="+mn-ea"/>
                <a:sym typeface="+mn-lt"/>
              </a:rPr>
              <a:t>2012</a:t>
            </a:r>
            <a:r>
              <a:rPr lang="zh-CN" altLang="en-US" sz="2300" dirty="0">
                <a:cs typeface="+mn-ea"/>
                <a:sym typeface="+mn-lt"/>
              </a:rPr>
              <a:t>年，华为在</a:t>
            </a:r>
            <a:r>
              <a:rPr lang="en-US" altLang="zh-CN" sz="2300" dirty="0">
                <a:cs typeface="+mn-ea"/>
                <a:sym typeface="+mn-lt"/>
              </a:rPr>
              <a:t>Linux</a:t>
            </a:r>
            <a:r>
              <a:rPr lang="zh-CN" altLang="en-US" sz="2300" dirty="0">
                <a:cs typeface="+mn-ea"/>
                <a:sym typeface="+mn-lt"/>
              </a:rPr>
              <a:t>系统的诞生地（芬兰赫尔辛基）组建了自己的终端操作系统研发团队，此后该团队开始从</a:t>
            </a:r>
            <a:r>
              <a:rPr lang="en-US" altLang="zh-CN" sz="2300" dirty="0">
                <a:cs typeface="+mn-ea"/>
                <a:sym typeface="+mn-lt"/>
              </a:rPr>
              <a:t>20</a:t>
            </a:r>
            <a:r>
              <a:rPr lang="zh-CN" altLang="en-US" sz="2300" dirty="0">
                <a:cs typeface="+mn-ea"/>
                <a:sym typeface="+mn-lt"/>
              </a:rPr>
              <a:t>名工程师逐步壮大。</a:t>
            </a:r>
            <a:endParaRPr lang="en-US" altLang="zh-CN" sz="2300" dirty="0">
              <a:cs typeface="+mn-ea"/>
              <a:sym typeface="+mn-lt"/>
            </a:endParaRPr>
          </a:p>
          <a:p>
            <a:pPr marL="0" indent="457200" algn="just">
              <a:lnSpc>
                <a:spcPct val="125000"/>
              </a:lnSpc>
              <a:spcBef>
                <a:spcPts val="300"/>
              </a:spcBef>
              <a:spcAft>
                <a:spcPts val="300"/>
              </a:spcAft>
              <a:buFont typeface="Arial" panose="020B0604020202020204" pitchFamily="34" charset="0"/>
              <a:buNone/>
            </a:pPr>
            <a:r>
              <a:rPr lang="zh-CN" altLang="en-US" sz="2300" dirty="0">
                <a:cs typeface="+mn-ea"/>
                <a:sym typeface="+mn-lt"/>
              </a:rPr>
              <a:t>有人说华为的与众不同之处在于，它在不确定是否能用得上的情况下，仍会坚持为自己打造“备胎”。果不其然，这句话中“不确定的情况”在</a:t>
            </a:r>
            <a:r>
              <a:rPr lang="en-US" altLang="zh-CN" sz="2300" dirty="0">
                <a:cs typeface="+mn-ea"/>
                <a:sym typeface="+mn-lt"/>
              </a:rPr>
              <a:t>2019</a:t>
            </a:r>
            <a:r>
              <a:rPr lang="zh-CN" altLang="en-US" sz="2300" dirty="0">
                <a:cs typeface="+mn-ea"/>
                <a:sym typeface="+mn-lt"/>
              </a:rPr>
              <a:t>年</a:t>
            </a:r>
            <a:r>
              <a:rPr lang="en-US" altLang="zh-CN" sz="2300" dirty="0">
                <a:cs typeface="+mn-ea"/>
                <a:sym typeface="+mn-lt"/>
              </a:rPr>
              <a:t>5</a:t>
            </a:r>
            <a:r>
              <a:rPr lang="zh-CN" altLang="en-US" sz="2300" dirty="0">
                <a:cs typeface="+mn-ea"/>
                <a:sym typeface="+mn-lt"/>
              </a:rPr>
              <a:t>月变成了确定</a:t>
            </a:r>
            <a:r>
              <a:rPr lang="en-US" altLang="zh-CN" sz="2300" dirty="0">
                <a:cs typeface="+mn-ea"/>
                <a:sym typeface="+mn-lt"/>
              </a:rPr>
              <a:t>——</a:t>
            </a:r>
            <a:r>
              <a:rPr lang="zh-CN" altLang="en-US" sz="2300" dirty="0">
                <a:cs typeface="+mn-ea"/>
                <a:sym typeface="+mn-lt"/>
              </a:rPr>
              <a:t>谷歌公司停止了与华为的部分合作，即华为手机将不能使用完整版</a:t>
            </a:r>
            <a:r>
              <a:rPr lang="en-US" altLang="zh-CN" sz="2300" dirty="0">
                <a:cs typeface="+mn-ea"/>
                <a:sym typeface="+mn-lt"/>
              </a:rPr>
              <a:t>Android</a:t>
            </a:r>
            <a:r>
              <a:rPr lang="zh-CN" altLang="en-US" sz="2300" dirty="0">
                <a:cs typeface="+mn-ea"/>
                <a:sym typeface="+mn-lt"/>
              </a:rPr>
              <a:t>系统。在此背景下，曾经的“备胎”（鸿蒙系统）肩负着前所未有的压力，被推到了历史潮流的浪头。至此，备受国人期待的鸿蒙系统才算正式走进了大众的视野。</a:t>
            </a:r>
            <a:endParaRPr lang="zh-CN" altLang="en-US" sz="2300" dirty="0">
              <a:cs typeface="+mn-ea"/>
              <a:sym typeface="+mn-lt"/>
            </a:endParaRPr>
          </a:p>
          <a:p>
            <a:pPr marL="0" indent="457200" algn="just">
              <a:lnSpc>
                <a:spcPct val="125000"/>
              </a:lnSpc>
              <a:spcBef>
                <a:spcPts val="300"/>
              </a:spcBef>
              <a:spcAft>
                <a:spcPts val="300"/>
              </a:spcAft>
              <a:buFont typeface="Arial" panose="020B0604020202020204" pitchFamily="34" charset="0"/>
              <a:buNone/>
            </a:pPr>
            <a:r>
              <a:rPr lang="zh-CN" altLang="en-US" sz="2300" u="sng" dirty="0">
                <a:cs typeface="+mn-ea"/>
                <a:sym typeface="+mn-lt"/>
              </a:rPr>
              <a:t>坚信，在相关科技人才的不懈努力与国内外有识之士的鼎力支持下，华为一定可以尽快构建起鸿蒙系统的应用生态，进而走出一条艰辛但是充满希望的国产操作系统发展之路。</a:t>
            </a:r>
            <a:endParaRPr lang="zh-CN" altLang="en-US" sz="2300" u="sng" dirty="0">
              <a:cs typeface="+mn-ea"/>
              <a:sym typeface="+mn-lt"/>
            </a:endParaRPr>
          </a:p>
        </p:txBody>
      </p:sp>
    </p:spTree>
  </p:cSld>
  <p:clrMapOvr>
    <a:masterClrMapping/>
  </p:clrMapOvr>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tA6S0wzOvQ8a50SA42PUNRg"/>
</p:tagLst>
</file>

<file path=ppt/tags/tag3.xml><?xml version="1.0" encoding="utf-8"?>
<p:tagLst xmlns:p="http://schemas.openxmlformats.org/presentationml/2006/main">
  <p:tag name="ISLIDE.DIAGRAM" val="185926"/>
</p:tagLst>
</file>

<file path=ppt/tags/tag4.xml><?xml version="1.0" encoding="utf-8"?>
<p:tagLst xmlns:p="http://schemas.openxmlformats.org/presentationml/2006/main">
  <p:tag name="ISLIDE.DIAGRAM" val="185926"/>
</p:tagLst>
</file>

<file path=ppt/tags/tag5.xml><?xml version="1.0" encoding="utf-8"?>
<p:tagLst xmlns:p="http://schemas.openxmlformats.org/presentationml/2006/main">
  <p:tag name="ISLIDE.DIAGRAM" val="217641"/>
</p:tagLst>
</file>

<file path=ppt/tags/tag6.xml><?xml version="1.0" encoding="utf-8"?>
<p:tagLst xmlns:p="http://schemas.openxmlformats.org/presentationml/2006/main">
  <p:tag name="ISLIDE.DIAGRAM" val="217641"/>
</p:tagLst>
</file>

<file path=ppt/tags/tag7.xml><?xml version="1.0" encoding="utf-8"?>
<p:tagLst xmlns:p="http://schemas.openxmlformats.org/presentationml/2006/main">
  <p:tag name="ISLIDE.DIAGRAM" val="272399"/>
</p:tagLst>
</file>

<file path=ppt/tags/tag8.xml><?xml version="1.0" encoding="utf-8"?>
<p:tagLst xmlns:p="http://schemas.openxmlformats.org/presentationml/2006/main">
  <p:tag name="ISLIDE.DIAGRAM" val="272399"/>
</p:tagLst>
</file>

<file path=ppt/tags/tag9.xml><?xml version="1.0" encoding="utf-8"?>
<p:tagLst xmlns:p="http://schemas.openxmlformats.org/presentationml/2006/main">
  <p:tag name="ISLIDE.DIAGRAM" val="272399"/>
</p:tagLst>
</file>

<file path=ppt/tags/tag10.xml><?xml version="1.0" encoding="utf-8"?>
<p:tagLst xmlns:p="http://schemas.openxmlformats.org/presentationml/2006/main">
  <p:tag name="ISLIDE.DIAGRAM" val="217641"/>
</p:tagLst>
</file>

<file path=ppt/tags/tag11.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3at4k55a">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8290</Words>
  <Application>WPS 演示</Application>
  <PresentationFormat>宽屏</PresentationFormat>
  <Paragraphs>561</Paragraphs>
  <Slides>45</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45</vt:i4>
      </vt:variant>
    </vt:vector>
  </HeadingPairs>
  <TitlesOfParts>
    <vt:vector size="55" baseType="lpstr">
      <vt:lpstr>Arial</vt:lpstr>
      <vt:lpstr>宋体</vt:lpstr>
      <vt:lpstr>Wingdings</vt:lpstr>
      <vt:lpstr>Times New Roman</vt:lpstr>
      <vt:lpstr>微软雅黑</vt:lpstr>
      <vt:lpstr>Arial Unicode MS</vt:lpstr>
      <vt:lpstr>Calibri</vt:lpstr>
      <vt:lpstr>Impact</vt:lpstr>
      <vt:lpstr>主题5</vt:lpstr>
      <vt:lpstr>TCLayout.ActiveDocument.1</vt:lpstr>
      <vt:lpstr>第10章  多处理机操作系统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优橙教育</cp:lastModifiedBy>
  <cp:revision>148</cp:revision>
  <cp:lastPrinted>2019-04-18T16:00:00Z</cp:lastPrinted>
  <dcterms:created xsi:type="dcterms:W3CDTF">2019-04-18T16:00:00Z</dcterms:created>
  <dcterms:modified xsi:type="dcterms:W3CDTF">2024-12-02T01:38:14Z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BFB8EF7BD3AE4EA79333DA04974780BD</vt:lpwstr>
  </property>
  <property fmtid="{D5CDD505-2E9C-101B-9397-08002B2CF9AE}" pid="4" name="KSOProductBuildVer">
    <vt:lpwstr>2052-12.1.0.18912</vt:lpwstr>
  </property>
</Properties>
</file>