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ink/ink2.xml" ContentType="application/inkml+xml"/>
  <Override PartName="/ppt/comments/comment1.xml" ContentType="application/vnd.openxmlformats-officedocument.presentationml.comments+xml"/>
  <Override PartName="/ppt/tags/tag8.xml" ContentType="application/vnd.openxmlformats-officedocument.presentationml.tags+xml"/>
  <Override PartName="/ppt/tags/tag9.xml" ContentType="application/vnd.openxmlformats-officedocument.presentationml.tags+xml"/>
  <Override PartName="/ppt/ink/ink3.xml" ContentType="application/inkml+xml"/>
  <Override PartName="/ppt/ink/ink4.xml" ContentType="application/inkml+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4" r:id="rId2"/>
  </p:sldMasterIdLst>
  <p:notesMasterIdLst>
    <p:notesMasterId r:id="rId147"/>
  </p:notesMasterIdLst>
  <p:handoutMasterIdLst>
    <p:handoutMasterId r:id="rId148"/>
  </p:handoutMasterIdLst>
  <p:sldIdLst>
    <p:sldId id="341" r:id="rId3"/>
    <p:sldId id="544" r:id="rId4"/>
    <p:sldId id="546" r:id="rId5"/>
    <p:sldId id="547" r:id="rId6"/>
    <p:sldId id="924" r:id="rId7"/>
    <p:sldId id="545" r:id="rId8"/>
    <p:sldId id="548" r:id="rId9"/>
    <p:sldId id="549" r:id="rId10"/>
    <p:sldId id="550" r:id="rId11"/>
    <p:sldId id="551" r:id="rId12"/>
    <p:sldId id="552" r:id="rId13"/>
    <p:sldId id="553" r:id="rId14"/>
    <p:sldId id="554" r:id="rId15"/>
    <p:sldId id="555" r:id="rId16"/>
    <p:sldId id="556" r:id="rId17"/>
    <p:sldId id="557" r:id="rId18"/>
    <p:sldId id="558" r:id="rId19"/>
    <p:sldId id="559" r:id="rId20"/>
    <p:sldId id="560" r:id="rId21"/>
    <p:sldId id="561" r:id="rId22"/>
    <p:sldId id="563" r:id="rId23"/>
    <p:sldId id="562" r:id="rId24"/>
    <p:sldId id="564" r:id="rId25"/>
    <p:sldId id="565" r:id="rId26"/>
    <p:sldId id="566" r:id="rId27"/>
    <p:sldId id="567" r:id="rId28"/>
    <p:sldId id="568" r:id="rId29"/>
    <p:sldId id="569" r:id="rId30"/>
    <p:sldId id="570" r:id="rId31"/>
    <p:sldId id="571" r:id="rId32"/>
    <p:sldId id="427" r:id="rId33"/>
    <p:sldId id="572" r:id="rId34"/>
    <p:sldId id="573" r:id="rId35"/>
    <p:sldId id="574" r:id="rId36"/>
    <p:sldId id="575" r:id="rId37"/>
    <p:sldId id="576" r:id="rId38"/>
    <p:sldId id="577" r:id="rId39"/>
    <p:sldId id="578" r:id="rId40"/>
    <p:sldId id="579" r:id="rId41"/>
    <p:sldId id="580" r:id="rId42"/>
    <p:sldId id="581" r:id="rId43"/>
    <p:sldId id="582" r:id="rId44"/>
    <p:sldId id="583" r:id="rId45"/>
    <p:sldId id="584" r:id="rId46"/>
    <p:sldId id="586" r:id="rId47"/>
    <p:sldId id="587" r:id="rId48"/>
    <p:sldId id="589" r:id="rId49"/>
    <p:sldId id="588" r:id="rId50"/>
    <p:sldId id="591" r:id="rId51"/>
    <p:sldId id="590" r:id="rId52"/>
    <p:sldId id="592" r:id="rId53"/>
    <p:sldId id="585" r:id="rId54"/>
    <p:sldId id="593" r:id="rId55"/>
    <p:sldId id="594" r:id="rId56"/>
    <p:sldId id="595" r:id="rId57"/>
    <p:sldId id="597" r:id="rId58"/>
    <p:sldId id="596" r:id="rId59"/>
    <p:sldId id="598" r:id="rId60"/>
    <p:sldId id="599" r:id="rId61"/>
    <p:sldId id="600" r:id="rId62"/>
    <p:sldId id="601" r:id="rId63"/>
    <p:sldId id="602" r:id="rId64"/>
    <p:sldId id="603" r:id="rId65"/>
    <p:sldId id="604" r:id="rId66"/>
    <p:sldId id="605" r:id="rId67"/>
    <p:sldId id="606" r:id="rId68"/>
    <p:sldId id="709" r:id="rId69"/>
    <p:sldId id="607" r:id="rId70"/>
    <p:sldId id="608" r:id="rId71"/>
    <p:sldId id="609" r:id="rId72"/>
    <p:sldId id="610" r:id="rId73"/>
    <p:sldId id="611" r:id="rId74"/>
    <p:sldId id="612" r:id="rId75"/>
    <p:sldId id="613" r:id="rId76"/>
    <p:sldId id="614" r:id="rId77"/>
    <p:sldId id="615" r:id="rId78"/>
    <p:sldId id="616" r:id="rId79"/>
    <p:sldId id="617" r:id="rId80"/>
    <p:sldId id="618" r:id="rId81"/>
    <p:sldId id="619" r:id="rId82"/>
    <p:sldId id="620" r:id="rId83"/>
    <p:sldId id="621" r:id="rId84"/>
    <p:sldId id="622" r:id="rId85"/>
    <p:sldId id="623" r:id="rId86"/>
    <p:sldId id="624" r:id="rId87"/>
    <p:sldId id="625" r:id="rId88"/>
    <p:sldId id="626" r:id="rId89"/>
    <p:sldId id="627" r:id="rId90"/>
    <p:sldId id="628" r:id="rId91"/>
    <p:sldId id="629" r:id="rId92"/>
    <p:sldId id="630" r:id="rId93"/>
    <p:sldId id="631" r:id="rId94"/>
    <p:sldId id="632" r:id="rId95"/>
    <p:sldId id="633" r:id="rId96"/>
    <p:sldId id="634" r:id="rId97"/>
    <p:sldId id="635" r:id="rId98"/>
    <p:sldId id="636" r:id="rId99"/>
    <p:sldId id="637" r:id="rId100"/>
    <p:sldId id="638" r:id="rId101"/>
    <p:sldId id="639" r:id="rId102"/>
    <p:sldId id="640" r:id="rId103"/>
    <p:sldId id="641" r:id="rId104"/>
    <p:sldId id="642" r:id="rId105"/>
    <p:sldId id="643" r:id="rId106"/>
    <p:sldId id="644" r:id="rId107"/>
    <p:sldId id="645" r:id="rId108"/>
    <p:sldId id="646" r:id="rId109"/>
    <p:sldId id="647" r:id="rId110"/>
    <p:sldId id="648" r:id="rId111"/>
    <p:sldId id="649" r:id="rId112"/>
    <p:sldId id="259" r:id="rId113"/>
    <p:sldId id="262" r:id="rId114"/>
    <p:sldId id="288" r:id="rId115"/>
    <p:sldId id="263" r:id="rId116"/>
    <p:sldId id="289" r:id="rId117"/>
    <p:sldId id="264" r:id="rId118"/>
    <p:sldId id="265" r:id="rId119"/>
    <p:sldId id="290" r:id="rId120"/>
    <p:sldId id="291" r:id="rId121"/>
    <p:sldId id="266" r:id="rId122"/>
    <p:sldId id="292" r:id="rId123"/>
    <p:sldId id="686" r:id="rId124"/>
    <p:sldId id="267" r:id="rId125"/>
    <p:sldId id="268" r:id="rId126"/>
    <p:sldId id="293" r:id="rId127"/>
    <p:sldId id="269" r:id="rId128"/>
    <p:sldId id="294" r:id="rId129"/>
    <p:sldId id="270" r:id="rId130"/>
    <p:sldId id="271" r:id="rId131"/>
    <p:sldId id="272" r:id="rId132"/>
    <p:sldId id="273" r:id="rId133"/>
    <p:sldId id="274" r:id="rId134"/>
    <p:sldId id="275" r:id="rId135"/>
    <p:sldId id="276" r:id="rId136"/>
    <p:sldId id="650" r:id="rId137"/>
    <p:sldId id="651" r:id="rId138"/>
    <p:sldId id="652" r:id="rId139"/>
    <p:sldId id="653" r:id="rId140"/>
    <p:sldId id="654" r:id="rId141"/>
    <p:sldId id="655" r:id="rId142"/>
    <p:sldId id="656" r:id="rId143"/>
    <p:sldId id="657" r:id="rId144"/>
    <p:sldId id="658" r:id="rId145"/>
    <p:sldId id="659" r:id="rId146"/>
  </p:sldIdLst>
  <p:sldSz cx="9144000" cy="6858000" type="screen4x3"/>
  <p:notesSz cx="6858000" cy="9144000"/>
  <p:embeddedFontLst>
    <p:embeddedFont>
      <p:font typeface="兰米楷体-商" panose="02010600030101010101" charset="-122"/>
      <p:regular r:id="rId149"/>
    </p:embeddedFont>
    <p:embeddedFont>
      <p:font typeface="Calibri" panose="020F0502020204030204" pitchFamily="34" charset="0"/>
      <p:regular r:id="rId150"/>
      <p:bold r:id="rId151"/>
      <p:italic r:id="rId152"/>
      <p:boldItalic r:id="rId153"/>
    </p:embeddedFont>
    <p:embeddedFont>
      <p:font typeface="Verdana" panose="020B0604030504040204" pitchFamily="34" charset="0"/>
      <p:regular r:id="rId154"/>
      <p:bold r:id="rId155"/>
      <p:italic r:id="rId156"/>
      <p:boldItalic r:id="rId157"/>
    </p:embeddedFont>
    <p:embeddedFont>
      <p:font typeface="仿宋" panose="02010609060101010101" pitchFamily="49" charset="-122"/>
      <p:regular r:id="rId158"/>
    </p:embeddedFont>
    <p:embeddedFont>
      <p:font typeface="黑体" panose="02010609060101010101" pitchFamily="49" charset="-122"/>
      <p:regular r:id="rId159"/>
    </p:embeddedFont>
    <p:embeddedFont>
      <p:font typeface="微软雅黑" panose="020B0503020204020204" pitchFamily="34" charset="-122"/>
      <p:regular r:id="rId160"/>
      <p:bold r:id="rId161"/>
    </p:embeddedFont>
    <p:embeddedFont>
      <p:font typeface="幼圆" panose="02010509060101010101" pitchFamily="49" charset="-122"/>
      <p:regular r:id="rId162"/>
    </p:embeddedFont>
  </p:embeddedFontLst>
  <p:custDataLst>
    <p:tags r:id="rId163"/>
  </p:custDataLst>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23" userDrawn="1">
          <p15:clr>
            <a:srgbClr val="A4A3A4"/>
          </p15:clr>
        </p15:guide>
        <p15:guide id="2" pos="284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YZ" initials="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C00CC"/>
    <a:srgbClr val="FFFFCC"/>
    <a:srgbClr val="740000"/>
    <a:srgbClr val="00349E"/>
    <a:srgbClr val="CC6600"/>
    <a:srgbClr val="B10303"/>
    <a:srgbClr val="CC3399"/>
    <a:srgbClr val="FFFF99"/>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4104" autoAdjust="0"/>
  </p:normalViewPr>
  <p:slideViewPr>
    <p:cSldViewPr showGuides="1">
      <p:cViewPr varScale="1">
        <p:scale>
          <a:sx n="99" d="100"/>
          <a:sy n="99" d="100"/>
        </p:scale>
        <p:origin x="1452" y="32"/>
      </p:cViewPr>
      <p:guideLst>
        <p:guide orient="horz" pos="2123"/>
        <p:guide pos="2845"/>
      </p:guideLst>
    </p:cSldViewPr>
  </p:slideViewPr>
  <p:notesTextViewPr>
    <p:cViewPr>
      <p:scale>
        <a:sx n="100" d="100"/>
        <a:sy n="100" d="100"/>
      </p:scale>
      <p:origin x="0" y="0"/>
    </p:cViewPr>
  </p:notesTextViewPr>
  <p:sorterViewPr>
    <p:cViewPr>
      <p:scale>
        <a:sx n="66" d="100"/>
        <a:sy n="66" d="100"/>
      </p:scale>
      <p:origin x="0" y="4445"/>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font" Target="fonts/font11.fntdata"/><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font" Target="fonts/font1.fntdata"/><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font" Target="fonts/font12.fntdata"/><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font" Target="fonts/font2.fntdata"/><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font" Target="fonts/font13.fntdata"/><Relationship Id="rId16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font" Target="fonts/font3.fntdata"/><Relationship Id="rId156" Type="http://schemas.openxmlformats.org/officeDocument/2006/relationships/font" Target="fonts/font8.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font" Target="fonts/font14.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font" Target="fonts/font9.fntdata"/><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font" Target="fonts/font4.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notesMaster" Target="notesMasters/notesMaster1.xml"/><Relationship Id="rId168"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tags" Target="tags/tag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font" Target="fonts/font5.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handoutMaster" Target="handoutMasters/handoutMaster1.xml"/><Relationship Id="rId16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font" Target="fonts/font6.fntdata"/><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presProps" Target="presProp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font" Target="fonts/font7.fntdata"/></Relationships>
</file>

<file path=ppt/comments/comment1.xml><?xml version="1.0" encoding="utf-8"?>
<p:cmLst xmlns:a="http://schemas.openxmlformats.org/drawingml/2006/main" xmlns:r="http://schemas.openxmlformats.org/officeDocument/2006/relationships" xmlns:p="http://schemas.openxmlformats.org/presentationml/2006/main">
  <p:cm authorId="1" dt="2018-11-22T23:57:50.386" idx="2">
    <p:pos x="10" y="10"/>
    <p:text>IBM PC及兼容机的ROM中有一系列外部设备管理软件，组成了基本的输入输出系统(ROM BIOS)。
    DOS在此基础上开发了输入输出设备处理程序IBMBIO.COM，这也是DOS与ROM BIOS的接口。
    在IBMBIO.COM基础上，DOS还开发了文件管理和一系列处理程序IBMDOS.COM。
    另外，DOS还有命令处理程序COMMAND.COM，它与前两种程序构成基本DOS系统。</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2024/12/21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12T15:37:38"/>
    </inkml:context>
    <inkml:brush xml:id="br0">
      <inkml:brushProperty name="width" value="0.05292" units="cm"/>
      <inkml:brushProperty name="height" value="0.05292" units="cm"/>
      <inkml:brushProperty name="color" value="#F80600"/>
    </inkml:brush>
  </inkml:definitions>
  <inkml:trace contextRef="#ctx0" brushRef="#br0">1511 4108,'49'0,"-24"0,25 0,-26-50,1 50,0 0,-2 0,1 0,1 0,0 0,0 0,-1 0,-24 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15T10:11:47"/>
    </inkml:context>
    <inkml:brush xml:id="br0">
      <inkml:brushProperty name="width" value="0.05292" units="cm"/>
      <inkml:brushProperty name="height" value="0.05292" units="cm"/>
      <inkml:brushProperty name="color" value="#F80600"/>
    </inkml:brush>
  </inkml:definitions>
  <inkml:trace contextRef="#ctx0" brushRef="#br0">1276 9409,'0'0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1T15:26:59"/>
    </inkml:context>
    <inkml:brush xml:id="br0">
      <inkml:brushProperty name="width" value="0.05292" units="cm"/>
      <inkml:brushProperty name="height" value="0.05292" units="cm"/>
      <inkml:brushProperty name="color" value="#F80600"/>
    </inkml:brush>
  </inkml:definitions>
  <inkml:trace contextRef="#ctx0" brushRef="#br0">9597 9528,'25'49,"-25"24,0 1,0-50,47 50,-47-51,0 2,0 0,0-1,0 1,0 25,0-26,0 1,0 0,0-2,25 1,24-24,25 0,-24 0,121 0,0 0,49 0,50 0,50 0,22 0,-97 0,-23 0,-51 0,-96 0,-28 0,-22 0,-25-24,0 1,0-2,25-24,-1-26,-24 51,25-49,0 49,-25-26,0-48,24-24,1-51,0-48,-25 1,72-25,-47-73,-1 24,75-100,-51 27,-48-49,0 22,0-22,0 122,49 48,-49 75,0 48,0 98,-97 25,-76 0,-22 0,-100 0,-97 0,-269 0,121 0,0 0,75 0,-1 0,0 0,48 0,27 0,121 0,0 0,74 0,50 0,-3 0,-22 25,50-25,71 49,1-49,-25 0,49 0,25 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6" units="1/cm"/>
          <inkml:channelProperty channel="Y" name="resolution" value="28.34646" units="1/cm"/>
        </inkml:channelProperties>
      </inkml:inkSource>
      <inkml:timestamp xml:id="ts0" timeString="2023-09-21T15:26:59"/>
    </inkml:context>
    <inkml:brush xml:id="br0">
      <inkml:brushProperty name="width" value="0.05292" units="cm"/>
      <inkml:brushProperty name="height" value="0.05292" units="cm"/>
      <inkml:brushProperty name="color" value="#F80600"/>
    </inkml:brush>
  </inkml:definitions>
  <inkml:trace contextRef="#ctx0" brushRef="#br0">2260 10435,'123'0,"73"0,0 0,99 0,-1 0,147 0,99 0,121 0,-47 0,-2 0,99 0,99 0,-75 0,318 0,-119 0,143 0,-22 0,146 0,-74 0,75 0,-73 0,-2 0,-72 0,-246 0,-73 0,-198 0,-145 0,-75 0,-121 0,-75-25,-97 25,-1 0,-24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CC15A9-E68D-43DB-9F27-620F3E057C81}" type="datetimeFigureOut">
              <a:rPr lang="zh-CN" altLang="en-US" smtClean="0"/>
              <a:t>2024/12/21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6B27ACE-7591-4D2A-9DF1-E79EEEC70C7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文本框 3"/>
          <p:cNvSpPr txBox="1"/>
          <p:nvPr userDrawn="1"/>
        </p:nvSpPr>
        <p:spPr>
          <a:xfrm>
            <a:off x="3473450" y="3562350"/>
            <a:ext cx="5104765" cy="737235"/>
          </a:xfrm>
          <a:prstGeom prst="rect">
            <a:avLst/>
          </a:prstGeom>
          <a:noFill/>
          <a:effectLst>
            <a:outerShdw blurRad="50800" dist="25400" dir="2400000" algn="ctr" rotWithShape="0">
              <a:srgbClr val="000000">
                <a:alpha val="43000"/>
              </a:srgbClr>
            </a:outerShdw>
          </a:effectLst>
        </p:spPr>
        <p:txBody>
          <a:bodyPr wrap="square" rtlCol="0">
            <a:spAutoFit/>
          </a:bodyPr>
          <a:lstStyle/>
          <a:p>
            <a:pPr>
              <a:lnSpc>
                <a:spcPct val="150000"/>
              </a:lnSpc>
            </a:pPr>
            <a:r>
              <a:rPr lang="zh-CN" altLang="en-US" sz="2800" i="1">
                <a:latin typeface="微软雅黑" panose="020B0503020204020204" pitchFamily="34" charset="-122"/>
                <a:ea typeface="微软雅黑" panose="020B0503020204020204" pitchFamily="34" charset="-122"/>
              </a:rPr>
              <a:t>微机原理与接口技术（第</a:t>
            </a:r>
            <a:r>
              <a:rPr lang="en-US" altLang="zh-CN" sz="2800" i="1">
                <a:latin typeface="微软雅黑" panose="020B0503020204020204" pitchFamily="34" charset="-122"/>
                <a:ea typeface="微软雅黑" panose="020B0503020204020204" pitchFamily="34" charset="-122"/>
              </a:rPr>
              <a:t>3</a:t>
            </a:r>
            <a:r>
              <a:rPr lang="zh-CN" altLang="en-US" sz="2800" i="1">
                <a:latin typeface="微软雅黑" panose="020B0503020204020204" pitchFamily="34" charset="-122"/>
                <a:ea typeface="微软雅黑" panose="020B0503020204020204" pitchFamily="34" charset="-122"/>
              </a:rPr>
              <a:t>版）</a:t>
            </a:r>
            <a:endParaRPr lang="en-US" altLang="zh-CN" sz="2800" i="1">
              <a:latin typeface="微软雅黑" panose="020B0503020204020204" pitchFamily="34" charset="-122"/>
              <a:ea typeface="微软雅黑" panose="020B0503020204020204" pitchFamily="34" charset="-122"/>
            </a:endParaRPr>
          </a:p>
        </p:txBody>
      </p:sp>
      <p:sp>
        <p:nvSpPr>
          <p:cNvPr id="10" name="文本框 9"/>
          <p:cNvSpPr txBox="1"/>
          <p:nvPr userDrawn="1"/>
        </p:nvSpPr>
        <p:spPr>
          <a:xfrm>
            <a:off x="4211638" y="5608320"/>
            <a:ext cx="2296795" cy="368300"/>
          </a:xfrm>
          <a:prstGeom prst="rect">
            <a:avLst/>
          </a:prstGeom>
          <a:noFill/>
          <a:effectLst>
            <a:outerShdw blurRad="50800" dist="12700" dir="5400000" algn="ctr" rotWithShape="0">
              <a:srgbClr val="000000">
                <a:alpha val="43000"/>
              </a:srgbClr>
            </a:outerShdw>
          </a:effectLst>
        </p:spPr>
        <p:txBody>
          <a:bodyPr wrap="square" rtlCol="0">
            <a:spAutoFit/>
          </a:bodyPr>
          <a:lstStyle/>
          <a:p>
            <a:pPr algn="ctr"/>
            <a:r>
              <a:rPr lang="zh-CN" altLang="en-US" sz="1800">
                <a:latin typeface="微软雅黑" panose="020B0503020204020204" pitchFamily="34" charset="-122"/>
                <a:ea typeface="微软雅黑" panose="020B0503020204020204" pitchFamily="34" charset="-122"/>
              </a:rPr>
              <a:t>清华大学出版社</a:t>
            </a:r>
          </a:p>
        </p:txBody>
      </p:sp>
      <p:grpSp>
        <p:nvGrpSpPr>
          <p:cNvPr id="3078" name="组合 29"/>
          <p:cNvGrpSpPr/>
          <p:nvPr userDrawn="1"/>
        </p:nvGrpSpPr>
        <p:grpSpPr>
          <a:xfrm>
            <a:off x="0" y="6597650"/>
            <a:ext cx="9144000" cy="260350"/>
            <a:chOff x="0" y="0"/>
            <a:chExt cx="8792204" cy="764704"/>
          </a:xfrm>
        </p:grpSpPr>
        <p:sp>
          <p:nvSpPr>
            <p:cNvPr id="3079" name="矩形 14"/>
            <p:cNvSpPr/>
            <p:nvPr/>
          </p:nvSpPr>
          <p:spPr>
            <a:xfrm>
              <a:off x="0" y="0"/>
              <a:ext cx="1267876" cy="764704"/>
            </a:xfrm>
            <a:prstGeom prst="rect">
              <a:avLst/>
            </a:prstGeom>
            <a:solidFill>
              <a:srgbClr val="160B37"/>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0" name="矩形 15"/>
            <p:cNvSpPr/>
            <p:nvPr/>
          </p:nvSpPr>
          <p:spPr>
            <a:xfrm>
              <a:off x="1267876" y="0"/>
              <a:ext cx="1267876" cy="764704"/>
            </a:xfrm>
            <a:prstGeom prst="rect">
              <a:avLst/>
            </a:prstGeom>
            <a:solidFill>
              <a:srgbClr val="201053"/>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1" name="矩形 16"/>
            <p:cNvSpPr/>
            <p:nvPr/>
          </p:nvSpPr>
          <p:spPr>
            <a:xfrm>
              <a:off x="3761434" y="0"/>
              <a:ext cx="1267876" cy="764704"/>
            </a:xfrm>
            <a:prstGeom prst="rect">
              <a:avLst/>
            </a:prstGeom>
            <a:solidFill>
              <a:srgbClr val="2B70FF"/>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2" name="矩形 18"/>
            <p:cNvSpPr/>
            <p:nvPr/>
          </p:nvSpPr>
          <p:spPr>
            <a:xfrm>
              <a:off x="5032316" y="0"/>
              <a:ext cx="1267876" cy="764704"/>
            </a:xfrm>
            <a:prstGeom prst="rect">
              <a:avLst/>
            </a:prstGeom>
            <a:solidFill>
              <a:srgbClr val="729EFF"/>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3" name="矩形 19"/>
            <p:cNvSpPr/>
            <p:nvPr/>
          </p:nvSpPr>
          <p:spPr>
            <a:xfrm>
              <a:off x="2495411" y="0"/>
              <a:ext cx="1267876" cy="764704"/>
            </a:xfrm>
            <a:prstGeom prst="rect">
              <a:avLst/>
            </a:prstGeom>
            <a:solidFill>
              <a:srgbClr val="000099"/>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4" name="矩形 26"/>
            <p:cNvSpPr/>
            <p:nvPr/>
          </p:nvSpPr>
          <p:spPr>
            <a:xfrm>
              <a:off x="7524328" y="0"/>
              <a:ext cx="1267876" cy="764704"/>
            </a:xfrm>
            <a:prstGeom prst="rect">
              <a:avLst/>
            </a:prstGeom>
            <a:solidFill>
              <a:srgbClr val="E3DCF8"/>
            </a:solidFill>
            <a:ln w="9525">
              <a:noFill/>
            </a:ln>
          </p:spPr>
          <p:txBody>
            <a:bodyPr anchor="ctr"/>
            <a:lstStyle/>
            <a:p>
              <a:pPr algn="ctr"/>
              <a:endParaRPr lang="zh-CN" altLang="en-US" dirty="0">
                <a:solidFill>
                  <a:srgbClr val="FFFFFF"/>
                </a:solidFill>
                <a:ea typeface="宋体" panose="02010600030101010101" pitchFamily="2" charset="-122"/>
              </a:endParaRPr>
            </a:p>
          </p:txBody>
        </p:sp>
        <p:sp>
          <p:nvSpPr>
            <p:cNvPr id="3085" name="矩形 28"/>
            <p:cNvSpPr/>
            <p:nvPr/>
          </p:nvSpPr>
          <p:spPr>
            <a:xfrm>
              <a:off x="6258305" y="0"/>
              <a:ext cx="1267876" cy="764704"/>
            </a:xfrm>
            <a:prstGeom prst="rect">
              <a:avLst/>
            </a:prstGeom>
            <a:solidFill>
              <a:srgbClr val="AFAFFF"/>
            </a:solidFill>
            <a:ln w="9525">
              <a:noFill/>
            </a:ln>
          </p:spPr>
          <p:txBody>
            <a:bodyPr anchor="ctr"/>
            <a:lstStyle/>
            <a:p>
              <a:pPr algn="ctr"/>
              <a:endParaRPr lang="zh-CN" altLang="en-US" dirty="0">
                <a:solidFill>
                  <a:srgbClr val="FFFFFF"/>
                </a:solidFill>
                <a:ea typeface="宋体" panose="02010600030101010101" pitchFamily="2" charset="-122"/>
              </a:endParaRPr>
            </a:p>
          </p:txBody>
        </p:sp>
      </p:grpSp>
      <p:sp>
        <p:nvSpPr>
          <p:cNvPr id="13" name="Rectangle 52"/>
          <p:cNvSpPr/>
          <p:nvPr userDrawn="1"/>
        </p:nvSpPr>
        <p:spPr>
          <a:xfrm>
            <a:off x="5895975" y="635"/>
            <a:ext cx="3248025" cy="2781300"/>
          </a:xfrm>
          <a:prstGeom prst="rect">
            <a:avLst/>
          </a:prstGeom>
          <a:solidFill>
            <a:schemeClr val="accent1"/>
          </a:solidFill>
          <a:ln w="9525">
            <a:noFill/>
          </a:ln>
        </p:spPr>
        <p:txBody>
          <a:bodyPr wrap="none" anchor="ctr"/>
          <a:lstStyle/>
          <a:p>
            <a:pPr eaLnBrk="1" hangingPunct="1"/>
            <a:endParaRPr lang="zh-CN" altLang="en-US" dirty="0">
              <a:ea typeface="宋体" panose="02010600030101010101" pitchFamily="2" charset="-122"/>
            </a:endParaRPr>
          </a:p>
        </p:txBody>
      </p:sp>
      <p:sp>
        <p:nvSpPr>
          <p:cNvPr id="3076" name="Line 5"/>
          <p:cNvSpPr/>
          <p:nvPr userDrawn="1"/>
        </p:nvSpPr>
        <p:spPr>
          <a:xfrm>
            <a:off x="7164388" y="4867275"/>
            <a:ext cx="1349375" cy="1588"/>
          </a:xfrm>
          <a:prstGeom prst="line">
            <a:avLst/>
          </a:prstGeom>
          <a:ln w="76200" cap="rnd" cmpd="sng">
            <a:solidFill>
              <a:srgbClr val="000099"/>
            </a:solidFill>
            <a:prstDash val="sysDot"/>
            <a:headEnd type="none" w="med" len="med"/>
            <a:tailEnd type="none" w="med" len="med"/>
          </a:ln>
        </p:spPr>
        <p:txBody>
          <a:bodyPr/>
          <a:lstStyle/>
          <a:p>
            <a:endParaRPr lang="zh-CN" altLang="en-US" dirty="0">
              <a:solidFill>
                <a:srgbClr val="00349E"/>
              </a:solidFill>
              <a:ea typeface="宋体" panose="02010600030101010101" pitchFamily="2" charset="-122"/>
              <a:sym typeface="Verdana" panose="020B0604030504040204" pitchFamily="34" charset="0"/>
            </a:endParaRPr>
          </a:p>
        </p:txBody>
      </p:sp>
      <p:grpSp>
        <p:nvGrpSpPr>
          <p:cNvPr id="17" name="Group 53"/>
          <p:cNvGrpSpPr/>
          <p:nvPr userDrawn="1"/>
        </p:nvGrpSpPr>
        <p:grpSpPr>
          <a:xfrm>
            <a:off x="19050" y="2330450"/>
            <a:ext cx="9115425" cy="358775"/>
            <a:chOff x="0" y="0"/>
            <a:chExt cx="1927" cy="226"/>
          </a:xfrm>
        </p:grpSpPr>
        <p:sp>
          <p:nvSpPr>
            <p:cNvPr id="18" name="Line 54"/>
            <p:cNvSpPr/>
            <p:nvPr/>
          </p:nvSpPr>
          <p:spPr>
            <a:xfrm>
              <a:off x="0" y="0"/>
              <a:ext cx="1927" cy="0"/>
            </a:xfrm>
            <a:prstGeom prst="line">
              <a:avLst/>
            </a:prstGeom>
            <a:ln w="19050" cap="rnd" cmpd="sng">
              <a:solidFill>
                <a:schemeClr val="bg1"/>
              </a:solidFill>
              <a:prstDash val="sysDot"/>
              <a:headEnd type="none" w="med" len="med"/>
              <a:tailEnd type="none" w="med" len="med"/>
            </a:ln>
          </p:spPr>
        </p:sp>
        <p:sp>
          <p:nvSpPr>
            <p:cNvPr id="19" name="Line 55"/>
            <p:cNvSpPr/>
            <p:nvPr/>
          </p:nvSpPr>
          <p:spPr>
            <a:xfrm>
              <a:off x="0" y="72"/>
              <a:ext cx="1927" cy="0"/>
            </a:xfrm>
            <a:prstGeom prst="line">
              <a:avLst/>
            </a:prstGeom>
            <a:ln w="19050" cap="rnd" cmpd="sng">
              <a:solidFill>
                <a:schemeClr val="bg1"/>
              </a:solidFill>
              <a:prstDash val="sysDot"/>
              <a:headEnd type="none" w="med" len="med"/>
              <a:tailEnd type="none" w="med" len="med"/>
            </a:ln>
          </p:spPr>
        </p:sp>
        <p:sp>
          <p:nvSpPr>
            <p:cNvPr id="20" name="Line 56"/>
            <p:cNvSpPr/>
            <p:nvPr/>
          </p:nvSpPr>
          <p:spPr>
            <a:xfrm>
              <a:off x="0" y="148"/>
              <a:ext cx="1927" cy="0"/>
            </a:xfrm>
            <a:prstGeom prst="line">
              <a:avLst/>
            </a:prstGeom>
            <a:ln w="19050" cap="rnd" cmpd="sng">
              <a:solidFill>
                <a:schemeClr val="bg1"/>
              </a:solidFill>
              <a:prstDash val="sysDot"/>
              <a:headEnd type="none" w="med" len="med"/>
              <a:tailEnd type="none" w="med" len="med"/>
            </a:ln>
          </p:spPr>
        </p:sp>
        <p:sp>
          <p:nvSpPr>
            <p:cNvPr id="21" name="Line 57"/>
            <p:cNvSpPr/>
            <p:nvPr/>
          </p:nvSpPr>
          <p:spPr>
            <a:xfrm>
              <a:off x="0" y="226"/>
              <a:ext cx="1927" cy="0"/>
            </a:xfrm>
            <a:prstGeom prst="line">
              <a:avLst/>
            </a:prstGeom>
            <a:ln w="19050" cap="rnd" cmpd="sng">
              <a:solidFill>
                <a:schemeClr val="bg1"/>
              </a:solidFill>
              <a:prstDash val="sysDot"/>
              <a:headEnd type="none" w="med" len="med"/>
              <a:tailEnd type="none" w="med" len="med"/>
            </a:ln>
          </p:spPr>
        </p:sp>
      </p:grpSp>
      <p:pic>
        <p:nvPicPr>
          <p:cNvPr id="22" name="图片 21" descr="timg (1)"/>
          <p:cNvPicPr>
            <a:picLocks noChangeAspect="1"/>
          </p:cNvPicPr>
          <p:nvPr userDrawn="1"/>
        </p:nvPicPr>
        <p:blipFill>
          <a:blip r:embed="rId2"/>
          <a:srcRect t="-1392" r="26943"/>
          <a:stretch>
            <a:fillRect/>
          </a:stretch>
        </p:blipFill>
        <p:spPr>
          <a:xfrm>
            <a:off x="0" y="-39370"/>
            <a:ext cx="3279140" cy="2820670"/>
          </a:xfrm>
          <a:prstGeom prst="rect">
            <a:avLst/>
          </a:prstGeom>
        </p:spPr>
      </p:pic>
      <p:pic>
        <p:nvPicPr>
          <p:cNvPr id="27" name="Picture 62"/>
          <p:cNvPicPr>
            <a:picLocks noChangeAspect="1"/>
          </p:cNvPicPr>
          <p:nvPr userDrawn="1"/>
        </p:nvPicPr>
        <p:blipFill>
          <a:blip r:embed="rId3"/>
          <a:stretch>
            <a:fillRect/>
          </a:stretch>
        </p:blipFill>
        <p:spPr>
          <a:xfrm>
            <a:off x="3243263" y="0"/>
            <a:ext cx="3011487" cy="2781300"/>
          </a:xfrm>
          <a:prstGeom prst="rect">
            <a:avLst/>
          </a:prstGeom>
          <a:noFill/>
          <a:ln w="9525">
            <a:noFill/>
          </a:ln>
        </p:spPr>
      </p:pic>
      <p:grpSp>
        <p:nvGrpSpPr>
          <p:cNvPr id="34" name="组合 33"/>
          <p:cNvGrpSpPr/>
          <p:nvPr userDrawn="1"/>
        </p:nvGrpSpPr>
        <p:grpSpPr>
          <a:xfrm>
            <a:off x="3810" y="3756660"/>
            <a:ext cx="9131935" cy="775970"/>
            <a:chOff x="6" y="5916"/>
            <a:chExt cx="14381" cy="1222"/>
          </a:xfrm>
          <a:effectLst>
            <a:outerShdw blurRad="50800" dist="38100" dir="2700000" algn="tl" rotWithShape="0">
              <a:prstClr val="black">
                <a:alpha val="40000"/>
              </a:prstClr>
            </a:outerShdw>
          </a:effectLst>
        </p:grpSpPr>
        <p:cxnSp>
          <p:nvCxnSpPr>
            <p:cNvPr id="28" name="直接连接符 27"/>
            <p:cNvCxnSpPr/>
            <p:nvPr userDrawn="1"/>
          </p:nvCxnSpPr>
          <p:spPr>
            <a:xfrm>
              <a:off x="6" y="5916"/>
              <a:ext cx="4680" cy="0"/>
            </a:xfrm>
            <a:prstGeom prst="line">
              <a:avLst/>
            </a:prstGeom>
            <a:ln w="60325" cmpd="sng">
              <a:solidFill>
                <a:srgbClr val="00349E"/>
              </a:solidFill>
              <a:prstDash val="soli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flipV="1">
              <a:off x="4591" y="7090"/>
              <a:ext cx="9796" cy="11"/>
            </a:xfrm>
            <a:prstGeom prst="line">
              <a:avLst/>
            </a:prstGeom>
            <a:ln w="60325" cmpd="sng">
              <a:solidFill>
                <a:srgbClr val="00349E"/>
              </a:solidFill>
              <a:prstDash val="solid"/>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userDrawn="1"/>
          </p:nvCxnSpPr>
          <p:spPr>
            <a:xfrm>
              <a:off x="4633" y="5916"/>
              <a:ext cx="0" cy="1222"/>
            </a:xfrm>
            <a:prstGeom prst="line">
              <a:avLst/>
            </a:prstGeom>
            <a:ln w="60325"/>
          </p:spPr>
          <p:style>
            <a:lnRef idx="1">
              <a:schemeClr val="accent1"/>
            </a:lnRef>
            <a:fillRef idx="0">
              <a:schemeClr val="accent1"/>
            </a:fillRef>
            <a:effectRef idx="0">
              <a:schemeClr val="accent1"/>
            </a:effectRef>
            <a:fontRef idx="minor">
              <a:schemeClr val="tx1"/>
            </a:fontRef>
          </p:style>
        </p:cxnSp>
      </p:grpSp>
      <p:pic>
        <p:nvPicPr>
          <p:cNvPr id="33" name="图片 32" descr="cover"/>
          <p:cNvPicPr>
            <a:picLocks noChangeAspect="1"/>
          </p:cNvPicPr>
          <p:nvPr userDrawn="1"/>
        </p:nvPicPr>
        <p:blipFill>
          <a:blip r:embed="rId4"/>
          <a:stretch>
            <a:fillRect/>
          </a:stretch>
        </p:blipFill>
        <p:spPr>
          <a:xfrm>
            <a:off x="901065" y="2884805"/>
            <a:ext cx="1567815" cy="2091690"/>
          </a:xfrm>
          <a:prstGeom prst="rect">
            <a:avLst/>
          </a:prstGeom>
        </p:spPr>
      </p:pic>
      <p:sp>
        <p:nvSpPr>
          <p:cNvPr id="3" name="文本框 2"/>
          <p:cNvSpPr txBox="1"/>
          <p:nvPr userDrawn="1"/>
        </p:nvSpPr>
        <p:spPr>
          <a:xfrm>
            <a:off x="4211638" y="5044440"/>
            <a:ext cx="2296795" cy="368300"/>
          </a:xfrm>
          <a:prstGeom prst="rect">
            <a:avLst/>
          </a:prstGeom>
          <a:noFill/>
          <a:effectLst>
            <a:outerShdw blurRad="50800" dist="12700" dir="5400000" algn="ctr" rotWithShape="0">
              <a:srgbClr val="000000">
                <a:alpha val="43000"/>
              </a:srgbClr>
            </a:outerShdw>
          </a:effectLst>
        </p:spPr>
        <p:txBody>
          <a:bodyPr wrap="square" rtlCol="0">
            <a:spAutoFit/>
          </a:bodyPr>
          <a:lstStyle/>
          <a:p>
            <a:pPr algn="ctr"/>
            <a:r>
              <a:rPr lang="zh-CN" altLang="en-US" sz="1800">
                <a:latin typeface="仿宋" panose="02010609060101010101" pitchFamily="49" charset="-122"/>
                <a:ea typeface="仿宋" panose="02010609060101010101" pitchFamily="49" charset="-122"/>
                <a:cs typeface="仿宋" panose="02010609060101010101" pitchFamily="49" charset="-122"/>
              </a:rPr>
              <a:t>牟  琦  主编</a:t>
            </a: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298450" y="287338"/>
            <a:ext cx="6172200" cy="563562"/>
          </a:xfrm>
        </p:spPr>
        <p:txBody>
          <a:bodyPr/>
          <a:lstStyle>
            <a:lvl1pPr>
              <a:defRPr sz="2800" i="1">
                <a:latin typeface="微软雅黑" panose="020B0503020204020204" pitchFamily="34" charset="-122"/>
                <a:ea typeface="微软雅黑" panose="020B0503020204020204" pitchFamily="34" charset="-122"/>
              </a:defRPr>
            </a:lvl1pPr>
          </a:lstStyle>
          <a:p>
            <a:r>
              <a:rPr lang="zh-CN" altLang="en-US" dirty="0"/>
              <a:t>单击此处添加标题</a:t>
            </a:r>
          </a:p>
        </p:txBody>
      </p:sp>
      <p:sp>
        <p:nvSpPr>
          <p:cNvPr id="3" name="内容占位符 2"/>
          <p:cNvSpPr>
            <a:spLocks noGrp="1"/>
          </p:cNvSpPr>
          <p:nvPr>
            <p:ph idx="1"/>
          </p:nvPr>
        </p:nvSpPr>
        <p:spPr>
          <a:xfrm>
            <a:off x="336550" y="1353458"/>
            <a:ext cx="8229600" cy="4263752"/>
          </a:xfrm>
          <a:prstGeom prst="rect">
            <a:avLst/>
          </a:prstGeom>
        </p:spPr>
        <p:txBody>
          <a:bodyPr/>
          <a:lstStyle>
            <a:lvl1pPr marL="0" indent="0">
              <a:buNone/>
              <a:defRPr b="0">
                <a:latin typeface="微软雅黑" panose="020B0503020204020204" pitchFamily="34" charset="-122"/>
                <a:ea typeface="微软雅黑" panose="020B0503020204020204" pitchFamily="34" charset="-122"/>
              </a:defRPr>
            </a:lvl1pPr>
            <a:lvl2pPr>
              <a:buFont typeface="Wingdings" panose="05000000000000000000" charset="0"/>
              <a:buChar char="n"/>
              <a:defRPr b="0">
                <a:latin typeface="微软雅黑" panose="020B0503020204020204" pitchFamily="34" charset="-122"/>
                <a:ea typeface="微软雅黑" panose="020B0503020204020204" pitchFamily="34" charset="-122"/>
              </a:defRPr>
            </a:lvl2pPr>
            <a:lvl3pPr>
              <a:buFont typeface="Wingdings" panose="05000000000000000000" charset="0"/>
              <a:buChar char="p"/>
              <a:defRPr b="0">
                <a:latin typeface="微软雅黑" panose="020B0503020204020204" pitchFamily="34" charset="-122"/>
                <a:ea typeface="微软雅黑" panose="020B0503020204020204" pitchFamily="34" charset="-122"/>
              </a:defRPr>
            </a:lvl3pPr>
            <a:lvl4pPr>
              <a:defRPr b="0">
                <a:latin typeface="微软雅黑" panose="020B0503020204020204" pitchFamily="34" charset="-122"/>
                <a:ea typeface="微软雅黑" panose="020B0503020204020204" pitchFamily="34" charset="-122"/>
              </a:defRPr>
            </a:lvl4pPr>
            <a:lvl5pPr marL="1828800" indent="0">
              <a:buNone/>
              <a:defRPr b="0">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566574"/>
            <a:ext cx="8229600" cy="4886761"/>
          </a:xfrm>
          <a:prstGeom prst="rect">
            <a:avLst/>
          </a:prstGeom>
        </p:spPr>
        <p:txBody>
          <a:bodyPr/>
          <a:lstStyle>
            <a:lvl1pPr marL="0" indent="0">
              <a:lnSpc>
                <a:spcPct val="150000"/>
              </a:lnSpc>
              <a:buNone/>
              <a:defRPr sz="2400" b="0">
                <a:solidFill>
                  <a:srgbClr val="00349E"/>
                </a:solidFill>
                <a:latin typeface="微软雅黑" panose="020B0503020204020204" pitchFamily="34" charset="-122"/>
                <a:ea typeface="微软雅黑" panose="020B0503020204020204" pitchFamily="34" charset="-122"/>
              </a:defRPr>
            </a:lvl1pPr>
            <a:lvl2pPr>
              <a:lnSpc>
                <a:spcPct val="150000"/>
              </a:lnSpc>
              <a:buFont typeface="Wingdings" panose="05000000000000000000" charset="0"/>
              <a:buChar char="n"/>
              <a:defRPr sz="2000" b="0">
                <a:latin typeface="微软雅黑" panose="020B0503020204020204" pitchFamily="34" charset="-122"/>
                <a:ea typeface="微软雅黑" panose="020B0503020204020204" pitchFamily="34" charset="-122"/>
              </a:defRPr>
            </a:lvl2pPr>
            <a:lvl3pPr>
              <a:lnSpc>
                <a:spcPct val="150000"/>
              </a:lnSpc>
              <a:buFont typeface="Wingdings" panose="05000000000000000000" charset="0"/>
              <a:buChar char="p"/>
              <a:defRPr sz="1800" b="0">
                <a:latin typeface="微软雅黑" panose="020B0503020204020204" pitchFamily="34" charset="-122"/>
                <a:ea typeface="微软雅黑" panose="020B0503020204020204" pitchFamily="34" charset="-122"/>
              </a:defRPr>
            </a:lvl3pPr>
            <a:lvl4pPr>
              <a:lnSpc>
                <a:spcPct val="150000"/>
              </a:lnSpc>
              <a:defRPr sz="1600" b="0">
                <a:latin typeface="微软雅黑" panose="020B0503020204020204" pitchFamily="34" charset="-122"/>
                <a:ea typeface="微软雅黑" panose="020B0503020204020204" pitchFamily="34" charset="-122"/>
              </a:defRPr>
            </a:lvl4pPr>
            <a:lvl5pPr marL="1828800" indent="0">
              <a:buNone/>
              <a:defRPr b="0">
                <a:latin typeface="微软雅黑" panose="020B0503020204020204" pitchFamily="34" charset="-122"/>
                <a:ea typeface="微软雅黑" panose="020B0503020204020204" pitchFamily="34"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endParaRPr lang="zh-CN" altLang="en-US"/>
          </a:p>
        </p:txBody>
      </p:sp>
      <p:sp>
        <p:nvSpPr>
          <p:cNvPr id="6" name="矩形 5"/>
          <p:cNvSpPr/>
          <p:nvPr userDrawn="1"/>
        </p:nvSpPr>
        <p:spPr>
          <a:xfrm>
            <a:off x="-1905" y="927100"/>
            <a:ext cx="5250180" cy="575945"/>
          </a:xfrm>
          <a:prstGeom prst="rect">
            <a:avLst/>
          </a:prstGeom>
          <a:solidFill>
            <a:srgbClr val="EAEA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quarter" idx="10"/>
          </p:nvPr>
        </p:nvSpPr>
        <p:spPr>
          <a:xfrm>
            <a:off x="448280" y="990630"/>
            <a:ext cx="5832475" cy="512415"/>
          </a:xfrm>
          <a:prstGeom prst="rect">
            <a:avLst/>
          </a:prstGeom>
        </p:spPr>
        <p:txBody>
          <a:bodyPr/>
          <a:lstStyle>
            <a:lvl1pPr>
              <a:buNone/>
              <a:defRPr sz="2400" b="1">
                <a:solidFill>
                  <a:srgbClr val="000000"/>
                </a:solidFill>
                <a:latin typeface="微软雅黑" panose="020B0503020204020204" pitchFamily="34" charset="-122"/>
                <a:ea typeface="微软雅黑" panose="020B0503020204020204" pitchFamily="34" charset="-122"/>
              </a:defRPr>
            </a:lvl1pPr>
            <a:lvl2pPr>
              <a:buNone/>
              <a:defRPr/>
            </a:lvl2pPr>
          </a:lstStyle>
          <a:p>
            <a:pPr lvl="0"/>
            <a:r>
              <a:rPr lang="zh-CN" altLang="en-US" dirty="0"/>
              <a:t>单击此处编辑母版文本样式</a:t>
            </a:r>
          </a:p>
        </p:txBody>
      </p:sp>
      <p:sp>
        <p:nvSpPr>
          <p:cNvPr id="8" name="标题 7"/>
          <p:cNvSpPr>
            <a:spLocks noGrp="1"/>
          </p:cNvSpPr>
          <p:nvPr>
            <p:ph type="title" hasCustomPrompt="1"/>
          </p:nvPr>
        </p:nvSpPr>
        <p:spPr>
          <a:xfrm>
            <a:off x="298450" y="287338"/>
            <a:ext cx="6172200" cy="563562"/>
          </a:xfrm>
        </p:spPr>
        <p:txBody>
          <a:bodyPr/>
          <a:lstStyle>
            <a:lvl1pPr>
              <a:defRPr lang="zh-CN" altLang="zh-CN" sz="2800" b="1" smtClean="0">
                <a:effectLst/>
              </a:defRPr>
            </a:lvl1pPr>
          </a:lstStyle>
          <a:p>
            <a:r>
              <a:rPr lang="en-US" altLang="zh-CN" sz="1800" b="1" kern="2200" dirty="0">
                <a:effectLst/>
                <a:latin typeface="Times New Roman" panose="02020603050405020304" pitchFamily="18" charset="0"/>
                <a:ea typeface="黑体" panose="02010609060101010101" pitchFamily="49" charset="-122"/>
              </a:rPr>
              <a:t>5 </a:t>
            </a:r>
            <a:r>
              <a:rPr lang="zh-CN" altLang="zh-CN" sz="1800" b="1" kern="2200" dirty="0">
                <a:effectLst/>
                <a:latin typeface="Times New Roman" panose="02020603050405020304" pitchFamily="18" charset="0"/>
                <a:ea typeface="黑体" panose="02010609060101010101" pitchFamily="49" charset="-122"/>
              </a:rPr>
              <a:t>汇编语言程序设计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Top)">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CBD65E4C-2FD4-4723-9EA1-A0119828D946}"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t>12/21/2024</a:t>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B0F44CF2-CA70-4099-913B-38208EA4077A}" type="slidenum">
              <a:rPr lang="zh-CN" altLang="zh-CN"/>
              <a:t>‹#›</a:t>
            </a:fld>
            <a:endParaRPr lang="zh-CN"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AF99D6BC-656B-4F6B-92FA-FD94E8C1A6CC}" type="slidenum">
              <a:rPr lang="zh-CN" altLang="zh-CN"/>
              <a:t>‹#›</a:t>
            </a:fld>
            <a:endParaRPr lang="zh-CN"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A64A1FC9-8F31-4693-AB90-5665CC18F8B5}" type="slidenum">
              <a:rPr lang="zh-CN" altLang="zh-CN"/>
              <a:t>‹#›</a:t>
            </a:fld>
            <a:endParaRPr lang="zh-CN"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fld id="{7E2D07BD-5694-4F37-A77D-76D364D7A69C}" type="slidenum">
              <a:rPr lang="zh-CN" altLang="zh-CN"/>
              <a:t>‹#›</a:t>
            </a:fld>
            <a:endParaRPr lang="zh-CN"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zh-CN" altLang="zh-CN"/>
          </a:p>
        </p:txBody>
      </p:sp>
      <p:sp>
        <p:nvSpPr>
          <p:cNvPr id="8" name="Rectangle 5"/>
          <p:cNvSpPr>
            <a:spLocks noGrp="1" noChangeArrowheads="1"/>
          </p:cNvSpPr>
          <p:nvPr>
            <p:ph type="ftr" sz="quarter" idx="11"/>
          </p:nvPr>
        </p:nvSpPr>
        <p:spPr/>
        <p:txBody>
          <a:bodyPr/>
          <a:lstStyle>
            <a:lvl1pPr>
              <a:defRPr/>
            </a:lvl1pPr>
          </a:lstStyle>
          <a:p>
            <a:pPr>
              <a:defRPr/>
            </a:pPr>
            <a:endParaRPr lang="zh-CN" altLang="zh-CN"/>
          </a:p>
        </p:txBody>
      </p:sp>
      <p:sp>
        <p:nvSpPr>
          <p:cNvPr id="9" name="Rectangle 6"/>
          <p:cNvSpPr>
            <a:spLocks noGrp="1" noChangeArrowheads="1"/>
          </p:cNvSpPr>
          <p:nvPr>
            <p:ph type="sldNum" sz="quarter" idx="12"/>
          </p:nvPr>
        </p:nvSpPr>
        <p:spPr/>
        <p:txBody>
          <a:bodyPr/>
          <a:lstStyle>
            <a:lvl1pPr>
              <a:defRPr/>
            </a:lvl1pPr>
          </a:lstStyle>
          <a:p>
            <a:fld id="{87BD9D3E-A89E-4BF6-BFC1-7014DE277E72}" type="slidenum">
              <a:rPr lang="zh-CN" altLang="zh-CN"/>
              <a:t>‹#›</a:t>
            </a:fld>
            <a:endParaRPr lang="zh-CN"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zh-CN" altLang="zh-CN"/>
          </a:p>
        </p:txBody>
      </p:sp>
      <p:sp>
        <p:nvSpPr>
          <p:cNvPr id="4" name="Rectangle 5"/>
          <p:cNvSpPr>
            <a:spLocks noGrp="1" noChangeArrowheads="1"/>
          </p:cNvSpPr>
          <p:nvPr>
            <p:ph type="ftr" sz="quarter" idx="11"/>
          </p:nvPr>
        </p:nvSpPr>
        <p:spPr/>
        <p:txBody>
          <a:bodyPr/>
          <a:lstStyle>
            <a:lvl1pPr>
              <a:defRPr/>
            </a:lvl1pPr>
          </a:lstStyle>
          <a:p>
            <a:pPr>
              <a:defRPr/>
            </a:pPr>
            <a:endParaRPr lang="zh-CN" altLang="zh-CN"/>
          </a:p>
        </p:txBody>
      </p:sp>
      <p:sp>
        <p:nvSpPr>
          <p:cNvPr id="5" name="Rectangle 6"/>
          <p:cNvSpPr>
            <a:spLocks noGrp="1" noChangeArrowheads="1"/>
          </p:cNvSpPr>
          <p:nvPr>
            <p:ph type="sldNum" sz="quarter" idx="12"/>
          </p:nvPr>
        </p:nvSpPr>
        <p:spPr/>
        <p:txBody>
          <a:bodyPr/>
          <a:lstStyle>
            <a:lvl1pPr>
              <a:defRPr/>
            </a:lvl1pPr>
          </a:lstStyle>
          <a:p>
            <a:fld id="{0588FDF3-EF40-4866-9D43-E590F031826D}" type="slidenum">
              <a:rPr lang="zh-CN" altLang="zh-CN"/>
              <a:t>‹#›</a:t>
            </a:fld>
            <a:endParaRPr lang="zh-CN"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zh-CN" altLang="zh-CN"/>
          </a:p>
        </p:txBody>
      </p:sp>
      <p:sp>
        <p:nvSpPr>
          <p:cNvPr id="3" name="Rectangle 5"/>
          <p:cNvSpPr>
            <a:spLocks noGrp="1" noChangeArrowheads="1"/>
          </p:cNvSpPr>
          <p:nvPr>
            <p:ph type="ftr" sz="quarter" idx="11"/>
          </p:nvPr>
        </p:nvSpPr>
        <p:spPr/>
        <p:txBody>
          <a:bodyPr/>
          <a:lstStyle>
            <a:lvl1pPr>
              <a:defRPr/>
            </a:lvl1pPr>
          </a:lstStyle>
          <a:p>
            <a:pPr>
              <a:defRPr/>
            </a:pPr>
            <a:endParaRPr lang="zh-CN" altLang="zh-CN"/>
          </a:p>
        </p:txBody>
      </p:sp>
      <p:sp>
        <p:nvSpPr>
          <p:cNvPr id="4" name="Rectangle 6"/>
          <p:cNvSpPr>
            <a:spLocks noGrp="1" noChangeArrowheads="1"/>
          </p:cNvSpPr>
          <p:nvPr>
            <p:ph type="sldNum" sz="quarter" idx="12"/>
          </p:nvPr>
        </p:nvSpPr>
        <p:spPr/>
        <p:txBody>
          <a:bodyPr/>
          <a:lstStyle>
            <a:lvl1pPr>
              <a:defRPr/>
            </a:lvl1pPr>
          </a:lstStyle>
          <a:p>
            <a:fld id="{1E70E3AB-AC42-4EDD-AC21-A049BC60AD89}" type="slidenum">
              <a:rPr lang="zh-CN" altLang="zh-CN"/>
              <a:t>‹#›</a:t>
            </a:fld>
            <a:endParaRPr lang="zh-CN"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fld id="{1E421F14-EA14-421A-B915-CB1C237C1619}" type="slidenum">
              <a:rPr lang="zh-CN" altLang="zh-CN"/>
              <a:t>‹#›</a:t>
            </a:fld>
            <a:endParaRPr lang="zh-CN"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fld id="{50008043-4C90-41BD-99AA-D405F4D3DF1D}" type="slidenum">
              <a:rPr lang="zh-CN" altLang="zh-CN"/>
              <a:t>‹#›</a:t>
            </a:fld>
            <a:endParaRPr lang="zh-CN"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EF349E83-4D9C-45B5-9900-B7163107F065}" type="slidenum">
              <a:rPr lang="zh-CN" altLang="zh-CN"/>
              <a:t>‹#›</a:t>
            </a:fld>
            <a:endParaRPr lang="zh-CN"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F095DAF0-1965-4529-9FCC-649D206871C6}" type="slidenum">
              <a:rPr lang="zh-CN" altLang="zh-CN"/>
              <a:t>‹#›</a:t>
            </a:fld>
            <a:endParaRPr lang="zh-CN"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29600" cy="4525963"/>
          </a:xfrm>
        </p:spPr>
        <p:txBody>
          <a:bodyPr/>
          <a:lstStyle/>
          <a:p>
            <a:pPr lvl="0"/>
            <a:endParaRPr lang="zh-CN" altLang="en-US" noProof="0"/>
          </a:p>
        </p:txBody>
      </p:sp>
      <p:sp>
        <p:nvSpPr>
          <p:cNvPr id="4" name="Rectangle 4"/>
          <p:cNvSpPr>
            <a:spLocks noGrp="1" noChangeArrowheads="1"/>
          </p:cNvSpPr>
          <p:nvPr>
            <p:ph type="dt" sz="half" idx="10"/>
          </p:nvPr>
        </p:nvSpPr>
        <p:spPr/>
        <p:txBody>
          <a:bodyPr/>
          <a:lstStyle>
            <a:lvl1pPr>
              <a:defRPr/>
            </a:lvl1pPr>
          </a:lstStyle>
          <a:p>
            <a:pPr>
              <a:defRPr/>
            </a:pPr>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endParaRPr lang="zh-CN" altLang="zh-CN"/>
          </a:p>
        </p:txBody>
      </p:sp>
      <p:sp>
        <p:nvSpPr>
          <p:cNvPr id="6" name="Rectangle 6"/>
          <p:cNvSpPr>
            <a:spLocks noGrp="1" noChangeArrowheads="1"/>
          </p:cNvSpPr>
          <p:nvPr>
            <p:ph type="sldNum" sz="quarter" idx="12"/>
          </p:nvPr>
        </p:nvSpPr>
        <p:spPr/>
        <p:txBody>
          <a:bodyPr/>
          <a:lstStyle>
            <a:lvl1pPr>
              <a:defRPr/>
            </a:lvl1pPr>
          </a:lstStyle>
          <a:p>
            <a:fld id="{7A716C72-A12F-4196-8F35-BF68924EB7D7}" type="slidenum">
              <a:rPr lang="zh-CN" altLang="zh-CN"/>
              <a:t>‹#›</a:t>
            </a:fld>
            <a:endParaRPr lang="zh-CN"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endParaRPr lang="zh-CN" altLang="zh-CN"/>
          </a:p>
        </p:txBody>
      </p:sp>
      <p:sp>
        <p:nvSpPr>
          <p:cNvPr id="7" name="Rectangle 6"/>
          <p:cNvSpPr>
            <a:spLocks noGrp="1" noChangeArrowheads="1"/>
          </p:cNvSpPr>
          <p:nvPr>
            <p:ph type="sldNum" sz="quarter" idx="12"/>
          </p:nvPr>
        </p:nvSpPr>
        <p:spPr/>
        <p:txBody>
          <a:bodyPr/>
          <a:lstStyle>
            <a:lvl1pPr>
              <a:defRPr/>
            </a:lvl1pPr>
          </a:lstStyle>
          <a:p>
            <a:fld id="{F5CB2B18-714D-48F6-BEA7-FD91D50641D8}" type="slidenum">
              <a:rPr lang="zh-CN" altLang="zh-CN"/>
              <a:t>‹#›</a:t>
            </a:fld>
            <a:endParaRPr lang="zh-CN"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image" Target="../media/image7.jpeg"/><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userDrawn="1"/>
        </p:nvSpPr>
        <p:spPr bwMode="gray">
          <a:xfrm>
            <a:off x="0" y="0"/>
            <a:ext cx="9144000" cy="926465"/>
          </a:xfrm>
          <a:prstGeom prst="rect">
            <a:avLst/>
          </a:prstGeom>
          <a:gradFill rotWithShape="1">
            <a:gsLst>
              <a:gs pos="0">
                <a:schemeClr val="tx1"/>
              </a:gs>
              <a:gs pos="100000">
                <a:schemeClr val="tx2"/>
              </a:gs>
            </a:gsLst>
            <a:lin ang="0" scaled="1"/>
          </a:gradFill>
          <a:ln w="9525">
            <a:noFill/>
            <a:miter lim="800000"/>
          </a:ln>
          <a:effectLst/>
        </p:spPr>
        <p:txBody>
          <a:bodyPr wrap="none" anchor="ctr"/>
          <a:lstStyle/>
          <a:p>
            <a:endParaRPr lang="zh-CN" altLang="en-US"/>
          </a:p>
        </p:txBody>
      </p:sp>
      <p:pic>
        <p:nvPicPr>
          <p:cNvPr id="5" name="图片 4"/>
          <p:cNvPicPr>
            <a:picLocks noChangeAspect="1"/>
          </p:cNvPicPr>
          <p:nvPr userDrawn="1"/>
        </p:nvPicPr>
        <p:blipFill>
          <a:blip r:embed="rId7"/>
          <a:srcRect r="24178"/>
          <a:stretch>
            <a:fillRect/>
          </a:stretch>
        </p:blipFill>
        <p:spPr>
          <a:xfrm>
            <a:off x="6626860" y="3810"/>
            <a:ext cx="1255395" cy="921385"/>
          </a:xfrm>
          <a:prstGeom prst="rect">
            <a:avLst/>
          </a:prstGeom>
        </p:spPr>
      </p:pic>
      <p:pic>
        <p:nvPicPr>
          <p:cNvPr id="12" name="图片 11"/>
          <p:cNvPicPr>
            <a:picLocks noChangeAspect="1"/>
          </p:cNvPicPr>
          <p:nvPr userDrawn="1"/>
        </p:nvPicPr>
        <p:blipFill>
          <a:blip r:embed="rId8"/>
          <a:srcRect r="14300"/>
          <a:stretch>
            <a:fillRect/>
          </a:stretch>
        </p:blipFill>
        <p:spPr>
          <a:xfrm flipH="1">
            <a:off x="7882255" y="3810"/>
            <a:ext cx="1261745" cy="922020"/>
          </a:xfrm>
          <a:prstGeom prst="rect">
            <a:avLst/>
          </a:prstGeom>
        </p:spPr>
      </p:pic>
      <p:pic>
        <p:nvPicPr>
          <p:cNvPr id="21" name="图片 20"/>
          <p:cNvPicPr>
            <a:picLocks noChangeAspect="1"/>
          </p:cNvPicPr>
          <p:nvPr userDrawn="1"/>
        </p:nvPicPr>
        <p:blipFill>
          <a:blip r:embed="rId9"/>
          <a:srcRect r="10675"/>
          <a:stretch>
            <a:fillRect/>
          </a:stretch>
        </p:blipFill>
        <p:spPr>
          <a:xfrm flipH="1">
            <a:off x="5233670" y="3810"/>
            <a:ext cx="1393190" cy="922655"/>
          </a:xfrm>
          <a:prstGeom prst="rect">
            <a:avLst/>
          </a:prstGeom>
        </p:spPr>
      </p:pic>
      <p:sp>
        <p:nvSpPr>
          <p:cNvPr id="3089" name="Rectangle 17"/>
          <p:cNvSpPr>
            <a:spLocks noChangeArrowheads="1"/>
          </p:cNvSpPr>
          <p:nvPr userDrawn="1"/>
        </p:nvSpPr>
        <p:spPr bwMode="gray">
          <a:xfrm>
            <a:off x="0" y="6616065"/>
            <a:ext cx="9144000" cy="238125"/>
          </a:xfrm>
          <a:prstGeom prst="rect">
            <a:avLst/>
          </a:prstGeom>
          <a:gradFill rotWithShape="1">
            <a:gsLst>
              <a:gs pos="0">
                <a:schemeClr val="tx1"/>
              </a:gs>
              <a:gs pos="100000">
                <a:schemeClr val="tx2"/>
              </a:gs>
            </a:gsLst>
            <a:lin ang="0" scaled="1"/>
          </a:gradFill>
          <a:ln w="9525">
            <a:noFill/>
            <a:miter lim="800000"/>
          </a:ln>
          <a:effectLst/>
        </p:spPr>
        <p:txBody>
          <a:bodyPr wrap="none" anchor="ctr"/>
          <a:lstStyle/>
          <a:p>
            <a:endParaRPr lang="zh-CN" altLang="en-US"/>
          </a:p>
        </p:txBody>
      </p:sp>
      <p:sp>
        <p:nvSpPr>
          <p:cNvPr id="22" name="文本框 21"/>
          <p:cNvSpPr txBox="1"/>
          <p:nvPr userDrawn="1"/>
        </p:nvSpPr>
        <p:spPr>
          <a:xfrm>
            <a:off x="3808730" y="6581775"/>
            <a:ext cx="1525905" cy="275590"/>
          </a:xfrm>
          <a:prstGeom prst="rect">
            <a:avLst/>
          </a:prstGeom>
          <a:noFill/>
        </p:spPr>
        <p:txBody>
          <a:bodyPr wrap="square" rtlCol="0">
            <a:spAutoFit/>
          </a:bodyPr>
          <a:lstStyle/>
          <a:p>
            <a:r>
              <a:rPr lang="zh-CN" altLang="en-US" sz="1200">
                <a:solidFill>
                  <a:schemeClr val="bg1"/>
                </a:solidFill>
                <a:latin typeface="微软雅黑" panose="020B0503020204020204" pitchFamily="34" charset="-122"/>
                <a:ea typeface="微软雅黑" panose="020B0503020204020204" pitchFamily="34" charset="-122"/>
              </a:rPr>
              <a:t>清华大学出版社</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eaLnBrk="1" fontAlgn="base" hangingPunct="1">
        <a:spcBef>
          <a:spcPct val="0"/>
        </a:spcBef>
        <a:spcAft>
          <a:spcPct val="0"/>
        </a:spcAft>
        <a:defRPr sz="2000" b="1">
          <a:solidFill>
            <a:schemeClr val="bg1"/>
          </a:solidFill>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smtClean="0"/>
            </a:lvl1pPr>
          </a:lstStyle>
          <a:p>
            <a:pPr>
              <a:defRPr/>
            </a:pPr>
            <a:endParaRPr lang="zh-CN"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smtClean="0"/>
            </a:lvl1pPr>
          </a:lstStyle>
          <a:p>
            <a:pPr>
              <a:defRPr/>
            </a:pPr>
            <a:endParaRPr lang="zh-CN"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8D8EDF7B-11D9-486F-BBAA-6DC0157C53E3}" type="slidenum">
              <a:rPr lang="zh-CN" altLang="zh-CN"/>
              <a:t>‹#›</a:t>
            </a:fld>
            <a:endParaRPr lang="zh-CN" altLang="zh-CN"/>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A50021"/>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ü"/>
        <a:defRPr sz="2400" b="1">
          <a:solidFill>
            <a:schemeClr val="tx1"/>
          </a:solidFill>
          <a:latin typeface="+mn-lt"/>
          <a:ea typeface="+mn-ea"/>
        </a:defRPr>
      </a:lvl2pPr>
      <a:lvl3pPr marL="1143000" indent="-228600" algn="l" rtl="0" eaLnBrk="0" fontAlgn="base" hangingPunct="0">
        <a:spcBef>
          <a:spcPct val="20000"/>
        </a:spcBef>
        <a:spcAft>
          <a:spcPct val="0"/>
        </a:spcAft>
        <a:buClr>
          <a:srgbClr val="A50021"/>
        </a:buClr>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Layout" Target="../slideLayouts/slideLayout3.xml"/><Relationship Id="rId5" Type="http://schemas.openxmlformats.org/officeDocument/2006/relationships/tags" Target="../tags/tag7.xml"/><Relationship Id="rId4" Type="http://schemas.openxmlformats.org/officeDocument/2006/relationships/tags" Target="../tags/tag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5" Type="http://schemas.openxmlformats.org/officeDocument/2006/relationships/image" Target="../media/image17.jpeg"/><Relationship Id="rId4" Type="http://schemas.openxmlformats.org/officeDocument/2006/relationships/image" Target="../media/image16.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6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4.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8" Type="http://schemas.openxmlformats.org/officeDocument/2006/relationships/slide" Target="slide120.xml"/><Relationship Id="rId13" Type="http://schemas.openxmlformats.org/officeDocument/2006/relationships/slide" Target="slide128.xml"/><Relationship Id="rId3" Type="http://schemas.openxmlformats.org/officeDocument/2006/relationships/slide" Target="slide1.xml"/><Relationship Id="rId7" Type="http://schemas.openxmlformats.org/officeDocument/2006/relationships/slide" Target="slide117.xml"/><Relationship Id="rId12" Type="http://schemas.openxmlformats.org/officeDocument/2006/relationships/slide" Target="slide127.xml"/><Relationship Id="rId17" Type="http://schemas.openxmlformats.org/officeDocument/2006/relationships/slide" Target="slide133.xml"/><Relationship Id="rId2" Type="http://schemas.openxmlformats.org/officeDocument/2006/relationships/image" Target="../media/image25.png"/><Relationship Id="rId16" Type="http://schemas.openxmlformats.org/officeDocument/2006/relationships/slide" Target="slide131.xml"/><Relationship Id="rId1" Type="http://schemas.openxmlformats.org/officeDocument/2006/relationships/slideLayout" Target="../slideLayouts/slideLayout7.xml"/><Relationship Id="rId6" Type="http://schemas.openxmlformats.org/officeDocument/2006/relationships/slide" Target="slide116.xml"/><Relationship Id="rId11" Type="http://schemas.openxmlformats.org/officeDocument/2006/relationships/slide" Target="slide126.xml"/><Relationship Id="rId5" Type="http://schemas.openxmlformats.org/officeDocument/2006/relationships/slide" Target="slide114.xml"/><Relationship Id="rId15" Type="http://schemas.openxmlformats.org/officeDocument/2006/relationships/slide" Target="slide130.xml"/><Relationship Id="rId10" Type="http://schemas.openxmlformats.org/officeDocument/2006/relationships/slide" Target="slide124.xml"/><Relationship Id="rId4" Type="http://schemas.openxmlformats.org/officeDocument/2006/relationships/slide" Target="slide112.xml"/><Relationship Id="rId9" Type="http://schemas.openxmlformats.org/officeDocument/2006/relationships/slide" Target="slide123.xml"/><Relationship Id="rId14" Type="http://schemas.openxmlformats.org/officeDocument/2006/relationships/slide" Target="slide129.xml"/></Relationships>
</file>

<file path=ppt/slides/_rels/slide112.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slide" Target="slide119.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slide" Target="slide118.xml"/><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7.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26.png"/><Relationship Id="rId5" Type="http://schemas.openxmlformats.org/officeDocument/2006/relationships/slide" Target="slide111.xml"/><Relationship Id="rId4" Type="http://schemas.openxmlformats.org/officeDocument/2006/relationships/image" Target="../media/image25.png"/></Relationships>
</file>

<file path=ppt/slides/_rels/slide123.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slide" Target="slide111.xml"/><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z="2400" b="0"/>
              <a:t>微机原理与接口技术（第</a:t>
            </a:r>
            <a:r>
              <a:rPr lang="en-US" altLang="zh-CN" sz="2400" b="0"/>
              <a:t>3</a:t>
            </a:r>
            <a:r>
              <a:rPr lang="zh-CN" altLang="en-US" sz="2400" b="0"/>
              <a:t>版）</a:t>
            </a:r>
          </a:p>
        </p:txBody>
      </p:sp>
      <p:sp>
        <p:nvSpPr>
          <p:cNvPr id="33795" name="Rectangle 3"/>
          <p:cNvSpPr>
            <a:spLocks noChangeArrowheads="1"/>
          </p:cNvSpPr>
          <p:nvPr/>
        </p:nvSpPr>
        <p:spPr bwMode="black">
          <a:xfrm>
            <a:off x="4572000" y="1196752"/>
            <a:ext cx="3508375" cy="497205"/>
          </a:xfrm>
          <a:prstGeom prst="rect">
            <a:avLst/>
          </a:prstGeom>
          <a:noFill/>
          <a:ln w="9525" algn="ctr">
            <a:noFill/>
            <a:miter lim="800000"/>
          </a:ln>
          <a:effectLst/>
        </p:spPr>
        <p:txBody>
          <a:bodyPr>
            <a:spAutoFit/>
          </a:bodyPr>
          <a:lstStyle/>
          <a:p>
            <a:pPr eaLnBrk="0" hangingPunct="0">
              <a:lnSpc>
                <a:spcPct val="110000"/>
              </a:lnSpc>
            </a:pPr>
            <a:r>
              <a:rPr lang="en-US" altLang="zh-CN" sz="24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24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汇编语言程序设计</a:t>
            </a:r>
            <a:endPar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796" name="Line 4"/>
          <p:cNvSpPr>
            <a:spLocks noChangeShapeType="1"/>
          </p:cNvSpPr>
          <p:nvPr/>
        </p:nvSpPr>
        <p:spPr bwMode="auto">
          <a:xfrm>
            <a:off x="4418647" y="1196434"/>
            <a:ext cx="31751" cy="4805797"/>
          </a:xfrm>
          <a:prstGeom prst="line">
            <a:avLst/>
          </a:prstGeom>
          <a:noFill/>
          <a:ln w="9525">
            <a:solidFill>
              <a:schemeClr val="tx1"/>
            </a:solidFill>
            <a:prstDash val="dash"/>
            <a:round/>
          </a:ln>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组合 3"/>
          <p:cNvGrpSpPr/>
          <p:nvPr/>
        </p:nvGrpSpPr>
        <p:grpSpPr>
          <a:xfrm>
            <a:off x="4830445" y="1966739"/>
            <a:ext cx="3182620" cy="369570"/>
            <a:chOff x="7937" y="5230"/>
            <a:chExt cx="5012" cy="582"/>
          </a:xfrm>
        </p:grpSpPr>
        <p:sp>
          <p:nvSpPr>
            <p:cNvPr id="33808" name="AutoShape 16"/>
            <p:cNvSpPr>
              <a:spLocks noChangeArrowheads="1"/>
            </p:cNvSpPr>
            <p:nvPr/>
          </p:nvSpPr>
          <p:spPr bwMode="gray">
            <a:xfrm>
              <a:off x="7937" y="5325"/>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2"/>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812" name="Text Box 20"/>
            <p:cNvSpPr txBox="1">
              <a:spLocks noChangeArrowheads="1"/>
            </p:cNvSpPr>
            <p:nvPr/>
          </p:nvSpPr>
          <p:spPr bwMode="gray">
            <a:xfrm>
              <a:off x="8337" y="5230"/>
              <a:ext cx="4612" cy="582"/>
            </a:xfrm>
            <a:prstGeom prst="rect">
              <a:avLst/>
            </a:prstGeom>
            <a:noFill/>
            <a:ln w="9525" algn="ctr">
              <a:noFill/>
              <a:miter lim="800000"/>
            </a:ln>
            <a:effectLst/>
          </p:spPr>
          <p:txBody>
            <a:bodyPr wrap="square">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汇编语言程序基本格式</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 name="组合 4"/>
          <p:cNvGrpSpPr/>
          <p:nvPr/>
        </p:nvGrpSpPr>
        <p:grpSpPr>
          <a:xfrm>
            <a:off x="4830445" y="2350322"/>
            <a:ext cx="2555875" cy="369570"/>
            <a:chOff x="7937" y="5942"/>
            <a:chExt cx="4025" cy="582"/>
          </a:xfrm>
        </p:grpSpPr>
        <p:sp>
          <p:nvSpPr>
            <p:cNvPr id="33809" name="AutoShape 17"/>
            <p:cNvSpPr>
              <a:spLocks noChangeArrowheads="1"/>
            </p:cNvSpPr>
            <p:nvPr/>
          </p:nvSpPr>
          <p:spPr bwMode="gray">
            <a:xfrm>
              <a:off x="7937" y="6037"/>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folHlink"/>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813" name="Text Box 21"/>
            <p:cNvSpPr txBox="1">
              <a:spLocks noChangeArrowheads="1"/>
            </p:cNvSpPr>
            <p:nvPr/>
          </p:nvSpPr>
          <p:spPr bwMode="gray">
            <a:xfrm>
              <a:off x="8337" y="5942"/>
              <a:ext cx="3625" cy="582"/>
            </a:xfrm>
            <a:prstGeom prst="rect">
              <a:avLst/>
            </a:prstGeom>
            <a:noFill/>
            <a:ln w="9525" algn="ctr">
              <a:noFill/>
              <a:miter lim="800000"/>
            </a:ln>
            <a:effectLst/>
          </p:spPr>
          <p:txBody>
            <a:bodyPr>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汇编语言中的数据</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6" name="组合 5"/>
          <p:cNvGrpSpPr/>
          <p:nvPr/>
        </p:nvGrpSpPr>
        <p:grpSpPr>
          <a:xfrm>
            <a:off x="4830445" y="2746955"/>
            <a:ext cx="2555240" cy="369570"/>
            <a:chOff x="7937" y="6654"/>
            <a:chExt cx="4024" cy="582"/>
          </a:xfrm>
        </p:grpSpPr>
        <p:sp>
          <p:nvSpPr>
            <p:cNvPr id="33810"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hlink"/>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814" name="Text Box 22"/>
            <p:cNvSpPr txBox="1">
              <a:spLocks noChangeArrowheads="1"/>
            </p:cNvSpPr>
            <p:nvPr/>
          </p:nvSpPr>
          <p:spPr bwMode="gray">
            <a:xfrm>
              <a:off x="8336" y="6654"/>
              <a:ext cx="3625" cy="582"/>
            </a:xfrm>
            <a:prstGeom prst="rect">
              <a:avLst/>
            </a:prstGeom>
            <a:noFill/>
            <a:ln w="9525" algn="ctr">
              <a:noFill/>
              <a:miter lim="800000"/>
            </a:ln>
            <a:effectLst/>
          </p:spPr>
          <p:txBody>
            <a:bodyPr>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运算符与表达式</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7" name="组合 6"/>
          <p:cNvGrpSpPr/>
          <p:nvPr/>
        </p:nvGrpSpPr>
        <p:grpSpPr>
          <a:xfrm>
            <a:off x="4850479" y="3184846"/>
            <a:ext cx="2555875" cy="369570"/>
            <a:chOff x="7937" y="7366"/>
            <a:chExt cx="4025" cy="582"/>
          </a:xfrm>
        </p:grpSpPr>
        <p:sp>
          <p:nvSpPr>
            <p:cNvPr id="33811" name="AutoShape 19"/>
            <p:cNvSpPr>
              <a:spLocks noChangeArrowheads="1"/>
            </p:cNvSpPr>
            <p:nvPr/>
          </p:nvSpPr>
          <p:spPr bwMode="gray">
            <a:xfrm>
              <a:off x="7937" y="7461"/>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1"/>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815" name="Text Box 23"/>
            <p:cNvSpPr txBox="1">
              <a:spLocks noChangeArrowheads="1"/>
            </p:cNvSpPr>
            <p:nvPr/>
          </p:nvSpPr>
          <p:spPr bwMode="gray">
            <a:xfrm>
              <a:off x="8337" y="7366"/>
              <a:ext cx="3625" cy="582"/>
            </a:xfrm>
            <a:prstGeom prst="rect">
              <a:avLst/>
            </a:prstGeom>
            <a:noFill/>
            <a:ln w="9525" algn="ctr">
              <a:noFill/>
              <a:miter lim="800000"/>
            </a:ln>
            <a:effectLst/>
          </p:spPr>
          <p:txBody>
            <a:bodyPr>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伪指令</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3816" name="Line 24"/>
          <p:cNvSpPr>
            <a:spLocks noChangeShapeType="1"/>
          </p:cNvSpPr>
          <p:nvPr/>
        </p:nvSpPr>
        <p:spPr bwMode="auto">
          <a:xfrm rot="16200000" flipH="1">
            <a:off x="6232367" y="111378"/>
            <a:ext cx="6350" cy="3557587"/>
          </a:xfrm>
          <a:prstGeom prst="line">
            <a:avLst/>
          </a:prstGeom>
          <a:noFill/>
          <a:ln w="9525">
            <a:solidFill>
              <a:schemeClr val="tx1"/>
            </a:solidFill>
            <a:prstDash val="dash"/>
            <a:round/>
          </a:ln>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9" name="组合 18"/>
          <p:cNvGrpSpPr/>
          <p:nvPr/>
        </p:nvGrpSpPr>
        <p:grpSpPr>
          <a:xfrm>
            <a:off x="4849303" y="3641135"/>
            <a:ext cx="2555875" cy="369570"/>
            <a:chOff x="7937" y="5942"/>
            <a:chExt cx="4025" cy="582"/>
          </a:xfrm>
        </p:grpSpPr>
        <p:sp>
          <p:nvSpPr>
            <p:cNvPr id="20" name="AutoShape 17"/>
            <p:cNvSpPr>
              <a:spLocks noChangeArrowheads="1"/>
            </p:cNvSpPr>
            <p:nvPr/>
          </p:nvSpPr>
          <p:spPr bwMode="gray">
            <a:xfrm>
              <a:off x="7937" y="6037"/>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folHlink"/>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Text Box 21"/>
            <p:cNvSpPr txBox="1">
              <a:spLocks noChangeArrowheads="1"/>
            </p:cNvSpPr>
            <p:nvPr/>
          </p:nvSpPr>
          <p:spPr bwMode="gray">
            <a:xfrm>
              <a:off x="8337" y="5942"/>
              <a:ext cx="3625" cy="582"/>
            </a:xfrm>
            <a:prstGeom prst="rect">
              <a:avLst/>
            </a:prstGeom>
            <a:noFill/>
            <a:ln w="9525" algn="ctr">
              <a:noFill/>
              <a:miter lim="800000"/>
            </a:ln>
            <a:effectLst/>
          </p:spPr>
          <p:txBody>
            <a:bodyPr>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系统功能调用</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2" name="组合 21"/>
          <p:cNvGrpSpPr/>
          <p:nvPr/>
        </p:nvGrpSpPr>
        <p:grpSpPr>
          <a:xfrm>
            <a:off x="4830445" y="4110320"/>
            <a:ext cx="2555240" cy="369570"/>
            <a:chOff x="7937" y="6654"/>
            <a:chExt cx="4024" cy="582"/>
          </a:xfrm>
        </p:grpSpPr>
        <p:sp>
          <p:nvSpPr>
            <p:cNvPr id="23"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hlink"/>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Text Box 22"/>
            <p:cNvSpPr txBox="1">
              <a:spLocks noChangeArrowheads="1"/>
            </p:cNvSpPr>
            <p:nvPr/>
          </p:nvSpPr>
          <p:spPr bwMode="gray">
            <a:xfrm>
              <a:off x="8336" y="6654"/>
              <a:ext cx="3625" cy="582"/>
            </a:xfrm>
            <a:prstGeom prst="rect">
              <a:avLst/>
            </a:prstGeom>
            <a:noFill/>
            <a:ln w="9525" algn="ctr">
              <a:noFill/>
              <a:miter lim="800000"/>
            </a:ln>
            <a:effectLst/>
          </p:spPr>
          <p:txBody>
            <a:bodyPr>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宏指令</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5" name="组合 24"/>
          <p:cNvGrpSpPr/>
          <p:nvPr/>
        </p:nvGrpSpPr>
        <p:grpSpPr>
          <a:xfrm>
            <a:off x="4830445" y="4548211"/>
            <a:ext cx="3182620" cy="369570"/>
            <a:chOff x="7937" y="5230"/>
            <a:chExt cx="5012" cy="582"/>
          </a:xfrm>
        </p:grpSpPr>
        <p:sp>
          <p:nvSpPr>
            <p:cNvPr id="26" name="AutoShape 16"/>
            <p:cNvSpPr>
              <a:spLocks noChangeArrowheads="1"/>
            </p:cNvSpPr>
            <p:nvPr/>
          </p:nvSpPr>
          <p:spPr bwMode="gray">
            <a:xfrm>
              <a:off x="7937" y="5325"/>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accent2"/>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Text Box 20"/>
            <p:cNvSpPr txBox="1">
              <a:spLocks noChangeArrowheads="1"/>
            </p:cNvSpPr>
            <p:nvPr/>
          </p:nvSpPr>
          <p:spPr bwMode="gray">
            <a:xfrm>
              <a:off x="8337" y="5230"/>
              <a:ext cx="4612" cy="582"/>
            </a:xfrm>
            <a:prstGeom prst="rect">
              <a:avLst/>
            </a:prstGeom>
            <a:noFill/>
            <a:ln w="9525" algn="ctr">
              <a:noFill/>
              <a:miter lim="800000"/>
            </a:ln>
            <a:effectLst/>
          </p:spPr>
          <p:txBody>
            <a:bodyPr wrap="square">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汇编语言程序设计举例</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8" name="组合 27"/>
          <p:cNvGrpSpPr/>
          <p:nvPr/>
        </p:nvGrpSpPr>
        <p:grpSpPr>
          <a:xfrm>
            <a:off x="4835482" y="5006035"/>
            <a:ext cx="3182620" cy="369570"/>
            <a:chOff x="7937" y="5942"/>
            <a:chExt cx="5012" cy="582"/>
          </a:xfrm>
        </p:grpSpPr>
        <p:sp>
          <p:nvSpPr>
            <p:cNvPr id="29" name="AutoShape 17"/>
            <p:cNvSpPr>
              <a:spLocks noChangeArrowheads="1"/>
            </p:cNvSpPr>
            <p:nvPr/>
          </p:nvSpPr>
          <p:spPr bwMode="gray">
            <a:xfrm>
              <a:off x="7937" y="6037"/>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folHlink"/>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Text Box 21"/>
            <p:cNvSpPr txBox="1">
              <a:spLocks noChangeArrowheads="1"/>
            </p:cNvSpPr>
            <p:nvPr/>
          </p:nvSpPr>
          <p:spPr bwMode="gray">
            <a:xfrm>
              <a:off x="8337" y="5942"/>
              <a:ext cx="4612" cy="582"/>
            </a:xfrm>
            <a:prstGeom prst="rect">
              <a:avLst/>
            </a:prstGeom>
            <a:noFill/>
            <a:ln w="9525" algn="ctr">
              <a:noFill/>
              <a:miter lim="800000"/>
            </a:ln>
            <a:effectLst/>
          </p:spPr>
          <p:txBody>
            <a:bodyPr wrap="square">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汇编语言程序上机过程</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1" name="组合 30"/>
          <p:cNvGrpSpPr/>
          <p:nvPr/>
        </p:nvGrpSpPr>
        <p:grpSpPr>
          <a:xfrm>
            <a:off x="4830445" y="5502716"/>
            <a:ext cx="3293110" cy="369570"/>
            <a:chOff x="7937" y="6654"/>
            <a:chExt cx="5186" cy="582"/>
          </a:xfrm>
        </p:grpSpPr>
        <p:sp>
          <p:nvSpPr>
            <p:cNvPr id="32" name="AutoShape 18"/>
            <p:cNvSpPr>
              <a:spLocks noChangeArrowheads="1"/>
            </p:cNvSpPr>
            <p:nvPr/>
          </p:nvSpPr>
          <p:spPr bwMode="gray">
            <a:xfrm>
              <a:off x="7937" y="6749"/>
              <a:ext cx="390" cy="3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chemeClr val="hlink"/>
            </a:solidFill>
            <a:ln w="9525" algn="ctr">
              <a:noFill/>
              <a:round/>
            </a:ln>
            <a:effectLst>
              <a:outerShdw dist="28398" dir="1593903" algn="ctr" rotWithShape="0">
                <a:schemeClr val="bg2">
                  <a:alpha val="50000"/>
                </a:schemeClr>
              </a:outerShdw>
            </a:effectLst>
          </p:spPr>
          <p:txBody>
            <a:bodyPr wrap="none" anchor="ctr"/>
            <a:lstStyle/>
            <a:p>
              <a:endParaRPr lang="zh-CN" altLang="en-US">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Text Box 22"/>
            <p:cNvSpPr txBox="1">
              <a:spLocks noChangeArrowheads="1"/>
            </p:cNvSpPr>
            <p:nvPr/>
          </p:nvSpPr>
          <p:spPr bwMode="gray">
            <a:xfrm>
              <a:off x="8336" y="6654"/>
              <a:ext cx="4787" cy="582"/>
            </a:xfrm>
            <a:prstGeom prst="rect">
              <a:avLst/>
            </a:prstGeom>
            <a:noFill/>
            <a:ln w="9525" algn="ctr">
              <a:noFill/>
              <a:miter lim="800000"/>
            </a:ln>
            <a:effectLst/>
          </p:spPr>
          <p:txBody>
            <a:bodyPr wrap="square">
              <a:spAutoFit/>
            </a:bodyPr>
            <a:lstStyle/>
            <a:p>
              <a:pPr eaLnBrk="0" hangingPunct="0"/>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调试程序</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DEBUG</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的使用</a:t>
              </a:r>
              <a:endParaRPr lang="en-US" altLang="zh-CN" sz="1800" dirty="0">
                <a:solidFill>
                  <a:srgbClr val="1C1C1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aphicFrame>
        <p:nvGraphicFramePr>
          <p:cNvPr id="2" name="对象 1"/>
          <p:cNvGraphicFramePr/>
          <p:nvPr/>
        </p:nvGraphicFramePr>
        <p:xfrm>
          <a:off x="982980" y="2410460"/>
          <a:ext cx="2945765" cy="2287905"/>
        </p:xfrm>
        <a:graphic>
          <a:graphicData uri="http://schemas.openxmlformats.org/presentationml/2006/ole">
            <mc:AlternateContent xmlns:mc="http://schemas.openxmlformats.org/markup-compatibility/2006">
              <mc:Choice xmlns:v="urn:schemas-microsoft-com:vml" Requires="v">
                <p:oleObj spid="_x0000_s1027" r:id="rId3" imgW="2943225" imgH="2286000" progId="Paint.Picture">
                  <p:embed/>
                </p:oleObj>
              </mc:Choice>
              <mc:Fallback>
                <p:oleObj r:id="rId3" imgW="2943225" imgH="2286000" progId="Paint.Picture">
                  <p:embed/>
                  <p:pic>
                    <p:nvPicPr>
                      <p:cNvPr id="0" name="图片 2"/>
                      <p:cNvPicPr/>
                      <p:nvPr/>
                    </p:nvPicPr>
                    <p:blipFill>
                      <a:blip r:embed="rId4"/>
                      <a:stretch>
                        <a:fillRect/>
                      </a:stretch>
                    </p:blipFill>
                    <p:spPr>
                      <a:xfrm>
                        <a:off x="982980" y="2410460"/>
                        <a:ext cx="2945765" cy="2287905"/>
                      </a:xfrm>
                      <a:prstGeom prst="rect">
                        <a:avLst/>
                      </a:prstGeom>
                    </p:spPr>
                  </p:pic>
                </p:oleObj>
              </mc:Fallback>
            </mc:AlternateContent>
          </a:graphicData>
        </a:graphic>
      </p:graphicFrame>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t>4.1.1</a:t>
            </a:r>
            <a:r>
              <a:rPr lang="zh-CN" altLang="zh-CN" b="1" dirty="0"/>
              <a:t>汇编语言源程序和汇编程序</a:t>
            </a:r>
          </a:p>
        </p:txBody>
      </p:sp>
      <p:sp>
        <p:nvSpPr>
          <p:cNvPr id="3" name="文本占位符 2"/>
          <p:cNvSpPr>
            <a:spLocks noGrp="1"/>
          </p:cNvSpPr>
          <p:nvPr>
            <p:ph type="body" sz="quarter" idx="10"/>
          </p:nvPr>
        </p:nvSpPr>
        <p:spPr/>
        <p:txBody>
          <a:bodyPr/>
          <a:lstStyle/>
          <a:p>
            <a:r>
              <a:rPr lang="en-US" altLang="zh-CN" dirty="0"/>
              <a:t>4.1</a:t>
            </a:r>
            <a:r>
              <a:rPr lang="zh-CN" altLang="en-US" dirty="0"/>
              <a:t>汇编语言程序基本格式</a:t>
            </a:r>
          </a:p>
        </p:txBody>
      </p:sp>
      <p:sp>
        <p:nvSpPr>
          <p:cNvPr id="6" name="矩形 5"/>
          <p:cNvSpPr/>
          <p:nvPr/>
        </p:nvSpPr>
        <p:spPr>
          <a:xfrm>
            <a:off x="647564" y="2193666"/>
            <a:ext cx="7848872" cy="2677656"/>
          </a:xfrm>
          <a:prstGeom prst="rect">
            <a:avLst/>
          </a:prstGeom>
        </p:spPr>
        <p:txBody>
          <a:bodyPr wrap="square">
            <a:spAutoFit/>
          </a:bodyPr>
          <a:lstStyle/>
          <a:p>
            <a:pPr algn="just">
              <a:lnSpc>
                <a:spcPct val="120000"/>
              </a:lnSpc>
            </a:pPr>
            <a:r>
              <a:rPr lang="zh-CN" altLang="en-US" sz="2400" dirty="0">
                <a:latin typeface="楷体_GB2312" pitchFamily="49" charset="-122"/>
                <a:ea typeface="楷体_GB2312" pitchFamily="49" charset="-122"/>
              </a:rPr>
              <a:t> </a:t>
            </a:r>
            <a:r>
              <a:rPr lang="zh-CN" altLang="en-US" sz="2400" b="1" dirty="0">
                <a:solidFill>
                  <a:srgbClr val="3366CC"/>
                </a:solidFill>
                <a:latin typeface="楷体_GB2312" pitchFamily="49" charset="-122"/>
                <a:ea typeface="楷体_GB2312" pitchFamily="49" charset="-122"/>
              </a:rPr>
              <a:t>汇编程序</a:t>
            </a:r>
            <a:r>
              <a:rPr lang="zh-CN" altLang="en-US" sz="2400" dirty="0">
                <a:latin typeface="楷体_GB2312" pitchFamily="49" charset="-122"/>
                <a:ea typeface="楷体_GB2312" pitchFamily="49" charset="-122"/>
              </a:rPr>
              <a:t>以</a:t>
            </a:r>
            <a:r>
              <a:rPr lang="zh-CN" altLang="en-US" sz="2400" b="1" dirty="0">
                <a:solidFill>
                  <a:srgbClr val="6600FF"/>
                </a:solidFill>
                <a:latin typeface="楷体_GB2312" pitchFamily="49" charset="-122"/>
                <a:ea typeface="楷体_GB2312" pitchFamily="49" charset="-122"/>
              </a:rPr>
              <a:t>汇编语言</a:t>
            </a:r>
            <a:r>
              <a:rPr lang="zh-CN" altLang="en-US" sz="2400" dirty="0">
                <a:latin typeface="楷体_GB2312" pitchFamily="49" charset="-122"/>
                <a:ea typeface="楷体_GB2312" pitchFamily="49" charset="-122"/>
              </a:rPr>
              <a:t>源程序文件作为输入，并由它产生两种输出文件：</a:t>
            </a:r>
            <a:r>
              <a:rPr lang="zh-CN" altLang="en-US" sz="2400" b="1" dirty="0">
                <a:solidFill>
                  <a:srgbClr val="FF3300"/>
                </a:solidFill>
                <a:latin typeface="楷体_GB2312" pitchFamily="49" charset="-122"/>
                <a:ea typeface="楷体_GB2312" pitchFamily="49" charset="-122"/>
              </a:rPr>
              <a:t>目标程序</a:t>
            </a:r>
            <a:r>
              <a:rPr lang="zh-CN" altLang="en-US" sz="2400" dirty="0">
                <a:latin typeface="楷体_GB2312" pitchFamily="49" charset="-122"/>
                <a:ea typeface="楷体_GB2312" pitchFamily="49" charset="-122"/>
              </a:rPr>
              <a:t>文件和</a:t>
            </a:r>
            <a:r>
              <a:rPr lang="zh-CN" altLang="en-US" sz="2400" b="1" dirty="0">
                <a:solidFill>
                  <a:srgbClr val="FF3300"/>
                </a:solidFill>
                <a:latin typeface="楷体_GB2312" pitchFamily="49" charset="-122"/>
                <a:ea typeface="楷体_GB2312" pitchFamily="49" charset="-122"/>
              </a:rPr>
              <a:t>源程序列表</a:t>
            </a:r>
            <a:r>
              <a:rPr lang="zh-CN" altLang="en-US" sz="2400" dirty="0">
                <a:latin typeface="楷体_GB2312" pitchFamily="49" charset="-122"/>
                <a:ea typeface="楷体_GB2312" pitchFamily="49" charset="-122"/>
              </a:rPr>
              <a:t>文件。</a:t>
            </a:r>
          </a:p>
          <a:p>
            <a:pPr lvl="1" algn="just">
              <a:lnSpc>
                <a:spcPct val="120000"/>
              </a:lnSpc>
              <a:buFont typeface="Wingdings" panose="05000000000000000000" pitchFamily="2" charset="2"/>
              <a:buChar char="Ø"/>
            </a:pPr>
            <a:r>
              <a:rPr lang="zh-CN" altLang="en-US" sz="2400" dirty="0">
                <a:latin typeface="楷体_GB2312" pitchFamily="49" charset="-122"/>
                <a:ea typeface="楷体_GB2312" pitchFamily="49" charset="-122"/>
              </a:rPr>
              <a:t> </a:t>
            </a:r>
            <a:r>
              <a:rPr lang="zh-CN" altLang="en-US" sz="2400" b="1" dirty="0">
                <a:solidFill>
                  <a:srgbClr val="FF3300"/>
                </a:solidFill>
                <a:latin typeface="楷体_GB2312" pitchFamily="49" charset="-122"/>
                <a:ea typeface="楷体_GB2312" pitchFamily="49" charset="-122"/>
              </a:rPr>
              <a:t>目标程序</a:t>
            </a:r>
            <a:r>
              <a:rPr lang="zh-CN" altLang="en-US" sz="2400" dirty="0">
                <a:latin typeface="楷体_GB2312" pitchFamily="49" charset="-122"/>
                <a:ea typeface="楷体_GB2312" pitchFamily="49" charset="-122"/>
              </a:rPr>
              <a:t>文件经</a:t>
            </a:r>
            <a:r>
              <a:rPr lang="zh-CN" altLang="en-US" sz="2400" b="1" dirty="0">
                <a:solidFill>
                  <a:srgbClr val="FF3300"/>
                </a:solidFill>
                <a:latin typeface="黑体" panose="02010609060101010101" pitchFamily="49" charset="-122"/>
                <a:ea typeface="黑体" panose="02010609060101010101" pitchFamily="49" charset="-122"/>
              </a:rPr>
              <a:t>链接定位</a:t>
            </a:r>
            <a:r>
              <a:rPr lang="zh-CN" altLang="en-US" sz="2400" dirty="0">
                <a:latin typeface="楷体_GB2312" pitchFamily="49" charset="-122"/>
                <a:ea typeface="楷体_GB2312" pitchFamily="49" charset="-122"/>
              </a:rPr>
              <a:t>后由计算机执行；</a:t>
            </a:r>
          </a:p>
          <a:p>
            <a:pPr lvl="1" algn="just">
              <a:lnSpc>
                <a:spcPct val="120000"/>
              </a:lnSpc>
              <a:buFont typeface="Wingdings" panose="05000000000000000000" pitchFamily="2" charset="2"/>
              <a:buChar char="Ø"/>
            </a:pPr>
            <a:r>
              <a:rPr lang="zh-CN" altLang="en-US" sz="2400" dirty="0">
                <a:latin typeface="楷体_GB2312" pitchFamily="49" charset="-122"/>
                <a:ea typeface="楷体_GB2312" pitchFamily="49" charset="-122"/>
              </a:rPr>
              <a:t> </a:t>
            </a:r>
            <a:r>
              <a:rPr lang="zh-CN" altLang="en-US" sz="2400" b="1" dirty="0">
                <a:solidFill>
                  <a:srgbClr val="FF3300"/>
                </a:solidFill>
                <a:latin typeface="楷体_GB2312" pitchFamily="49" charset="-122"/>
                <a:ea typeface="楷体_GB2312" pitchFamily="49" charset="-122"/>
              </a:rPr>
              <a:t>源程序列表</a:t>
            </a:r>
            <a:r>
              <a:rPr lang="zh-CN" altLang="en-US" sz="2400" dirty="0">
                <a:latin typeface="楷体_GB2312" pitchFamily="49" charset="-122"/>
                <a:ea typeface="楷体_GB2312" pitchFamily="49" charset="-122"/>
              </a:rPr>
              <a:t>文件将列出源程序、目标程序的</a:t>
            </a:r>
            <a:r>
              <a:rPr lang="zh-CN" altLang="en-US" sz="2400" b="1" dirty="0">
                <a:solidFill>
                  <a:srgbClr val="CC0066"/>
                </a:solidFill>
                <a:latin typeface="楷体_GB2312" pitchFamily="49" charset="-122"/>
                <a:ea typeface="楷体_GB2312" pitchFamily="49" charset="-122"/>
              </a:rPr>
              <a:t>机器语言代码</a:t>
            </a:r>
            <a:r>
              <a:rPr lang="zh-CN" altLang="en-US" sz="2400" dirty="0">
                <a:latin typeface="楷体_GB2312" pitchFamily="49" charset="-122"/>
                <a:ea typeface="楷体_GB2312" pitchFamily="49" charset="-122"/>
              </a:rPr>
              <a:t>及符号表</a:t>
            </a:r>
            <a:r>
              <a:rPr lang="zh-CN" altLang="en-US"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 </a:t>
            </a:r>
          </a:p>
          <a:p>
            <a:pPr eaLnBrk="1" hangingPunct="1">
              <a:buFont typeface="Wingdings" panose="05000000000000000000" pitchFamily="2" charset="2"/>
              <a:buNone/>
            </a:pPr>
            <a:r>
              <a:rPr lang="zh-CN" altLang="en-US" sz="2400" b="1" dirty="0">
                <a:solidFill>
                  <a:srgbClr val="6600FF"/>
                </a:solidFill>
                <a:latin typeface="楷体_GB2312" pitchFamily="49" charset="-122"/>
                <a:ea typeface="楷体_GB2312" pitchFamily="49" charset="-122"/>
              </a:rPr>
              <a:t>        汇编语言</a:t>
            </a:r>
            <a:r>
              <a:rPr lang="zh-CN" altLang="en-US" sz="2400" dirty="0">
                <a:latin typeface="楷体_GB2312" pitchFamily="49" charset="-122"/>
                <a:ea typeface="楷体_GB2312" pitchFamily="49" charset="-122"/>
              </a:rPr>
              <a:t>源程序的处理过程如下：</a:t>
            </a:r>
            <a:endParaRPr lang="zh-CN" altLang="en-US" dirty="0"/>
          </a:p>
        </p:txBody>
      </p:sp>
      <p:sp>
        <p:nvSpPr>
          <p:cNvPr id="7" name="Text Box 5"/>
          <p:cNvSpPr txBox="1">
            <a:spLocks noChangeArrowheads="1"/>
          </p:cNvSpPr>
          <p:nvPr/>
        </p:nvSpPr>
        <p:spPr bwMode="auto">
          <a:xfrm>
            <a:off x="2268538" y="5276850"/>
            <a:ext cx="1441450" cy="779463"/>
          </a:xfrm>
          <a:prstGeom prst="rect">
            <a:avLst/>
          </a:prstGeom>
          <a:noFill/>
          <a:ln w="9525" algn="ctr">
            <a:noFill/>
            <a:miter lim="800000"/>
          </a:ln>
          <a:effectLst/>
        </p:spPr>
        <p:txBody>
          <a:bodyPr>
            <a:spAutoFit/>
          </a:bodyPr>
          <a:lstStyle/>
          <a:p>
            <a:pPr algn="ctr">
              <a:spcBef>
                <a:spcPct val="50000"/>
              </a:spcBef>
              <a:defRPr/>
            </a:pPr>
            <a:r>
              <a:rPr lang="zh-CN" altLang="en-US" b="1">
                <a:solidFill>
                  <a:srgbClr val="3333FF"/>
                </a:solidFill>
                <a:latin typeface="Times New Roman" panose="02020603050405020304" pitchFamily="18" charset="0"/>
                <a:ea typeface="微软雅黑" panose="020B0503020204020204" pitchFamily="34" charset="-122"/>
                <a:cs typeface="Times New Roman" panose="02020603050405020304" pitchFamily="18" charset="0"/>
              </a:rPr>
              <a:t>汇编程序</a:t>
            </a:r>
          </a:p>
          <a:p>
            <a:pPr algn="ctr">
              <a:spcBef>
                <a:spcPct val="50000"/>
              </a:spcBef>
              <a:defRPr/>
            </a:pP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Assembler</a:t>
            </a:r>
          </a:p>
        </p:txBody>
      </p:sp>
      <p:sp>
        <p:nvSpPr>
          <p:cNvPr id="8" name="Line 6"/>
          <p:cNvSpPr>
            <a:spLocks noChangeShapeType="1"/>
          </p:cNvSpPr>
          <p:nvPr/>
        </p:nvSpPr>
        <p:spPr bwMode="auto">
          <a:xfrm>
            <a:off x="2268538" y="5708650"/>
            <a:ext cx="15113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1" i="0" u="none" strike="noStrike" kern="0" cap="none" spc="0" normalizeH="0" baseline="0" noProof="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Line 7"/>
          <p:cNvSpPr>
            <a:spLocks noChangeShapeType="1"/>
          </p:cNvSpPr>
          <p:nvPr/>
        </p:nvSpPr>
        <p:spPr bwMode="auto">
          <a:xfrm>
            <a:off x="5437188" y="5708650"/>
            <a:ext cx="12223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1" i="0" u="none" strike="noStrike" kern="0" cap="none" spc="0" normalizeH="0" baseline="0" noProof="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Text Box 8"/>
          <p:cNvSpPr txBox="1">
            <a:spLocks noChangeArrowheads="1"/>
          </p:cNvSpPr>
          <p:nvPr/>
        </p:nvSpPr>
        <p:spPr bwMode="auto">
          <a:xfrm>
            <a:off x="611188" y="5276850"/>
            <a:ext cx="1655762" cy="788988"/>
          </a:xfrm>
          <a:prstGeom prst="rect">
            <a:avLst/>
          </a:prstGeom>
          <a:noFill/>
          <a:ln w="9525" algn="ctr">
            <a:solidFill>
              <a:srgbClr val="000000"/>
            </a:solidFill>
            <a:miter lim="800000"/>
          </a:ln>
          <a:effec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8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汇编语言</a:t>
            </a:r>
          </a:p>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8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源程序</a:t>
            </a:r>
            <a:r>
              <a:rPr kumimoji="0" lang="en-US" altLang="zh-CN" sz="18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0" cap="none" spc="0" normalizeH="0" baseline="0" noProof="0" dirty="0">
                <a:ln>
                  <a:noFill/>
                </a:ln>
                <a:solidFill>
                  <a:srgbClr val="FF3300"/>
                </a:solidFill>
                <a:uLnTx/>
                <a:uFillTx/>
                <a:latin typeface="Times New Roman" panose="02020603050405020304" pitchFamily="18" charset="0"/>
                <a:ea typeface="微软雅黑" panose="020B0503020204020204" pitchFamily="34" charset="-122"/>
                <a:cs typeface="Times New Roman" panose="02020603050405020304" pitchFamily="18" charset="0"/>
              </a:rPr>
              <a:t>ASM</a:t>
            </a:r>
          </a:p>
        </p:txBody>
      </p:sp>
      <p:sp>
        <p:nvSpPr>
          <p:cNvPr id="11" name="Text Box 9"/>
          <p:cNvSpPr txBox="1">
            <a:spLocks noChangeArrowheads="1"/>
          </p:cNvSpPr>
          <p:nvPr/>
        </p:nvSpPr>
        <p:spPr bwMode="auto">
          <a:xfrm>
            <a:off x="3779838" y="5276850"/>
            <a:ext cx="1655762" cy="788988"/>
          </a:xfrm>
          <a:prstGeom prst="rect">
            <a:avLst/>
          </a:prstGeom>
          <a:noFill/>
          <a:ln w="9525" algn="ctr">
            <a:solidFill>
              <a:srgbClr val="000000"/>
            </a:solidFill>
            <a:miter lim="800000"/>
          </a:ln>
          <a:effectLst/>
        </p:spPr>
        <p:txBody>
          <a:bodyPr>
            <a:spAutoFit/>
          </a:bodyPr>
          <a:lstStyle/>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8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机器语言</a:t>
            </a:r>
          </a:p>
          <a:p>
            <a:pPr marL="0" marR="0" lvl="0" indent="0" algn="ctr" defTabSz="914400" eaLnBrk="1" fontAlgn="auto" latinLnBrk="0" hangingPunct="1">
              <a:lnSpc>
                <a:spcPct val="100000"/>
              </a:lnSpc>
              <a:spcBef>
                <a:spcPct val="50000"/>
              </a:spcBef>
              <a:spcAft>
                <a:spcPts val="0"/>
              </a:spcAft>
              <a:buClrTx/>
              <a:buSzTx/>
              <a:buFontTx/>
              <a:buNone/>
              <a:defRPr/>
            </a:pPr>
            <a:r>
              <a:rPr kumimoji="0" lang="zh-CN" altLang="en-US" sz="18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目标文件</a:t>
            </a:r>
            <a:r>
              <a:rPr kumimoji="0" lang="en-US" altLang="zh-CN" sz="18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0" cap="none" spc="0" normalizeH="0" baseline="0" noProof="0" dirty="0">
                <a:ln>
                  <a:noFill/>
                </a:ln>
                <a:solidFill>
                  <a:srgbClr val="FF3300"/>
                </a:solidFill>
                <a:uLnTx/>
                <a:uFillTx/>
                <a:latin typeface="Times New Roman" panose="02020603050405020304" pitchFamily="18" charset="0"/>
                <a:ea typeface="微软雅黑" panose="020B0503020204020204" pitchFamily="34" charset="-122"/>
                <a:cs typeface="Times New Roman" panose="02020603050405020304" pitchFamily="18" charset="0"/>
              </a:rPr>
              <a:t>OBJ</a:t>
            </a:r>
          </a:p>
        </p:txBody>
      </p:sp>
      <p:sp>
        <p:nvSpPr>
          <p:cNvPr id="12" name="Text Box 1024"/>
          <p:cNvSpPr txBox="1">
            <a:spLocks noChangeArrowheads="1"/>
          </p:cNvSpPr>
          <p:nvPr/>
        </p:nvSpPr>
        <p:spPr bwMode="auto">
          <a:xfrm>
            <a:off x="5435600" y="5276850"/>
            <a:ext cx="1296988" cy="779463"/>
          </a:xfrm>
          <a:prstGeom prst="rect">
            <a:avLst/>
          </a:prstGeom>
          <a:noFill/>
          <a:ln w="9525" algn="ctr">
            <a:noFill/>
            <a:miter lim="800000"/>
          </a:ln>
          <a:effectLst/>
        </p:spPr>
        <p:txBody>
          <a:bodyPr>
            <a:spAutoFit/>
          </a:bodyPr>
          <a:lstStyle/>
          <a:p>
            <a:pPr algn="ctr">
              <a:spcBef>
                <a:spcPct val="50000"/>
              </a:spcBef>
              <a:defRPr/>
            </a:pP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LINK</a:t>
            </a:r>
          </a:p>
          <a:p>
            <a:pPr algn="ctr">
              <a:spcBef>
                <a:spcPct val="50000"/>
              </a:spcBef>
              <a:defRPr/>
            </a:pPr>
            <a:r>
              <a:rPr lang="zh-CN" altLang="en-US" b="1">
                <a:solidFill>
                  <a:srgbClr val="3333FF"/>
                </a:solidFill>
                <a:latin typeface="Times New Roman" panose="02020603050405020304" pitchFamily="18" charset="0"/>
                <a:ea typeface="微软雅黑" panose="020B0503020204020204" pitchFamily="34" charset="-122"/>
                <a:cs typeface="Times New Roman" panose="02020603050405020304" pitchFamily="18" charset="0"/>
              </a:rPr>
              <a:t>链接程序</a:t>
            </a:r>
          </a:p>
        </p:txBody>
      </p:sp>
      <p:sp>
        <p:nvSpPr>
          <p:cNvPr id="13" name="Text Box 1025"/>
          <p:cNvSpPr txBox="1">
            <a:spLocks noChangeArrowheads="1"/>
          </p:cNvSpPr>
          <p:nvPr/>
        </p:nvSpPr>
        <p:spPr bwMode="auto">
          <a:xfrm>
            <a:off x="6659563" y="5276850"/>
            <a:ext cx="1512887" cy="777457"/>
          </a:xfrm>
          <a:prstGeom prst="rect">
            <a:avLst/>
          </a:prstGeom>
          <a:noFill/>
          <a:ln w="9525" algn="ctr">
            <a:solidFill>
              <a:srgbClr val="000000"/>
            </a:solidFill>
            <a:miter lim="800000"/>
          </a:ln>
          <a:effectLst/>
        </p:spPr>
        <p:txBody>
          <a:bodyPr>
            <a:spAutoFit/>
          </a:bodyPr>
          <a:lstStyle/>
          <a:p>
            <a:pPr marL="0" marR="0" lvl="0" indent="0" algn="ctr" defTabSz="914400" eaLnBrk="1" fontAlgn="auto" latinLnBrk="0" hangingPunct="1">
              <a:lnSpc>
                <a:spcPct val="130000"/>
              </a:lnSpc>
              <a:spcBef>
                <a:spcPct val="50000"/>
              </a:spcBef>
              <a:spcAft>
                <a:spcPts val="0"/>
              </a:spcAft>
              <a:buClrTx/>
              <a:buSzTx/>
              <a:buFontTx/>
              <a:buNone/>
              <a:defRPr/>
            </a:pPr>
            <a:r>
              <a:rPr kumimoji="0" lang="zh-CN" altLang="en-US" sz="1800" b="1" i="0" u="none" strike="noStrike" kern="0" cap="none" spc="0" normalizeH="0" baseline="0" noProof="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机器语言执行文件</a:t>
            </a:r>
            <a:r>
              <a:rPr kumimoji="0" lang="en-US" altLang="zh-CN" sz="1800" b="1" i="0" u="none" strike="noStrike" kern="0" cap="none" spc="0" normalizeH="0" baseline="0" noProof="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0" cap="none" spc="0" normalizeH="0" baseline="0" noProof="0">
                <a:ln>
                  <a:noFill/>
                </a:ln>
                <a:solidFill>
                  <a:srgbClr val="FF3300"/>
                </a:solidFill>
                <a:uLnTx/>
                <a:uFillTx/>
                <a:latin typeface="Times New Roman" panose="02020603050405020304" pitchFamily="18" charset="0"/>
                <a:ea typeface="微软雅黑" panose="020B0503020204020204" pitchFamily="34" charset="-122"/>
                <a:cs typeface="Times New Roman" panose="02020603050405020304" pitchFamily="18" charset="0"/>
              </a:rPr>
              <a:t>EXE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wipe(left)">
                                      <p:cBhvr>
                                        <p:cTn id="39" dur="500"/>
                                        <p:tgtEl>
                                          <p:spTgt spid="10"/>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par>
                          <p:cTn id="48" fill="hold">
                            <p:stCondLst>
                              <p:cond delay="2500"/>
                            </p:stCondLst>
                            <p:childTnLst>
                              <p:par>
                                <p:cTn id="49" presetID="22" presetClass="entr" presetSubtype="8"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left)">
                                      <p:cBhvr>
                                        <p:cTn id="51" dur="500"/>
                                        <p:tgtEl>
                                          <p:spTgt spid="11"/>
                                        </p:tgtEl>
                                      </p:cBhvr>
                                    </p:animEffect>
                                  </p:childTnLst>
                                </p:cTn>
                              </p:par>
                            </p:childTnLst>
                          </p:cTn>
                        </p:par>
                        <p:par>
                          <p:cTn id="52" fill="hold">
                            <p:stCondLst>
                              <p:cond delay="3000"/>
                            </p:stCondLst>
                            <p:childTnLst>
                              <p:par>
                                <p:cTn id="53" presetID="22" presetClass="entr" presetSubtype="8" fill="hold" grpId="0"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par>
                          <p:cTn id="56" fill="hold">
                            <p:stCondLst>
                              <p:cond delay="3500"/>
                            </p:stCondLst>
                            <p:childTnLst>
                              <p:par>
                                <p:cTn id="57" presetID="22" presetClass="entr" presetSubtype="8" fill="hold" grpId="0" nodeType="after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500"/>
                                        <p:tgtEl>
                                          <p:spTgt spid="12"/>
                                        </p:tgtEl>
                                      </p:cBhvr>
                                    </p:animEffect>
                                  </p:childTnLst>
                                </p:cTn>
                              </p:par>
                            </p:childTnLst>
                          </p:cTn>
                        </p:par>
                        <p:par>
                          <p:cTn id="60" fill="hold">
                            <p:stCondLst>
                              <p:cond delay="4000"/>
                            </p:stCondLst>
                            <p:childTnLst>
                              <p:par>
                                <p:cTn id="61" presetID="22" presetClass="entr" presetSubtype="8" fill="hold" grpId="0" nodeType="after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wipe(left)">
                                      <p:cBhvr>
                                        <p:cTn id="6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p:bldP spid="8" grpId="0" animBg="1"/>
      <p:bldP spid="9" grpId="0" animBg="1"/>
      <p:bldP spid="10" grpId="0" animBg="1"/>
      <p:bldP spid="11" grpId="0" animBg="1"/>
      <p:bldP spid="12" grpId="0"/>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t>4.1.2</a:t>
            </a:r>
            <a:r>
              <a:rPr lang="zh-CN" altLang="en-US" b="1" dirty="0"/>
              <a:t>汇编语言的特点</a:t>
            </a:r>
          </a:p>
        </p:txBody>
      </p:sp>
      <p:sp>
        <p:nvSpPr>
          <p:cNvPr id="3" name="文本占位符 2"/>
          <p:cNvSpPr>
            <a:spLocks noGrp="1"/>
          </p:cNvSpPr>
          <p:nvPr>
            <p:ph type="body" sz="quarter" idx="10"/>
          </p:nvPr>
        </p:nvSpPr>
        <p:spPr/>
        <p:txBody>
          <a:bodyPr/>
          <a:lstStyle/>
          <a:p>
            <a:r>
              <a:rPr lang="en-US" altLang="zh-CN" dirty="0"/>
              <a:t>4.1</a:t>
            </a:r>
            <a:r>
              <a:rPr lang="zh-CN" altLang="en-US" dirty="0"/>
              <a:t>汇编语言程序基本格式</a:t>
            </a:r>
          </a:p>
          <a:p>
            <a:endParaRPr lang="zh-CN" altLang="en-US" dirty="0"/>
          </a:p>
        </p:txBody>
      </p:sp>
      <p:sp>
        <p:nvSpPr>
          <p:cNvPr id="5" name="矩形 4"/>
          <p:cNvSpPr/>
          <p:nvPr/>
        </p:nvSpPr>
        <p:spPr>
          <a:xfrm>
            <a:off x="1259632" y="2492896"/>
            <a:ext cx="6408712" cy="2345770"/>
          </a:xfrm>
          <a:prstGeom prst="rect">
            <a:avLst/>
          </a:prstGeom>
        </p:spPr>
        <p:txBody>
          <a:bodyPr wrap="square">
            <a:spAutoFit/>
          </a:bodyPr>
          <a:lstStyle/>
          <a:p>
            <a:pPr>
              <a:lnSpc>
                <a:spcPct val="150000"/>
              </a:lnSpc>
            </a:pPr>
            <a:r>
              <a:rPr lang="zh-CN" altLang="en-US" sz="2000" b="1" dirty="0"/>
              <a:t>① 执行速度快。</a:t>
            </a:r>
          </a:p>
          <a:p>
            <a:pPr>
              <a:lnSpc>
                <a:spcPct val="150000"/>
              </a:lnSpc>
            </a:pPr>
            <a:r>
              <a:rPr lang="zh-CN" altLang="en-US" sz="2000" b="1" dirty="0"/>
              <a:t>② 程序短小。</a:t>
            </a:r>
          </a:p>
          <a:p>
            <a:pPr>
              <a:lnSpc>
                <a:spcPct val="150000"/>
              </a:lnSpc>
            </a:pPr>
            <a:r>
              <a:rPr lang="zh-CN" altLang="en-US" sz="2000" b="1" dirty="0"/>
              <a:t>③ 可以直接控制硬件。</a:t>
            </a:r>
          </a:p>
          <a:p>
            <a:pPr>
              <a:lnSpc>
                <a:spcPct val="150000"/>
              </a:lnSpc>
            </a:pPr>
            <a:r>
              <a:rPr lang="zh-CN" altLang="en-US" sz="2000" b="1" dirty="0"/>
              <a:t>④ 可以方便地编译。</a:t>
            </a:r>
          </a:p>
          <a:p>
            <a:pPr>
              <a:lnSpc>
                <a:spcPct val="150000"/>
              </a:lnSpc>
            </a:pPr>
            <a:r>
              <a:rPr lang="zh-CN" altLang="en-US" sz="2000" b="1" dirty="0"/>
              <a:t>⑤ 辅助计算机工作者掌握计算机体系结构。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298450" y="991257"/>
            <a:ext cx="5832475" cy="512415"/>
          </a:xfrm>
        </p:spPr>
        <p:txBody>
          <a:bodyPr/>
          <a:lstStyle/>
          <a:p>
            <a:r>
              <a:rPr lang="en-US" altLang="zh-CN" dirty="0"/>
              <a:t>4.1.3</a:t>
            </a:r>
            <a:r>
              <a:rPr lang="zh-CN" altLang="en-US" dirty="0"/>
              <a:t>一般汇编语言程序的结构形式</a:t>
            </a:r>
          </a:p>
        </p:txBody>
      </p:sp>
      <p:sp>
        <p:nvSpPr>
          <p:cNvPr id="28" name="Rectangle 2"/>
          <p:cNvSpPr>
            <a:spLocks noChangeArrowheads="1"/>
          </p:cNvSpPr>
          <p:nvPr/>
        </p:nvSpPr>
        <p:spPr bwMode="auto">
          <a:xfrm>
            <a:off x="827088" y="3444223"/>
            <a:ext cx="5832475" cy="3143227"/>
          </a:xfrm>
          <a:prstGeom prst="rect">
            <a:avLst/>
          </a:prstGeom>
          <a:solidFill>
            <a:srgbClr val="FFFF99"/>
          </a:solidFill>
          <a:ln w="12700" cap="sq">
            <a:solidFill>
              <a:schemeClr val="tx1"/>
            </a:solidFill>
            <a:miter lim="800000"/>
            <a:headEnd type="none" w="sm" len="sm"/>
            <a:tailEnd type="none" w="sm" len="sm"/>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dirty="0"/>
          </a:p>
        </p:txBody>
      </p:sp>
      <p:sp>
        <p:nvSpPr>
          <p:cNvPr id="29" name="Rectangle 3"/>
          <p:cNvSpPr>
            <a:spLocks noChangeArrowheads="1"/>
          </p:cNvSpPr>
          <p:nvPr/>
        </p:nvSpPr>
        <p:spPr bwMode="auto">
          <a:xfrm>
            <a:off x="827088" y="2554365"/>
            <a:ext cx="5832475" cy="874636"/>
          </a:xfrm>
          <a:prstGeom prst="rect">
            <a:avLst/>
          </a:prstGeom>
          <a:solidFill>
            <a:schemeClr val="accent6">
              <a:lumMod val="95000"/>
            </a:schemeClr>
          </a:solidFill>
          <a:ln w="12700" cap="sq">
            <a:solidFill>
              <a:schemeClr val="tx1"/>
            </a:solidFill>
            <a:miter lim="800000"/>
            <a:headEnd type="none" w="sm" len="sm"/>
            <a:tailEnd type="none" w="sm" len="sm"/>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30" name="Rectangle 4"/>
          <p:cNvSpPr>
            <a:spLocks noChangeArrowheads="1"/>
          </p:cNvSpPr>
          <p:nvPr/>
        </p:nvSpPr>
        <p:spPr bwMode="auto">
          <a:xfrm>
            <a:off x="827088" y="1618676"/>
            <a:ext cx="5832475" cy="925148"/>
          </a:xfrm>
          <a:prstGeom prst="rect">
            <a:avLst/>
          </a:prstGeom>
          <a:solidFill>
            <a:schemeClr val="accent3">
              <a:lumMod val="20000"/>
              <a:lumOff val="80000"/>
            </a:schemeClr>
          </a:solidFill>
          <a:ln w="12700" cap="sq">
            <a:solidFill>
              <a:schemeClr val="tx1"/>
            </a:solidFill>
            <a:miter lim="800000"/>
            <a:headEnd type="none" w="sm" len="sm"/>
            <a:tailEnd type="none" w="sm" len="sm"/>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dirty="0"/>
          </a:p>
        </p:txBody>
      </p:sp>
      <p:sp>
        <p:nvSpPr>
          <p:cNvPr id="31" name="Rectangle 5"/>
          <p:cNvSpPr txBox="1">
            <a:spLocks noChangeArrowheads="1"/>
          </p:cNvSpPr>
          <p:nvPr/>
        </p:nvSpPr>
        <p:spPr>
          <a:xfrm>
            <a:off x="684214" y="1618675"/>
            <a:ext cx="7775574" cy="5717818"/>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90000"/>
              </a:lnSpc>
            </a:pPr>
            <a:r>
              <a:rPr lang="en-US" altLang="zh-CN" sz="1800" b="1" i="1" kern="0" dirty="0">
                <a:solidFill>
                  <a:srgbClr val="FF0000"/>
                </a:solidFill>
                <a:latin typeface="Times New Roman" panose="02020603050405020304" pitchFamily="18" charset="0"/>
              </a:rPr>
              <a:t>      stack    </a:t>
            </a:r>
            <a:r>
              <a:rPr lang="en-US" altLang="zh-CN" sz="1800" b="1" kern="0" dirty="0">
                <a:solidFill>
                  <a:srgbClr val="FF0000"/>
                </a:solidFill>
                <a:latin typeface="Times New Roman" panose="02020603050405020304" pitchFamily="18" charset="0"/>
              </a:rPr>
              <a:t>SEGMENT  PARA  ‘</a:t>
            </a:r>
            <a:r>
              <a:rPr lang="en-US" altLang="zh-CN" sz="1800" b="1" i="1" kern="0" dirty="0">
                <a:solidFill>
                  <a:srgbClr val="FF0000"/>
                </a:solidFill>
                <a:latin typeface="Times New Roman" panose="02020603050405020304" pitchFamily="18" charset="0"/>
              </a:rPr>
              <a:t>stack‘</a:t>
            </a:r>
            <a:endParaRPr lang="en-US" altLang="zh-CN" sz="1800" b="1" kern="0" dirty="0">
              <a:solidFill>
                <a:srgbClr val="FF0000"/>
              </a:solidFill>
              <a:latin typeface="Times New Roman" panose="02020603050405020304" pitchFamily="18" charset="0"/>
            </a:endParaRPr>
          </a:p>
          <a:p>
            <a:pPr>
              <a:lnSpc>
                <a:spcPct val="90000"/>
              </a:lnSpc>
            </a:pPr>
            <a:r>
              <a:rPr lang="en-US" altLang="zh-CN" sz="1800" b="1" kern="0" dirty="0">
                <a:solidFill>
                  <a:srgbClr val="FF0000"/>
                </a:solidFill>
                <a:latin typeface="Times New Roman" panose="02020603050405020304" pitchFamily="18" charset="0"/>
              </a:rPr>
              <a:t>                 DB    100  DUP(‘</a:t>
            </a:r>
            <a:r>
              <a:rPr lang="en-US" altLang="zh-CN" sz="1800" b="1" i="1" kern="0" dirty="0">
                <a:solidFill>
                  <a:srgbClr val="FF0000"/>
                </a:solidFill>
                <a:latin typeface="Times New Roman" panose="02020603050405020304" pitchFamily="18" charset="0"/>
              </a:rPr>
              <a:t>stack</a:t>
            </a:r>
            <a:r>
              <a:rPr lang="en-US" altLang="zh-CN" sz="1800" b="1" kern="0" dirty="0">
                <a:solidFill>
                  <a:srgbClr val="FF0000"/>
                </a:solidFill>
                <a:latin typeface="Times New Roman" panose="02020603050405020304" pitchFamily="18" charset="0"/>
              </a:rPr>
              <a:t>’)</a:t>
            </a:r>
          </a:p>
          <a:p>
            <a:pPr>
              <a:lnSpc>
                <a:spcPct val="90000"/>
              </a:lnSpc>
            </a:pPr>
            <a:r>
              <a:rPr lang="en-US" altLang="zh-CN" sz="1800" b="1" kern="0" dirty="0">
                <a:solidFill>
                  <a:srgbClr val="FF0000"/>
                </a:solidFill>
                <a:latin typeface="Times New Roman" panose="02020603050405020304" pitchFamily="18" charset="0"/>
              </a:rPr>
              <a:t>    </a:t>
            </a:r>
            <a:r>
              <a:rPr lang="en-US" altLang="zh-CN" sz="1800" b="1" i="1" kern="0" dirty="0">
                <a:solidFill>
                  <a:srgbClr val="FF0000"/>
                </a:solidFill>
                <a:latin typeface="Times New Roman" panose="02020603050405020304" pitchFamily="18" charset="0"/>
              </a:rPr>
              <a:t>stack</a:t>
            </a:r>
            <a:r>
              <a:rPr lang="en-US" altLang="zh-CN" sz="1800" b="1" kern="0" dirty="0">
                <a:solidFill>
                  <a:srgbClr val="FF0000"/>
                </a:solidFill>
                <a:latin typeface="Times New Roman" panose="02020603050405020304" pitchFamily="18" charset="0"/>
              </a:rPr>
              <a:t>    ENDS</a:t>
            </a:r>
          </a:p>
          <a:p>
            <a:pPr>
              <a:lnSpc>
                <a:spcPct val="90000"/>
              </a:lnSpc>
            </a:pPr>
            <a:r>
              <a:rPr lang="en-US" altLang="zh-CN" sz="1800" b="1" kern="0" dirty="0">
                <a:solidFill>
                  <a:schemeClr val="accent1"/>
                </a:solidFill>
                <a:latin typeface="Times New Roman" panose="02020603050405020304" pitchFamily="18" charset="0"/>
              </a:rPr>
              <a:t>    </a:t>
            </a:r>
            <a:r>
              <a:rPr lang="en-US" altLang="zh-CN" sz="1800" b="1" i="1" kern="0" dirty="0">
                <a:solidFill>
                  <a:schemeClr val="accent1"/>
                </a:solidFill>
                <a:latin typeface="Times New Roman" panose="02020603050405020304" pitchFamily="18" charset="0"/>
              </a:rPr>
              <a:t>data</a:t>
            </a:r>
            <a:r>
              <a:rPr lang="en-US" altLang="zh-CN" sz="1800" b="1" kern="0" dirty="0">
                <a:solidFill>
                  <a:schemeClr val="accent1"/>
                </a:solidFill>
                <a:latin typeface="Times New Roman" panose="02020603050405020304" pitchFamily="18" charset="0"/>
              </a:rPr>
              <a:t>     SEGMENT</a:t>
            </a:r>
          </a:p>
          <a:p>
            <a:pPr>
              <a:lnSpc>
                <a:spcPct val="90000"/>
              </a:lnSpc>
            </a:pPr>
            <a:r>
              <a:rPr lang="en-US" altLang="zh-CN" sz="1800" b="1" kern="0" dirty="0">
                <a:solidFill>
                  <a:schemeClr val="accent1"/>
                </a:solidFill>
                <a:latin typeface="Times New Roman" panose="02020603050405020304" pitchFamily="18" charset="0"/>
              </a:rPr>
              <a:t>                </a:t>
            </a:r>
            <a:r>
              <a:rPr lang="en-US" altLang="zh-CN" sz="1800" b="1" i="1" kern="0" dirty="0">
                <a:solidFill>
                  <a:schemeClr val="accent1"/>
                </a:solidFill>
                <a:latin typeface="Times New Roman" panose="02020603050405020304" pitchFamily="18" charset="0"/>
              </a:rPr>
              <a:t>&lt;</a:t>
            </a:r>
            <a:r>
              <a:rPr lang="zh-CN" altLang="en-US" sz="1800" b="1" i="1" kern="0" dirty="0">
                <a:solidFill>
                  <a:schemeClr val="accent1"/>
                </a:solidFill>
                <a:latin typeface="Times New Roman" panose="02020603050405020304" pitchFamily="18" charset="0"/>
              </a:rPr>
              <a:t>数据、变量在此定义</a:t>
            </a:r>
            <a:r>
              <a:rPr lang="en-US" altLang="zh-CN" sz="1800" b="1" i="1" kern="0" dirty="0">
                <a:solidFill>
                  <a:schemeClr val="accent1"/>
                </a:solidFill>
                <a:latin typeface="Times New Roman" panose="02020603050405020304" pitchFamily="18" charset="0"/>
              </a:rPr>
              <a:t>&gt;</a:t>
            </a:r>
          </a:p>
          <a:p>
            <a:pPr>
              <a:lnSpc>
                <a:spcPct val="90000"/>
              </a:lnSpc>
            </a:pPr>
            <a:r>
              <a:rPr lang="en-US" altLang="zh-CN" sz="1800" b="1" kern="0" dirty="0">
                <a:solidFill>
                  <a:schemeClr val="accent1"/>
                </a:solidFill>
                <a:latin typeface="Times New Roman" panose="02020603050405020304" pitchFamily="18" charset="0"/>
              </a:rPr>
              <a:t>    </a:t>
            </a:r>
            <a:r>
              <a:rPr lang="en-US" altLang="zh-CN" sz="1800" b="1" i="1" kern="0" dirty="0">
                <a:solidFill>
                  <a:schemeClr val="accent1"/>
                </a:solidFill>
                <a:latin typeface="Times New Roman" panose="02020603050405020304" pitchFamily="18" charset="0"/>
              </a:rPr>
              <a:t>data </a:t>
            </a:r>
            <a:r>
              <a:rPr lang="en-US" altLang="zh-CN" sz="1800" b="1" kern="0" dirty="0">
                <a:solidFill>
                  <a:schemeClr val="accent1"/>
                </a:solidFill>
                <a:latin typeface="Times New Roman" panose="02020603050405020304" pitchFamily="18" charset="0"/>
              </a:rPr>
              <a:t>    ENDS</a:t>
            </a:r>
          </a:p>
          <a:p>
            <a:pPr>
              <a:lnSpc>
                <a:spcPct val="90000"/>
              </a:lnSpc>
            </a:pPr>
            <a:r>
              <a:rPr lang="en-US" altLang="zh-CN" b="1" kern="0" dirty="0">
                <a:latin typeface="Times New Roman" panose="02020603050405020304" pitchFamily="18" charset="0"/>
              </a:rPr>
              <a:t>   </a:t>
            </a:r>
            <a:r>
              <a:rPr lang="en-US" altLang="zh-CN" sz="1800" b="1" i="1" kern="0" dirty="0">
                <a:solidFill>
                  <a:srgbClr val="740000"/>
                </a:solidFill>
                <a:latin typeface="Times New Roman" panose="02020603050405020304" pitchFamily="18" charset="0"/>
              </a:rPr>
              <a:t>code</a:t>
            </a:r>
            <a:r>
              <a:rPr lang="en-US" altLang="zh-CN" sz="1800" b="1" kern="0" dirty="0">
                <a:solidFill>
                  <a:srgbClr val="740000"/>
                </a:solidFill>
                <a:latin typeface="Times New Roman" panose="02020603050405020304" pitchFamily="18" charset="0"/>
              </a:rPr>
              <a:t>    SEGMENT</a:t>
            </a:r>
          </a:p>
          <a:p>
            <a:pPr>
              <a:lnSpc>
                <a:spcPct val="90000"/>
              </a:lnSpc>
            </a:pPr>
            <a:r>
              <a:rPr lang="en-US" altLang="zh-CN" sz="1800" b="1" kern="0" dirty="0">
                <a:solidFill>
                  <a:srgbClr val="740000"/>
                </a:solidFill>
                <a:latin typeface="Times New Roman" panose="02020603050405020304" pitchFamily="18" charset="0"/>
              </a:rPr>
              <a:t>                ASSUME  </a:t>
            </a:r>
            <a:r>
              <a:rPr lang="en-US" altLang="zh-CN" sz="1800" b="1" kern="0" dirty="0" err="1">
                <a:solidFill>
                  <a:srgbClr val="740000"/>
                </a:solidFill>
                <a:latin typeface="Times New Roman" panose="02020603050405020304" pitchFamily="18" charset="0"/>
              </a:rPr>
              <a:t>CS:</a:t>
            </a:r>
            <a:r>
              <a:rPr lang="en-US" altLang="zh-CN" sz="1800" b="1" i="1" kern="0" dirty="0" err="1">
                <a:solidFill>
                  <a:srgbClr val="740000"/>
                </a:solidFill>
                <a:latin typeface="Times New Roman" panose="02020603050405020304" pitchFamily="18" charset="0"/>
              </a:rPr>
              <a:t>code</a:t>
            </a:r>
            <a:r>
              <a:rPr lang="en-US" altLang="zh-CN" sz="1800" b="1" kern="0" dirty="0">
                <a:solidFill>
                  <a:srgbClr val="740000"/>
                </a:solidFill>
                <a:latin typeface="Times New Roman" panose="02020603050405020304" pitchFamily="18" charset="0"/>
              </a:rPr>
              <a:t>, </a:t>
            </a:r>
            <a:r>
              <a:rPr lang="en-US" altLang="zh-CN" sz="1800" b="1" kern="0" dirty="0" err="1">
                <a:solidFill>
                  <a:srgbClr val="740000"/>
                </a:solidFill>
                <a:latin typeface="Times New Roman" panose="02020603050405020304" pitchFamily="18" charset="0"/>
              </a:rPr>
              <a:t>DS:</a:t>
            </a:r>
            <a:r>
              <a:rPr lang="en-US" altLang="zh-CN" sz="1800" b="1" i="1" kern="0" dirty="0" err="1">
                <a:solidFill>
                  <a:srgbClr val="740000"/>
                </a:solidFill>
                <a:latin typeface="Times New Roman" panose="02020603050405020304" pitchFamily="18" charset="0"/>
              </a:rPr>
              <a:t>data</a:t>
            </a:r>
            <a:r>
              <a:rPr lang="en-US" altLang="zh-CN" sz="1800" b="1" kern="0" dirty="0">
                <a:solidFill>
                  <a:srgbClr val="740000"/>
                </a:solidFill>
                <a:latin typeface="Times New Roman" panose="02020603050405020304" pitchFamily="18" charset="0"/>
              </a:rPr>
              <a:t>, </a:t>
            </a:r>
            <a:r>
              <a:rPr lang="en-US" altLang="zh-CN" sz="1800" b="1" kern="0" dirty="0" err="1">
                <a:solidFill>
                  <a:srgbClr val="740000"/>
                </a:solidFill>
                <a:latin typeface="Times New Roman" panose="02020603050405020304" pitchFamily="18" charset="0"/>
              </a:rPr>
              <a:t>ES:</a:t>
            </a:r>
            <a:r>
              <a:rPr lang="en-US" altLang="zh-CN" sz="1800" b="1" i="1" kern="0" dirty="0" err="1">
                <a:solidFill>
                  <a:srgbClr val="740000"/>
                </a:solidFill>
                <a:latin typeface="Times New Roman" panose="02020603050405020304" pitchFamily="18" charset="0"/>
              </a:rPr>
              <a:t>data</a:t>
            </a:r>
            <a:r>
              <a:rPr lang="en-US" altLang="zh-CN" sz="1800" b="1" i="1" kern="0" dirty="0">
                <a:solidFill>
                  <a:srgbClr val="740000"/>
                </a:solidFill>
                <a:latin typeface="Times New Roman" panose="02020603050405020304" pitchFamily="18" charset="0"/>
              </a:rPr>
              <a:t>, </a:t>
            </a:r>
            <a:r>
              <a:rPr lang="en-US" altLang="zh-CN" sz="1800" b="1" kern="0" dirty="0" err="1">
                <a:solidFill>
                  <a:srgbClr val="740000"/>
                </a:solidFill>
                <a:latin typeface="Times New Roman" panose="02020603050405020304" pitchFamily="18" charset="0"/>
              </a:rPr>
              <a:t>SS:</a:t>
            </a:r>
            <a:r>
              <a:rPr lang="en-US" altLang="zh-CN" sz="1800" b="1" i="1" kern="0" dirty="0" err="1">
                <a:solidFill>
                  <a:srgbClr val="740000"/>
                </a:solidFill>
                <a:latin typeface="Times New Roman" panose="02020603050405020304" pitchFamily="18" charset="0"/>
              </a:rPr>
              <a:t>stack</a:t>
            </a:r>
            <a:endParaRPr lang="en-US" altLang="zh-CN" sz="1800" b="1" i="1" kern="0" dirty="0">
              <a:solidFill>
                <a:srgbClr val="740000"/>
              </a:solidFill>
              <a:latin typeface="Times New Roman" panose="02020603050405020304" pitchFamily="18" charset="0"/>
            </a:endParaRPr>
          </a:p>
          <a:p>
            <a:pPr>
              <a:lnSpc>
                <a:spcPct val="90000"/>
              </a:lnSpc>
            </a:pPr>
            <a:r>
              <a:rPr lang="en-US" altLang="zh-CN" sz="1800" b="1" kern="0" dirty="0">
                <a:solidFill>
                  <a:srgbClr val="740000"/>
                </a:solidFill>
                <a:latin typeface="Times New Roman" panose="02020603050405020304" pitchFamily="18" charset="0"/>
              </a:rPr>
              <a:t>    </a:t>
            </a:r>
            <a:r>
              <a:rPr lang="en-US" altLang="zh-CN" sz="1800" b="1" i="1" kern="0" dirty="0">
                <a:solidFill>
                  <a:srgbClr val="740000"/>
                </a:solidFill>
                <a:latin typeface="Times New Roman" panose="02020603050405020304" pitchFamily="18" charset="0"/>
              </a:rPr>
              <a:t>start:</a:t>
            </a:r>
            <a:r>
              <a:rPr lang="en-US" altLang="zh-CN" sz="1800" b="1" kern="0" dirty="0">
                <a:solidFill>
                  <a:srgbClr val="740000"/>
                </a:solidFill>
                <a:latin typeface="Times New Roman" panose="02020603050405020304" pitchFamily="18" charset="0"/>
              </a:rPr>
              <a:t>    MOV    AX, </a:t>
            </a:r>
            <a:r>
              <a:rPr lang="en-US" altLang="zh-CN" sz="1800" b="1" i="1" kern="0" dirty="0">
                <a:solidFill>
                  <a:srgbClr val="740000"/>
                </a:solidFill>
                <a:latin typeface="Times New Roman" panose="02020603050405020304" pitchFamily="18" charset="0"/>
              </a:rPr>
              <a:t>data</a:t>
            </a:r>
          </a:p>
          <a:p>
            <a:pPr>
              <a:lnSpc>
                <a:spcPct val="90000"/>
              </a:lnSpc>
            </a:pPr>
            <a:r>
              <a:rPr lang="en-US" altLang="zh-CN" sz="1800" b="1" kern="0" dirty="0">
                <a:solidFill>
                  <a:srgbClr val="740000"/>
                </a:solidFill>
                <a:latin typeface="Times New Roman" panose="02020603050405020304" pitchFamily="18" charset="0"/>
              </a:rPr>
              <a:t>                MOV    DS, AX</a:t>
            </a:r>
          </a:p>
          <a:p>
            <a:pPr>
              <a:lnSpc>
                <a:spcPct val="90000"/>
              </a:lnSpc>
            </a:pPr>
            <a:r>
              <a:rPr lang="en-US" altLang="zh-CN" sz="1800" b="1" kern="0" dirty="0">
                <a:solidFill>
                  <a:srgbClr val="740000"/>
                </a:solidFill>
                <a:latin typeface="Times New Roman" panose="02020603050405020304" pitchFamily="18" charset="0"/>
              </a:rPr>
              <a:t>                MOV    ES, AX</a:t>
            </a:r>
          </a:p>
          <a:p>
            <a:pPr>
              <a:lnSpc>
                <a:spcPct val="90000"/>
              </a:lnSpc>
            </a:pPr>
            <a:r>
              <a:rPr lang="en-US" altLang="zh-CN" sz="1800" b="1" kern="0" dirty="0">
                <a:solidFill>
                  <a:schemeClr val="accent3">
                    <a:lumMod val="75000"/>
                  </a:schemeClr>
                </a:solidFill>
                <a:latin typeface="Times New Roman" panose="02020603050405020304" pitchFamily="18" charset="0"/>
              </a:rPr>
              <a:t>                </a:t>
            </a:r>
            <a:r>
              <a:rPr lang="en-US" altLang="zh-CN" sz="1800" b="1" i="1" kern="0" dirty="0">
                <a:solidFill>
                  <a:schemeClr val="accent3">
                    <a:lumMod val="75000"/>
                  </a:schemeClr>
                </a:solidFill>
                <a:latin typeface="Times New Roman" panose="02020603050405020304" pitchFamily="18" charset="0"/>
              </a:rPr>
              <a:t>&lt;</a:t>
            </a:r>
            <a:r>
              <a:rPr lang="zh-CN" altLang="en-US" sz="1800" b="1" i="1" kern="0" dirty="0">
                <a:solidFill>
                  <a:schemeClr val="accent3">
                    <a:lumMod val="75000"/>
                  </a:schemeClr>
                </a:solidFill>
                <a:latin typeface="Times New Roman" panose="02020603050405020304" pitchFamily="18" charset="0"/>
              </a:rPr>
              <a:t>此处加入你自己的程序段</a:t>
            </a:r>
            <a:r>
              <a:rPr lang="en-US" altLang="zh-CN" sz="1800" b="1" i="1" kern="0" dirty="0">
                <a:solidFill>
                  <a:schemeClr val="accent3">
                    <a:lumMod val="75000"/>
                  </a:schemeClr>
                </a:solidFill>
                <a:latin typeface="Times New Roman" panose="02020603050405020304" pitchFamily="18" charset="0"/>
              </a:rPr>
              <a:t>&gt;</a:t>
            </a:r>
          </a:p>
          <a:p>
            <a:pPr>
              <a:lnSpc>
                <a:spcPct val="90000"/>
              </a:lnSpc>
            </a:pPr>
            <a:r>
              <a:rPr lang="en-US" altLang="zh-CN" sz="1800" b="1" kern="0" dirty="0">
                <a:solidFill>
                  <a:srgbClr val="740000"/>
                </a:solidFill>
                <a:latin typeface="Times New Roman" panose="02020603050405020304" pitchFamily="18" charset="0"/>
              </a:rPr>
              <a:t>                MOV    AL, 4CH</a:t>
            </a:r>
          </a:p>
          <a:p>
            <a:pPr>
              <a:lnSpc>
                <a:spcPct val="90000"/>
              </a:lnSpc>
            </a:pPr>
            <a:r>
              <a:rPr lang="en-US" altLang="zh-CN" sz="1800" b="1" kern="0" dirty="0">
                <a:solidFill>
                  <a:srgbClr val="740000"/>
                </a:solidFill>
                <a:latin typeface="Times New Roman" panose="02020603050405020304" pitchFamily="18" charset="0"/>
              </a:rPr>
              <a:t>                INT      21H</a:t>
            </a:r>
          </a:p>
          <a:p>
            <a:pPr>
              <a:lnSpc>
                <a:spcPct val="90000"/>
              </a:lnSpc>
            </a:pPr>
            <a:r>
              <a:rPr lang="en-US" altLang="zh-CN" sz="1800" b="1" kern="0" dirty="0">
                <a:solidFill>
                  <a:srgbClr val="740000"/>
                </a:solidFill>
                <a:latin typeface="Times New Roman" panose="02020603050405020304" pitchFamily="18" charset="0"/>
              </a:rPr>
              <a:t>    </a:t>
            </a:r>
            <a:r>
              <a:rPr lang="en-US" altLang="zh-CN" sz="1800" b="1" i="1" kern="0" dirty="0">
                <a:solidFill>
                  <a:srgbClr val="740000"/>
                </a:solidFill>
                <a:latin typeface="Times New Roman" panose="02020603050405020304" pitchFamily="18" charset="0"/>
              </a:rPr>
              <a:t>code</a:t>
            </a:r>
            <a:r>
              <a:rPr lang="en-US" altLang="zh-CN" sz="1800" b="1" kern="0" dirty="0">
                <a:solidFill>
                  <a:srgbClr val="740000"/>
                </a:solidFill>
                <a:latin typeface="Times New Roman" panose="02020603050405020304" pitchFamily="18" charset="0"/>
              </a:rPr>
              <a:t>    ENDS</a:t>
            </a:r>
          </a:p>
          <a:p>
            <a:pPr>
              <a:lnSpc>
                <a:spcPct val="90000"/>
              </a:lnSpc>
            </a:pPr>
            <a:r>
              <a:rPr lang="en-US" altLang="zh-CN" sz="1800" b="1" kern="0" dirty="0">
                <a:solidFill>
                  <a:srgbClr val="740000"/>
                </a:solidFill>
                <a:latin typeface="Times New Roman" panose="02020603050405020304" pitchFamily="18" charset="0"/>
              </a:rPr>
              <a:t>                END   </a:t>
            </a:r>
            <a:r>
              <a:rPr lang="en-US" altLang="zh-CN" sz="1800" b="1" i="1" kern="0" dirty="0">
                <a:solidFill>
                  <a:srgbClr val="740000"/>
                </a:solidFill>
                <a:latin typeface="Times New Roman" panose="02020603050405020304" pitchFamily="18" charset="0"/>
              </a:rPr>
              <a:t> start </a:t>
            </a:r>
            <a:r>
              <a:rPr lang="en-US" altLang="zh-CN" sz="1800" b="1" kern="0" dirty="0">
                <a:solidFill>
                  <a:srgbClr val="740000"/>
                </a:solidFill>
                <a:latin typeface="Times New Roman" panose="02020603050405020304" pitchFamily="18" charset="0"/>
              </a:rPr>
              <a:t>      </a:t>
            </a:r>
          </a:p>
        </p:txBody>
      </p:sp>
      <p:sp>
        <p:nvSpPr>
          <p:cNvPr id="32" name="Text Box 6"/>
          <p:cNvSpPr txBox="1">
            <a:spLocks noChangeArrowheads="1"/>
          </p:cNvSpPr>
          <p:nvPr/>
        </p:nvSpPr>
        <p:spPr bwMode="auto">
          <a:xfrm>
            <a:off x="6948488" y="1907600"/>
            <a:ext cx="1511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微软雅黑" panose="020B0503020204020204" pitchFamily="34" charset="-122"/>
                <a:ea typeface="微软雅黑" panose="020B0503020204020204" pitchFamily="34" charset="-122"/>
              </a:rPr>
              <a:t>堆栈段</a:t>
            </a:r>
          </a:p>
        </p:txBody>
      </p:sp>
      <p:sp>
        <p:nvSpPr>
          <p:cNvPr id="33" name="Text Box 7"/>
          <p:cNvSpPr txBox="1">
            <a:spLocks noChangeArrowheads="1"/>
          </p:cNvSpPr>
          <p:nvPr/>
        </p:nvSpPr>
        <p:spPr bwMode="auto">
          <a:xfrm>
            <a:off x="6948488" y="2915662"/>
            <a:ext cx="1511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微软雅黑" panose="020B0503020204020204" pitchFamily="34" charset="-122"/>
                <a:ea typeface="微软雅黑" panose="020B0503020204020204" pitchFamily="34" charset="-122"/>
              </a:rPr>
              <a:t>数据段</a:t>
            </a:r>
          </a:p>
        </p:txBody>
      </p:sp>
      <p:sp>
        <p:nvSpPr>
          <p:cNvPr id="34" name="Text Box 8"/>
          <p:cNvSpPr txBox="1">
            <a:spLocks noChangeArrowheads="1"/>
          </p:cNvSpPr>
          <p:nvPr/>
        </p:nvSpPr>
        <p:spPr bwMode="auto">
          <a:xfrm>
            <a:off x="6948488" y="5147687"/>
            <a:ext cx="1511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a:latin typeface="微软雅黑" panose="020B0503020204020204" pitchFamily="34" charset="-122"/>
                <a:ea typeface="微软雅黑" panose="020B0503020204020204" pitchFamily="34" charset="-122"/>
              </a:rPr>
              <a:t>代码段</a:t>
            </a:r>
          </a:p>
        </p:txBody>
      </p:sp>
      <p:sp>
        <p:nvSpPr>
          <p:cNvPr id="35" name="AutoShape 9"/>
          <p:cNvSpPr/>
          <p:nvPr/>
        </p:nvSpPr>
        <p:spPr bwMode="auto">
          <a:xfrm>
            <a:off x="6839744" y="3779262"/>
            <a:ext cx="108744" cy="2736180"/>
          </a:xfrm>
          <a:prstGeom prst="rightBrace">
            <a:avLst>
              <a:gd name="adj1" fmla="val 195237"/>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36" name="AutoShape 10"/>
          <p:cNvSpPr/>
          <p:nvPr/>
        </p:nvSpPr>
        <p:spPr bwMode="auto">
          <a:xfrm>
            <a:off x="6804025" y="2626737"/>
            <a:ext cx="144463" cy="1064762"/>
          </a:xfrm>
          <a:prstGeom prst="rightBrace">
            <a:avLst>
              <a:gd name="adj1" fmla="val 62362"/>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37" name="AutoShape 11"/>
          <p:cNvSpPr/>
          <p:nvPr/>
        </p:nvSpPr>
        <p:spPr bwMode="auto">
          <a:xfrm>
            <a:off x="6804025" y="1691701"/>
            <a:ext cx="144463" cy="852122"/>
          </a:xfrm>
          <a:prstGeom prst="rightBrace">
            <a:avLst>
              <a:gd name="adj1" fmla="val 49908"/>
              <a:gd name="adj2" fmla="val 50000"/>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38" name="Text Box 12"/>
          <p:cNvSpPr txBox="1">
            <a:spLocks noChangeArrowheads="1"/>
          </p:cNvSpPr>
          <p:nvPr/>
        </p:nvSpPr>
        <p:spPr bwMode="auto">
          <a:xfrm>
            <a:off x="1604018" y="4104876"/>
            <a:ext cx="4535487" cy="1862048"/>
          </a:xfrm>
          <a:prstGeom prst="rect">
            <a:avLst/>
          </a:prstGeom>
          <a:noFill/>
          <a:ln w="28575">
            <a:solidFill>
              <a:schemeClr val="folHlink"/>
            </a:solidFill>
            <a:prstDash val="dash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en-US" altLang="zh-CN" sz="1600"/>
          </a:p>
          <a:p>
            <a:pPr eaLnBrk="1" hangingPunct="1">
              <a:spcBef>
                <a:spcPct val="50000"/>
              </a:spcBef>
            </a:pPr>
            <a:endParaRPr lang="en-US" altLang="zh-CN" sz="1600"/>
          </a:p>
          <a:p>
            <a:pPr eaLnBrk="1" hangingPunct="1">
              <a:spcBef>
                <a:spcPct val="50000"/>
              </a:spcBef>
            </a:pPr>
            <a:endParaRPr lang="en-US" altLang="zh-CN" sz="1600"/>
          </a:p>
          <a:p>
            <a:pPr eaLnBrk="1" hangingPunct="1">
              <a:spcBef>
                <a:spcPct val="50000"/>
              </a:spcBef>
            </a:pPr>
            <a:endParaRPr lang="en-US" altLang="zh-CN" sz="1600"/>
          </a:p>
          <a:p>
            <a:pPr eaLnBrk="1" hangingPunct="1">
              <a:spcBef>
                <a:spcPct val="50000"/>
              </a:spcBef>
            </a:pPr>
            <a:endParaRPr lang="en-US" altLang="zh-CN" sz="1600"/>
          </a:p>
        </p:txBody>
      </p:sp>
      <p:sp>
        <p:nvSpPr>
          <p:cNvPr id="39" name="Text Box 13"/>
          <p:cNvSpPr txBox="1">
            <a:spLocks noChangeArrowheads="1"/>
          </p:cNvSpPr>
          <p:nvPr/>
        </p:nvSpPr>
        <p:spPr bwMode="auto">
          <a:xfrm>
            <a:off x="5383062" y="5035900"/>
            <a:ext cx="9350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dirty="0">
                <a:solidFill>
                  <a:schemeClr val="accent3">
                    <a:lumMod val="75000"/>
                  </a:schemeClr>
                </a:solidFill>
              </a:rPr>
              <a:t>真指令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up)">
                                      <p:cBhvr>
                                        <p:cTn id="11" dur="500"/>
                                        <p:tgtEl>
                                          <p:spTgt spid="29"/>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wipe(up)">
                                      <p:cBhvr>
                                        <p:cTn id="15" dur="500"/>
                                        <p:tgtEl>
                                          <p:spTgt spid="30"/>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up)">
                                      <p:cBhvr>
                                        <p:cTn id="19" dur="500"/>
                                        <p:tgtEl>
                                          <p:spTgt spid="31"/>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up)">
                                      <p:cBhvr>
                                        <p:cTn id="23" dur="500"/>
                                        <p:tgtEl>
                                          <p:spTgt spid="38"/>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randombar(horizontal)">
                                      <p:cBhvr>
                                        <p:cTn id="28" dur="500"/>
                                        <p:tgtEl>
                                          <p:spTgt spid="37"/>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randombar(horizontal)">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animEffect transition="in" filter="fade">
                                      <p:cBhvr>
                                        <p:cTn id="39" dur="500"/>
                                        <p:tgtEl>
                                          <p:spTgt spid="33"/>
                                        </p:tgtEl>
                                      </p:cBhvr>
                                    </p:animEffect>
                                  </p:childTnLst>
                                </p:cTn>
                              </p:par>
                            </p:childTnLst>
                          </p:cTn>
                        </p:par>
                      </p:childTnLst>
                    </p:cTn>
                  </p:par>
                  <p:par>
                    <p:cTn id="40" fill="hold">
                      <p:stCondLst>
                        <p:cond delay="indefinite"/>
                      </p:stCondLst>
                      <p:childTnLst>
                        <p:par>
                          <p:cTn id="41" fill="hold">
                            <p:stCondLst>
                              <p:cond delay="0"/>
                            </p:stCondLst>
                            <p:childTnLst>
                              <p:par>
                                <p:cTn id="42" presetID="14" presetClass="entr" presetSubtype="10"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randombar(horizontal)">
                                      <p:cBhvr>
                                        <p:cTn id="44" dur="500"/>
                                        <p:tgtEl>
                                          <p:spTgt spid="34"/>
                                        </p:tgtEl>
                                      </p:cBhvr>
                                    </p:animEffect>
                                  </p:childTnLst>
                                </p:cTn>
                              </p:par>
                              <p:par>
                                <p:cTn id="45" presetID="14" presetClass="entr" presetSubtype="1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randombar(horizontal)">
                                      <p:cBhvr>
                                        <p:cTn id="4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p:bldP spid="32" grpId="0"/>
      <p:bldP spid="33" grpId="0"/>
      <p:bldP spid="34" grpId="0"/>
      <p:bldP spid="35" grpId="0" animBg="1"/>
      <p:bldP spid="36" grpId="0" animBg="1"/>
      <p:bldP spid="37" grpId="0" animBg="1"/>
      <p:bldP spid="3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3561BA9-CDCF-4958-B8AB-66F3BF063E13}" type="slidenum">
              <a:rPr lang="en-US" smtClean="0"/>
              <a:t>5</a:t>
            </a:fld>
            <a:endParaRPr lang="en-US"/>
          </a:p>
        </p:txBody>
      </p:sp>
      <p:pic>
        <p:nvPicPr>
          <p:cNvPr id="5" name="Picture 4"/>
          <p:cNvPicPr>
            <a:picLocks noChangeAspect="1"/>
          </p:cNvPicPr>
          <p:nvPr/>
        </p:nvPicPr>
        <p:blipFill>
          <a:blip r:embed="rId2"/>
          <a:stretch>
            <a:fillRect/>
          </a:stretch>
        </p:blipFill>
        <p:spPr>
          <a:xfrm>
            <a:off x="179705" y="908685"/>
            <a:ext cx="8877300" cy="4305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3878650"/>
          </a:xfrm>
        </p:spPr>
        <p:txBody>
          <a:bodyPr/>
          <a:lstStyle/>
          <a:p>
            <a:r>
              <a:rPr lang="zh-CN" altLang="en-US" sz="2000" b="1" dirty="0"/>
              <a:t>每一段的语句体由语句序列组成，</a:t>
            </a:r>
            <a:r>
              <a:rPr lang="en-US" altLang="zh-CN" sz="2000" b="1" dirty="0"/>
              <a:t>8086</a:t>
            </a:r>
            <a:r>
              <a:rPr lang="zh-CN" altLang="en-US" sz="2000" b="1" dirty="0"/>
              <a:t>汇编语言语句分为如下三类。</a:t>
            </a:r>
          </a:p>
          <a:p>
            <a:r>
              <a:rPr lang="zh-CN" altLang="en-US" sz="2000" b="1" dirty="0"/>
              <a:t>① </a:t>
            </a:r>
            <a:r>
              <a:rPr lang="zh-CN" altLang="en-US" sz="2000" b="1" dirty="0">
                <a:solidFill>
                  <a:srgbClr val="C00000"/>
                </a:solidFill>
              </a:rPr>
              <a:t>指令语句</a:t>
            </a:r>
            <a:r>
              <a:rPr lang="zh-CN" altLang="en-US" sz="2000" b="1" dirty="0"/>
              <a:t>：</a:t>
            </a:r>
            <a:r>
              <a:rPr lang="en-US" altLang="zh-CN" sz="2000" b="1" dirty="0"/>
              <a:t>8086</a:t>
            </a:r>
            <a:r>
              <a:rPr lang="zh-CN" altLang="en-US" sz="2000" b="1" dirty="0"/>
              <a:t>指令系统的指令形式，与机器指令一一对应。</a:t>
            </a:r>
          </a:p>
          <a:p>
            <a:r>
              <a:rPr lang="zh-CN" altLang="en-US" sz="2000" b="1" dirty="0"/>
              <a:t>② </a:t>
            </a:r>
            <a:r>
              <a:rPr lang="zh-CN" altLang="en-US" sz="2000" b="1" dirty="0">
                <a:solidFill>
                  <a:srgbClr val="C00000"/>
                </a:solidFill>
              </a:rPr>
              <a:t>伪指令语句</a:t>
            </a:r>
            <a:r>
              <a:rPr lang="zh-CN" altLang="en-US" sz="2000" b="1" dirty="0"/>
              <a:t>：又称管理语句。在汇编语言源程序的汇编过程中起作用，它是对汇编程序的命令语句，一般没有相应的目标代码。</a:t>
            </a:r>
          </a:p>
          <a:p>
            <a:r>
              <a:rPr lang="zh-CN" altLang="en-US" sz="2000" b="1" dirty="0"/>
              <a:t>③ </a:t>
            </a:r>
            <a:r>
              <a:rPr lang="zh-CN" altLang="en-US" sz="2000" b="1" dirty="0">
                <a:solidFill>
                  <a:srgbClr val="C00000"/>
                </a:solidFill>
              </a:rPr>
              <a:t>宏指令语句</a:t>
            </a:r>
            <a:r>
              <a:rPr lang="zh-CN" altLang="en-US" sz="2000" b="1" dirty="0"/>
              <a:t>：是宏汇编程序能识别的、预先定义的指令代码序列。一旦定义以后，宏指令就像一条指令一样，可以在源程序中被引用，其效果等同于引入一段代码序列。</a:t>
            </a:r>
          </a:p>
          <a:p>
            <a:endParaRPr lang="zh-CN" altLang="en-US" sz="2000" b="1" dirty="0"/>
          </a:p>
        </p:txBody>
      </p:sp>
      <p:sp>
        <p:nvSpPr>
          <p:cNvPr id="3" name="文本占位符 2"/>
          <p:cNvSpPr>
            <a:spLocks noGrp="1"/>
          </p:cNvSpPr>
          <p:nvPr>
            <p:ph type="body" sz="quarter" idx="10"/>
          </p:nvPr>
        </p:nvSpPr>
        <p:spPr/>
        <p:txBody>
          <a:bodyPr/>
          <a:lstStyle/>
          <a:p>
            <a:r>
              <a:rPr lang="en-US" altLang="zh-CN" dirty="0"/>
              <a:t>4.1</a:t>
            </a:r>
            <a:r>
              <a:rPr lang="zh-CN" altLang="en-US" dirty="0"/>
              <a:t>汇编语言程序基本格式</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barn(inVertical)">
                                      <p:cBhvr>
                                        <p:cTn id="7" dur="500"/>
                                        <p:tgtEl>
                                          <p:spTgt spid="2">
                                            <p:txEl>
                                              <p:pRg st="0" end="0"/>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barn(inVertical)">
                                      <p:cBhvr>
                                        <p:cTn id="11" dur="500"/>
                                        <p:tgtEl>
                                          <p:spTgt spid="2">
                                            <p:txEl>
                                              <p:pRg st="1" end="1"/>
                                            </p:txEl>
                                          </p:spTgt>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barn(inVertical)">
                                      <p:cBhvr>
                                        <p:cTn id="15" dur="500"/>
                                        <p:tgtEl>
                                          <p:spTgt spid="2">
                                            <p:txEl>
                                              <p:pRg st="2" end="2"/>
                                            </p:txEl>
                                          </p:spTgt>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barn(inVertical)">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605" y="1628805"/>
            <a:ext cx="8229600" cy="4300796"/>
          </a:xfrm>
        </p:spPr>
        <p:txBody>
          <a:bodyPr/>
          <a:lstStyle/>
          <a:p>
            <a:pPr lvl="0">
              <a:spcBef>
                <a:spcPct val="50000"/>
              </a:spcBef>
              <a:buClrTx/>
            </a:pPr>
            <a:r>
              <a:rPr kumimoji="1" lang="zh-CN" altLang="en-US" b="1" kern="1200" dirty="0">
                <a:solidFill>
                  <a:srgbClr val="000000"/>
                </a:solidFill>
                <a:latin typeface="Times New Roman" panose="02020603050405020304" pitchFamily="18" charset="0"/>
                <a:cs typeface="Times New Roman" panose="02020603050405020304" pitchFamily="18" charset="0"/>
              </a:rPr>
              <a:t> 一般情况下，汇编语言的</a:t>
            </a:r>
            <a:r>
              <a:rPr kumimoji="1" lang="zh-CN" altLang="en-US" b="1" kern="1200" dirty="0">
                <a:solidFill>
                  <a:srgbClr val="FF3300"/>
                </a:solidFill>
                <a:latin typeface="Times New Roman" panose="02020603050405020304" pitchFamily="18" charset="0"/>
                <a:cs typeface="Times New Roman" panose="02020603050405020304" pitchFamily="18" charset="0"/>
              </a:rPr>
              <a:t>指令性语句</a:t>
            </a:r>
            <a:r>
              <a:rPr kumimoji="1" lang="zh-CN" altLang="en-US" b="1" kern="1200" dirty="0">
                <a:solidFill>
                  <a:srgbClr val="000000"/>
                </a:solidFill>
                <a:latin typeface="Times New Roman" panose="02020603050405020304" pitchFamily="18" charset="0"/>
                <a:cs typeface="Times New Roman" panose="02020603050405020304" pitchFamily="18" charset="0"/>
              </a:rPr>
              <a:t>可以由以下几部分组成：</a:t>
            </a:r>
          </a:p>
          <a:p>
            <a:pPr lvl="0">
              <a:spcBef>
                <a:spcPct val="50000"/>
              </a:spcBef>
              <a:buClrTx/>
            </a:pPr>
            <a:r>
              <a:rPr kumimoji="1" lang="zh-CN" altLang="en-US" kern="1200" dirty="0">
                <a:solidFill>
                  <a:srgbClr val="000000"/>
                </a:solidFill>
                <a:latin typeface="Times New Roman" panose="02020603050405020304" pitchFamily="18" charset="0"/>
                <a:cs typeface="Times New Roman" panose="02020603050405020304" pitchFamily="18" charset="0"/>
              </a:rPr>
              <a:t>      </a:t>
            </a:r>
            <a:r>
              <a:rPr kumimoji="1" lang="en-US" altLang="zh-CN" b="1" kern="1200" dirty="0">
                <a:solidFill>
                  <a:srgbClr val="FF0000"/>
                </a:solidFill>
                <a:latin typeface="Times New Roman" panose="02020603050405020304" pitchFamily="18" charset="0"/>
                <a:cs typeface="Times New Roman" panose="02020603050405020304" pitchFamily="18" charset="0"/>
              </a:rPr>
              <a:t>[</a:t>
            </a:r>
            <a:r>
              <a:rPr kumimoji="1" lang="zh-CN" altLang="en-US" b="1" kern="1200" dirty="0">
                <a:solidFill>
                  <a:srgbClr val="FF0000"/>
                </a:solidFill>
                <a:latin typeface="Times New Roman" panose="02020603050405020304" pitchFamily="18" charset="0"/>
                <a:cs typeface="Times New Roman" panose="02020603050405020304" pitchFamily="18" charset="0"/>
              </a:rPr>
              <a:t>标号</a:t>
            </a:r>
            <a:r>
              <a:rPr kumimoji="1" lang="en-US" altLang="zh-CN" b="1" kern="1200" dirty="0">
                <a:solidFill>
                  <a:srgbClr val="FF0000"/>
                </a:solidFill>
                <a:latin typeface="Times New Roman" panose="02020603050405020304" pitchFamily="18" charset="0"/>
                <a:cs typeface="Times New Roman" panose="02020603050405020304" pitchFamily="18" charset="0"/>
              </a:rPr>
              <a:t>:] </a:t>
            </a:r>
            <a:r>
              <a:rPr kumimoji="1" lang="zh-CN" altLang="en-US" b="1" kern="1200" dirty="0">
                <a:solidFill>
                  <a:srgbClr val="FF0000"/>
                </a:solidFill>
                <a:latin typeface="Times New Roman" panose="02020603050405020304" pitchFamily="18" charset="0"/>
                <a:cs typeface="Times New Roman" panose="02020603050405020304" pitchFamily="18" charset="0"/>
              </a:rPr>
              <a:t>［前缀］</a:t>
            </a:r>
            <a:r>
              <a:rPr kumimoji="1" lang="en-US" altLang="zh-CN" b="1" kern="1200" dirty="0">
                <a:solidFill>
                  <a:srgbClr val="FF0000"/>
                </a:solidFill>
                <a:latin typeface="Times New Roman" panose="02020603050405020304" pitchFamily="18" charset="0"/>
                <a:cs typeface="Times New Roman" panose="02020603050405020304" pitchFamily="18" charset="0"/>
              </a:rPr>
              <a:t> </a:t>
            </a:r>
            <a:r>
              <a:rPr kumimoji="1" lang="zh-CN" altLang="en-US" b="1" kern="1200" dirty="0">
                <a:solidFill>
                  <a:srgbClr val="FF0000"/>
                </a:solidFill>
                <a:latin typeface="Times New Roman" panose="02020603050405020304" pitchFamily="18" charset="0"/>
                <a:cs typeface="Times New Roman" panose="02020603050405020304" pitchFamily="18" charset="0"/>
              </a:rPr>
              <a:t>操作码助记符  </a:t>
            </a:r>
            <a:r>
              <a:rPr kumimoji="1" lang="en-US" altLang="zh-CN" b="1" kern="1200" dirty="0">
                <a:solidFill>
                  <a:srgbClr val="FF0000"/>
                </a:solidFill>
                <a:latin typeface="Times New Roman" panose="02020603050405020304" pitchFamily="18" charset="0"/>
                <a:cs typeface="Times New Roman" panose="02020603050405020304" pitchFamily="18" charset="0"/>
              </a:rPr>
              <a:t>[</a:t>
            </a:r>
            <a:r>
              <a:rPr kumimoji="1" lang="zh-CN" altLang="en-US" b="1" kern="1200" dirty="0">
                <a:solidFill>
                  <a:srgbClr val="FF0000"/>
                </a:solidFill>
                <a:latin typeface="Times New Roman" panose="02020603050405020304" pitchFamily="18" charset="0"/>
                <a:cs typeface="Times New Roman" panose="02020603050405020304" pitchFamily="18" charset="0"/>
              </a:rPr>
              <a:t>操作数</a:t>
            </a:r>
            <a:r>
              <a:rPr kumimoji="1" lang="en-US" altLang="zh-CN" b="1" kern="1200" dirty="0">
                <a:solidFill>
                  <a:srgbClr val="FF0000"/>
                </a:solidFill>
                <a:latin typeface="Times New Roman" panose="02020603050405020304" pitchFamily="18" charset="0"/>
                <a:cs typeface="Times New Roman" panose="02020603050405020304" pitchFamily="18" charset="0"/>
              </a:rPr>
              <a:t>]  [</a:t>
            </a:r>
            <a:r>
              <a:rPr kumimoji="1" lang="zh-CN" altLang="en-US" b="1" kern="1200" dirty="0">
                <a:solidFill>
                  <a:srgbClr val="FF0000"/>
                </a:solidFill>
                <a:latin typeface="Times New Roman" panose="02020603050405020304" pitchFamily="18" charset="0"/>
                <a:cs typeface="Times New Roman" panose="02020603050405020304" pitchFamily="18" charset="0"/>
              </a:rPr>
              <a:t>；注释</a:t>
            </a:r>
            <a:r>
              <a:rPr kumimoji="1" lang="en-US" altLang="zh-CN" b="1" kern="1200" dirty="0">
                <a:solidFill>
                  <a:srgbClr val="FF0000"/>
                </a:solidFill>
                <a:latin typeface="Times New Roman" panose="02020603050405020304" pitchFamily="18" charset="0"/>
                <a:cs typeface="Times New Roman" panose="02020603050405020304" pitchFamily="18" charset="0"/>
              </a:rPr>
              <a:t>]</a:t>
            </a:r>
          </a:p>
          <a:p>
            <a:pPr lvl="0">
              <a:spcBef>
                <a:spcPct val="50000"/>
              </a:spcBef>
              <a:buClrTx/>
            </a:pPr>
            <a:r>
              <a:rPr kumimoji="1" lang="en-US" altLang="zh-CN" b="1" kern="1200" dirty="0">
                <a:solidFill>
                  <a:srgbClr val="0066FF"/>
                </a:solidFill>
                <a:latin typeface="Times New Roman" panose="02020603050405020304" pitchFamily="18" charset="0"/>
                <a:cs typeface="Times New Roman" panose="02020603050405020304" pitchFamily="18" charset="0"/>
              </a:rPr>
              <a:t>      </a:t>
            </a:r>
            <a:r>
              <a:rPr kumimoji="1" lang="zh-CN" altLang="en-US" b="1" kern="1200" dirty="0">
                <a:solidFill>
                  <a:srgbClr val="000000"/>
                </a:solidFill>
                <a:latin typeface="Times New Roman" panose="02020603050405020304" pitchFamily="18" charset="0"/>
                <a:cs typeface="Times New Roman" panose="02020603050405020304" pitchFamily="18" charset="0"/>
              </a:rPr>
              <a:t>伪指令语句又称为</a:t>
            </a:r>
            <a:r>
              <a:rPr kumimoji="1" lang="zh-CN" altLang="en-US" b="1" kern="1200" dirty="0">
                <a:solidFill>
                  <a:srgbClr val="FF0000"/>
                </a:solidFill>
                <a:latin typeface="Times New Roman" panose="02020603050405020304" pitchFamily="18" charset="0"/>
                <a:cs typeface="Times New Roman" panose="02020603050405020304" pitchFamily="18" charset="0"/>
              </a:rPr>
              <a:t>指示性语句</a:t>
            </a:r>
            <a:r>
              <a:rPr kumimoji="1" lang="zh-CN" altLang="en-US" b="1" kern="1200" dirty="0">
                <a:solidFill>
                  <a:srgbClr val="000000"/>
                </a:solidFill>
                <a:latin typeface="Times New Roman" panose="02020603050405020304" pitchFamily="18" charset="0"/>
                <a:cs typeface="Times New Roman" panose="02020603050405020304" pitchFamily="18" charset="0"/>
              </a:rPr>
              <a:t>，其格式为：</a:t>
            </a:r>
          </a:p>
          <a:p>
            <a:pPr lvl="0">
              <a:spcBef>
                <a:spcPct val="50000"/>
              </a:spcBef>
              <a:buClrTx/>
            </a:pPr>
            <a:r>
              <a:rPr kumimoji="1" lang="zh-CN" altLang="en-US" kern="1200" dirty="0">
                <a:solidFill>
                  <a:srgbClr val="000000"/>
                </a:solidFill>
                <a:latin typeface="Times New Roman" panose="02020603050405020304" pitchFamily="18" charset="0"/>
                <a:cs typeface="Times New Roman" panose="02020603050405020304" pitchFamily="18" charset="0"/>
              </a:rPr>
              <a:t>      </a:t>
            </a:r>
            <a:r>
              <a:rPr kumimoji="1" lang="en-US" altLang="zh-CN" b="1" kern="1200" dirty="0">
                <a:solidFill>
                  <a:srgbClr val="FF0000"/>
                </a:solidFill>
                <a:latin typeface="Times New Roman" panose="02020603050405020304" pitchFamily="18" charset="0"/>
                <a:cs typeface="Times New Roman" panose="02020603050405020304" pitchFamily="18" charset="0"/>
              </a:rPr>
              <a:t>[ </a:t>
            </a:r>
            <a:r>
              <a:rPr kumimoji="1" lang="zh-CN" altLang="en-US" b="1" kern="1200" dirty="0">
                <a:solidFill>
                  <a:srgbClr val="FF0000"/>
                </a:solidFill>
                <a:latin typeface="Times New Roman" panose="02020603050405020304" pitchFamily="18" charset="0"/>
                <a:cs typeface="Times New Roman" panose="02020603050405020304" pitchFamily="18" charset="0"/>
              </a:rPr>
              <a:t>名字  </a:t>
            </a:r>
            <a:r>
              <a:rPr kumimoji="1" lang="en-US" altLang="zh-CN" b="1" kern="1200" dirty="0">
                <a:solidFill>
                  <a:srgbClr val="FF0000"/>
                </a:solidFill>
                <a:latin typeface="Times New Roman" panose="02020603050405020304" pitchFamily="18" charset="0"/>
                <a:cs typeface="Times New Roman" panose="02020603050405020304" pitchFamily="18" charset="0"/>
              </a:rPr>
              <a:t>]  </a:t>
            </a:r>
            <a:r>
              <a:rPr kumimoji="1" lang="zh-CN" altLang="en-US" b="1" kern="1200" dirty="0">
                <a:solidFill>
                  <a:srgbClr val="FF0000"/>
                </a:solidFill>
                <a:latin typeface="Times New Roman" panose="02020603050405020304" pitchFamily="18" charset="0"/>
                <a:cs typeface="Times New Roman" panose="02020603050405020304" pitchFamily="18" charset="0"/>
              </a:rPr>
              <a:t>伪指令定义符  </a:t>
            </a:r>
            <a:r>
              <a:rPr kumimoji="1" lang="en-US" altLang="zh-CN" b="1" kern="1200" dirty="0">
                <a:solidFill>
                  <a:srgbClr val="FF0000"/>
                </a:solidFill>
                <a:latin typeface="Times New Roman" panose="02020603050405020304" pitchFamily="18" charset="0"/>
                <a:cs typeface="Times New Roman" panose="02020603050405020304" pitchFamily="18" charset="0"/>
              </a:rPr>
              <a:t>[</a:t>
            </a:r>
            <a:r>
              <a:rPr kumimoji="1" lang="zh-CN" altLang="en-US" b="1" kern="1200" dirty="0">
                <a:solidFill>
                  <a:srgbClr val="FF0000"/>
                </a:solidFill>
                <a:latin typeface="Times New Roman" panose="02020603050405020304" pitchFamily="18" charset="0"/>
                <a:cs typeface="Times New Roman" panose="02020603050405020304" pitchFamily="18" charset="0"/>
              </a:rPr>
              <a:t>操作数</a:t>
            </a:r>
            <a:r>
              <a:rPr kumimoji="1" lang="en-US" altLang="zh-CN" b="1" kern="1200" dirty="0">
                <a:solidFill>
                  <a:srgbClr val="FF0000"/>
                </a:solidFill>
                <a:latin typeface="Times New Roman" panose="02020603050405020304" pitchFamily="18" charset="0"/>
                <a:cs typeface="Times New Roman" panose="02020603050405020304" pitchFamily="18" charset="0"/>
              </a:rPr>
              <a:t>] [</a:t>
            </a:r>
            <a:r>
              <a:rPr kumimoji="1" lang="zh-CN" altLang="en-US" b="1" kern="1200" dirty="0">
                <a:solidFill>
                  <a:srgbClr val="FF0000"/>
                </a:solidFill>
                <a:latin typeface="Times New Roman" panose="02020603050405020304" pitchFamily="18" charset="0"/>
                <a:cs typeface="Times New Roman" panose="02020603050405020304" pitchFamily="18" charset="0"/>
              </a:rPr>
              <a:t>； 注释 </a:t>
            </a:r>
            <a:r>
              <a:rPr kumimoji="1" lang="en-US" altLang="zh-CN" b="1" kern="1200" dirty="0">
                <a:solidFill>
                  <a:srgbClr val="FF0000"/>
                </a:solidFill>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4.1</a:t>
            </a:r>
            <a:r>
              <a:rPr lang="zh-CN" altLang="en-US" dirty="0"/>
              <a:t>汇编语言程序基本格式</a:t>
            </a:r>
          </a:p>
          <a:p>
            <a:endParaRPr lang="zh-CN" altLang="en-US" dirty="0"/>
          </a:p>
        </p:txBody>
      </p:sp>
      <mc:AlternateContent xmlns:mc="http://schemas.openxmlformats.org/markup-compatibility/2006" xmlns:p14="http://schemas.microsoft.com/office/powerpoint/2010/main">
        <mc:Choice Requires="p14">
          <p:contentPart p14:bwMode="auto" r:id="rId2">
            <p14:nvContentPartPr>
              <p14:cNvPr id="6" name="墨迹 5"/>
              <p14:cNvContentPartPr/>
              <p14:nvPr/>
            </p14:nvContentPartPr>
            <p14:xfrm>
              <a:off x="960120" y="2577465"/>
              <a:ext cx="124460" cy="18415"/>
            </p14:xfrm>
          </p:contentPart>
        </mc:Choice>
        <mc:Fallback xmlns="">
          <p:pic>
            <p:nvPicPr>
              <p:cNvPr id="6" name="墨迹 5"/>
            </p:nvPicPr>
            <p:blipFill>
              <a:blip r:embed="rId3"/>
            </p:blipFill>
            <p:spPr>
              <a:xfrm>
                <a:off x="960120" y="2577465"/>
                <a:ext cx="124460" cy="1841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par>
                          <p:cTn id="18" fill="hold">
                            <p:stCondLst>
                              <p:cond delay="500"/>
                            </p:stCondLst>
                            <p:childTnLst>
                              <p:par>
                                <p:cTn id="19" presetID="10" presetClass="entr" presetSubtype="0" fill="hold" nodeType="after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Effect transition="in" filter="fade">
                                      <p:cBhvr>
                                        <p:cTn id="21"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67148"/>
            <a:ext cx="8229600" cy="563561"/>
          </a:xfrm>
        </p:spPr>
        <p:txBody>
          <a:bodyPr/>
          <a:lstStyle/>
          <a:p>
            <a:r>
              <a:rPr lang="en-US" altLang="zh-CN" b="1" dirty="0">
                <a:latin typeface="Times New Roman" panose="02020603050405020304" pitchFamily="18" charset="0"/>
                <a:cs typeface="Times New Roman" panose="02020603050405020304" pitchFamily="18" charset="0"/>
              </a:rPr>
              <a:t>4.2.1</a:t>
            </a:r>
            <a:r>
              <a:rPr lang="zh-CN" altLang="zh-CN" b="1" dirty="0">
                <a:latin typeface="Times New Roman" panose="02020603050405020304" pitchFamily="18" charset="0"/>
                <a:cs typeface="Times New Roman" panose="02020603050405020304" pitchFamily="18" charset="0"/>
              </a:rPr>
              <a:t>常量</a:t>
            </a:r>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p:txBody>
      </p:sp>
      <p:sp>
        <p:nvSpPr>
          <p:cNvPr id="5" name="矩形 4"/>
          <p:cNvSpPr/>
          <p:nvPr/>
        </p:nvSpPr>
        <p:spPr>
          <a:xfrm>
            <a:off x="466970" y="2089354"/>
            <a:ext cx="8397552" cy="4486275"/>
          </a:xfrm>
          <a:prstGeom prst="rect">
            <a:avLst/>
          </a:prstGeom>
        </p:spPr>
        <p:txBody>
          <a:bodyPr wrap="square">
            <a:spAutoFit/>
          </a:bodyPr>
          <a:lstStyle/>
          <a:p>
            <a:pPr lvl="0">
              <a:lnSpc>
                <a:spcPct val="90000"/>
              </a:lnSpc>
              <a:spcBef>
                <a:spcPct val="20000"/>
              </a:spcBef>
            </a:pPr>
            <a:r>
              <a:rPr kumimoji="1"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000" b="1" dirty="0">
                <a:solidFill>
                  <a:srgbClr val="3333CC"/>
                </a:solidFill>
                <a:latin typeface="Times New Roman" panose="02020603050405020304" pitchFamily="18" charset="0"/>
                <a:ea typeface="楷体_GB2312" pitchFamily="49" charset="-122"/>
                <a:cs typeface="Times New Roman" panose="02020603050405020304" pitchFamily="18" charset="0"/>
              </a:rPr>
              <a:t>数字常量：</a:t>
            </a: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可以是二进制数、八进制数、十进制数或十六进制数表示。</a:t>
            </a:r>
            <a:r>
              <a:rPr kumimoji="1" lang="en-US" altLang="zh-CN" sz="2000" dirty="0">
                <a:solidFill>
                  <a:srgbClr val="000000"/>
                </a:solidFill>
                <a:latin typeface="Times New Roman" panose="02020603050405020304" pitchFamily="18" charset="0"/>
                <a:ea typeface="楷体_GB2312" pitchFamily="49" charset="-122"/>
                <a:cs typeface="Times New Roman" panose="02020603050405020304" pitchFamily="18" charset="0"/>
              </a:rPr>
              <a:t>                              </a:t>
            </a:r>
          </a:p>
          <a:p>
            <a:pPr lvl="0">
              <a:lnSpc>
                <a:spcPct val="90000"/>
              </a:lnSpc>
              <a:spcBef>
                <a:spcPct val="20000"/>
              </a:spcBef>
            </a:pPr>
            <a:r>
              <a:rPr kumimoji="1" lang="en-US" altLang="zh-CN" sz="20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二进制：</a:t>
            </a: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00011101</a:t>
            </a:r>
            <a:r>
              <a:rPr kumimoji="1" lang="en-US" altLang="zh-CN" dirty="0">
                <a:solidFill>
                  <a:srgbClr val="C00000"/>
                </a:solidFill>
                <a:latin typeface="Times New Roman" panose="02020603050405020304" pitchFamily="18" charset="0"/>
                <a:ea typeface="楷体_GB2312" pitchFamily="49" charset="-122"/>
                <a:cs typeface="Times New Roman" panose="02020603050405020304" pitchFamily="18" charset="0"/>
              </a:rPr>
              <a:t>B</a:t>
            </a:r>
          </a:p>
          <a:p>
            <a:pPr lvl="0" algn="ctr">
              <a:lnSpc>
                <a:spcPct val="90000"/>
              </a:lnSpc>
              <a:spcBef>
                <a:spcPct val="20000"/>
              </a:spcBef>
            </a:pP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十六进制：</a:t>
            </a: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0C5AA</a:t>
            </a:r>
            <a:r>
              <a:rPr kumimoji="1" lang="en-US" altLang="zh-CN" dirty="0">
                <a:solidFill>
                  <a:srgbClr val="C00000"/>
                </a:solidFill>
                <a:latin typeface="Times New Roman" panose="02020603050405020304" pitchFamily="18" charset="0"/>
                <a:ea typeface="楷体_GB2312" pitchFamily="49" charset="-122"/>
                <a:cs typeface="Times New Roman" panose="02020603050405020304" pitchFamily="18" charset="0"/>
              </a:rPr>
              <a:t>H</a:t>
            </a:r>
          </a:p>
          <a:p>
            <a:pPr lvl="0" algn="ctr">
              <a:lnSpc>
                <a:spcPct val="90000"/>
              </a:lnSpc>
              <a:spcBef>
                <a:spcPct val="20000"/>
              </a:spcBef>
            </a:pP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十进制：</a:t>
            </a: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9856</a:t>
            </a:r>
            <a:r>
              <a:rPr kumimoji="1" lang="en-US" altLang="zh-CN" dirty="0">
                <a:solidFill>
                  <a:srgbClr val="C00000"/>
                </a:solidFill>
                <a:latin typeface="Times New Roman" panose="02020603050405020304" pitchFamily="18" charset="0"/>
                <a:ea typeface="楷体_GB2312" pitchFamily="49" charset="-122"/>
                <a:cs typeface="Times New Roman" panose="02020603050405020304" pitchFamily="18" charset="0"/>
              </a:rPr>
              <a:t>D</a:t>
            </a:r>
          </a:p>
          <a:p>
            <a:pPr lvl="0" algn="ctr">
              <a:lnSpc>
                <a:spcPct val="90000"/>
              </a:lnSpc>
              <a:spcBef>
                <a:spcPct val="20000"/>
              </a:spcBef>
            </a:pP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八进制：</a:t>
            </a: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237</a:t>
            </a:r>
            <a:r>
              <a:rPr kumimoji="1" lang="en-US" altLang="zh-CN" dirty="0">
                <a:solidFill>
                  <a:srgbClr val="C00000"/>
                </a:solidFill>
                <a:latin typeface="Times New Roman" panose="02020603050405020304" pitchFamily="18" charset="0"/>
                <a:ea typeface="楷体_GB2312" pitchFamily="49" charset="-122"/>
                <a:cs typeface="Times New Roman" panose="02020603050405020304" pitchFamily="18" charset="0"/>
              </a:rPr>
              <a:t>O</a:t>
            </a:r>
            <a:endParaRPr kumimoji="1" lang="zh-CN" altLang="en-US" dirty="0">
              <a:solidFill>
                <a:srgbClr val="C00000"/>
              </a:solidFill>
              <a:latin typeface="Times New Roman" panose="02020603050405020304" pitchFamily="18" charset="0"/>
              <a:ea typeface="楷体_GB2312" pitchFamily="49" charset="-122"/>
              <a:cs typeface="Times New Roman" panose="02020603050405020304" pitchFamily="18" charset="0"/>
            </a:endParaRPr>
          </a:p>
          <a:p>
            <a:pPr lvl="0">
              <a:lnSpc>
                <a:spcPct val="120000"/>
              </a:lnSpc>
              <a:spcBef>
                <a:spcPct val="20000"/>
              </a:spcBef>
            </a:pPr>
            <a:r>
              <a:rPr kumimoji="1"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000" b="1" dirty="0">
                <a:solidFill>
                  <a:srgbClr val="3333CC"/>
                </a:solidFill>
                <a:latin typeface="Times New Roman" panose="02020603050405020304" pitchFamily="18" charset="0"/>
                <a:ea typeface="楷体_GB2312" pitchFamily="49" charset="-122"/>
                <a:cs typeface="Times New Roman" panose="02020603050405020304" pitchFamily="18" charset="0"/>
              </a:rPr>
              <a:t>字符常量：</a:t>
            </a: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是用单引号</a:t>
            </a:r>
            <a:r>
              <a:rPr kumimoji="1" lang="zh-CN" altLang="en-US" sz="2000" b="1" dirty="0">
                <a:solidFill>
                  <a:srgbClr val="FF33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括起来的</a:t>
            </a:r>
            <a:r>
              <a:rPr kumimoji="1" lang="en-US" altLang="zh-CN" sz="2000" dirty="0">
                <a:solidFill>
                  <a:srgbClr val="000000"/>
                </a:solidFill>
                <a:latin typeface="Times New Roman" panose="02020603050405020304" pitchFamily="18" charset="0"/>
                <a:ea typeface="楷体_GB2312" pitchFamily="49" charset="-122"/>
                <a:cs typeface="Times New Roman" panose="02020603050405020304" pitchFamily="18" charset="0"/>
              </a:rPr>
              <a:t>ASCII</a:t>
            </a: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字符，其值是该字符的</a:t>
            </a:r>
            <a:r>
              <a:rPr kumimoji="1" lang="en-US" altLang="zh-CN" sz="2000" dirty="0">
                <a:solidFill>
                  <a:srgbClr val="000000"/>
                </a:solidFill>
                <a:latin typeface="Times New Roman" panose="02020603050405020304" pitchFamily="18" charset="0"/>
                <a:ea typeface="楷体_GB2312" pitchFamily="49" charset="-122"/>
                <a:cs typeface="Times New Roman" panose="02020603050405020304" pitchFamily="18" charset="0"/>
              </a:rPr>
              <a:t>ASCII</a:t>
            </a: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代码值。</a:t>
            </a:r>
            <a:endParaRPr kumimoji="1" lang="en-US" altLang="zh-CN" sz="2000"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lvl="0" algn="ctr">
              <a:lnSpc>
                <a:spcPct val="120000"/>
              </a:lnSpc>
              <a:spcBef>
                <a:spcPct val="20000"/>
              </a:spcBef>
            </a:pPr>
            <a:r>
              <a:rPr kumimoji="1" lang="en-US" altLang="zh-CN" sz="2000" dirty="0">
                <a:solidFill>
                  <a:srgbClr val="000000"/>
                </a:solidFill>
                <a:latin typeface="Times New Roman" panose="02020603050405020304" pitchFamily="18" charset="0"/>
                <a:ea typeface="楷体_GB2312" pitchFamily="49" charset="-122"/>
                <a:cs typeface="Times New Roman" panose="02020603050405020304" pitchFamily="18" charset="0"/>
              </a:rPr>
              <a:t>’The 2X means 2 multiple X’</a:t>
            </a:r>
            <a:endPar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lvl="0">
              <a:lnSpc>
                <a:spcPct val="140000"/>
              </a:lnSpc>
            </a:pPr>
            <a:r>
              <a:rPr kumimoji="1"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kumimoji="1" lang="zh-CN" altLang="en-US" sz="2000" b="1" dirty="0">
                <a:solidFill>
                  <a:srgbClr val="3333CC"/>
                </a:solidFill>
                <a:latin typeface="Times New Roman" panose="02020603050405020304" pitchFamily="18" charset="0"/>
                <a:ea typeface="楷体_GB2312" pitchFamily="49" charset="-122"/>
                <a:cs typeface="Times New Roman" panose="02020603050405020304" pitchFamily="18" charset="0"/>
              </a:rPr>
              <a:t>符号常量：</a:t>
            </a: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是用标识符定义的常量。</a:t>
            </a:r>
          </a:p>
          <a:p>
            <a:pPr lvl="0">
              <a:lnSpc>
                <a:spcPct val="120000"/>
              </a:lnSpc>
              <a:spcBef>
                <a:spcPct val="20000"/>
              </a:spcBef>
            </a:pPr>
            <a:r>
              <a:rPr kumimoji="1" lang="zh-CN" altLang="en-US" sz="20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例如，采用符号定义语句 </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PORTA  </a:t>
            </a:r>
            <a:r>
              <a:rPr kumimoji="1" lang="en-US" altLang="zh-CN" b="1" dirty="0">
                <a:solidFill>
                  <a:srgbClr val="FF3300"/>
                </a:solidFill>
                <a:latin typeface="Times New Roman" panose="02020603050405020304" pitchFamily="18" charset="0"/>
                <a:ea typeface="楷体_GB2312" pitchFamily="49" charset="-122"/>
                <a:cs typeface="Times New Roman" panose="02020603050405020304" pitchFamily="18" charset="0"/>
              </a:rPr>
              <a:t>EQU</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 80H</a:t>
            </a: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a:t>
            </a:r>
          </a:p>
          <a:p>
            <a:pPr lvl="0">
              <a:lnSpc>
                <a:spcPct val="120000"/>
              </a:lnSpc>
              <a:spcBef>
                <a:spcPct val="20000"/>
              </a:spcBef>
            </a:pP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		则指令  </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MOV  AL</a:t>
            </a:r>
            <a:r>
              <a:rPr kumimoji="1" lang="zh-CN" altLang="en-US" b="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PORTA</a:t>
            </a: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 </a:t>
            </a:r>
          </a:p>
          <a:p>
            <a:pPr lvl="0">
              <a:lnSpc>
                <a:spcPct val="120000"/>
              </a:lnSpc>
              <a:spcBef>
                <a:spcPct val="20000"/>
              </a:spcBef>
            </a:pP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与指令  </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MOV  AL</a:t>
            </a:r>
            <a:r>
              <a:rPr kumimoji="1" lang="zh-CN" altLang="en-US" b="1" dirty="0">
                <a:solidFill>
                  <a:srgbClr val="000000"/>
                </a:solidFill>
                <a:latin typeface="Times New Roman" panose="02020603050405020304" pitchFamily="18" charset="0"/>
                <a:ea typeface="楷体_GB2312" pitchFamily="49" charset="-122"/>
                <a:cs typeface="Times New Roman" panose="02020603050405020304" pitchFamily="18" charset="0"/>
              </a:rPr>
              <a:t>，</a:t>
            </a:r>
            <a:r>
              <a:rPr kumimoji="1" lang="en-US" altLang="zh-CN" b="1" dirty="0">
                <a:solidFill>
                  <a:srgbClr val="000000"/>
                </a:solidFill>
                <a:latin typeface="Times New Roman" panose="02020603050405020304" pitchFamily="18" charset="0"/>
                <a:ea typeface="楷体_GB2312" pitchFamily="49" charset="-122"/>
                <a:cs typeface="Times New Roman" panose="02020603050405020304" pitchFamily="18" charset="0"/>
              </a:rPr>
              <a:t>80H</a:t>
            </a:r>
            <a:r>
              <a:rPr kumimoji="1"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kumimoji="1" lang="zh-CN" altLang="en-US" dirty="0">
                <a:solidFill>
                  <a:srgbClr val="000000"/>
                </a:solidFill>
                <a:latin typeface="Times New Roman" panose="02020603050405020304" pitchFamily="18" charset="0"/>
                <a:ea typeface="楷体_GB2312" pitchFamily="49" charset="-122"/>
                <a:cs typeface="Times New Roman" panose="02020603050405020304" pitchFamily="18" charset="0"/>
              </a:rPr>
              <a:t>等价。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wipe(down)">
                                      <p:cBhvr>
                                        <p:cTn id="31" dur="500"/>
                                        <p:tgtEl>
                                          <p:spTgt spid="5">
                                            <p:txEl>
                                              <p:pRg st="5" end="5"/>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wipe(down)">
                                      <p:cBhvr>
                                        <p:cTn id="34" dur="500"/>
                                        <p:tgtEl>
                                          <p:spTgt spid="5">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barn(inVertical)">
                                      <p:cBhvr>
                                        <p:cTn id="39" dur="500"/>
                                        <p:tgtEl>
                                          <p:spTgt spid="5">
                                            <p:txEl>
                                              <p:pRg st="7" end="7"/>
                                            </p:txEl>
                                          </p:spTgt>
                                        </p:tgtEl>
                                      </p:cBhvr>
                                    </p:animEffect>
                                  </p:childTnLst>
                                </p:cTn>
                              </p:par>
                              <p:par>
                                <p:cTn id="40" presetID="16" presetClass="entr" presetSubtype="21" fill="hold" nodeType="withEffect">
                                  <p:stCondLst>
                                    <p:cond delay="0"/>
                                  </p:stCondLst>
                                  <p:childTnLst>
                                    <p:set>
                                      <p:cBhvr>
                                        <p:cTn id="41" dur="1" fill="hold">
                                          <p:stCondLst>
                                            <p:cond delay="0"/>
                                          </p:stCondLst>
                                        </p:cTn>
                                        <p:tgtEl>
                                          <p:spTgt spid="5">
                                            <p:txEl>
                                              <p:pRg st="8" end="8"/>
                                            </p:txEl>
                                          </p:spTgt>
                                        </p:tgtEl>
                                        <p:attrNameLst>
                                          <p:attrName>style.visibility</p:attrName>
                                        </p:attrNameLst>
                                      </p:cBhvr>
                                      <p:to>
                                        <p:strVal val="visible"/>
                                      </p:to>
                                    </p:set>
                                    <p:animEffect transition="in" filter="barn(inVertical)">
                                      <p:cBhvr>
                                        <p:cTn id="42" dur="500"/>
                                        <p:tgtEl>
                                          <p:spTgt spid="5">
                                            <p:txEl>
                                              <p:pRg st="8" end="8"/>
                                            </p:txEl>
                                          </p:spTgt>
                                        </p:tgtEl>
                                      </p:cBhvr>
                                    </p:animEffect>
                                  </p:childTnLst>
                                </p:cTn>
                              </p:par>
                              <p:par>
                                <p:cTn id="43" presetID="16" presetClass="entr" presetSubtype="21" fill="hold" nodeType="withEffect">
                                  <p:stCondLst>
                                    <p:cond delay="0"/>
                                  </p:stCondLst>
                                  <p:childTnLst>
                                    <p:set>
                                      <p:cBhvr>
                                        <p:cTn id="44" dur="1" fill="hold">
                                          <p:stCondLst>
                                            <p:cond delay="0"/>
                                          </p:stCondLst>
                                        </p:cTn>
                                        <p:tgtEl>
                                          <p:spTgt spid="5">
                                            <p:txEl>
                                              <p:pRg st="9" end="9"/>
                                            </p:txEl>
                                          </p:spTgt>
                                        </p:tgtEl>
                                        <p:attrNameLst>
                                          <p:attrName>style.visibility</p:attrName>
                                        </p:attrNameLst>
                                      </p:cBhvr>
                                      <p:to>
                                        <p:strVal val="visible"/>
                                      </p:to>
                                    </p:set>
                                    <p:animEffect transition="in" filter="barn(inVertical)">
                                      <p:cBhvr>
                                        <p:cTn id="45" dur="500"/>
                                        <p:tgtEl>
                                          <p:spTgt spid="5">
                                            <p:txEl>
                                              <p:pRg st="9" end="9"/>
                                            </p:txEl>
                                          </p:spTgt>
                                        </p:tgtEl>
                                      </p:cBhvr>
                                    </p:animEffect>
                                  </p:childTnLst>
                                </p:cTn>
                              </p:par>
                              <p:par>
                                <p:cTn id="46" presetID="16" presetClass="entr" presetSubtype="21" fill="hold" nodeType="withEffect">
                                  <p:stCondLst>
                                    <p:cond delay="0"/>
                                  </p:stCondLst>
                                  <p:childTnLst>
                                    <p:set>
                                      <p:cBhvr>
                                        <p:cTn id="47" dur="1" fill="hold">
                                          <p:stCondLst>
                                            <p:cond delay="0"/>
                                          </p:stCondLst>
                                        </p:cTn>
                                        <p:tgtEl>
                                          <p:spTgt spid="5">
                                            <p:txEl>
                                              <p:pRg st="10" end="10"/>
                                            </p:txEl>
                                          </p:spTgt>
                                        </p:tgtEl>
                                        <p:attrNameLst>
                                          <p:attrName>style.visibility</p:attrName>
                                        </p:attrNameLst>
                                      </p:cBhvr>
                                      <p:to>
                                        <p:strVal val="visible"/>
                                      </p:to>
                                    </p:set>
                                    <p:animEffect transition="in" filter="barn(inVertical)">
                                      <p:cBhvr>
                                        <p:cTn id="48"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12415"/>
          </a:xfrm>
        </p:spPr>
        <p:txBody>
          <a:bodyPr/>
          <a:lstStyle/>
          <a:p>
            <a:r>
              <a:rPr lang="en-US" altLang="zh-CN" sz="2000" b="1" dirty="0">
                <a:latin typeface="Times New Roman" panose="02020603050405020304" pitchFamily="18" charset="0"/>
                <a:cs typeface="Times New Roman" panose="02020603050405020304" pitchFamily="18" charset="0"/>
              </a:rPr>
              <a:t>4.2.2 </a:t>
            </a:r>
            <a:r>
              <a:rPr lang="zh-CN" altLang="zh-CN" sz="2000" b="1" dirty="0">
                <a:latin typeface="Times New Roman" panose="02020603050405020304" pitchFamily="18" charset="0"/>
                <a:cs typeface="Times New Roman" panose="02020603050405020304" pitchFamily="18" charset="0"/>
              </a:rPr>
              <a:t>变量</a:t>
            </a:r>
            <a:endParaRPr lang="en-US" altLang="zh-CN" sz="2000"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a:p>
            <a:endParaRPr lang="zh-CN" altLang="en-US" dirty="0"/>
          </a:p>
        </p:txBody>
      </p:sp>
      <p:sp>
        <p:nvSpPr>
          <p:cNvPr id="5" name="Rectangle 0"/>
          <p:cNvSpPr>
            <a:spLocks noChangeArrowheads="1"/>
          </p:cNvSpPr>
          <p:nvPr/>
        </p:nvSpPr>
        <p:spPr bwMode="auto">
          <a:xfrm>
            <a:off x="457200" y="2103638"/>
            <a:ext cx="8363271" cy="189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Aft>
                <a:spcPct val="40000"/>
              </a:spcAft>
            </a:pPr>
            <a:r>
              <a:rPr lang="en-US" altLang="zh-CN" sz="2000" b="1" dirty="0">
                <a:solidFill>
                  <a:srgbClr val="0000CC"/>
                </a:solidFill>
                <a:ea typeface="楷体_GB2312" pitchFamily="49" charset="-122"/>
              </a:rPr>
              <a:t>1. </a:t>
            </a:r>
            <a:r>
              <a:rPr lang="zh-CN" altLang="en-US" sz="2000" b="1" dirty="0">
                <a:solidFill>
                  <a:srgbClr val="0000CC"/>
                </a:solidFill>
                <a:ea typeface="楷体_GB2312" pitchFamily="49" charset="-122"/>
              </a:rPr>
              <a:t>数据定义伪指令</a:t>
            </a:r>
          </a:p>
          <a:p>
            <a:pPr eaLnBrk="1" hangingPunct="1">
              <a:spcAft>
                <a:spcPct val="40000"/>
              </a:spcAft>
            </a:pPr>
            <a:r>
              <a:rPr lang="zh-CN" altLang="en-US" sz="2000" b="1" dirty="0">
                <a:solidFill>
                  <a:srgbClr val="0000CC"/>
                </a:solidFill>
                <a:ea typeface="楷体_GB2312" pitchFamily="49" charset="-122"/>
              </a:rPr>
              <a:t> </a:t>
            </a:r>
            <a:r>
              <a:rPr lang="en-US" altLang="zh-CN" sz="2000" b="1" dirty="0">
                <a:solidFill>
                  <a:srgbClr val="0000CC"/>
                </a:solidFill>
                <a:ea typeface="楷体_GB2312" pitchFamily="49" charset="-122"/>
              </a:rPr>
              <a:t>     </a:t>
            </a:r>
            <a:r>
              <a:rPr lang="zh-CN" altLang="en-US" sz="1800" b="1" dirty="0">
                <a:solidFill>
                  <a:srgbClr val="000000"/>
                </a:solidFill>
                <a:ea typeface="楷体_GB2312" pitchFamily="49" charset="-122"/>
              </a:rPr>
              <a:t>数据定义伪指令用来定义一个变量，并将所需要的数据放入指定的存储单元中，也可以只给变量分配存储单元，而不赋予特定的值。</a:t>
            </a:r>
          </a:p>
          <a:p>
            <a:pPr algn="just" eaLnBrk="1" hangingPunct="1">
              <a:lnSpc>
                <a:spcPct val="120000"/>
              </a:lnSpc>
            </a:pPr>
            <a:r>
              <a:rPr lang="zh-CN" altLang="en-US" sz="1800" dirty="0">
                <a:solidFill>
                  <a:srgbClr val="000000"/>
                </a:solidFill>
                <a:ea typeface="楷体_GB2312" pitchFamily="49" charset="-122"/>
              </a:rPr>
              <a:t>    </a:t>
            </a:r>
            <a:r>
              <a:rPr lang="zh-CN" altLang="en-US" sz="1800" dirty="0">
                <a:solidFill>
                  <a:srgbClr val="FF3300"/>
                </a:solidFill>
                <a:ea typeface="楷体_GB2312" pitchFamily="49" charset="-122"/>
              </a:rPr>
              <a:t>◆  </a:t>
            </a:r>
            <a:r>
              <a:rPr lang="zh-CN" altLang="en-US" sz="1800" b="1" dirty="0">
                <a:solidFill>
                  <a:srgbClr val="000000"/>
                </a:solidFill>
                <a:ea typeface="楷体_GB2312" pitchFamily="49" charset="-122"/>
              </a:rPr>
              <a:t>数据定义伪指令的</a:t>
            </a:r>
            <a:r>
              <a:rPr lang="zh-CN" altLang="en-US" sz="1800" b="1" dirty="0">
                <a:solidFill>
                  <a:srgbClr val="3333CC"/>
                </a:solidFill>
                <a:ea typeface="楷体_GB2312" pitchFamily="49" charset="-122"/>
              </a:rPr>
              <a:t>一般格式</a:t>
            </a:r>
            <a:r>
              <a:rPr lang="zh-CN" altLang="en-US" sz="1800" b="1" dirty="0">
                <a:solidFill>
                  <a:srgbClr val="000000"/>
                </a:solidFill>
                <a:ea typeface="楷体_GB2312" pitchFamily="49" charset="-122"/>
              </a:rPr>
              <a:t>为：</a:t>
            </a:r>
            <a:endParaRPr lang="en-US" altLang="zh-CN" sz="1800" b="1" dirty="0">
              <a:solidFill>
                <a:srgbClr val="000000"/>
              </a:solidFill>
              <a:ea typeface="楷体_GB2312" pitchFamily="49" charset="-122"/>
            </a:endParaRPr>
          </a:p>
          <a:p>
            <a:pPr algn="just" eaLnBrk="1" hangingPunct="1">
              <a:lnSpc>
                <a:spcPct val="120000"/>
              </a:lnSpc>
            </a:pPr>
            <a:r>
              <a:rPr lang="en-US" altLang="zh-CN" sz="1800" b="1" dirty="0">
                <a:solidFill>
                  <a:srgbClr val="FF3300"/>
                </a:solidFill>
                <a:ea typeface="楷体_GB2312" pitchFamily="49" charset="-122"/>
              </a:rPr>
              <a:t>           [</a:t>
            </a:r>
            <a:r>
              <a:rPr lang="zh-CN" altLang="en-US" sz="1800" b="1" dirty="0">
                <a:solidFill>
                  <a:srgbClr val="FF3300"/>
                </a:solidFill>
                <a:ea typeface="楷体_GB2312" pitchFamily="49" charset="-122"/>
              </a:rPr>
              <a:t>变量名</a:t>
            </a:r>
            <a:r>
              <a:rPr lang="en-US" altLang="zh-CN" sz="1800" b="1" dirty="0">
                <a:solidFill>
                  <a:srgbClr val="FF3300"/>
                </a:solidFill>
                <a:ea typeface="楷体_GB2312" pitchFamily="49" charset="-122"/>
              </a:rPr>
              <a:t>]    </a:t>
            </a:r>
            <a:r>
              <a:rPr lang="zh-CN" altLang="en-US" sz="1800" b="1" dirty="0">
                <a:solidFill>
                  <a:srgbClr val="FF3300"/>
                </a:solidFill>
                <a:ea typeface="楷体_GB2312" pitchFamily="49" charset="-122"/>
              </a:rPr>
              <a:t>数据定义符    操作数 </a:t>
            </a:r>
            <a:r>
              <a:rPr lang="en-US" altLang="zh-CN" sz="1800" b="1" dirty="0">
                <a:solidFill>
                  <a:srgbClr val="FF3300"/>
                </a:solidFill>
                <a:ea typeface="楷体_GB2312" pitchFamily="49" charset="-122"/>
              </a:rPr>
              <a:t>[</a:t>
            </a:r>
            <a:r>
              <a:rPr lang="zh-CN" altLang="en-US" sz="1800" b="1" dirty="0">
                <a:solidFill>
                  <a:srgbClr val="FF3300"/>
                </a:solidFill>
                <a:ea typeface="楷体_GB2312" pitchFamily="49" charset="-122"/>
              </a:rPr>
              <a:t>，操作数</a:t>
            </a:r>
            <a:r>
              <a:rPr lang="en-US" altLang="zh-CN" sz="1800" b="1" dirty="0">
                <a:solidFill>
                  <a:srgbClr val="FF3300"/>
                </a:solidFill>
                <a:ea typeface="楷体_GB2312" pitchFamily="49" charset="-122"/>
              </a:rPr>
              <a:t>… ]   [</a:t>
            </a:r>
            <a:r>
              <a:rPr lang="zh-CN" altLang="en-US" sz="1800" b="1" dirty="0">
                <a:solidFill>
                  <a:srgbClr val="FF3300"/>
                </a:solidFill>
                <a:ea typeface="楷体_GB2312" pitchFamily="49" charset="-122"/>
              </a:rPr>
              <a:t>；注释</a:t>
            </a:r>
            <a:r>
              <a:rPr lang="en-US" altLang="zh-CN" sz="1800" b="1" dirty="0">
                <a:solidFill>
                  <a:srgbClr val="FF3300"/>
                </a:solidFill>
                <a:ea typeface="楷体_GB2312" pitchFamily="49" charset="-122"/>
              </a:rPr>
              <a:t>]</a:t>
            </a:r>
          </a:p>
        </p:txBody>
      </p:sp>
      <p:sp>
        <p:nvSpPr>
          <p:cNvPr id="6" name="Rectangle 2"/>
          <p:cNvSpPr txBox="1">
            <a:spLocks noChangeArrowheads="1"/>
          </p:cNvSpPr>
          <p:nvPr/>
        </p:nvSpPr>
        <p:spPr bwMode="auto">
          <a:xfrm>
            <a:off x="238125" y="4006850"/>
            <a:ext cx="8235950" cy="2367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lvl="2" algn="just" eaLnBrk="1" hangingPunct="1">
              <a:lnSpc>
                <a:spcPct val="105000"/>
              </a:lnSpc>
              <a:spcBef>
                <a:spcPct val="5000"/>
              </a:spcBef>
              <a:spcAft>
                <a:spcPct val="30000"/>
              </a:spcAft>
              <a:buFontTx/>
              <a:buNone/>
            </a:pPr>
            <a:r>
              <a:rPr lang="en-US" altLang="zh-CN" sz="1800" kern="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常用的数据定义伪指令</a:t>
            </a:r>
          </a:p>
          <a:p>
            <a:pPr lvl="3" algn="just" eaLnBrk="1" hangingPunct="1">
              <a:lnSpc>
                <a:spcPct val="105000"/>
              </a:lnSpc>
              <a:spcBef>
                <a:spcPct val="5000"/>
              </a:spcBef>
              <a:buFont typeface="Wingdings" panose="05000000000000000000" pitchFamily="2" charset="2"/>
              <a:buChar char="Ø"/>
            </a:pP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 定义字节变量伪指令      </a:t>
            </a:r>
            <a:r>
              <a:rPr lang="en-US" altLang="zh-CN"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DB</a:t>
            </a:r>
          </a:p>
          <a:p>
            <a:pPr lvl="3" algn="just" eaLnBrk="1" hangingPunct="1">
              <a:lnSpc>
                <a:spcPct val="105000"/>
              </a:lnSpc>
              <a:spcBef>
                <a:spcPct val="5000"/>
              </a:spcBef>
              <a:buFont typeface="Wingdings" panose="05000000000000000000" pitchFamily="2" charset="2"/>
              <a:buChar char="Ø"/>
            </a:pPr>
            <a:r>
              <a:rPr lang="en-US" altLang="zh-CN" sz="18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定义字变量伪指令          </a:t>
            </a:r>
            <a:r>
              <a:rPr lang="en-US" altLang="zh-CN"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DW</a:t>
            </a:r>
          </a:p>
          <a:p>
            <a:pPr lvl="3" algn="just" eaLnBrk="1" hangingPunct="1">
              <a:lnSpc>
                <a:spcPct val="105000"/>
              </a:lnSpc>
              <a:spcBef>
                <a:spcPct val="5000"/>
              </a:spcBef>
              <a:buFont typeface="Wingdings" panose="05000000000000000000" pitchFamily="2" charset="2"/>
              <a:buChar char="Ø"/>
            </a:pPr>
            <a:r>
              <a:rPr lang="en-US" altLang="zh-CN" sz="18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定义双字变量伪指令</a:t>
            </a:r>
            <a:r>
              <a:rPr lang="zh-CN" altLang="en-US"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DD</a:t>
            </a:r>
          </a:p>
          <a:p>
            <a:pPr lvl="3" algn="just" eaLnBrk="1" hangingPunct="1">
              <a:lnSpc>
                <a:spcPct val="105000"/>
              </a:lnSpc>
              <a:spcBef>
                <a:spcPct val="5000"/>
              </a:spcBef>
              <a:buFont typeface="Wingdings" panose="05000000000000000000" pitchFamily="2" charset="2"/>
              <a:buChar char="Ø"/>
            </a:pPr>
            <a:r>
              <a:rPr lang="en-US" altLang="zh-CN" sz="18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定义四字变量伪指令      </a:t>
            </a:r>
            <a:r>
              <a:rPr lang="en-US" altLang="zh-CN"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DQ</a:t>
            </a:r>
          </a:p>
          <a:p>
            <a:pPr lvl="3" algn="just" eaLnBrk="1" hangingPunct="1">
              <a:lnSpc>
                <a:spcPct val="105000"/>
              </a:lnSpc>
              <a:spcBef>
                <a:spcPct val="5000"/>
              </a:spcBef>
              <a:buFont typeface="Wingdings" panose="05000000000000000000" pitchFamily="2" charset="2"/>
              <a:buChar char="Ø"/>
            </a:pPr>
            <a:r>
              <a:rPr lang="en-US" altLang="zh-CN" sz="18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定义十字节变量伪指令</a:t>
            </a:r>
            <a:r>
              <a:rPr lang="zh-CN" altLang="en-US"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DT</a:t>
            </a:r>
          </a:p>
          <a:p>
            <a:pPr lvl="3" algn="just" eaLnBrk="1" hangingPunct="1">
              <a:lnSpc>
                <a:spcPct val="105000"/>
              </a:lnSpc>
              <a:spcBef>
                <a:spcPct val="5000"/>
              </a:spcBef>
              <a:buFont typeface="Wingdings" panose="05000000000000000000" pitchFamily="2" charset="2"/>
              <a:buChar char="Ø"/>
            </a:pP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经过定义的变量有三个属性：</a:t>
            </a:r>
            <a:r>
              <a:rPr lang="zh-CN" altLang="en-US" sz="18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数据类型、偏移量、段基址</a:t>
            </a:r>
            <a:endParaRPr lang="en-US" altLang="zh-CN" sz="1800" b="1" kern="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7" dur="500"/>
                                        <p:tgtEl>
                                          <p:spTgt spid="6">
                                            <p:txEl>
                                              <p:pRg st="0" end="0"/>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randombar(horizontal)">
                                      <p:cBhvr>
                                        <p:cTn id="20" dur="500"/>
                                        <p:tgtEl>
                                          <p:spTgt spid="6">
                                            <p:txEl>
                                              <p:pRg st="1" end="1"/>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randombar(horizontal)">
                                      <p:cBhvr>
                                        <p:cTn id="23" dur="500"/>
                                        <p:tgtEl>
                                          <p:spTgt spid="6">
                                            <p:txEl>
                                              <p:pRg st="2" end="2"/>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6" dur="500"/>
                                        <p:tgtEl>
                                          <p:spTgt spid="6">
                                            <p:txEl>
                                              <p:pRg st="3" end="3"/>
                                            </p:txEl>
                                          </p:spTgt>
                                        </p:tgtEl>
                                      </p:cBhvr>
                                    </p:animEffect>
                                  </p:childTnLst>
                                </p:cTn>
                              </p:par>
                              <p:par>
                                <p:cTn id="27" presetID="14" presetClass="entr" presetSubtype="10" fill="hold" nodeType="with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randombar(horizontal)">
                                      <p:cBhvr>
                                        <p:cTn id="29" dur="500"/>
                                        <p:tgtEl>
                                          <p:spTgt spid="6">
                                            <p:txEl>
                                              <p:pRg st="4" end="4"/>
                                            </p:txEl>
                                          </p:spTgt>
                                        </p:tgtEl>
                                      </p:cBhvr>
                                    </p:animEffect>
                                  </p:childTnLst>
                                </p:cTn>
                              </p:par>
                              <p:par>
                                <p:cTn id="30" presetID="14" presetClass="entr" presetSubtype="10" fill="hold" nodeType="withEffect">
                                  <p:stCondLst>
                                    <p:cond delay="0"/>
                                  </p:stCondLst>
                                  <p:childTnLst>
                                    <p:set>
                                      <p:cBhvr>
                                        <p:cTn id="31" dur="1" fill="hold">
                                          <p:stCondLst>
                                            <p:cond delay="0"/>
                                          </p:stCondLst>
                                        </p:cTn>
                                        <p:tgtEl>
                                          <p:spTgt spid="6">
                                            <p:txEl>
                                              <p:pRg st="5" end="5"/>
                                            </p:txEl>
                                          </p:spTgt>
                                        </p:tgtEl>
                                        <p:attrNameLst>
                                          <p:attrName>style.visibility</p:attrName>
                                        </p:attrNameLst>
                                      </p:cBhvr>
                                      <p:to>
                                        <p:strVal val="visible"/>
                                      </p:to>
                                    </p:set>
                                    <p:animEffect transition="in" filter="randombar(horizontal)">
                                      <p:cBhvr>
                                        <p:cTn id="32" dur="500"/>
                                        <p:tgtEl>
                                          <p:spTgt spid="6">
                                            <p:txEl>
                                              <p:pRg st="5" end="5"/>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Effect transition="in" filter="randombar(horizontal)">
                                      <p:cBhvr>
                                        <p:cTn id="35"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a:p>
            <a:endParaRPr lang="zh-CN" altLang="en-US" dirty="0"/>
          </a:p>
        </p:txBody>
      </p:sp>
      <p:sp>
        <p:nvSpPr>
          <p:cNvPr id="2" name="矩形 1"/>
          <p:cNvSpPr/>
          <p:nvPr/>
        </p:nvSpPr>
        <p:spPr>
          <a:xfrm>
            <a:off x="539552" y="1503045"/>
            <a:ext cx="8397270" cy="2997872"/>
          </a:xfrm>
          <a:prstGeom prst="rect">
            <a:avLst/>
          </a:prstGeom>
        </p:spPr>
        <p:txBody>
          <a:bodyPr wrap="square">
            <a:spAutoFit/>
          </a:bodyPr>
          <a:lstStyle/>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表达式是给变量预置的初值，可以是下述情况之一：</a:t>
            </a:r>
          </a:p>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①数值表达式：数值允许用</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二进制</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八进制</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十进制</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十六进制</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形式书写。</a:t>
            </a:r>
          </a:p>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②？：表示</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不预置确定的初值</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③字符串表达式：用引号括起来的</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不超过</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255</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个字符</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或其他</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码符号。</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DB</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伪指令将按顺序为字符串中每一个字符或符号分配一个字节单元，存放它们的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编码，但</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DB</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以外的数据定义伪指令只允许定义</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最多两个字符</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的字符串，且按逆序存放在低地址开始的单元。</a:t>
            </a:r>
          </a:p>
        </p:txBody>
      </p:sp>
      <p:sp>
        <p:nvSpPr>
          <p:cNvPr id="5" name="矩形 4"/>
          <p:cNvSpPr/>
          <p:nvPr/>
        </p:nvSpPr>
        <p:spPr>
          <a:xfrm>
            <a:off x="1203944" y="4500917"/>
            <a:ext cx="7068486" cy="1200329"/>
          </a:xfrm>
          <a:prstGeom prst="rect">
            <a:avLst/>
          </a:prstGeom>
        </p:spPr>
        <p:txBody>
          <a:bodyPr wrap="square">
            <a:spAutoFit/>
          </a:bodyPr>
          <a:lstStyle/>
          <a:p>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注意：</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个及其以上的字符，只能用</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DB</a:t>
            </a: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定义。当字符串的长度不超过两个字符时可用</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DW</a:t>
            </a: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定义。</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str1   DW   ‘</a:t>
            </a:r>
            <a:r>
              <a:rPr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abcd</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str2   DD   ‘</a:t>
            </a:r>
            <a:r>
              <a:rPr lang="en-US" altLang="zh-CN" b="1" dirty="0" err="1">
                <a:latin typeface="Times New Roman" panose="02020603050405020304" pitchFamily="18" charset="0"/>
                <a:ea typeface="微软雅黑" panose="020B0503020204020204" pitchFamily="34" charset="-122"/>
                <a:cs typeface="Times New Roman" panose="02020603050405020304" pitchFamily="18" charset="0"/>
              </a:rPr>
              <a:t>abcd</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矩形 5"/>
          <p:cNvSpPr/>
          <p:nvPr/>
        </p:nvSpPr>
        <p:spPr>
          <a:xfrm>
            <a:off x="539552" y="5731469"/>
            <a:ext cx="8208912" cy="723275"/>
          </a:xfrm>
          <a:prstGeom prst="rect">
            <a:avLst/>
          </a:prstGeom>
        </p:spPr>
        <p:txBody>
          <a:bodyPr wrap="square">
            <a:spAutoFit/>
          </a:bodyPr>
          <a:lstStyle/>
          <a:p>
            <a:pPr>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④带</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DUP</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操作符的表达式：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DUP</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是定义重复数据操作符，它的使用格式是：</a:t>
            </a:r>
          </a:p>
          <a:p>
            <a:pPr>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   DUP   (Exp);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为重复次数，</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EXP</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为表达式。</a:t>
            </a:r>
          </a:p>
        </p:txBody>
      </p:sp>
      <p:sp>
        <p:nvSpPr>
          <p:cNvPr id="44" name="乘号 43"/>
          <p:cNvSpPr/>
          <p:nvPr>
            <p:custDataLst>
              <p:tags r:id="rId1"/>
            </p:custDataLst>
          </p:nvPr>
        </p:nvSpPr>
        <p:spPr>
          <a:xfrm>
            <a:off x="3508310" y="5013332"/>
            <a:ext cx="1080120" cy="72008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n>
                <a:solidFill>
                  <a:srgbClr val="FF0000"/>
                </a:solidFill>
              </a:ln>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44"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298420" y="980470"/>
            <a:ext cx="5832475" cy="512415"/>
          </a:xfrm>
        </p:spPr>
        <p:txBody>
          <a:bodyPr/>
          <a:lstStyle/>
          <a:p>
            <a:r>
              <a:rPr lang="en-US" altLang="zh-CN" dirty="0"/>
              <a:t>4.2</a:t>
            </a:r>
            <a:r>
              <a:rPr lang="zh-CN" altLang="en-US" dirty="0"/>
              <a:t>汇编语言中的数据</a:t>
            </a:r>
          </a:p>
          <a:p>
            <a:endParaRPr lang="zh-CN" altLang="en-US" dirty="0"/>
          </a:p>
        </p:txBody>
      </p:sp>
      <p:sp>
        <p:nvSpPr>
          <p:cNvPr id="5" name="矩形 4"/>
          <p:cNvSpPr/>
          <p:nvPr/>
        </p:nvSpPr>
        <p:spPr>
          <a:xfrm>
            <a:off x="448280" y="1620933"/>
            <a:ext cx="4572000" cy="1938020"/>
          </a:xfrm>
          <a:prstGeom prst="rect">
            <a:avLst/>
          </a:prstGeom>
        </p:spPr>
        <p:txBody>
          <a:bodyPr wrap="square">
            <a:spAutoFit/>
          </a:bodyPr>
          <a:lstStyle/>
          <a:p>
            <a:pPr>
              <a:lnSpc>
                <a:spcPct val="150000"/>
              </a:lnSpc>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例如：</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DATA1   DB   25,25H,10011010B;</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数值表达式</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DATA2   DB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表达式</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DATA3   DB   2 DUP(2 DUP(4),15);DUP</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表达式</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DATA4   DB   ’AB’,’CD’;</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字符串表达式</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DATA5   DW   ?,?,-32768;</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字类型</a:t>
            </a:r>
          </a:p>
          <a:p>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表格 5"/>
          <p:cNvGraphicFramePr>
            <a:graphicFrameLocks noGrp="1"/>
          </p:cNvGraphicFramePr>
          <p:nvPr/>
        </p:nvGraphicFramePr>
        <p:xfrm>
          <a:off x="107504" y="3933056"/>
          <a:ext cx="8407792" cy="2346960"/>
        </p:xfrm>
        <a:graphic>
          <a:graphicData uri="http://schemas.openxmlformats.org/drawingml/2006/table">
            <a:tbl>
              <a:tblPr/>
              <a:tblGrid>
                <a:gridCol w="1223003">
                  <a:extLst>
                    <a:ext uri="{9D8B030D-6E8A-4147-A177-3AD203B41FA5}">
                      <a16:colId xmlns:a16="http://schemas.microsoft.com/office/drawing/2014/main" val="20000"/>
                    </a:ext>
                  </a:extLst>
                </a:gridCol>
                <a:gridCol w="1184001">
                  <a:extLst>
                    <a:ext uri="{9D8B030D-6E8A-4147-A177-3AD203B41FA5}">
                      <a16:colId xmlns:a16="http://schemas.microsoft.com/office/drawing/2014/main" val="20001"/>
                    </a:ext>
                  </a:extLst>
                </a:gridCol>
                <a:gridCol w="1816393">
                  <a:extLst>
                    <a:ext uri="{9D8B030D-6E8A-4147-A177-3AD203B41FA5}">
                      <a16:colId xmlns:a16="http://schemas.microsoft.com/office/drawing/2014/main" val="20002"/>
                    </a:ext>
                  </a:extLst>
                </a:gridCol>
                <a:gridCol w="1184001">
                  <a:extLst>
                    <a:ext uri="{9D8B030D-6E8A-4147-A177-3AD203B41FA5}">
                      <a16:colId xmlns:a16="http://schemas.microsoft.com/office/drawing/2014/main" val="20003"/>
                    </a:ext>
                  </a:extLst>
                </a:gridCol>
                <a:gridCol w="1816393">
                  <a:extLst>
                    <a:ext uri="{9D8B030D-6E8A-4147-A177-3AD203B41FA5}">
                      <a16:colId xmlns:a16="http://schemas.microsoft.com/office/drawing/2014/main" val="20004"/>
                    </a:ext>
                  </a:extLst>
                </a:gridCol>
                <a:gridCol w="1184001">
                  <a:extLst>
                    <a:ext uri="{9D8B030D-6E8A-4147-A177-3AD203B41FA5}">
                      <a16:colId xmlns:a16="http://schemas.microsoft.com/office/drawing/2014/main" val="20005"/>
                    </a:ext>
                  </a:extLst>
                </a:gridCol>
              </a:tblGrid>
              <a:tr h="213360">
                <a:tc>
                  <a:txBody>
                    <a:bodyPr/>
                    <a:lstStyle/>
                    <a:p>
                      <a:pPr indent="457200" algn="r">
                        <a:spcAft>
                          <a:spcPts val="0"/>
                        </a:spcAft>
                      </a:pPr>
                      <a:r>
                        <a:rPr lang="en-US" sz="1400" b="1" kern="100" dirty="0">
                          <a:effectLst/>
                          <a:latin typeface="Times New Roman" panose="02020603050405020304" pitchFamily="18" charset="0"/>
                          <a:ea typeface="宋体" panose="02010600030101010101" pitchFamily="2" charset="-122"/>
                        </a:rPr>
                        <a:t>DATA1</a:t>
                      </a:r>
                      <a:endParaRPr lang="zh-CN" sz="1600" b="1" dirty="0">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a:effectLst/>
                          <a:latin typeface="Times New Roman" panose="02020603050405020304" pitchFamily="18" charset="0"/>
                          <a:ea typeface="宋体" panose="02010600030101010101" pitchFamily="2" charset="-122"/>
                        </a:rPr>
                        <a:t>19H</a:t>
                      </a:r>
                      <a:endParaRPr lang="zh-CN" sz="1600" b="1">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dirty="0">
                          <a:effectLst/>
                          <a:latin typeface="Times New Roman" panose="02020603050405020304" pitchFamily="18" charset="0"/>
                          <a:ea typeface="宋体" panose="02010600030101010101" pitchFamily="2" charset="-122"/>
                        </a:rPr>
                        <a:t>DATA4</a:t>
                      </a:r>
                      <a:endParaRPr lang="zh-CN" sz="18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dirty="0">
                          <a:solidFill>
                            <a:srgbClr val="FF0000"/>
                          </a:solidFill>
                          <a:effectLst/>
                          <a:latin typeface="Times New Roman" panose="02020603050405020304" pitchFamily="18" charset="0"/>
                          <a:ea typeface="宋体" panose="02010600030101010101" pitchFamily="2" charset="-122"/>
                        </a:rPr>
                        <a:t>42H</a:t>
                      </a:r>
                      <a:endParaRPr lang="zh-CN" sz="1800" b="1" kern="100" dirty="0">
                        <a:solidFill>
                          <a:srgbClr val="FF0000"/>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dirty="0">
                          <a:effectLst/>
                          <a:latin typeface="Times New Roman" panose="02020603050405020304" pitchFamily="18" charset="0"/>
                          <a:ea typeface="宋体" panose="02010600030101010101" pitchFamily="2" charset="-122"/>
                        </a:rPr>
                        <a:t>DATA6</a:t>
                      </a:r>
                      <a:endParaRPr lang="zh-CN" sz="18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00H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indent="457200" algn="r">
                        <a:spcAft>
                          <a:spcPts val="0"/>
                        </a:spcAft>
                      </a:pPr>
                      <a:r>
                        <a:rPr lang="en-US" sz="1400" b="1" kern="100" dirty="0">
                          <a:effectLst/>
                          <a:latin typeface="Times New Roman" panose="02020603050405020304" pitchFamily="18" charset="0"/>
                          <a:ea typeface="宋体" panose="02010600030101010101" pitchFamily="2" charset="-122"/>
                        </a:rPr>
                        <a:t> </a:t>
                      </a:r>
                      <a:endParaRPr lang="zh-CN" sz="1600" b="1" dirty="0">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a:effectLst/>
                          <a:latin typeface="Times New Roman" panose="02020603050405020304" pitchFamily="18" charset="0"/>
                          <a:ea typeface="宋体" panose="02010600030101010101" pitchFamily="2" charset="-122"/>
                        </a:rPr>
                        <a:t>25H</a:t>
                      </a:r>
                      <a:endParaRPr lang="zh-CN" sz="1600" b="1">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dirty="0">
                          <a:solidFill>
                            <a:srgbClr val="FF0000"/>
                          </a:solidFill>
                          <a:effectLst/>
                          <a:latin typeface="Times New Roman" panose="02020603050405020304" pitchFamily="18" charset="0"/>
                          <a:ea typeface="宋体" panose="02010600030101010101" pitchFamily="2" charset="-122"/>
                        </a:rPr>
                        <a:t>41H</a:t>
                      </a:r>
                      <a:endParaRPr lang="zh-CN" sz="1800" b="1" kern="100" dirty="0">
                        <a:solidFill>
                          <a:srgbClr val="FF0000"/>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00H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indent="457200" algn="r">
                        <a:spcAft>
                          <a:spcPts val="0"/>
                        </a:spcAft>
                      </a:pPr>
                      <a:r>
                        <a:rPr lang="en-US" sz="1400" b="1" kern="100" dirty="0">
                          <a:effectLst/>
                          <a:latin typeface="Times New Roman" panose="02020603050405020304" pitchFamily="18" charset="0"/>
                          <a:ea typeface="宋体" panose="02010600030101010101" pitchFamily="2" charset="-122"/>
                        </a:rPr>
                        <a:t> </a:t>
                      </a:r>
                      <a:endParaRPr lang="zh-CN" sz="1600" b="1" dirty="0">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9AH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dirty="0">
                          <a:solidFill>
                            <a:srgbClr val="740000"/>
                          </a:solidFill>
                          <a:effectLst/>
                          <a:latin typeface="Times New Roman" panose="02020603050405020304" pitchFamily="18" charset="0"/>
                          <a:ea typeface="宋体" panose="02010600030101010101" pitchFamily="2" charset="-122"/>
                        </a:rPr>
                        <a:t>44H</a:t>
                      </a:r>
                      <a:endParaRPr lang="zh-CN" sz="1800" b="1" kern="100" dirty="0">
                        <a:solidFill>
                          <a:srgbClr val="740000"/>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00H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indent="457200" algn="r">
                        <a:spcAft>
                          <a:spcPts val="0"/>
                        </a:spcAft>
                      </a:pPr>
                      <a:r>
                        <a:rPr lang="en-US" sz="1400" b="1" kern="100" dirty="0">
                          <a:effectLst/>
                          <a:latin typeface="Times New Roman" panose="02020603050405020304" pitchFamily="18" charset="0"/>
                          <a:ea typeface="宋体" panose="02010600030101010101" pitchFamily="2" charset="-122"/>
                        </a:rPr>
                        <a:t>DATA2</a:t>
                      </a:r>
                      <a:endParaRPr lang="zh-CN" sz="1600" b="1" dirty="0">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dirty="0">
                          <a:solidFill>
                            <a:srgbClr val="740000"/>
                          </a:solidFill>
                          <a:effectLst/>
                          <a:latin typeface="Times New Roman" panose="02020603050405020304" pitchFamily="18" charset="0"/>
                          <a:ea typeface="宋体" panose="02010600030101010101" pitchFamily="2" charset="-122"/>
                        </a:rPr>
                        <a:t>43H</a:t>
                      </a:r>
                      <a:endParaRPr lang="zh-CN" sz="1800" b="1" kern="100" dirty="0">
                        <a:solidFill>
                          <a:srgbClr val="740000"/>
                        </a:solidFill>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80H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 </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DATA5</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00H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336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DATA3</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04H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dirty="0">
                          <a:effectLst/>
                          <a:latin typeface="Times New Roman" panose="02020603050405020304" pitchFamily="18" charset="0"/>
                          <a:ea typeface="宋体" panose="02010600030101010101" pitchFamily="2" charset="-122"/>
                        </a:rPr>
                        <a:t> </a:t>
                      </a:r>
                      <a:endParaRPr lang="zh-CN" sz="18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80H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 </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04H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12H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 </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0FH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42H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 </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04H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00H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 </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04H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80H</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13360">
                <a:tc>
                  <a:txBody>
                    <a:bodyPr/>
                    <a:lstStyle/>
                    <a:p>
                      <a:pPr indent="457200" algn="r">
                        <a:spcAft>
                          <a:spcPts val="0"/>
                        </a:spcAft>
                      </a:pPr>
                      <a:r>
                        <a:rPr lang="en-US" sz="1400" b="1" kern="100">
                          <a:effectLst/>
                          <a:latin typeface="Times New Roman" panose="02020603050405020304" pitchFamily="18" charset="0"/>
                          <a:ea typeface="宋体" panose="02010600030101010101" pitchFamily="2" charset="-122"/>
                        </a:rPr>
                        <a:t> </a:t>
                      </a:r>
                      <a:endParaRPr lang="zh-CN" sz="1600" b="1">
                        <a:effectLst/>
                        <a:latin typeface="Times New Roman" panose="02020603050405020304" pitchFamily="18" charset="0"/>
                        <a:ea typeface="宋体" panose="02010600030101010101" pitchFamily="2" charset="-122"/>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400" b="1" kern="100" dirty="0">
                          <a:effectLst/>
                          <a:latin typeface="Times New Roman" panose="02020603050405020304" pitchFamily="18" charset="0"/>
                          <a:ea typeface="宋体" panose="02010600030101010101" pitchFamily="2" charset="-122"/>
                        </a:rPr>
                        <a:t>0FH</a:t>
                      </a:r>
                      <a:endParaRPr lang="zh-CN" sz="1600" b="1"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400" b="1" kern="100">
                          <a:effectLst/>
                          <a:latin typeface="Times New Roman" panose="02020603050405020304" pitchFamily="18" charset="0"/>
                          <a:ea typeface="宋体" panose="02010600030101010101" pitchFamily="2" charset="-122"/>
                        </a:rPr>
                        <a:t> </a:t>
                      </a:r>
                      <a:endParaRPr lang="zh-CN" sz="18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dirty="0">
                          <a:effectLst/>
                          <a:latin typeface="Times New Roman" panose="02020603050405020304" pitchFamily="18" charset="0"/>
                          <a:ea typeface="宋体" panose="02010600030101010101" pitchFamily="2" charset="-122"/>
                        </a:rPr>
                        <a:t> </a:t>
                      </a:r>
                      <a:endParaRPr lang="zh-CN" sz="18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400" b="1" kern="100" dirty="0">
                          <a:effectLst/>
                          <a:latin typeface="Times New Roman" panose="02020603050405020304" pitchFamily="18" charset="0"/>
                          <a:ea typeface="宋体" panose="02010600030101010101" pitchFamily="2" charset="-122"/>
                        </a:rPr>
                        <a:t> </a:t>
                      </a:r>
                      <a:endParaRPr lang="zh-CN" sz="18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algn="ctr">
                        <a:spcAft>
                          <a:spcPts val="0"/>
                        </a:spcAft>
                      </a:pPr>
                      <a:r>
                        <a:rPr lang="en-US" sz="1400" b="1" kern="100" dirty="0">
                          <a:effectLst/>
                          <a:latin typeface="Times New Roman" panose="02020603050405020304" pitchFamily="18" charset="0"/>
                          <a:ea typeface="宋体" panose="02010600030101010101" pitchFamily="2" charset="-122"/>
                        </a:rPr>
                        <a:t> </a:t>
                      </a:r>
                      <a:endParaRPr lang="zh-CN" sz="18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pic>
        <p:nvPicPr>
          <p:cNvPr id="2" name="Picture 1"/>
          <p:cNvPicPr>
            <a:picLocks noChangeAspect="1"/>
          </p:cNvPicPr>
          <p:nvPr/>
        </p:nvPicPr>
        <p:blipFill>
          <a:blip r:embed="rId2"/>
          <a:stretch>
            <a:fillRect/>
          </a:stretch>
        </p:blipFill>
        <p:spPr>
          <a:xfrm>
            <a:off x="6428105" y="2708910"/>
            <a:ext cx="2682240" cy="37274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t>2.</a:t>
            </a:r>
            <a:r>
              <a:rPr lang="zh-CN" altLang="zh-CN" b="1" dirty="0"/>
              <a:t>变量的属性</a:t>
            </a:r>
          </a:p>
        </p:txBody>
      </p:sp>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a:p>
            <a:endParaRPr lang="zh-CN" altLang="en-US" dirty="0"/>
          </a:p>
        </p:txBody>
      </p:sp>
      <p:sp>
        <p:nvSpPr>
          <p:cNvPr id="6" name="矩形 5"/>
          <p:cNvSpPr/>
          <p:nvPr/>
        </p:nvSpPr>
        <p:spPr>
          <a:xfrm>
            <a:off x="683568" y="2294769"/>
            <a:ext cx="8229600" cy="3400931"/>
          </a:xfrm>
          <a:prstGeom prst="rect">
            <a:avLst/>
          </a:prstGeom>
        </p:spPr>
        <p:txBody>
          <a:bodyPr wrap="square">
            <a:spAutoFit/>
          </a:bodyPr>
          <a:lstStyle/>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变量有三种属性：</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段属性、偏移属性、类型属性</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①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段属性</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SEGMENT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）：变量所在的段的起始地址（</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位），此值必须在一个段寄存器中。</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②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偏移属性</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OFFSET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）：该变量与段的起始地址之间相距的字节数。对于</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位段，是</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位无符号数</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对于</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32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位段，则是</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32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位无符号数。在当前段内给出的变量的偏移值等于当前地址计数器的值，当前地址计数器的值可以用</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来表示。</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③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类型属性</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TYPE</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）：定义该变量的字节数。如</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BYTE</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长）、</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WORD</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DW</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长）、</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DWORD</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DD</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长）、</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FWORD</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DF</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6B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长）、</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QWORD</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DQ</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8B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长）、</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TBYTE</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10B</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a:p>
            <a:endParaRPr lang="zh-CN" altLang="en-US" dirty="0"/>
          </a:p>
        </p:txBody>
      </p:sp>
      <p:sp>
        <p:nvSpPr>
          <p:cNvPr id="5" name="矩形 4"/>
          <p:cNvSpPr/>
          <p:nvPr/>
        </p:nvSpPr>
        <p:spPr>
          <a:xfrm>
            <a:off x="448280" y="1654810"/>
            <a:ext cx="8156168" cy="3924151"/>
          </a:xfrm>
          <a:prstGeom prst="rect">
            <a:avLst/>
          </a:prstGeom>
        </p:spPr>
        <p:txBody>
          <a:bodyPr wrap="square">
            <a:spAutoFit/>
          </a:bodyPr>
          <a:lstStyle/>
          <a:p>
            <a:pPr>
              <a:spcBef>
                <a:spcPts val="600"/>
              </a:spcBef>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变量的使用</a:t>
            </a:r>
          </a:p>
          <a:p>
            <a:pPr>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① 变量名作为存储单元的</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直接地址</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：变量名用直接寻址时</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变量的类型必须与指令的要求相符合。</a:t>
            </a:r>
          </a:p>
          <a:p>
            <a:pPr>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AB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已定义字节变量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AW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定义为字变量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用变量名作直接寻址形式如下</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AH,AB</a:t>
            </a:r>
          </a:p>
          <a:p>
            <a:pPr>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AX, AW</a:t>
            </a:r>
          </a:p>
          <a:p>
            <a:pPr>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②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用合成运算符</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PTR</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可以临时改变变量类型。</a:t>
            </a:r>
          </a:p>
          <a:p>
            <a:pPr>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AB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已定义字节变量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AW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定义为字变量，指令序列如下：</a:t>
            </a:r>
          </a:p>
          <a:p>
            <a:pPr>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CX, WORD PTR AB</a:t>
            </a:r>
          </a:p>
          <a:p>
            <a:pPr>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CL, BYTE PTR AW</a:t>
            </a:r>
          </a:p>
          <a:p>
            <a:pPr>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则临时把</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AB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变为字类型</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AW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变为字节类型</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但段和偏移属性不变。</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circle(in)">
                                      <p:cBhvr>
                                        <p:cTn id="15" dur="2000"/>
                                        <p:tgtEl>
                                          <p:spTgt spid="5">
                                            <p:txEl>
                                              <p:pRg st="2" end="2"/>
                                            </p:txEl>
                                          </p:spTgt>
                                        </p:tgtEl>
                                      </p:cBhvr>
                                    </p:animEffect>
                                  </p:childTnLst>
                                </p:cTn>
                              </p:par>
                              <p:par>
                                <p:cTn id="16" presetID="6" presetClass="entr" presetSubtype="16"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circle(in)">
                                      <p:cBhvr>
                                        <p:cTn id="18" dur="2000"/>
                                        <p:tgtEl>
                                          <p:spTgt spid="5">
                                            <p:txEl>
                                              <p:pRg st="3" end="3"/>
                                            </p:txEl>
                                          </p:spTgt>
                                        </p:tgtEl>
                                      </p:cBhvr>
                                    </p:animEffect>
                                  </p:childTnLst>
                                </p:cTn>
                              </p:par>
                              <p:par>
                                <p:cTn id="19" presetID="6" presetClass="entr" presetSubtype="16"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circle(in)">
                                      <p:cBhvr>
                                        <p:cTn id="21" dur="20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6" dur="500"/>
                                        <p:tgtEl>
                                          <p:spTgt spid="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1" dur="500"/>
                                        <p:tgtEl>
                                          <p:spTgt spid="5">
                                            <p:txEl>
                                              <p:pRg st="6" end="6"/>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randombar(horizontal)">
                                      <p:cBhvr>
                                        <p:cTn id="34" dur="500"/>
                                        <p:tgtEl>
                                          <p:spTgt spid="5">
                                            <p:txEl>
                                              <p:pRg st="7" end="7"/>
                                            </p:txEl>
                                          </p:spTgt>
                                        </p:tgtEl>
                                      </p:cBhvr>
                                    </p:animEffect>
                                  </p:childTnLst>
                                </p:cTn>
                              </p:par>
                              <p:par>
                                <p:cTn id="35" presetID="14" presetClass="entr" presetSubtype="10" fill="hold" nodeType="with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7" dur="500"/>
                                        <p:tgtEl>
                                          <p:spTgt spid="5">
                                            <p:txEl>
                                              <p:pRg st="8" end="8"/>
                                            </p:txEl>
                                          </p:spTgt>
                                        </p:tgtEl>
                                      </p:cBhvr>
                                    </p:animEffect>
                                  </p:childTnLst>
                                </p:cTn>
                              </p:par>
                              <p:par>
                                <p:cTn id="38" presetID="14" presetClass="entr" presetSubtype="10" fill="hold" nodeType="withEffect">
                                  <p:stCondLst>
                                    <p:cond delay="0"/>
                                  </p:stCondLst>
                                  <p:childTnLst>
                                    <p:set>
                                      <p:cBhvr>
                                        <p:cTn id="39" dur="1" fill="hold">
                                          <p:stCondLst>
                                            <p:cond delay="0"/>
                                          </p:stCondLst>
                                        </p:cTn>
                                        <p:tgtEl>
                                          <p:spTgt spid="5">
                                            <p:txEl>
                                              <p:pRg st="9" end="9"/>
                                            </p:txEl>
                                          </p:spTgt>
                                        </p:tgtEl>
                                        <p:attrNameLst>
                                          <p:attrName>style.visibility</p:attrName>
                                        </p:attrNameLst>
                                      </p:cBhvr>
                                      <p:to>
                                        <p:strVal val="visible"/>
                                      </p:to>
                                    </p:set>
                                    <p:animEffect transition="in" filter="randombar(horizontal)">
                                      <p:cBhvr>
                                        <p:cTn id="40"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a:p>
            <a:endParaRPr lang="zh-CN" altLang="en-US" dirty="0"/>
          </a:p>
        </p:txBody>
      </p:sp>
      <p:sp>
        <p:nvSpPr>
          <p:cNvPr id="6" name="矩形 5"/>
          <p:cNvSpPr/>
          <p:nvPr/>
        </p:nvSpPr>
        <p:spPr>
          <a:xfrm>
            <a:off x="448280" y="1696998"/>
            <a:ext cx="7920880" cy="4170372"/>
          </a:xfrm>
          <a:prstGeom prst="rect">
            <a:avLst/>
          </a:prstGeom>
        </p:spPr>
        <p:txBody>
          <a:bodyPr wrap="square">
            <a:spAutoFit/>
          </a:bodyPr>
          <a:lstStyle/>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③ 变量名作为</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相对寻址中的</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偏移量</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AB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已定义字节变量</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AW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定义为字变量，在如下指令序列中：</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MOV  AX, AB[SI]</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MOV  AX, AW[ BX][ SI]</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AB, AW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分别表示它们的偏移量而不是它们所表示的数据，常用于数组或表格操作，</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AB[ SI]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就表示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AB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数组中第</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个元素。</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④ 变量名仅对应</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数据区第一个数据项</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WORD   DW 20 DUP( ?)</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MOV    AX, WORD			;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第一个元素送</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AX,</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MOV    AX, WORD+ 38			;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20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个元素送</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AX.</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dissolve">
                                      <p:cBhvr>
                                        <p:cTn id="12" dur="500"/>
                                        <p:tgtEl>
                                          <p:spTgt spid="6">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dissolve">
                                      <p:cBhvr>
                                        <p:cTn id="15" dur="500"/>
                                        <p:tgtEl>
                                          <p:spTgt spid="6">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dissolve">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arn(inVertical)">
                                      <p:cBhvr>
                                        <p:cTn id="23" dur="500"/>
                                        <p:tgtEl>
                                          <p:spTgt spid="6">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6">
                                            <p:txEl>
                                              <p:pRg st="5" end="5"/>
                                            </p:txEl>
                                          </p:spTgt>
                                        </p:tgtEl>
                                        <p:attrNameLst>
                                          <p:attrName>style.visibility</p:attrName>
                                        </p:attrNameLst>
                                      </p:cBhvr>
                                      <p:to>
                                        <p:strVal val="visible"/>
                                      </p:to>
                                    </p:set>
                                    <p:animEffect transition="in" filter="barn(inVertical)">
                                      <p:cBhvr>
                                        <p:cTn id="28" dur="500"/>
                                        <p:tgtEl>
                                          <p:spTgt spid="6">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4" presetClass="entr" presetSubtype="10"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animEffect transition="in" filter="randombar(horizontal)">
                                      <p:cBhvr>
                                        <p:cTn id="33" dur="500"/>
                                        <p:tgtEl>
                                          <p:spTgt spid="6">
                                            <p:txEl>
                                              <p:pRg st="6" end="6"/>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6">
                                            <p:txEl>
                                              <p:pRg st="7" end="7"/>
                                            </p:txEl>
                                          </p:spTgt>
                                        </p:tgtEl>
                                        <p:attrNameLst>
                                          <p:attrName>style.visibility</p:attrName>
                                        </p:attrNameLst>
                                      </p:cBhvr>
                                      <p:to>
                                        <p:strVal val="visible"/>
                                      </p:to>
                                    </p:set>
                                    <p:animEffect transition="in" filter="randombar(horizontal)">
                                      <p:cBhvr>
                                        <p:cTn id="36" dur="500"/>
                                        <p:tgtEl>
                                          <p:spTgt spid="6">
                                            <p:txEl>
                                              <p:pRg st="7" end="7"/>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6">
                                            <p:txEl>
                                              <p:pRg st="8" end="8"/>
                                            </p:txEl>
                                          </p:spTgt>
                                        </p:tgtEl>
                                        <p:attrNameLst>
                                          <p:attrName>style.visibility</p:attrName>
                                        </p:attrNameLst>
                                      </p:cBhvr>
                                      <p:to>
                                        <p:strVal val="visible"/>
                                      </p:to>
                                    </p:set>
                                    <p:animEffect transition="in" filter="randombar(horizontal)">
                                      <p:cBhvr>
                                        <p:cTn id="39" dur="500"/>
                                        <p:tgtEl>
                                          <p:spTgt spid="6">
                                            <p:txEl>
                                              <p:pRg st="8" end="8"/>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randombar(horizontal)">
                                      <p:cBhvr>
                                        <p:cTn id="42" dur="500"/>
                                        <p:tgtEl>
                                          <p:spTgt spid="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en-US" altLang="zh-CN" b="1" dirty="0"/>
              <a:t>4.2.3 </a:t>
            </a:r>
            <a:r>
              <a:rPr lang="zh-CN" altLang="zh-CN" b="1" dirty="0"/>
              <a:t>标号</a:t>
            </a:r>
          </a:p>
        </p:txBody>
      </p:sp>
      <p:sp>
        <p:nvSpPr>
          <p:cNvPr id="3" name="文本占位符 2"/>
          <p:cNvSpPr>
            <a:spLocks noGrp="1"/>
          </p:cNvSpPr>
          <p:nvPr>
            <p:ph type="body" sz="quarter" idx="10"/>
          </p:nvPr>
        </p:nvSpPr>
        <p:spPr/>
        <p:txBody>
          <a:bodyPr/>
          <a:lstStyle/>
          <a:p>
            <a:r>
              <a:rPr lang="en-US" altLang="zh-CN" dirty="0"/>
              <a:t>4.2</a:t>
            </a:r>
            <a:r>
              <a:rPr lang="zh-CN" altLang="en-US" dirty="0"/>
              <a:t>汇编语言中的数据</a:t>
            </a:r>
          </a:p>
          <a:p>
            <a:endParaRPr lang="zh-CN" altLang="en-US" dirty="0"/>
          </a:p>
        </p:txBody>
      </p:sp>
      <p:sp>
        <p:nvSpPr>
          <p:cNvPr id="6" name="矩形 5"/>
          <p:cNvSpPr/>
          <p:nvPr/>
        </p:nvSpPr>
        <p:spPr>
          <a:xfrm>
            <a:off x="755576" y="2208406"/>
            <a:ext cx="7272808" cy="1422441"/>
          </a:xfrm>
          <a:prstGeom prst="rect">
            <a:avLst/>
          </a:prstGeom>
        </p:spPr>
        <p:txBody>
          <a:bodyPr wrap="square">
            <a:spAutoFit/>
          </a:bodyPr>
          <a:lstStyle/>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在指令性语句中，标号表示本条语句的</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符号地址</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标号、名字统称为标识符，都具备</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种属性</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段属性、偏移属性及类型属性</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 name="矩形 6"/>
          <p:cNvSpPr/>
          <p:nvPr/>
        </p:nvSpPr>
        <p:spPr>
          <a:xfrm>
            <a:off x="755576" y="3709116"/>
            <a:ext cx="7931224" cy="2554545"/>
          </a:xfrm>
          <a:prstGeom prst="rect">
            <a:avLst/>
          </a:prstGeom>
        </p:spPr>
        <p:txBody>
          <a:bodyPr wrap="square">
            <a:spAutoFit/>
          </a:bodyPr>
          <a:lstStyle/>
          <a:p>
            <a:pPr>
              <a:spcBef>
                <a:spcPts val="12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① 标号的段属性是定义标号在程序段的段地址。当程序中引用一个标号时，该标号的段值应在</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CS</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寄存器中。</a:t>
            </a:r>
          </a:p>
          <a:p>
            <a:pPr>
              <a:spcBef>
                <a:spcPts val="12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② 标号的偏移量属性表示标号所在段的起始地址到定义该标号的地址之间的字节数。偏移量是一个</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位无符号数。 </a:t>
            </a:r>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③ 标号的类型属性有两种：</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NEAR</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FAR</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。前一种标号可以在段内被引用，地址指针为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字节；后一种标号可以在其他段被引用，地址指针为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字节。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wipe(left)">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wipe(left)">
                                      <p:cBhvr>
                                        <p:cTn id="28" dur="500"/>
                                        <p:tgtEl>
                                          <p:spTgt spid="7">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wipe(left)">
                                      <p:cBhvr>
                                        <p:cTn id="33"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4.3</a:t>
            </a:r>
            <a:r>
              <a:rPr lang="zh-CN" altLang="en-US" dirty="0"/>
              <a:t>运算符与表达式</a:t>
            </a:r>
          </a:p>
        </p:txBody>
      </p:sp>
      <p:sp>
        <p:nvSpPr>
          <p:cNvPr id="5" name="矩形 4"/>
          <p:cNvSpPr/>
          <p:nvPr/>
        </p:nvSpPr>
        <p:spPr>
          <a:xfrm>
            <a:off x="448280" y="1677798"/>
            <a:ext cx="8064896" cy="4555093"/>
          </a:xfrm>
          <a:prstGeom prst="rect">
            <a:avLst/>
          </a:prstGeom>
        </p:spPr>
        <p:txBody>
          <a:bodyPr wrap="square">
            <a:spAutoFit/>
          </a:bodyPr>
          <a:lstStyle/>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表达式由操作数和运算符组成，如</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3+2</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77 AND 55</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NOT 5AH</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等。</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操作数</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操作数用于代表一个</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数据</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或一个</a:t>
            </a:r>
            <a:r>
              <a:rPr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地址</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运算符</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运算符包括</a:t>
            </a:r>
            <a:r>
              <a:rPr lang="zh-CN" altLang="en-US" sz="2000" b="1" u="sng"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算术、逻辑、关系、分析、综合</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五类运算符。</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①    算术运算符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包括   </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MOD</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参加运算的内容可以是数据，也可以是地址，但在一个算术运算符的两边不能都是地址。</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②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逻辑运算符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包括  </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AND</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OR</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NOT</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XOR</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③   </a:t>
            </a:r>
            <a:r>
              <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关系运算符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包括    相等 ：</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EQ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大于：</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GT</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不等：</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NE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小于或等于：</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LE</a:t>
            </a:r>
          </a:p>
          <a:p>
            <a:pPr>
              <a:spcBef>
                <a:spcPts val="600"/>
              </a:spcBef>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小于：</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LT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大于或等于：</a:t>
            </a:r>
            <a:r>
              <a:rPr lang="en-US" altLang="zh-CN"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GE</a:t>
            </a:r>
            <a:endParaRPr lang="zh-CN" altLang="en-US" sz="20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2" dur="500"/>
                                        <p:tgtEl>
                                          <p:spTgt spid="5">
                                            <p:txEl>
                                              <p:pRg st="1" end="1"/>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0" dur="500"/>
                                        <p:tgtEl>
                                          <p:spTgt spid="5">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3" dur="500"/>
                                        <p:tgtEl>
                                          <p:spTgt spid="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8" dur="500"/>
                                        <p:tgtEl>
                                          <p:spTgt spid="5">
                                            <p:txEl>
                                              <p:pRg st="5" end="5"/>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1" dur="500"/>
                                        <p:tgtEl>
                                          <p:spTgt spid="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5">
                                            <p:txEl>
                                              <p:pRg st="7" end="7"/>
                                            </p:txEl>
                                          </p:spTgt>
                                        </p:tgtEl>
                                        <p:attrNameLst>
                                          <p:attrName>style.visibility</p:attrName>
                                        </p:attrNameLst>
                                      </p:cBhvr>
                                      <p:to>
                                        <p:strVal val="visible"/>
                                      </p:to>
                                    </p:set>
                                    <p:animEffect transition="in" filter="randombar(horizontal)">
                                      <p:cBhvr>
                                        <p:cTn id="36" dur="500"/>
                                        <p:tgtEl>
                                          <p:spTgt spid="5">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nodeType="click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Effect transition="in" filter="randombar(horizontal)">
                                      <p:cBhvr>
                                        <p:cTn id="41" dur="500"/>
                                        <p:tgtEl>
                                          <p:spTgt spid="5">
                                            <p:txEl>
                                              <p:pRg st="8" end="8"/>
                                            </p:txEl>
                                          </p:spTgt>
                                        </p:tgtEl>
                                      </p:cBhvr>
                                    </p:animEffect>
                                  </p:childTnLst>
                                </p:cTn>
                              </p:par>
                              <p:par>
                                <p:cTn id="42" presetID="14" presetClass="entr" presetSubtype="10" fill="hold" nodeType="with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animEffect transition="in" filter="randombar(horizontal)">
                                      <p:cBhvr>
                                        <p:cTn id="44" dur="500"/>
                                        <p:tgtEl>
                                          <p:spTgt spid="5">
                                            <p:txEl>
                                              <p:pRg st="9" end="9"/>
                                            </p:txEl>
                                          </p:spTgt>
                                        </p:tgtEl>
                                      </p:cBhvr>
                                    </p:animEffect>
                                  </p:childTnLst>
                                </p:cTn>
                              </p:par>
                              <p:par>
                                <p:cTn id="45" presetID="14" presetClass="entr" presetSubtype="10" fill="hold" nodeType="with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animEffect transition="in" filter="randombar(horizontal)">
                                      <p:cBhvr>
                                        <p:cTn id="4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4.3</a:t>
            </a:r>
            <a:r>
              <a:rPr lang="zh-CN" altLang="en-US" dirty="0"/>
              <a:t>运算符与表达式</a:t>
            </a:r>
          </a:p>
          <a:p>
            <a:endParaRPr lang="zh-CN" altLang="en-US" dirty="0"/>
          </a:p>
        </p:txBody>
      </p:sp>
      <p:sp>
        <p:nvSpPr>
          <p:cNvPr id="5" name="Text Box 2"/>
          <p:cNvSpPr txBox="1">
            <a:spLocks noChangeArrowheads="1"/>
          </p:cNvSpPr>
          <p:nvPr/>
        </p:nvSpPr>
        <p:spPr bwMode="auto">
          <a:xfrm>
            <a:off x="537708" y="1642775"/>
            <a:ext cx="8588375" cy="4555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panose="020B0604020202020204" pitchFamily="34" charset="0"/>
              <a:buNone/>
            </a:pPr>
            <a:r>
              <a:rPr lang="zh-CN" altLang="en-US"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关系运算结果只有两个</a:t>
            </a:r>
            <a:r>
              <a:rPr lang="en-US" altLang="zh-CN"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真、假。</a:t>
            </a:r>
          </a:p>
          <a:p>
            <a:pPr>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如果关系是真，则结果为 </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0FFH</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0FFFFH</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t>
            </a:r>
          </a:p>
          <a:p>
            <a:pPr>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如果关系是假，则结果为</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t>
            </a:r>
          </a:p>
          <a:p>
            <a:pPr>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例如</a:t>
            </a:r>
          </a:p>
          <a:p>
            <a:pPr>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MOV   BX,  </a:t>
            </a:r>
            <a:r>
              <a:rPr lang="en-US" altLang="zh-CN" sz="2000" b="1"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DATA1  </a:t>
            </a:r>
            <a:r>
              <a:rPr lang="en-US" altLang="zh-CN" sz="2000" b="1" u="sng"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000" b="1"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0010H</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MOV   BX,   0FFFFH</a:t>
            </a:r>
            <a:endParaRPr lang="en-US" altLang="zh-CN" sz="2000" b="1"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50000"/>
              </a:spcBef>
              <a:buFont typeface="Arial" panose="020B0604020202020204" pitchFamily="34" charset="0"/>
              <a:buNone/>
            </a:pP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p>
          <a:p>
            <a:pPr>
              <a:spcBef>
                <a:spcPct val="50000"/>
              </a:spcBef>
              <a:buFont typeface="Arial" panose="020B0604020202020204" pitchFamily="34" charset="0"/>
              <a:buNone/>
            </a:pPr>
            <a:endPar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50000"/>
              </a:spcBef>
              <a:buFont typeface="Arial" panose="020B0604020202020204" pitchFamily="34" charset="0"/>
              <a:buNone/>
            </a:pP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MOV   BX,  </a:t>
            </a:r>
            <a:r>
              <a:rPr lang="en-US" altLang="zh-CN" sz="2000" b="1"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DATA1  </a:t>
            </a:r>
            <a:r>
              <a:rPr lang="en-US" altLang="zh-CN" sz="2000" b="1" u="sng"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LT</a:t>
            </a:r>
            <a:r>
              <a:rPr lang="en-US" altLang="zh-CN" sz="2000" b="1" u="sng"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0010H</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MOV  BX,  0  </a:t>
            </a:r>
          </a:p>
          <a:p>
            <a:pPr>
              <a:spcBef>
                <a:spcPct val="50000"/>
              </a:spcBef>
              <a:buFont typeface="Arial" panose="020B0604020202020204" pitchFamily="34" charset="0"/>
              <a:buNone/>
            </a:pPr>
            <a:endPar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50000"/>
              </a:spcBef>
              <a:buFont typeface="Arial" panose="020B0604020202020204" pitchFamily="34" charset="0"/>
              <a:buNone/>
            </a:pPr>
            <a:endPar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 name="组合 1"/>
          <p:cNvGrpSpPr/>
          <p:nvPr/>
        </p:nvGrpSpPr>
        <p:grpSpPr>
          <a:xfrm>
            <a:off x="5330370" y="3614450"/>
            <a:ext cx="458788" cy="109538"/>
            <a:chOff x="5330370" y="3614450"/>
            <a:chExt cx="458788" cy="109538"/>
          </a:xfrm>
        </p:grpSpPr>
        <p:sp>
          <p:nvSpPr>
            <p:cNvPr id="6" name="Line 3"/>
            <p:cNvSpPr>
              <a:spLocks noChangeShapeType="1"/>
            </p:cNvSpPr>
            <p:nvPr/>
          </p:nvSpPr>
          <p:spPr bwMode="auto">
            <a:xfrm>
              <a:off x="5330370" y="3614450"/>
              <a:ext cx="44926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Line 4"/>
            <p:cNvSpPr>
              <a:spLocks noChangeShapeType="1"/>
            </p:cNvSpPr>
            <p:nvPr/>
          </p:nvSpPr>
          <p:spPr bwMode="auto">
            <a:xfrm>
              <a:off x="5339895" y="3723988"/>
              <a:ext cx="44926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4" name="组合 13"/>
          <p:cNvGrpSpPr/>
          <p:nvPr/>
        </p:nvGrpSpPr>
        <p:grpSpPr>
          <a:xfrm>
            <a:off x="3734933" y="4133564"/>
            <a:ext cx="2774950" cy="571500"/>
            <a:chOff x="3734933" y="4133564"/>
            <a:chExt cx="2774950" cy="571500"/>
          </a:xfrm>
        </p:grpSpPr>
        <p:sp>
          <p:nvSpPr>
            <p:cNvPr id="8" name="AutoShape 5"/>
            <p:cNvSpPr>
              <a:spLocks noChangeArrowheads="1"/>
            </p:cNvSpPr>
            <p:nvPr/>
          </p:nvSpPr>
          <p:spPr bwMode="auto">
            <a:xfrm>
              <a:off x="3734933" y="4133564"/>
              <a:ext cx="2713037" cy="571500"/>
            </a:xfrm>
            <a:prstGeom prst="wedgeEllipseCallout">
              <a:avLst>
                <a:gd name="adj1" fmla="val -38065"/>
                <a:gd name="adj2" fmla="val -90782"/>
              </a:avLst>
            </a:prstGeom>
            <a:solidFill>
              <a:srgbClr val="FFCC99"/>
            </a:solidFill>
            <a:ln w="952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Font typeface="Arial" panose="020B0604020202020204" pitchFamily="34" charset="0"/>
                <a:buNone/>
              </a:pPr>
              <a:endParaRPr lang="zh-CN" altLang="en-US" sz="2000" b="1">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Text Box 6"/>
            <p:cNvSpPr txBox="1">
              <a:spLocks noChangeArrowheads="1"/>
            </p:cNvSpPr>
            <p:nvPr/>
          </p:nvSpPr>
          <p:spPr bwMode="auto">
            <a:xfrm>
              <a:off x="3887333" y="4220876"/>
              <a:ext cx="2622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panose="020B0604020202020204" pitchFamily="34" charset="0"/>
                <a:buNone/>
              </a:pPr>
              <a:r>
                <a:rPr lang="zh-CN" altLang="en-US"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DATA1&lt; 0010H  </a:t>
              </a:r>
              <a:r>
                <a:rPr lang="zh-CN" altLang="en-US"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时</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p>
          </p:txBody>
        </p:sp>
      </p:grpSp>
      <p:grpSp>
        <p:nvGrpSpPr>
          <p:cNvPr id="15" name="组合 14"/>
          <p:cNvGrpSpPr/>
          <p:nvPr/>
        </p:nvGrpSpPr>
        <p:grpSpPr>
          <a:xfrm>
            <a:off x="5732008" y="4994176"/>
            <a:ext cx="449263" cy="117512"/>
            <a:chOff x="5732008" y="4994176"/>
            <a:chExt cx="449263" cy="117512"/>
          </a:xfrm>
        </p:grpSpPr>
        <p:sp>
          <p:nvSpPr>
            <p:cNvPr id="10" name="Line 7"/>
            <p:cNvSpPr>
              <a:spLocks noChangeShapeType="1"/>
            </p:cNvSpPr>
            <p:nvPr/>
          </p:nvSpPr>
          <p:spPr bwMode="auto">
            <a:xfrm>
              <a:off x="5732008" y="4994176"/>
              <a:ext cx="44926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Line 8"/>
            <p:cNvSpPr>
              <a:spLocks noChangeShapeType="1"/>
            </p:cNvSpPr>
            <p:nvPr/>
          </p:nvSpPr>
          <p:spPr bwMode="auto">
            <a:xfrm>
              <a:off x="5732008" y="5111688"/>
              <a:ext cx="44926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6" name="组合 15"/>
          <p:cNvGrpSpPr/>
          <p:nvPr/>
        </p:nvGrpSpPr>
        <p:grpSpPr>
          <a:xfrm>
            <a:off x="4375489" y="5509687"/>
            <a:ext cx="2776537" cy="731838"/>
            <a:chOff x="4375489" y="5509687"/>
            <a:chExt cx="2776537" cy="731838"/>
          </a:xfrm>
        </p:grpSpPr>
        <p:sp>
          <p:nvSpPr>
            <p:cNvPr id="12" name="AutoShape 9"/>
            <p:cNvSpPr>
              <a:spLocks noChangeArrowheads="1"/>
            </p:cNvSpPr>
            <p:nvPr/>
          </p:nvSpPr>
          <p:spPr bwMode="auto">
            <a:xfrm>
              <a:off x="4375489" y="5509687"/>
              <a:ext cx="2713037" cy="731838"/>
            </a:xfrm>
            <a:prstGeom prst="wedgeEllipseCallout">
              <a:avLst>
                <a:gd name="adj1" fmla="val -45028"/>
                <a:gd name="adj2" fmla="val -98157"/>
              </a:avLst>
            </a:prstGeom>
            <a:solidFill>
              <a:srgbClr val="FFCC99"/>
            </a:solidFill>
            <a:ln w="952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buFont typeface="Arial" panose="020B0604020202020204" pitchFamily="34" charset="0"/>
                <a:buNone/>
              </a:pPr>
              <a:endParaRPr lang="zh-CN" altLang="en-US" sz="2000" b="1">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Box 10"/>
            <p:cNvSpPr txBox="1">
              <a:spLocks noChangeArrowheads="1"/>
            </p:cNvSpPr>
            <p:nvPr/>
          </p:nvSpPr>
          <p:spPr bwMode="auto">
            <a:xfrm>
              <a:off x="4529476" y="5684312"/>
              <a:ext cx="26225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panose="020B0604020202020204" pitchFamily="34" charset="0"/>
                <a:buNone/>
              </a:pPr>
              <a:r>
                <a:rPr lang="zh-CN" altLang="en-US"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DATA1 &gt; 0010H  </a:t>
              </a:r>
              <a:r>
                <a:rPr lang="zh-CN" altLang="en-US"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时</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0" dur="500"/>
                                        <p:tgtEl>
                                          <p:spTgt spid="5">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8" dur="500"/>
                                        <p:tgtEl>
                                          <p:spTgt spid="5">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1" dur="500"/>
                                        <p:tgtEl>
                                          <p:spTgt spid="5">
                                            <p:txEl>
                                              <p:pRg st="4" end="4"/>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9" dur="500"/>
                                        <p:tgtEl>
                                          <p:spTgt spid="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up)">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4" presetClass="entr" presetSubtype="10" fill="hold" nodeType="clickEffect">
                                  <p:stCondLst>
                                    <p:cond delay="0"/>
                                  </p:stCondLst>
                                  <p:childTnLst>
                                    <p:set>
                                      <p:cBhvr>
                                        <p:cTn id="38" dur="1" fill="hold">
                                          <p:stCondLst>
                                            <p:cond delay="0"/>
                                          </p:stCondLst>
                                        </p:cTn>
                                        <p:tgtEl>
                                          <p:spTgt spid="5">
                                            <p:txEl>
                                              <p:pRg st="7" end="7"/>
                                            </p:txEl>
                                          </p:spTgt>
                                        </p:tgtEl>
                                        <p:attrNameLst>
                                          <p:attrName>style.visibility</p:attrName>
                                        </p:attrNameLst>
                                      </p:cBhvr>
                                      <p:to>
                                        <p:strVal val="visible"/>
                                      </p:to>
                                    </p:set>
                                    <p:animEffect transition="in" filter="randombar(horizontal)">
                                      <p:cBhvr>
                                        <p:cTn id="39" dur="500"/>
                                        <p:tgtEl>
                                          <p:spTgt spid="5">
                                            <p:txEl>
                                              <p:pRg st="7" end="7"/>
                                            </p:txEl>
                                          </p:spTgt>
                                        </p:tgtEl>
                                      </p:cBhvr>
                                    </p:animEffect>
                                  </p:childTnLst>
                                </p:cTn>
                              </p:par>
                              <p:par>
                                <p:cTn id="40" presetID="22" presetClass="entr" presetSubtype="8"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4.3</a:t>
            </a:r>
            <a:r>
              <a:rPr lang="zh-CN" altLang="en-US" dirty="0"/>
              <a:t>运算符与表达式</a:t>
            </a:r>
          </a:p>
          <a:p>
            <a:endParaRPr lang="zh-CN" altLang="en-US" dirty="0"/>
          </a:p>
        </p:txBody>
      </p:sp>
      <p:sp>
        <p:nvSpPr>
          <p:cNvPr id="5" name="Text Box 2"/>
          <p:cNvSpPr txBox="1">
            <a:spLocks noChangeArrowheads="1"/>
          </p:cNvSpPr>
          <p:nvPr/>
        </p:nvSpPr>
        <p:spPr bwMode="auto">
          <a:xfrm>
            <a:off x="448280" y="1576387"/>
            <a:ext cx="8156168" cy="5262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 typeface="Arial" panose="020B0604020202020204" pitchFamily="34" charset="0"/>
              <a:buNone/>
            </a:pP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④取值运算符</a:t>
            </a:r>
          </a:p>
          <a:p>
            <a:pPr>
              <a:lnSpc>
                <a:spcPct val="120000"/>
              </a:lnSpc>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取值运算在汇编语言程序设计中很重要。它可以把它存储器         操作数分解成它的组成部分</a:t>
            </a: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0000"/>
              </a:lnSpc>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包括</a:t>
            </a:r>
          </a:p>
          <a:p>
            <a:pPr>
              <a:lnSpc>
                <a:spcPct val="120000"/>
              </a:lnSpc>
              <a:spcBef>
                <a:spcPct val="50000"/>
              </a:spcBef>
              <a:buFont typeface="Arial" panose="020B0604020202020204" pitchFamily="34" charset="0"/>
              <a:buNone/>
            </a:pP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取存储单元偏移：</a:t>
            </a:r>
            <a:r>
              <a:rPr lang="en-US" altLang="zh-CN"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OFFSET</a:t>
            </a:r>
          </a:p>
          <a:p>
            <a:pPr>
              <a:lnSpc>
                <a:spcPct val="120000"/>
              </a:lnSpc>
              <a:spcBef>
                <a:spcPct val="50000"/>
              </a:spcBef>
              <a:buFont typeface="Arial" panose="020B0604020202020204" pitchFamily="34" charset="0"/>
              <a:buNone/>
            </a:pP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取存储单元段：</a:t>
            </a:r>
            <a:r>
              <a:rPr lang="zh-CN" altLang="en-US"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SEG</a:t>
            </a:r>
          </a:p>
          <a:p>
            <a:pPr>
              <a:lnSpc>
                <a:spcPct val="120000"/>
              </a:lnSpc>
              <a:spcBef>
                <a:spcPct val="50000"/>
              </a:spcBef>
              <a:buFont typeface="Arial" panose="020B0604020202020204" pitchFamily="34" charset="0"/>
              <a:buNone/>
            </a:pP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取类型：</a:t>
            </a:r>
            <a:r>
              <a:rPr lang="en-US" altLang="zh-CN"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TYPE    TYPE：返回类型值：BYTE-1 WORD-2 DWORD-4 NEAR- -1 FAR- -2</a:t>
            </a:r>
          </a:p>
          <a:p>
            <a:pPr>
              <a:lnSpc>
                <a:spcPct val="120000"/>
              </a:lnSpc>
              <a:spcBef>
                <a:spcPct val="50000"/>
              </a:spcBef>
              <a:buFont typeface="Arial" panose="020B0604020202020204" pitchFamily="34" charset="0"/>
              <a:buNone/>
            </a:pP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取字节数：</a:t>
            </a:r>
            <a:r>
              <a:rPr lang="zh-CN" altLang="en-US"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SIZE=LENGTH*TYPE</a:t>
            </a:r>
          </a:p>
          <a:p>
            <a:pPr>
              <a:lnSpc>
                <a:spcPct val="120000"/>
              </a:lnSpc>
              <a:spcBef>
                <a:spcPct val="50000"/>
              </a:spcBef>
              <a:buFont typeface="Arial" panose="020B0604020202020204" pitchFamily="34" charset="0"/>
              <a:buNone/>
            </a:pPr>
            <a:r>
              <a:rPr lang="en-US" altLang="zh-CN"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按类型取长度：</a:t>
            </a:r>
            <a:r>
              <a:rPr lang="en-US" altLang="zh-CN" sz="20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LENGTH</a:t>
            </a:r>
          </a:p>
          <a:p>
            <a:pPr>
              <a:spcBef>
                <a:spcPct val="50000"/>
              </a:spcBef>
              <a:buFont typeface="Arial" panose="020B0604020202020204" pitchFamily="34" charset="0"/>
              <a:buNone/>
            </a:pPr>
            <a:endParaRPr lang="zh-CN" altLang="en-US" sz="2000"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wipe(up)">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par>
                          <p:cTn id="16" fill="hold">
                            <p:stCondLst>
                              <p:cond delay="500"/>
                            </p:stCondLst>
                            <p:childTnLst>
                              <p:par>
                                <p:cTn id="17" presetID="22" presetClass="entr" presetSubtype="1"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up)">
                                      <p:cBhvr>
                                        <p:cTn id="19" dur="500"/>
                                        <p:tgtEl>
                                          <p:spTgt spid="5">
                                            <p:txEl>
                                              <p:pRg st="3" end="3"/>
                                            </p:txEl>
                                          </p:spTgt>
                                        </p:tgtEl>
                                      </p:cBhvr>
                                    </p:animEffec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wipe(up)">
                                      <p:cBhvr>
                                        <p:cTn id="23" dur="500"/>
                                        <p:tgtEl>
                                          <p:spTgt spid="5">
                                            <p:txEl>
                                              <p:pRg st="4" end="4"/>
                                            </p:txEl>
                                          </p:spTgt>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wipe(up)">
                                      <p:cBhvr>
                                        <p:cTn id="27" dur="500"/>
                                        <p:tgtEl>
                                          <p:spTgt spid="5">
                                            <p:txEl>
                                              <p:pRg st="5" end="5"/>
                                            </p:txEl>
                                          </p:spTgt>
                                        </p:tgtEl>
                                      </p:cBhvr>
                                    </p:animEffect>
                                  </p:childTnLst>
                                </p:cTn>
                              </p:par>
                            </p:childTnLst>
                          </p:cTn>
                        </p:par>
                        <p:par>
                          <p:cTn id="28" fill="hold">
                            <p:stCondLst>
                              <p:cond delay="2000"/>
                            </p:stCondLst>
                            <p:childTnLst>
                              <p:par>
                                <p:cTn id="29" presetID="22" presetClass="entr" presetSubtype="1" fill="hold" nodeType="after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wipe(up)">
                                      <p:cBhvr>
                                        <p:cTn id="31" dur="500"/>
                                        <p:tgtEl>
                                          <p:spTgt spid="5">
                                            <p:txEl>
                                              <p:pRg st="6" end="6"/>
                                            </p:txEl>
                                          </p:spTgt>
                                        </p:tgtEl>
                                      </p:cBhvr>
                                    </p:animEffect>
                                  </p:childTnLst>
                                </p:cTn>
                              </p:par>
                            </p:childTnLst>
                          </p:cTn>
                        </p:par>
                        <p:par>
                          <p:cTn id="32" fill="hold">
                            <p:stCondLst>
                              <p:cond delay="2500"/>
                            </p:stCondLst>
                            <p:childTnLst>
                              <p:par>
                                <p:cTn id="33" presetID="22" presetClass="entr" presetSubtype="1" fill="hold" nodeType="after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wipe(up)">
                                      <p:cBhvr>
                                        <p:cTn id="35"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4.3</a:t>
            </a:r>
            <a:r>
              <a:rPr lang="zh-CN" altLang="en-US" dirty="0"/>
              <a:t>运算符与表达式</a:t>
            </a:r>
          </a:p>
          <a:p>
            <a:endParaRPr lang="zh-CN" altLang="en-US" dirty="0"/>
          </a:p>
        </p:txBody>
      </p:sp>
      <p:sp>
        <p:nvSpPr>
          <p:cNvPr id="5" name="Text Box 2"/>
          <p:cNvSpPr txBox="1">
            <a:spLocks noChangeArrowheads="1"/>
          </p:cNvSpPr>
          <p:nvPr/>
        </p:nvSpPr>
        <p:spPr bwMode="auto">
          <a:xfrm>
            <a:off x="460375" y="1687627"/>
            <a:ext cx="6010275" cy="45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ts val="0"/>
              </a:spcBef>
              <a:buFont typeface="Arial" panose="020B0604020202020204" pitchFamily="34" charset="0"/>
              <a:buNone/>
            </a:pPr>
            <a:r>
              <a:rPr lang="zh-CN" altLang="en-US"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sym typeface="+mn-ea"/>
              </a:rPr>
              <a:t>例</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设有数据段中使用</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DATA1      DB  ?</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定义了一个单元，则</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MOV  AL, DATA1</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可将</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DATA1</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中的数传送到</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AL</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中，        </a:t>
            </a:r>
            <a:r>
              <a:rPr lang="en-US" altLang="zh-CN"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AL=05</a:t>
            </a:r>
          </a:p>
          <a:p>
            <a:pPr>
              <a:spcBef>
                <a:spcPts val="0"/>
              </a:spcBef>
              <a:buFont typeface="Arial" panose="020B0604020202020204" pitchFamily="34" charset="0"/>
              <a:buNone/>
            </a:pP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MOV  AX, SEG  DATA1</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可将</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DATA1</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的所在段地址传到</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AX</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AX=2000</a:t>
            </a:r>
          </a:p>
          <a:p>
            <a:pPr>
              <a:spcBef>
                <a:spcPts val="0"/>
              </a:spcBef>
              <a:buFont typeface="Arial" panose="020B0604020202020204" pitchFamily="34" charset="0"/>
              <a:buNone/>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MOV  AX,  OFFSET  DATA1</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可将</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DATA1</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的偏移地址传入</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AX</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中</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AX=1500     </a:t>
            </a:r>
            <a:endPar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ts val="0"/>
              </a:spcBef>
              <a:buFont typeface="Arial" panose="020B0604020202020204" pitchFamily="34" charset="0"/>
              <a:buNone/>
            </a:pPr>
            <a:endPar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ts val="0"/>
              </a:spcBef>
              <a:buFont typeface="Arial" panose="020B0604020202020204" pitchFamily="34" charset="0"/>
              <a:buNone/>
            </a:pPr>
            <a:r>
              <a:rPr lang="zh-CN" altLang="en-US"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设有数据段中使用</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DATA1      DW    100  DUP (?)</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定义了</a:t>
            </a:r>
            <a:r>
              <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个字单元，则</a:t>
            </a:r>
          </a:p>
          <a:p>
            <a:pPr>
              <a:spcBef>
                <a:spcPts val="0"/>
              </a:spcBef>
              <a:buFont typeface="Arial" panose="020B0604020202020204" pitchFamily="34" charset="0"/>
              <a:buNone/>
            </a:pPr>
            <a:r>
              <a:rPr lang="zh-CN" altLang="en-US"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MOV  AX, TYPE  DATA1             AX=2</a:t>
            </a:r>
          </a:p>
          <a:p>
            <a:pPr>
              <a:spcBef>
                <a:spcPts val="0"/>
              </a:spcBef>
              <a:buFont typeface="Arial" panose="020B0604020202020204" pitchFamily="34" charset="0"/>
              <a:buNone/>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MOV   AX,  SIZE  DATA1            AX=200</a:t>
            </a:r>
          </a:p>
          <a:p>
            <a:pPr>
              <a:spcBef>
                <a:spcPts val="0"/>
              </a:spcBef>
              <a:buFont typeface="Arial" panose="020B0604020202020204" pitchFamily="34" charset="0"/>
              <a:buNone/>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MOV  AX,  LENGTH  DATA1     AX=100</a:t>
            </a:r>
            <a:endParaRPr lang="en-US" altLang="zh-CN" b="1" dirty="0">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3"/>
          <p:cNvSpPr>
            <a:spLocks noChangeArrowheads="1"/>
          </p:cNvSpPr>
          <p:nvPr/>
        </p:nvSpPr>
        <p:spPr bwMode="auto">
          <a:xfrm>
            <a:off x="7071990" y="874767"/>
            <a:ext cx="623888" cy="5938837"/>
          </a:xfrm>
          <a:prstGeom prst="rect">
            <a:avLst/>
          </a:prstGeom>
          <a:solidFill>
            <a:srgbClr val="B2B2B2"/>
          </a:solidFill>
          <a:ln>
            <a:noFill/>
          </a:ln>
          <a:effectLst>
            <a:outerShdw dist="35921" dir="2700000" algn="ctr" rotWithShape="0">
              <a:srgbClr val="808080"/>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4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 name="Line 4"/>
          <p:cNvSpPr>
            <a:spLocks noChangeShapeType="1"/>
          </p:cNvSpPr>
          <p:nvPr/>
        </p:nvSpPr>
        <p:spPr bwMode="auto">
          <a:xfrm>
            <a:off x="7076753" y="3202042"/>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8" name="Line 5"/>
          <p:cNvSpPr>
            <a:spLocks noChangeShapeType="1"/>
          </p:cNvSpPr>
          <p:nvPr/>
        </p:nvSpPr>
        <p:spPr bwMode="auto">
          <a:xfrm>
            <a:off x="7076753" y="3463979"/>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9" name="Line 6"/>
          <p:cNvSpPr>
            <a:spLocks noChangeShapeType="1"/>
          </p:cNvSpPr>
          <p:nvPr/>
        </p:nvSpPr>
        <p:spPr bwMode="auto">
          <a:xfrm>
            <a:off x="7079928" y="5299129"/>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0" name="Line 7"/>
          <p:cNvSpPr>
            <a:spLocks noChangeShapeType="1"/>
          </p:cNvSpPr>
          <p:nvPr/>
        </p:nvSpPr>
        <p:spPr bwMode="auto">
          <a:xfrm>
            <a:off x="7076753" y="3725917"/>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1" name="Line 8"/>
          <p:cNvSpPr>
            <a:spLocks noChangeShapeType="1"/>
          </p:cNvSpPr>
          <p:nvPr/>
        </p:nvSpPr>
        <p:spPr bwMode="auto">
          <a:xfrm>
            <a:off x="7076753" y="3987854"/>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2" name="Line 9"/>
          <p:cNvSpPr>
            <a:spLocks noChangeShapeType="1"/>
          </p:cNvSpPr>
          <p:nvPr/>
        </p:nvSpPr>
        <p:spPr bwMode="auto">
          <a:xfrm>
            <a:off x="7076753" y="4249792"/>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3" name="Line 10"/>
          <p:cNvSpPr>
            <a:spLocks noChangeShapeType="1"/>
          </p:cNvSpPr>
          <p:nvPr/>
        </p:nvSpPr>
        <p:spPr bwMode="auto">
          <a:xfrm>
            <a:off x="7076753" y="4513317"/>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4" name="Line 11"/>
          <p:cNvSpPr>
            <a:spLocks noChangeShapeType="1"/>
          </p:cNvSpPr>
          <p:nvPr/>
        </p:nvSpPr>
        <p:spPr bwMode="auto">
          <a:xfrm>
            <a:off x="7076753" y="4775254"/>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5" name="Line 12"/>
          <p:cNvSpPr>
            <a:spLocks noChangeShapeType="1"/>
          </p:cNvSpPr>
          <p:nvPr/>
        </p:nvSpPr>
        <p:spPr bwMode="auto">
          <a:xfrm>
            <a:off x="7079928" y="5561067"/>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6" name="Line 13"/>
          <p:cNvSpPr>
            <a:spLocks noChangeShapeType="1"/>
          </p:cNvSpPr>
          <p:nvPr/>
        </p:nvSpPr>
        <p:spPr bwMode="auto">
          <a:xfrm>
            <a:off x="7079928" y="5823004"/>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 name="Text Box 14"/>
          <p:cNvSpPr txBox="1">
            <a:spLocks noChangeArrowheads="1"/>
          </p:cNvSpPr>
          <p:nvPr/>
        </p:nvSpPr>
        <p:spPr bwMode="auto">
          <a:xfrm>
            <a:off x="7216453" y="3283004"/>
            <a:ext cx="458787" cy="1512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5000"/>
              </a:lnSpc>
              <a:spcBef>
                <a:spcPct val="50000"/>
              </a:spcBef>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05</a:t>
            </a:r>
          </a:p>
          <a:p>
            <a:pPr>
              <a:lnSpc>
                <a:spcPct val="55000"/>
              </a:lnSpc>
              <a:spcBef>
                <a:spcPct val="50000"/>
              </a:spcBef>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A2</a:t>
            </a:r>
          </a:p>
          <a:p>
            <a:pPr>
              <a:lnSpc>
                <a:spcPct val="55000"/>
              </a:lnSpc>
              <a:spcBef>
                <a:spcPct val="50000"/>
              </a:spcBef>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00</a:t>
            </a:r>
          </a:p>
          <a:p>
            <a:pPr>
              <a:lnSpc>
                <a:spcPct val="55000"/>
              </a:lnSpc>
              <a:spcBef>
                <a:spcPct val="50000"/>
              </a:spcBef>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10</a:t>
            </a:r>
          </a:p>
          <a:p>
            <a:pPr>
              <a:lnSpc>
                <a:spcPct val="55000"/>
              </a:lnSpc>
              <a:spcBef>
                <a:spcPct val="50000"/>
              </a:spcBef>
              <a:buFont typeface="Arial" panose="020B0604020202020204" pitchFamily="34" charset="0"/>
              <a:buNone/>
            </a:pPr>
            <a:r>
              <a:rPr lang="en-US" altLang="zh-CN" sz="1600" b="1">
                <a:solidFill>
                  <a:srgbClr val="000000"/>
                </a:solidFill>
                <a:latin typeface="Times New Roman" panose="02020603050405020304" pitchFamily="18" charset="0"/>
                <a:ea typeface="宋体" panose="02010600030101010101" pitchFamily="2" charset="-122"/>
              </a:rPr>
              <a:t>85</a:t>
            </a:r>
          </a:p>
          <a:p>
            <a:pPr>
              <a:lnSpc>
                <a:spcPct val="55000"/>
              </a:lnSpc>
              <a:spcBef>
                <a:spcPct val="50000"/>
              </a:spcBef>
              <a:buFont typeface="Arial" panose="020B0604020202020204" pitchFamily="34" charset="0"/>
              <a:buNone/>
            </a:pPr>
            <a:endParaRPr lang="zh-CN" altLang="en-US" sz="1600" b="1">
              <a:solidFill>
                <a:srgbClr val="000000"/>
              </a:solidFill>
              <a:latin typeface="Times New Roman" panose="02020603050405020304" pitchFamily="18" charset="0"/>
              <a:ea typeface="宋体" panose="02010600030101010101" pitchFamily="2" charset="-122"/>
            </a:endParaRPr>
          </a:p>
        </p:txBody>
      </p:sp>
      <p:sp>
        <p:nvSpPr>
          <p:cNvPr id="18" name="Line 15"/>
          <p:cNvSpPr>
            <a:spLocks noChangeShapeType="1"/>
          </p:cNvSpPr>
          <p:nvPr/>
        </p:nvSpPr>
        <p:spPr bwMode="auto">
          <a:xfrm>
            <a:off x="7076753" y="998592"/>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9" name="Line 16"/>
          <p:cNvSpPr>
            <a:spLocks noChangeShapeType="1"/>
          </p:cNvSpPr>
          <p:nvPr/>
        </p:nvSpPr>
        <p:spPr bwMode="auto">
          <a:xfrm>
            <a:off x="7076753" y="1260529"/>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0" name="Line 17"/>
          <p:cNvSpPr>
            <a:spLocks noChangeShapeType="1"/>
          </p:cNvSpPr>
          <p:nvPr/>
        </p:nvSpPr>
        <p:spPr bwMode="auto">
          <a:xfrm>
            <a:off x="7076753" y="1522467"/>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1" name="Line 18"/>
          <p:cNvSpPr>
            <a:spLocks noChangeShapeType="1"/>
          </p:cNvSpPr>
          <p:nvPr/>
        </p:nvSpPr>
        <p:spPr bwMode="auto">
          <a:xfrm>
            <a:off x="7076753" y="1784404"/>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2" name="Line 19"/>
          <p:cNvSpPr>
            <a:spLocks noChangeShapeType="1"/>
          </p:cNvSpPr>
          <p:nvPr/>
        </p:nvSpPr>
        <p:spPr bwMode="auto">
          <a:xfrm>
            <a:off x="7076753" y="2046342"/>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3" name="Line 20"/>
          <p:cNvSpPr>
            <a:spLocks noChangeShapeType="1"/>
          </p:cNvSpPr>
          <p:nvPr/>
        </p:nvSpPr>
        <p:spPr bwMode="auto">
          <a:xfrm>
            <a:off x="7076753" y="2309867"/>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4" name="Line 21"/>
          <p:cNvSpPr>
            <a:spLocks noChangeShapeType="1"/>
          </p:cNvSpPr>
          <p:nvPr/>
        </p:nvSpPr>
        <p:spPr bwMode="auto">
          <a:xfrm>
            <a:off x="7076753" y="2571804"/>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5" name="AutoShape 22"/>
          <p:cNvSpPr/>
          <p:nvPr/>
        </p:nvSpPr>
        <p:spPr bwMode="auto">
          <a:xfrm>
            <a:off x="7776840" y="3202042"/>
            <a:ext cx="152400" cy="3573462"/>
          </a:xfrm>
          <a:prstGeom prst="rightBrace">
            <a:avLst>
              <a:gd name="adj1" fmla="val 195399"/>
              <a:gd name="adj2" fmla="val 50000"/>
            </a:avLst>
          </a:pr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6" name="Text Box 23"/>
          <p:cNvSpPr txBox="1">
            <a:spLocks noChangeArrowheads="1"/>
          </p:cNvSpPr>
          <p:nvPr/>
        </p:nvSpPr>
        <p:spPr bwMode="auto">
          <a:xfrm>
            <a:off x="8003853" y="4787954"/>
            <a:ext cx="2921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p>
            <a:pPr>
              <a:buFont typeface="Arial" panose="020B0604020202020204" pitchFamily="34" charset="0"/>
              <a:buNone/>
            </a:pPr>
            <a:r>
              <a:rPr lang="en-US" altLang="zh-CN" b="1">
                <a:solidFill>
                  <a:srgbClr val="008000"/>
                </a:solidFill>
                <a:latin typeface="Times New Roman" panose="02020603050405020304" pitchFamily="18" charset="0"/>
                <a:ea typeface="宋体" panose="02010600030101010101" pitchFamily="2" charset="-122"/>
              </a:rPr>
              <a:t>DS</a:t>
            </a:r>
          </a:p>
        </p:txBody>
      </p:sp>
      <p:sp>
        <p:nvSpPr>
          <p:cNvPr id="27" name="AutoShape 24"/>
          <p:cNvSpPr/>
          <p:nvPr/>
        </p:nvSpPr>
        <p:spPr bwMode="auto">
          <a:xfrm>
            <a:off x="7776840" y="954142"/>
            <a:ext cx="152400" cy="1905000"/>
          </a:xfrm>
          <a:prstGeom prst="rightBrace">
            <a:avLst>
              <a:gd name="adj1" fmla="val 104167"/>
              <a:gd name="adj2" fmla="val 50000"/>
            </a:avLst>
          </a:pr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28" name="Text Box 25"/>
          <p:cNvSpPr txBox="1">
            <a:spLocks noChangeArrowheads="1"/>
          </p:cNvSpPr>
          <p:nvPr/>
        </p:nvSpPr>
        <p:spPr bwMode="auto">
          <a:xfrm>
            <a:off x="8008615" y="1639942"/>
            <a:ext cx="2921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p>
            <a:pPr>
              <a:buFont typeface="Arial" panose="020B0604020202020204" pitchFamily="34" charset="0"/>
              <a:buNone/>
            </a:pPr>
            <a:r>
              <a:rPr lang="en-US" altLang="zh-CN" b="1">
                <a:solidFill>
                  <a:srgbClr val="008000"/>
                </a:solidFill>
                <a:latin typeface="Times New Roman" panose="02020603050405020304" pitchFamily="18" charset="0"/>
                <a:ea typeface="宋体" panose="02010600030101010101" pitchFamily="2" charset="-122"/>
              </a:rPr>
              <a:t>CS</a:t>
            </a:r>
          </a:p>
        </p:txBody>
      </p:sp>
      <p:sp>
        <p:nvSpPr>
          <p:cNvPr id="32" name="Line 29"/>
          <p:cNvSpPr>
            <a:spLocks noChangeShapeType="1"/>
          </p:cNvSpPr>
          <p:nvPr/>
        </p:nvSpPr>
        <p:spPr bwMode="auto">
          <a:xfrm>
            <a:off x="7076753" y="6089704"/>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3" name="Line 30"/>
          <p:cNvSpPr>
            <a:spLocks noChangeShapeType="1"/>
          </p:cNvSpPr>
          <p:nvPr/>
        </p:nvSpPr>
        <p:spPr bwMode="auto">
          <a:xfrm>
            <a:off x="7076753" y="6351642"/>
            <a:ext cx="623887"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4" name="Line 31"/>
          <p:cNvSpPr>
            <a:spLocks noChangeShapeType="1"/>
          </p:cNvSpPr>
          <p:nvPr/>
        </p:nvSpPr>
        <p:spPr bwMode="auto">
          <a:xfrm>
            <a:off x="7075165" y="6618342"/>
            <a:ext cx="623888"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 typeface="Arial" panose="020B0604020202020204" pitchFamily="34" charset="0"/>
              <a:buNone/>
              <a:defRPr/>
            </a:pPr>
            <a:endParaRPr kumimoji="0"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37" name="Text Box 34"/>
          <p:cNvSpPr txBox="1">
            <a:spLocks noChangeArrowheads="1"/>
          </p:cNvSpPr>
          <p:nvPr/>
        </p:nvSpPr>
        <p:spPr bwMode="auto">
          <a:xfrm>
            <a:off x="6262365" y="3192517"/>
            <a:ext cx="7794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 typeface="Arial" panose="020B0604020202020204" pitchFamily="34" charset="0"/>
              <a:buNone/>
            </a:pPr>
            <a:r>
              <a:rPr lang="en-US" altLang="zh-CN" sz="1400" b="1">
                <a:solidFill>
                  <a:srgbClr val="A50021"/>
                </a:solidFill>
                <a:latin typeface="Times New Roman" panose="02020603050405020304" pitchFamily="18" charset="0"/>
                <a:ea typeface="宋体" panose="02010600030101010101" pitchFamily="2" charset="-122"/>
              </a:rPr>
              <a:t>DATA1</a:t>
            </a:r>
          </a:p>
        </p:txBody>
      </p:sp>
      <p:sp>
        <p:nvSpPr>
          <p:cNvPr id="38" name="Text Box 35"/>
          <p:cNvSpPr txBox="1">
            <a:spLocks noChangeArrowheads="1"/>
          </p:cNvSpPr>
          <p:nvPr/>
        </p:nvSpPr>
        <p:spPr bwMode="auto">
          <a:xfrm>
            <a:off x="7822878" y="3182992"/>
            <a:ext cx="8620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rIns="0">
            <a:spAutoFit/>
          </a:bodyPr>
          <a:lstStyle/>
          <a:p>
            <a:pPr>
              <a:buFont typeface="Arial" panose="020B0604020202020204" pitchFamily="34" charset="0"/>
              <a:buNone/>
            </a:pPr>
            <a:r>
              <a:rPr lang="en-US" altLang="zh-CN" sz="1400" b="1">
                <a:solidFill>
                  <a:srgbClr val="A50021"/>
                </a:solidFill>
                <a:latin typeface="Times New Roman" panose="02020603050405020304" pitchFamily="18" charset="0"/>
                <a:ea typeface="宋体" panose="02010600030101010101" pitchFamily="2" charset="-122"/>
              </a:rPr>
              <a:t>2000:1500</a:t>
            </a:r>
          </a:p>
        </p:txBody>
      </p:sp>
      <p:sp>
        <p:nvSpPr>
          <p:cNvPr id="71" name="Line 26"/>
          <p:cNvSpPr>
            <a:spLocks noChangeShapeType="1"/>
          </p:cNvSpPr>
          <p:nvPr>
            <p:custDataLst>
              <p:tags r:id="rId1"/>
            </p:custDataLst>
          </p:nvPr>
        </p:nvSpPr>
        <p:spPr bwMode="auto">
          <a:xfrm>
            <a:off x="7319640" y="5411842"/>
            <a:ext cx="15240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anose="020B0604020202020204" pitchFamily="34" charset="0"/>
              <a:buNone/>
            </a:pPr>
            <a:endParaRPr lang="zh-CN" altLang="en-US" sz="2000" b="1">
              <a:solidFill>
                <a:srgbClr val="3333CC"/>
              </a:solidFill>
              <a:latin typeface="Times New Roman" panose="02020603050405020304" pitchFamily="18" charset="0"/>
              <a:ea typeface="宋体" panose="02010600030101010101" pitchFamily="2" charset="-122"/>
            </a:endParaRPr>
          </a:p>
        </p:txBody>
      </p:sp>
      <p:sp>
        <p:nvSpPr>
          <p:cNvPr id="72" name="Line 27"/>
          <p:cNvSpPr>
            <a:spLocks noChangeShapeType="1"/>
          </p:cNvSpPr>
          <p:nvPr>
            <p:custDataLst>
              <p:tags r:id="rId2"/>
            </p:custDataLst>
          </p:nvPr>
        </p:nvSpPr>
        <p:spPr bwMode="auto">
          <a:xfrm>
            <a:off x="7319640" y="5716642"/>
            <a:ext cx="15240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anose="020B0604020202020204" pitchFamily="34" charset="0"/>
              <a:buNone/>
            </a:pPr>
            <a:endParaRPr lang="zh-CN" altLang="en-US" sz="2000" b="1">
              <a:solidFill>
                <a:srgbClr val="3333CC"/>
              </a:solidFill>
              <a:latin typeface="Times New Roman" panose="02020603050405020304" pitchFamily="18" charset="0"/>
              <a:ea typeface="宋体" panose="02010600030101010101" pitchFamily="2" charset="-122"/>
            </a:endParaRPr>
          </a:p>
        </p:txBody>
      </p:sp>
      <p:sp>
        <p:nvSpPr>
          <p:cNvPr id="73" name="Line 28"/>
          <p:cNvSpPr>
            <a:spLocks noChangeShapeType="1"/>
          </p:cNvSpPr>
          <p:nvPr>
            <p:custDataLst>
              <p:tags r:id="rId3"/>
            </p:custDataLst>
          </p:nvPr>
        </p:nvSpPr>
        <p:spPr bwMode="auto">
          <a:xfrm>
            <a:off x="7319640" y="5945242"/>
            <a:ext cx="15240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anose="020B0604020202020204" pitchFamily="34" charset="0"/>
              <a:buNone/>
            </a:pPr>
            <a:endParaRPr lang="zh-CN" altLang="en-US" sz="2000" b="1">
              <a:solidFill>
                <a:srgbClr val="3333CC"/>
              </a:solidFill>
              <a:latin typeface="Times New Roman" panose="02020603050405020304" pitchFamily="18" charset="0"/>
              <a:ea typeface="宋体" panose="02010600030101010101" pitchFamily="2" charset="-122"/>
            </a:endParaRPr>
          </a:p>
        </p:txBody>
      </p:sp>
      <p:sp>
        <p:nvSpPr>
          <p:cNvPr id="74" name="Line 32"/>
          <p:cNvSpPr>
            <a:spLocks noChangeShapeType="1"/>
          </p:cNvSpPr>
          <p:nvPr>
            <p:custDataLst>
              <p:tags r:id="rId4"/>
            </p:custDataLst>
          </p:nvPr>
        </p:nvSpPr>
        <p:spPr bwMode="auto">
          <a:xfrm>
            <a:off x="7314878" y="6211942"/>
            <a:ext cx="15240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anose="020B0604020202020204" pitchFamily="34" charset="0"/>
              <a:buNone/>
            </a:pPr>
            <a:endParaRPr lang="zh-CN" altLang="en-US" sz="2000" b="1">
              <a:solidFill>
                <a:srgbClr val="3333CC"/>
              </a:solidFill>
              <a:latin typeface="Times New Roman" panose="02020603050405020304" pitchFamily="18" charset="0"/>
              <a:ea typeface="宋体" panose="02010600030101010101" pitchFamily="2" charset="-122"/>
            </a:endParaRPr>
          </a:p>
        </p:txBody>
      </p:sp>
      <p:sp>
        <p:nvSpPr>
          <p:cNvPr id="75" name="Line 33"/>
          <p:cNvSpPr>
            <a:spLocks noChangeShapeType="1"/>
          </p:cNvSpPr>
          <p:nvPr>
            <p:custDataLst>
              <p:tags r:id="rId5"/>
            </p:custDataLst>
          </p:nvPr>
        </p:nvSpPr>
        <p:spPr bwMode="auto">
          <a:xfrm>
            <a:off x="7338690" y="6478642"/>
            <a:ext cx="152400" cy="0"/>
          </a:xfrm>
          <a:prstGeom prst="line">
            <a:avLst/>
          </a:prstGeom>
          <a:noFill/>
          <a:ln w="19050">
            <a:solidFill>
              <a:srgbClr val="FF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buFont typeface="Arial" panose="020B0604020202020204" pitchFamily="34" charset="0"/>
              <a:buNone/>
            </a:pPr>
            <a:endParaRPr lang="zh-CN" altLang="en-US" sz="2000" b="1">
              <a:solidFill>
                <a:srgbClr val="3333CC"/>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up)">
                                      <p:cBhvr>
                                        <p:cTn id="13" dur="500"/>
                                        <p:tgtEl>
                                          <p:spTgt spid="8"/>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up)">
                                      <p:cBhvr>
                                        <p:cTn id="19" dur="500"/>
                                        <p:tgtEl>
                                          <p:spTgt spid="10"/>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up)">
                                      <p:cBhvr>
                                        <p:cTn id="22" dur="500"/>
                                        <p:tgtEl>
                                          <p:spTgt spid="11"/>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500"/>
                                        <p:tgtEl>
                                          <p:spTgt spid="12"/>
                                        </p:tgtEl>
                                      </p:cBhvr>
                                    </p:animEffect>
                                  </p:childTnLst>
                                </p:cTn>
                              </p:par>
                              <p:par>
                                <p:cTn id="26" presetID="22" presetClass="entr" presetSubtype="1"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up)">
                                      <p:cBhvr>
                                        <p:cTn id="34" dur="500"/>
                                        <p:tgtEl>
                                          <p:spTgt spid="15"/>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up)">
                                      <p:cBhvr>
                                        <p:cTn id="37" dur="500"/>
                                        <p:tgtEl>
                                          <p:spTgt spid="16"/>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up)">
                                      <p:cBhvr>
                                        <p:cTn id="40" dur="500"/>
                                        <p:tgtEl>
                                          <p:spTgt spid="17"/>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up)">
                                      <p:cBhvr>
                                        <p:cTn id="43" dur="500"/>
                                        <p:tgtEl>
                                          <p:spTgt spid="18"/>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up)">
                                      <p:cBhvr>
                                        <p:cTn id="46" dur="500"/>
                                        <p:tgtEl>
                                          <p:spTgt spid="19"/>
                                        </p:tgtEl>
                                      </p:cBhvr>
                                    </p:animEffect>
                                  </p:childTnLst>
                                </p:cTn>
                              </p:par>
                              <p:par>
                                <p:cTn id="47" presetID="22" presetClass="entr" presetSubtype="1"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up)">
                                      <p:cBhvr>
                                        <p:cTn id="49" dur="500"/>
                                        <p:tgtEl>
                                          <p:spTgt spid="20"/>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up)">
                                      <p:cBhvr>
                                        <p:cTn id="52" dur="500"/>
                                        <p:tgtEl>
                                          <p:spTgt spid="21"/>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up)">
                                      <p:cBhvr>
                                        <p:cTn id="55" dur="500"/>
                                        <p:tgtEl>
                                          <p:spTgt spid="22"/>
                                        </p:tgtEl>
                                      </p:cBhvr>
                                    </p:animEffect>
                                  </p:childTnLst>
                                </p:cTn>
                              </p:par>
                              <p:par>
                                <p:cTn id="56" presetID="22" presetClass="entr" presetSubtype="1"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up)">
                                      <p:cBhvr>
                                        <p:cTn id="58" dur="500"/>
                                        <p:tgtEl>
                                          <p:spTgt spid="23"/>
                                        </p:tgtEl>
                                      </p:cBhvr>
                                    </p:animEffect>
                                  </p:childTnLst>
                                </p:cTn>
                              </p:par>
                              <p:par>
                                <p:cTn id="59" presetID="22" presetClass="entr" presetSubtype="1"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up)">
                                      <p:cBhvr>
                                        <p:cTn id="61" dur="500"/>
                                        <p:tgtEl>
                                          <p:spTgt spid="24"/>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left)">
                                      <p:cBhvr>
                                        <p:cTn id="64" dur="500"/>
                                        <p:tgtEl>
                                          <p:spTgt spid="25"/>
                                        </p:tgtEl>
                                      </p:cBhvr>
                                    </p:animEffect>
                                  </p:childTnLst>
                                </p:cTn>
                              </p:par>
                              <p:par>
                                <p:cTn id="65" presetID="22" presetClass="entr" presetSubtype="1"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wipe(up)">
                                      <p:cBhvr>
                                        <p:cTn id="67" dur="500"/>
                                        <p:tgtEl>
                                          <p:spTgt spid="32"/>
                                        </p:tgtEl>
                                      </p:cBhvr>
                                    </p:animEffect>
                                  </p:childTnLst>
                                </p:cTn>
                              </p:par>
                              <p:par>
                                <p:cTn id="68" presetID="22" presetClass="entr" presetSubtype="1"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wipe(up)">
                                      <p:cBhvr>
                                        <p:cTn id="70" dur="500"/>
                                        <p:tgtEl>
                                          <p:spTgt spid="33"/>
                                        </p:tgtEl>
                                      </p:cBhvr>
                                    </p:animEffect>
                                  </p:childTnLst>
                                </p:cTn>
                              </p:par>
                              <p:par>
                                <p:cTn id="71" presetID="22" presetClass="entr" presetSubtype="1" fill="hold" grpId="0"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wipe(up)">
                                      <p:cBhvr>
                                        <p:cTn id="73" dur="500"/>
                                        <p:tgtEl>
                                          <p:spTgt spid="34"/>
                                        </p:tgtEl>
                                      </p:cBhvr>
                                    </p:animEffect>
                                  </p:childTnLst>
                                </p:cTn>
                              </p:par>
                              <p:par>
                                <p:cTn id="74" presetID="22" presetClass="entr" presetSubtype="1"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wipe(up)">
                                      <p:cBhvr>
                                        <p:cTn id="76" dur="500"/>
                                        <p:tgtEl>
                                          <p:spTgt spid="37"/>
                                        </p:tgtEl>
                                      </p:cBhvr>
                                    </p:animEffect>
                                  </p:childTnLst>
                                </p:cTn>
                              </p:par>
                              <p:par>
                                <p:cTn id="77" presetID="22" presetClass="entr" presetSubtype="1" fill="hold" grpId="0" nodeType="withEffect">
                                  <p:stCondLst>
                                    <p:cond delay="0"/>
                                  </p:stCondLst>
                                  <p:childTnLst>
                                    <p:set>
                                      <p:cBhvr>
                                        <p:cTn id="78" dur="1" fill="hold">
                                          <p:stCondLst>
                                            <p:cond delay="0"/>
                                          </p:stCondLst>
                                        </p:cTn>
                                        <p:tgtEl>
                                          <p:spTgt spid="38"/>
                                        </p:tgtEl>
                                        <p:attrNameLst>
                                          <p:attrName>style.visibility</p:attrName>
                                        </p:attrNameLst>
                                      </p:cBhvr>
                                      <p:to>
                                        <p:strVal val="visible"/>
                                      </p:to>
                                    </p:set>
                                    <p:animEffect transition="in" filter="wipe(up)">
                                      <p:cBhvr>
                                        <p:cTn id="79" dur="500"/>
                                        <p:tgtEl>
                                          <p:spTgt spid="38"/>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wipe(left)">
                                      <p:cBhvr>
                                        <p:cTn id="84" dur="500"/>
                                        <p:tgtEl>
                                          <p:spTgt spid="27"/>
                                        </p:tgtEl>
                                      </p:cBhvr>
                                    </p:animEffect>
                                  </p:childTnLst>
                                </p:cTn>
                              </p:par>
                              <p:par>
                                <p:cTn id="85" presetID="22" presetClass="entr" presetSubtype="8" fill="hold" grpId="0"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left)">
                                      <p:cBhvr>
                                        <p:cTn id="87" dur="500"/>
                                        <p:tgtEl>
                                          <p:spTgt spid="28"/>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5">
                                            <p:txEl>
                                              <p:pRg st="0" end="0"/>
                                            </p:txEl>
                                          </p:spTgt>
                                        </p:tgtEl>
                                        <p:attrNameLst>
                                          <p:attrName>style.visibility</p:attrName>
                                        </p:attrNameLst>
                                      </p:cBhvr>
                                      <p:to>
                                        <p:strVal val="visible"/>
                                      </p:to>
                                    </p:set>
                                    <p:animEffect transition="in" filter="fade">
                                      <p:cBhvr>
                                        <p:cTn id="92" dur="500"/>
                                        <p:tgtEl>
                                          <p:spTgt spid="5">
                                            <p:txEl>
                                              <p:pRg st="0" end="0"/>
                                            </p:txEl>
                                          </p:spTgt>
                                        </p:tgtEl>
                                      </p:cBhvr>
                                    </p:animEffect>
                                  </p:childTnLst>
                                </p:cTn>
                              </p:par>
                              <p:par>
                                <p:cTn id="93" presetID="10" presetClass="entr" presetSubtype="0" fill="hold" nodeType="withEffect">
                                  <p:stCondLst>
                                    <p:cond delay="0"/>
                                  </p:stCondLst>
                                  <p:childTnLst>
                                    <p:set>
                                      <p:cBhvr>
                                        <p:cTn id="94" dur="1" fill="hold">
                                          <p:stCondLst>
                                            <p:cond delay="0"/>
                                          </p:stCondLst>
                                        </p:cTn>
                                        <p:tgtEl>
                                          <p:spTgt spid="5">
                                            <p:txEl>
                                              <p:pRg st="1" end="1"/>
                                            </p:txEl>
                                          </p:spTgt>
                                        </p:tgtEl>
                                        <p:attrNameLst>
                                          <p:attrName>style.visibility</p:attrName>
                                        </p:attrNameLst>
                                      </p:cBhvr>
                                      <p:to>
                                        <p:strVal val="visible"/>
                                      </p:to>
                                    </p:set>
                                    <p:animEffect transition="in" filter="fade">
                                      <p:cBhvr>
                                        <p:cTn id="95" dur="500"/>
                                        <p:tgtEl>
                                          <p:spTgt spid="5">
                                            <p:txEl>
                                              <p:pRg st="1" end="1"/>
                                            </p:txEl>
                                          </p:spTgt>
                                        </p:tgtEl>
                                      </p:cBhvr>
                                    </p:animEffect>
                                  </p:childTnLst>
                                </p:cTn>
                              </p:par>
                              <p:par>
                                <p:cTn id="96" presetID="10" presetClass="entr" presetSubtype="0" fill="hold" nodeType="withEffect">
                                  <p:stCondLst>
                                    <p:cond delay="0"/>
                                  </p:stCondLst>
                                  <p:childTnLst>
                                    <p:set>
                                      <p:cBhvr>
                                        <p:cTn id="97" dur="1" fill="hold">
                                          <p:stCondLst>
                                            <p:cond delay="0"/>
                                          </p:stCondLst>
                                        </p:cTn>
                                        <p:tgtEl>
                                          <p:spTgt spid="5">
                                            <p:txEl>
                                              <p:pRg st="2" end="2"/>
                                            </p:txEl>
                                          </p:spTgt>
                                        </p:tgtEl>
                                        <p:attrNameLst>
                                          <p:attrName>style.visibility</p:attrName>
                                        </p:attrNameLst>
                                      </p:cBhvr>
                                      <p:to>
                                        <p:strVal val="visible"/>
                                      </p:to>
                                    </p:set>
                                    <p:animEffect transition="in" filter="fade">
                                      <p:cBhvr>
                                        <p:cTn id="98" dur="500"/>
                                        <p:tgtEl>
                                          <p:spTgt spid="5">
                                            <p:txEl>
                                              <p:pRg st="2" end="2"/>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5">
                                            <p:txEl>
                                              <p:pRg st="3" end="3"/>
                                            </p:txEl>
                                          </p:spTgt>
                                        </p:tgtEl>
                                        <p:attrNameLst>
                                          <p:attrName>style.visibility</p:attrName>
                                        </p:attrNameLst>
                                      </p:cBhvr>
                                      <p:to>
                                        <p:strVal val="visible"/>
                                      </p:to>
                                    </p:set>
                                    <p:animEffect transition="in" filter="fade">
                                      <p:cBhvr>
                                        <p:cTn id="103" dur="500"/>
                                        <p:tgtEl>
                                          <p:spTgt spid="5">
                                            <p:txEl>
                                              <p:pRg st="3" end="3"/>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5">
                                            <p:txEl>
                                              <p:pRg st="4" end="4"/>
                                            </p:txEl>
                                          </p:spTgt>
                                        </p:tgtEl>
                                        <p:attrNameLst>
                                          <p:attrName>style.visibility</p:attrName>
                                        </p:attrNameLst>
                                      </p:cBhvr>
                                      <p:to>
                                        <p:strVal val="visible"/>
                                      </p:to>
                                    </p:set>
                                    <p:animEffect transition="in" filter="fade">
                                      <p:cBhvr>
                                        <p:cTn id="106" dur="500"/>
                                        <p:tgtEl>
                                          <p:spTgt spid="5">
                                            <p:txEl>
                                              <p:pRg st="4" end="4"/>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5">
                                            <p:txEl>
                                              <p:pRg st="5" end="5"/>
                                            </p:txEl>
                                          </p:spTgt>
                                        </p:tgtEl>
                                        <p:attrNameLst>
                                          <p:attrName>style.visibility</p:attrName>
                                        </p:attrNameLst>
                                      </p:cBhvr>
                                      <p:to>
                                        <p:strVal val="visible"/>
                                      </p:to>
                                    </p:set>
                                    <p:animEffect transition="in" filter="fade">
                                      <p:cBhvr>
                                        <p:cTn id="111" dur="500"/>
                                        <p:tgtEl>
                                          <p:spTgt spid="5">
                                            <p:txEl>
                                              <p:pRg st="5" end="5"/>
                                            </p:txEl>
                                          </p:spTgt>
                                        </p:tgtEl>
                                      </p:cBhvr>
                                    </p:animEffect>
                                  </p:childTnLst>
                                </p:cTn>
                              </p:par>
                              <p:par>
                                <p:cTn id="112" presetID="10" presetClass="entr" presetSubtype="0" fill="hold" nodeType="withEffect">
                                  <p:stCondLst>
                                    <p:cond delay="0"/>
                                  </p:stCondLst>
                                  <p:childTnLst>
                                    <p:set>
                                      <p:cBhvr>
                                        <p:cTn id="113" dur="1" fill="hold">
                                          <p:stCondLst>
                                            <p:cond delay="0"/>
                                          </p:stCondLst>
                                        </p:cTn>
                                        <p:tgtEl>
                                          <p:spTgt spid="5">
                                            <p:txEl>
                                              <p:pRg st="6" end="6"/>
                                            </p:txEl>
                                          </p:spTgt>
                                        </p:tgtEl>
                                        <p:attrNameLst>
                                          <p:attrName>style.visibility</p:attrName>
                                        </p:attrNameLst>
                                      </p:cBhvr>
                                      <p:to>
                                        <p:strVal val="visible"/>
                                      </p:to>
                                    </p:set>
                                    <p:animEffect transition="in" filter="fade">
                                      <p:cBhvr>
                                        <p:cTn id="114" dur="500"/>
                                        <p:tgtEl>
                                          <p:spTgt spid="5">
                                            <p:txEl>
                                              <p:pRg st="6" end="6"/>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5">
                                            <p:txEl>
                                              <p:pRg st="7" end="7"/>
                                            </p:txEl>
                                          </p:spTgt>
                                        </p:tgtEl>
                                        <p:attrNameLst>
                                          <p:attrName>style.visibility</p:attrName>
                                        </p:attrNameLst>
                                      </p:cBhvr>
                                      <p:to>
                                        <p:strVal val="visible"/>
                                      </p:to>
                                    </p:set>
                                    <p:animEffect transition="in" filter="fade">
                                      <p:cBhvr>
                                        <p:cTn id="119" dur="500"/>
                                        <p:tgtEl>
                                          <p:spTgt spid="5">
                                            <p:txEl>
                                              <p:pRg st="7" end="7"/>
                                            </p:txEl>
                                          </p:spTgt>
                                        </p:tgtEl>
                                      </p:cBhvr>
                                    </p:animEffect>
                                  </p:childTnLst>
                                </p:cTn>
                              </p:par>
                              <p:par>
                                <p:cTn id="120" presetID="10" presetClass="entr" presetSubtype="0" fill="hold" nodeType="withEffect">
                                  <p:stCondLst>
                                    <p:cond delay="0"/>
                                  </p:stCondLst>
                                  <p:childTnLst>
                                    <p:set>
                                      <p:cBhvr>
                                        <p:cTn id="121" dur="1" fill="hold">
                                          <p:stCondLst>
                                            <p:cond delay="0"/>
                                          </p:stCondLst>
                                        </p:cTn>
                                        <p:tgtEl>
                                          <p:spTgt spid="5">
                                            <p:txEl>
                                              <p:pRg st="8" end="8"/>
                                            </p:txEl>
                                          </p:spTgt>
                                        </p:tgtEl>
                                        <p:attrNameLst>
                                          <p:attrName>style.visibility</p:attrName>
                                        </p:attrNameLst>
                                      </p:cBhvr>
                                      <p:to>
                                        <p:strVal val="visible"/>
                                      </p:to>
                                    </p:set>
                                    <p:animEffect transition="in" filter="fade">
                                      <p:cBhvr>
                                        <p:cTn id="122" dur="500"/>
                                        <p:tgtEl>
                                          <p:spTgt spid="5">
                                            <p:txEl>
                                              <p:pRg st="8" end="8"/>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5">
                                            <p:txEl>
                                              <p:pRg st="10" end="10"/>
                                            </p:txEl>
                                          </p:spTgt>
                                        </p:tgtEl>
                                        <p:attrNameLst>
                                          <p:attrName>style.visibility</p:attrName>
                                        </p:attrNameLst>
                                      </p:cBhvr>
                                      <p:to>
                                        <p:strVal val="visible"/>
                                      </p:to>
                                    </p:set>
                                    <p:animEffect transition="in" filter="fade">
                                      <p:cBhvr>
                                        <p:cTn id="127" dur="500"/>
                                        <p:tgtEl>
                                          <p:spTgt spid="5">
                                            <p:txEl>
                                              <p:pRg st="10" end="10"/>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5">
                                            <p:txEl>
                                              <p:pRg st="11" end="11"/>
                                            </p:txEl>
                                          </p:spTgt>
                                        </p:tgtEl>
                                        <p:attrNameLst>
                                          <p:attrName>style.visibility</p:attrName>
                                        </p:attrNameLst>
                                      </p:cBhvr>
                                      <p:to>
                                        <p:strVal val="visible"/>
                                      </p:to>
                                    </p:set>
                                    <p:animEffect transition="in" filter="fade">
                                      <p:cBhvr>
                                        <p:cTn id="130" dur="500"/>
                                        <p:tgtEl>
                                          <p:spTgt spid="5">
                                            <p:txEl>
                                              <p:pRg st="11" end="11"/>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5">
                                            <p:txEl>
                                              <p:pRg st="12" end="12"/>
                                            </p:txEl>
                                          </p:spTgt>
                                        </p:tgtEl>
                                        <p:attrNameLst>
                                          <p:attrName>style.visibility</p:attrName>
                                        </p:attrNameLst>
                                      </p:cBhvr>
                                      <p:to>
                                        <p:strVal val="visible"/>
                                      </p:to>
                                    </p:set>
                                    <p:animEffect transition="in" filter="fade">
                                      <p:cBhvr>
                                        <p:cTn id="133" dur="500"/>
                                        <p:tgtEl>
                                          <p:spTgt spid="5">
                                            <p:txEl>
                                              <p:pRg st="12" end="12"/>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nodeType="clickEffect">
                                  <p:stCondLst>
                                    <p:cond delay="0"/>
                                  </p:stCondLst>
                                  <p:childTnLst>
                                    <p:set>
                                      <p:cBhvr>
                                        <p:cTn id="137" dur="1" fill="hold">
                                          <p:stCondLst>
                                            <p:cond delay="0"/>
                                          </p:stCondLst>
                                        </p:cTn>
                                        <p:tgtEl>
                                          <p:spTgt spid="5">
                                            <p:txEl>
                                              <p:pRg st="13" end="13"/>
                                            </p:txEl>
                                          </p:spTgt>
                                        </p:tgtEl>
                                        <p:attrNameLst>
                                          <p:attrName>style.visibility</p:attrName>
                                        </p:attrNameLst>
                                      </p:cBhvr>
                                      <p:to>
                                        <p:strVal val="visible"/>
                                      </p:to>
                                    </p:set>
                                    <p:animEffect transition="in" filter="fade">
                                      <p:cBhvr>
                                        <p:cTn id="138" dur="500"/>
                                        <p:tgtEl>
                                          <p:spTgt spid="5">
                                            <p:txEl>
                                              <p:pRg st="13" end="13"/>
                                            </p:txEl>
                                          </p:spTgt>
                                        </p:tgtEl>
                                      </p:cBhvr>
                                    </p:animEffect>
                                  </p:childTnLst>
                                </p:cTn>
                              </p:par>
                              <p:par>
                                <p:cTn id="139" presetID="10" presetClass="entr" presetSubtype="0" fill="hold" nodeType="withEffect">
                                  <p:stCondLst>
                                    <p:cond delay="0"/>
                                  </p:stCondLst>
                                  <p:childTnLst>
                                    <p:set>
                                      <p:cBhvr>
                                        <p:cTn id="140" dur="1" fill="hold">
                                          <p:stCondLst>
                                            <p:cond delay="0"/>
                                          </p:stCondLst>
                                        </p:cTn>
                                        <p:tgtEl>
                                          <p:spTgt spid="5">
                                            <p:txEl>
                                              <p:pRg st="14" end="14"/>
                                            </p:txEl>
                                          </p:spTgt>
                                        </p:tgtEl>
                                        <p:attrNameLst>
                                          <p:attrName>style.visibility</p:attrName>
                                        </p:attrNameLst>
                                      </p:cBhvr>
                                      <p:to>
                                        <p:strVal val="visible"/>
                                      </p:to>
                                    </p:set>
                                    <p:animEffect transition="in" filter="fade">
                                      <p:cBhvr>
                                        <p:cTn id="141" dur="500"/>
                                        <p:tgtEl>
                                          <p:spTgt spid="5">
                                            <p:txEl>
                                              <p:pRg st="14" end="14"/>
                                            </p:txEl>
                                          </p:spTgt>
                                        </p:tgtEl>
                                      </p:cBhvr>
                                    </p:animEffect>
                                  </p:childTnLst>
                                </p:cTn>
                              </p:par>
                              <p:par>
                                <p:cTn id="142" presetID="10" presetClass="entr" presetSubtype="0" fill="hold" nodeType="withEffect">
                                  <p:stCondLst>
                                    <p:cond delay="0"/>
                                  </p:stCondLst>
                                  <p:childTnLst>
                                    <p:set>
                                      <p:cBhvr>
                                        <p:cTn id="143" dur="1" fill="hold">
                                          <p:stCondLst>
                                            <p:cond delay="0"/>
                                          </p:stCondLst>
                                        </p:cTn>
                                        <p:tgtEl>
                                          <p:spTgt spid="5">
                                            <p:txEl>
                                              <p:pRg st="15" end="15"/>
                                            </p:txEl>
                                          </p:spTgt>
                                        </p:tgtEl>
                                        <p:attrNameLst>
                                          <p:attrName>style.visibility</p:attrName>
                                        </p:attrNameLst>
                                      </p:cBhvr>
                                      <p:to>
                                        <p:strVal val="visible"/>
                                      </p:to>
                                    </p:set>
                                    <p:animEffect transition="in" filter="fade">
                                      <p:cBhvr>
                                        <p:cTn id="144" dur="500"/>
                                        <p:tgtEl>
                                          <p:spTgt spid="5">
                                            <p:txEl>
                                              <p:pRg st="15" end="15"/>
                                            </p:txEl>
                                          </p:spTgt>
                                        </p:tgtEl>
                                      </p:cBhvr>
                                    </p:animEffect>
                                  </p:childTnLst>
                                </p:cTn>
                              </p:par>
                              <p:par>
                                <p:cTn id="145" presetID="22" presetClass="entr" presetSubtype="1" fill="hold" grpId="0" nodeType="withEffect">
                                  <p:stCondLst>
                                    <p:cond delay="0"/>
                                  </p:stCondLst>
                                  <p:childTnLst>
                                    <p:set>
                                      <p:cBhvr>
                                        <p:cTn id="146" dur="1" fill="hold">
                                          <p:stCondLst>
                                            <p:cond delay="0"/>
                                          </p:stCondLst>
                                        </p:cTn>
                                        <p:tgtEl>
                                          <p:spTgt spid="71"/>
                                        </p:tgtEl>
                                        <p:attrNameLst>
                                          <p:attrName>style.visibility</p:attrName>
                                        </p:attrNameLst>
                                      </p:cBhvr>
                                      <p:to>
                                        <p:strVal val="visible"/>
                                      </p:to>
                                    </p:set>
                                    <p:animEffect transition="in" filter="wipe(up)">
                                      <p:cBhvr>
                                        <p:cTn id="147" dur="500"/>
                                        <p:tgtEl>
                                          <p:spTgt spid="71"/>
                                        </p:tgtEl>
                                      </p:cBhvr>
                                    </p:animEffect>
                                  </p:childTnLst>
                                </p:cTn>
                              </p:par>
                              <p:par>
                                <p:cTn id="148" presetID="22" presetClass="entr" presetSubtype="1" fill="hold" grpId="0" nodeType="withEffect">
                                  <p:stCondLst>
                                    <p:cond delay="0"/>
                                  </p:stCondLst>
                                  <p:childTnLst>
                                    <p:set>
                                      <p:cBhvr>
                                        <p:cTn id="149" dur="1" fill="hold">
                                          <p:stCondLst>
                                            <p:cond delay="0"/>
                                          </p:stCondLst>
                                        </p:cTn>
                                        <p:tgtEl>
                                          <p:spTgt spid="72"/>
                                        </p:tgtEl>
                                        <p:attrNameLst>
                                          <p:attrName>style.visibility</p:attrName>
                                        </p:attrNameLst>
                                      </p:cBhvr>
                                      <p:to>
                                        <p:strVal val="visible"/>
                                      </p:to>
                                    </p:set>
                                    <p:animEffect transition="in" filter="wipe(up)">
                                      <p:cBhvr>
                                        <p:cTn id="150" dur="500"/>
                                        <p:tgtEl>
                                          <p:spTgt spid="72"/>
                                        </p:tgtEl>
                                      </p:cBhvr>
                                    </p:animEffect>
                                  </p:childTnLst>
                                </p:cTn>
                              </p:par>
                              <p:par>
                                <p:cTn id="151" presetID="22" presetClass="entr" presetSubtype="1" fill="hold" grpId="0" nodeType="withEffect">
                                  <p:stCondLst>
                                    <p:cond delay="0"/>
                                  </p:stCondLst>
                                  <p:childTnLst>
                                    <p:set>
                                      <p:cBhvr>
                                        <p:cTn id="152" dur="1" fill="hold">
                                          <p:stCondLst>
                                            <p:cond delay="0"/>
                                          </p:stCondLst>
                                        </p:cTn>
                                        <p:tgtEl>
                                          <p:spTgt spid="73"/>
                                        </p:tgtEl>
                                        <p:attrNameLst>
                                          <p:attrName>style.visibility</p:attrName>
                                        </p:attrNameLst>
                                      </p:cBhvr>
                                      <p:to>
                                        <p:strVal val="visible"/>
                                      </p:to>
                                    </p:set>
                                    <p:animEffect transition="in" filter="wipe(up)">
                                      <p:cBhvr>
                                        <p:cTn id="153" dur="500"/>
                                        <p:tgtEl>
                                          <p:spTgt spid="73"/>
                                        </p:tgtEl>
                                      </p:cBhvr>
                                    </p:animEffect>
                                  </p:childTnLst>
                                </p:cTn>
                              </p:par>
                              <p:par>
                                <p:cTn id="154" presetID="22" presetClass="entr" presetSubtype="1" fill="hold" grpId="0" nodeType="withEffect">
                                  <p:stCondLst>
                                    <p:cond delay="0"/>
                                  </p:stCondLst>
                                  <p:childTnLst>
                                    <p:set>
                                      <p:cBhvr>
                                        <p:cTn id="155" dur="1" fill="hold">
                                          <p:stCondLst>
                                            <p:cond delay="0"/>
                                          </p:stCondLst>
                                        </p:cTn>
                                        <p:tgtEl>
                                          <p:spTgt spid="74"/>
                                        </p:tgtEl>
                                        <p:attrNameLst>
                                          <p:attrName>style.visibility</p:attrName>
                                        </p:attrNameLst>
                                      </p:cBhvr>
                                      <p:to>
                                        <p:strVal val="visible"/>
                                      </p:to>
                                    </p:set>
                                    <p:animEffect transition="in" filter="wipe(up)">
                                      <p:cBhvr>
                                        <p:cTn id="156" dur="500"/>
                                        <p:tgtEl>
                                          <p:spTgt spid="74"/>
                                        </p:tgtEl>
                                      </p:cBhvr>
                                    </p:animEffect>
                                  </p:childTnLst>
                                </p:cTn>
                              </p:par>
                              <p:par>
                                <p:cTn id="157" presetID="22" presetClass="entr" presetSubtype="1" fill="hold" grpId="0" nodeType="withEffect">
                                  <p:stCondLst>
                                    <p:cond delay="0"/>
                                  </p:stCondLst>
                                  <p:childTnLst>
                                    <p:set>
                                      <p:cBhvr>
                                        <p:cTn id="158" dur="1" fill="hold">
                                          <p:stCondLst>
                                            <p:cond delay="0"/>
                                          </p:stCondLst>
                                        </p:cTn>
                                        <p:tgtEl>
                                          <p:spTgt spid="75"/>
                                        </p:tgtEl>
                                        <p:attrNameLst>
                                          <p:attrName>style.visibility</p:attrName>
                                        </p:attrNameLst>
                                      </p:cBhvr>
                                      <p:to>
                                        <p:strVal val="visible"/>
                                      </p:to>
                                    </p:set>
                                    <p:animEffect transition="in" filter="wipe(up)">
                                      <p:cBhvr>
                                        <p:cTn id="159"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8" grpId="0" animBg="1"/>
      <p:bldP spid="19" grpId="0" animBg="1"/>
      <p:bldP spid="20" grpId="0" animBg="1"/>
      <p:bldP spid="21" grpId="0" animBg="1"/>
      <p:bldP spid="22" grpId="0" animBg="1"/>
      <p:bldP spid="23" grpId="0" animBg="1"/>
      <p:bldP spid="24" grpId="0" animBg="1"/>
      <p:bldP spid="25" grpId="0" animBg="1"/>
      <p:bldP spid="27" grpId="0" animBg="1"/>
      <p:bldP spid="28" grpId="0"/>
      <p:bldP spid="32" grpId="0" animBg="1"/>
      <p:bldP spid="33" grpId="0" animBg="1"/>
      <p:bldP spid="34" grpId="0" animBg="1"/>
      <p:bldP spid="37" grpId="0"/>
      <p:bldP spid="38" grpId="0"/>
      <p:bldP spid="71" grpId="0" bldLvl="0" animBg="1"/>
      <p:bldP spid="72" grpId="0" bldLvl="0" animBg="1"/>
      <p:bldP spid="73" grpId="0" bldLvl="0" animBg="1"/>
      <p:bldP spid="74" grpId="0" bldLvl="0" animBg="1"/>
      <p:bldP spid="75"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4.3</a:t>
            </a:r>
            <a:r>
              <a:rPr lang="zh-CN" altLang="en-US" dirty="0"/>
              <a:t>运算符与表达式</a:t>
            </a:r>
          </a:p>
          <a:p>
            <a:endParaRPr lang="zh-CN" altLang="en-US" dirty="0"/>
          </a:p>
        </p:txBody>
      </p:sp>
      <p:sp>
        <p:nvSpPr>
          <p:cNvPr id="5" name="Text Box 2"/>
          <p:cNvSpPr txBox="1">
            <a:spLocks noChangeArrowheads="1"/>
          </p:cNvSpPr>
          <p:nvPr/>
        </p:nvSpPr>
        <p:spPr bwMode="auto">
          <a:xfrm>
            <a:off x="448280" y="1475492"/>
            <a:ext cx="8724900" cy="2280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⑤   综合运算符</a:t>
            </a:r>
          </a:p>
          <a:p>
            <a:pPr algn="just">
              <a:lnSpc>
                <a:spcPct val="130000"/>
              </a:lnSpc>
              <a:spcBef>
                <a:spcPct val="500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综合运算符包括两个地址操作符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PTR</a:t>
            </a:r>
          </a:p>
          <a:p>
            <a:pPr algn="just">
              <a:lnSpc>
                <a:spcPct val="130000"/>
              </a:lnSpc>
              <a:spcBef>
                <a:spcPct val="500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PTR</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改变存储器地址操作数的</a:t>
            </a:r>
            <a:r>
              <a:rPr lang="zh-CN" altLang="en-US"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操作类型</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，但其段地址和偏移地址不变。          </a:t>
            </a:r>
          </a:p>
          <a:p>
            <a:pPr algn="just">
              <a:lnSpc>
                <a:spcPct val="130000"/>
              </a:lnSpc>
              <a:spcBef>
                <a:spcPct val="500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如：</a:t>
            </a:r>
          </a:p>
          <a:p>
            <a:pPr algn="just">
              <a:spcBef>
                <a:spcPct val="500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DATA1   DW   100  DUP(?)</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3"/>
          <p:cNvSpPr>
            <a:spLocks noChangeArrowheads="1"/>
          </p:cNvSpPr>
          <p:nvPr/>
        </p:nvSpPr>
        <p:spPr bwMode="auto">
          <a:xfrm>
            <a:off x="7184231" y="2832718"/>
            <a:ext cx="623887" cy="3617913"/>
          </a:xfrm>
          <a:prstGeom prst="rect">
            <a:avLst/>
          </a:prstGeom>
          <a:solidFill>
            <a:srgbClr val="FFFF99"/>
          </a:solidFill>
          <a:ln>
            <a:solidFill>
              <a:schemeClr val="tx2"/>
            </a:solidFill>
          </a:ln>
          <a:effectLst>
            <a:outerShdw dist="35921" dir="2700000" algn="ctr" rotWithShape="0">
              <a:schemeClr val="bg2"/>
            </a:outerShdw>
          </a:effectLst>
        </p:spPr>
        <p:txBody>
          <a:bodyPr wrap="none" anchor="ctr"/>
          <a:lstStyle/>
          <a:p>
            <a:pPr algn="ctr"/>
            <a:endParaRPr lang="zh-CN" altLang="en-US" sz="24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Line 4"/>
          <p:cNvSpPr>
            <a:spLocks noChangeShapeType="1"/>
          </p:cNvSpPr>
          <p:nvPr/>
        </p:nvSpPr>
        <p:spPr bwMode="auto">
          <a:xfrm>
            <a:off x="7188993" y="3380406"/>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Line 5"/>
          <p:cNvSpPr>
            <a:spLocks noChangeShapeType="1"/>
          </p:cNvSpPr>
          <p:nvPr/>
        </p:nvSpPr>
        <p:spPr bwMode="auto">
          <a:xfrm>
            <a:off x="7188993" y="3642343"/>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Line 6"/>
          <p:cNvSpPr>
            <a:spLocks noChangeShapeType="1"/>
          </p:cNvSpPr>
          <p:nvPr/>
        </p:nvSpPr>
        <p:spPr bwMode="auto">
          <a:xfrm>
            <a:off x="7192168" y="5477493"/>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Line 7"/>
          <p:cNvSpPr>
            <a:spLocks noChangeShapeType="1"/>
          </p:cNvSpPr>
          <p:nvPr/>
        </p:nvSpPr>
        <p:spPr bwMode="auto">
          <a:xfrm>
            <a:off x="7188993" y="3904281"/>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Line 8"/>
          <p:cNvSpPr>
            <a:spLocks noChangeShapeType="1"/>
          </p:cNvSpPr>
          <p:nvPr/>
        </p:nvSpPr>
        <p:spPr bwMode="auto">
          <a:xfrm>
            <a:off x="7188993" y="4166218"/>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Line 9"/>
          <p:cNvSpPr>
            <a:spLocks noChangeShapeType="1"/>
          </p:cNvSpPr>
          <p:nvPr/>
        </p:nvSpPr>
        <p:spPr bwMode="auto">
          <a:xfrm>
            <a:off x="7188993" y="4428156"/>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Line 10"/>
          <p:cNvSpPr>
            <a:spLocks noChangeShapeType="1"/>
          </p:cNvSpPr>
          <p:nvPr/>
        </p:nvSpPr>
        <p:spPr bwMode="auto">
          <a:xfrm>
            <a:off x="7188993" y="4691681"/>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Line 11"/>
          <p:cNvSpPr>
            <a:spLocks noChangeShapeType="1"/>
          </p:cNvSpPr>
          <p:nvPr/>
        </p:nvSpPr>
        <p:spPr bwMode="auto">
          <a:xfrm>
            <a:off x="7188993" y="4953618"/>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ine 12"/>
          <p:cNvSpPr>
            <a:spLocks noChangeShapeType="1"/>
          </p:cNvSpPr>
          <p:nvPr/>
        </p:nvSpPr>
        <p:spPr bwMode="auto">
          <a:xfrm>
            <a:off x="7192168" y="5739431"/>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Line 13"/>
          <p:cNvSpPr>
            <a:spLocks noChangeShapeType="1"/>
          </p:cNvSpPr>
          <p:nvPr/>
        </p:nvSpPr>
        <p:spPr bwMode="auto">
          <a:xfrm>
            <a:off x="7192168" y="6001368"/>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Text Box 14"/>
          <p:cNvSpPr txBox="1">
            <a:spLocks noChangeArrowheads="1"/>
          </p:cNvSpPr>
          <p:nvPr/>
        </p:nvSpPr>
        <p:spPr bwMode="auto">
          <a:xfrm>
            <a:off x="7287418" y="3445493"/>
            <a:ext cx="458788" cy="1535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55000"/>
              </a:lnSpc>
              <a:spcBef>
                <a:spcPct val="50000"/>
              </a:spcBef>
            </a:pPr>
            <a:r>
              <a:rPr lang="en-US" altLang="zh-CN" sz="1600"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05</a:t>
            </a:r>
          </a:p>
          <a:p>
            <a:pPr>
              <a:lnSpc>
                <a:spcPct val="55000"/>
              </a:lnSpc>
              <a:spcBef>
                <a:spcPct val="50000"/>
              </a:spcBef>
            </a:pPr>
            <a:r>
              <a:rPr lang="en-US" altLang="zh-CN" sz="1600"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A2</a:t>
            </a:r>
          </a:p>
          <a:p>
            <a:pPr>
              <a:lnSpc>
                <a:spcPct val="55000"/>
              </a:lnSpc>
              <a:spcBef>
                <a:spcPct val="50000"/>
              </a:spcBef>
            </a:pPr>
            <a:r>
              <a:rPr lang="en-US" altLang="zh-CN" sz="1600"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00</a:t>
            </a:r>
          </a:p>
          <a:p>
            <a:pPr>
              <a:lnSpc>
                <a:spcPct val="55000"/>
              </a:lnSpc>
              <a:spcBef>
                <a:spcPct val="50000"/>
              </a:spcBef>
            </a:pPr>
            <a:r>
              <a:rPr lang="en-US" altLang="zh-CN" sz="1600"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p>
          <a:p>
            <a:pPr>
              <a:lnSpc>
                <a:spcPct val="55000"/>
              </a:lnSpc>
              <a:spcBef>
                <a:spcPct val="50000"/>
              </a:spcBef>
            </a:pPr>
            <a:r>
              <a:rPr lang="en-US" altLang="zh-CN" sz="1600" b="1">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85</a:t>
            </a:r>
          </a:p>
          <a:p>
            <a:pPr>
              <a:lnSpc>
                <a:spcPct val="55000"/>
              </a:lnSpc>
              <a:spcBef>
                <a:spcPct val="50000"/>
              </a:spcBef>
            </a:pPr>
            <a:endParaRPr lang="zh-CN" altLang="en-US" sz="1600" b="1">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AutoShape 15"/>
          <p:cNvSpPr/>
          <p:nvPr/>
        </p:nvSpPr>
        <p:spPr bwMode="auto">
          <a:xfrm>
            <a:off x="7919243" y="3432793"/>
            <a:ext cx="122238" cy="3049588"/>
          </a:xfrm>
          <a:prstGeom prst="rightBrace">
            <a:avLst>
              <a:gd name="adj1" fmla="val 20790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Text Box 16"/>
          <p:cNvSpPr txBox="1">
            <a:spLocks noChangeArrowheads="1"/>
          </p:cNvSpPr>
          <p:nvPr/>
        </p:nvSpPr>
        <p:spPr bwMode="auto">
          <a:xfrm>
            <a:off x="8201818" y="4794868"/>
            <a:ext cx="2949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spAutoFit/>
          </a:bodyPr>
          <a:lstStyle/>
          <a:p>
            <a:r>
              <a:rPr lang="en-US" altLang="zh-CN" sz="1800" b="1">
                <a:solidFill>
                  <a:srgbClr val="008000"/>
                </a:solidFill>
                <a:latin typeface="Times New Roman" panose="02020603050405020304" pitchFamily="18" charset="0"/>
                <a:ea typeface="微软雅黑" panose="020B0503020204020204" pitchFamily="34" charset="-122"/>
                <a:cs typeface="Times New Roman" panose="02020603050405020304" pitchFamily="18" charset="0"/>
              </a:rPr>
              <a:t>DS</a:t>
            </a:r>
          </a:p>
        </p:txBody>
      </p:sp>
      <p:sp>
        <p:nvSpPr>
          <p:cNvPr id="20" name="Line 17"/>
          <p:cNvSpPr>
            <a:spLocks noChangeShapeType="1"/>
          </p:cNvSpPr>
          <p:nvPr/>
        </p:nvSpPr>
        <p:spPr bwMode="auto">
          <a:xfrm>
            <a:off x="7188993" y="6268068"/>
            <a:ext cx="62388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Text Box 18"/>
          <p:cNvSpPr txBox="1">
            <a:spLocks noChangeArrowheads="1"/>
          </p:cNvSpPr>
          <p:nvPr/>
        </p:nvSpPr>
        <p:spPr bwMode="auto">
          <a:xfrm>
            <a:off x="1757363" y="4417838"/>
            <a:ext cx="431641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MOV  AL, DATA1</a:t>
            </a:r>
          </a:p>
          <a:p>
            <a:pPr>
              <a:spcBef>
                <a:spcPct val="50000"/>
              </a:spcBef>
            </a:pP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ct val="500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MOV AL,  BYTE   PTR  DATA1    </a:t>
            </a:r>
          </a:p>
        </p:txBody>
      </p:sp>
      <p:sp>
        <p:nvSpPr>
          <p:cNvPr id="22" name="Rectangle 19"/>
          <p:cNvSpPr>
            <a:spLocks noChangeArrowheads="1"/>
          </p:cNvSpPr>
          <p:nvPr/>
        </p:nvSpPr>
        <p:spPr bwMode="auto">
          <a:xfrm>
            <a:off x="4500301" y="5067739"/>
            <a:ext cx="62085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72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nvGrpSpPr>
          <p:cNvPr id="2" name="组合 1"/>
          <p:cNvGrpSpPr/>
          <p:nvPr/>
        </p:nvGrpSpPr>
        <p:grpSpPr>
          <a:xfrm>
            <a:off x="4591050" y="4371975"/>
            <a:ext cx="588010" cy="294640"/>
            <a:chOff x="2508250" y="4363863"/>
            <a:chExt cx="1333500" cy="539750"/>
          </a:xfrm>
        </p:grpSpPr>
        <p:sp>
          <p:nvSpPr>
            <p:cNvPr id="23" name="Line 20"/>
            <p:cNvSpPr>
              <a:spLocks noChangeShapeType="1"/>
            </p:cNvSpPr>
            <p:nvPr/>
          </p:nvSpPr>
          <p:spPr bwMode="auto">
            <a:xfrm flipH="1">
              <a:off x="2508250" y="4363863"/>
              <a:ext cx="1304925" cy="509588"/>
            </a:xfrm>
            <a:prstGeom prst="line">
              <a:avLst/>
            </a:prstGeom>
            <a:noFill/>
            <a:ln w="952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Line 21"/>
            <p:cNvSpPr>
              <a:spLocks noChangeShapeType="1"/>
            </p:cNvSpPr>
            <p:nvPr/>
          </p:nvSpPr>
          <p:spPr bwMode="auto">
            <a:xfrm>
              <a:off x="2628900" y="4379738"/>
              <a:ext cx="1212850" cy="523875"/>
            </a:xfrm>
            <a:prstGeom prst="line">
              <a:avLst/>
            </a:prstGeom>
            <a:noFill/>
            <a:ln w="952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5" name="Text Box 22"/>
          <p:cNvSpPr txBox="1">
            <a:spLocks noChangeArrowheads="1"/>
          </p:cNvSpPr>
          <p:nvPr/>
        </p:nvSpPr>
        <p:spPr bwMode="auto">
          <a:xfrm>
            <a:off x="7901781" y="3377231"/>
            <a:ext cx="75751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up)">
                                      <p:cBhvr>
                                        <p:cTn id="35" dur="500"/>
                                        <p:tgtEl>
                                          <p:spTgt spid="9"/>
                                        </p:tgtEl>
                                      </p:cBhvr>
                                    </p:animEffect>
                                  </p:childTnLst>
                                </p:cTn>
                              </p:par>
                              <p:par>
                                <p:cTn id="36" presetID="22" presetClass="entr" presetSubtype="1" fill="hold" grpId="0" nodeType="with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up)">
                                      <p:cBhvr>
                                        <p:cTn id="38" dur="500"/>
                                        <p:tgtEl>
                                          <p:spTgt spid="10"/>
                                        </p:tgtEl>
                                      </p:cBhvr>
                                    </p:animEffect>
                                  </p:childTnLst>
                                </p:cTn>
                              </p:par>
                              <p:par>
                                <p:cTn id="39" presetID="22" presetClass="entr" presetSubtype="1"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up)">
                                      <p:cBhvr>
                                        <p:cTn id="41" dur="500"/>
                                        <p:tgtEl>
                                          <p:spTgt spid="11"/>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up)">
                                      <p:cBhvr>
                                        <p:cTn id="44" dur="500"/>
                                        <p:tgtEl>
                                          <p:spTgt spid="12"/>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up)">
                                      <p:cBhvr>
                                        <p:cTn id="47" dur="500"/>
                                        <p:tgtEl>
                                          <p:spTgt spid="13"/>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up)">
                                      <p:cBhvr>
                                        <p:cTn id="50" dur="500"/>
                                        <p:tgtEl>
                                          <p:spTgt spid="14"/>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up)">
                                      <p:cBhvr>
                                        <p:cTn id="53" dur="500"/>
                                        <p:tgtEl>
                                          <p:spTgt spid="15"/>
                                        </p:tgtEl>
                                      </p:cBhvr>
                                    </p:animEffect>
                                  </p:childTnLst>
                                </p:cTn>
                              </p:par>
                              <p:par>
                                <p:cTn id="54" presetID="22" presetClass="entr" presetSubtype="1"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wipe(up)">
                                      <p:cBhvr>
                                        <p:cTn id="56" dur="500"/>
                                        <p:tgtEl>
                                          <p:spTgt spid="16"/>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wipe(up)">
                                      <p:cBhvr>
                                        <p:cTn id="59" dur="500"/>
                                        <p:tgtEl>
                                          <p:spTgt spid="17"/>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wipe(up)">
                                      <p:cBhvr>
                                        <p:cTn id="62" dur="500"/>
                                        <p:tgtEl>
                                          <p:spTgt spid="20"/>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up)">
                                      <p:cBhvr>
                                        <p:cTn id="65" dur="500"/>
                                        <p:tgtEl>
                                          <p:spTgt spid="25"/>
                                        </p:tgtEl>
                                      </p:cBhvr>
                                    </p:animEffect>
                                  </p:childTnLst>
                                </p:cTn>
                              </p:par>
                            </p:childTnLst>
                          </p:cTn>
                        </p:par>
                        <p:par>
                          <p:cTn id="66" fill="hold">
                            <p:stCondLst>
                              <p:cond delay="500"/>
                            </p:stCondLst>
                            <p:childTnLst>
                              <p:par>
                                <p:cTn id="67" presetID="22" presetClass="entr" presetSubtype="8" fill="hold" grpId="0" nodeType="after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wipe(left)">
                                      <p:cBhvr>
                                        <p:cTn id="69" dur="500"/>
                                        <p:tgtEl>
                                          <p:spTgt spid="19"/>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left)">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1">
                                            <p:txEl>
                                              <p:pRg st="0" end="0"/>
                                            </p:txEl>
                                          </p:spTgt>
                                        </p:tgtEl>
                                        <p:attrNameLst>
                                          <p:attrName>style.visibility</p:attrName>
                                        </p:attrNameLst>
                                      </p:cBhvr>
                                      <p:to>
                                        <p:strVal val="visible"/>
                                      </p:to>
                                    </p:set>
                                    <p:animEffect transition="in" filter="fade">
                                      <p:cBhvr>
                                        <p:cTn id="77" dur="500"/>
                                        <p:tgtEl>
                                          <p:spTgt spid="21">
                                            <p:txEl>
                                              <p:pRg st="0" end="0"/>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21">
                                            <p:txEl>
                                              <p:pRg st="2" end="2"/>
                                            </p:txEl>
                                          </p:spTgt>
                                        </p:tgtEl>
                                        <p:attrNameLst>
                                          <p:attrName>style.visibility</p:attrName>
                                        </p:attrNameLst>
                                      </p:cBhvr>
                                      <p:to>
                                        <p:strVal val="visible"/>
                                      </p:to>
                                    </p:set>
                                    <p:animEffect transition="in" filter="fade">
                                      <p:cBhvr>
                                        <p:cTn id="80" dur="500"/>
                                        <p:tgtEl>
                                          <p:spTgt spid="21">
                                            <p:txEl>
                                              <p:pRg st="2" end="2"/>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4" presetClass="entr" presetSubtype="10" fill="hold" nodeType="clickEffect">
                                  <p:stCondLst>
                                    <p:cond delay="0"/>
                                  </p:stCondLst>
                                  <p:childTnLst>
                                    <p:set>
                                      <p:cBhvr>
                                        <p:cTn id="84" dur="1" fill="hold">
                                          <p:stCondLst>
                                            <p:cond delay="0"/>
                                          </p:stCondLst>
                                        </p:cTn>
                                        <p:tgtEl>
                                          <p:spTgt spid="2"/>
                                        </p:tgtEl>
                                        <p:attrNameLst>
                                          <p:attrName>style.visibility</p:attrName>
                                        </p:attrNameLst>
                                      </p:cBhvr>
                                      <p:to>
                                        <p:strVal val="visible"/>
                                      </p:to>
                                    </p:set>
                                    <p:animEffect transition="in" filter="randombar(horizontal)">
                                      <p:cBhvr>
                                        <p:cTn id="85" dur="500"/>
                                        <p:tgtEl>
                                          <p:spTgt spid="2"/>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8" grpId="0" animBg="1"/>
      <p:bldP spid="19" grpId="0"/>
      <p:bldP spid="20" grpId="0" animBg="1"/>
      <p:bldP spid="22" grpId="0"/>
      <p:bldP spid="2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4.3</a:t>
            </a:r>
            <a:r>
              <a:rPr lang="zh-CN" altLang="en-US" dirty="0"/>
              <a:t>运算符与表达式</a:t>
            </a:r>
          </a:p>
          <a:p>
            <a:endParaRPr lang="zh-CN" altLang="en-US" dirty="0"/>
          </a:p>
        </p:txBody>
      </p:sp>
      <p:sp>
        <p:nvSpPr>
          <p:cNvPr id="5" name="Rectangle 2"/>
          <p:cNvSpPr txBox="1">
            <a:spLocks noChangeArrowheads="1"/>
          </p:cNvSpPr>
          <p:nvPr/>
        </p:nvSpPr>
        <p:spPr>
          <a:xfrm>
            <a:off x="414609" y="1772816"/>
            <a:ext cx="3797352" cy="3600400"/>
          </a:xfrm>
        </p:spPr>
        <p:txBody>
          <a:bodyPr/>
          <a:lstStyle>
            <a:lvl1pPr algn="l" rtl="0" eaLnBrk="1" fontAlgn="base" hangingPunct="1">
              <a:spcBef>
                <a:spcPct val="0"/>
              </a:spcBef>
              <a:spcAft>
                <a:spcPct val="0"/>
              </a:spcAft>
              <a:defRPr lang="zh-CN" altLang="zh-CN" sz="2800" b="1" smtClean="0">
                <a:solidFill>
                  <a:schemeClr val="bg1"/>
                </a:solidFill>
                <a:effectLst/>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pPr algn="just">
              <a:spcBef>
                <a:spcPts val="1200"/>
              </a:spcBef>
              <a:buFont typeface="Wingdings" panose="05000000000000000000" pitchFamily="2" charset="2"/>
              <a:buNone/>
            </a:pPr>
            <a:r>
              <a:rPr lang="zh-CN" altLang="en-US" sz="2000" kern="0" dirty="0">
                <a:solidFill>
                  <a:schemeClr val="tx2"/>
                </a:solidFill>
                <a:latin typeface="楷体_GB2312" pitchFamily="49" charset="-122"/>
                <a:ea typeface="楷体_GB2312" pitchFamily="49" charset="-122"/>
              </a:rPr>
              <a:t>在计算具有多个运算符的表达式值时，按以下规则操作：</a:t>
            </a:r>
          </a:p>
          <a:p>
            <a:pPr algn="just">
              <a:spcBef>
                <a:spcPts val="1200"/>
              </a:spcBef>
              <a:buFont typeface="Wingdings" panose="05000000000000000000" pitchFamily="2" charset="2"/>
              <a:buNone/>
            </a:pPr>
            <a:r>
              <a:rPr lang="zh-CN" altLang="en-US" sz="2000" kern="0" dirty="0">
                <a:solidFill>
                  <a:schemeClr val="tx2"/>
                </a:solidFill>
                <a:latin typeface="楷体_GB2312" pitchFamily="49" charset="-122"/>
                <a:ea typeface="楷体_GB2312" pitchFamily="49" charset="-122"/>
              </a:rPr>
              <a:t> ◎优先级高的先运算，优先级低的后运算。</a:t>
            </a:r>
          </a:p>
          <a:p>
            <a:pPr algn="just">
              <a:spcBef>
                <a:spcPts val="1200"/>
              </a:spcBef>
              <a:buFont typeface="Wingdings" panose="05000000000000000000" pitchFamily="2" charset="2"/>
              <a:buNone/>
            </a:pPr>
            <a:r>
              <a:rPr lang="zh-CN" altLang="en-US" sz="2000" kern="0" dirty="0">
                <a:solidFill>
                  <a:schemeClr val="tx2"/>
                </a:solidFill>
                <a:latin typeface="楷体_GB2312" pitchFamily="49" charset="-122"/>
                <a:ea typeface="楷体_GB2312" pitchFamily="49" charset="-122"/>
              </a:rPr>
              <a:t> ◎当优先级相同时，按表达式中从左到右的顺序进行运算</a:t>
            </a:r>
          </a:p>
          <a:p>
            <a:pPr algn="just">
              <a:spcBef>
                <a:spcPts val="1200"/>
              </a:spcBef>
              <a:buFont typeface="Wingdings" panose="05000000000000000000" pitchFamily="2" charset="2"/>
              <a:buNone/>
            </a:pPr>
            <a:r>
              <a:rPr lang="zh-CN" altLang="en-US" sz="2000" kern="0" dirty="0">
                <a:solidFill>
                  <a:schemeClr val="tx2"/>
                </a:solidFill>
                <a:latin typeface="楷体_GB2312" pitchFamily="49" charset="-122"/>
                <a:ea typeface="楷体_GB2312" pitchFamily="49" charset="-122"/>
              </a:rPr>
              <a:t> ◎使用括号可以提高表达式运算的优先级。</a:t>
            </a:r>
          </a:p>
          <a:p>
            <a:pPr algn="just">
              <a:spcBef>
                <a:spcPts val="1200"/>
              </a:spcBef>
              <a:buFont typeface="Wingdings" panose="05000000000000000000" pitchFamily="2" charset="2"/>
              <a:buNone/>
            </a:pPr>
            <a:r>
              <a:rPr lang="zh-CN" altLang="en-US" sz="2000" kern="0" dirty="0">
                <a:solidFill>
                  <a:schemeClr val="tx2"/>
                </a:solidFill>
                <a:latin typeface="楷体_GB2312" pitchFamily="49" charset="-122"/>
                <a:ea typeface="楷体_GB2312" pitchFamily="49" charset="-122"/>
              </a:rPr>
              <a:t> ◎表达式中的运算符的优先级</a:t>
            </a:r>
          </a:p>
        </p:txBody>
      </p:sp>
      <p:graphicFrame>
        <p:nvGraphicFramePr>
          <p:cNvPr id="6" name="Group 1"/>
          <p:cNvGraphicFramePr>
            <a:graphicFrameLocks noGrp="1"/>
          </p:cNvGraphicFramePr>
          <p:nvPr/>
        </p:nvGraphicFramePr>
        <p:xfrm>
          <a:off x="4408616" y="2409398"/>
          <a:ext cx="4320776" cy="3188289"/>
        </p:xfrm>
        <a:graphic>
          <a:graphicData uri="http://schemas.openxmlformats.org/drawingml/2006/table">
            <a:tbl>
              <a:tblPr/>
              <a:tblGrid>
                <a:gridCol w="762942">
                  <a:extLst>
                    <a:ext uri="{9D8B030D-6E8A-4147-A177-3AD203B41FA5}">
                      <a16:colId xmlns:a16="http://schemas.microsoft.com/office/drawing/2014/main" val="20000"/>
                    </a:ext>
                  </a:extLst>
                </a:gridCol>
                <a:gridCol w="304079">
                  <a:extLst>
                    <a:ext uri="{9D8B030D-6E8A-4147-A177-3AD203B41FA5}">
                      <a16:colId xmlns:a16="http://schemas.microsoft.com/office/drawing/2014/main" val="20001"/>
                    </a:ext>
                  </a:extLst>
                </a:gridCol>
                <a:gridCol w="3253755">
                  <a:extLst>
                    <a:ext uri="{9D8B030D-6E8A-4147-A177-3AD203B41FA5}">
                      <a16:colId xmlns:a16="http://schemas.microsoft.com/office/drawing/2014/main" val="20002"/>
                    </a:ext>
                  </a:extLst>
                </a:gridCol>
              </a:tblGrid>
              <a:tr h="359713">
                <a:tc rowSpan="9">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高</a:t>
                      </a:r>
                    </a:p>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优</a:t>
                      </a: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先</a:t>
                      </a: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级</a:t>
                      </a:r>
                    </a:p>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endPar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     低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括号中的项，即（</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）和</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9713">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LENGTH</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SIZE</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WIDTH</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MASK</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2184">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PTR</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OFFSET</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SEG</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TYPE</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THIS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3027">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MOD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9713">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9713">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EQ</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NE</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LE</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GT</a:t>
                      </a:r>
                      <a:r>
                        <a:rPr kumimoji="1" lang="zh-CN" altLang="en-US"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GE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9713">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NOT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9713">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AND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6747">
                <a:tc vMerge="1">
                  <a:txBody>
                    <a:bodyPr/>
                    <a:lstStyle/>
                    <a:p>
                      <a:endParaRPr lang="zh-CN"/>
                    </a:p>
                  </a:txBody>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20000"/>
                        </a:spcBef>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20000"/>
                        </a:spcBef>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20000"/>
                        </a:spcBef>
                        <a:defRPr kumimoj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OR</a:t>
                      </a:r>
                      <a:r>
                        <a:rPr kumimoji="1" lang="zh-CN" altLang="en-US"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14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XOR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7" name="Line 37"/>
          <p:cNvSpPr>
            <a:spLocks noChangeShapeType="1"/>
          </p:cNvSpPr>
          <p:nvPr/>
        </p:nvSpPr>
        <p:spPr bwMode="auto">
          <a:xfrm>
            <a:off x="5004048" y="2409398"/>
            <a:ext cx="0" cy="3124200"/>
          </a:xfrm>
          <a:prstGeom prst="line">
            <a:avLst/>
          </a:prstGeom>
          <a:noFill/>
          <a:ln w="28575">
            <a:solidFill>
              <a:srgbClr val="CC00CC"/>
            </a:solidFill>
            <a:round/>
            <a:tailEnd type="triangle" w="med" len="lg"/>
          </a:ln>
          <a:extLst>
            <a:ext uri="{909E8E84-426E-40DD-AFC4-6F175D3DCCD1}">
              <a14:hiddenFill xmlns:a14="http://schemas.microsoft.com/office/drawing/2010/main">
                <a:noFill/>
              </a14:hiddenFill>
            </a:ext>
          </a:extLst>
        </p:spPr>
        <p:txBody>
          <a:bodyPr/>
          <a:lstStyle/>
          <a:p>
            <a:endParaRPr lang="zh-CN" altLang="en-US" sz="2000" dirty="0"/>
          </a:p>
        </p:txBody>
      </p:sp>
      <p:sp>
        <p:nvSpPr>
          <p:cNvPr id="2" name="文本框 1"/>
          <p:cNvSpPr txBox="1"/>
          <p:nvPr/>
        </p:nvSpPr>
        <p:spPr>
          <a:xfrm>
            <a:off x="4283710" y="1628775"/>
            <a:ext cx="4572000" cy="706755"/>
          </a:xfrm>
          <a:prstGeom prst="rect">
            <a:avLst/>
          </a:prstGeom>
          <a:noFill/>
        </p:spPr>
        <p:txBody>
          <a:bodyPr wrap="square" rtlCol="0" anchor="t">
            <a:spAutoFit/>
          </a:bodyPr>
          <a:lstStyle/>
          <a:p>
            <a:r>
              <a:rPr lang="zh-CN" altLang="en-US" sz="2000" dirty="0">
                <a:latin typeface="兰米楷体-商" panose="02000503000000000000" charset="-122"/>
                <a:ea typeface="兰米楷体-商" panose="02000503000000000000" charset="-122"/>
                <a:cs typeface="兰米楷体-商" panose="02000503000000000000" charset="-122"/>
              </a:rPr>
              <a:t>THIS :把运算符后面指出的类型属性赋给当前的存储单元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up)">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p:txBody>
      </p:sp>
      <p:sp>
        <p:nvSpPr>
          <p:cNvPr id="5" name="矩形 4"/>
          <p:cNvSpPr/>
          <p:nvPr/>
        </p:nvSpPr>
        <p:spPr>
          <a:xfrm>
            <a:off x="611560" y="1642775"/>
            <a:ext cx="7776864" cy="1200329"/>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在</a:t>
            </a:r>
            <a:r>
              <a:rPr kumimoji="0"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8086/8088</a:t>
            </a:r>
            <a:r>
              <a:rPr kumimoji="0"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汇编语言中</a:t>
            </a:r>
            <a:r>
              <a:rPr kumimoji="0" lang="zh-CN" altLang="en-US" sz="2400" b="1" i="0" u="none" strike="noStrike" kern="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伪指令</a:t>
            </a:r>
            <a:r>
              <a:rPr kumimoji="0"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是用于诸如</a:t>
            </a:r>
            <a:r>
              <a:rPr kumimoji="0" lang="zh-CN" altLang="en-US" sz="2400" b="1" i="0" u="none" strike="noStrike" kern="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数据定义、存储区分配</a:t>
            </a:r>
            <a:r>
              <a:rPr kumimoji="0"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等功能。所谓</a:t>
            </a:r>
            <a:r>
              <a:rPr kumimoji="0" lang="zh-CN" altLang="en-US" sz="2400" b="1" i="0" u="none" strike="noStrike" kern="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伪指令是非机器指令，它是在汇编期间进行操作的</a:t>
            </a:r>
            <a:r>
              <a:rPr kumimoji="0" lang="zh-CN" altLang="en-US" sz="2400" b="1" i="0" u="none" strike="noStrike" kern="0" cap="none" spc="0" normalizeH="0" baseline="0" noProof="0" dirty="0">
                <a:ln>
                  <a:noFill/>
                </a:ln>
                <a:solidFill>
                  <a:srgbClr val="3333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20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2"/>
          <p:cNvSpPr txBox="1">
            <a:spLocks noChangeArrowheads="1"/>
          </p:cNvSpPr>
          <p:nvPr/>
        </p:nvSpPr>
        <p:spPr bwMode="auto">
          <a:xfrm>
            <a:off x="418395" y="3152003"/>
            <a:ext cx="8229600" cy="2409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342900" marR="0" lvl="0" indent="-342900" algn="just" defTabSz="914400" rtl="0" eaLnBrk="1" fontAlgn="base" latinLnBrk="0" hangingPunct="1">
              <a:lnSpc>
                <a:spcPct val="120000"/>
              </a:lnSpc>
              <a:spcBef>
                <a:spcPct val="2000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 </a:t>
            </a:r>
            <a:r>
              <a:rPr kumimoji="1" lang="en-US" altLang="zh-CN" sz="2400" b="1" i="0" u="none" strike="noStrike" kern="0" cap="none" spc="0" normalizeH="0" baseline="0" noProof="0" dirty="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1. </a:t>
            </a:r>
            <a:r>
              <a:rPr kumimoji="1" lang="zh-CN" altLang="en-US" sz="24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rPr>
              <a:t>符号定义伪指令</a:t>
            </a:r>
          </a:p>
          <a:p>
            <a:pPr marL="342900" marR="0" lvl="0" indent="-342900" algn="just" defTabSz="914400" rtl="0" eaLnBrk="1" fontAlgn="base" latinLnBrk="0" hangingPunct="1">
              <a:lnSpc>
                <a:spcPct val="120000"/>
              </a:lnSpc>
              <a:spcBef>
                <a:spcPct val="20000"/>
              </a:spcBef>
              <a:spcAft>
                <a:spcPct val="0"/>
              </a:spcAft>
              <a:buClrTx/>
              <a:buSzTx/>
              <a:buFontTx/>
              <a:buNone/>
              <a:defRPr/>
            </a:pPr>
            <a:r>
              <a:rPr kumimoji="1" lang="zh-CN" altLang="en-US" sz="20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cs typeface="Times New Roman" panose="02020603050405020304" pitchFamily="18" charset="0"/>
              </a:rPr>
              <a:t>             符号定义</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伪指令的用途是给表达式赋予一个符号名或为标号</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变量定义新的类型属性。表达式可以是汇编语言中的</a:t>
            </a: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cs typeface="Times New Roman" panose="02020603050405020304" pitchFamily="18" charset="0"/>
              </a:rPr>
              <a:t>变量名、标号名、过程名、寄存器名以及指令助记符</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等，符号可自行定义。在以后的程序中凡需要用到该表达式的地方都可用此符号名来代替。</a:t>
            </a:r>
          </a:p>
          <a:p>
            <a:pPr marL="342900" marR="0" lvl="0" indent="-342900" algn="just" defTabSz="914400" rtl="0" eaLnBrk="1" fontAlgn="base" latinLnBrk="0" hangingPunct="1">
              <a:lnSpc>
                <a:spcPct val="120000"/>
              </a:lnSpc>
              <a:spcBef>
                <a:spcPct val="20000"/>
              </a:spcBef>
              <a:spcAft>
                <a:spcPct val="0"/>
              </a:spcAft>
              <a:buClrTx/>
              <a:buSzTx/>
              <a:buFontTx/>
              <a:buNone/>
              <a:defRPr/>
            </a:pPr>
            <a:r>
              <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cs typeface="Times New Roman" panose="02020603050405020304" pitchFamily="18" charset="0"/>
              </a:rPr>
              <a:t>     常用</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的符号定义伪指令有：等值语句</a:t>
            </a:r>
            <a:r>
              <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楷体_GB2312" pitchFamily="49" charset="-122"/>
                <a:cs typeface="Times New Roman" panose="02020603050405020304" pitchFamily="18" charset="0"/>
              </a:rPr>
              <a:t>EQU</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、等号语句</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楷体_GB2312" pitchFamily="49" charset="-122"/>
                <a:cs typeface="Times New Roman" panose="02020603050405020304" pitchFamily="18" charset="0"/>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Times New Roman" panose="02020603050405020304" pitchFamily="18" charset="0"/>
              </a:rPr>
              <a:t>、</a:t>
            </a:r>
            <a:r>
              <a:rPr kumimoji="1" lang="en-US" altLang="zh-CN" sz="2000" b="1"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cs typeface="Times New Roman" panose="02020603050405020304" pitchFamily="18" charset="0"/>
              </a:rPr>
              <a:t>LABEL</a:t>
            </a:r>
            <a:endParaRPr kumimoji="1" lang="zh-CN" altLang="en-US" sz="2000" b="1"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2" dur="500"/>
                                        <p:tgtEl>
                                          <p:spTgt spid="6">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5" dur="500"/>
                                        <p:tgtEl>
                                          <p:spTgt spid="6">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randombar(horizontal)">
                                      <p:cBhvr>
                                        <p:cTn id="18"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矩形 4"/>
          <p:cNvSpPr/>
          <p:nvPr/>
        </p:nvSpPr>
        <p:spPr>
          <a:xfrm>
            <a:off x="219710" y="2120900"/>
            <a:ext cx="8221345" cy="3792855"/>
          </a:xfrm>
          <a:prstGeom prst="rect">
            <a:avLst/>
          </a:prstGeom>
        </p:spPr>
        <p:txBody>
          <a:bodyPr wrap="square">
            <a:spAutoFit/>
          </a:bodyPr>
          <a:lstStyle/>
          <a:p>
            <a:pPr marL="342900" lvl="0" indent="-342900" algn="just">
              <a:lnSpc>
                <a:spcPct val="80000"/>
              </a:lnSpc>
              <a:defRPr/>
            </a:pPr>
            <a:endParaRPr kumimoji="1" lang="zh-CN" altLang="en-US" sz="1600" b="1" kern="0" dirty="0">
              <a:solidFill>
                <a:srgbClr val="0000FF"/>
              </a:solidFill>
              <a:latin typeface="Times New Roman" panose="02020603050405020304"/>
              <a:ea typeface="楷体_GB2312" pitchFamily="49" charset="-122"/>
            </a:endParaRPr>
          </a:p>
          <a:p>
            <a:pPr marL="342900" lvl="0" indent="-342900" algn="just">
              <a:lnSpc>
                <a:spcPct val="80000"/>
              </a:lnSpc>
              <a:defRPr/>
            </a:pPr>
            <a:r>
              <a:rPr kumimoji="1" lang="zh-CN" altLang="en-US" b="1" kern="0" dirty="0">
                <a:solidFill>
                  <a:srgbClr val="000000"/>
                </a:solidFill>
                <a:latin typeface="楷体_GB2312" pitchFamily="49" charset="-122"/>
                <a:ea typeface="楷体_GB2312" pitchFamily="49" charset="-122"/>
              </a:rPr>
              <a:t>  </a:t>
            </a:r>
            <a:r>
              <a:rPr kumimoji="1" lang="zh-CN" altLang="en-US" b="1" kern="0" dirty="0">
                <a:solidFill>
                  <a:srgbClr val="008080"/>
                </a:solidFill>
                <a:latin typeface="楷体_GB2312" pitchFamily="49" charset="-122"/>
                <a:ea typeface="楷体_GB2312" pitchFamily="49" charset="-122"/>
              </a:rPr>
              <a:t>格式</a:t>
            </a:r>
            <a:r>
              <a:rPr kumimoji="1" lang="zh-CN" altLang="en-US" b="1" kern="0" dirty="0">
                <a:solidFill>
                  <a:srgbClr val="000000"/>
                </a:solidFill>
                <a:latin typeface="Times New Roman" panose="02020603050405020304"/>
                <a:ea typeface="楷体_GB2312" pitchFamily="49" charset="-122"/>
              </a:rPr>
              <a:t> ：             </a:t>
            </a:r>
            <a:r>
              <a:rPr kumimoji="1" lang="zh-CN" altLang="en-US" b="1" kern="0" dirty="0">
                <a:solidFill>
                  <a:srgbClr val="FF0000"/>
                </a:solidFill>
                <a:latin typeface="Times New Roman" panose="02020603050405020304"/>
                <a:ea typeface="楷体_GB2312" pitchFamily="49" charset="-122"/>
              </a:rPr>
              <a:t>符号名       </a:t>
            </a:r>
            <a:r>
              <a:rPr kumimoji="1" lang="en-US" altLang="zh-CN" b="1" kern="0" dirty="0">
                <a:solidFill>
                  <a:srgbClr val="FF0000"/>
                </a:solidFill>
                <a:latin typeface="Times New Roman" panose="02020603050405020304"/>
                <a:ea typeface="楷体_GB2312" pitchFamily="49" charset="-122"/>
              </a:rPr>
              <a:t>EQU /</a:t>
            </a:r>
            <a:r>
              <a:rPr kumimoji="1" lang="zh-CN" altLang="en-US" b="1" kern="0" dirty="0">
                <a:solidFill>
                  <a:srgbClr val="FF0000"/>
                </a:solidFill>
                <a:latin typeface="Times New Roman" panose="02020603050405020304"/>
                <a:ea typeface="楷体_GB2312" pitchFamily="49" charset="-122"/>
              </a:rPr>
              <a:t> </a:t>
            </a:r>
            <a:r>
              <a:rPr kumimoji="1" lang="zh-CN" altLang="en-US" b="1" kern="0" dirty="0">
                <a:solidFill>
                  <a:srgbClr val="3333CC"/>
                </a:solidFill>
                <a:latin typeface="楷体_GB2312" pitchFamily="49" charset="-122"/>
                <a:ea typeface="楷体_GB2312" pitchFamily="49" charset="-122"/>
              </a:rPr>
              <a:t>＝    </a:t>
            </a:r>
            <a:r>
              <a:rPr kumimoji="1" lang="zh-CN" altLang="en-US" b="1" kern="0" dirty="0">
                <a:solidFill>
                  <a:srgbClr val="FF0000"/>
                </a:solidFill>
                <a:latin typeface="Times New Roman" panose="02020603050405020304"/>
                <a:ea typeface="楷体_GB2312" pitchFamily="49" charset="-122"/>
              </a:rPr>
              <a:t> 表达式</a:t>
            </a:r>
            <a:endParaRPr kumimoji="1" lang="en-US" altLang="zh-CN" b="1" kern="0" dirty="0">
              <a:solidFill>
                <a:srgbClr val="FF0000"/>
              </a:solidFill>
              <a:latin typeface="Times New Roman" panose="02020603050405020304"/>
              <a:ea typeface="楷体_GB2312" pitchFamily="49" charset="-122"/>
            </a:endParaRPr>
          </a:p>
          <a:p>
            <a:pPr marL="342900" lvl="0" indent="-342900" algn="just">
              <a:lnSpc>
                <a:spcPct val="80000"/>
              </a:lnSpc>
              <a:defRPr/>
            </a:pPr>
            <a:r>
              <a:rPr kumimoji="1" lang="en-US" altLang="zh-CN" b="1" kern="0" dirty="0">
                <a:solidFill>
                  <a:srgbClr val="FF0000"/>
                </a:solidFill>
                <a:latin typeface="Times New Roman" panose="02020603050405020304"/>
                <a:ea typeface="楷体_GB2312" pitchFamily="49" charset="-122"/>
              </a:rPr>
              <a:t>                               </a:t>
            </a:r>
            <a:r>
              <a:rPr kumimoji="1" lang="zh-CN" altLang="en-US" b="1" kern="0" dirty="0">
                <a:solidFill>
                  <a:srgbClr val="FF0000"/>
                </a:solidFill>
                <a:latin typeface="Times New Roman" panose="02020603050405020304"/>
                <a:ea typeface="楷体_GB2312" pitchFamily="49" charset="-122"/>
              </a:rPr>
              <a:t>名字           </a:t>
            </a:r>
            <a:r>
              <a:rPr kumimoji="1" lang="en-US" altLang="zh-CN" b="1" kern="0" dirty="0">
                <a:solidFill>
                  <a:srgbClr val="FF0000"/>
                </a:solidFill>
                <a:latin typeface="Times New Roman" panose="02020603050405020304"/>
                <a:ea typeface="楷体_GB2312" pitchFamily="49" charset="-122"/>
              </a:rPr>
              <a:t>LABEL     </a:t>
            </a:r>
            <a:r>
              <a:rPr kumimoji="1" lang="zh-CN" altLang="en-US" b="1" kern="0" dirty="0">
                <a:solidFill>
                  <a:srgbClr val="FF0000"/>
                </a:solidFill>
                <a:latin typeface="Times New Roman" panose="02020603050405020304"/>
                <a:ea typeface="楷体_GB2312" pitchFamily="49" charset="-122"/>
              </a:rPr>
              <a:t>类型</a:t>
            </a:r>
            <a:endParaRPr kumimoji="1" lang="zh-CN" altLang="en-US" b="1" kern="0" dirty="0">
              <a:solidFill>
                <a:srgbClr val="000000"/>
              </a:solidFill>
              <a:latin typeface="Times New Roman" panose="02020603050405020304"/>
              <a:ea typeface="楷体_GB2312" pitchFamily="49" charset="-122"/>
            </a:endParaRPr>
          </a:p>
          <a:p>
            <a:pPr marL="342900" lvl="0" indent="-342900" algn="just">
              <a:defRPr/>
            </a:pPr>
            <a:endParaRPr kumimoji="1" lang="zh-CN" altLang="en-US" sz="2000" b="1" kern="0" dirty="0">
              <a:solidFill>
                <a:srgbClr val="000000"/>
              </a:solidFill>
              <a:latin typeface="Times New Roman" panose="02020603050405020304"/>
              <a:ea typeface="楷体_GB2312" pitchFamily="49" charset="-122"/>
            </a:endParaRPr>
          </a:p>
          <a:p>
            <a:pPr marL="742950" lvl="1" indent="-285750" algn="just">
              <a:spcAft>
                <a:spcPct val="30000"/>
              </a:spcAft>
              <a:buClr>
                <a:srgbClr val="FF3300"/>
              </a:buClr>
              <a:buFont typeface="宋体" panose="02010600030101010101" pitchFamily="2" charset="-122"/>
              <a:buChar char="▲"/>
              <a:defRPr/>
            </a:pPr>
            <a:r>
              <a:rPr kumimoji="1" lang="zh-CN" altLang="en-US" b="1" kern="0" dirty="0">
                <a:solidFill>
                  <a:srgbClr val="000000"/>
                </a:solidFill>
                <a:latin typeface="Times New Roman" panose="02020603050405020304"/>
                <a:ea typeface="楷体_GB2312" pitchFamily="49" charset="-122"/>
              </a:rPr>
              <a:t> 作用</a:t>
            </a:r>
            <a:r>
              <a:rPr kumimoji="1" lang="en-US" altLang="zh-CN" b="1" kern="0" dirty="0">
                <a:solidFill>
                  <a:srgbClr val="000000"/>
                </a:solidFill>
                <a:latin typeface="Times New Roman" panose="02020603050405020304"/>
                <a:ea typeface="楷体_GB2312" pitchFamily="49" charset="-122"/>
              </a:rPr>
              <a:t>:</a:t>
            </a:r>
          </a:p>
          <a:p>
            <a:pPr marL="742950" lvl="1" indent="-285750" algn="just">
              <a:spcAft>
                <a:spcPct val="30000"/>
              </a:spcAft>
              <a:buClr>
                <a:srgbClr val="FF3300"/>
              </a:buClr>
              <a:defRPr/>
            </a:pPr>
            <a:r>
              <a:rPr kumimoji="1" lang="zh-CN" altLang="en-US" b="1" kern="0" dirty="0">
                <a:solidFill>
                  <a:srgbClr val="000000"/>
                </a:solidFill>
                <a:latin typeface="Times New Roman" panose="02020603050405020304"/>
                <a:ea typeface="楷体_GB2312" pitchFamily="49" charset="-122"/>
              </a:rPr>
              <a:t>给程序中的表达式赋予一个符号名，其中表达式可以是任何有效的操作数。</a:t>
            </a:r>
          </a:p>
          <a:p>
            <a:pPr marL="742950" lvl="1" indent="-285750" algn="just">
              <a:spcAft>
                <a:spcPct val="30000"/>
              </a:spcAft>
              <a:buClr>
                <a:srgbClr val="FF3300"/>
              </a:buClr>
              <a:defRPr/>
            </a:pPr>
            <a:r>
              <a:rPr kumimoji="1" lang="zh-CN" altLang="en-US" b="1" kern="0" dirty="0">
                <a:solidFill>
                  <a:srgbClr val="000000"/>
                </a:solidFill>
                <a:latin typeface="Times New Roman" panose="02020603050405020304"/>
                <a:ea typeface="楷体_GB2312" pitchFamily="49" charset="-122"/>
              </a:rPr>
              <a:t>      汇编时用语句中的表达式代替程序中符号所在的地方。</a:t>
            </a:r>
          </a:p>
          <a:p>
            <a:pPr marL="742950" lvl="1" indent="-285750" algn="just">
              <a:spcAft>
                <a:spcPct val="30000"/>
              </a:spcAft>
              <a:buClr>
                <a:srgbClr val="FF3300"/>
              </a:buClr>
              <a:defRPr/>
            </a:pPr>
            <a:r>
              <a:rPr kumimoji="1" lang="zh-CN" altLang="en-US" b="1" kern="0" dirty="0">
                <a:solidFill>
                  <a:srgbClr val="000000"/>
                </a:solidFill>
                <a:latin typeface="Times New Roman" panose="02020603050405020304"/>
                <a:ea typeface="楷体_GB2312" pitchFamily="49" charset="-122"/>
              </a:rPr>
              <a:t>      </a:t>
            </a:r>
            <a:r>
              <a:rPr kumimoji="1" lang="zh-CN" altLang="en-US" b="1" kern="0" dirty="0">
                <a:solidFill>
                  <a:srgbClr val="FF3300"/>
                </a:solidFill>
                <a:latin typeface="Times New Roman" panose="02020603050405020304"/>
                <a:ea typeface="楷体_GB2312" pitchFamily="49" charset="-122"/>
              </a:rPr>
              <a:t>同一符号不能赋几个不同的值。</a:t>
            </a:r>
          </a:p>
          <a:p>
            <a:pPr marL="2057400" lvl="4" indent="-228600" algn="just">
              <a:defRPr/>
            </a:pPr>
            <a:endParaRPr kumimoji="1" lang="zh-CN" altLang="en-US" b="1" kern="0" dirty="0">
              <a:solidFill>
                <a:srgbClr val="000000"/>
              </a:solidFill>
              <a:latin typeface="Times New Roman" panose="02020603050405020304"/>
              <a:ea typeface="楷体_GB2312" pitchFamily="49" charset="-122"/>
            </a:endParaRPr>
          </a:p>
          <a:p>
            <a:pPr marL="742950" lvl="1" indent="-285750" algn="just">
              <a:spcAft>
                <a:spcPct val="30000"/>
              </a:spcAft>
              <a:buClr>
                <a:srgbClr val="FF3300"/>
              </a:buClr>
              <a:buFont typeface="宋体" panose="02010600030101010101" pitchFamily="2" charset="-122"/>
              <a:buChar char="▲"/>
              <a:defRPr/>
            </a:pPr>
            <a:r>
              <a:rPr kumimoji="1" lang="zh-CN" altLang="en-US" b="1" kern="0" dirty="0">
                <a:solidFill>
                  <a:srgbClr val="000000"/>
                </a:solidFill>
                <a:latin typeface="Times New Roman" panose="02020603050405020304"/>
                <a:ea typeface="楷体_GB2312" pitchFamily="49" charset="-122"/>
              </a:rPr>
              <a:t>应用：</a:t>
            </a:r>
          </a:p>
          <a:p>
            <a:pPr marL="1143000" lvl="2" indent="-228600" algn="just">
              <a:spcAft>
                <a:spcPct val="30000"/>
              </a:spcAft>
              <a:defRPr/>
            </a:pPr>
            <a:r>
              <a:rPr kumimoji="1" lang="en-US" altLang="zh-CN" b="1" kern="0" dirty="0">
                <a:solidFill>
                  <a:srgbClr val="000000"/>
                </a:solidFill>
                <a:latin typeface="Times New Roman" panose="02020603050405020304"/>
                <a:ea typeface="楷体_GB2312" pitchFamily="49" charset="-122"/>
              </a:rPr>
              <a:t>1. </a:t>
            </a:r>
            <a:r>
              <a:rPr kumimoji="1" lang="zh-CN" altLang="en-US" b="1" kern="0" dirty="0">
                <a:solidFill>
                  <a:srgbClr val="000000"/>
                </a:solidFill>
                <a:latin typeface="Times New Roman" panose="02020603050405020304"/>
                <a:ea typeface="楷体_GB2312" pitchFamily="49" charset="-122"/>
              </a:rPr>
              <a:t>定义符号常量，方便修改程序。</a:t>
            </a:r>
          </a:p>
          <a:p>
            <a:pPr marL="1143000" lvl="2" indent="-228600" algn="just">
              <a:spcAft>
                <a:spcPct val="30000"/>
              </a:spcAft>
              <a:defRPr/>
            </a:pPr>
            <a:r>
              <a:rPr kumimoji="1" lang="en-US" altLang="zh-CN" b="1" kern="0" dirty="0">
                <a:solidFill>
                  <a:srgbClr val="000000"/>
                </a:solidFill>
                <a:latin typeface="Times New Roman" panose="02020603050405020304"/>
                <a:ea typeface="楷体_GB2312" pitchFamily="49" charset="-122"/>
              </a:rPr>
              <a:t>2. </a:t>
            </a:r>
            <a:r>
              <a:rPr kumimoji="1" lang="zh-CN" altLang="en-US" b="1" kern="0" dirty="0">
                <a:solidFill>
                  <a:srgbClr val="000000"/>
                </a:solidFill>
                <a:latin typeface="Times New Roman" panose="02020603050405020304"/>
                <a:ea typeface="楷体_GB2312" pitchFamily="49" charset="-122"/>
              </a:rPr>
              <a:t>某表达式多次出现时，用等值伪操作可以方便编程。</a:t>
            </a:r>
            <a:r>
              <a:rPr kumimoji="1" lang="zh-CN" altLang="en-US" sz="1600" kern="0" dirty="0">
                <a:solidFill>
                  <a:srgbClr val="000000"/>
                </a:solidFill>
                <a:latin typeface="Times New Roman" panose="02020603050405020304"/>
                <a:ea typeface="宋体" panose="02010600030101010101" pitchFamily="2" charset="-122"/>
              </a:rPr>
              <a:t>         </a:t>
            </a:r>
            <a:endParaRPr kumimoji="1" lang="zh-CN" altLang="en-US" kern="0" dirty="0">
              <a:solidFill>
                <a:srgbClr val="000000"/>
              </a:solidFill>
              <a:latin typeface="Times New Roman" panose="02020603050405020304"/>
              <a:ea typeface="宋体" panose="02010600030101010101" pitchFamily="2" charset="-122"/>
            </a:endParaRPr>
          </a:p>
        </p:txBody>
      </p:sp>
      <p:sp>
        <p:nvSpPr>
          <p:cNvPr id="6" name="矩形 5"/>
          <p:cNvSpPr/>
          <p:nvPr/>
        </p:nvSpPr>
        <p:spPr>
          <a:xfrm>
            <a:off x="478300" y="1642775"/>
            <a:ext cx="2765501" cy="461665"/>
          </a:xfrm>
          <a:prstGeom prst="rect">
            <a:avLst/>
          </a:prstGeom>
        </p:spPr>
        <p:txBody>
          <a:bodyPr wrap="none">
            <a:spAutoFit/>
          </a:bodyPr>
          <a:lstStyle/>
          <a:p>
            <a:r>
              <a:rPr lang="zh-CN" altLang="en-US" sz="2400" b="1" dirty="0"/>
              <a:t> </a:t>
            </a:r>
            <a:r>
              <a:rPr lang="en-US" altLang="zh-CN" sz="2400" b="1" dirty="0"/>
              <a:t>1. </a:t>
            </a:r>
            <a:r>
              <a:rPr lang="zh-CN" altLang="en-US" sz="2400" b="1" dirty="0"/>
              <a:t>符号定义伪指令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up)">
                                      <p:cBhvr>
                                        <p:cTn id="12" dur="500"/>
                                        <p:tgtEl>
                                          <p:spTgt spid="5">
                                            <p:txEl>
                                              <p:pRg st="1" end="1"/>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wipe(up)">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fade">
                                      <p:cBhvr>
                                        <p:cTn id="20" dur="500"/>
                                        <p:tgtEl>
                                          <p:spTgt spid="5">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animEffect transition="in" filter="fade">
                                      <p:cBhvr>
                                        <p:cTn id="23" dur="500"/>
                                        <p:tgtEl>
                                          <p:spTgt spid="5">
                                            <p:txEl>
                                              <p:pRg st="5" end="5"/>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6" end="6"/>
                                            </p:txEl>
                                          </p:spTgt>
                                        </p:tgtEl>
                                        <p:attrNameLst>
                                          <p:attrName>style.visibility</p:attrName>
                                        </p:attrNameLst>
                                      </p:cBhvr>
                                      <p:to>
                                        <p:strVal val="visible"/>
                                      </p:to>
                                    </p:set>
                                    <p:animEffect transition="in" filter="fade">
                                      <p:cBhvr>
                                        <p:cTn id="26" dur="500"/>
                                        <p:tgtEl>
                                          <p:spTgt spid="5">
                                            <p:txEl>
                                              <p:pRg st="6" end="6"/>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fade">
                                      <p:cBhvr>
                                        <p:cTn id="29" dur="500"/>
                                        <p:tgtEl>
                                          <p:spTgt spid="5">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
                                            <p:txEl>
                                              <p:pRg st="9" end="9"/>
                                            </p:txEl>
                                          </p:spTgt>
                                        </p:tgtEl>
                                        <p:attrNameLst>
                                          <p:attrName>style.visibility</p:attrName>
                                        </p:attrNameLst>
                                      </p:cBhvr>
                                      <p:to>
                                        <p:strVal val="visible"/>
                                      </p:to>
                                    </p:set>
                                    <p:animEffect transition="in" filter="fade">
                                      <p:cBhvr>
                                        <p:cTn id="34" dur="500"/>
                                        <p:tgtEl>
                                          <p:spTgt spid="5">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500"/>
                                        <p:tgtEl>
                                          <p:spTgt spid="5">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5">
                                            <p:txEl>
                                              <p:pRg st="11" end="11"/>
                                            </p:txEl>
                                          </p:spTgt>
                                        </p:tgtEl>
                                        <p:attrNameLst>
                                          <p:attrName>style.visibility</p:attrName>
                                        </p:attrNameLst>
                                      </p:cBhvr>
                                      <p:to>
                                        <p:strVal val="visible"/>
                                      </p:to>
                                    </p:set>
                                    <p:animEffect transition="in" filter="fade">
                                      <p:cBhvr>
                                        <p:cTn id="40"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Text Box 2"/>
          <p:cNvSpPr txBox="1">
            <a:spLocks noChangeArrowheads="1"/>
          </p:cNvSpPr>
          <p:nvPr/>
        </p:nvSpPr>
        <p:spPr bwMode="auto">
          <a:xfrm>
            <a:off x="448280" y="1642775"/>
            <a:ext cx="8084159" cy="4665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可在语句中进行运算，如：</a:t>
            </a:r>
          </a:p>
          <a:p>
            <a:pPr algn="just">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DATA_PORT   EQU  3F8H</a:t>
            </a:r>
          </a:p>
          <a:p>
            <a:pPr algn="just">
              <a:spcBef>
                <a:spcPts val="600"/>
              </a:spcBef>
            </a:pPr>
            <a:r>
              <a:rPr lang="en-US" altLang="zh-CN" sz="16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STAT_PORT    EQU  3F8H+2</a:t>
            </a:r>
          </a:p>
          <a:p>
            <a:pPr algn="just">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SEED       EQU   10</a:t>
            </a:r>
          </a:p>
          <a:p>
            <a:pPr algn="just">
              <a:spcBef>
                <a:spcPts val="600"/>
              </a:spcBef>
            </a:pPr>
            <a:r>
              <a:rPr lang="en-US" altLang="zh-CN"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              FUNC       EQU  SEED*SEED+2*SEED+1</a:t>
            </a:r>
          </a:p>
          <a:p>
            <a:pPr algn="just">
              <a:lnSpc>
                <a:spcPct val="120000"/>
              </a:lnSpc>
              <a:spcBef>
                <a:spcPts val="600"/>
              </a:spcBef>
            </a:pPr>
            <a:r>
              <a:rPr lang="en-US" altLang="zh-CN" b="1"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u="sng"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 = ’   </a:t>
            </a:r>
            <a:r>
              <a:rPr lang="zh-CN" altLang="en-US" b="1" u="sng" dirty="0">
                <a:solidFill>
                  <a:srgbClr val="000099"/>
                </a:solidFill>
                <a:latin typeface="Times New Roman" panose="02020603050405020304" pitchFamily="18" charset="0"/>
                <a:ea typeface="微软雅黑" panose="020B0503020204020204" pitchFamily="34" charset="-122"/>
                <a:cs typeface="Times New Roman" panose="02020603050405020304" pitchFamily="18" charset="0"/>
              </a:rPr>
              <a:t>号操作</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p>
          <a:p>
            <a:pPr algn="just">
              <a:lnSpc>
                <a:spcPct val="120000"/>
              </a:lnSpc>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对符号的赋值还可使用“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操作，它与</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EQU</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的区别是“</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操作可以重复定义，而</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EQU</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则不能重复定义。如：</a:t>
            </a:r>
          </a:p>
          <a:p>
            <a:pPr algn="just">
              <a:lnSpc>
                <a:spcPct val="50000"/>
              </a:lnSpc>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X=3</a:t>
            </a:r>
          </a:p>
          <a:p>
            <a:pPr algn="just">
              <a:lnSpc>
                <a:spcPct val="50000"/>
              </a:lnSpc>
              <a:spcBef>
                <a:spcPts val="600"/>
              </a:spcBef>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Y=6</a:t>
            </a:r>
          </a:p>
          <a:p>
            <a:pPr algn="just">
              <a:lnSpc>
                <a:spcPct val="50000"/>
              </a:lnSpc>
              <a:spcBef>
                <a:spcPts val="600"/>
              </a:spcBef>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Y=Y*Y-X</a:t>
            </a:r>
          </a:p>
          <a:p>
            <a:pPr algn="just">
              <a:lnSpc>
                <a:spcPct val="50000"/>
              </a:lnSpc>
              <a:spcBef>
                <a:spcPts val="600"/>
              </a:spcBef>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a:t>
            </a:r>
          </a:p>
          <a:p>
            <a:pPr algn="just">
              <a:lnSpc>
                <a:spcPct val="50000"/>
              </a:lnSpc>
              <a:spcBef>
                <a:spcPts val="600"/>
              </a:spcBef>
            </a:pP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              MOV  AX, Y</a:t>
            </a:r>
          </a:p>
          <a:p>
            <a:pPr algn="just">
              <a:lnSpc>
                <a:spcPct val="120000"/>
              </a:lnSpc>
              <a:spcBef>
                <a:spcPts val="6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通过上述操作，最后使</a:t>
            </a:r>
            <a:r>
              <a:rPr lang="en-US" altLang="zh-CN"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Y=33</a:t>
            </a:r>
            <a:r>
              <a:rPr lang="zh-CN" altLang="en-US"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，后面的</a:t>
            </a:r>
            <a:r>
              <a:rPr lang="en-US" altLang="zh-CN"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MOV</a:t>
            </a:r>
            <a:r>
              <a:rPr lang="zh-CN" altLang="en-US"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语句中，当生成目标代码时将用</a:t>
            </a:r>
            <a:r>
              <a:rPr lang="en-US" altLang="zh-CN"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33</a:t>
            </a:r>
            <a:r>
              <a:rPr lang="zh-CN" altLang="en-US"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取代</a:t>
            </a:r>
            <a:r>
              <a:rPr lang="en-US" altLang="zh-CN" sz="1600" b="1" dirty="0">
                <a:solidFill>
                  <a:srgbClr val="3366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。即</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MOV AX, 21H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33D)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fade">
                                      <p:cBhvr>
                                        <p:cTn id="38" dur="500"/>
                                        <p:tgtEl>
                                          <p:spTgt spid="5">
                                            <p:txEl>
                                              <p:pRg st="9" end="9"/>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
                                            <p:txEl>
                                              <p:pRg st="10" end="10"/>
                                            </p:txEl>
                                          </p:spTgt>
                                        </p:tgtEl>
                                        <p:attrNameLst>
                                          <p:attrName>style.visibility</p:attrName>
                                        </p:attrNameLst>
                                      </p:cBhvr>
                                      <p:to>
                                        <p:strVal val="visible"/>
                                      </p:to>
                                    </p:set>
                                    <p:animEffect transition="in" filter="fade">
                                      <p:cBhvr>
                                        <p:cTn id="41" dur="500"/>
                                        <p:tgtEl>
                                          <p:spTgt spid="5">
                                            <p:txEl>
                                              <p:pRg st="10" end="1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5">
                                            <p:txEl>
                                              <p:pRg st="11" end="11"/>
                                            </p:txEl>
                                          </p:spTgt>
                                        </p:tgtEl>
                                        <p:attrNameLst>
                                          <p:attrName>style.visibility</p:attrName>
                                        </p:attrNameLst>
                                      </p:cBhvr>
                                      <p:to>
                                        <p:strVal val="visible"/>
                                      </p:to>
                                    </p:set>
                                    <p:animEffect transition="in" filter="fade">
                                      <p:cBhvr>
                                        <p:cTn id="44" dur="500"/>
                                        <p:tgtEl>
                                          <p:spTgt spid="5">
                                            <p:txEl>
                                              <p:pRg st="11" end="11"/>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5">
                                            <p:txEl>
                                              <p:pRg st="12" end="12"/>
                                            </p:txEl>
                                          </p:spTgt>
                                        </p:tgtEl>
                                        <p:attrNameLst>
                                          <p:attrName>style.visibility</p:attrName>
                                        </p:attrNameLst>
                                      </p:cBhvr>
                                      <p:to>
                                        <p:strVal val="visible"/>
                                      </p:to>
                                    </p:set>
                                    <p:animEffect transition="in" filter="fade">
                                      <p:cBhvr>
                                        <p:cTn id="49"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en-US" altLang="zh-CN" b="1" dirty="0"/>
              <a:t>2.</a:t>
            </a:r>
            <a:r>
              <a:rPr lang="zh-CN" altLang="zh-CN" b="1" dirty="0"/>
              <a:t>数据定义伪指令</a:t>
            </a:r>
          </a:p>
          <a:p>
            <a:endParaRPr lang="zh-CN" altLang="en-US" dirty="0"/>
          </a:p>
        </p:txBody>
      </p:sp>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Rectangle 4"/>
          <p:cNvSpPr>
            <a:spLocks noChangeArrowheads="1"/>
          </p:cNvSpPr>
          <p:nvPr/>
        </p:nvSpPr>
        <p:spPr bwMode="auto">
          <a:xfrm>
            <a:off x="1081254" y="4521721"/>
            <a:ext cx="7391400" cy="1371600"/>
          </a:xfrm>
          <a:prstGeom prst="rect">
            <a:avLst/>
          </a:prstGeom>
          <a:noFill/>
          <a:ln w="9525">
            <a:solidFill>
              <a:srgbClr val="00FF00"/>
            </a:solidFill>
            <a:miter lim="800000"/>
          </a:ln>
          <a:extLst>
            <a:ext uri="{909E8E84-426E-40DD-AFC4-6F175D3DCCD1}">
              <a14:hiddenFill xmlns:a14="http://schemas.microsoft.com/office/drawing/2010/main">
                <a:solidFill>
                  <a:schemeClr val="accent1"/>
                </a:solidFill>
              </a14:hiddenFill>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58825" indent="-285750">
              <a:defRPr kumimoji="1" sz="2400">
                <a:solidFill>
                  <a:schemeClr val="tx1"/>
                </a:solidFill>
                <a:latin typeface="Times New Roman" panose="02020603050405020304" pitchFamily="18" charset="0"/>
                <a:ea typeface="宋体" panose="02010600030101010101" pitchFamily="2" charset="-122"/>
              </a:defRPr>
            </a:lvl2pPr>
            <a:lvl3pPr marL="1177925"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20000"/>
              </a:spcBef>
            </a:pPr>
            <a:r>
              <a:rPr lang="en-US" altLang="zh-CN" sz="2000" dirty="0">
                <a:solidFill>
                  <a:schemeClr val="tx2"/>
                </a:solidFill>
                <a:ea typeface="微软雅黑" panose="020B0503020204020204" pitchFamily="34" charset="-122"/>
                <a:cs typeface="Times New Roman" panose="02020603050405020304" pitchFamily="18" charset="0"/>
              </a:rPr>
              <a:t>DB	</a:t>
            </a:r>
            <a:r>
              <a:rPr lang="zh-CN" altLang="en-US" sz="2000" dirty="0">
                <a:solidFill>
                  <a:schemeClr val="tx2"/>
                </a:solidFill>
                <a:ea typeface="微软雅黑" panose="020B0503020204020204" pitchFamily="34" charset="-122"/>
                <a:cs typeface="Times New Roman" panose="02020603050405020304" pitchFamily="18" charset="0"/>
              </a:rPr>
              <a:t>用来定义字节            </a:t>
            </a:r>
            <a:r>
              <a:rPr lang="en-US" altLang="zh-CN" sz="2000" dirty="0">
                <a:solidFill>
                  <a:schemeClr val="tx2"/>
                </a:solidFill>
                <a:ea typeface="微软雅黑" panose="020B0503020204020204" pitchFamily="34" charset="-122"/>
                <a:cs typeface="Times New Roman" panose="02020603050405020304" pitchFamily="18" charset="0"/>
              </a:rPr>
              <a:t>DW   </a:t>
            </a:r>
            <a:r>
              <a:rPr lang="zh-CN" altLang="en-US" sz="2000" dirty="0">
                <a:solidFill>
                  <a:schemeClr val="tx2"/>
                </a:solidFill>
                <a:ea typeface="微软雅黑" panose="020B0503020204020204" pitchFamily="34" charset="-122"/>
                <a:cs typeface="Times New Roman" panose="02020603050405020304" pitchFamily="18" charset="0"/>
              </a:rPr>
              <a:t>用来定义字</a:t>
            </a:r>
          </a:p>
          <a:p>
            <a:pPr>
              <a:spcBef>
                <a:spcPct val="20000"/>
              </a:spcBef>
            </a:pPr>
            <a:r>
              <a:rPr lang="en-US" altLang="zh-CN" sz="2000" dirty="0">
                <a:solidFill>
                  <a:schemeClr val="tx2"/>
                </a:solidFill>
                <a:ea typeface="微软雅黑" panose="020B0503020204020204" pitchFamily="34" charset="-122"/>
                <a:cs typeface="Times New Roman" panose="02020603050405020304" pitchFamily="18" charset="0"/>
              </a:rPr>
              <a:t>DD        </a:t>
            </a:r>
            <a:r>
              <a:rPr lang="zh-CN" altLang="en-US" sz="2000" dirty="0">
                <a:solidFill>
                  <a:schemeClr val="tx2"/>
                </a:solidFill>
                <a:ea typeface="微软雅黑" panose="020B0503020204020204" pitchFamily="34" charset="-122"/>
                <a:cs typeface="Times New Roman" panose="02020603050405020304" pitchFamily="18" charset="0"/>
              </a:rPr>
              <a:t>用来定义双字             </a:t>
            </a:r>
            <a:r>
              <a:rPr lang="en-US" altLang="zh-CN" sz="2000" dirty="0">
                <a:solidFill>
                  <a:schemeClr val="tx2"/>
                </a:solidFill>
                <a:ea typeface="微软雅黑" panose="020B0503020204020204" pitchFamily="34" charset="-122"/>
                <a:cs typeface="Times New Roman" panose="02020603050405020304" pitchFamily="18" charset="0"/>
              </a:rPr>
              <a:t>DF   </a:t>
            </a:r>
            <a:r>
              <a:rPr lang="zh-CN" altLang="en-US" sz="2000" dirty="0">
                <a:solidFill>
                  <a:schemeClr val="tx2"/>
                </a:solidFill>
                <a:ea typeface="微软雅黑" panose="020B0503020204020204" pitchFamily="34" charset="-122"/>
                <a:cs typeface="Times New Roman" panose="02020603050405020304" pitchFamily="18" charset="0"/>
              </a:rPr>
              <a:t>用来定义</a:t>
            </a:r>
            <a:r>
              <a:rPr lang="en-US" altLang="zh-CN" sz="2000" dirty="0">
                <a:solidFill>
                  <a:schemeClr val="tx2"/>
                </a:solidFill>
                <a:ea typeface="微软雅黑" panose="020B0503020204020204" pitchFamily="34" charset="-122"/>
                <a:cs typeface="Times New Roman" panose="02020603050405020304" pitchFamily="18" charset="0"/>
              </a:rPr>
              <a:t>6</a:t>
            </a:r>
            <a:r>
              <a:rPr lang="zh-CN" altLang="en-US" sz="2000" dirty="0">
                <a:solidFill>
                  <a:schemeClr val="tx2"/>
                </a:solidFill>
                <a:ea typeface="微软雅黑" panose="020B0503020204020204" pitchFamily="34" charset="-122"/>
                <a:cs typeface="Times New Roman" panose="02020603050405020304" pitchFamily="18" charset="0"/>
              </a:rPr>
              <a:t>字节内容</a:t>
            </a:r>
          </a:p>
          <a:p>
            <a:pPr>
              <a:spcBef>
                <a:spcPct val="20000"/>
              </a:spcBef>
            </a:pPr>
            <a:r>
              <a:rPr lang="en-US" altLang="zh-CN" sz="2000" dirty="0">
                <a:solidFill>
                  <a:schemeClr val="tx2"/>
                </a:solidFill>
                <a:ea typeface="微软雅黑" panose="020B0503020204020204" pitchFamily="34" charset="-122"/>
                <a:cs typeface="Times New Roman" panose="02020603050405020304" pitchFamily="18" charset="0"/>
              </a:rPr>
              <a:t>DQ         </a:t>
            </a:r>
            <a:r>
              <a:rPr lang="zh-CN" altLang="en-US" sz="2000" dirty="0">
                <a:solidFill>
                  <a:schemeClr val="tx2"/>
                </a:solidFill>
                <a:ea typeface="微软雅黑" panose="020B0503020204020204" pitchFamily="34" charset="-122"/>
                <a:cs typeface="Times New Roman" panose="02020603050405020304" pitchFamily="18" charset="0"/>
              </a:rPr>
              <a:t>用来定义</a:t>
            </a:r>
            <a:r>
              <a:rPr lang="en-US" altLang="zh-CN" sz="2000" dirty="0">
                <a:solidFill>
                  <a:schemeClr val="tx2"/>
                </a:solidFill>
                <a:ea typeface="微软雅黑" panose="020B0503020204020204" pitchFamily="34" charset="-122"/>
                <a:cs typeface="Times New Roman" panose="02020603050405020304" pitchFamily="18" charset="0"/>
              </a:rPr>
              <a:t>4</a:t>
            </a:r>
            <a:r>
              <a:rPr lang="zh-CN" altLang="en-US" sz="2000" dirty="0">
                <a:solidFill>
                  <a:schemeClr val="tx2"/>
                </a:solidFill>
                <a:ea typeface="微软雅黑" panose="020B0503020204020204" pitchFamily="34" charset="-122"/>
                <a:cs typeface="Times New Roman" panose="02020603050405020304" pitchFamily="18" charset="0"/>
              </a:rPr>
              <a:t>字内容      </a:t>
            </a:r>
            <a:r>
              <a:rPr lang="en-US" altLang="zh-CN" sz="2000" dirty="0">
                <a:solidFill>
                  <a:schemeClr val="tx2"/>
                </a:solidFill>
                <a:ea typeface="微软雅黑" panose="020B0503020204020204" pitchFamily="34" charset="-122"/>
                <a:cs typeface="Times New Roman" panose="02020603050405020304" pitchFamily="18" charset="0"/>
              </a:rPr>
              <a:t>DT   </a:t>
            </a:r>
            <a:r>
              <a:rPr lang="zh-CN" altLang="en-US" sz="2000" dirty="0">
                <a:solidFill>
                  <a:schemeClr val="tx2"/>
                </a:solidFill>
                <a:ea typeface="微软雅黑" panose="020B0503020204020204" pitchFamily="34" charset="-122"/>
                <a:cs typeface="Times New Roman" panose="02020603050405020304" pitchFamily="18" charset="0"/>
              </a:rPr>
              <a:t>用来定义</a:t>
            </a:r>
            <a:r>
              <a:rPr lang="en-US" altLang="zh-CN" sz="2000" dirty="0">
                <a:solidFill>
                  <a:schemeClr val="tx2"/>
                </a:solidFill>
                <a:ea typeface="微软雅黑" panose="020B0503020204020204" pitchFamily="34" charset="-122"/>
                <a:cs typeface="Times New Roman" panose="02020603050405020304" pitchFamily="18" charset="0"/>
              </a:rPr>
              <a:t>10</a:t>
            </a:r>
            <a:r>
              <a:rPr lang="zh-CN" altLang="en-US" sz="2000" dirty="0">
                <a:solidFill>
                  <a:schemeClr val="tx2"/>
                </a:solidFill>
                <a:ea typeface="微软雅黑" panose="020B0503020204020204" pitchFamily="34" charset="-122"/>
                <a:cs typeface="Times New Roman" panose="02020603050405020304" pitchFamily="18" charset="0"/>
              </a:rPr>
              <a:t>字节内容</a:t>
            </a:r>
          </a:p>
        </p:txBody>
      </p:sp>
      <p:sp>
        <p:nvSpPr>
          <p:cNvPr id="6" name="Rectangle 5"/>
          <p:cNvSpPr>
            <a:spLocks noChangeArrowheads="1"/>
          </p:cNvSpPr>
          <p:nvPr/>
        </p:nvSpPr>
        <p:spPr bwMode="auto">
          <a:xfrm>
            <a:off x="492292" y="3889540"/>
            <a:ext cx="7315200" cy="377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marL="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9144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13716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18288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2000" dirty="0">
                <a:solidFill>
                  <a:schemeClr val="tx2"/>
                </a:solidFill>
                <a:ea typeface="微软雅黑" panose="020B0503020204020204" pitchFamily="34" charset="-122"/>
                <a:cs typeface="Times New Roman" panose="02020603050405020304" pitchFamily="18" charset="0"/>
              </a:rPr>
              <a:t>伪指令助记符有如下几种：</a:t>
            </a:r>
          </a:p>
        </p:txBody>
      </p:sp>
      <p:sp>
        <p:nvSpPr>
          <p:cNvPr id="7" name="Rectangle 8"/>
          <p:cNvSpPr>
            <a:spLocks noChangeArrowheads="1"/>
          </p:cNvSpPr>
          <p:nvPr/>
        </p:nvSpPr>
        <p:spPr bwMode="auto">
          <a:xfrm>
            <a:off x="492292" y="2193667"/>
            <a:ext cx="8569325" cy="14073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spcBef>
                <a:spcPct val="25000"/>
              </a:spcBef>
            </a:pPr>
            <a:r>
              <a:rPr kumimoji="1"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格式：</a:t>
            </a:r>
          </a:p>
          <a:p>
            <a:pPr>
              <a:lnSpc>
                <a:spcPct val="130000"/>
              </a:lnSpc>
              <a:spcBef>
                <a:spcPct val="25000"/>
              </a:spcBef>
            </a:pPr>
            <a:r>
              <a:rPr kumimoji="1" lang="en-US" altLang="zh-CN"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名称</a:t>
            </a:r>
            <a:r>
              <a:rPr kumimoji="1" lang="en-US" altLang="zh-CN"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伪指令助记符</a:t>
            </a:r>
            <a:r>
              <a:rPr kumimoji="1" lang="zh-CN" altLang="en-US" sz="2000"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solidFill>
                  <a:srgbClr val="FF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数据表</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注释</a:t>
            </a:r>
            <a:r>
              <a:rPr kumimoji="1" lang="en-US" altLang="zh-CN"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30000"/>
              </a:lnSpc>
              <a:spcBef>
                <a:spcPct val="25000"/>
              </a:spcBef>
            </a:pPr>
            <a:r>
              <a:rPr kumimoji="1" lang="zh-CN" altLang="en-US" sz="2000"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其中变量名用符号地址表示，后面不能跟冒号。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animBg="1" autoUpdateAnimBg="0"/>
      <p:bldP spid="6" grpId="0" autoUpdateAnimBg="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en-US" altLang="zh-CN" b="1" dirty="0"/>
              <a:t>3.</a:t>
            </a:r>
            <a:r>
              <a:rPr lang="zh-CN" altLang="zh-CN" b="1" dirty="0"/>
              <a:t>段定义伪指令</a:t>
            </a:r>
          </a:p>
        </p:txBody>
      </p:sp>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矩形 4"/>
          <p:cNvSpPr/>
          <p:nvPr/>
        </p:nvSpPr>
        <p:spPr>
          <a:xfrm>
            <a:off x="482622" y="2193667"/>
            <a:ext cx="7977810" cy="3831818"/>
          </a:xfrm>
          <a:prstGeom prst="rect">
            <a:avLst/>
          </a:prstGeom>
        </p:spPr>
        <p:txBody>
          <a:bodyPr wrap="square">
            <a:spAutoFit/>
          </a:bodyPr>
          <a:lstStyle/>
          <a:p>
            <a:pPr marL="0" marR="0" lvl="0" indent="0" defTabSz="914400" eaLnBrk="1" fontAlgn="auto" latinLnBrk="0" hangingPunct="1">
              <a:lnSpc>
                <a:spcPct val="120000"/>
              </a:lnSpc>
              <a:spcBef>
                <a:spcPts val="60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rPr>
              <a:t> </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段定义伪指令的用途是在汇编语言程序中定义逻辑段，用它来指定段的名称和范围，并指明段的定位类型、组合类型及类别。</a:t>
            </a:r>
          </a:p>
          <a:p>
            <a:pPr marL="0" marR="0" lvl="0" indent="0" defTabSz="914400" eaLnBrk="1" fontAlgn="auto" latinLnBrk="0" hangingPunct="1">
              <a:lnSpc>
                <a:spcPct val="120000"/>
              </a:lnSpc>
              <a:spcBef>
                <a:spcPts val="60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常用的段定义伪指令有</a:t>
            </a:r>
            <a:r>
              <a:rPr kumimoji="1" lang="zh-CN" altLang="en-US"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SEGMENT / ENDS</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zh-CN" altLang="en-US"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和 </a:t>
            </a:r>
            <a:r>
              <a:rPr kumimoji="1" lang="en-US" altLang="zh-CN"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ASSUME</a:t>
            </a:r>
            <a:r>
              <a:rPr kumimoji="1" lang="zh-CN" altLang="en-US"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等。</a:t>
            </a:r>
            <a:r>
              <a:rPr kumimoji="1"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defTabSz="914400" eaLnBrk="1" fontAlgn="auto" latinLnBrk="0" hangingPunct="1">
              <a:lnSpc>
                <a:spcPct val="90000"/>
              </a:lnSpc>
              <a:spcBef>
                <a:spcPts val="600"/>
              </a:spcBef>
              <a:spcAft>
                <a:spcPts val="0"/>
              </a:spcAft>
              <a:buClrTx/>
              <a:buSzTx/>
              <a:buFontTx/>
              <a:buNone/>
              <a:defRPr/>
            </a:pPr>
            <a:r>
              <a:rPr kumimoji="1" lang="zh-CN" altLang="en-US"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1" lang="en-US" altLang="zh-CN"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1</a:t>
            </a:r>
            <a:r>
              <a:rPr kumimoji="1" lang="zh-CN" altLang="en-US"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1" lang="zh-CN" altLang="en-US" sz="2000" b="0" i="0" u="none" strike="noStrike" kern="0" cap="none" spc="0" normalizeH="0" baseline="0" noProof="0" dirty="0">
                <a:ln>
                  <a:noFill/>
                </a:ln>
                <a:solidFill>
                  <a:srgbClr val="FF3300"/>
                </a:solidFill>
                <a:effectLst>
                  <a:outerShdw blurRad="38100" dist="38100" dir="2700000" algn="tl">
                    <a:srgbClr val="C0C0C0"/>
                  </a:outerShdw>
                </a:effectLst>
                <a:uLnTx/>
                <a:uFillTx/>
                <a:latin typeface="黑体" panose="02010609060101010101" pitchFamily="49" charset="-122"/>
                <a:ea typeface="黑体" panose="02010609060101010101" pitchFamily="49" charset="-122"/>
              </a:rPr>
              <a:t>段定义伪指令</a:t>
            </a:r>
            <a:r>
              <a:rPr kumimoji="1" lang="zh-CN" altLang="en-US" sz="2000" b="0"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SEGMENT/ENDS</a:t>
            </a:r>
          </a:p>
          <a:p>
            <a:pPr marL="0" marR="0" lvl="1" indent="0" defTabSz="914400" eaLnBrk="1" fontAlgn="auto" latinLnBrk="0" hangingPunct="1">
              <a:lnSpc>
                <a:spcPct val="100000"/>
              </a:lnSpc>
              <a:spcBef>
                <a:spcPts val="60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格式  </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endParaRPr kumimoji="1" lang="en-US" altLang="zh-CN" sz="11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a:p>
            <a:pPr marL="0" marR="0" lvl="1" indent="0" defTabSz="914400" eaLnBrk="1" fontAlgn="auto" latinLnBrk="0" hangingPunct="1">
              <a:lnSpc>
                <a:spcPct val="90000"/>
              </a:lnSpc>
              <a:spcBef>
                <a:spcPts val="600"/>
              </a:spcBef>
              <a:spcAft>
                <a:spcPts val="0"/>
              </a:spcAft>
              <a:buClrTx/>
              <a:buSzTx/>
              <a:buFontTx/>
              <a:buNone/>
              <a:defRPr/>
            </a:pPr>
            <a:r>
              <a:rPr kumimoji="1" lang="zh-CN" altLang="en-US" sz="2000" b="1" i="0" u="none" strike="noStrike" kern="0" cap="none" spc="0" normalizeH="0" baseline="0" noProof="0" dirty="0">
                <a:ln>
                  <a:noFill/>
                </a:ln>
                <a:solidFill>
                  <a:srgbClr val="333399"/>
                </a:solidFill>
                <a:effectLst/>
                <a:uLnTx/>
                <a:uFillTx/>
                <a:latin typeface="Times New Roman" panose="02020603050405020304" pitchFamily="18" charset="0"/>
                <a:ea typeface="黑体" panose="02010609060101010101" pitchFamily="49" charset="-122"/>
              </a:rPr>
              <a:t>         段名</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SEGMENT</a:t>
            </a: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定位类型</a:t>
            </a: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组合类型</a:t>
            </a: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分类名</a:t>
            </a: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p>
          <a:p>
            <a:pPr marL="0" marR="0" lvl="1" indent="0" defTabSz="914400" eaLnBrk="1" fontAlgn="auto" latinLnBrk="0" hangingPunct="1">
              <a:lnSpc>
                <a:spcPct val="100000"/>
              </a:lnSpc>
              <a:spcBef>
                <a:spcPts val="60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段体</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；本段程序内容</a:t>
            </a: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指令语句或伪指令语句</a:t>
            </a:r>
            <a:r>
              <a:rPr kumimoji="1" lang="en-US" altLang="zh-CN"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a:t>
            </a:r>
          </a:p>
          <a:p>
            <a:pPr marL="0" marR="0" lvl="1" indent="0" defTabSz="914400" eaLnBrk="1" fontAlgn="auto" latinLnBrk="0" hangingPunct="1">
              <a:lnSpc>
                <a:spcPct val="100000"/>
              </a:lnSpc>
              <a:spcBef>
                <a:spcPts val="600"/>
              </a:spcBef>
              <a:spcAft>
                <a:spcPts val="0"/>
              </a:spcAft>
              <a:buClrTx/>
              <a:buSzTx/>
              <a:buFontTx/>
              <a:buNone/>
              <a:defRPr/>
            </a:pPr>
            <a:r>
              <a:rPr kumimoji="1" lang="zh-CN" altLang="en-US" sz="2000" b="1" i="0" u="none" strike="noStrike" kern="0" cap="none" spc="0" normalizeH="0" baseline="0" noProof="0" dirty="0">
                <a:ln>
                  <a:noFill/>
                </a:ln>
                <a:solidFill>
                  <a:srgbClr val="333399"/>
                </a:solidFill>
                <a:effectLst/>
                <a:uLnTx/>
                <a:uFillTx/>
                <a:latin typeface="Times New Roman" panose="02020603050405020304" pitchFamily="18" charset="0"/>
                <a:ea typeface="黑体" panose="02010609060101010101" pitchFamily="49" charset="-122"/>
              </a:rPr>
              <a:t>         段名</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 </a:t>
            </a:r>
            <a:r>
              <a:rPr kumimoji="1" lang="zh-CN" altLang="en-US"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ENDS</a:t>
            </a:r>
          </a:p>
          <a:p>
            <a:pPr marL="0" marR="0" lvl="1" indent="0" defTabSz="914400" eaLnBrk="1" fontAlgn="auto" latinLnBrk="0" hangingPunct="1">
              <a:lnSpc>
                <a:spcPct val="100000"/>
              </a:lnSpc>
              <a:spcBef>
                <a:spcPts val="600"/>
              </a:spcBef>
              <a:spcAft>
                <a:spcPts val="0"/>
              </a:spcAft>
              <a:buClrTx/>
              <a:buSzTx/>
              <a:buFontTx/>
              <a:buNone/>
              <a:defRPr/>
            </a:pPr>
            <a:r>
              <a:rPr kumimoji="1" lang="zh-CN" altLang="en-US" sz="2000" b="1" i="0" u="none" strike="noStrike" kern="0" cap="none" spc="0" normalizeH="0" baseline="0" noProof="0" dirty="0">
                <a:ln>
                  <a:noFill/>
                </a:ln>
                <a:solidFill>
                  <a:srgbClr val="333399"/>
                </a:solidFill>
                <a:effectLst/>
                <a:uLnTx/>
                <a:uFillTx/>
                <a:latin typeface="Times New Roman" panose="02020603050405020304" pitchFamily="18" charset="0"/>
                <a:ea typeface="楷体_GB2312" pitchFamily="49" charset="-122"/>
              </a:rPr>
              <a:t>         段名</a:t>
            </a:r>
            <a:r>
              <a:rPr kumimoji="1" lang="zh-CN" altLang="en-US" sz="2000" b="1" i="0" u="none" strike="noStrike" kern="0" cap="none" spc="0" normalizeH="0" baseline="0" noProof="0" dirty="0">
                <a:ln>
                  <a:noFill/>
                </a:ln>
                <a:solidFill>
                  <a:srgbClr val="000000"/>
                </a:solidFill>
                <a:effectLst/>
                <a:uLnTx/>
                <a:uFillTx/>
                <a:latin typeface="楷体_GB2312" pitchFamily="49" charset="-122"/>
                <a:ea typeface="楷体_GB2312" pitchFamily="49" charset="-122"/>
              </a:rPr>
              <a:t>为所定义段的名称或标识符，用于识别段，指示汇编程序为该段分配的存储器起始位置。</a:t>
            </a:r>
            <a:endParaRPr kumimoji="0" lang="zh-CN" altLang="en-US" sz="1600" b="0" i="0" u="none" strike="noStrike" kern="0" cap="none" spc="0" normalizeH="0" baseline="0" noProof="0" dirty="0">
              <a:ln>
                <a:noFill/>
              </a:ln>
              <a:solidFill>
                <a:sysClr val="windowText" lastClr="000000"/>
              </a:solidFill>
              <a:effectLst/>
              <a:uLnTx/>
              <a:uFillTx/>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down)">
                                      <p:cBhvr>
                                        <p:cTn id="12" dur="500"/>
                                        <p:tgtEl>
                                          <p:spTgt spid="5">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wipe(down)">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500"/>
                                        <p:tgtEl>
                                          <p:spTgt spid="5">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fade">
                                      <p:cBhvr>
                                        <p:cTn id="35"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Text Box 2"/>
          <p:cNvSpPr txBox="1">
            <a:spLocks noChangeArrowheads="1"/>
          </p:cNvSpPr>
          <p:nvPr/>
        </p:nvSpPr>
        <p:spPr bwMode="auto">
          <a:xfrm>
            <a:off x="469173" y="2883056"/>
            <a:ext cx="8353425" cy="3105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0" fontAlgn="auto" latinLnBrk="0" hangingPunct="0">
              <a:lnSpc>
                <a:spcPct val="150000"/>
              </a:lnSpc>
              <a:spcBef>
                <a:spcPts val="0"/>
              </a:spcBef>
              <a:spcAft>
                <a:spcPts val="0"/>
              </a:spcAft>
              <a:buClr>
                <a:srgbClr val="FF3300"/>
              </a:buClr>
              <a:buSzTx/>
              <a:buFont typeface="宋体" panose="02010600030101010101" pitchFamily="2" charset="-122"/>
              <a:buChar char="▲"/>
              <a:defRPr/>
            </a:pP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段定义由伪指令</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SEGMENT</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开始</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r>
              <a:rPr kumimoji="1" lang="en-US" altLang="zh-CN" sz="1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ENDS</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结束</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p>
          <a:p>
            <a:pPr marL="0" marR="0" lvl="3" indent="0" algn="just" defTabSz="914400" eaLnBrk="0" fontAlgn="auto" latinLnBrk="0" hangingPunct="0">
              <a:lnSpc>
                <a:spcPct val="15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其中： </a:t>
            </a: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SEGMENT </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和</a:t>
            </a: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ENDS </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必须成对出现，</a:t>
            </a:r>
          </a:p>
          <a:p>
            <a:pPr marL="0" marR="0" lvl="3" indent="0" algn="just" defTabSz="914400" eaLnBrk="0" fontAlgn="auto" latinLnBrk="0" hangingPunct="0">
              <a:lnSpc>
                <a:spcPct val="150000"/>
              </a:lnSpc>
              <a:spcBef>
                <a:spcPts val="0"/>
              </a:spcBef>
              <a:spcAft>
                <a:spcPts val="1200"/>
              </a:spcAft>
              <a:buClrTx/>
              <a:buSzTx/>
              <a:buFontTx/>
              <a:buNone/>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且语句前必须有段名，</a:t>
            </a:r>
            <a:r>
              <a:rPr kumimoji="1" lang="zh-CN" altLang="en-US" sz="1800"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段名必须相同</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p>
          <a:p>
            <a:pPr marL="0" marR="0" lvl="0" indent="0" algn="just" defTabSz="914400" eaLnBrk="0" fontAlgn="auto" latinLnBrk="0" hangingPunct="0">
              <a:lnSpc>
                <a:spcPct val="150000"/>
              </a:lnSpc>
              <a:spcBef>
                <a:spcPts val="0"/>
              </a:spcBef>
              <a:spcAft>
                <a:spcPts val="0"/>
              </a:spcAft>
              <a:buClr>
                <a:srgbClr val="FF3300"/>
              </a:buClr>
              <a:buSzTx/>
              <a:buFont typeface="宋体" panose="02010600030101010101" pitchFamily="2" charset="-122"/>
              <a:buChar char="▲"/>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SEGMENT</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和</a:t>
            </a: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ENDS</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语句之间可以有指令和其他伪操作</a:t>
            </a: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p>
          <a:p>
            <a:pPr marL="0" marR="0" lvl="0" indent="0" algn="just" defTabSz="914400" eaLnBrk="0" fontAlgn="auto" latinLnBrk="0" hangingPunct="0">
              <a:lnSpc>
                <a:spcPct val="150000"/>
              </a:lnSpc>
              <a:spcBef>
                <a:spcPts val="0"/>
              </a:spcBef>
              <a:spcAft>
                <a:spcPts val="0"/>
              </a:spcAft>
              <a:buClr>
                <a:srgbClr val="FF3300"/>
              </a:buClr>
              <a:buSzTx/>
              <a:buFont typeface="宋体" panose="02010600030101010101" pitchFamily="2" charset="-122"/>
              <a:buNone/>
              <a:defRPr/>
            </a:pPr>
            <a:r>
              <a:rPr kumimoji="1"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表示存放在该段内存的变量、指令或其他伪操作对该段内存的处理。</a:t>
            </a:r>
          </a:p>
          <a:p>
            <a:pPr marL="0" marR="0" lvl="0" indent="0" algn="just" defTabSz="914400" eaLnBrk="0" fontAlgn="auto" latinLnBrk="0" hangingPunct="0">
              <a:lnSpc>
                <a:spcPct val="150000"/>
              </a:lnSpc>
              <a:spcBef>
                <a:spcPts val="0"/>
              </a:spcBef>
              <a:spcAft>
                <a:spcPts val="0"/>
              </a:spcAft>
              <a:buClr>
                <a:srgbClr val="FF3300"/>
              </a:buClr>
              <a:buSzTx/>
              <a:buFont typeface="宋体" panose="02010600030101010101" pitchFamily="2" charset="-122"/>
              <a:buChar char="▲"/>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程序中可以定义多个段，如</a:t>
            </a:r>
            <a:r>
              <a:rPr kumimoji="1" lang="zh-CN" altLang="en-US" sz="1800" b="1" i="0" u="none" strike="noStrike" kern="0" cap="none" spc="0" normalizeH="0" baseline="0" noProof="0" dirty="0">
                <a:ln>
                  <a:noFill/>
                </a:ln>
                <a:solidFill>
                  <a:srgbClr val="C00000"/>
                </a:solidFill>
                <a:effectLst/>
                <a:uLnTx/>
                <a:uFillTx/>
                <a:latin typeface="Times New Roman" panose="02020603050405020304" pitchFamily="18" charset="0"/>
                <a:ea typeface="楷体_GB2312" pitchFamily="49" charset="-122"/>
              </a:rPr>
              <a:t>数据段、代码段、堆栈段、附加段</a:t>
            </a: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p>
          <a:p>
            <a:pPr marL="0" marR="0" lvl="0" indent="0" algn="just" defTabSz="914400" eaLnBrk="0" fontAlgn="auto" latinLnBrk="0" hangingPunct="0">
              <a:lnSpc>
                <a:spcPct val="150000"/>
              </a:lnSpc>
              <a:spcBef>
                <a:spcPts val="0"/>
              </a:spcBef>
              <a:spcAft>
                <a:spcPts val="0"/>
              </a:spcAft>
              <a:buClr>
                <a:srgbClr val="FF3300"/>
              </a:buClr>
              <a:buSzTx/>
              <a:buFont typeface="宋体" panose="02010600030101010101" pitchFamily="2" charset="-122"/>
              <a:buChar char="▲"/>
              <a:defRPr/>
            </a:pPr>
            <a:r>
              <a:rPr kumimoji="1"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程序经汇编、链接及装入内存后，段名为一具体的段值。</a:t>
            </a:r>
          </a:p>
        </p:txBody>
      </p:sp>
      <p:sp>
        <p:nvSpPr>
          <p:cNvPr id="6" name="矩形 5"/>
          <p:cNvSpPr/>
          <p:nvPr/>
        </p:nvSpPr>
        <p:spPr>
          <a:xfrm>
            <a:off x="611813" y="1623591"/>
            <a:ext cx="7110536" cy="1138773"/>
          </a:xfrm>
          <a:prstGeom prst="rect">
            <a:avLst/>
          </a:prstGeom>
        </p:spPr>
        <p:txBody>
          <a:bodyPr wrap="square">
            <a:spAutoFit/>
          </a:bodyPr>
          <a:lstStyle/>
          <a:p>
            <a:pPr marL="0" lvl="1" fontAlgn="auto">
              <a:lnSpc>
                <a:spcPct val="90000"/>
              </a:lnSpc>
              <a:spcBef>
                <a:spcPts val="600"/>
              </a:spcBef>
              <a:spcAft>
                <a:spcPts val="0"/>
              </a:spcAft>
              <a:defRPr/>
            </a:pPr>
            <a:r>
              <a:rPr kumimoji="1" lang="zh-CN" altLang="en-US" sz="2000" b="1" kern="0" dirty="0">
                <a:solidFill>
                  <a:srgbClr val="333399"/>
                </a:solidFill>
                <a:latin typeface="Times New Roman" panose="02020603050405020304" pitchFamily="18" charset="0"/>
                <a:ea typeface="黑体" panose="02010609060101010101" pitchFamily="49" charset="-122"/>
              </a:rPr>
              <a:t>段名</a:t>
            </a:r>
            <a:r>
              <a:rPr kumimoji="1" lang="zh-CN" altLang="en-US" sz="2000" b="1" kern="0" dirty="0">
                <a:solidFill>
                  <a:srgbClr val="000000"/>
                </a:solidFill>
                <a:latin typeface="楷体_GB2312" pitchFamily="49" charset="-122"/>
                <a:ea typeface="楷体_GB2312" pitchFamily="49" charset="-122"/>
              </a:rPr>
              <a:t> </a:t>
            </a:r>
            <a:r>
              <a:rPr kumimoji="1" lang="en-US" altLang="zh-CN" sz="2000" b="1" kern="0" dirty="0">
                <a:solidFill>
                  <a:srgbClr val="FF3300"/>
                </a:solidFill>
                <a:latin typeface="Times New Roman" panose="02020603050405020304" pitchFamily="18" charset="0"/>
                <a:ea typeface="楷体_GB2312" pitchFamily="49" charset="-122"/>
              </a:rPr>
              <a:t>SEGMENT</a:t>
            </a:r>
            <a:r>
              <a:rPr kumimoji="1" lang="en-US" altLang="zh-CN" sz="2000" b="1" kern="0" dirty="0">
                <a:solidFill>
                  <a:srgbClr val="000000"/>
                </a:solidFill>
                <a:latin typeface="楷体_GB2312" pitchFamily="49" charset="-122"/>
                <a:ea typeface="楷体_GB2312" pitchFamily="49" charset="-122"/>
              </a:rPr>
              <a:t> [</a:t>
            </a:r>
            <a:r>
              <a:rPr kumimoji="1" lang="zh-CN" altLang="en-US" sz="2000" b="1" kern="0" dirty="0">
                <a:solidFill>
                  <a:srgbClr val="000000"/>
                </a:solidFill>
                <a:latin typeface="楷体_GB2312" pitchFamily="49" charset="-122"/>
                <a:ea typeface="楷体_GB2312" pitchFamily="49" charset="-122"/>
              </a:rPr>
              <a:t>定位类型</a:t>
            </a:r>
            <a:r>
              <a:rPr kumimoji="1" lang="en-US" altLang="zh-CN" sz="2000" b="1" kern="0" dirty="0">
                <a:solidFill>
                  <a:srgbClr val="000000"/>
                </a:solidFill>
                <a:latin typeface="楷体_GB2312" pitchFamily="49" charset="-122"/>
                <a:ea typeface="楷体_GB2312" pitchFamily="49" charset="-122"/>
              </a:rPr>
              <a:t>] [</a:t>
            </a:r>
            <a:r>
              <a:rPr kumimoji="1" lang="zh-CN" altLang="en-US" sz="2000" b="1" kern="0" dirty="0">
                <a:solidFill>
                  <a:srgbClr val="000000"/>
                </a:solidFill>
                <a:latin typeface="楷体_GB2312" pitchFamily="49" charset="-122"/>
                <a:ea typeface="楷体_GB2312" pitchFamily="49" charset="-122"/>
              </a:rPr>
              <a:t>组合类型</a:t>
            </a:r>
            <a:r>
              <a:rPr kumimoji="1" lang="en-US" altLang="zh-CN" sz="2000" b="1" kern="0" dirty="0">
                <a:solidFill>
                  <a:srgbClr val="000000"/>
                </a:solidFill>
                <a:latin typeface="楷体_GB2312" pitchFamily="49" charset="-122"/>
                <a:ea typeface="楷体_GB2312" pitchFamily="49" charset="-122"/>
              </a:rPr>
              <a:t>] [</a:t>
            </a:r>
            <a:r>
              <a:rPr kumimoji="1" lang="zh-CN" altLang="en-US" sz="2000" b="1" kern="0" dirty="0">
                <a:solidFill>
                  <a:srgbClr val="000000"/>
                </a:solidFill>
                <a:latin typeface="楷体_GB2312" pitchFamily="49" charset="-122"/>
                <a:ea typeface="楷体_GB2312" pitchFamily="49" charset="-122"/>
              </a:rPr>
              <a:t>分类名</a:t>
            </a:r>
            <a:r>
              <a:rPr kumimoji="1" lang="en-US" altLang="zh-CN" sz="2000" b="1" kern="0" dirty="0">
                <a:solidFill>
                  <a:srgbClr val="000000"/>
                </a:solidFill>
                <a:latin typeface="楷体_GB2312" pitchFamily="49" charset="-122"/>
                <a:ea typeface="楷体_GB2312" pitchFamily="49" charset="-122"/>
              </a:rPr>
              <a:t>]</a:t>
            </a:r>
          </a:p>
          <a:p>
            <a:pPr marL="0" lvl="1" fontAlgn="auto">
              <a:spcBef>
                <a:spcPts val="600"/>
              </a:spcBef>
              <a:spcAft>
                <a:spcPts val="0"/>
              </a:spcAft>
              <a:defRPr/>
            </a:pPr>
            <a:r>
              <a:rPr kumimoji="1" lang="en-US" altLang="zh-CN" sz="2000" b="1" kern="0" dirty="0">
                <a:solidFill>
                  <a:srgbClr val="000000"/>
                </a:solidFill>
                <a:latin typeface="楷体_GB2312" pitchFamily="49" charset="-122"/>
                <a:ea typeface="楷体_GB2312" pitchFamily="49" charset="-122"/>
              </a:rPr>
              <a:t>                   </a:t>
            </a:r>
            <a:r>
              <a:rPr kumimoji="1" lang="zh-CN" altLang="en-US" sz="2000" b="1" kern="0" dirty="0">
                <a:solidFill>
                  <a:srgbClr val="000000"/>
                </a:solidFill>
                <a:latin typeface="Times New Roman" panose="02020603050405020304" pitchFamily="18" charset="0"/>
                <a:ea typeface="楷体_GB2312" pitchFamily="49" charset="-122"/>
              </a:rPr>
              <a:t>段体</a:t>
            </a:r>
            <a:r>
              <a:rPr kumimoji="1" lang="zh-CN" altLang="en-US" sz="2000" b="1" kern="0" dirty="0">
                <a:solidFill>
                  <a:srgbClr val="000000"/>
                </a:solidFill>
                <a:latin typeface="楷体_GB2312" pitchFamily="49" charset="-122"/>
                <a:ea typeface="楷体_GB2312" pitchFamily="49" charset="-122"/>
              </a:rPr>
              <a:t>       ；本段程序内容</a:t>
            </a:r>
            <a:r>
              <a:rPr kumimoji="1" lang="en-US" altLang="zh-CN" sz="2000" b="1" kern="0" dirty="0">
                <a:solidFill>
                  <a:srgbClr val="000000"/>
                </a:solidFill>
                <a:latin typeface="楷体_GB2312" pitchFamily="49" charset="-122"/>
                <a:ea typeface="楷体_GB2312" pitchFamily="49" charset="-122"/>
              </a:rPr>
              <a:t>(</a:t>
            </a:r>
            <a:r>
              <a:rPr kumimoji="1" lang="zh-CN" altLang="en-US" sz="2000" b="1" kern="0" dirty="0">
                <a:solidFill>
                  <a:srgbClr val="000000"/>
                </a:solidFill>
                <a:latin typeface="楷体_GB2312" pitchFamily="49" charset="-122"/>
                <a:ea typeface="楷体_GB2312" pitchFamily="49" charset="-122"/>
              </a:rPr>
              <a:t>指令语句或伪指令语句</a:t>
            </a:r>
            <a:r>
              <a:rPr kumimoji="1" lang="en-US" altLang="zh-CN" sz="2000" b="1" kern="0" dirty="0">
                <a:solidFill>
                  <a:srgbClr val="000000"/>
                </a:solidFill>
                <a:latin typeface="楷体_GB2312" pitchFamily="49" charset="-122"/>
                <a:ea typeface="楷体_GB2312" pitchFamily="49" charset="-122"/>
              </a:rPr>
              <a:t>)</a:t>
            </a:r>
          </a:p>
          <a:p>
            <a:pPr marL="0" lvl="1" fontAlgn="auto">
              <a:spcBef>
                <a:spcPts val="600"/>
              </a:spcBef>
              <a:spcAft>
                <a:spcPts val="0"/>
              </a:spcAft>
              <a:defRPr/>
            </a:pPr>
            <a:r>
              <a:rPr kumimoji="1" lang="zh-CN" altLang="en-US" sz="2000" b="1" kern="0" dirty="0">
                <a:solidFill>
                  <a:srgbClr val="333399"/>
                </a:solidFill>
                <a:latin typeface="Times New Roman" panose="02020603050405020304" pitchFamily="18" charset="0"/>
                <a:ea typeface="黑体" panose="02010609060101010101" pitchFamily="49" charset="-122"/>
              </a:rPr>
              <a:t>段名</a:t>
            </a:r>
            <a:r>
              <a:rPr kumimoji="1" lang="zh-CN" altLang="en-US" sz="2000" b="1" kern="0" dirty="0">
                <a:solidFill>
                  <a:srgbClr val="000000"/>
                </a:solidFill>
                <a:latin typeface="楷体_GB2312" pitchFamily="49" charset="-122"/>
                <a:ea typeface="楷体_GB2312" pitchFamily="49" charset="-122"/>
              </a:rPr>
              <a:t> </a:t>
            </a:r>
            <a:r>
              <a:rPr kumimoji="1" lang="zh-CN" altLang="en-US" sz="2000" b="1" kern="0" dirty="0">
                <a:solidFill>
                  <a:srgbClr val="FF3300"/>
                </a:solidFill>
                <a:latin typeface="Times New Roman" panose="02020603050405020304" pitchFamily="18" charset="0"/>
                <a:ea typeface="楷体_GB2312" pitchFamily="49" charset="-122"/>
              </a:rPr>
              <a:t>  </a:t>
            </a:r>
            <a:r>
              <a:rPr kumimoji="1" lang="en-US" altLang="zh-CN" sz="2000" b="1" kern="0" dirty="0">
                <a:solidFill>
                  <a:srgbClr val="FF3300"/>
                </a:solidFill>
                <a:latin typeface="Times New Roman" panose="02020603050405020304" pitchFamily="18" charset="0"/>
                <a:ea typeface="楷体_GB2312" pitchFamily="49" charset="-122"/>
              </a:rPr>
              <a:t>ENDS</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3" dur="500"/>
                                        <p:tgtEl>
                                          <p:spTgt spid="5">
                                            <p:txEl>
                                              <p:pRg st="3" end="3"/>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6" dur="500"/>
                                        <p:tgtEl>
                                          <p:spTgt spid="5">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barn(inVertical)">
                                      <p:cBhvr>
                                        <p:cTn id="31" dur="500"/>
                                        <p:tgtEl>
                                          <p:spTgt spid="5">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
                                            <p:txEl>
                                              <p:pRg st="6" end="6"/>
                                            </p:txEl>
                                          </p:spTgt>
                                        </p:tgtEl>
                                        <p:attrNameLst>
                                          <p:attrName>style.visibility</p:attrName>
                                        </p:attrNameLst>
                                      </p:cBhvr>
                                      <p:to>
                                        <p:strVal val="visible"/>
                                      </p:to>
                                    </p:set>
                                    <p:animEffect transition="in" filter="wipe(down)">
                                      <p:cBhvr>
                                        <p:cTn id="36"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12" name="Text Box 3"/>
          <p:cNvSpPr txBox="1">
            <a:spLocks noChangeArrowheads="1"/>
          </p:cNvSpPr>
          <p:nvPr/>
        </p:nvSpPr>
        <p:spPr bwMode="auto">
          <a:xfrm>
            <a:off x="467955" y="3209781"/>
            <a:ext cx="8497888"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pPr>
            <a:r>
              <a:rPr kumimoji="0" lang="en-GB"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a:t>
            </a:r>
            <a:r>
              <a:rPr kumimoji="0" lang="en-GB"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BYTE</a:t>
            </a:r>
          </a:p>
          <a:p>
            <a:pPr>
              <a:spcBef>
                <a:spcPct val="5000"/>
              </a:spcBef>
            </a:pPr>
            <a:r>
              <a:rPr lang="zh-CN" altLang="en-GB" sz="20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起始地址  </a:t>
            </a:r>
            <a:r>
              <a:rPr kumimoji="0" lang="zh-CN" altLang="en-GB"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  ×××× ×××× ××××</a:t>
            </a:r>
            <a:endParaRPr kumimoji="0"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Box 5"/>
          <p:cNvSpPr txBox="1">
            <a:spLocks noChangeArrowheads="1"/>
          </p:cNvSpPr>
          <p:nvPr/>
        </p:nvSpPr>
        <p:spPr bwMode="auto">
          <a:xfrm>
            <a:off x="500302" y="4721949"/>
            <a:ext cx="8675688"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pPr>
            <a:r>
              <a:rPr lang="en-GB"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4）</a:t>
            </a:r>
            <a:r>
              <a:rPr lang="en-GB"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DWORD </a:t>
            </a:r>
          </a:p>
          <a:p>
            <a:pPr>
              <a:spcBef>
                <a:spcPct val="5000"/>
              </a:spcBef>
            </a:pPr>
            <a:r>
              <a:rPr lang="zh-CN" altLang="en-GB" sz="20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起始地址    </a:t>
            </a:r>
            <a:r>
              <a:rPr kumimoji="0" lang="zh-CN" altLang="en-GB"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  ×××× ×××× ××00 </a:t>
            </a:r>
            <a:endParaRPr kumimoji="0"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Text Box 7"/>
          <p:cNvSpPr txBox="1">
            <a:spLocks noChangeArrowheads="1"/>
          </p:cNvSpPr>
          <p:nvPr/>
        </p:nvSpPr>
        <p:spPr bwMode="auto">
          <a:xfrm>
            <a:off x="455176" y="5519554"/>
            <a:ext cx="7924800" cy="86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pPr>
            <a:r>
              <a:rPr lang="en-GB"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4）</a:t>
            </a:r>
            <a:r>
              <a:rPr lang="en-GB"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PAGE </a:t>
            </a:r>
          </a:p>
          <a:p>
            <a:pPr>
              <a:spcBef>
                <a:spcPct val="50000"/>
              </a:spcBef>
            </a:pPr>
            <a:r>
              <a:rPr lang="zh-CN" altLang="en-GB" sz="20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起始地址      </a:t>
            </a:r>
            <a:r>
              <a:rPr kumimoji="0" lang="zh-CN" altLang="en-GB"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  ×××× 0000 0000</a:t>
            </a:r>
            <a:endParaRPr kumimoji="0"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Text Box 9"/>
          <p:cNvSpPr txBox="1">
            <a:spLocks noChangeArrowheads="1"/>
          </p:cNvSpPr>
          <p:nvPr/>
        </p:nvSpPr>
        <p:spPr bwMode="auto">
          <a:xfrm>
            <a:off x="455176" y="1642775"/>
            <a:ext cx="5943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en-GB" altLang="en-US" sz="2000" b="1" dirty="0">
                <a:latin typeface="微软雅黑" panose="020B0503020204020204" pitchFamily="34" charset="-122"/>
                <a:ea typeface="微软雅黑" panose="020B0503020204020204" pitchFamily="34" charset="-122"/>
                <a:cs typeface="Times New Roman" panose="02020603050405020304" pitchFamily="18" charset="0"/>
              </a:rPr>
              <a:t>① </a:t>
            </a:r>
            <a:r>
              <a:rPr kumimoji="0" lang="en-GB" altLang="en-US" sz="2000" b="1" dirty="0" err="1">
                <a:latin typeface="Times New Roman" panose="02020603050405020304" pitchFamily="18" charset="0"/>
                <a:ea typeface="微软雅黑" panose="020B0503020204020204" pitchFamily="34" charset="-122"/>
                <a:cs typeface="Times New Roman" panose="02020603050405020304" pitchFamily="18" charset="0"/>
              </a:rPr>
              <a:t>定位方式</a:t>
            </a:r>
            <a:r>
              <a:rPr kumimoji="0" lang="en-GB" altLang="en-US" sz="2000" b="1"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（定位类型</a:t>
            </a:r>
            <a:r>
              <a:rPr kumimoji="0" lang="en-GB"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GB" altLang="en-US" sz="2000"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en-GB"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kumimoji="0" lang="en-GB" altLang="zh-CN" sz="2000" b="1" dirty="0">
                <a:latin typeface="Times New Roman" panose="02020603050405020304" pitchFamily="18" charset="0"/>
                <a:ea typeface="微软雅黑" panose="020B0503020204020204" pitchFamily="34" charset="-122"/>
                <a:cs typeface="Times New Roman" panose="02020603050405020304" pitchFamily="18" charset="0"/>
              </a:rPr>
              <a:t>Align）</a:t>
            </a:r>
            <a:endParaRPr kumimoji="0"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10"/>
          <p:cNvSpPr txBox="1">
            <a:spLocks noChangeArrowheads="1"/>
          </p:cNvSpPr>
          <p:nvPr/>
        </p:nvSpPr>
        <p:spPr bwMode="auto">
          <a:xfrm>
            <a:off x="499626" y="2054877"/>
            <a:ext cx="7772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0"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说明</a:t>
            </a:r>
            <a:r>
              <a:rPr kumimoji="0" lang="en-US" altLang="en-GB" sz="2000" b="1" dirty="0" err="1">
                <a:latin typeface="Times New Roman" panose="02020603050405020304" pitchFamily="18" charset="0"/>
                <a:ea typeface="微软雅黑" panose="020B0503020204020204" pitchFamily="34" charset="-122"/>
                <a:cs typeface="Times New Roman" panose="02020603050405020304" pitchFamily="18" charset="0"/>
              </a:rPr>
              <a:t>如何确定逻辑段的边界。定位类型有</a:t>
            </a:r>
            <a:r>
              <a:rPr kumimoji="0" lang="en-US" altLang="en-GB" sz="2000" b="1" dirty="0" err="1">
                <a:solidFill>
                  <a:srgbClr val="7030A0"/>
                </a:solidFill>
                <a:latin typeface="Times New Roman" panose="02020603050405020304" pitchFamily="18" charset="0"/>
                <a:ea typeface="微软雅黑" panose="020B0503020204020204" pitchFamily="34" charset="-122"/>
                <a:cs typeface="Times New Roman" panose="02020603050405020304" pitchFamily="18" charset="0"/>
              </a:rPr>
              <a:t>四种</a:t>
            </a:r>
            <a:r>
              <a:rPr kumimoji="0" lang="en-US" altLang="en-GB" sz="2000" b="1" dirty="0">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Text Box 11"/>
          <p:cNvSpPr txBox="1">
            <a:spLocks noChangeArrowheads="1"/>
          </p:cNvSpPr>
          <p:nvPr/>
        </p:nvSpPr>
        <p:spPr bwMode="auto">
          <a:xfrm>
            <a:off x="498206" y="2508874"/>
            <a:ext cx="83534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0" lang="en-GB"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a:t>
            </a:r>
            <a:r>
              <a:rPr kumimoji="0" lang="en-GB"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PARA</a:t>
            </a:r>
            <a:r>
              <a:rPr kumimoji="0" lang="en-GB" altLang="zh-CN" sz="2000" b="1" dirty="0">
                <a:latin typeface="Times New Roman" panose="02020603050405020304" pitchFamily="18" charset="0"/>
                <a:ea typeface="微软雅黑" panose="020B0503020204020204" pitchFamily="34" charset="-122"/>
                <a:cs typeface="Times New Roman" panose="02020603050405020304" pitchFamily="18" charset="0"/>
              </a:rPr>
              <a:t>（Paragraph）</a:t>
            </a:r>
            <a:r>
              <a:rPr kumimoji="0" lang="zh-CN" altLang="en-GB"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(缺省情况)</a:t>
            </a:r>
            <a:endParaRPr kumimoji="0" lang="en-GB"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r>
              <a:rPr kumimoji="0" lang="zh-CN" altLang="en-GB" sz="20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起始地址   </a:t>
            </a:r>
            <a:r>
              <a:rPr kumimoji="0" lang="zh-CN" altLang="en-GB"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  ×××× ××××  0000</a:t>
            </a:r>
            <a:endParaRPr kumimoji="0"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Text Box 12"/>
          <p:cNvSpPr txBox="1">
            <a:spLocks noChangeArrowheads="1"/>
          </p:cNvSpPr>
          <p:nvPr/>
        </p:nvSpPr>
        <p:spPr bwMode="auto">
          <a:xfrm>
            <a:off x="498206" y="4001869"/>
            <a:ext cx="8839200" cy="723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
              </a:spcBef>
            </a:pPr>
            <a:r>
              <a:rPr lang="en-GB"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GB" altLang="zh-CN"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WORD</a:t>
            </a:r>
            <a:r>
              <a:rPr kumimoji="0" lang="en-GB" altLang="zh-CN" sz="2000" b="1" dirty="0">
                <a:solidFill>
                  <a:srgbClr val="FF9933"/>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0" lang="en-GB"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5000"/>
              </a:spcBef>
            </a:pPr>
            <a:r>
              <a:rPr lang="zh-CN" altLang="en-GB" sz="2000" b="1"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起始地址   </a:t>
            </a:r>
            <a:r>
              <a:rPr kumimoji="0" lang="zh-CN" altLang="en-GB"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  ×××× ×××× ×××0</a:t>
            </a:r>
            <a:endParaRPr kumimoji="0" lang="en-US" altLang="zh-CN"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bldLvl="0" animBg="1"/>
      <p:bldP spid="15" grpId="0"/>
      <p:bldP spid="16" grpId="0"/>
      <p:bldP spid="17"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179675" y="981105"/>
            <a:ext cx="5832475" cy="512415"/>
          </a:xfrm>
        </p:spPr>
        <p:txBody>
          <a:bodyPr/>
          <a:lstStyle/>
          <a:p>
            <a:r>
              <a:rPr lang="en-US" altLang="zh-CN" sz="2000" dirty="0"/>
              <a:t>4.4</a:t>
            </a:r>
            <a:r>
              <a:rPr lang="zh-CN" altLang="zh-CN" sz="2000" dirty="0"/>
              <a:t>伪指令</a:t>
            </a:r>
          </a:p>
          <a:p>
            <a:endParaRPr lang="zh-CN" altLang="zh-CN" sz="2000" dirty="0"/>
          </a:p>
        </p:txBody>
      </p:sp>
      <p:sp>
        <p:nvSpPr>
          <p:cNvPr id="5" name="Text Box 6"/>
          <p:cNvSpPr txBox="1">
            <a:spLocks noChangeArrowheads="1"/>
          </p:cNvSpPr>
          <p:nvPr/>
        </p:nvSpPr>
        <p:spPr bwMode="auto">
          <a:xfrm>
            <a:off x="179705" y="1268632"/>
            <a:ext cx="8820150" cy="5112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1" indent="0" defTabSz="914400" eaLnBrk="1" fontAlgn="auto" latinLnBrk="0" hangingPunct="1">
              <a:lnSpc>
                <a:spcPct val="13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3333CC"/>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② </a:t>
            </a:r>
            <a:r>
              <a:rPr kumimoji="1" lang="zh-CN" altLang="en-US" sz="2000" b="1" i="0" u="none" strike="noStrike" kern="0" cap="none" spc="0" normalizeH="0" baseline="0" noProof="0" dirty="0">
                <a:ln>
                  <a:noFill/>
                </a:ln>
                <a:solidFill>
                  <a:srgbClr val="3333CC"/>
                </a:solidFill>
                <a:effectLst/>
                <a:uLnTx/>
                <a:uFillTx/>
                <a:ea typeface="微软雅黑" panose="020B0503020204020204" pitchFamily="34" charset="-122"/>
                <a:cs typeface="Times New Roman" panose="02020603050405020304" pitchFamily="18" charset="0"/>
              </a:rPr>
              <a:t>组合类型</a:t>
            </a:r>
            <a:r>
              <a:rPr kumimoji="1" lang="zh-CN" altLang="en-US"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zh-CN" altLang="en-US" b="0" i="0" u="none" strike="noStrike" kern="0" cap="none" spc="0" normalizeH="0" baseline="0" noProof="0" dirty="0">
                <a:ln>
                  <a:noFill/>
                </a:ln>
                <a:solidFill>
                  <a:srgbClr val="3333FF"/>
                </a:solidFill>
                <a:effectLst/>
                <a:uLnTx/>
                <a:uFillTx/>
                <a:ea typeface="微软雅黑" panose="020B0503020204020204" pitchFamily="34" charset="-122"/>
                <a:cs typeface="Times New Roman" panose="02020603050405020304" pitchFamily="18" charset="0"/>
              </a:rPr>
              <a:t>：</a:t>
            </a:r>
          </a:p>
          <a:p>
            <a:pPr marL="0" marR="0" lvl="1" indent="0" defTabSz="914400" eaLnBrk="1" fontAlgn="auto" latinLnBrk="0" hangingPunct="1">
              <a:lnSpc>
                <a:spcPct val="13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一个汇编语言源程序往往有许多模块组成，而每一个模块常常又有自己的数据段、代码段和堆栈段。组合类型用于告诉</a:t>
            </a: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LINK</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程序，</a:t>
            </a:r>
            <a:r>
              <a:rPr kumimoji="1" lang="zh-CN" altLang="en-US" sz="1800" b="1" i="0" u="sng"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多个模块连接是本段与其他模块中同名段的组合连接关系。</a:t>
            </a:r>
          </a:p>
          <a:p>
            <a:pPr marL="0" marR="0" lvl="1" indent="0" defTabSz="914400" eaLnBrk="1" fontAlgn="auto" latinLnBrk="0" hangingPunct="1">
              <a:lnSpc>
                <a:spcPct val="13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NONE</a:t>
            </a: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无组合关系。（默认）为默认值，表示本段和其他段不发生关系，具有独立的段地址</a:t>
            </a:r>
          </a:p>
          <a:p>
            <a:pPr marL="0" marR="0" lvl="1" indent="0" defTabSz="914400" eaLnBrk="1" fontAlgn="auto" latinLnBrk="0" hangingPunct="1">
              <a:lnSpc>
                <a:spcPct val="130000"/>
              </a:lnSpc>
              <a:spcBef>
                <a:spcPts val="0"/>
              </a:spcBef>
              <a:spcAft>
                <a:spcPts val="0"/>
              </a:spcAft>
              <a:buClrTx/>
              <a:buSzTx/>
              <a:buFontTx/>
              <a:buNone/>
              <a:defRPr/>
            </a:pP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PUBLIC</a:t>
            </a: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依次连接。将同名同类型的段相邻地连接到一起，具有共同的段地址。</a:t>
            </a:r>
          </a:p>
          <a:p>
            <a:pPr marL="0" marR="0" lvl="1" indent="0" defTabSz="914400" eaLnBrk="1" fontAlgn="auto" latinLnBrk="0" hangingPunct="1">
              <a:lnSpc>
                <a:spcPct val="13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STACK</a:t>
            </a: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 </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与</a:t>
            </a: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PUBLIC</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方式相同，但仅用于堆栈段。</a:t>
            </a:r>
          </a:p>
          <a:p>
            <a:pPr marL="0" marR="0" lvl="1" indent="0" defTabSz="914400" eaLnBrk="1" fontAlgn="auto" latinLnBrk="0" hangingPunct="1">
              <a:lnSpc>
                <a:spcPct val="13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COMMON</a:t>
            </a: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所有同名同类型段具有相同段地址，但后面的会覆盖前面的，用于共享数据。</a:t>
            </a:r>
          </a:p>
          <a:p>
            <a:pPr marL="0" marR="0" lvl="1" indent="0" defTabSz="914400" eaLnBrk="1" fontAlgn="auto" latinLnBrk="0" hangingPunct="1">
              <a:lnSpc>
                <a:spcPct val="130000"/>
              </a:lnSpc>
              <a:spcBef>
                <a:spcPts val="0"/>
              </a:spcBef>
              <a:spcAft>
                <a:spcPts val="0"/>
              </a:spcAft>
              <a:buClrTx/>
              <a:buSzTx/>
              <a:buFontTx/>
              <a:buNone/>
              <a:defRPr/>
            </a:pP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MEMORY</a:t>
            </a: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装在被链接的其它段之后。</a:t>
            </a:r>
          </a:p>
          <a:p>
            <a:pPr marL="0" marR="0" lvl="1" indent="0" defTabSz="914400" eaLnBrk="1" fontAlgn="auto" latinLnBrk="0" hangingPunct="1">
              <a:lnSpc>
                <a:spcPct val="130000"/>
              </a:lnSpc>
              <a:spcBef>
                <a:spcPts val="0"/>
              </a:spcBef>
              <a:spcAft>
                <a:spcPts val="0"/>
              </a:spcAft>
              <a:buClrTx/>
              <a:buSzTx/>
              <a:buFontTx/>
              <a:buNone/>
              <a:defRPr/>
            </a:pPr>
            <a:r>
              <a:rPr kumimoji="1" lang="zh-CN" altLang="en-US" sz="18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AT</a:t>
            </a:r>
            <a:r>
              <a:rPr kumimoji="1" lang="zh-CN" altLang="en-US" sz="1800" b="1" i="0" u="none" strike="noStrike" kern="0" cap="none" spc="0" normalizeH="0" baseline="0" noProof="0" dirty="0">
                <a:ln>
                  <a:noFill/>
                </a:ln>
                <a:solidFill>
                  <a:srgbClr val="990099"/>
                </a:solidFill>
                <a:effectLst/>
                <a:uLnTx/>
                <a:uFillTx/>
                <a:ea typeface="微软雅黑" panose="020B0503020204020204" pitchFamily="34" charset="-122"/>
                <a:cs typeface="Times New Roman" panose="02020603050405020304" pitchFamily="18" charset="0"/>
              </a:rPr>
              <a:t>表达式</a:t>
            </a:r>
            <a:r>
              <a:rPr kumimoji="1" lang="zh-CN" altLang="en-US" sz="18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相应段定位在表达式的值指定的段地址上。</a:t>
            </a:r>
            <a:endParaRPr kumimoji="1" lang="zh-CN" altLang="en-US" sz="18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endParaRPr>
          </a:p>
          <a:p>
            <a:pPr marL="0" marR="0" lvl="1" indent="0" defTabSz="914400" eaLnBrk="1" fontAlgn="auto" latinLnBrk="0" hangingPunct="1">
              <a:lnSpc>
                <a:spcPct val="100000"/>
              </a:lnSpc>
              <a:spcBef>
                <a:spcPts val="0"/>
              </a:spcBef>
              <a:spcAft>
                <a:spcPts val="0"/>
              </a:spcAft>
              <a:buClrTx/>
              <a:buSzTx/>
              <a:buFontTx/>
              <a:buNone/>
              <a:defRPr/>
            </a:pPr>
            <a:r>
              <a:rPr kumimoji="1" lang="zh-CN" altLang="en-US" sz="2000" b="1" i="0" u="none" strike="noStrike" kern="0" cap="none" spc="0" normalizeH="0" baseline="0" noProof="0" dirty="0">
                <a:ln>
                  <a:noFill/>
                </a:ln>
                <a:solidFill>
                  <a:srgbClr val="3333FF"/>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③ </a:t>
            </a:r>
            <a:r>
              <a:rPr kumimoji="1" lang="zh-CN" altLang="en-US" sz="2000" b="1" i="0" u="none" strike="noStrike" kern="0" cap="none" spc="0" normalizeH="0" baseline="0" noProof="0" dirty="0">
                <a:ln>
                  <a:noFill/>
                </a:ln>
                <a:solidFill>
                  <a:srgbClr val="3333FF"/>
                </a:solidFill>
                <a:effectLst/>
                <a:uLnTx/>
                <a:uFillTx/>
                <a:ea typeface="微软雅黑" panose="020B0503020204020204" pitchFamily="34" charset="-122"/>
                <a:cs typeface="Times New Roman" panose="02020603050405020304" pitchFamily="18" charset="0"/>
              </a:rPr>
              <a:t>类别名</a:t>
            </a:r>
            <a:r>
              <a:rPr kumimoji="1" lang="zh-CN" altLang="en-US" sz="2000" b="0" i="0" u="none" strike="noStrike" kern="0" cap="none" spc="0" normalizeH="0" baseline="0" noProof="0" dirty="0">
                <a:ln>
                  <a:noFill/>
                </a:ln>
                <a:solidFill>
                  <a:srgbClr val="3333FF"/>
                </a:solidFill>
                <a:effectLst/>
                <a:uLnTx/>
                <a:uFillTx/>
                <a:ea typeface="微软雅黑" panose="020B0503020204020204" pitchFamily="34" charset="-122"/>
                <a:cs typeface="Times New Roman" panose="02020603050405020304" pitchFamily="18" charset="0"/>
              </a:rPr>
              <a:t> ：</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由单引号括起来的字符串，表示该段的类别，如</a:t>
            </a: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’STACK’</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‘CODE’</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a:t>
            </a:r>
            <a:r>
              <a:rPr kumimoji="1" lang="en-US" altLang="zh-CN"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’DATA’</a:t>
            </a:r>
            <a:r>
              <a:rPr kumimoji="1" lang="zh-CN" altLang="en-US" sz="18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矩形 4"/>
          <p:cNvSpPr/>
          <p:nvPr/>
        </p:nvSpPr>
        <p:spPr>
          <a:xfrm>
            <a:off x="287016" y="1635072"/>
            <a:ext cx="8856984" cy="4669805"/>
          </a:xfrm>
          <a:prstGeom prst="rect">
            <a:avLst/>
          </a:prstGeom>
        </p:spPr>
        <p:txBody>
          <a:bodyPr wrap="square">
            <a:spAutoFit/>
          </a:bodyPr>
          <a:lstStyle/>
          <a:p>
            <a:pPr lvl="0"/>
            <a:r>
              <a:rPr kumimoji="1" lang="en-US" altLang="zh-CN"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段寄存器说明伪指令</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ASSUME</a:t>
            </a:r>
          </a:p>
          <a:p>
            <a:pPr lvl="1" algn="just">
              <a:spcAft>
                <a:spcPct val="50000"/>
              </a:spcAft>
            </a:pPr>
            <a:endParaRPr kumimoji="1" lang="en-US" altLang="zh-CN" sz="800" b="1" dirty="0">
              <a:solidFill>
                <a:srgbClr val="008080"/>
              </a:solidFill>
              <a:latin typeface="Times New Roman" panose="02020603050405020304" pitchFamily="18" charset="0"/>
              <a:ea typeface="微软雅黑" panose="020B0503020204020204" pitchFamily="34" charset="-122"/>
              <a:cs typeface="Times New Roman" panose="02020603050405020304" pitchFamily="18" charset="0"/>
            </a:endParaRPr>
          </a:p>
          <a:p>
            <a:pPr lvl="1" algn="just">
              <a:spcAft>
                <a:spcPct val="50000"/>
              </a:spcAft>
            </a:pPr>
            <a:r>
              <a:rPr kumimoji="1" lang="zh-CN" altLang="en-US" sz="2000" b="1" dirty="0">
                <a:solidFill>
                  <a:srgbClr val="008080"/>
                </a:solidFill>
                <a:latin typeface="Times New Roman" panose="02020603050405020304" pitchFamily="18" charset="0"/>
                <a:ea typeface="微软雅黑" panose="020B0503020204020204" pitchFamily="34" charset="-122"/>
                <a:cs typeface="Times New Roman" panose="02020603050405020304" pitchFamily="18" charset="0"/>
              </a:rPr>
              <a:t>格式</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ASSUME    </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段寄存器： 段名  </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段寄存器</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段名</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  ]</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p>
          <a:p>
            <a:pPr lvl="3" algn="just">
              <a:spcAft>
                <a:spcPct val="50000"/>
              </a:spcAft>
            </a:pP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其中：</a:t>
            </a:r>
            <a:r>
              <a:rPr kumimoji="1" lang="zh-CN" altLang="en-US" sz="2000" b="1" dirty="0">
                <a:solidFill>
                  <a:srgbClr val="FF3399"/>
                </a:solidFill>
                <a:latin typeface="Times New Roman" panose="02020603050405020304" pitchFamily="18" charset="0"/>
                <a:ea typeface="微软雅黑" panose="020B0503020204020204" pitchFamily="34" charset="-122"/>
                <a:cs typeface="Times New Roman" panose="02020603050405020304" pitchFamily="18" charset="0"/>
              </a:rPr>
              <a:t>段寄存器</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CS</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DS</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ES</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SS</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中的一个，</a:t>
            </a:r>
          </a:p>
          <a:p>
            <a:pPr lvl="3" algn="just">
              <a:spcAft>
                <a:spcPct val="50000"/>
              </a:spcAft>
            </a:pP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dirty="0">
                <a:solidFill>
                  <a:srgbClr val="FF3399"/>
                </a:solidFill>
                <a:latin typeface="Times New Roman" panose="02020603050405020304" pitchFamily="18" charset="0"/>
                <a:ea typeface="微软雅黑" panose="020B0503020204020204" pitchFamily="34" charset="-122"/>
                <a:cs typeface="Times New Roman" panose="02020603050405020304" pitchFamily="18" charset="0"/>
              </a:rPr>
              <a:t>段名</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为用</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SEGMENT</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段定义伪指令定义过的段名。</a:t>
            </a:r>
          </a:p>
          <a:p>
            <a:pPr lvl="3" algn="just"/>
            <a:r>
              <a:rPr kumimoji="1" lang="zh-CN" altLang="en-US" sz="20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例</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ASSUME   CS: cc ,  </a:t>
            </a:r>
            <a:r>
              <a:rPr kumimoji="1" lang="en-US" altLang="zh-CN" sz="2000" b="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DS:aa</a:t>
            </a:r>
            <a:endPar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just"/>
            <a:endParaRPr kumimoji="1" lang="en-US" altLang="zh-CN" sz="8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0" algn="just">
              <a:lnSpc>
                <a:spcPct val="110000"/>
              </a:lnSpc>
              <a:buClr>
                <a:srgbClr val="FF3300"/>
              </a:buClr>
              <a:buFont typeface="宋体" panose="02010600030101010101" pitchFamily="2" charset="-122"/>
              <a:buChar char="▲"/>
            </a:pP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ASSUME </a:t>
            </a:r>
            <a:r>
              <a:rPr kumimoji="1"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伪操作的作用</a:t>
            </a:r>
          </a:p>
          <a:p>
            <a:pPr lvl="0" algn="just">
              <a:lnSpc>
                <a:spcPct val="110000"/>
              </a:lnSpc>
            </a:pP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设定特定的段寄存器指向特定的段，说明源程序中定义的段由哪个段寄存器去寻址。不如此，汇编程序无法生成目标代码程序。</a:t>
            </a:r>
          </a:p>
          <a:p>
            <a:pPr lvl="0">
              <a:lnSpc>
                <a:spcPct val="110000"/>
              </a:lnSpc>
              <a:spcBef>
                <a:spcPct val="20000"/>
              </a:spcBef>
              <a:buFont typeface="Times New Roman" panose="02020603050405020304" pitchFamily="18" charset="0"/>
              <a:buChar char="▲"/>
            </a:pPr>
            <a:r>
              <a:rPr kumimoji="1" lang="zh-CN" altLang="en-US" sz="200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ASSUME</a:t>
            </a:r>
            <a:r>
              <a:rPr kumimoji="1" lang="zh-CN" altLang="en-US" sz="2000"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语句只起指示作用，并无实际的操作</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a:p>
            <a:pPr lvl="1">
              <a:lnSpc>
                <a:spcPct val="110000"/>
              </a:lnSpc>
            </a:pP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ASSUME</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并未真正将段地址装入相应的段寄存器，</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段寄存器</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(CS</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除外</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的初值设定还是要由程序中的</a:t>
            </a:r>
            <a:r>
              <a:rPr kumimoji="1"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MOV</a:t>
            </a:r>
            <a:r>
              <a:rPr kumimoji="1" lang="zh-CN" altLang="en-US"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指令来完成。  </a:t>
            </a:r>
            <a:r>
              <a:rPr kumimoji="1"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p>
        </p:txBody>
      </p:sp>
      <mc:AlternateContent xmlns:mc="http://schemas.openxmlformats.org/markup-compatibility/2006" xmlns:p14="http://schemas.microsoft.com/office/powerpoint/2010/main">
        <mc:Choice Requires="p14">
          <p:contentPart p14:bwMode="auto" r:id="rId2">
            <p14:nvContentPartPr>
              <p14:cNvPr id="24" name="墨迹 23"/>
              <p14:cNvContentPartPr/>
              <p14:nvPr/>
            </p14:nvContentPartPr>
            <p14:xfrm>
              <a:off x="810895" y="5975350"/>
              <a:ext cx="635" cy="635"/>
            </p14:xfrm>
          </p:contentPart>
        </mc:Choice>
        <mc:Fallback xmlns="">
          <p:pic>
            <p:nvPicPr>
              <p:cNvPr id="24" name="墨迹 23"/>
            </p:nvPicPr>
            <p:blipFill>
              <a:blip r:embed="rId3"/>
            </p:blipFill>
            <p:spPr>
              <a:xfrm>
                <a:off x="810895" y="5975350"/>
                <a:ext cx="635" cy="63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500"/>
                                        <p:tgtEl>
                                          <p:spTgt spid="5">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fade">
                                      <p:cBhvr>
                                        <p:cTn id="21" dur="500"/>
                                        <p:tgtEl>
                                          <p:spTgt spid="5">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7" end="7"/>
                                            </p:txEl>
                                          </p:spTgt>
                                        </p:tgtEl>
                                        <p:attrNameLst>
                                          <p:attrName>style.visibility</p:attrName>
                                        </p:attrNameLst>
                                      </p:cBhvr>
                                      <p:to>
                                        <p:strVal val="visible"/>
                                      </p:to>
                                    </p:set>
                                    <p:animEffect transition="in" filter="fade">
                                      <p:cBhvr>
                                        <p:cTn id="26" dur="500"/>
                                        <p:tgtEl>
                                          <p:spTgt spid="5">
                                            <p:txEl>
                                              <p:pRg st="7" end="7"/>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8" end="8"/>
                                            </p:txEl>
                                          </p:spTgt>
                                        </p:tgtEl>
                                        <p:attrNameLst>
                                          <p:attrName>style.visibility</p:attrName>
                                        </p:attrNameLst>
                                      </p:cBhvr>
                                      <p:to>
                                        <p:strVal val="visible"/>
                                      </p:to>
                                    </p:set>
                                    <p:animEffect transition="in" filter="fade">
                                      <p:cBhvr>
                                        <p:cTn id="29" dur="500"/>
                                        <p:tgtEl>
                                          <p:spTgt spid="5">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
                                            <p:txEl>
                                              <p:pRg st="9" end="9"/>
                                            </p:txEl>
                                          </p:spTgt>
                                        </p:tgtEl>
                                        <p:attrNameLst>
                                          <p:attrName>style.visibility</p:attrName>
                                        </p:attrNameLst>
                                      </p:cBhvr>
                                      <p:to>
                                        <p:strVal val="visible"/>
                                      </p:to>
                                    </p:set>
                                    <p:animEffect transition="in" filter="fade">
                                      <p:cBhvr>
                                        <p:cTn id="34" dur="500"/>
                                        <p:tgtEl>
                                          <p:spTgt spid="5">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fld id="{63B8C709-8D63-4986-A9D0-DDCE2CB655E0}" type="slidenum">
              <a:rPr lang="en-US" altLang="zh-CN" sz="1400"/>
              <a:t>31</a:t>
            </a:fld>
            <a:endParaRPr lang="en-US" altLang="zh-CN" sz="1400"/>
          </a:p>
        </p:txBody>
      </p:sp>
      <p:sp>
        <p:nvSpPr>
          <p:cNvPr id="63491" name="Text Box 3"/>
          <p:cNvSpPr txBox="1">
            <a:spLocks noChangeArrowheads="1"/>
          </p:cNvSpPr>
          <p:nvPr/>
        </p:nvSpPr>
        <p:spPr bwMode="auto">
          <a:xfrm>
            <a:off x="395928" y="950615"/>
            <a:ext cx="85836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000" b="1" dirty="0">
                <a:solidFill>
                  <a:srgbClr val="0000FF"/>
                </a:solidFill>
                <a:ea typeface="楷体_GB2312" pitchFamily="49" charset="-122"/>
              </a:rPr>
              <a:t>程序中有</a:t>
            </a:r>
            <a:r>
              <a:rPr lang="en-US" altLang="zh-CN" sz="2000" b="1" dirty="0">
                <a:solidFill>
                  <a:srgbClr val="0000FF"/>
                </a:solidFill>
                <a:ea typeface="楷体_GB2312" pitchFamily="49" charset="-122"/>
              </a:rPr>
              <a:t>ASSUME</a:t>
            </a:r>
            <a:r>
              <a:rPr lang="zh-CN" altLang="en-US" sz="2000" b="1" dirty="0">
                <a:solidFill>
                  <a:srgbClr val="0000FF"/>
                </a:solidFill>
                <a:ea typeface="楷体_GB2312" pitchFamily="49" charset="-122"/>
              </a:rPr>
              <a:t>语句，经汇编，链接和装入内存后的情况：</a:t>
            </a:r>
            <a:endParaRPr lang="zh-CN" altLang="en-US" sz="2000" b="1" dirty="0">
              <a:solidFill>
                <a:srgbClr val="0000FF"/>
              </a:solidFill>
              <a:latin typeface="宋体" panose="02010600030101010101" pitchFamily="2" charset="-122"/>
            </a:endParaRPr>
          </a:p>
        </p:txBody>
      </p:sp>
      <p:sp>
        <p:nvSpPr>
          <p:cNvPr id="63492" name="Text Box 4"/>
          <p:cNvSpPr txBox="1">
            <a:spLocks noChangeArrowheads="1"/>
          </p:cNvSpPr>
          <p:nvPr/>
        </p:nvSpPr>
        <p:spPr bwMode="auto">
          <a:xfrm>
            <a:off x="275950" y="1340147"/>
            <a:ext cx="3886200" cy="4338638"/>
          </a:xfrm>
          <a:prstGeom prst="rect">
            <a:avLst/>
          </a:prstGeom>
          <a:solidFill>
            <a:srgbClr val="CCFFFF"/>
          </a:solidFill>
          <a:ln w="9525">
            <a:solidFill>
              <a:schemeClr val="tx1"/>
            </a:solidFill>
            <a:miter lim="800000"/>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Aft>
                <a:spcPct val="10000"/>
              </a:spcAft>
            </a:pPr>
            <a:r>
              <a:rPr lang="en-US" altLang="zh-CN" sz="1700" b="1" dirty="0">
                <a:ea typeface="楷体_GB2312" pitchFamily="49" charset="-122"/>
              </a:rPr>
              <a:t>data      SEGMENT</a:t>
            </a:r>
          </a:p>
          <a:p>
            <a:pPr algn="just">
              <a:spcAft>
                <a:spcPct val="10000"/>
              </a:spcAft>
            </a:pPr>
            <a:r>
              <a:rPr lang="en-US" altLang="zh-CN" sz="1700" b="1" dirty="0">
                <a:ea typeface="楷体_GB2312" pitchFamily="49" charset="-122"/>
              </a:rPr>
              <a:t> value     DW     1234H, 5678H</a:t>
            </a:r>
          </a:p>
          <a:p>
            <a:pPr algn="just">
              <a:spcAft>
                <a:spcPct val="10000"/>
              </a:spcAft>
            </a:pPr>
            <a:r>
              <a:rPr lang="en-US" altLang="zh-CN" sz="1700" b="1" dirty="0">
                <a:ea typeface="楷体_GB2312" pitchFamily="49" charset="-122"/>
              </a:rPr>
              <a:t> result    DW     ?</a:t>
            </a:r>
          </a:p>
          <a:p>
            <a:pPr algn="just">
              <a:spcAft>
                <a:spcPct val="10000"/>
              </a:spcAft>
            </a:pPr>
            <a:r>
              <a:rPr lang="en-US" altLang="zh-CN" sz="1700" b="1" dirty="0">
                <a:ea typeface="楷体_GB2312" pitchFamily="49" charset="-122"/>
              </a:rPr>
              <a:t> data     ENDS</a:t>
            </a:r>
          </a:p>
          <a:p>
            <a:pPr algn="just">
              <a:spcAft>
                <a:spcPct val="10000"/>
              </a:spcAft>
            </a:pPr>
            <a:r>
              <a:rPr lang="en-US" altLang="zh-CN" sz="1700" b="1" dirty="0">
                <a:ea typeface="楷体_GB2312" pitchFamily="49" charset="-122"/>
              </a:rPr>
              <a:t> code   SEGMENT</a:t>
            </a:r>
          </a:p>
          <a:p>
            <a:pPr algn="just">
              <a:spcAft>
                <a:spcPct val="10000"/>
              </a:spcAft>
            </a:pPr>
            <a:r>
              <a:rPr lang="en-US" altLang="zh-CN" sz="1700" b="1" dirty="0">
                <a:ea typeface="楷体_GB2312" pitchFamily="49" charset="-122"/>
              </a:rPr>
              <a:t>        ASSUME   </a:t>
            </a:r>
            <a:r>
              <a:rPr lang="en-US" altLang="zh-CN" sz="1700" b="1" dirty="0" err="1">
                <a:ea typeface="楷体_GB2312" pitchFamily="49" charset="-122"/>
              </a:rPr>
              <a:t>CS:code</a:t>
            </a:r>
            <a:r>
              <a:rPr lang="en-US" altLang="zh-CN" sz="1700" b="1" dirty="0">
                <a:ea typeface="楷体_GB2312" pitchFamily="49" charset="-122"/>
              </a:rPr>
              <a:t>, </a:t>
            </a:r>
            <a:r>
              <a:rPr lang="en-US" altLang="zh-CN" sz="1700" b="1" dirty="0" err="1">
                <a:ea typeface="楷体_GB2312" pitchFamily="49" charset="-122"/>
              </a:rPr>
              <a:t>DS:data</a:t>
            </a:r>
            <a:endParaRPr lang="en-US" altLang="zh-CN" sz="1700" b="1" dirty="0">
              <a:ea typeface="楷体_GB2312" pitchFamily="49" charset="-122"/>
            </a:endParaRPr>
          </a:p>
          <a:p>
            <a:pPr algn="just">
              <a:spcAft>
                <a:spcPct val="10000"/>
              </a:spcAft>
            </a:pPr>
            <a:r>
              <a:rPr lang="en-US" altLang="zh-CN" sz="1700" b="1" dirty="0">
                <a:ea typeface="楷体_GB2312" pitchFamily="49" charset="-122"/>
              </a:rPr>
              <a:t> start:    MOV   AX, </a:t>
            </a:r>
            <a:r>
              <a:rPr lang="en-US" altLang="zh-CN" sz="1700" b="1" dirty="0">
                <a:solidFill>
                  <a:srgbClr val="FF0000"/>
                </a:solidFill>
                <a:ea typeface="楷体_GB2312" pitchFamily="49" charset="-122"/>
              </a:rPr>
              <a:t>data</a:t>
            </a:r>
            <a:r>
              <a:rPr lang="en-US" altLang="zh-CN" sz="1700" b="1" dirty="0">
                <a:ea typeface="楷体_GB2312" pitchFamily="49" charset="-122"/>
              </a:rPr>
              <a:t>       ;</a:t>
            </a:r>
            <a:r>
              <a:rPr lang="zh-CN" altLang="en-US" sz="1700" b="1" dirty="0">
                <a:ea typeface="楷体_GB2312" pitchFamily="49" charset="-122"/>
              </a:rPr>
              <a:t>给</a:t>
            </a:r>
            <a:r>
              <a:rPr lang="en-US" altLang="zh-CN" sz="1700" b="1" dirty="0">
                <a:ea typeface="楷体_GB2312" pitchFamily="49" charset="-122"/>
              </a:rPr>
              <a:t>DS</a:t>
            </a:r>
            <a:r>
              <a:rPr lang="zh-CN" altLang="en-US" sz="1700" b="1" dirty="0">
                <a:ea typeface="楷体_GB2312" pitchFamily="49" charset="-122"/>
              </a:rPr>
              <a:t>赋值      </a:t>
            </a:r>
          </a:p>
          <a:p>
            <a:pPr algn="just">
              <a:spcAft>
                <a:spcPct val="10000"/>
              </a:spcAft>
            </a:pPr>
            <a:r>
              <a:rPr lang="zh-CN" altLang="en-US" sz="1700" b="1" dirty="0">
                <a:ea typeface="楷体_GB2312" pitchFamily="49" charset="-122"/>
              </a:rPr>
              <a:t>              </a:t>
            </a:r>
            <a:r>
              <a:rPr lang="en-US" altLang="zh-CN" sz="1700" b="1" dirty="0">
                <a:ea typeface="楷体_GB2312" pitchFamily="49" charset="-122"/>
              </a:rPr>
              <a:t>MOV   DS, AX</a:t>
            </a:r>
          </a:p>
          <a:p>
            <a:pPr algn="just">
              <a:spcAft>
                <a:spcPct val="10000"/>
              </a:spcAft>
            </a:pPr>
            <a:r>
              <a:rPr lang="en-US" altLang="zh-CN" sz="1700" b="1" dirty="0">
                <a:ea typeface="楷体_GB2312" pitchFamily="49" charset="-122"/>
              </a:rPr>
              <a:t>              MOV   AX,</a:t>
            </a:r>
            <a:r>
              <a:rPr lang="en-US" altLang="zh-CN" sz="1700" b="1" dirty="0">
                <a:solidFill>
                  <a:srgbClr val="FF00FF"/>
                </a:solidFill>
                <a:ea typeface="楷体_GB2312" pitchFamily="49" charset="-122"/>
              </a:rPr>
              <a:t> value</a:t>
            </a:r>
            <a:r>
              <a:rPr lang="en-US" altLang="zh-CN" sz="1700" b="1" dirty="0">
                <a:ea typeface="楷体_GB2312" pitchFamily="49" charset="-122"/>
              </a:rPr>
              <a:t>      ;</a:t>
            </a:r>
            <a:r>
              <a:rPr lang="zh-CN" altLang="en-US" sz="1700" b="1" dirty="0">
                <a:ea typeface="楷体_GB2312" pitchFamily="49" charset="-122"/>
              </a:rPr>
              <a:t>取数   </a:t>
            </a:r>
          </a:p>
          <a:p>
            <a:pPr algn="just">
              <a:spcAft>
                <a:spcPct val="10000"/>
              </a:spcAft>
            </a:pPr>
            <a:r>
              <a:rPr lang="zh-CN" altLang="en-US" sz="1700" b="1" dirty="0">
                <a:ea typeface="楷体_GB2312" pitchFamily="49" charset="-122"/>
              </a:rPr>
              <a:t>              </a:t>
            </a:r>
            <a:r>
              <a:rPr lang="en-US" altLang="zh-CN" sz="1700" b="1" dirty="0">
                <a:ea typeface="楷体_GB2312" pitchFamily="49" charset="-122"/>
              </a:rPr>
              <a:t>ADD    AX, </a:t>
            </a:r>
            <a:r>
              <a:rPr lang="en-US" altLang="zh-CN" sz="1700" b="1" dirty="0">
                <a:solidFill>
                  <a:srgbClr val="FF00FF"/>
                </a:solidFill>
                <a:ea typeface="楷体_GB2312" pitchFamily="49" charset="-122"/>
              </a:rPr>
              <a:t>value+2</a:t>
            </a:r>
            <a:r>
              <a:rPr lang="en-US" altLang="zh-CN" sz="1700" b="1" dirty="0">
                <a:ea typeface="楷体_GB2312" pitchFamily="49" charset="-122"/>
              </a:rPr>
              <a:t>  ;</a:t>
            </a:r>
            <a:r>
              <a:rPr lang="zh-CN" altLang="en-US" sz="1700" b="1" dirty="0">
                <a:ea typeface="楷体_GB2312" pitchFamily="49" charset="-122"/>
              </a:rPr>
              <a:t>两数相加 </a:t>
            </a:r>
          </a:p>
          <a:p>
            <a:pPr algn="just">
              <a:spcAft>
                <a:spcPct val="10000"/>
              </a:spcAft>
            </a:pPr>
            <a:r>
              <a:rPr lang="zh-CN" altLang="en-US" sz="1700" b="1" dirty="0">
                <a:ea typeface="楷体_GB2312" pitchFamily="49" charset="-122"/>
              </a:rPr>
              <a:t>              </a:t>
            </a:r>
            <a:r>
              <a:rPr lang="en-US" altLang="zh-CN" sz="1700" b="1" dirty="0">
                <a:ea typeface="楷体_GB2312" pitchFamily="49" charset="-122"/>
              </a:rPr>
              <a:t>MOV   </a:t>
            </a:r>
            <a:r>
              <a:rPr lang="en-US" altLang="zh-CN" sz="1700" b="1" dirty="0">
                <a:solidFill>
                  <a:srgbClr val="FF00FF"/>
                </a:solidFill>
                <a:ea typeface="楷体_GB2312" pitchFamily="49" charset="-122"/>
              </a:rPr>
              <a:t>result</a:t>
            </a:r>
            <a:r>
              <a:rPr lang="en-US" altLang="zh-CN" sz="1700" b="1" dirty="0">
                <a:ea typeface="楷体_GB2312" pitchFamily="49" charset="-122"/>
              </a:rPr>
              <a:t>, AX     ;</a:t>
            </a:r>
            <a:r>
              <a:rPr lang="zh-CN" altLang="en-US" sz="1700" b="1" dirty="0">
                <a:ea typeface="楷体_GB2312" pitchFamily="49" charset="-122"/>
              </a:rPr>
              <a:t>保存结果</a:t>
            </a:r>
          </a:p>
          <a:p>
            <a:pPr algn="just">
              <a:spcAft>
                <a:spcPct val="10000"/>
              </a:spcAft>
            </a:pPr>
            <a:r>
              <a:rPr lang="zh-CN" altLang="en-US" sz="1700" b="1" dirty="0">
                <a:ea typeface="楷体_GB2312" pitchFamily="49" charset="-122"/>
              </a:rPr>
              <a:t>              </a:t>
            </a:r>
            <a:r>
              <a:rPr lang="en-US" altLang="zh-CN" sz="1700" b="1" dirty="0">
                <a:ea typeface="楷体_GB2312" pitchFamily="49" charset="-122"/>
              </a:rPr>
              <a:t>MOV   AH, 4CH       ;</a:t>
            </a:r>
            <a:r>
              <a:rPr lang="zh-CN" altLang="en-US" sz="1700" b="1" dirty="0">
                <a:ea typeface="楷体_GB2312" pitchFamily="49" charset="-122"/>
              </a:rPr>
              <a:t>返回</a:t>
            </a:r>
            <a:r>
              <a:rPr lang="en-US" altLang="zh-CN" sz="1700" b="1" dirty="0">
                <a:ea typeface="楷体_GB2312" pitchFamily="49" charset="-122"/>
              </a:rPr>
              <a:t>DOS</a:t>
            </a:r>
          </a:p>
          <a:p>
            <a:pPr algn="just">
              <a:spcAft>
                <a:spcPct val="10000"/>
              </a:spcAft>
            </a:pPr>
            <a:r>
              <a:rPr lang="en-US" altLang="zh-CN" sz="1700" b="1" dirty="0">
                <a:ea typeface="楷体_GB2312" pitchFamily="49" charset="-122"/>
              </a:rPr>
              <a:t>              INT    21H</a:t>
            </a:r>
          </a:p>
          <a:p>
            <a:pPr algn="just">
              <a:spcAft>
                <a:spcPct val="10000"/>
              </a:spcAft>
            </a:pPr>
            <a:r>
              <a:rPr lang="en-US" altLang="zh-CN" sz="1700" b="1" dirty="0">
                <a:ea typeface="楷体_GB2312" pitchFamily="49" charset="-122"/>
              </a:rPr>
              <a:t> code     ENDS</a:t>
            </a:r>
          </a:p>
          <a:p>
            <a:pPr algn="just">
              <a:spcAft>
                <a:spcPct val="10000"/>
              </a:spcAft>
            </a:pPr>
            <a:r>
              <a:rPr lang="en-US" altLang="zh-CN" sz="1700" b="1" dirty="0">
                <a:ea typeface="楷体_GB2312" pitchFamily="49" charset="-122"/>
              </a:rPr>
              <a:t>              END start</a:t>
            </a:r>
            <a:endParaRPr lang="en-US" altLang="zh-CN" sz="1700" dirty="0"/>
          </a:p>
        </p:txBody>
      </p:sp>
      <p:sp>
        <p:nvSpPr>
          <p:cNvPr id="189445" name="Text Box 5"/>
          <p:cNvSpPr txBox="1">
            <a:spLocks noChangeArrowheads="1"/>
          </p:cNvSpPr>
          <p:nvPr/>
        </p:nvSpPr>
        <p:spPr bwMode="auto">
          <a:xfrm>
            <a:off x="4224309" y="1343301"/>
            <a:ext cx="4724400" cy="4759325"/>
          </a:xfrm>
          <a:prstGeom prst="rect">
            <a:avLst/>
          </a:prstGeom>
          <a:solidFill>
            <a:srgbClr val="CCFFCC"/>
          </a:solidFill>
          <a:ln w="9525">
            <a:solidFill>
              <a:schemeClr val="tx1"/>
            </a:solidFill>
            <a:miter lim="800000"/>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spcBef>
                <a:spcPts val="600"/>
              </a:spcBef>
            </a:pPr>
            <a:r>
              <a:rPr lang="en-US" altLang="zh-CN" sz="1700" b="1" dirty="0">
                <a:solidFill>
                  <a:srgbClr val="000000"/>
                </a:solidFill>
              </a:rPr>
              <a:t>D:\MASM&gt;DEBUG  assume.exe</a:t>
            </a:r>
          </a:p>
          <a:p>
            <a:pPr algn="just"/>
            <a:r>
              <a:rPr lang="en-US" altLang="zh-CN" sz="1700" b="1" dirty="0">
                <a:solidFill>
                  <a:srgbClr val="000000"/>
                </a:solidFill>
                <a:latin typeface="黑体" panose="02010609060101010101" pitchFamily="49" charset="-122"/>
                <a:ea typeface="黑体" panose="02010609060101010101" pitchFamily="49" charset="-122"/>
              </a:rPr>
              <a:t>-</a:t>
            </a:r>
            <a:r>
              <a:rPr lang="en-US" altLang="zh-CN" sz="1700" b="1" dirty="0">
                <a:solidFill>
                  <a:srgbClr val="000000"/>
                </a:solidFill>
              </a:rPr>
              <a:t>R                </a:t>
            </a:r>
            <a:r>
              <a:rPr lang="en-US" altLang="zh-CN" sz="1700" b="1" dirty="0">
                <a:solidFill>
                  <a:srgbClr val="0000FF"/>
                </a:solidFill>
                <a:ea typeface="楷体_GB2312" pitchFamily="49" charset="-122"/>
              </a:rPr>
              <a:t>;</a:t>
            </a:r>
            <a:r>
              <a:rPr lang="zh-CN" altLang="en-US" sz="1700" b="1" dirty="0">
                <a:solidFill>
                  <a:srgbClr val="0000FF"/>
                </a:solidFill>
                <a:ea typeface="楷体_GB2312" pitchFamily="49" charset="-122"/>
              </a:rPr>
              <a:t>查看程序执行</a:t>
            </a:r>
            <a:r>
              <a:rPr lang="zh-CN" altLang="en-US" sz="1700" b="1" dirty="0">
                <a:solidFill>
                  <a:srgbClr val="FF3300"/>
                </a:solidFill>
                <a:ea typeface="楷体_GB2312" pitchFamily="49" charset="-122"/>
              </a:rPr>
              <a:t>前</a:t>
            </a:r>
            <a:r>
              <a:rPr lang="zh-CN" altLang="en-US" sz="1700" b="1" dirty="0">
                <a:solidFill>
                  <a:srgbClr val="0000FF"/>
                </a:solidFill>
                <a:ea typeface="楷体_GB2312" pitchFamily="49" charset="-122"/>
              </a:rPr>
              <a:t>各寄存器</a:t>
            </a:r>
            <a:endParaRPr lang="zh-CN" altLang="en-US" sz="1700" b="1" dirty="0">
              <a:solidFill>
                <a:srgbClr val="000000"/>
              </a:solidFill>
            </a:endParaRPr>
          </a:p>
          <a:p>
            <a:pPr algn="just"/>
            <a:r>
              <a:rPr lang="en-US" altLang="zh-CN" sz="1700" b="1" dirty="0">
                <a:solidFill>
                  <a:srgbClr val="000000"/>
                </a:solidFill>
              </a:rPr>
              <a:t>AX=0000  BX=0000  CX=0023  DX=0000  </a:t>
            </a:r>
          </a:p>
          <a:p>
            <a:pPr algn="just"/>
            <a:r>
              <a:rPr lang="en-US" altLang="zh-CN" sz="1700" b="1" dirty="0">
                <a:solidFill>
                  <a:srgbClr val="000000"/>
                </a:solidFill>
              </a:rPr>
              <a:t>SP=0000  BP=0000  SI=0000  DI=0000</a:t>
            </a:r>
          </a:p>
          <a:p>
            <a:pPr algn="just"/>
            <a:r>
              <a:rPr lang="en-US" altLang="zh-CN" sz="1700" b="1" dirty="0">
                <a:solidFill>
                  <a:srgbClr val="0000FF"/>
                </a:solidFill>
              </a:rPr>
              <a:t>DS=1295</a:t>
            </a:r>
            <a:r>
              <a:rPr lang="en-US" altLang="zh-CN" sz="1700" b="1" dirty="0">
                <a:solidFill>
                  <a:srgbClr val="000000"/>
                </a:solidFill>
              </a:rPr>
              <a:t>  ES=1295  SS=12A5  </a:t>
            </a:r>
          </a:p>
          <a:p>
            <a:pPr algn="just"/>
            <a:r>
              <a:rPr lang="en-US" altLang="zh-CN" sz="1700" b="1" dirty="0">
                <a:solidFill>
                  <a:srgbClr val="000000"/>
                </a:solidFill>
              </a:rPr>
              <a:t>CS=12A6  IP=0000 </a:t>
            </a:r>
          </a:p>
          <a:p>
            <a:pPr algn="just"/>
            <a:r>
              <a:rPr lang="en-US" altLang="zh-CN" sz="1700" b="1" dirty="0">
                <a:solidFill>
                  <a:srgbClr val="000000"/>
                </a:solidFill>
              </a:rPr>
              <a:t>NV UP EI PL NZ NA PO NC</a:t>
            </a:r>
          </a:p>
          <a:p>
            <a:pPr algn="just"/>
            <a:r>
              <a:rPr lang="en-US" altLang="zh-CN" sz="1700" b="1" dirty="0">
                <a:solidFill>
                  <a:srgbClr val="000000"/>
                </a:solidFill>
              </a:rPr>
              <a:t>12A6:0000 B8A512        MOV     AX,12A5</a:t>
            </a:r>
          </a:p>
          <a:p>
            <a:pPr algn="just"/>
            <a:r>
              <a:rPr lang="en-US" altLang="zh-CN" sz="1700" b="1" dirty="0">
                <a:solidFill>
                  <a:srgbClr val="000000"/>
                </a:solidFill>
                <a:latin typeface="黑体" panose="02010609060101010101" pitchFamily="49" charset="-122"/>
                <a:ea typeface="黑体" panose="02010609060101010101" pitchFamily="49" charset="-122"/>
              </a:rPr>
              <a:t>-</a:t>
            </a:r>
            <a:r>
              <a:rPr lang="en-US" altLang="zh-CN" sz="1700" b="1" dirty="0">
                <a:solidFill>
                  <a:srgbClr val="000000"/>
                </a:solidFill>
              </a:rPr>
              <a:t>U                </a:t>
            </a:r>
            <a:r>
              <a:rPr lang="en-US" altLang="zh-CN" sz="1700" b="1" dirty="0">
                <a:solidFill>
                  <a:srgbClr val="0000FF"/>
                </a:solidFill>
                <a:ea typeface="楷体_GB2312" pitchFamily="49" charset="-122"/>
              </a:rPr>
              <a:t>;</a:t>
            </a:r>
            <a:r>
              <a:rPr lang="zh-CN" altLang="en-US" sz="1700" b="1" dirty="0">
                <a:solidFill>
                  <a:srgbClr val="0000FF"/>
                </a:solidFill>
                <a:ea typeface="楷体_GB2312" pitchFamily="49" charset="-122"/>
              </a:rPr>
              <a:t>查看在内存的程序</a:t>
            </a:r>
            <a:endParaRPr lang="zh-CN" altLang="en-US" sz="1700" b="1" dirty="0">
              <a:solidFill>
                <a:srgbClr val="000000"/>
              </a:solidFill>
            </a:endParaRPr>
          </a:p>
          <a:p>
            <a:pPr algn="just"/>
            <a:r>
              <a:rPr lang="en-US" altLang="zh-CN" sz="1700" b="1" dirty="0">
                <a:solidFill>
                  <a:srgbClr val="000000"/>
                </a:solidFill>
              </a:rPr>
              <a:t>12A6:0000 B8A512      MOV     AX, </a:t>
            </a:r>
            <a:r>
              <a:rPr lang="en-US" altLang="zh-CN" sz="1700" b="1" dirty="0">
                <a:solidFill>
                  <a:srgbClr val="FF0000"/>
                </a:solidFill>
              </a:rPr>
              <a:t>12A5</a:t>
            </a:r>
            <a:endParaRPr lang="en-US" altLang="zh-CN" sz="1700" b="1" dirty="0">
              <a:solidFill>
                <a:srgbClr val="000000"/>
              </a:solidFill>
            </a:endParaRPr>
          </a:p>
          <a:p>
            <a:pPr algn="just"/>
            <a:r>
              <a:rPr lang="en-US" altLang="zh-CN" sz="1700" b="1" dirty="0">
                <a:solidFill>
                  <a:srgbClr val="000000"/>
                </a:solidFill>
              </a:rPr>
              <a:t>12A6:0003 8ED8          MOV     DS, AX</a:t>
            </a:r>
          </a:p>
          <a:p>
            <a:pPr algn="just"/>
            <a:r>
              <a:rPr lang="en-US" altLang="zh-CN" sz="1700" b="1" dirty="0">
                <a:solidFill>
                  <a:srgbClr val="000000"/>
                </a:solidFill>
              </a:rPr>
              <a:t>12A6:0005 A10000       MOV     AX, </a:t>
            </a:r>
            <a:r>
              <a:rPr lang="en-US" altLang="zh-CN" sz="1700" b="1" dirty="0">
                <a:solidFill>
                  <a:srgbClr val="FF00FF"/>
                </a:solidFill>
              </a:rPr>
              <a:t>[ 0000 ]</a:t>
            </a:r>
            <a:endParaRPr lang="en-US" altLang="zh-CN" sz="1700" b="1" dirty="0">
              <a:solidFill>
                <a:srgbClr val="000000"/>
              </a:solidFill>
            </a:endParaRPr>
          </a:p>
          <a:p>
            <a:pPr algn="just"/>
            <a:r>
              <a:rPr lang="en-US" altLang="zh-CN" sz="1700" b="1" dirty="0">
                <a:solidFill>
                  <a:srgbClr val="000000"/>
                </a:solidFill>
              </a:rPr>
              <a:t>12A6:0008 03060200    ADD     AX, </a:t>
            </a:r>
            <a:r>
              <a:rPr lang="en-US" altLang="zh-CN" sz="1700" b="1" dirty="0">
                <a:solidFill>
                  <a:srgbClr val="FF00FF"/>
                </a:solidFill>
              </a:rPr>
              <a:t>[ 0002 ]</a:t>
            </a:r>
            <a:endParaRPr lang="en-US" altLang="zh-CN" sz="1700" b="1" dirty="0">
              <a:solidFill>
                <a:srgbClr val="000000"/>
              </a:solidFill>
            </a:endParaRPr>
          </a:p>
          <a:p>
            <a:pPr algn="just"/>
            <a:r>
              <a:rPr lang="en-US" altLang="zh-CN" sz="1700" b="1" dirty="0">
                <a:solidFill>
                  <a:srgbClr val="000000"/>
                </a:solidFill>
              </a:rPr>
              <a:t>12A6:000C A30400      MOV     </a:t>
            </a:r>
            <a:r>
              <a:rPr lang="en-US" altLang="zh-CN" sz="1700" b="1" dirty="0">
                <a:solidFill>
                  <a:srgbClr val="FF00FF"/>
                </a:solidFill>
              </a:rPr>
              <a:t>[ 0004 ]</a:t>
            </a:r>
            <a:r>
              <a:rPr lang="en-US" altLang="zh-CN" sz="1700" b="1" dirty="0">
                <a:solidFill>
                  <a:srgbClr val="000000"/>
                </a:solidFill>
              </a:rPr>
              <a:t>, AX</a:t>
            </a:r>
          </a:p>
          <a:p>
            <a:pPr algn="just"/>
            <a:r>
              <a:rPr lang="en-US" altLang="zh-CN" sz="1700" b="1" dirty="0">
                <a:solidFill>
                  <a:srgbClr val="000000"/>
                </a:solidFill>
              </a:rPr>
              <a:t>12A6:000F B44C          MOV     AH, 4C</a:t>
            </a:r>
          </a:p>
          <a:p>
            <a:pPr algn="just"/>
            <a:r>
              <a:rPr lang="en-US" altLang="zh-CN" sz="1700" b="1" dirty="0">
                <a:solidFill>
                  <a:srgbClr val="000000"/>
                </a:solidFill>
              </a:rPr>
              <a:t>12A6:0011 CD21          INT       21</a:t>
            </a:r>
          </a:p>
          <a:p>
            <a:pPr algn="just"/>
            <a:r>
              <a:rPr lang="en-US" altLang="zh-CN" sz="1700" b="1" dirty="0">
                <a:solidFill>
                  <a:srgbClr val="000000"/>
                </a:solidFill>
              </a:rPr>
              <a:t>……</a:t>
            </a:r>
            <a:endParaRPr lang="zh-CN" altLang="en-US" sz="1700" b="1" dirty="0">
              <a:solidFill>
                <a:srgbClr val="000000"/>
              </a:solidFill>
            </a:endParaRPr>
          </a:p>
          <a:p>
            <a:pPr algn="just"/>
            <a:r>
              <a:rPr lang="en-US" altLang="zh-CN" sz="1700" b="1" dirty="0">
                <a:solidFill>
                  <a:srgbClr val="000000"/>
                </a:solidFill>
              </a:rPr>
              <a:t>-</a:t>
            </a:r>
            <a:endParaRPr lang="en-US" altLang="zh-CN" sz="1700" dirty="0"/>
          </a:p>
        </p:txBody>
      </p:sp>
      <p:sp>
        <p:nvSpPr>
          <p:cNvPr id="63494" name="Text Box 6"/>
          <p:cNvSpPr txBox="1">
            <a:spLocks noChangeArrowheads="1"/>
          </p:cNvSpPr>
          <p:nvPr/>
        </p:nvSpPr>
        <p:spPr bwMode="auto">
          <a:xfrm>
            <a:off x="419100" y="5678785"/>
            <a:ext cx="856138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r>
              <a:rPr lang="zh-CN" altLang="en-US" sz="1800" b="1" dirty="0">
                <a:solidFill>
                  <a:srgbClr val="0000FF"/>
                </a:solidFill>
                <a:latin typeface="楷体_GB2312" pitchFamily="49" charset="-122"/>
                <a:ea typeface="楷体_GB2312" pitchFamily="49" charset="-122"/>
              </a:rPr>
              <a:t>注意：</a:t>
            </a:r>
            <a:r>
              <a:rPr lang="zh-CN" altLang="en-US" sz="1800" b="1" dirty="0">
                <a:solidFill>
                  <a:srgbClr val="0000FF"/>
                </a:solidFill>
                <a:latin typeface="宋体" panose="02010600030101010101" pitchFamily="2" charset="-122"/>
              </a:rPr>
              <a:t> </a:t>
            </a:r>
          </a:p>
          <a:p>
            <a:pPr algn="just"/>
            <a:r>
              <a:rPr lang="zh-CN" altLang="en-US" sz="1800" b="1" dirty="0">
                <a:ea typeface="楷体_GB2312" pitchFamily="49" charset="-122"/>
              </a:rPr>
              <a:t>程序装入内存后，执行程序前，</a:t>
            </a:r>
          </a:p>
          <a:p>
            <a:pPr algn="just"/>
            <a:r>
              <a:rPr lang="zh-CN" altLang="en-US" sz="1800" b="1" dirty="0">
                <a:ea typeface="楷体_GB2312" pitchFamily="49" charset="-122"/>
              </a:rPr>
              <a:t>当前的</a:t>
            </a:r>
            <a:r>
              <a:rPr lang="en-US" altLang="zh-CN" sz="1800" b="1" dirty="0">
                <a:ea typeface="楷体_GB2312" pitchFamily="49" charset="-122"/>
              </a:rPr>
              <a:t>DS</a:t>
            </a:r>
            <a:r>
              <a:rPr lang="zh-CN" altLang="en-US" sz="1800" b="1" dirty="0">
                <a:ea typeface="楷体_GB2312" pitchFamily="49" charset="-122"/>
              </a:rPr>
              <a:t>值并非程序定义的</a:t>
            </a:r>
            <a:r>
              <a:rPr lang="en-US" altLang="zh-CN" sz="1800" b="1" dirty="0">
                <a:ea typeface="楷体_GB2312" pitchFamily="49" charset="-122"/>
              </a:rPr>
              <a:t>data</a:t>
            </a:r>
            <a:r>
              <a:rPr lang="zh-CN" altLang="en-US" sz="1800" b="1" dirty="0">
                <a:ea typeface="楷体_GB2312" pitchFamily="49" charset="-122"/>
              </a:rPr>
              <a:t>段值， </a:t>
            </a:r>
            <a:r>
              <a:rPr lang="en-US" altLang="zh-CN" sz="1800" b="1" dirty="0">
                <a:solidFill>
                  <a:srgbClr val="0000FF"/>
                </a:solidFill>
              </a:rPr>
              <a:t>1295  </a:t>
            </a:r>
            <a:r>
              <a:rPr lang="zh-CN" altLang="en-US" sz="1800" b="1" dirty="0">
                <a:solidFill>
                  <a:srgbClr val="FF0000"/>
                </a:solidFill>
                <a:ea typeface="楷体_GB2312" pitchFamily="49" charset="-122"/>
              </a:rPr>
              <a:t>不等于</a:t>
            </a:r>
            <a:r>
              <a:rPr lang="zh-CN" altLang="en-US" sz="1800" b="1" dirty="0">
                <a:solidFill>
                  <a:srgbClr val="0000FF"/>
                </a:solidFill>
              </a:rPr>
              <a:t>  </a:t>
            </a:r>
            <a:r>
              <a:rPr lang="en-US" altLang="zh-CN" sz="1800" b="1" dirty="0">
                <a:solidFill>
                  <a:srgbClr val="0000FF"/>
                </a:solidFill>
              </a:rPr>
              <a:t>12A5</a:t>
            </a:r>
            <a:r>
              <a:rPr lang="zh-CN" altLang="en-US" sz="1800" b="1" dirty="0">
                <a:solidFill>
                  <a:srgbClr val="0000FF"/>
                </a:solidFill>
              </a:rPr>
              <a:t>。</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3491"/>
                                        </p:tgtEl>
                                        <p:attrNameLst>
                                          <p:attrName>style.visibility</p:attrName>
                                        </p:attrNameLst>
                                      </p:cBhvr>
                                      <p:to>
                                        <p:strVal val="visible"/>
                                      </p:to>
                                    </p:set>
                                    <p:animEffect transition="in" filter="randombar(horizontal)">
                                      <p:cBhvr>
                                        <p:cTn id="7" dur="500"/>
                                        <p:tgtEl>
                                          <p:spTgt spid="6349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3492"/>
                                        </p:tgtEl>
                                        <p:attrNameLst>
                                          <p:attrName>style.visibility</p:attrName>
                                        </p:attrNameLst>
                                      </p:cBhvr>
                                      <p:to>
                                        <p:strVal val="visible"/>
                                      </p:to>
                                    </p:set>
                                    <p:animEffect transition="in" filter="fade">
                                      <p:cBhvr>
                                        <p:cTn id="12" dur="500"/>
                                        <p:tgtEl>
                                          <p:spTgt spid="6349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89445"/>
                                        </p:tgtEl>
                                        <p:attrNameLst>
                                          <p:attrName>style.visibility</p:attrName>
                                        </p:attrNameLst>
                                      </p:cBhvr>
                                      <p:to>
                                        <p:strVal val="visible"/>
                                      </p:to>
                                    </p:set>
                                    <p:animEffect transition="in" filter="box(in)">
                                      <p:cBhvr>
                                        <p:cTn id="17" dur="500"/>
                                        <p:tgtEl>
                                          <p:spTgt spid="1894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3494">
                                            <p:txEl>
                                              <p:pRg st="0" end="0"/>
                                            </p:txEl>
                                          </p:spTgt>
                                        </p:tgtEl>
                                        <p:attrNameLst>
                                          <p:attrName>style.visibility</p:attrName>
                                        </p:attrNameLst>
                                      </p:cBhvr>
                                      <p:to>
                                        <p:strVal val="visible"/>
                                      </p:to>
                                    </p:set>
                                    <p:animEffect transition="in" filter="dissolve">
                                      <p:cBhvr>
                                        <p:cTn id="22" dur="500"/>
                                        <p:tgtEl>
                                          <p:spTgt spid="63494">
                                            <p:txEl>
                                              <p:pRg st="0" end="0"/>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63494">
                                            <p:txEl>
                                              <p:pRg st="1" end="1"/>
                                            </p:txEl>
                                          </p:spTgt>
                                        </p:tgtEl>
                                        <p:attrNameLst>
                                          <p:attrName>style.visibility</p:attrName>
                                        </p:attrNameLst>
                                      </p:cBhvr>
                                      <p:to>
                                        <p:strVal val="visible"/>
                                      </p:to>
                                    </p:set>
                                    <p:animEffect transition="in" filter="dissolve">
                                      <p:cBhvr>
                                        <p:cTn id="25" dur="500"/>
                                        <p:tgtEl>
                                          <p:spTgt spid="63494">
                                            <p:txEl>
                                              <p:pRg st="1" end="1"/>
                                            </p:txEl>
                                          </p:spTgt>
                                        </p:tgtEl>
                                      </p:cBhvr>
                                    </p:animEffect>
                                  </p:childTnLst>
                                </p:cTn>
                              </p:par>
                              <p:par>
                                <p:cTn id="26" presetID="9" presetClass="entr" presetSubtype="0" fill="hold" nodeType="withEffect">
                                  <p:stCondLst>
                                    <p:cond delay="0"/>
                                  </p:stCondLst>
                                  <p:childTnLst>
                                    <p:set>
                                      <p:cBhvr>
                                        <p:cTn id="27" dur="1" fill="hold">
                                          <p:stCondLst>
                                            <p:cond delay="0"/>
                                          </p:stCondLst>
                                        </p:cTn>
                                        <p:tgtEl>
                                          <p:spTgt spid="63494">
                                            <p:txEl>
                                              <p:pRg st="2" end="2"/>
                                            </p:txEl>
                                          </p:spTgt>
                                        </p:tgtEl>
                                        <p:attrNameLst>
                                          <p:attrName>style.visibility</p:attrName>
                                        </p:attrNameLst>
                                      </p:cBhvr>
                                      <p:to>
                                        <p:strVal val="visible"/>
                                      </p:to>
                                    </p:set>
                                    <p:animEffect transition="in" filter="dissolve">
                                      <p:cBhvr>
                                        <p:cTn id="28" dur="500"/>
                                        <p:tgtEl>
                                          <p:spTgt spid="634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p:bldP spid="63492" grpId="0" animBg="1"/>
      <p:bldP spid="18944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矩形 4"/>
          <p:cNvSpPr/>
          <p:nvPr/>
        </p:nvSpPr>
        <p:spPr>
          <a:xfrm>
            <a:off x="448280" y="1642775"/>
            <a:ext cx="8300184" cy="4508927"/>
          </a:xfrm>
          <a:prstGeom prst="rect">
            <a:avLst/>
          </a:prstGeom>
        </p:spPr>
        <p:txBody>
          <a:bodyPr wrap="square">
            <a:spAutoFit/>
          </a:bodyPr>
          <a:lstStyle/>
          <a:p>
            <a:pPr marL="342900" lvl="0" indent="-342900" algn="just">
              <a:lnSpc>
                <a:spcPct val="95000"/>
              </a:lnSpc>
              <a:spcBef>
                <a:spcPct val="20000"/>
              </a:spcBef>
              <a:spcAft>
                <a:spcPct val="30000"/>
              </a:spcAft>
            </a:pPr>
            <a:r>
              <a:rPr kumimoji="1" lang="en-US" altLang="zh-CN" sz="2400" b="1" kern="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4. </a:t>
            </a:r>
            <a:r>
              <a:rPr kumimoji="1" lang="zh-CN" altLang="en-US" sz="2400" b="1" kern="0"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过程定义</a:t>
            </a:r>
            <a:r>
              <a:rPr kumimoji="1" lang="zh-CN" altLang="en-US" sz="2400" b="1" kern="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伪指令      </a:t>
            </a:r>
            <a:r>
              <a:rPr kumimoji="1" lang="en-US" altLang="zh-CN" sz="2400" b="1" kern="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PROC / ENDP </a:t>
            </a:r>
            <a:endParaRPr kumimoji="1" lang="en-US" altLang="zh-CN" sz="24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gn="just">
              <a:lnSpc>
                <a:spcPct val="150000"/>
              </a:lnSpc>
              <a:spcBef>
                <a:spcPct val="20000"/>
              </a:spcBef>
              <a:spcAft>
                <a:spcPct val="30000"/>
              </a:spcAft>
            </a:pP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在程序设计中，经常将一些重复出现的语句组定义为子程序。子程序又称为</a:t>
            </a:r>
            <a:r>
              <a:rPr kumimoji="1" lang="zh-CN" altLang="en-US" sz="20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过程</a:t>
            </a: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，可以采用</a:t>
            </a:r>
            <a:r>
              <a:rPr kumimoji="1" lang="en-US" altLang="zh-CN" sz="20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CALL</a:t>
            </a: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指令来调用。</a:t>
            </a:r>
          </a:p>
          <a:p>
            <a:pPr marL="342900" lvl="0" indent="-342900" algn="just">
              <a:lnSpc>
                <a:spcPct val="90000"/>
              </a:lnSpc>
              <a:spcBef>
                <a:spcPct val="20000"/>
              </a:spcBef>
            </a:pP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过程定义格式：</a:t>
            </a:r>
          </a:p>
          <a:p>
            <a:pPr marL="342900" lvl="0" indent="-342900" algn="just">
              <a:lnSpc>
                <a:spcPct val="90000"/>
              </a:lnSpc>
              <a:spcBef>
                <a:spcPct val="20000"/>
              </a:spcBef>
            </a:pP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过程名    </a:t>
            </a:r>
            <a:r>
              <a:rPr kumimoji="1" lang="en-US" altLang="zh-CN" sz="2000" b="1" kern="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PROC </a:t>
            </a: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[NEAR] / FAR</a:t>
            </a:r>
          </a:p>
          <a:p>
            <a:pPr marL="342900" lvl="0" indent="-342900">
              <a:lnSpc>
                <a:spcPct val="90000"/>
              </a:lnSpc>
              <a:spcBef>
                <a:spcPct val="20000"/>
              </a:spcBef>
            </a:pP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endPar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a:lnSpc>
                <a:spcPct val="90000"/>
              </a:lnSpc>
              <a:spcBef>
                <a:spcPct val="20000"/>
              </a:spcBef>
            </a:pP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p>
          <a:p>
            <a:pPr marL="342900" lvl="0" indent="-342900">
              <a:lnSpc>
                <a:spcPct val="90000"/>
              </a:lnSpc>
              <a:spcBef>
                <a:spcPct val="20000"/>
              </a:spcBef>
            </a:pP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RET    </a:t>
            </a: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；过程体</a:t>
            </a:r>
          </a:p>
          <a:p>
            <a:pPr marL="342900" lvl="0" indent="-342900">
              <a:lnSpc>
                <a:spcPct val="90000"/>
              </a:lnSpc>
              <a:spcBef>
                <a:spcPct val="20000"/>
              </a:spcBef>
            </a:pP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过程名    </a:t>
            </a:r>
            <a:r>
              <a:rPr kumimoji="1" lang="en-US" altLang="zh-CN" sz="2000" b="1" kern="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ENDP</a:t>
            </a:r>
          </a:p>
          <a:p>
            <a:pPr marL="342900" lvl="0" indent="-342900" algn="just">
              <a:lnSpc>
                <a:spcPct val="90000"/>
              </a:lnSpc>
              <a:spcBef>
                <a:spcPct val="35000"/>
              </a:spcBef>
              <a:spcAft>
                <a:spcPct val="40000"/>
              </a:spcAft>
            </a:pP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调用一个过程的格式为：</a:t>
            </a:r>
          </a:p>
          <a:p>
            <a:pPr marL="342900" lvl="0" indent="-342900" algn="just">
              <a:lnSpc>
                <a:spcPct val="90000"/>
              </a:lnSpc>
              <a:spcBef>
                <a:spcPct val="20000"/>
              </a:spcBef>
            </a:pPr>
            <a:r>
              <a:rPr kumimoji="1" lang="zh-CN" altLang="en-US"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sz="2000" b="1" kern="0"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CALL </a:t>
            </a:r>
            <a:r>
              <a:rPr kumimoji="1" lang="en-US" altLang="zh-CN" sz="2000" b="1" kern="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000" b="1"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过程名</a:t>
            </a:r>
            <a:r>
              <a:rPr kumimoji="1" lang="zh-CN" altLang="en-US" sz="2000" kern="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fade">
                                      <p:cBhvr>
                                        <p:cTn id="38"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Text Box 2"/>
          <p:cNvSpPr txBox="1">
            <a:spLocks noChangeArrowheads="1"/>
          </p:cNvSpPr>
          <p:nvPr/>
        </p:nvSpPr>
        <p:spPr bwMode="auto">
          <a:xfrm>
            <a:off x="312785" y="1916832"/>
            <a:ext cx="8534400" cy="2477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ts val="600"/>
              </a:spcBef>
              <a:spcAft>
                <a:spcPts val="600"/>
              </a:spcAft>
              <a:buClr>
                <a:srgbClr val="FF3300"/>
              </a:buClr>
              <a:buFont typeface="宋体" panose="02010600030101010101" pitchFamily="2" charset="-122"/>
              <a:buChar char="▲"/>
            </a:pPr>
            <a:r>
              <a:rPr lang="zh-CN" altLang="en-US" sz="2000" b="1" dirty="0">
                <a:solidFill>
                  <a:srgbClr val="000000"/>
                </a:solidFill>
                <a:ea typeface="楷体_GB2312" pitchFamily="49" charset="-122"/>
              </a:rPr>
              <a:t>过程名常用作</a:t>
            </a:r>
            <a:r>
              <a:rPr lang="en-US" altLang="zh-CN" sz="2000" b="1" dirty="0">
                <a:solidFill>
                  <a:srgbClr val="FF0000"/>
                </a:solidFill>
                <a:ea typeface="楷体_GB2312" pitchFamily="49" charset="-122"/>
              </a:rPr>
              <a:t>CALL</a:t>
            </a:r>
            <a:r>
              <a:rPr lang="zh-CN" altLang="en-US" sz="2000" b="1" dirty="0">
                <a:solidFill>
                  <a:srgbClr val="000000"/>
                </a:solidFill>
                <a:ea typeface="楷体_GB2312" pitchFamily="49" charset="-122"/>
              </a:rPr>
              <a:t>调用指令的操作数，</a:t>
            </a:r>
            <a:endParaRPr lang="en-US" altLang="zh-CN" sz="2000" b="1" dirty="0">
              <a:solidFill>
                <a:srgbClr val="000000"/>
              </a:solidFill>
              <a:ea typeface="楷体_GB2312" pitchFamily="49" charset="-122"/>
            </a:endParaRPr>
          </a:p>
          <a:p>
            <a:pPr algn="just" eaLnBrk="1" hangingPunct="1">
              <a:spcBef>
                <a:spcPts val="600"/>
              </a:spcBef>
              <a:spcAft>
                <a:spcPts val="2400"/>
              </a:spcAft>
            </a:pPr>
            <a:r>
              <a:rPr lang="en-US" altLang="zh-CN" sz="2000" b="1" dirty="0">
                <a:solidFill>
                  <a:srgbClr val="000000"/>
                </a:solidFill>
                <a:ea typeface="楷体_GB2312" pitchFamily="49" charset="-122"/>
              </a:rPr>
              <a:t>    </a:t>
            </a:r>
            <a:r>
              <a:rPr lang="zh-CN" altLang="en-US" sz="2000" b="1" dirty="0">
                <a:solidFill>
                  <a:srgbClr val="000000"/>
                </a:solidFill>
                <a:ea typeface="楷体_GB2312" pitchFamily="49" charset="-122"/>
              </a:rPr>
              <a:t>子程序的最后安排</a:t>
            </a:r>
            <a:r>
              <a:rPr lang="en-US" altLang="zh-CN" sz="2000" b="1" dirty="0">
                <a:solidFill>
                  <a:srgbClr val="FF0000"/>
                </a:solidFill>
                <a:ea typeface="楷体_GB2312" pitchFamily="49" charset="-122"/>
              </a:rPr>
              <a:t>RET</a:t>
            </a:r>
            <a:r>
              <a:rPr lang="zh-CN" altLang="en-US" sz="2000" b="1" dirty="0">
                <a:solidFill>
                  <a:srgbClr val="000000"/>
                </a:solidFill>
                <a:ea typeface="楷体_GB2312" pitchFamily="49" charset="-122"/>
              </a:rPr>
              <a:t>返回指令，使执行完子程序后能返回调用处。</a:t>
            </a:r>
          </a:p>
          <a:p>
            <a:pPr algn="just" eaLnBrk="1" hangingPunct="1">
              <a:spcBef>
                <a:spcPts val="600"/>
              </a:spcBef>
              <a:spcAft>
                <a:spcPts val="600"/>
              </a:spcAft>
              <a:buClr>
                <a:srgbClr val="FF3300"/>
              </a:buClr>
              <a:buFont typeface="宋体" panose="02010600030101010101" pitchFamily="2" charset="-122"/>
              <a:buChar char="▲"/>
            </a:pPr>
            <a:r>
              <a:rPr lang="zh-CN" altLang="en-US" sz="2000" b="1" dirty="0">
                <a:solidFill>
                  <a:srgbClr val="000000"/>
                </a:solidFill>
                <a:ea typeface="楷体_GB2312" pitchFamily="49" charset="-122"/>
              </a:rPr>
              <a:t>过程有两种类型：</a:t>
            </a:r>
            <a:r>
              <a:rPr lang="en-US" altLang="zh-CN" sz="2000" b="1" dirty="0">
                <a:solidFill>
                  <a:srgbClr val="FF0000"/>
                </a:solidFill>
                <a:ea typeface="楷体_GB2312" pitchFamily="49" charset="-122"/>
              </a:rPr>
              <a:t>NEAR</a:t>
            </a:r>
            <a:r>
              <a:rPr lang="zh-CN" altLang="en-US" sz="2000" b="1" dirty="0">
                <a:solidFill>
                  <a:srgbClr val="000000"/>
                </a:solidFill>
                <a:ea typeface="楷体_GB2312" pitchFamily="49" charset="-122"/>
              </a:rPr>
              <a:t>和</a:t>
            </a:r>
            <a:r>
              <a:rPr lang="en-US" altLang="zh-CN" sz="2000" b="1" dirty="0">
                <a:solidFill>
                  <a:srgbClr val="FF0000"/>
                </a:solidFill>
                <a:ea typeface="楷体_GB2312" pitchFamily="49" charset="-122"/>
              </a:rPr>
              <a:t>FAR</a:t>
            </a:r>
            <a:r>
              <a:rPr lang="en-US" altLang="zh-CN" sz="2000" b="1" dirty="0">
                <a:solidFill>
                  <a:srgbClr val="000000"/>
                </a:solidFill>
                <a:ea typeface="楷体_GB2312" pitchFamily="49" charset="-122"/>
              </a:rPr>
              <a:t> </a:t>
            </a:r>
          </a:p>
          <a:p>
            <a:pPr algn="just" eaLnBrk="1" hangingPunct="1">
              <a:spcBef>
                <a:spcPts val="600"/>
              </a:spcBef>
              <a:spcAft>
                <a:spcPts val="600"/>
              </a:spcAft>
              <a:buFont typeface="宋体" panose="02010600030101010101" pitchFamily="2" charset="-122"/>
              <a:buNone/>
            </a:pPr>
            <a:r>
              <a:rPr lang="en-US" altLang="zh-CN" sz="2000" b="1" dirty="0">
                <a:solidFill>
                  <a:srgbClr val="000000"/>
                </a:solidFill>
                <a:ea typeface="楷体_GB2312" pitchFamily="49" charset="-122"/>
              </a:rPr>
              <a:t>     </a:t>
            </a:r>
            <a:r>
              <a:rPr lang="zh-CN" altLang="en-US" sz="2000" b="1" dirty="0">
                <a:solidFill>
                  <a:srgbClr val="000000"/>
                </a:solidFill>
                <a:ea typeface="楷体_GB2312" pitchFamily="49" charset="-122"/>
              </a:rPr>
              <a:t>无类型项时，</a:t>
            </a:r>
            <a:r>
              <a:rPr lang="zh-CN" altLang="en-US" sz="2000" b="1" dirty="0">
                <a:solidFill>
                  <a:srgbClr val="0000FF"/>
                </a:solidFill>
                <a:ea typeface="楷体_GB2312" pitchFamily="49" charset="-122"/>
              </a:rPr>
              <a:t>默认为</a:t>
            </a:r>
            <a:r>
              <a:rPr lang="en-US" altLang="zh-CN" sz="2000" b="1" dirty="0">
                <a:solidFill>
                  <a:srgbClr val="0000FF"/>
                </a:solidFill>
                <a:ea typeface="楷体_GB2312" pitchFamily="49" charset="-122"/>
              </a:rPr>
              <a:t>NEAR</a:t>
            </a:r>
            <a:r>
              <a:rPr lang="zh-CN" altLang="en-US" sz="2000" b="1" dirty="0">
                <a:solidFill>
                  <a:srgbClr val="0000FF"/>
                </a:solidFill>
                <a:ea typeface="楷体_GB2312" pitchFamily="49" charset="-122"/>
              </a:rPr>
              <a:t>类型</a:t>
            </a:r>
            <a:r>
              <a:rPr lang="zh-CN" altLang="en-US" sz="2000" b="1" dirty="0">
                <a:solidFill>
                  <a:srgbClr val="000000"/>
                </a:solidFill>
                <a:ea typeface="楷体_GB2312" pitchFamily="49" charset="-122"/>
              </a:rPr>
              <a:t>。</a:t>
            </a:r>
          </a:p>
          <a:p>
            <a:pPr algn="just" eaLnBrk="1" hangingPunct="1">
              <a:spcBef>
                <a:spcPts val="600"/>
              </a:spcBef>
              <a:spcAft>
                <a:spcPts val="600"/>
              </a:spcAft>
              <a:buFont typeface="宋体" panose="02010600030101010101" pitchFamily="2" charset="-122"/>
              <a:buNone/>
            </a:pPr>
            <a:r>
              <a:rPr lang="zh-CN" altLang="en-US" sz="2000" b="1" dirty="0">
                <a:solidFill>
                  <a:srgbClr val="000000"/>
                </a:solidFill>
                <a:ea typeface="楷体_GB2312" pitchFamily="49" charset="-122"/>
              </a:rPr>
              <a:t>     当过程与调用指令不在同一段时，应将过程定义为 </a:t>
            </a:r>
            <a:r>
              <a:rPr lang="en-US" altLang="zh-CN" sz="2000" b="1" dirty="0">
                <a:solidFill>
                  <a:srgbClr val="000000"/>
                </a:solidFill>
                <a:ea typeface="楷体_GB2312" pitchFamily="49" charset="-122"/>
              </a:rPr>
              <a:t>FAR </a:t>
            </a:r>
            <a:r>
              <a:rPr lang="zh-CN" altLang="en-US" sz="2000" b="1" dirty="0">
                <a:solidFill>
                  <a:srgbClr val="000000"/>
                </a:solidFill>
                <a:ea typeface="楷体_GB2312" pitchFamily="49" charset="-122"/>
              </a:rPr>
              <a:t>类型。</a:t>
            </a:r>
          </a:p>
        </p:txBody>
      </p:sp>
      <p:sp>
        <p:nvSpPr>
          <p:cNvPr id="6" name="Text Box 3"/>
          <p:cNvSpPr txBox="1">
            <a:spLocks noChangeArrowheads="1"/>
          </p:cNvSpPr>
          <p:nvPr/>
        </p:nvSpPr>
        <p:spPr bwMode="auto">
          <a:xfrm>
            <a:off x="683568" y="4808220"/>
            <a:ext cx="6248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过程类型决定子程序中</a:t>
            </a:r>
            <a:r>
              <a:rPr kumimoji="1" lang="en-US"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RET</a:t>
            </a:r>
            <a:r>
              <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楷体_GB2312" pitchFamily="49" charset="-122"/>
              </a:rPr>
              <a:t>的返回类型。</a:t>
            </a:r>
            <a:endParaRPr kumimoji="1"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程序标题伪指令</a:t>
            </a:r>
            <a:r>
              <a:rPr lang="en-US" altLang="zh-CN" b="1" dirty="0">
                <a:solidFill>
                  <a:srgbClr val="C00000"/>
                </a:solidFill>
                <a:latin typeface="Times New Roman" panose="02020603050405020304" pitchFamily="18" charset="0"/>
                <a:cs typeface="Times New Roman" panose="02020603050405020304" pitchFamily="18" charset="0"/>
              </a:rPr>
              <a:t>TITLE</a:t>
            </a:r>
          </a:p>
          <a:p>
            <a:r>
              <a:rPr lang="en-US" altLang="zh-CN" b="1" dirty="0">
                <a:solidFill>
                  <a:srgbClr val="C00000"/>
                </a:solidFill>
                <a:latin typeface="Times New Roman" panose="02020603050405020304" pitchFamily="18" charset="0"/>
                <a:cs typeface="Times New Roman" panose="02020603050405020304" pitchFamily="18" charset="0"/>
              </a:rPr>
              <a:t>TITLE</a:t>
            </a:r>
            <a:r>
              <a:rPr lang="zh-CN" altLang="en-US" sz="2000" b="1" dirty="0">
                <a:latin typeface="Times New Roman" panose="02020603050405020304" pitchFamily="18" charset="0"/>
                <a:cs typeface="Times New Roman" panose="02020603050405020304" pitchFamily="18" charset="0"/>
              </a:rPr>
              <a:t>伪指令指定一个标题，以便能在列表文件每一页的第一行打印出这个标题，放置在程序的开始处。</a:t>
            </a:r>
          </a:p>
          <a:p>
            <a:r>
              <a:rPr lang="zh-CN" altLang="en-US" sz="2000" b="1" dirty="0">
                <a:latin typeface="Times New Roman" panose="02020603050405020304" pitchFamily="18" charset="0"/>
                <a:cs typeface="Times New Roman" panose="02020603050405020304" pitchFamily="18" charset="0"/>
              </a:rPr>
              <a:t>格式</a:t>
            </a:r>
            <a:r>
              <a:rPr lang="en-US" altLang="zh-CN" sz="2000" b="1" dirty="0">
                <a:latin typeface="Times New Roman" panose="02020603050405020304" pitchFamily="18" charset="0"/>
                <a:cs typeface="Times New Roman" panose="02020603050405020304" pitchFamily="18" charset="0"/>
              </a:rPr>
              <a:t>: </a:t>
            </a:r>
          </a:p>
          <a:p>
            <a:pPr algn="ctr"/>
            <a:r>
              <a:rPr lang="en-US" altLang="zh-CN" b="1" dirty="0">
                <a:solidFill>
                  <a:srgbClr val="C00000"/>
                </a:solidFill>
                <a:latin typeface="Times New Roman" panose="02020603050405020304" pitchFamily="18" charset="0"/>
                <a:cs typeface="Times New Roman" panose="02020603050405020304" pitchFamily="18" charset="0"/>
              </a:rPr>
              <a:t>TITLE</a:t>
            </a:r>
            <a:r>
              <a:rPr lang="en-US" altLang="zh-CN" sz="2000" b="1" dirty="0">
                <a:latin typeface="Times New Roman" panose="02020603050405020304" pitchFamily="18" charset="0"/>
                <a:cs typeface="Times New Roman" panose="02020603050405020304" pitchFamily="18" charset="0"/>
              </a:rPr>
              <a:t> </a:t>
            </a:r>
            <a:r>
              <a:rPr lang="zh-CN" altLang="en-US" b="1" dirty="0">
                <a:solidFill>
                  <a:srgbClr val="C00000"/>
                </a:solidFill>
                <a:latin typeface="Times New Roman" panose="02020603050405020304" pitchFamily="18" charset="0"/>
                <a:cs typeface="Times New Roman" panose="02020603050405020304" pitchFamily="18" charset="0"/>
              </a:rPr>
              <a:t>文本</a:t>
            </a:r>
          </a:p>
          <a:p>
            <a:r>
              <a:rPr lang="zh-CN" altLang="en-US" sz="2000" b="1" dirty="0">
                <a:latin typeface="Times New Roman" panose="02020603050405020304" pitchFamily="18" charset="0"/>
                <a:cs typeface="Times New Roman" panose="02020603050405020304" pitchFamily="18" charset="0"/>
              </a:rPr>
              <a:t>其中，文本是用户给出的字符串，要求长度不超过</a:t>
            </a:r>
            <a:r>
              <a:rPr lang="en-US" altLang="zh-CN" sz="2000" b="1" dirty="0">
                <a:latin typeface="Times New Roman" panose="02020603050405020304" pitchFamily="18" charset="0"/>
                <a:cs typeface="Times New Roman" panose="02020603050405020304" pitchFamily="18" charset="0"/>
              </a:rPr>
              <a:t>6</a:t>
            </a:r>
            <a:r>
              <a:rPr lang="zh-CN" altLang="en-US" sz="2000" b="1" dirty="0">
                <a:latin typeface="Times New Roman" panose="02020603050405020304" pitchFamily="18" charset="0"/>
                <a:cs typeface="Times New Roman" panose="02020603050405020304" pitchFamily="18" charset="0"/>
              </a:rPr>
              <a:t>个字符。</a:t>
            </a:r>
          </a:p>
          <a:p>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5" dur="500"/>
                                        <p:tgtEl>
                                          <p:spTgt spid="2">
                                            <p:txEl>
                                              <p:pRg st="2" end="2"/>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8" dur="500"/>
                                        <p:tgtEl>
                                          <p:spTgt spid="2">
                                            <p:txEl>
                                              <p:pRg st="3" end="3"/>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randombar(horizontal)">
                                      <p:cBhvr>
                                        <p:cTn id="21"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t>6.</a:t>
            </a:r>
            <a:r>
              <a:rPr lang="zh-CN" altLang="en-US" b="1" dirty="0"/>
              <a:t>地址计数器与对准伪指令</a:t>
            </a:r>
          </a:p>
        </p:txBody>
      </p:sp>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6" name="Rectangle 3"/>
          <p:cNvSpPr>
            <a:spLocks noChangeArrowheads="1"/>
          </p:cNvSpPr>
          <p:nvPr/>
        </p:nvSpPr>
        <p:spPr bwMode="auto">
          <a:xfrm>
            <a:off x="475615" y="2218690"/>
            <a:ext cx="4669790" cy="3900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30000"/>
              </a:lnSpc>
              <a:spcBef>
                <a:spcPct val="50000"/>
              </a:spcBef>
              <a:spcAft>
                <a:spcPts val="0"/>
              </a:spcAft>
              <a:buClrTx/>
              <a:buSzTx/>
              <a:buFontTx/>
              <a:buNone/>
              <a:defRPr/>
            </a:pPr>
            <a:r>
              <a:rPr kumimoji="0" lang="zh-CN" altLang="en-US" b="1" i="0" u="none" strike="noStrike" kern="0" cap="none" spc="0" normalizeH="0" baseline="0" dirty="0">
                <a:solidFill>
                  <a:srgbClr val="00349E"/>
                </a:solidFill>
                <a:latin typeface="微软雅黑" panose="020B0503020204020204" pitchFamily="34" charset="-122"/>
                <a:ea typeface="微软雅黑" panose="020B0503020204020204" pitchFamily="34" charset="-122"/>
              </a:rPr>
              <a:t>(1)  </a:t>
            </a:r>
            <a:r>
              <a:rPr kumimoji="1" lang="en-US" altLang="zh-CN"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 </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 </a:t>
            </a:r>
            <a:r>
              <a:rPr lang="zh-CN" altLang="en-US" sz="2000" b="1" kern="0" dirty="0">
                <a:solidFill>
                  <a:srgbClr val="3333CC"/>
                </a:solidFill>
                <a:ea typeface="楷体_GB2312" pitchFamily="49" charset="-122"/>
              </a:rPr>
              <a:t>地址</a:t>
            </a:r>
            <a:r>
              <a:rPr kumimoji="1" lang="zh-CN" altLang="en-US" sz="2000" b="1" i="0" u="none" strike="noStrike" kern="0" cap="none" spc="0" normalizeH="0" baseline="0" noProof="0" dirty="0">
                <a:ln>
                  <a:noFill/>
                </a:ln>
                <a:solidFill>
                  <a:srgbClr val="3333CC"/>
                </a:solidFill>
                <a:effectLst/>
                <a:uLnTx/>
                <a:uFillTx/>
                <a:latin typeface="Times New Roman" panose="02020603050405020304" pitchFamily="18" charset="0"/>
                <a:ea typeface="楷体_GB2312" pitchFamily="49" charset="-122"/>
              </a:rPr>
              <a:t>计数器</a:t>
            </a: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p>
          <a:p>
            <a:pPr marL="0" marR="0" lvl="0" indent="0" algn="just" defTabSz="914400" eaLnBrk="1" fontAlgn="auto" latinLnBrk="0" hangingPunct="1">
              <a:lnSpc>
                <a:spcPct val="130000"/>
              </a:lnSpc>
              <a:spcBef>
                <a:spcPct val="50000"/>
              </a:spcBef>
              <a:spcAft>
                <a:spcPts val="0"/>
              </a:spcAft>
              <a:buClrTx/>
              <a:buSzTx/>
              <a:buFontTx/>
              <a:buNone/>
              <a:defRPr/>
            </a:pPr>
            <a:r>
              <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字符“</a:t>
            </a:r>
            <a:r>
              <a:rPr kumimoji="1" lang="en-US" altLang="zh-CN"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在 </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8086 </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宏汇编中具有一种特殊的意义，把它称为程序计数器。表示位置计数器的当前值，它可以在数值表达式中使用。</a:t>
            </a:r>
          </a:p>
          <a:p>
            <a:pPr marL="0" marR="0" lvl="0" indent="0" algn="just" defTabSz="914400" eaLnBrk="1" fontAlgn="auto" latinLnBrk="0" hangingPunct="1">
              <a:lnSpc>
                <a:spcPct val="130000"/>
              </a:lnSpc>
              <a:spcBef>
                <a:spcPct val="50000"/>
              </a:spcBef>
              <a:spcAft>
                <a:spcPts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             在程序中，“</a:t>
            </a:r>
            <a:r>
              <a:rPr kumimoji="1" lang="en-US" altLang="zh-CN" b="1"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rPr>
              <a:t>$</a:t>
            </a:r>
            <a:r>
              <a:rPr kumimoji="1"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a:t>
            </a:r>
            <a:r>
              <a:rPr kumimoji="1"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出现在表达式里，它的值为程序下一个所能分配的存储单元的偏移地址。</a:t>
            </a:r>
            <a:endParaRPr kumimoji="1" lang="zh-CN" altLang="en-US" sz="20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 name="Text Box 3"/>
          <p:cNvSpPr txBox="1">
            <a:spLocks noChangeArrowheads="1"/>
          </p:cNvSpPr>
          <p:nvPr/>
        </p:nvSpPr>
        <p:spPr bwMode="auto">
          <a:xfrm>
            <a:off x="5331769" y="2093198"/>
            <a:ext cx="3312368" cy="829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10000"/>
              </a:spcBef>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BLOCK   DB  ‘HELLO!’</a:t>
            </a:r>
          </a:p>
          <a:p>
            <a:pPr>
              <a:lnSpc>
                <a:spcPct val="120000"/>
              </a:lnSpc>
              <a:spcBef>
                <a:spcPct val="10000"/>
              </a:spcBef>
              <a:buFont typeface="Arial" panose="020B0604020202020204" pitchFamily="34" charset="0"/>
              <a:buNone/>
            </a:pPr>
            <a:r>
              <a:rPr lang="en-US" altLang="zh-CN" sz="2000" b="1" dirty="0">
                <a:solidFill>
                  <a:srgbClr val="000000"/>
                </a:solidFill>
                <a:latin typeface="Times New Roman" panose="02020603050405020304" pitchFamily="18" charset="0"/>
                <a:ea typeface="宋体" panose="02010600030101010101" pitchFamily="2" charset="-122"/>
              </a:rPr>
              <a:t>NUM   EQU  $-BLOCK</a:t>
            </a:r>
          </a:p>
        </p:txBody>
      </p:sp>
      <p:graphicFrame>
        <p:nvGraphicFramePr>
          <p:cNvPr id="10" name="Group 4"/>
          <p:cNvGraphicFramePr>
            <a:graphicFrameLocks noGrp="1"/>
          </p:cNvGraphicFramePr>
          <p:nvPr/>
        </p:nvGraphicFramePr>
        <p:xfrm>
          <a:off x="6793030" y="3068960"/>
          <a:ext cx="914400" cy="3169920"/>
        </p:xfrm>
        <a:graphic>
          <a:graphicData uri="http://schemas.openxmlformats.org/drawingml/2006/table">
            <a:tbl>
              <a:tblPr/>
              <a:tblGrid>
                <a:gridCol w="914400">
                  <a:extLst>
                    <a:ext uri="{9D8B030D-6E8A-4147-A177-3AD203B41FA5}">
                      <a16:colId xmlns:a16="http://schemas.microsoft.com/office/drawing/2014/main" val="20000"/>
                    </a:ext>
                  </a:extLst>
                </a:gridCol>
              </a:tblGrid>
              <a:tr h="390076">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‘H’</a:t>
                      </a: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1273">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‘E’</a:t>
                      </a: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0076">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a:t>
                      </a: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1273">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a:t>
                      </a: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0076">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‘O’</a:t>
                      </a: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0076">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91273">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90076">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1" name="Group 24"/>
          <p:cNvGraphicFramePr>
            <a:graphicFrameLocks noGrp="1"/>
          </p:cNvGraphicFramePr>
          <p:nvPr/>
        </p:nvGraphicFramePr>
        <p:xfrm>
          <a:off x="5508104" y="3068961"/>
          <a:ext cx="1284926" cy="3169920"/>
        </p:xfrm>
        <a:graphic>
          <a:graphicData uri="http://schemas.openxmlformats.org/drawingml/2006/table">
            <a:tbl>
              <a:tblPr/>
              <a:tblGrid>
                <a:gridCol w="1284926">
                  <a:extLst>
                    <a:ext uri="{9D8B030D-6E8A-4147-A177-3AD203B41FA5}">
                      <a16:colId xmlns:a16="http://schemas.microsoft.com/office/drawing/2014/main" val="20000"/>
                    </a:ext>
                  </a:extLst>
                </a:gridCol>
              </a:tblGrid>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r>
                        <a:rPr kumimoji="0" lang="en-US" altLang="zh-CN" sz="20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rPr>
                        <a:t>BLOCK</a:t>
                      </a:r>
                    </a:p>
                  </a:txBody>
                  <a:tcP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5"/>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6"/>
                  </a:ext>
                </a:extLst>
              </a:tr>
              <a:tr h="0">
                <a:tc>
                  <a:txBody>
                    <a:bodyPr/>
                    <a:lstStyle>
                      <a:lvl1pPr marL="0" algn="l" defTabSz="914400" rtl="0" eaLnBrk="1" latinLnBrk="0" hangingPunct="1">
                        <a:spcBef>
                          <a:spcPct val="20000"/>
                        </a:spcBef>
                        <a:defRPr sz="2800" kern="1200">
                          <a:solidFill>
                            <a:schemeClr val="tx1"/>
                          </a:solidFill>
                          <a:latin typeface="Times New Roman" panose="02020603050405020304" pitchFamily="18" charset="0"/>
                          <a:ea typeface="宋体" panose="02010600030101010101" pitchFamily="2" charset="-122"/>
                        </a:defRPr>
                      </a:lvl1pPr>
                      <a:lvl2pPr marL="457200" algn="l" defTabSz="914400" rtl="0" eaLnBrk="1" latinLnBrk="0" hangingPunct="1">
                        <a:spcBef>
                          <a:spcPct val="20000"/>
                        </a:spcBef>
                        <a:defRPr sz="2400" kern="1200">
                          <a:solidFill>
                            <a:schemeClr val="tx1"/>
                          </a:solidFill>
                          <a:latin typeface="Times New Roman" panose="02020603050405020304" pitchFamily="18" charset="0"/>
                          <a:ea typeface="宋体" panose="02010600030101010101" pitchFamily="2" charset="-122"/>
                        </a:defRPr>
                      </a:lvl2pPr>
                      <a:lvl3pPr marL="914400" algn="l" defTabSz="914400" rtl="0" eaLnBrk="1" latinLnBrk="0" hangingPunct="1">
                        <a:spcBef>
                          <a:spcPct val="20000"/>
                        </a:spcBef>
                        <a:defRPr sz="2000" kern="1200">
                          <a:solidFill>
                            <a:schemeClr val="tx1"/>
                          </a:solidFill>
                          <a:latin typeface="Times New Roman" panose="02020603050405020304" pitchFamily="18" charset="0"/>
                          <a:ea typeface="宋体" panose="02010600030101010101" pitchFamily="2" charset="-122"/>
                        </a:defRPr>
                      </a:lvl3pPr>
                      <a:lvl4pPr marL="13716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4pPr>
                      <a:lvl5pPr marL="1828800" algn="l" defTabSz="914400" rtl="0" eaLnBrk="1" latinLnBrk="0" hangingPunct="1">
                        <a:spcBef>
                          <a:spcPct val="20000"/>
                        </a:spcBef>
                        <a:defRPr sz="1800" kern="1200">
                          <a:solidFill>
                            <a:schemeClr val="tx1"/>
                          </a:solidFill>
                          <a:latin typeface="Times New Roman" panose="02020603050405020304" pitchFamily="18" charset="0"/>
                          <a:ea typeface="宋体" panose="02010600030101010101" pitchFamily="2" charset="-122"/>
                        </a:defRPr>
                      </a:lvl5pPr>
                      <a:lvl6pPr marL="22860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6pPr>
                      <a:lvl7pPr marL="27432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7pPr>
                      <a:lvl8pPr marL="32004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8pPr>
                      <a:lvl9pPr marL="3657600" algn="l" defTabSz="914400" rtl="0" eaLnBrk="1" fontAlgn="base" latinLnBrk="0" hangingPunct="1">
                        <a:spcBef>
                          <a:spcPct val="20000"/>
                        </a:spcBef>
                        <a:spcAft>
                          <a:spcPct val="0"/>
                        </a:spcAft>
                        <a:defRPr sz="1800" kern="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20000"/>
                        </a:spcBef>
                        <a:spcAft>
                          <a:spcPct val="0"/>
                        </a:spcAft>
                        <a:buClrTx/>
                        <a:buSzTx/>
                        <a:buFontTx/>
                        <a:buNone/>
                      </a:pPr>
                      <a:endParaRPr kumimoji="0" lang="zh-CN" altLang="en-US" sz="2000" b="1" i="0" u="none" strike="noStrike" cap="none" normalizeH="0" baseline="0" dirty="0">
                        <a:ln>
                          <a:noFill/>
                        </a:ln>
                        <a:solidFill>
                          <a:srgbClr val="0000CC"/>
                        </a:solidFill>
                        <a:effectLst/>
                        <a:latin typeface="Times New Roman" panose="02020603050405020304" pitchFamily="18" charset="0"/>
                        <a:ea typeface="宋体" panose="02010600030101010101" pitchFamily="2" charset="-122"/>
                      </a:endParaRPr>
                    </a:p>
                  </a:txBody>
                  <a:tcP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7"/>
                  </a:ext>
                </a:extLst>
              </a:tr>
            </a:tbl>
          </a:graphicData>
        </a:graphic>
      </p:graphicFrame>
      <p:grpSp>
        <p:nvGrpSpPr>
          <p:cNvPr id="12" name="Group 51"/>
          <p:cNvGrpSpPr/>
          <p:nvPr/>
        </p:nvGrpSpPr>
        <p:grpSpPr bwMode="auto">
          <a:xfrm>
            <a:off x="7707228" y="5297038"/>
            <a:ext cx="1066800" cy="428625"/>
            <a:chOff x="0" y="0"/>
            <a:chExt cx="672" cy="270"/>
          </a:xfrm>
        </p:grpSpPr>
        <p:sp>
          <p:nvSpPr>
            <p:cNvPr id="13" name="Text Box 52"/>
            <p:cNvSpPr txBox="1">
              <a:spLocks noChangeArrowheads="1"/>
            </p:cNvSpPr>
            <p:nvPr/>
          </p:nvSpPr>
          <p:spPr bwMode="auto">
            <a:xfrm>
              <a:off x="432" y="0"/>
              <a:ext cx="240" cy="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 typeface="Arial" panose="020B0604020202020204" pitchFamily="34" charset="0"/>
                <a:buNone/>
              </a:pPr>
              <a:r>
                <a:rPr lang="zh-CN" altLang="en-US" sz="2000" b="1" dirty="0">
                  <a:solidFill>
                    <a:srgbClr val="000000"/>
                  </a:solidFill>
                  <a:latin typeface="Times New Roman" panose="02020603050405020304" pitchFamily="18" charset="0"/>
                  <a:ea typeface="宋体" panose="02010600030101010101" pitchFamily="2" charset="-122"/>
                </a:rPr>
                <a:t>$</a:t>
              </a:r>
            </a:p>
          </p:txBody>
        </p:sp>
        <p:sp>
          <p:nvSpPr>
            <p:cNvPr id="14" name="Line 53"/>
            <p:cNvSpPr>
              <a:spLocks noChangeShapeType="1"/>
            </p:cNvSpPr>
            <p:nvPr/>
          </p:nvSpPr>
          <p:spPr bwMode="auto">
            <a:xfrm flipH="1">
              <a:off x="0" y="192"/>
              <a:ext cx="432" cy="0"/>
            </a:xfrm>
            <a:prstGeom prst="line">
              <a:avLst/>
            </a:prstGeom>
            <a:noFill/>
            <a:ln w="57150">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 typeface="Arial" panose="020B0604020202020204" pitchFamily="34" charset="0"/>
                <a:buNone/>
              </a:pPr>
              <a:endParaRPr lang="zh-CN" altLang="en-US" sz="2400" b="1">
                <a:solidFill>
                  <a:srgbClr val="3333CC"/>
                </a:solidFill>
                <a:latin typeface="Times New Roman" panose="02020603050405020304" pitchFamily="18" charset="0"/>
                <a:ea typeface="宋体" panose="02010600030101010101" pitchFamily="2" charset="-122"/>
              </a:endParaRPr>
            </a:p>
          </p:txBody>
        </p:sp>
      </p:grpSp>
      <p:sp>
        <p:nvSpPr>
          <p:cNvPr id="15" name="矩形 14"/>
          <p:cNvSpPr/>
          <p:nvPr/>
        </p:nvSpPr>
        <p:spPr>
          <a:xfrm>
            <a:off x="5924362" y="5464231"/>
            <a:ext cx="793807" cy="369332"/>
          </a:xfrm>
          <a:prstGeom prst="rect">
            <a:avLst/>
          </a:prstGeom>
        </p:spPr>
        <p:txBody>
          <a:bodyPr wrap="none">
            <a:spAutoFit/>
          </a:bodyPr>
          <a:lstStyle/>
          <a:p>
            <a:r>
              <a:rPr lang="en-US" altLang="zh-CN" b="1" dirty="0">
                <a:solidFill>
                  <a:srgbClr val="000000"/>
                </a:solidFill>
                <a:latin typeface="Times New Roman" panose="02020603050405020304" pitchFamily="18" charset="0"/>
                <a:ea typeface="宋体" panose="02010600030101010101" pitchFamily="2" charset="-122"/>
              </a:rPr>
              <a:t>NUM </a:t>
            </a:r>
            <a:endParaRPr lang="zh-CN" altLang="en-US" dirty="0"/>
          </a:p>
        </p:txBody>
      </p:sp>
      <p:sp>
        <p:nvSpPr>
          <p:cNvPr id="16" name="矩形 15"/>
          <p:cNvSpPr/>
          <p:nvPr/>
        </p:nvSpPr>
        <p:spPr>
          <a:xfrm>
            <a:off x="6875990" y="5467702"/>
            <a:ext cx="685800" cy="369332"/>
          </a:xfrm>
          <a:prstGeom prst="rect">
            <a:avLst/>
          </a:prstGeom>
        </p:spPr>
        <p:txBody>
          <a:bodyPr wrap="square">
            <a:spAutoFit/>
          </a:bodyPr>
          <a:lstStyle/>
          <a:p>
            <a:r>
              <a:rPr lang="en-US" altLang="zh-CN" b="1" dirty="0">
                <a:solidFill>
                  <a:srgbClr val="000000"/>
                </a:solidFill>
                <a:latin typeface="Times New Roman" panose="02020603050405020304" pitchFamily="18" charset="0"/>
                <a:ea typeface="宋体" panose="02010600030101010101" pitchFamily="2" charset="-122"/>
              </a:rPr>
              <a:t>   6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righ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9" grpId="0" autoUpdateAnimBg="0"/>
      <p:bldP spid="15" grpId="0"/>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(2) </a:t>
            </a:r>
            <a:r>
              <a:rPr lang="zh-CN" altLang="en-US" b="1" dirty="0">
                <a:latin typeface="Times New Roman" panose="02020603050405020304" pitchFamily="18" charset="0"/>
                <a:cs typeface="Times New Roman" panose="02020603050405020304" pitchFamily="18" charset="0"/>
              </a:rPr>
              <a:t>移动地址指针伪指令</a:t>
            </a:r>
            <a:r>
              <a:rPr lang="en-US" altLang="zh-CN" b="1" dirty="0">
                <a:latin typeface="Times New Roman" panose="02020603050405020304" pitchFamily="18" charset="0"/>
                <a:cs typeface="Times New Roman" panose="02020603050405020304" pitchFamily="18" charset="0"/>
              </a:rPr>
              <a:t>ORG</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Rectangle 2"/>
          <p:cNvSpPr txBox="1">
            <a:spLocks noChangeArrowheads="1"/>
          </p:cNvSpPr>
          <p:nvPr/>
        </p:nvSpPr>
        <p:spPr bwMode="auto">
          <a:xfrm>
            <a:off x="526341" y="2163927"/>
            <a:ext cx="8153400" cy="3703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342900" marR="0" lvl="0" indent="-342900" algn="l" defTabSz="914400" rtl="0" eaLnBrk="1" fontAlgn="base" latinLnBrk="0" hangingPunct="1">
              <a:lnSpc>
                <a:spcPct val="155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作用： 指定某源程序或数据块起点在段内的偏移地址，</a:t>
            </a:r>
          </a:p>
          <a:p>
            <a:pPr marL="342900" marR="0" lvl="0" indent="-342900" algn="just" defTabSz="914400" rtl="0" eaLnBrk="1" fontAlgn="base" latinLnBrk="0" hangingPunct="1">
              <a:lnSpc>
                <a:spcPct val="130000"/>
              </a:lnSpc>
              <a:spcBef>
                <a:spcPct val="2000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利用</a:t>
            </a:r>
            <a:r>
              <a:rPr kumimoji="1" lang="en-US" altLang="zh-CN"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ORG</a:t>
            </a: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伪指令可以强行改变位置</a:t>
            </a:r>
            <a:r>
              <a:rPr kumimoji="1" lang="zh-CN" altLang="en-US" sz="2000" b="1" i="0" u="none" strike="noStrike" kern="0" cap="none" spc="0" normalizeH="0" baseline="0" noProof="0" dirty="0">
                <a:ln>
                  <a:noFill/>
                </a:ln>
                <a:solidFill>
                  <a:srgbClr val="3333FF"/>
                </a:solidFill>
                <a:effectLst/>
                <a:uLnTx/>
                <a:uFillTx/>
                <a:latin typeface="Times New Roman" panose="02020603050405020304"/>
                <a:ea typeface="楷体_GB2312" pitchFamily="49" charset="-122"/>
                <a:cs typeface="+mn-cs"/>
              </a:rPr>
              <a:t>计数器</a:t>
            </a: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的值。</a:t>
            </a:r>
            <a:r>
              <a:rPr kumimoji="1" lang="zh-CN" altLang="en-US" sz="24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a:t>
            </a:r>
          </a:p>
          <a:p>
            <a:pPr marL="342900" marR="0" lvl="0" indent="-342900" algn="l" defTabSz="914400" rtl="0" eaLnBrk="1" fontAlgn="base" latinLnBrk="0" hangingPunct="1">
              <a:lnSpc>
                <a:spcPct val="155000"/>
              </a:lnSpc>
              <a:spcBef>
                <a:spcPct val="0"/>
              </a:spcBef>
              <a:spcAft>
                <a:spcPct val="0"/>
              </a:spcAft>
              <a:buClrTx/>
              <a:buSzTx/>
              <a:buFontTx/>
              <a:buNone/>
              <a:defRPr/>
            </a:pP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使用格式 ：  </a:t>
            </a:r>
            <a:r>
              <a:rPr kumimoji="1" lang="zh-CN" altLang="en-US" sz="2000" b="1" i="0" u="none" strike="noStrike" kern="0" cap="none" spc="0" normalizeH="0" baseline="0" noProof="0" dirty="0">
                <a:ln>
                  <a:noFill/>
                </a:ln>
                <a:solidFill>
                  <a:srgbClr val="FF3300"/>
                </a:solidFill>
                <a:effectLst/>
                <a:uLnTx/>
                <a:uFillTx/>
                <a:latin typeface="Times New Roman" panose="02020603050405020304"/>
                <a:ea typeface="楷体_GB2312" pitchFamily="49" charset="-122"/>
                <a:cs typeface="+mn-cs"/>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a:ea typeface="楷体_GB2312" pitchFamily="49" charset="-122"/>
                <a:cs typeface="+mn-cs"/>
              </a:rPr>
              <a:t>ORG </a:t>
            </a:r>
            <a:r>
              <a:rPr kumimoji="1" lang="en-US" altLang="zh-CN"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a:ea typeface="楷体_GB2312" pitchFamily="49" charset="-122"/>
                <a:cs typeface="+mn-cs"/>
              </a:rPr>
              <a:t>exp</a:t>
            </a:r>
          </a:p>
          <a:p>
            <a:pPr marL="342900" marR="0" lvl="0" indent="-342900" algn="l" defTabSz="914400" rtl="0" eaLnBrk="1" fontAlgn="base" latinLnBrk="0" hangingPunct="1">
              <a:lnSpc>
                <a:spcPct val="155000"/>
              </a:lnSpc>
              <a:spcBef>
                <a:spcPct val="0"/>
              </a:spcBef>
              <a:spcAft>
                <a:spcPct val="0"/>
              </a:spcAft>
              <a:buClrTx/>
              <a:buSzTx/>
              <a:buFontTx/>
              <a:buNone/>
              <a:defRPr/>
            </a:pPr>
            <a:r>
              <a:rPr kumimoji="1" lang="en-US" altLang="zh-CN"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a:t>
            </a:r>
            <a:r>
              <a:rPr kumimoji="1" lang="en-US" altLang="zh-CN" sz="2000" b="1" i="0" u="none" strike="noStrike" kern="0" cap="none" spc="0" normalizeH="0" baseline="0" noProof="0" dirty="0">
                <a:ln>
                  <a:noFill/>
                </a:ln>
                <a:solidFill>
                  <a:srgbClr val="FF3300"/>
                </a:solidFill>
                <a:effectLst/>
                <a:uLnTx/>
                <a:uFillTx/>
                <a:latin typeface="Times New Roman" panose="02020603050405020304"/>
                <a:ea typeface="楷体_GB2312" pitchFamily="49" charset="-122"/>
                <a:cs typeface="+mn-cs"/>
              </a:rPr>
              <a:t>exp</a:t>
            </a:r>
            <a:r>
              <a:rPr kumimoji="1" lang="en-US" altLang="zh-CN"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a:t>
            </a: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为能计算出</a:t>
            </a:r>
            <a:r>
              <a:rPr kumimoji="1" lang="en-US" altLang="zh-CN"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16</a:t>
            </a:r>
            <a:r>
              <a:rPr kumimoji="1" lang="zh-CN" altLang="en-US" sz="20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位立即数的表达式</a:t>
            </a:r>
          </a:p>
          <a:p>
            <a:pPr marL="342900" marR="0" lvl="0" indent="-342900" algn="l" defTabSz="914400" rtl="0" eaLnBrk="1" fontAlgn="base" latinLnBrk="0" hangingPunct="1">
              <a:lnSpc>
                <a:spcPct val="155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a:t>
            </a:r>
            <a:r>
              <a:rPr kumimoji="1" lang="zh-CN" altLang="en-US" sz="2400" b="1" i="0" u="none" strike="noStrike" kern="0" cap="none" spc="0" normalizeH="0" baseline="0" noProof="0" dirty="0">
                <a:ln>
                  <a:noFill/>
                </a:ln>
                <a:solidFill>
                  <a:srgbClr val="3333CC"/>
                </a:solidFill>
                <a:effectLst/>
                <a:uLnTx/>
                <a:uFillTx/>
                <a:latin typeface="Times New Roman" panose="02020603050405020304"/>
                <a:ea typeface="楷体_GB2312" pitchFamily="49" charset="-122"/>
                <a:cs typeface="+mn-cs"/>
              </a:rPr>
              <a:t>例：</a:t>
            </a:r>
          </a:p>
          <a:p>
            <a:pPr marL="342900" marR="0" lvl="0" indent="-342900" algn="l" defTabSz="914400" rtl="0" eaLnBrk="1" fontAlgn="base" latinLnBrk="0" hangingPunct="1">
              <a:lnSpc>
                <a:spcPct val="155000"/>
              </a:lnSpc>
              <a:spcBef>
                <a:spcPct val="0"/>
              </a:spcBef>
              <a:spcAft>
                <a:spcPct val="0"/>
              </a:spcAft>
              <a:buClrTx/>
              <a:buSzTx/>
              <a:buFontTx/>
              <a:buNone/>
              <a:defRPr/>
            </a:pPr>
            <a:r>
              <a:rPr kumimoji="1" lang="zh-CN" altLang="en-US" sz="24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a:t>
            </a:r>
            <a:r>
              <a:rPr kumimoji="1" lang="en-US" altLang="zh-CN" sz="24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ORG    2000H</a:t>
            </a:r>
          </a:p>
          <a:p>
            <a:pPr marL="342900" marR="0" lvl="0" indent="-342900" algn="l" defTabSz="914400" rtl="0" eaLnBrk="1" fontAlgn="base" latinLnBrk="0" hangingPunct="1">
              <a:lnSpc>
                <a:spcPct val="155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a:ea typeface="楷体_GB2312" pitchFamily="49" charset="-122"/>
                <a:cs typeface="+mn-cs"/>
              </a:rPr>
              <a:t>	        ORG    $ + 1000H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wipe(left)">
                                      <p:cBhvr>
                                        <p:cTn id="26" dur="500"/>
                                        <p:tgtEl>
                                          <p:spTgt spid="5">
                                            <p:txEl>
                                              <p:pRg st="4" end="4"/>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wipe(left)">
                                      <p:cBhvr>
                                        <p:cTn id="29" dur="500"/>
                                        <p:tgtEl>
                                          <p:spTgt spid="5">
                                            <p:txEl>
                                              <p:pRg st="5" end="5"/>
                                            </p:txEl>
                                          </p:spTgt>
                                        </p:tgtEl>
                                      </p:cBhvr>
                                    </p:animEffect>
                                  </p:childTnLst>
                                </p:cTn>
                              </p:par>
                              <p:par>
                                <p:cTn id="30" presetID="22" presetClass="entr" presetSubtype="8"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wipe(left)">
                                      <p:cBhvr>
                                        <p:cTn id="3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2" name="矩形 1"/>
          <p:cNvSpPr/>
          <p:nvPr/>
        </p:nvSpPr>
        <p:spPr>
          <a:xfrm>
            <a:off x="282020" y="1670293"/>
            <a:ext cx="4145964" cy="1445260"/>
          </a:xfrm>
          <a:prstGeom prst="rect">
            <a:avLst/>
          </a:prstGeom>
        </p:spPr>
        <p:txBody>
          <a:bodyPr wrap="square">
            <a:spAutoFit/>
          </a:bodyPr>
          <a:lstStyle/>
          <a:p>
            <a:pPr indent="254000" algn="just">
              <a:spcAft>
                <a:spcPts val="0"/>
              </a:spcAft>
            </a:pPr>
            <a:r>
              <a:rPr lang="en-US" altLang="zh-CN" sz="2400" b="1" kern="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(3)EVEN伪指令</a:t>
            </a:r>
          </a:p>
          <a:p>
            <a:r>
              <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rPr>
              <a:t>EVEN</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伪指令使下一个变量或指令</a:t>
            </a:r>
            <a:r>
              <a:rPr lang="zh-CN" altLang="zh-CN" sz="16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开始于偶数字节地址</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。一个字的地址最好从偶地址开始。对于字数组，为保证其从偶地址开始，可以在其前用</a:t>
            </a:r>
            <a:r>
              <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rPr>
              <a:t>EVEN</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伪指令。</a:t>
            </a:r>
            <a:endParaRPr lang="zh-CN" altLang="en-US" sz="3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95605" y="3285490"/>
            <a:ext cx="3930650" cy="1383665"/>
          </a:xfrm>
          <a:prstGeom prst="rect">
            <a:avLst/>
          </a:prstGeom>
          <a:solidFill>
            <a:srgbClr val="FFFF99"/>
          </a:solidFill>
          <a:ln>
            <a:solidFill>
              <a:schemeClr val="tx1"/>
            </a:solidFill>
          </a:ln>
        </p:spPr>
        <p:txBody>
          <a:bodyPr wrap="square">
            <a:spAutoFit/>
          </a:bodyPr>
          <a:lstStyle/>
          <a:p>
            <a:pPr indent="254000" algn="just">
              <a:spcAft>
                <a:spcPts val="0"/>
              </a:spcAft>
            </a:pP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DATA_SEGSEGMENT</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a:p>
            <a:pPr marL="266700" indent="254000" algn="just">
              <a:spcAft>
                <a:spcPts val="0"/>
              </a:spcAft>
            </a:pPr>
            <a:r>
              <a:rPr lang="zh-CN" altLang="zh-CN" sz="1400" dirty="0">
                <a:latin typeface="Times New Roman" panose="02020603050405020304" pitchFamily="18" charset="0"/>
                <a:ea typeface="仿宋" panose="02010609060101010101" pitchFamily="49" charset="-122"/>
                <a:cs typeface="Times New Roman" panose="02020603050405020304" pitchFamily="18" charset="0"/>
              </a:rPr>
              <a:t></a:t>
            </a:r>
          </a:p>
          <a:p>
            <a:pPr marL="533400" indent="254000" algn="just">
              <a:spcAft>
                <a:spcPts val="0"/>
              </a:spcAft>
            </a:pPr>
            <a:r>
              <a:rPr lang="en-US" altLang="zh-CN" sz="1400" dirty="0">
                <a:solidFill>
                  <a:srgbClr val="0000FF"/>
                </a:solidFill>
                <a:latin typeface="Times New Roman" panose="02020603050405020304" pitchFamily="18" charset="0"/>
                <a:ea typeface="仿宋" panose="02010609060101010101" pitchFamily="49" charset="-122"/>
                <a:cs typeface="Times New Roman" panose="02020603050405020304" pitchFamily="18" charset="0"/>
              </a:rPr>
              <a:t>EVEN</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a:p>
            <a:pPr marL="266700" indent="254000" algn="just">
              <a:spcAft>
                <a:spcPts val="0"/>
              </a:spcAft>
            </a:pP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WORD_ARRAY   DW   100DUP(?)</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a:p>
            <a:pPr marL="266700" indent="254000" algn="just">
              <a:spcAft>
                <a:spcPts val="0"/>
              </a:spcAft>
            </a:pPr>
            <a:r>
              <a:rPr lang="zh-CN" altLang="zh-CN" sz="1400" dirty="0">
                <a:latin typeface="Times New Roman" panose="02020603050405020304" pitchFamily="18" charset="0"/>
                <a:ea typeface="仿宋" panose="02010609060101010101" pitchFamily="49" charset="-122"/>
                <a:cs typeface="Times New Roman" panose="02020603050405020304" pitchFamily="18" charset="0"/>
              </a:rPr>
              <a:t></a:t>
            </a:r>
          </a:p>
          <a:p>
            <a:pPr indent="254000" algn="just">
              <a:spcAft>
                <a:spcPts val="0"/>
              </a:spcAft>
            </a:pPr>
            <a:r>
              <a:rPr lang="en-US" altLang="zh-CN" sz="1400" dirty="0">
                <a:latin typeface="Times New Roman" panose="02020603050405020304" pitchFamily="18" charset="0"/>
                <a:ea typeface="仿宋" panose="02010609060101010101" pitchFamily="49" charset="-122"/>
                <a:cs typeface="Times New Roman" panose="02020603050405020304" pitchFamily="18" charset="0"/>
              </a:rPr>
              <a:t>DATA_SEGENDS</a:t>
            </a:r>
            <a:endParaRPr lang="zh-CN" altLang="zh-CN" sz="1400"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矩形 5"/>
          <p:cNvSpPr/>
          <p:nvPr/>
        </p:nvSpPr>
        <p:spPr>
          <a:xfrm>
            <a:off x="4716018" y="1642775"/>
            <a:ext cx="3987750" cy="1691640"/>
          </a:xfrm>
          <a:prstGeom prst="rect">
            <a:avLst/>
          </a:prstGeom>
        </p:spPr>
        <p:txBody>
          <a:bodyPr wrap="square">
            <a:spAutoFit/>
          </a:bodyPr>
          <a:lstStyle/>
          <a:p>
            <a:pPr indent="254000" algn="just">
              <a:spcAft>
                <a:spcPts val="0"/>
              </a:spcAft>
              <a:buClrTx/>
              <a:buSzTx/>
              <a:buFontTx/>
            </a:pPr>
            <a:r>
              <a:rPr lang="en-US" altLang="zh-CN" sz="2400" b="1" kern="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(4)ALIGN伪指令</a:t>
            </a:r>
          </a:p>
          <a:p>
            <a:pPr indent="254000" algn="just">
              <a:spcAft>
                <a:spcPts val="0"/>
              </a:spcAft>
            </a:pPr>
            <a:r>
              <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rPr>
              <a:t>ALIGN</a:t>
            </a: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伪指令使下一个变量或指令开始于指定的位置。</a:t>
            </a:r>
          </a:p>
          <a:p>
            <a:pPr indent="254000" algn="just">
              <a:spcAft>
                <a:spcPts val="0"/>
              </a:spcAft>
            </a:pPr>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格式：</a:t>
            </a:r>
          </a:p>
          <a:p>
            <a:pPr indent="254000" algn="just">
              <a:spcAft>
                <a:spcPts val="0"/>
              </a:spcAft>
            </a:pPr>
            <a:r>
              <a:rPr lang="en-US" altLang="zh-CN" sz="1600" kern="100" dirty="0">
                <a:latin typeface="Times New Roman" panose="02020603050405020304" pitchFamily="18" charset="0"/>
                <a:ea typeface="微软雅黑" panose="020B0503020204020204" pitchFamily="34" charset="-122"/>
                <a:cs typeface="Times New Roman" panose="02020603050405020304" pitchFamily="18" charset="0"/>
              </a:rPr>
              <a:t>ALIGN	 BOUNDARY</a:t>
            </a:r>
            <a:endPar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kern="100"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16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BOUNDARY</a:t>
            </a:r>
            <a:r>
              <a:rPr lang="zh-CN" altLang="zh-CN" sz="16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必须是</a:t>
            </a:r>
            <a:r>
              <a:rPr lang="en-US" altLang="zh-CN" sz="16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16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的幂</a:t>
            </a:r>
            <a:endParaRPr lang="zh-CN" altLang="en-US" sz="1600"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4824030" y="3352165"/>
            <a:ext cx="3771726" cy="1384995"/>
          </a:xfrm>
          <a:prstGeom prst="rect">
            <a:avLst/>
          </a:prstGeom>
          <a:solidFill>
            <a:srgbClr val="FFFF99"/>
          </a:solidFill>
          <a:ln>
            <a:solidFill>
              <a:schemeClr val="tx2"/>
            </a:solidFill>
          </a:ln>
        </p:spPr>
        <p:txBody>
          <a:bodyPr wrap="square">
            <a:spAutoFit/>
          </a:bodyPr>
          <a:lstStyle/>
          <a:p>
            <a:pPr indent="254000" algn="just">
              <a:spcAft>
                <a:spcPts val="0"/>
              </a:spcAft>
            </a:pP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例如，为保证双字数组边界从</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的倍数开始，则可以使用如下语句：</a:t>
            </a:r>
          </a:p>
          <a:p>
            <a:pPr marL="266700" indent="254000" algn="just">
              <a:spcAft>
                <a:spcPts val="0"/>
              </a:spcAft>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.DATA</a:t>
            </a:r>
            <a:endParaRPr lang="zh-CN"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p>
          <a:p>
            <a:pPr marL="266700" indent="254000" algn="just">
              <a:spcAft>
                <a:spcPts val="0"/>
              </a:spcAft>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ALIGN  4</a:t>
            </a:r>
            <a:endParaRPr lang="zh-CN"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pPr marL="254000" indent="266700" algn="just">
              <a:spcAft>
                <a:spcPts val="0"/>
              </a:spcAft>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ARRAY DB 100 DUP(</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14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 name="矩形 7"/>
          <p:cNvSpPr/>
          <p:nvPr/>
        </p:nvSpPr>
        <p:spPr>
          <a:xfrm>
            <a:off x="2987824" y="5373216"/>
            <a:ext cx="3424335" cy="338554"/>
          </a:xfrm>
          <a:prstGeom prst="rect">
            <a:avLst/>
          </a:prstGeom>
          <a:solidFill>
            <a:srgbClr val="92D050"/>
          </a:solidFill>
        </p:spPr>
        <p:txBody>
          <a:bodyPr wrap="none">
            <a:spAutoFit/>
          </a:bodyPr>
          <a:lstStyle/>
          <a:p>
            <a:r>
              <a:rPr lang="zh-CN" altLang="zh-CN" sz="16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ALIGN 2</a:t>
            </a:r>
            <a:r>
              <a:rPr lang="zh-CN" altLang="zh-CN" sz="16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EVEN</a:t>
            </a:r>
            <a:r>
              <a:rPr lang="zh-CN" altLang="zh-CN" sz="1600"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”是等价的</a:t>
            </a:r>
            <a:endParaRPr lang="zh-CN" altLang="en-US" sz="3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ldLvl="0" animBg="1"/>
      <p:bldP spid="6" grpId="0"/>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7. </a:t>
            </a:r>
            <a:r>
              <a:rPr lang="zh-CN" altLang="en-US" b="1" dirty="0">
                <a:latin typeface="Times New Roman" panose="02020603050405020304" pitchFamily="18" charset="0"/>
                <a:cs typeface="Times New Roman" panose="02020603050405020304" pitchFamily="18" charset="0"/>
              </a:rPr>
              <a:t>基数控制伪指令 </a:t>
            </a:r>
            <a:r>
              <a:rPr lang="en-US" altLang="zh-CN" b="1" dirty="0">
                <a:latin typeface="Times New Roman" panose="02020603050405020304" pitchFamily="18" charset="0"/>
                <a:cs typeface="Times New Roman" panose="02020603050405020304" pitchFamily="18" charset="0"/>
              </a:rPr>
              <a:t>.RADIX</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伪指令</a:t>
            </a:r>
          </a:p>
          <a:p>
            <a:endParaRPr lang="zh-CN" altLang="en-US" dirty="0"/>
          </a:p>
        </p:txBody>
      </p:sp>
      <p:sp>
        <p:nvSpPr>
          <p:cNvPr id="5" name="Text Box 3"/>
          <p:cNvSpPr txBox="1">
            <a:spLocks noChangeArrowheads="1"/>
          </p:cNvSpPr>
          <p:nvPr/>
        </p:nvSpPr>
        <p:spPr bwMode="auto">
          <a:xfrm>
            <a:off x="1475656" y="2242248"/>
            <a:ext cx="5867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0" fontAlgn="auto" latinLnBrk="0" hangingPunct="0">
              <a:lnSpc>
                <a:spcPct val="100000"/>
              </a:lnSpc>
              <a:spcBef>
                <a:spcPts val="0"/>
              </a:spcBef>
              <a:spcAft>
                <a:spcPts val="0"/>
              </a:spcAft>
              <a:buClrTx/>
              <a:buSzTx/>
              <a:buFontTx/>
              <a:buNone/>
              <a:defRPr/>
            </a:pPr>
            <a:r>
              <a:rPr kumimoji="1" lang="en-US" altLang="zh-CN" sz="20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RADIX  </a:t>
            </a:r>
            <a:r>
              <a:rPr kumimoji="1" lang="zh-CN" altLang="zh-CN" sz="20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表达式 </a:t>
            </a:r>
            <a:r>
              <a:rPr kumimoji="1" lang="zh-CN" altLang="en-US" sz="20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en-US" altLang="zh-CN"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 </a:t>
            </a:r>
            <a:r>
              <a:rPr kumimoji="1" lang="zh-CN" altLang="en-US" sz="20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规定无标记数的基数</a:t>
            </a:r>
            <a:endParaRPr kumimoji="1" lang="zh-CN" altLang="en-US" sz="2000" b="0" i="1"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6" name="Text Box 4"/>
          <p:cNvSpPr txBox="1">
            <a:spLocks noChangeArrowheads="1"/>
          </p:cNvSpPr>
          <p:nvPr/>
        </p:nvSpPr>
        <p:spPr bwMode="auto">
          <a:xfrm>
            <a:off x="1475656" y="3158936"/>
            <a:ext cx="3657600"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solidFill>
                  <a:srgbClr val="000000"/>
                </a:solidFill>
                <a:ea typeface="微软雅黑" panose="020B0503020204020204" pitchFamily="34" charset="-122"/>
                <a:cs typeface="Times New Roman" panose="02020603050405020304" pitchFamily="18" charset="0"/>
              </a:rPr>
              <a:t>MOV  BX, 0FFH</a:t>
            </a:r>
          </a:p>
          <a:p>
            <a:pPr eaLnBrk="1" hangingPunct="1">
              <a:spcBef>
                <a:spcPct val="50000"/>
              </a:spcBef>
            </a:pPr>
            <a:r>
              <a:rPr lang="en-US" altLang="zh-CN" sz="2000" dirty="0">
                <a:solidFill>
                  <a:srgbClr val="000000"/>
                </a:solidFill>
                <a:ea typeface="微软雅黑" panose="020B0503020204020204" pitchFamily="34" charset="-122"/>
                <a:cs typeface="Times New Roman" panose="02020603050405020304" pitchFamily="18" charset="0"/>
              </a:rPr>
              <a:t>MOV  BX, 178</a:t>
            </a:r>
          </a:p>
          <a:p>
            <a:pPr eaLnBrk="1" hangingPunct="1">
              <a:spcBef>
                <a:spcPct val="50000"/>
              </a:spcBef>
            </a:pPr>
            <a:endParaRPr lang="en-US" altLang="zh-CN" sz="2000" dirty="0">
              <a:solidFill>
                <a:srgbClr val="000000"/>
              </a:solidFill>
              <a:ea typeface="微软雅黑" panose="020B0503020204020204" pitchFamily="34" charset="-122"/>
              <a:cs typeface="Times New Roman" panose="02020603050405020304" pitchFamily="18" charset="0"/>
            </a:endParaRPr>
          </a:p>
          <a:p>
            <a:pPr lvl="2">
              <a:spcBef>
                <a:spcPct val="50000"/>
              </a:spcBef>
            </a:pPr>
            <a:r>
              <a:rPr lang="en-US" altLang="zh-CN" sz="2000" dirty="0">
                <a:solidFill>
                  <a:srgbClr val="000000"/>
                </a:solidFill>
                <a:ea typeface="微软雅黑" panose="020B0503020204020204" pitchFamily="34" charset="-122"/>
                <a:cs typeface="Times New Roman" panose="02020603050405020304" pitchFamily="18" charset="0"/>
              </a:rPr>
              <a:t>.RADIX  16</a:t>
            </a:r>
          </a:p>
          <a:p>
            <a:pPr lvl="2">
              <a:spcBef>
                <a:spcPct val="50000"/>
              </a:spcBef>
            </a:pPr>
            <a:r>
              <a:rPr lang="en-US" altLang="zh-CN" sz="2000" dirty="0">
                <a:solidFill>
                  <a:srgbClr val="000000"/>
                </a:solidFill>
                <a:ea typeface="微软雅黑" panose="020B0503020204020204" pitchFamily="34" charset="-122"/>
                <a:cs typeface="Times New Roman" panose="02020603050405020304" pitchFamily="18" charset="0"/>
              </a:rPr>
              <a:t>MOV  BX, 0FF</a:t>
            </a:r>
          </a:p>
          <a:p>
            <a:pPr lvl="2">
              <a:spcBef>
                <a:spcPct val="50000"/>
              </a:spcBef>
            </a:pPr>
            <a:r>
              <a:rPr lang="en-US" altLang="zh-CN" sz="2000" dirty="0">
                <a:solidFill>
                  <a:srgbClr val="000000"/>
                </a:solidFill>
                <a:ea typeface="微软雅黑" panose="020B0503020204020204" pitchFamily="34" charset="-122"/>
                <a:cs typeface="Times New Roman" panose="02020603050405020304" pitchFamily="18" charset="0"/>
              </a:rPr>
              <a:t>MOV  BX, 178D</a:t>
            </a:r>
          </a:p>
        </p:txBody>
      </p:sp>
      <p:sp>
        <p:nvSpPr>
          <p:cNvPr id="7" name="Rectangle 5"/>
          <p:cNvSpPr>
            <a:spLocks noChangeArrowheads="1"/>
          </p:cNvSpPr>
          <p:nvPr/>
        </p:nvSpPr>
        <p:spPr bwMode="auto">
          <a:xfrm>
            <a:off x="1116360" y="2858537"/>
            <a:ext cx="2808312" cy="1352183"/>
          </a:xfrm>
          <a:prstGeom prst="rect">
            <a:avLst/>
          </a:prstGeom>
          <a:noFill/>
          <a:ln w="12700">
            <a:solidFill>
              <a:srgbClr val="CCCCFF"/>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Rectangle 5"/>
          <p:cNvSpPr>
            <a:spLocks noChangeArrowheads="1"/>
          </p:cNvSpPr>
          <p:nvPr/>
        </p:nvSpPr>
        <p:spPr bwMode="auto">
          <a:xfrm>
            <a:off x="1908448" y="4518151"/>
            <a:ext cx="2808312" cy="1352183"/>
          </a:xfrm>
          <a:prstGeom prst="rect">
            <a:avLst/>
          </a:prstGeom>
          <a:noFill/>
          <a:ln w="12700">
            <a:solidFill>
              <a:srgbClr val="CCCCFF"/>
            </a:solidFill>
            <a:prstDash val="dash"/>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0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箭头: 上弧形 10"/>
          <p:cNvSpPr/>
          <p:nvPr/>
        </p:nvSpPr>
        <p:spPr>
          <a:xfrm rot="5145916">
            <a:off x="3583622" y="3791922"/>
            <a:ext cx="1216152" cy="477007"/>
          </a:xfrm>
          <a:prstGeom prst="curvedDownArrow">
            <a:avLst>
              <a:gd name="adj1" fmla="val 25000"/>
              <a:gd name="adj2" fmla="val 50000"/>
              <a:gd name="adj3" fmla="val 44906"/>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dirty="0">
                <a:solidFill>
                  <a:schemeClr val="tx1"/>
                </a:solidFill>
              </a:rPr>
              <a:t>等价</a:t>
            </a:r>
          </a:p>
        </p:txBody>
      </p:sp>
      <p:sp>
        <p:nvSpPr>
          <p:cNvPr id="12" name="矩形 11"/>
          <p:cNvSpPr/>
          <p:nvPr/>
        </p:nvSpPr>
        <p:spPr>
          <a:xfrm>
            <a:off x="1187624" y="5997599"/>
            <a:ext cx="7199407" cy="369332"/>
          </a:xfrm>
          <a:prstGeom prst="rect">
            <a:avLst/>
          </a:prstGeom>
        </p:spPr>
        <p:txBody>
          <a:bodyPr wrap="none">
            <a:spAutoFit/>
          </a:bodyPr>
          <a:lstStyle/>
          <a:p>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在用</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.RADIX 16</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把基数定为十六进制后，</a:t>
            </a:r>
            <a:r>
              <a:rPr lang="zh-CN" altLang="zh-CN"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十进制数后面都应跟字母</a:t>
            </a:r>
            <a:r>
              <a:rPr lang="en-US" altLang="zh-CN"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zh-CN" b="1" kern="1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animBg="1"/>
      <p:bldP spid="9" grpId="0" animBg="1"/>
      <p:bldP spid="11" grpId="0" animBg="1"/>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p:txBody>
      </p:sp>
      <p:sp>
        <p:nvSpPr>
          <p:cNvPr id="5" name="矩形 4"/>
          <p:cNvSpPr/>
          <p:nvPr/>
        </p:nvSpPr>
        <p:spPr>
          <a:xfrm>
            <a:off x="219188" y="1642775"/>
            <a:ext cx="4172647" cy="4278094"/>
          </a:xfrm>
          <a:prstGeom prst="rect">
            <a:avLst/>
          </a:prstGeom>
        </p:spPr>
        <p:txBody>
          <a:bodyPr wrap="square">
            <a:spAutoFit/>
          </a:bodyPr>
          <a:lstStyle/>
          <a:p>
            <a:pPr marL="342900" marR="0" lvl="0" indent="-342900" defTabSz="914400" eaLnBrk="1" fontAlgn="auto" latinLnBrk="0" hangingPunct="1">
              <a:lnSpc>
                <a:spcPct val="100000"/>
              </a:lnSpc>
              <a:spcBef>
                <a:spcPct val="80000"/>
              </a:spcBef>
              <a:spcAft>
                <a:spcPts val="0"/>
              </a:spcAft>
              <a:buClrTx/>
              <a:buSzTx/>
              <a:buFontTx/>
              <a:buNone/>
              <a:defRPr/>
            </a:pP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为节省编程工作量与优化程序结构，在</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DOS</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及</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BIOS</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中预先设计好了一系列</a:t>
            </a:r>
            <a:r>
              <a:rPr kumimoji="0" lang="zh-CN" altLang="en-US" sz="2000" b="1" i="0" u="none" strike="noStrike" kern="0" cap="none" spc="0" normalizeH="0" baseline="0" noProof="0" dirty="0">
                <a:ln>
                  <a:noFill/>
                </a:ln>
                <a:solidFill>
                  <a:srgbClr val="FF9900"/>
                </a:solidFill>
                <a:uLnTx/>
                <a:uFillTx/>
                <a:latin typeface="Times New Roman" panose="02020603050405020304" pitchFamily="18" charset="0"/>
                <a:ea typeface="微软雅黑" panose="020B0503020204020204" pitchFamily="34" charset="-122"/>
                <a:cs typeface="Times New Roman" panose="02020603050405020304" pitchFamily="18" charset="0"/>
              </a:rPr>
              <a:t>通用子程序</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，以便供</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DOS</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及</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BIOS</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调用。</a:t>
            </a:r>
          </a:p>
          <a:p>
            <a:pPr marL="342900" marR="0" lvl="0" indent="-342900" defTabSz="914400" eaLnBrk="1" fontAlgn="auto" latinLnBrk="0" hangingPunct="1">
              <a:lnSpc>
                <a:spcPct val="100000"/>
              </a:lnSpc>
              <a:spcBef>
                <a:spcPct val="80000"/>
              </a:spcBef>
              <a:spcAft>
                <a:spcPts val="0"/>
              </a:spcAft>
              <a:buClrTx/>
              <a:buSzTx/>
              <a:buFontTx/>
              <a:buNone/>
              <a:defRPr/>
            </a:pP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    由于这种调用采用的是以中断指令</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INT n</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的</a:t>
            </a:r>
            <a:r>
              <a:rPr kumimoji="0" lang="zh-CN" altLang="en-US" sz="2000" b="1" i="0" u="none" strike="noStrike" kern="0" cap="none" spc="0" normalizeH="0" baseline="0" noProof="0" dirty="0">
                <a:ln>
                  <a:noFill/>
                </a:ln>
                <a:solidFill>
                  <a:srgbClr val="CC3300"/>
                </a:solidFill>
                <a:uLnTx/>
                <a:uFillTx/>
                <a:latin typeface="Times New Roman" panose="02020603050405020304" pitchFamily="18" charset="0"/>
                <a:ea typeface="微软雅黑" panose="020B0503020204020204" pitchFamily="34" charset="-122"/>
                <a:cs typeface="Times New Roman" panose="02020603050405020304" pitchFamily="18" charset="0"/>
              </a:rPr>
              <a:t>内部中断</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方式进行的，所以常称为</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DOS</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及</a:t>
            </a:r>
            <a:r>
              <a:rPr kumimoji="0" lang="en-US" altLang="zh-CN"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BIOS</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中断调用。</a:t>
            </a:r>
          </a:p>
          <a:p>
            <a:pPr marL="342900" marR="0" lvl="0" indent="-342900" defTabSz="914400" eaLnBrk="1" fontAlgn="auto" latinLnBrk="0" hangingPunct="1">
              <a:lnSpc>
                <a:spcPct val="100000"/>
              </a:lnSpc>
              <a:spcBef>
                <a:spcPct val="80000"/>
              </a:spcBef>
              <a:spcAft>
                <a:spcPts val="0"/>
              </a:spcAft>
              <a:buClrTx/>
              <a:buSzTx/>
              <a:buFontTx/>
              <a:buNone/>
              <a:defRPr/>
            </a:pP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    在一个中断服务程序中往往包含有多个功能相对独立的子程序，所以也将中断调用称为</a:t>
            </a:r>
            <a:r>
              <a:rPr kumimoji="0" lang="zh-CN" altLang="en-US" sz="2000" b="1" i="0" u="none" strike="noStrike" kern="0" cap="none" spc="0" normalizeH="0" baseline="0" noProof="0" dirty="0">
                <a:ln>
                  <a:noFill/>
                </a:ln>
                <a:solidFill>
                  <a:srgbClr val="FF9900"/>
                </a:solidFill>
                <a:uLnTx/>
                <a:uFillTx/>
                <a:latin typeface="Times New Roman" panose="02020603050405020304" pitchFamily="18" charset="0"/>
                <a:ea typeface="微软雅黑" panose="020B0503020204020204" pitchFamily="34" charset="-122"/>
                <a:cs typeface="Times New Roman" panose="02020603050405020304" pitchFamily="18" charset="0"/>
              </a:rPr>
              <a:t>系统功能调用</a:t>
            </a:r>
            <a:r>
              <a:rPr kumimoji="0" lang="zh-CN" altLang="en-US" sz="2000" b="1" i="0" u="none" strike="noStrike" kern="0" cap="none" spc="0" normalizeH="0" baseline="0" noProof="0" dirty="0">
                <a:ln>
                  <a:noFill/>
                </a:ln>
                <a:solidFill>
                  <a:srgbClr val="000000"/>
                </a:solidFill>
                <a:uLnTx/>
                <a:uFillTx/>
                <a:latin typeface="Times New Roman" panose="02020603050405020304" pitchFamily="18" charset="0"/>
                <a:ea typeface="微软雅黑" panose="020B0503020204020204" pitchFamily="34" charset="-122"/>
                <a:cs typeface="Times New Roman" panose="02020603050405020304" pitchFamily="18" charset="0"/>
              </a:rPr>
              <a:t>或功能调用或中断功能调用。</a:t>
            </a:r>
            <a:endParaRPr kumimoji="0" lang="zh-CN" altLang="en-US" sz="1600" b="1" i="0" u="none" strike="noStrike" kern="0" cap="none" spc="0" normalizeH="0" baseline="0" noProof="0" dirty="0">
              <a:ln>
                <a:noFill/>
              </a:ln>
              <a:solidFill>
                <a:sysClr val="windowText" lastClr="000000"/>
              </a:solidFill>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6" name="Group 3"/>
          <p:cNvGrpSpPr/>
          <p:nvPr/>
        </p:nvGrpSpPr>
        <p:grpSpPr bwMode="auto">
          <a:xfrm>
            <a:off x="4744616" y="2564904"/>
            <a:ext cx="4399384" cy="3575484"/>
            <a:chOff x="1152" y="864"/>
            <a:chExt cx="4028" cy="3512"/>
          </a:xfrm>
        </p:grpSpPr>
        <p:grpSp>
          <p:nvGrpSpPr>
            <p:cNvPr id="7" name="Group 4"/>
            <p:cNvGrpSpPr/>
            <p:nvPr/>
          </p:nvGrpSpPr>
          <p:grpSpPr bwMode="auto">
            <a:xfrm>
              <a:off x="1152" y="864"/>
              <a:ext cx="4028" cy="2989"/>
              <a:chOff x="1588" y="864"/>
              <a:chExt cx="4028" cy="2989"/>
            </a:xfrm>
          </p:grpSpPr>
          <p:sp>
            <p:nvSpPr>
              <p:cNvPr id="9" name="Rectangle 5"/>
              <p:cNvSpPr>
                <a:spLocks noChangeArrowheads="1"/>
              </p:cNvSpPr>
              <p:nvPr/>
            </p:nvSpPr>
            <p:spPr bwMode="auto">
              <a:xfrm>
                <a:off x="4163" y="1414"/>
                <a:ext cx="1337" cy="288"/>
              </a:xfrm>
              <a:prstGeom prst="rect">
                <a:avLst/>
              </a:prstGeom>
              <a:solidFill>
                <a:srgbClr val="C0C0C0">
                  <a:alpha val="50195"/>
                </a:srgbClr>
              </a:solidFill>
              <a:ln w="25400">
                <a:solidFill>
                  <a:srgbClr val="000000"/>
                </a:solidFill>
                <a:miter lim="800000"/>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用户程序</a:t>
                </a:r>
                <a:endParaRPr kumimoji="1" lang="zh-CN" altLang="en-US" sz="20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10" name="Rectangle 6"/>
              <p:cNvSpPr>
                <a:spLocks noChangeArrowheads="1"/>
              </p:cNvSpPr>
              <p:nvPr/>
            </p:nvSpPr>
            <p:spPr bwMode="auto">
              <a:xfrm>
                <a:off x="1588" y="2028"/>
                <a:ext cx="2907" cy="405"/>
              </a:xfrm>
              <a:prstGeom prst="rect">
                <a:avLst/>
              </a:prstGeom>
              <a:solidFill>
                <a:srgbClr val="CCFFCC"/>
              </a:solidFill>
              <a:ln w="25400">
                <a:solidFill>
                  <a:srgbClr val="000000"/>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90000"/>
                  </a:lnSpc>
                  <a:spcBef>
                    <a:spcPts val="0"/>
                  </a:spcBef>
                  <a:spcAft>
                    <a:spcPts val="0"/>
                  </a:spcAft>
                  <a:buClrTx/>
                  <a:buSzTx/>
                  <a:buFontTx/>
                  <a:buNone/>
                  <a:defRPr/>
                </a:pP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磁盘管理模块</a:t>
                </a: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(DOS</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内核</a:t>
                </a: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a:t>
                </a:r>
              </a:p>
              <a:p>
                <a:pPr marL="0" marR="0" lvl="0" indent="0" algn="ctr" defTabSz="914400" eaLnBrk="1" fontAlgn="auto" latinLnBrk="0" hangingPunct="1">
                  <a:lnSpc>
                    <a:spcPct val="90000"/>
                  </a:lnSpc>
                  <a:spcBef>
                    <a:spcPts val="0"/>
                  </a:spcBef>
                  <a:spcAft>
                    <a:spcPts val="0"/>
                  </a:spcAft>
                  <a:buClrTx/>
                  <a:buSzTx/>
                  <a:buFontTx/>
                  <a:buNone/>
                  <a:defRPr/>
                </a:pP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MSDOS.SYS  </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系统功能</a:t>
                </a:r>
                <a:endParaRPr kumimoji="1" lang="zh-CN" altLang="en-US" sz="20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11" name="Rectangle 7"/>
              <p:cNvSpPr>
                <a:spLocks noChangeArrowheads="1"/>
              </p:cNvSpPr>
              <p:nvPr/>
            </p:nvSpPr>
            <p:spPr bwMode="auto">
              <a:xfrm>
                <a:off x="1588" y="2677"/>
                <a:ext cx="3433" cy="449"/>
              </a:xfrm>
              <a:prstGeom prst="rect">
                <a:avLst/>
              </a:prstGeom>
              <a:solidFill>
                <a:srgbClr val="CCFFCC"/>
              </a:solidFill>
              <a:ln w="25400">
                <a:solidFill>
                  <a:srgbClr val="000000"/>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90000"/>
                  </a:lnSpc>
                  <a:spcBef>
                    <a:spcPts val="0"/>
                  </a:spcBef>
                  <a:spcAft>
                    <a:spcPts val="0"/>
                  </a:spcAft>
                  <a:buClrTx/>
                  <a:buSzTx/>
                  <a:buFontTx/>
                  <a:buNone/>
                  <a:defRPr/>
                </a:pP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基本输入</a:t>
                </a: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输出 </a:t>
                </a: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BIOS </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模 块</a:t>
                </a:r>
              </a:p>
              <a:p>
                <a:pPr marL="0" marR="0" lvl="0" indent="0" algn="ctr" defTabSz="914400" eaLnBrk="1" fontAlgn="auto" latinLnBrk="0" hangingPunct="1">
                  <a:lnSpc>
                    <a:spcPct val="90000"/>
                  </a:lnSpc>
                  <a:spcBef>
                    <a:spcPts val="0"/>
                  </a:spcBef>
                  <a:spcAft>
                    <a:spcPts val="0"/>
                  </a:spcAft>
                  <a:buClrTx/>
                  <a:buSzTx/>
                  <a:buFontTx/>
                  <a:buNone/>
                  <a:defRPr/>
                </a:pP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IO.SYS  </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设备驱动</a:t>
                </a:r>
              </a:p>
            </p:txBody>
          </p:sp>
          <p:sp>
            <p:nvSpPr>
              <p:cNvPr id="12" name="Rectangle 8"/>
              <p:cNvSpPr>
                <a:spLocks noChangeArrowheads="1"/>
              </p:cNvSpPr>
              <p:nvPr/>
            </p:nvSpPr>
            <p:spPr bwMode="auto">
              <a:xfrm>
                <a:off x="1588" y="3403"/>
                <a:ext cx="2474" cy="225"/>
              </a:xfrm>
              <a:prstGeom prst="rect">
                <a:avLst/>
              </a:prstGeom>
              <a:solidFill>
                <a:srgbClr val="CCFFFF"/>
              </a:solidFill>
              <a:ln w="25400">
                <a:solidFill>
                  <a:srgbClr val="000000"/>
                </a:solidFill>
                <a:miter lim="800000"/>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ROM  BIOS   </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基本</a:t>
                </a: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I/O</a:t>
                </a:r>
              </a:p>
            </p:txBody>
          </p:sp>
          <p:sp>
            <p:nvSpPr>
              <p:cNvPr id="13" name="Rectangle 9"/>
              <p:cNvSpPr>
                <a:spLocks noChangeArrowheads="1"/>
              </p:cNvSpPr>
              <p:nvPr/>
            </p:nvSpPr>
            <p:spPr bwMode="auto">
              <a:xfrm>
                <a:off x="1588" y="3628"/>
                <a:ext cx="4028" cy="225"/>
              </a:xfrm>
              <a:prstGeom prst="rect">
                <a:avLst/>
              </a:prstGeom>
              <a:solidFill>
                <a:srgbClr val="FFCC99"/>
              </a:solidFill>
              <a:ln w="25400">
                <a:solidFill>
                  <a:srgbClr val="000000"/>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90000"/>
                  </a:lnSpc>
                  <a:spcBef>
                    <a:spcPts val="0"/>
                  </a:spcBef>
                  <a:spcAft>
                    <a:spcPts val="0"/>
                  </a:spcAft>
                  <a:buClrTx/>
                  <a:buSzTx/>
                  <a:buFontTx/>
                  <a:buNone/>
                  <a:defRPr/>
                </a:pP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系      统      硬      件</a:t>
                </a:r>
                <a:endParaRPr kumimoji="1" lang="zh-CN" altLang="en-US" sz="16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a:p>
                <a:pPr marL="0" marR="0" lvl="0" indent="0" algn="just" defTabSz="914400" eaLnBrk="1" fontAlgn="auto" latinLnBrk="0" hangingPunct="1">
                  <a:lnSpc>
                    <a:spcPct val="100000"/>
                  </a:lnSpc>
                  <a:spcBef>
                    <a:spcPts val="0"/>
                  </a:spcBef>
                  <a:spcAft>
                    <a:spcPts val="0"/>
                  </a:spcAft>
                  <a:buClrTx/>
                  <a:buSzTx/>
                  <a:buFontTx/>
                  <a:buNone/>
                  <a:defRPr/>
                </a:pPr>
                <a:endParaRPr kumimoji="1" lang="en-US" altLang="zh-CN" sz="600" b="0"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14" name="Line 10"/>
              <p:cNvSpPr>
                <a:spLocks noChangeShapeType="1"/>
              </p:cNvSpPr>
              <p:nvPr/>
            </p:nvSpPr>
            <p:spPr bwMode="auto">
              <a:xfrm>
                <a:off x="4348" y="1708"/>
                <a:ext cx="1" cy="324"/>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ine 11"/>
              <p:cNvSpPr>
                <a:spLocks noChangeShapeType="1"/>
              </p:cNvSpPr>
              <p:nvPr/>
            </p:nvSpPr>
            <p:spPr bwMode="auto">
              <a:xfrm>
                <a:off x="4858" y="1708"/>
                <a:ext cx="0" cy="969"/>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Line 12"/>
              <p:cNvSpPr>
                <a:spLocks noChangeShapeType="1"/>
              </p:cNvSpPr>
              <p:nvPr/>
            </p:nvSpPr>
            <p:spPr bwMode="auto">
              <a:xfrm>
                <a:off x="5375" y="1708"/>
                <a:ext cx="0" cy="1920"/>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Line 13"/>
              <p:cNvSpPr>
                <a:spLocks noChangeShapeType="1"/>
              </p:cNvSpPr>
              <p:nvPr/>
            </p:nvSpPr>
            <p:spPr bwMode="auto">
              <a:xfrm>
                <a:off x="3421" y="1558"/>
                <a:ext cx="726" cy="0"/>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Line 14"/>
              <p:cNvSpPr>
                <a:spLocks noChangeShapeType="1"/>
              </p:cNvSpPr>
              <p:nvPr/>
            </p:nvSpPr>
            <p:spPr bwMode="auto">
              <a:xfrm>
                <a:off x="2501" y="1084"/>
                <a:ext cx="1" cy="270"/>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Line 15"/>
              <p:cNvSpPr>
                <a:spLocks noChangeShapeType="1"/>
              </p:cNvSpPr>
              <p:nvPr/>
            </p:nvSpPr>
            <p:spPr bwMode="auto">
              <a:xfrm flipH="1">
                <a:off x="2500" y="1748"/>
                <a:ext cx="0" cy="288"/>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Line 16"/>
              <p:cNvSpPr>
                <a:spLocks noChangeShapeType="1"/>
              </p:cNvSpPr>
              <p:nvPr/>
            </p:nvSpPr>
            <p:spPr bwMode="auto">
              <a:xfrm>
                <a:off x="2477" y="2446"/>
                <a:ext cx="1" cy="222"/>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Line 17"/>
              <p:cNvSpPr>
                <a:spLocks noChangeShapeType="1"/>
              </p:cNvSpPr>
              <p:nvPr/>
            </p:nvSpPr>
            <p:spPr bwMode="auto">
              <a:xfrm>
                <a:off x="2463" y="3132"/>
                <a:ext cx="1" cy="270"/>
              </a:xfrm>
              <a:prstGeom prst="line">
                <a:avLst/>
              </a:prstGeom>
              <a:noFill/>
              <a:ln w="25400">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14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Rectangle 18"/>
              <p:cNvSpPr>
                <a:spLocks noChangeArrowheads="1"/>
              </p:cNvSpPr>
              <p:nvPr/>
            </p:nvSpPr>
            <p:spPr bwMode="auto">
              <a:xfrm>
                <a:off x="3536" y="1361"/>
                <a:ext cx="48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装入</a:t>
                </a:r>
                <a:endParaRPr kumimoji="1" lang="zh-CN" altLang="en-US" sz="1600" b="0"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23" name="Rectangle 19"/>
              <p:cNvSpPr>
                <a:spLocks noChangeArrowheads="1"/>
              </p:cNvSpPr>
              <p:nvPr/>
            </p:nvSpPr>
            <p:spPr bwMode="auto">
              <a:xfrm>
                <a:off x="1632" y="1344"/>
                <a:ext cx="1802" cy="462"/>
              </a:xfrm>
              <a:prstGeom prst="rect">
                <a:avLst/>
              </a:prstGeom>
              <a:solidFill>
                <a:srgbClr val="CCFFCC"/>
              </a:solidFill>
              <a:ln w="25400">
                <a:solidFill>
                  <a:srgbClr val="000000"/>
                </a:solidFill>
                <a:miter lim="800000"/>
              </a:ln>
            </p:spPr>
            <p:txBody>
              <a:bodyPr lIns="0" r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90000"/>
                  </a:lnSpc>
                  <a:spcBef>
                    <a:spcPts val="0"/>
                  </a:spcBef>
                  <a:spcAft>
                    <a:spcPts val="0"/>
                  </a:spcAft>
                  <a:buClrTx/>
                  <a:buSzTx/>
                  <a:buFontTx/>
                  <a:buNone/>
                  <a:defRPr/>
                </a:pPr>
                <a:r>
                  <a:rPr kumimoji="1" lang="zh-CN" altLang="en-US" sz="14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命令处理模块</a:t>
                </a:r>
              </a:p>
              <a:p>
                <a:pPr marL="0" marR="0" lvl="0" indent="0" algn="ctr" defTabSz="914400" eaLnBrk="1" fontAlgn="auto" latinLnBrk="0" hangingPunct="1">
                  <a:lnSpc>
                    <a:spcPct val="90000"/>
                  </a:lnSpc>
                  <a:spcBef>
                    <a:spcPts val="0"/>
                  </a:spcBef>
                  <a:spcAft>
                    <a:spcPts val="0"/>
                  </a:spcAft>
                  <a:buClrTx/>
                  <a:buSzTx/>
                  <a:buFontTx/>
                  <a:buNone/>
                  <a:defRPr/>
                </a:pPr>
                <a:r>
                  <a:rPr kumimoji="1" lang="en-US" altLang="zh-CN" sz="1400" b="1"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rPr>
                  <a:t>COMMAND.COM</a:t>
                </a:r>
                <a:endParaRPr kumimoji="1" lang="en-US" altLang="zh-CN" sz="1400" b="0" i="0" u="none" strike="noStrike" kern="0" cap="none" spc="0" normalizeH="0" baseline="0" noProof="0" dirty="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24" name="Rectangle 20"/>
              <p:cNvSpPr>
                <a:spLocks noChangeArrowheads="1"/>
              </p:cNvSpPr>
              <p:nvPr/>
            </p:nvSpPr>
            <p:spPr bwMode="auto">
              <a:xfrm>
                <a:off x="1767" y="864"/>
                <a:ext cx="1491" cy="240"/>
              </a:xfrm>
              <a:prstGeom prst="rect">
                <a:avLst/>
              </a:prstGeom>
              <a:solidFill>
                <a:srgbClr val="FFFF99"/>
              </a:solidFill>
              <a:ln w="25400">
                <a:solidFill>
                  <a:srgbClr val="000000"/>
                </a:solidFill>
                <a:miter lim="800000"/>
              </a:ln>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用户命令</a:t>
                </a:r>
                <a:endParaRPr kumimoji="1" lang="zh-CN" altLang="en-US" sz="1400" b="0"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p:txBody>
          </p:sp>
        </p:grpSp>
        <p:sp>
          <p:nvSpPr>
            <p:cNvPr id="8" name="Rectangle 21"/>
            <p:cNvSpPr>
              <a:spLocks noChangeArrowheads="1"/>
            </p:cNvSpPr>
            <p:nvPr/>
          </p:nvSpPr>
          <p:spPr bwMode="auto">
            <a:xfrm>
              <a:off x="2384" y="3936"/>
              <a:ext cx="2512"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just" defTabSz="914400" eaLnBrk="1" fontAlgn="auto" latinLnBrk="0" hangingPunct="1">
                <a:lnSpc>
                  <a:spcPct val="100000"/>
                </a:lnSpc>
                <a:spcBef>
                  <a:spcPts val="0"/>
                </a:spcBef>
                <a:spcAft>
                  <a:spcPts val="0"/>
                </a:spcAft>
                <a:buClrTx/>
                <a:buSzTx/>
                <a:buFontTx/>
                <a:buNone/>
                <a:defRPr/>
              </a:pPr>
              <a:r>
                <a:rPr kumimoji="1" lang="en-US" altLang="zh-CN"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DOS</a:t>
              </a:r>
              <a:r>
                <a:rPr kumimoji="1" lang="zh-CN" altLang="en-US" sz="1400" b="1" i="0" u="none" strike="noStrike" kern="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rPr>
                <a:t>系统层次结构</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926322"/>
          </a:xfrm>
        </p:spPr>
        <p:txBody>
          <a:bodyPr/>
          <a:lstStyle/>
          <a:p>
            <a:r>
              <a:rPr lang="zh-CN" altLang="en-US" sz="1800" b="1" dirty="0">
                <a:latin typeface="Times New Roman" panose="02020603050405020304" pitchFamily="18" charset="0"/>
                <a:cs typeface="Times New Roman" panose="02020603050405020304" pitchFamily="18" charset="0"/>
              </a:rPr>
              <a:t>操作系统提供了许多通用子程序供程序员使用</a:t>
            </a:r>
            <a:r>
              <a:rPr lang="en-US" altLang="zh-CN" sz="1800" b="1" dirty="0">
                <a:latin typeface="Times New Roman" panose="02020603050405020304" pitchFamily="18" charset="0"/>
                <a:cs typeface="Times New Roman" panose="02020603050405020304" pitchFamily="18" charset="0"/>
              </a:rPr>
              <a:t>,</a:t>
            </a:r>
            <a:r>
              <a:rPr lang="zh-CN" altLang="en-US" sz="1800" b="1" dirty="0">
                <a:latin typeface="Times New Roman" panose="02020603050405020304" pitchFamily="18" charset="0"/>
                <a:cs typeface="Times New Roman" panose="02020603050405020304" pitchFamily="18" charset="0"/>
              </a:rPr>
              <a:t>这些子程序分别用于</a:t>
            </a:r>
            <a:r>
              <a:rPr lang="en-US" altLang="zh-CN" sz="1800" b="1" dirty="0">
                <a:solidFill>
                  <a:srgbClr val="740000"/>
                </a:solidFill>
                <a:latin typeface="Times New Roman" panose="02020603050405020304" pitchFamily="18" charset="0"/>
                <a:cs typeface="Times New Roman" panose="02020603050405020304" pitchFamily="18" charset="0"/>
              </a:rPr>
              <a:t>I/O</a:t>
            </a:r>
            <a:r>
              <a:rPr lang="zh-CN" altLang="en-US" sz="1800" b="1" dirty="0">
                <a:solidFill>
                  <a:srgbClr val="740000"/>
                </a:solidFill>
                <a:latin typeface="Times New Roman" panose="02020603050405020304" pitchFamily="18" charset="0"/>
                <a:cs typeface="Times New Roman" panose="02020603050405020304" pitchFamily="18" charset="0"/>
              </a:rPr>
              <a:t>管理、内存管理、文件管理、作业管理。</a:t>
            </a: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457200" y="2556427"/>
            <a:ext cx="2786380" cy="398780"/>
          </a:xfrm>
          <a:prstGeom prst="rect">
            <a:avLst/>
          </a:prstGeom>
        </p:spPr>
        <p:txBody>
          <a:bodyPr wrap="none">
            <a:spAutoFit/>
          </a:bodyPr>
          <a:lstStyle/>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4.4.1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系统功能调用方法</a:t>
            </a:r>
          </a:p>
        </p:txBody>
      </p:sp>
      <p:sp>
        <p:nvSpPr>
          <p:cNvPr id="6" name="矩形 5"/>
          <p:cNvSpPr/>
          <p:nvPr/>
        </p:nvSpPr>
        <p:spPr>
          <a:xfrm>
            <a:off x="647564" y="3086564"/>
            <a:ext cx="7848872" cy="1630045"/>
          </a:xfrm>
          <a:prstGeom prst="rect">
            <a:avLst/>
          </a:prstGeom>
        </p:spPr>
        <p:txBody>
          <a:bodyPr wrap="square">
            <a:spAutoFit/>
          </a:bodyPr>
          <a:lstStyle/>
          <a:p>
            <a:pPr indent="254000">
              <a:spcAft>
                <a:spcPts val="0"/>
              </a:spcAft>
            </a:pPr>
            <a:r>
              <a:rPr lang="zh-CN" altLang="zh-CN" sz="2000" b="1" dirty="0">
                <a:latin typeface="Times New Roman" panose="02020603050405020304" pitchFamily="18" charset="0"/>
                <a:ea typeface="微软雅黑" panose="020B0503020204020204" pitchFamily="34" charset="-122"/>
                <a:cs typeface="Times New Roman" panose="02020603050405020304" pitchFamily="18" charset="0"/>
              </a:rPr>
              <a:t>格式：</a:t>
            </a:r>
          </a:p>
          <a:p>
            <a:pPr indent="254000" algn="just">
              <a:spcAft>
                <a:spcPts val="0"/>
              </a:spcAft>
            </a:pP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INT n</a:t>
            </a:r>
            <a:endParaRPr lang="zh-CN"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是中断类型码。当</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n=4</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1FH</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时，调用</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BIOS</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中的服务程序，称作</a:t>
            </a:r>
            <a:r>
              <a:rPr lang="zh-CN" altLang="zh-CN" sz="2000" b="1" kern="100"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系统中断调用</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；当</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n=20</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3FH</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时，调用</a:t>
            </a:r>
            <a:r>
              <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DOS</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中的服务程序，称作</a:t>
            </a:r>
            <a:r>
              <a:rPr lang="zh-CN" altLang="zh-CN" sz="2000" b="1" kern="100"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功能调用</a:t>
            </a:r>
            <a:r>
              <a:rPr lang="zh-CN" altLang="zh-CN" sz="2000"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Box 7"/>
          <p:cNvSpPr txBox="1">
            <a:spLocks noChangeArrowheads="1"/>
          </p:cNvSpPr>
          <p:nvPr/>
        </p:nvSpPr>
        <p:spPr bwMode="auto">
          <a:xfrm>
            <a:off x="1331640" y="4871945"/>
            <a:ext cx="5626968" cy="1449628"/>
          </a:xfrm>
          <a:prstGeom prst="rect">
            <a:avLst/>
          </a:prstGeom>
          <a:solidFill>
            <a:srgbClr val="FFFF99"/>
          </a:solidFill>
          <a:ln w="9525" cap="sq">
            <a:solidFill>
              <a:schemeClr val="tx2"/>
            </a:solidFill>
            <a:miter lim="800000"/>
            <a:headEnd type="none" w="sm" len="sm"/>
            <a:tailEnd type="none" w="sm" len="sm"/>
          </a:ln>
          <a:effectLst/>
        </p:spPr>
        <p:txBody>
          <a:bodyPr wrap="square">
            <a:spAutoFit/>
          </a:bodyPr>
          <a:lstStyle/>
          <a:p>
            <a:pPr algn="just" eaLnBrk="0" hangingPunct="0">
              <a:spcBef>
                <a:spcPct val="30000"/>
              </a:spcBef>
            </a:pP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调用的方法如下：</a:t>
            </a:r>
          </a:p>
          <a:p>
            <a:pPr algn="just" eaLnBrk="0" hangingPunct="0">
              <a:spcBef>
                <a:spcPct val="30000"/>
              </a:spcBef>
            </a:pP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① </a:t>
            </a:r>
            <a:r>
              <a:rPr lang="en-US" altLang="zh-CN" b="1" dirty="0">
                <a:solidFill>
                  <a:srgbClr val="FF9900"/>
                </a:solidFill>
                <a:effectLst>
                  <a:outerShdw blurRad="38100" dist="38100" dir="2700000" algn="tl">
                    <a:srgbClr val="000000"/>
                  </a:outerShdw>
                </a:effectLst>
                <a:latin typeface="Times New Roman" panose="02020603050405020304" pitchFamily="18" charset="0"/>
                <a:ea typeface="微软雅黑" panose="020B0503020204020204" pitchFamily="34" charset="-122"/>
                <a:cs typeface="Times New Roman" panose="02020603050405020304" pitchFamily="18" charset="0"/>
              </a:rPr>
              <a:t>AH</a:t>
            </a:r>
            <a:r>
              <a:rPr lang="zh-CN" altLang="en-US" b="1" dirty="0">
                <a:solidFill>
                  <a:srgbClr val="FF9900"/>
                </a:solidFill>
                <a:effectLst>
                  <a:outerShdw blurRad="38100" dist="38100" dir="2700000" algn="tl">
                    <a:srgbClr val="000000"/>
                  </a:outerShdw>
                </a:effectLst>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b="1" dirty="0">
                <a:solidFill>
                  <a:srgbClr val="FF9900"/>
                </a:solidFill>
                <a:effectLst>
                  <a:outerShdw blurRad="38100" dist="38100" dir="2700000" algn="tl">
                    <a:srgbClr val="000000"/>
                  </a:outerShdw>
                </a:effectLst>
                <a:latin typeface="Times New Roman" panose="02020603050405020304" pitchFamily="18" charset="0"/>
                <a:ea typeface="微软雅黑" panose="020B0503020204020204" pitchFamily="34" charset="-122"/>
                <a:cs typeface="Times New Roman" panose="02020603050405020304" pitchFamily="18" charset="0"/>
              </a:rPr>
              <a:t>AX</a:t>
            </a:r>
            <a:r>
              <a:rPr lang="en-US" altLang="zh-CN"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功能号；</a:t>
            </a:r>
          </a:p>
          <a:p>
            <a:pPr algn="just" eaLnBrk="0" hangingPunct="0">
              <a:spcBef>
                <a:spcPct val="30000"/>
              </a:spcBef>
            </a:pP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② 在其它寄存器中放入该功能所要求的</a:t>
            </a:r>
            <a:r>
              <a:rPr lang="zh-CN" altLang="en-US" b="1" dirty="0">
                <a:solidFill>
                  <a:srgbClr val="FF0000"/>
                </a:solidFill>
                <a:effectLst>
                  <a:outerShdw blurRad="38100" dist="38100" dir="2700000" algn="tl">
                    <a:srgbClr val="000000"/>
                  </a:outerShdw>
                </a:effectLst>
                <a:latin typeface="Times New Roman" panose="02020603050405020304" pitchFamily="18" charset="0"/>
                <a:ea typeface="微软雅黑" panose="020B0503020204020204" pitchFamily="34" charset="-122"/>
                <a:cs typeface="Times New Roman" panose="02020603050405020304" pitchFamily="18" charset="0"/>
              </a:rPr>
              <a:t>入口参数</a:t>
            </a: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a:t>
            </a:r>
          </a:p>
          <a:p>
            <a:pPr algn="just" eaLnBrk="0" hangingPunct="0">
              <a:spcBef>
                <a:spcPct val="30000"/>
              </a:spcBef>
            </a:pP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③ 执行</a:t>
            </a:r>
            <a:r>
              <a:rPr lang="en-US" altLang="zh-CN"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INT n</a:t>
            </a:r>
            <a:r>
              <a:rPr lang="zh-CN" altLang="en-US" b="1" dirty="0">
                <a:solidFill>
                  <a:srgbClr val="000000"/>
                </a:solidFill>
                <a:effectLst>
                  <a:outerShdw blurRad="38100" dist="38100" dir="2700000" algn="tl">
                    <a:srgbClr val="FFFFFF"/>
                  </a:outerShdw>
                </a:effectLst>
                <a:latin typeface="Times New Roman" panose="02020603050405020304" pitchFamily="18" charset="0"/>
                <a:ea typeface="微软雅黑" panose="020B0503020204020204" pitchFamily="34" charset="-122"/>
                <a:cs typeface="Times New Roman" panose="02020603050405020304" pitchFamily="18" charset="0"/>
              </a:rPr>
              <a:t>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7"/>
                                        </p:tgtEl>
                                        <p:attrNameLst>
                                          <p:attrName>style.visibility</p:attrName>
                                        </p:attrNameLst>
                                      </p:cBhvr>
                                      <p:to>
                                        <p:strVal val="visible"/>
                                      </p:to>
                                    </p:set>
                                    <p:anim to="" calcmode="lin" valueType="num">
                                      <p:cBhvr>
                                        <p:cTn id="22" dur="1" fill="hold"/>
                                        <p:tgtEl>
                                          <p:spTgt spid="7"/>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pPr algn="just">
              <a:spcAft>
                <a:spcPts val="0"/>
              </a:spcAft>
            </a:pPr>
            <a:r>
              <a:rPr lang="en-US" altLang="zh-CN" b="1" kern="100" dirty="0">
                <a:latin typeface="Times New Roman" panose="02020603050405020304" pitchFamily="18" charset="0"/>
                <a:cs typeface="Times New Roman" panose="02020603050405020304" pitchFamily="18" charset="0"/>
              </a:rPr>
              <a:t>4.4.2 BIOS</a:t>
            </a:r>
            <a:r>
              <a:rPr lang="zh-CN" altLang="zh-CN" b="1" kern="100" dirty="0">
                <a:latin typeface="Times New Roman" panose="02020603050405020304" pitchFamily="18" charset="0"/>
                <a:cs typeface="Times New Roman" panose="02020603050405020304" pitchFamily="18" charset="0"/>
              </a:rPr>
              <a:t>调用</a:t>
            </a:r>
          </a:p>
          <a:p>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内容占位符 2"/>
          <p:cNvSpPr txBox="1"/>
          <p:nvPr/>
        </p:nvSpPr>
        <p:spPr bwMode="auto">
          <a:xfrm>
            <a:off x="306564" y="2193667"/>
            <a:ext cx="8153868" cy="1955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vl6pPr marL="2514600" indent="-228600" algn="l" rtl="0" eaLnBrk="0" fontAlgn="base" hangingPunct="0">
              <a:spcBef>
                <a:spcPct val="20000"/>
              </a:spcBef>
              <a:spcAft>
                <a:spcPct val="0"/>
              </a:spcAft>
              <a:buChar char="»"/>
              <a:defRPr sz="2000" b="1">
                <a:solidFill>
                  <a:schemeClr val="tx1"/>
                </a:solidFill>
                <a:latin typeface="+mn-lt"/>
                <a:ea typeface="+mn-ea"/>
              </a:defRPr>
            </a:lvl6pPr>
            <a:lvl7pPr marL="2971800" indent="-228600" algn="l" rtl="0" eaLnBrk="0" fontAlgn="base" hangingPunct="0">
              <a:spcBef>
                <a:spcPct val="20000"/>
              </a:spcBef>
              <a:spcAft>
                <a:spcPct val="0"/>
              </a:spcAft>
              <a:buChar char="»"/>
              <a:defRPr sz="2000" b="1">
                <a:solidFill>
                  <a:schemeClr val="tx1"/>
                </a:solidFill>
                <a:latin typeface="+mn-lt"/>
                <a:ea typeface="+mn-ea"/>
              </a:defRPr>
            </a:lvl7pPr>
            <a:lvl8pPr marL="3429000" indent="-228600" algn="l" rtl="0" eaLnBrk="0" fontAlgn="base" hangingPunct="0">
              <a:spcBef>
                <a:spcPct val="20000"/>
              </a:spcBef>
              <a:spcAft>
                <a:spcPct val="0"/>
              </a:spcAft>
              <a:buChar char="»"/>
              <a:defRPr sz="2000" b="1">
                <a:solidFill>
                  <a:schemeClr val="tx1"/>
                </a:solidFill>
                <a:latin typeface="+mn-lt"/>
                <a:ea typeface="+mn-ea"/>
              </a:defRPr>
            </a:lvl8pPr>
            <a:lvl9pPr marL="3886200" indent="-228600" algn="l" rtl="0" eaLnBrk="0" fontAlgn="base" hangingPunct="0">
              <a:spcBef>
                <a:spcPct val="20000"/>
              </a:spcBef>
              <a:spcAft>
                <a:spcPct val="0"/>
              </a:spcAft>
              <a:buChar char="»"/>
              <a:defRPr sz="2000" b="1">
                <a:solidFill>
                  <a:schemeClr val="tx1"/>
                </a:solidFill>
                <a:latin typeface="+mn-lt"/>
                <a:ea typeface="+mn-ea"/>
              </a:defRPr>
            </a:lvl9pPr>
          </a:lstStyle>
          <a:p>
            <a:pPr marL="342900" marR="0" lvl="0" indent="-342900" algn="l" defTabSz="914400" rtl="0" eaLnBrk="0" fontAlgn="base" latinLnBrk="0" hangingPunct="0">
              <a:lnSpc>
                <a:spcPct val="100000"/>
              </a:lnSpc>
              <a:spcBef>
                <a:spcPct val="20000"/>
              </a:spcBef>
              <a:spcAft>
                <a:spcPct val="0"/>
              </a:spcAft>
              <a:buClr>
                <a:srgbClr val="4C59D2"/>
              </a:buClr>
              <a:buSzTx/>
              <a:buFont typeface="Wingdings" panose="05000000000000000000" pitchFamily="2" charset="2"/>
              <a:buChar char="v"/>
              <a:defRPr/>
            </a:pPr>
            <a:r>
              <a:rPr kumimoji="0" lang="en-US" altLang="zh-CN" sz="1800" b="1"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BIOS</a:t>
            </a:r>
            <a:r>
              <a:rPr kumimoji="0" lang="zh-CN" altLang="en-US" sz="1800" b="1"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常驻</a:t>
            </a:r>
            <a:r>
              <a:rPr kumimoji="0" lang="en-US" altLang="zh-CN" sz="1800" b="1"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ROM</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，独立于</a:t>
            </a:r>
            <a:r>
              <a:rPr kumimoji="0" lang="en-US" altLang="zh-CN"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DOS</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，可与任何操作系统一起工作。</a:t>
            </a:r>
          </a:p>
          <a:p>
            <a:pPr marL="342900" marR="0" lvl="0" indent="-342900" algn="l" defTabSz="914400" rtl="0" eaLnBrk="0" fontAlgn="base" latinLnBrk="0" hangingPunct="0">
              <a:lnSpc>
                <a:spcPct val="100000"/>
              </a:lnSpc>
              <a:spcBef>
                <a:spcPct val="20000"/>
              </a:spcBef>
              <a:spcAft>
                <a:spcPct val="0"/>
              </a:spcAft>
              <a:buClr>
                <a:srgbClr val="4C59D2"/>
              </a:buClr>
              <a:buSzTx/>
              <a:buFont typeface="Wingdings" panose="05000000000000000000" pitchFamily="2" charset="2"/>
              <a:buChar char="v"/>
              <a:defRPr/>
            </a:pP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它的主要功能是驱动系统</a:t>
            </a:r>
            <a:r>
              <a:rPr kumimoji="0" lang="zh-CN" altLang="en-US" sz="1800" b="1"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所配置的外部设备</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，如磁盘驱动器、显示器、打印机及异步通信接口等。</a:t>
            </a:r>
          </a:p>
          <a:p>
            <a:pPr marL="342900" marR="0" lvl="0" indent="-342900" algn="l" defTabSz="914400" rtl="0" eaLnBrk="0" fontAlgn="base" latinLnBrk="0" hangingPunct="0">
              <a:lnSpc>
                <a:spcPct val="100000"/>
              </a:lnSpc>
              <a:spcBef>
                <a:spcPct val="20000"/>
              </a:spcBef>
              <a:spcAft>
                <a:spcPct val="0"/>
              </a:spcAft>
              <a:buClr>
                <a:srgbClr val="4C59D2"/>
              </a:buClr>
              <a:buSzTx/>
              <a:buFont typeface="Wingdings" panose="05000000000000000000" pitchFamily="2" charset="2"/>
              <a:buChar char="v"/>
              <a:defRPr/>
            </a:pP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通过</a:t>
            </a:r>
            <a:r>
              <a:rPr kumimoji="0" lang="en-US" altLang="zh-CN"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10H</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INT  1AH</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向用户提供服务程序的入口，使用户无须对硬件有深入了解，就可完成对</a:t>
            </a:r>
            <a:r>
              <a:rPr kumimoji="0" lang="en-US" altLang="zh-CN"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I/O</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设备的控制与操作。</a:t>
            </a:r>
          </a:p>
          <a:p>
            <a:pPr marL="342900" marR="0" lvl="0" indent="-342900" algn="l" defTabSz="914400" rtl="0" eaLnBrk="0" fontAlgn="base" latinLnBrk="0" hangingPunct="0">
              <a:lnSpc>
                <a:spcPct val="100000"/>
              </a:lnSpc>
              <a:spcBef>
                <a:spcPct val="20000"/>
              </a:spcBef>
              <a:spcAft>
                <a:spcPct val="0"/>
              </a:spcAft>
              <a:buClr>
                <a:srgbClr val="4C59D2"/>
              </a:buClr>
              <a:buSzTx/>
              <a:buFont typeface="Wingdings" panose="05000000000000000000" pitchFamily="2" charset="2"/>
              <a:buChar char="v"/>
              <a:defRPr/>
            </a:pPr>
            <a:r>
              <a:rPr kumimoji="0" lang="en-US" altLang="zh-CN"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BIOS</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的中断调用与</a:t>
            </a:r>
            <a:r>
              <a:rPr kumimoji="0" lang="en-US" altLang="zh-CN"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DOS</a:t>
            </a:r>
            <a:r>
              <a:rPr kumimoji="0" lang="zh-CN" altLang="en-US" sz="1800" b="1" i="0" u="none" strike="noStrike" kern="0" cap="none" spc="0" normalizeH="0" baseline="0" noProof="0" dirty="0">
                <a:ln>
                  <a:noFill/>
                </a:ln>
                <a:solidFill>
                  <a:srgbClr val="001933"/>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功能调用类似。</a:t>
            </a:r>
          </a:p>
        </p:txBody>
      </p:sp>
      <p:graphicFrame>
        <p:nvGraphicFramePr>
          <p:cNvPr id="6" name="表格 5"/>
          <p:cNvGraphicFramePr>
            <a:graphicFrameLocks noGrp="1"/>
          </p:cNvGraphicFramePr>
          <p:nvPr/>
        </p:nvGraphicFramePr>
        <p:xfrm>
          <a:off x="539552" y="4212611"/>
          <a:ext cx="8229600" cy="2225040"/>
        </p:xfrm>
        <a:graphic>
          <a:graphicData uri="http://schemas.openxmlformats.org/drawingml/2006/table">
            <a:tbl>
              <a:tblPr/>
              <a:tblGrid>
                <a:gridCol w="1800200">
                  <a:extLst>
                    <a:ext uri="{9D8B030D-6E8A-4147-A177-3AD203B41FA5}">
                      <a16:colId xmlns:a16="http://schemas.microsoft.com/office/drawing/2014/main" val="20000"/>
                    </a:ext>
                  </a:extLst>
                </a:gridCol>
                <a:gridCol w="2532655">
                  <a:extLst>
                    <a:ext uri="{9D8B030D-6E8A-4147-A177-3AD203B41FA5}">
                      <a16:colId xmlns:a16="http://schemas.microsoft.com/office/drawing/2014/main" val="20001"/>
                    </a:ext>
                  </a:extLst>
                </a:gridCol>
                <a:gridCol w="2262880">
                  <a:extLst>
                    <a:ext uri="{9D8B030D-6E8A-4147-A177-3AD203B41FA5}">
                      <a16:colId xmlns:a16="http://schemas.microsoft.com/office/drawing/2014/main" val="20002"/>
                    </a:ext>
                  </a:extLst>
                </a:gridCol>
                <a:gridCol w="1633865">
                  <a:extLst>
                    <a:ext uri="{9D8B030D-6E8A-4147-A177-3AD203B41FA5}">
                      <a16:colId xmlns:a16="http://schemas.microsoft.com/office/drawing/2014/main" val="20003"/>
                    </a:ext>
                  </a:extLst>
                </a:gridCol>
              </a:tblGrid>
              <a:tr h="0">
                <a:tc>
                  <a:txBody>
                    <a:bodyPr/>
                    <a:lstStyle/>
                    <a:p>
                      <a:pPr indent="457200" algn="l">
                        <a:spcAft>
                          <a:spcPts val="0"/>
                        </a:spcAft>
                      </a:pPr>
                      <a:r>
                        <a:rPr lang="zh-CN"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软中断指令</a:t>
                      </a:r>
                      <a:endParaRPr lang="zh-CN" sz="20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l">
                        <a:spcAft>
                          <a:spcPts val="0"/>
                        </a:spcAft>
                      </a:pPr>
                      <a:r>
                        <a:rPr lang="zh-CN"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功</a:t>
                      </a:r>
                      <a:r>
                        <a:rPr lang="en-US"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能</a:t>
                      </a:r>
                      <a:endParaRPr lang="zh-CN" sz="20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57200" algn="just">
                        <a:spcAft>
                          <a:spcPts val="0"/>
                        </a:spcAft>
                      </a:pPr>
                      <a:r>
                        <a:rPr lang="en-US"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软中断指令</a:t>
                      </a:r>
                      <a:endParaRPr lang="zh-CN" sz="20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29235" algn="just">
                        <a:spcAft>
                          <a:spcPts val="0"/>
                        </a:spcAft>
                      </a:pPr>
                      <a:r>
                        <a:rPr lang="zh-CN"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功</a:t>
                      </a:r>
                      <a:r>
                        <a:rPr lang="en-US"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  </a:t>
                      </a:r>
                      <a:r>
                        <a:rPr lang="zh-CN" sz="1800" b="1" kern="1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rPr>
                        <a:t>能</a:t>
                      </a:r>
                      <a:endParaRPr lang="zh-CN" sz="2000" dirty="0">
                        <a:solidFill>
                          <a:srgbClr val="002060"/>
                        </a:solidFill>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00H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除法出错</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457200" algn="ctr">
                        <a:spcAft>
                          <a:spcPts val="0"/>
                        </a:spcAft>
                      </a:pPr>
                      <a:r>
                        <a:rPr lang="en-US" sz="1600" kern="100" dirty="0">
                          <a:effectLst/>
                          <a:latin typeface="Times New Roman" panose="02020603050405020304" pitchFamily="18" charset="0"/>
                          <a:ea typeface="微软雅黑" panose="020B0503020204020204" pitchFamily="34" charset="-122"/>
                          <a:cs typeface="Times New Roman" panose="02020603050405020304" pitchFamily="18" charset="0"/>
                        </a:rPr>
                        <a:t>INT 0DH</a:t>
                      </a:r>
                      <a:endParaRPr lang="zh-CN" sz="18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indent="139700" algn="l">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硬盘中断</a:t>
                      </a:r>
                      <a:endParaRPr lang="zh-CN" sz="18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01H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单步中断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0EH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软盘中断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2"/>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02H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非屏蔽中断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10H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显示器中断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3"/>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03H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断点中断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12H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内存大小检查</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4"/>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04H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溢出中断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15H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盒式磁带机</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I/O</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5"/>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09H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键盘中断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16H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键盘输入</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6"/>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0BH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异步通信串行口</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1</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a:noFill/>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17H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打印机输出</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0007"/>
                  </a:ext>
                </a:extLst>
              </a:tr>
              <a:tr h="0">
                <a:tc>
                  <a:txBody>
                    <a:bodyPr/>
                    <a:lstStyle/>
                    <a:p>
                      <a:pPr indent="139700" algn="l">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0CH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indent="139700" algn="l">
                        <a:spcAft>
                          <a:spcPts val="0"/>
                        </a:spcAft>
                      </a:pP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异步通信串行口</a:t>
                      </a: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sz="1600" kern="100">
                          <a:effectLst/>
                          <a:latin typeface="Times New Roman" panose="02020603050405020304" pitchFamily="18" charset="0"/>
                          <a:ea typeface="微软雅黑" panose="020B0503020204020204" pitchFamily="34" charset="-122"/>
                          <a:cs typeface="Times New Roman" panose="02020603050405020304" pitchFamily="18" charset="0"/>
                        </a:rPr>
                        <a:t>中断</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9050" cap="flat" cmpd="dbl"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indent="457200" algn="ctr">
                        <a:spcAft>
                          <a:spcPts val="0"/>
                        </a:spcAft>
                      </a:pPr>
                      <a:r>
                        <a:rPr lang="en-US" sz="1600" kern="100">
                          <a:effectLst/>
                          <a:latin typeface="Times New Roman" panose="02020603050405020304" pitchFamily="18" charset="0"/>
                          <a:ea typeface="微软雅黑" panose="020B0503020204020204" pitchFamily="34" charset="-122"/>
                          <a:cs typeface="Times New Roman" panose="02020603050405020304" pitchFamily="18" charset="0"/>
                        </a:rPr>
                        <a:t>INT 1AH</a:t>
                      </a:r>
                      <a:endParaRPr lang="zh-CN" sz="180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9050"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a:txBody>
                    <a:bodyPr/>
                    <a:lstStyle/>
                    <a:p>
                      <a:pPr indent="139700" algn="l">
                        <a:spcAft>
                          <a:spcPts val="0"/>
                        </a:spcAft>
                      </a:pPr>
                      <a:r>
                        <a:rPr lang="zh-CN" sz="1600" kern="100" dirty="0">
                          <a:effectLst/>
                          <a:latin typeface="Times New Roman" panose="02020603050405020304" pitchFamily="18" charset="0"/>
                          <a:ea typeface="微软雅黑" panose="020B0503020204020204" pitchFamily="34" charset="-122"/>
                          <a:cs typeface="Times New Roman" panose="02020603050405020304" pitchFamily="18" charset="0"/>
                        </a:rPr>
                        <a:t>时钟</a:t>
                      </a:r>
                      <a:endParaRPr lang="zh-CN" sz="1800" dirty="0">
                        <a:effectLst/>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75731" y="1772816"/>
            <a:ext cx="7710259" cy="2942546"/>
          </a:xfrm>
        </p:spPr>
        <p:txBody>
          <a:bodyPr/>
          <a:lstStyle/>
          <a:p>
            <a:pPr lvl="0" algn="just">
              <a:lnSpc>
                <a:spcPct val="100000"/>
              </a:lnSpc>
              <a:spcBef>
                <a:spcPct val="50000"/>
              </a:spcBef>
              <a:buClrTx/>
            </a:pPr>
            <a:r>
              <a:rPr kumimoji="1" lang="en-US" altLang="zh-CN" b="1" kern="1200" dirty="0">
                <a:solidFill>
                  <a:srgbClr val="FF3300"/>
                </a:solidFill>
                <a:latin typeface="Times New Roman" panose="02020603050405020304" pitchFamily="18" charset="0"/>
                <a:ea typeface="楷体_GB2312" pitchFamily="49" charset="-122"/>
              </a:rPr>
              <a:t>BIOS</a:t>
            </a:r>
            <a:r>
              <a:rPr kumimoji="1" lang="zh-CN" altLang="en-US" b="1" kern="1200" dirty="0">
                <a:solidFill>
                  <a:srgbClr val="FF3300"/>
                </a:solidFill>
                <a:latin typeface="Times New Roman" panose="02020603050405020304" pitchFamily="18" charset="0"/>
                <a:ea typeface="楷体_GB2312" pitchFamily="49" charset="-122"/>
              </a:rPr>
              <a:t>与</a:t>
            </a:r>
            <a:r>
              <a:rPr kumimoji="1" lang="en-US" altLang="zh-CN" b="1" kern="1200" dirty="0">
                <a:solidFill>
                  <a:srgbClr val="FF3300"/>
                </a:solidFill>
                <a:latin typeface="Times New Roman" panose="02020603050405020304" pitchFamily="18" charset="0"/>
                <a:ea typeface="楷体_GB2312" pitchFamily="49" charset="-122"/>
              </a:rPr>
              <a:t>DOS</a:t>
            </a:r>
            <a:r>
              <a:rPr kumimoji="1" lang="zh-CN" altLang="en-US" b="1" kern="1200" dirty="0">
                <a:solidFill>
                  <a:srgbClr val="FF3300"/>
                </a:solidFill>
                <a:latin typeface="Times New Roman" panose="02020603050405020304" pitchFamily="18" charset="0"/>
                <a:ea typeface="楷体_GB2312" pitchFamily="49" charset="-122"/>
              </a:rPr>
              <a:t>功能调用比较：</a:t>
            </a:r>
          </a:p>
          <a:p>
            <a:pPr lvl="0" algn="just">
              <a:lnSpc>
                <a:spcPct val="100000"/>
              </a:lnSpc>
              <a:spcBef>
                <a:spcPct val="50000"/>
              </a:spcBef>
              <a:buClrTx/>
            </a:pPr>
            <a:r>
              <a:rPr kumimoji="1" lang="en-US" altLang="zh-CN" b="1" kern="1200" dirty="0">
                <a:solidFill>
                  <a:srgbClr val="002060"/>
                </a:solidFill>
                <a:latin typeface="Times New Roman" panose="02020603050405020304" pitchFamily="18" charset="0"/>
                <a:ea typeface="楷体_GB2312" pitchFamily="49" charset="-122"/>
              </a:rPr>
              <a:t>1. </a:t>
            </a:r>
            <a:r>
              <a:rPr kumimoji="1" lang="zh-CN" altLang="en-US" b="1" kern="1200" dirty="0">
                <a:solidFill>
                  <a:srgbClr val="002060"/>
                </a:solidFill>
                <a:latin typeface="Times New Roman" panose="02020603050405020304" pitchFamily="18" charset="0"/>
                <a:ea typeface="楷体_GB2312" pitchFamily="49" charset="-122"/>
              </a:rPr>
              <a:t>调用</a:t>
            </a:r>
            <a:r>
              <a:rPr kumimoji="1" lang="en-US" altLang="zh-CN" b="1" kern="1200" dirty="0">
                <a:solidFill>
                  <a:srgbClr val="002060"/>
                </a:solidFill>
                <a:latin typeface="Times New Roman" panose="02020603050405020304" pitchFamily="18" charset="0"/>
                <a:ea typeface="楷体_GB2312" pitchFamily="49" charset="-122"/>
              </a:rPr>
              <a:t>BIOS</a:t>
            </a:r>
            <a:r>
              <a:rPr kumimoji="1" lang="zh-CN" altLang="en-US" b="1" kern="1200" dirty="0">
                <a:solidFill>
                  <a:srgbClr val="002060"/>
                </a:solidFill>
                <a:latin typeface="Times New Roman" panose="02020603050405020304" pitchFamily="18" charset="0"/>
                <a:ea typeface="楷体_GB2312" pitchFamily="49" charset="-122"/>
              </a:rPr>
              <a:t>功能子程序比调用</a:t>
            </a:r>
            <a:r>
              <a:rPr kumimoji="1" lang="en-US" altLang="zh-CN" b="1" kern="1200" dirty="0">
                <a:solidFill>
                  <a:srgbClr val="002060"/>
                </a:solidFill>
                <a:latin typeface="Times New Roman" panose="02020603050405020304" pitchFamily="18" charset="0"/>
                <a:ea typeface="楷体_GB2312" pitchFamily="49" charset="-122"/>
              </a:rPr>
              <a:t>DOS</a:t>
            </a:r>
            <a:r>
              <a:rPr kumimoji="1" lang="zh-CN" altLang="en-US" b="1" kern="1200" dirty="0">
                <a:solidFill>
                  <a:srgbClr val="002060"/>
                </a:solidFill>
                <a:latin typeface="Times New Roman" panose="02020603050405020304" pitchFamily="18" charset="0"/>
                <a:ea typeface="楷体_GB2312" pitchFamily="49" charset="-122"/>
              </a:rPr>
              <a:t>功能子程序要复杂一些，但运行速度快，功能更强。</a:t>
            </a:r>
          </a:p>
          <a:p>
            <a:pPr lvl="0" algn="just">
              <a:lnSpc>
                <a:spcPct val="100000"/>
              </a:lnSpc>
              <a:spcBef>
                <a:spcPct val="50000"/>
              </a:spcBef>
              <a:buClrTx/>
            </a:pPr>
            <a:r>
              <a:rPr kumimoji="1" lang="en-US" altLang="zh-CN" b="1" kern="1200" dirty="0">
                <a:solidFill>
                  <a:srgbClr val="002060"/>
                </a:solidFill>
                <a:latin typeface="Times New Roman" panose="02020603050405020304" pitchFamily="18" charset="0"/>
                <a:ea typeface="楷体_GB2312" pitchFamily="49" charset="-122"/>
              </a:rPr>
              <a:t>2. DOS</a:t>
            </a:r>
            <a:r>
              <a:rPr kumimoji="1" lang="zh-CN" altLang="en-US" b="1" kern="1200" dirty="0">
                <a:solidFill>
                  <a:srgbClr val="002060"/>
                </a:solidFill>
                <a:latin typeface="Times New Roman" panose="02020603050405020304" pitchFamily="18" charset="0"/>
                <a:ea typeface="楷体_GB2312" pitchFamily="49" charset="-122"/>
              </a:rPr>
              <a:t>功能调用只是在</a:t>
            </a:r>
            <a:r>
              <a:rPr kumimoji="1" lang="en-US" altLang="zh-CN" b="1" kern="1200" dirty="0">
                <a:solidFill>
                  <a:srgbClr val="002060"/>
                </a:solidFill>
                <a:latin typeface="Times New Roman" panose="02020603050405020304" pitchFamily="18" charset="0"/>
                <a:ea typeface="楷体_GB2312" pitchFamily="49" charset="-122"/>
              </a:rPr>
              <a:t>DOS</a:t>
            </a:r>
            <a:r>
              <a:rPr kumimoji="1" lang="zh-CN" altLang="en-US" b="1" kern="1200" dirty="0">
                <a:solidFill>
                  <a:srgbClr val="002060"/>
                </a:solidFill>
                <a:latin typeface="Times New Roman" panose="02020603050405020304" pitchFamily="18" charset="0"/>
                <a:ea typeface="楷体_GB2312" pitchFamily="49" charset="-122"/>
              </a:rPr>
              <a:t>的环境下使用，而</a:t>
            </a:r>
            <a:r>
              <a:rPr kumimoji="1" lang="en-US" altLang="zh-CN" b="1" kern="1200" dirty="0">
                <a:solidFill>
                  <a:srgbClr val="002060"/>
                </a:solidFill>
                <a:latin typeface="Times New Roman" panose="02020603050405020304" pitchFamily="18" charset="0"/>
                <a:ea typeface="楷体_GB2312" pitchFamily="49" charset="-122"/>
              </a:rPr>
              <a:t>BIOS</a:t>
            </a:r>
            <a:r>
              <a:rPr kumimoji="1" lang="zh-CN" altLang="en-US" b="1" kern="1200" dirty="0">
                <a:solidFill>
                  <a:srgbClr val="002060"/>
                </a:solidFill>
                <a:latin typeface="Times New Roman" panose="02020603050405020304" pitchFamily="18" charset="0"/>
                <a:ea typeface="楷体_GB2312" pitchFamily="49" charset="-122"/>
              </a:rPr>
              <a:t>功能调用不受任何操作系统的约束。</a:t>
            </a:r>
          </a:p>
          <a:p>
            <a:pPr lvl="0" algn="just">
              <a:lnSpc>
                <a:spcPct val="100000"/>
              </a:lnSpc>
              <a:spcBef>
                <a:spcPct val="50000"/>
              </a:spcBef>
              <a:buClrTx/>
            </a:pPr>
            <a:r>
              <a:rPr kumimoji="1" lang="en-US" altLang="zh-CN" b="1" kern="1200" dirty="0">
                <a:solidFill>
                  <a:srgbClr val="002060"/>
                </a:solidFill>
                <a:latin typeface="Times New Roman" panose="02020603050405020304" pitchFamily="18" charset="0"/>
                <a:ea typeface="楷体_GB2312" pitchFamily="49" charset="-122"/>
              </a:rPr>
              <a:t>3.</a:t>
            </a:r>
            <a:r>
              <a:rPr kumimoji="1" lang="zh-CN" altLang="en-US" b="1" kern="1200" dirty="0">
                <a:solidFill>
                  <a:srgbClr val="002060"/>
                </a:solidFill>
                <a:latin typeface="Times New Roman" panose="02020603050405020304" pitchFamily="18" charset="0"/>
                <a:ea typeface="楷体_GB2312" pitchFamily="49" charset="-122"/>
              </a:rPr>
              <a:t>某些功能只有</a:t>
            </a:r>
            <a:r>
              <a:rPr kumimoji="1" lang="en-US" altLang="zh-CN" b="1" kern="1200" dirty="0">
                <a:solidFill>
                  <a:srgbClr val="002060"/>
                </a:solidFill>
                <a:latin typeface="Times New Roman" panose="02020603050405020304" pitchFamily="18" charset="0"/>
                <a:ea typeface="楷体_GB2312" pitchFamily="49" charset="-122"/>
              </a:rPr>
              <a:t>BIOS</a:t>
            </a:r>
            <a:r>
              <a:rPr kumimoji="1" lang="zh-CN" altLang="en-US" b="1" kern="1200" dirty="0">
                <a:solidFill>
                  <a:srgbClr val="002060"/>
                </a:solidFill>
                <a:latin typeface="Times New Roman" panose="02020603050405020304" pitchFamily="18" charset="0"/>
                <a:ea typeface="楷体_GB2312" pitchFamily="49" charset="-122"/>
              </a:rPr>
              <a:t>具有。</a:t>
            </a:r>
          </a:p>
          <a:p>
            <a:endParaRPr lang="zh-CN" altLang="en-US" dirty="0"/>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pPr algn="just">
              <a:spcAft>
                <a:spcPts val="0"/>
              </a:spcAft>
            </a:pPr>
            <a:r>
              <a:rPr lang="en-US" altLang="zh-CN" b="1" kern="100" dirty="0">
                <a:latin typeface="Times New Roman" panose="02020603050405020304" pitchFamily="18" charset="0"/>
                <a:cs typeface="Times New Roman" panose="02020603050405020304" pitchFamily="18" charset="0"/>
              </a:rPr>
              <a:t>4.4.3 DOS</a:t>
            </a:r>
            <a:r>
              <a:rPr lang="zh-CN" altLang="zh-CN" b="1" kern="100" dirty="0">
                <a:latin typeface="Times New Roman" panose="02020603050405020304" pitchFamily="18" charset="0"/>
                <a:cs typeface="Times New Roman" panose="02020603050405020304" pitchFamily="18" charset="0"/>
              </a:rPr>
              <a:t>系统功能调用</a:t>
            </a:r>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6" name="Rectangle 2"/>
          <p:cNvSpPr txBox="1">
            <a:spLocks noChangeArrowheads="1"/>
          </p:cNvSpPr>
          <p:nvPr/>
        </p:nvSpPr>
        <p:spPr bwMode="auto">
          <a:xfrm>
            <a:off x="428127" y="2564904"/>
            <a:ext cx="8243888" cy="25091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spcBef>
                <a:spcPct val="80000"/>
              </a:spcBef>
              <a:buFontTx/>
              <a:buNone/>
            </a:pPr>
            <a:r>
              <a:rPr lang="en-US" altLang="zh-CN" sz="20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    DOS</a:t>
            </a:r>
            <a:r>
              <a:rPr lang="zh-CN" altLang="en-US" sz="20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功能调用</a:t>
            </a:r>
            <a:r>
              <a:rPr lang="zh-CN" altLang="en-US" sz="2000" b="1" dirty="0">
                <a:solidFill>
                  <a:srgbClr val="3333F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指</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DOS</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为系统程序员和用户提供的一组常用</a:t>
            </a:r>
            <a:r>
              <a:rPr lang="zh-CN" altLang="en-US"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90000"/>
              </a:lnSpc>
              <a:spcBef>
                <a:spcPct val="80000"/>
              </a:spcBef>
              <a:buFontTx/>
              <a:buNone/>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用中断指令</a:t>
            </a:r>
            <a:r>
              <a:rPr lang="en-US" altLang="zh-CN"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INT 21H</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进入各功能调用子程序的总入口，再为每个功能调用规定一个</a:t>
            </a:r>
            <a:r>
              <a:rPr lang="zh-CN" altLang="en-US"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功能号</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以便进入相应各子程序的入口。</a:t>
            </a:r>
          </a:p>
          <a:p>
            <a:pPr>
              <a:lnSpc>
                <a:spcPct val="90000"/>
              </a:lnSpc>
              <a:spcBef>
                <a:spcPct val="80000"/>
              </a:spcBef>
              <a:buFontTx/>
              <a:buNone/>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子程序的入口参数及出口参数在每个功能调用的说明中可以查到。</a:t>
            </a:r>
          </a:p>
          <a:p>
            <a:pPr>
              <a:lnSpc>
                <a:spcPct val="90000"/>
              </a:lnSpc>
              <a:spcBef>
                <a:spcPct val="80000"/>
              </a:spcBef>
              <a:buFontTx/>
              <a:buNone/>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在</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DOS</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中断服务程序中，有</a:t>
            </a:r>
            <a:r>
              <a:rPr lang="zh-CN" altLang="en-US" sz="20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近百个功能</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供用户选择使用，其中，</a:t>
            </a:r>
            <a:r>
              <a:rPr lang="zh-CN" altLang="en-US" sz="20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功能最多的是向量号为</a:t>
            </a:r>
            <a:r>
              <a:rPr lang="en-US" altLang="zh-CN" sz="20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21H</a:t>
            </a:r>
            <a:r>
              <a:rPr lang="zh-CN" altLang="en-US" sz="20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的向量中断。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left)">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wipe(left)">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wipe(left)">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1. </a:t>
            </a:r>
            <a:r>
              <a:rPr lang="zh-CN" altLang="en-US" b="1" dirty="0">
                <a:latin typeface="Times New Roman" panose="02020603050405020304" pitchFamily="18" charset="0"/>
                <a:cs typeface="Times New Roman" panose="02020603050405020304" pitchFamily="18" charset="0"/>
              </a:rPr>
              <a:t>键盘输入并显示</a:t>
            </a:r>
            <a:r>
              <a:rPr lang="en-US" altLang="zh-CN" b="1" dirty="0">
                <a:latin typeface="Times New Roman" panose="02020603050405020304" pitchFamily="18" charset="0"/>
                <a:cs typeface="Times New Roman" panose="02020603050405020304" pitchFamily="18" charset="0"/>
              </a:rPr>
              <a:t>(01</a:t>
            </a:r>
            <a:r>
              <a:rPr lang="zh-CN" altLang="en-US" b="1" dirty="0">
                <a:latin typeface="Times New Roman" panose="02020603050405020304" pitchFamily="18" charset="0"/>
                <a:cs typeface="Times New Roman" panose="02020603050405020304" pitchFamily="18" charset="0"/>
              </a:rPr>
              <a:t>号功能调用）</a:t>
            </a: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570384" y="2327940"/>
            <a:ext cx="8003232" cy="3539430"/>
          </a:xfrm>
          <a:prstGeom prst="rect">
            <a:avLst/>
          </a:prstGeom>
        </p:spPr>
        <p:txBody>
          <a:bodyPr wrap="square">
            <a:spAutoFit/>
          </a:bodyPr>
          <a:lstStyle/>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功能调用号</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AH=01H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功能：接收从键盘输入的一个字符并在屏幕回显。输入字符的</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码存入</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AL</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寄存器。若按下组合键</a:t>
            </a:r>
            <a:r>
              <a:rPr lang="en-US" altLang="zh-CN" sz="2000" b="1" kern="0" dirty="0" err="1">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Ctrl+Break</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或</a:t>
            </a:r>
            <a:r>
              <a:rPr lang="en-US" altLang="zh-CN" sz="2000" b="1" kern="0" dirty="0" err="1">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Ctrl+C</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，则程序返回</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DOS</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；如果按下的是</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Tab</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键，屏幕上光标自动移至下一个制表位。</a:t>
            </a:r>
            <a:endPar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入口参数：无</a:t>
            </a: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出口参数：</a:t>
            </a:r>
            <a:r>
              <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AL</a:t>
            </a: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寄存器存放输入字符的</a:t>
            </a:r>
            <a:r>
              <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码值</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格式：</a:t>
            </a:r>
          </a:p>
          <a:p>
            <a:pPr marL="342900" lvl="0" indent="-342900" eaLnBrk="0" hangingPunct="0">
              <a:spcBef>
                <a:spcPct val="20000"/>
              </a:spcBef>
              <a:buClr>
                <a:srgbClr val="4C59D2"/>
              </a:buClr>
            </a:pP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MOV  AH,01H    </a:t>
            </a:r>
            <a:endPar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eaLnBrk="0" hangingPunct="0">
              <a:spcBef>
                <a:spcPct val="20000"/>
              </a:spcBef>
              <a:buClr>
                <a:srgbClr val="4C59D2"/>
              </a:buClr>
            </a:pP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INT  21H</a:t>
            </a:r>
            <a:endPar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fade">
                                      <p:cBhvr>
                                        <p:cTn id="28" dur="500"/>
                                        <p:tgtEl>
                                          <p:spTgt spid="5">
                                            <p:txEl>
                                              <p:pRg st="4" end="4"/>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输出单字符</a:t>
            </a:r>
            <a:r>
              <a:rPr lang="en-US" altLang="zh-CN" b="1" dirty="0">
                <a:latin typeface="Times New Roman" panose="02020603050405020304" pitchFamily="18" charset="0"/>
                <a:cs typeface="Times New Roman" panose="02020603050405020304" pitchFamily="18" charset="0"/>
              </a:rPr>
              <a:t>(02H</a:t>
            </a:r>
            <a:r>
              <a:rPr lang="zh-CN" altLang="en-US" b="1" dirty="0">
                <a:latin typeface="Times New Roman" panose="02020603050405020304" pitchFamily="18" charset="0"/>
                <a:cs typeface="Times New Roman" panose="02020603050405020304" pitchFamily="18" charset="0"/>
              </a:rPr>
              <a:t>号功能</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570384" y="2327940"/>
            <a:ext cx="8003232" cy="2911566"/>
          </a:xfrm>
          <a:prstGeom prst="rect">
            <a:avLst/>
          </a:prstGeom>
        </p:spPr>
        <p:txBody>
          <a:bodyPr wrap="square">
            <a:spAutoFit/>
          </a:bodyPr>
          <a:lstStyle/>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功能调用号</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AH=02H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功能：在屏幕上显示一个字符。</a:t>
            </a: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入口参数：</a:t>
            </a:r>
            <a:r>
              <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DL=</a:t>
            </a: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输出字符</a:t>
            </a:r>
            <a:endPar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出口参数：无</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例如：</a:t>
            </a:r>
          </a:p>
          <a:p>
            <a:pPr marL="342900" lvl="0" indent="-342900" eaLnBrk="0" hangingPunct="0">
              <a:spcBef>
                <a:spcPct val="20000"/>
              </a:spcBef>
              <a:buClr>
                <a:srgbClr val="4C59D2"/>
              </a:buClr>
            </a:pP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MOV DL</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		; A</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字符的</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码置入</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DL</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中</a:t>
            </a:r>
          </a:p>
          <a:p>
            <a:pPr marL="342900" lvl="0" indent="-342900" eaLnBrk="0" hangingPunct="0">
              <a:spcBef>
                <a:spcPct val="20000"/>
              </a:spcBef>
              <a:buClr>
                <a:srgbClr val="4C59D2"/>
              </a:buClr>
            </a:pP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MOV AH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2</a:t>
            </a:r>
          </a:p>
          <a:p>
            <a:pPr marL="342900" lvl="0" indent="-342900" eaLnBrk="0" hangingPunct="0">
              <a:spcBef>
                <a:spcPct val="20000"/>
              </a:spcBef>
              <a:buClr>
                <a:srgbClr val="4C59D2"/>
              </a:buClr>
            </a:pP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INT 21H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Effect transition="in" filter="fade">
                                      <p:cBhvr>
                                        <p:cTn id="23" dur="500"/>
                                        <p:tgtEl>
                                          <p:spTgt spid="5">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
                                            <p:txEl>
                                              <p:pRg st="4" end="4"/>
                                            </p:txEl>
                                          </p:spTgt>
                                        </p:tgtEl>
                                        <p:attrNameLst>
                                          <p:attrName>style.visibility</p:attrName>
                                        </p:attrNameLst>
                                      </p:cBhvr>
                                      <p:to>
                                        <p:strVal val="visible"/>
                                      </p:to>
                                    </p:set>
                                    <p:animEffect transition="in" filter="wipe(down)">
                                      <p:cBhvr>
                                        <p:cTn id="28" dur="500"/>
                                        <p:tgtEl>
                                          <p:spTgt spid="5">
                                            <p:txEl>
                                              <p:pRg st="4" end="4"/>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wipe(down)">
                                      <p:cBhvr>
                                        <p:cTn id="31" dur="500"/>
                                        <p:tgtEl>
                                          <p:spTgt spid="5">
                                            <p:txEl>
                                              <p:pRg st="5" end="5"/>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wipe(down)">
                                      <p:cBhvr>
                                        <p:cTn id="34" dur="500"/>
                                        <p:tgtEl>
                                          <p:spTgt spid="5">
                                            <p:txEl>
                                              <p:pRg st="6" end="6"/>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wipe(down)">
                                      <p:cBhvr>
                                        <p:cTn id="3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3.</a:t>
            </a:r>
            <a:r>
              <a:rPr lang="zh-CN" altLang="en-US" b="1" dirty="0">
                <a:latin typeface="Times New Roman" panose="02020603050405020304" pitchFamily="18" charset="0"/>
                <a:cs typeface="Times New Roman" panose="02020603050405020304" pitchFamily="18" charset="0"/>
              </a:rPr>
              <a:t>不带显示的单字符键盘输入</a:t>
            </a:r>
            <a:r>
              <a:rPr lang="en-US" altLang="zh-CN" b="1" dirty="0">
                <a:latin typeface="Times New Roman" panose="02020603050405020304" pitchFamily="18" charset="0"/>
                <a:cs typeface="Times New Roman" panose="02020603050405020304" pitchFamily="18" charset="0"/>
              </a:rPr>
              <a:t>(07H</a:t>
            </a:r>
            <a:r>
              <a:rPr lang="zh-CN" altLang="en-US" b="1" dirty="0">
                <a:latin typeface="Times New Roman" panose="02020603050405020304" pitchFamily="18" charset="0"/>
                <a:cs typeface="Times New Roman" panose="02020603050405020304" pitchFamily="18" charset="0"/>
              </a:rPr>
              <a:t>号、</a:t>
            </a:r>
            <a:r>
              <a:rPr lang="en-US" altLang="zh-CN" b="1" dirty="0">
                <a:latin typeface="Times New Roman" panose="02020603050405020304" pitchFamily="18" charset="0"/>
                <a:cs typeface="Times New Roman" panose="02020603050405020304" pitchFamily="18" charset="0"/>
              </a:rPr>
              <a:t>08H</a:t>
            </a:r>
            <a:r>
              <a:rPr lang="zh-CN" altLang="en-US" b="1" dirty="0">
                <a:latin typeface="Times New Roman" panose="02020603050405020304" pitchFamily="18" charset="0"/>
                <a:cs typeface="Times New Roman" panose="02020603050405020304" pitchFamily="18" charset="0"/>
              </a:rPr>
              <a:t>号功能</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570384" y="2327940"/>
            <a:ext cx="8229600" cy="3956685"/>
          </a:xfrm>
          <a:prstGeom prst="rect">
            <a:avLst/>
          </a:prstGeom>
        </p:spPr>
        <p:txBody>
          <a:bodyPr wrap="square">
            <a:spAutoFit/>
          </a:bodyPr>
          <a:lstStyle/>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功能调用号</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AH=07H(08H)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功能：与</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01H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号功能类似，区别仅仅是输入的字符不在屏幕上显示。其中，</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07H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号功能调用对</a:t>
            </a:r>
            <a:r>
              <a:rPr lang="en-US" altLang="zh-CN" sz="2000" b="1" kern="0" dirty="0" err="1">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Ctrl+C</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键和</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Tab</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键无反应。</a:t>
            </a:r>
            <a:endPar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入口参数：无</a:t>
            </a:r>
            <a:endPar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出口参数：</a:t>
            </a:r>
            <a:r>
              <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DL=</a:t>
            </a:r>
            <a:r>
              <a:rPr lang="zh-CN" altLang="en-US"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输出字符</a:t>
            </a:r>
            <a:endParaRPr lang="en-US" altLang="zh-CN"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格式：</a:t>
            </a:r>
          </a:p>
          <a:p>
            <a:pPr marL="342900" lvl="0" indent="-342900" eaLnBrk="0" hangingPunct="0">
              <a:spcBef>
                <a:spcPct val="20000"/>
              </a:spcBef>
              <a:buClr>
                <a:srgbClr val="4C59D2"/>
              </a:buClr>
            </a:pPr>
            <a:r>
              <a:rPr lang="pt-BR"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MOV	AH</a:t>
            </a:r>
            <a:r>
              <a:rPr lang="en-US" altLang="pt-BR"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 </a:t>
            </a:r>
            <a:r>
              <a:rPr lang="pt-BR"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07H</a:t>
            </a:r>
          </a:p>
          <a:p>
            <a:pPr marL="342900" lvl="0" indent="-342900" eaLnBrk="0" hangingPunct="0">
              <a:spcBef>
                <a:spcPct val="20000"/>
              </a:spcBef>
              <a:buClr>
                <a:srgbClr val="4C59D2"/>
              </a:buClr>
            </a:pPr>
            <a:r>
              <a:rPr lang="pt-BR"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INT 21H</a:t>
            </a:r>
          </a:p>
          <a:p>
            <a:pPr marL="342900" lvl="0" indent="-342900" eaLnBrk="0" hangingPunct="0">
              <a:spcBef>
                <a:spcPct val="20000"/>
              </a:spcBef>
              <a:buClr>
                <a:srgbClr val="4C59D2"/>
              </a:buClr>
            </a:pP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pt-BR"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或</a:t>
            </a:r>
          </a:p>
          <a:p>
            <a:pPr marL="342900" lvl="0" indent="-342900" eaLnBrk="0" hangingPunct="0">
              <a:spcBef>
                <a:spcPct val="20000"/>
              </a:spcBef>
              <a:buClr>
                <a:srgbClr val="4C59D2"/>
              </a:buClr>
            </a:pPr>
            <a:r>
              <a:rPr lang="pt-BR"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MOV	AH</a:t>
            </a:r>
            <a:r>
              <a:rPr lang="zh-CN" altLang="pt-BR"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r>
              <a:rPr lang="pt-BR"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08H</a:t>
            </a:r>
          </a:p>
          <a:p>
            <a:pPr marL="342900" lvl="0" indent="-342900" eaLnBrk="0" hangingPunct="0">
              <a:spcBef>
                <a:spcPct val="20000"/>
              </a:spcBef>
              <a:buClr>
                <a:srgbClr val="4C59D2"/>
              </a:buClr>
            </a:pPr>
            <a:r>
              <a:rPr lang="pt-BR"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INT 21H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
                                            <p:txEl>
                                              <p:pRg st="4" end="4"/>
                                            </p:txEl>
                                          </p:spTgt>
                                        </p:tgtEl>
                                        <p:attrNameLst>
                                          <p:attrName>style.visibility</p:attrName>
                                        </p:attrNameLst>
                                      </p:cBhvr>
                                      <p:to>
                                        <p:strVal val="visible"/>
                                      </p:to>
                                    </p:set>
                                    <p:animEffect transition="in" filter="fade">
                                      <p:cBhvr>
                                        <p:cTn id="26" dur="500"/>
                                        <p:tgtEl>
                                          <p:spTgt spid="5">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Effect transition="in" filter="fade">
                                      <p:cBhvr>
                                        <p:cTn id="29" dur="500"/>
                                        <p:tgtEl>
                                          <p:spTgt spid="5">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fade">
                                      <p:cBhvr>
                                        <p:cTn id="35" dur="500"/>
                                        <p:tgtEl>
                                          <p:spTgt spid="5">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8" end="8"/>
                                            </p:txEl>
                                          </p:spTgt>
                                        </p:tgtEl>
                                        <p:attrNameLst>
                                          <p:attrName>style.visibility</p:attrName>
                                        </p:attrNameLst>
                                      </p:cBhvr>
                                      <p:to>
                                        <p:strVal val="visible"/>
                                      </p:to>
                                    </p:set>
                                    <p:animEffect transition="in" filter="fade">
                                      <p:cBhvr>
                                        <p:cTn id="38" dur="500"/>
                                        <p:tgtEl>
                                          <p:spTgt spid="5">
                                            <p:txEl>
                                              <p:pRg st="8" end="8"/>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animEffect transition="in" filter="fade">
                                      <p:cBhvr>
                                        <p:cTn id="4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字符串输出</a:t>
            </a:r>
            <a:r>
              <a:rPr lang="en-US" altLang="zh-CN" b="1" dirty="0">
                <a:latin typeface="Times New Roman" panose="02020603050405020304" pitchFamily="18" charset="0"/>
                <a:cs typeface="Times New Roman" panose="02020603050405020304" pitchFamily="18" charset="0"/>
              </a:rPr>
              <a:t>(09H</a:t>
            </a:r>
            <a:r>
              <a:rPr lang="zh-CN" altLang="en-US" b="1" dirty="0">
                <a:latin typeface="Times New Roman" panose="02020603050405020304" pitchFamily="18" charset="0"/>
                <a:cs typeface="Times New Roman" panose="02020603050405020304" pitchFamily="18" charset="0"/>
              </a:rPr>
              <a:t>号功能</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570384" y="2327940"/>
            <a:ext cx="8573616" cy="2492990"/>
          </a:xfrm>
          <a:prstGeom prst="rect">
            <a:avLst/>
          </a:prstGeom>
        </p:spPr>
        <p:txBody>
          <a:bodyPr wrap="square">
            <a:spAutoFit/>
          </a:bodyPr>
          <a:lstStyle/>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功能调用号</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AH=9</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功能：在屏幕上显示一个字符串。</a:t>
            </a:r>
          </a:p>
          <a:p>
            <a:pPr marL="800100" lvl="1" indent="-342900" eaLnBrk="0" hangingPunct="0">
              <a:spcBef>
                <a:spcPct val="20000"/>
              </a:spcBef>
              <a:buClr>
                <a:srgbClr val="4C59D2"/>
              </a:buClr>
              <a:buFont typeface="Wingdings" panose="05000000000000000000" pitchFamily="2" charset="2"/>
              <a:buChar char="Ø"/>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入口参数：是被输出字符串首址，接收入口参数的是寄存器</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DS</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DX</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，分别存入被输出字符串首址的段基值和偏移量。</a:t>
            </a:r>
          </a:p>
          <a:p>
            <a:pPr marL="1257300" lvl="2" indent="-342900" eaLnBrk="0" hangingPunct="0">
              <a:spcBef>
                <a:spcPct val="20000"/>
              </a:spcBef>
              <a:buClr>
                <a:srgbClr val="4C59D2"/>
              </a:buClr>
              <a:buFont typeface="Wingdings" panose="05000000000000000000" pitchFamily="2" charset="2"/>
              <a:buChar char="ü"/>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采用</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9</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号功能输出字符串，要求字符串以‘</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’结束，该字符作为字符串结束符，不输出。</a:t>
            </a:r>
            <a:endPar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eaLnBrk="0" hangingPunct="0">
              <a:spcBef>
                <a:spcPct val="20000"/>
              </a:spcBef>
              <a:buClr>
                <a:srgbClr val="4C59D2"/>
              </a:buClr>
              <a:buFont typeface="Wingdings" panose="05000000000000000000" pitchFamily="2" charset="2"/>
              <a:buChar char="Ø"/>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出口参数：无</a:t>
            </a:r>
          </a:p>
        </p:txBody>
      </p:sp>
      <p:sp>
        <p:nvSpPr>
          <p:cNvPr id="6" name="矩形 5"/>
          <p:cNvSpPr/>
          <p:nvPr/>
        </p:nvSpPr>
        <p:spPr>
          <a:xfrm>
            <a:off x="1331640" y="5002620"/>
            <a:ext cx="4572000" cy="1200329"/>
          </a:xfrm>
          <a:prstGeom prst="rect">
            <a:avLst/>
          </a:prstGeom>
        </p:spPr>
        <p:txBody>
          <a:bodyPr>
            <a:spAutoFit/>
          </a:bodyPr>
          <a:lstStyle/>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格式：</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MOV	DX</a:t>
            </a:r>
            <a:r>
              <a:rPr lang="zh-CN" altLang="pt-BR" b="1" dirty="0">
                <a:latin typeface="Times New Roman" panose="02020603050405020304" pitchFamily="18" charset="0"/>
                <a:ea typeface="微软雅黑" panose="020B0503020204020204" pitchFamily="34" charset="-122"/>
                <a:cs typeface="Times New Roman" panose="02020603050405020304" pitchFamily="18" charset="0"/>
              </a:rPr>
              <a:t>，字符串偏移量</a:t>
            </a:r>
          </a:p>
          <a:p>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pt-BR" b="1" dirty="0">
                <a:latin typeface="Times New Roman" panose="02020603050405020304" pitchFamily="18" charset="0"/>
                <a:ea typeface="微软雅黑" panose="020B0503020204020204" pitchFamily="34" charset="-122"/>
                <a:cs typeface="Times New Roman" panose="02020603050405020304" pitchFamily="18" charset="0"/>
              </a:rPr>
              <a:t>，</a:t>
            </a:r>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09H</a:t>
            </a:r>
          </a:p>
          <a:p>
            <a:r>
              <a:rPr lang="pt-BR" altLang="zh-CN" b="1" dirty="0">
                <a:latin typeface="Times New Roman" panose="02020603050405020304" pitchFamily="18" charset="0"/>
                <a:ea typeface="微软雅黑" panose="020B0503020204020204" pitchFamily="34" charset="-122"/>
                <a:cs typeface="Times New Roman" panose="02020603050405020304" pitchFamily="18" charset="0"/>
              </a:rPr>
              <a:t>INT	21H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dissolve">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611560" y="1772816"/>
            <a:ext cx="8136904" cy="4401205"/>
          </a:xfrm>
          <a:prstGeom prst="rect">
            <a:avLst/>
          </a:prstGeom>
        </p:spPr>
        <p:txBody>
          <a:bodyPr wrap="square">
            <a:spAutoFit/>
          </a:bodyPr>
          <a:lstStyle/>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字符串输出（续）</a:t>
            </a:r>
          </a:p>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例如：</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DATA  SEGMENTS</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STRING	DB 	'A EXAMPLE'0DH</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0AH</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定义字符串</a:t>
            </a:r>
          </a:p>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DATA  ENDS</a:t>
            </a:r>
          </a:p>
          <a:p>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CODE  SEGMENT</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MOV  DX,OFFSET  STRING</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MOV  AH,9</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INT  21H</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CODE  ENDS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randombar(horizontal)">
                                      <p:cBhvr>
                                        <p:cTn id="7" dur="500"/>
                                        <p:tgtEl>
                                          <p:spTgt spid="5">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0" dur="500"/>
                                        <p:tgtEl>
                                          <p:spTgt spid="5">
                                            <p:txEl>
                                              <p:pRg st="1" end="1"/>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3" dur="500"/>
                                        <p:tgtEl>
                                          <p:spTgt spid="5">
                                            <p:txEl>
                                              <p:pRg st="2" end="2"/>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6" dur="500"/>
                                        <p:tgtEl>
                                          <p:spTgt spid="5">
                                            <p:txEl>
                                              <p:pRg st="3" end="3"/>
                                            </p:txEl>
                                          </p:spTgt>
                                        </p:tgtEl>
                                      </p:cBhvr>
                                    </p:animEffect>
                                  </p:childTnLst>
                                </p:cTn>
                              </p:par>
                              <p:par>
                                <p:cTn id="17" presetID="14" presetClass="entr" presetSubtype="1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randombar(horizontal)">
                                      <p:cBhvr>
                                        <p:cTn id="19" dur="500"/>
                                        <p:tgtEl>
                                          <p:spTgt spid="5">
                                            <p:txEl>
                                              <p:pRg st="4" end="4"/>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randombar(horizontal)">
                                      <p:cBhvr>
                                        <p:cTn id="22" dur="500"/>
                                        <p:tgtEl>
                                          <p:spTgt spid="5">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animEffect transition="in" filter="randombar(horizontal)">
                                      <p:cBhvr>
                                        <p:cTn id="27" dur="500"/>
                                        <p:tgtEl>
                                          <p:spTgt spid="5">
                                            <p:txEl>
                                              <p:pRg st="7" end="7"/>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0" dur="500"/>
                                        <p:tgtEl>
                                          <p:spTgt spid="5">
                                            <p:txEl>
                                              <p:pRg st="8" end="8"/>
                                            </p:txEl>
                                          </p:spTgt>
                                        </p:tgtEl>
                                      </p:cBhvr>
                                    </p:animEffect>
                                  </p:childTnLst>
                                </p:cTn>
                              </p:par>
                              <p:par>
                                <p:cTn id="31" presetID="14" presetClass="entr" presetSubtype="10" fill="hold"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randombar(horizontal)">
                                      <p:cBhvr>
                                        <p:cTn id="33" dur="500"/>
                                        <p:tgtEl>
                                          <p:spTgt spid="5">
                                            <p:txEl>
                                              <p:pRg st="9" end="9"/>
                                            </p:txEl>
                                          </p:spTgt>
                                        </p:tgtEl>
                                      </p:cBhvr>
                                    </p:animEffect>
                                  </p:childTnLst>
                                </p:cTn>
                              </p:par>
                              <p:par>
                                <p:cTn id="34" presetID="14" presetClass="entr" presetSubtype="10" fill="hold" nodeType="withEffect">
                                  <p:stCondLst>
                                    <p:cond delay="0"/>
                                  </p:stCondLst>
                                  <p:childTnLst>
                                    <p:set>
                                      <p:cBhvr>
                                        <p:cTn id="35" dur="1" fill="hold">
                                          <p:stCondLst>
                                            <p:cond delay="0"/>
                                          </p:stCondLst>
                                        </p:cTn>
                                        <p:tgtEl>
                                          <p:spTgt spid="5">
                                            <p:txEl>
                                              <p:pRg st="10" end="10"/>
                                            </p:txEl>
                                          </p:spTgt>
                                        </p:tgtEl>
                                        <p:attrNameLst>
                                          <p:attrName>style.visibility</p:attrName>
                                        </p:attrNameLst>
                                      </p:cBhvr>
                                      <p:to>
                                        <p:strVal val="visible"/>
                                      </p:to>
                                    </p:set>
                                    <p:animEffect transition="in" filter="randombar(horizontal)">
                                      <p:cBhvr>
                                        <p:cTn id="36" dur="500"/>
                                        <p:tgtEl>
                                          <p:spTgt spid="5">
                                            <p:txEl>
                                              <p:pRg st="10" end="10"/>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5">
                                            <p:txEl>
                                              <p:pRg st="11" end="11"/>
                                            </p:txEl>
                                          </p:spTgt>
                                        </p:tgtEl>
                                        <p:attrNameLst>
                                          <p:attrName>style.visibility</p:attrName>
                                        </p:attrNameLst>
                                      </p:cBhvr>
                                      <p:to>
                                        <p:strVal val="visible"/>
                                      </p:to>
                                    </p:set>
                                    <p:animEffect transition="in" filter="randombar(horizontal)">
                                      <p:cBhvr>
                                        <p:cTn id="39" dur="500"/>
                                        <p:tgtEl>
                                          <p:spTgt spid="5">
                                            <p:txEl>
                                              <p:pRg st="11" end="11"/>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5">
                                            <p:txEl>
                                              <p:pRg st="12" end="12"/>
                                            </p:txEl>
                                          </p:spTgt>
                                        </p:tgtEl>
                                        <p:attrNameLst>
                                          <p:attrName>style.visibility</p:attrName>
                                        </p:attrNameLst>
                                      </p:cBhvr>
                                      <p:to>
                                        <p:strVal val="visible"/>
                                      </p:to>
                                    </p:set>
                                    <p:animEffect transition="in" filter="randombar(horizontal)">
                                      <p:cBhvr>
                                        <p:cTn id="42" dur="500"/>
                                        <p:tgtEl>
                                          <p:spTgt spid="5">
                                            <p:txEl>
                                              <p:pRg st="12" end="12"/>
                                            </p:txEl>
                                          </p:spTgt>
                                        </p:tgtEl>
                                      </p:cBhvr>
                                    </p:animEffect>
                                  </p:childTnLst>
                                </p:cTn>
                              </p:par>
                              <p:par>
                                <p:cTn id="43" presetID="14" presetClass="entr" presetSubtype="10" fill="hold" nodeType="withEffect">
                                  <p:stCondLst>
                                    <p:cond delay="0"/>
                                  </p:stCondLst>
                                  <p:childTnLst>
                                    <p:set>
                                      <p:cBhvr>
                                        <p:cTn id="44" dur="1" fill="hold">
                                          <p:stCondLst>
                                            <p:cond delay="0"/>
                                          </p:stCondLst>
                                        </p:cTn>
                                        <p:tgtEl>
                                          <p:spTgt spid="5">
                                            <p:txEl>
                                              <p:pRg st="13" end="13"/>
                                            </p:txEl>
                                          </p:spTgt>
                                        </p:tgtEl>
                                        <p:attrNameLst>
                                          <p:attrName>style.visibility</p:attrName>
                                        </p:attrNameLst>
                                      </p:cBhvr>
                                      <p:to>
                                        <p:strVal val="visible"/>
                                      </p:to>
                                    </p:set>
                                    <p:animEffect transition="in" filter="randombar(horizontal)">
                                      <p:cBhvr>
                                        <p:cTn id="45" dur="500"/>
                                        <p:tgtEl>
                                          <p:spTgt spid="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字符串输入</a:t>
            </a:r>
            <a:r>
              <a:rPr lang="en-US" altLang="zh-CN" b="1" dirty="0">
                <a:latin typeface="Times New Roman" panose="02020603050405020304" pitchFamily="18" charset="0"/>
                <a:cs typeface="Times New Roman" panose="02020603050405020304" pitchFamily="18" charset="0"/>
              </a:rPr>
              <a:t>(0AH</a:t>
            </a:r>
            <a:r>
              <a:rPr lang="zh-CN" altLang="en-US" b="1" dirty="0">
                <a:latin typeface="Times New Roman" panose="02020603050405020304" pitchFamily="18" charset="0"/>
                <a:cs typeface="Times New Roman" panose="02020603050405020304" pitchFamily="18" charset="0"/>
              </a:rPr>
              <a:t>号功能调用</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570384" y="2327940"/>
            <a:ext cx="8573616" cy="3884140"/>
          </a:xfrm>
          <a:prstGeom prst="rect">
            <a:avLst/>
          </a:prstGeom>
        </p:spPr>
        <p:txBody>
          <a:bodyPr wrap="square">
            <a:spAutoFit/>
          </a:bodyPr>
          <a:lstStyle/>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功能调用号</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AH=0AH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功能：从键盘接受字符串后存入以</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DS:DX</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为首地址的内存缓冲区，同时显示该字符串，输入过程以回车键结束。要求先建立缓冲区，并且：</a:t>
            </a:r>
          </a:p>
          <a:p>
            <a:pPr marL="800100" lvl="1" indent="-342900" eaLnBrk="0" hangingPunct="0">
              <a:spcBef>
                <a:spcPct val="20000"/>
              </a:spcBef>
              <a:buClr>
                <a:srgbClr val="4C59D2"/>
              </a:buClr>
              <a:buFont typeface="Wingdings" panose="05000000000000000000" pitchFamily="2" charset="2"/>
              <a:buChar char="ü"/>
            </a:pP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第一个字节缓冲区能容纳的字符个数</a:t>
            </a:r>
          </a:p>
          <a:p>
            <a:pPr marL="800100" lvl="1" indent="-342900" eaLnBrk="0" hangingPunct="0">
              <a:spcBef>
                <a:spcPct val="20000"/>
              </a:spcBef>
              <a:buClr>
                <a:srgbClr val="4C59D2"/>
              </a:buClr>
              <a:buFont typeface="Wingdings" panose="05000000000000000000" pitchFamily="2" charset="2"/>
              <a:buChar char="ü"/>
            </a:pP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第二个字节保留，以存放实际放入的字符个数</a:t>
            </a:r>
          </a:p>
          <a:p>
            <a:pPr marL="800100" lvl="1" indent="-342900" eaLnBrk="0" hangingPunct="0">
              <a:spcBef>
                <a:spcPct val="20000"/>
              </a:spcBef>
              <a:buClr>
                <a:srgbClr val="4C59D2"/>
              </a:buClr>
              <a:buFont typeface="Wingdings" panose="05000000000000000000" pitchFamily="2" charset="2"/>
              <a:buChar char="ü"/>
            </a:pP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第三个字符开始存放从键盘输入的字符。</a:t>
            </a:r>
          </a:p>
          <a:p>
            <a:pPr marL="800100" lvl="1" indent="-342900" eaLnBrk="0" hangingPunct="0">
              <a:spcBef>
                <a:spcPct val="20000"/>
              </a:spcBef>
              <a:buClr>
                <a:srgbClr val="4C59D2"/>
              </a:buClr>
              <a:buFont typeface="Wingdings" panose="05000000000000000000" pitchFamily="2" charset="2"/>
              <a:buChar char="ü"/>
            </a:pP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实际输入不足，则补</a:t>
            </a:r>
            <a:r>
              <a:rPr lang="en-US" altLang="zh-CN"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b="1" kern="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；太多，则忽略。</a:t>
            </a: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入口参数</a:t>
            </a:r>
            <a:r>
              <a:rPr lang="en-US" altLang="zh-CN"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DS: DX=</a:t>
            </a: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缓冲区首址</a:t>
            </a:r>
          </a:p>
          <a:p>
            <a:pPr lvl="1" eaLnBrk="0" hangingPunct="0">
              <a:spcBef>
                <a:spcPct val="20000"/>
              </a:spcBef>
              <a:buClr>
                <a:srgbClr val="4C59D2"/>
              </a:buClr>
            </a:pP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[DS: DX]=</a:t>
            </a: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缓冲区最大字符个数</a:t>
            </a:r>
          </a:p>
          <a:p>
            <a:pPr marL="800100" lvl="1" indent="-342900" eaLnBrk="0" hangingPunct="0">
              <a:spcBef>
                <a:spcPct val="20000"/>
              </a:spcBef>
              <a:buClr>
                <a:srgbClr val="4C59D2"/>
              </a:buClr>
              <a:buFont typeface="Wingdings" panose="05000000000000000000" pitchFamily="2" charset="2"/>
              <a:buChar char="Ø"/>
            </a:pP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出口参数</a:t>
            </a:r>
            <a:r>
              <a:rPr lang="en-US" altLang="zh-CN"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[DS: DX+1</a:t>
            </a: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实际输入的字符个数</a:t>
            </a:r>
            <a:endParaRPr lang="en-US" altLang="zh-CN"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pPr lvl="1" eaLnBrk="0" hangingPunct="0">
              <a:spcBef>
                <a:spcPct val="20000"/>
              </a:spcBef>
              <a:buClr>
                <a:srgbClr val="4C59D2"/>
              </a:buClr>
            </a:pPr>
            <a:r>
              <a:rPr lang="en-US" altLang="zh-CN"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[DS: DX+2]</a:t>
            </a:r>
            <a:r>
              <a:rPr lang="zh-CN" altLang="en-US" b="1" kern="0"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单元开始存放实际输入的字符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randombar(horizontal)">
                                      <p:cBhvr>
                                        <p:cTn id="32" dur="500"/>
                                        <p:tgtEl>
                                          <p:spTgt spid="5">
                                            <p:txEl>
                                              <p:pRg st="6" end="6"/>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randombar(horizontal)">
                                      <p:cBhvr>
                                        <p:cTn id="35" dur="500"/>
                                        <p:tgtEl>
                                          <p:spTgt spid="5">
                                            <p:txEl>
                                              <p:pRg st="7" end="7"/>
                                            </p:txEl>
                                          </p:spTgt>
                                        </p:tgtEl>
                                      </p:cBhvr>
                                    </p:animEffect>
                                  </p:childTnLst>
                                </p:cTn>
                              </p:par>
                              <p:par>
                                <p:cTn id="36" presetID="14" presetClass="entr" presetSubtype="10" fill="hold" nodeType="withEffect">
                                  <p:stCondLst>
                                    <p:cond delay="0"/>
                                  </p:stCondLst>
                                  <p:childTnLst>
                                    <p:set>
                                      <p:cBhvr>
                                        <p:cTn id="37" dur="1" fill="hold">
                                          <p:stCondLst>
                                            <p:cond delay="0"/>
                                          </p:stCondLst>
                                        </p:cTn>
                                        <p:tgtEl>
                                          <p:spTgt spid="5">
                                            <p:txEl>
                                              <p:pRg st="8" end="8"/>
                                            </p:txEl>
                                          </p:spTgt>
                                        </p:tgtEl>
                                        <p:attrNameLst>
                                          <p:attrName>style.visibility</p:attrName>
                                        </p:attrNameLst>
                                      </p:cBhvr>
                                      <p:to>
                                        <p:strVal val="visible"/>
                                      </p:to>
                                    </p:set>
                                    <p:animEffect transition="in" filter="randombar(horizontal)">
                                      <p:cBhvr>
                                        <p:cTn id="38" dur="500"/>
                                        <p:tgtEl>
                                          <p:spTgt spid="5">
                                            <p:txEl>
                                              <p:pRg st="8" end="8"/>
                                            </p:txEl>
                                          </p:spTgt>
                                        </p:tgtEl>
                                      </p:cBhvr>
                                    </p:animEffect>
                                  </p:childTnLst>
                                </p:cTn>
                              </p:par>
                              <p:par>
                                <p:cTn id="39" presetID="14" presetClass="entr" presetSubtype="10" fill="hold" nodeType="withEffect">
                                  <p:stCondLst>
                                    <p:cond delay="0"/>
                                  </p:stCondLst>
                                  <p:childTnLst>
                                    <p:set>
                                      <p:cBhvr>
                                        <p:cTn id="40" dur="1" fill="hold">
                                          <p:stCondLst>
                                            <p:cond delay="0"/>
                                          </p:stCondLst>
                                        </p:cTn>
                                        <p:tgtEl>
                                          <p:spTgt spid="5">
                                            <p:txEl>
                                              <p:pRg st="9" end="9"/>
                                            </p:txEl>
                                          </p:spTgt>
                                        </p:tgtEl>
                                        <p:attrNameLst>
                                          <p:attrName>style.visibility</p:attrName>
                                        </p:attrNameLst>
                                      </p:cBhvr>
                                      <p:to>
                                        <p:strVal val="visible"/>
                                      </p:to>
                                    </p:set>
                                    <p:animEffect transition="in" filter="randombar(horizontal)">
                                      <p:cBhvr>
                                        <p:cTn id="41"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zh-CN" altLang="en-US" b="1" dirty="0">
                <a:latin typeface="Times New Roman" panose="02020603050405020304" pitchFamily="18" charset="0"/>
                <a:cs typeface="Times New Roman" panose="02020603050405020304" pitchFamily="18" charset="0"/>
              </a:rPr>
              <a:t>字符串输入</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续</a:t>
            </a:r>
            <a:r>
              <a:rPr lang="en-US" altLang="zh-CN" b="1" dirty="0">
                <a:latin typeface="Times New Roman" panose="02020603050405020304" pitchFamily="18" charset="0"/>
                <a:cs typeface="Times New Roman" panose="02020603050405020304" pitchFamily="18" charset="0"/>
              </a:rPr>
              <a:t>)</a:t>
            </a:r>
            <a:endParaRPr lang="zh-CN" altLang="en-US" dirty="0"/>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1688471" y="2218719"/>
            <a:ext cx="4572000" cy="4092575"/>
          </a:xfrm>
          <a:prstGeom prst="rect">
            <a:avLst/>
          </a:prstGeom>
        </p:spPr>
        <p:txBody>
          <a:bodyPr>
            <a:spAutoFit/>
          </a:bodyPr>
          <a:lstStyle/>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格式</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MOV	DX</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，缓冲区偏移量</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MOV	DS</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，缓冲区段基址</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0AH</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INT	21H</a:t>
            </a:r>
          </a:p>
          <a:p>
            <a:endPar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例如</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BUF	DB 30</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30 DUP(</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MOV	DX</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OFFSET BUF</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MOV	DS</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SEG  BUF</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0AH</a:t>
            </a:r>
          </a:p>
          <a:p>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INT       21H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randombar(horizontal)">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animEffect transition="in" filter="fade">
                                      <p:cBhvr>
                                        <p:cTn id="35" dur="500"/>
                                        <p:tgtEl>
                                          <p:spTgt spid="5">
                                            <p:txEl>
                                              <p:pRg st="8" end="8"/>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
                                            <p:txEl>
                                              <p:pRg st="9" end="9"/>
                                            </p:txEl>
                                          </p:spTgt>
                                        </p:tgtEl>
                                        <p:attrNameLst>
                                          <p:attrName>style.visibility</p:attrName>
                                        </p:attrNameLst>
                                      </p:cBhvr>
                                      <p:to>
                                        <p:strVal val="visible"/>
                                      </p:to>
                                    </p:set>
                                    <p:animEffect transition="in" filter="fade">
                                      <p:cBhvr>
                                        <p:cTn id="38" dur="500"/>
                                        <p:tgtEl>
                                          <p:spTgt spid="5">
                                            <p:txEl>
                                              <p:pRg st="9" end="9"/>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
                                            <p:txEl>
                                              <p:pRg st="10" end="10"/>
                                            </p:txEl>
                                          </p:spTgt>
                                        </p:tgtEl>
                                        <p:attrNameLst>
                                          <p:attrName>style.visibility</p:attrName>
                                        </p:attrNameLst>
                                      </p:cBhvr>
                                      <p:to>
                                        <p:strVal val="visible"/>
                                      </p:to>
                                    </p:set>
                                    <p:animEffect transition="in" filter="fade">
                                      <p:cBhvr>
                                        <p:cTn id="41" dur="500"/>
                                        <p:tgtEl>
                                          <p:spTgt spid="5">
                                            <p:txEl>
                                              <p:pRg st="10" end="10"/>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5">
                                            <p:txEl>
                                              <p:pRg st="11" end="11"/>
                                            </p:txEl>
                                          </p:spTgt>
                                        </p:tgtEl>
                                        <p:attrNameLst>
                                          <p:attrName>style.visibility</p:attrName>
                                        </p:attrNameLst>
                                      </p:cBhvr>
                                      <p:to>
                                        <p:strVal val="visible"/>
                                      </p:to>
                                    </p:set>
                                    <p:animEffect transition="in" filter="fade">
                                      <p:cBhvr>
                                        <p:cTn id="44" dur="500"/>
                                        <p:tgtEl>
                                          <p:spTgt spid="5">
                                            <p:txEl>
                                              <p:pRg st="11" end="11"/>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5">
                                            <p:txEl>
                                              <p:pRg st="12" end="12"/>
                                            </p:txEl>
                                          </p:spTgt>
                                        </p:tgtEl>
                                        <p:attrNameLst>
                                          <p:attrName>style.visibility</p:attrName>
                                        </p:attrNameLst>
                                      </p:cBhvr>
                                      <p:to>
                                        <p:strVal val="visible"/>
                                      </p:to>
                                    </p:set>
                                    <p:animEffect transition="in" filter="fade">
                                      <p:cBhvr>
                                        <p:cTn id="47"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6.</a:t>
            </a:r>
            <a:r>
              <a:rPr lang="zh-CN" altLang="en-US" b="1" dirty="0">
                <a:latin typeface="Times New Roman" panose="02020603050405020304" pitchFamily="18" charset="0"/>
                <a:cs typeface="Times New Roman" panose="02020603050405020304" pitchFamily="18" charset="0"/>
              </a:rPr>
              <a:t>  返回操作系统</a:t>
            </a:r>
            <a:r>
              <a:rPr lang="en-US" altLang="zh-CN" b="1" dirty="0">
                <a:latin typeface="Times New Roman" panose="02020603050405020304" pitchFamily="18" charset="0"/>
                <a:cs typeface="Times New Roman" panose="02020603050405020304" pitchFamily="18" charset="0"/>
              </a:rPr>
              <a:t>(4CH</a:t>
            </a:r>
            <a:r>
              <a:rPr lang="zh-CN" altLang="en-US" b="1" dirty="0">
                <a:latin typeface="Times New Roman" panose="02020603050405020304" pitchFamily="18" charset="0"/>
                <a:cs typeface="Times New Roman" panose="02020603050405020304" pitchFamily="18" charset="0"/>
              </a:rPr>
              <a:t>号功能</a:t>
            </a:r>
            <a:r>
              <a:rPr lang="en-US" altLang="zh-CN" b="1" dirty="0">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4.4</a:t>
            </a:r>
            <a:r>
              <a:rPr lang="zh-CN" altLang="zh-CN" dirty="0"/>
              <a:t>系统功能调用</a:t>
            </a:r>
            <a:endParaRPr lang="zh-CN" altLang="en-US" dirty="0"/>
          </a:p>
          <a:p>
            <a:endParaRPr lang="zh-CN" altLang="en-US" dirty="0"/>
          </a:p>
        </p:txBody>
      </p:sp>
      <p:sp>
        <p:nvSpPr>
          <p:cNvPr id="5" name="矩形 4"/>
          <p:cNvSpPr/>
          <p:nvPr/>
        </p:nvSpPr>
        <p:spPr>
          <a:xfrm>
            <a:off x="570384" y="2327940"/>
            <a:ext cx="8573616" cy="1508105"/>
          </a:xfrm>
          <a:prstGeom prst="rect">
            <a:avLst/>
          </a:prstGeom>
        </p:spPr>
        <p:txBody>
          <a:bodyPr wrap="square">
            <a:spAutoFit/>
          </a:bodyPr>
          <a:lstStyle/>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功能调用号</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AH=4CH</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a:t>
            </a:r>
          </a:p>
          <a:p>
            <a:pPr marL="342900" lvl="0" indent="-342900" eaLnBrk="0" hangingPunct="0">
              <a:spcBef>
                <a:spcPct val="20000"/>
              </a:spcBef>
              <a:buClr>
                <a:srgbClr val="4C59D2"/>
              </a:buClr>
              <a:buFont typeface="Wingdings" panose="05000000000000000000" pitchFamily="2" charset="2"/>
              <a:buChar char="v"/>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功能：使系统结束程序运行后返回</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DOS</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状态。。</a:t>
            </a:r>
          </a:p>
          <a:p>
            <a:pPr marL="800100" lvl="1" indent="-342900" eaLnBrk="0" hangingPunct="0">
              <a:spcBef>
                <a:spcPct val="20000"/>
              </a:spcBef>
              <a:buClr>
                <a:srgbClr val="4C59D2"/>
              </a:buClr>
              <a:buFont typeface="Wingdings" panose="05000000000000000000" pitchFamily="2" charset="2"/>
              <a:buChar char="Ø"/>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入口参数：</a:t>
            </a:r>
            <a:r>
              <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 AL=</a:t>
            </a: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返回码</a:t>
            </a:r>
            <a:endParaRPr lang="en-US" altLang="zh-CN"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endParaRPr>
          </a:p>
          <a:p>
            <a:pPr marL="800100" lvl="1" indent="-342900" eaLnBrk="0" hangingPunct="0">
              <a:spcBef>
                <a:spcPct val="20000"/>
              </a:spcBef>
              <a:buClr>
                <a:srgbClr val="4C59D2"/>
              </a:buClr>
              <a:buFont typeface="Wingdings" panose="05000000000000000000" pitchFamily="2" charset="2"/>
              <a:buChar char="Ø"/>
            </a:pPr>
            <a:r>
              <a:rPr lang="zh-CN" altLang="en-US" sz="2000" b="1" kern="0" dirty="0">
                <a:solidFill>
                  <a:srgbClr val="001933"/>
                </a:solidFill>
                <a:latin typeface="Times New Roman" panose="02020603050405020304" pitchFamily="18" charset="0"/>
                <a:ea typeface="微软雅黑" panose="020B0503020204020204" pitchFamily="34" charset="-122"/>
                <a:cs typeface="Times New Roman" panose="02020603050405020304" pitchFamily="18" charset="0"/>
              </a:rPr>
              <a:t>出口参数：无</a:t>
            </a:r>
          </a:p>
        </p:txBody>
      </p:sp>
      <p:sp>
        <p:nvSpPr>
          <p:cNvPr id="6" name="矩形 5"/>
          <p:cNvSpPr/>
          <p:nvPr/>
        </p:nvSpPr>
        <p:spPr>
          <a:xfrm>
            <a:off x="1881409" y="4033848"/>
            <a:ext cx="4572000" cy="923330"/>
          </a:xfrm>
          <a:prstGeom prst="rect">
            <a:avLst/>
          </a:prstGeom>
        </p:spPr>
        <p:txBody>
          <a:bodyPr>
            <a:spAutoFit/>
          </a:bodyPr>
          <a:lstStyle/>
          <a:p>
            <a:r>
              <a:rPr lang="zh-CN" altLang="sv-SE" b="1" dirty="0">
                <a:latin typeface="Times New Roman" panose="02020603050405020304" pitchFamily="18" charset="0"/>
                <a:ea typeface="微软雅黑" panose="020B0503020204020204" pitchFamily="34" charset="-122"/>
                <a:cs typeface="Times New Roman" panose="02020603050405020304" pitchFamily="18" charset="0"/>
              </a:rPr>
              <a:t>格式</a:t>
            </a:r>
            <a:r>
              <a:rPr lang="sv-SE"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sv-SE" altLang="zh-CN" b="1" dirty="0">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sv-SE" b="1" dirty="0">
                <a:latin typeface="Times New Roman" panose="02020603050405020304" pitchFamily="18" charset="0"/>
                <a:ea typeface="微软雅黑" panose="020B0503020204020204" pitchFamily="34" charset="-122"/>
                <a:cs typeface="Times New Roman" panose="02020603050405020304" pitchFamily="18" charset="0"/>
              </a:rPr>
              <a:t>，</a:t>
            </a:r>
            <a:r>
              <a:rPr lang="sv-SE" altLang="zh-CN" b="1" dirty="0">
                <a:latin typeface="Times New Roman" panose="02020603050405020304" pitchFamily="18" charset="0"/>
                <a:ea typeface="微软雅黑" panose="020B0503020204020204" pitchFamily="34" charset="-122"/>
                <a:cs typeface="Times New Roman" panose="02020603050405020304" pitchFamily="18" charset="0"/>
              </a:rPr>
              <a:t>4CH</a:t>
            </a:r>
          </a:p>
          <a:p>
            <a:r>
              <a:rPr lang="sv-SE" altLang="zh-CN" b="1" dirty="0">
                <a:latin typeface="Times New Roman" panose="02020603050405020304" pitchFamily="18" charset="0"/>
                <a:ea typeface="微软雅黑" panose="020B0503020204020204" pitchFamily="34" charset="-122"/>
                <a:cs typeface="Times New Roman" panose="02020603050405020304" pitchFamily="18" charset="0"/>
              </a:rPr>
              <a:t>INT	  21H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randombar(horizontal)">
                                      <p:cBhvr>
                                        <p:cTn id="12" dur="500"/>
                                        <p:tgtEl>
                                          <p:spTgt spid="5">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randombar(horizontal)">
                                      <p:cBhvr>
                                        <p:cTn id="15" dur="500"/>
                                        <p:tgtEl>
                                          <p:spTgt spid="5">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randombar(horizontal)">
                                      <p:cBhvr>
                                        <p:cTn id="18" dur="500"/>
                                        <p:tgtEl>
                                          <p:spTgt spid="5">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randombar(horizontal)">
                                      <p:cBhvr>
                                        <p:cTn id="21" dur="500"/>
                                        <p:tgtEl>
                                          <p:spTgt spid="5">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4.6</a:t>
            </a:r>
            <a:r>
              <a:rPr lang="zh-CN" altLang="en-US" dirty="0"/>
              <a:t>宏指令</a:t>
            </a:r>
          </a:p>
        </p:txBody>
      </p:sp>
      <p:sp>
        <p:nvSpPr>
          <p:cNvPr id="8" name="Rectangle 5"/>
          <p:cNvSpPr txBox="1">
            <a:spLocks noChangeArrowheads="1"/>
          </p:cNvSpPr>
          <p:nvPr/>
        </p:nvSpPr>
        <p:spPr bwMode="auto">
          <a:xfrm>
            <a:off x="349900" y="1948336"/>
            <a:ext cx="8444200" cy="2961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533400" indent="-533400" algn="l" rtl="0" fontAlgn="base">
              <a:spcBef>
                <a:spcPct val="30000"/>
              </a:spcBef>
              <a:spcAft>
                <a:spcPct val="0"/>
              </a:spcAft>
              <a:buClr>
                <a:srgbClr val="FFFF00"/>
              </a:buClr>
              <a:buFont typeface="Wingdings" panose="05000000000000000000" pitchFamily="2" charset="2"/>
              <a:buChar char="u"/>
              <a:defRPr sz="3200" b="1" kern="1200">
                <a:solidFill>
                  <a:srgbClr val="FFFF00"/>
                </a:solidFill>
                <a:effectLst>
                  <a:outerShdw blurRad="38100" dist="38100" dir="2700000" algn="tl">
                    <a:srgbClr val="000000"/>
                  </a:outerShdw>
                </a:effectLst>
                <a:latin typeface="+mn-lt"/>
                <a:ea typeface="+mn-ea"/>
                <a:cs typeface="+mn-cs"/>
              </a:defRPr>
            </a:lvl1pPr>
            <a:lvl2pPr marL="914400" indent="-457200" algn="l" rtl="0" fontAlgn="base">
              <a:spcBef>
                <a:spcPct val="30000"/>
              </a:spcBef>
              <a:spcAft>
                <a:spcPct val="0"/>
              </a:spcAft>
              <a:buClr>
                <a:srgbClr val="FFFF00"/>
              </a:buClr>
              <a:buFont typeface="Wingdings" panose="05000000000000000000" pitchFamily="2" charset="2"/>
              <a:buChar char="Ø"/>
              <a:defRPr sz="2800" b="1" kern="1200">
                <a:solidFill>
                  <a:srgbClr val="FFFF00"/>
                </a:solidFill>
                <a:effectLst>
                  <a:outerShdw blurRad="38100" dist="38100" dir="2700000" algn="tl">
                    <a:srgbClr val="000000"/>
                  </a:outerShdw>
                </a:effectLst>
                <a:latin typeface="+mn-lt"/>
                <a:ea typeface="+mn-ea"/>
                <a:cs typeface="+mn-cs"/>
              </a:defRPr>
            </a:lvl2pPr>
            <a:lvl3pPr marL="1371600" indent="-457200" algn="l" rtl="0" fontAlgn="base">
              <a:spcBef>
                <a:spcPct val="30000"/>
              </a:spcBef>
              <a:spcAft>
                <a:spcPct val="0"/>
              </a:spcAft>
              <a:buClr>
                <a:srgbClr val="FFFF00"/>
              </a:buClr>
              <a:buFont typeface="Wingdings" panose="05000000000000000000" pitchFamily="2" charset="2"/>
              <a:buChar char="ü"/>
              <a:defRPr sz="2800" b="1" kern="1200">
                <a:solidFill>
                  <a:srgbClr val="FFFF00"/>
                </a:solidFill>
                <a:effectLst>
                  <a:outerShdw blurRad="38100" dist="38100" dir="2700000" algn="tl">
                    <a:srgbClr val="000000"/>
                  </a:outerShdw>
                </a:effectLst>
                <a:latin typeface="+mn-lt"/>
                <a:ea typeface="+mn-ea"/>
                <a:cs typeface="+mn-cs"/>
              </a:defRPr>
            </a:lvl3pPr>
            <a:lvl4pPr marL="1752600" indent="-381000" algn="l" rtl="0" fontAlgn="base">
              <a:spcBef>
                <a:spcPct val="30000"/>
              </a:spcBef>
              <a:spcAft>
                <a:spcPct val="0"/>
              </a:spcAft>
              <a:buClr>
                <a:srgbClr val="FFFF00"/>
              </a:buClr>
              <a:buFont typeface="Wingdings" panose="05000000000000000000" pitchFamily="2" charset="2"/>
              <a:buChar char="n"/>
              <a:defRPr sz="2400" b="1" kern="1200">
                <a:solidFill>
                  <a:srgbClr val="FFFF00"/>
                </a:solidFill>
                <a:effectLst>
                  <a:outerShdw blurRad="38100" dist="38100" dir="2700000" algn="tl">
                    <a:srgbClr val="000000"/>
                  </a:outerShdw>
                </a:effectLst>
                <a:latin typeface="+mn-lt"/>
                <a:ea typeface="+mn-ea"/>
                <a:cs typeface="+mn-cs"/>
              </a:defRPr>
            </a:lvl4pPr>
            <a:lvl5pPr marL="2209800" indent="-381000" algn="l" rtl="0" fontAlgn="base">
              <a:spcBef>
                <a:spcPct val="30000"/>
              </a:spcBef>
              <a:spcAft>
                <a:spcPct val="0"/>
              </a:spcAft>
              <a:buClr>
                <a:srgbClr val="B4B9BE"/>
              </a:buClr>
              <a:buFont typeface="Wingdings" panose="05000000000000000000" pitchFamily="2" charset="2"/>
              <a:buChar char="l"/>
              <a:defRPr sz="2400" b="1" kern="1200">
                <a:solidFill>
                  <a:srgbClr val="FFFF00"/>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marR="0" lvl="0" indent="-533400" algn="l" defTabSz="914400" rtl="0" eaLnBrk="1" fontAlgn="base" latinLnBrk="0" hangingPunct="1">
              <a:lnSpc>
                <a:spcPct val="100000"/>
              </a:lnSpc>
              <a:spcBef>
                <a:spcPct val="30000"/>
              </a:spcBef>
              <a:spcAft>
                <a:spcPct val="0"/>
              </a:spcAft>
              <a:buClr>
                <a:srgbClr val="FFFF00"/>
              </a:buClr>
              <a:buSzTx/>
              <a:buFont typeface="Wingdings" panose="05000000000000000000" pitchFamily="2" charset="2"/>
              <a:buChar char="u"/>
              <a:defRPr/>
            </a:pPr>
            <a:r>
              <a:rPr kumimoji="0" lang="zh-CN" altLang="en-US" sz="2400" b="1" i="0" u="none" strike="noStrike" kern="1200" cap="none" spc="0" normalizeH="0" baseline="0" noProof="0" dirty="0">
                <a:ln>
                  <a:noFill/>
                </a:ln>
                <a:solidFill>
                  <a:srgbClr val="002060"/>
                </a:solidFill>
                <a:effectLst/>
                <a:uLnTx/>
                <a:uFillTx/>
                <a:latin typeface="Times New Roman" panose="02020603050405020304"/>
                <a:ea typeface="楷体_GB2312"/>
                <a:cs typeface="+mn-cs"/>
              </a:rPr>
              <a:t>为减少重复编写相同语句段的工作，我们可以使用</a:t>
            </a:r>
            <a:r>
              <a:rPr kumimoji="0"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a:ea typeface="楷体_GB2312"/>
                <a:cs typeface="+mn-cs"/>
              </a:rPr>
              <a:t>“</a:t>
            </a:r>
            <a:r>
              <a:rPr kumimoji="0" lang="zh-CN" altLang="en-US" sz="2400" b="1" i="0" u="none" strike="noStrike" kern="1200" cap="none" spc="0" normalizeH="0" baseline="0" noProof="0" dirty="0">
                <a:ln>
                  <a:noFill/>
                </a:ln>
                <a:solidFill>
                  <a:srgbClr val="FFFF99"/>
                </a:solidFill>
                <a:effectLst>
                  <a:outerShdw blurRad="38100" dist="38100" dir="2700000" algn="tl">
                    <a:srgbClr val="000000"/>
                  </a:outerShdw>
                </a:effectLst>
                <a:uLnTx/>
                <a:uFillTx/>
                <a:latin typeface="Times New Roman" panose="02020603050405020304"/>
                <a:ea typeface="楷体_GB2312"/>
                <a:cs typeface="+mn-cs"/>
              </a:rPr>
              <a:t>宏</a:t>
            </a:r>
            <a:r>
              <a:rPr kumimoji="0" lang="zh-CN" altLang="en-US" sz="2400" b="1" i="0" u="none" strike="noStrike" kern="1200" cap="none" spc="0" normalizeH="0" baseline="0" noProof="0" dirty="0">
                <a:ln>
                  <a:noFill/>
                </a:ln>
                <a:solidFill>
                  <a:srgbClr val="FFFFFF"/>
                </a:solidFill>
                <a:effectLst>
                  <a:outerShdw blurRad="38100" dist="38100" dir="2700000" algn="tl">
                    <a:srgbClr val="000000"/>
                  </a:outerShdw>
                </a:effectLst>
                <a:uLnTx/>
                <a:uFillTx/>
                <a:latin typeface="Times New Roman" panose="02020603050405020304"/>
                <a:ea typeface="楷体_GB2312"/>
                <a:cs typeface="+mn-cs"/>
              </a:rPr>
              <a:t>”</a:t>
            </a:r>
            <a:r>
              <a:rPr kumimoji="0" lang="zh-CN" altLang="en-US" sz="2400" b="1" i="0" u="none" strike="noStrike" kern="1200" cap="none" spc="0" normalizeH="0" baseline="0" noProof="0" dirty="0">
                <a:ln>
                  <a:noFill/>
                </a:ln>
                <a:solidFill>
                  <a:srgbClr val="002060"/>
                </a:solidFill>
                <a:effectLst/>
                <a:uLnTx/>
                <a:uFillTx/>
                <a:latin typeface="Times New Roman" panose="02020603050405020304"/>
                <a:ea typeface="楷体_GB2312"/>
                <a:cs typeface="+mn-cs"/>
              </a:rPr>
              <a:t>功能</a:t>
            </a:r>
            <a:endParaRPr kumimoji="0" lang="en-US" altLang="zh-CN" sz="2400" b="1" i="0" u="none" strike="noStrike" kern="1200" cap="none" spc="0" normalizeH="0" baseline="0" noProof="0" dirty="0">
              <a:ln>
                <a:noFill/>
              </a:ln>
              <a:solidFill>
                <a:srgbClr val="002060"/>
              </a:solidFill>
              <a:effectLst/>
              <a:uLnTx/>
              <a:uFillTx/>
              <a:latin typeface="Times New Roman" panose="02020603050405020304"/>
              <a:ea typeface="楷体_GB2312"/>
              <a:cs typeface="+mn-cs"/>
            </a:endParaRPr>
          </a:p>
          <a:p>
            <a:pPr marL="533400" marR="0" lvl="0" indent="-533400" algn="l" defTabSz="914400" rtl="0" eaLnBrk="1" fontAlgn="base" latinLnBrk="0" hangingPunct="1">
              <a:lnSpc>
                <a:spcPct val="100000"/>
              </a:lnSpc>
              <a:spcBef>
                <a:spcPct val="30000"/>
              </a:spcBef>
              <a:spcAft>
                <a:spcPct val="0"/>
              </a:spcAft>
              <a:buClr>
                <a:srgbClr val="FFFF00"/>
              </a:buClr>
              <a:buSzTx/>
              <a:buFont typeface="Wingdings" panose="05000000000000000000" pitchFamily="2" charset="2"/>
              <a:buChar char="u"/>
              <a:defRPr/>
            </a:pPr>
            <a:endParaRPr kumimoji="0" lang="zh-CN" altLang="en-US" sz="2400" b="1" i="0" u="none" strike="noStrike" kern="1200" cap="none" spc="0" normalizeH="0" baseline="0" noProof="0" dirty="0">
              <a:ln>
                <a:noFill/>
              </a:ln>
              <a:solidFill>
                <a:srgbClr val="002060"/>
              </a:solidFill>
              <a:effectLst/>
              <a:uLnTx/>
              <a:uFillTx/>
              <a:latin typeface="Times New Roman" panose="02020603050405020304"/>
              <a:ea typeface="楷体_GB2312"/>
              <a:cs typeface="+mn-cs"/>
            </a:endParaRPr>
          </a:p>
          <a:p>
            <a:pPr marL="533400" marR="0" lvl="0" indent="-533400" algn="l" defTabSz="914400" rtl="0" eaLnBrk="1" fontAlgn="base" latinLnBrk="0" hangingPunct="1">
              <a:lnSpc>
                <a:spcPct val="100000"/>
              </a:lnSpc>
              <a:spcBef>
                <a:spcPct val="30000"/>
              </a:spcBef>
              <a:spcAft>
                <a:spcPct val="0"/>
              </a:spcAft>
              <a:buClr>
                <a:srgbClr val="FFFF00"/>
              </a:buClr>
              <a:buSzTx/>
              <a:buFont typeface="Wingdings" panose="05000000000000000000" pitchFamily="2" charset="2"/>
              <a:buChar char="u"/>
              <a:defRPr/>
            </a:pPr>
            <a:r>
              <a:rPr kumimoji="0" lang="zh-CN" altLang="en-US" sz="2400" b="1" i="0" u="none" strike="noStrike" kern="1200" cap="none" spc="0" normalizeH="0" baseline="0" noProof="0" dirty="0">
                <a:ln>
                  <a:noFill/>
                </a:ln>
                <a:solidFill>
                  <a:srgbClr val="002060"/>
                </a:solidFill>
                <a:effectLst/>
                <a:uLnTx/>
                <a:uFillTx/>
                <a:latin typeface="Times New Roman" panose="02020603050405020304"/>
                <a:ea typeface="楷体_GB2312"/>
                <a:cs typeface="+mn-cs"/>
              </a:rPr>
              <a:t>宏定义是指</a:t>
            </a:r>
            <a:r>
              <a:rPr kumimoji="0" lang="zh-CN" altLang="en-US" sz="2400" b="1" i="0" u="none" strike="noStrike" kern="1200" cap="none" spc="0" normalizeH="0" baseline="0" noProof="0" dirty="0">
                <a:ln>
                  <a:noFill/>
                </a:ln>
                <a:solidFill>
                  <a:schemeClr val="accent4">
                    <a:lumMod val="50000"/>
                  </a:schemeClr>
                </a:solidFill>
                <a:effectLst/>
                <a:uLnTx/>
                <a:uFillTx/>
                <a:latin typeface="Times New Roman" panose="02020603050405020304"/>
                <a:ea typeface="楷体_GB2312"/>
                <a:cs typeface="+mn-cs"/>
              </a:rPr>
              <a:t>用一个标识符</a:t>
            </a:r>
            <a:r>
              <a:rPr kumimoji="0" lang="zh-CN" altLang="en-US" sz="2400" b="1" i="0" u="none" strike="noStrike" kern="1200" cap="none" spc="0" normalizeH="0" baseline="0" noProof="0" dirty="0">
                <a:ln>
                  <a:noFill/>
                </a:ln>
                <a:solidFill>
                  <a:srgbClr val="CC6600"/>
                </a:solidFill>
                <a:effectLst/>
                <a:uLnTx/>
                <a:uFillTx/>
                <a:latin typeface="Times New Roman" panose="02020603050405020304"/>
                <a:ea typeface="楷体_GB2312"/>
                <a:cs typeface="+mn-cs"/>
              </a:rPr>
              <a:t>（宏名）来</a:t>
            </a:r>
            <a:r>
              <a:rPr kumimoji="0" lang="zh-CN" altLang="en-US" sz="2400" b="1" i="0" u="none" strike="noStrike" kern="1200" cap="none" spc="0" normalizeH="0" baseline="0" noProof="0" dirty="0">
                <a:ln>
                  <a:noFill/>
                </a:ln>
                <a:solidFill>
                  <a:schemeClr val="accent3">
                    <a:lumMod val="50000"/>
                  </a:schemeClr>
                </a:solidFill>
                <a:effectLst/>
                <a:uLnTx/>
                <a:uFillTx/>
                <a:latin typeface="Times New Roman" panose="02020603050405020304"/>
                <a:ea typeface="楷体_GB2312"/>
                <a:cs typeface="+mn-cs"/>
              </a:rPr>
              <a:t>代替一组指令序列</a:t>
            </a:r>
            <a:r>
              <a:rPr kumimoji="0" lang="zh-CN" altLang="en-US" sz="2400" b="1" i="0" u="none" strike="noStrike" kern="1200" cap="none" spc="0" normalizeH="0" baseline="0" noProof="0" dirty="0">
                <a:ln>
                  <a:noFill/>
                </a:ln>
                <a:solidFill>
                  <a:srgbClr val="FFFFFF"/>
                </a:solidFill>
                <a:effectLst/>
                <a:uLnTx/>
                <a:uFillTx/>
                <a:latin typeface="Times New Roman" panose="02020603050405020304"/>
                <a:ea typeface="楷体_GB2312"/>
                <a:cs typeface="+mn-cs"/>
              </a:rPr>
              <a:t>（可同时包含指令性语句和指示性语句）</a:t>
            </a:r>
          </a:p>
          <a:p>
            <a:pPr marL="533400" marR="0" lvl="0" indent="-533400" algn="l" defTabSz="914400" rtl="0" eaLnBrk="1" fontAlgn="base" latinLnBrk="0" hangingPunct="1">
              <a:lnSpc>
                <a:spcPct val="100000"/>
              </a:lnSpc>
              <a:spcBef>
                <a:spcPct val="30000"/>
              </a:spcBef>
              <a:spcAft>
                <a:spcPct val="0"/>
              </a:spcAft>
              <a:buClr>
                <a:srgbClr val="FFFF00"/>
              </a:buClr>
              <a:buSzTx/>
              <a:buFont typeface="Wingdings" panose="05000000000000000000" pitchFamily="2" charset="2"/>
              <a:buChar char="u"/>
              <a:defRPr/>
            </a:pPr>
            <a:r>
              <a:rPr kumimoji="0" lang="zh-CN" altLang="en-US" sz="2400" b="1" i="0" u="none" strike="noStrike" kern="1200" cap="none" spc="0" normalizeH="0" baseline="0" noProof="0" dirty="0">
                <a:ln>
                  <a:noFill/>
                </a:ln>
                <a:solidFill>
                  <a:srgbClr val="002060"/>
                </a:solidFill>
                <a:effectLst/>
                <a:uLnTx/>
                <a:uFillTx/>
                <a:latin typeface="Times New Roman" panose="02020603050405020304"/>
                <a:ea typeface="楷体_GB2312"/>
                <a:cs typeface="+mn-cs"/>
              </a:rPr>
              <a:t>宏功能的使用过程是</a:t>
            </a:r>
            <a:r>
              <a:rPr kumimoji="0" lang="zh-CN" altLang="en-US" sz="2400" b="1" i="0" u="none" strike="noStrike" kern="1200" cap="none" spc="0" normalizeH="0" baseline="0" noProof="0" dirty="0">
                <a:ln>
                  <a:noFill/>
                </a:ln>
                <a:solidFill>
                  <a:srgbClr val="740000"/>
                </a:solidFill>
                <a:effectLst/>
                <a:uLnTx/>
                <a:uFillTx/>
                <a:latin typeface="Times New Roman" panose="02020603050405020304"/>
                <a:ea typeface="楷体_GB2312"/>
                <a:cs typeface="+mn-cs"/>
              </a:rPr>
              <a:t>：宏定义、宏调用、宏展开。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8">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8">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3826768" cy="563563"/>
          </a:xfrm>
        </p:spPr>
        <p:txBody>
          <a:bodyPr/>
          <a:lstStyle/>
          <a:p>
            <a:r>
              <a:rPr lang="en-US" altLang="zh-CN" b="1" dirty="0">
                <a:latin typeface="Times New Roman" panose="02020603050405020304" pitchFamily="18" charset="0"/>
                <a:cs typeface="Times New Roman" panose="02020603050405020304" pitchFamily="18" charset="0"/>
              </a:rPr>
              <a:t>1. </a:t>
            </a:r>
            <a:r>
              <a:rPr lang="zh-CN" altLang="en-US" b="1" dirty="0">
                <a:latin typeface="Times New Roman" panose="02020603050405020304" pitchFamily="18" charset="0"/>
                <a:cs typeface="Times New Roman" panose="02020603050405020304" pitchFamily="18" charset="0"/>
              </a:rPr>
              <a:t>宏定义</a:t>
            </a:r>
          </a:p>
        </p:txBody>
      </p:sp>
      <p:sp>
        <p:nvSpPr>
          <p:cNvPr id="3" name="文本占位符 2"/>
          <p:cNvSpPr>
            <a:spLocks noGrp="1"/>
          </p:cNvSpPr>
          <p:nvPr>
            <p:ph type="body" sz="quarter" idx="10"/>
          </p:nvPr>
        </p:nvSpPr>
        <p:spPr/>
        <p:txBody>
          <a:bodyPr/>
          <a:lstStyle/>
          <a:p>
            <a:r>
              <a:rPr lang="en-US" altLang="zh-CN" dirty="0"/>
              <a:t>4.6</a:t>
            </a:r>
            <a:r>
              <a:rPr lang="zh-CN" altLang="en-US" dirty="0"/>
              <a:t>宏指令</a:t>
            </a:r>
          </a:p>
          <a:p>
            <a:endParaRPr lang="zh-CN" altLang="en-US" dirty="0"/>
          </a:p>
        </p:txBody>
      </p:sp>
      <p:sp>
        <p:nvSpPr>
          <p:cNvPr id="5" name="灯片编号占位符 3"/>
          <p:cNvSpPr txBox="1"/>
          <p:nvPr/>
        </p:nvSpPr>
        <p:spPr bwMode="auto">
          <a:xfrm>
            <a:off x="7084368" y="8467119"/>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defPPr>
              <a:defRPr lang="en-US"/>
            </a:defPPr>
            <a:lvl1pPr algn="r" rtl="0" fontAlgn="base">
              <a:spcBef>
                <a:spcPct val="0"/>
              </a:spcBef>
              <a:spcAft>
                <a:spcPct val="0"/>
              </a:spcAft>
              <a:buFont typeface="Arial" panose="020B0604020202020204" pitchFamily="34" charset="0"/>
              <a:defRPr sz="1400" b="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sz="3200" b="1" kern="1200">
                <a:solidFill>
                  <a:schemeClr val="accent2"/>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sz="3200" b="1" kern="1200">
                <a:solidFill>
                  <a:schemeClr val="accent2"/>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sz="3200" b="1" kern="1200">
                <a:solidFill>
                  <a:schemeClr val="accent2"/>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sz="3200" b="1" kern="1200">
                <a:solidFill>
                  <a:schemeClr val="accent2"/>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3200" b="1" kern="1200">
                <a:solidFill>
                  <a:schemeClr val="accent2"/>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3200" b="1" kern="1200">
                <a:solidFill>
                  <a:schemeClr val="accent2"/>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3200" b="1" kern="1200">
                <a:solidFill>
                  <a:schemeClr val="accent2"/>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3200" b="1" kern="1200">
                <a:solidFill>
                  <a:schemeClr val="accent2"/>
                </a:solidFill>
                <a:latin typeface="Times New Roman" panose="02020603050405020304" pitchFamily="18" charset="0"/>
                <a:ea typeface="宋体" panose="02010600030101010101" pitchFamily="2" charset="-122"/>
                <a:cs typeface="+mn-cs"/>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DA072F-20E4-4CA7-8E7B-1DFC08941CE9}" type="slidenum">
              <a:rPr kumimoji="0" lang="zh-CN" altLang="en-US" sz="1600" b="0" i="0" u="none" strike="noStrike" kern="1200" cap="none" spc="0" normalizeH="0" baseline="0" noProof="0" smtClean="0">
                <a:ln>
                  <a:noFill/>
                </a:ln>
                <a:solidFill>
                  <a:srgbClr val="000000"/>
                </a:solidFill>
                <a:effectLst/>
                <a:uLnTx/>
                <a:uFillTx/>
                <a:ea typeface="微软雅黑" panose="020B0503020204020204" pitchFamily="34" charset="-122"/>
                <a:cs typeface="Times New Roman" panose="02020603050405020304" pitchFamily="18" charset="0"/>
              </a:rPr>
              <a:t>53</a:t>
            </a:fld>
            <a:endParaRPr kumimoji="0" lang="en-US" altLang="zh-CN" sz="1600" b="0" i="0" u="none" strike="noStrike" kern="1200" cap="none" spc="0" normalizeH="0" baseline="0" noProof="0">
              <a:ln>
                <a:noFill/>
              </a:ln>
              <a:solidFill>
                <a:srgbClr val="000000"/>
              </a:solidFill>
              <a:effectLst/>
              <a:uLnTx/>
              <a:uFillTx/>
              <a:ea typeface="微软雅黑" panose="020B0503020204020204" pitchFamily="34" charset="-122"/>
              <a:cs typeface="Times New Roman" panose="02020603050405020304" pitchFamily="18" charset="0"/>
            </a:endParaRPr>
          </a:p>
        </p:txBody>
      </p:sp>
      <p:sp>
        <p:nvSpPr>
          <p:cNvPr id="6" name="Text Box 2"/>
          <p:cNvSpPr txBox="1">
            <a:spLocks noChangeArrowheads="1"/>
          </p:cNvSpPr>
          <p:nvPr/>
        </p:nvSpPr>
        <p:spPr bwMode="auto">
          <a:xfrm>
            <a:off x="683568" y="2218719"/>
            <a:ext cx="4000500" cy="3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buFont typeface="Arial" panose="020B0604020202020204" pitchFamily="34" charset="0"/>
              <a:buNone/>
            </a:pP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宏指令定义格式：</a:t>
            </a:r>
          </a:p>
        </p:txBody>
      </p:sp>
      <p:sp>
        <p:nvSpPr>
          <p:cNvPr id="7" name="Text Box 3"/>
          <p:cNvSpPr txBox="1">
            <a:spLocks noChangeArrowheads="1"/>
          </p:cNvSpPr>
          <p:nvPr/>
        </p:nvSpPr>
        <p:spPr bwMode="auto">
          <a:xfrm>
            <a:off x="1114507" y="2703940"/>
            <a:ext cx="3569561" cy="1200329"/>
          </a:xfrm>
          <a:prstGeom prst="rect">
            <a:avLst/>
          </a:prstGeom>
          <a:solidFill>
            <a:srgbClr val="FFFF99"/>
          </a:solidFill>
          <a:ln>
            <a:noFill/>
          </a:ln>
          <a:effectLst/>
        </p:spPr>
        <p:txBody>
          <a:bodyPr wrap="square">
            <a:spAutoFit/>
          </a:bodyPr>
          <a:lstStyle/>
          <a:p>
            <a:pPr>
              <a:spcBef>
                <a:spcPct val="50000"/>
              </a:spcBef>
              <a:buFont typeface="Arial" panose="020B0604020202020204" pitchFamily="34" charset="0"/>
              <a:buNone/>
            </a:pP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宏指令名  </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MACRO</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&lt;</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形参列表&gt;</a:t>
            </a:r>
          </a:p>
          <a:p>
            <a:pPr>
              <a:spcBef>
                <a:spcPct val="50000"/>
              </a:spcBef>
              <a:buFont typeface="Arial" panose="020B0604020202020204" pitchFamily="34" charset="0"/>
              <a:buNone/>
            </a:pP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汇编程序段(宏体)</a:t>
            </a:r>
          </a:p>
          <a:p>
            <a:pPr>
              <a:spcBef>
                <a:spcPct val="50000"/>
              </a:spcBef>
              <a:buFont typeface="Arial" panose="020B0604020202020204" pitchFamily="34" charset="0"/>
              <a:buNone/>
            </a:pP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ENDM</a:t>
            </a:r>
          </a:p>
        </p:txBody>
      </p:sp>
      <p:sp>
        <p:nvSpPr>
          <p:cNvPr id="8" name="Text Box 4"/>
          <p:cNvSpPr txBox="1">
            <a:spLocks noChangeArrowheads="1"/>
          </p:cNvSpPr>
          <p:nvPr/>
        </p:nvSpPr>
        <p:spPr bwMode="auto">
          <a:xfrm>
            <a:off x="683568" y="3832610"/>
            <a:ext cx="7010400" cy="3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buFont typeface="Arial" panose="020B0604020202020204" pitchFamily="34" charset="0"/>
              <a:buNone/>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MACRO </a:t>
            </a: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ENDM</a:t>
            </a: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必须成对出现，先定义后引用</a:t>
            </a:r>
          </a:p>
        </p:txBody>
      </p:sp>
      <p:sp>
        <p:nvSpPr>
          <p:cNvPr id="9" name="Text Box 5"/>
          <p:cNvSpPr txBox="1">
            <a:spLocks noChangeArrowheads="1"/>
          </p:cNvSpPr>
          <p:nvPr/>
        </p:nvSpPr>
        <p:spPr bwMode="auto">
          <a:xfrm>
            <a:off x="950268" y="4750028"/>
            <a:ext cx="5181600" cy="139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Font typeface="Arial" panose="020B0604020202020204" pitchFamily="34" charset="0"/>
              <a:buNone/>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SHIFT  MACRO</a:t>
            </a:r>
          </a:p>
          <a:p>
            <a:pPr>
              <a:lnSpc>
                <a:spcPct val="120000"/>
              </a:lnSpc>
              <a:buFont typeface="Arial" panose="020B0604020202020204" pitchFamily="34" charset="0"/>
              <a:buNone/>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MOV  CL,  4</a:t>
            </a:r>
          </a:p>
          <a:p>
            <a:pPr>
              <a:lnSpc>
                <a:spcPct val="120000"/>
              </a:lnSpc>
              <a:buFont typeface="Arial" panose="020B0604020202020204" pitchFamily="34" charset="0"/>
              <a:buNone/>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SAL  AL, CL</a:t>
            </a:r>
          </a:p>
          <a:p>
            <a:pPr>
              <a:lnSpc>
                <a:spcPct val="120000"/>
              </a:lnSpc>
              <a:buFont typeface="Arial" panose="020B0604020202020204" pitchFamily="34" charset="0"/>
              <a:buNone/>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ENDM</a:t>
            </a:r>
          </a:p>
        </p:txBody>
      </p:sp>
      <p:sp>
        <p:nvSpPr>
          <p:cNvPr id="10" name="AutoShape 6"/>
          <p:cNvSpPr>
            <a:spLocks noChangeArrowheads="1"/>
          </p:cNvSpPr>
          <p:nvPr/>
        </p:nvSpPr>
        <p:spPr bwMode="auto">
          <a:xfrm>
            <a:off x="721668" y="4426918"/>
            <a:ext cx="1066800" cy="336404"/>
          </a:xfrm>
          <a:prstGeom prst="wedgeRoundRectCallout">
            <a:avLst>
              <a:gd name="adj1" fmla="val 9972"/>
              <a:gd name="adj2" fmla="val 78366"/>
              <a:gd name="adj3" fmla="val 16667"/>
            </a:avLst>
          </a:pr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lnSpc>
                <a:spcPct val="120000"/>
              </a:lnSpc>
              <a:spcBef>
                <a:spcPct val="50000"/>
              </a:spcBef>
              <a:buFont typeface="Arial" panose="020B0604020202020204" pitchFamily="34" charset="0"/>
              <a:buNone/>
            </a:pPr>
            <a:r>
              <a:rPr lang="zh-CN" altLang="en-US"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宏名</a:t>
            </a:r>
          </a:p>
        </p:txBody>
      </p:sp>
      <p:sp>
        <p:nvSpPr>
          <p:cNvPr id="11" name="AutoShape 7"/>
          <p:cNvSpPr/>
          <p:nvPr/>
        </p:nvSpPr>
        <p:spPr bwMode="auto">
          <a:xfrm>
            <a:off x="2757038" y="5229200"/>
            <a:ext cx="518818" cy="430054"/>
          </a:xfrm>
          <a:prstGeom prst="rightBrace">
            <a:avLst>
              <a:gd name="adj1" fmla="val 41667"/>
              <a:gd name="adj2" fmla="val 50000"/>
            </a:avLst>
          </a:prstGeom>
          <a:noFill/>
          <a:ln w="28575">
            <a:solidFill>
              <a:srgbClr val="0000CC"/>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buFont typeface="Arial" panose="020B0604020202020204" pitchFamily="34" charset="0"/>
              <a:buNone/>
            </a:pPr>
            <a:endParaRPr lang="zh-CN" altLang="en-US" b="1">
              <a:solidFill>
                <a:srgbClr val="3333C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AutoShape 8"/>
          <p:cNvSpPr>
            <a:spLocks noChangeArrowheads="1"/>
          </p:cNvSpPr>
          <p:nvPr/>
        </p:nvSpPr>
        <p:spPr bwMode="auto">
          <a:xfrm>
            <a:off x="3400507" y="5175810"/>
            <a:ext cx="2438400" cy="704164"/>
          </a:xfrm>
          <a:prstGeom prst="wedgeRoundRectCallout">
            <a:avLst>
              <a:gd name="adj1" fmla="val 5662"/>
              <a:gd name="adj2" fmla="val -12319"/>
              <a:gd name="adj3" fmla="val 16667"/>
            </a:avLst>
          </a:pr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lnSpc>
                <a:spcPct val="120000"/>
              </a:lnSpc>
              <a:spcBef>
                <a:spcPct val="50000"/>
              </a:spcBef>
              <a:buFont typeface="Arial" panose="020B0604020202020204" pitchFamily="34" charset="0"/>
              <a:buNone/>
            </a:pPr>
            <a:r>
              <a:rPr lang="zh-CN" altLang="en-US"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程序段: 将</a:t>
            </a:r>
            <a:r>
              <a:rPr lang="en-US" altLang="zh-CN"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AL</a:t>
            </a:r>
            <a:r>
              <a:rPr lang="zh-CN" altLang="en-US"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左移4位(乘16)</a:t>
            </a:r>
          </a:p>
        </p:txBody>
      </p:sp>
      <p:sp>
        <p:nvSpPr>
          <p:cNvPr id="13" name="Text Box 9"/>
          <p:cNvSpPr txBox="1">
            <a:spLocks noChangeArrowheads="1"/>
          </p:cNvSpPr>
          <p:nvPr/>
        </p:nvSpPr>
        <p:spPr bwMode="auto">
          <a:xfrm>
            <a:off x="6017568" y="5063252"/>
            <a:ext cx="2743200" cy="1060547"/>
          </a:xfrm>
          <a:prstGeom prst="rect">
            <a:avLst/>
          </a:prstGeom>
          <a:noFill/>
          <a:ln w="28575">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buFont typeface="Arial" panose="020B0604020202020204" pitchFamily="34" charset="0"/>
              <a:buNone/>
            </a:pP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IN  AL,  5FH</a:t>
            </a:r>
          </a:p>
          <a:p>
            <a:pPr>
              <a:lnSpc>
                <a:spcPct val="120000"/>
              </a:lnSpc>
              <a:buFont typeface="Arial" panose="020B0604020202020204" pitchFamily="34" charset="0"/>
              <a:buNone/>
            </a:pP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SHIFT</a:t>
            </a:r>
          </a:p>
          <a:p>
            <a:pPr>
              <a:lnSpc>
                <a:spcPct val="120000"/>
              </a:lnSpc>
              <a:buFont typeface="Arial" panose="020B0604020202020204" pitchFamily="34" charset="0"/>
              <a:buNone/>
            </a:pP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OUT  5FH,  AL</a:t>
            </a:r>
          </a:p>
        </p:txBody>
      </p:sp>
      <p:sp>
        <p:nvSpPr>
          <p:cNvPr id="14" name="Text Box 10"/>
          <p:cNvSpPr txBox="1">
            <a:spLocks noChangeArrowheads="1"/>
          </p:cNvSpPr>
          <p:nvPr/>
        </p:nvSpPr>
        <p:spPr bwMode="auto">
          <a:xfrm>
            <a:off x="4684068" y="4503118"/>
            <a:ext cx="4800600" cy="3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 typeface="Arial" panose="020B0604020202020204" pitchFamily="34" charset="0"/>
              <a:buNone/>
            </a:pPr>
            <a:r>
              <a:rPr lang="zh-CN" altLang="en-US"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在程序中引用宏指令如下：</a:t>
            </a:r>
          </a:p>
        </p:txBody>
      </p:sp>
      <p:sp>
        <p:nvSpPr>
          <p:cNvPr id="15" name="内容占位符 1"/>
          <p:cNvSpPr txBox="1"/>
          <p:nvPr/>
        </p:nvSpPr>
        <p:spPr>
          <a:xfrm>
            <a:off x="4593604" y="1556792"/>
            <a:ext cx="3826768" cy="563563"/>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b="1" kern="0" dirty="0">
                <a:latin typeface="Times New Roman" panose="02020603050405020304" pitchFamily="18" charset="0"/>
                <a:cs typeface="Times New Roman" panose="02020603050405020304" pitchFamily="18" charset="0"/>
              </a:rPr>
              <a:t>2. </a:t>
            </a:r>
            <a:r>
              <a:rPr lang="zh-CN" altLang="en-US" b="1" kern="0" dirty="0">
                <a:latin typeface="Times New Roman" panose="02020603050405020304" pitchFamily="18" charset="0"/>
                <a:cs typeface="Times New Roman" panose="02020603050405020304" pitchFamily="18" charset="0"/>
              </a:rPr>
              <a:t>宏调用</a:t>
            </a:r>
          </a:p>
        </p:txBody>
      </p:sp>
      <p:sp>
        <p:nvSpPr>
          <p:cNvPr id="16" name="Text Box 2"/>
          <p:cNvSpPr txBox="1">
            <a:spLocks noChangeArrowheads="1"/>
          </p:cNvSpPr>
          <p:nvPr/>
        </p:nvSpPr>
        <p:spPr bwMode="auto">
          <a:xfrm>
            <a:off x="4819972" y="2208937"/>
            <a:ext cx="4000500" cy="3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buFont typeface="Arial" panose="020B0604020202020204" pitchFamily="34" charset="0"/>
              <a:buNone/>
            </a:pP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宏指令调用格式：</a:t>
            </a:r>
          </a:p>
        </p:txBody>
      </p:sp>
      <p:sp>
        <p:nvSpPr>
          <p:cNvPr id="17" name="Text Box 3"/>
          <p:cNvSpPr txBox="1">
            <a:spLocks noChangeArrowheads="1"/>
          </p:cNvSpPr>
          <p:nvPr/>
        </p:nvSpPr>
        <p:spPr bwMode="auto">
          <a:xfrm>
            <a:off x="5191207" y="2931674"/>
            <a:ext cx="3569561" cy="369332"/>
          </a:xfrm>
          <a:prstGeom prst="rect">
            <a:avLst/>
          </a:prstGeom>
          <a:solidFill>
            <a:srgbClr val="FFFF99"/>
          </a:solidFill>
          <a:ln>
            <a:noFill/>
          </a:ln>
          <a:effectLst/>
        </p:spPr>
        <p:txBody>
          <a:bodyPr wrap="square">
            <a:spAutoFit/>
          </a:bodyPr>
          <a:lstStyle/>
          <a:p>
            <a:pPr>
              <a:spcBef>
                <a:spcPct val="50000"/>
              </a:spcBef>
              <a:buFont typeface="Arial" panose="020B0604020202020204" pitchFamily="34" charset="0"/>
              <a:buNone/>
            </a:pP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宏指令名  </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实参列表</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up)">
                                      <p:cBhvr>
                                        <p:cTn id="20" dur="500"/>
                                        <p:tgtEl>
                                          <p:spTgt spid="15"/>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up)">
                                      <p:cBhvr>
                                        <p:cTn id="23" dur="500"/>
                                        <p:tgtEl>
                                          <p:spTgt spid="16"/>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up)">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dissolv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ssolve">
                                      <p:cBhvr>
                                        <p:cTn id="36" dur="500"/>
                                        <p:tgtEl>
                                          <p:spTgt spid="9"/>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dissolv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dissolve">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dissolve">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dissolve">
                                      <p:cBhvr>
                                        <p:cTn id="56" dur="500"/>
                                        <p:tgtEl>
                                          <p:spTgt spid="14"/>
                                        </p:tgtEl>
                                      </p:cBhvr>
                                    </p:animEffect>
                                  </p:childTnLst>
                                </p:cTn>
                              </p:par>
                            </p:childTnLst>
                          </p:cTn>
                        </p:par>
                      </p:childTnLst>
                    </p:cTn>
                  </p:par>
                  <p:par>
                    <p:cTn id="57" fill="hold">
                      <p:stCondLst>
                        <p:cond delay="indefinite"/>
                      </p:stCondLst>
                      <p:childTnLst>
                        <p:par>
                          <p:cTn id="58" fill="hold">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dissolve">
                                      <p:cBhvr>
                                        <p:cTn id="6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P spid="7" grpId="0" animBg="1"/>
      <p:bldP spid="8" grpId="0" autoUpdateAnimBg="0"/>
      <p:bldP spid="9" grpId="0" autoUpdateAnimBg="0"/>
      <p:bldP spid="10" grpId="0" animBg="1" autoUpdateAnimBg="0"/>
      <p:bldP spid="12" grpId="0" animBg="1" autoUpdateAnimBg="0"/>
      <p:bldP spid="13" grpId="0" animBg="1" autoUpdateAnimBg="0"/>
      <p:bldP spid="14" grpId="0" autoUpdateAnimBg="0"/>
      <p:bldP spid="15" grpId="0"/>
      <p:bldP spid="16" grpId="0"/>
      <p:bldP spid="1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4.6</a:t>
            </a:r>
            <a:r>
              <a:rPr lang="zh-CN" altLang="en-US" dirty="0"/>
              <a:t>宏指令</a:t>
            </a:r>
          </a:p>
          <a:p>
            <a:endParaRPr lang="zh-CN" altLang="en-US" dirty="0"/>
          </a:p>
        </p:txBody>
      </p:sp>
      <p:sp>
        <p:nvSpPr>
          <p:cNvPr id="5" name="Text Box 2"/>
          <p:cNvSpPr txBox="1">
            <a:spLocks noChangeArrowheads="1"/>
          </p:cNvSpPr>
          <p:nvPr/>
        </p:nvSpPr>
        <p:spPr bwMode="auto">
          <a:xfrm>
            <a:off x="684380" y="1642775"/>
            <a:ext cx="7772400" cy="43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 typeface="Arial" panose="020B0604020202020204" pitchFamily="34" charset="0"/>
              <a:buNone/>
            </a:pP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宏指令也可以接收参数，如对</a:t>
            </a:r>
            <a:r>
              <a:rPr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左移</a:t>
            </a:r>
            <a:r>
              <a:rPr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位。</a:t>
            </a:r>
          </a:p>
        </p:txBody>
      </p:sp>
      <p:sp>
        <p:nvSpPr>
          <p:cNvPr id="6" name="Text Box 3"/>
          <p:cNvSpPr txBox="1">
            <a:spLocks noChangeArrowheads="1"/>
          </p:cNvSpPr>
          <p:nvPr/>
        </p:nvSpPr>
        <p:spPr bwMode="auto">
          <a:xfrm>
            <a:off x="971600" y="2168359"/>
            <a:ext cx="2952328" cy="139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buFont typeface="Arial" panose="020B0604020202020204" pitchFamily="34" charset="0"/>
              <a:buNone/>
            </a:pP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SHIFT  MACRO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 Y</a:t>
            </a:r>
          </a:p>
          <a:p>
            <a:pPr>
              <a:lnSpc>
                <a:spcPct val="120000"/>
              </a:lnSpc>
              <a:buFont typeface="Arial" panose="020B0604020202020204" pitchFamily="34" charset="0"/>
              <a:buNone/>
            </a:pP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MOV  CL,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Y</a:t>
            </a:r>
          </a:p>
          <a:p>
            <a:pPr>
              <a:lnSpc>
                <a:spcPct val="120000"/>
              </a:lnSpc>
              <a:buFont typeface="Arial" panose="020B0604020202020204" pitchFamily="34" charset="0"/>
              <a:buNone/>
            </a:pP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SAL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 CL</a:t>
            </a:r>
          </a:p>
          <a:p>
            <a:pPr>
              <a:lnSpc>
                <a:spcPct val="120000"/>
              </a:lnSpc>
              <a:buFont typeface="Arial" panose="020B0604020202020204" pitchFamily="34" charset="0"/>
              <a:buNone/>
            </a:pPr>
            <a:r>
              <a:rPr lang="en-US" altLang="zh-CN" b="1" dirty="0">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ENDM</a:t>
            </a:r>
          </a:p>
        </p:txBody>
      </p:sp>
      <p:sp>
        <p:nvSpPr>
          <p:cNvPr id="7" name="AutoShape 4"/>
          <p:cNvSpPr>
            <a:spLocks noChangeArrowheads="1"/>
          </p:cNvSpPr>
          <p:nvPr/>
        </p:nvSpPr>
        <p:spPr bwMode="auto">
          <a:xfrm>
            <a:off x="3830351" y="2058170"/>
            <a:ext cx="1752600" cy="336404"/>
          </a:xfrm>
          <a:prstGeom prst="wedgeRoundRectCallout">
            <a:avLst>
              <a:gd name="adj1" fmla="val -77444"/>
              <a:gd name="adj2" fmla="val 49139"/>
              <a:gd name="adj3" fmla="val 16667"/>
            </a:avLst>
          </a:prstGeom>
          <a:solidFill>
            <a:srgbClr val="FF00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lnSpc>
                <a:spcPct val="120000"/>
              </a:lnSpc>
              <a:spcBef>
                <a:spcPct val="50000"/>
              </a:spcBef>
              <a:buFont typeface="Arial" panose="020B0604020202020204" pitchFamily="34" charset="0"/>
              <a:buNone/>
            </a:pPr>
            <a:r>
              <a:rPr lang="zh-CN" altLang="en-US" b="1">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形参列表</a:t>
            </a:r>
          </a:p>
        </p:txBody>
      </p:sp>
      <p:sp>
        <p:nvSpPr>
          <p:cNvPr id="8" name="Text Box 5"/>
          <p:cNvSpPr txBox="1">
            <a:spLocks noChangeArrowheads="1"/>
          </p:cNvSpPr>
          <p:nvPr/>
        </p:nvSpPr>
        <p:spPr bwMode="auto">
          <a:xfrm>
            <a:off x="731168" y="4293509"/>
            <a:ext cx="3608256" cy="1171346"/>
          </a:xfrm>
          <a:prstGeom prst="rect">
            <a:avLst/>
          </a:prstGeom>
          <a:noFill/>
          <a:ln w="28575">
            <a:solidFill>
              <a:srgbClr val="0000CC"/>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20000"/>
              </a:spcBef>
              <a:buFont typeface="Arial" panose="020B0604020202020204" pitchFamily="34" charset="0"/>
              <a:buNone/>
            </a:pP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MOV  BX,  WORD PTR  BUF</a:t>
            </a:r>
          </a:p>
          <a:p>
            <a:pPr>
              <a:lnSpc>
                <a:spcPct val="120000"/>
              </a:lnSpc>
              <a:spcBef>
                <a:spcPct val="20000"/>
              </a:spcBef>
              <a:buFont typeface="Arial" panose="020B0604020202020204" pitchFamily="34" charset="0"/>
              <a:buNone/>
            </a:pPr>
            <a:r>
              <a:rPr lang="en-US" altLang="zh-CN"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SHIFT</a:t>
            </a: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BX</a:t>
            </a: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p>
          <a:p>
            <a:pPr>
              <a:lnSpc>
                <a:spcPct val="120000"/>
              </a:lnSpc>
              <a:spcBef>
                <a:spcPct val="20000"/>
              </a:spcBef>
              <a:buFont typeface="Arial" panose="020B0604020202020204" pitchFamily="34" charset="0"/>
              <a:buNone/>
            </a:pPr>
            <a:r>
              <a:rPr lang="en-US" altLang="zh-CN"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MOV  WORD PTR BUF ,  BX</a:t>
            </a:r>
          </a:p>
        </p:txBody>
      </p:sp>
      <p:sp>
        <p:nvSpPr>
          <p:cNvPr id="9" name="Text Box 6"/>
          <p:cNvSpPr txBox="1">
            <a:spLocks noChangeArrowheads="1"/>
          </p:cNvSpPr>
          <p:nvPr/>
        </p:nvSpPr>
        <p:spPr bwMode="auto">
          <a:xfrm>
            <a:off x="676401" y="3712452"/>
            <a:ext cx="4800600" cy="396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buFont typeface="Arial" panose="020B0604020202020204" pitchFamily="34" charset="0"/>
              <a:buNone/>
            </a:pP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在程序中引用宏指令如下：</a:t>
            </a:r>
          </a:p>
        </p:txBody>
      </p:sp>
      <p:sp>
        <p:nvSpPr>
          <p:cNvPr id="10" name="Text Box 7"/>
          <p:cNvSpPr txBox="1">
            <a:spLocks noChangeArrowheads="1"/>
          </p:cNvSpPr>
          <p:nvPr/>
        </p:nvSpPr>
        <p:spPr bwMode="auto">
          <a:xfrm>
            <a:off x="731168" y="5652279"/>
            <a:ext cx="4305604" cy="430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Bef>
                <a:spcPct val="50000"/>
              </a:spcBef>
              <a:buFont typeface="Arial" panose="020B0604020202020204" pitchFamily="34" charset="0"/>
              <a:buNone/>
            </a:pP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功能：</a:t>
            </a:r>
            <a:r>
              <a:rPr lang="en-US" altLang="zh-CN"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的值左移4位。</a:t>
            </a:r>
          </a:p>
        </p:txBody>
      </p:sp>
      <p:sp>
        <p:nvSpPr>
          <p:cNvPr id="11" name="Text Box 8"/>
          <p:cNvSpPr txBox="1">
            <a:spLocks noChangeArrowheads="1"/>
          </p:cNvSpPr>
          <p:nvPr/>
        </p:nvSpPr>
        <p:spPr bwMode="auto">
          <a:xfrm>
            <a:off x="5076056" y="3295446"/>
            <a:ext cx="3505200" cy="1230401"/>
          </a:xfrm>
          <a:prstGeom prst="rect">
            <a:avLst/>
          </a:prstGeom>
          <a:noFill/>
          <a:ln w="38100">
            <a:solidFill>
              <a:srgbClr val="FF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20000"/>
              </a:lnSpc>
              <a:spcBef>
                <a:spcPct val="10000"/>
              </a:spcBef>
              <a:buFont typeface="Arial" panose="020B0604020202020204" pitchFamily="34" charset="0"/>
              <a:buNone/>
            </a:pPr>
            <a:r>
              <a:rPr lang="en-US" altLang="zh-CN" sz="2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rPr>
              <a:t>BX</a:t>
            </a:r>
            <a:r>
              <a:rPr lang="en-US" altLang="zh-CN" sz="2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X</a:t>
            </a:r>
          </a:p>
          <a:p>
            <a:pPr algn="ctr">
              <a:lnSpc>
                <a:spcPct val="120000"/>
              </a:lnSpc>
              <a:spcBef>
                <a:spcPct val="10000"/>
              </a:spcBef>
              <a:buFont typeface="Arial" panose="020B0604020202020204" pitchFamily="34" charset="0"/>
              <a:buNone/>
            </a:pPr>
            <a:r>
              <a:rPr lang="en-US" altLang="zh-CN" sz="2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4Y</a:t>
            </a:r>
            <a:endParaRPr lang="en-US" altLang="zh-CN" sz="2000" b="1">
              <a:solidFill>
                <a:srgbClr val="0000CC"/>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20000"/>
              </a:lnSpc>
              <a:spcBef>
                <a:spcPct val="10000"/>
              </a:spcBef>
              <a:buFont typeface="Arial" panose="020B0604020202020204" pitchFamily="34" charset="0"/>
              <a:buNone/>
            </a:pPr>
            <a:r>
              <a:rPr lang="zh-CN" altLang="en-US" sz="2000" b="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实参形参一一对应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dissolv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
                                            <p:bg/>
                                          </p:spTgt>
                                        </p:tgtEl>
                                        <p:attrNameLst>
                                          <p:attrName>style.visibility</p:attrName>
                                        </p:attrNameLst>
                                      </p:cBhvr>
                                      <p:to>
                                        <p:strVal val="visible"/>
                                      </p:to>
                                    </p:set>
                                    <p:animEffect transition="in" filter="dissolve">
                                      <p:cBhvr>
                                        <p:cTn id="32" dur="500"/>
                                        <p:tgtEl>
                                          <p:spTgt spid="11">
                                            <p:bg/>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
                                            <p:txEl>
                                              <p:pRg st="0" end="0"/>
                                            </p:txEl>
                                          </p:spTgt>
                                        </p:tgtEl>
                                        <p:attrNameLst>
                                          <p:attrName>style.visibility</p:attrName>
                                        </p:attrNameLst>
                                      </p:cBhvr>
                                      <p:to>
                                        <p:strVal val="visible"/>
                                      </p:to>
                                    </p:set>
                                    <p:animEffect transition="in" filter="dissolve">
                                      <p:cBhvr>
                                        <p:cTn id="37" dur="500"/>
                                        <p:tgtEl>
                                          <p:spTgt spid="11">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
                                            <p:txEl>
                                              <p:pRg st="1" end="1"/>
                                            </p:txEl>
                                          </p:spTgt>
                                        </p:tgtEl>
                                        <p:attrNameLst>
                                          <p:attrName>style.visibility</p:attrName>
                                        </p:attrNameLst>
                                      </p:cBhvr>
                                      <p:to>
                                        <p:strVal val="visible"/>
                                      </p:to>
                                    </p:set>
                                    <p:animEffect transition="in" filter="dissolve">
                                      <p:cBhvr>
                                        <p:cTn id="42" dur="500"/>
                                        <p:tgtEl>
                                          <p:spTgt spid="11">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
                                            <p:txEl>
                                              <p:pRg st="2" end="2"/>
                                            </p:txEl>
                                          </p:spTgt>
                                        </p:tgtEl>
                                        <p:attrNameLst>
                                          <p:attrName>style.visibility</p:attrName>
                                        </p:attrNameLst>
                                      </p:cBhvr>
                                      <p:to>
                                        <p:strVal val="visible"/>
                                      </p:to>
                                    </p:set>
                                    <p:animEffect transition="in" filter="dissolve">
                                      <p:cBhvr>
                                        <p:cTn id="47" dur="500"/>
                                        <p:tgtEl>
                                          <p:spTgt spid="11">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dissolve">
                                      <p:cBhvr>
                                        <p:cTn id="5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utoUpdateAnimBg="0"/>
      <p:bldP spid="7" grpId="0" animBg="1" autoUpdateAnimBg="0"/>
      <p:bldP spid="8" grpId="0" animBg="1" autoUpdateAnimBg="0"/>
      <p:bldP spid="9" grpId="0" autoUpdateAnimBg="0"/>
      <p:bldP spid="10" grpId="0" autoUpdateAnimBg="0"/>
      <p:bldP spid="11" grpId="0" build="p"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bwMode="auto">
          <a:xfrm>
            <a:off x="547303" y="4808529"/>
            <a:ext cx="4344649" cy="1574446"/>
          </a:xfrm>
          <a:prstGeom prst="rect">
            <a:avLst/>
          </a:prstGeom>
          <a:solidFill>
            <a:srgbClr val="FFFFFF"/>
          </a:solidFill>
          <a:ln w="6350" cmpd="thinThick">
            <a:solidFill>
              <a:srgbClr val="000000"/>
            </a:solidFill>
          </a:ln>
          <a:effectLst>
            <a:outerShdw dist="35921" dir="2700000" algn="ctr" rotWithShape="0">
              <a:srgbClr val="0000FF"/>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Blip>
                <a:blip r:embed="rId2"/>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80000"/>
              <a:buBlip>
                <a:blip r:embed="rId3"/>
              </a:buBlip>
              <a:defRPr sz="2800">
                <a:solidFill>
                  <a:schemeClr val="tx1"/>
                </a:solidFill>
                <a:latin typeface="+mn-lt"/>
                <a:ea typeface="+mn-ea"/>
              </a:defRPr>
            </a:lvl2pPr>
            <a:lvl3pPr marL="1143000" indent="-228600" algn="l" rtl="0" eaLnBrk="0" fontAlgn="base" hangingPunct="0">
              <a:spcBef>
                <a:spcPct val="20000"/>
              </a:spcBef>
              <a:spcAft>
                <a:spcPct val="0"/>
              </a:spcAft>
              <a:buSzPct val="70000"/>
              <a:buBlip>
                <a:blip r:embed="rId4"/>
              </a:buBlip>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0"/>
              </a:spcBef>
              <a:spcAft>
                <a:spcPct val="0"/>
              </a:spcAft>
              <a:buClrTx/>
              <a:buSzTx/>
              <a:buFontTx/>
              <a:buNone/>
              <a:defRPr/>
            </a:pP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定义实现源程序结束功能的宏</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RETSYS</a:t>
            </a:r>
          </a:p>
          <a:p>
            <a:pPr marL="342900" marR="0" lvl="0" indent="-342900" algn="l" defTabSz="914400" rtl="0" eaLnBrk="1" fontAlgn="base" latinLnBrk="0" hangingPunct="1">
              <a:lnSpc>
                <a:spcPct val="110000"/>
              </a:lnSpc>
              <a:spcBef>
                <a:spcPct val="0"/>
              </a:spcBef>
              <a:spcAft>
                <a:spcPct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RETSYS  MACRO</a:t>
            </a:r>
          </a:p>
          <a:p>
            <a:pPr marL="342900" marR="0" lvl="0" indent="-342900" algn="l" defTabSz="914400" rtl="0" eaLnBrk="1" fontAlgn="base" latinLnBrk="0" hangingPunct="1">
              <a:lnSpc>
                <a:spcPct val="110000"/>
              </a:lnSpc>
              <a:spcBef>
                <a:spcPct val="0"/>
              </a:spcBef>
              <a:spcAft>
                <a:spcPct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MOV  AH</a:t>
            </a:r>
            <a:r>
              <a:rPr kumimoji="0" lang="zh-CN" altLang="en-US"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4CH</a:t>
            </a:r>
          </a:p>
          <a:p>
            <a:pPr marL="342900" marR="0" lvl="0" indent="-342900" algn="l" defTabSz="914400" rtl="0" eaLnBrk="1" fontAlgn="base" latinLnBrk="0" hangingPunct="1">
              <a:lnSpc>
                <a:spcPct val="110000"/>
              </a:lnSpc>
              <a:spcBef>
                <a:spcPct val="0"/>
              </a:spcBef>
              <a:spcAft>
                <a:spcPct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21H</a:t>
            </a:r>
          </a:p>
          <a:p>
            <a:pPr marL="342900" marR="0" lvl="0" indent="-342900" algn="l" defTabSz="914400" rtl="0" eaLnBrk="1" fontAlgn="base" latinLnBrk="0" hangingPunct="1">
              <a:lnSpc>
                <a:spcPct val="110000"/>
              </a:lnSpc>
              <a:spcBef>
                <a:spcPct val="0"/>
              </a:spcBef>
              <a:spcAft>
                <a:spcPct val="0"/>
              </a:spcAft>
              <a:buClrTx/>
              <a:buSzTx/>
              <a:buFontTx/>
              <a:buNone/>
              <a:defRPr/>
            </a:pPr>
            <a:r>
              <a:rPr kumimoji="0" lang="en-US" altLang="zh-CN" sz="18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ENDM</a:t>
            </a:r>
          </a:p>
        </p:txBody>
      </p:sp>
      <p:sp>
        <p:nvSpPr>
          <p:cNvPr id="2" name="内容占位符 1"/>
          <p:cNvSpPr>
            <a:spLocks noGrp="1"/>
          </p:cNvSpPr>
          <p:nvPr>
            <p:ph idx="1"/>
          </p:nvPr>
        </p:nvSpPr>
        <p:spPr>
          <a:xfrm>
            <a:off x="448280" y="2067735"/>
            <a:ext cx="7940144" cy="881003"/>
          </a:xfrm>
        </p:spPr>
        <p:txBody>
          <a:bodyPr/>
          <a:lstStyle/>
          <a:p>
            <a:pPr>
              <a:lnSpc>
                <a:spcPct val="110000"/>
              </a:lnSpc>
              <a:spcBef>
                <a:spcPct val="0"/>
              </a:spcBef>
            </a:pPr>
            <a:r>
              <a:rPr lang="zh-CN" altLang="en-US" sz="2000" b="1" dirty="0">
                <a:solidFill>
                  <a:srgbClr val="000000"/>
                </a:solidFill>
                <a:latin typeface="宋体" panose="02010600030101010101" pitchFamily="2" charset="-122"/>
              </a:rPr>
              <a:t>源程序在汇编时，宏指令被汇编程序用相应的程序代码所取代</a:t>
            </a:r>
            <a:r>
              <a:rPr lang="zh-CN" altLang="en-US" sz="2000" b="1" dirty="0"/>
              <a:t> ，</a:t>
            </a:r>
            <a:r>
              <a:rPr lang="zh-CN" altLang="en-US" sz="2000" b="1" dirty="0">
                <a:solidFill>
                  <a:srgbClr val="000000"/>
                </a:solidFill>
                <a:latin typeface="宋体" panose="02010600030101010101" pitchFamily="2" charset="-122"/>
              </a:rPr>
              <a:t>这个过程称为宏展开。</a:t>
            </a:r>
            <a:r>
              <a:rPr lang="zh-CN" altLang="en-US" sz="2000" b="1" dirty="0"/>
              <a:t> </a:t>
            </a:r>
          </a:p>
          <a:p>
            <a:pPr>
              <a:lnSpc>
                <a:spcPct val="110000"/>
              </a:lnSpc>
              <a:spcBef>
                <a:spcPct val="0"/>
              </a:spcBef>
            </a:pPr>
            <a:endParaRPr lang="zh-CN" altLang="en-US" b="1" dirty="0"/>
          </a:p>
          <a:p>
            <a:endParaRPr lang="zh-CN" altLang="en-US" b="1" dirty="0"/>
          </a:p>
        </p:txBody>
      </p:sp>
      <p:sp>
        <p:nvSpPr>
          <p:cNvPr id="3" name="文本占位符 2"/>
          <p:cNvSpPr>
            <a:spLocks noGrp="1"/>
          </p:cNvSpPr>
          <p:nvPr>
            <p:ph type="body" sz="quarter" idx="10"/>
          </p:nvPr>
        </p:nvSpPr>
        <p:spPr/>
        <p:txBody>
          <a:bodyPr/>
          <a:lstStyle/>
          <a:p>
            <a:r>
              <a:rPr lang="en-US" altLang="zh-CN" dirty="0"/>
              <a:t>4.6</a:t>
            </a:r>
            <a:r>
              <a:rPr lang="zh-CN" altLang="en-US" dirty="0"/>
              <a:t>宏指令</a:t>
            </a:r>
          </a:p>
          <a:p>
            <a:endParaRPr lang="zh-CN" altLang="en-US" dirty="0"/>
          </a:p>
        </p:txBody>
      </p:sp>
      <p:sp>
        <p:nvSpPr>
          <p:cNvPr id="5" name="内容占位符 1"/>
          <p:cNvSpPr txBox="1"/>
          <p:nvPr/>
        </p:nvSpPr>
        <p:spPr>
          <a:xfrm>
            <a:off x="462681" y="1511257"/>
            <a:ext cx="3826768" cy="563563"/>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b="1" kern="0" dirty="0">
                <a:latin typeface="Times New Roman" panose="02020603050405020304" pitchFamily="18" charset="0"/>
                <a:cs typeface="Times New Roman" panose="02020603050405020304" pitchFamily="18" charset="0"/>
              </a:rPr>
              <a:t>3. </a:t>
            </a:r>
            <a:r>
              <a:rPr lang="zh-CN" altLang="en-US" b="1" kern="0" dirty="0">
                <a:latin typeface="Times New Roman" panose="02020603050405020304" pitchFamily="18" charset="0"/>
                <a:cs typeface="Times New Roman" panose="02020603050405020304" pitchFamily="18" charset="0"/>
              </a:rPr>
              <a:t>宏展开</a:t>
            </a:r>
          </a:p>
        </p:txBody>
      </p:sp>
      <p:sp>
        <p:nvSpPr>
          <p:cNvPr id="6" name="Text Box 1027"/>
          <p:cNvSpPr txBox="1">
            <a:spLocks noChangeArrowheads="1"/>
          </p:cNvSpPr>
          <p:nvPr/>
        </p:nvSpPr>
        <p:spPr bwMode="auto">
          <a:xfrm>
            <a:off x="547303" y="2873404"/>
            <a:ext cx="3759324" cy="1754326"/>
          </a:xfrm>
          <a:prstGeom prst="rect">
            <a:avLst/>
          </a:prstGeom>
          <a:solidFill>
            <a:srgbClr val="FFFFFF"/>
          </a:solidFill>
          <a:ln w="3175" cmpd="thinThick">
            <a:solidFill>
              <a:srgbClr val="000000"/>
            </a:solidFill>
            <a:miter lim="800000"/>
          </a:ln>
          <a:effectLst>
            <a:outerShdw dist="35921" dir="2700000" algn="ctr" rotWithShape="0">
              <a:srgbClr val="0000FF"/>
            </a:outerShdw>
          </a:effectLst>
        </p:spPr>
        <p:txBody>
          <a:bodyPr wrap="square">
            <a:spAutoFit/>
          </a:bodyPr>
          <a:lstStyle/>
          <a:p>
            <a:pPr marL="0" marR="0" lvl="0" indent="0" algn="just" defTabSz="914400" eaLnBrk="1" fontAlgn="auto" latinLnBrk="0" hangingPunct="1">
              <a:lnSpc>
                <a:spcPct val="80000"/>
              </a:lnSpc>
              <a:spcBef>
                <a:spcPct val="50000"/>
              </a:spcBef>
              <a:spcAft>
                <a:spcPts val="0"/>
              </a:spcAft>
              <a:buClrTx/>
              <a:buSzTx/>
              <a:buFontTx/>
              <a:buNone/>
              <a:defRPr/>
            </a:pPr>
            <a:r>
              <a:rPr kumimoji="0" lang="zh-CN" altLang="en-US"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定义键盘输入宏指令</a:t>
            </a: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INPUT</a:t>
            </a:r>
          </a:p>
          <a:p>
            <a:pPr marL="0" marR="0" lvl="0" indent="0" algn="just" defTabSz="914400" eaLnBrk="1" fontAlgn="auto" latinLnBrk="0" hangingPunct="1">
              <a:lnSpc>
                <a:spcPct val="80000"/>
              </a:lnSpc>
              <a:spcBef>
                <a:spcPct val="50000"/>
              </a:spcBef>
              <a:spcAft>
                <a:spcPts val="0"/>
              </a:spcAft>
              <a:buClrTx/>
              <a:buSzTx/>
              <a:buFontTx/>
              <a:buNone/>
              <a:defRPr/>
            </a:pP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INPUT  MACRO</a:t>
            </a:r>
          </a:p>
          <a:p>
            <a:pPr marL="0" marR="0" lvl="0" indent="0" algn="just" defTabSz="914400" eaLnBrk="1" fontAlgn="auto" latinLnBrk="0" hangingPunct="1">
              <a:lnSpc>
                <a:spcPct val="80000"/>
              </a:lnSpc>
              <a:spcBef>
                <a:spcPct val="50000"/>
              </a:spcBef>
              <a:spcAft>
                <a:spcPts val="0"/>
              </a:spcAft>
              <a:buClrTx/>
              <a:buSzTx/>
              <a:buFontTx/>
              <a:buNone/>
              <a:defRPr/>
            </a:pP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MOV  AH</a:t>
            </a:r>
            <a:r>
              <a:rPr kumimoji="0" lang="zh-CN" altLang="en-US"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01H</a:t>
            </a:r>
          </a:p>
          <a:p>
            <a:pPr marL="0" marR="0" lvl="0" indent="0" algn="just" defTabSz="914400" eaLnBrk="1" fontAlgn="auto" latinLnBrk="0" hangingPunct="1">
              <a:lnSpc>
                <a:spcPct val="80000"/>
              </a:lnSpc>
              <a:spcBef>
                <a:spcPct val="50000"/>
              </a:spcBef>
              <a:spcAft>
                <a:spcPts val="0"/>
              </a:spcAft>
              <a:buClrTx/>
              <a:buSzTx/>
              <a:buFontTx/>
              <a:buNone/>
              <a:defRPr/>
            </a:pP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INT  21H</a:t>
            </a:r>
          </a:p>
          <a:p>
            <a:pPr marL="0" marR="0" lvl="0" indent="0" algn="just" defTabSz="914400" eaLnBrk="1" fontAlgn="auto" latinLnBrk="0" hangingPunct="1">
              <a:lnSpc>
                <a:spcPct val="80000"/>
              </a:lnSpc>
              <a:spcBef>
                <a:spcPct val="50000"/>
              </a:spcBef>
              <a:spcAft>
                <a:spcPts val="0"/>
              </a:spcAft>
              <a:buClrTx/>
              <a:buSzTx/>
              <a:buFontTx/>
              <a:buNone/>
              <a:defRPr/>
            </a:pPr>
            <a:r>
              <a:rPr kumimoji="0" lang="en-US" altLang="zh-CN"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ENDM</a:t>
            </a:r>
          </a:p>
        </p:txBody>
      </p:sp>
      <p:sp>
        <p:nvSpPr>
          <p:cNvPr id="7" name="Text Box 4"/>
          <p:cNvSpPr txBox="1">
            <a:spLocks noChangeArrowheads="1"/>
          </p:cNvSpPr>
          <p:nvPr/>
        </p:nvSpPr>
        <p:spPr bwMode="auto">
          <a:xfrm>
            <a:off x="4891952" y="569990"/>
            <a:ext cx="6547681" cy="4052135"/>
          </a:xfrm>
          <a:prstGeom prst="rect">
            <a:avLst/>
          </a:prstGeom>
          <a:gradFill rotWithShape="0">
            <a:gsLst>
              <a:gs pos="0">
                <a:srgbClr val="FFFF99"/>
              </a:gs>
              <a:gs pos="50000">
                <a:srgbClr val="FFFFFF"/>
              </a:gs>
              <a:gs pos="100000">
                <a:srgbClr val="FFFF99"/>
              </a:gs>
            </a:gsLst>
            <a:lin ang="5400000" scaled="1"/>
          </a:gradFill>
          <a:ln w="6350">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nSpc>
                <a:spcPct val="120000"/>
              </a:lnSpc>
              <a:defRPr/>
            </a:pPr>
            <a:r>
              <a:rPr lang="zh-CN" altLang="en-US"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展开前：				展开后：</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.MODEL SMALL</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.STACK 100H</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.CODE</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START:				START:</a:t>
            </a:r>
          </a:p>
          <a:p>
            <a:pPr>
              <a:lnSpc>
                <a:spcPct val="120000"/>
              </a:lnSpc>
              <a:defRPr/>
            </a:pP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INPUT	</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01H</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INT  21H</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CMP  AL, ‘-’				CMP  AL, ‘-’</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JNE  START				JNE  START</a:t>
            </a:r>
          </a:p>
          <a:p>
            <a:pPr>
              <a:lnSpc>
                <a:spcPct val="120000"/>
              </a:lnSpc>
              <a:defRPr/>
            </a:pPr>
            <a:r>
              <a:rPr lang="en-US" altLang="zh-CN"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RETSYS</a:t>
            </a: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1" dirty="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en-US" b="1" dirty="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rPr>
              <a:t>4CH</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b="1" dirty="0">
                <a:solidFill>
                  <a:srgbClr val="00B050"/>
                </a:solidFill>
                <a:latin typeface="Times New Roman" panose="02020603050405020304" pitchFamily="18" charset="0"/>
                <a:ea typeface="微软雅黑" panose="020B0503020204020204" pitchFamily="34" charset="-122"/>
                <a:cs typeface="Times New Roman" panose="02020603050405020304" pitchFamily="18" charset="0"/>
              </a:rPr>
              <a:t>INT  21H</a:t>
            </a:r>
          </a:p>
          <a:p>
            <a:pPr>
              <a:lnSpc>
                <a:spcPct val="120000"/>
              </a:lnSpc>
              <a:defRPr/>
            </a:pPr>
            <a:r>
              <a:rPr lang="en-US" altLang="zh-CN"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END  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0-#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additive="base">
                                        <p:cTn id="26" dur="500" fill="hold"/>
                                        <p:tgtEl>
                                          <p:spTgt spid="7"/>
                                        </p:tgtEl>
                                        <p:attrNameLst>
                                          <p:attrName>ppt_x</p:attrName>
                                        </p:attrNameLst>
                                      </p:cBhvr>
                                      <p:tavLst>
                                        <p:tav tm="0">
                                          <p:val>
                                            <p:strVal val="0-#ppt_w/2"/>
                                          </p:val>
                                        </p:tav>
                                        <p:tav tm="100000">
                                          <p:val>
                                            <p:strVal val="#ppt_x"/>
                                          </p:val>
                                        </p:tav>
                                      </p:tavLst>
                                    </p:anim>
                                    <p:anim calcmode="lin" valueType="num">
                                      <p:cBhvr additive="base">
                                        <p:cTn id="27"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build="p"/>
      <p:bldP spid="5" grpId="0"/>
      <p:bldP spid="6" grpId="0" animBg="1" autoUpdateAnimBg="0"/>
      <p:bldP spid="7" grpId="0" animBg="1"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Rectangle 2"/>
          <p:cNvSpPr txBox="1">
            <a:spLocks noRot="1" noChangeArrowheads="1"/>
          </p:cNvSpPr>
          <p:nvPr/>
        </p:nvSpPr>
        <p:spPr bwMode="auto">
          <a:xfrm>
            <a:off x="0" y="1867873"/>
            <a:ext cx="8229600" cy="515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fontAlgn="base">
              <a:spcBef>
                <a:spcPct val="0"/>
              </a:spcBef>
              <a:spcAft>
                <a:spcPct val="0"/>
              </a:spcAft>
              <a:defRPr sz="4000" b="1" kern="1200">
                <a:solidFill>
                  <a:srgbClr val="FFFF99"/>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2pPr>
            <a:lvl3pPr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3pPr>
            <a:lvl4pPr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4pPr>
            <a:lvl5pPr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5pPr>
            <a:lvl6pPr marL="457200"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6pPr>
            <a:lvl7pPr marL="914400"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7pPr>
            <a:lvl8pPr marL="1371600"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8pPr>
            <a:lvl9pPr marL="1828800" algn="ctr" rtl="0" fontAlgn="base">
              <a:spcBef>
                <a:spcPct val="0"/>
              </a:spcBef>
              <a:spcAft>
                <a:spcPct val="0"/>
              </a:spcAft>
              <a:defRPr sz="4000" b="1">
                <a:solidFill>
                  <a:srgbClr val="FFFF99"/>
                </a:solidFill>
                <a:effectLst>
                  <a:outerShdw blurRad="38100" dist="38100" dir="2700000" algn="tl">
                    <a:srgbClr val="000000"/>
                  </a:outerShdw>
                </a:effectLst>
                <a:latin typeface="Times New Roman" panose="02020603050405020304" pitchFamily="18" charset="0"/>
                <a:ea typeface="楷体_GB2312"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accent1"/>
                </a:solidFill>
                <a:effectLst/>
                <a:uLnTx/>
                <a:uFillTx/>
                <a:latin typeface="Times New Roman" panose="02020603050405020304"/>
                <a:ea typeface="楷体_GB2312"/>
                <a:cs typeface="+mj-cs"/>
              </a:rPr>
              <a:t>汇编源程序的设计步骤</a:t>
            </a:r>
          </a:p>
        </p:txBody>
      </p:sp>
      <p:sp>
        <p:nvSpPr>
          <p:cNvPr id="6" name="Rectangle 3"/>
          <p:cNvSpPr txBox="1">
            <a:spLocks noChangeArrowheads="1"/>
          </p:cNvSpPr>
          <p:nvPr/>
        </p:nvSpPr>
        <p:spPr bwMode="auto">
          <a:xfrm>
            <a:off x="742962" y="2548483"/>
            <a:ext cx="7462838" cy="2824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533400" indent="-533400" algn="l" rtl="0" fontAlgn="base">
              <a:spcBef>
                <a:spcPct val="30000"/>
              </a:spcBef>
              <a:spcAft>
                <a:spcPct val="0"/>
              </a:spcAft>
              <a:buClr>
                <a:srgbClr val="FFFF00"/>
              </a:buClr>
              <a:buFont typeface="Wingdings" panose="05000000000000000000" pitchFamily="2" charset="2"/>
              <a:buChar char="u"/>
              <a:defRPr sz="3200" b="1" kern="1200">
                <a:solidFill>
                  <a:srgbClr val="FFFF00"/>
                </a:solidFill>
                <a:effectLst>
                  <a:outerShdw blurRad="38100" dist="38100" dir="2700000" algn="tl">
                    <a:srgbClr val="000000"/>
                  </a:outerShdw>
                </a:effectLst>
                <a:latin typeface="+mn-lt"/>
                <a:ea typeface="+mn-ea"/>
                <a:cs typeface="+mn-cs"/>
              </a:defRPr>
            </a:lvl1pPr>
            <a:lvl2pPr marL="914400" indent="-457200" algn="l" rtl="0" fontAlgn="base">
              <a:spcBef>
                <a:spcPct val="30000"/>
              </a:spcBef>
              <a:spcAft>
                <a:spcPct val="0"/>
              </a:spcAft>
              <a:buClr>
                <a:srgbClr val="FFFF00"/>
              </a:buClr>
              <a:buFont typeface="Wingdings" panose="05000000000000000000" pitchFamily="2" charset="2"/>
              <a:buChar char="Ø"/>
              <a:defRPr sz="2800" b="1" kern="1200">
                <a:solidFill>
                  <a:srgbClr val="FFFF00"/>
                </a:solidFill>
                <a:effectLst>
                  <a:outerShdw blurRad="38100" dist="38100" dir="2700000" algn="tl">
                    <a:srgbClr val="000000"/>
                  </a:outerShdw>
                </a:effectLst>
                <a:latin typeface="+mn-lt"/>
                <a:ea typeface="+mn-ea"/>
                <a:cs typeface="+mn-cs"/>
              </a:defRPr>
            </a:lvl2pPr>
            <a:lvl3pPr marL="1371600" indent="-457200" algn="l" rtl="0" fontAlgn="base">
              <a:spcBef>
                <a:spcPct val="30000"/>
              </a:spcBef>
              <a:spcAft>
                <a:spcPct val="0"/>
              </a:spcAft>
              <a:buClr>
                <a:srgbClr val="FFFF00"/>
              </a:buClr>
              <a:buFont typeface="Wingdings" panose="05000000000000000000" pitchFamily="2" charset="2"/>
              <a:buChar char="ü"/>
              <a:defRPr sz="2800" b="1" kern="1200">
                <a:solidFill>
                  <a:srgbClr val="FFFF00"/>
                </a:solidFill>
                <a:effectLst>
                  <a:outerShdw blurRad="38100" dist="38100" dir="2700000" algn="tl">
                    <a:srgbClr val="000000"/>
                  </a:outerShdw>
                </a:effectLst>
                <a:latin typeface="+mn-lt"/>
                <a:ea typeface="+mn-ea"/>
                <a:cs typeface="+mn-cs"/>
              </a:defRPr>
            </a:lvl3pPr>
            <a:lvl4pPr marL="1752600" indent="-381000" algn="l" rtl="0" fontAlgn="base">
              <a:spcBef>
                <a:spcPct val="30000"/>
              </a:spcBef>
              <a:spcAft>
                <a:spcPct val="0"/>
              </a:spcAft>
              <a:buClr>
                <a:srgbClr val="FFFF00"/>
              </a:buClr>
              <a:buFont typeface="Wingdings" panose="05000000000000000000" pitchFamily="2" charset="2"/>
              <a:buChar char="n"/>
              <a:defRPr sz="2400" b="1" kern="1200">
                <a:solidFill>
                  <a:srgbClr val="FFFF00"/>
                </a:solidFill>
                <a:effectLst>
                  <a:outerShdw blurRad="38100" dist="38100" dir="2700000" algn="tl">
                    <a:srgbClr val="000000"/>
                  </a:outerShdw>
                </a:effectLst>
                <a:latin typeface="+mn-lt"/>
                <a:ea typeface="+mn-ea"/>
                <a:cs typeface="+mn-cs"/>
              </a:defRPr>
            </a:lvl4pPr>
            <a:lvl5pPr marL="2209800" indent="-381000" algn="l" rtl="0" fontAlgn="base">
              <a:spcBef>
                <a:spcPct val="30000"/>
              </a:spcBef>
              <a:spcAft>
                <a:spcPct val="0"/>
              </a:spcAft>
              <a:buClr>
                <a:srgbClr val="B4B9BE"/>
              </a:buClr>
              <a:buFont typeface="Wingdings" panose="05000000000000000000" pitchFamily="2" charset="2"/>
              <a:buChar char="l"/>
              <a:defRPr sz="2400" b="1" kern="1200">
                <a:solidFill>
                  <a:srgbClr val="FFFF00"/>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30000"/>
              </a:spcBef>
              <a:spcAft>
                <a:spcPct val="0"/>
              </a:spcAft>
              <a:buClr>
                <a:srgbClr val="CC6600"/>
              </a:buClr>
              <a:buSzTx/>
              <a:buFont typeface="Times New Roman" panose="02020603050405020304" pitchFamily="18" charset="0"/>
              <a:buChar char="⁕"/>
              <a:defRPr/>
            </a:pPr>
            <a:r>
              <a:rPr kumimoji="0" lang="zh-CN" altLang="en-US" sz="2400" b="1" i="0" u="none" strike="noStrike" kern="1200" cap="none" spc="0" normalizeH="0" baseline="0" noProof="0" dirty="0">
                <a:ln>
                  <a:noFill/>
                </a:ln>
                <a:solidFill>
                  <a:schemeClr val="accent1"/>
                </a:solidFill>
                <a:effectLst/>
                <a:uLnTx/>
                <a:uFillTx/>
                <a:latin typeface="Times New Roman" panose="02020603050405020304"/>
                <a:ea typeface="楷体_GB2312"/>
                <a:cs typeface="+mn-cs"/>
              </a:rPr>
              <a:t>分析问题，建立数学模型</a:t>
            </a:r>
          </a:p>
          <a:p>
            <a:pPr marR="0" lvl="0" algn="l" defTabSz="914400" rtl="0" eaLnBrk="1" fontAlgn="base" latinLnBrk="0" hangingPunct="1">
              <a:lnSpc>
                <a:spcPct val="100000"/>
              </a:lnSpc>
              <a:spcBef>
                <a:spcPct val="30000"/>
              </a:spcBef>
              <a:spcAft>
                <a:spcPct val="0"/>
              </a:spcAft>
              <a:buClr>
                <a:srgbClr val="CC6600"/>
              </a:buClr>
              <a:buSzTx/>
              <a:buFont typeface="Times New Roman" panose="02020603050405020304" pitchFamily="18" charset="0"/>
              <a:buChar char="⁕"/>
              <a:defRPr/>
            </a:pPr>
            <a:r>
              <a:rPr kumimoji="0" lang="zh-CN" altLang="en-US" sz="2400" b="1" i="0" u="none" strike="noStrike" kern="1200" cap="none" spc="0" normalizeH="0" baseline="0" noProof="0" dirty="0">
                <a:ln>
                  <a:noFill/>
                </a:ln>
                <a:solidFill>
                  <a:schemeClr val="accent1"/>
                </a:solidFill>
                <a:effectLst/>
                <a:uLnTx/>
                <a:uFillTx/>
                <a:latin typeface="Times New Roman" panose="02020603050405020304"/>
                <a:ea typeface="楷体_GB2312"/>
                <a:cs typeface="+mn-cs"/>
              </a:rPr>
              <a:t>确定最佳算法</a:t>
            </a:r>
          </a:p>
          <a:p>
            <a:pPr marR="0" lvl="0" algn="l" defTabSz="914400" rtl="0" eaLnBrk="1" fontAlgn="base" latinLnBrk="0" hangingPunct="1">
              <a:lnSpc>
                <a:spcPct val="100000"/>
              </a:lnSpc>
              <a:spcBef>
                <a:spcPct val="30000"/>
              </a:spcBef>
              <a:spcAft>
                <a:spcPct val="0"/>
              </a:spcAft>
              <a:buClr>
                <a:srgbClr val="CC6600"/>
              </a:buClr>
              <a:buSzTx/>
              <a:buFont typeface="Times New Roman" panose="02020603050405020304" pitchFamily="18" charset="0"/>
              <a:buChar char="⁕"/>
              <a:defRPr/>
            </a:pPr>
            <a:r>
              <a:rPr kumimoji="0" lang="zh-CN" altLang="en-US" sz="2400" b="1" i="0" u="none" strike="noStrike" kern="1200" cap="none" spc="0" normalizeH="0" baseline="0" noProof="0" dirty="0">
                <a:ln>
                  <a:noFill/>
                </a:ln>
                <a:solidFill>
                  <a:schemeClr val="accent1"/>
                </a:solidFill>
                <a:effectLst/>
                <a:uLnTx/>
                <a:uFillTx/>
                <a:latin typeface="Times New Roman" panose="02020603050405020304"/>
                <a:ea typeface="楷体_GB2312"/>
                <a:cs typeface="+mn-cs"/>
              </a:rPr>
              <a:t>合理分配存储单元和寄存器</a:t>
            </a:r>
          </a:p>
          <a:p>
            <a:pPr marR="0" lvl="0" algn="l" defTabSz="914400" rtl="0" eaLnBrk="1" fontAlgn="base" latinLnBrk="0" hangingPunct="1">
              <a:lnSpc>
                <a:spcPct val="100000"/>
              </a:lnSpc>
              <a:spcBef>
                <a:spcPct val="30000"/>
              </a:spcBef>
              <a:spcAft>
                <a:spcPct val="0"/>
              </a:spcAft>
              <a:buClr>
                <a:srgbClr val="CC6600"/>
              </a:buClr>
              <a:buSzTx/>
              <a:buFont typeface="Times New Roman" panose="02020603050405020304" pitchFamily="18" charset="0"/>
              <a:buChar char="⁕"/>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a:ea typeface="楷体_GB2312"/>
                <a:cs typeface="+mn-cs"/>
              </a:rPr>
              <a:t>绘制流程图</a:t>
            </a:r>
          </a:p>
          <a:p>
            <a:pPr marR="0" lvl="0" algn="l" defTabSz="914400" rtl="0" eaLnBrk="1" fontAlgn="base" latinLnBrk="0" hangingPunct="1">
              <a:lnSpc>
                <a:spcPct val="100000"/>
              </a:lnSpc>
              <a:spcBef>
                <a:spcPct val="30000"/>
              </a:spcBef>
              <a:spcAft>
                <a:spcPct val="0"/>
              </a:spcAft>
              <a:buClr>
                <a:srgbClr val="CC6600"/>
              </a:buClr>
              <a:buSzTx/>
              <a:buFont typeface="Times New Roman" panose="02020603050405020304" pitchFamily="18" charset="0"/>
              <a:buChar char="⁕"/>
              <a:defRPr/>
            </a:pPr>
            <a:r>
              <a:rPr kumimoji="0" lang="zh-CN" altLang="en-US" sz="2400" b="1" i="0" u="none" strike="noStrike" kern="1200" cap="none" spc="0" normalizeH="0" baseline="0" noProof="0" dirty="0">
                <a:ln>
                  <a:noFill/>
                </a:ln>
                <a:solidFill>
                  <a:schemeClr val="accent1"/>
                </a:solidFill>
                <a:effectLst/>
                <a:uLnTx/>
                <a:uFillTx/>
                <a:latin typeface="Times New Roman" panose="02020603050405020304"/>
                <a:ea typeface="楷体_GB2312"/>
                <a:cs typeface="+mn-cs"/>
              </a:rPr>
              <a:t>编写程序</a:t>
            </a:r>
          </a:p>
          <a:p>
            <a:pPr marR="0" lvl="0" algn="l" defTabSz="914400" rtl="0" eaLnBrk="1" fontAlgn="base" latinLnBrk="0" hangingPunct="1">
              <a:lnSpc>
                <a:spcPct val="100000"/>
              </a:lnSpc>
              <a:spcBef>
                <a:spcPct val="30000"/>
              </a:spcBef>
              <a:spcAft>
                <a:spcPct val="0"/>
              </a:spcAft>
              <a:buClr>
                <a:srgbClr val="CC6600"/>
              </a:buClr>
              <a:buSzTx/>
              <a:buFont typeface="Times New Roman" panose="02020603050405020304" pitchFamily="18" charset="0"/>
              <a:buChar char="⁕"/>
              <a:defRPr/>
            </a:pPr>
            <a:r>
              <a:rPr kumimoji="0" lang="zh-CN" altLang="en-US" sz="2400" b="1" i="0" u="none" strike="noStrike" kern="1200" cap="none" spc="0" normalizeH="0" baseline="0" noProof="0" dirty="0">
                <a:ln>
                  <a:noFill/>
                </a:ln>
                <a:solidFill>
                  <a:schemeClr val="accent1"/>
                </a:solidFill>
                <a:effectLst/>
                <a:uLnTx/>
                <a:uFillTx/>
                <a:latin typeface="Times New Roman" panose="02020603050405020304"/>
                <a:ea typeface="楷体_GB2312"/>
                <a:cs typeface="+mn-cs"/>
              </a:rPr>
              <a:t>调试程序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12415"/>
          </a:xfrm>
        </p:spPr>
        <p:txBody>
          <a:bodyPr/>
          <a:lstStyle/>
          <a:p>
            <a:r>
              <a:rPr lang="en-US" altLang="zh-CN" b="1" dirty="0"/>
              <a:t>4.7.1 </a:t>
            </a:r>
            <a:r>
              <a:rPr lang="zh-CN" altLang="en-US" b="1" dirty="0"/>
              <a:t>程序基本结构</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p:txBody>
      </p:sp>
      <p:sp>
        <p:nvSpPr>
          <p:cNvPr id="5" name="Rectangle 5"/>
          <p:cNvSpPr txBox="1">
            <a:spLocks noChangeArrowheads="1"/>
          </p:cNvSpPr>
          <p:nvPr/>
        </p:nvSpPr>
        <p:spPr bwMode="auto">
          <a:xfrm>
            <a:off x="448280" y="2187955"/>
            <a:ext cx="8372475" cy="1740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533400" indent="-533400" algn="l" rtl="0" fontAlgn="base">
              <a:spcBef>
                <a:spcPct val="30000"/>
              </a:spcBef>
              <a:spcAft>
                <a:spcPct val="0"/>
              </a:spcAft>
              <a:buClr>
                <a:srgbClr val="FFFF00"/>
              </a:buClr>
              <a:buFont typeface="Wingdings" panose="05000000000000000000" pitchFamily="2" charset="2"/>
              <a:buChar char="u"/>
              <a:defRPr sz="3200" b="1" kern="1200">
                <a:solidFill>
                  <a:srgbClr val="FFFF00"/>
                </a:solidFill>
                <a:effectLst>
                  <a:outerShdw blurRad="38100" dist="38100" dir="2700000" algn="tl">
                    <a:srgbClr val="000000"/>
                  </a:outerShdw>
                </a:effectLst>
                <a:latin typeface="+mn-lt"/>
                <a:ea typeface="+mn-ea"/>
                <a:cs typeface="+mn-cs"/>
              </a:defRPr>
            </a:lvl1pPr>
            <a:lvl2pPr marL="914400" indent="-457200" algn="l" rtl="0" fontAlgn="base">
              <a:spcBef>
                <a:spcPct val="30000"/>
              </a:spcBef>
              <a:spcAft>
                <a:spcPct val="0"/>
              </a:spcAft>
              <a:buClr>
                <a:srgbClr val="FFFF00"/>
              </a:buClr>
              <a:buFont typeface="Wingdings" panose="05000000000000000000" pitchFamily="2" charset="2"/>
              <a:buChar char="Ø"/>
              <a:defRPr sz="2800" b="1" kern="1200">
                <a:solidFill>
                  <a:srgbClr val="FFFF00"/>
                </a:solidFill>
                <a:effectLst>
                  <a:outerShdw blurRad="38100" dist="38100" dir="2700000" algn="tl">
                    <a:srgbClr val="000000"/>
                  </a:outerShdw>
                </a:effectLst>
                <a:latin typeface="+mn-lt"/>
                <a:ea typeface="+mn-ea"/>
                <a:cs typeface="+mn-cs"/>
              </a:defRPr>
            </a:lvl2pPr>
            <a:lvl3pPr marL="1371600" indent="-457200" algn="l" rtl="0" fontAlgn="base">
              <a:spcBef>
                <a:spcPct val="30000"/>
              </a:spcBef>
              <a:spcAft>
                <a:spcPct val="0"/>
              </a:spcAft>
              <a:buClr>
                <a:srgbClr val="FFFF00"/>
              </a:buClr>
              <a:buFont typeface="Wingdings" panose="05000000000000000000" pitchFamily="2" charset="2"/>
              <a:buChar char="ü"/>
              <a:defRPr sz="2800" b="1" kern="1200">
                <a:solidFill>
                  <a:srgbClr val="FFFF00"/>
                </a:solidFill>
                <a:effectLst>
                  <a:outerShdw blurRad="38100" dist="38100" dir="2700000" algn="tl">
                    <a:srgbClr val="000000"/>
                  </a:outerShdw>
                </a:effectLst>
                <a:latin typeface="+mn-lt"/>
                <a:ea typeface="+mn-ea"/>
                <a:cs typeface="+mn-cs"/>
              </a:defRPr>
            </a:lvl3pPr>
            <a:lvl4pPr marL="1752600" indent="-381000" algn="l" rtl="0" fontAlgn="base">
              <a:spcBef>
                <a:spcPct val="30000"/>
              </a:spcBef>
              <a:spcAft>
                <a:spcPct val="0"/>
              </a:spcAft>
              <a:buClr>
                <a:srgbClr val="FFFF00"/>
              </a:buClr>
              <a:buFont typeface="Wingdings" panose="05000000000000000000" pitchFamily="2" charset="2"/>
              <a:buChar char="n"/>
              <a:defRPr sz="2400" b="1" kern="1200">
                <a:solidFill>
                  <a:srgbClr val="FFFF00"/>
                </a:solidFill>
                <a:effectLst>
                  <a:outerShdw blurRad="38100" dist="38100" dir="2700000" algn="tl">
                    <a:srgbClr val="000000"/>
                  </a:outerShdw>
                </a:effectLst>
                <a:latin typeface="+mn-lt"/>
                <a:ea typeface="+mn-ea"/>
                <a:cs typeface="+mn-cs"/>
              </a:defRPr>
            </a:lvl4pPr>
            <a:lvl5pPr marL="2209800" indent="-381000" algn="l" rtl="0" fontAlgn="base">
              <a:spcBef>
                <a:spcPct val="30000"/>
              </a:spcBef>
              <a:spcAft>
                <a:spcPct val="0"/>
              </a:spcAft>
              <a:buClr>
                <a:srgbClr val="B4B9BE"/>
              </a:buClr>
              <a:buFont typeface="Wingdings" panose="05000000000000000000" pitchFamily="2" charset="2"/>
              <a:buChar char="l"/>
              <a:defRPr sz="2400" b="1" kern="1200">
                <a:solidFill>
                  <a:srgbClr val="FFFF00"/>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30000"/>
              </a:spcBef>
              <a:spcAft>
                <a:spcPct val="0"/>
              </a:spcAft>
              <a:buClr>
                <a:srgbClr val="CC6600"/>
              </a:buClr>
              <a:buSzTx/>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a:ea typeface="楷体_GB2312"/>
                <a:cs typeface="+mn-cs"/>
              </a:rPr>
              <a:t>模块化设计方法</a:t>
            </a:r>
          </a:p>
          <a:p>
            <a:pPr marR="0" lvl="1" algn="l" defTabSz="914400" rtl="0" eaLnBrk="1" fontAlgn="base" latinLnBrk="0" hangingPunct="1">
              <a:lnSpc>
                <a:spcPct val="100000"/>
              </a:lnSpc>
              <a:spcBef>
                <a:spcPct val="30000"/>
              </a:spcBef>
              <a:spcAft>
                <a:spcPct val="0"/>
              </a:spcAft>
              <a:buClr>
                <a:srgbClr val="CC6600"/>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000000"/>
                </a:solidFill>
                <a:effectLst/>
                <a:uLnTx/>
                <a:uFillTx/>
                <a:latin typeface="Times New Roman" panose="02020603050405020304"/>
                <a:ea typeface="楷体_GB2312"/>
                <a:cs typeface="+mn-cs"/>
              </a:rPr>
              <a:t>“自顶向下，逐步细化”  </a:t>
            </a:r>
            <a:endParaRPr kumimoji="0" lang="zh-CN" altLang="en-US" sz="1800" b="1" i="0" u="none" strike="noStrike" kern="1200" cap="none" spc="0" normalizeH="0" baseline="0" noProof="0" dirty="0">
              <a:ln>
                <a:noFill/>
              </a:ln>
              <a:solidFill>
                <a:srgbClr val="000000"/>
              </a:solidFill>
              <a:effectLst/>
              <a:uLnTx/>
              <a:uFillTx/>
              <a:latin typeface="Times New Roman" panose="02020603050405020304"/>
              <a:ea typeface="楷体_GB2312"/>
              <a:cs typeface="+mn-cs"/>
            </a:endParaRPr>
          </a:p>
          <a:p>
            <a:pPr marR="0" lvl="0" algn="l" defTabSz="914400" rtl="0" eaLnBrk="1" fontAlgn="base" latinLnBrk="0" hangingPunct="1">
              <a:lnSpc>
                <a:spcPct val="100000"/>
              </a:lnSpc>
              <a:spcBef>
                <a:spcPct val="30000"/>
              </a:spcBef>
              <a:spcAft>
                <a:spcPct val="0"/>
              </a:spcAft>
              <a:buClr>
                <a:srgbClr val="CC6600"/>
              </a:buClr>
              <a:buSzTx/>
              <a:defRPr/>
            </a:pPr>
            <a:r>
              <a:rPr kumimoji="0" lang="zh-CN" altLang="en-US" sz="2400" b="1" i="0" u="none" strike="noStrike" kern="1200" cap="none" spc="0" normalizeH="0" baseline="0" noProof="0" dirty="0">
                <a:ln>
                  <a:noFill/>
                </a:ln>
                <a:solidFill>
                  <a:srgbClr val="000000"/>
                </a:solidFill>
                <a:effectLst/>
                <a:uLnTx/>
                <a:uFillTx/>
                <a:latin typeface="Times New Roman" panose="02020603050405020304"/>
                <a:ea typeface="楷体_GB2312"/>
                <a:cs typeface="+mn-cs"/>
              </a:rPr>
              <a:t>结构化编码方法 </a:t>
            </a:r>
          </a:p>
          <a:p>
            <a:pPr marR="0" lvl="1" algn="l" defTabSz="914400" rtl="0" eaLnBrk="1" fontAlgn="base" latinLnBrk="0" hangingPunct="1">
              <a:lnSpc>
                <a:spcPct val="100000"/>
              </a:lnSpc>
              <a:spcBef>
                <a:spcPct val="30000"/>
              </a:spcBef>
              <a:spcAft>
                <a:spcPct val="0"/>
              </a:spcAft>
              <a:buClr>
                <a:srgbClr val="CC6600"/>
              </a:buClr>
              <a:buSzTx/>
              <a:buFont typeface="Wingdings" panose="05000000000000000000" pitchFamily="2" charset="2"/>
              <a:buChar char="ü"/>
              <a:defRPr/>
            </a:pPr>
            <a:r>
              <a:rPr kumimoji="0" lang="zh-CN" altLang="en-US" sz="2000" b="1" i="0" u="none" strike="noStrike" kern="1200" cap="none" spc="0" normalizeH="0" baseline="0" noProof="0" dirty="0">
                <a:ln>
                  <a:noFill/>
                </a:ln>
                <a:solidFill>
                  <a:srgbClr val="C00000"/>
                </a:solidFill>
                <a:effectLst/>
                <a:uLnTx/>
                <a:uFillTx/>
                <a:latin typeface="Times New Roman" panose="02020603050405020304"/>
                <a:ea typeface="楷体_GB2312"/>
                <a:cs typeface="+mn-cs"/>
              </a:rPr>
              <a:t>顺序、分支、循环</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a:ea typeface="楷体_GB2312"/>
                <a:cs typeface="+mn-cs"/>
              </a:rPr>
              <a:t>三种基本结构 </a:t>
            </a:r>
          </a:p>
        </p:txBody>
      </p:sp>
      <p:sp>
        <p:nvSpPr>
          <p:cNvPr id="6" name="Rectangle 7"/>
          <p:cNvSpPr>
            <a:spLocks noChangeArrowheads="1"/>
          </p:cNvSpPr>
          <p:nvPr/>
        </p:nvSpPr>
        <p:spPr bwMode="auto">
          <a:xfrm>
            <a:off x="667738" y="5085184"/>
            <a:ext cx="1276870" cy="379011"/>
          </a:xfrm>
          <a:prstGeom prst="rect">
            <a:avLst/>
          </a:prstGeom>
          <a:solidFill>
            <a:srgbClr val="BBE0E3"/>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7" name="Rectangle 8"/>
          <p:cNvSpPr>
            <a:spLocks noChangeArrowheads="1"/>
          </p:cNvSpPr>
          <p:nvPr/>
        </p:nvSpPr>
        <p:spPr bwMode="auto">
          <a:xfrm>
            <a:off x="611560" y="5815865"/>
            <a:ext cx="1370597" cy="348414"/>
          </a:xfrm>
          <a:prstGeom prst="rect">
            <a:avLst/>
          </a:prstGeom>
          <a:solidFill>
            <a:srgbClr val="BBE0E3"/>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8" name="Text Box 9"/>
          <p:cNvSpPr txBox="1">
            <a:spLocks noChangeArrowheads="1"/>
          </p:cNvSpPr>
          <p:nvPr/>
        </p:nvSpPr>
        <p:spPr bwMode="auto">
          <a:xfrm>
            <a:off x="492125" y="4058065"/>
            <a:ext cx="22320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a:solidFill>
                  <a:srgbClr val="000000"/>
                </a:solidFill>
                <a:effectLst>
                  <a:outerShdw blurRad="38100" dist="38100" dir="2700000" algn="tl">
                    <a:srgbClr val="C0C0C0"/>
                  </a:outerShdw>
                </a:effectLst>
                <a:ea typeface="黑体" panose="02010609060101010101" pitchFamily="49" charset="-122"/>
              </a:rPr>
              <a:t>顺序程序结构</a:t>
            </a:r>
          </a:p>
        </p:txBody>
      </p:sp>
      <p:sp>
        <p:nvSpPr>
          <p:cNvPr id="9" name="Text Box 10"/>
          <p:cNvSpPr txBox="1">
            <a:spLocks noChangeArrowheads="1"/>
          </p:cNvSpPr>
          <p:nvPr/>
        </p:nvSpPr>
        <p:spPr bwMode="auto">
          <a:xfrm>
            <a:off x="3263900" y="4064415"/>
            <a:ext cx="21971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a:solidFill>
                  <a:srgbClr val="000000"/>
                </a:solidFill>
                <a:effectLst>
                  <a:outerShdw blurRad="38100" dist="38100" dir="2700000" algn="tl">
                    <a:srgbClr val="C0C0C0"/>
                  </a:outerShdw>
                </a:effectLst>
                <a:ea typeface="黑体" panose="02010609060101010101" pitchFamily="49" charset="-122"/>
              </a:rPr>
              <a:t>条件程序结构</a:t>
            </a:r>
          </a:p>
        </p:txBody>
      </p:sp>
      <p:sp>
        <p:nvSpPr>
          <p:cNvPr id="10" name="Text Box 11"/>
          <p:cNvSpPr txBox="1">
            <a:spLocks noChangeArrowheads="1"/>
          </p:cNvSpPr>
          <p:nvPr/>
        </p:nvSpPr>
        <p:spPr bwMode="auto">
          <a:xfrm>
            <a:off x="6470650" y="4037427"/>
            <a:ext cx="2230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00"/>
                </a:solidFill>
                <a:effectLst>
                  <a:outerShdw blurRad="38100" dist="38100" dir="2700000" algn="tl">
                    <a:srgbClr val="C0C0C0"/>
                  </a:outerShdw>
                </a:effectLst>
                <a:ea typeface="黑体" panose="02010609060101010101" pitchFamily="49" charset="-122"/>
              </a:rPr>
              <a:t>多分支程序结构</a:t>
            </a:r>
          </a:p>
        </p:txBody>
      </p:sp>
      <p:sp>
        <p:nvSpPr>
          <p:cNvPr id="11" name="Line 12"/>
          <p:cNvSpPr>
            <a:spLocks noChangeShapeType="1"/>
          </p:cNvSpPr>
          <p:nvPr/>
        </p:nvSpPr>
        <p:spPr bwMode="auto">
          <a:xfrm>
            <a:off x="1258808" y="4702990"/>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2" name="Line 13"/>
          <p:cNvSpPr>
            <a:spLocks noChangeShapeType="1"/>
          </p:cNvSpPr>
          <p:nvPr/>
        </p:nvSpPr>
        <p:spPr bwMode="auto">
          <a:xfrm>
            <a:off x="1258808" y="5435624"/>
            <a:ext cx="0" cy="378215"/>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3" name="AutoShape 15"/>
          <p:cNvSpPr>
            <a:spLocks noChangeArrowheads="1"/>
          </p:cNvSpPr>
          <p:nvPr/>
        </p:nvSpPr>
        <p:spPr bwMode="auto">
          <a:xfrm>
            <a:off x="3307348" y="5045497"/>
            <a:ext cx="1577310" cy="379011"/>
          </a:xfrm>
          <a:prstGeom prst="flowChartDecision">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4" name="Line 16"/>
          <p:cNvSpPr>
            <a:spLocks noChangeShapeType="1"/>
          </p:cNvSpPr>
          <p:nvPr/>
        </p:nvSpPr>
        <p:spPr bwMode="auto">
          <a:xfrm>
            <a:off x="4055983" y="4672828"/>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5" name="AutoShape 17"/>
          <p:cNvSpPr>
            <a:spLocks noChangeArrowheads="1"/>
          </p:cNvSpPr>
          <p:nvPr/>
        </p:nvSpPr>
        <p:spPr bwMode="auto">
          <a:xfrm>
            <a:off x="2775843" y="5661248"/>
            <a:ext cx="1051540" cy="398020"/>
          </a:xfrm>
          <a:prstGeom prst="flowChartAlternateProcess">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6" name="AutoShape 18"/>
          <p:cNvSpPr>
            <a:spLocks noChangeArrowheads="1"/>
          </p:cNvSpPr>
          <p:nvPr/>
        </p:nvSpPr>
        <p:spPr bwMode="auto">
          <a:xfrm>
            <a:off x="4376043" y="5661248"/>
            <a:ext cx="1051540" cy="398020"/>
          </a:xfrm>
          <a:prstGeom prst="flowChartAlternateProcess">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7" name="Line 19"/>
          <p:cNvSpPr>
            <a:spLocks noChangeShapeType="1"/>
          </p:cNvSpPr>
          <p:nvPr/>
        </p:nvSpPr>
        <p:spPr bwMode="auto">
          <a:xfrm>
            <a:off x="3293983" y="5229200"/>
            <a:ext cx="0" cy="414192"/>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8" name="Line 20"/>
          <p:cNvSpPr>
            <a:spLocks noChangeShapeType="1"/>
          </p:cNvSpPr>
          <p:nvPr/>
        </p:nvSpPr>
        <p:spPr bwMode="auto">
          <a:xfrm>
            <a:off x="4894183" y="5229200"/>
            <a:ext cx="0" cy="414192"/>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19" name="Line 21"/>
          <p:cNvSpPr>
            <a:spLocks noChangeShapeType="1"/>
          </p:cNvSpPr>
          <p:nvPr/>
        </p:nvSpPr>
        <p:spPr bwMode="auto">
          <a:xfrm>
            <a:off x="4894183" y="6093296"/>
            <a:ext cx="0" cy="258869"/>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0" name="Line 22"/>
          <p:cNvSpPr>
            <a:spLocks noChangeShapeType="1"/>
          </p:cNvSpPr>
          <p:nvPr/>
        </p:nvSpPr>
        <p:spPr bwMode="auto">
          <a:xfrm>
            <a:off x="3293983" y="6093296"/>
            <a:ext cx="0" cy="258869"/>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1" name="Line 23"/>
          <p:cNvSpPr>
            <a:spLocks noChangeShapeType="1"/>
          </p:cNvSpPr>
          <p:nvPr/>
        </p:nvSpPr>
        <p:spPr bwMode="auto">
          <a:xfrm>
            <a:off x="3316873" y="6332473"/>
            <a:ext cx="157731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2" name="AutoShape 24"/>
          <p:cNvSpPr>
            <a:spLocks noChangeArrowheads="1"/>
          </p:cNvSpPr>
          <p:nvPr/>
        </p:nvSpPr>
        <p:spPr bwMode="auto">
          <a:xfrm>
            <a:off x="6567576" y="4818510"/>
            <a:ext cx="1652420" cy="311117"/>
          </a:xfrm>
          <a:prstGeom prst="flowChartDecision">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3" name="Line 25"/>
          <p:cNvSpPr>
            <a:spLocks noChangeShapeType="1"/>
          </p:cNvSpPr>
          <p:nvPr/>
        </p:nvSpPr>
        <p:spPr bwMode="auto">
          <a:xfrm>
            <a:off x="7433819" y="4528346"/>
            <a:ext cx="0" cy="259264"/>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4" name="Line 26"/>
          <p:cNvSpPr>
            <a:spLocks noChangeShapeType="1"/>
          </p:cNvSpPr>
          <p:nvPr/>
        </p:nvSpPr>
        <p:spPr bwMode="auto">
          <a:xfrm>
            <a:off x="7433819" y="5121298"/>
            <a:ext cx="0" cy="303209"/>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5" name="Line 27"/>
          <p:cNvSpPr>
            <a:spLocks noChangeShapeType="1"/>
          </p:cNvSpPr>
          <p:nvPr/>
        </p:nvSpPr>
        <p:spPr bwMode="auto">
          <a:xfrm>
            <a:off x="6621779" y="5424508"/>
            <a:ext cx="18026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6" name="AutoShape 28"/>
          <p:cNvSpPr>
            <a:spLocks noChangeArrowheads="1"/>
          </p:cNvSpPr>
          <p:nvPr/>
        </p:nvSpPr>
        <p:spPr bwMode="auto">
          <a:xfrm>
            <a:off x="6226609" y="5807496"/>
            <a:ext cx="826210" cy="379011"/>
          </a:xfrm>
          <a:prstGeom prst="flowChartAlternateProcess">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7" name="AutoShape 29"/>
          <p:cNvSpPr>
            <a:spLocks noChangeArrowheads="1"/>
          </p:cNvSpPr>
          <p:nvPr/>
        </p:nvSpPr>
        <p:spPr bwMode="auto">
          <a:xfrm>
            <a:off x="8055409" y="5807496"/>
            <a:ext cx="826210" cy="379011"/>
          </a:xfrm>
          <a:prstGeom prst="flowChartAlternateProcess">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8" name="Line 30"/>
          <p:cNvSpPr>
            <a:spLocks noChangeShapeType="1"/>
          </p:cNvSpPr>
          <p:nvPr/>
        </p:nvSpPr>
        <p:spPr bwMode="auto">
          <a:xfrm>
            <a:off x="6595619" y="5426496"/>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29" name="Line 31"/>
          <p:cNvSpPr>
            <a:spLocks noChangeShapeType="1"/>
          </p:cNvSpPr>
          <p:nvPr/>
        </p:nvSpPr>
        <p:spPr bwMode="auto">
          <a:xfrm>
            <a:off x="8424419" y="5426496"/>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0" name="Text Box 32"/>
          <p:cNvSpPr txBox="1">
            <a:spLocks noChangeArrowheads="1"/>
          </p:cNvSpPr>
          <p:nvPr/>
        </p:nvSpPr>
        <p:spPr bwMode="auto">
          <a:xfrm>
            <a:off x="7129167" y="5738513"/>
            <a:ext cx="11543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00"/>
                </a:solidFill>
                <a:effectLst>
                  <a:outerShdw blurRad="38100" dist="38100" dir="2700000" algn="tl">
                    <a:srgbClr val="C0C0C0"/>
                  </a:outerShdw>
                </a:effectLst>
                <a:ea typeface="黑体" panose="02010609060101010101" pitchFamily="49" charset="-122"/>
              </a:rPr>
              <a:t>．．．</a:t>
            </a:r>
          </a:p>
        </p:txBody>
      </p:sp>
      <p:sp>
        <p:nvSpPr>
          <p:cNvPr id="31" name="Line 33"/>
          <p:cNvSpPr>
            <a:spLocks noChangeShapeType="1"/>
          </p:cNvSpPr>
          <p:nvPr/>
        </p:nvSpPr>
        <p:spPr bwMode="auto">
          <a:xfrm>
            <a:off x="6621779" y="6567508"/>
            <a:ext cx="18026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2" name="Line 34"/>
          <p:cNvSpPr>
            <a:spLocks noChangeShapeType="1"/>
          </p:cNvSpPr>
          <p:nvPr/>
        </p:nvSpPr>
        <p:spPr bwMode="auto">
          <a:xfrm>
            <a:off x="6595619" y="6188496"/>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3" name="Line 35"/>
          <p:cNvSpPr>
            <a:spLocks noChangeShapeType="1"/>
          </p:cNvSpPr>
          <p:nvPr/>
        </p:nvSpPr>
        <p:spPr bwMode="auto">
          <a:xfrm>
            <a:off x="8424419" y="6188496"/>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4" name="Line 37"/>
          <p:cNvSpPr>
            <a:spLocks noChangeShapeType="1"/>
          </p:cNvSpPr>
          <p:nvPr/>
        </p:nvSpPr>
        <p:spPr bwMode="auto">
          <a:xfrm>
            <a:off x="7433819" y="6188496"/>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5" name="Line 38"/>
          <p:cNvSpPr>
            <a:spLocks noChangeShapeType="1"/>
          </p:cNvSpPr>
          <p:nvPr/>
        </p:nvSpPr>
        <p:spPr bwMode="auto">
          <a:xfrm>
            <a:off x="7433819" y="5426496"/>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6" name="Line 39"/>
          <p:cNvSpPr>
            <a:spLocks noChangeShapeType="1"/>
          </p:cNvSpPr>
          <p:nvPr/>
        </p:nvSpPr>
        <p:spPr bwMode="auto">
          <a:xfrm>
            <a:off x="1258808" y="6196828"/>
            <a:ext cx="0" cy="37901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ea typeface="仿宋_GB2312" pitchFamily="49" charset="-122"/>
            </a:endParaRPr>
          </a:p>
        </p:txBody>
      </p:sp>
      <p:sp>
        <p:nvSpPr>
          <p:cNvPr id="37" name="Text Box 40"/>
          <p:cNvSpPr txBox="1">
            <a:spLocks noChangeArrowheads="1"/>
          </p:cNvSpPr>
          <p:nvPr/>
        </p:nvSpPr>
        <p:spPr bwMode="auto">
          <a:xfrm>
            <a:off x="3070477" y="4798340"/>
            <a:ext cx="351093" cy="398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a:solidFill>
                  <a:srgbClr val="000000"/>
                </a:solidFill>
                <a:effectLst>
                  <a:outerShdw blurRad="38100" dist="38100" dir="2700000" algn="tl">
                    <a:srgbClr val="C0C0C0"/>
                  </a:outerShdw>
                </a:effectLst>
                <a:ea typeface="黑体" panose="02010609060101010101" pitchFamily="49" charset="-122"/>
              </a:rPr>
              <a:t>Y</a:t>
            </a:r>
          </a:p>
        </p:txBody>
      </p:sp>
      <p:sp>
        <p:nvSpPr>
          <p:cNvPr id="38" name="Text Box 41"/>
          <p:cNvSpPr txBox="1">
            <a:spLocks noChangeArrowheads="1"/>
          </p:cNvSpPr>
          <p:nvPr/>
        </p:nvSpPr>
        <p:spPr bwMode="auto">
          <a:xfrm>
            <a:off x="4747083" y="4798340"/>
            <a:ext cx="365313" cy="398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a:solidFill>
                  <a:srgbClr val="000000"/>
                </a:solidFill>
                <a:effectLst>
                  <a:outerShdw blurRad="38100" dist="38100" dir="2700000" algn="tl">
                    <a:srgbClr val="C0C0C0"/>
                  </a:outerShdw>
                </a:effectLst>
                <a:ea typeface="黑体" panose="02010609060101010101" pitchFamily="49" charset="-122"/>
              </a:rPr>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5">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5">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5">
                                            <p:txEl>
                                              <p:pRg st="2" end="2"/>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5">
                                            <p:txEl>
                                              <p:pRg st="3" end="3"/>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dissolve">
                                      <p:cBhvr>
                                        <p:cTn id="28" dur="500"/>
                                        <p:tgtEl>
                                          <p:spTgt spid="8"/>
                                        </p:tgtEl>
                                      </p:cBhvr>
                                    </p:animEffect>
                                  </p:childTnLst>
                                </p:cTn>
                              </p:par>
                            </p:childTnLst>
                          </p:cTn>
                        </p:par>
                        <p:par>
                          <p:cTn id="29" fill="hold">
                            <p:stCondLst>
                              <p:cond delay="500"/>
                            </p:stCondLst>
                            <p:childTnLst>
                              <p:par>
                                <p:cTn id="30" presetID="17" presetClass="entr" presetSubtype="1"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ppt_x</p:attrName>
                                        </p:attrNameLst>
                                      </p:cBhvr>
                                      <p:tavLst>
                                        <p:tav tm="0">
                                          <p:val>
                                            <p:strVal val="#ppt_x"/>
                                          </p:val>
                                        </p:tav>
                                        <p:tav tm="100000">
                                          <p:val>
                                            <p:strVal val="#ppt_x"/>
                                          </p:val>
                                        </p:tav>
                                      </p:tavLst>
                                    </p:anim>
                                    <p:anim calcmode="lin" valueType="num">
                                      <p:cBhvr>
                                        <p:cTn id="33" dur="500" fill="hold"/>
                                        <p:tgtEl>
                                          <p:spTgt spid="11"/>
                                        </p:tgtEl>
                                        <p:attrNameLst>
                                          <p:attrName>ppt_y</p:attrName>
                                        </p:attrNameLst>
                                      </p:cBhvr>
                                      <p:tavLst>
                                        <p:tav tm="0">
                                          <p:val>
                                            <p:strVal val="#ppt_y-#ppt_h/2"/>
                                          </p:val>
                                        </p:tav>
                                        <p:tav tm="100000">
                                          <p:val>
                                            <p:strVal val="#ppt_y"/>
                                          </p:val>
                                        </p:tav>
                                      </p:tavLst>
                                    </p:anim>
                                    <p:anim calcmode="lin" valueType="num">
                                      <p:cBhvr>
                                        <p:cTn id="34" dur="500" fill="hold"/>
                                        <p:tgtEl>
                                          <p:spTgt spid="11"/>
                                        </p:tgtEl>
                                        <p:attrNameLst>
                                          <p:attrName>ppt_w</p:attrName>
                                        </p:attrNameLst>
                                      </p:cBhvr>
                                      <p:tavLst>
                                        <p:tav tm="0">
                                          <p:val>
                                            <p:strVal val="#ppt_w"/>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childTnLst>
                                </p:cTn>
                              </p:par>
                            </p:childTnLst>
                          </p:cTn>
                        </p:par>
                        <p:par>
                          <p:cTn id="36" fill="hold">
                            <p:stCondLst>
                              <p:cond delay="1000"/>
                            </p:stCondLst>
                            <p:childTnLst>
                              <p:par>
                                <p:cTn id="37" presetID="9"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dissolve">
                                      <p:cBhvr>
                                        <p:cTn id="39" dur="500"/>
                                        <p:tgtEl>
                                          <p:spTgt spid="6"/>
                                        </p:tgtEl>
                                      </p:cBhvr>
                                    </p:animEffect>
                                  </p:childTnLst>
                                </p:cTn>
                              </p:par>
                            </p:childTnLst>
                          </p:cTn>
                        </p:par>
                        <p:par>
                          <p:cTn id="40" fill="hold">
                            <p:stCondLst>
                              <p:cond delay="1500"/>
                            </p:stCondLst>
                            <p:childTnLst>
                              <p:par>
                                <p:cTn id="41" presetID="17" presetClass="entr" presetSubtype="1" fill="hold" nodeType="after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p:cTn id="43" dur="500" fill="hold"/>
                                        <p:tgtEl>
                                          <p:spTgt spid="12"/>
                                        </p:tgtEl>
                                        <p:attrNameLst>
                                          <p:attrName>ppt_x</p:attrName>
                                        </p:attrNameLst>
                                      </p:cBhvr>
                                      <p:tavLst>
                                        <p:tav tm="0">
                                          <p:val>
                                            <p:strVal val="#ppt_x"/>
                                          </p:val>
                                        </p:tav>
                                        <p:tav tm="100000">
                                          <p:val>
                                            <p:strVal val="#ppt_x"/>
                                          </p:val>
                                        </p:tav>
                                      </p:tavLst>
                                    </p:anim>
                                    <p:anim calcmode="lin" valueType="num">
                                      <p:cBhvr>
                                        <p:cTn id="44" dur="500" fill="hold"/>
                                        <p:tgtEl>
                                          <p:spTgt spid="12"/>
                                        </p:tgtEl>
                                        <p:attrNameLst>
                                          <p:attrName>ppt_y</p:attrName>
                                        </p:attrNameLst>
                                      </p:cBhvr>
                                      <p:tavLst>
                                        <p:tav tm="0">
                                          <p:val>
                                            <p:strVal val="#ppt_y-#ppt_h/2"/>
                                          </p:val>
                                        </p:tav>
                                        <p:tav tm="100000">
                                          <p:val>
                                            <p:strVal val="#ppt_y"/>
                                          </p:val>
                                        </p:tav>
                                      </p:tavLst>
                                    </p:anim>
                                    <p:anim calcmode="lin" valueType="num">
                                      <p:cBhvr>
                                        <p:cTn id="45" dur="500" fill="hold"/>
                                        <p:tgtEl>
                                          <p:spTgt spid="12"/>
                                        </p:tgtEl>
                                        <p:attrNameLst>
                                          <p:attrName>ppt_w</p:attrName>
                                        </p:attrNameLst>
                                      </p:cBhvr>
                                      <p:tavLst>
                                        <p:tav tm="0">
                                          <p:val>
                                            <p:strVal val="#ppt_w"/>
                                          </p:val>
                                        </p:tav>
                                        <p:tav tm="100000">
                                          <p:val>
                                            <p:strVal val="#ppt_w"/>
                                          </p:val>
                                        </p:tav>
                                      </p:tavLst>
                                    </p:anim>
                                    <p:anim calcmode="lin" valueType="num">
                                      <p:cBhvr>
                                        <p:cTn id="46" dur="500" fill="hold"/>
                                        <p:tgtEl>
                                          <p:spTgt spid="12"/>
                                        </p:tgtEl>
                                        <p:attrNameLst>
                                          <p:attrName>ppt_h</p:attrName>
                                        </p:attrNameLst>
                                      </p:cBhvr>
                                      <p:tavLst>
                                        <p:tav tm="0">
                                          <p:val>
                                            <p:fltVal val="0"/>
                                          </p:val>
                                        </p:tav>
                                        <p:tav tm="100000">
                                          <p:val>
                                            <p:strVal val="#ppt_h"/>
                                          </p:val>
                                        </p:tav>
                                      </p:tavLst>
                                    </p:anim>
                                  </p:childTnLst>
                                </p:cTn>
                              </p:par>
                            </p:childTnLst>
                          </p:cTn>
                        </p:par>
                        <p:par>
                          <p:cTn id="47" fill="hold">
                            <p:stCondLst>
                              <p:cond delay="2000"/>
                            </p:stCondLst>
                            <p:childTnLst>
                              <p:par>
                                <p:cTn id="48" presetID="9" presetClass="entr" presetSubtype="0" fill="hold" nodeType="after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dissolve">
                                      <p:cBhvr>
                                        <p:cTn id="50" dur="500"/>
                                        <p:tgtEl>
                                          <p:spTgt spid="7"/>
                                        </p:tgtEl>
                                      </p:cBhvr>
                                    </p:animEffect>
                                  </p:childTnLst>
                                </p:cTn>
                              </p:par>
                            </p:childTnLst>
                          </p:cTn>
                        </p:par>
                        <p:par>
                          <p:cTn id="51" fill="hold">
                            <p:stCondLst>
                              <p:cond delay="2500"/>
                            </p:stCondLst>
                            <p:childTnLst>
                              <p:par>
                                <p:cTn id="52" presetID="17" presetClass="entr" presetSubtype="1"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p:cTn id="54" dur="500" fill="hold"/>
                                        <p:tgtEl>
                                          <p:spTgt spid="36"/>
                                        </p:tgtEl>
                                        <p:attrNameLst>
                                          <p:attrName>ppt_x</p:attrName>
                                        </p:attrNameLst>
                                      </p:cBhvr>
                                      <p:tavLst>
                                        <p:tav tm="0">
                                          <p:val>
                                            <p:strVal val="#ppt_x"/>
                                          </p:val>
                                        </p:tav>
                                        <p:tav tm="100000">
                                          <p:val>
                                            <p:strVal val="#ppt_x"/>
                                          </p:val>
                                        </p:tav>
                                      </p:tavLst>
                                    </p:anim>
                                    <p:anim calcmode="lin" valueType="num">
                                      <p:cBhvr>
                                        <p:cTn id="55" dur="500" fill="hold"/>
                                        <p:tgtEl>
                                          <p:spTgt spid="36"/>
                                        </p:tgtEl>
                                        <p:attrNameLst>
                                          <p:attrName>ppt_y</p:attrName>
                                        </p:attrNameLst>
                                      </p:cBhvr>
                                      <p:tavLst>
                                        <p:tav tm="0">
                                          <p:val>
                                            <p:strVal val="#ppt_y-#ppt_h/2"/>
                                          </p:val>
                                        </p:tav>
                                        <p:tav tm="100000">
                                          <p:val>
                                            <p:strVal val="#ppt_y"/>
                                          </p:val>
                                        </p:tav>
                                      </p:tavLst>
                                    </p:anim>
                                    <p:anim calcmode="lin" valueType="num">
                                      <p:cBhvr>
                                        <p:cTn id="56" dur="500" fill="hold"/>
                                        <p:tgtEl>
                                          <p:spTgt spid="36"/>
                                        </p:tgtEl>
                                        <p:attrNameLst>
                                          <p:attrName>ppt_w</p:attrName>
                                        </p:attrNameLst>
                                      </p:cBhvr>
                                      <p:tavLst>
                                        <p:tav tm="0">
                                          <p:val>
                                            <p:strVal val="#ppt_w"/>
                                          </p:val>
                                        </p:tav>
                                        <p:tav tm="100000">
                                          <p:val>
                                            <p:strVal val="#ppt_w"/>
                                          </p:val>
                                        </p:tav>
                                      </p:tavLst>
                                    </p:anim>
                                    <p:anim calcmode="lin" valueType="num">
                                      <p:cBhvr>
                                        <p:cTn id="57" dur="500" fill="hold"/>
                                        <p:tgtEl>
                                          <p:spTgt spid="36"/>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dissolve">
                                      <p:cBhvr>
                                        <p:cTn id="62" dur="500"/>
                                        <p:tgtEl>
                                          <p:spTgt spid="9"/>
                                        </p:tgtEl>
                                      </p:cBhvr>
                                    </p:animEffect>
                                  </p:childTnLst>
                                </p:cTn>
                              </p:par>
                            </p:childTnLst>
                          </p:cTn>
                        </p:par>
                        <p:par>
                          <p:cTn id="63" fill="hold">
                            <p:stCondLst>
                              <p:cond delay="500"/>
                            </p:stCondLst>
                            <p:childTnLst>
                              <p:par>
                                <p:cTn id="64" presetID="9" presetClass="entr" presetSubtype="0" fill="hold" nodeType="after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dissolve">
                                      <p:cBhvr>
                                        <p:cTn id="66" dur="500"/>
                                        <p:tgtEl>
                                          <p:spTgt spid="14"/>
                                        </p:tgtEl>
                                      </p:cBhvr>
                                    </p:animEffect>
                                  </p:childTnLst>
                                </p:cTn>
                              </p:par>
                            </p:childTnLst>
                          </p:cTn>
                        </p:par>
                        <p:par>
                          <p:cTn id="67" fill="hold">
                            <p:stCondLst>
                              <p:cond delay="1000"/>
                            </p:stCondLst>
                            <p:childTnLst>
                              <p:par>
                                <p:cTn id="68" presetID="9" presetClass="entr" presetSubtype="0" fill="hold" nodeType="after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dissolve">
                                      <p:cBhvr>
                                        <p:cTn id="70" dur="500"/>
                                        <p:tgtEl>
                                          <p:spTgt spid="13"/>
                                        </p:tgtEl>
                                      </p:cBhvr>
                                    </p:animEffect>
                                  </p:childTnLst>
                                </p:cTn>
                              </p:par>
                            </p:childTnLst>
                          </p:cTn>
                        </p:par>
                        <p:par>
                          <p:cTn id="71" fill="hold">
                            <p:stCondLst>
                              <p:cond delay="1500"/>
                            </p:stCondLst>
                            <p:childTnLst>
                              <p:par>
                                <p:cTn id="72" presetID="9" presetClass="entr" presetSubtype="0" fill="hold" grpId="0" nodeType="after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dissolve">
                                      <p:cBhvr>
                                        <p:cTn id="74" dur="500"/>
                                        <p:tgtEl>
                                          <p:spTgt spid="37"/>
                                        </p:tgtEl>
                                      </p:cBhvr>
                                    </p:animEffect>
                                  </p:childTnLst>
                                </p:cTn>
                              </p:par>
                            </p:childTnLst>
                          </p:cTn>
                        </p:par>
                        <p:par>
                          <p:cTn id="75" fill="hold">
                            <p:stCondLst>
                              <p:cond delay="2000"/>
                            </p:stCondLst>
                            <p:childTnLst>
                              <p:par>
                                <p:cTn id="76" presetID="9" presetClass="entr" presetSubtype="0" fill="hold" nodeType="afterEffect">
                                  <p:stCondLst>
                                    <p:cond delay="0"/>
                                  </p:stCondLst>
                                  <p:childTnLst>
                                    <p:set>
                                      <p:cBhvr>
                                        <p:cTn id="77" dur="1" fill="hold">
                                          <p:stCondLst>
                                            <p:cond delay="0"/>
                                          </p:stCondLst>
                                        </p:cTn>
                                        <p:tgtEl>
                                          <p:spTgt spid="17"/>
                                        </p:tgtEl>
                                        <p:attrNameLst>
                                          <p:attrName>style.visibility</p:attrName>
                                        </p:attrNameLst>
                                      </p:cBhvr>
                                      <p:to>
                                        <p:strVal val="visible"/>
                                      </p:to>
                                    </p:set>
                                    <p:animEffect transition="in" filter="dissolve">
                                      <p:cBhvr>
                                        <p:cTn id="78" dur="500"/>
                                        <p:tgtEl>
                                          <p:spTgt spid="17"/>
                                        </p:tgtEl>
                                      </p:cBhvr>
                                    </p:animEffect>
                                  </p:childTnLst>
                                </p:cTn>
                              </p:par>
                            </p:childTnLst>
                          </p:cTn>
                        </p:par>
                        <p:par>
                          <p:cTn id="79" fill="hold">
                            <p:stCondLst>
                              <p:cond delay="2500"/>
                            </p:stCondLst>
                            <p:childTnLst>
                              <p:par>
                                <p:cTn id="80" presetID="9" presetClass="entr" presetSubtype="0" fill="hold" nodeType="afterEffect">
                                  <p:stCondLst>
                                    <p:cond delay="0"/>
                                  </p:stCondLst>
                                  <p:childTnLst>
                                    <p:set>
                                      <p:cBhvr>
                                        <p:cTn id="81" dur="1" fill="hold">
                                          <p:stCondLst>
                                            <p:cond delay="0"/>
                                          </p:stCondLst>
                                        </p:cTn>
                                        <p:tgtEl>
                                          <p:spTgt spid="15"/>
                                        </p:tgtEl>
                                        <p:attrNameLst>
                                          <p:attrName>style.visibility</p:attrName>
                                        </p:attrNameLst>
                                      </p:cBhvr>
                                      <p:to>
                                        <p:strVal val="visible"/>
                                      </p:to>
                                    </p:set>
                                    <p:animEffect transition="in" filter="dissolve">
                                      <p:cBhvr>
                                        <p:cTn id="82" dur="500"/>
                                        <p:tgtEl>
                                          <p:spTgt spid="15"/>
                                        </p:tgtEl>
                                      </p:cBhvr>
                                    </p:animEffect>
                                  </p:childTnLst>
                                </p:cTn>
                              </p:par>
                            </p:childTnLst>
                          </p:cTn>
                        </p:par>
                        <p:par>
                          <p:cTn id="83" fill="hold">
                            <p:stCondLst>
                              <p:cond delay="3000"/>
                            </p:stCondLst>
                            <p:childTnLst>
                              <p:par>
                                <p:cTn id="84" presetID="9" presetClass="entr" presetSubtype="0" fill="hold" grpId="0" nodeType="after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dissolve">
                                      <p:cBhvr>
                                        <p:cTn id="86" dur="500"/>
                                        <p:tgtEl>
                                          <p:spTgt spid="38"/>
                                        </p:tgtEl>
                                      </p:cBhvr>
                                    </p:animEffect>
                                  </p:childTnLst>
                                </p:cTn>
                              </p:par>
                            </p:childTnLst>
                          </p:cTn>
                        </p:par>
                        <p:par>
                          <p:cTn id="87" fill="hold">
                            <p:stCondLst>
                              <p:cond delay="3500"/>
                            </p:stCondLst>
                            <p:childTnLst>
                              <p:par>
                                <p:cTn id="88" presetID="9" presetClass="entr" presetSubtype="0" fill="hold" nodeType="after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dissolve">
                                      <p:cBhvr>
                                        <p:cTn id="90" dur="500"/>
                                        <p:tgtEl>
                                          <p:spTgt spid="18"/>
                                        </p:tgtEl>
                                      </p:cBhvr>
                                    </p:animEffect>
                                  </p:childTnLst>
                                </p:cTn>
                              </p:par>
                            </p:childTnLst>
                          </p:cTn>
                        </p:par>
                        <p:par>
                          <p:cTn id="91" fill="hold">
                            <p:stCondLst>
                              <p:cond delay="4000"/>
                            </p:stCondLst>
                            <p:childTnLst>
                              <p:par>
                                <p:cTn id="92" presetID="9" presetClass="entr" presetSubtype="0" fill="hold" nodeType="afterEffect">
                                  <p:stCondLst>
                                    <p:cond delay="0"/>
                                  </p:stCondLst>
                                  <p:childTnLst>
                                    <p:set>
                                      <p:cBhvr>
                                        <p:cTn id="93" dur="1" fill="hold">
                                          <p:stCondLst>
                                            <p:cond delay="0"/>
                                          </p:stCondLst>
                                        </p:cTn>
                                        <p:tgtEl>
                                          <p:spTgt spid="16"/>
                                        </p:tgtEl>
                                        <p:attrNameLst>
                                          <p:attrName>style.visibility</p:attrName>
                                        </p:attrNameLst>
                                      </p:cBhvr>
                                      <p:to>
                                        <p:strVal val="visible"/>
                                      </p:to>
                                    </p:set>
                                    <p:animEffect transition="in" filter="dissolve">
                                      <p:cBhvr>
                                        <p:cTn id="94" dur="500"/>
                                        <p:tgtEl>
                                          <p:spTgt spid="16"/>
                                        </p:tgtEl>
                                      </p:cBhvr>
                                    </p:animEffect>
                                  </p:childTnLst>
                                </p:cTn>
                              </p:par>
                            </p:childTnLst>
                          </p:cTn>
                        </p:par>
                        <p:par>
                          <p:cTn id="95" fill="hold">
                            <p:stCondLst>
                              <p:cond delay="4500"/>
                            </p:stCondLst>
                            <p:childTnLst>
                              <p:par>
                                <p:cTn id="96" presetID="9" presetClass="entr" presetSubtype="0" fill="hold" nodeType="afterEffect">
                                  <p:stCondLst>
                                    <p:cond delay="0"/>
                                  </p:stCondLst>
                                  <p:childTnLst>
                                    <p:set>
                                      <p:cBhvr>
                                        <p:cTn id="97" dur="1" fill="hold">
                                          <p:stCondLst>
                                            <p:cond delay="0"/>
                                          </p:stCondLst>
                                        </p:cTn>
                                        <p:tgtEl>
                                          <p:spTgt spid="20"/>
                                        </p:tgtEl>
                                        <p:attrNameLst>
                                          <p:attrName>style.visibility</p:attrName>
                                        </p:attrNameLst>
                                      </p:cBhvr>
                                      <p:to>
                                        <p:strVal val="visible"/>
                                      </p:to>
                                    </p:set>
                                    <p:animEffect transition="in" filter="dissolve">
                                      <p:cBhvr>
                                        <p:cTn id="98" dur="500"/>
                                        <p:tgtEl>
                                          <p:spTgt spid="20"/>
                                        </p:tgtEl>
                                      </p:cBhvr>
                                    </p:animEffect>
                                  </p:childTnLst>
                                </p:cTn>
                              </p:par>
                            </p:childTnLst>
                          </p:cTn>
                        </p:par>
                        <p:par>
                          <p:cTn id="99" fill="hold">
                            <p:stCondLst>
                              <p:cond delay="5000"/>
                            </p:stCondLst>
                            <p:childTnLst>
                              <p:par>
                                <p:cTn id="100" presetID="9" presetClass="entr" presetSubtype="0" fill="hold" nodeType="afterEffect">
                                  <p:stCondLst>
                                    <p:cond delay="0"/>
                                  </p:stCondLst>
                                  <p:childTnLst>
                                    <p:set>
                                      <p:cBhvr>
                                        <p:cTn id="101" dur="1" fill="hold">
                                          <p:stCondLst>
                                            <p:cond delay="0"/>
                                          </p:stCondLst>
                                        </p:cTn>
                                        <p:tgtEl>
                                          <p:spTgt spid="19"/>
                                        </p:tgtEl>
                                        <p:attrNameLst>
                                          <p:attrName>style.visibility</p:attrName>
                                        </p:attrNameLst>
                                      </p:cBhvr>
                                      <p:to>
                                        <p:strVal val="visible"/>
                                      </p:to>
                                    </p:set>
                                    <p:animEffect transition="in" filter="dissolve">
                                      <p:cBhvr>
                                        <p:cTn id="102" dur="500"/>
                                        <p:tgtEl>
                                          <p:spTgt spid="19"/>
                                        </p:tgtEl>
                                      </p:cBhvr>
                                    </p:animEffect>
                                  </p:childTnLst>
                                </p:cTn>
                              </p:par>
                            </p:childTnLst>
                          </p:cTn>
                        </p:par>
                        <p:par>
                          <p:cTn id="103" fill="hold">
                            <p:stCondLst>
                              <p:cond delay="5500"/>
                            </p:stCondLst>
                            <p:childTnLst>
                              <p:par>
                                <p:cTn id="104" presetID="16" presetClass="entr" presetSubtype="37" fill="hold" nodeType="afterEffect">
                                  <p:stCondLst>
                                    <p:cond delay="0"/>
                                  </p:stCondLst>
                                  <p:childTnLst>
                                    <p:set>
                                      <p:cBhvr>
                                        <p:cTn id="105" dur="1" fill="hold">
                                          <p:stCondLst>
                                            <p:cond delay="0"/>
                                          </p:stCondLst>
                                        </p:cTn>
                                        <p:tgtEl>
                                          <p:spTgt spid="21"/>
                                        </p:tgtEl>
                                        <p:attrNameLst>
                                          <p:attrName>style.visibility</p:attrName>
                                        </p:attrNameLst>
                                      </p:cBhvr>
                                      <p:to>
                                        <p:strVal val="visible"/>
                                      </p:to>
                                    </p:set>
                                    <p:animEffect transition="in" filter="barn(outVertical)">
                                      <p:cBhvr>
                                        <p:cTn id="106" dur="500"/>
                                        <p:tgtEl>
                                          <p:spTgt spid="21"/>
                                        </p:tgtEl>
                                      </p:cBhvr>
                                    </p:animEffect>
                                  </p:childTnLst>
                                </p:cTn>
                              </p:par>
                            </p:childTnLst>
                          </p:cTn>
                        </p:par>
                      </p:childTnLst>
                    </p:cTn>
                  </p:par>
                  <p:par>
                    <p:cTn id="107" fill="hold">
                      <p:stCondLst>
                        <p:cond delay="indefinite"/>
                      </p:stCondLst>
                      <p:childTnLst>
                        <p:par>
                          <p:cTn id="108" fill="hold">
                            <p:stCondLst>
                              <p:cond delay="0"/>
                            </p:stCondLst>
                            <p:childTnLst>
                              <p:par>
                                <p:cTn id="109" presetID="9" presetClass="entr" presetSubtype="0" fill="hold" grpId="0" nodeType="clickEffect">
                                  <p:stCondLst>
                                    <p:cond delay="0"/>
                                  </p:stCondLst>
                                  <p:childTnLst>
                                    <p:set>
                                      <p:cBhvr>
                                        <p:cTn id="110" dur="1" fill="hold">
                                          <p:stCondLst>
                                            <p:cond delay="0"/>
                                          </p:stCondLst>
                                        </p:cTn>
                                        <p:tgtEl>
                                          <p:spTgt spid="10"/>
                                        </p:tgtEl>
                                        <p:attrNameLst>
                                          <p:attrName>style.visibility</p:attrName>
                                        </p:attrNameLst>
                                      </p:cBhvr>
                                      <p:to>
                                        <p:strVal val="visible"/>
                                      </p:to>
                                    </p:set>
                                    <p:animEffect transition="in" filter="dissolve">
                                      <p:cBhvr>
                                        <p:cTn id="111" dur="500"/>
                                        <p:tgtEl>
                                          <p:spTgt spid="10"/>
                                        </p:tgtEl>
                                      </p:cBhvr>
                                    </p:animEffect>
                                  </p:childTnLst>
                                </p:cTn>
                              </p:par>
                            </p:childTnLst>
                          </p:cTn>
                        </p:par>
                        <p:par>
                          <p:cTn id="112" fill="hold">
                            <p:stCondLst>
                              <p:cond delay="500"/>
                            </p:stCondLst>
                            <p:childTnLst>
                              <p:par>
                                <p:cTn id="113" presetID="9" presetClass="entr" presetSubtype="0" fill="hold" nodeType="after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dissolve">
                                      <p:cBhvr>
                                        <p:cTn id="115" dur="500"/>
                                        <p:tgtEl>
                                          <p:spTgt spid="23"/>
                                        </p:tgtEl>
                                      </p:cBhvr>
                                    </p:animEffect>
                                  </p:childTnLst>
                                </p:cTn>
                              </p:par>
                            </p:childTnLst>
                          </p:cTn>
                        </p:par>
                        <p:par>
                          <p:cTn id="116" fill="hold">
                            <p:stCondLst>
                              <p:cond delay="1000"/>
                            </p:stCondLst>
                            <p:childTnLst>
                              <p:par>
                                <p:cTn id="117" presetID="9" presetClass="entr" presetSubtype="0" fill="hold" nodeType="afterEffect">
                                  <p:stCondLst>
                                    <p:cond delay="0"/>
                                  </p:stCondLst>
                                  <p:childTnLst>
                                    <p:set>
                                      <p:cBhvr>
                                        <p:cTn id="118" dur="1" fill="hold">
                                          <p:stCondLst>
                                            <p:cond delay="0"/>
                                          </p:stCondLst>
                                        </p:cTn>
                                        <p:tgtEl>
                                          <p:spTgt spid="22"/>
                                        </p:tgtEl>
                                        <p:attrNameLst>
                                          <p:attrName>style.visibility</p:attrName>
                                        </p:attrNameLst>
                                      </p:cBhvr>
                                      <p:to>
                                        <p:strVal val="visible"/>
                                      </p:to>
                                    </p:set>
                                    <p:animEffect transition="in" filter="dissolve">
                                      <p:cBhvr>
                                        <p:cTn id="119" dur="500"/>
                                        <p:tgtEl>
                                          <p:spTgt spid="22"/>
                                        </p:tgtEl>
                                      </p:cBhvr>
                                    </p:animEffect>
                                  </p:childTnLst>
                                </p:cTn>
                              </p:par>
                            </p:childTnLst>
                          </p:cTn>
                        </p:par>
                        <p:par>
                          <p:cTn id="120" fill="hold">
                            <p:stCondLst>
                              <p:cond delay="1500"/>
                            </p:stCondLst>
                            <p:childTnLst>
                              <p:par>
                                <p:cTn id="121" presetID="9" presetClass="entr" presetSubtype="0" fill="hold" nodeType="afterEffect">
                                  <p:stCondLst>
                                    <p:cond delay="0"/>
                                  </p:stCondLst>
                                  <p:childTnLst>
                                    <p:set>
                                      <p:cBhvr>
                                        <p:cTn id="122" dur="1" fill="hold">
                                          <p:stCondLst>
                                            <p:cond delay="0"/>
                                          </p:stCondLst>
                                        </p:cTn>
                                        <p:tgtEl>
                                          <p:spTgt spid="24"/>
                                        </p:tgtEl>
                                        <p:attrNameLst>
                                          <p:attrName>style.visibility</p:attrName>
                                        </p:attrNameLst>
                                      </p:cBhvr>
                                      <p:to>
                                        <p:strVal val="visible"/>
                                      </p:to>
                                    </p:set>
                                    <p:animEffect transition="in" filter="dissolve">
                                      <p:cBhvr>
                                        <p:cTn id="123" dur="500"/>
                                        <p:tgtEl>
                                          <p:spTgt spid="24"/>
                                        </p:tgtEl>
                                      </p:cBhvr>
                                    </p:animEffect>
                                  </p:childTnLst>
                                </p:cTn>
                              </p:par>
                            </p:childTnLst>
                          </p:cTn>
                        </p:par>
                        <p:par>
                          <p:cTn id="124" fill="hold">
                            <p:stCondLst>
                              <p:cond delay="2000"/>
                            </p:stCondLst>
                            <p:childTnLst>
                              <p:par>
                                <p:cTn id="125" presetID="16" presetClass="entr" presetSubtype="37" fill="hold" nodeType="after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barn(outVertical)">
                                      <p:cBhvr>
                                        <p:cTn id="127" dur="500"/>
                                        <p:tgtEl>
                                          <p:spTgt spid="25"/>
                                        </p:tgtEl>
                                      </p:cBhvr>
                                    </p:animEffect>
                                  </p:childTnLst>
                                </p:cTn>
                              </p:par>
                            </p:childTnLst>
                          </p:cTn>
                        </p:par>
                        <p:par>
                          <p:cTn id="128" fill="hold">
                            <p:stCondLst>
                              <p:cond delay="2500"/>
                            </p:stCondLst>
                            <p:childTnLst>
                              <p:par>
                                <p:cTn id="129" presetID="9" presetClass="entr" presetSubtype="0" fill="hold" nodeType="afterEffect">
                                  <p:stCondLst>
                                    <p:cond delay="0"/>
                                  </p:stCondLst>
                                  <p:childTnLst>
                                    <p:set>
                                      <p:cBhvr>
                                        <p:cTn id="130" dur="1" fill="hold">
                                          <p:stCondLst>
                                            <p:cond delay="0"/>
                                          </p:stCondLst>
                                        </p:cTn>
                                        <p:tgtEl>
                                          <p:spTgt spid="28"/>
                                        </p:tgtEl>
                                        <p:attrNameLst>
                                          <p:attrName>style.visibility</p:attrName>
                                        </p:attrNameLst>
                                      </p:cBhvr>
                                      <p:to>
                                        <p:strVal val="visible"/>
                                      </p:to>
                                    </p:set>
                                    <p:animEffect transition="in" filter="dissolve">
                                      <p:cBhvr>
                                        <p:cTn id="131" dur="500"/>
                                        <p:tgtEl>
                                          <p:spTgt spid="28"/>
                                        </p:tgtEl>
                                      </p:cBhvr>
                                    </p:animEffect>
                                  </p:childTnLst>
                                </p:cTn>
                              </p:par>
                            </p:childTnLst>
                          </p:cTn>
                        </p:par>
                        <p:par>
                          <p:cTn id="132" fill="hold">
                            <p:stCondLst>
                              <p:cond delay="3000"/>
                            </p:stCondLst>
                            <p:childTnLst>
                              <p:par>
                                <p:cTn id="133" presetID="9" presetClass="entr" presetSubtype="0" fill="hold" nodeType="afterEffect">
                                  <p:stCondLst>
                                    <p:cond delay="0"/>
                                  </p:stCondLst>
                                  <p:childTnLst>
                                    <p:set>
                                      <p:cBhvr>
                                        <p:cTn id="134" dur="1" fill="hold">
                                          <p:stCondLst>
                                            <p:cond delay="0"/>
                                          </p:stCondLst>
                                        </p:cTn>
                                        <p:tgtEl>
                                          <p:spTgt spid="35"/>
                                        </p:tgtEl>
                                        <p:attrNameLst>
                                          <p:attrName>style.visibility</p:attrName>
                                        </p:attrNameLst>
                                      </p:cBhvr>
                                      <p:to>
                                        <p:strVal val="visible"/>
                                      </p:to>
                                    </p:set>
                                    <p:animEffect transition="in" filter="dissolve">
                                      <p:cBhvr>
                                        <p:cTn id="135" dur="500"/>
                                        <p:tgtEl>
                                          <p:spTgt spid="35"/>
                                        </p:tgtEl>
                                      </p:cBhvr>
                                    </p:animEffect>
                                  </p:childTnLst>
                                </p:cTn>
                              </p:par>
                            </p:childTnLst>
                          </p:cTn>
                        </p:par>
                        <p:par>
                          <p:cTn id="136" fill="hold">
                            <p:stCondLst>
                              <p:cond delay="3500"/>
                            </p:stCondLst>
                            <p:childTnLst>
                              <p:par>
                                <p:cTn id="137" presetID="9" presetClass="entr" presetSubtype="0" fill="hold" nodeType="afterEffect">
                                  <p:stCondLst>
                                    <p:cond delay="0"/>
                                  </p:stCondLst>
                                  <p:childTnLst>
                                    <p:set>
                                      <p:cBhvr>
                                        <p:cTn id="138" dur="1" fill="hold">
                                          <p:stCondLst>
                                            <p:cond delay="0"/>
                                          </p:stCondLst>
                                        </p:cTn>
                                        <p:tgtEl>
                                          <p:spTgt spid="29"/>
                                        </p:tgtEl>
                                        <p:attrNameLst>
                                          <p:attrName>style.visibility</p:attrName>
                                        </p:attrNameLst>
                                      </p:cBhvr>
                                      <p:to>
                                        <p:strVal val="visible"/>
                                      </p:to>
                                    </p:set>
                                    <p:animEffect transition="in" filter="dissolve">
                                      <p:cBhvr>
                                        <p:cTn id="139" dur="500"/>
                                        <p:tgtEl>
                                          <p:spTgt spid="29"/>
                                        </p:tgtEl>
                                      </p:cBhvr>
                                    </p:animEffect>
                                  </p:childTnLst>
                                </p:cTn>
                              </p:par>
                            </p:childTnLst>
                          </p:cTn>
                        </p:par>
                        <p:par>
                          <p:cTn id="140" fill="hold">
                            <p:stCondLst>
                              <p:cond delay="4000"/>
                            </p:stCondLst>
                            <p:childTnLst>
                              <p:par>
                                <p:cTn id="141" presetID="9" presetClass="entr" presetSubtype="0" fill="hold" nodeType="afterEffect">
                                  <p:stCondLst>
                                    <p:cond delay="0"/>
                                  </p:stCondLst>
                                  <p:childTnLst>
                                    <p:set>
                                      <p:cBhvr>
                                        <p:cTn id="142" dur="1" fill="hold">
                                          <p:stCondLst>
                                            <p:cond delay="0"/>
                                          </p:stCondLst>
                                        </p:cTn>
                                        <p:tgtEl>
                                          <p:spTgt spid="26"/>
                                        </p:tgtEl>
                                        <p:attrNameLst>
                                          <p:attrName>style.visibility</p:attrName>
                                        </p:attrNameLst>
                                      </p:cBhvr>
                                      <p:to>
                                        <p:strVal val="visible"/>
                                      </p:to>
                                    </p:set>
                                    <p:animEffect transition="in" filter="dissolve">
                                      <p:cBhvr>
                                        <p:cTn id="143" dur="500"/>
                                        <p:tgtEl>
                                          <p:spTgt spid="26"/>
                                        </p:tgtEl>
                                      </p:cBhvr>
                                    </p:animEffect>
                                  </p:childTnLst>
                                </p:cTn>
                              </p:par>
                            </p:childTnLst>
                          </p:cTn>
                        </p:par>
                        <p:par>
                          <p:cTn id="144" fill="hold">
                            <p:stCondLst>
                              <p:cond delay="4500"/>
                            </p:stCondLst>
                            <p:childTnLst>
                              <p:par>
                                <p:cTn id="145" presetID="9" presetClass="entr" presetSubtype="0" fill="hold" grpId="0" nodeType="afterEffect">
                                  <p:stCondLst>
                                    <p:cond delay="0"/>
                                  </p:stCondLst>
                                  <p:childTnLst>
                                    <p:set>
                                      <p:cBhvr>
                                        <p:cTn id="146" dur="1" fill="hold">
                                          <p:stCondLst>
                                            <p:cond delay="0"/>
                                          </p:stCondLst>
                                        </p:cTn>
                                        <p:tgtEl>
                                          <p:spTgt spid="30"/>
                                        </p:tgtEl>
                                        <p:attrNameLst>
                                          <p:attrName>style.visibility</p:attrName>
                                        </p:attrNameLst>
                                      </p:cBhvr>
                                      <p:to>
                                        <p:strVal val="visible"/>
                                      </p:to>
                                    </p:set>
                                    <p:animEffect transition="in" filter="dissolve">
                                      <p:cBhvr>
                                        <p:cTn id="147" dur="500"/>
                                        <p:tgtEl>
                                          <p:spTgt spid="30"/>
                                        </p:tgtEl>
                                      </p:cBhvr>
                                    </p:animEffect>
                                  </p:childTnLst>
                                </p:cTn>
                              </p:par>
                            </p:childTnLst>
                          </p:cTn>
                        </p:par>
                        <p:par>
                          <p:cTn id="148" fill="hold">
                            <p:stCondLst>
                              <p:cond delay="5000"/>
                            </p:stCondLst>
                            <p:childTnLst>
                              <p:par>
                                <p:cTn id="149" presetID="9" presetClass="entr" presetSubtype="0" fill="hold" nodeType="afterEffect">
                                  <p:stCondLst>
                                    <p:cond delay="0"/>
                                  </p:stCondLst>
                                  <p:childTnLst>
                                    <p:set>
                                      <p:cBhvr>
                                        <p:cTn id="150" dur="1" fill="hold">
                                          <p:stCondLst>
                                            <p:cond delay="0"/>
                                          </p:stCondLst>
                                        </p:cTn>
                                        <p:tgtEl>
                                          <p:spTgt spid="27"/>
                                        </p:tgtEl>
                                        <p:attrNameLst>
                                          <p:attrName>style.visibility</p:attrName>
                                        </p:attrNameLst>
                                      </p:cBhvr>
                                      <p:to>
                                        <p:strVal val="visible"/>
                                      </p:to>
                                    </p:set>
                                    <p:animEffect transition="in" filter="dissolve">
                                      <p:cBhvr>
                                        <p:cTn id="151" dur="500"/>
                                        <p:tgtEl>
                                          <p:spTgt spid="27"/>
                                        </p:tgtEl>
                                      </p:cBhvr>
                                    </p:animEffect>
                                  </p:childTnLst>
                                </p:cTn>
                              </p:par>
                            </p:childTnLst>
                          </p:cTn>
                        </p:par>
                        <p:par>
                          <p:cTn id="152" fill="hold">
                            <p:stCondLst>
                              <p:cond delay="5500"/>
                            </p:stCondLst>
                            <p:childTnLst>
                              <p:par>
                                <p:cTn id="153" presetID="9" presetClass="entr" presetSubtype="0" fill="hold" nodeType="afterEffect">
                                  <p:stCondLst>
                                    <p:cond delay="0"/>
                                  </p:stCondLst>
                                  <p:childTnLst>
                                    <p:set>
                                      <p:cBhvr>
                                        <p:cTn id="154" dur="1" fill="hold">
                                          <p:stCondLst>
                                            <p:cond delay="0"/>
                                          </p:stCondLst>
                                        </p:cTn>
                                        <p:tgtEl>
                                          <p:spTgt spid="32"/>
                                        </p:tgtEl>
                                        <p:attrNameLst>
                                          <p:attrName>style.visibility</p:attrName>
                                        </p:attrNameLst>
                                      </p:cBhvr>
                                      <p:to>
                                        <p:strVal val="visible"/>
                                      </p:to>
                                    </p:set>
                                    <p:animEffect transition="in" filter="dissolve">
                                      <p:cBhvr>
                                        <p:cTn id="155" dur="500"/>
                                        <p:tgtEl>
                                          <p:spTgt spid="32"/>
                                        </p:tgtEl>
                                      </p:cBhvr>
                                    </p:animEffect>
                                  </p:childTnLst>
                                </p:cTn>
                              </p:par>
                            </p:childTnLst>
                          </p:cTn>
                        </p:par>
                        <p:par>
                          <p:cTn id="156" fill="hold">
                            <p:stCondLst>
                              <p:cond delay="6000"/>
                            </p:stCondLst>
                            <p:childTnLst>
                              <p:par>
                                <p:cTn id="157" presetID="9" presetClass="entr" presetSubtype="0" fill="hold" nodeType="afterEffect">
                                  <p:stCondLst>
                                    <p:cond delay="0"/>
                                  </p:stCondLst>
                                  <p:childTnLst>
                                    <p:set>
                                      <p:cBhvr>
                                        <p:cTn id="158" dur="1" fill="hold">
                                          <p:stCondLst>
                                            <p:cond delay="0"/>
                                          </p:stCondLst>
                                        </p:cTn>
                                        <p:tgtEl>
                                          <p:spTgt spid="34"/>
                                        </p:tgtEl>
                                        <p:attrNameLst>
                                          <p:attrName>style.visibility</p:attrName>
                                        </p:attrNameLst>
                                      </p:cBhvr>
                                      <p:to>
                                        <p:strVal val="visible"/>
                                      </p:to>
                                    </p:set>
                                    <p:animEffect transition="in" filter="dissolve">
                                      <p:cBhvr>
                                        <p:cTn id="159" dur="500"/>
                                        <p:tgtEl>
                                          <p:spTgt spid="34"/>
                                        </p:tgtEl>
                                      </p:cBhvr>
                                    </p:animEffect>
                                  </p:childTnLst>
                                </p:cTn>
                              </p:par>
                            </p:childTnLst>
                          </p:cTn>
                        </p:par>
                        <p:par>
                          <p:cTn id="160" fill="hold">
                            <p:stCondLst>
                              <p:cond delay="6500"/>
                            </p:stCondLst>
                            <p:childTnLst>
                              <p:par>
                                <p:cTn id="161" presetID="9" presetClass="entr" presetSubtype="0" fill="hold" nodeType="afterEffect">
                                  <p:stCondLst>
                                    <p:cond delay="0"/>
                                  </p:stCondLst>
                                  <p:childTnLst>
                                    <p:set>
                                      <p:cBhvr>
                                        <p:cTn id="162" dur="1" fill="hold">
                                          <p:stCondLst>
                                            <p:cond delay="0"/>
                                          </p:stCondLst>
                                        </p:cTn>
                                        <p:tgtEl>
                                          <p:spTgt spid="33"/>
                                        </p:tgtEl>
                                        <p:attrNameLst>
                                          <p:attrName>style.visibility</p:attrName>
                                        </p:attrNameLst>
                                      </p:cBhvr>
                                      <p:to>
                                        <p:strVal val="visible"/>
                                      </p:to>
                                    </p:set>
                                    <p:animEffect transition="in" filter="dissolve">
                                      <p:cBhvr>
                                        <p:cTn id="163" dur="500"/>
                                        <p:tgtEl>
                                          <p:spTgt spid="33"/>
                                        </p:tgtEl>
                                      </p:cBhvr>
                                    </p:animEffect>
                                  </p:childTnLst>
                                </p:cTn>
                              </p:par>
                            </p:childTnLst>
                          </p:cTn>
                        </p:par>
                        <p:par>
                          <p:cTn id="164" fill="hold">
                            <p:stCondLst>
                              <p:cond delay="7000"/>
                            </p:stCondLst>
                            <p:childTnLst>
                              <p:par>
                                <p:cTn id="165" presetID="16" presetClass="entr" presetSubtype="37" fill="hold" nodeType="afterEffect">
                                  <p:stCondLst>
                                    <p:cond delay="0"/>
                                  </p:stCondLst>
                                  <p:childTnLst>
                                    <p:set>
                                      <p:cBhvr>
                                        <p:cTn id="166" dur="1" fill="hold">
                                          <p:stCondLst>
                                            <p:cond delay="0"/>
                                          </p:stCondLst>
                                        </p:cTn>
                                        <p:tgtEl>
                                          <p:spTgt spid="31"/>
                                        </p:tgtEl>
                                        <p:attrNameLst>
                                          <p:attrName>style.visibility</p:attrName>
                                        </p:attrNameLst>
                                      </p:cBhvr>
                                      <p:to>
                                        <p:strVal val="visible"/>
                                      </p:to>
                                    </p:set>
                                    <p:animEffect transition="in" filter="barn(outVertical)">
                                      <p:cBhvr>
                                        <p:cTn id="16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bldLvl="2" autoUpdateAnimBg="0"/>
      <p:bldP spid="8" grpId="0" autoUpdateAnimBg="0"/>
      <p:bldP spid="9" grpId="0" autoUpdateAnimBg="0"/>
      <p:bldP spid="10" grpId="0" autoUpdateAnimBg="0"/>
      <p:bldP spid="30" grpId="0" autoUpdateAnimBg="0"/>
      <p:bldP spid="37" grpId="0" autoUpdateAnimBg="0"/>
      <p:bldP spid="38"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Text Box 5"/>
          <p:cNvSpPr txBox="1">
            <a:spLocks noChangeArrowheads="1"/>
          </p:cNvSpPr>
          <p:nvPr/>
        </p:nvSpPr>
        <p:spPr bwMode="auto">
          <a:xfrm>
            <a:off x="555616" y="1705691"/>
            <a:ext cx="298350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循环控制结构 </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当型循环</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Text Box 6"/>
          <p:cNvSpPr txBox="1">
            <a:spLocks noChangeArrowheads="1"/>
          </p:cNvSpPr>
          <p:nvPr/>
        </p:nvSpPr>
        <p:spPr bwMode="auto">
          <a:xfrm>
            <a:off x="4850655" y="1705691"/>
            <a:ext cx="3239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循环控制结构 </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直到型循环</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 name="AutoShape 7"/>
          <p:cNvSpPr>
            <a:spLocks noChangeArrowheads="1"/>
          </p:cNvSpPr>
          <p:nvPr/>
        </p:nvSpPr>
        <p:spPr bwMode="auto">
          <a:xfrm>
            <a:off x="787823" y="2719568"/>
            <a:ext cx="1600200" cy="378514"/>
          </a:xfrm>
          <a:prstGeom prst="flowChartDecision">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AutoShape 8"/>
          <p:cNvSpPr>
            <a:spLocks noChangeArrowheads="1"/>
          </p:cNvSpPr>
          <p:nvPr/>
        </p:nvSpPr>
        <p:spPr bwMode="auto">
          <a:xfrm>
            <a:off x="2469693" y="3149721"/>
            <a:ext cx="1066800" cy="378514"/>
          </a:xfrm>
          <a:prstGeom prst="flowChartAlternateProcess">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Line 9"/>
          <p:cNvSpPr>
            <a:spLocks noChangeShapeType="1"/>
          </p:cNvSpPr>
          <p:nvPr/>
        </p:nvSpPr>
        <p:spPr bwMode="auto">
          <a:xfrm>
            <a:off x="1619672" y="2375271"/>
            <a:ext cx="0" cy="331199"/>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Line 10"/>
          <p:cNvSpPr>
            <a:spLocks noChangeShapeType="1"/>
          </p:cNvSpPr>
          <p:nvPr/>
        </p:nvSpPr>
        <p:spPr bwMode="auto">
          <a:xfrm>
            <a:off x="1586266" y="3136495"/>
            <a:ext cx="0" cy="612842"/>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Line 11"/>
          <p:cNvSpPr>
            <a:spLocks noChangeShapeType="1"/>
          </p:cNvSpPr>
          <p:nvPr/>
        </p:nvSpPr>
        <p:spPr bwMode="auto">
          <a:xfrm>
            <a:off x="2441308" y="2883094"/>
            <a:ext cx="53340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Line 12"/>
          <p:cNvSpPr>
            <a:spLocks noChangeShapeType="1"/>
          </p:cNvSpPr>
          <p:nvPr/>
        </p:nvSpPr>
        <p:spPr bwMode="auto">
          <a:xfrm>
            <a:off x="2987960" y="2882058"/>
            <a:ext cx="0" cy="23657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Line 13"/>
          <p:cNvSpPr>
            <a:spLocks noChangeShapeType="1"/>
          </p:cNvSpPr>
          <p:nvPr/>
        </p:nvSpPr>
        <p:spPr bwMode="auto">
          <a:xfrm>
            <a:off x="3049250" y="3730305"/>
            <a:ext cx="76200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Line 14"/>
          <p:cNvSpPr>
            <a:spLocks noChangeShapeType="1"/>
          </p:cNvSpPr>
          <p:nvPr/>
        </p:nvSpPr>
        <p:spPr bwMode="auto">
          <a:xfrm flipV="1">
            <a:off x="3027716" y="3512766"/>
            <a:ext cx="0" cy="23657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ine 15"/>
          <p:cNvSpPr>
            <a:spLocks noChangeShapeType="1"/>
          </p:cNvSpPr>
          <p:nvPr/>
        </p:nvSpPr>
        <p:spPr bwMode="auto">
          <a:xfrm flipH="1" flipV="1">
            <a:off x="3811250" y="2495787"/>
            <a:ext cx="0" cy="123016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Line 16"/>
          <p:cNvSpPr>
            <a:spLocks noChangeShapeType="1"/>
          </p:cNvSpPr>
          <p:nvPr/>
        </p:nvSpPr>
        <p:spPr bwMode="auto">
          <a:xfrm flipH="1" flipV="1">
            <a:off x="1619672" y="2502770"/>
            <a:ext cx="2209800" cy="0"/>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AutoShape 17"/>
          <p:cNvSpPr>
            <a:spLocks noChangeArrowheads="1"/>
          </p:cNvSpPr>
          <p:nvPr/>
        </p:nvSpPr>
        <p:spPr bwMode="auto">
          <a:xfrm>
            <a:off x="5530222" y="2714725"/>
            <a:ext cx="1066800" cy="378514"/>
          </a:xfrm>
          <a:prstGeom prst="flowChartAlternateProcess">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AutoShape 18"/>
          <p:cNvSpPr>
            <a:spLocks noChangeArrowheads="1"/>
          </p:cNvSpPr>
          <p:nvPr/>
        </p:nvSpPr>
        <p:spPr bwMode="auto">
          <a:xfrm>
            <a:off x="5221502" y="3338978"/>
            <a:ext cx="1676400" cy="378514"/>
          </a:xfrm>
          <a:prstGeom prst="flowChartDecision">
            <a:avLst/>
          </a:prstGeom>
          <a:solidFill>
            <a:srgbClr val="BBE0E3"/>
          </a:solidFill>
          <a:ln w="28575">
            <a:solidFill>
              <a:srgbClr val="000000"/>
            </a:solidFill>
            <a:miter lim="800000"/>
          </a:ln>
          <a:effectLst>
            <a:outerShdw dist="107763" dir="18900000" algn="ctr" rotWithShape="0">
              <a:srgbClr val="80808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Line 19"/>
          <p:cNvSpPr>
            <a:spLocks noChangeShapeType="1"/>
          </p:cNvSpPr>
          <p:nvPr/>
        </p:nvSpPr>
        <p:spPr bwMode="auto">
          <a:xfrm>
            <a:off x="6032922" y="2375271"/>
            <a:ext cx="0" cy="331199"/>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Line 20"/>
          <p:cNvSpPr>
            <a:spLocks noChangeShapeType="1"/>
          </p:cNvSpPr>
          <p:nvPr/>
        </p:nvSpPr>
        <p:spPr bwMode="auto">
          <a:xfrm>
            <a:off x="6063622" y="3118629"/>
            <a:ext cx="0" cy="236571"/>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Line 23"/>
          <p:cNvSpPr>
            <a:spLocks noChangeShapeType="1"/>
          </p:cNvSpPr>
          <p:nvPr/>
        </p:nvSpPr>
        <p:spPr bwMode="auto">
          <a:xfrm flipH="1" flipV="1">
            <a:off x="7328322" y="2519168"/>
            <a:ext cx="0" cy="99359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Line 24"/>
          <p:cNvSpPr>
            <a:spLocks noChangeShapeType="1"/>
          </p:cNvSpPr>
          <p:nvPr/>
        </p:nvSpPr>
        <p:spPr bwMode="auto">
          <a:xfrm flipH="1" flipV="1">
            <a:off x="6032922" y="2502770"/>
            <a:ext cx="1295400" cy="0"/>
          </a:xfrm>
          <a:prstGeom prst="line">
            <a:avLst/>
          </a:prstGeom>
          <a:noFill/>
          <a:ln w="38100">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Text Box 26"/>
          <p:cNvSpPr txBox="1">
            <a:spLocks noChangeArrowheads="1"/>
          </p:cNvSpPr>
          <p:nvPr/>
        </p:nvSpPr>
        <p:spPr bwMode="auto">
          <a:xfrm>
            <a:off x="1215652" y="3214760"/>
            <a:ext cx="370614" cy="248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Y</a:t>
            </a:r>
          </a:p>
        </p:txBody>
      </p:sp>
      <p:sp>
        <p:nvSpPr>
          <p:cNvPr id="26" name="Text Box 27"/>
          <p:cNvSpPr txBox="1">
            <a:spLocks noChangeArrowheads="1"/>
          </p:cNvSpPr>
          <p:nvPr/>
        </p:nvSpPr>
        <p:spPr bwMode="auto">
          <a:xfrm>
            <a:off x="6814089" y="3178221"/>
            <a:ext cx="370614" cy="248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27" name="Text Box 28"/>
          <p:cNvSpPr txBox="1">
            <a:spLocks noChangeArrowheads="1"/>
          </p:cNvSpPr>
          <p:nvPr/>
        </p:nvSpPr>
        <p:spPr bwMode="auto">
          <a:xfrm>
            <a:off x="2633636" y="2561053"/>
            <a:ext cx="370614" cy="248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33" name="Rectangle 4"/>
          <p:cNvSpPr>
            <a:spLocks noChangeArrowheads="1"/>
          </p:cNvSpPr>
          <p:nvPr/>
        </p:nvSpPr>
        <p:spPr bwMode="auto">
          <a:xfrm>
            <a:off x="555616" y="4015963"/>
            <a:ext cx="7246937" cy="2331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ct val="40000"/>
              </a:spcBef>
              <a:buClr>
                <a:srgbClr val="000000"/>
              </a:buClr>
              <a:buSzPct val="80000"/>
            </a:pPr>
            <a:r>
              <a:rPr lang="zh-CN" altLang="en-US" sz="2000" b="1" dirty="0">
                <a:solidFill>
                  <a:srgbClr val="003366"/>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顺序程序设计</a:t>
            </a:r>
          </a:p>
          <a:p>
            <a:pPr>
              <a:lnSpc>
                <a:spcPct val="150000"/>
              </a:lnSpc>
              <a:spcBef>
                <a:spcPct val="40000"/>
              </a:spcBef>
              <a:buClr>
                <a:srgbClr val="000000"/>
              </a:buClr>
              <a:buSzPct val="80000"/>
            </a:pPr>
            <a:r>
              <a:rPr lang="zh-CN" altLang="en-US" sz="2000" b="1" dirty="0">
                <a:solidFill>
                  <a:srgbClr val="003366"/>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条件程序设计</a:t>
            </a:r>
          </a:p>
          <a:p>
            <a:pPr>
              <a:lnSpc>
                <a:spcPct val="150000"/>
              </a:lnSpc>
              <a:spcBef>
                <a:spcPct val="40000"/>
              </a:spcBef>
              <a:buClr>
                <a:srgbClr val="000000"/>
              </a:buClr>
              <a:buSzPct val="80000"/>
              <a:buFontTx/>
              <a:buNone/>
            </a:pP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     </a:t>
            </a:r>
          </a:p>
          <a:p>
            <a:pPr>
              <a:lnSpc>
                <a:spcPct val="150000"/>
              </a:lnSpc>
              <a:spcBef>
                <a:spcPct val="40000"/>
              </a:spcBef>
              <a:buClr>
                <a:srgbClr val="000000"/>
              </a:buClr>
              <a:buSzPct val="80000"/>
            </a:pPr>
            <a:r>
              <a:rPr lang="zh-CN" altLang="en-US" sz="2000" b="1" dirty="0">
                <a:solidFill>
                  <a:srgbClr val="003366"/>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循环程序设计</a:t>
            </a:r>
          </a:p>
          <a:p>
            <a:pPr>
              <a:lnSpc>
                <a:spcPct val="150000"/>
              </a:lnSpc>
              <a:spcBef>
                <a:spcPct val="40000"/>
              </a:spcBef>
              <a:buClr>
                <a:srgbClr val="000000"/>
              </a:buClr>
              <a:buSzPct val="80000"/>
              <a:buFontTx/>
              <a:buNone/>
            </a:pPr>
            <a:r>
              <a:rPr lang="zh-CN" altLang="en-US" sz="2000" dirty="0">
                <a:solidFill>
                  <a:srgbClr val="000000"/>
                </a:solidFill>
                <a:effectLst>
                  <a:outerShdw blurRad="38100" dist="38100" dir="2700000" algn="tl">
                    <a:srgbClr val="C0C0C0"/>
                  </a:outerShdw>
                </a:effectLst>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34" name="Text Box 5"/>
          <p:cNvSpPr txBox="1">
            <a:spLocks noChangeArrowheads="1"/>
          </p:cNvSpPr>
          <p:nvPr/>
        </p:nvSpPr>
        <p:spPr bwMode="auto">
          <a:xfrm>
            <a:off x="2631573" y="4113545"/>
            <a:ext cx="60483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指令指针 </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IP </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值线性增加，</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IP = IP + 1</a:t>
            </a:r>
          </a:p>
        </p:txBody>
      </p:sp>
      <p:sp>
        <p:nvSpPr>
          <p:cNvPr id="35" name="Text Box 6"/>
          <p:cNvSpPr txBox="1">
            <a:spLocks noChangeArrowheads="1"/>
          </p:cNvSpPr>
          <p:nvPr/>
        </p:nvSpPr>
        <p:spPr bwMode="auto">
          <a:xfrm>
            <a:off x="2631573" y="4793257"/>
            <a:ext cx="481868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IP </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值受</a:t>
            </a:r>
            <a:r>
              <a:rPr lang="zh-CN" altLang="en-US" sz="2000" b="1" dirty="0">
                <a:solidFill>
                  <a:srgbClr val="FF33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标志位</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的影响而跳变</a:t>
            </a:r>
          </a:p>
          <a:p>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影响标志的指令 </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CMP</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TEST</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JXX</a:t>
            </a:r>
          </a:p>
        </p:txBody>
      </p:sp>
      <p:sp>
        <p:nvSpPr>
          <p:cNvPr id="36" name="Text Box 7"/>
          <p:cNvSpPr txBox="1">
            <a:spLocks noChangeArrowheads="1"/>
          </p:cNvSpPr>
          <p:nvPr/>
        </p:nvSpPr>
        <p:spPr bwMode="auto">
          <a:xfrm>
            <a:off x="2590043" y="5776081"/>
            <a:ext cx="4901744"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0000"/>
              </a:spcBef>
              <a:buClr>
                <a:srgbClr val="000000"/>
              </a:buClr>
              <a:buSzPct val="80000"/>
              <a:buFont typeface="Wingdings" panose="05000000000000000000" pitchFamily="2" charset="2"/>
              <a:buNone/>
            </a:pP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IP </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值受计数器 </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CX </a:t>
            </a: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中的值不为零而循环</a:t>
            </a:r>
          </a:p>
          <a:p>
            <a:pPr>
              <a:spcBef>
                <a:spcPct val="30000"/>
              </a:spcBef>
              <a:buClr>
                <a:srgbClr val="000000"/>
              </a:buClr>
              <a:buSzPct val="80000"/>
              <a:buFont typeface="Wingdings" panose="05000000000000000000" pitchFamily="2" charset="2"/>
              <a:buNone/>
            </a:pPr>
            <a:r>
              <a:rPr lang="zh-CN" altLang="en-US"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影响标志的指令 </a:t>
            </a:r>
            <a:r>
              <a:rPr lang="en-US" altLang="zh-CN" sz="2000" b="1"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DEC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par>
                          <p:cTn id="8" fill="hold">
                            <p:stCondLst>
                              <p:cond delay="500"/>
                            </p:stCondLst>
                            <p:childTnLst>
                              <p:par>
                                <p:cTn id="9" presetID="17" presetClass="entr" presetSubtype="1"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ppt_y-#ppt_h/2"/>
                                          </p:val>
                                        </p:tav>
                                        <p:tav tm="100000">
                                          <p:val>
                                            <p:strVal val="#ppt_y"/>
                                          </p:val>
                                        </p:tav>
                                      </p:tavLst>
                                    </p:anim>
                                    <p:anim calcmode="lin" valueType="num">
                                      <p:cBhvr>
                                        <p:cTn id="13" dur="500" fill="hold"/>
                                        <p:tgtEl>
                                          <p:spTgt spid="9"/>
                                        </p:tgtEl>
                                        <p:attrNameLst>
                                          <p:attrName>ppt_w</p:attrName>
                                        </p:attrNameLst>
                                      </p:cBhvr>
                                      <p:tavLst>
                                        <p:tav tm="0">
                                          <p:val>
                                            <p:strVal val="#ppt_w"/>
                                          </p:val>
                                        </p:tav>
                                        <p:tav tm="100000">
                                          <p:val>
                                            <p:strVal val="#ppt_w"/>
                                          </p:val>
                                        </p:tav>
                                      </p:tavLst>
                                    </p:anim>
                                    <p:anim calcmode="lin" valueType="num">
                                      <p:cBhvr>
                                        <p:cTn id="14" dur="500" fill="hold"/>
                                        <p:tgtEl>
                                          <p:spTgt spid="9"/>
                                        </p:tgtEl>
                                        <p:attrNameLst>
                                          <p:attrName>ppt_h</p:attrName>
                                        </p:attrNameLst>
                                      </p:cBhvr>
                                      <p:tavLst>
                                        <p:tav tm="0">
                                          <p:val>
                                            <p:fltVal val="0"/>
                                          </p:val>
                                        </p:tav>
                                        <p:tav tm="100000">
                                          <p:val>
                                            <p:strVal val="#ppt_h"/>
                                          </p:val>
                                        </p:tav>
                                      </p:tavLst>
                                    </p:anim>
                                  </p:childTnLst>
                                </p:cTn>
                              </p:par>
                            </p:childTnLst>
                          </p:cTn>
                        </p:par>
                        <p:par>
                          <p:cTn id="15" fill="hold">
                            <p:stCondLst>
                              <p:cond delay="1000"/>
                            </p:stCondLst>
                            <p:childTnLst>
                              <p:par>
                                <p:cTn id="16" presetID="9" presetClass="entr" presetSubtype="0"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ssolve">
                                      <p:cBhvr>
                                        <p:cTn id="18" dur="500"/>
                                        <p:tgtEl>
                                          <p:spTgt spid="7"/>
                                        </p:tgtEl>
                                      </p:cBhvr>
                                    </p:animEffect>
                                  </p:childTnLst>
                                </p:cTn>
                              </p:par>
                            </p:childTnLst>
                          </p:cTn>
                        </p:par>
                        <p:par>
                          <p:cTn id="19" fill="hold">
                            <p:stCondLst>
                              <p:cond delay="1500"/>
                            </p:stCondLst>
                            <p:childTnLst>
                              <p:par>
                                <p:cTn id="20" presetID="9" presetClass="entr" presetSubtype="0" fill="hold" grpId="0" nodeType="after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dissolve">
                                      <p:cBhvr>
                                        <p:cTn id="22" dur="500"/>
                                        <p:tgtEl>
                                          <p:spTgt spid="25"/>
                                        </p:tgtEl>
                                      </p:cBhvr>
                                    </p:animEffect>
                                  </p:childTnLst>
                                </p:cTn>
                              </p:par>
                            </p:childTnLst>
                          </p:cTn>
                        </p:par>
                        <p:par>
                          <p:cTn id="23" fill="hold">
                            <p:stCondLst>
                              <p:cond delay="2000"/>
                            </p:stCondLst>
                            <p:childTnLst>
                              <p:par>
                                <p:cTn id="24" presetID="17" presetClass="entr" presetSubtype="1"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ppt_h/2"/>
                                          </p:val>
                                        </p:tav>
                                        <p:tav tm="100000">
                                          <p:val>
                                            <p:strVal val="#ppt_y"/>
                                          </p:val>
                                        </p:tav>
                                      </p:tavLst>
                                    </p:anim>
                                    <p:anim calcmode="lin" valueType="num">
                                      <p:cBhvr>
                                        <p:cTn id="28" dur="500" fill="hold"/>
                                        <p:tgtEl>
                                          <p:spTgt spid="10"/>
                                        </p:tgtEl>
                                        <p:attrNameLst>
                                          <p:attrName>ppt_w</p:attrName>
                                        </p:attrNameLst>
                                      </p:cBhvr>
                                      <p:tavLst>
                                        <p:tav tm="0">
                                          <p:val>
                                            <p:strVal val="#ppt_w"/>
                                          </p:val>
                                        </p:tav>
                                        <p:tav tm="100000">
                                          <p:val>
                                            <p:strVal val="#ppt_w"/>
                                          </p:val>
                                        </p:tav>
                                      </p:tavLst>
                                    </p:anim>
                                    <p:anim calcmode="lin" valueType="num">
                                      <p:cBhvr>
                                        <p:cTn id="29" dur="500" fill="hold"/>
                                        <p:tgtEl>
                                          <p:spTgt spid="10"/>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dissolve">
                                      <p:cBhvr>
                                        <p:cTn id="33" dur="500"/>
                                        <p:tgtEl>
                                          <p:spTgt spid="27"/>
                                        </p:tgtEl>
                                      </p:cBhvr>
                                    </p:animEffect>
                                  </p:childTnLst>
                                </p:cTn>
                              </p:par>
                            </p:childTnLst>
                          </p:cTn>
                        </p:par>
                        <p:par>
                          <p:cTn id="34" fill="hold">
                            <p:stCondLst>
                              <p:cond delay="3000"/>
                            </p:stCondLst>
                            <p:childTnLst>
                              <p:par>
                                <p:cTn id="35" presetID="17" presetClass="entr" presetSubtype="8" fill="hold" nodeType="after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ppt_x</p:attrName>
                                        </p:attrNameLst>
                                      </p:cBhvr>
                                      <p:tavLst>
                                        <p:tav tm="0">
                                          <p:val>
                                            <p:strVal val="#ppt_x-#ppt_w/2"/>
                                          </p:val>
                                        </p:tav>
                                        <p:tav tm="100000">
                                          <p:val>
                                            <p:strVal val="#ppt_x"/>
                                          </p:val>
                                        </p:tav>
                                      </p:tavLst>
                                    </p:anim>
                                    <p:anim calcmode="lin" valueType="num">
                                      <p:cBhvr>
                                        <p:cTn id="38" dur="500" fill="hold"/>
                                        <p:tgtEl>
                                          <p:spTgt spid="11"/>
                                        </p:tgtEl>
                                        <p:attrNameLst>
                                          <p:attrName>ppt_y</p:attrName>
                                        </p:attrNameLst>
                                      </p:cBhvr>
                                      <p:tavLst>
                                        <p:tav tm="0">
                                          <p:val>
                                            <p:strVal val="#ppt_y"/>
                                          </p:val>
                                        </p:tav>
                                        <p:tav tm="100000">
                                          <p:val>
                                            <p:strVal val="#ppt_y"/>
                                          </p:val>
                                        </p:tav>
                                      </p:tavLst>
                                    </p:anim>
                                    <p:anim calcmode="lin" valueType="num">
                                      <p:cBhvr>
                                        <p:cTn id="39" dur="500" fill="hold"/>
                                        <p:tgtEl>
                                          <p:spTgt spid="11"/>
                                        </p:tgtEl>
                                        <p:attrNameLst>
                                          <p:attrName>ppt_w</p:attrName>
                                        </p:attrNameLst>
                                      </p:cBhvr>
                                      <p:tavLst>
                                        <p:tav tm="0">
                                          <p:val>
                                            <p:fltVal val="0"/>
                                          </p:val>
                                        </p:tav>
                                        <p:tav tm="100000">
                                          <p:val>
                                            <p:strVal val="#ppt_w"/>
                                          </p:val>
                                        </p:tav>
                                      </p:tavLst>
                                    </p:anim>
                                    <p:anim calcmode="lin" valueType="num">
                                      <p:cBhvr>
                                        <p:cTn id="40" dur="500" fill="hold"/>
                                        <p:tgtEl>
                                          <p:spTgt spid="11"/>
                                        </p:tgtEl>
                                        <p:attrNameLst>
                                          <p:attrName>ppt_h</p:attrName>
                                        </p:attrNameLst>
                                      </p:cBhvr>
                                      <p:tavLst>
                                        <p:tav tm="0">
                                          <p:val>
                                            <p:strVal val="#ppt_h"/>
                                          </p:val>
                                        </p:tav>
                                        <p:tav tm="100000">
                                          <p:val>
                                            <p:strVal val="#ppt_h"/>
                                          </p:val>
                                        </p:tav>
                                      </p:tavLst>
                                    </p:anim>
                                  </p:childTnLst>
                                </p:cTn>
                              </p:par>
                            </p:childTnLst>
                          </p:cTn>
                        </p:par>
                        <p:par>
                          <p:cTn id="41" fill="hold">
                            <p:stCondLst>
                              <p:cond delay="3500"/>
                            </p:stCondLst>
                            <p:childTnLst>
                              <p:par>
                                <p:cTn id="42" presetID="17" presetClass="entr" presetSubtype="1" fill="hold" nodeType="after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500" fill="hold"/>
                                        <p:tgtEl>
                                          <p:spTgt spid="12"/>
                                        </p:tgtEl>
                                        <p:attrNameLst>
                                          <p:attrName>ppt_x</p:attrName>
                                        </p:attrNameLst>
                                      </p:cBhvr>
                                      <p:tavLst>
                                        <p:tav tm="0">
                                          <p:val>
                                            <p:strVal val="#ppt_x"/>
                                          </p:val>
                                        </p:tav>
                                        <p:tav tm="100000">
                                          <p:val>
                                            <p:strVal val="#ppt_x"/>
                                          </p:val>
                                        </p:tav>
                                      </p:tavLst>
                                    </p:anim>
                                    <p:anim calcmode="lin" valueType="num">
                                      <p:cBhvr>
                                        <p:cTn id="45" dur="500" fill="hold"/>
                                        <p:tgtEl>
                                          <p:spTgt spid="12"/>
                                        </p:tgtEl>
                                        <p:attrNameLst>
                                          <p:attrName>ppt_y</p:attrName>
                                        </p:attrNameLst>
                                      </p:cBhvr>
                                      <p:tavLst>
                                        <p:tav tm="0">
                                          <p:val>
                                            <p:strVal val="#ppt_y-#ppt_h/2"/>
                                          </p:val>
                                        </p:tav>
                                        <p:tav tm="100000">
                                          <p:val>
                                            <p:strVal val="#ppt_y"/>
                                          </p:val>
                                        </p:tav>
                                      </p:tavLst>
                                    </p:anim>
                                    <p:anim calcmode="lin" valueType="num">
                                      <p:cBhvr>
                                        <p:cTn id="46" dur="500" fill="hold"/>
                                        <p:tgtEl>
                                          <p:spTgt spid="12"/>
                                        </p:tgtEl>
                                        <p:attrNameLst>
                                          <p:attrName>ppt_w</p:attrName>
                                        </p:attrNameLst>
                                      </p:cBhvr>
                                      <p:tavLst>
                                        <p:tav tm="0">
                                          <p:val>
                                            <p:strVal val="#ppt_w"/>
                                          </p:val>
                                        </p:tav>
                                        <p:tav tm="100000">
                                          <p:val>
                                            <p:strVal val="#ppt_w"/>
                                          </p:val>
                                        </p:tav>
                                      </p:tavLst>
                                    </p:anim>
                                    <p:anim calcmode="lin" valueType="num">
                                      <p:cBhvr>
                                        <p:cTn id="47" dur="500" fill="hold"/>
                                        <p:tgtEl>
                                          <p:spTgt spid="12"/>
                                        </p:tgtEl>
                                        <p:attrNameLst>
                                          <p:attrName>ppt_h</p:attrName>
                                        </p:attrNameLst>
                                      </p:cBhvr>
                                      <p:tavLst>
                                        <p:tav tm="0">
                                          <p:val>
                                            <p:fltVal val="0"/>
                                          </p:val>
                                        </p:tav>
                                        <p:tav tm="100000">
                                          <p:val>
                                            <p:strVal val="#ppt_h"/>
                                          </p:val>
                                        </p:tav>
                                      </p:tavLst>
                                    </p:anim>
                                  </p:childTnLst>
                                </p:cTn>
                              </p:par>
                            </p:childTnLst>
                          </p:cTn>
                        </p:par>
                        <p:par>
                          <p:cTn id="48" fill="hold">
                            <p:stCondLst>
                              <p:cond delay="4000"/>
                            </p:stCondLst>
                            <p:childTnLst>
                              <p:par>
                                <p:cTn id="49" presetID="9" presetClass="entr" presetSubtype="0"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Effect transition="in" filter="dissolve">
                                      <p:cBhvr>
                                        <p:cTn id="51" dur="500"/>
                                        <p:tgtEl>
                                          <p:spTgt spid="8"/>
                                        </p:tgtEl>
                                      </p:cBhvr>
                                    </p:animEffect>
                                  </p:childTnLst>
                                </p:cTn>
                              </p:par>
                            </p:childTnLst>
                          </p:cTn>
                        </p:par>
                        <p:par>
                          <p:cTn id="52" fill="hold">
                            <p:stCondLst>
                              <p:cond delay="4500"/>
                            </p:stCondLst>
                            <p:childTnLst>
                              <p:par>
                                <p:cTn id="53" presetID="16" presetClass="entr" presetSubtype="37" fill="hold" nodeType="after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barn(outVertical)">
                                      <p:cBhvr>
                                        <p:cTn id="55" dur="500"/>
                                        <p:tgtEl>
                                          <p:spTgt spid="14"/>
                                        </p:tgtEl>
                                      </p:cBhvr>
                                    </p:animEffect>
                                  </p:childTnLst>
                                </p:cTn>
                              </p:par>
                            </p:childTnLst>
                          </p:cTn>
                        </p:par>
                        <p:par>
                          <p:cTn id="56" fill="hold">
                            <p:stCondLst>
                              <p:cond delay="5000"/>
                            </p:stCondLst>
                            <p:childTnLst>
                              <p:par>
                                <p:cTn id="57" presetID="17" presetClass="entr" presetSubtype="8" fill="hold" nodeType="afterEffect">
                                  <p:stCondLst>
                                    <p:cond delay="0"/>
                                  </p:stCondLst>
                                  <p:childTnLst>
                                    <p:set>
                                      <p:cBhvr>
                                        <p:cTn id="58" dur="1" fill="hold">
                                          <p:stCondLst>
                                            <p:cond delay="0"/>
                                          </p:stCondLst>
                                        </p:cTn>
                                        <p:tgtEl>
                                          <p:spTgt spid="13"/>
                                        </p:tgtEl>
                                        <p:attrNameLst>
                                          <p:attrName>style.visibility</p:attrName>
                                        </p:attrNameLst>
                                      </p:cBhvr>
                                      <p:to>
                                        <p:strVal val="visible"/>
                                      </p:to>
                                    </p:set>
                                    <p:anim calcmode="lin" valueType="num">
                                      <p:cBhvr>
                                        <p:cTn id="59" dur="500" fill="hold"/>
                                        <p:tgtEl>
                                          <p:spTgt spid="13"/>
                                        </p:tgtEl>
                                        <p:attrNameLst>
                                          <p:attrName>ppt_x</p:attrName>
                                        </p:attrNameLst>
                                      </p:cBhvr>
                                      <p:tavLst>
                                        <p:tav tm="0">
                                          <p:val>
                                            <p:strVal val="#ppt_x-#ppt_w/2"/>
                                          </p:val>
                                        </p:tav>
                                        <p:tav tm="100000">
                                          <p:val>
                                            <p:strVal val="#ppt_x"/>
                                          </p:val>
                                        </p:tav>
                                      </p:tavLst>
                                    </p:anim>
                                    <p:anim calcmode="lin" valueType="num">
                                      <p:cBhvr>
                                        <p:cTn id="60" dur="500" fill="hold"/>
                                        <p:tgtEl>
                                          <p:spTgt spid="13"/>
                                        </p:tgtEl>
                                        <p:attrNameLst>
                                          <p:attrName>ppt_y</p:attrName>
                                        </p:attrNameLst>
                                      </p:cBhvr>
                                      <p:tavLst>
                                        <p:tav tm="0">
                                          <p:val>
                                            <p:strVal val="#ppt_y"/>
                                          </p:val>
                                        </p:tav>
                                        <p:tav tm="100000">
                                          <p:val>
                                            <p:strVal val="#ppt_y"/>
                                          </p:val>
                                        </p:tav>
                                      </p:tavLst>
                                    </p:anim>
                                    <p:anim calcmode="lin" valueType="num">
                                      <p:cBhvr>
                                        <p:cTn id="61" dur="500" fill="hold"/>
                                        <p:tgtEl>
                                          <p:spTgt spid="13"/>
                                        </p:tgtEl>
                                        <p:attrNameLst>
                                          <p:attrName>ppt_w</p:attrName>
                                        </p:attrNameLst>
                                      </p:cBhvr>
                                      <p:tavLst>
                                        <p:tav tm="0">
                                          <p:val>
                                            <p:fltVal val="0"/>
                                          </p:val>
                                        </p:tav>
                                        <p:tav tm="100000">
                                          <p:val>
                                            <p:strVal val="#ppt_w"/>
                                          </p:val>
                                        </p:tav>
                                      </p:tavLst>
                                    </p:anim>
                                    <p:anim calcmode="lin" valueType="num">
                                      <p:cBhvr>
                                        <p:cTn id="62" dur="500" fill="hold"/>
                                        <p:tgtEl>
                                          <p:spTgt spid="13"/>
                                        </p:tgtEl>
                                        <p:attrNameLst>
                                          <p:attrName>ppt_h</p:attrName>
                                        </p:attrNameLst>
                                      </p:cBhvr>
                                      <p:tavLst>
                                        <p:tav tm="0">
                                          <p:val>
                                            <p:strVal val="#ppt_h"/>
                                          </p:val>
                                        </p:tav>
                                        <p:tav tm="100000">
                                          <p:val>
                                            <p:strVal val="#ppt_h"/>
                                          </p:val>
                                        </p:tav>
                                      </p:tavLst>
                                    </p:anim>
                                  </p:childTnLst>
                                </p:cTn>
                              </p:par>
                            </p:childTnLst>
                          </p:cTn>
                        </p:par>
                        <p:par>
                          <p:cTn id="63" fill="hold">
                            <p:stCondLst>
                              <p:cond delay="5500"/>
                            </p:stCondLst>
                            <p:childTnLst>
                              <p:par>
                                <p:cTn id="64" presetID="17" presetClass="entr" presetSubtype="4" fill="hold" nodeType="afterEffect">
                                  <p:stCondLst>
                                    <p:cond delay="0"/>
                                  </p:stCondLst>
                                  <p:childTnLst>
                                    <p:set>
                                      <p:cBhvr>
                                        <p:cTn id="65" dur="1" fill="hold">
                                          <p:stCondLst>
                                            <p:cond delay="0"/>
                                          </p:stCondLst>
                                        </p:cTn>
                                        <p:tgtEl>
                                          <p:spTgt spid="15"/>
                                        </p:tgtEl>
                                        <p:attrNameLst>
                                          <p:attrName>style.visibility</p:attrName>
                                        </p:attrNameLst>
                                      </p:cBhvr>
                                      <p:to>
                                        <p:strVal val="visible"/>
                                      </p:to>
                                    </p:set>
                                    <p:anim calcmode="lin" valueType="num">
                                      <p:cBhvr>
                                        <p:cTn id="66" dur="500" fill="hold"/>
                                        <p:tgtEl>
                                          <p:spTgt spid="15"/>
                                        </p:tgtEl>
                                        <p:attrNameLst>
                                          <p:attrName>ppt_x</p:attrName>
                                        </p:attrNameLst>
                                      </p:cBhvr>
                                      <p:tavLst>
                                        <p:tav tm="0">
                                          <p:val>
                                            <p:strVal val="#ppt_x"/>
                                          </p:val>
                                        </p:tav>
                                        <p:tav tm="100000">
                                          <p:val>
                                            <p:strVal val="#ppt_x"/>
                                          </p:val>
                                        </p:tav>
                                      </p:tavLst>
                                    </p:anim>
                                    <p:anim calcmode="lin" valueType="num">
                                      <p:cBhvr>
                                        <p:cTn id="67" dur="500" fill="hold"/>
                                        <p:tgtEl>
                                          <p:spTgt spid="15"/>
                                        </p:tgtEl>
                                        <p:attrNameLst>
                                          <p:attrName>ppt_y</p:attrName>
                                        </p:attrNameLst>
                                      </p:cBhvr>
                                      <p:tavLst>
                                        <p:tav tm="0">
                                          <p:val>
                                            <p:strVal val="#ppt_y+#ppt_h/2"/>
                                          </p:val>
                                        </p:tav>
                                        <p:tav tm="100000">
                                          <p:val>
                                            <p:strVal val="#ppt_y"/>
                                          </p:val>
                                        </p:tav>
                                      </p:tavLst>
                                    </p:anim>
                                    <p:anim calcmode="lin" valueType="num">
                                      <p:cBhvr>
                                        <p:cTn id="68" dur="500" fill="hold"/>
                                        <p:tgtEl>
                                          <p:spTgt spid="15"/>
                                        </p:tgtEl>
                                        <p:attrNameLst>
                                          <p:attrName>ppt_w</p:attrName>
                                        </p:attrNameLst>
                                      </p:cBhvr>
                                      <p:tavLst>
                                        <p:tav tm="0">
                                          <p:val>
                                            <p:strVal val="#ppt_w"/>
                                          </p:val>
                                        </p:tav>
                                        <p:tav tm="100000">
                                          <p:val>
                                            <p:strVal val="#ppt_w"/>
                                          </p:val>
                                        </p:tav>
                                      </p:tavLst>
                                    </p:anim>
                                    <p:anim calcmode="lin" valueType="num">
                                      <p:cBhvr>
                                        <p:cTn id="69" dur="500" fill="hold"/>
                                        <p:tgtEl>
                                          <p:spTgt spid="15"/>
                                        </p:tgtEl>
                                        <p:attrNameLst>
                                          <p:attrName>ppt_h</p:attrName>
                                        </p:attrNameLst>
                                      </p:cBhvr>
                                      <p:tavLst>
                                        <p:tav tm="0">
                                          <p:val>
                                            <p:fltVal val="0"/>
                                          </p:val>
                                        </p:tav>
                                        <p:tav tm="100000">
                                          <p:val>
                                            <p:strVal val="#ppt_h"/>
                                          </p:val>
                                        </p:tav>
                                      </p:tavLst>
                                    </p:anim>
                                  </p:childTnLst>
                                </p:cTn>
                              </p:par>
                            </p:childTnLst>
                          </p:cTn>
                        </p:par>
                        <p:par>
                          <p:cTn id="70" fill="hold">
                            <p:stCondLst>
                              <p:cond delay="6000"/>
                            </p:stCondLst>
                            <p:childTnLst>
                              <p:par>
                                <p:cTn id="71" presetID="17" presetClass="entr" presetSubtype="2"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p:cTn id="73" dur="500" fill="hold"/>
                                        <p:tgtEl>
                                          <p:spTgt spid="16"/>
                                        </p:tgtEl>
                                        <p:attrNameLst>
                                          <p:attrName>ppt_x</p:attrName>
                                        </p:attrNameLst>
                                      </p:cBhvr>
                                      <p:tavLst>
                                        <p:tav tm="0">
                                          <p:val>
                                            <p:strVal val="#ppt_x+#ppt_w/2"/>
                                          </p:val>
                                        </p:tav>
                                        <p:tav tm="100000">
                                          <p:val>
                                            <p:strVal val="#ppt_x"/>
                                          </p:val>
                                        </p:tav>
                                      </p:tavLst>
                                    </p:anim>
                                    <p:anim calcmode="lin" valueType="num">
                                      <p:cBhvr>
                                        <p:cTn id="74" dur="500" fill="hold"/>
                                        <p:tgtEl>
                                          <p:spTgt spid="16"/>
                                        </p:tgtEl>
                                        <p:attrNameLst>
                                          <p:attrName>ppt_y</p:attrName>
                                        </p:attrNameLst>
                                      </p:cBhvr>
                                      <p:tavLst>
                                        <p:tav tm="0">
                                          <p:val>
                                            <p:strVal val="#ppt_y"/>
                                          </p:val>
                                        </p:tav>
                                        <p:tav tm="100000">
                                          <p:val>
                                            <p:strVal val="#ppt_y"/>
                                          </p:val>
                                        </p:tav>
                                      </p:tavLst>
                                    </p:anim>
                                    <p:anim calcmode="lin" valueType="num">
                                      <p:cBhvr>
                                        <p:cTn id="75" dur="500" fill="hold"/>
                                        <p:tgtEl>
                                          <p:spTgt spid="16"/>
                                        </p:tgtEl>
                                        <p:attrNameLst>
                                          <p:attrName>ppt_w</p:attrName>
                                        </p:attrNameLst>
                                      </p:cBhvr>
                                      <p:tavLst>
                                        <p:tav tm="0">
                                          <p:val>
                                            <p:fltVal val="0"/>
                                          </p:val>
                                        </p:tav>
                                        <p:tav tm="100000">
                                          <p:val>
                                            <p:strVal val="#ppt_w"/>
                                          </p:val>
                                        </p:tav>
                                      </p:tavLst>
                                    </p:anim>
                                    <p:anim calcmode="lin" valueType="num">
                                      <p:cBhvr>
                                        <p:cTn id="76" dur="500" fill="hold"/>
                                        <p:tgtEl>
                                          <p:spTgt spid="16"/>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9" presetClass="entr" presetSubtype="0" fill="hold" grpId="0" nodeType="clickEffect">
                                  <p:stCondLst>
                                    <p:cond delay="0"/>
                                  </p:stCondLst>
                                  <p:childTnLst>
                                    <p:set>
                                      <p:cBhvr>
                                        <p:cTn id="80" dur="1" fill="hold">
                                          <p:stCondLst>
                                            <p:cond delay="0"/>
                                          </p:stCondLst>
                                        </p:cTn>
                                        <p:tgtEl>
                                          <p:spTgt spid="6"/>
                                        </p:tgtEl>
                                        <p:attrNameLst>
                                          <p:attrName>style.visibility</p:attrName>
                                        </p:attrNameLst>
                                      </p:cBhvr>
                                      <p:to>
                                        <p:strVal val="visible"/>
                                      </p:to>
                                    </p:set>
                                    <p:animEffect transition="in" filter="dissolve">
                                      <p:cBhvr>
                                        <p:cTn id="81" dur="500"/>
                                        <p:tgtEl>
                                          <p:spTgt spid="6"/>
                                        </p:tgtEl>
                                      </p:cBhvr>
                                    </p:animEffect>
                                  </p:childTnLst>
                                </p:cTn>
                              </p:par>
                            </p:childTnLst>
                          </p:cTn>
                        </p:par>
                        <p:par>
                          <p:cTn id="82" fill="hold">
                            <p:stCondLst>
                              <p:cond delay="500"/>
                            </p:stCondLst>
                            <p:childTnLst>
                              <p:par>
                                <p:cTn id="83" presetID="17" presetClass="entr" presetSubtype="1" fill="hold" nodeType="after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p:cTn id="85" dur="500" fill="hold"/>
                                        <p:tgtEl>
                                          <p:spTgt spid="19"/>
                                        </p:tgtEl>
                                        <p:attrNameLst>
                                          <p:attrName>ppt_x</p:attrName>
                                        </p:attrNameLst>
                                      </p:cBhvr>
                                      <p:tavLst>
                                        <p:tav tm="0">
                                          <p:val>
                                            <p:strVal val="#ppt_x"/>
                                          </p:val>
                                        </p:tav>
                                        <p:tav tm="100000">
                                          <p:val>
                                            <p:strVal val="#ppt_x"/>
                                          </p:val>
                                        </p:tav>
                                      </p:tavLst>
                                    </p:anim>
                                    <p:anim calcmode="lin" valueType="num">
                                      <p:cBhvr>
                                        <p:cTn id="86" dur="500" fill="hold"/>
                                        <p:tgtEl>
                                          <p:spTgt spid="19"/>
                                        </p:tgtEl>
                                        <p:attrNameLst>
                                          <p:attrName>ppt_y</p:attrName>
                                        </p:attrNameLst>
                                      </p:cBhvr>
                                      <p:tavLst>
                                        <p:tav tm="0">
                                          <p:val>
                                            <p:strVal val="#ppt_y-#ppt_h/2"/>
                                          </p:val>
                                        </p:tav>
                                        <p:tav tm="100000">
                                          <p:val>
                                            <p:strVal val="#ppt_y"/>
                                          </p:val>
                                        </p:tav>
                                      </p:tavLst>
                                    </p:anim>
                                    <p:anim calcmode="lin" valueType="num">
                                      <p:cBhvr>
                                        <p:cTn id="87" dur="500" fill="hold"/>
                                        <p:tgtEl>
                                          <p:spTgt spid="19"/>
                                        </p:tgtEl>
                                        <p:attrNameLst>
                                          <p:attrName>ppt_w</p:attrName>
                                        </p:attrNameLst>
                                      </p:cBhvr>
                                      <p:tavLst>
                                        <p:tav tm="0">
                                          <p:val>
                                            <p:strVal val="#ppt_w"/>
                                          </p:val>
                                        </p:tav>
                                        <p:tav tm="100000">
                                          <p:val>
                                            <p:strVal val="#ppt_w"/>
                                          </p:val>
                                        </p:tav>
                                      </p:tavLst>
                                    </p:anim>
                                    <p:anim calcmode="lin" valueType="num">
                                      <p:cBhvr>
                                        <p:cTn id="88" dur="500" fill="hold"/>
                                        <p:tgtEl>
                                          <p:spTgt spid="19"/>
                                        </p:tgtEl>
                                        <p:attrNameLst>
                                          <p:attrName>ppt_h</p:attrName>
                                        </p:attrNameLst>
                                      </p:cBhvr>
                                      <p:tavLst>
                                        <p:tav tm="0">
                                          <p:val>
                                            <p:fltVal val="0"/>
                                          </p:val>
                                        </p:tav>
                                        <p:tav tm="100000">
                                          <p:val>
                                            <p:strVal val="#ppt_h"/>
                                          </p:val>
                                        </p:tav>
                                      </p:tavLst>
                                    </p:anim>
                                  </p:childTnLst>
                                </p:cTn>
                              </p:par>
                            </p:childTnLst>
                          </p:cTn>
                        </p:par>
                        <p:par>
                          <p:cTn id="89" fill="hold">
                            <p:stCondLst>
                              <p:cond delay="1000"/>
                            </p:stCondLst>
                            <p:childTnLst>
                              <p:par>
                                <p:cTn id="90" presetID="9" presetClass="entr" presetSubtype="0" fill="hold" nodeType="after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dissolve">
                                      <p:cBhvr>
                                        <p:cTn id="92" dur="500"/>
                                        <p:tgtEl>
                                          <p:spTgt spid="17"/>
                                        </p:tgtEl>
                                      </p:cBhvr>
                                    </p:animEffect>
                                  </p:childTnLst>
                                </p:cTn>
                              </p:par>
                            </p:childTnLst>
                          </p:cTn>
                        </p:par>
                        <p:par>
                          <p:cTn id="93" fill="hold">
                            <p:stCondLst>
                              <p:cond delay="1500"/>
                            </p:stCondLst>
                            <p:childTnLst>
                              <p:par>
                                <p:cTn id="94" presetID="17" presetClass="entr" presetSubtype="1" fill="hold" nodeType="afterEffect">
                                  <p:stCondLst>
                                    <p:cond delay="0"/>
                                  </p:stCondLst>
                                  <p:childTnLst>
                                    <p:set>
                                      <p:cBhvr>
                                        <p:cTn id="95" dur="1" fill="hold">
                                          <p:stCondLst>
                                            <p:cond delay="0"/>
                                          </p:stCondLst>
                                        </p:cTn>
                                        <p:tgtEl>
                                          <p:spTgt spid="20"/>
                                        </p:tgtEl>
                                        <p:attrNameLst>
                                          <p:attrName>style.visibility</p:attrName>
                                        </p:attrNameLst>
                                      </p:cBhvr>
                                      <p:to>
                                        <p:strVal val="visible"/>
                                      </p:to>
                                    </p:set>
                                    <p:anim calcmode="lin" valueType="num">
                                      <p:cBhvr>
                                        <p:cTn id="96" dur="500" fill="hold"/>
                                        <p:tgtEl>
                                          <p:spTgt spid="20"/>
                                        </p:tgtEl>
                                        <p:attrNameLst>
                                          <p:attrName>ppt_x</p:attrName>
                                        </p:attrNameLst>
                                      </p:cBhvr>
                                      <p:tavLst>
                                        <p:tav tm="0">
                                          <p:val>
                                            <p:strVal val="#ppt_x"/>
                                          </p:val>
                                        </p:tav>
                                        <p:tav tm="100000">
                                          <p:val>
                                            <p:strVal val="#ppt_x"/>
                                          </p:val>
                                        </p:tav>
                                      </p:tavLst>
                                    </p:anim>
                                    <p:anim calcmode="lin" valueType="num">
                                      <p:cBhvr>
                                        <p:cTn id="97" dur="500" fill="hold"/>
                                        <p:tgtEl>
                                          <p:spTgt spid="20"/>
                                        </p:tgtEl>
                                        <p:attrNameLst>
                                          <p:attrName>ppt_y</p:attrName>
                                        </p:attrNameLst>
                                      </p:cBhvr>
                                      <p:tavLst>
                                        <p:tav tm="0">
                                          <p:val>
                                            <p:strVal val="#ppt_y-#ppt_h/2"/>
                                          </p:val>
                                        </p:tav>
                                        <p:tav tm="100000">
                                          <p:val>
                                            <p:strVal val="#ppt_y"/>
                                          </p:val>
                                        </p:tav>
                                      </p:tavLst>
                                    </p:anim>
                                    <p:anim calcmode="lin" valueType="num">
                                      <p:cBhvr>
                                        <p:cTn id="98" dur="500" fill="hold"/>
                                        <p:tgtEl>
                                          <p:spTgt spid="20"/>
                                        </p:tgtEl>
                                        <p:attrNameLst>
                                          <p:attrName>ppt_w</p:attrName>
                                        </p:attrNameLst>
                                      </p:cBhvr>
                                      <p:tavLst>
                                        <p:tav tm="0">
                                          <p:val>
                                            <p:strVal val="#ppt_w"/>
                                          </p:val>
                                        </p:tav>
                                        <p:tav tm="100000">
                                          <p:val>
                                            <p:strVal val="#ppt_w"/>
                                          </p:val>
                                        </p:tav>
                                      </p:tavLst>
                                    </p:anim>
                                    <p:anim calcmode="lin" valueType="num">
                                      <p:cBhvr>
                                        <p:cTn id="99" dur="500" fill="hold"/>
                                        <p:tgtEl>
                                          <p:spTgt spid="20"/>
                                        </p:tgtEl>
                                        <p:attrNameLst>
                                          <p:attrName>ppt_h</p:attrName>
                                        </p:attrNameLst>
                                      </p:cBhvr>
                                      <p:tavLst>
                                        <p:tav tm="0">
                                          <p:val>
                                            <p:fltVal val="0"/>
                                          </p:val>
                                        </p:tav>
                                        <p:tav tm="100000">
                                          <p:val>
                                            <p:strVal val="#ppt_h"/>
                                          </p:val>
                                        </p:tav>
                                      </p:tavLst>
                                    </p:anim>
                                  </p:childTnLst>
                                </p:cTn>
                              </p:par>
                            </p:childTnLst>
                          </p:cTn>
                        </p:par>
                        <p:par>
                          <p:cTn id="100" fill="hold">
                            <p:stCondLst>
                              <p:cond delay="2000"/>
                            </p:stCondLst>
                            <p:childTnLst>
                              <p:par>
                                <p:cTn id="101" presetID="9" presetClass="entr" presetSubtype="0" fill="hold" nodeType="afterEffect">
                                  <p:stCondLst>
                                    <p:cond delay="0"/>
                                  </p:stCondLst>
                                  <p:childTnLst>
                                    <p:set>
                                      <p:cBhvr>
                                        <p:cTn id="102" dur="1" fill="hold">
                                          <p:stCondLst>
                                            <p:cond delay="0"/>
                                          </p:stCondLst>
                                        </p:cTn>
                                        <p:tgtEl>
                                          <p:spTgt spid="18"/>
                                        </p:tgtEl>
                                        <p:attrNameLst>
                                          <p:attrName>style.visibility</p:attrName>
                                        </p:attrNameLst>
                                      </p:cBhvr>
                                      <p:to>
                                        <p:strVal val="visible"/>
                                      </p:to>
                                    </p:set>
                                    <p:animEffect transition="in" filter="dissolve">
                                      <p:cBhvr>
                                        <p:cTn id="103" dur="500"/>
                                        <p:tgtEl>
                                          <p:spTgt spid="18"/>
                                        </p:tgtEl>
                                      </p:cBhvr>
                                    </p:animEffect>
                                  </p:childTnLst>
                                </p:cTn>
                              </p:par>
                            </p:childTnLst>
                          </p:cTn>
                        </p:par>
                        <p:par>
                          <p:cTn id="104" fill="hold">
                            <p:stCondLst>
                              <p:cond delay="2500"/>
                            </p:stCondLst>
                            <p:childTnLst>
                              <p:par>
                                <p:cTn id="105" presetID="9" presetClass="entr" presetSubtype="0" fill="hold" grpId="0" nodeType="afterEffect">
                                  <p:stCondLst>
                                    <p:cond delay="0"/>
                                  </p:stCondLst>
                                  <p:childTnLst>
                                    <p:set>
                                      <p:cBhvr>
                                        <p:cTn id="106" dur="1" fill="hold">
                                          <p:stCondLst>
                                            <p:cond delay="0"/>
                                          </p:stCondLst>
                                        </p:cTn>
                                        <p:tgtEl>
                                          <p:spTgt spid="26"/>
                                        </p:tgtEl>
                                        <p:attrNameLst>
                                          <p:attrName>style.visibility</p:attrName>
                                        </p:attrNameLst>
                                      </p:cBhvr>
                                      <p:to>
                                        <p:strVal val="visible"/>
                                      </p:to>
                                    </p:set>
                                    <p:animEffect transition="in" filter="dissolve">
                                      <p:cBhvr>
                                        <p:cTn id="107" dur="500"/>
                                        <p:tgtEl>
                                          <p:spTgt spid="26"/>
                                        </p:tgtEl>
                                      </p:cBhvr>
                                    </p:animEffect>
                                  </p:childTnLst>
                                </p:cTn>
                              </p:par>
                            </p:childTnLst>
                          </p:cTn>
                        </p:par>
                        <p:par>
                          <p:cTn id="108" fill="hold">
                            <p:stCondLst>
                              <p:cond delay="3000"/>
                            </p:stCondLst>
                            <p:childTnLst>
                              <p:par>
                                <p:cTn id="109" presetID="17" presetClass="entr" presetSubtype="4" fill="hold" nodeType="afterEffect">
                                  <p:stCondLst>
                                    <p:cond delay="0"/>
                                  </p:stCondLst>
                                  <p:childTnLst>
                                    <p:set>
                                      <p:cBhvr>
                                        <p:cTn id="110" dur="1" fill="hold">
                                          <p:stCondLst>
                                            <p:cond delay="0"/>
                                          </p:stCondLst>
                                        </p:cTn>
                                        <p:tgtEl>
                                          <p:spTgt spid="23"/>
                                        </p:tgtEl>
                                        <p:attrNameLst>
                                          <p:attrName>style.visibility</p:attrName>
                                        </p:attrNameLst>
                                      </p:cBhvr>
                                      <p:to>
                                        <p:strVal val="visible"/>
                                      </p:to>
                                    </p:set>
                                    <p:anim calcmode="lin" valueType="num">
                                      <p:cBhvr>
                                        <p:cTn id="111" dur="500" fill="hold"/>
                                        <p:tgtEl>
                                          <p:spTgt spid="23"/>
                                        </p:tgtEl>
                                        <p:attrNameLst>
                                          <p:attrName>ppt_x</p:attrName>
                                        </p:attrNameLst>
                                      </p:cBhvr>
                                      <p:tavLst>
                                        <p:tav tm="0">
                                          <p:val>
                                            <p:strVal val="#ppt_x"/>
                                          </p:val>
                                        </p:tav>
                                        <p:tav tm="100000">
                                          <p:val>
                                            <p:strVal val="#ppt_x"/>
                                          </p:val>
                                        </p:tav>
                                      </p:tavLst>
                                    </p:anim>
                                    <p:anim calcmode="lin" valueType="num">
                                      <p:cBhvr>
                                        <p:cTn id="112" dur="500" fill="hold"/>
                                        <p:tgtEl>
                                          <p:spTgt spid="23"/>
                                        </p:tgtEl>
                                        <p:attrNameLst>
                                          <p:attrName>ppt_y</p:attrName>
                                        </p:attrNameLst>
                                      </p:cBhvr>
                                      <p:tavLst>
                                        <p:tav tm="0">
                                          <p:val>
                                            <p:strVal val="#ppt_y+#ppt_h/2"/>
                                          </p:val>
                                        </p:tav>
                                        <p:tav tm="100000">
                                          <p:val>
                                            <p:strVal val="#ppt_y"/>
                                          </p:val>
                                        </p:tav>
                                      </p:tavLst>
                                    </p:anim>
                                    <p:anim calcmode="lin" valueType="num">
                                      <p:cBhvr>
                                        <p:cTn id="113" dur="500" fill="hold"/>
                                        <p:tgtEl>
                                          <p:spTgt spid="23"/>
                                        </p:tgtEl>
                                        <p:attrNameLst>
                                          <p:attrName>ppt_w</p:attrName>
                                        </p:attrNameLst>
                                      </p:cBhvr>
                                      <p:tavLst>
                                        <p:tav tm="0">
                                          <p:val>
                                            <p:strVal val="#ppt_w"/>
                                          </p:val>
                                        </p:tav>
                                        <p:tav tm="100000">
                                          <p:val>
                                            <p:strVal val="#ppt_w"/>
                                          </p:val>
                                        </p:tav>
                                      </p:tavLst>
                                    </p:anim>
                                    <p:anim calcmode="lin" valueType="num">
                                      <p:cBhvr>
                                        <p:cTn id="114" dur="500" fill="hold"/>
                                        <p:tgtEl>
                                          <p:spTgt spid="23"/>
                                        </p:tgtEl>
                                        <p:attrNameLst>
                                          <p:attrName>ppt_h</p:attrName>
                                        </p:attrNameLst>
                                      </p:cBhvr>
                                      <p:tavLst>
                                        <p:tav tm="0">
                                          <p:val>
                                            <p:fltVal val="0"/>
                                          </p:val>
                                        </p:tav>
                                        <p:tav tm="100000">
                                          <p:val>
                                            <p:strVal val="#ppt_h"/>
                                          </p:val>
                                        </p:tav>
                                      </p:tavLst>
                                    </p:anim>
                                  </p:childTnLst>
                                </p:cTn>
                              </p:par>
                            </p:childTnLst>
                          </p:cTn>
                        </p:par>
                        <p:par>
                          <p:cTn id="115" fill="hold">
                            <p:stCondLst>
                              <p:cond delay="3500"/>
                            </p:stCondLst>
                            <p:childTnLst>
                              <p:par>
                                <p:cTn id="116" presetID="17" presetClass="entr" presetSubtype="2" fill="hold" nodeType="afterEffect">
                                  <p:stCondLst>
                                    <p:cond delay="0"/>
                                  </p:stCondLst>
                                  <p:childTnLst>
                                    <p:set>
                                      <p:cBhvr>
                                        <p:cTn id="117" dur="1" fill="hold">
                                          <p:stCondLst>
                                            <p:cond delay="0"/>
                                          </p:stCondLst>
                                        </p:cTn>
                                        <p:tgtEl>
                                          <p:spTgt spid="24"/>
                                        </p:tgtEl>
                                        <p:attrNameLst>
                                          <p:attrName>style.visibility</p:attrName>
                                        </p:attrNameLst>
                                      </p:cBhvr>
                                      <p:to>
                                        <p:strVal val="visible"/>
                                      </p:to>
                                    </p:set>
                                    <p:anim calcmode="lin" valueType="num">
                                      <p:cBhvr>
                                        <p:cTn id="118" dur="500" fill="hold"/>
                                        <p:tgtEl>
                                          <p:spTgt spid="24"/>
                                        </p:tgtEl>
                                        <p:attrNameLst>
                                          <p:attrName>ppt_x</p:attrName>
                                        </p:attrNameLst>
                                      </p:cBhvr>
                                      <p:tavLst>
                                        <p:tav tm="0">
                                          <p:val>
                                            <p:strVal val="#ppt_x+#ppt_w/2"/>
                                          </p:val>
                                        </p:tav>
                                        <p:tav tm="100000">
                                          <p:val>
                                            <p:strVal val="#ppt_x"/>
                                          </p:val>
                                        </p:tav>
                                      </p:tavLst>
                                    </p:anim>
                                    <p:anim calcmode="lin" valueType="num">
                                      <p:cBhvr>
                                        <p:cTn id="119" dur="500" fill="hold"/>
                                        <p:tgtEl>
                                          <p:spTgt spid="24"/>
                                        </p:tgtEl>
                                        <p:attrNameLst>
                                          <p:attrName>ppt_y</p:attrName>
                                        </p:attrNameLst>
                                      </p:cBhvr>
                                      <p:tavLst>
                                        <p:tav tm="0">
                                          <p:val>
                                            <p:strVal val="#ppt_y"/>
                                          </p:val>
                                        </p:tav>
                                        <p:tav tm="100000">
                                          <p:val>
                                            <p:strVal val="#ppt_y"/>
                                          </p:val>
                                        </p:tav>
                                      </p:tavLst>
                                    </p:anim>
                                    <p:anim calcmode="lin" valueType="num">
                                      <p:cBhvr>
                                        <p:cTn id="120" dur="500" fill="hold"/>
                                        <p:tgtEl>
                                          <p:spTgt spid="24"/>
                                        </p:tgtEl>
                                        <p:attrNameLst>
                                          <p:attrName>ppt_w</p:attrName>
                                        </p:attrNameLst>
                                      </p:cBhvr>
                                      <p:tavLst>
                                        <p:tav tm="0">
                                          <p:val>
                                            <p:fltVal val="0"/>
                                          </p:val>
                                        </p:tav>
                                        <p:tav tm="100000">
                                          <p:val>
                                            <p:strVal val="#ppt_w"/>
                                          </p:val>
                                        </p:tav>
                                      </p:tavLst>
                                    </p:anim>
                                    <p:anim calcmode="lin" valueType="num">
                                      <p:cBhvr>
                                        <p:cTn id="121" dur="500" fill="hold"/>
                                        <p:tgtEl>
                                          <p:spTgt spid="24"/>
                                        </p:tgtEl>
                                        <p:attrNameLst>
                                          <p:attrName>ppt_h</p:attrName>
                                        </p:attrNameLst>
                                      </p:cBhvr>
                                      <p:tavLst>
                                        <p:tav tm="0">
                                          <p:val>
                                            <p:strVal val="#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00"/>
                                        <p:tgtEl>
                                          <p:spTgt spid="33"/>
                                        </p:tgtEl>
                                      </p:cBhvr>
                                    </p:animEffect>
                                  </p:child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34"/>
                                        </p:tgtEl>
                                        <p:attrNameLst>
                                          <p:attrName>style.visibility</p:attrName>
                                        </p:attrNameLst>
                                      </p:cBhvr>
                                      <p:to>
                                        <p:strVal val="visible"/>
                                      </p:to>
                                    </p:set>
                                    <p:animEffect transition="in" filter="dissolve">
                                      <p:cBhvr>
                                        <p:cTn id="131" dur="500"/>
                                        <p:tgtEl>
                                          <p:spTgt spid="34"/>
                                        </p:tgtEl>
                                      </p:cBhvr>
                                    </p:animEffect>
                                  </p:childTnLst>
                                </p:cTn>
                              </p:par>
                            </p:childTnLst>
                          </p:cTn>
                        </p:par>
                      </p:childTnLst>
                    </p:cTn>
                  </p:par>
                  <p:par>
                    <p:cTn id="132" fill="hold">
                      <p:stCondLst>
                        <p:cond delay="indefinite"/>
                      </p:stCondLst>
                      <p:childTnLst>
                        <p:par>
                          <p:cTn id="133" fill="hold">
                            <p:stCondLst>
                              <p:cond delay="0"/>
                            </p:stCondLst>
                            <p:childTnLst>
                              <p:par>
                                <p:cTn id="134" presetID="9" presetClass="entr" presetSubtype="0" fill="hold" grpId="0" nodeType="clickEffect">
                                  <p:stCondLst>
                                    <p:cond delay="0"/>
                                  </p:stCondLst>
                                  <p:childTnLst>
                                    <p:set>
                                      <p:cBhvr>
                                        <p:cTn id="135" dur="1" fill="hold">
                                          <p:stCondLst>
                                            <p:cond delay="0"/>
                                          </p:stCondLst>
                                        </p:cTn>
                                        <p:tgtEl>
                                          <p:spTgt spid="35"/>
                                        </p:tgtEl>
                                        <p:attrNameLst>
                                          <p:attrName>style.visibility</p:attrName>
                                        </p:attrNameLst>
                                      </p:cBhvr>
                                      <p:to>
                                        <p:strVal val="visible"/>
                                      </p:to>
                                    </p:set>
                                    <p:animEffect transition="in" filter="dissolve">
                                      <p:cBhvr>
                                        <p:cTn id="136" dur="500"/>
                                        <p:tgtEl>
                                          <p:spTgt spid="35"/>
                                        </p:tgtEl>
                                      </p:cBhvr>
                                    </p:animEffect>
                                  </p:childTnLst>
                                </p:cTn>
                              </p:par>
                            </p:childTnLst>
                          </p:cTn>
                        </p:par>
                      </p:childTnLst>
                    </p:cTn>
                  </p:par>
                  <p:par>
                    <p:cTn id="137" fill="hold">
                      <p:stCondLst>
                        <p:cond delay="indefinite"/>
                      </p:stCondLst>
                      <p:childTnLst>
                        <p:par>
                          <p:cTn id="138" fill="hold">
                            <p:stCondLst>
                              <p:cond delay="0"/>
                            </p:stCondLst>
                            <p:childTnLst>
                              <p:par>
                                <p:cTn id="139" presetID="9" presetClass="entr" presetSubtype="0" fill="hold" grpId="0" nodeType="clickEffect">
                                  <p:stCondLst>
                                    <p:cond delay="0"/>
                                  </p:stCondLst>
                                  <p:childTnLst>
                                    <p:set>
                                      <p:cBhvr>
                                        <p:cTn id="140" dur="1" fill="hold">
                                          <p:stCondLst>
                                            <p:cond delay="0"/>
                                          </p:stCondLst>
                                        </p:cTn>
                                        <p:tgtEl>
                                          <p:spTgt spid="36"/>
                                        </p:tgtEl>
                                        <p:attrNameLst>
                                          <p:attrName>style.visibility</p:attrName>
                                        </p:attrNameLst>
                                      </p:cBhvr>
                                      <p:to>
                                        <p:strVal val="visible"/>
                                      </p:to>
                                    </p:set>
                                    <p:animEffect transition="in" filter="dissolve">
                                      <p:cBhvr>
                                        <p:cTn id="14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25" grpId="0" autoUpdateAnimBg="0"/>
      <p:bldP spid="26" grpId="0" autoUpdateAnimBg="0"/>
      <p:bldP spid="27" grpId="0" autoUpdateAnimBg="0"/>
      <p:bldP spid="33" grpId="0"/>
      <p:bldP spid="34" grpId="0" autoUpdateAnimBg="0"/>
      <p:bldP spid="35" grpId="0" autoUpdateAnimBg="0"/>
      <p:bldP spid="3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98450" y="1566575"/>
            <a:ext cx="4402832" cy="563562"/>
          </a:xfrm>
        </p:spPr>
        <p:txBody>
          <a:bodyPr/>
          <a:lstStyle/>
          <a:p>
            <a:r>
              <a:rPr lang="en-US" altLang="zh-CN" b="1" dirty="0">
                <a:latin typeface="Times New Roman" panose="02020603050405020304" pitchFamily="18" charset="0"/>
                <a:cs typeface="Times New Roman" panose="02020603050405020304" pitchFamily="18" charset="0"/>
              </a:rPr>
              <a:t>4.7.2</a:t>
            </a:r>
            <a:r>
              <a:rPr lang="zh-CN" altLang="zh-CN" b="1" dirty="0">
                <a:latin typeface="Times New Roman" panose="02020603050405020304" pitchFamily="18" charset="0"/>
                <a:cs typeface="Times New Roman" panose="02020603050405020304" pitchFamily="18" charset="0"/>
              </a:rPr>
              <a:t>顺序结构程序设计</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a:xfrm>
            <a:off x="281682" y="1009868"/>
            <a:ext cx="5832475" cy="512415"/>
          </a:xfrm>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282352" y="2193667"/>
            <a:ext cx="8579296" cy="1398905"/>
          </a:xfrm>
          <a:prstGeom prst="rect">
            <a:avLst/>
          </a:prstGeom>
        </p:spPr>
        <p:txBody>
          <a:bodyPr wrap="square">
            <a:spAutoFit/>
          </a:bodyPr>
          <a:lstStyle/>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4.6</a:t>
            </a:r>
          </a:p>
          <a:p>
            <a:pPr>
              <a:spcBef>
                <a:spcPts val="600"/>
              </a:spcBef>
            </a:pP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编程序计算： </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SUM=3*(X+Y)+(Y+Z)/(Y-Z)</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，其中，</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都是</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位无符号数，要求结果存入</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SUM</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单元。假设运算过程中，中间结果都不超出</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位二进制数的范围。</a:t>
            </a:r>
          </a:p>
        </p:txBody>
      </p:sp>
      <p:sp>
        <p:nvSpPr>
          <p:cNvPr id="7" name="Text Box 1028"/>
          <p:cNvSpPr txBox="1">
            <a:spLocks noChangeArrowheads="1"/>
          </p:cNvSpPr>
          <p:nvPr/>
        </p:nvSpPr>
        <p:spPr bwMode="auto">
          <a:xfrm>
            <a:off x="800100" y="3789040"/>
            <a:ext cx="7543800" cy="1661993"/>
          </a:xfrm>
          <a:prstGeom prst="rect">
            <a:avLst/>
          </a:prstGeom>
          <a:solidFill>
            <a:srgbClr val="FFFFCC"/>
          </a:solidFill>
          <a:ln w="12700" cmpd="dbl">
            <a:solidFill>
              <a:srgbClr val="000000"/>
            </a:solidFill>
            <a:miter lim="800000"/>
          </a:ln>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marR="0" lvl="0" indent="0" algn="just" defTabSz="914400" eaLnBrk="1" fontAlgn="auto" latinLnBrk="0" hangingPunct="1">
              <a:lnSpc>
                <a:spcPct val="90000"/>
              </a:lnSpc>
              <a:spcBef>
                <a:spcPct val="20000"/>
              </a:spcBef>
              <a:spcAft>
                <a:spcPts val="0"/>
              </a:spcAft>
              <a:buClrTx/>
              <a:buSzTx/>
              <a:buFontTx/>
              <a:buBlip>
                <a:blip r:embed="rId2"/>
              </a:buBlip>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设计思路：</a:t>
            </a:r>
          </a:p>
          <a:p>
            <a:pPr marL="0" marR="0" lvl="0" indent="0" algn="just" defTabSz="914400" eaLnBrk="1" fontAlgn="auto" latinLnBrk="0" hangingPunct="1">
              <a:lnSpc>
                <a:spcPct val="90000"/>
              </a:lnSpc>
              <a:spcBef>
                <a:spcPct val="20000"/>
              </a:spcBef>
              <a:spcAft>
                <a:spcPts val="0"/>
              </a:spcAft>
              <a:buClrTx/>
              <a:buSzTx/>
              <a:buFontTx/>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）在数据段中定义</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个字型变量</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X</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 </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just" defTabSz="914400" eaLnBrk="1" fontAlgn="auto" latinLnBrk="0" hangingPunct="1">
              <a:lnSpc>
                <a:spcPct val="90000"/>
              </a:lnSpc>
              <a:spcBef>
                <a:spcPct val="20000"/>
              </a:spcBef>
              <a:spcAft>
                <a:spcPts val="0"/>
              </a:spcAft>
              <a:buClrTx/>
              <a:buSzTx/>
              <a:buFontTx/>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）采用带符号数乘除指令，要注意操作数的属性问题。</a:t>
            </a:r>
          </a:p>
          <a:p>
            <a:pPr marL="0" marR="0" lvl="0" indent="0" defTabSz="914400" eaLnBrk="1" fontAlgn="auto" latinLnBrk="0" hangingPunct="1">
              <a:lnSpc>
                <a:spcPct val="90000"/>
              </a:lnSpc>
              <a:spcBef>
                <a:spcPct val="20000"/>
              </a:spcBef>
              <a:spcAft>
                <a:spcPts val="0"/>
              </a:spcAft>
              <a:buClrTx/>
              <a:buSzTx/>
              <a:buFontTx/>
              <a:buNone/>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）假定</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X</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Y</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Z</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的值如程序所示，则</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(Y+Z)/(Y-Z)</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结果应为：商</a:t>
            </a:r>
            <a:r>
              <a:rPr kumimoji="0" lang="en-US"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AX</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中。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3"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1+#ppt_w/2"/>
                                          </p:val>
                                        </p:tav>
                                        <p:tav tm="100000">
                                          <p:val>
                                            <p:strVal val="#ppt_x"/>
                                          </p:val>
                                        </p:tav>
                                      </p:tavLst>
                                    </p:anim>
                                    <p:anim calcmode="lin" valueType="num">
                                      <p:cBhvr additive="base">
                                        <p:cTn id="21"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7"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2195736" y="3356419"/>
            <a:ext cx="6264696" cy="2492990"/>
          </a:xfrm>
          <a:prstGeom prst="rect">
            <a:avLst/>
          </a:prstGeom>
        </p:spPr>
        <p:txBody>
          <a:bodyPr wrap="square">
            <a:spAutoFit/>
          </a:bodyPr>
          <a:lstStyle/>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MOV	AX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X		</a:t>
            </a:r>
            <a:r>
              <a:rPr lang="en-US" altLang="zh-CN"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取</a:t>
            </a:r>
            <a:r>
              <a:rPr lang="en-US" altLang="zh-CN"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X</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ADD 	AX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Y        		; AX←X+Y</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乘法操作数</a:t>
            </a:r>
            <a:r>
              <a:rPr lang="en-US" altLang="zh-CN"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1</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MOV 	CX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乘法操作数</a:t>
            </a:r>
            <a:r>
              <a:rPr lang="en-US" altLang="zh-CN"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2</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MUL 	CX           		; DX: AX←3*(X+Y)</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MOV 	CX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AX		; CX←3*(X+Y)</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保存</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MOV 	AX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Y       		; </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取</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Y</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ADD 	AX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Z		; AX←Y+Z</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被除数</a:t>
            </a:r>
            <a:endParaRPr lang="en-US" altLang="zh-CN" sz="12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XOR 	DX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DX       		; DX←0</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MOV 	BX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Y         		; </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取</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Y</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SUB 	BX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Z        		; BX←Y-Z</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除数</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DIV 	BX           		; AX←(Y+Z)/(Y-Z)</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的商</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ADD 	AX</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CX       		; AX←3*(X+Y)+(Y+Z)/(Y-Z)</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，两项之和</a:t>
            </a:r>
          </a:p>
          <a:p>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MOV 	SUM</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AX     		; </a:t>
            </a:r>
            <a:r>
              <a:rPr lang="zh-CN" altLang="en-US" sz="1200" b="1" dirty="0">
                <a:latin typeface="Times New Roman" panose="02020603050405020304" pitchFamily="18" charset="0"/>
                <a:ea typeface="微软雅黑" panose="020B0503020204020204" pitchFamily="34" charset="-122"/>
                <a:cs typeface="Times New Roman" panose="02020603050405020304" pitchFamily="18" charset="0"/>
              </a:rPr>
              <a:t>存结果</a:t>
            </a:r>
          </a:p>
        </p:txBody>
      </p:sp>
      <p:sp>
        <p:nvSpPr>
          <p:cNvPr id="6" name="矩形 5"/>
          <p:cNvSpPr/>
          <p:nvPr/>
        </p:nvSpPr>
        <p:spPr>
          <a:xfrm>
            <a:off x="1299750" y="1503045"/>
            <a:ext cx="4129534" cy="1938020"/>
          </a:xfrm>
          <a:prstGeom prst="rect">
            <a:avLst/>
          </a:prstGeom>
        </p:spPr>
        <p:txBody>
          <a:bodyPr wrap="square">
            <a:spAutoFit/>
          </a:bodyPr>
          <a:lstStyle/>
          <a:p>
            <a:r>
              <a:rPr lang="en-US" altLang="zh-CN" sz="1200" b="1" dirty="0">
                <a:solidFill>
                  <a:srgbClr val="C00000"/>
                </a:solidFill>
                <a:latin typeface="Times New Roman" panose="02020603050405020304" pitchFamily="18" charset="0"/>
                <a:cs typeface="Times New Roman" panose="02020603050405020304" pitchFamily="18" charset="0"/>
              </a:rPr>
              <a:t>DATA            SEGMENT</a:t>
            </a:r>
          </a:p>
          <a:p>
            <a:r>
              <a:rPr lang="en-US" altLang="zh-CN" sz="1200" b="1" dirty="0">
                <a:latin typeface="Times New Roman" panose="02020603050405020304" pitchFamily="18" charset="0"/>
                <a:cs typeface="Times New Roman" panose="02020603050405020304" pitchFamily="18" charset="0"/>
              </a:rPr>
              <a:t>	X    DW   6</a:t>
            </a:r>
          </a:p>
          <a:p>
            <a:r>
              <a:rPr lang="en-US" altLang="zh-CN" sz="1200" b="1" dirty="0">
                <a:latin typeface="Times New Roman" panose="02020603050405020304" pitchFamily="18" charset="0"/>
                <a:cs typeface="Times New Roman" panose="02020603050405020304" pitchFamily="18" charset="0"/>
              </a:rPr>
              <a:t>	Y    DW   7</a:t>
            </a:r>
          </a:p>
          <a:p>
            <a:r>
              <a:rPr lang="en-US" altLang="zh-CN" sz="1200" b="1" dirty="0">
                <a:latin typeface="Times New Roman" panose="02020603050405020304" pitchFamily="18" charset="0"/>
                <a:cs typeface="Times New Roman" panose="02020603050405020304" pitchFamily="18" charset="0"/>
              </a:rPr>
              <a:t>	Z    DW   8</a:t>
            </a:r>
          </a:p>
          <a:p>
            <a:r>
              <a:rPr lang="en-US" altLang="zh-CN" sz="1200" b="1" dirty="0">
                <a:latin typeface="Times New Roman" panose="02020603050405020304" pitchFamily="18" charset="0"/>
                <a:cs typeface="Times New Roman" panose="02020603050405020304" pitchFamily="18" charset="0"/>
              </a:rPr>
              <a:t>                    SUM  DW   ?</a:t>
            </a:r>
          </a:p>
          <a:p>
            <a:r>
              <a:rPr lang="en-US" altLang="zh-CN" sz="1200" b="1" dirty="0">
                <a:solidFill>
                  <a:srgbClr val="C00000"/>
                </a:solidFill>
                <a:latin typeface="Times New Roman" panose="02020603050405020304" pitchFamily="18" charset="0"/>
                <a:cs typeface="Times New Roman" panose="02020603050405020304" pitchFamily="18" charset="0"/>
              </a:rPr>
              <a:t>DATA            ENDS</a:t>
            </a:r>
          </a:p>
          <a:p>
            <a:r>
              <a:rPr lang="en-US" altLang="zh-CN" sz="1200" b="1" dirty="0">
                <a:solidFill>
                  <a:schemeClr val="bg2">
                    <a:lumMod val="25000"/>
                  </a:schemeClr>
                </a:solidFill>
                <a:latin typeface="Times New Roman" panose="02020603050405020304" pitchFamily="18" charset="0"/>
                <a:cs typeface="Times New Roman" panose="02020603050405020304" pitchFamily="18" charset="0"/>
              </a:rPr>
              <a:t>CODE            SEGMENT</a:t>
            </a:r>
          </a:p>
          <a:p>
            <a:r>
              <a:rPr lang="en-US" altLang="zh-CN" sz="1200" b="1" dirty="0">
                <a:solidFill>
                  <a:schemeClr val="bg2">
                    <a:lumMod val="25000"/>
                  </a:schemeClr>
                </a:solidFill>
                <a:latin typeface="Times New Roman" panose="02020603050405020304" pitchFamily="18" charset="0"/>
                <a:cs typeface="Times New Roman" panose="02020603050405020304" pitchFamily="18" charset="0"/>
              </a:rPr>
              <a:t>                       ASSUME  CS:CODE, DS:DATA</a:t>
            </a:r>
          </a:p>
          <a:p>
            <a:r>
              <a:rPr lang="en-US" altLang="zh-CN" sz="1200" b="1" dirty="0">
                <a:solidFill>
                  <a:schemeClr val="bg2">
                    <a:lumMod val="25000"/>
                  </a:schemeClr>
                </a:solidFill>
                <a:latin typeface="Times New Roman" panose="02020603050405020304" pitchFamily="18" charset="0"/>
                <a:cs typeface="Times New Roman" panose="02020603050405020304" pitchFamily="18" charset="0"/>
              </a:rPr>
              <a:t>START:         MOV  AX, DATA</a:t>
            </a:r>
          </a:p>
          <a:p>
            <a:r>
              <a:rPr lang="en-US" altLang="zh-CN" sz="1200" b="1" dirty="0">
                <a:solidFill>
                  <a:schemeClr val="bg2">
                    <a:lumMod val="25000"/>
                  </a:schemeClr>
                </a:solidFill>
                <a:latin typeface="Times New Roman" panose="02020603050405020304" pitchFamily="18" charset="0"/>
                <a:cs typeface="Times New Roman" panose="02020603050405020304" pitchFamily="18" charset="0"/>
              </a:rPr>
              <a:t>                       MOV  DS, AX</a:t>
            </a:r>
          </a:p>
        </p:txBody>
      </p:sp>
      <p:sp>
        <p:nvSpPr>
          <p:cNvPr id="7" name="矩形 6"/>
          <p:cNvSpPr/>
          <p:nvPr/>
        </p:nvSpPr>
        <p:spPr>
          <a:xfrm>
            <a:off x="1259125" y="5732794"/>
            <a:ext cx="5454125" cy="830997"/>
          </a:xfrm>
          <a:prstGeom prst="rect">
            <a:avLst/>
          </a:prstGeom>
        </p:spPr>
        <p:txBody>
          <a:bodyPr wrap="square">
            <a:spAutoFit/>
          </a:bodyPr>
          <a:lstStyle/>
          <a:p>
            <a:r>
              <a:rPr lang="en-US" altLang="zh-CN" sz="1200" b="1"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MOV  AH, 4CH</a:t>
            </a:r>
          </a:p>
          <a:p>
            <a:r>
              <a:rPr lang="en-US" altLang="zh-CN" sz="1200" b="1"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INT  21H</a:t>
            </a:r>
          </a:p>
          <a:p>
            <a:r>
              <a:rPr lang="en-US" altLang="zh-CN" sz="1200" b="1"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CODE             ENDS</a:t>
            </a:r>
          </a:p>
          <a:p>
            <a:r>
              <a:rPr lang="en-US" altLang="zh-CN" sz="1200" b="1" dirty="0">
                <a:solidFill>
                  <a:schemeClr val="bg2">
                    <a:lumMod val="25000"/>
                  </a:schemeClr>
                </a:solidFill>
                <a:latin typeface="Times New Roman" panose="02020603050405020304" pitchFamily="18" charset="0"/>
                <a:ea typeface="微软雅黑" panose="020B0503020204020204" pitchFamily="34" charset="-122"/>
                <a:cs typeface="Times New Roman" panose="02020603050405020304" pitchFamily="18" charset="0"/>
              </a:rPr>
              <a:t>                        END 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en-US" altLang="zh-CN" b="1" dirty="0">
                <a:latin typeface="Times New Roman" panose="02020603050405020304" pitchFamily="18" charset="0"/>
                <a:cs typeface="Times New Roman" panose="02020603050405020304" pitchFamily="18" charset="0"/>
              </a:rPr>
              <a:t>4.7.3</a:t>
            </a:r>
            <a:r>
              <a:rPr lang="zh-CN" altLang="zh-CN" b="1" dirty="0">
                <a:latin typeface="Times New Roman" panose="02020603050405020304" pitchFamily="18" charset="0"/>
                <a:cs typeface="Times New Roman" panose="02020603050405020304" pitchFamily="18" charset="0"/>
              </a:rPr>
              <a:t>分支结构程序设计</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457200" y="2218720"/>
            <a:ext cx="2706190" cy="400110"/>
          </a:xfrm>
          <a:prstGeom prst="rect">
            <a:avLst/>
          </a:prstGeom>
        </p:spPr>
        <p:txBody>
          <a:bodyPr wrap="none">
            <a:spAutoFit/>
          </a:bodyPr>
          <a:lstStyle/>
          <a:p>
            <a:r>
              <a:rPr lang="en-US" altLang="zh-CN" sz="2000" b="1" dirty="0"/>
              <a:t>1.</a:t>
            </a:r>
            <a:r>
              <a:rPr lang="zh-CN" altLang="en-US" sz="2000" b="1" dirty="0"/>
              <a:t>分支程序的结构形式</a:t>
            </a:r>
          </a:p>
        </p:txBody>
      </p:sp>
      <p:sp>
        <p:nvSpPr>
          <p:cNvPr id="6" name="矩形 5"/>
          <p:cNvSpPr/>
          <p:nvPr/>
        </p:nvSpPr>
        <p:spPr>
          <a:xfrm>
            <a:off x="1403648" y="2707413"/>
            <a:ext cx="4403770" cy="369332"/>
          </a:xfrm>
          <a:prstGeom prst="rect">
            <a:avLst/>
          </a:prstGeom>
        </p:spPr>
        <p:txBody>
          <a:bodyPr wrap="none">
            <a:spAutoFit/>
          </a:bodyPr>
          <a:lstStyle/>
          <a:p>
            <a:r>
              <a:rPr lang="zh-CN" altLang="en-US" b="1" dirty="0"/>
              <a:t>单纯分支、 并行分支结构、选择分支结构</a:t>
            </a:r>
          </a:p>
        </p:txBody>
      </p:sp>
      <p:grpSp>
        <p:nvGrpSpPr>
          <p:cNvPr id="39" name="组合 38"/>
          <p:cNvGrpSpPr/>
          <p:nvPr/>
        </p:nvGrpSpPr>
        <p:grpSpPr>
          <a:xfrm>
            <a:off x="349900" y="3410677"/>
            <a:ext cx="8444200" cy="2376265"/>
            <a:chOff x="349900" y="3410677"/>
            <a:chExt cx="8444200" cy="2376265"/>
          </a:xfrm>
        </p:grpSpPr>
        <p:sp>
          <p:nvSpPr>
            <p:cNvPr id="8" name="Rectangle 37"/>
            <p:cNvSpPr>
              <a:spLocks noChangeArrowheads="1"/>
            </p:cNvSpPr>
            <p:nvPr/>
          </p:nvSpPr>
          <p:spPr bwMode="auto">
            <a:xfrm>
              <a:off x="349900" y="3410677"/>
              <a:ext cx="8444200" cy="2376265"/>
            </a:xfrm>
            <a:prstGeom prst="rect">
              <a:avLst/>
            </a:prstGeom>
            <a:solidFill>
              <a:srgbClr val="FFFF99"/>
            </a:solidFill>
            <a:ln w="9525">
              <a:solidFill>
                <a:srgbClr val="000000"/>
              </a:solidFill>
              <a:miter lim="800000"/>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9" name="AutoShape 5"/>
            <p:cNvSpPr>
              <a:spLocks noChangeArrowheads="1"/>
            </p:cNvSpPr>
            <p:nvPr/>
          </p:nvSpPr>
          <p:spPr bwMode="auto">
            <a:xfrm>
              <a:off x="412507" y="4141610"/>
              <a:ext cx="1524000" cy="609600"/>
            </a:xfrm>
            <a:prstGeom prst="flowChartDecision">
              <a:avLst/>
            </a:prstGeom>
            <a:solidFill>
              <a:srgbClr val="FFFFFF"/>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400" b="0"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a:t>
              </a:r>
            </a:p>
          </p:txBody>
        </p:sp>
        <p:sp>
          <p:nvSpPr>
            <p:cNvPr id="10" name="Line 6"/>
            <p:cNvSpPr>
              <a:spLocks noChangeShapeType="1"/>
            </p:cNvSpPr>
            <p:nvPr/>
          </p:nvSpPr>
          <p:spPr bwMode="auto">
            <a:xfrm>
              <a:off x="1174507" y="3760610"/>
              <a:ext cx="0" cy="3810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1" name="Line 7"/>
            <p:cNvSpPr>
              <a:spLocks noChangeShapeType="1"/>
            </p:cNvSpPr>
            <p:nvPr/>
          </p:nvSpPr>
          <p:spPr bwMode="auto">
            <a:xfrm>
              <a:off x="1174507" y="4751210"/>
              <a:ext cx="0" cy="9144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2" name="Freeform 8"/>
            <p:cNvSpPr/>
            <p:nvPr/>
          </p:nvSpPr>
          <p:spPr bwMode="auto">
            <a:xfrm>
              <a:off x="1174507" y="4441648"/>
              <a:ext cx="1219200" cy="842962"/>
            </a:xfrm>
            <a:custGeom>
              <a:avLst/>
              <a:gdLst>
                <a:gd name="T0" fmla="*/ 471 w 768"/>
                <a:gd name="T1" fmla="*/ 0 h 531"/>
                <a:gd name="T2" fmla="*/ 651 w 768"/>
                <a:gd name="T3" fmla="*/ 0 h 531"/>
                <a:gd name="T4" fmla="*/ 768 w 768"/>
                <a:gd name="T5" fmla="*/ 3 h 531"/>
                <a:gd name="T6" fmla="*/ 768 w 768"/>
                <a:gd name="T7" fmla="*/ 531 h 531"/>
                <a:gd name="T8" fmla="*/ 0 w 768"/>
                <a:gd name="T9" fmla="*/ 531 h 531"/>
              </a:gdLst>
              <a:ahLst/>
              <a:cxnLst>
                <a:cxn ang="0">
                  <a:pos x="T0" y="T1"/>
                </a:cxn>
                <a:cxn ang="0">
                  <a:pos x="T2" y="T3"/>
                </a:cxn>
                <a:cxn ang="0">
                  <a:pos x="T4" y="T5"/>
                </a:cxn>
                <a:cxn ang="0">
                  <a:pos x="T6" y="T7"/>
                </a:cxn>
                <a:cxn ang="0">
                  <a:pos x="T8" y="T9"/>
                </a:cxn>
              </a:cxnLst>
              <a:rect l="0" t="0" r="r" b="b"/>
              <a:pathLst>
                <a:path w="768" h="531">
                  <a:moveTo>
                    <a:pt x="471" y="0"/>
                  </a:moveTo>
                  <a:cubicBezTo>
                    <a:pt x="531" y="0"/>
                    <a:pt x="591" y="0"/>
                    <a:pt x="651" y="0"/>
                  </a:cubicBezTo>
                  <a:lnTo>
                    <a:pt x="768" y="3"/>
                  </a:lnTo>
                  <a:lnTo>
                    <a:pt x="768" y="531"/>
                  </a:lnTo>
                  <a:lnTo>
                    <a:pt x="0" y="531"/>
                  </a:lnTo>
                </a:path>
              </a:pathLst>
            </a:custGeom>
            <a:noFill/>
            <a:ln w="9525">
              <a:solidFill>
                <a:srgbClr val="0000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3" name="Rectangle 9"/>
            <p:cNvSpPr>
              <a:spLocks noChangeArrowheads="1"/>
            </p:cNvSpPr>
            <p:nvPr/>
          </p:nvSpPr>
          <p:spPr bwMode="auto">
            <a:xfrm>
              <a:off x="1860307" y="4675010"/>
              <a:ext cx="1143000" cy="381000"/>
            </a:xfrm>
            <a:prstGeom prst="rect">
              <a:avLst/>
            </a:prstGeom>
            <a:solidFill>
              <a:srgbClr val="FFFFFF"/>
            </a:solidFill>
            <a:ln w="25400">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P0</a:t>
              </a:r>
            </a:p>
          </p:txBody>
        </p:sp>
        <p:sp>
          <p:nvSpPr>
            <p:cNvPr id="14" name="AutoShape 10"/>
            <p:cNvSpPr>
              <a:spLocks noChangeArrowheads="1"/>
            </p:cNvSpPr>
            <p:nvPr/>
          </p:nvSpPr>
          <p:spPr bwMode="auto">
            <a:xfrm>
              <a:off x="3079507" y="4065410"/>
              <a:ext cx="1524000" cy="457200"/>
            </a:xfrm>
            <a:prstGeom prst="flowChartDecision">
              <a:avLst/>
            </a:prstGeom>
            <a:solidFill>
              <a:srgbClr val="FFFFFF"/>
            </a:solidFill>
            <a:ln w="2857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2400" b="0"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a:t>
              </a:r>
            </a:p>
          </p:txBody>
        </p:sp>
        <p:sp>
          <p:nvSpPr>
            <p:cNvPr id="15" name="Line 11"/>
            <p:cNvSpPr>
              <a:spLocks noChangeShapeType="1"/>
            </p:cNvSpPr>
            <p:nvPr/>
          </p:nvSpPr>
          <p:spPr bwMode="auto">
            <a:xfrm>
              <a:off x="3841507" y="3684410"/>
              <a:ext cx="0" cy="3810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6" name="Line 12"/>
            <p:cNvSpPr>
              <a:spLocks noChangeShapeType="1"/>
            </p:cNvSpPr>
            <p:nvPr/>
          </p:nvSpPr>
          <p:spPr bwMode="auto">
            <a:xfrm>
              <a:off x="3841507" y="5132210"/>
              <a:ext cx="0" cy="4572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7" name="Freeform 13"/>
            <p:cNvSpPr/>
            <p:nvPr/>
          </p:nvSpPr>
          <p:spPr bwMode="auto">
            <a:xfrm>
              <a:off x="3841507" y="4365448"/>
              <a:ext cx="1219200" cy="842962"/>
            </a:xfrm>
            <a:custGeom>
              <a:avLst/>
              <a:gdLst>
                <a:gd name="T0" fmla="*/ 471 w 768"/>
                <a:gd name="T1" fmla="*/ 0 h 531"/>
                <a:gd name="T2" fmla="*/ 651 w 768"/>
                <a:gd name="T3" fmla="*/ 0 h 531"/>
                <a:gd name="T4" fmla="*/ 768 w 768"/>
                <a:gd name="T5" fmla="*/ 3 h 531"/>
                <a:gd name="T6" fmla="*/ 768 w 768"/>
                <a:gd name="T7" fmla="*/ 531 h 531"/>
                <a:gd name="T8" fmla="*/ 0 w 768"/>
                <a:gd name="T9" fmla="*/ 531 h 531"/>
              </a:gdLst>
              <a:ahLst/>
              <a:cxnLst>
                <a:cxn ang="0">
                  <a:pos x="T0" y="T1"/>
                </a:cxn>
                <a:cxn ang="0">
                  <a:pos x="T2" y="T3"/>
                </a:cxn>
                <a:cxn ang="0">
                  <a:pos x="T4" y="T5"/>
                </a:cxn>
                <a:cxn ang="0">
                  <a:pos x="T6" y="T7"/>
                </a:cxn>
                <a:cxn ang="0">
                  <a:pos x="T8" y="T9"/>
                </a:cxn>
              </a:cxnLst>
              <a:rect l="0" t="0" r="r" b="b"/>
              <a:pathLst>
                <a:path w="768" h="531">
                  <a:moveTo>
                    <a:pt x="471" y="0"/>
                  </a:moveTo>
                  <a:cubicBezTo>
                    <a:pt x="531" y="0"/>
                    <a:pt x="591" y="0"/>
                    <a:pt x="651" y="0"/>
                  </a:cubicBezTo>
                  <a:lnTo>
                    <a:pt x="768" y="3"/>
                  </a:lnTo>
                  <a:lnTo>
                    <a:pt x="768" y="531"/>
                  </a:lnTo>
                  <a:lnTo>
                    <a:pt x="0" y="531"/>
                  </a:lnTo>
                </a:path>
              </a:pathLst>
            </a:custGeom>
            <a:noFill/>
            <a:ln w="9525">
              <a:solidFill>
                <a:srgbClr val="0000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18" name="Rectangle 14"/>
            <p:cNvSpPr>
              <a:spLocks noChangeArrowheads="1"/>
            </p:cNvSpPr>
            <p:nvPr/>
          </p:nvSpPr>
          <p:spPr bwMode="auto">
            <a:xfrm>
              <a:off x="4527307" y="4598810"/>
              <a:ext cx="1143000" cy="381000"/>
            </a:xfrm>
            <a:prstGeom prst="rect">
              <a:avLst/>
            </a:prstGeom>
            <a:solidFill>
              <a:srgbClr val="FFFFFF"/>
            </a:solidFill>
            <a:ln w="2857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P1</a:t>
              </a:r>
            </a:p>
          </p:txBody>
        </p:sp>
        <p:sp>
          <p:nvSpPr>
            <p:cNvPr id="19" name="Rectangle 15"/>
            <p:cNvSpPr>
              <a:spLocks noChangeArrowheads="1"/>
            </p:cNvSpPr>
            <p:nvPr/>
          </p:nvSpPr>
          <p:spPr bwMode="auto">
            <a:xfrm>
              <a:off x="3308107" y="4751210"/>
              <a:ext cx="1143000" cy="381000"/>
            </a:xfrm>
            <a:prstGeom prst="rect">
              <a:avLst/>
            </a:prstGeom>
            <a:solidFill>
              <a:srgbClr val="FFFFFF"/>
            </a:solidFill>
            <a:ln w="2857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P0</a:t>
              </a:r>
            </a:p>
          </p:txBody>
        </p:sp>
        <p:sp>
          <p:nvSpPr>
            <p:cNvPr id="20" name="Line 16"/>
            <p:cNvSpPr>
              <a:spLocks noChangeShapeType="1"/>
            </p:cNvSpPr>
            <p:nvPr/>
          </p:nvSpPr>
          <p:spPr bwMode="auto">
            <a:xfrm>
              <a:off x="3841507" y="4522610"/>
              <a:ext cx="0" cy="228600"/>
            </a:xfrm>
            <a:prstGeom prst="line">
              <a:avLst/>
            </a:prstGeom>
            <a:noFill/>
            <a:ln w="28575">
              <a:solidFill>
                <a:srgbClr val="FF99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sz="2400">
                <a:solidFill>
                  <a:srgbClr val="FFFFFF"/>
                </a:solidFill>
                <a:latin typeface="Times New Roman" panose="02020603050405020304" pitchFamily="18" charset="0"/>
                <a:ea typeface="宋体" panose="02010600030101010101" pitchFamily="2" charset="-122"/>
              </a:endParaRPr>
            </a:p>
          </p:txBody>
        </p:sp>
        <p:sp>
          <p:nvSpPr>
            <p:cNvPr id="21" name="Text Box 17"/>
            <p:cNvSpPr txBox="1">
              <a:spLocks noChangeArrowheads="1"/>
            </p:cNvSpPr>
            <p:nvPr/>
          </p:nvSpPr>
          <p:spPr bwMode="auto">
            <a:xfrm>
              <a:off x="869707" y="4751210"/>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CC"/>
                  </a:solidFill>
                  <a:latin typeface="Times New Roman" panose="02020603050405020304" pitchFamily="18" charset="0"/>
                  <a:ea typeface="宋体" panose="02010600030101010101" pitchFamily="2" charset="-122"/>
                </a:rPr>
                <a:t>N</a:t>
              </a:r>
            </a:p>
          </p:txBody>
        </p:sp>
        <p:sp>
          <p:nvSpPr>
            <p:cNvPr id="22" name="Text Box 18"/>
            <p:cNvSpPr txBox="1">
              <a:spLocks noChangeArrowheads="1"/>
            </p:cNvSpPr>
            <p:nvPr/>
          </p:nvSpPr>
          <p:spPr bwMode="auto">
            <a:xfrm>
              <a:off x="2012707" y="4065410"/>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3333CC"/>
                  </a:solidFill>
                  <a:latin typeface="Times New Roman" panose="02020603050405020304" pitchFamily="18" charset="0"/>
                  <a:ea typeface="宋体" panose="02010600030101010101" pitchFamily="2" charset="-122"/>
                </a:rPr>
                <a:t>Y</a:t>
              </a:r>
            </a:p>
          </p:txBody>
        </p:sp>
        <p:sp>
          <p:nvSpPr>
            <p:cNvPr id="23" name="Text Box 19"/>
            <p:cNvSpPr txBox="1">
              <a:spLocks noChangeArrowheads="1"/>
            </p:cNvSpPr>
            <p:nvPr/>
          </p:nvSpPr>
          <p:spPr bwMode="auto">
            <a:xfrm>
              <a:off x="3261293" y="4370210"/>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dirty="0">
                  <a:solidFill>
                    <a:srgbClr val="3333CC"/>
                  </a:solidFill>
                  <a:latin typeface="Times New Roman" panose="02020603050405020304" pitchFamily="18" charset="0"/>
                  <a:ea typeface="宋体" panose="02010600030101010101" pitchFamily="2" charset="-122"/>
                </a:rPr>
                <a:t>N</a:t>
              </a:r>
            </a:p>
          </p:txBody>
        </p:sp>
        <p:sp>
          <p:nvSpPr>
            <p:cNvPr id="24" name="Text Box 20"/>
            <p:cNvSpPr txBox="1">
              <a:spLocks noChangeArrowheads="1"/>
            </p:cNvSpPr>
            <p:nvPr/>
          </p:nvSpPr>
          <p:spPr bwMode="auto">
            <a:xfrm>
              <a:off x="4613892" y="3902484"/>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b="1">
                  <a:solidFill>
                    <a:srgbClr val="3333CC"/>
                  </a:solidFill>
                  <a:latin typeface="Times New Roman" panose="02020603050405020304" pitchFamily="18" charset="0"/>
                  <a:ea typeface="宋体" panose="02010600030101010101" pitchFamily="2" charset="-122"/>
                </a:rPr>
                <a:t>Y</a:t>
              </a:r>
            </a:p>
          </p:txBody>
        </p:sp>
        <p:sp>
          <p:nvSpPr>
            <p:cNvPr id="25" name="AutoShape 21"/>
            <p:cNvSpPr>
              <a:spLocks noChangeArrowheads="1"/>
            </p:cNvSpPr>
            <p:nvPr/>
          </p:nvSpPr>
          <p:spPr bwMode="auto">
            <a:xfrm>
              <a:off x="6660906" y="3836810"/>
              <a:ext cx="1219200" cy="457200"/>
            </a:xfrm>
            <a:prstGeom prst="flowChartDecision">
              <a:avLst/>
            </a:prstGeom>
            <a:solidFill>
              <a:srgbClr val="FFFFFF"/>
            </a:solidFill>
            <a:ln w="2857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I=</a:t>
              </a:r>
              <a:r>
                <a:rPr kumimoji="1" lang="zh-CN" altLang="en-US"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a:t>
              </a:r>
            </a:p>
          </p:txBody>
        </p:sp>
        <p:sp>
          <p:nvSpPr>
            <p:cNvPr id="26" name="Line 22"/>
            <p:cNvSpPr>
              <a:spLocks noChangeShapeType="1"/>
            </p:cNvSpPr>
            <p:nvPr/>
          </p:nvSpPr>
          <p:spPr bwMode="auto">
            <a:xfrm>
              <a:off x="7270506" y="3532010"/>
              <a:ext cx="0" cy="304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27" name="Line 23"/>
            <p:cNvSpPr>
              <a:spLocks noChangeShapeType="1"/>
            </p:cNvSpPr>
            <p:nvPr/>
          </p:nvSpPr>
          <p:spPr bwMode="auto">
            <a:xfrm>
              <a:off x="7270506" y="4294010"/>
              <a:ext cx="0" cy="1524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28" name="Line 24"/>
            <p:cNvSpPr>
              <a:spLocks noChangeShapeType="1"/>
            </p:cNvSpPr>
            <p:nvPr/>
          </p:nvSpPr>
          <p:spPr bwMode="auto">
            <a:xfrm>
              <a:off x="6203706" y="4446410"/>
              <a:ext cx="2133600"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29" name="Line 25"/>
            <p:cNvSpPr>
              <a:spLocks noChangeShapeType="1"/>
            </p:cNvSpPr>
            <p:nvPr/>
          </p:nvSpPr>
          <p:spPr bwMode="auto">
            <a:xfrm>
              <a:off x="6203706" y="4446410"/>
              <a:ext cx="0" cy="304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30" name="Rectangle 26"/>
            <p:cNvSpPr>
              <a:spLocks noChangeArrowheads="1"/>
            </p:cNvSpPr>
            <p:nvPr/>
          </p:nvSpPr>
          <p:spPr bwMode="auto">
            <a:xfrm>
              <a:off x="5898906" y="4751210"/>
              <a:ext cx="609600" cy="304800"/>
            </a:xfrm>
            <a:prstGeom prst="rect">
              <a:avLst/>
            </a:prstGeom>
            <a:solidFill>
              <a:srgbClr val="FFFFFF"/>
            </a:solidFill>
            <a:ln w="22225">
              <a:solidFill>
                <a:srgbClr val="FFCC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P0</a:t>
              </a:r>
            </a:p>
          </p:txBody>
        </p:sp>
        <p:sp>
          <p:nvSpPr>
            <p:cNvPr id="31" name="Rectangle 27"/>
            <p:cNvSpPr>
              <a:spLocks noChangeArrowheads="1"/>
            </p:cNvSpPr>
            <p:nvPr/>
          </p:nvSpPr>
          <p:spPr bwMode="auto">
            <a:xfrm>
              <a:off x="6584706" y="4751210"/>
              <a:ext cx="609600" cy="304800"/>
            </a:xfrm>
            <a:prstGeom prst="rect">
              <a:avLst/>
            </a:prstGeom>
            <a:solidFill>
              <a:srgbClr val="FFFFFF"/>
            </a:solidFill>
            <a:ln w="22225">
              <a:solidFill>
                <a:srgbClr val="FFCC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P1</a:t>
              </a:r>
            </a:p>
          </p:txBody>
        </p:sp>
        <p:sp>
          <p:nvSpPr>
            <p:cNvPr id="32" name="Line 28"/>
            <p:cNvSpPr>
              <a:spLocks noChangeShapeType="1"/>
            </p:cNvSpPr>
            <p:nvPr/>
          </p:nvSpPr>
          <p:spPr bwMode="auto">
            <a:xfrm>
              <a:off x="6889506" y="4446410"/>
              <a:ext cx="0" cy="304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33" name="Text Box 29"/>
            <p:cNvSpPr txBox="1">
              <a:spLocks noChangeArrowheads="1"/>
            </p:cNvSpPr>
            <p:nvPr/>
          </p:nvSpPr>
          <p:spPr bwMode="auto">
            <a:xfrm>
              <a:off x="7102231" y="4640085"/>
              <a:ext cx="48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400">
                  <a:solidFill>
                    <a:srgbClr val="3333CC"/>
                  </a:solidFill>
                  <a:latin typeface="Times New Roman" panose="02020603050405020304" pitchFamily="18" charset="0"/>
                  <a:ea typeface="宋体" panose="02010600030101010101" pitchFamily="2" charset="-122"/>
                  <a:cs typeface="Times New Roman" panose="02020603050405020304" pitchFamily="18" charset="0"/>
                </a:rPr>
                <a:t>…</a:t>
              </a:r>
              <a:endParaRPr kumimoji="1" lang="en-US" altLang="zh-CN" sz="2400">
                <a:solidFill>
                  <a:srgbClr val="3333CC"/>
                </a:solidFill>
                <a:latin typeface="Times New Roman" panose="02020603050405020304" pitchFamily="18" charset="0"/>
                <a:ea typeface="宋体" panose="02010600030101010101" pitchFamily="2" charset="-122"/>
              </a:endParaRPr>
            </a:p>
          </p:txBody>
        </p:sp>
        <p:sp>
          <p:nvSpPr>
            <p:cNvPr id="34" name="Line 30"/>
            <p:cNvSpPr>
              <a:spLocks noChangeShapeType="1"/>
            </p:cNvSpPr>
            <p:nvPr/>
          </p:nvSpPr>
          <p:spPr bwMode="auto">
            <a:xfrm>
              <a:off x="8337306" y="4446410"/>
              <a:ext cx="0" cy="3048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35" name="Rectangle 31"/>
            <p:cNvSpPr>
              <a:spLocks noChangeArrowheads="1"/>
            </p:cNvSpPr>
            <p:nvPr/>
          </p:nvSpPr>
          <p:spPr bwMode="auto">
            <a:xfrm>
              <a:off x="8032506" y="4751210"/>
              <a:ext cx="609600" cy="304800"/>
            </a:xfrm>
            <a:prstGeom prst="rect">
              <a:avLst/>
            </a:prstGeom>
            <a:solidFill>
              <a:srgbClr val="FFFFFF"/>
            </a:solidFill>
            <a:ln w="22225">
              <a:solidFill>
                <a:srgbClr val="FFCC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2000" b="1" i="0" u="none" strike="noStrike" kern="0" cap="none" spc="0" normalizeH="0" baseline="0" noProof="0">
                  <a:ln>
                    <a:noFill/>
                  </a:ln>
                  <a:solidFill>
                    <a:srgbClr val="3333CC"/>
                  </a:solidFill>
                  <a:effectLst/>
                  <a:uLnTx/>
                  <a:uFillTx/>
                  <a:latin typeface="Times New Roman" panose="02020603050405020304" pitchFamily="18" charset="0"/>
                  <a:ea typeface="宋体" panose="02010600030101010101" pitchFamily="2" charset="-122"/>
                </a:rPr>
                <a:t>Pn</a:t>
              </a:r>
            </a:p>
          </p:txBody>
        </p:sp>
        <p:sp>
          <p:nvSpPr>
            <p:cNvPr id="36" name="Freeform 33"/>
            <p:cNvSpPr/>
            <p:nvPr/>
          </p:nvSpPr>
          <p:spPr bwMode="auto">
            <a:xfrm>
              <a:off x="6203706" y="5056010"/>
              <a:ext cx="2133600" cy="228600"/>
            </a:xfrm>
            <a:custGeom>
              <a:avLst/>
              <a:gdLst>
                <a:gd name="T0" fmla="*/ 0 w 1344"/>
                <a:gd name="T1" fmla="*/ 0 h 144"/>
                <a:gd name="T2" fmla="*/ 0 w 1344"/>
                <a:gd name="T3" fmla="*/ 144 h 144"/>
                <a:gd name="T4" fmla="*/ 1344 w 1344"/>
                <a:gd name="T5" fmla="*/ 144 h 144"/>
                <a:gd name="T6" fmla="*/ 1344 w 1344"/>
                <a:gd name="T7" fmla="*/ 0 h 144"/>
              </a:gdLst>
              <a:ahLst/>
              <a:cxnLst>
                <a:cxn ang="0">
                  <a:pos x="T0" y="T1"/>
                </a:cxn>
                <a:cxn ang="0">
                  <a:pos x="T2" y="T3"/>
                </a:cxn>
                <a:cxn ang="0">
                  <a:pos x="T4" y="T5"/>
                </a:cxn>
                <a:cxn ang="0">
                  <a:pos x="T6" y="T7"/>
                </a:cxn>
              </a:cxnLst>
              <a:rect l="0" t="0" r="r" b="b"/>
              <a:pathLst>
                <a:path w="1344" h="144">
                  <a:moveTo>
                    <a:pt x="0" y="0"/>
                  </a:moveTo>
                  <a:lnTo>
                    <a:pt x="0" y="144"/>
                  </a:lnTo>
                  <a:lnTo>
                    <a:pt x="1344" y="144"/>
                  </a:lnTo>
                  <a:lnTo>
                    <a:pt x="1344" y="0"/>
                  </a:lnTo>
                </a:path>
              </a:pathLst>
            </a:custGeom>
            <a:noFill/>
            <a:ln w="95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37" name="Line 34"/>
            <p:cNvSpPr>
              <a:spLocks noChangeShapeType="1"/>
            </p:cNvSpPr>
            <p:nvPr/>
          </p:nvSpPr>
          <p:spPr bwMode="auto">
            <a:xfrm>
              <a:off x="6889506" y="5056010"/>
              <a:ext cx="0" cy="22860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sp>
          <p:nvSpPr>
            <p:cNvPr id="38" name="Line 35"/>
            <p:cNvSpPr>
              <a:spLocks noChangeShapeType="1"/>
            </p:cNvSpPr>
            <p:nvPr/>
          </p:nvSpPr>
          <p:spPr bwMode="auto">
            <a:xfrm>
              <a:off x="7270506" y="5284610"/>
              <a:ext cx="0" cy="228600"/>
            </a:xfrm>
            <a:prstGeom prst="line">
              <a:avLst/>
            </a:prstGeom>
            <a:noFill/>
            <a:ln w="952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sz="2400" b="0"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wipe(left)">
                                      <p:cBhvr>
                                        <p:cTn id="2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Rectangle 3"/>
          <p:cNvSpPr txBox="1">
            <a:spLocks noChangeArrowheads="1"/>
          </p:cNvSpPr>
          <p:nvPr/>
        </p:nvSpPr>
        <p:spPr bwMode="auto">
          <a:xfrm>
            <a:off x="647626" y="1642775"/>
            <a:ext cx="2627312"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4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4.8</a:t>
            </a:r>
            <a:r>
              <a:rPr lang="zh-CN" altLang="en-US" sz="2400" b="1" dirty="0">
                <a:solidFill>
                  <a:srgbClr val="A50021"/>
                </a:solidFill>
                <a:latin typeface="Times New Roman" panose="02020603050405020304" pitchFamily="18" charset="0"/>
                <a:ea typeface="微软雅黑" panose="020B0503020204020204" pitchFamily="34" charset="-122"/>
                <a:cs typeface="Times New Roman" panose="02020603050405020304" pitchFamily="18" charset="0"/>
              </a:rPr>
              <a:t>：符号函数</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6" name="Object 8"/>
          <p:cNvGraphicFramePr>
            <a:graphicFrameLocks noChangeAspect="1"/>
          </p:cNvGraphicFramePr>
          <p:nvPr/>
        </p:nvGraphicFramePr>
        <p:xfrm>
          <a:off x="1511226" y="2325400"/>
          <a:ext cx="2268537" cy="1444625"/>
        </p:xfrm>
        <a:graphic>
          <a:graphicData uri="http://schemas.openxmlformats.org/presentationml/2006/ole">
            <mc:AlternateContent xmlns:mc="http://schemas.openxmlformats.org/markup-compatibility/2006">
              <mc:Choice xmlns:v="urn:schemas-microsoft-com:vml" Requires="v">
                <p:oleObj spid="_x0000_s4134" name="公式" r:id="rId3" imgW="1117600" imgH="711200" progId="Equation.3">
                  <p:embed/>
                </p:oleObj>
              </mc:Choice>
              <mc:Fallback>
                <p:oleObj name="公式" r:id="rId3" imgW="1117600" imgH="711200" progId="Equation.3">
                  <p:embed/>
                  <p:pic>
                    <p:nvPicPr>
                      <p:cNvPr id="0" name="Object 8"/>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226" y="2325400"/>
                        <a:ext cx="2268537" cy="144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11"/>
          <p:cNvSpPr>
            <a:spLocks noChangeArrowheads="1"/>
          </p:cNvSpPr>
          <p:nvPr/>
        </p:nvSpPr>
        <p:spPr bwMode="auto">
          <a:xfrm>
            <a:off x="448280" y="4129616"/>
            <a:ext cx="4699784" cy="1963680"/>
          </a:xfrm>
          <a:prstGeom prst="rect">
            <a:avLst/>
          </a:prstGeom>
          <a:solidFill>
            <a:srgbClr val="FFFF99"/>
          </a:solidFill>
          <a:ln>
            <a:noFill/>
          </a:ln>
        </p:spPr>
        <p:txBody>
          <a:bodyPr/>
          <a:lstStyle>
            <a:lvl1pPr marL="342900" indent="-342900">
              <a:spcBef>
                <a:spcPct val="20000"/>
              </a:spcBef>
              <a:buChar cha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har char="»"/>
              <a:defRPr>
                <a:solidFill>
                  <a:schemeClr val="tx1"/>
                </a:solidFill>
                <a:latin typeface="Arial" panose="020B0604020202020204" pitchFamily="34" charset="0"/>
                <a:ea typeface="宋体" panose="02010600030101010101" pitchFamily="2" charset="-122"/>
              </a:defRPr>
            </a:lvl9pPr>
          </a:lstStyle>
          <a:p>
            <a:pPr>
              <a:buFont typeface="Wingdings" panose="05000000000000000000" pitchFamily="2" charset="2"/>
              <a:buChar char="u"/>
            </a:pPr>
            <a:r>
              <a:rPr lang="zh-CN" altLang="en-US" sz="24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设计思路：</a:t>
            </a:r>
            <a:endParaRPr lang="en-US" altLang="zh-CN" sz="24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a:buFontTx/>
              <a:buNone/>
            </a:pPr>
            <a:r>
              <a:rPr lang="en-US" altLang="zh-CN" sz="24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设</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的范围是</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[-128,127],</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取出</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X</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放至</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AL</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寄存器</a:t>
            </a:r>
            <a:endPar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a:buFontTx/>
              <a:buNone/>
            </a:pP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2. </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比较</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AL</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里面的数和</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0</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的关系，转至</a:t>
            </a:r>
            <a:r>
              <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3</a:t>
            </a:r>
            <a:r>
              <a:rPr lang="zh-CN" altLang="en-US"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rPr>
              <a:t>个分支</a:t>
            </a:r>
            <a:endParaRPr lang="en-US" altLang="zh-CN" sz="2000" b="1" dirty="0">
              <a:solidFill>
                <a:srgbClr val="A50021"/>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a:p>
            <a:pPr>
              <a:buFontTx/>
              <a:buNone/>
            </a:pPr>
            <a:endParaRPr lang="zh-CN" altLang="en-US" sz="2400" dirty="0">
              <a:solidFill>
                <a:srgbClr val="000000"/>
              </a:solidFill>
              <a:effectLst>
                <a:outerShdw blurRad="38100" dist="38100" dir="2700000" algn="tl">
                  <a:srgbClr val="C0C0C0"/>
                </a:outerShdw>
              </a:effectLst>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8" name="Picture 16" descr="绘图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65152" y="1642775"/>
            <a:ext cx="2890838" cy="4594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blinds(horizont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linds(horizontal)">
                                      <p:cBhvr>
                                        <p:cTn id="12" dur="500"/>
                                        <p:tgtEl>
                                          <p:spTgt spid="5">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P spid="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6" name="Rectangle 7" descr="再生纸"/>
          <p:cNvSpPr>
            <a:spLocks noChangeArrowheads="1"/>
          </p:cNvSpPr>
          <p:nvPr/>
        </p:nvSpPr>
        <p:spPr bwMode="auto">
          <a:xfrm>
            <a:off x="611560" y="2029393"/>
            <a:ext cx="3540893" cy="3724096"/>
          </a:xfrm>
          <a:prstGeom prst="rect">
            <a:avLst/>
          </a:prstGeom>
          <a:solidFill>
            <a:srgbClr val="FFFFCC"/>
          </a:solidFill>
          <a:ln>
            <a:solidFill>
              <a:schemeClr val="tx2"/>
            </a:solidFill>
          </a:ln>
          <a:effectLst/>
        </p:spPr>
        <p:txBody>
          <a:bodyPr wrap="square">
            <a:spAutoFit/>
          </a:bodyPr>
          <a:lstStyle/>
          <a:p>
            <a:pPr>
              <a:lnSpc>
                <a:spcPct val="110000"/>
              </a:lnSpc>
              <a:spcBef>
                <a:spcPct val="40000"/>
              </a:spcBef>
            </a:pPr>
            <a:r>
              <a:rPr lang="en-US" altLang="zh-CN" sz="2000" b="1" dirty="0">
                <a:solidFill>
                  <a:srgbClr val="A5002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DATA   SEGMENT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p>
          <a:p>
            <a:pPr>
              <a:lnSpc>
                <a:spcPct val="110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  DB  -18</a:t>
            </a:r>
          </a:p>
          <a:p>
            <a:pPr>
              <a:lnSpc>
                <a:spcPct val="110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Y  DB  ?</a:t>
            </a:r>
          </a:p>
          <a:p>
            <a:pPr>
              <a:lnSpc>
                <a:spcPct val="110000"/>
              </a:lnSpc>
            </a:pPr>
            <a:r>
              <a:rPr lang="en-US" altLang="zh-CN" sz="2000" b="1" dirty="0">
                <a:solidFill>
                  <a:srgbClr val="A50021"/>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DATA   ENDS</a:t>
            </a:r>
          </a:p>
          <a:p>
            <a:pPr>
              <a:spcBef>
                <a:spcPct val="40000"/>
              </a:spcBef>
            </a:pPr>
            <a:r>
              <a:rPr lang="en-US" altLang="zh-CN" sz="2000" b="1" dirty="0">
                <a:solidFill>
                  <a:srgbClr val="0066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CODE   SEGMENT</a:t>
            </a:r>
          </a:p>
          <a:p>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ASSUME CS:CODE,</a:t>
            </a:r>
          </a:p>
          <a:p>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DS:DATA</a:t>
            </a:r>
          </a:p>
          <a:p>
            <a:endPar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r>
              <a:rPr lang="en-US" altLang="zh-CN" sz="2000" b="1" dirty="0">
                <a:solidFill>
                  <a:srgbClr val="FF33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START: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000" b="1" dirty="0">
                <a:solidFill>
                  <a:srgbClr val="3333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MOV AX, DATA        </a:t>
            </a:r>
          </a:p>
          <a:p>
            <a:r>
              <a:rPr lang="en-US" altLang="zh-CN" sz="2000" b="1" dirty="0">
                <a:solidFill>
                  <a:srgbClr val="3333FF"/>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MOV DS, AX</a:t>
            </a:r>
          </a:p>
          <a:p>
            <a:endPar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p:txBody>
      </p:sp>
      <p:sp>
        <p:nvSpPr>
          <p:cNvPr id="7" name="Rectangle 11" descr="再生纸"/>
          <p:cNvSpPr>
            <a:spLocks noChangeArrowheads="1"/>
          </p:cNvSpPr>
          <p:nvPr/>
        </p:nvSpPr>
        <p:spPr bwMode="auto">
          <a:xfrm>
            <a:off x="4355976" y="1636170"/>
            <a:ext cx="4443797" cy="4934492"/>
          </a:xfrm>
          <a:prstGeom prst="rect">
            <a:avLst/>
          </a:prstGeom>
          <a:solidFill>
            <a:srgbClr val="FFFFCC"/>
          </a:solidFill>
          <a:ln>
            <a:solidFill>
              <a:schemeClr val="tx1"/>
            </a:solidFill>
          </a:ln>
          <a:effectLst/>
        </p:spPr>
        <p:txBody>
          <a:bodyPr wrap="square">
            <a:spAutoFit/>
          </a:bodyPr>
          <a:lstStyle/>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MOV AL, X                 </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CMP	 X</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0</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JL	 PNUM	; X</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0</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转移到</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PNUM</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JZ	</a:t>
            </a:r>
            <a:r>
              <a:rPr lang="en-US" altLang="zh-CN" sz="2000" b="1" dirty="0">
                <a:solidFill>
                  <a:srgbClr val="CC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ZERO   </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X=0</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转移到</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ZERO</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MOV	 Y</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1</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JMP	 </a:t>
            </a:r>
            <a:r>
              <a:rPr lang="en-US" altLang="zh-CN" sz="2000" b="1" dirty="0">
                <a:solidFill>
                  <a:srgbClr val="B10303"/>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EXIT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 X&gt;0</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PNUM:   MOV	 Y</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-1</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JMP	 EXIT     ; X&lt;0</a:t>
            </a:r>
          </a:p>
          <a:p>
            <a:pPr>
              <a:lnSpc>
                <a:spcPct val="113000"/>
              </a:lnSpc>
            </a:pPr>
            <a:r>
              <a:rPr lang="en-US" altLang="zh-CN" sz="2000" b="1" dirty="0">
                <a:solidFill>
                  <a:srgbClr val="CC00CC"/>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ZERO</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MOV	Y</a:t>
            </a:r>
            <a:r>
              <a:rPr lang="zh-CN" altLang="en-US"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X=0</a:t>
            </a:r>
          </a:p>
          <a:p>
            <a:pPr>
              <a:lnSpc>
                <a:spcPct val="113000"/>
              </a:lnSpc>
            </a:pPr>
            <a:r>
              <a:rPr lang="en-US" altLang="zh-CN" sz="2000" b="1" dirty="0">
                <a:solidFill>
                  <a:srgbClr val="B10303"/>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EXIT:     </a:t>
            </a: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MOV Y, AL</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en-US" altLang="zh-CN" sz="2000" b="1" dirty="0">
                <a:solidFill>
                  <a:schemeClr val="accent4">
                    <a:lumMod val="50000"/>
                  </a:schemeClr>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MOV AH, 4CH</a:t>
            </a:r>
          </a:p>
          <a:p>
            <a:pPr>
              <a:lnSpc>
                <a:spcPct val="113000"/>
              </a:lnSpc>
            </a:pPr>
            <a:r>
              <a:rPr lang="en-US" altLang="zh-CN" sz="2000" b="1" dirty="0">
                <a:solidFill>
                  <a:schemeClr val="accent4">
                    <a:lumMod val="50000"/>
                  </a:schemeClr>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INT 21H</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CODE      ENDS</a:t>
            </a:r>
          </a:p>
          <a:p>
            <a:pPr>
              <a:lnSpc>
                <a:spcPct val="113000"/>
              </a:lnSpc>
            </a:pPr>
            <a:r>
              <a:rPr lang="en-US" altLang="zh-CN" sz="2000" b="1" dirty="0">
                <a:effectLst>
                  <a:outerShdw blurRad="38100" dist="38100" dir="2700000" algn="tl">
                    <a:srgbClr val="C0C0C0"/>
                  </a:outerShdw>
                </a:effectLst>
                <a:latin typeface="Times New Roman" panose="02020603050405020304" pitchFamily="18" charset="0"/>
                <a:cs typeface="Times New Roman" panose="02020603050405020304" pitchFamily="18" charset="0"/>
              </a:rPr>
              <a:t>                END </a:t>
            </a:r>
            <a:r>
              <a:rPr lang="en-US" altLang="zh-CN" sz="2000" b="1" dirty="0">
                <a:solidFill>
                  <a:srgbClr val="FF330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zh-CN" altLang="en-US" b="1" dirty="0"/>
              <a:t>跳跃表法</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6" name="Rectangle 4"/>
          <p:cNvSpPr>
            <a:spLocks noChangeArrowheads="1"/>
          </p:cNvSpPr>
          <p:nvPr/>
        </p:nvSpPr>
        <p:spPr bwMode="auto">
          <a:xfrm>
            <a:off x="1023938" y="3179713"/>
            <a:ext cx="7848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buClr>
                <a:srgbClr val="800000"/>
              </a:buClr>
              <a:buFont typeface="Wingdings" panose="05000000000000000000" pitchFamily="2" charset="2"/>
              <a:buNone/>
            </a:pPr>
            <a:r>
              <a:rPr lang="zh-CN" altLang="en-US"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需要在数据段事先安排一个按顺序排列的转移地址表。</a:t>
            </a:r>
          </a:p>
        </p:txBody>
      </p:sp>
      <p:sp>
        <p:nvSpPr>
          <p:cNvPr id="7" name="Rectangle 5"/>
          <p:cNvSpPr>
            <a:spLocks noChangeArrowheads="1"/>
          </p:cNvSpPr>
          <p:nvPr/>
        </p:nvSpPr>
        <p:spPr bwMode="auto">
          <a:xfrm>
            <a:off x="719137" y="3789313"/>
            <a:ext cx="777716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buClr>
                <a:srgbClr val="A50021"/>
              </a:buClr>
              <a:buFont typeface="Wingdings" panose="05000000000000000000" pitchFamily="2" charset="2"/>
              <a:buNone/>
            </a:pPr>
            <a:r>
              <a:rPr lang="en-US" altLang="zh-CN"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输入的数字作为偏移量。因为只有</a:t>
            </a:r>
            <a:r>
              <a:rPr lang="en-US" altLang="zh-CN"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个字节</a:t>
            </a:r>
            <a:r>
              <a:rPr lang="en-US" altLang="zh-CN"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位偏移地址，所以偏移量需要乘</a:t>
            </a:r>
            <a:r>
              <a:rPr lang="en-US" altLang="zh-CN"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 name="Rectangle 7"/>
          <p:cNvSpPr>
            <a:spLocks noChangeArrowheads="1"/>
          </p:cNvSpPr>
          <p:nvPr/>
        </p:nvSpPr>
        <p:spPr bwMode="auto">
          <a:xfrm>
            <a:off x="647700" y="2420888"/>
            <a:ext cx="784860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buClr>
                <a:srgbClr val="A50021"/>
              </a:buClr>
              <a:buFont typeface="Wingdings" panose="05000000000000000000" pitchFamily="2" charset="2"/>
              <a:buNone/>
            </a:pPr>
            <a:r>
              <a:rPr lang="en-US" altLang="zh-CN"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多分支结构的实现，还可以使用跳跃表法，使程序能根据不同的条件转移到多个程序分支中去。</a:t>
            </a:r>
          </a:p>
        </p:txBody>
      </p:sp>
      <p:sp>
        <p:nvSpPr>
          <p:cNvPr id="9" name="Rectangle 8"/>
          <p:cNvSpPr>
            <a:spLocks noChangeArrowheads="1"/>
          </p:cNvSpPr>
          <p:nvPr/>
        </p:nvSpPr>
        <p:spPr bwMode="auto">
          <a:xfrm>
            <a:off x="1145795" y="4648151"/>
            <a:ext cx="66246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20000"/>
              </a:spcBef>
              <a:buClr>
                <a:srgbClr val="A50021"/>
              </a:buClr>
              <a:buFont typeface="Wingdings" panose="05000000000000000000" pitchFamily="2" charset="2"/>
              <a:buNone/>
            </a:pPr>
            <a:r>
              <a:rPr lang="zh-CN" altLang="en-US" sz="2000" b="1">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关键是要理解间接寻址方式</a:t>
            </a:r>
            <a:r>
              <a:rPr lang="en-US" altLang="zh-CN" sz="2000" b="1">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JMP</a:t>
            </a:r>
            <a:r>
              <a:rPr lang="zh-CN" altLang="en-US" sz="2000" b="1">
                <a:solidFill>
                  <a:srgbClr val="00007D"/>
                </a:solidFill>
                <a:latin typeface="Times New Roman" panose="02020603050405020304" pitchFamily="18" charset="0"/>
                <a:ea typeface="微软雅黑" panose="020B0503020204020204" pitchFamily="34" charset="-122"/>
                <a:cs typeface="Times New Roman" panose="02020603050405020304" pitchFamily="18" charset="0"/>
              </a:rPr>
              <a:t>指令</a:t>
            </a:r>
          </a:p>
        </p:txBody>
      </p:sp>
      <p:grpSp>
        <p:nvGrpSpPr>
          <p:cNvPr id="10" name="Group 14"/>
          <p:cNvGrpSpPr/>
          <p:nvPr/>
        </p:nvGrpSpPr>
        <p:grpSpPr bwMode="auto">
          <a:xfrm>
            <a:off x="1005509" y="5157738"/>
            <a:ext cx="7543800" cy="933450"/>
            <a:chOff x="432" y="1728"/>
            <a:chExt cx="4752" cy="588"/>
          </a:xfrm>
        </p:grpSpPr>
        <p:grpSp>
          <p:nvGrpSpPr>
            <p:cNvPr id="11" name="Group 15"/>
            <p:cNvGrpSpPr/>
            <p:nvPr/>
          </p:nvGrpSpPr>
          <p:grpSpPr bwMode="auto">
            <a:xfrm>
              <a:off x="432" y="2045"/>
              <a:ext cx="4533" cy="271"/>
              <a:chOff x="816" y="1373"/>
              <a:chExt cx="4724" cy="271"/>
            </a:xfrm>
          </p:grpSpPr>
          <p:sp>
            <p:nvSpPr>
              <p:cNvPr id="13" name="Text Box 16"/>
              <p:cNvSpPr txBox="1">
                <a:spLocks noChangeArrowheads="1"/>
              </p:cNvSpPr>
              <p:nvPr/>
            </p:nvSpPr>
            <p:spPr bwMode="auto">
              <a:xfrm>
                <a:off x="816" y="1392"/>
                <a:ext cx="864" cy="252"/>
              </a:xfrm>
              <a:prstGeom prst="rect">
                <a:avLst/>
              </a:prstGeom>
              <a:noFill/>
              <a:ln w="28575">
                <a:solidFill>
                  <a:srgbClr val="FF66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地址表</a:t>
                </a:r>
              </a:p>
            </p:txBody>
          </p:sp>
          <p:sp>
            <p:nvSpPr>
              <p:cNvPr id="14" name="Text Box 17"/>
              <p:cNvSpPr txBox="1">
                <a:spLocks noChangeArrowheads="1"/>
              </p:cNvSpPr>
              <p:nvPr/>
            </p:nvSpPr>
            <p:spPr bwMode="auto">
              <a:xfrm>
                <a:off x="1680" y="1392"/>
                <a:ext cx="1296" cy="252"/>
              </a:xfrm>
              <a:prstGeom prst="rect">
                <a:avLst/>
              </a:prstGeom>
              <a:noFill/>
              <a:ln w="28575">
                <a:solidFill>
                  <a:srgbClr val="FF66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分支</a:t>
                </a:r>
                <a:r>
                  <a:rPr kumimoji="1" lang="en-US" altLang="zh-CN"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地址</a:t>
                </a:r>
              </a:p>
            </p:txBody>
          </p:sp>
          <p:sp>
            <p:nvSpPr>
              <p:cNvPr id="15" name="Text Box 18"/>
              <p:cNvSpPr txBox="1">
                <a:spLocks noChangeArrowheads="1"/>
              </p:cNvSpPr>
              <p:nvPr/>
            </p:nvSpPr>
            <p:spPr bwMode="auto">
              <a:xfrm>
                <a:off x="2987" y="1373"/>
                <a:ext cx="1296" cy="252"/>
              </a:xfrm>
              <a:prstGeom prst="rect">
                <a:avLst/>
              </a:prstGeom>
              <a:noFill/>
              <a:ln w="28575">
                <a:solidFill>
                  <a:srgbClr val="FF66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zh-CN" altLang="en-US"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分支</a:t>
                </a:r>
                <a:r>
                  <a:rPr kumimoji="1" lang="en-US" altLang="zh-CN"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地址</a:t>
                </a:r>
              </a:p>
            </p:txBody>
          </p:sp>
          <p:sp>
            <p:nvSpPr>
              <p:cNvPr id="16" name="Text Box 19"/>
              <p:cNvSpPr txBox="1">
                <a:spLocks noChangeArrowheads="1"/>
              </p:cNvSpPr>
              <p:nvPr/>
            </p:nvSpPr>
            <p:spPr bwMode="auto">
              <a:xfrm>
                <a:off x="4244" y="1373"/>
                <a:ext cx="1296" cy="252"/>
              </a:xfrm>
              <a:prstGeom prst="rect">
                <a:avLst/>
              </a:prstGeom>
              <a:noFill/>
              <a:ln w="28575">
                <a:solidFill>
                  <a:srgbClr val="FF66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kumimoji="1" lang="en-US" altLang="zh-CN" sz="2000" b="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12" name="Rectangle 20"/>
            <p:cNvSpPr>
              <a:spLocks noChangeArrowheads="1"/>
            </p:cNvSpPr>
            <p:nvPr/>
          </p:nvSpPr>
          <p:spPr bwMode="auto">
            <a:xfrm>
              <a:off x="528" y="1728"/>
              <a:ext cx="4656" cy="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spcBef>
                  <a:spcPct val="20000"/>
                </a:spcBef>
                <a:buClr>
                  <a:srgbClr val="9999CC"/>
                </a:buClr>
                <a:buSzPct val="90000"/>
                <a:buFont typeface="Wingdings" panose="05000000000000000000" pitchFamily="2" charset="2"/>
                <a:buNone/>
              </a:pPr>
              <a:r>
                <a:rPr kumimoji="1" lang="en-US" altLang="zh-CN"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Table	</a:t>
              </a:r>
              <a:r>
                <a:rPr kumimoji="1" lang="en-US" altLang="zh-CN" sz="2000" b="1" dirty="0" err="1">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dw</a:t>
              </a:r>
              <a:r>
                <a:rPr kumimoji="1" lang="en-US" altLang="zh-CN" sz="20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   disp1, disp2,        disp3, disp4,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randombar(horizont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randombar(horizont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randombar(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P spid="7" grpId="0"/>
      <p:bldP spid="8" grpId="0"/>
      <p:bldP spid="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1142346"/>
          </a:xfrm>
        </p:spPr>
        <p:txBody>
          <a:bodyPr/>
          <a:lstStyle/>
          <a:p>
            <a:pPr>
              <a:lnSpc>
                <a:spcPct val="100000"/>
              </a:lnSpc>
            </a:pPr>
            <a:r>
              <a:rPr lang="zh-CN" altLang="en-US" sz="2000" b="1" dirty="0"/>
              <a:t>例</a:t>
            </a:r>
            <a:r>
              <a:rPr lang="en-US" altLang="zh-CN" sz="2000" b="1" dirty="0"/>
              <a:t>4.9 </a:t>
            </a:r>
            <a:r>
              <a:rPr lang="zh-CN" altLang="en-US" sz="2000" b="1" dirty="0"/>
              <a:t>变址寻址方式</a:t>
            </a:r>
          </a:p>
          <a:p>
            <a:pPr>
              <a:lnSpc>
                <a:spcPct val="100000"/>
              </a:lnSpc>
            </a:pPr>
            <a:r>
              <a:rPr lang="zh-CN" altLang="en-US" sz="2000" b="1" dirty="0"/>
              <a:t>根据</a:t>
            </a:r>
            <a:r>
              <a:rPr lang="en-US" altLang="zh-CN" sz="2000" b="1" dirty="0"/>
              <a:t>AL</a:t>
            </a:r>
            <a:r>
              <a:rPr lang="zh-CN" altLang="en-US" sz="2000" b="1" dirty="0"/>
              <a:t>寄存器中哪一位为</a:t>
            </a:r>
            <a:r>
              <a:rPr lang="en-US" altLang="zh-CN" sz="2000" b="1" dirty="0"/>
              <a:t>1</a:t>
            </a:r>
            <a:r>
              <a:rPr lang="zh-CN" altLang="en-US" sz="2000" b="1" dirty="0"/>
              <a:t>（从低位到高位）把程序转移到</a:t>
            </a:r>
            <a:r>
              <a:rPr lang="en-US" altLang="zh-CN" sz="2000" b="1" dirty="0"/>
              <a:t>8</a:t>
            </a:r>
            <a:r>
              <a:rPr lang="zh-CN" altLang="en-US" sz="2000" b="1" dirty="0"/>
              <a:t>个不同的程序分支中去。</a:t>
            </a:r>
          </a:p>
          <a:p>
            <a:endParaRPr lang="zh-CN" altLang="en-US" dirty="0"/>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1331640" y="3007646"/>
            <a:ext cx="3744416" cy="2553335"/>
          </a:xfrm>
          <a:prstGeom prst="rect">
            <a:avLst/>
          </a:prstGeom>
          <a:solidFill>
            <a:srgbClr val="FFFFCC"/>
          </a:solidFill>
          <a:ln>
            <a:solidFill>
              <a:schemeClr val="tx2"/>
            </a:solidFill>
          </a:ln>
        </p:spPr>
        <p:txBody>
          <a:bodyPr wrap="square">
            <a:spAutoFit/>
          </a:bodyPr>
          <a:lstStyle/>
          <a:p>
            <a:r>
              <a:rPr lang="en-US" altLang="zh-CN" sz="1600" b="1" dirty="0">
                <a:latin typeface="Times New Roman" panose="02020603050405020304" pitchFamily="18" charset="0"/>
                <a:cs typeface="Times New Roman" panose="02020603050405020304" pitchFamily="18" charset="0"/>
              </a:rPr>
              <a:t>DATA	SEGMENT</a:t>
            </a:r>
          </a:p>
          <a:p>
            <a:r>
              <a:rPr lang="en-US" altLang="zh-CN" sz="1600" b="1" dirty="0">
                <a:solidFill>
                  <a:srgbClr val="B10303"/>
                </a:solidFill>
                <a:latin typeface="Times New Roman" panose="02020603050405020304" pitchFamily="18" charset="0"/>
                <a:cs typeface="Times New Roman" panose="02020603050405020304" pitchFamily="18" charset="0"/>
              </a:rPr>
              <a:t>DATATAB	</a:t>
            </a:r>
            <a:r>
              <a:rPr lang="en-US" altLang="zh-CN" sz="1600" b="1" dirty="0">
                <a:latin typeface="Times New Roman" panose="02020603050405020304" pitchFamily="18" charset="0"/>
                <a:cs typeface="Times New Roman" panose="02020603050405020304" pitchFamily="18" charset="0"/>
              </a:rPr>
              <a:t>DW  ROUTINE_1</a:t>
            </a:r>
          </a:p>
          <a:p>
            <a:r>
              <a:rPr lang="en-US" altLang="zh-CN" sz="1600" b="1" dirty="0">
                <a:latin typeface="Times New Roman" panose="02020603050405020304" pitchFamily="18" charset="0"/>
                <a:cs typeface="Times New Roman" panose="02020603050405020304" pitchFamily="18" charset="0"/>
              </a:rPr>
              <a:t>		DW  ROUTINE_2</a:t>
            </a:r>
          </a:p>
          <a:p>
            <a:r>
              <a:rPr lang="en-US" altLang="zh-CN" sz="1600" b="1" dirty="0">
                <a:latin typeface="Times New Roman" panose="02020603050405020304" pitchFamily="18" charset="0"/>
                <a:cs typeface="Times New Roman" panose="02020603050405020304" pitchFamily="18" charset="0"/>
              </a:rPr>
              <a:t>		DW  ROUTINE_3</a:t>
            </a:r>
          </a:p>
          <a:p>
            <a:r>
              <a:rPr lang="en-US" altLang="zh-CN" sz="1600" b="1" dirty="0">
                <a:latin typeface="Times New Roman" panose="02020603050405020304" pitchFamily="18" charset="0"/>
                <a:cs typeface="Times New Roman" panose="02020603050405020304" pitchFamily="18" charset="0"/>
              </a:rPr>
              <a:t>		DW  ROUTINE_4</a:t>
            </a:r>
          </a:p>
          <a:p>
            <a:r>
              <a:rPr lang="en-US" altLang="zh-CN" sz="1600" b="1" dirty="0">
                <a:latin typeface="Times New Roman" panose="02020603050405020304" pitchFamily="18" charset="0"/>
                <a:cs typeface="Times New Roman" panose="02020603050405020304" pitchFamily="18" charset="0"/>
              </a:rPr>
              <a:t>		DW  ROUTINE_4</a:t>
            </a:r>
          </a:p>
          <a:p>
            <a:r>
              <a:rPr lang="en-US" altLang="zh-CN" sz="1600" b="1" dirty="0">
                <a:latin typeface="Times New Roman" panose="02020603050405020304" pitchFamily="18" charset="0"/>
                <a:cs typeface="Times New Roman" panose="02020603050405020304" pitchFamily="18" charset="0"/>
              </a:rPr>
              <a:t>		DW  ROUTINE_6</a:t>
            </a:r>
          </a:p>
          <a:p>
            <a:r>
              <a:rPr lang="en-US" altLang="zh-CN" sz="1600" b="1" dirty="0">
                <a:latin typeface="Times New Roman" panose="02020603050405020304" pitchFamily="18" charset="0"/>
                <a:cs typeface="Times New Roman" panose="02020603050405020304" pitchFamily="18" charset="0"/>
              </a:rPr>
              <a:t>		DW  ROUTINE_7</a:t>
            </a:r>
          </a:p>
          <a:p>
            <a:r>
              <a:rPr lang="en-US" altLang="zh-CN" sz="1600" b="1" dirty="0">
                <a:latin typeface="Times New Roman" panose="02020603050405020304" pitchFamily="18" charset="0"/>
                <a:cs typeface="Times New Roman" panose="02020603050405020304" pitchFamily="18" charset="0"/>
              </a:rPr>
              <a:t>		DW  ROUTINE_8</a:t>
            </a:r>
          </a:p>
          <a:p>
            <a:r>
              <a:rPr lang="en-US" altLang="zh-CN" sz="1600" b="1" dirty="0">
                <a:latin typeface="Times New Roman" panose="02020603050405020304" pitchFamily="18" charset="0"/>
                <a:cs typeface="Times New Roman" panose="02020603050405020304" pitchFamily="18" charset="0"/>
              </a:rPr>
              <a:t>DATA	ENDS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3419748" y="980139"/>
            <a:ext cx="5832475" cy="5477510"/>
          </a:xfrm>
          <a:prstGeom prst="rect">
            <a:avLst/>
          </a:prstGeom>
          <a:solidFill>
            <a:srgbClr val="FFFFCC"/>
          </a:solidFill>
        </p:spPr>
        <p:txBody>
          <a:bodyPr wrap="square">
            <a:spAutoFit/>
          </a:bodyPr>
          <a:lstStyle/>
          <a:p>
            <a:r>
              <a:rPr lang="en-US" altLang="zh-CN" sz="1400" b="1" dirty="0">
                <a:solidFill>
                  <a:srgbClr val="CC00CC"/>
                </a:solidFill>
                <a:latin typeface="Times New Roman" panose="02020603050405020304" pitchFamily="18" charset="0"/>
                <a:cs typeface="Times New Roman" panose="02020603050405020304" pitchFamily="18" charset="0"/>
              </a:rPr>
              <a:t>CODE	SEGMENT	</a:t>
            </a:r>
          </a:p>
          <a:p>
            <a:r>
              <a:rPr lang="en-US" altLang="zh-CN" sz="1400" b="1" dirty="0">
                <a:solidFill>
                  <a:schemeClr val="accent3">
                    <a:lumMod val="50000"/>
                  </a:schemeClr>
                </a:solidFill>
                <a:latin typeface="Times New Roman" panose="02020603050405020304" pitchFamily="18" charset="0"/>
                <a:cs typeface="Times New Roman" panose="02020603050405020304" pitchFamily="18" charset="0"/>
              </a:rPr>
              <a:t>MAIN	PROCFAR	</a:t>
            </a:r>
            <a:r>
              <a:rPr lang="en-US" altLang="zh-CN" sz="1400" b="1" dirty="0">
                <a:latin typeface="Times New Roman" panose="02020603050405020304" pitchFamily="18" charset="0"/>
                <a:cs typeface="Times New Roman" panose="02020603050405020304" pitchFamily="18" charset="0"/>
              </a:rPr>
              <a:t>		</a:t>
            </a:r>
          </a:p>
          <a:p>
            <a:r>
              <a:rPr lang="en-US" altLang="zh-CN" sz="1400" b="1" dirty="0">
                <a:latin typeface="Times New Roman" panose="02020603050405020304" pitchFamily="18" charset="0"/>
                <a:cs typeface="Times New Roman" panose="02020603050405020304" pitchFamily="18" charset="0"/>
              </a:rPr>
              <a:t>	ASSUMECS: CODE</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DS: DATA</a:t>
            </a:r>
          </a:p>
          <a:p>
            <a:r>
              <a:rPr lang="en-US" altLang="zh-CN" sz="1400" b="1" dirty="0">
                <a:solidFill>
                  <a:srgbClr val="B10303"/>
                </a:solidFill>
                <a:latin typeface="Times New Roman" panose="02020603050405020304" pitchFamily="18" charset="0"/>
                <a:cs typeface="Times New Roman" panose="02020603050405020304" pitchFamily="18" charset="0"/>
              </a:rPr>
              <a:t>START: </a:t>
            </a:r>
            <a:r>
              <a:rPr lang="en-US" altLang="zh-CN" sz="1400" b="1" dirty="0">
                <a:latin typeface="Times New Roman" panose="02020603050405020304" pitchFamily="18" charset="0"/>
                <a:cs typeface="Times New Roman" panose="02020603050405020304" pitchFamily="18" charset="0"/>
              </a:rPr>
              <a:t>	PUSH    DS</a:t>
            </a:r>
          </a:p>
          <a:p>
            <a:r>
              <a:rPr lang="en-US" altLang="zh-CN" sz="1400" b="1" dirty="0">
                <a:latin typeface="Times New Roman" panose="02020603050405020304" pitchFamily="18" charset="0"/>
                <a:cs typeface="Times New Roman" panose="02020603050405020304" pitchFamily="18" charset="0"/>
              </a:rPr>
              <a:t>	SUB       BX</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BX		</a:t>
            </a:r>
          </a:p>
          <a:p>
            <a:r>
              <a:rPr lang="en-US" altLang="zh-CN" sz="1400" b="1" dirty="0">
                <a:latin typeface="Times New Roman" panose="02020603050405020304" pitchFamily="18" charset="0"/>
                <a:cs typeface="Times New Roman" panose="02020603050405020304" pitchFamily="18" charset="0"/>
              </a:rPr>
              <a:t>	PUSH    BX			</a:t>
            </a:r>
          </a:p>
          <a:p>
            <a:r>
              <a:rPr lang="en-US" altLang="zh-CN" sz="1400" b="1" dirty="0">
                <a:latin typeface="Times New Roman" panose="02020603050405020304" pitchFamily="18" charset="0"/>
                <a:cs typeface="Times New Roman" panose="02020603050405020304" pitchFamily="18" charset="0"/>
              </a:rPr>
              <a:t>	MOV      BX</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DATA</a:t>
            </a:r>
          </a:p>
          <a:p>
            <a:r>
              <a:rPr lang="en-US" altLang="zh-CN" sz="1400" b="1" dirty="0">
                <a:latin typeface="Times New Roman" panose="02020603050405020304" pitchFamily="18" charset="0"/>
                <a:cs typeface="Times New Roman" panose="02020603050405020304" pitchFamily="18" charset="0"/>
              </a:rPr>
              <a:t>	MOV      DS</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BX</a:t>
            </a:r>
          </a:p>
          <a:p>
            <a:r>
              <a:rPr lang="en-US" altLang="zh-CN" sz="1400" b="1" dirty="0">
                <a:latin typeface="Times New Roman" panose="02020603050405020304" pitchFamily="18" charset="0"/>
                <a:cs typeface="Times New Roman" panose="02020603050405020304" pitchFamily="18" charset="0"/>
              </a:rPr>
              <a:t>	CMP      AL</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0		</a:t>
            </a:r>
          </a:p>
          <a:p>
            <a:r>
              <a:rPr lang="en-US" altLang="zh-CN" sz="1400" b="1" dirty="0">
                <a:latin typeface="Times New Roman" panose="02020603050405020304" pitchFamily="18" charset="0"/>
                <a:cs typeface="Times New Roman" panose="02020603050405020304" pitchFamily="18" charset="0"/>
              </a:rPr>
              <a:t>	JE         CONT</a:t>
            </a:r>
          </a:p>
          <a:p>
            <a:r>
              <a:rPr lang="en-US" altLang="zh-CN" sz="1400" b="1" dirty="0">
                <a:latin typeface="Times New Roman" panose="02020603050405020304" pitchFamily="18" charset="0"/>
                <a:cs typeface="Times New Roman" panose="02020603050405020304" pitchFamily="18" charset="0"/>
              </a:rPr>
              <a:t>	MOV      SI</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0</a:t>
            </a:r>
          </a:p>
          <a:p>
            <a:r>
              <a:rPr lang="en-US" altLang="zh-CN" sz="1400" b="1" dirty="0">
                <a:latin typeface="Times New Roman" panose="02020603050405020304" pitchFamily="18" charset="0"/>
                <a:cs typeface="Times New Roman" panose="02020603050405020304" pitchFamily="18" charset="0"/>
              </a:rPr>
              <a:t>LP: 	SHR      AL</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1</a:t>
            </a:r>
          </a:p>
          <a:p>
            <a:r>
              <a:rPr lang="en-US" altLang="zh-CN" sz="1400" b="1" dirty="0">
                <a:latin typeface="Times New Roman" panose="02020603050405020304" pitchFamily="18" charset="0"/>
                <a:cs typeface="Times New Roman" panose="02020603050405020304" pitchFamily="18" charset="0"/>
              </a:rPr>
              <a:t>	JNB       NOT_YET  ;CF=0</a:t>
            </a:r>
          </a:p>
          <a:p>
            <a:r>
              <a:rPr lang="en-US" altLang="zh-CN" sz="1400" b="1" dirty="0">
                <a:latin typeface="Times New Roman" panose="02020603050405020304" pitchFamily="18" charset="0"/>
                <a:cs typeface="Times New Roman" panose="02020603050405020304" pitchFamily="18" charset="0"/>
              </a:rPr>
              <a:t>	JMP     DATATAB</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SI</a:t>
            </a:r>
            <a:r>
              <a:rPr lang="zh-CN" altLang="en-US" sz="1400" b="1" dirty="0">
                <a:latin typeface="Times New Roman" panose="02020603050405020304" pitchFamily="18" charset="0"/>
                <a:cs typeface="Times New Roman" panose="02020603050405020304" pitchFamily="18" charset="0"/>
              </a:rPr>
              <a:t>］</a:t>
            </a:r>
          </a:p>
          <a:p>
            <a:r>
              <a:rPr lang="en-US" altLang="zh-CN" sz="1400" b="1" dirty="0">
                <a:latin typeface="Times New Roman" panose="02020603050405020304" pitchFamily="18" charset="0"/>
                <a:cs typeface="Times New Roman" panose="02020603050405020304" pitchFamily="18" charset="0"/>
              </a:rPr>
              <a:t>NOT_YET: ADD      SI</a:t>
            </a:r>
            <a:r>
              <a:rPr lang="zh-CN" altLang="en-US" sz="1400" b="1" dirty="0">
                <a:latin typeface="Times New Roman" panose="02020603050405020304" pitchFamily="18" charset="0"/>
                <a:cs typeface="Times New Roman" panose="02020603050405020304" pitchFamily="18" charset="0"/>
              </a:rPr>
              <a:t>，</a:t>
            </a:r>
            <a:r>
              <a:rPr lang="en-US" altLang="zh-CN" sz="1400" b="1" dirty="0">
                <a:latin typeface="Times New Roman" panose="02020603050405020304" pitchFamily="18" charset="0"/>
                <a:cs typeface="Times New Roman" panose="02020603050405020304" pitchFamily="18" charset="0"/>
              </a:rPr>
              <a:t>TYPE   </a:t>
            </a:r>
            <a:r>
              <a:rPr lang="en-US" altLang="zh-CN" sz="1400" b="1" dirty="0">
                <a:solidFill>
                  <a:srgbClr val="CC00CC"/>
                </a:solidFill>
                <a:latin typeface="Times New Roman" panose="02020603050405020304" pitchFamily="18" charset="0"/>
                <a:cs typeface="Times New Roman" panose="02020603050405020304" pitchFamily="18" charset="0"/>
                <a:sym typeface="+mn-ea"/>
              </a:rPr>
              <a:t>DATATAB</a:t>
            </a:r>
            <a:endParaRPr lang="en-US" altLang="zh-CN" sz="1400" b="1" dirty="0">
              <a:latin typeface="Times New Roman" panose="02020603050405020304" pitchFamily="18" charset="0"/>
              <a:cs typeface="Times New Roman" panose="02020603050405020304" pitchFamily="18" charset="0"/>
            </a:endParaRPr>
          </a:p>
          <a:p>
            <a:r>
              <a:rPr lang="en-US" altLang="zh-CN" sz="1400" b="1" dirty="0">
                <a:latin typeface="Times New Roman" panose="02020603050405020304" pitchFamily="18" charset="0"/>
                <a:cs typeface="Times New Roman" panose="02020603050405020304" pitchFamily="18" charset="0"/>
              </a:rPr>
              <a:t>	JMP      LP</a:t>
            </a:r>
          </a:p>
          <a:p>
            <a:r>
              <a:rPr lang="en-US" altLang="zh-CN" sz="1400" b="1" dirty="0">
                <a:latin typeface="Times New Roman" panose="02020603050405020304" pitchFamily="18" charset="0"/>
                <a:cs typeface="Times New Roman" panose="02020603050405020304" pitchFamily="18" charset="0"/>
              </a:rPr>
              <a:t>CONT:        </a:t>
            </a:r>
            <a:r>
              <a:rPr lang="zh-CN" altLang="en-US" sz="1400" b="1"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（不发生转移）</a:t>
            </a:r>
            <a:endParaRPr lang="en-US" altLang="zh-CN" sz="1400" b="1" dirty="0">
              <a:solidFill>
                <a:srgbClr val="FF0000"/>
              </a:solidFill>
              <a:latin typeface="Times New Roman" panose="02020603050405020304" pitchFamily="18" charset="0"/>
              <a:cs typeface="Times New Roman" panose="02020603050405020304" pitchFamily="18" charset="0"/>
            </a:endParaRPr>
          </a:p>
          <a:p>
            <a:r>
              <a:rPr lang="en-US" altLang="zh-CN" sz="1400" b="1" dirty="0">
                <a:latin typeface="Times New Roman" panose="02020603050405020304" pitchFamily="18" charset="0"/>
                <a:cs typeface="Times New Roman" panose="02020603050405020304" pitchFamily="18" charset="0"/>
              </a:rPr>
              <a:t>……</a:t>
            </a:r>
          </a:p>
          <a:p>
            <a:r>
              <a:rPr lang="en-US" altLang="zh-CN" sz="1400" b="1" dirty="0">
                <a:latin typeface="Times New Roman" panose="02020603050405020304" pitchFamily="18" charset="0"/>
                <a:cs typeface="Times New Roman" panose="02020603050405020304" pitchFamily="18" charset="0"/>
              </a:rPr>
              <a:t>ROUTINE_1:	………</a:t>
            </a:r>
          </a:p>
          <a:p>
            <a:r>
              <a:rPr lang="en-US" altLang="zh-CN" sz="1400" b="1" dirty="0">
                <a:latin typeface="Times New Roman" panose="02020603050405020304" pitchFamily="18" charset="0"/>
                <a:cs typeface="Times New Roman" panose="02020603050405020304" pitchFamily="18" charset="0"/>
              </a:rPr>
              <a:t>ROUTINE_2:	…………</a:t>
            </a:r>
          </a:p>
          <a:p>
            <a:r>
              <a:rPr lang="en-US" altLang="zh-CN" sz="1400" b="1" dirty="0">
                <a:latin typeface="Times New Roman" panose="02020603050405020304" pitchFamily="18" charset="0"/>
                <a:cs typeface="Times New Roman" panose="02020603050405020304" pitchFamily="18" charset="0"/>
              </a:rPr>
              <a:t>…………..</a:t>
            </a:r>
          </a:p>
          <a:p>
            <a:r>
              <a:rPr lang="en-US" altLang="zh-CN" sz="1400" b="1" dirty="0">
                <a:latin typeface="Times New Roman" panose="02020603050405020304" pitchFamily="18" charset="0"/>
                <a:cs typeface="Times New Roman" panose="02020603050405020304" pitchFamily="18" charset="0"/>
              </a:rPr>
              <a:t>	RET</a:t>
            </a:r>
          </a:p>
          <a:p>
            <a:r>
              <a:rPr lang="en-US" altLang="zh-CN" sz="1400" b="1" dirty="0">
                <a:solidFill>
                  <a:schemeClr val="accent3">
                    <a:lumMod val="50000"/>
                  </a:schemeClr>
                </a:solidFill>
                <a:latin typeface="Times New Roman" panose="02020603050405020304" pitchFamily="18" charset="0"/>
                <a:cs typeface="Times New Roman" panose="02020603050405020304" pitchFamily="18" charset="0"/>
              </a:rPr>
              <a:t>MAIN	ENDP</a:t>
            </a:r>
          </a:p>
          <a:p>
            <a:r>
              <a:rPr lang="en-US" altLang="zh-CN" sz="1400" b="1" dirty="0">
                <a:solidFill>
                  <a:srgbClr val="CC00CC"/>
                </a:solidFill>
                <a:latin typeface="Times New Roman" panose="02020603050405020304" pitchFamily="18" charset="0"/>
                <a:cs typeface="Times New Roman" panose="02020603050405020304" pitchFamily="18" charset="0"/>
              </a:rPr>
              <a:t>CODE	ENDS</a:t>
            </a:r>
          </a:p>
          <a:p>
            <a:r>
              <a:rPr lang="en-US" altLang="zh-CN" sz="1400" b="1" dirty="0">
                <a:solidFill>
                  <a:srgbClr val="B10303"/>
                </a:solidFill>
                <a:latin typeface="Times New Roman" panose="02020603050405020304" pitchFamily="18" charset="0"/>
                <a:cs typeface="Times New Roman" panose="02020603050405020304" pitchFamily="18" charset="0"/>
              </a:rPr>
              <a:t>END		START</a:t>
            </a:r>
          </a:p>
        </p:txBody>
      </p:sp>
      <p:sp>
        <p:nvSpPr>
          <p:cNvPr id="6" name="矩形 5"/>
          <p:cNvSpPr/>
          <p:nvPr>
            <p:custDataLst>
              <p:tags r:id="rId1"/>
            </p:custDataLst>
          </p:nvPr>
        </p:nvSpPr>
        <p:spPr>
          <a:xfrm>
            <a:off x="-36195" y="1503045"/>
            <a:ext cx="2609850" cy="2245360"/>
          </a:xfrm>
          <a:prstGeom prst="rect">
            <a:avLst/>
          </a:prstGeom>
          <a:solidFill>
            <a:srgbClr val="FFFFCC"/>
          </a:solidFill>
        </p:spPr>
        <p:txBody>
          <a:bodyPr wrap="square">
            <a:spAutoFit/>
          </a:bodyPr>
          <a:lstStyle/>
          <a:p>
            <a:r>
              <a:rPr lang="en-US" altLang="zh-CN" sz="1400" b="1" dirty="0">
                <a:solidFill>
                  <a:srgbClr val="CC00CC"/>
                </a:solidFill>
                <a:latin typeface="Times New Roman" panose="02020603050405020304" pitchFamily="18" charset="0"/>
                <a:cs typeface="Times New Roman" panose="02020603050405020304" pitchFamily="18" charset="0"/>
              </a:rPr>
              <a:t>DATA     SEGMENT</a:t>
            </a:r>
          </a:p>
          <a:p>
            <a:r>
              <a:rPr lang="en-US" altLang="zh-CN" sz="1400" b="1" dirty="0">
                <a:solidFill>
                  <a:srgbClr val="CC00CC"/>
                </a:solidFill>
                <a:latin typeface="Times New Roman" panose="02020603050405020304" pitchFamily="18" charset="0"/>
                <a:cs typeface="Times New Roman" panose="02020603050405020304" pitchFamily="18" charset="0"/>
              </a:rPr>
              <a:t>DATATAB  DW  </a:t>
            </a:r>
            <a:r>
              <a:rPr lang="en-US" altLang="zh-CN" sz="1400" b="1" dirty="0">
                <a:latin typeface="Times New Roman" panose="02020603050405020304" pitchFamily="18" charset="0"/>
                <a:cs typeface="Times New Roman" panose="02020603050405020304" pitchFamily="18" charset="0"/>
                <a:sym typeface="+mn-ea"/>
              </a:rPr>
              <a:t>ROUTINE_1</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ROUTINE_2</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ROUTINE_3</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ROUTINE_4</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ROUTINE_4</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ROUTINE_6</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ROUTINE_7</a:t>
            </a:r>
          </a:p>
          <a:p>
            <a:r>
              <a:rPr lang="en-US" altLang="zh-CN" sz="1400" b="1" dirty="0">
                <a:latin typeface="Times New Roman" panose="02020603050405020304" pitchFamily="18" charset="0"/>
                <a:cs typeface="Times New Roman" panose="02020603050405020304" pitchFamily="18" charset="0"/>
                <a:sym typeface="+mn-ea"/>
              </a:rPr>
              <a:t>                    </a:t>
            </a:r>
            <a:r>
              <a:rPr lang="en-US" altLang="zh-CN" sz="1400" b="1" dirty="0">
                <a:solidFill>
                  <a:srgbClr val="CC00CC"/>
                </a:solidFill>
                <a:latin typeface="Times New Roman" panose="02020603050405020304" pitchFamily="18" charset="0"/>
                <a:cs typeface="Times New Roman" panose="02020603050405020304" pitchFamily="18" charset="0"/>
                <a:sym typeface="+mn-ea"/>
              </a:rPr>
              <a:t>DW  </a:t>
            </a:r>
            <a:r>
              <a:rPr lang="en-US" altLang="zh-CN" sz="1400" b="1" dirty="0">
                <a:latin typeface="Times New Roman" panose="02020603050405020304" pitchFamily="18" charset="0"/>
                <a:cs typeface="Times New Roman" panose="02020603050405020304" pitchFamily="18" charset="0"/>
                <a:sym typeface="+mn-ea"/>
              </a:rPr>
              <a:t>ROUTINE_8</a:t>
            </a:r>
            <a:endParaRPr lang="en-US" altLang="zh-CN" sz="1400" b="1" dirty="0">
              <a:solidFill>
                <a:srgbClr val="CC00CC"/>
              </a:solidFill>
              <a:latin typeface="Times New Roman" panose="02020603050405020304" pitchFamily="18" charset="0"/>
              <a:cs typeface="Times New Roman" panose="02020603050405020304" pitchFamily="18" charset="0"/>
            </a:endParaRPr>
          </a:p>
          <a:p>
            <a:r>
              <a:rPr lang="en-US" altLang="zh-CN" sz="1400" b="1" dirty="0">
                <a:solidFill>
                  <a:srgbClr val="CC00CC"/>
                </a:solidFill>
                <a:latin typeface="Times New Roman" panose="02020603050405020304" pitchFamily="18" charset="0"/>
                <a:cs typeface="Times New Roman" panose="02020603050405020304" pitchFamily="18" charset="0"/>
              </a:rPr>
              <a:t>DATA	ENDS</a:t>
            </a:r>
            <a:endParaRPr lang="en-US" altLang="zh-CN" sz="1400" b="1" dirty="0">
              <a:solidFill>
                <a:srgbClr val="B10303"/>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3"/>
          <a:stretch>
            <a:fillRect/>
          </a:stretch>
        </p:blipFill>
        <p:spPr>
          <a:xfrm>
            <a:off x="1403985" y="764540"/>
            <a:ext cx="5800725" cy="56007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4.7.4</a:t>
            </a:r>
            <a:r>
              <a:rPr lang="zh-CN" altLang="zh-CN" b="1" dirty="0">
                <a:latin typeface="Times New Roman" panose="02020603050405020304" pitchFamily="18" charset="0"/>
                <a:cs typeface="Times New Roman" panose="02020603050405020304" pitchFamily="18" charset="0"/>
              </a:rPr>
              <a:t>循环结构程序设计</a:t>
            </a:r>
          </a:p>
          <a:p>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396555" y="2233755"/>
            <a:ext cx="5975989" cy="400110"/>
          </a:xfrm>
          <a:prstGeom prst="rect">
            <a:avLst/>
          </a:prstGeom>
        </p:spPr>
        <p:txBody>
          <a:bodyPr wrap="square">
            <a:spAutoFit/>
          </a:bodyPr>
          <a:lstStyle/>
          <a:p>
            <a:r>
              <a:rPr lang="en-US" altLang="zh-CN" sz="2000" b="1" dirty="0"/>
              <a:t>1.</a:t>
            </a:r>
            <a:r>
              <a:rPr lang="zh-CN" altLang="zh-CN" sz="2000" b="1" dirty="0"/>
              <a:t>循环程序结构</a:t>
            </a:r>
            <a:r>
              <a:rPr lang="en-US" altLang="zh-CN" sz="2000" b="1" dirty="0"/>
              <a:t>        </a:t>
            </a:r>
            <a:r>
              <a:rPr lang="zh-CN" altLang="en-US" sz="2000" b="1" dirty="0">
                <a:solidFill>
                  <a:srgbClr val="C00000"/>
                </a:solidFill>
              </a:rPr>
              <a:t>计数循环、当循环、直到循环</a:t>
            </a:r>
          </a:p>
        </p:txBody>
      </p:sp>
      <p:sp>
        <p:nvSpPr>
          <p:cNvPr id="6" name="Text Box 45"/>
          <p:cNvSpPr txBox="1">
            <a:spLocks noChangeArrowheads="1"/>
          </p:cNvSpPr>
          <p:nvPr/>
        </p:nvSpPr>
        <p:spPr bwMode="auto">
          <a:xfrm>
            <a:off x="342278" y="5866026"/>
            <a:ext cx="29546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循环程序由五个部分组成：</a:t>
            </a:r>
          </a:p>
        </p:txBody>
      </p:sp>
      <p:sp>
        <p:nvSpPr>
          <p:cNvPr id="7" name="Text Box 46"/>
          <p:cNvSpPr txBox="1">
            <a:spLocks noChangeArrowheads="1"/>
          </p:cNvSpPr>
          <p:nvPr/>
        </p:nvSpPr>
        <p:spPr bwMode="auto">
          <a:xfrm>
            <a:off x="742812" y="6190717"/>
            <a:ext cx="800007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循环初始化部分，循环体，循环修改部分，循环控制部分，结束处理部分。</a:t>
            </a:r>
          </a:p>
        </p:txBody>
      </p:sp>
      <p:grpSp>
        <p:nvGrpSpPr>
          <p:cNvPr id="8" name="Group 53"/>
          <p:cNvGrpSpPr/>
          <p:nvPr/>
        </p:nvGrpSpPr>
        <p:grpSpPr bwMode="auto">
          <a:xfrm>
            <a:off x="611463" y="2739557"/>
            <a:ext cx="2016125" cy="3018037"/>
            <a:chOff x="249" y="778"/>
            <a:chExt cx="1270" cy="2380"/>
          </a:xfrm>
        </p:grpSpPr>
        <p:sp>
          <p:nvSpPr>
            <p:cNvPr id="9" name="Text Box 6"/>
            <p:cNvSpPr txBox="1">
              <a:spLocks noChangeArrowheads="1"/>
            </p:cNvSpPr>
            <p:nvPr/>
          </p:nvSpPr>
          <p:spPr bwMode="auto">
            <a:xfrm>
              <a:off x="540" y="2547"/>
              <a:ext cx="22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Y</a:t>
              </a:r>
            </a:p>
          </p:txBody>
        </p:sp>
        <p:sp>
          <p:nvSpPr>
            <p:cNvPr id="10" name="AutoShape 7"/>
            <p:cNvSpPr>
              <a:spLocks noChangeArrowheads="1"/>
            </p:cNvSpPr>
            <p:nvPr/>
          </p:nvSpPr>
          <p:spPr bwMode="auto">
            <a:xfrm>
              <a:off x="305" y="2136"/>
              <a:ext cx="965" cy="507"/>
            </a:xfrm>
            <a:prstGeom prst="flowChartDecision">
              <a:avLst/>
            </a:prstGeom>
            <a:solidFill>
              <a:srgbClr val="FFFFFF"/>
            </a:solidFill>
            <a:ln w="22225">
              <a:solidFill>
                <a:srgbClr val="FF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计数到？</a:t>
              </a:r>
            </a:p>
          </p:txBody>
        </p:sp>
        <p:sp>
          <p:nvSpPr>
            <p:cNvPr id="11" name="Rectangle 8"/>
            <p:cNvSpPr>
              <a:spLocks noChangeArrowheads="1"/>
            </p:cNvSpPr>
            <p:nvPr/>
          </p:nvSpPr>
          <p:spPr bwMode="auto">
            <a:xfrm>
              <a:off x="348" y="922"/>
              <a:ext cx="960" cy="192"/>
            </a:xfrm>
            <a:prstGeom prst="rect">
              <a:avLst/>
            </a:prstGeom>
            <a:solidFill>
              <a:srgbClr val="FFFFFF"/>
            </a:solidFill>
            <a:ln w="22225">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循环初始化</a:t>
              </a:r>
            </a:p>
          </p:txBody>
        </p:sp>
        <p:sp>
          <p:nvSpPr>
            <p:cNvPr id="12" name="Rectangle 9"/>
            <p:cNvSpPr>
              <a:spLocks noChangeArrowheads="1"/>
            </p:cNvSpPr>
            <p:nvPr/>
          </p:nvSpPr>
          <p:spPr bwMode="auto">
            <a:xfrm>
              <a:off x="396" y="1258"/>
              <a:ext cx="864"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循环体</a:t>
              </a:r>
            </a:p>
          </p:txBody>
        </p:sp>
        <p:sp>
          <p:nvSpPr>
            <p:cNvPr id="13" name="Line 10"/>
            <p:cNvSpPr>
              <a:spLocks noChangeShapeType="1"/>
            </p:cNvSpPr>
            <p:nvPr/>
          </p:nvSpPr>
          <p:spPr bwMode="auto">
            <a:xfrm>
              <a:off x="780" y="2643"/>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Line 11"/>
            <p:cNvSpPr>
              <a:spLocks noChangeShapeType="1"/>
            </p:cNvSpPr>
            <p:nvPr/>
          </p:nvSpPr>
          <p:spPr bwMode="auto">
            <a:xfrm>
              <a:off x="793" y="778"/>
              <a:ext cx="0" cy="144"/>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Line 12"/>
            <p:cNvSpPr>
              <a:spLocks noChangeShapeType="1"/>
            </p:cNvSpPr>
            <p:nvPr/>
          </p:nvSpPr>
          <p:spPr bwMode="auto">
            <a:xfrm>
              <a:off x="780" y="1114"/>
              <a:ext cx="0" cy="144"/>
            </a:xfrm>
            <a:prstGeom prst="line">
              <a:avLst/>
            </a:prstGeom>
            <a:noFill/>
            <a:ln w="222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Line 13"/>
            <p:cNvSpPr>
              <a:spLocks noChangeShapeType="1"/>
            </p:cNvSpPr>
            <p:nvPr/>
          </p:nvSpPr>
          <p:spPr bwMode="auto">
            <a:xfrm>
              <a:off x="780" y="1450"/>
              <a:ext cx="0" cy="144"/>
            </a:xfrm>
            <a:prstGeom prst="line">
              <a:avLst/>
            </a:prstGeom>
            <a:noFill/>
            <a:ln w="222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Freeform 14"/>
            <p:cNvSpPr/>
            <p:nvPr/>
          </p:nvSpPr>
          <p:spPr bwMode="auto">
            <a:xfrm>
              <a:off x="780" y="1162"/>
              <a:ext cx="739" cy="1225"/>
            </a:xfrm>
            <a:custGeom>
              <a:avLst/>
              <a:gdLst>
                <a:gd name="T0" fmla="*/ 432 w 720"/>
                <a:gd name="T1" fmla="*/ 672 h 672"/>
                <a:gd name="T2" fmla="*/ 720 w 720"/>
                <a:gd name="T3" fmla="*/ 672 h 672"/>
                <a:gd name="T4" fmla="*/ 720 w 720"/>
                <a:gd name="T5" fmla="*/ 0 h 672"/>
                <a:gd name="T6" fmla="*/ 0 w 720"/>
                <a:gd name="T7" fmla="*/ 0 h 672"/>
              </a:gdLst>
              <a:ahLst/>
              <a:cxnLst>
                <a:cxn ang="0">
                  <a:pos x="T0" y="T1"/>
                </a:cxn>
                <a:cxn ang="0">
                  <a:pos x="T2" y="T3"/>
                </a:cxn>
                <a:cxn ang="0">
                  <a:pos x="T4" y="T5"/>
                </a:cxn>
                <a:cxn ang="0">
                  <a:pos x="T6" y="T7"/>
                </a:cxn>
              </a:cxnLst>
              <a:rect l="0" t="0" r="r" b="b"/>
              <a:pathLst>
                <a:path w="720" h="672">
                  <a:moveTo>
                    <a:pt x="432" y="672"/>
                  </a:moveTo>
                  <a:lnTo>
                    <a:pt x="720" y="672"/>
                  </a:lnTo>
                  <a:lnTo>
                    <a:pt x="720" y="0"/>
                  </a:lnTo>
                  <a:lnTo>
                    <a:pt x="0" y="0"/>
                  </a:lnTo>
                </a:path>
              </a:pathLst>
            </a:custGeom>
            <a:noFill/>
            <a:ln w="9525">
              <a:solidFill>
                <a:schemeClr val="tx2"/>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Text Box 15"/>
            <p:cNvSpPr txBox="1">
              <a:spLocks noChangeArrowheads="1"/>
            </p:cNvSpPr>
            <p:nvPr/>
          </p:nvSpPr>
          <p:spPr bwMode="auto">
            <a:xfrm>
              <a:off x="1154" y="2115"/>
              <a:ext cx="22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19" name="Rectangle 36"/>
            <p:cNvSpPr>
              <a:spLocks noChangeArrowheads="1"/>
            </p:cNvSpPr>
            <p:nvPr/>
          </p:nvSpPr>
          <p:spPr bwMode="auto">
            <a:xfrm>
              <a:off x="249" y="1661"/>
              <a:ext cx="1043"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循环参数修改</a:t>
              </a:r>
            </a:p>
          </p:txBody>
        </p:sp>
        <p:sp>
          <p:nvSpPr>
            <p:cNvPr id="20" name="Line 37"/>
            <p:cNvSpPr>
              <a:spLocks noChangeShapeType="1"/>
            </p:cNvSpPr>
            <p:nvPr/>
          </p:nvSpPr>
          <p:spPr bwMode="auto">
            <a:xfrm>
              <a:off x="793" y="1888"/>
              <a:ext cx="0" cy="227"/>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Rectangle 47"/>
            <p:cNvSpPr>
              <a:spLocks noChangeArrowheads="1"/>
            </p:cNvSpPr>
            <p:nvPr/>
          </p:nvSpPr>
          <p:spPr bwMode="auto">
            <a:xfrm>
              <a:off x="295" y="2795"/>
              <a:ext cx="1043"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结束处理</a:t>
              </a:r>
            </a:p>
          </p:txBody>
        </p:sp>
        <p:sp>
          <p:nvSpPr>
            <p:cNvPr id="22" name="Line 48"/>
            <p:cNvSpPr>
              <a:spLocks noChangeShapeType="1"/>
            </p:cNvSpPr>
            <p:nvPr/>
          </p:nvSpPr>
          <p:spPr bwMode="auto">
            <a:xfrm>
              <a:off x="793" y="2976"/>
              <a:ext cx="0" cy="182"/>
            </a:xfrm>
            <a:prstGeom prst="line">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23" name="Group 55"/>
          <p:cNvGrpSpPr/>
          <p:nvPr/>
        </p:nvGrpSpPr>
        <p:grpSpPr bwMode="auto">
          <a:xfrm>
            <a:off x="6419850" y="2689521"/>
            <a:ext cx="2125663" cy="2991407"/>
            <a:chOff x="3900" y="663"/>
            <a:chExt cx="1339" cy="2359"/>
          </a:xfrm>
        </p:grpSpPr>
        <p:sp>
          <p:nvSpPr>
            <p:cNvPr id="24" name="AutoShape 26"/>
            <p:cNvSpPr>
              <a:spLocks noChangeArrowheads="1"/>
            </p:cNvSpPr>
            <p:nvPr/>
          </p:nvSpPr>
          <p:spPr bwMode="auto">
            <a:xfrm>
              <a:off x="3900" y="1933"/>
              <a:ext cx="1219" cy="528"/>
            </a:xfrm>
            <a:prstGeom prst="flowChartDecision">
              <a:avLst/>
            </a:prstGeom>
            <a:solidFill>
              <a:srgbClr val="FFFFFF"/>
            </a:solidFill>
            <a:ln w="22225">
              <a:solidFill>
                <a:srgbClr val="FFCC99"/>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循环条件</a:t>
              </a:r>
              <a:r>
                <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5" name="Rectangle 27"/>
            <p:cNvSpPr>
              <a:spLocks noChangeArrowheads="1"/>
            </p:cNvSpPr>
            <p:nvPr/>
          </p:nvSpPr>
          <p:spPr bwMode="auto">
            <a:xfrm>
              <a:off x="4092" y="826"/>
              <a:ext cx="960" cy="192"/>
            </a:xfrm>
            <a:prstGeom prst="rect">
              <a:avLst/>
            </a:prstGeom>
            <a:solidFill>
              <a:srgbClr val="FFFFFF"/>
            </a:solidFill>
            <a:ln w="22225">
              <a:solidFill>
                <a:srgbClr val="00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循环初始化</a:t>
              </a:r>
            </a:p>
          </p:txBody>
        </p:sp>
        <p:sp>
          <p:nvSpPr>
            <p:cNvPr id="26" name="Rectangle 28"/>
            <p:cNvSpPr>
              <a:spLocks noChangeArrowheads="1"/>
            </p:cNvSpPr>
            <p:nvPr/>
          </p:nvSpPr>
          <p:spPr bwMode="auto">
            <a:xfrm>
              <a:off x="4140" y="1162"/>
              <a:ext cx="864"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循环体</a:t>
              </a:r>
            </a:p>
          </p:txBody>
        </p:sp>
        <p:sp>
          <p:nvSpPr>
            <p:cNvPr id="27" name="Line 29"/>
            <p:cNvSpPr>
              <a:spLocks noChangeShapeType="1"/>
            </p:cNvSpPr>
            <p:nvPr/>
          </p:nvSpPr>
          <p:spPr bwMode="auto">
            <a:xfrm>
              <a:off x="4524" y="2512"/>
              <a:ext cx="0" cy="144"/>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Line 30"/>
            <p:cNvSpPr>
              <a:spLocks noChangeShapeType="1"/>
            </p:cNvSpPr>
            <p:nvPr/>
          </p:nvSpPr>
          <p:spPr bwMode="auto">
            <a:xfrm>
              <a:off x="4524" y="663"/>
              <a:ext cx="0" cy="144"/>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Line 31"/>
            <p:cNvSpPr>
              <a:spLocks noChangeShapeType="1"/>
            </p:cNvSpPr>
            <p:nvPr/>
          </p:nvSpPr>
          <p:spPr bwMode="auto">
            <a:xfrm>
              <a:off x="4524" y="1018"/>
              <a:ext cx="0" cy="144"/>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 name="Line 32"/>
            <p:cNvSpPr>
              <a:spLocks noChangeShapeType="1"/>
            </p:cNvSpPr>
            <p:nvPr/>
          </p:nvSpPr>
          <p:spPr bwMode="auto">
            <a:xfrm>
              <a:off x="4524" y="1354"/>
              <a:ext cx="0" cy="144"/>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Freeform 33"/>
            <p:cNvSpPr/>
            <p:nvPr/>
          </p:nvSpPr>
          <p:spPr bwMode="auto">
            <a:xfrm>
              <a:off x="4524" y="1066"/>
              <a:ext cx="715" cy="1185"/>
            </a:xfrm>
            <a:custGeom>
              <a:avLst/>
              <a:gdLst>
                <a:gd name="T0" fmla="*/ 432 w 720"/>
                <a:gd name="T1" fmla="*/ 672 h 672"/>
                <a:gd name="T2" fmla="*/ 720 w 720"/>
                <a:gd name="T3" fmla="*/ 672 h 672"/>
                <a:gd name="T4" fmla="*/ 720 w 720"/>
                <a:gd name="T5" fmla="*/ 0 h 672"/>
                <a:gd name="T6" fmla="*/ 0 w 720"/>
                <a:gd name="T7" fmla="*/ 0 h 672"/>
              </a:gdLst>
              <a:ahLst/>
              <a:cxnLst>
                <a:cxn ang="0">
                  <a:pos x="T0" y="T1"/>
                </a:cxn>
                <a:cxn ang="0">
                  <a:pos x="T2" y="T3"/>
                </a:cxn>
                <a:cxn ang="0">
                  <a:pos x="T4" y="T5"/>
                </a:cxn>
                <a:cxn ang="0">
                  <a:pos x="T6" y="T7"/>
                </a:cxn>
              </a:cxnLst>
              <a:rect l="0" t="0" r="r" b="b"/>
              <a:pathLst>
                <a:path w="720" h="672">
                  <a:moveTo>
                    <a:pt x="432" y="672"/>
                  </a:moveTo>
                  <a:lnTo>
                    <a:pt x="720" y="672"/>
                  </a:lnTo>
                  <a:lnTo>
                    <a:pt x="720" y="0"/>
                  </a:lnTo>
                  <a:lnTo>
                    <a:pt x="0" y="0"/>
                  </a:lnTo>
                </a:path>
              </a:pathLst>
            </a:custGeom>
            <a:noFill/>
            <a:ln w="9525">
              <a:solidFill>
                <a:schemeClr val="accent1"/>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Text Box 34"/>
            <p:cNvSpPr txBox="1">
              <a:spLocks noChangeArrowheads="1"/>
            </p:cNvSpPr>
            <p:nvPr/>
          </p:nvSpPr>
          <p:spPr bwMode="auto">
            <a:xfrm>
              <a:off x="4253" y="2339"/>
              <a:ext cx="22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Y</a:t>
              </a:r>
            </a:p>
          </p:txBody>
        </p:sp>
        <p:sp>
          <p:nvSpPr>
            <p:cNvPr id="33" name="Text Box 35"/>
            <p:cNvSpPr txBox="1">
              <a:spLocks noChangeArrowheads="1"/>
            </p:cNvSpPr>
            <p:nvPr/>
          </p:nvSpPr>
          <p:spPr bwMode="auto">
            <a:xfrm>
              <a:off x="4898" y="1836"/>
              <a:ext cx="22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34" name="Rectangle 40"/>
            <p:cNvSpPr>
              <a:spLocks noChangeArrowheads="1"/>
            </p:cNvSpPr>
            <p:nvPr/>
          </p:nvSpPr>
          <p:spPr bwMode="auto">
            <a:xfrm>
              <a:off x="4014" y="1480"/>
              <a:ext cx="1043"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循环参数修改</a:t>
              </a:r>
            </a:p>
          </p:txBody>
        </p:sp>
        <p:sp>
          <p:nvSpPr>
            <p:cNvPr id="35" name="Line 41"/>
            <p:cNvSpPr>
              <a:spLocks noChangeShapeType="1"/>
            </p:cNvSpPr>
            <p:nvPr/>
          </p:nvSpPr>
          <p:spPr bwMode="auto">
            <a:xfrm>
              <a:off x="4513" y="1661"/>
              <a:ext cx="0" cy="272"/>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Rectangle 49"/>
            <p:cNvSpPr>
              <a:spLocks noChangeArrowheads="1"/>
            </p:cNvSpPr>
            <p:nvPr/>
          </p:nvSpPr>
          <p:spPr bwMode="auto">
            <a:xfrm>
              <a:off x="4014" y="2659"/>
              <a:ext cx="1043"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结束处理</a:t>
              </a:r>
            </a:p>
          </p:txBody>
        </p:sp>
        <p:sp>
          <p:nvSpPr>
            <p:cNvPr id="37" name="Line 50"/>
            <p:cNvSpPr>
              <a:spLocks noChangeShapeType="1"/>
            </p:cNvSpPr>
            <p:nvPr/>
          </p:nvSpPr>
          <p:spPr bwMode="auto">
            <a:xfrm>
              <a:off x="4512" y="2840"/>
              <a:ext cx="0" cy="182"/>
            </a:xfrm>
            <a:prstGeom prst="line">
              <a:avLst/>
            </a:prstGeom>
            <a:noFill/>
            <a:ln w="9525">
              <a:solidFill>
                <a:schemeClr val="accent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8" name="Group 54"/>
          <p:cNvGrpSpPr/>
          <p:nvPr/>
        </p:nvGrpSpPr>
        <p:grpSpPr bwMode="auto">
          <a:xfrm>
            <a:off x="3048000" y="2600231"/>
            <a:ext cx="3047999" cy="2922931"/>
            <a:chOff x="1776" y="581"/>
            <a:chExt cx="1920" cy="2305"/>
          </a:xfrm>
        </p:grpSpPr>
        <p:sp>
          <p:nvSpPr>
            <p:cNvPr id="39" name="AutoShape 16"/>
            <p:cNvSpPr>
              <a:spLocks noChangeArrowheads="1"/>
            </p:cNvSpPr>
            <p:nvPr/>
          </p:nvSpPr>
          <p:spPr bwMode="auto">
            <a:xfrm>
              <a:off x="1776" y="1354"/>
              <a:ext cx="1199" cy="483"/>
            </a:xfrm>
            <a:prstGeom prst="flowChartDecision">
              <a:avLst/>
            </a:prstGeom>
            <a:solidFill>
              <a:srgbClr val="FFFFFF"/>
            </a:solidFill>
            <a:ln w="28575">
              <a:solidFill>
                <a:srgbClr val="FFCC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循环条件</a:t>
              </a:r>
              <a:r>
                <a:rPr kumimoji="1" lang="zh-CN"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40" name="Rectangle 17"/>
            <p:cNvSpPr>
              <a:spLocks noChangeArrowheads="1"/>
            </p:cNvSpPr>
            <p:nvPr/>
          </p:nvSpPr>
          <p:spPr bwMode="auto">
            <a:xfrm>
              <a:off x="1932" y="874"/>
              <a:ext cx="960" cy="192"/>
            </a:xfrm>
            <a:prstGeom prst="rect">
              <a:avLst/>
            </a:prstGeom>
            <a:solidFill>
              <a:srgbClr val="FFFFFF"/>
            </a:solidFill>
            <a:ln w="2222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循环初始化</a:t>
              </a:r>
            </a:p>
          </p:txBody>
        </p:sp>
        <p:sp>
          <p:nvSpPr>
            <p:cNvPr id="41" name="Rectangle 18"/>
            <p:cNvSpPr>
              <a:spLocks noChangeArrowheads="1"/>
            </p:cNvSpPr>
            <p:nvPr/>
          </p:nvSpPr>
          <p:spPr bwMode="auto">
            <a:xfrm>
              <a:off x="2652" y="1786"/>
              <a:ext cx="864" cy="192"/>
            </a:xfrm>
            <a:prstGeom prst="rect">
              <a:avLst/>
            </a:prstGeom>
            <a:solidFill>
              <a:srgbClr val="FFFFFF"/>
            </a:solidFill>
            <a:ln w="22225">
              <a:solidFill>
                <a:srgbClr val="FF66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循环体</a:t>
              </a:r>
            </a:p>
          </p:txBody>
        </p:sp>
        <p:sp>
          <p:nvSpPr>
            <p:cNvPr id="42" name="Line 19"/>
            <p:cNvSpPr>
              <a:spLocks noChangeShapeType="1"/>
            </p:cNvSpPr>
            <p:nvPr/>
          </p:nvSpPr>
          <p:spPr bwMode="auto">
            <a:xfrm>
              <a:off x="2364" y="1856"/>
              <a:ext cx="0" cy="622"/>
            </a:xfrm>
            <a:prstGeom prst="line">
              <a:avLst/>
            </a:prstGeom>
            <a:noFill/>
            <a:ln w="95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Line 20"/>
            <p:cNvSpPr>
              <a:spLocks noChangeShapeType="1"/>
            </p:cNvSpPr>
            <p:nvPr/>
          </p:nvSpPr>
          <p:spPr bwMode="auto">
            <a:xfrm flipH="1">
              <a:off x="2364" y="581"/>
              <a:ext cx="0" cy="293"/>
            </a:xfrm>
            <a:prstGeom prst="line">
              <a:avLst/>
            </a:prstGeom>
            <a:noFill/>
            <a:ln w="95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4" name="Line 21"/>
            <p:cNvSpPr>
              <a:spLocks noChangeShapeType="1"/>
            </p:cNvSpPr>
            <p:nvPr/>
          </p:nvSpPr>
          <p:spPr bwMode="auto">
            <a:xfrm>
              <a:off x="2364" y="1066"/>
              <a:ext cx="0" cy="288"/>
            </a:xfrm>
            <a:prstGeom prst="line">
              <a:avLst/>
            </a:prstGeom>
            <a:noFill/>
            <a:ln w="95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Text Box 22"/>
            <p:cNvSpPr txBox="1">
              <a:spLocks noChangeArrowheads="1"/>
            </p:cNvSpPr>
            <p:nvPr/>
          </p:nvSpPr>
          <p:spPr bwMode="auto">
            <a:xfrm>
              <a:off x="2898" y="1245"/>
              <a:ext cx="255"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dirty="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Y</a:t>
              </a:r>
            </a:p>
          </p:txBody>
        </p:sp>
        <p:sp>
          <p:nvSpPr>
            <p:cNvPr id="46" name="Text Box 23"/>
            <p:cNvSpPr txBox="1">
              <a:spLocks noChangeArrowheads="1"/>
            </p:cNvSpPr>
            <p:nvPr/>
          </p:nvSpPr>
          <p:spPr bwMode="auto">
            <a:xfrm>
              <a:off x="2018" y="1882"/>
              <a:ext cx="221"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47" name="Freeform 24"/>
            <p:cNvSpPr/>
            <p:nvPr/>
          </p:nvSpPr>
          <p:spPr bwMode="auto">
            <a:xfrm>
              <a:off x="2796" y="1642"/>
              <a:ext cx="240" cy="144"/>
            </a:xfrm>
            <a:custGeom>
              <a:avLst/>
              <a:gdLst>
                <a:gd name="T0" fmla="*/ 0 w 240"/>
                <a:gd name="T1" fmla="*/ 0 h 144"/>
                <a:gd name="T2" fmla="*/ 240 w 240"/>
                <a:gd name="T3" fmla="*/ 0 h 144"/>
                <a:gd name="T4" fmla="*/ 240 w 240"/>
                <a:gd name="T5" fmla="*/ 144 h 144"/>
              </a:gdLst>
              <a:ahLst/>
              <a:cxnLst>
                <a:cxn ang="0">
                  <a:pos x="T0" y="T1"/>
                </a:cxn>
                <a:cxn ang="0">
                  <a:pos x="T2" y="T3"/>
                </a:cxn>
                <a:cxn ang="0">
                  <a:pos x="T4" y="T5"/>
                </a:cxn>
              </a:cxnLst>
              <a:rect l="0" t="0" r="r" b="b"/>
              <a:pathLst>
                <a:path w="240" h="144">
                  <a:moveTo>
                    <a:pt x="0" y="0"/>
                  </a:moveTo>
                  <a:lnTo>
                    <a:pt x="240" y="0"/>
                  </a:lnTo>
                  <a:lnTo>
                    <a:pt x="240" y="144"/>
                  </a:lnTo>
                </a:path>
              </a:pathLst>
            </a:custGeom>
            <a:noFill/>
            <a:ln w="9525">
              <a:solidFill>
                <a:schemeClr val="tx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Freeform 25"/>
            <p:cNvSpPr/>
            <p:nvPr/>
          </p:nvSpPr>
          <p:spPr bwMode="auto">
            <a:xfrm>
              <a:off x="2364" y="1258"/>
              <a:ext cx="1332" cy="1265"/>
            </a:xfrm>
            <a:custGeom>
              <a:avLst/>
              <a:gdLst>
                <a:gd name="T0" fmla="*/ 672 w 1248"/>
                <a:gd name="T1" fmla="*/ 720 h 816"/>
                <a:gd name="T2" fmla="*/ 672 w 1248"/>
                <a:gd name="T3" fmla="*/ 816 h 816"/>
                <a:gd name="T4" fmla="*/ 1248 w 1248"/>
                <a:gd name="T5" fmla="*/ 816 h 816"/>
                <a:gd name="T6" fmla="*/ 1248 w 1248"/>
                <a:gd name="T7" fmla="*/ 0 h 816"/>
                <a:gd name="T8" fmla="*/ 0 w 1248"/>
                <a:gd name="T9" fmla="*/ 0 h 816"/>
              </a:gdLst>
              <a:ahLst/>
              <a:cxnLst>
                <a:cxn ang="0">
                  <a:pos x="T0" y="T1"/>
                </a:cxn>
                <a:cxn ang="0">
                  <a:pos x="T2" y="T3"/>
                </a:cxn>
                <a:cxn ang="0">
                  <a:pos x="T4" y="T5"/>
                </a:cxn>
                <a:cxn ang="0">
                  <a:pos x="T6" y="T7"/>
                </a:cxn>
                <a:cxn ang="0">
                  <a:pos x="T8" y="T9"/>
                </a:cxn>
              </a:cxnLst>
              <a:rect l="0" t="0" r="r" b="b"/>
              <a:pathLst>
                <a:path w="1248" h="816">
                  <a:moveTo>
                    <a:pt x="672" y="720"/>
                  </a:moveTo>
                  <a:lnTo>
                    <a:pt x="672" y="816"/>
                  </a:lnTo>
                  <a:lnTo>
                    <a:pt x="1248" y="816"/>
                  </a:lnTo>
                  <a:lnTo>
                    <a:pt x="1248" y="0"/>
                  </a:lnTo>
                  <a:lnTo>
                    <a:pt x="0" y="0"/>
                  </a:lnTo>
                </a:path>
              </a:pathLst>
            </a:custGeom>
            <a:noFill/>
            <a:ln w="9525">
              <a:solidFill>
                <a:schemeClr val="tx2"/>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Rectangle 38"/>
            <p:cNvSpPr>
              <a:spLocks noChangeArrowheads="1"/>
            </p:cNvSpPr>
            <p:nvPr/>
          </p:nvSpPr>
          <p:spPr bwMode="auto">
            <a:xfrm>
              <a:off x="2563" y="2160"/>
              <a:ext cx="1043"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循环参数修改</a:t>
              </a:r>
            </a:p>
          </p:txBody>
        </p:sp>
        <p:sp>
          <p:nvSpPr>
            <p:cNvPr id="50" name="Line 39"/>
            <p:cNvSpPr>
              <a:spLocks noChangeShapeType="1"/>
            </p:cNvSpPr>
            <p:nvPr/>
          </p:nvSpPr>
          <p:spPr bwMode="auto">
            <a:xfrm>
              <a:off x="3061" y="1979"/>
              <a:ext cx="0" cy="181"/>
            </a:xfrm>
            <a:prstGeom prst="line">
              <a:avLst/>
            </a:prstGeom>
            <a:noFill/>
            <a:ln w="95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Rectangle 51"/>
            <p:cNvSpPr>
              <a:spLocks noChangeArrowheads="1"/>
            </p:cNvSpPr>
            <p:nvPr/>
          </p:nvSpPr>
          <p:spPr bwMode="auto">
            <a:xfrm>
              <a:off x="1837" y="2523"/>
              <a:ext cx="1043" cy="192"/>
            </a:xfrm>
            <a:prstGeom prst="rect">
              <a:avLst/>
            </a:prstGeom>
            <a:solidFill>
              <a:srgbClr val="FFFFFF"/>
            </a:solidFill>
            <a:ln w="22225">
              <a:solidFill>
                <a:srgbClr val="FF99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结束处理</a:t>
              </a:r>
            </a:p>
          </p:txBody>
        </p:sp>
        <p:sp>
          <p:nvSpPr>
            <p:cNvPr id="52" name="Line 52"/>
            <p:cNvSpPr>
              <a:spLocks noChangeShapeType="1"/>
            </p:cNvSpPr>
            <p:nvPr/>
          </p:nvSpPr>
          <p:spPr bwMode="auto">
            <a:xfrm>
              <a:off x="2381" y="2704"/>
              <a:ext cx="0" cy="182"/>
            </a:xfrm>
            <a:prstGeom prst="line">
              <a:avLst/>
            </a:prstGeom>
            <a:noFill/>
            <a:ln w="95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FFFF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mc:AlternateContent xmlns:mc="http://schemas.openxmlformats.org/markup-compatibility/2006" xmlns:p14="http://schemas.microsoft.com/office/powerpoint/2010/main">
        <mc:Choice Requires="p14">
          <p:contentPart p14:bwMode="auto" r:id="rId2">
            <p14:nvContentPartPr>
              <p14:cNvPr id="162" name="墨迹 161"/>
              <p14:cNvContentPartPr/>
              <p14:nvPr/>
            </p14:nvContentPartPr>
            <p14:xfrm>
              <a:off x="3820795" y="3309620"/>
              <a:ext cx="2383790" cy="1765935"/>
            </p14:xfrm>
          </p:contentPart>
        </mc:Choice>
        <mc:Fallback xmlns="">
          <p:pic>
            <p:nvPicPr>
              <p:cNvPr id="162" name="墨迹 161"/>
            </p:nvPicPr>
            <p:blipFill>
              <a:blip r:embed="rId3"/>
            </p:blipFill>
            <p:spPr>
              <a:xfrm>
                <a:off x="3820795" y="3309620"/>
                <a:ext cx="2383790" cy="176593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wipe(up)">
                                      <p:cBhvr>
                                        <p:cTn id="22" dur="50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up)">
                                      <p:cBhvr>
                                        <p:cTn id="27" dur="500"/>
                                        <p:tgtEl>
                                          <p:spTgt spid="2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循环控制方法</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276610" y="2294820"/>
            <a:ext cx="4583422" cy="400110"/>
          </a:xfrm>
          <a:prstGeom prst="rect">
            <a:avLst/>
          </a:prstGeom>
        </p:spPr>
        <p:txBody>
          <a:bodyPr wrap="square">
            <a:spAutoFit/>
          </a:bodyPr>
          <a:lstStyle/>
          <a:p>
            <a:pPr indent="254000" algn="just">
              <a:spcAft>
                <a:spcPts val="0"/>
              </a:spcAft>
            </a:pPr>
            <a:r>
              <a:rPr lang="zh-CN" altLang="zh-CN" sz="2000" b="1" dirty="0">
                <a:solidFill>
                  <a:schemeClr val="tx2"/>
                </a:solidFill>
                <a:effectLst>
                  <a:outerShdw blurRad="38100" dist="19050" dir="2700000" algn="tl" rotWithShape="0">
                    <a:schemeClr val="dk1">
                      <a:alpha val="40000"/>
                    </a:schemeClr>
                  </a:outerShdw>
                </a:effectLst>
                <a:latin typeface="Times New Roman" panose="02020603050405020304" pitchFamily="18" charset="0"/>
                <a:ea typeface="微软雅黑" panose="020B0503020204020204" pitchFamily="34" charset="-122"/>
                <a:cs typeface="Times New Roman" panose="02020603050405020304" pitchFamily="18" charset="0"/>
              </a:rPr>
              <a:t>⑴</a:t>
            </a:r>
            <a:r>
              <a:rPr lang="x-none" altLang="zh-CN" sz="2000" b="1" dirty="0">
                <a:solidFill>
                  <a:schemeClr val="tx2"/>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cs typeface="Times New Roman" panose="02020603050405020304" pitchFamily="18" charset="0"/>
              </a:rPr>
              <a:t>计数控制</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循环次数已知时，常用</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2000" b="1" dirty="0">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563519" y="2921912"/>
            <a:ext cx="3870176" cy="1198880"/>
          </a:xfrm>
          <a:prstGeom prst="rect">
            <a:avLst/>
          </a:prstGeom>
          <a:solidFill>
            <a:srgbClr val="FFFFCC"/>
          </a:solidFill>
          <a:ln>
            <a:solidFill>
              <a:schemeClr val="tx1"/>
            </a:solidFill>
          </a:ln>
        </p:spPr>
        <p:txBody>
          <a:bodyPr wrap="square">
            <a:spAutoFit/>
          </a:bodyPr>
          <a:lstStyle/>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①  倒计数</a:t>
            </a:r>
          </a:p>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将循环次数</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送入一循环计数器中，每循环一次，计数器减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，直到其值为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7" name="Rectangle 3"/>
          <p:cNvSpPr>
            <a:spLocks noChangeArrowheads="1"/>
          </p:cNvSpPr>
          <p:nvPr/>
        </p:nvSpPr>
        <p:spPr bwMode="auto">
          <a:xfrm>
            <a:off x="487085" y="4440068"/>
            <a:ext cx="341922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MOV  CX，</a:t>
            </a:r>
            <a:r>
              <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循环次数</a:t>
            </a:r>
          </a:p>
          <a:p>
            <a:r>
              <a:rPr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LOOPA</a:t>
            </a:r>
            <a:r>
              <a:rPr lang="en-US" altLang="zh-CN"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DEC   CX</a:t>
            </a:r>
            <a:endParaRPr lang="en-US" altLang="zh-CN"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JNE     LOOPA</a:t>
            </a:r>
            <a:r>
              <a:rPr lang="en-US" altLang="zh-CN"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5004048" y="2918506"/>
            <a:ext cx="3870176" cy="1198880"/>
          </a:xfrm>
          <a:prstGeom prst="rect">
            <a:avLst/>
          </a:prstGeom>
          <a:solidFill>
            <a:srgbClr val="FFFFCC"/>
          </a:solidFill>
          <a:ln>
            <a:solidFill>
              <a:schemeClr val="accent3">
                <a:lumMod val="60000"/>
                <a:lumOff val="40000"/>
              </a:schemeClr>
            </a:solidFill>
          </a:ln>
        </p:spPr>
        <p:txBody>
          <a:bodyPr wrap="square">
            <a:spAutoFit/>
          </a:bodyPr>
          <a:lstStyle/>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② 正计数</a:t>
            </a:r>
          </a:p>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循环次数</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送入一循环计数器中，每循环一次，计数器加</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，直到其值为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Rectangle 3"/>
          <p:cNvSpPr>
            <a:spLocks noChangeArrowheads="1"/>
          </p:cNvSpPr>
          <p:nvPr/>
        </p:nvSpPr>
        <p:spPr bwMode="auto">
          <a:xfrm>
            <a:off x="5004048" y="4301568"/>
            <a:ext cx="410381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              MOV  CX，</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0</a:t>
            </a:r>
          </a:p>
          <a:p>
            <a:r>
              <a:rPr lang="en-US" altLang="zh-CN" b="1" dirty="0">
                <a:solidFill>
                  <a:srgbClr val="990033"/>
                </a:solidFill>
                <a:latin typeface="Times New Roman" panose="02020603050405020304" pitchFamily="18" charset="0"/>
                <a:ea typeface="微软雅黑" panose="020B0503020204020204" pitchFamily="34" charset="-122"/>
                <a:cs typeface="Times New Roman" panose="02020603050405020304" pitchFamily="18" charset="0"/>
              </a:rPr>
              <a:t>LOOPA</a:t>
            </a:r>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INC   CX</a:t>
            </a:r>
          </a:p>
          <a:p>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CMP  CX,  n</a:t>
            </a:r>
          </a:p>
          <a:p>
            <a:r>
              <a:rPr lang="en-US" altLang="zh-CN"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rPr>
              <a:t>              JNE    LOOPA      </a:t>
            </a:r>
            <a:endParaRPr lang="zh-CN" altLang="en-US" b="1" dirty="0">
              <a:solidFill>
                <a:srgbClr val="0D36E3"/>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bldLvl="0" animBg="1"/>
      <p:bldP spid="7" grpId="0" autoUpdateAnimBg="0"/>
      <p:bldP spid="8" grpId="0" bldLvl="0" animBg="1"/>
      <p:bldP spid="9"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998330"/>
          </a:xfrm>
        </p:spPr>
        <p:txBody>
          <a:bodyPr/>
          <a:lstStyle/>
          <a:p>
            <a:r>
              <a:rPr lang="zh-CN" altLang="en-US" sz="2000" b="1" dirty="0">
                <a:latin typeface="Times New Roman" panose="02020603050405020304" pitchFamily="18" charset="0"/>
                <a:cs typeface="Times New Roman" panose="02020603050405020304" pitchFamily="18" charset="0"/>
              </a:rPr>
              <a:t>例</a:t>
            </a:r>
            <a:r>
              <a:rPr lang="en-US" altLang="zh-CN" sz="2000" b="1" dirty="0">
                <a:latin typeface="Times New Roman" panose="02020603050405020304" pitchFamily="18" charset="0"/>
                <a:cs typeface="Times New Roman" panose="02020603050405020304" pitchFamily="18" charset="0"/>
              </a:rPr>
              <a:t>4.10 </a:t>
            </a:r>
            <a:r>
              <a:rPr lang="zh-CN" altLang="en-US" sz="2000" b="1" dirty="0">
                <a:latin typeface="Times New Roman" panose="02020603050405020304" pitchFamily="18" charset="0"/>
                <a:cs typeface="Times New Roman" panose="02020603050405020304" pitchFamily="18" charset="0"/>
              </a:rPr>
              <a:t>在首地址为</a:t>
            </a:r>
            <a:r>
              <a:rPr lang="en-US" altLang="zh-CN" sz="2000" b="1" dirty="0">
                <a:latin typeface="Times New Roman" panose="02020603050405020304" pitchFamily="18" charset="0"/>
                <a:cs typeface="Times New Roman" panose="02020603050405020304" pitchFamily="18" charset="0"/>
              </a:rPr>
              <a:t>BUFF</a:t>
            </a:r>
            <a:r>
              <a:rPr lang="zh-CN" altLang="en-US" sz="2000" b="1" dirty="0">
                <a:latin typeface="Times New Roman" panose="02020603050405020304" pitchFamily="18" charset="0"/>
                <a:cs typeface="Times New Roman" panose="02020603050405020304" pitchFamily="18" charset="0"/>
              </a:rPr>
              <a:t>的内存缓冲区中，存放着</a:t>
            </a:r>
            <a:r>
              <a:rPr lang="en-US" altLang="zh-CN" sz="2000" b="1" dirty="0">
                <a:latin typeface="Times New Roman" panose="02020603050405020304" pitchFamily="18" charset="0"/>
                <a:cs typeface="Times New Roman" panose="02020603050405020304" pitchFamily="18" charset="0"/>
              </a:rPr>
              <a:t>20H</a:t>
            </a:r>
            <a:r>
              <a:rPr lang="zh-CN" altLang="en-US" sz="2000" b="1" dirty="0">
                <a:latin typeface="Times New Roman" panose="02020603050405020304" pitchFamily="18" charset="0"/>
                <a:cs typeface="Times New Roman" panose="02020603050405020304" pitchFamily="18" charset="0"/>
              </a:rPr>
              <a:t>个带符号的字数据。要求找出其中的最小值，并将最小值存入</a:t>
            </a:r>
            <a:r>
              <a:rPr lang="en-US" altLang="zh-CN" sz="2000" b="1" dirty="0">
                <a:latin typeface="Times New Roman" panose="02020603050405020304" pitchFamily="18" charset="0"/>
                <a:cs typeface="Times New Roman" panose="02020603050405020304" pitchFamily="18" charset="0"/>
              </a:rPr>
              <a:t>MIN</a:t>
            </a:r>
            <a:r>
              <a:rPr lang="zh-CN" altLang="en-US" sz="2000" b="1" dirty="0">
                <a:latin typeface="Times New Roman" panose="02020603050405020304" pitchFamily="18" charset="0"/>
                <a:cs typeface="Times New Roman" panose="02020603050405020304" pitchFamily="18" charset="0"/>
              </a:rPr>
              <a:t>单元。</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971600" y="2816904"/>
            <a:ext cx="7200800" cy="2485745"/>
          </a:xfrm>
          <a:prstGeom prst="rect">
            <a:avLst/>
          </a:prstGeom>
        </p:spPr>
        <p:txBody>
          <a:bodyPr wrap="square">
            <a:spAutoFit/>
          </a:bodyPr>
          <a:lstStyle/>
          <a:p>
            <a:pPr>
              <a:lnSpc>
                <a:spcPct val="150000"/>
              </a:lnSpc>
            </a:pP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设计思路：</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可以先假定第一个数据就是</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最小值（当前最小值）</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，然后和其余数据比较，如果比当前最小值大，则不处理；否则将该数据置换为当前最小值，直至所有的数据都比较完。</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l"/>
            </a:pP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循环次数是</a:t>
            </a:r>
            <a:r>
              <a:rPr lang="en-US"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20H</a:t>
            </a:r>
            <a:r>
              <a:rPr lang="zh-CN" altLang="en-US"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次</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36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xEl>
                                              <p:pRg st="2" end="2"/>
                                            </p:txEl>
                                          </p:spTgt>
                                        </p:tgtEl>
                                        <p:attrNameLst>
                                          <p:attrName>style.visibility</p:attrName>
                                        </p:attrNameLst>
                                      </p:cBhvr>
                                      <p:to>
                                        <p:strVal val="visible"/>
                                      </p:to>
                                    </p:set>
                                    <p:animEffect transition="in" filter="fade">
                                      <p:cBhvr>
                                        <p:cTn id="20"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6" name="矩形 5"/>
          <p:cNvSpPr/>
          <p:nvPr/>
        </p:nvSpPr>
        <p:spPr>
          <a:xfrm>
            <a:off x="335136" y="2215879"/>
            <a:ext cx="3049414" cy="2433955"/>
          </a:xfrm>
          <a:prstGeom prst="rect">
            <a:avLst/>
          </a:prstGeom>
          <a:solidFill>
            <a:srgbClr val="FFFFCC"/>
          </a:solidFill>
          <a:ln>
            <a:solidFill>
              <a:schemeClr val="accent1"/>
            </a:solidFill>
          </a:ln>
        </p:spPr>
        <p:txBody>
          <a:bodyPr wrap="square">
            <a:spAutoFit/>
          </a:bodyPr>
          <a:lstStyle/>
          <a:p>
            <a:pPr marL="0" marR="0" lvl="0" indent="0" defTabSz="914400" eaLnBrk="1" fontAlgn="auto" latinLnBrk="0" hangingPunct="1">
              <a:lnSpc>
                <a:spcPct val="105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DSEG        SEGMENT</a:t>
            </a:r>
            <a:r>
              <a:rPr kumimoji="0" lang="en-US" altLang="zh-CN" sz="14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p>
          <a:p>
            <a:pPr marL="0" marR="0" lvl="0" indent="0" defTabSz="914400" eaLnBrk="1" fontAlgn="auto" latinLnBrk="0" hangingPunct="1">
              <a:lnSpc>
                <a:spcPct val="105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CC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BUFF</a:t>
            </a:r>
            <a:r>
              <a:rPr kumimoji="0" lang="en-US" altLang="zh-CN" sz="1400" b="1" i="0" u="none" strike="noStrike" kern="0" cap="none" spc="0" normalizeH="0" baseline="0" noProof="0" dirty="0">
                <a:ln>
                  <a:noFill/>
                </a:ln>
                <a:solidFill>
                  <a:srgbClr val="CC00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1400" b="1" i="0" u="none" strike="noStrike" kern="0" cap="none" spc="0" normalizeH="0" baseline="0" noProof="0" dirty="0">
                <a:ln>
                  <a:noFill/>
                </a:ln>
                <a:solidFill>
                  <a:schemeClr val="accent2"/>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DW 4,7,19H,23H,0A0H….</a:t>
            </a:r>
          </a:p>
          <a:p>
            <a:pPr marL="0" marR="0" lvl="0" indent="0" defTabSz="914400" eaLnBrk="1" fontAlgn="auto" latinLnBrk="0" hangingPunct="1">
              <a:lnSpc>
                <a:spcPct val="105000"/>
              </a:lnSpc>
              <a:spcBef>
                <a:spcPts val="0"/>
              </a:spcBef>
              <a:spcAft>
                <a:spcPts val="0"/>
              </a:spcAft>
              <a:buClrTx/>
              <a:buSzTx/>
              <a:buFontTx/>
              <a:buNone/>
              <a:defRPr/>
            </a:pPr>
            <a:r>
              <a:rPr kumimoji="0" lang="zh-CN" altLang="en-US" sz="1400" b="1" i="0" u="none" strike="noStrike" kern="0" cap="none" spc="0" normalizeH="0" baseline="0" noProof="0" dirty="0">
                <a:ln>
                  <a:noFill/>
                </a:ln>
                <a:solidFill>
                  <a:schemeClr val="accent2"/>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；放置</a:t>
            </a:r>
            <a:r>
              <a:rPr kumimoji="0" lang="en-US" altLang="zh-CN" sz="1400" b="1" i="0" u="none" strike="noStrike" kern="0" cap="none" spc="0" normalizeH="0" baseline="0" noProof="0" dirty="0">
                <a:ln>
                  <a:noFill/>
                </a:ln>
                <a:solidFill>
                  <a:schemeClr val="accent2"/>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20H</a:t>
            </a:r>
            <a:r>
              <a:rPr kumimoji="0" lang="zh-CN" altLang="en-US" sz="1400" b="1" i="0" u="none" strike="noStrike" kern="0" cap="none" spc="0" normalizeH="0" baseline="0" noProof="0" dirty="0">
                <a:ln>
                  <a:noFill/>
                </a:ln>
                <a:solidFill>
                  <a:schemeClr val="accent2"/>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个带符号数据</a:t>
            </a:r>
            <a:endParaRPr kumimoji="0" lang="en-US" altLang="zh-CN" sz="1400" b="1" i="0" u="none" strike="noStrike" kern="0" cap="none" spc="0" normalizeH="0" baseline="0" noProof="0" dirty="0">
              <a:ln>
                <a:noFill/>
              </a:ln>
              <a:solidFill>
                <a:schemeClr val="accent2"/>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defTabSz="914400" eaLnBrk="1" fontAlgn="auto" latinLnBrk="0" hangingPunct="1">
              <a:lnSpc>
                <a:spcPct val="105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A5002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DSEG        ENDS</a:t>
            </a:r>
          </a:p>
          <a:p>
            <a:pPr marL="0" marR="0" lvl="0" indent="0" defTabSz="914400" eaLnBrk="1" fontAlgn="auto" latinLnBrk="0" hangingPunct="1">
              <a:lnSpc>
                <a:spcPct val="105000"/>
              </a:lnSpc>
              <a:spcBef>
                <a:spcPct val="40000"/>
              </a:spcBef>
              <a:spcAft>
                <a:spcPts val="0"/>
              </a:spcAft>
              <a:buClrTx/>
              <a:buSzTx/>
              <a:buFontTx/>
              <a:buNone/>
              <a:defRPr/>
            </a:pPr>
            <a:r>
              <a:rPr kumimoji="0" lang="en-US" altLang="zh-CN" sz="1400" b="1" i="0" u="none" strike="noStrike" kern="0" cap="none" spc="0" normalizeH="0" baseline="0" noProof="0" dirty="0">
                <a:ln>
                  <a:noFill/>
                </a:ln>
                <a:solidFill>
                  <a:srgbClr val="0099CC"/>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CSEG        SEGMENT</a:t>
            </a:r>
          </a:p>
          <a:p>
            <a:pPr marL="0" marR="0" lvl="0" indent="0" defTabSz="914400" eaLnBrk="1" fontAlgn="auto" latinLnBrk="0" hangingPunct="1">
              <a:lnSpc>
                <a:spcPct val="105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ASSUME   CS:CSEG,</a:t>
            </a:r>
          </a:p>
          <a:p>
            <a:pPr marL="0" marR="0" lvl="0" indent="0" defTabSz="914400" eaLnBrk="1" fontAlgn="auto" latinLnBrk="0" hangingPunct="1">
              <a:lnSpc>
                <a:spcPct val="105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DS:DSEG</a:t>
            </a:r>
          </a:p>
          <a:p>
            <a:pPr lvl="0">
              <a:lnSpc>
                <a:spcPct val="105000"/>
              </a:lnSpc>
            </a:pPr>
            <a:r>
              <a:rPr lang="en-US" altLang="zh-CN" sz="1400" b="1" dirty="0">
                <a:solidFill>
                  <a:srgbClr val="FF3300"/>
                </a:solidFill>
                <a:latin typeface="Times New Roman" panose="02020603050405020304" pitchFamily="18" charset="0"/>
                <a:ea typeface="仿宋_GB2312" pitchFamily="49" charset="-122"/>
                <a:cs typeface="Times New Roman" panose="02020603050405020304" pitchFamily="18" charset="0"/>
              </a:rPr>
              <a:t>START:</a:t>
            </a:r>
            <a:r>
              <a:rPr lang="en-US" altLang="zh-CN" sz="1400" b="1" dirty="0">
                <a:solidFill>
                  <a:srgbClr val="000000"/>
                </a:solidFill>
                <a:latin typeface="Times New Roman" panose="02020603050405020304" pitchFamily="18" charset="0"/>
                <a:ea typeface="仿宋_GB2312" pitchFamily="49" charset="-122"/>
                <a:cs typeface="Times New Roman" panose="02020603050405020304" pitchFamily="18" charset="0"/>
              </a:rPr>
              <a:t>     </a:t>
            </a:r>
            <a:r>
              <a:rPr lang="en-US" altLang="zh-CN" sz="1400" b="1" dirty="0">
                <a:solidFill>
                  <a:srgbClr val="3333FF"/>
                </a:solidFill>
                <a:latin typeface="Times New Roman" panose="02020603050405020304" pitchFamily="18" charset="0"/>
                <a:ea typeface="仿宋_GB2312" pitchFamily="49" charset="-122"/>
                <a:cs typeface="Times New Roman" panose="02020603050405020304" pitchFamily="18" charset="0"/>
              </a:rPr>
              <a:t>MOV AX, DSEG</a:t>
            </a:r>
          </a:p>
          <a:p>
            <a:pPr lvl="0">
              <a:lnSpc>
                <a:spcPct val="105000"/>
              </a:lnSpc>
            </a:pPr>
            <a:r>
              <a:rPr lang="en-US" altLang="zh-CN" sz="1400" b="1" dirty="0">
                <a:solidFill>
                  <a:srgbClr val="3333FF"/>
                </a:solidFill>
                <a:latin typeface="Times New Roman" panose="02020603050405020304" pitchFamily="18" charset="0"/>
                <a:ea typeface="仿宋_GB2312" pitchFamily="49" charset="-122"/>
                <a:cs typeface="Times New Roman" panose="02020603050405020304" pitchFamily="18" charset="0"/>
              </a:rPr>
              <a:t>                   MOV DS, AX</a:t>
            </a:r>
            <a:endParaRPr lang="en-US" altLang="zh-CN" sz="1400" b="1" dirty="0">
              <a:solidFill>
                <a:srgbClr val="000000"/>
              </a:solidFill>
              <a:latin typeface="Times New Roman" panose="02020603050405020304" pitchFamily="18" charset="0"/>
              <a:ea typeface="仿宋_GB2312" pitchFamily="49" charset="-122"/>
              <a:cs typeface="Times New Roman" panose="02020603050405020304" pitchFamily="18" charset="0"/>
            </a:endParaRPr>
          </a:p>
          <a:p>
            <a:pPr marL="0" marR="0" lvl="0" indent="0" defTabSz="914400" eaLnBrk="1" fontAlgn="auto" latinLnBrk="0" hangingPunct="1">
              <a:lnSpc>
                <a:spcPct val="105000"/>
              </a:lnSpc>
              <a:spcBef>
                <a:spcPts val="0"/>
              </a:spcBef>
              <a:spcAft>
                <a:spcPts val="0"/>
              </a:spcAft>
              <a:buClrTx/>
              <a:buSzTx/>
              <a:buFontTx/>
              <a:buNone/>
              <a:defRPr/>
            </a:pPr>
            <a:r>
              <a:rPr kumimoji="0" lang="en-US" altLang="zh-CN" sz="14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kumimoji="0" lang="zh-CN" altLang="en-US" sz="1400" b="0" i="0" u="none" strike="noStrike" kern="0" cap="none" spc="0" normalizeH="0" baseline="0" noProof="0" dirty="0">
              <a:ln>
                <a:noFill/>
              </a:ln>
              <a:solidFill>
                <a:sysClr val="windowText" lastClr="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3638808" y="1772816"/>
            <a:ext cx="5283894" cy="4067267"/>
          </a:xfrm>
          <a:prstGeom prst="rect">
            <a:avLst/>
          </a:prstGeom>
          <a:solidFill>
            <a:schemeClr val="accent4">
              <a:lumMod val="20000"/>
              <a:lumOff val="80000"/>
            </a:schemeClr>
          </a:solidFill>
          <a:ln>
            <a:solidFill>
              <a:srgbClr val="B10303"/>
            </a:solidFill>
          </a:ln>
        </p:spPr>
        <p:txBody>
          <a:bodyPr wrap="square">
            <a:spAutoFit/>
          </a:bodyPr>
          <a:lstStyle/>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LEA	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kern="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BUFF</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设地址指针</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CX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20H	  ; CX←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循环次数</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第一个数据</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INC	SI</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INC	SI               	 ; 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指向第二个数  </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DEC	CX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修改循环次数计数器</a:t>
            </a:r>
          </a:p>
          <a:p>
            <a:r>
              <a:rPr lang="en-US" altLang="zh-CN" sz="14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CMP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JLE	</a:t>
            </a:r>
            <a:r>
              <a:rPr lang="en-US" altLang="zh-CN" sz="14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NEXT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小于或等于时转移</a:t>
            </a:r>
          </a:p>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MOV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1400" b="1" dirty="0">
                <a:solidFill>
                  <a:schemeClr val="accent3">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NEXT: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INC	SI</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INC	SI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修改地址指针指向下一个数</a:t>
            </a:r>
          </a:p>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LOOP	</a:t>
            </a:r>
            <a:r>
              <a:rPr lang="en-US" altLang="zh-CN" sz="14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AGAIN</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MIN</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AX</a:t>
            </a:r>
          </a:p>
          <a:p>
            <a:endPar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4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                   MOV AH, 4CH</a:t>
            </a:r>
          </a:p>
          <a:p>
            <a:r>
              <a:rPr lang="en-US" altLang="zh-CN" sz="14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        	INT 21H</a:t>
            </a:r>
          </a:p>
          <a:p>
            <a:pPr fontAlgn="auto">
              <a:lnSpc>
                <a:spcPct val="105000"/>
              </a:lnSpc>
              <a:spcBef>
                <a:spcPct val="40000"/>
              </a:spcBef>
              <a:spcAft>
                <a:spcPts val="0"/>
              </a:spcAft>
            </a:pPr>
            <a:r>
              <a:rPr lang="en-US" altLang="zh-CN" sz="1400" b="1" kern="0" dirty="0">
                <a:solidFill>
                  <a:srgbClr val="0099CC"/>
                </a:solidFill>
                <a:latin typeface="Times New Roman" panose="02020603050405020304" pitchFamily="18" charset="0"/>
                <a:ea typeface="微软雅黑" panose="020B0503020204020204" pitchFamily="34" charset="-122"/>
                <a:cs typeface="Times New Roman" panose="02020603050405020304" pitchFamily="18" charset="0"/>
              </a:rPr>
              <a:t>CSEG   ENDS</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END </a:t>
            </a:r>
            <a:r>
              <a:rPr lang="en-US" altLang="zh-CN" sz="1400" b="1" dirty="0">
                <a:solidFill>
                  <a:srgbClr val="FF3300"/>
                </a:solidFill>
                <a:latin typeface="Times New Roman" panose="02020603050405020304" pitchFamily="18" charset="0"/>
                <a:ea typeface="仿宋_GB2312" pitchFamily="49" charset="-122"/>
                <a:cs typeface="Times New Roman" panose="02020603050405020304" pitchFamily="18" charset="0"/>
              </a:rPr>
              <a:t>START</a:t>
            </a:r>
            <a:endPar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wipe(up)">
                                      <p:cBhvr>
                                        <p:cTn id="12" dur="500"/>
                                        <p:tgtEl>
                                          <p:spTgt spid="6">
                                            <p:txEl>
                                              <p:pRg st="0" end="0"/>
                                            </p:txEl>
                                          </p:spTgt>
                                        </p:tgtEl>
                                      </p:cBhvr>
                                    </p:animEffect>
                                  </p:childTnLst>
                                </p:cTn>
                              </p:par>
                              <p:par>
                                <p:cTn id="13" presetID="22" presetClass="entr" presetSubtype="1"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up)">
                                      <p:cBhvr>
                                        <p:cTn id="15" dur="500"/>
                                        <p:tgtEl>
                                          <p:spTgt spid="6">
                                            <p:txEl>
                                              <p:pRg st="1" end="1"/>
                                            </p:txEl>
                                          </p:spTgt>
                                        </p:tgtEl>
                                      </p:cBhvr>
                                    </p:animEffect>
                                  </p:childTnLst>
                                </p:cTn>
                              </p:par>
                              <p:par>
                                <p:cTn id="16" presetID="22" presetClass="entr" presetSubtype="1"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wipe(up)">
                                      <p:cBhvr>
                                        <p:cTn id="18" dur="500"/>
                                        <p:tgtEl>
                                          <p:spTgt spid="6">
                                            <p:txEl>
                                              <p:pRg st="2" end="2"/>
                                            </p:txEl>
                                          </p:spTgt>
                                        </p:tgtEl>
                                      </p:cBhvr>
                                    </p:animEffect>
                                  </p:childTnLst>
                                </p:cTn>
                              </p:par>
                              <p:par>
                                <p:cTn id="19" presetID="22" presetClass="entr" presetSubtype="1"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wipe(up)">
                                      <p:cBhvr>
                                        <p:cTn id="21" dur="500"/>
                                        <p:tgtEl>
                                          <p:spTgt spid="6">
                                            <p:txEl>
                                              <p:pRg st="3" end="3"/>
                                            </p:txEl>
                                          </p:spTgt>
                                        </p:tgtEl>
                                      </p:cBhvr>
                                    </p:animEffect>
                                  </p:childTnLst>
                                </p:cTn>
                              </p:par>
                              <p:par>
                                <p:cTn id="22" presetID="22" presetClass="entr" presetSubtype="1" fill="hold" nodeType="withEffect">
                                  <p:stCondLst>
                                    <p:cond delay="0"/>
                                  </p:stCondLst>
                                  <p:childTnLst>
                                    <p:set>
                                      <p:cBhvr>
                                        <p:cTn id="23" dur="1" fill="hold">
                                          <p:stCondLst>
                                            <p:cond delay="0"/>
                                          </p:stCondLst>
                                        </p:cTn>
                                        <p:tgtEl>
                                          <p:spTgt spid="6">
                                            <p:txEl>
                                              <p:pRg st="4" end="4"/>
                                            </p:txEl>
                                          </p:spTgt>
                                        </p:tgtEl>
                                        <p:attrNameLst>
                                          <p:attrName>style.visibility</p:attrName>
                                        </p:attrNameLst>
                                      </p:cBhvr>
                                      <p:to>
                                        <p:strVal val="visible"/>
                                      </p:to>
                                    </p:set>
                                    <p:animEffect transition="in" filter="wipe(up)">
                                      <p:cBhvr>
                                        <p:cTn id="24" dur="500"/>
                                        <p:tgtEl>
                                          <p:spTgt spid="6">
                                            <p:txEl>
                                              <p:pRg st="4" end="4"/>
                                            </p:txEl>
                                          </p:spTgt>
                                        </p:tgtEl>
                                      </p:cBhvr>
                                    </p:animEffect>
                                  </p:childTnLst>
                                </p:cTn>
                              </p:par>
                              <p:par>
                                <p:cTn id="25" presetID="22" presetClass="entr" presetSubtype="1"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animEffect transition="in" filter="wipe(up)">
                                      <p:cBhvr>
                                        <p:cTn id="27" dur="500"/>
                                        <p:tgtEl>
                                          <p:spTgt spid="6">
                                            <p:txEl>
                                              <p:pRg st="5" end="5"/>
                                            </p:txEl>
                                          </p:spTgt>
                                        </p:tgtEl>
                                      </p:cBhvr>
                                    </p:animEffect>
                                  </p:childTnLst>
                                </p:cTn>
                              </p:par>
                              <p:par>
                                <p:cTn id="28" presetID="22" presetClass="entr" presetSubtype="1" fill="hold" nodeType="withEffect">
                                  <p:stCondLst>
                                    <p:cond delay="0"/>
                                  </p:stCondLst>
                                  <p:childTnLst>
                                    <p:set>
                                      <p:cBhvr>
                                        <p:cTn id="29" dur="1" fill="hold">
                                          <p:stCondLst>
                                            <p:cond delay="0"/>
                                          </p:stCondLst>
                                        </p:cTn>
                                        <p:tgtEl>
                                          <p:spTgt spid="6">
                                            <p:txEl>
                                              <p:pRg st="6" end="6"/>
                                            </p:txEl>
                                          </p:spTgt>
                                        </p:tgtEl>
                                        <p:attrNameLst>
                                          <p:attrName>style.visibility</p:attrName>
                                        </p:attrNameLst>
                                      </p:cBhvr>
                                      <p:to>
                                        <p:strVal val="visible"/>
                                      </p:to>
                                    </p:set>
                                    <p:animEffect transition="in" filter="wipe(up)">
                                      <p:cBhvr>
                                        <p:cTn id="30" dur="500"/>
                                        <p:tgtEl>
                                          <p:spTgt spid="6">
                                            <p:txEl>
                                              <p:pRg st="6" end="6"/>
                                            </p:txEl>
                                          </p:spTgt>
                                        </p:tgtEl>
                                      </p:cBhvr>
                                    </p:animEffect>
                                  </p:childTnLst>
                                </p:cTn>
                              </p:par>
                              <p:par>
                                <p:cTn id="31" presetID="22" presetClass="entr" presetSubtype="1" fill="hold" nodeType="with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animEffect transition="in" filter="wipe(up)">
                                      <p:cBhvr>
                                        <p:cTn id="33" dur="500"/>
                                        <p:tgtEl>
                                          <p:spTgt spid="6">
                                            <p:txEl>
                                              <p:pRg st="7" end="7"/>
                                            </p:txEl>
                                          </p:spTgt>
                                        </p:tgtEl>
                                      </p:cBhvr>
                                    </p:animEffect>
                                  </p:childTnLst>
                                </p:cTn>
                              </p:par>
                              <p:par>
                                <p:cTn id="34" presetID="22" presetClass="entr" presetSubtype="1" fill="hold" nodeType="withEffect">
                                  <p:stCondLst>
                                    <p:cond delay="0"/>
                                  </p:stCondLst>
                                  <p:childTnLst>
                                    <p:set>
                                      <p:cBhvr>
                                        <p:cTn id="35" dur="1" fill="hold">
                                          <p:stCondLst>
                                            <p:cond delay="0"/>
                                          </p:stCondLst>
                                        </p:cTn>
                                        <p:tgtEl>
                                          <p:spTgt spid="6">
                                            <p:txEl>
                                              <p:pRg st="8" end="8"/>
                                            </p:txEl>
                                          </p:spTgt>
                                        </p:tgtEl>
                                        <p:attrNameLst>
                                          <p:attrName>style.visibility</p:attrName>
                                        </p:attrNameLst>
                                      </p:cBhvr>
                                      <p:to>
                                        <p:strVal val="visible"/>
                                      </p:to>
                                    </p:set>
                                    <p:animEffect transition="in" filter="wipe(up)">
                                      <p:cBhvr>
                                        <p:cTn id="36" dur="500"/>
                                        <p:tgtEl>
                                          <p:spTgt spid="6">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up)">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zh-CN" altLang="en-US" b="1" dirty="0"/>
              <a:t>⑵ 条件控制</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662880" y="3896434"/>
            <a:ext cx="7776864" cy="398780"/>
          </a:xfrm>
          <a:prstGeom prst="rect">
            <a:avLst/>
          </a:prstGeom>
        </p:spPr>
        <p:txBody>
          <a:bodyPr wrap="square">
            <a:spAutoFit/>
          </a:bodyPr>
          <a:lstStyle/>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4.11: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编程统计</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AX</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寄存器中</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的个数，并将结果存入</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SUM</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单元。</a:t>
            </a:r>
          </a:p>
        </p:txBody>
      </p:sp>
      <p:sp>
        <p:nvSpPr>
          <p:cNvPr id="6" name="矩形 5"/>
          <p:cNvSpPr/>
          <p:nvPr/>
        </p:nvSpPr>
        <p:spPr>
          <a:xfrm>
            <a:off x="611752" y="2193433"/>
            <a:ext cx="7776864" cy="1631216"/>
          </a:xfrm>
          <a:prstGeom prst="rect">
            <a:avLst/>
          </a:prstGeom>
        </p:spPr>
        <p:txBody>
          <a:bodyPr wrap="square">
            <a:spAutoFit/>
          </a:bodyPr>
          <a:lstStyle/>
          <a:p>
            <a:pPr lvl="0"/>
            <a:r>
              <a:rPr lang="zh-CN" altLang="en-US" sz="2000" b="1" dirty="0">
                <a:solidFill>
                  <a:srgbClr val="FF3300"/>
                </a:solidFill>
                <a:latin typeface="微软雅黑" panose="020B0503020204020204" pitchFamily="34" charset="-122"/>
                <a:ea typeface="微软雅黑" panose="020B0503020204020204" pitchFamily="34" charset="-122"/>
              </a:rPr>
              <a:t>循环次数未知</a:t>
            </a:r>
            <a:r>
              <a:rPr lang="zh-CN" altLang="en-US" sz="2000" b="1" dirty="0">
                <a:solidFill>
                  <a:srgbClr val="000066"/>
                </a:solidFill>
                <a:latin typeface="微软雅黑" panose="020B0503020204020204" pitchFamily="34" charset="-122"/>
                <a:ea typeface="微软雅黑" panose="020B0503020204020204" pitchFamily="34" charset="-122"/>
              </a:rPr>
              <a:t>。但是循环结束与某些条件</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比较、运算的结果等等</a:t>
            </a:r>
            <a:r>
              <a:rPr lang="en-US" altLang="zh-CN" sz="2000" b="1" dirty="0">
                <a:solidFill>
                  <a:srgbClr val="000066"/>
                </a:solidFill>
                <a:latin typeface="微软雅黑" panose="020B0503020204020204" pitchFamily="34" charset="-122"/>
                <a:ea typeface="微软雅黑" panose="020B0503020204020204" pitchFamily="34" charset="-122"/>
              </a:rPr>
              <a:t>)</a:t>
            </a:r>
            <a:r>
              <a:rPr lang="zh-CN" altLang="en-US" sz="2000" b="1" dirty="0">
                <a:solidFill>
                  <a:srgbClr val="000066"/>
                </a:solidFill>
                <a:latin typeface="微软雅黑" panose="020B0503020204020204" pitchFamily="34" charset="-122"/>
                <a:ea typeface="微软雅黑" panose="020B0503020204020204" pitchFamily="34" charset="-122"/>
              </a:rPr>
              <a:t>相关，比较所要求的条件是否达到，未满足继续循环，否则结束循环。</a:t>
            </a:r>
          </a:p>
          <a:p>
            <a:pPr lvl="0"/>
            <a:endParaRPr lang="zh-CN" altLang="en-US" sz="2000" b="1" dirty="0">
              <a:solidFill>
                <a:srgbClr val="000066"/>
              </a:solidFill>
              <a:latin typeface="微软雅黑" panose="020B0503020204020204" pitchFamily="34" charset="-122"/>
              <a:ea typeface="微软雅黑" panose="020B0503020204020204" pitchFamily="34" charset="-122"/>
            </a:endParaRPr>
          </a:p>
          <a:p>
            <a:pPr lvl="0"/>
            <a:r>
              <a:rPr lang="zh-CN" altLang="en-US" sz="2000" b="1" dirty="0">
                <a:solidFill>
                  <a:srgbClr val="000066"/>
                </a:solidFill>
                <a:latin typeface="微软雅黑" panose="020B0503020204020204" pitchFamily="34" charset="-122"/>
                <a:ea typeface="微软雅黑" panose="020B0503020204020204" pitchFamily="34" charset="-122"/>
              </a:rPr>
              <a:t>在解决实际问题时，往往要根据问题给定的已知条件，在认真分析算法之后才能确定选用哪种方法。 </a:t>
            </a:r>
          </a:p>
        </p:txBody>
      </p:sp>
      <p:sp>
        <p:nvSpPr>
          <p:cNvPr id="7" name="矩形 6"/>
          <p:cNvSpPr/>
          <p:nvPr/>
        </p:nvSpPr>
        <p:spPr>
          <a:xfrm>
            <a:off x="662880" y="4368095"/>
            <a:ext cx="8229599" cy="2062103"/>
          </a:xfrm>
          <a:prstGeom prst="rect">
            <a:avLst/>
          </a:prstGeom>
        </p:spPr>
        <p:txBody>
          <a:bodyPr wrap="square">
            <a:spAutoFit/>
          </a:bodyPr>
          <a:lstStyle/>
          <a:p>
            <a:r>
              <a:rPr lang="zh-CN" altLang="en-US" sz="2000" b="1" kern="100" dirty="0">
                <a:latin typeface="Times New Roman" panose="02020603050405020304" pitchFamily="18" charset="0"/>
                <a:ea typeface="微软雅黑" panose="020B0503020204020204" pitchFamily="34" charset="-122"/>
                <a:cs typeface="Times New Roman" panose="02020603050405020304" pitchFamily="18" charset="0"/>
              </a:rPr>
              <a:t>设计思路：</a:t>
            </a:r>
            <a:endParaRPr lang="en-US" altLang="zh-CN" sz="2000"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ü"/>
            </a:pP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方法</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要统计二进制数中</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的个数，最方便的方法是将这个数的各位依次移入</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CF</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标志，通过检测</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CF</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的值来判断该位是否为</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，依此统计所含</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的个数。这是一个重复计数的过程，可以用循环程序实现。</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对循环的控制，可以用计数方法，共检测</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次；</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ü"/>
            </a:pP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方法</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通过判断移位后二进制数</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是否变为</a:t>
            </a:r>
            <a:r>
              <a:rPr lang="en-US"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作为循环结束</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的条件。当二进制数的后几位全部为</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时，用这种方法可以提前结束循环，提高程序的运行效率。</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7">
                                            <p:txEl>
                                              <p:pRg st="1" end="1"/>
                                            </p:txEl>
                                          </p:spTgt>
                                        </p:tgtEl>
                                        <p:attrNameLst>
                                          <p:attrName>style.visibility</p:attrName>
                                        </p:attrNameLst>
                                      </p:cBhvr>
                                      <p:to>
                                        <p:strVal val="visible"/>
                                      </p:to>
                                    </p:set>
                                    <p:animEffect transition="in" filter="fade">
                                      <p:cBhvr>
                                        <p:cTn id="25" dur="500"/>
                                        <p:tgtEl>
                                          <p:spTgt spid="7">
                                            <p:txEl>
                                              <p:p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500"/>
                                        <p:tgtEl>
                                          <p:spTgt spid="7">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animEffect transition="in" filter="fade">
                                      <p:cBhvr>
                                        <p:cTn id="33"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pic>
        <p:nvPicPr>
          <p:cNvPr id="5122" name="图片 8" descr="4T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648584"/>
            <a:ext cx="3024336" cy="2854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4211960" y="1772816"/>
            <a:ext cx="4464496" cy="4247317"/>
          </a:xfrm>
          <a:prstGeom prst="rect">
            <a:avLst/>
          </a:prstGeom>
        </p:spPr>
        <p:txBody>
          <a:bodyPr wrap="square">
            <a:spAutoFit/>
          </a:bodyPr>
          <a:lstStyle/>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程序片段如下</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BL</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计数单元</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BL</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清</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p>
          <a:p>
            <a:r>
              <a:rPr lang="en-US"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OR	AX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AX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测试</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是否为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JZ	</a:t>
            </a:r>
            <a:r>
              <a:rPr lang="en-US" altLang="zh-CN" b="1" dirty="0">
                <a:solidFill>
                  <a:srgbClr val="CC3399"/>
                </a:solidFill>
                <a:latin typeface="Times New Roman" panose="02020603050405020304" pitchFamily="18" charset="0"/>
                <a:ea typeface="微软雅黑" panose="020B0503020204020204" pitchFamily="34" charset="-122"/>
                <a:cs typeface="Times New Roman" panose="02020603050405020304" pitchFamily="18" charset="0"/>
              </a:rPr>
              <a:t>EXIT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若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AX=0</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，则转移到结束点</a:t>
            </a:r>
          </a:p>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SHL	AX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1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将</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最高位移至</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CF</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JNC	</a:t>
            </a:r>
            <a:r>
              <a:rPr lang="en-US" altLang="zh-CN" b="1" dirty="0">
                <a:solidFill>
                  <a:srgbClr val="CC3399"/>
                </a:solidFill>
                <a:latin typeface="Times New Roman" panose="02020603050405020304" pitchFamily="18" charset="0"/>
                <a:ea typeface="微软雅黑" panose="020B0503020204020204" pitchFamily="34" charset="-122"/>
                <a:cs typeface="Times New Roman" panose="02020603050405020304" pitchFamily="18" charset="0"/>
              </a:rPr>
              <a:t>NEXT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 CF=0</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，转去</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AGAIN</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继续 </a:t>
            </a:r>
          </a:p>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INC	BL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 CF≠0</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BL</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加</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1</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NEXT: 	JMP	</a:t>
            </a:r>
            <a:r>
              <a:rPr lang="en-US"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solidFill>
                  <a:srgbClr val="CC3399"/>
                </a:solidFill>
                <a:latin typeface="Times New Roman" panose="02020603050405020304" pitchFamily="18" charset="0"/>
                <a:ea typeface="微软雅黑" panose="020B0503020204020204" pitchFamily="34" charset="-122"/>
                <a:cs typeface="Times New Roman" panose="02020603050405020304" pitchFamily="18" charset="0"/>
              </a:rPr>
              <a:t>EXIT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SUM</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wipe(up)">
                                      <p:cBhvr>
                                        <p:cTn id="7" dur="500"/>
                                        <p:tgtEl>
                                          <p:spTgt spid="51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12415"/>
          </a:xfrm>
        </p:spPr>
        <p:txBody>
          <a:bodyPr/>
          <a:lstStyle/>
          <a:p>
            <a:r>
              <a:rPr lang="zh-CN" altLang="en-US" b="1" dirty="0"/>
              <a:t>⑶逻辑尺控制</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2629204" y="1650725"/>
            <a:ext cx="6030416" cy="923330"/>
          </a:xfrm>
          <a:prstGeom prst="rect">
            <a:avLst/>
          </a:prstGeom>
        </p:spPr>
        <p:txBody>
          <a:bodyPr wrap="square">
            <a:spAutoFit/>
          </a:bodyPr>
          <a:lstStyle/>
          <a:p>
            <a:r>
              <a:rPr lang="zh-CN" altLang="en-US" b="1" dirty="0"/>
              <a:t>循环体内的处理任务在每次循环执行时并无规律，但确实需要连续运行。此时，可以给各处理操作</a:t>
            </a:r>
            <a:r>
              <a:rPr lang="zh-CN" altLang="en-US" b="1" dirty="0">
                <a:solidFill>
                  <a:srgbClr val="CC3399"/>
                </a:solidFill>
              </a:rPr>
              <a:t>标以不同的特征位</a:t>
            </a:r>
            <a:r>
              <a:rPr lang="zh-CN" altLang="en-US" b="1" dirty="0"/>
              <a:t>，所有</a:t>
            </a:r>
            <a:r>
              <a:rPr lang="zh-CN" altLang="en-US" b="1" dirty="0">
                <a:solidFill>
                  <a:srgbClr val="CC6600"/>
                </a:solidFill>
              </a:rPr>
              <a:t>特征位组合</a:t>
            </a:r>
            <a:r>
              <a:rPr lang="zh-CN" altLang="en-US" b="1" dirty="0"/>
              <a:t>在一起，就形成了一个</a:t>
            </a:r>
            <a:r>
              <a:rPr lang="zh-CN" altLang="en-US" b="1" dirty="0">
                <a:solidFill>
                  <a:srgbClr val="CC6600"/>
                </a:solidFill>
              </a:rPr>
              <a:t>逻辑尺</a:t>
            </a:r>
            <a:r>
              <a:rPr lang="zh-CN" altLang="en-US" b="1" dirty="0"/>
              <a:t>。</a:t>
            </a:r>
          </a:p>
        </p:txBody>
      </p:sp>
      <p:sp>
        <p:nvSpPr>
          <p:cNvPr id="6" name="矩形 5"/>
          <p:cNvSpPr/>
          <p:nvPr/>
        </p:nvSpPr>
        <p:spPr>
          <a:xfrm>
            <a:off x="448280" y="2794663"/>
            <a:ext cx="8419797" cy="922020"/>
          </a:xfrm>
          <a:prstGeom prst="rect">
            <a:avLst/>
          </a:prstGeom>
        </p:spPr>
        <p:txBody>
          <a:bodyPr wrap="square">
            <a:spAutoFit/>
          </a:bodyPr>
          <a:lstStyle/>
          <a:p>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4.12</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在数据段中有两个数组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，每个数组含有</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个双字节数据元素。现将两个数组的对应元素进行下列计算，形成一个新的数组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M</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。假定数组的对应元素计算后，结果不产生溢出。</a:t>
            </a:r>
          </a:p>
        </p:txBody>
      </p:sp>
      <p:sp>
        <p:nvSpPr>
          <p:cNvPr id="7" name="矩形 6"/>
          <p:cNvSpPr/>
          <p:nvPr/>
        </p:nvSpPr>
        <p:spPr>
          <a:xfrm>
            <a:off x="1631578" y="3637590"/>
            <a:ext cx="6053199" cy="1000082"/>
          </a:xfrm>
          <a:prstGeom prst="rect">
            <a:avLst/>
          </a:prstGeom>
        </p:spPr>
        <p:txBody>
          <a:bodyPr wrap="square">
            <a:spAutoFit/>
          </a:bodyPr>
          <a:lstStyle/>
          <a:p>
            <a:pPr marL="1066800" indent="266700" algn="just">
              <a:lnSpc>
                <a:spcPts val="1800"/>
              </a:lnSpc>
              <a:spcAft>
                <a:spcPts val="0"/>
              </a:spcAft>
            </a:pPr>
            <a:r>
              <a:rPr lang="en-US" altLang="zh-CN" sz="1400" b="1" kern="100" dirty="0">
                <a:latin typeface="Times New Roman" panose="02020603050405020304" pitchFamily="18" charset="0"/>
                <a:ea typeface="宋体" panose="02010600030101010101" pitchFamily="2" charset="-122"/>
              </a:rPr>
              <a:t>M1=X1+Y1	M2=X2+Y2		M3=X3-Y3</a:t>
            </a:r>
            <a:endParaRPr lang="zh-CN" altLang="zh-CN" sz="1400" b="1" kern="100" dirty="0">
              <a:latin typeface="Times New Roman" panose="02020603050405020304" pitchFamily="18" charset="0"/>
              <a:ea typeface="宋体" panose="02010600030101010101" pitchFamily="2" charset="-122"/>
            </a:endParaRPr>
          </a:p>
          <a:p>
            <a:pPr marL="1066800" indent="266700" algn="just">
              <a:lnSpc>
                <a:spcPts val="1800"/>
              </a:lnSpc>
              <a:spcAft>
                <a:spcPts val="0"/>
              </a:spcAft>
            </a:pPr>
            <a:r>
              <a:rPr lang="en-US" altLang="zh-CN" sz="1400" b="1" kern="100" dirty="0">
                <a:latin typeface="Times New Roman" panose="02020603050405020304" pitchFamily="18" charset="0"/>
                <a:ea typeface="宋体" panose="02010600030101010101" pitchFamily="2" charset="-122"/>
              </a:rPr>
              <a:t>M4=X4+Y4	M5=X5-Y5		M6=X6-Y6</a:t>
            </a:r>
            <a:endParaRPr lang="zh-CN" altLang="zh-CN" sz="1400" b="1" kern="100" dirty="0">
              <a:latin typeface="Times New Roman" panose="02020603050405020304" pitchFamily="18" charset="0"/>
              <a:ea typeface="宋体" panose="02010600030101010101" pitchFamily="2" charset="-122"/>
            </a:endParaRPr>
          </a:p>
          <a:p>
            <a:pPr marL="1066800" indent="266700" algn="just">
              <a:lnSpc>
                <a:spcPts val="1800"/>
              </a:lnSpc>
              <a:spcAft>
                <a:spcPts val="0"/>
              </a:spcAft>
            </a:pPr>
            <a:r>
              <a:rPr lang="en-US" altLang="zh-CN" sz="1400" b="1" kern="100" dirty="0">
                <a:latin typeface="Times New Roman" panose="02020603050405020304" pitchFamily="18" charset="0"/>
                <a:ea typeface="宋体" panose="02010600030101010101" pitchFamily="2" charset="-122"/>
              </a:rPr>
              <a:t>M7=X7-Y7	M8=X8+Y8		M9=X9+Y9</a:t>
            </a:r>
            <a:endParaRPr lang="zh-CN" altLang="zh-CN" sz="1400" b="1" kern="100" dirty="0">
              <a:latin typeface="Times New Roman" panose="02020603050405020304" pitchFamily="18" charset="0"/>
              <a:ea typeface="宋体" panose="02010600030101010101" pitchFamily="2" charset="-122"/>
            </a:endParaRPr>
          </a:p>
          <a:p>
            <a:pPr marL="1066800" indent="266700" algn="just">
              <a:lnSpc>
                <a:spcPts val="1800"/>
              </a:lnSpc>
              <a:spcAft>
                <a:spcPts val="0"/>
              </a:spcAft>
            </a:pPr>
            <a:r>
              <a:rPr lang="en-US" altLang="zh-CN" sz="1400" b="1" kern="100" dirty="0">
                <a:latin typeface="Times New Roman" panose="02020603050405020304" pitchFamily="18" charset="0"/>
                <a:ea typeface="宋体" panose="02010600030101010101" pitchFamily="2" charset="-122"/>
              </a:rPr>
              <a:t>M10=X10-Y10</a:t>
            </a:r>
            <a:endParaRPr lang="zh-CN" altLang="zh-CN" sz="1400" b="1" kern="100" dirty="0">
              <a:latin typeface="Times New Roman" panose="02020603050405020304" pitchFamily="18" charset="0"/>
              <a:ea typeface="宋体" panose="02010600030101010101" pitchFamily="2" charset="-122"/>
            </a:endParaRPr>
          </a:p>
        </p:txBody>
      </p:sp>
      <p:sp>
        <p:nvSpPr>
          <p:cNvPr id="8" name="矩形 7"/>
          <p:cNvSpPr/>
          <p:nvPr/>
        </p:nvSpPr>
        <p:spPr>
          <a:xfrm>
            <a:off x="473630" y="4637672"/>
            <a:ext cx="8185990" cy="1800493"/>
          </a:xfrm>
          <a:prstGeom prst="rect">
            <a:avLst/>
          </a:prstGeom>
        </p:spPr>
        <p:txBody>
          <a:bodyPr wrap="square">
            <a:spAutoFit/>
          </a:bodyPr>
          <a:lstStyle/>
          <a:p>
            <a:pPr indent="254000" algn="just">
              <a:spcAft>
                <a:spcPts val="0"/>
              </a:spcAft>
            </a:pPr>
            <a:r>
              <a:rPr lang="zh-CN" altLang="en-US" sz="16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设计思路：</a:t>
            </a:r>
            <a:endParaRPr lang="en-US" altLang="zh-CN" sz="16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这个问题可以用循环实现，而且循环次数确定为</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次。但每次循环的操作是进行加还是减，无规律可循。为此，可以为每一次操作设置一个特征位，即</a:t>
            </a:r>
            <a:r>
              <a:rPr lang="en-US" altLang="zh-CN" sz="16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6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表示加，</a:t>
            </a:r>
            <a:r>
              <a:rPr lang="en-US" altLang="zh-CN" sz="16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表示减</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，构成一个</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位的逻辑尺，存放于</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寄存器中。本例逻辑尺如下： </a:t>
            </a:r>
          </a:p>
          <a:p>
            <a:pPr algn="ctr">
              <a:lnSpc>
                <a:spcPts val="1800"/>
              </a:lnSpc>
              <a:spcAft>
                <a:spcPts val="0"/>
              </a:spcAft>
            </a:pPr>
            <a:r>
              <a:rPr lang="en-US" altLang="zh-CN" sz="1600"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0010111001000000</a:t>
            </a:r>
            <a:endParaRPr lang="zh-CN" altLang="zh-CN" sz="1600"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从左到右依次为数组元素</a:t>
            </a:r>
            <a:r>
              <a:rPr lang="en-US" altLang="zh-CN" sz="1600"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1~10</a:t>
            </a:r>
            <a:r>
              <a:rPr lang="zh-CN" altLang="zh-CN" sz="1600"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的特征位</a:t>
            </a: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。每次将逻辑尺左移</a:t>
            </a:r>
            <a:r>
              <a:rPr lang="en-US"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位，根据移入</a:t>
            </a:r>
            <a:r>
              <a:rPr lang="en-US"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CF</a:t>
            </a:r>
            <a:r>
              <a:rPr lang="zh-CN" altLang="zh-CN" sz="1600" b="1" kern="100" dirty="0">
                <a:latin typeface="Times New Roman" panose="02020603050405020304" pitchFamily="18" charset="0"/>
                <a:ea typeface="微软雅黑" panose="020B0503020204020204" pitchFamily="34" charset="-122"/>
                <a:cs typeface="Times New Roman" panose="02020603050405020304" pitchFamily="18" charset="0"/>
              </a:rPr>
              <a:t>的特征位，判断本次循环体所进行的操作。</a:t>
            </a:r>
            <a:endPar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8">
                                            <p:txEl>
                                              <p:pRg st="1" end="1"/>
                                            </p:txEl>
                                          </p:spTgt>
                                        </p:tgtEl>
                                        <p:attrNameLst>
                                          <p:attrName>style.visibility</p:attrName>
                                        </p:attrNameLst>
                                      </p:cBhvr>
                                      <p:to>
                                        <p:strVal val="visible"/>
                                      </p:to>
                                    </p:set>
                                    <p:animEffect transition="in" filter="fade">
                                      <p:cBhvr>
                                        <p:cTn id="30" dur="500"/>
                                        <p:tgtEl>
                                          <p:spTgt spid="8">
                                            <p:txEl>
                                              <p:pRg st="1" end="1"/>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8">
                                            <p:txEl>
                                              <p:pRg st="2" end="2"/>
                                            </p:txEl>
                                          </p:spTgt>
                                        </p:tgtEl>
                                        <p:attrNameLst>
                                          <p:attrName>style.visibility</p:attrName>
                                        </p:attrNameLst>
                                      </p:cBhvr>
                                      <p:to>
                                        <p:strVal val="visible"/>
                                      </p:to>
                                    </p:set>
                                    <p:animEffect transition="in" filter="fade">
                                      <p:cBhvr>
                                        <p:cTn id="33" dur="500"/>
                                        <p:tgtEl>
                                          <p:spTgt spid="8">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8">
                                            <p:txEl>
                                              <p:pRg st="3" end="3"/>
                                            </p:txEl>
                                          </p:spTgt>
                                        </p:tgtEl>
                                        <p:attrNameLst>
                                          <p:attrName>style.visibility</p:attrName>
                                        </p:attrNameLst>
                                      </p:cBhvr>
                                      <p:to>
                                        <p:strVal val="visible"/>
                                      </p:to>
                                    </p:set>
                                    <p:animEffect transition="in" filter="fade">
                                      <p:cBhvr>
                                        <p:cTn id="38"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pic>
        <p:nvPicPr>
          <p:cNvPr id="6146" name="图片 9" descr="4T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7350" y="1930876"/>
            <a:ext cx="3797300" cy="4378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4572000" y="2081718"/>
            <a:ext cx="4572000" cy="3785652"/>
          </a:xfrm>
          <a:prstGeom prst="rect">
            <a:avLst/>
          </a:prstGeom>
        </p:spPr>
        <p:txBody>
          <a:bodyPr>
            <a:spAutoFit/>
          </a:bodyPr>
          <a:lstStyle/>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程序片段如下</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p>
          <a:p>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	;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设数组下标指针</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CX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10	;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设循环计数器</a:t>
            </a:r>
          </a:p>
          <a:p>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AGAIN: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AX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SHL	DX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                  </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JC	</a:t>
            </a: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SUBB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若当前特征位为</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，则做减法</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否则做加法</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ADD	AX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JMP	NEXT</a:t>
            </a:r>
          </a:p>
          <a:p>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SUBB</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SUB	AX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NEXT: 	MOV	M</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AX;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送结果</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INC	BX</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INC	BX</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LOOP 	</a:t>
            </a:r>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AGAIN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5">
                                            <p:txEl>
                                              <p:pRg st="7" end="7"/>
                                            </p:txEl>
                                          </p:spTgt>
                                        </p:tgtEl>
                                        <p:attrNameLst>
                                          <p:attrName>style.visibility</p:attrName>
                                        </p:attrNameLst>
                                      </p:cBhvr>
                                      <p:to>
                                        <p:strVal val="visible"/>
                                      </p:to>
                                    </p:set>
                                    <p:animEffect transition="in" filter="fade">
                                      <p:cBhvr>
                                        <p:cTn id="30" dur="500"/>
                                        <p:tgtEl>
                                          <p:spTgt spid="5">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Effect transition="in" filter="fade">
                                      <p:cBhvr>
                                        <p:cTn id="33" dur="500"/>
                                        <p:tgtEl>
                                          <p:spTgt spid="5">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5">
                                            <p:txEl>
                                              <p:pRg st="9" end="9"/>
                                            </p:txEl>
                                          </p:spTgt>
                                        </p:tgtEl>
                                        <p:attrNameLst>
                                          <p:attrName>style.visibility</p:attrName>
                                        </p:attrNameLst>
                                      </p:cBhvr>
                                      <p:to>
                                        <p:strVal val="visible"/>
                                      </p:to>
                                    </p:set>
                                    <p:animEffect transition="in" filter="fade">
                                      <p:cBhvr>
                                        <p:cTn id="36" dur="500"/>
                                        <p:tgtEl>
                                          <p:spTgt spid="5">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animEffect transition="in" filter="fade">
                                      <p:cBhvr>
                                        <p:cTn id="39" dur="500"/>
                                        <p:tgtEl>
                                          <p:spTgt spid="5">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5">
                                            <p:txEl>
                                              <p:pRg st="11" end="11"/>
                                            </p:txEl>
                                          </p:spTgt>
                                        </p:tgtEl>
                                        <p:attrNameLst>
                                          <p:attrName>style.visibility</p:attrName>
                                        </p:attrNameLst>
                                      </p:cBhvr>
                                      <p:to>
                                        <p:strVal val="visible"/>
                                      </p:to>
                                    </p:set>
                                    <p:animEffect transition="in" filter="fade">
                                      <p:cBhvr>
                                        <p:cTn id="42" dur="500"/>
                                        <p:tgtEl>
                                          <p:spTgt spid="5">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5">
                                            <p:txEl>
                                              <p:pRg st="12" end="12"/>
                                            </p:txEl>
                                          </p:spTgt>
                                        </p:tgtEl>
                                        <p:attrNameLst>
                                          <p:attrName>style.visibility</p:attrName>
                                        </p:attrNameLst>
                                      </p:cBhvr>
                                      <p:to>
                                        <p:strVal val="visible"/>
                                      </p:to>
                                    </p:set>
                                    <p:animEffect transition="in" filter="fade">
                                      <p:cBhvr>
                                        <p:cTn id="45" dur="500"/>
                                        <p:tgtEl>
                                          <p:spTgt spid="5">
                                            <p:txEl>
                                              <p:pRg st="12" end="1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5">
                                            <p:txEl>
                                              <p:pRg st="13" end="13"/>
                                            </p:txEl>
                                          </p:spTgt>
                                        </p:tgtEl>
                                        <p:attrNameLst>
                                          <p:attrName>style.visibility</p:attrName>
                                        </p:attrNameLst>
                                      </p:cBhvr>
                                      <p:to>
                                        <p:strVal val="visible"/>
                                      </p:to>
                                    </p:set>
                                    <p:animEffect transition="in" filter="fade">
                                      <p:cBhvr>
                                        <p:cTn id="48" dur="500"/>
                                        <p:tgtEl>
                                          <p:spTgt spid="5">
                                            <p:txEl>
                                              <p:pRg st="13" end="13"/>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5">
                                            <p:txEl>
                                              <p:pRg st="14" end="14"/>
                                            </p:txEl>
                                          </p:spTgt>
                                        </p:tgtEl>
                                        <p:attrNameLst>
                                          <p:attrName>style.visibility</p:attrName>
                                        </p:attrNameLst>
                                      </p:cBhvr>
                                      <p:to>
                                        <p:strVal val="visible"/>
                                      </p:to>
                                    </p:set>
                                    <p:animEffect transition="in" filter="fade">
                                      <p:cBhvr>
                                        <p:cTn id="51"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12416"/>
          </a:xfrm>
        </p:spPr>
        <p:txBody>
          <a:bodyPr/>
          <a:lstStyle/>
          <a:p>
            <a:r>
              <a:rPr lang="en-US" altLang="zh-CN" b="1" dirty="0">
                <a:latin typeface="Times New Roman" panose="02020603050405020304" pitchFamily="18" charset="0"/>
                <a:cs typeface="Times New Roman" panose="02020603050405020304" pitchFamily="18" charset="0"/>
              </a:rPr>
              <a:t>4.7.4</a:t>
            </a:r>
            <a:r>
              <a:rPr lang="zh-CN" altLang="zh-CN" b="1" dirty="0">
                <a:latin typeface="Times New Roman" panose="02020603050405020304" pitchFamily="18" charset="0"/>
                <a:cs typeface="Times New Roman" panose="02020603050405020304" pitchFamily="18" charset="0"/>
              </a:rPr>
              <a:t>子程序设计</a:t>
            </a:r>
          </a:p>
          <a:p>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2915816" y="1749503"/>
            <a:ext cx="5770984" cy="369332"/>
          </a:xfrm>
          <a:prstGeom prst="rect">
            <a:avLst/>
          </a:prstGeom>
        </p:spPr>
        <p:txBody>
          <a:bodyPr wrap="square">
            <a:spAutoFit/>
          </a:bodyPr>
          <a:lstStyle/>
          <a:p>
            <a:r>
              <a:rPr lang="zh-CN" altLang="en-US"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子程序是具有一定的功能，能被多次调用的程序。</a:t>
            </a:r>
          </a:p>
        </p:txBody>
      </p:sp>
      <p:sp>
        <p:nvSpPr>
          <p:cNvPr id="6" name="Text Box 2"/>
          <p:cNvSpPr txBox="1">
            <a:spLocks noChangeArrowheads="1"/>
          </p:cNvSpPr>
          <p:nvPr/>
        </p:nvSpPr>
        <p:spPr bwMode="auto">
          <a:xfrm>
            <a:off x="448280" y="2412023"/>
            <a:ext cx="8424936" cy="356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spcAft>
                <a:spcPct val="50000"/>
              </a:spcAft>
            </a:pPr>
            <a:r>
              <a:rPr lang="zh-CN" altLang="en-US" sz="24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子程序设计中要解决的问题：</a:t>
            </a:r>
          </a:p>
          <a:p>
            <a:pPr>
              <a:spcBef>
                <a:spcPct val="10000"/>
              </a:spcBef>
              <a:spcAft>
                <a:spcPct val="10000"/>
              </a:spcAft>
            </a:pP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怎样正确</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编写</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定义</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a:spcBef>
                <a:spcPct val="10000"/>
              </a:spcBef>
              <a:spcAft>
                <a:spcPct val="10000"/>
              </a:spcAft>
            </a:pP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怎样正确</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调用</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a:spcBef>
                <a:spcPct val="10000"/>
              </a:spcBef>
              <a:spcAft>
                <a:spcPct val="10000"/>
              </a:spcAft>
            </a:pP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主程序与子程序之间怎样</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传递参数</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a:spcBef>
                <a:spcPct val="10000"/>
              </a:spcBef>
              <a:spcAft>
                <a:spcPct val="10000"/>
              </a:spcAft>
            </a:pP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主程序每次调用子程序时提供给子程序加工的数据往往是不同的。主程序怎样把这些数据传送给子程序，而子程序又如何把加工的结果交给主程序？</a:t>
            </a:r>
          </a:p>
          <a:p>
            <a:pPr>
              <a:spcBef>
                <a:spcPct val="10000"/>
              </a:spcBef>
              <a:spcAft>
                <a:spcPct val="10000"/>
              </a:spcAft>
            </a:pP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当主程序与子程序使用相同的寄存器时，应如何处理</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保护</a:t>
            </a:r>
            <a:r>
              <a:rPr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恢复</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a:spcBef>
                <a:spcPct val="10000"/>
              </a:spcBef>
              <a:spcAft>
                <a:spcPct val="10000"/>
              </a:spcAft>
            </a:pP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子程序执行完之后，怎样才能返回到主程序的断点处</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继续往下执行</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randombar(horizontal)">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randombar(horizontal)">
                                      <p:cBhvr>
                                        <p:cTn id="32" dur="500"/>
                                        <p:tgtEl>
                                          <p:spTgt spid="6">
                                            <p:txEl>
                                              <p:pRg st="3" end="3"/>
                                            </p:txEl>
                                          </p:spTgt>
                                        </p:tgtEl>
                                      </p:cBhvr>
                                    </p:animEffect>
                                  </p:childTnLst>
                                </p:cTn>
                              </p:par>
                              <p:par>
                                <p:cTn id="33" presetID="14" presetClass="entr" presetSubtype="10" fill="hold" nodeType="with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randombar(horizontal)">
                                      <p:cBhvr>
                                        <p:cTn id="35" dur="500"/>
                                        <p:tgtEl>
                                          <p:spTgt spid="6">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randombar(horizontal)">
                                      <p:cBhvr>
                                        <p:cTn id="40" dur="500"/>
                                        <p:tgtEl>
                                          <p:spTgt spid="6">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nodeType="clickEffect">
                                  <p:stCondLst>
                                    <p:cond delay="0"/>
                                  </p:stCondLst>
                                  <p:childTnLst>
                                    <p:set>
                                      <p:cBhvr>
                                        <p:cTn id="44" dur="1" fill="hold">
                                          <p:stCondLst>
                                            <p:cond delay="0"/>
                                          </p:stCondLst>
                                        </p:cTn>
                                        <p:tgtEl>
                                          <p:spTgt spid="6">
                                            <p:txEl>
                                              <p:pRg st="6" end="6"/>
                                            </p:txEl>
                                          </p:spTgt>
                                        </p:tgtEl>
                                        <p:attrNameLst>
                                          <p:attrName>style.visibility</p:attrName>
                                        </p:attrNameLst>
                                      </p:cBhvr>
                                      <p:to>
                                        <p:strVal val="visible"/>
                                      </p:to>
                                    </p:set>
                                    <p:animEffect transition="in" filter="randombar(horizontal)">
                                      <p:cBhvr>
                                        <p:cTn id="45"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灯片编号占位符 1"/>
          <p:cNvSpPr txBox="1"/>
          <p:nvPr/>
        </p:nvSpPr>
        <p:spPr bwMode="auto">
          <a:xfrm>
            <a:off x="3032919" y="7467389"/>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defPPr>
              <a:defRPr lang="zh-CN"/>
            </a:defPPr>
            <a:lvl1pPr algn="ctr" rtl="0" fontAlgn="base">
              <a:spcBef>
                <a:spcPct val="0"/>
              </a:spcBef>
              <a:spcAft>
                <a:spcPct val="0"/>
              </a:spcAft>
              <a:defRPr sz="1400" b="0" kern="1200">
                <a:solidFill>
                  <a:schemeClr val="tx1"/>
                </a:solidFill>
                <a:latin typeface="+mj-lt"/>
                <a:ea typeface="宋体" panose="02010600030101010101" pitchFamily="2" charset="-122"/>
                <a:cs typeface="+mn-cs"/>
              </a:defRPr>
            </a:lvl1pPr>
            <a:lvl2pPr marL="457200" algn="ctr" rtl="0" fontAlgn="base">
              <a:spcBef>
                <a:spcPct val="0"/>
              </a:spcBef>
              <a:spcAft>
                <a:spcPct val="0"/>
              </a:spcAft>
              <a:defRPr b="1" kern="1200">
                <a:solidFill>
                  <a:schemeClr val="tx1"/>
                </a:solidFill>
                <a:latin typeface="Arial Narrow" panose="020B0606020202030204" pitchFamily="34" charset="0"/>
                <a:ea typeface="宋体" panose="02010600030101010101" pitchFamily="2" charset="-122"/>
                <a:cs typeface="+mn-cs"/>
              </a:defRPr>
            </a:lvl2pPr>
            <a:lvl3pPr marL="914400" algn="ctr" rtl="0" fontAlgn="base">
              <a:spcBef>
                <a:spcPct val="0"/>
              </a:spcBef>
              <a:spcAft>
                <a:spcPct val="0"/>
              </a:spcAft>
              <a:defRPr b="1" kern="1200">
                <a:solidFill>
                  <a:schemeClr val="tx1"/>
                </a:solidFill>
                <a:latin typeface="Arial Narrow" panose="020B0606020202030204" pitchFamily="34" charset="0"/>
                <a:ea typeface="宋体" panose="02010600030101010101" pitchFamily="2" charset="-122"/>
                <a:cs typeface="+mn-cs"/>
              </a:defRPr>
            </a:lvl3pPr>
            <a:lvl4pPr marL="1371600" algn="ctr" rtl="0" fontAlgn="base">
              <a:spcBef>
                <a:spcPct val="0"/>
              </a:spcBef>
              <a:spcAft>
                <a:spcPct val="0"/>
              </a:spcAft>
              <a:defRPr b="1" kern="1200">
                <a:solidFill>
                  <a:schemeClr val="tx1"/>
                </a:solidFill>
                <a:latin typeface="Arial Narrow" panose="020B0606020202030204" pitchFamily="34" charset="0"/>
                <a:ea typeface="宋体" panose="02010600030101010101" pitchFamily="2" charset="-122"/>
                <a:cs typeface="+mn-cs"/>
              </a:defRPr>
            </a:lvl4pPr>
            <a:lvl5pPr marL="1828800" algn="ctr" rtl="0" fontAlgn="base">
              <a:spcBef>
                <a:spcPct val="0"/>
              </a:spcBef>
              <a:spcAft>
                <a:spcPct val="0"/>
              </a:spcAft>
              <a:defRPr b="1" kern="1200">
                <a:solidFill>
                  <a:schemeClr val="tx1"/>
                </a:solidFill>
                <a:latin typeface="Arial Narrow" panose="020B060602020203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Narrow" panose="020B060602020203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Narrow" panose="020B060602020203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Narrow" panose="020B060602020203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Narrow" panose="020B0606020202030204" pitchFamily="34" charset="0"/>
                <a:ea typeface="宋体" panose="02010600030101010101" pitchFamily="2" charset="-122"/>
                <a:cs typeface="+mn-cs"/>
              </a:defRPr>
            </a:lvl9pPr>
          </a:lstStyle>
          <a:p>
            <a:fld id="{BC05B774-5E3F-41B8-A7EC-5B301408F13A}" type="slidenum">
              <a:rPr lang="zh-CN" altLang="zh-CN" sz="1100" smtClean="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77</a:t>
            </a:fld>
            <a:endParaRPr lang="zh-CN" altLang="zh-CN" sz="110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Box 2"/>
          <p:cNvSpPr txBox="1">
            <a:spLocks noChangeArrowheads="1"/>
          </p:cNvSpPr>
          <p:nvPr/>
        </p:nvSpPr>
        <p:spPr bwMode="auto">
          <a:xfrm>
            <a:off x="475393" y="2472267"/>
            <a:ext cx="763287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①定义:    过程名  </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PROC</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[NEAR/FAR]</a:t>
            </a:r>
          </a:p>
          <a:p>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    </a:t>
            </a:r>
          </a:p>
          <a:p>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RET</a:t>
            </a:r>
          </a:p>
          <a:p>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过程名  </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ENDP</a:t>
            </a:r>
            <a:endPar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②调用:                 </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CALL</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  过程名</a:t>
            </a:r>
          </a:p>
          <a:p>
            <a:pPr>
              <a:buClr>
                <a:srgbClr val="FF3300"/>
              </a:buClr>
              <a:buSzPct val="100000"/>
              <a:buFont typeface="Wingdings" panose="05000000000000000000" pitchFamily="2" charset="2"/>
              <a:buChar char="Ø"/>
            </a:pP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子程序名也具有</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段属性</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偏移地址</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属性和</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类型属性</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(FAR</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NEAR(</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缺省</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a:buClr>
                <a:srgbClr val="FF3300"/>
              </a:buClr>
              <a:buSzPct val="100000"/>
              <a:buFont typeface="Wingdings" panose="05000000000000000000" pitchFamily="2" charset="2"/>
              <a:buChar char="Ø"/>
            </a:pPr>
            <a:r>
              <a:rPr lang="en-US" altLang="zh-CN" sz="2000"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NEAR</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类型为</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段内调用</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，即主子程序在同一个代码段内，</a:t>
            </a:r>
            <a:r>
              <a:rPr lang="en-US" altLang="zh-CN" sz="2000" b="1" dirty="0">
                <a:solidFill>
                  <a:srgbClr val="990099"/>
                </a:solidFill>
                <a:latin typeface="Times New Roman" panose="02020603050405020304" pitchFamily="18" charset="0"/>
                <a:ea typeface="微软雅黑" panose="020B0503020204020204" pitchFamily="34" charset="-122"/>
                <a:cs typeface="Times New Roman" panose="02020603050405020304" pitchFamily="18" charset="0"/>
              </a:rPr>
              <a:t>NEAR</a:t>
            </a:r>
            <a:r>
              <a:rPr lang="zh-CN" altLang="en-US" sz="2000" b="1" dirty="0">
                <a:solidFill>
                  <a:srgbClr val="990099"/>
                </a:solidFill>
                <a:latin typeface="Times New Roman" panose="02020603050405020304" pitchFamily="18" charset="0"/>
                <a:ea typeface="微软雅黑" panose="020B0503020204020204" pitchFamily="34" charset="-122"/>
                <a:cs typeface="Times New Roman" panose="02020603050405020304" pitchFamily="18" charset="0"/>
              </a:rPr>
              <a:t>可省略</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a:p>
            <a:pPr>
              <a:buClr>
                <a:srgbClr val="FF3300"/>
              </a:buClr>
              <a:buSzPct val="100000"/>
              <a:buFont typeface="Wingdings" panose="05000000000000000000" pitchFamily="2" charset="2"/>
              <a:buChar char="Ø"/>
            </a:pPr>
            <a:r>
              <a:rPr lang="en-US" altLang="zh-CN" sz="2000"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FAR</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类型为</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段间调用</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，被另外代码段调用的过程要定义为</a:t>
            </a:r>
            <a:r>
              <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FAR</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过程</a:t>
            </a:r>
            <a:endParaRPr lang="en-US" altLang="zh-CN"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Text Box 3"/>
          <p:cNvSpPr txBox="1">
            <a:spLocks noChangeArrowheads="1"/>
          </p:cNvSpPr>
          <p:nvPr/>
        </p:nvSpPr>
        <p:spPr bwMode="auto">
          <a:xfrm>
            <a:off x="448280" y="1726046"/>
            <a:ext cx="496728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800" b="1"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800" b="1" dirty="0">
                <a:solidFill>
                  <a:srgbClr val="660066"/>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zh-CN" altLang="en-US" sz="28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定义与调用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3" end="3"/>
                                            </p:txEl>
                                          </p:spTgt>
                                        </p:tgtEl>
                                        <p:attrNameLst>
                                          <p:attrName>style.visibility</p:attrName>
                                        </p:attrNameLst>
                                      </p:cBhvr>
                                      <p:to>
                                        <p:strVal val="visible"/>
                                      </p:to>
                                    </p:set>
                                    <p:animEffect transition="in" filter="fade">
                                      <p:cBhvr>
                                        <p:cTn id="21" dur="500"/>
                                        <p:tgtEl>
                                          <p:spTgt spid="6">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fade">
                                      <p:cBhvr>
                                        <p:cTn id="26" dur="500"/>
                                        <p:tgtEl>
                                          <p:spTgt spid="6">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Effect transition="in" filter="fade">
                                      <p:cBhvr>
                                        <p:cTn id="31" dur="500"/>
                                        <p:tgtEl>
                                          <p:spTgt spid="6">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6" end="6"/>
                                            </p:txEl>
                                          </p:spTgt>
                                        </p:tgtEl>
                                        <p:attrNameLst>
                                          <p:attrName>style.visibility</p:attrName>
                                        </p:attrNameLst>
                                      </p:cBhvr>
                                      <p:to>
                                        <p:strVal val="visible"/>
                                      </p:to>
                                    </p:set>
                                    <p:animEffect transition="in" filter="fade">
                                      <p:cBhvr>
                                        <p:cTn id="34" dur="500"/>
                                        <p:tgtEl>
                                          <p:spTgt spid="6">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animEffect transition="in" filter="fade">
                                      <p:cBhvr>
                                        <p:cTn id="37"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Text Box 2"/>
          <p:cNvSpPr txBox="1">
            <a:spLocks noChangeArrowheads="1"/>
          </p:cNvSpPr>
          <p:nvPr/>
        </p:nvSpPr>
        <p:spPr bwMode="auto">
          <a:xfrm>
            <a:off x="561860" y="2093382"/>
            <a:ext cx="8316912" cy="4215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09600" indent="-609600" algn="l">
              <a:defRPr sz="2400">
                <a:solidFill>
                  <a:schemeClr val="tx1"/>
                </a:solidFill>
                <a:latin typeface="Times New Roman" panose="02020603050405020304" pitchFamily="18" charset="0"/>
                <a:ea typeface="宋体" panose="02010600030101010101" pitchFamily="2" charset="-122"/>
              </a:defRPr>
            </a:lvl1pPr>
            <a:lvl2pPr marL="1066800" indent="-609600" algn="l">
              <a:defRPr sz="2400">
                <a:solidFill>
                  <a:schemeClr val="tx1"/>
                </a:solidFill>
                <a:latin typeface="Times New Roman" panose="02020603050405020304" pitchFamily="18" charset="0"/>
                <a:ea typeface="宋体" panose="02010600030101010101" pitchFamily="2" charset="-122"/>
              </a:defRPr>
            </a:lvl2pPr>
            <a:lvl3pPr marL="1524000" indent="-609600" algn="l">
              <a:defRPr sz="2400">
                <a:solidFill>
                  <a:schemeClr val="tx1"/>
                </a:solidFill>
                <a:latin typeface="Times New Roman" panose="02020603050405020304" pitchFamily="18" charset="0"/>
                <a:ea typeface="宋体" panose="02010600030101010101" pitchFamily="2" charset="-122"/>
              </a:defRPr>
            </a:lvl3pPr>
            <a:lvl4pPr marL="1981200" indent="-609600" algn="l">
              <a:defRPr sz="2400">
                <a:solidFill>
                  <a:schemeClr val="tx1"/>
                </a:solidFill>
                <a:latin typeface="Times New Roman" panose="02020603050405020304" pitchFamily="18" charset="0"/>
                <a:ea typeface="宋体" panose="02010600030101010101" pitchFamily="2" charset="-122"/>
              </a:defRPr>
            </a:lvl4pPr>
            <a:lvl5pPr marL="2438400" indent="-609600" algn="l">
              <a:defRPr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609600" marR="0" lvl="0" indent="-609600" algn="l" defTabSz="914400" eaLnBrk="1" fontAlgn="auto" latinLnBrk="0" hangingPunct="1">
              <a:lnSpc>
                <a:spcPct val="100000"/>
              </a:lnSpc>
              <a:spcBef>
                <a:spcPts val="0"/>
              </a:spcBef>
              <a:spcAft>
                <a:spcPts val="0"/>
              </a:spcAft>
              <a:buClrTx/>
              <a:buSzTx/>
              <a:buFontTx/>
              <a:buNone/>
              <a:defRPr/>
            </a:pPr>
            <a:r>
              <a:rPr kumimoji="0" lang="zh-CN" altLang="en-US" b="1" i="0" u="none" strike="noStrike" kern="0" cap="none" spc="0" normalizeH="0" baseline="0" noProof="0" dirty="0">
                <a:ln>
                  <a:noFill/>
                </a:ln>
                <a:solidFill>
                  <a:srgbClr val="660066"/>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①</a:t>
            </a:r>
            <a:r>
              <a:rPr kumimoji="0" lang="zh-CN" altLang="en-US" b="1" i="0" u="none" strike="noStrike" kern="0" cap="none" spc="0" normalizeH="0" baseline="0" noProof="0" dirty="0">
                <a:ln>
                  <a:noFill/>
                </a:ln>
                <a:solidFill>
                  <a:srgbClr val="660066"/>
                </a:solidFill>
                <a:effectLst/>
                <a:uLnTx/>
                <a:uFillTx/>
                <a:ea typeface="微软雅黑" panose="020B0503020204020204" pitchFamily="34" charset="-122"/>
                <a:cs typeface="Times New Roman" panose="02020603050405020304" pitchFamily="18" charset="0"/>
              </a:rPr>
              <a:t>段内直接调用（重点）</a:t>
            </a:r>
            <a:endParaRPr kumimoji="0" lang="zh-CN" altLang="en-US"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a:p>
            <a:pPr marL="609600" marR="0" lvl="0" indent="-60960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r>
              <a:rPr kumimoji="0" lang="zh-CN" altLang="en-US"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格式：</a:t>
            </a:r>
            <a:r>
              <a:rPr kumimoji="0" lang="en-US" altLang="zh-CN" b="1" i="0" u="none" strike="noStrike" kern="0" cap="none" spc="0" normalizeH="0" baseline="0" noProof="0" dirty="0">
                <a:ln>
                  <a:noFill/>
                </a:ln>
                <a:solidFill>
                  <a:srgbClr val="FF0000"/>
                </a:solidFill>
                <a:effectLst/>
                <a:uLnTx/>
                <a:uFillTx/>
                <a:ea typeface="微软雅黑" panose="020B0503020204020204" pitchFamily="34" charset="-122"/>
                <a:cs typeface="Times New Roman" panose="02020603050405020304" pitchFamily="18" charset="0"/>
              </a:rPr>
              <a:t>CALL </a:t>
            </a:r>
            <a:r>
              <a:rPr kumimoji="0" lang="zh-CN" altLang="en-US" b="1" i="0" u="none" strike="noStrike" kern="0" cap="none" spc="0" normalizeH="0" baseline="0" noProof="0" dirty="0">
                <a:ln>
                  <a:noFill/>
                </a:ln>
                <a:solidFill>
                  <a:srgbClr val="FF0000"/>
                </a:solidFill>
                <a:effectLst/>
                <a:uLnTx/>
                <a:uFillTx/>
                <a:ea typeface="微软雅黑" panose="020B0503020204020204" pitchFamily="34" charset="-122"/>
                <a:cs typeface="Times New Roman" panose="02020603050405020304" pitchFamily="18" charset="0"/>
              </a:rPr>
              <a:t>子程序名</a:t>
            </a:r>
          </a:p>
          <a:p>
            <a:pPr marL="609600" marR="0" lvl="0" indent="-609600" algn="l"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功能：① </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返回地址：跟在</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CALL</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后的</a:t>
            </a:r>
            <a:r>
              <a:rPr kumimoji="0" lang="zh-CN" altLang="en-US" sz="2000" b="1" i="0" u="none" strike="noStrike" kern="0" cap="none" spc="0" normalizeH="0" baseline="0" noProof="0" dirty="0">
                <a:ln>
                  <a:noFill/>
                </a:ln>
                <a:solidFill>
                  <a:srgbClr val="0D36E3"/>
                </a:solidFill>
                <a:effectLst/>
                <a:uLnTx/>
                <a:uFillTx/>
                <a:ea typeface="微软雅黑" panose="020B0503020204020204" pitchFamily="34" charset="-122"/>
                <a:cs typeface="Times New Roman" panose="02020603050405020304" pitchFamily="18" charset="0"/>
              </a:rPr>
              <a:t>下一条指令</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断点的</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EA) → ↓(SP)</a:t>
            </a: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② </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目的地址</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子程序名</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)EA→IP</a:t>
            </a:r>
          </a:p>
          <a:p>
            <a:pPr marL="609600" marR="0" lvl="0" indent="-609600" algn="l" defTabSz="914400" eaLnBrk="1" fontAlgn="auto" latinLnBrk="0" hangingPunct="1">
              <a:lnSpc>
                <a:spcPct val="100000"/>
              </a:lnSpc>
              <a:spcBef>
                <a:spcPts val="0"/>
              </a:spcBef>
              <a:spcAft>
                <a:spcPts val="0"/>
              </a:spcAft>
              <a:buClrTx/>
              <a:buSzTx/>
              <a:buFontTx/>
              <a:buNone/>
              <a:defRPr/>
            </a:pPr>
            <a:endPar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CS</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1010H</a:t>
            </a:r>
            <a:r>
              <a:rPr kumimoji="0" lang="en-US" altLang="zh-CN" sz="2000" b="1" i="0" u="none" strike="noStrike" kern="0" cap="none" spc="0" normalizeH="0" baseline="0" noProof="0" dirty="0">
                <a:ln>
                  <a:noFill/>
                </a:ln>
                <a:solidFill>
                  <a:srgbClr val="40458C"/>
                </a:solidFill>
                <a:effectLst/>
                <a:uLnTx/>
                <a:uFillTx/>
                <a:ea typeface="微软雅黑" panose="020B0503020204020204" pitchFamily="34" charset="-122"/>
                <a:cs typeface="Times New Roman" panose="02020603050405020304" pitchFamily="18" charset="0"/>
              </a:rPr>
              <a:t>  </a:t>
            </a:r>
            <a:r>
              <a:rPr kumimoji="0" lang="en-US" altLang="zh-CN" sz="2000" b="1" i="0" u="none" strike="noStrike" kern="0" cap="none" spc="0" normalizeH="0" baseline="0" noProof="0" dirty="0">
                <a:ln>
                  <a:noFill/>
                </a:ln>
                <a:solidFill>
                  <a:srgbClr val="FF3300"/>
                </a:solidFill>
                <a:effectLst/>
                <a:uLnTx/>
                <a:uFillTx/>
                <a:ea typeface="微软雅黑" panose="020B0503020204020204" pitchFamily="34" charset="-122"/>
                <a:cs typeface="Times New Roman" panose="02020603050405020304" pitchFamily="18" charset="0"/>
              </a:rPr>
              <a:t>CALL </a:t>
            </a:r>
            <a:r>
              <a:rPr kumimoji="0" lang="zh-CN" altLang="en-US" sz="2000" b="1" i="0" u="none" strike="noStrike" kern="0" cap="none" spc="0" normalizeH="0" baseline="0" noProof="0" dirty="0">
                <a:ln>
                  <a:noFill/>
                </a:ln>
                <a:solidFill>
                  <a:srgbClr val="FF3300"/>
                </a:solidFill>
                <a:effectLst/>
                <a:uLnTx/>
                <a:uFillTx/>
                <a:ea typeface="微软雅黑" panose="020B0503020204020204" pitchFamily="34" charset="-122"/>
                <a:cs typeface="Times New Roman" panose="02020603050405020304" pitchFamily="18" charset="0"/>
              </a:rPr>
              <a:t>OUTPUT</a:t>
            </a: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CS</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1013H  </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endPar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endPar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CS</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1138H  </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OUTPUT</a:t>
            </a: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PROC NEAR</a:t>
            </a: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r>
              <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p>
          <a:p>
            <a:pPr marL="609600" marR="0" lvl="0" indent="-609600" algn="l" defTabSz="914400" eaLnBrk="1" fontAlgn="auto" latinLnBrk="0" hangingPunct="1">
              <a:lnSpc>
                <a:spcPct val="100000"/>
              </a:lnSpc>
              <a:spcBef>
                <a:spcPts val="0"/>
              </a:spcBef>
              <a:spcAft>
                <a:spcPts val="0"/>
              </a:spcAft>
              <a:buClrTx/>
              <a:buSzTx/>
              <a:buFontTx/>
              <a:buNone/>
              <a:defRPr/>
            </a:pPr>
            <a:endPar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a:p>
            <a:pPr marL="609600" marR="0" lvl="0" indent="-609600" algn="l" defTabSz="914400" eaLnBrk="1" fontAlgn="auto" latinLnBrk="0" hangingPunct="1">
              <a:lnSpc>
                <a:spcPct val="100000"/>
              </a:lnSpc>
              <a:spcBef>
                <a:spcPts val="0"/>
              </a:spcBef>
              <a:spcAft>
                <a:spcPts val="0"/>
              </a:spcAft>
              <a:buClrTx/>
              <a:buSzTx/>
              <a:buFontTx/>
              <a:buNone/>
              <a:defRPr/>
            </a:pPr>
            <a:r>
              <a:rPr kumimoji="0" lang="en-US" altLang="zh-CN"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RET</a:t>
            </a:r>
          </a:p>
          <a:p>
            <a:pPr marL="609600" marR="0" lvl="0" indent="-609600" algn="l" defTabSz="914400" eaLnBrk="1" fontAlgn="auto" latinLnBrk="0" hangingPunct="1">
              <a:lnSpc>
                <a:spcPct val="100000"/>
              </a:lnSpc>
              <a:spcBef>
                <a:spcPts val="0"/>
              </a:spcBef>
              <a:spcAft>
                <a:spcPts val="0"/>
              </a:spcAft>
              <a:buClrTx/>
              <a:buSzTx/>
              <a:buFontTx/>
              <a:buNone/>
              <a:defRPr/>
            </a:pPr>
            <a:r>
              <a:rPr kumimoji="0" lang="zh-CN" altLang="en-US" sz="2000" b="0"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                    </a:t>
            </a:r>
            <a:r>
              <a:rPr kumimoji="0" lang="zh-CN" altLang="en-US"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rPr>
              <a:t>OUTPUT  ENDP</a:t>
            </a:r>
            <a:endParaRPr kumimoji="0" lang="en-US" altLang="zh-CN" sz="2000" b="1" i="0" u="none" strike="noStrike" kern="0" cap="none" spc="0" normalizeH="0" baseline="0" noProof="0" dirty="0">
              <a:ln>
                <a:noFill/>
              </a:ln>
              <a:solidFill>
                <a:srgbClr val="000066"/>
              </a:solidFill>
              <a:effectLst/>
              <a:uLnTx/>
              <a:uFillTx/>
              <a:ea typeface="微软雅黑" panose="020B0503020204020204" pitchFamily="34" charset="-122"/>
              <a:cs typeface="Times New Roman" panose="02020603050405020304" pitchFamily="18" charset="0"/>
            </a:endParaRPr>
          </a:p>
        </p:txBody>
      </p:sp>
      <p:grpSp>
        <p:nvGrpSpPr>
          <p:cNvPr id="6" name="Group 3"/>
          <p:cNvGrpSpPr/>
          <p:nvPr/>
        </p:nvGrpSpPr>
        <p:grpSpPr bwMode="auto">
          <a:xfrm>
            <a:off x="4067726" y="3423597"/>
            <a:ext cx="4341813" cy="2660650"/>
            <a:chOff x="150" y="0"/>
            <a:chExt cx="2735" cy="1676"/>
          </a:xfrm>
        </p:grpSpPr>
        <p:sp>
          <p:nvSpPr>
            <p:cNvPr id="7" name="Text Box 4"/>
            <p:cNvSpPr txBox="1">
              <a:spLocks noChangeArrowheads="1"/>
            </p:cNvSpPr>
            <p:nvPr/>
          </p:nvSpPr>
          <p:spPr bwMode="auto">
            <a:xfrm>
              <a:off x="693" y="1262"/>
              <a:ext cx="2192" cy="414"/>
            </a:xfrm>
            <a:prstGeom prst="rect">
              <a:avLst/>
            </a:prstGeom>
            <a:noFill/>
            <a:ln w="19050" cmpd="sng">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CALL       </a:t>
              </a: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1138H</a:t>
              </a:r>
            </a:p>
            <a:p>
              <a:pPr algn="just"/>
              <a:r>
                <a:rPr lang="zh-CN" altLang="en-US"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1013H</a:t>
              </a:r>
              <a:r>
                <a:rPr lang="zh-CN" altLang="en-US"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进栈，</a:t>
              </a:r>
              <a:r>
                <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1138H→IP</a:t>
              </a:r>
            </a:p>
          </p:txBody>
        </p:sp>
        <p:sp>
          <p:nvSpPr>
            <p:cNvPr id="8" name="Line 5"/>
            <p:cNvSpPr>
              <a:spLocks noChangeShapeType="1"/>
            </p:cNvSpPr>
            <p:nvPr/>
          </p:nvSpPr>
          <p:spPr bwMode="auto">
            <a:xfrm>
              <a:off x="150" y="366"/>
              <a:ext cx="970" cy="876"/>
            </a:xfrm>
            <a:prstGeom prst="line">
              <a:avLst/>
            </a:prstGeom>
            <a:noFill/>
            <a:ln w="19050" cmpd="sng">
              <a:solidFill>
                <a:srgbClr val="FF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endParaRPr lang="zh-CN" altLang="en-US" sz="1400" b="1">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Group 6"/>
            <p:cNvGrpSpPr/>
            <p:nvPr/>
          </p:nvGrpSpPr>
          <p:grpSpPr bwMode="auto">
            <a:xfrm>
              <a:off x="1135" y="0"/>
              <a:ext cx="1498" cy="1102"/>
              <a:chOff x="0" y="0"/>
              <a:chExt cx="2796" cy="1857"/>
            </a:xfrm>
          </p:grpSpPr>
          <p:sp>
            <p:nvSpPr>
              <p:cNvPr id="10" name="Text Box 7"/>
              <p:cNvSpPr txBox="1">
                <a:spLocks noChangeArrowheads="1"/>
              </p:cNvSpPr>
              <p:nvPr/>
            </p:nvSpPr>
            <p:spPr bwMode="auto">
              <a:xfrm>
                <a:off x="782" y="369"/>
                <a:ext cx="2010" cy="1488"/>
              </a:xfrm>
              <a:prstGeom prst="rect">
                <a:avLst/>
              </a:prstGeom>
              <a:solidFill>
                <a:srgbClr val="FFFFFF"/>
              </a:solidFill>
              <a:ln w="9525" cmpd="sng">
                <a:solidFill>
                  <a:srgbClr val="000000"/>
                </a:solidFill>
                <a:miter lim="800000"/>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28000"/>
                  </a:lnSpc>
                </a:pPr>
                <a:r>
                  <a:rPr lang="zh-CN" altLang="en-US"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下一条指令（</a:t>
                </a:r>
                <a:r>
                  <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1013H</a:t>
                </a:r>
              </a:p>
              <a:p>
                <a:pPr algn="ctr">
                  <a:lnSpc>
                    <a:spcPct val="128000"/>
                  </a:lnSpc>
                </a:pPr>
                <a:endPar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endParaRPr>
              </a:p>
              <a:p>
                <a:pPr algn="just"/>
                <a:r>
                  <a:rPr lang="en-US" altLang="zh-CN" sz="16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1" name="Line 8"/>
              <p:cNvSpPr>
                <a:spLocks noChangeShapeType="1"/>
              </p:cNvSpPr>
              <p:nvPr/>
            </p:nvSpPr>
            <p:spPr bwMode="auto">
              <a:xfrm>
                <a:off x="800" y="1206"/>
                <a:ext cx="1996" cy="0"/>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endParaRPr lang="zh-CN" altLang="en-US" sz="1400" b="1">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Text Box 9"/>
              <p:cNvSpPr txBox="1">
                <a:spLocks noChangeArrowheads="1"/>
              </p:cNvSpPr>
              <p:nvPr/>
            </p:nvSpPr>
            <p:spPr bwMode="auto">
              <a:xfrm>
                <a:off x="0" y="366"/>
                <a:ext cx="760" cy="4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8000" tIns="10800" rIns="18000" bIns="10800"/>
              <a:lstStyle/>
              <a:p>
                <a:pPr algn="ctr">
                  <a:lnSpc>
                    <a:spcPct val="144000"/>
                  </a:lnSpc>
                </a:pPr>
                <a:r>
                  <a:rPr lang="en-US" altLang="zh-CN" sz="1600" b="1">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SP→</a:t>
                </a:r>
              </a:p>
            </p:txBody>
          </p:sp>
          <p:sp>
            <p:nvSpPr>
              <p:cNvPr id="13" name="Line 10"/>
              <p:cNvSpPr>
                <a:spLocks noChangeShapeType="1"/>
              </p:cNvSpPr>
              <p:nvPr/>
            </p:nvSpPr>
            <p:spPr bwMode="auto">
              <a:xfrm>
                <a:off x="788" y="0"/>
                <a:ext cx="0" cy="379"/>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endParaRPr lang="zh-CN" altLang="en-US" sz="1400" b="1">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Line 11"/>
              <p:cNvSpPr>
                <a:spLocks noChangeShapeType="1"/>
              </p:cNvSpPr>
              <p:nvPr/>
            </p:nvSpPr>
            <p:spPr bwMode="auto">
              <a:xfrm>
                <a:off x="2788" y="13"/>
                <a:ext cx="0" cy="379"/>
              </a:xfrm>
              <a:prstGeom prst="line">
                <a:avLst/>
              </a:prstGeom>
              <a:noFill/>
              <a:ln w="9525" cmpd="sng">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endParaRPr lang="zh-CN" altLang="en-US" sz="1400" b="1">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sp>
        <p:nvSpPr>
          <p:cNvPr id="15" name="Rectangle 12"/>
          <p:cNvSpPr txBox="1">
            <a:spLocks noChangeArrowheads="1"/>
          </p:cNvSpPr>
          <p:nvPr/>
        </p:nvSpPr>
        <p:spPr bwMode="auto">
          <a:xfrm>
            <a:off x="589513" y="1223675"/>
            <a:ext cx="7777163"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fontAlgn="base">
              <a:spcBef>
                <a:spcPct val="0"/>
              </a:spcBef>
              <a:spcAft>
                <a:spcPct val="0"/>
              </a:spcAft>
              <a:defRPr sz="3600" b="1" kern="1200">
                <a:solidFill>
                  <a:srgbClr val="660066"/>
                </a:solidFill>
                <a:latin typeface="+mj-lt"/>
                <a:ea typeface="+mj-ea"/>
                <a:cs typeface="+mj-cs"/>
              </a:defRPr>
            </a:lvl1pPr>
            <a:lvl2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2pPr>
            <a:lvl3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3pPr>
            <a:lvl4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4pPr>
            <a:lvl5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5pPr>
            <a:lvl6pPr marL="4572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6pPr>
            <a:lvl7pPr marL="9144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7pPr>
            <a:lvl8pPr marL="13716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8pPr>
            <a:lvl9pPr marL="18288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9pPr>
          </a:lstStyle>
          <a:p>
            <a:pPr marL="0" marR="0" lvl="0" indent="0" defTabSz="914400" rtl="0" eaLnBrk="1" fontAlgn="base" latinLnBrk="0" hangingPunct="1">
              <a:lnSpc>
                <a:spcPct val="100000"/>
              </a:lnSpc>
              <a:spcBef>
                <a:spcPct val="0"/>
              </a:spcBef>
              <a:spcAft>
                <a:spcPct val="0"/>
              </a:spcAft>
              <a:buClrTx/>
              <a:buSzTx/>
              <a:buFontTx/>
              <a:buNone/>
              <a:defRPr/>
            </a:pPr>
            <a:r>
              <a:rPr kumimoji="0" lang="en-US" altLang="zh-CN" sz="2800" b="1" i="0" u="none" strike="noStrike" kern="1200" cap="none" spc="0" normalizeH="0" baseline="0" noProof="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zh-CN" sz="2800" b="1" i="0" u="none" strike="noStrike" kern="1200" cap="none" spc="0" normalizeH="0" baseline="0" noProof="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子程序的调用与返回</a:t>
            </a:r>
            <a:endParaRPr kumimoji="0" lang="zh-CN" altLang="zh-CN" sz="2800" b="1" i="0" u="none" strike="noStrike" kern="1200" cap="none" spc="0" normalizeH="0" baseline="0" noProof="0" dirty="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500"/>
                                        <p:tgtEl>
                                          <p:spTgt spid="5">
                                            <p:txEl>
                                              <p:p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Effect transition="in" filter="fade">
                                      <p:cBhvr>
                                        <p:cTn id="23" dur="500"/>
                                        <p:tgtEl>
                                          <p:spTgt spid="5">
                                            <p:txEl>
                                              <p:pRg st="2" end="2"/>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animEffect transition="in" filter="fade">
                                      <p:cBhvr>
                                        <p:cTn id="26" dur="500"/>
                                        <p:tgtEl>
                                          <p:spTgt spid="5">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500"/>
                                        <p:tgtEl>
                                          <p:spTgt spid="5">
                                            <p:txEl>
                                              <p:pRg st="5" end="5"/>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
                                            <p:txEl>
                                              <p:pRg st="6" end="6"/>
                                            </p:txEl>
                                          </p:spTgt>
                                        </p:tgtEl>
                                        <p:attrNameLst>
                                          <p:attrName>style.visibility</p:attrName>
                                        </p:attrNameLst>
                                      </p:cBhvr>
                                      <p:to>
                                        <p:strVal val="visible"/>
                                      </p:to>
                                    </p:set>
                                    <p:animEffect transition="in" filter="fade">
                                      <p:cBhvr>
                                        <p:cTn id="34" dur="500"/>
                                        <p:tgtEl>
                                          <p:spTgt spid="5">
                                            <p:txEl>
                                              <p:pRg st="6" end="6"/>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Effect transition="in" filter="fade">
                                      <p:cBhvr>
                                        <p:cTn id="37" dur="500"/>
                                        <p:tgtEl>
                                          <p:spTgt spid="5">
                                            <p:txEl>
                                              <p:pRg st="7" end="7"/>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5">
                                            <p:txEl>
                                              <p:pRg st="8" end="8"/>
                                            </p:txEl>
                                          </p:spTgt>
                                        </p:tgtEl>
                                        <p:attrNameLst>
                                          <p:attrName>style.visibility</p:attrName>
                                        </p:attrNameLst>
                                      </p:cBhvr>
                                      <p:to>
                                        <p:strVal val="visible"/>
                                      </p:to>
                                    </p:set>
                                    <p:animEffect transition="in" filter="fade">
                                      <p:cBhvr>
                                        <p:cTn id="40" dur="500"/>
                                        <p:tgtEl>
                                          <p:spTgt spid="5">
                                            <p:txEl>
                                              <p:pRg st="8" end="8"/>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animEffect transition="in" filter="fade">
                                      <p:cBhvr>
                                        <p:cTn id="43" dur="500"/>
                                        <p:tgtEl>
                                          <p:spTgt spid="5">
                                            <p:txEl>
                                              <p:pRg st="9" end="9"/>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1" end="11"/>
                                            </p:txEl>
                                          </p:spTgt>
                                        </p:tgtEl>
                                        <p:attrNameLst>
                                          <p:attrName>style.visibility</p:attrName>
                                        </p:attrNameLst>
                                      </p:cBhvr>
                                      <p:to>
                                        <p:strVal val="visible"/>
                                      </p:to>
                                    </p:set>
                                    <p:animEffect transition="in" filter="fade">
                                      <p:cBhvr>
                                        <p:cTn id="46" dur="500"/>
                                        <p:tgtEl>
                                          <p:spTgt spid="5">
                                            <p:txEl>
                                              <p:pRg st="11" end="11"/>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5">
                                            <p:txEl>
                                              <p:pRg st="12" end="12"/>
                                            </p:txEl>
                                          </p:spTgt>
                                        </p:tgtEl>
                                        <p:attrNameLst>
                                          <p:attrName>style.visibility</p:attrName>
                                        </p:attrNameLst>
                                      </p:cBhvr>
                                      <p:to>
                                        <p:strVal val="visible"/>
                                      </p:to>
                                    </p:set>
                                    <p:animEffect transition="in" filter="fade">
                                      <p:cBhvr>
                                        <p:cTn id="49"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Text Box 2"/>
          <p:cNvSpPr txBox="1">
            <a:spLocks noChangeArrowheads="1"/>
          </p:cNvSpPr>
          <p:nvPr/>
        </p:nvSpPr>
        <p:spPr bwMode="auto">
          <a:xfrm>
            <a:off x="395575" y="1904282"/>
            <a:ext cx="8588216" cy="4599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09600" indent="-609600" algn="l">
              <a:defRPr sz="2400">
                <a:solidFill>
                  <a:schemeClr val="tx1"/>
                </a:solidFill>
                <a:latin typeface="Times New Roman" panose="02020603050405020304" pitchFamily="18" charset="0"/>
                <a:ea typeface="宋体" panose="02010600030101010101" pitchFamily="2" charset="-122"/>
              </a:defRPr>
            </a:lvl1pPr>
            <a:lvl2pPr marL="1066800" indent="-609600" algn="l">
              <a:defRPr sz="2400">
                <a:solidFill>
                  <a:schemeClr val="tx1"/>
                </a:solidFill>
                <a:latin typeface="Times New Roman" panose="02020603050405020304" pitchFamily="18" charset="0"/>
                <a:ea typeface="宋体" panose="02010600030101010101" pitchFamily="2" charset="-122"/>
              </a:defRPr>
            </a:lvl2pPr>
            <a:lvl3pPr marL="1524000" indent="-609600" algn="l">
              <a:defRPr sz="2400">
                <a:solidFill>
                  <a:schemeClr val="tx1"/>
                </a:solidFill>
                <a:latin typeface="Times New Roman" panose="02020603050405020304" pitchFamily="18" charset="0"/>
                <a:ea typeface="宋体" panose="02010600030101010101" pitchFamily="2" charset="-122"/>
              </a:defRPr>
            </a:lvl3pPr>
            <a:lvl4pPr marL="1981200" indent="-609600" algn="l">
              <a:defRPr sz="2400">
                <a:solidFill>
                  <a:schemeClr val="tx1"/>
                </a:solidFill>
                <a:latin typeface="Times New Roman" panose="02020603050405020304" pitchFamily="18" charset="0"/>
                <a:ea typeface="宋体" panose="02010600030101010101" pitchFamily="2" charset="-122"/>
              </a:defRPr>
            </a:lvl4pPr>
            <a:lvl5pPr marL="2438400" indent="-609600" algn="l">
              <a:defRPr sz="2400">
                <a:solidFill>
                  <a:schemeClr val="tx1"/>
                </a:solidFill>
                <a:latin typeface="Times New Roman" panose="02020603050405020304" pitchFamily="18" charset="0"/>
                <a:ea typeface="宋体" panose="02010600030101010101" pitchFamily="2" charset="-122"/>
              </a:defRPr>
            </a:lvl5pPr>
            <a:lvl6pPr marL="28956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33528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8100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4267200" indent="-609600" fontAlgn="base">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r>
              <a:rPr lang="zh-CN" altLang="en-US" b="1" dirty="0">
                <a:solidFill>
                  <a:srgbClr val="000066"/>
                </a:solidFill>
                <a:ea typeface="微软雅黑" panose="020B0503020204020204" pitchFamily="34" charset="-122"/>
                <a:cs typeface="Times New Roman" panose="02020603050405020304" pitchFamily="18" charset="0"/>
              </a:rPr>
              <a:t>格式：</a:t>
            </a:r>
            <a:r>
              <a:rPr lang="en-US" altLang="zh-CN" b="1" dirty="0">
                <a:solidFill>
                  <a:srgbClr val="0D36E3"/>
                </a:solidFill>
                <a:ea typeface="微软雅黑" panose="020B0503020204020204" pitchFamily="34" charset="-122"/>
                <a:cs typeface="Times New Roman" panose="02020603050405020304" pitchFamily="18" charset="0"/>
              </a:rPr>
              <a:t>RET/RET n</a:t>
            </a:r>
          </a:p>
          <a:p>
            <a:r>
              <a:rPr lang="zh-CN" altLang="en-US" sz="2000" b="1" dirty="0">
                <a:solidFill>
                  <a:srgbClr val="000066"/>
                </a:solidFill>
                <a:ea typeface="微软雅黑" panose="020B0503020204020204" pitchFamily="34" charset="-122"/>
                <a:cs typeface="Times New Roman" panose="02020603050405020304" pitchFamily="18" charset="0"/>
              </a:rPr>
              <a:t>功能：</a:t>
            </a:r>
            <a:r>
              <a:rPr lang="en-US" altLang="zh-CN" sz="2000" b="1" dirty="0">
                <a:solidFill>
                  <a:srgbClr val="000066"/>
                </a:solidFill>
                <a:ea typeface="微软雅黑" panose="020B0503020204020204" pitchFamily="34" charset="-122"/>
                <a:cs typeface="Times New Roman" panose="02020603050405020304" pitchFamily="18" charset="0"/>
              </a:rPr>
              <a:t>a. </a:t>
            </a:r>
            <a:r>
              <a:rPr lang="zh-CN" altLang="en-US" sz="2000" b="1" dirty="0">
                <a:solidFill>
                  <a:srgbClr val="000066"/>
                </a:solidFill>
                <a:ea typeface="微软雅黑" panose="020B0503020204020204" pitchFamily="34" charset="-122"/>
                <a:cs typeface="Times New Roman" panose="02020603050405020304" pitchFamily="18" charset="0"/>
              </a:rPr>
              <a:t>段内返回  ↑</a:t>
            </a:r>
            <a:r>
              <a:rPr lang="en-US" altLang="zh-CN" sz="2000" b="1" dirty="0">
                <a:solidFill>
                  <a:srgbClr val="000066"/>
                </a:solidFill>
                <a:ea typeface="微软雅黑" panose="020B0503020204020204" pitchFamily="34" charset="-122"/>
                <a:cs typeface="Times New Roman" panose="02020603050405020304" pitchFamily="18" charset="0"/>
              </a:rPr>
              <a:t>(SP)→IP</a:t>
            </a:r>
          </a:p>
          <a:p>
            <a:r>
              <a:rPr lang="en-US" altLang="zh-CN" sz="2000" b="1" dirty="0">
                <a:solidFill>
                  <a:srgbClr val="000066"/>
                </a:solidFill>
                <a:ea typeface="微软雅黑" panose="020B0503020204020204" pitchFamily="34" charset="-122"/>
                <a:cs typeface="Times New Roman" panose="02020603050405020304" pitchFamily="18" charset="0"/>
              </a:rPr>
              <a:t>            b. </a:t>
            </a:r>
            <a:r>
              <a:rPr lang="zh-CN" altLang="en-US" sz="2000" b="1" dirty="0">
                <a:solidFill>
                  <a:srgbClr val="000066"/>
                </a:solidFill>
                <a:ea typeface="微软雅黑" panose="020B0503020204020204" pitchFamily="34" charset="-122"/>
                <a:cs typeface="Times New Roman" panose="02020603050405020304" pitchFamily="18" charset="0"/>
              </a:rPr>
              <a:t>段间返回  ↑</a:t>
            </a:r>
            <a:r>
              <a:rPr lang="en-US" altLang="zh-CN" sz="2000" b="1" dirty="0">
                <a:solidFill>
                  <a:srgbClr val="000066"/>
                </a:solidFill>
                <a:ea typeface="微软雅黑" panose="020B0503020204020204" pitchFamily="34" charset="-122"/>
                <a:cs typeface="Times New Roman" panose="02020603050405020304" pitchFamily="18" charset="0"/>
              </a:rPr>
              <a:t>(SP)→IP</a:t>
            </a:r>
            <a:r>
              <a:rPr lang="zh-CN" altLang="en-US" sz="2000" b="1" dirty="0">
                <a:solidFill>
                  <a:srgbClr val="000066"/>
                </a:solidFill>
                <a:ea typeface="微软雅黑" panose="020B0503020204020204" pitchFamily="34" charset="-122"/>
                <a:cs typeface="Times New Roman" panose="02020603050405020304" pitchFamily="18" charset="0"/>
              </a:rPr>
              <a:t>，↑</a:t>
            </a:r>
            <a:r>
              <a:rPr lang="en-US" altLang="zh-CN" sz="2000" b="1" dirty="0">
                <a:solidFill>
                  <a:srgbClr val="000066"/>
                </a:solidFill>
                <a:ea typeface="微软雅黑" panose="020B0503020204020204" pitchFamily="34" charset="-122"/>
                <a:cs typeface="Times New Roman" panose="02020603050405020304" pitchFamily="18" charset="0"/>
              </a:rPr>
              <a:t>(SP)→CS</a:t>
            </a:r>
          </a:p>
          <a:p>
            <a:r>
              <a:rPr lang="zh-CN" altLang="en-US" sz="2000" b="1" dirty="0">
                <a:solidFill>
                  <a:srgbClr val="000066"/>
                </a:solidFill>
                <a:ea typeface="微软雅黑" panose="020B0503020204020204" pitchFamily="34" charset="-122"/>
                <a:cs typeface="Times New Roman" panose="02020603050405020304" pitchFamily="18" charset="0"/>
              </a:rPr>
              <a:t>为了能正确返回主程序，在执行子程序过程中，不管是否使用过堆栈，</a:t>
            </a:r>
            <a:endParaRPr lang="en-US" altLang="zh-CN" sz="2000" b="1" dirty="0">
              <a:solidFill>
                <a:srgbClr val="000066"/>
              </a:solidFill>
              <a:ea typeface="微软雅黑" panose="020B0503020204020204" pitchFamily="34" charset="-122"/>
              <a:cs typeface="Times New Roman" panose="02020603050405020304" pitchFamily="18" charset="0"/>
            </a:endParaRPr>
          </a:p>
          <a:p>
            <a:r>
              <a:rPr lang="zh-CN" altLang="en-US" sz="2000" b="1" dirty="0">
                <a:solidFill>
                  <a:srgbClr val="FF3300"/>
                </a:solidFill>
                <a:ea typeface="微软雅黑" panose="020B0503020204020204" pitchFamily="34" charset="-122"/>
                <a:cs typeface="Times New Roman" panose="02020603050405020304" pitchFamily="18" charset="0"/>
              </a:rPr>
              <a:t>必须保证进入子程序时的栈顶与执行</a:t>
            </a:r>
            <a:r>
              <a:rPr lang="en-US" altLang="zh-CN" sz="2000" b="1" dirty="0">
                <a:solidFill>
                  <a:srgbClr val="FF3300"/>
                </a:solidFill>
                <a:ea typeface="微软雅黑" panose="020B0503020204020204" pitchFamily="34" charset="-122"/>
                <a:cs typeface="Times New Roman" panose="02020603050405020304" pitchFamily="18" charset="0"/>
              </a:rPr>
              <a:t>RET</a:t>
            </a:r>
            <a:r>
              <a:rPr lang="zh-CN" altLang="en-US" sz="2000" b="1" dirty="0">
                <a:solidFill>
                  <a:srgbClr val="FF3300"/>
                </a:solidFill>
                <a:ea typeface="微软雅黑" panose="020B0503020204020204" pitchFamily="34" charset="-122"/>
                <a:cs typeface="Times New Roman" panose="02020603050405020304" pitchFamily="18" charset="0"/>
              </a:rPr>
              <a:t>时的栈顶一样</a:t>
            </a:r>
            <a:r>
              <a:rPr lang="zh-CN" altLang="en-US" sz="2000" b="1" dirty="0">
                <a:solidFill>
                  <a:srgbClr val="000066"/>
                </a:solidFill>
                <a:ea typeface="微软雅黑" panose="020B0503020204020204" pitchFamily="34" charset="-122"/>
                <a:cs typeface="Times New Roman" panose="02020603050405020304" pitchFamily="18" charset="0"/>
              </a:rPr>
              <a:t>，否则不能正确返回。</a:t>
            </a:r>
          </a:p>
          <a:p>
            <a:endParaRPr lang="zh-CN" altLang="en-US" sz="900" b="1" dirty="0">
              <a:solidFill>
                <a:srgbClr val="000066"/>
              </a:solidFill>
              <a:ea typeface="微软雅黑" panose="020B0503020204020204" pitchFamily="34" charset="-122"/>
              <a:cs typeface="Times New Roman" panose="02020603050405020304" pitchFamily="18" charset="0"/>
            </a:endParaRPr>
          </a:p>
          <a:p>
            <a:r>
              <a:rPr lang="zh-CN" altLang="en-US" sz="2000" b="1" dirty="0">
                <a:solidFill>
                  <a:srgbClr val="000066"/>
                </a:solidFill>
                <a:ea typeface="微软雅黑" panose="020B0503020204020204" pitchFamily="34" charset="-122"/>
                <a:cs typeface="Times New Roman" panose="02020603050405020304" pitchFamily="18" charset="0"/>
              </a:rPr>
              <a:t>注意：</a:t>
            </a:r>
          </a:p>
          <a:p>
            <a:pPr>
              <a:buFont typeface="Wingdings" panose="05000000000000000000" pitchFamily="2" charset="2"/>
              <a:buChar char="Ø"/>
            </a:pPr>
            <a:r>
              <a:rPr lang="en-US" altLang="zh-CN" sz="2000" b="1" dirty="0">
                <a:solidFill>
                  <a:srgbClr val="000066"/>
                </a:solidFill>
                <a:ea typeface="微软雅黑" panose="020B0503020204020204" pitchFamily="34" charset="-122"/>
                <a:cs typeface="Times New Roman" panose="02020603050405020304" pitchFamily="18" charset="0"/>
              </a:rPr>
              <a:t>CALL</a:t>
            </a:r>
            <a:r>
              <a:rPr lang="zh-CN" altLang="en-US" sz="2000" b="1" dirty="0">
                <a:solidFill>
                  <a:srgbClr val="000066"/>
                </a:solidFill>
                <a:ea typeface="微软雅黑" panose="020B0503020204020204" pitchFamily="34" charset="-122"/>
                <a:cs typeface="Times New Roman" panose="02020603050405020304" pitchFamily="18" charset="0"/>
              </a:rPr>
              <a:t>和</a:t>
            </a:r>
            <a:r>
              <a:rPr lang="en-US" altLang="zh-CN" sz="2000" b="1" dirty="0">
                <a:solidFill>
                  <a:srgbClr val="000066"/>
                </a:solidFill>
                <a:ea typeface="微软雅黑" panose="020B0503020204020204" pitchFamily="34" charset="-122"/>
                <a:cs typeface="Times New Roman" panose="02020603050405020304" pitchFamily="18" charset="0"/>
              </a:rPr>
              <a:t>RET</a:t>
            </a:r>
            <a:r>
              <a:rPr lang="zh-CN" altLang="en-US" sz="2000" b="1" dirty="0">
                <a:solidFill>
                  <a:srgbClr val="000066"/>
                </a:solidFill>
                <a:ea typeface="微软雅黑" panose="020B0503020204020204" pitchFamily="34" charset="-122"/>
                <a:cs typeface="Times New Roman" panose="02020603050405020304" pitchFamily="18" charset="0"/>
              </a:rPr>
              <a:t>不影响</a:t>
            </a:r>
            <a:r>
              <a:rPr lang="zh-CN" altLang="en-US" sz="2000" b="1" dirty="0">
                <a:solidFill>
                  <a:srgbClr val="FF3300"/>
                </a:solidFill>
                <a:ea typeface="微软雅黑" panose="020B0503020204020204" pitchFamily="34" charset="-122"/>
                <a:cs typeface="Times New Roman" panose="02020603050405020304" pitchFamily="18" charset="0"/>
              </a:rPr>
              <a:t>标志位</a:t>
            </a:r>
            <a:r>
              <a:rPr lang="zh-CN" altLang="en-US" sz="2000" b="1" dirty="0">
                <a:solidFill>
                  <a:srgbClr val="000066"/>
                </a:solidFill>
                <a:ea typeface="微软雅黑" panose="020B0503020204020204" pitchFamily="34" charset="-122"/>
                <a:cs typeface="Times New Roman" panose="02020603050405020304" pitchFamily="18" charset="0"/>
              </a:rPr>
              <a:t>；</a:t>
            </a:r>
          </a:p>
          <a:p>
            <a:pPr>
              <a:buFont typeface="Wingdings" panose="05000000000000000000" pitchFamily="2" charset="2"/>
              <a:buChar char="Ø"/>
            </a:pPr>
            <a:r>
              <a:rPr lang="zh-CN" altLang="en-US" sz="2000" b="1" dirty="0">
                <a:solidFill>
                  <a:srgbClr val="000066"/>
                </a:solidFill>
                <a:ea typeface="微软雅黑" panose="020B0503020204020204" pitchFamily="34" charset="-122"/>
                <a:cs typeface="Times New Roman" panose="02020603050405020304" pitchFamily="18" charset="0"/>
              </a:rPr>
              <a:t>是段内返回还是段间返回要看子程序定义伪指令</a:t>
            </a:r>
            <a:r>
              <a:rPr lang="en-US" altLang="zh-CN" sz="2000" b="1" dirty="0">
                <a:solidFill>
                  <a:srgbClr val="000066"/>
                </a:solidFill>
                <a:ea typeface="微软雅黑" panose="020B0503020204020204" pitchFamily="34" charset="-122"/>
                <a:cs typeface="Times New Roman" panose="02020603050405020304" pitchFamily="18" charset="0"/>
              </a:rPr>
              <a:t>PROC</a:t>
            </a:r>
            <a:r>
              <a:rPr lang="zh-CN" altLang="en-US" sz="2000" b="1" dirty="0">
                <a:solidFill>
                  <a:srgbClr val="000066"/>
                </a:solidFill>
                <a:ea typeface="微软雅黑" panose="020B0503020204020204" pitchFamily="34" charset="-122"/>
                <a:cs typeface="Times New Roman" panose="02020603050405020304" pitchFamily="18" charset="0"/>
              </a:rPr>
              <a:t>后面的</a:t>
            </a:r>
            <a:r>
              <a:rPr lang="zh-CN" altLang="en-US" sz="2000" b="1" dirty="0">
                <a:solidFill>
                  <a:srgbClr val="FF3300"/>
                </a:solidFill>
                <a:ea typeface="微软雅黑" panose="020B0503020204020204" pitchFamily="34" charset="-122"/>
                <a:cs typeface="Times New Roman" panose="02020603050405020304" pitchFamily="18" charset="0"/>
                <a:sym typeface="+mn-ea"/>
              </a:rPr>
              <a:t>类型属性</a:t>
            </a:r>
            <a:r>
              <a:rPr lang="zh-CN" altLang="en-US" sz="2000" b="1" dirty="0">
                <a:solidFill>
                  <a:srgbClr val="000066"/>
                </a:solidFill>
                <a:ea typeface="微软雅黑" panose="020B0503020204020204" pitchFamily="34" charset="-122"/>
                <a:cs typeface="Times New Roman" panose="02020603050405020304" pitchFamily="18" charset="0"/>
              </a:rPr>
              <a:t>；</a:t>
            </a:r>
          </a:p>
          <a:p>
            <a:pPr>
              <a:buFont typeface="Wingdings" panose="05000000000000000000" pitchFamily="2" charset="2"/>
              <a:buChar char="Ø"/>
            </a:pPr>
            <a:r>
              <a:rPr lang="zh-CN" altLang="en-US" sz="2000" b="1" dirty="0">
                <a:solidFill>
                  <a:srgbClr val="000066"/>
                </a:solidFill>
                <a:ea typeface="微软雅黑" panose="020B0503020204020204" pitchFamily="34" charset="-122"/>
                <a:cs typeface="Times New Roman" panose="02020603050405020304" pitchFamily="18" charset="0"/>
              </a:rPr>
              <a:t>对于</a:t>
            </a:r>
            <a:r>
              <a:rPr lang="en-US" altLang="zh-CN" sz="2000" b="1" dirty="0">
                <a:solidFill>
                  <a:srgbClr val="000066"/>
                </a:solidFill>
                <a:ea typeface="微软雅黑" panose="020B0503020204020204" pitchFamily="34" charset="-122"/>
                <a:cs typeface="Times New Roman" panose="02020603050405020304" pitchFamily="18" charset="0"/>
              </a:rPr>
              <a:t>RET n </a:t>
            </a:r>
            <a:r>
              <a:rPr lang="zh-CN" altLang="en-US" sz="2000" b="1" dirty="0">
                <a:solidFill>
                  <a:srgbClr val="000066"/>
                </a:solidFill>
                <a:ea typeface="微软雅黑" panose="020B0503020204020204" pitchFamily="34" charset="-122"/>
                <a:cs typeface="Times New Roman" panose="02020603050405020304" pitchFamily="18" charset="0"/>
              </a:rPr>
              <a:t>表示返回时，</a:t>
            </a:r>
            <a:r>
              <a:rPr lang="zh-CN" altLang="en-US" sz="2000" b="1" dirty="0">
                <a:solidFill>
                  <a:srgbClr val="FF3300"/>
                </a:solidFill>
                <a:ea typeface="微软雅黑" panose="020B0503020204020204" pitchFamily="34" charset="-122"/>
                <a:cs typeface="Times New Roman" panose="02020603050405020304" pitchFamily="18" charset="0"/>
              </a:rPr>
              <a:t>清除堆栈中栈顶</a:t>
            </a:r>
            <a:r>
              <a:rPr lang="zh-CN" altLang="en-US" sz="2000" b="1" dirty="0">
                <a:solidFill>
                  <a:srgbClr val="000066"/>
                </a:solidFill>
                <a:ea typeface="微软雅黑" panose="020B0503020204020204" pitchFamily="34" charset="-122"/>
                <a:cs typeface="Times New Roman" panose="02020603050405020304" pitchFamily="18" charset="0"/>
              </a:rPr>
              <a:t>的</a:t>
            </a:r>
            <a:r>
              <a:rPr lang="en-US" altLang="zh-CN" sz="2000" b="1" dirty="0">
                <a:solidFill>
                  <a:srgbClr val="000066"/>
                </a:solidFill>
                <a:ea typeface="微软雅黑" panose="020B0503020204020204" pitchFamily="34" charset="-122"/>
                <a:cs typeface="Times New Roman" panose="02020603050405020304" pitchFamily="18" charset="0"/>
              </a:rPr>
              <a:t>n/2</a:t>
            </a:r>
            <a:r>
              <a:rPr lang="zh-CN" altLang="en-US" sz="2000" b="1" dirty="0">
                <a:solidFill>
                  <a:srgbClr val="000066"/>
                </a:solidFill>
                <a:ea typeface="微软雅黑" panose="020B0503020204020204" pitchFamily="34" charset="-122"/>
                <a:cs typeface="Times New Roman" panose="02020603050405020304" pitchFamily="18" charset="0"/>
              </a:rPr>
              <a:t>个无用参数</a:t>
            </a:r>
            <a:r>
              <a:rPr lang="en-US" altLang="zh-CN" sz="2000" b="1" dirty="0">
                <a:solidFill>
                  <a:srgbClr val="000066"/>
                </a:solidFill>
                <a:ea typeface="微软雅黑" panose="020B0503020204020204" pitchFamily="34" charset="-122"/>
                <a:cs typeface="Times New Roman" panose="02020603050405020304" pitchFamily="18" charset="0"/>
              </a:rPr>
              <a:t>(n</a:t>
            </a:r>
            <a:r>
              <a:rPr lang="zh-CN" altLang="en-US" sz="2000" b="1" dirty="0">
                <a:solidFill>
                  <a:srgbClr val="000066"/>
                </a:solidFill>
                <a:ea typeface="微软雅黑" panose="020B0503020204020204" pitchFamily="34" charset="-122"/>
                <a:cs typeface="Times New Roman" panose="02020603050405020304" pitchFamily="18" charset="0"/>
              </a:rPr>
              <a:t>为偶数</a:t>
            </a:r>
            <a:r>
              <a:rPr lang="en-US" altLang="zh-CN" sz="2000" b="1" dirty="0">
                <a:solidFill>
                  <a:srgbClr val="000066"/>
                </a:solidFill>
                <a:ea typeface="微软雅黑" panose="020B0503020204020204" pitchFamily="34" charset="-122"/>
                <a:cs typeface="Times New Roman" panose="02020603050405020304" pitchFamily="18" charset="0"/>
              </a:rPr>
              <a:t>)</a:t>
            </a:r>
            <a:r>
              <a:rPr lang="zh-CN" altLang="en-US" sz="2000" b="1" dirty="0">
                <a:solidFill>
                  <a:srgbClr val="000066"/>
                </a:solidFill>
                <a:ea typeface="微软雅黑" panose="020B0503020204020204" pitchFamily="34" charset="-122"/>
                <a:cs typeface="Times New Roman" panose="02020603050405020304" pitchFamily="18" charset="0"/>
              </a:rPr>
              <a:t>，在前述动作之后再作</a:t>
            </a:r>
            <a:r>
              <a:rPr lang="en-US" altLang="zh-CN" sz="2000" b="1" dirty="0">
                <a:solidFill>
                  <a:srgbClr val="000066"/>
                </a:solidFill>
                <a:ea typeface="微软雅黑" panose="020B0503020204020204" pitchFamily="34" charset="-122"/>
                <a:cs typeface="Times New Roman" panose="02020603050405020304" pitchFamily="18" charset="0"/>
              </a:rPr>
              <a:t>(SP)+n → SP</a:t>
            </a:r>
            <a:r>
              <a:rPr lang="zh-CN" altLang="en-US" sz="2000" b="1" dirty="0">
                <a:solidFill>
                  <a:srgbClr val="000066"/>
                </a:solidFill>
                <a:ea typeface="微软雅黑" panose="020B0503020204020204" pitchFamily="34" charset="-122"/>
                <a:cs typeface="Times New Roman" panose="02020603050405020304" pitchFamily="18" charset="0"/>
              </a:rPr>
              <a:t>，当使用</a:t>
            </a:r>
            <a:r>
              <a:rPr lang="zh-CN" altLang="en-US" sz="2000" b="1" dirty="0">
                <a:solidFill>
                  <a:srgbClr val="FF3300"/>
                </a:solidFill>
                <a:ea typeface="微软雅黑" panose="020B0503020204020204" pitchFamily="34" charset="-122"/>
                <a:cs typeface="Times New Roman" panose="02020603050405020304" pitchFamily="18" charset="0"/>
              </a:rPr>
              <a:t>堆栈传递子程序参数</a:t>
            </a:r>
            <a:r>
              <a:rPr lang="zh-CN" altLang="en-US" sz="2000" b="1" dirty="0">
                <a:solidFill>
                  <a:srgbClr val="000066"/>
                </a:solidFill>
                <a:ea typeface="微软雅黑" panose="020B0503020204020204" pitchFamily="34" charset="-122"/>
                <a:cs typeface="Times New Roman" panose="02020603050405020304" pitchFamily="18" charset="0"/>
              </a:rPr>
              <a:t>的时候经常使用。</a:t>
            </a:r>
            <a:endParaRPr lang="en-US" altLang="zh-CN" sz="2000" b="1" dirty="0">
              <a:solidFill>
                <a:srgbClr val="000066"/>
              </a:solidFill>
              <a:ea typeface="微软雅黑" panose="020B0503020204020204" pitchFamily="34" charset="-122"/>
              <a:cs typeface="Times New Roman" panose="02020603050405020304" pitchFamily="18" charset="0"/>
            </a:endParaRPr>
          </a:p>
          <a:p>
            <a:pPr>
              <a:buFont typeface="Wingdings" panose="05000000000000000000" pitchFamily="2" charset="2"/>
              <a:buChar char="Ø"/>
            </a:pPr>
            <a:r>
              <a:rPr lang="zh-CN" altLang="zh-CN" sz="2000" b="1" dirty="0">
                <a:solidFill>
                  <a:srgbClr val="000066"/>
                </a:solidFill>
                <a:ea typeface="微软雅黑" panose="020B0503020204020204" pitchFamily="34" charset="-122"/>
                <a:cs typeface="Times New Roman" panose="02020603050405020304" pitchFamily="18" charset="0"/>
              </a:rPr>
              <a:t>返回地址也称为</a:t>
            </a:r>
            <a:r>
              <a:rPr lang="zh-CN" altLang="zh-CN" sz="2000" b="1" dirty="0">
                <a:solidFill>
                  <a:srgbClr val="FF0000"/>
                </a:solidFill>
                <a:ea typeface="微软雅黑" panose="020B0503020204020204" pitchFamily="34" charset="-122"/>
                <a:cs typeface="Times New Roman" panose="02020603050405020304" pitchFamily="18" charset="0"/>
              </a:rPr>
              <a:t>断点</a:t>
            </a:r>
            <a:r>
              <a:rPr lang="zh-CN" altLang="zh-CN" sz="2000" b="1" dirty="0">
                <a:solidFill>
                  <a:srgbClr val="000066"/>
                </a:solidFill>
                <a:ea typeface="微软雅黑" panose="020B0503020204020204" pitchFamily="34" charset="-122"/>
                <a:cs typeface="Times New Roman" panose="02020603050405020304" pitchFamily="18" charset="0"/>
              </a:rPr>
              <a:t>，</a:t>
            </a:r>
            <a:r>
              <a:rPr lang="zh-CN" altLang="en-US" sz="2000" b="1" dirty="0">
                <a:solidFill>
                  <a:srgbClr val="000066"/>
                </a:solidFill>
                <a:ea typeface="微软雅黑" panose="020B0503020204020204" pitchFamily="34" charset="-122"/>
                <a:cs typeface="Times New Roman" panose="02020603050405020304" pitchFamily="18" charset="0"/>
              </a:rPr>
              <a:t>是</a:t>
            </a:r>
            <a:r>
              <a:rPr lang="en-US" altLang="zh-CN" sz="2000" b="1" dirty="0">
                <a:solidFill>
                  <a:srgbClr val="000066"/>
                </a:solidFill>
                <a:ea typeface="微软雅黑" panose="020B0503020204020204" pitchFamily="34" charset="-122"/>
                <a:cs typeface="Times New Roman" panose="02020603050405020304" pitchFamily="18" charset="0"/>
              </a:rPr>
              <a:t>CALL</a:t>
            </a:r>
            <a:r>
              <a:rPr lang="zh-CN" altLang="en-US" sz="2000" b="1" dirty="0">
                <a:solidFill>
                  <a:srgbClr val="000066"/>
                </a:solidFill>
                <a:ea typeface="微软雅黑" panose="020B0503020204020204" pitchFamily="34" charset="-122"/>
                <a:cs typeface="Times New Roman" panose="02020603050405020304" pitchFamily="18" charset="0"/>
              </a:rPr>
              <a:t>指令</a:t>
            </a:r>
            <a:r>
              <a:rPr lang="zh-CN" altLang="en-US" sz="2000" b="1" dirty="0">
                <a:solidFill>
                  <a:srgbClr val="FF0000"/>
                </a:solidFill>
                <a:ea typeface="微软雅黑" panose="020B0503020204020204" pitchFamily="34" charset="-122"/>
                <a:cs typeface="Times New Roman" panose="02020603050405020304" pitchFamily="18" charset="0"/>
              </a:rPr>
              <a:t>下一条指令的第一个字节地址</a:t>
            </a:r>
            <a:r>
              <a:rPr lang="zh-CN" altLang="en-US" sz="2000" b="1" dirty="0">
                <a:solidFill>
                  <a:srgbClr val="000066"/>
                </a:solidFill>
                <a:ea typeface="微软雅黑" panose="020B0503020204020204" pitchFamily="34" charset="-122"/>
                <a:cs typeface="Times New Roman" panose="02020603050405020304" pitchFamily="18" charset="0"/>
              </a:rPr>
              <a:t>（段内调用仅保存</a:t>
            </a:r>
            <a:r>
              <a:rPr lang="en-US" altLang="zh-CN" sz="2000" b="1" dirty="0">
                <a:solidFill>
                  <a:srgbClr val="FF0000"/>
                </a:solidFill>
                <a:ea typeface="微软雅黑" panose="020B0503020204020204" pitchFamily="34" charset="-122"/>
                <a:cs typeface="Times New Roman" panose="02020603050405020304" pitchFamily="18" charset="0"/>
              </a:rPr>
              <a:t>IP</a:t>
            </a:r>
            <a:r>
              <a:rPr lang="zh-CN" altLang="en-US" sz="2000" b="1" dirty="0">
                <a:solidFill>
                  <a:srgbClr val="000066"/>
                </a:solidFill>
                <a:ea typeface="微软雅黑" panose="020B0503020204020204" pitchFamily="34" charset="-122"/>
                <a:cs typeface="Times New Roman" panose="02020603050405020304" pitchFamily="18" charset="0"/>
              </a:rPr>
              <a:t>，段间调用保存</a:t>
            </a:r>
            <a:r>
              <a:rPr lang="en-US" altLang="zh-CN" sz="2000" b="1" dirty="0">
                <a:solidFill>
                  <a:srgbClr val="FF0000"/>
                </a:solidFill>
                <a:ea typeface="微软雅黑" panose="020B0503020204020204" pitchFamily="34" charset="-122"/>
                <a:cs typeface="Times New Roman" panose="02020603050405020304" pitchFamily="18" charset="0"/>
              </a:rPr>
              <a:t>CS</a:t>
            </a:r>
            <a:r>
              <a:rPr lang="zh-CN" altLang="en-US" sz="2000" b="1" dirty="0">
                <a:solidFill>
                  <a:srgbClr val="FF0000"/>
                </a:solidFill>
                <a:ea typeface="微软雅黑" panose="020B0503020204020204" pitchFamily="34" charset="-122"/>
                <a:cs typeface="Times New Roman" panose="02020603050405020304" pitchFamily="18" charset="0"/>
              </a:rPr>
              <a:t>和</a:t>
            </a:r>
            <a:r>
              <a:rPr lang="en-US" altLang="zh-CN" sz="2000" b="1" dirty="0">
                <a:solidFill>
                  <a:srgbClr val="FF0000"/>
                </a:solidFill>
                <a:ea typeface="微软雅黑" panose="020B0503020204020204" pitchFamily="34" charset="-122"/>
                <a:cs typeface="Times New Roman" panose="02020603050405020304" pitchFamily="18" charset="0"/>
              </a:rPr>
              <a:t>IP</a:t>
            </a:r>
            <a:r>
              <a:rPr lang="zh-CN" altLang="en-US" sz="2000" b="1" dirty="0">
                <a:solidFill>
                  <a:srgbClr val="000066"/>
                </a:solidFill>
                <a:ea typeface="微软雅黑" panose="020B0503020204020204" pitchFamily="34" charset="-122"/>
                <a:cs typeface="Times New Roman" panose="02020603050405020304" pitchFamily="18" charset="0"/>
              </a:rPr>
              <a:t>）。</a:t>
            </a:r>
            <a:endParaRPr lang="en-US" altLang="zh-CN" sz="2000" b="1" dirty="0">
              <a:solidFill>
                <a:srgbClr val="000066"/>
              </a:solidFill>
              <a:ea typeface="微软雅黑" panose="020B0503020204020204" pitchFamily="34" charset="-122"/>
              <a:cs typeface="Times New Roman" panose="02020603050405020304" pitchFamily="18" charset="0"/>
            </a:endParaRPr>
          </a:p>
        </p:txBody>
      </p:sp>
      <p:sp>
        <p:nvSpPr>
          <p:cNvPr id="6" name="Rectangle 3"/>
          <p:cNvSpPr txBox="1">
            <a:spLocks noChangeArrowheads="1"/>
          </p:cNvSpPr>
          <p:nvPr/>
        </p:nvSpPr>
        <p:spPr bwMode="auto">
          <a:xfrm>
            <a:off x="448073" y="1340801"/>
            <a:ext cx="7777163"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fontAlgn="base">
              <a:spcBef>
                <a:spcPct val="0"/>
              </a:spcBef>
              <a:spcAft>
                <a:spcPct val="0"/>
              </a:spcAft>
              <a:defRPr sz="3600" b="1" kern="1200">
                <a:solidFill>
                  <a:srgbClr val="660066"/>
                </a:solidFill>
                <a:latin typeface="+mj-lt"/>
                <a:ea typeface="+mj-ea"/>
                <a:cs typeface="+mj-cs"/>
              </a:defRPr>
            </a:lvl1pPr>
            <a:lvl2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2pPr>
            <a:lvl3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3pPr>
            <a:lvl4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4pPr>
            <a:lvl5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5pPr>
            <a:lvl6pPr marL="4572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6pPr>
            <a:lvl7pPr marL="9144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7pPr>
            <a:lvl8pPr marL="13716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8pPr>
            <a:lvl9pPr marL="18288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② </a:t>
            </a:r>
            <a:r>
              <a:rPr kumimoji="0" lang="zh-CN" altLang="en-US" sz="2400" b="1" i="0" u="none" strike="noStrike" kern="1200" cap="none" spc="0" normalizeH="0" baseline="0" noProof="0" dirty="0">
                <a:ln>
                  <a:noFill/>
                </a:ln>
                <a:solidFill>
                  <a:srgbClr val="660066"/>
                </a:solidFill>
                <a:effectLst/>
                <a:uLnTx/>
                <a:uFillTx/>
                <a:latin typeface="Times New Roman" panose="02020603050405020304" pitchFamily="18" charset="0"/>
                <a:ea typeface="黑体" panose="02010609060101010101" pitchFamily="49" charset="-122"/>
                <a:cs typeface="Times New Roman" panose="02020603050405020304" pitchFamily="18" charset="0"/>
              </a:rPr>
              <a:t>返回指令</a:t>
            </a:r>
            <a:r>
              <a:rPr kumimoji="0" lang="en-US" altLang="zh-CN" sz="2400" b="1" i="0" u="none" strike="noStrike" kern="1200" cap="none" spc="0" normalizeH="0" baseline="0" noProof="0" dirty="0">
                <a:ln>
                  <a:noFill/>
                </a:ln>
                <a:solidFill>
                  <a:srgbClr val="660066"/>
                </a:solidFill>
                <a:effectLst/>
                <a:uLnTx/>
                <a:uFillTx/>
                <a:latin typeface="Times New Roman" panose="02020603050405020304" pitchFamily="18" charset="0"/>
                <a:ea typeface="黑体" panose="02010609060101010101" pitchFamily="49" charset="-122"/>
                <a:cs typeface="Times New Roman" panose="02020603050405020304" pitchFamily="18" charset="0"/>
              </a:rPr>
              <a:t>RET</a:t>
            </a:r>
            <a:endParaRPr kumimoji="0" lang="zh-CN" altLang="en-US" sz="2400" b="1" i="0" u="none" strike="noStrike" kern="1200" cap="none" spc="0" normalizeH="0" baseline="0" noProof="0" dirty="0">
              <a:ln>
                <a:noFill/>
              </a:ln>
              <a:solidFill>
                <a:srgbClr val="660066"/>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500"/>
                                        <p:tgtEl>
                                          <p:spTgt spid="5">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fade">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638290"/>
          </a:xfrm>
        </p:spPr>
        <p:txBody>
          <a:bodyPr/>
          <a:lstStyle/>
          <a:p>
            <a:r>
              <a:rPr lang="en-US" altLang="zh-CN" b="1" dirty="0"/>
              <a:t>3.</a:t>
            </a:r>
            <a:r>
              <a:rPr lang="zh-CN" altLang="en-US" b="1" dirty="0"/>
              <a:t>编写子程序时的注意事项</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Text Box 2"/>
          <p:cNvSpPr txBox="1">
            <a:spLocks noChangeArrowheads="1"/>
          </p:cNvSpPr>
          <p:nvPr/>
        </p:nvSpPr>
        <p:spPr bwMode="auto">
          <a:xfrm>
            <a:off x="782518" y="2897754"/>
            <a:ext cx="7578963" cy="2277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buClr>
                <a:srgbClr val="FF3300"/>
              </a:buClr>
              <a:buSzPct val="100000"/>
              <a:buFont typeface="Wingdings" panose="05000000000000000000" pitchFamily="2" charset="2"/>
              <a:buChar char="Ø"/>
            </a:pPr>
            <a:r>
              <a:rPr lang="zh-CN" altLang="en-US" sz="2000" b="1" dirty="0">
                <a:solidFill>
                  <a:srgbClr val="000066"/>
                </a:solidFill>
                <a:latin typeface="微软雅黑" panose="020B0503020204020204" pitchFamily="34" charset="-122"/>
                <a:ea typeface="微软雅黑" panose="020B0503020204020204" pitchFamily="34" charset="-122"/>
              </a:rPr>
              <a:t>子程序通常</a:t>
            </a:r>
            <a:r>
              <a:rPr lang="zh-CN" altLang="en-US" sz="2000" b="1" dirty="0">
                <a:solidFill>
                  <a:srgbClr val="FF3300"/>
                </a:solidFill>
                <a:latin typeface="微软雅黑" panose="020B0503020204020204" pitchFamily="34" charset="-122"/>
                <a:ea typeface="微软雅黑" panose="020B0503020204020204" pitchFamily="34" charset="-122"/>
              </a:rPr>
              <a:t>由子程序说明部分与代码部分所组成</a:t>
            </a:r>
            <a:r>
              <a:rPr lang="zh-CN" altLang="en-US" sz="2000" b="1" dirty="0">
                <a:solidFill>
                  <a:srgbClr val="000066"/>
                </a:solidFill>
                <a:latin typeface="微软雅黑" panose="020B0503020204020204" pitchFamily="34" charset="-122"/>
                <a:ea typeface="微软雅黑" panose="020B0503020204020204" pitchFamily="34" charset="-122"/>
              </a:rPr>
              <a:t>。</a:t>
            </a:r>
          </a:p>
          <a:p>
            <a:pPr>
              <a:lnSpc>
                <a:spcPct val="120000"/>
              </a:lnSpc>
              <a:buClr>
                <a:srgbClr val="FF3300"/>
              </a:buClr>
              <a:buSzPct val="100000"/>
              <a:buFont typeface="Wingdings" panose="05000000000000000000" pitchFamily="2" charset="2"/>
              <a:buChar char="Ø"/>
            </a:pPr>
            <a:r>
              <a:rPr lang="zh-CN" altLang="en-US" sz="2000" b="1" dirty="0">
                <a:solidFill>
                  <a:srgbClr val="FF3300"/>
                </a:solidFill>
                <a:latin typeface="微软雅黑" panose="020B0503020204020204" pitchFamily="34" charset="-122"/>
                <a:ea typeface="微软雅黑" panose="020B0503020204020204" pitchFamily="34" charset="-122"/>
              </a:rPr>
              <a:t>说明部分</a:t>
            </a:r>
            <a:r>
              <a:rPr lang="zh-CN" altLang="en-US" sz="2000" b="1" dirty="0">
                <a:solidFill>
                  <a:srgbClr val="000066"/>
                </a:solidFill>
                <a:latin typeface="微软雅黑" panose="020B0503020204020204" pitchFamily="34" charset="-122"/>
                <a:ea typeface="微软雅黑" panose="020B0503020204020204" pitchFamily="34" charset="-122"/>
              </a:rPr>
              <a:t>由下列几部分所组成：子程序名称，子程序功能，入口参数，出口参数，使用的寄存器和存储单元，调用的其它子程序，</a:t>
            </a:r>
          </a:p>
          <a:p>
            <a:pPr>
              <a:lnSpc>
                <a:spcPct val="120000"/>
              </a:lnSpc>
              <a:buClr>
                <a:srgbClr val="FF3300"/>
              </a:buClr>
              <a:buSzPct val="100000"/>
              <a:buFont typeface="Wingdings" panose="05000000000000000000" pitchFamily="2" charset="2"/>
              <a:buChar char="Ø"/>
            </a:pPr>
            <a:r>
              <a:rPr lang="zh-CN" altLang="en-US" sz="2000" b="1" dirty="0">
                <a:solidFill>
                  <a:srgbClr val="FF3300"/>
                </a:solidFill>
                <a:latin typeface="微软雅黑" panose="020B0503020204020204" pitchFamily="34" charset="-122"/>
                <a:ea typeface="微软雅黑" panose="020B0503020204020204" pitchFamily="34" charset="-122"/>
              </a:rPr>
              <a:t>代码部分</a:t>
            </a:r>
            <a:r>
              <a:rPr lang="zh-CN" altLang="en-US" sz="2000" b="1" dirty="0">
                <a:solidFill>
                  <a:srgbClr val="000066"/>
                </a:solidFill>
                <a:latin typeface="微软雅黑" panose="020B0503020204020204" pitchFamily="34" charset="-122"/>
                <a:ea typeface="微软雅黑" panose="020B0503020204020204" pitchFamily="34" charset="-122"/>
              </a:rPr>
              <a:t>：保护现场；根据入口参数，获取要处理的数据；进行数据处理；根据出口参数，将处理后的数据送至指定的区域；恢复现场；返回主程序。</a:t>
            </a:r>
          </a:p>
        </p:txBody>
      </p:sp>
      <p:sp>
        <p:nvSpPr>
          <p:cNvPr id="6" name="Rectangle 3"/>
          <p:cNvSpPr>
            <a:spLocks noGrp="1" noChangeArrowheads="1"/>
          </p:cNvSpPr>
          <p:nvPr/>
        </p:nvSpPr>
        <p:spPr bwMode="auto">
          <a:xfrm>
            <a:off x="448280" y="2268395"/>
            <a:ext cx="6850431" cy="486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lgn="l">
              <a:defRPr sz="3600" b="1">
                <a:solidFill>
                  <a:srgbClr val="990099"/>
                </a:solidFill>
                <a:latin typeface="Tahoma" panose="020B0604030504040204" pitchFamily="34" charset="0"/>
                <a:ea typeface="黑体" panose="02010609060101010101" pitchFamily="49" charset="-122"/>
              </a:defRPr>
            </a:lvl1pPr>
            <a:lvl2pPr algn="l">
              <a:defRPr sz="3600" b="1">
                <a:solidFill>
                  <a:srgbClr val="990099"/>
                </a:solidFill>
                <a:latin typeface="Tahoma" panose="020B0604030504040204" pitchFamily="34" charset="0"/>
                <a:ea typeface="黑体" panose="02010609060101010101" pitchFamily="49" charset="-122"/>
              </a:defRPr>
            </a:lvl2pPr>
            <a:lvl3pPr algn="l">
              <a:defRPr sz="3600" b="1">
                <a:solidFill>
                  <a:srgbClr val="990099"/>
                </a:solidFill>
                <a:latin typeface="Tahoma" panose="020B0604030504040204" pitchFamily="34" charset="0"/>
                <a:ea typeface="黑体" panose="02010609060101010101" pitchFamily="49" charset="-122"/>
              </a:defRPr>
            </a:lvl3pPr>
            <a:lvl4pPr algn="l">
              <a:defRPr sz="3600" b="1">
                <a:solidFill>
                  <a:srgbClr val="990099"/>
                </a:solidFill>
                <a:latin typeface="Tahoma" panose="020B0604030504040204" pitchFamily="34" charset="0"/>
                <a:ea typeface="黑体" panose="02010609060101010101" pitchFamily="49" charset="-122"/>
              </a:defRPr>
            </a:lvl4pPr>
            <a:lvl5pPr algn="l">
              <a:defRPr sz="3600" b="1">
                <a:solidFill>
                  <a:srgbClr val="990099"/>
                </a:solidFill>
                <a:latin typeface="Tahoma" panose="020B0604030504040204" pitchFamily="34" charset="0"/>
                <a:ea typeface="黑体" panose="02010609060101010101" pitchFamily="49" charset="-122"/>
              </a:defRPr>
            </a:lvl5pPr>
            <a:lvl6pPr marL="457200" fontAlgn="base">
              <a:spcBef>
                <a:spcPct val="0"/>
              </a:spcBef>
              <a:spcAft>
                <a:spcPct val="0"/>
              </a:spcAft>
              <a:defRPr sz="3600" b="1">
                <a:solidFill>
                  <a:srgbClr val="990099"/>
                </a:solidFill>
                <a:latin typeface="Tahoma" panose="020B0604030504040204" pitchFamily="34" charset="0"/>
                <a:ea typeface="黑体" panose="02010609060101010101" pitchFamily="49" charset="-122"/>
              </a:defRPr>
            </a:lvl6pPr>
            <a:lvl7pPr marL="914400" fontAlgn="base">
              <a:spcBef>
                <a:spcPct val="0"/>
              </a:spcBef>
              <a:spcAft>
                <a:spcPct val="0"/>
              </a:spcAft>
              <a:defRPr sz="3600" b="1">
                <a:solidFill>
                  <a:srgbClr val="990099"/>
                </a:solidFill>
                <a:latin typeface="Tahoma" panose="020B0604030504040204" pitchFamily="34" charset="0"/>
                <a:ea typeface="黑体" panose="02010609060101010101" pitchFamily="49" charset="-122"/>
              </a:defRPr>
            </a:lvl7pPr>
            <a:lvl8pPr marL="1371600" fontAlgn="base">
              <a:spcBef>
                <a:spcPct val="0"/>
              </a:spcBef>
              <a:spcAft>
                <a:spcPct val="0"/>
              </a:spcAft>
              <a:defRPr sz="3600" b="1">
                <a:solidFill>
                  <a:srgbClr val="990099"/>
                </a:solidFill>
                <a:latin typeface="Tahoma" panose="020B0604030504040204" pitchFamily="34" charset="0"/>
                <a:ea typeface="黑体" panose="02010609060101010101" pitchFamily="49" charset="-122"/>
              </a:defRPr>
            </a:lvl8pPr>
            <a:lvl9pPr marL="1828800" fontAlgn="base">
              <a:spcBef>
                <a:spcPct val="0"/>
              </a:spcBef>
              <a:spcAft>
                <a:spcPct val="0"/>
              </a:spcAft>
              <a:defRPr sz="3600" b="1">
                <a:solidFill>
                  <a:srgbClr val="990099"/>
                </a:solidFill>
                <a:latin typeface="Tahoma" panose="020B0604030504040204" pitchFamily="34" charset="0"/>
                <a:ea typeface="黑体" panose="02010609060101010101" pitchFamily="49" charset="-122"/>
              </a:defRPr>
            </a:lvl9pPr>
          </a:lstStyle>
          <a:p>
            <a:r>
              <a:rPr lang="en-US" altLang="zh-CN" sz="2000" dirty="0">
                <a:solidFill>
                  <a:srgbClr val="000066"/>
                </a:solidFill>
                <a:latin typeface="微软雅黑" panose="020B0503020204020204" pitchFamily="34" charset="-122"/>
                <a:ea typeface="微软雅黑" panose="020B0503020204020204" pitchFamily="34" charset="-122"/>
              </a:rPr>
              <a:t>(1) </a:t>
            </a:r>
            <a:r>
              <a:rPr lang="zh-CN" altLang="zh-CN" sz="2000" dirty="0">
                <a:solidFill>
                  <a:srgbClr val="000066"/>
                </a:solidFill>
                <a:latin typeface="微软雅黑" panose="020B0503020204020204" pitchFamily="34" charset="-122"/>
                <a:ea typeface="微软雅黑" panose="020B0503020204020204" pitchFamily="34" charset="-122"/>
              </a:rPr>
              <a:t>子程序的结构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Rectangle 2"/>
          <p:cNvSpPr>
            <a:spLocks noChangeArrowheads="1"/>
          </p:cNvSpPr>
          <p:nvPr/>
        </p:nvSpPr>
        <p:spPr bwMode="auto">
          <a:xfrm>
            <a:off x="598409" y="2492896"/>
            <a:ext cx="6421863"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20000"/>
              </a:spcBef>
            </a:pP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主程序</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为子程序提供入口参数			   </a:t>
            </a:r>
            <a:endParaRPr lang="zh-CN" altLang="en-US" sz="2000"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pP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根据入口参数进行一系列处理</a:t>
            </a:r>
            <a:endPar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pP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程序返回结果给</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主程序</a:t>
            </a:r>
          </a:p>
          <a:p>
            <a:pPr>
              <a:spcBef>
                <a:spcPct val="20000"/>
              </a:spcBef>
            </a:pPr>
            <a:endParaRPr lang="zh-CN" altLang="en-US" sz="2000" b="1" dirty="0">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a:p>
            <a:pPr>
              <a:spcBef>
                <a:spcPct val="20000"/>
              </a:spcBef>
            </a:pPr>
            <a:r>
              <a:rPr lang="zh-CN" altLang="en-US" sz="20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三种传递参数的方式：</a:t>
            </a:r>
          </a:p>
          <a:p>
            <a:pPr>
              <a:spcBef>
                <a:spcPct val="20000"/>
              </a:spcBef>
            </a:pPr>
            <a:r>
              <a:rPr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寄存器法:</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适合于参数较少的情况，传递速度较快。</a:t>
            </a:r>
          </a:p>
          <a:p>
            <a:pPr>
              <a:spcBef>
                <a:spcPct val="20000"/>
              </a:spcBef>
            </a:pPr>
            <a:r>
              <a:rPr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存储器法:</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适合于参数较多的情况，事先需要在存储器中建立一个参数表。</a:t>
            </a:r>
          </a:p>
          <a:p>
            <a:pPr>
              <a:spcBef>
                <a:spcPct val="20000"/>
              </a:spcBef>
            </a:pPr>
            <a:r>
              <a:rPr lang="en-US" altLang="zh-CN"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dirty="0">
                <a:solidFill>
                  <a:srgbClr val="FF3300"/>
                </a:solidFill>
                <a:latin typeface="Times New Roman" panose="02020603050405020304" pitchFamily="18" charset="0"/>
                <a:ea typeface="微软雅黑" panose="020B0503020204020204" pitchFamily="34" charset="-122"/>
                <a:cs typeface="Times New Roman" panose="02020603050405020304" pitchFamily="18" charset="0"/>
              </a:rPr>
              <a:t>堆栈法:</a:t>
            </a:r>
            <a:r>
              <a:rPr lang="zh-CN" altLang="en-US" sz="2000" b="1" dirty="0">
                <a:solidFill>
                  <a:srgbClr val="000066"/>
                </a:solidFill>
                <a:latin typeface="Times New Roman" panose="02020603050405020304" pitchFamily="18" charset="0"/>
                <a:ea typeface="微软雅黑" panose="020B0503020204020204" pitchFamily="34" charset="-122"/>
                <a:cs typeface="Times New Roman" panose="02020603050405020304" pitchFamily="18" charset="0"/>
              </a:rPr>
              <a:t>适合于参数较多的情况，尤其是在子程序嵌套与递归调用的情况。</a:t>
            </a:r>
          </a:p>
        </p:txBody>
      </p:sp>
      <p:sp>
        <p:nvSpPr>
          <p:cNvPr id="6" name="AutoShape 3"/>
          <p:cNvSpPr/>
          <p:nvPr/>
        </p:nvSpPr>
        <p:spPr bwMode="auto">
          <a:xfrm>
            <a:off x="7164288" y="4509120"/>
            <a:ext cx="360040" cy="1440160"/>
          </a:xfrm>
          <a:prstGeom prst="rightBrace">
            <a:avLst>
              <a:gd name="adj1" fmla="val 46344"/>
              <a:gd name="adj2" fmla="val 50000"/>
            </a:avLst>
          </a:prstGeom>
          <a:noFill/>
          <a:ln w="28575" cmpd="sng">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ctr"/>
            <a:endParaRPr lang="zh-CN" altLang="en-US" sz="1400" b="1">
              <a:solidFill>
                <a:srgbClr val="40458C"/>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Rectangle 4"/>
          <p:cNvSpPr txBox="1">
            <a:spLocks noChangeArrowheads="1"/>
          </p:cNvSpPr>
          <p:nvPr/>
        </p:nvSpPr>
        <p:spPr bwMode="auto">
          <a:xfrm>
            <a:off x="438544" y="1642775"/>
            <a:ext cx="8262938" cy="51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rtl="0" fontAlgn="base">
              <a:spcBef>
                <a:spcPct val="0"/>
              </a:spcBef>
              <a:spcAft>
                <a:spcPct val="0"/>
              </a:spcAft>
              <a:defRPr sz="3600" b="1" kern="1200">
                <a:solidFill>
                  <a:srgbClr val="660066"/>
                </a:solidFill>
                <a:latin typeface="+mj-lt"/>
                <a:ea typeface="+mj-ea"/>
                <a:cs typeface="+mj-cs"/>
              </a:defRPr>
            </a:lvl1pPr>
            <a:lvl2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2pPr>
            <a:lvl3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3pPr>
            <a:lvl4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4pPr>
            <a:lvl5pPr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5pPr>
            <a:lvl6pPr marL="4572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6pPr>
            <a:lvl7pPr marL="9144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7pPr>
            <a:lvl8pPr marL="13716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8pPr>
            <a:lvl9pPr marL="1828800" algn="l" rtl="0" fontAlgn="base">
              <a:spcBef>
                <a:spcPct val="0"/>
              </a:spcBef>
              <a:spcAft>
                <a:spcPct val="0"/>
              </a:spcAft>
              <a:defRPr sz="3600" b="1">
                <a:solidFill>
                  <a:srgbClr val="660066"/>
                </a:solidFill>
                <a:latin typeface="Arial Narrow" panose="020B0606020202030204" pitchFamily="34" charset="0"/>
                <a:ea typeface="黑体" panose="02010609060101010101" pitchFamily="49" charset="-122"/>
              </a:defRPr>
            </a:lvl9pPr>
          </a:lstStyle>
          <a:p>
            <a:pPr marL="0" marR="0" lvl="0" indent="0"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zh-CN" sz="2400" b="1" i="0" u="none" strike="noStrike" kern="1200" cap="none" spc="0" normalizeH="0" baseline="0" noProof="0" dirty="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主程序与子程序的参数传递的方法</a:t>
            </a:r>
            <a:endParaRPr kumimoji="0" lang="zh-CN" altLang="zh-CN" sz="2400" b="0" i="0" u="none" strike="noStrike" kern="1200" cap="none" spc="0" normalizeH="0" baseline="0" noProof="0" dirty="0">
              <a:ln>
                <a:noFill/>
              </a:ln>
              <a:solidFill>
                <a:srgbClr val="660066"/>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7603066" y="4860677"/>
            <a:ext cx="954107" cy="400110"/>
          </a:xfrm>
          <a:prstGeom prst="rect">
            <a:avLst/>
          </a:prstGeom>
        </p:spPr>
        <p:txBody>
          <a:bodyPr wrap="none">
            <a:spAutoFit/>
          </a:bodyPr>
          <a:lstStyle/>
          <a:p>
            <a:r>
              <a:rPr lang="zh-CN" altLang="en-US" sz="2000" b="1" dirty="0">
                <a:solidFill>
                  <a:srgbClr val="FF0000"/>
                </a:solidFill>
              </a:rPr>
              <a:t>约定法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animEffect transition="in" filter="fade">
                                      <p:cBhvr>
                                        <p:cTn id="15" dur="500"/>
                                        <p:tgtEl>
                                          <p:spTgt spid="5">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Effect transition="in" filter="fade">
                                      <p:cBhvr>
                                        <p:cTn id="18" dur="500"/>
                                        <p:tgtEl>
                                          <p:spTgt spid="5">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fade">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left)">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Rectangle 5"/>
          <p:cNvSpPr>
            <a:spLocks noChangeArrowheads="1"/>
          </p:cNvSpPr>
          <p:nvPr/>
        </p:nvSpPr>
        <p:spPr bwMode="auto">
          <a:xfrm>
            <a:off x="977004" y="2171183"/>
            <a:ext cx="637698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SUBPROC</a:t>
            </a:r>
            <a:r>
              <a:rPr kumimoji="1" lang="en-US" altLang="zh-CN"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PROC</a:t>
            </a:r>
          </a:p>
          <a:p>
            <a:r>
              <a:rPr kumimoji="1" lang="en-US" altLang="zh-CN"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                     PUSH  AX</a:t>
            </a:r>
          </a:p>
          <a:p>
            <a:r>
              <a:rPr kumimoji="1" lang="en-US" altLang="zh-CN"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                     PUSH  CX</a:t>
            </a:r>
          </a:p>
          <a:p>
            <a:r>
              <a:rPr kumimoji="1" lang="en-US" altLang="zh-CN"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                     PUSH  SI</a:t>
            </a:r>
          </a:p>
          <a:p>
            <a:r>
              <a:rPr kumimoji="1" lang="en-US" altLang="zh-CN"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                     PUSH  DI</a:t>
            </a:r>
          </a:p>
          <a:p>
            <a:r>
              <a:rPr kumimoji="1" lang="en-US" altLang="zh-CN"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                     PUSHF</a:t>
            </a:r>
          </a:p>
          <a:p>
            <a:r>
              <a:rPr kumimoji="1" lang="en-US" altLang="zh-CN"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en-US" altLang="zh-CN" b="1" dirty="0">
                <a:latin typeface="Times New Roman" panose="02020603050405020304" pitchFamily="18" charset="0"/>
                <a:ea typeface="微软雅黑" panose="020B0503020204020204" pitchFamily="34" charset="-122"/>
                <a:cs typeface="Times New Roman" panose="02020603050405020304" pitchFamily="18" charset="0"/>
              </a:rPr>
              <a:t>…     …            </a:t>
            </a:r>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；子程序体部分</a:t>
            </a:r>
          </a:p>
          <a:p>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6" name="Rectangle 7"/>
          <p:cNvSpPr>
            <a:spLocks noChangeArrowheads="1"/>
          </p:cNvSpPr>
          <p:nvPr/>
        </p:nvSpPr>
        <p:spPr bwMode="auto">
          <a:xfrm>
            <a:off x="977004" y="4194800"/>
            <a:ext cx="2304926"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POPF</a:t>
            </a:r>
          </a:p>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POP DI</a:t>
            </a:r>
          </a:p>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POP  SI</a:t>
            </a:r>
          </a:p>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POP  CX</a:t>
            </a:r>
          </a:p>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POP  AX</a:t>
            </a:r>
          </a:p>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RET</a:t>
            </a:r>
          </a:p>
          <a:p>
            <a:r>
              <a:rPr kumimoji="1" lang="en-US" altLang="zh-CN"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SUBPROC    ENDP</a:t>
            </a:r>
          </a:p>
        </p:txBody>
      </p:sp>
      <p:grpSp>
        <p:nvGrpSpPr>
          <p:cNvPr id="7" name="Group 9"/>
          <p:cNvGrpSpPr/>
          <p:nvPr/>
        </p:nvGrpSpPr>
        <p:grpSpPr bwMode="auto">
          <a:xfrm>
            <a:off x="900609" y="1642775"/>
            <a:ext cx="4395788" cy="369887"/>
            <a:chOff x="114" y="177"/>
            <a:chExt cx="2769" cy="233"/>
          </a:xfrm>
        </p:grpSpPr>
        <p:sp>
          <p:nvSpPr>
            <p:cNvPr id="8" name="Text Box 4"/>
            <p:cNvSpPr txBox="1">
              <a:spLocks noChangeArrowheads="1"/>
            </p:cNvSpPr>
            <p:nvPr/>
          </p:nvSpPr>
          <p:spPr bwMode="auto">
            <a:xfrm>
              <a:off x="295" y="177"/>
              <a:ext cx="25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现场的保护与恢复和子程序返回示例：</a:t>
              </a:r>
            </a:p>
          </p:txBody>
        </p:sp>
        <p:sp>
          <p:nvSpPr>
            <p:cNvPr id="9" name="AutoShape 8"/>
            <p:cNvSpPr>
              <a:spLocks noChangeArrowheads="1"/>
            </p:cNvSpPr>
            <p:nvPr/>
          </p:nvSpPr>
          <p:spPr bwMode="auto">
            <a:xfrm>
              <a:off x="114" y="180"/>
              <a:ext cx="181" cy="227"/>
            </a:xfrm>
            <a:prstGeom prst="sun">
              <a:avLst>
                <a:gd name="adj" fmla="val 25000"/>
              </a:avLst>
            </a:prstGeom>
            <a:solidFill>
              <a:srgbClr val="FF00FF"/>
            </a:solidFill>
            <a:ln w="952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en-US">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0" name="矩形 9"/>
          <p:cNvSpPr/>
          <p:nvPr/>
        </p:nvSpPr>
        <p:spPr>
          <a:xfrm>
            <a:off x="5508104" y="4156327"/>
            <a:ext cx="3345082" cy="2108269"/>
          </a:xfrm>
          <a:prstGeom prst="rect">
            <a:avLst/>
          </a:prstGeom>
          <a:solidFill>
            <a:srgbClr val="FFFFCC"/>
          </a:solidFill>
          <a:ln>
            <a:solidFill>
              <a:schemeClr val="accent1"/>
            </a:solidFill>
          </a:ln>
        </p:spPr>
        <p:txBody>
          <a:bodyPr wrap="square">
            <a:spAutoFit/>
          </a:bodyPr>
          <a:lstStyle/>
          <a:p>
            <a:pPr marL="285750" indent="-285750" algn="just">
              <a:spcBef>
                <a:spcPts val="600"/>
              </a:spcBef>
              <a:spcAft>
                <a:spcPts val="0"/>
              </a:spcAft>
              <a:buFont typeface="Wingdings" panose="05000000000000000000" pitchFamily="2" charset="2"/>
              <a:buChar char="Ø"/>
            </a:pP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将寄存器压入堆栈保护的过程称为</a:t>
            </a:r>
            <a:r>
              <a:rPr lang="zh-CN"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保护现场</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，将寄存器从堆栈中弹出恢复的过程称为</a:t>
            </a:r>
            <a:r>
              <a:rPr lang="zh-CN"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恢复现场</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gn="just">
              <a:spcBef>
                <a:spcPts val="600"/>
              </a:spcBef>
              <a:spcAft>
                <a:spcPts val="0"/>
              </a:spcAft>
              <a:buFont typeface="Wingdings" panose="05000000000000000000" pitchFamily="2" charset="2"/>
              <a:buChar char="Ø"/>
            </a:pP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保护和恢复现场的工作既可以在</a:t>
            </a:r>
            <a:r>
              <a:rPr lang="zh-CN"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调用程序</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中进行，也可以在</a:t>
            </a:r>
            <a:r>
              <a:rPr lang="zh-CN" altLang="zh-CN"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中进行</a:t>
            </a:r>
            <a:r>
              <a:rPr lang="zh-CN" altLang="zh-CN" b="1" dirty="0">
                <a:latin typeface="Times New Roman" panose="02020603050405020304" pitchFamily="18" charset="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randombar(horizontal)">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0"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710298"/>
          </a:xfrm>
        </p:spPr>
        <p:txBody>
          <a:bodyPr/>
          <a:lstStyle/>
          <a:p>
            <a:r>
              <a:rPr lang="en-US" altLang="zh-CN" b="1" dirty="0"/>
              <a:t>4.</a:t>
            </a:r>
            <a:r>
              <a:rPr lang="zh-CN" altLang="en-US" b="1" dirty="0"/>
              <a:t>子程序举例</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448280" y="2340403"/>
            <a:ext cx="8444200" cy="398780"/>
          </a:xfrm>
          <a:prstGeom prst="rect">
            <a:avLst/>
          </a:prstGeom>
        </p:spPr>
        <p:txBody>
          <a:bodyPr wrap="square">
            <a:spAutoFit/>
          </a:bodyPr>
          <a:lstStyle/>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4.14</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两个</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位十进制数以压缩</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BCD</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码的形式存放在内存中，求它们的和。</a:t>
            </a:r>
          </a:p>
        </p:txBody>
      </p:sp>
      <p:sp>
        <p:nvSpPr>
          <p:cNvPr id="6" name="矩形 5"/>
          <p:cNvSpPr/>
          <p:nvPr/>
        </p:nvSpPr>
        <p:spPr>
          <a:xfrm>
            <a:off x="1057852" y="2817265"/>
            <a:ext cx="7225055" cy="874214"/>
          </a:xfrm>
          <a:prstGeom prst="rect">
            <a:avLst/>
          </a:prstGeom>
        </p:spPr>
        <p:txBody>
          <a:bodyPr wrap="none">
            <a:spAutoFit/>
          </a:bodyPr>
          <a:lstStyle/>
          <a:p>
            <a:pPr>
              <a:lnSpc>
                <a:spcPct val="150000"/>
              </a:lnSpc>
            </a:pPr>
            <a:r>
              <a:rPr lang="zh-CN" altLang="en-US" b="1" kern="100" dirty="0">
                <a:latin typeface="Times New Roman" panose="02020603050405020304" pitchFamily="18" charset="0"/>
                <a:ea typeface="微软雅黑" panose="020B0503020204020204" pitchFamily="34" charset="-122"/>
                <a:cs typeface="Times New Roman" panose="02020603050405020304" pitchFamily="18" charset="0"/>
              </a:rPr>
              <a:t>设计思路：</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可以通过</a:t>
            </a:r>
            <a:r>
              <a:rPr lang="en-US"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次</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字节数相加，每次相加后再进行</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十进制调整</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来实现。</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p:cNvSpPr/>
          <p:nvPr/>
        </p:nvSpPr>
        <p:spPr>
          <a:xfrm>
            <a:off x="477083" y="3894094"/>
            <a:ext cx="8386591" cy="2062103"/>
          </a:xfrm>
          <a:prstGeom prst="rect">
            <a:avLst/>
          </a:prstGeom>
        </p:spPr>
        <p:txBody>
          <a:bodyPr wrap="none">
            <a:spAutoFit/>
          </a:bodyPr>
          <a:lstStyle/>
          <a:p>
            <a:r>
              <a:rPr lang="en-US" altLang="zh-CN" sz="2000" b="1" kern="100" dirty="0">
                <a:latin typeface="微软雅黑" panose="020B0503020204020204" pitchFamily="34" charset="-122"/>
                <a:ea typeface="微软雅黑" panose="020B0503020204020204" pitchFamily="34" charset="-122"/>
              </a:rPr>
              <a:t>①  </a:t>
            </a:r>
            <a:r>
              <a:rPr lang="zh-CN" altLang="zh-CN" sz="2000" b="1" kern="100" dirty="0">
                <a:latin typeface="微软雅黑" panose="020B0503020204020204" pitchFamily="34" charset="-122"/>
                <a:ea typeface="微软雅黑" panose="020B0503020204020204" pitchFamily="34" charset="-122"/>
                <a:cs typeface="Times New Roman" panose="02020603050405020304" pitchFamily="18" charset="0"/>
              </a:rPr>
              <a:t>用寄存器和存储器传递参数</a:t>
            </a:r>
            <a:endParaRPr lang="en-US" altLang="zh-CN" sz="2000" b="1" kern="100" dirty="0">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              采用了寄存器和存储单元两种方法传递参数。</a:t>
            </a:r>
            <a:endPar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入口参数： </a:t>
            </a:r>
            <a:r>
              <a:rPr lang="en-US"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CX</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中置入组合</a:t>
            </a:r>
            <a:r>
              <a:rPr lang="en-US"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BCD</a:t>
            </a:r>
            <a:r>
              <a:rPr lang="zh-CN" altLang="en-US"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码的字节个数</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 </a:t>
            </a:r>
            <a:endPar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DAT1</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DAT2</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数据区中存放</a:t>
            </a:r>
            <a:r>
              <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BCD</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码表示的被加数和加数，低位在前，高位在后。</a:t>
            </a:r>
            <a:endPar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出口参数：运算结果在以变量</a:t>
            </a:r>
            <a:r>
              <a:rPr lang="en-US" altLang="zh-CN"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SUM</a:t>
            </a:r>
            <a:r>
              <a:rPr lang="zh-CN" altLang="en-US" b="1" kern="1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为首地址的数据区</a:t>
            </a:r>
            <a:r>
              <a:rPr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中。</a:t>
            </a:r>
            <a:endParaRPr lang="zh-CN" altLang="en-US" sz="36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p14:bwMode="auto" r:id="rId2">
            <p14:nvContentPartPr>
              <p14:cNvPr id="96" name="墨迹 95"/>
              <p14:cNvContentPartPr/>
              <p14:nvPr/>
            </p14:nvContentPartPr>
            <p14:xfrm>
              <a:off x="1435735" y="6610985"/>
              <a:ext cx="7326630" cy="9525"/>
            </p14:xfrm>
          </p:contentPart>
        </mc:Choice>
        <mc:Fallback xmlns="">
          <p:pic>
            <p:nvPicPr>
              <p:cNvPr id="96" name="墨迹 95"/>
            </p:nvPicPr>
            <p:blipFill>
              <a:blip r:embed="rId3"/>
            </p:blipFill>
            <p:spPr>
              <a:xfrm>
                <a:off x="1435735" y="6610985"/>
                <a:ext cx="7326630" cy="9525"/>
              </a:xfrm>
              <a:prstGeom prst="rect"/>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448280" y="1608568"/>
            <a:ext cx="8695720" cy="2308324"/>
          </a:xfrm>
          <a:prstGeom prst="rect">
            <a:avLst/>
          </a:prstGeom>
        </p:spPr>
        <p:txBody>
          <a:bodyPr wrap="square">
            <a:spAutoFit/>
          </a:bodyPr>
          <a:lstStyle/>
          <a:p>
            <a:pPr indent="254000" algn="just">
              <a:spcAft>
                <a:spcPts val="0"/>
              </a:spcAft>
            </a:pPr>
            <a:r>
              <a:rPr lang="en-US" altLang="zh-CN" sz="1600" b="1" dirty="0">
                <a:solidFill>
                  <a:schemeClr val="accent4">
                    <a:lumMod val="50000"/>
                  </a:schemeClr>
                </a:solidFill>
                <a:latin typeface="Times New Roman" panose="02020603050405020304" pitchFamily="18" charset="0"/>
                <a:ea typeface="仿宋" panose="02010609060101010101" pitchFamily="49" charset="-122"/>
                <a:cs typeface="Times New Roman" panose="02020603050405020304" pitchFamily="18" charset="0"/>
              </a:rPr>
              <a:t>DATA		SEGMENT</a:t>
            </a:r>
            <a:endParaRPr lang="zh-CN" altLang="zh-CN" sz="1600" b="1" dirty="0">
              <a:solidFill>
                <a:schemeClr val="accent4">
                  <a:lumMod val="50000"/>
                </a:schemeClr>
              </a:solidFill>
              <a:latin typeface="Times New Roman" panose="02020603050405020304" pitchFamily="18" charset="0"/>
              <a:ea typeface="仿宋" panose="02010609060101010101" pitchFamily="49" charset="-122"/>
              <a:cs typeface="Times New Roman" panose="02020603050405020304" pitchFamily="18" charset="0"/>
            </a:endParaRPr>
          </a:p>
          <a:p>
            <a:pPr marL="469900" indent="3302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DAT1	DB 34H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67H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98H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86H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02H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41H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59H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23H	; </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低位在前</a:t>
            </a:r>
          </a:p>
          <a:p>
            <a:pPr marL="469900" indent="3302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DAT2	DB 33H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76H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89H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90H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05H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07H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65H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12H	; </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低位在前</a:t>
            </a:r>
          </a:p>
          <a:p>
            <a:pPr marL="469900" indent="3302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SUM		DB 10 DUP(0)</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solidFill>
                  <a:schemeClr val="accent4">
                    <a:lumMod val="50000"/>
                  </a:schemeClr>
                </a:solidFill>
                <a:latin typeface="Times New Roman" panose="02020603050405020304" pitchFamily="18" charset="0"/>
                <a:ea typeface="仿宋" panose="02010609060101010101" pitchFamily="49" charset="-122"/>
                <a:cs typeface="Times New Roman" panose="02020603050405020304" pitchFamily="18" charset="0"/>
              </a:rPr>
              <a:t>DATA	 	ENDS</a:t>
            </a:r>
          </a:p>
          <a:p>
            <a:pPr indent="254000" algn="just">
              <a:spcAft>
                <a:spcPts val="0"/>
              </a:spcAft>
            </a:pP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STACK	SEGMENT	PARA	STACK</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marL="533400"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DW	20H     DUP(0)</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STACK	ENDS</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p:txBody>
      </p:sp>
      <p:sp>
        <p:nvSpPr>
          <p:cNvPr id="6" name="矩形 5"/>
          <p:cNvSpPr/>
          <p:nvPr/>
        </p:nvSpPr>
        <p:spPr>
          <a:xfrm>
            <a:off x="326712" y="4218380"/>
            <a:ext cx="8695720" cy="2062103"/>
          </a:xfrm>
          <a:prstGeom prst="rect">
            <a:avLst/>
          </a:prstGeom>
        </p:spPr>
        <p:txBody>
          <a:bodyPr wrap="square">
            <a:spAutoFit/>
          </a:bodyPr>
          <a:lstStyle/>
          <a:p>
            <a:pPr indent="254000" algn="just">
              <a:spcAft>
                <a:spcPts val="0"/>
              </a:spcAft>
            </a:pPr>
            <a:r>
              <a:rPr lang="en-US" altLang="zh-CN" sz="1600" b="1" dirty="0">
                <a:solidFill>
                  <a:schemeClr val="tx2">
                    <a:lumMod val="75000"/>
                  </a:schemeClr>
                </a:solidFill>
                <a:latin typeface="Times New Roman" panose="02020603050405020304" pitchFamily="18" charset="0"/>
                <a:ea typeface="仿宋" panose="02010609060101010101" pitchFamily="49" charset="-122"/>
                <a:cs typeface="Times New Roman" panose="02020603050405020304" pitchFamily="18" charset="0"/>
              </a:rPr>
              <a:t>CODE		SEGMENT</a:t>
            </a:r>
            <a:endParaRPr lang="zh-CN" altLang="zh-CN" sz="1600" b="1" dirty="0">
              <a:solidFill>
                <a:schemeClr val="tx2">
                  <a:lumMod val="75000"/>
                </a:schemeClr>
              </a:solidFill>
              <a:latin typeface="Times New Roman" panose="02020603050405020304" pitchFamily="18" charset="0"/>
              <a:ea typeface="仿宋" panose="02010609060101010101" pitchFamily="49" charset="-122"/>
              <a:cs typeface="Times New Roman" panose="02020603050405020304" pitchFamily="18" charset="0"/>
            </a:endParaRPr>
          </a:p>
          <a:p>
            <a:pPr marL="533400"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ASSUME	CS: CODE</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DS: DATA</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SS: STACK</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START: 	MOV	AX</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DATA</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MOV	DS</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AX</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MOV	CX</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8              			; </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设子程序入口参数</a:t>
            </a: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CALL	</a:t>
            </a:r>
            <a:r>
              <a:rPr lang="en-US" altLang="zh-CN" sz="1600" b="1" dirty="0">
                <a:solidFill>
                  <a:srgbClr val="C00000"/>
                </a:solidFill>
                <a:latin typeface="Times New Roman" panose="02020603050405020304" pitchFamily="18" charset="0"/>
                <a:ea typeface="仿宋" panose="02010609060101010101" pitchFamily="49" charset="-122"/>
                <a:cs typeface="Times New Roman" panose="02020603050405020304" pitchFamily="18" charset="0"/>
              </a:rPr>
              <a:t>ADDP </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 </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调用加法子程序</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MOV	AH</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4CH				;</a:t>
            </a:r>
            <a:r>
              <a:rPr lang="zh-CN" altLang="zh-CN" sz="1600" b="1" dirty="0">
                <a:latin typeface="Times New Roman" panose="02020603050405020304" pitchFamily="18" charset="0"/>
                <a:ea typeface="仿宋" panose="02010609060101010101" pitchFamily="49" charset="-122"/>
                <a:cs typeface="Times New Roman" panose="02020603050405020304" pitchFamily="18" charset="0"/>
              </a:rPr>
              <a:t>返回</a:t>
            </a: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DOS</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仿宋" panose="02010609060101010101" pitchFamily="49" charset="-122"/>
                <a:cs typeface="Times New Roman" panose="02020603050405020304" pitchFamily="18" charset="0"/>
              </a:rPr>
              <a:t>        		INT	21H</a:t>
            </a:r>
            <a:endParaRPr lang="zh-CN" altLang="zh-CN" sz="1600" b="1" dirty="0">
              <a:latin typeface="Times New Roman" panose="02020603050405020304" pitchFamily="18" charset="0"/>
              <a:ea typeface="仿宋"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1187624" y="1658799"/>
            <a:ext cx="6552728" cy="4524315"/>
          </a:xfrm>
          <a:prstGeom prst="rect">
            <a:avLst/>
          </a:prstGeom>
        </p:spPr>
        <p:txBody>
          <a:bodyPr wrap="square">
            <a:spAutoFit/>
          </a:bodyPr>
          <a:lstStyle/>
          <a:p>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ADDP	PROC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加法子程序</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完成</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位十进制数相加</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PUSH	AX   	;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保护现场               </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PUSH	BX                       </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CLC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清除进位标志</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MOV	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a:t>
            </a:r>
          </a:p>
          <a:p>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AL</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DAT1</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相加</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ADC	AL</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DAT2</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DAA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十进制调整</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MOV	SUM</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AL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存结果</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INC	BX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修改下标</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LOOP	</a:t>
            </a: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循环执行</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次</a:t>
            </a:r>
          </a:p>
          <a:p>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ADC	SUM</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POP	BX		;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恢复现场</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POP	AX                  </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RET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返回主程序</a:t>
            </a:r>
          </a:p>
          <a:p>
            <a:r>
              <a:rPr lang="en-US" altLang="zh-CN" sz="1600" b="1"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ADDP  	ENDP</a:t>
            </a:r>
          </a:p>
          <a:p>
            <a:r>
              <a:rPr lang="en-US" altLang="zh-CN" sz="1600" b="1" dirty="0">
                <a:solidFill>
                  <a:schemeClr val="tx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CODE  	ENDS</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END		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98450" y="1599555"/>
            <a:ext cx="3034680" cy="563562"/>
          </a:xfrm>
        </p:spPr>
        <p:txBody>
          <a:bodyPr/>
          <a:lstStyle/>
          <a:p>
            <a:r>
              <a:rPr lang="zh-CN" altLang="en-US" b="1" dirty="0"/>
              <a:t>②用地址表传递参数</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3384550" y="1525591"/>
            <a:ext cx="5823086" cy="1508105"/>
          </a:xfrm>
          <a:prstGeom prst="rect">
            <a:avLst/>
          </a:prstGeom>
        </p:spPr>
        <p:txBody>
          <a:bodyPr wrap="square">
            <a:spAutoFit/>
          </a:bodyPr>
          <a:lstStyle/>
          <a:p>
            <a:r>
              <a:rPr lang="zh-CN" altLang="en-US" sz="2000" b="1" dirty="0"/>
              <a:t>设计方法</a:t>
            </a:r>
            <a:r>
              <a:rPr lang="en-US" altLang="zh-CN" sz="2000" b="1" dirty="0"/>
              <a:t>:</a:t>
            </a:r>
          </a:p>
          <a:p>
            <a:pPr marL="285750" indent="-285750">
              <a:buFont typeface="Wingdings" panose="05000000000000000000" pitchFamily="2" charset="2"/>
              <a:buChar char="u"/>
            </a:pPr>
            <a:r>
              <a:rPr lang="zh-CN" altLang="en-US" b="1" dirty="0"/>
              <a:t>用地址表传递的是参数的地址。</a:t>
            </a:r>
            <a:endParaRPr lang="en-US" altLang="zh-CN" b="1" dirty="0"/>
          </a:p>
          <a:p>
            <a:pPr marL="285750" indent="-285750">
              <a:buFont typeface="Wingdings" panose="05000000000000000000" pitchFamily="2" charset="2"/>
              <a:buChar char="u"/>
            </a:pPr>
            <a:r>
              <a:rPr lang="zh-CN" altLang="en-US" b="1" dirty="0"/>
              <a:t>在转向子程序前，将</a:t>
            </a:r>
            <a:r>
              <a:rPr lang="zh-CN" altLang="en-US" b="1" dirty="0">
                <a:solidFill>
                  <a:srgbClr val="C00000"/>
                </a:solidFill>
              </a:rPr>
              <a:t>参数的地址放入一个表中</a:t>
            </a:r>
            <a:r>
              <a:rPr lang="zh-CN" altLang="en-US" b="1" dirty="0"/>
              <a:t>，将表的首地址作为入口参数传递给子程序，由子程序根据参数表中的地址取出对应参数。</a:t>
            </a:r>
          </a:p>
        </p:txBody>
      </p:sp>
      <p:sp>
        <p:nvSpPr>
          <p:cNvPr id="6" name="矩形 5"/>
          <p:cNvSpPr/>
          <p:nvPr/>
        </p:nvSpPr>
        <p:spPr>
          <a:xfrm>
            <a:off x="836712" y="2895207"/>
            <a:ext cx="7470576" cy="3754874"/>
          </a:xfrm>
          <a:prstGeom prst="rect">
            <a:avLst/>
          </a:prstGeom>
        </p:spPr>
        <p:txBody>
          <a:bodyPr wrap="square">
            <a:spAutoFit/>
          </a:bodyPr>
          <a:lstStyle/>
          <a:p>
            <a:r>
              <a:rPr lang="en-US" altLang="zh-CN" sz="14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DATA	SEGMENT</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DAT1  DB 34H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67H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98H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86H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02H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41H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59H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23H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低位在前</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DAT2  DB 33H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76H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89H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90H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05H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07H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65H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12H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低位在前</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SUM   DB 10 DUP(0)</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TABLE DW 4 DUP(0)</a:t>
            </a:r>
          </a:p>
          <a:p>
            <a:r>
              <a:rPr lang="en-US" altLang="zh-CN" sz="1400" b="1"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DATA  	ENDS</a:t>
            </a:r>
          </a:p>
          <a:p>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CODE 	SEGMENT</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ASSUME CS: CODE</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DS: DATA</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START: 	MOV   AX,DATA</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DS,AX</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TABLE</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OFFSET   DAT1</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TABLE</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,OFFSET DAT2</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TABLE</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,OFFSET SUM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建立地址表</a:t>
            </a:r>
          </a:p>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BX, OFFSET TABLE         		; BX←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地址表首址</a:t>
            </a:r>
          </a:p>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CALL  ADDP	;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调用加法子程序</a:t>
            </a:r>
          </a:p>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MOV   AH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4CH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返回</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DOS</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INT   21H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fade">
                                      <p:cBhvr>
                                        <p:cTn id="32" dur="500"/>
                                        <p:tgtEl>
                                          <p:spTgt spid="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Effect transition="in" filter="fade">
                                      <p:cBhvr>
                                        <p:cTn id="37" dur="500"/>
                                        <p:tgtEl>
                                          <p:spTgt spid="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500"/>
                                        <p:tgtEl>
                                          <p:spTgt spid="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fade">
                                      <p:cBhvr>
                                        <p:cTn id="47" dur="500"/>
                                        <p:tgtEl>
                                          <p:spTgt spid="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fade">
                                      <p:cBhvr>
                                        <p:cTn id="52" dur="500"/>
                                        <p:tgtEl>
                                          <p:spTgt spid="6">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8" end="8"/>
                                            </p:txEl>
                                          </p:spTgt>
                                        </p:tgtEl>
                                        <p:attrNameLst>
                                          <p:attrName>style.visibility</p:attrName>
                                        </p:attrNameLst>
                                      </p:cBhvr>
                                      <p:to>
                                        <p:strVal val="visible"/>
                                      </p:to>
                                    </p:set>
                                    <p:animEffect transition="in" filter="fade">
                                      <p:cBhvr>
                                        <p:cTn id="57" dur="500"/>
                                        <p:tgtEl>
                                          <p:spTgt spid="6">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
                                            <p:txEl>
                                              <p:pRg st="9" end="9"/>
                                            </p:txEl>
                                          </p:spTgt>
                                        </p:tgtEl>
                                        <p:attrNameLst>
                                          <p:attrName>style.visibility</p:attrName>
                                        </p:attrNameLst>
                                      </p:cBhvr>
                                      <p:to>
                                        <p:strVal val="visible"/>
                                      </p:to>
                                    </p:set>
                                    <p:animEffect transition="in" filter="fade">
                                      <p:cBhvr>
                                        <p:cTn id="62" dur="500"/>
                                        <p:tgtEl>
                                          <p:spTgt spid="6">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
                                            <p:txEl>
                                              <p:pRg st="10" end="10"/>
                                            </p:txEl>
                                          </p:spTgt>
                                        </p:tgtEl>
                                        <p:attrNameLst>
                                          <p:attrName>style.visibility</p:attrName>
                                        </p:attrNameLst>
                                      </p:cBhvr>
                                      <p:to>
                                        <p:strVal val="visible"/>
                                      </p:to>
                                    </p:set>
                                    <p:animEffect transition="in" filter="fade">
                                      <p:cBhvr>
                                        <p:cTn id="67" dur="500"/>
                                        <p:tgtEl>
                                          <p:spTgt spid="6">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
                                            <p:txEl>
                                              <p:pRg st="11" end="11"/>
                                            </p:txEl>
                                          </p:spTgt>
                                        </p:tgtEl>
                                        <p:attrNameLst>
                                          <p:attrName>style.visibility</p:attrName>
                                        </p:attrNameLst>
                                      </p:cBhvr>
                                      <p:to>
                                        <p:strVal val="visible"/>
                                      </p:to>
                                    </p:set>
                                    <p:animEffect transition="in" filter="fade">
                                      <p:cBhvr>
                                        <p:cTn id="72" dur="500"/>
                                        <p:tgtEl>
                                          <p:spTgt spid="6">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
                                            <p:txEl>
                                              <p:pRg st="12" end="12"/>
                                            </p:txEl>
                                          </p:spTgt>
                                        </p:tgtEl>
                                        <p:attrNameLst>
                                          <p:attrName>style.visibility</p:attrName>
                                        </p:attrNameLst>
                                      </p:cBhvr>
                                      <p:to>
                                        <p:strVal val="visible"/>
                                      </p:to>
                                    </p:set>
                                    <p:animEffect transition="in" filter="fade">
                                      <p:cBhvr>
                                        <p:cTn id="77" dur="500"/>
                                        <p:tgtEl>
                                          <p:spTgt spid="6">
                                            <p:txEl>
                                              <p:pRg st="12" end="1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6">
                                            <p:txEl>
                                              <p:pRg st="13" end="13"/>
                                            </p:txEl>
                                          </p:spTgt>
                                        </p:tgtEl>
                                        <p:attrNameLst>
                                          <p:attrName>style.visibility</p:attrName>
                                        </p:attrNameLst>
                                      </p:cBhvr>
                                      <p:to>
                                        <p:strVal val="visible"/>
                                      </p:to>
                                    </p:set>
                                    <p:animEffect transition="in" filter="fade">
                                      <p:cBhvr>
                                        <p:cTn id="82" dur="500"/>
                                        <p:tgtEl>
                                          <p:spTgt spid="6">
                                            <p:txEl>
                                              <p:pRg st="13" end="1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
                                            <p:txEl>
                                              <p:pRg st="14" end="14"/>
                                            </p:txEl>
                                          </p:spTgt>
                                        </p:tgtEl>
                                        <p:attrNameLst>
                                          <p:attrName>style.visibility</p:attrName>
                                        </p:attrNameLst>
                                      </p:cBhvr>
                                      <p:to>
                                        <p:strVal val="visible"/>
                                      </p:to>
                                    </p:set>
                                    <p:animEffect transition="in" filter="fade">
                                      <p:cBhvr>
                                        <p:cTn id="87" dur="500"/>
                                        <p:tgtEl>
                                          <p:spTgt spid="6">
                                            <p:txEl>
                                              <p:pRg st="14" end="14"/>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6">
                                            <p:txEl>
                                              <p:pRg st="15" end="15"/>
                                            </p:txEl>
                                          </p:spTgt>
                                        </p:tgtEl>
                                        <p:attrNameLst>
                                          <p:attrName>style.visibility</p:attrName>
                                        </p:attrNameLst>
                                      </p:cBhvr>
                                      <p:to>
                                        <p:strVal val="visible"/>
                                      </p:to>
                                    </p:set>
                                    <p:animEffect transition="in" filter="fade">
                                      <p:cBhvr>
                                        <p:cTn id="92" dur="500"/>
                                        <p:tgtEl>
                                          <p:spTgt spid="6">
                                            <p:txEl>
                                              <p:pRg st="15" end="15"/>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
                                            <p:txEl>
                                              <p:pRg st="16" end="16"/>
                                            </p:txEl>
                                          </p:spTgt>
                                        </p:tgtEl>
                                        <p:attrNameLst>
                                          <p:attrName>style.visibility</p:attrName>
                                        </p:attrNameLst>
                                      </p:cBhvr>
                                      <p:to>
                                        <p:strVal val="visible"/>
                                      </p:to>
                                    </p:set>
                                    <p:animEffect transition="in" filter="fade">
                                      <p:cBhvr>
                                        <p:cTn id="97" dur="500"/>
                                        <p:tgtEl>
                                          <p:spTgt spid="6">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1076122" y="1412905"/>
            <a:ext cx="6696744" cy="5016758"/>
          </a:xfrm>
          <a:prstGeom prst="rect">
            <a:avLst/>
          </a:prstGeom>
        </p:spPr>
        <p:txBody>
          <a:bodyPr wrap="square">
            <a:spAutoFit/>
          </a:bodyPr>
          <a:lstStyle/>
          <a:p>
            <a:pPr indent="254000" algn="just">
              <a:spcAft>
                <a:spcPts val="0"/>
              </a:spcAft>
            </a:pPr>
            <a:r>
              <a:rPr lang="en-US" altLang="zh-CN" sz="1600" b="1" dirty="0">
                <a:solidFill>
                  <a:srgbClr val="CC3399"/>
                </a:solidFill>
                <a:latin typeface="Times New Roman" panose="02020603050405020304" pitchFamily="18" charset="0"/>
                <a:ea typeface="微软雅黑" panose="020B0503020204020204" pitchFamily="34" charset="-122"/>
                <a:cs typeface="Times New Roman" panose="02020603050405020304" pitchFamily="18" charset="0"/>
              </a:rPr>
              <a:t> ADDP  PROC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加法子程序</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CX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8                 	; CX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←字节个数</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SI</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 SI</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←被加数首地址</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DI</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BX+2</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 DI</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←加数首地址</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AX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BX+4</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←和数首地址</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BX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AX                	; BX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←和数首地址</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CLC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清空进位标志</a:t>
            </a:r>
          </a:p>
          <a:p>
            <a:pPr indent="254000" algn="just">
              <a:spcAft>
                <a:spcPts val="0"/>
              </a:spcAft>
            </a:pPr>
            <a:r>
              <a:rPr lang="en-US" altLang="zh-CN" sz="1600" b="1" dirty="0">
                <a:solidFill>
                  <a:schemeClr val="accent4">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AL</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两数相加</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ADC   AL</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DI</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DAA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十进制调整</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AL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存储和数</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INC   SI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修改地址指针</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INC   DI</a:t>
            </a:r>
            <a:endPar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INC   BX                    </a:t>
            </a:r>
            <a:endPar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LOOP  </a:t>
            </a:r>
            <a:r>
              <a:rPr lang="en-US" altLang="zh-CN" sz="1600" b="1" dirty="0">
                <a:solidFill>
                  <a:schemeClr val="accent4">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AGAIN</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循环执行</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次</a:t>
            </a: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ADC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0</a:t>
            </a:r>
            <a:endPar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RET			</a:t>
            </a: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；返回主程序</a:t>
            </a:r>
          </a:p>
          <a:p>
            <a:pPr indent="254000" algn="just">
              <a:spcAft>
                <a:spcPts val="0"/>
              </a:spcAft>
            </a:pPr>
            <a:r>
              <a:rPr lang="en-US" altLang="zh-CN" sz="1600" b="1" dirty="0">
                <a:solidFill>
                  <a:srgbClr val="CC3399"/>
                </a:solidFill>
                <a:latin typeface="Times New Roman" panose="02020603050405020304" pitchFamily="18" charset="0"/>
                <a:ea typeface="微软雅黑" panose="020B0503020204020204" pitchFamily="34" charset="-122"/>
                <a:cs typeface="Times New Roman" panose="02020603050405020304" pitchFamily="18" charset="0"/>
              </a:rPr>
              <a:t>ADDP 	 ENDP</a:t>
            </a:r>
            <a:endParaRPr lang="zh-CN" altLang="zh-CN" sz="1600" b="1" dirty="0">
              <a:solidFill>
                <a:srgbClr val="CC3399"/>
              </a:solidFill>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CODE 	 ENDS</a:t>
            </a:r>
            <a:endParaRPr lang="zh-CN" altLang="zh-CN" sz="16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indent="254000" algn="just">
              <a:spcAft>
                <a:spcPts val="0"/>
              </a:spcAft>
            </a:pP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END 	START</a:t>
            </a:r>
            <a:endPar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8" end="8"/>
                                            </p:txEl>
                                          </p:spTgt>
                                        </p:tgtEl>
                                        <p:attrNameLst>
                                          <p:attrName>style.visibility</p:attrName>
                                        </p:attrNameLst>
                                      </p:cBhvr>
                                      <p:to>
                                        <p:strVal val="visible"/>
                                      </p:to>
                                    </p:set>
                                    <p:animEffect transition="in" filter="fade">
                                      <p:cBhvr>
                                        <p:cTn id="47" dur="500"/>
                                        <p:tgtEl>
                                          <p:spTgt spid="5">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9" end="9"/>
                                            </p:txEl>
                                          </p:spTgt>
                                        </p:tgtEl>
                                        <p:attrNameLst>
                                          <p:attrName>style.visibility</p:attrName>
                                        </p:attrNameLst>
                                      </p:cBhvr>
                                      <p:to>
                                        <p:strVal val="visible"/>
                                      </p:to>
                                    </p:set>
                                    <p:animEffect transition="in" filter="fade">
                                      <p:cBhvr>
                                        <p:cTn id="52" dur="500"/>
                                        <p:tgtEl>
                                          <p:spTgt spid="5">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
                                            <p:txEl>
                                              <p:pRg st="10" end="10"/>
                                            </p:txEl>
                                          </p:spTgt>
                                        </p:tgtEl>
                                        <p:attrNameLst>
                                          <p:attrName>style.visibility</p:attrName>
                                        </p:attrNameLst>
                                      </p:cBhvr>
                                      <p:to>
                                        <p:strVal val="visible"/>
                                      </p:to>
                                    </p:set>
                                    <p:animEffect transition="in" filter="fade">
                                      <p:cBhvr>
                                        <p:cTn id="57" dur="500"/>
                                        <p:tgtEl>
                                          <p:spTgt spid="5">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
                                            <p:txEl>
                                              <p:pRg st="11" end="11"/>
                                            </p:txEl>
                                          </p:spTgt>
                                        </p:tgtEl>
                                        <p:attrNameLst>
                                          <p:attrName>style.visibility</p:attrName>
                                        </p:attrNameLst>
                                      </p:cBhvr>
                                      <p:to>
                                        <p:strVal val="visible"/>
                                      </p:to>
                                    </p:set>
                                    <p:animEffect transition="in" filter="fade">
                                      <p:cBhvr>
                                        <p:cTn id="62" dur="500"/>
                                        <p:tgtEl>
                                          <p:spTgt spid="5">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5">
                                            <p:txEl>
                                              <p:pRg st="12" end="12"/>
                                            </p:txEl>
                                          </p:spTgt>
                                        </p:tgtEl>
                                        <p:attrNameLst>
                                          <p:attrName>style.visibility</p:attrName>
                                        </p:attrNameLst>
                                      </p:cBhvr>
                                      <p:to>
                                        <p:strVal val="visible"/>
                                      </p:to>
                                    </p:set>
                                    <p:animEffect transition="in" filter="fade">
                                      <p:cBhvr>
                                        <p:cTn id="67" dur="500"/>
                                        <p:tgtEl>
                                          <p:spTgt spid="5">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
                                            <p:txEl>
                                              <p:pRg st="13" end="13"/>
                                            </p:txEl>
                                          </p:spTgt>
                                        </p:tgtEl>
                                        <p:attrNameLst>
                                          <p:attrName>style.visibility</p:attrName>
                                        </p:attrNameLst>
                                      </p:cBhvr>
                                      <p:to>
                                        <p:strVal val="visible"/>
                                      </p:to>
                                    </p:set>
                                    <p:animEffect transition="in" filter="fade">
                                      <p:cBhvr>
                                        <p:cTn id="72" dur="500"/>
                                        <p:tgtEl>
                                          <p:spTgt spid="5">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
                                            <p:txEl>
                                              <p:pRg st="14" end="14"/>
                                            </p:txEl>
                                          </p:spTgt>
                                        </p:tgtEl>
                                        <p:attrNameLst>
                                          <p:attrName>style.visibility</p:attrName>
                                        </p:attrNameLst>
                                      </p:cBhvr>
                                      <p:to>
                                        <p:strVal val="visible"/>
                                      </p:to>
                                    </p:set>
                                    <p:animEffect transition="in" filter="fade">
                                      <p:cBhvr>
                                        <p:cTn id="77" dur="500"/>
                                        <p:tgtEl>
                                          <p:spTgt spid="5">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5">
                                            <p:txEl>
                                              <p:pRg st="15" end="15"/>
                                            </p:txEl>
                                          </p:spTgt>
                                        </p:tgtEl>
                                        <p:attrNameLst>
                                          <p:attrName>style.visibility</p:attrName>
                                        </p:attrNameLst>
                                      </p:cBhvr>
                                      <p:to>
                                        <p:strVal val="visible"/>
                                      </p:to>
                                    </p:set>
                                    <p:animEffect transition="in" filter="fade">
                                      <p:cBhvr>
                                        <p:cTn id="82" dur="500"/>
                                        <p:tgtEl>
                                          <p:spTgt spid="5">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
                                            <p:txEl>
                                              <p:pRg st="16" end="16"/>
                                            </p:txEl>
                                          </p:spTgt>
                                        </p:tgtEl>
                                        <p:attrNameLst>
                                          <p:attrName>style.visibility</p:attrName>
                                        </p:attrNameLst>
                                      </p:cBhvr>
                                      <p:to>
                                        <p:strVal val="visible"/>
                                      </p:to>
                                    </p:set>
                                    <p:animEffect transition="in" filter="fade">
                                      <p:cBhvr>
                                        <p:cTn id="87" dur="500"/>
                                        <p:tgtEl>
                                          <p:spTgt spid="5">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
                                            <p:txEl>
                                              <p:pRg st="17" end="17"/>
                                            </p:txEl>
                                          </p:spTgt>
                                        </p:tgtEl>
                                        <p:attrNameLst>
                                          <p:attrName>style.visibility</p:attrName>
                                        </p:attrNameLst>
                                      </p:cBhvr>
                                      <p:to>
                                        <p:strVal val="visible"/>
                                      </p:to>
                                    </p:set>
                                    <p:animEffect transition="in" filter="fade">
                                      <p:cBhvr>
                                        <p:cTn id="92" dur="500"/>
                                        <p:tgtEl>
                                          <p:spTgt spid="5">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5">
                                            <p:txEl>
                                              <p:pRg st="18" end="18"/>
                                            </p:txEl>
                                          </p:spTgt>
                                        </p:tgtEl>
                                        <p:attrNameLst>
                                          <p:attrName>style.visibility</p:attrName>
                                        </p:attrNameLst>
                                      </p:cBhvr>
                                      <p:to>
                                        <p:strVal val="visible"/>
                                      </p:to>
                                    </p:set>
                                    <p:animEffect transition="in" filter="fade">
                                      <p:cBhvr>
                                        <p:cTn id="97" dur="500"/>
                                        <p:tgtEl>
                                          <p:spTgt spid="5">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5">
                                            <p:txEl>
                                              <p:pRg st="19" end="19"/>
                                            </p:txEl>
                                          </p:spTgt>
                                        </p:tgtEl>
                                        <p:attrNameLst>
                                          <p:attrName>style.visibility</p:attrName>
                                        </p:attrNameLst>
                                      </p:cBhvr>
                                      <p:to>
                                        <p:strVal val="visible"/>
                                      </p:to>
                                    </p:set>
                                    <p:animEffect transition="in" filter="fade">
                                      <p:cBhvr>
                                        <p:cTn id="102" dur="500"/>
                                        <p:tgtEl>
                                          <p:spTgt spid="5">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zh-CN" altLang="en-US" b="1" dirty="0"/>
              <a:t>③用堆栈传递参数</a:t>
            </a:r>
            <a:r>
              <a:rPr lang="en-US" altLang="zh-CN" b="1" dirty="0"/>
              <a:t>		</a:t>
            </a:r>
            <a:endParaRPr lang="zh-CN" altLang="en-US" b="1" dirty="0"/>
          </a:p>
        </p:txBody>
      </p:sp>
      <p:sp>
        <p:nvSpPr>
          <p:cNvPr id="3" name="文本占位符 2"/>
          <p:cNvSpPr>
            <a:spLocks noGrp="1"/>
          </p:cNvSpPr>
          <p:nvPr>
            <p:ph type="body" sz="quarter" idx="10"/>
          </p:nvPr>
        </p:nvSpPr>
        <p:spPr>
          <a:xfrm>
            <a:off x="468312" y="1016275"/>
            <a:ext cx="5832475" cy="512415"/>
          </a:xfrm>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440273" y="2564904"/>
            <a:ext cx="3153476" cy="3077766"/>
          </a:xfrm>
          <a:prstGeom prst="rect">
            <a:avLst/>
          </a:prstGeom>
        </p:spPr>
        <p:txBody>
          <a:bodyPr wrap="square">
            <a:spAutoFit/>
          </a:bodyPr>
          <a:lstStyle/>
          <a:p>
            <a:pPr marL="285750" indent="-285750">
              <a:buFont typeface="Wingdings" panose="05000000000000000000" pitchFamily="2" charset="2"/>
              <a:buChar char="Ø"/>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转向子程序前，将子程序所用的参数压入堆栈，进入子程序，由子程序从堆栈中取出所用的参数。</a:t>
            </a:r>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Ø"/>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对于这种参数传递方法，在子程序中经常使用带参数的返回指令</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RET  n</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，它可以在恢复断点后，再将堆栈指针</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SP</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加</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，从而跳过参数区，使栈顶恢复到调子前的位置。</a:t>
            </a:r>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Ø"/>
            </a:pP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在子程序中，堆栈中的参数访问可以使用基址寄存器</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dirty="0"/>
              <a:t>。</a:t>
            </a:r>
          </a:p>
        </p:txBody>
      </p:sp>
      <p:sp>
        <p:nvSpPr>
          <p:cNvPr id="6" name="矩形 5"/>
          <p:cNvSpPr/>
          <p:nvPr/>
        </p:nvSpPr>
        <p:spPr>
          <a:xfrm>
            <a:off x="3936715" y="1272482"/>
            <a:ext cx="5067870" cy="5046345"/>
          </a:xfrm>
          <a:prstGeom prst="rect">
            <a:avLst/>
          </a:prstGeom>
          <a:solidFill>
            <a:srgbClr val="FFFFCC"/>
          </a:solidFill>
          <a:ln>
            <a:solidFill>
              <a:srgbClr val="CC00CC"/>
            </a:solidFill>
          </a:ln>
        </p:spPr>
        <p:txBody>
          <a:bodyPr wrap="square">
            <a:spAutoFit/>
          </a:bodyPr>
          <a:lstStyle/>
          <a:p>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传递的参数压栈</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OFFSET SUM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和数首地址</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PUSH   	AX		</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OFFSET DAT2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加数首地址</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PUSH   	AX</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OFFSET DAT1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被加数首地址</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PUSH   	AX                     			</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CALL   	ADDP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调用子程序</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AH</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4CH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返回</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DOS</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INT    	21H</a:t>
            </a:r>
          </a:p>
          <a:p>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ADDP</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PROC</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PUSH 	BP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保护现场</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MOV 	BP</a:t>
            </a:r>
            <a:r>
              <a:rPr lang="zh-CN" altLang="en-US" sz="14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SP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设置访问参数的指针</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，指向栈顶</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CX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8</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BP+4</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取被加数地址</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DI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BP+6</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;DI←</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取加数地址</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MOV 	BX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BP+8</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取和数地址</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POP 	BP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恢复现场</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	RET 	6                   ;</a:t>
            </a:r>
            <a:r>
              <a:rPr lang="zh-CN" altLang="en-US" sz="1400" b="1" dirty="0">
                <a:latin typeface="Times New Roman" panose="02020603050405020304" pitchFamily="18" charset="0"/>
                <a:ea typeface="微软雅黑" panose="020B0503020204020204" pitchFamily="34" charset="-122"/>
                <a:cs typeface="Times New Roman" panose="02020603050405020304" pitchFamily="18" charset="0"/>
              </a:rPr>
              <a:t>返回并修改</a:t>
            </a:r>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SP</a:t>
            </a:r>
          </a:p>
          <a:p>
            <a:r>
              <a:rPr lang="en-US" altLang="zh-CN" sz="1400" b="1" dirty="0">
                <a:latin typeface="Times New Roman" panose="02020603050405020304" pitchFamily="18" charset="0"/>
                <a:ea typeface="微软雅黑" panose="020B0503020204020204" pitchFamily="34" charset="-122"/>
                <a:cs typeface="Times New Roman" panose="02020603050405020304" pitchFamily="18" charset="0"/>
              </a:rPr>
              <a:t>ADDP 	</a:t>
            </a:r>
            <a:r>
              <a:rPr lang="en-US" altLang="zh-CN" sz="14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ENDP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bg/>
                                          </p:spTgt>
                                        </p:tgtEl>
                                        <p:attrNameLst>
                                          <p:attrName>style.visibility</p:attrName>
                                        </p:attrNameLst>
                                      </p:cBhvr>
                                      <p:to>
                                        <p:strVal val="visible"/>
                                      </p:to>
                                    </p:set>
                                    <p:animEffect transition="in" filter="fade">
                                      <p:cBhvr>
                                        <p:cTn id="27" dur="500"/>
                                        <p:tgtEl>
                                          <p:spTgt spid="6">
                                            <p:bg/>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fade">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animEffect transition="in" filter="fade">
                                      <p:cBhvr>
                                        <p:cTn id="37" dur="500"/>
                                        <p:tgtEl>
                                          <p:spTgt spid="6">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2" end="2"/>
                                            </p:txEl>
                                          </p:spTgt>
                                        </p:tgtEl>
                                        <p:attrNameLst>
                                          <p:attrName>style.visibility</p:attrName>
                                        </p:attrNameLst>
                                      </p:cBhvr>
                                      <p:to>
                                        <p:strVal val="visible"/>
                                      </p:to>
                                    </p:set>
                                    <p:animEffect transition="in" filter="fade">
                                      <p:cBhvr>
                                        <p:cTn id="42" dur="500"/>
                                        <p:tgtEl>
                                          <p:spTgt spid="6">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animEffect transition="in" filter="fade">
                                      <p:cBhvr>
                                        <p:cTn id="47" dur="500"/>
                                        <p:tgtEl>
                                          <p:spTgt spid="6">
                                            <p:txEl>
                                              <p:pRg st="3" end="3"/>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Effect transition="in" filter="fade">
                                      <p:cBhvr>
                                        <p:cTn id="52" dur="500"/>
                                        <p:tgtEl>
                                          <p:spTgt spid="6">
                                            <p:txEl>
                                              <p:pRg st="4" end="4"/>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5" end="5"/>
                                            </p:txEl>
                                          </p:spTgt>
                                        </p:tgtEl>
                                        <p:attrNameLst>
                                          <p:attrName>style.visibility</p:attrName>
                                        </p:attrNameLst>
                                      </p:cBhvr>
                                      <p:to>
                                        <p:strVal val="visible"/>
                                      </p:to>
                                    </p:set>
                                    <p:animEffect transition="in" filter="fade">
                                      <p:cBhvr>
                                        <p:cTn id="57" dur="500"/>
                                        <p:tgtEl>
                                          <p:spTgt spid="6">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
                                            <p:txEl>
                                              <p:pRg st="6" end="6"/>
                                            </p:txEl>
                                          </p:spTgt>
                                        </p:tgtEl>
                                        <p:attrNameLst>
                                          <p:attrName>style.visibility</p:attrName>
                                        </p:attrNameLst>
                                      </p:cBhvr>
                                      <p:to>
                                        <p:strVal val="visible"/>
                                      </p:to>
                                    </p:set>
                                    <p:animEffect transition="in" filter="fade">
                                      <p:cBhvr>
                                        <p:cTn id="62" dur="500"/>
                                        <p:tgtEl>
                                          <p:spTgt spid="6">
                                            <p:txEl>
                                              <p:pRg st="6" end="6"/>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
                                            <p:txEl>
                                              <p:pRg st="7" end="7"/>
                                            </p:txEl>
                                          </p:spTgt>
                                        </p:tgtEl>
                                        <p:attrNameLst>
                                          <p:attrName>style.visibility</p:attrName>
                                        </p:attrNameLst>
                                      </p:cBhvr>
                                      <p:to>
                                        <p:strVal val="visible"/>
                                      </p:to>
                                    </p:set>
                                    <p:animEffect transition="in" filter="fade">
                                      <p:cBhvr>
                                        <p:cTn id="67" dur="500"/>
                                        <p:tgtEl>
                                          <p:spTgt spid="6">
                                            <p:txEl>
                                              <p:pRg st="7" end="7"/>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6">
                                            <p:txEl>
                                              <p:pRg st="8" end="8"/>
                                            </p:txEl>
                                          </p:spTgt>
                                        </p:tgtEl>
                                        <p:attrNameLst>
                                          <p:attrName>style.visibility</p:attrName>
                                        </p:attrNameLst>
                                      </p:cBhvr>
                                      <p:to>
                                        <p:strVal val="visible"/>
                                      </p:to>
                                    </p:set>
                                    <p:animEffect transition="in" filter="fade">
                                      <p:cBhvr>
                                        <p:cTn id="72" dur="500"/>
                                        <p:tgtEl>
                                          <p:spTgt spid="6">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
                                            <p:txEl>
                                              <p:pRg st="9" end="9"/>
                                            </p:txEl>
                                          </p:spTgt>
                                        </p:tgtEl>
                                        <p:attrNameLst>
                                          <p:attrName>style.visibility</p:attrName>
                                        </p:attrNameLst>
                                      </p:cBhvr>
                                      <p:to>
                                        <p:strVal val="visible"/>
                                      </p:to>
                                    </p:set>
                                    <p:animEffect transition="in" filter="fade">
                                      <p:cBhvr>
                                        <p:cTn id="77" dur="500"/>
                                        <p:tgtEl>
                                          <p:spTgt spid="6">
                                            <p:txEl>
                                              <p:pRg st="9" end="9"/>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6">
                                            <p:txEl>
                                              <p:pRg st="10" end="10"/>
                                            </p:txEl>
                                          </p:spTgt>
                                        </p:tgtEl>
                                        <p:attrNameLst>
                                          <p:attrName>style.visibility</p:attrName>
                                        </p:attrNameLst>
                                      </p:cBhvr>
                                      <p:to>
                                        <p:strVal val="visible"/>
                                      </p:to>
                                    </p:set>
                                    <p:animEffect transition="in" filter="fade">
                                      <p:cBhvr>
                                        <p:cTn id="82" dur="500"/>
                                        <p:tgtEl>
                                          <p:spTgt spid="6">
                                            <p:txEl>
                                              <p:pRg st="10" end="1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6">
                                            <p:txEl>
                                              <p:pRg st="11" end="11"/>
                                            </p:txEl>
                                          </p:spTgt>
                                        </p:tgtEl>
                                        <p:attrNameLst>
                                          <p:attrName>style.visibility</p:attrName>
                                        </p:attrNameLst>
                                      </p:cBhvr>
                                      <p:to>
                                        <p:strVal val="visible"/>
                                      </p:to>
                                    </p:set>
                                    <p:animEffect transition="in" filter="fade">
                                      <p:cBhvr>
                                        <p:cTn id="87" dur="500"/>
                                        <p:tgtEl>
                                          <p:spTgt spid="6">
                                            <p:txEl>
                                              <p:pRg st="11" end="11"/>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6">
                                            <p:txEl>
                                              <p:pRg st="12" end="12"/>
                                            </p:txEl>
                                          </p:spTgt>
                                        </p:tgtEl>
                                        <p:attrNameLst>
                                          <p:attrName>style.visibility</p:attrName>
                                        </p:attrNameLst>
                                      </p:cBhvr>
                                      <p:to>
                                        <p:strVal val="visible"/>
                                      </p:to>
                                    </p:set>
                                    <p:animEffect transition="in" filter="fade">
                                      <p:cBhvr>
                                        <p:cTn id="92" dur="500"/>
                                        <p:tgtEl>
                                          <p:spTgt spid="6">
                                            <p:txEl>
                                              <p:pRg st="12" end="12"/>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6">
                                            <p:txEl>
                                              <p:pRg st="13" end="13"/>
                                            </p:txEl>
                                          </p:spTgt>
                                        </p:tgtEl>
                                        <p:attrNameLst>
                                          <p:attrName>style.visibility</p:attrName>
                                        </p:attrNameLst>
                                      </p:cBhvr>
                                      <p:to>
                                        <p:strVal val="visible"/>
                                      </p:to>
                                    </p:set>
                                    <p:animEffect transition="in" filter="fade">
                                      <p:cBhvr>
                                        <p:cTn id="97" dur="500"/>
                                        <p:tgtEl>
                                          <p:spTgt spid="6">
                                            <p:txEl>
                                              <p:pRg st="13" end="13"/>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6">
                                            <p:txEl>
                                              <p:pRg st="14" end="14"/>
                                            </p:txEl>
                                          </p:spTgt>
                                        </p:tgtEl>
                                        <p:attrNameLst>
                                          <p:attrName>style.visibility</p:attrName>
                                        </p:attrNameLst>
                                      </p:cBhvr>
                                      <p:to>
                                        <p:strVal val="visible"/>
                                      </p:to>
                                    </p:set>
                                    <p:animEffect transition="in" filter="fade">
                                      <p:cBhvr>
                                        <p:cTn id="102" dur="500"/>
                                        <p:tgtEl>
                                          <p:spTgt spid="6">
                                            <p:txEl>
                                              <p:pRg st="14" end="14"/>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6">
                                            <p:txEl>
                                              <p:pRg st="15" end="15"/>
                                            </p:txEl>
                                          </p:spTgt>
                                        </p:tgtEl>
                                        <p:attrNameLst>
                                          <p:attrName>style.visibility</p:attrName>
                                        </p:attrNameLst>
                                      </p:cBhvr>
                                      <p:to>
                                        <p:strVal val="visible"/>
                                      </p:to>
                                    </p:set>
                                    <p:animEffect transition="in" filter="fade">
                                      <p:cBhvr>
                                        <p:cTn id="107" dur="500"/>
                                        <p:tgtEl>
                                          <p:spTgt spid="6">
                                            <p:txEl>
                                              <p:pRg st="15" end="15"/>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6">
                                            <p:txEl>
                                              <p:pRg st="16" end="16"/>
                                            </p:txEl>
                                          </p:spTgt>
                                        </p:tgtEl>
                                        <p:attrNameLst>
                                          <p:attrName>style.visibility</p:attrName>
                                        </p:attrNameLst>
                                      </p:cBhvr>
                                      <p:to>
                                        <p:strVal val="visible"/>
                                      </p:to>
                                    </p:set>
                                    <p:animEffect transition="in" filter="fade">
                                      <p:cBhvr>
                                        <p:cTn id="112" dur="500"/>
                                        <p:tgtEl>
                                          <p:spTgt spid="6">
                                            <p:txEl>
                                              <p:pRg st="16" end="16"/>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6">
                                            <p:txEl>
                                              <p:pRg st="17" end="17"/>
                                            </p:txEl>
                                          </p:spTgt>
                                        </p:tgtEl>
                                        <p:attrNameLst>
                                          <p:attrName>style.visibility</p:attrName>
                                        </p:attrNameLst>
                                      </p:cBhvr>
                                      <p:to>
                                        <p:strVal val="visible"/>
                                      </p:to>
                                    </p:set>
                                    <p:animEffect transition="in" filter="fade">
                                      <p:cBhvr>
                                        <p:cTn id="117" dur="500"/>
                                        <p:tgtEl>
                                          <p:spTgt spid="6">
                                            <p:txEl>
                                              <p:pRg st="17" end="17"/>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6">
                                            <p:txEl>
                                              <p:pRg st="18" end="18"/>
                                            </p:txEl>
                                          </p:spTgt>
                                        </p:tgtEl>
                                        <p:attrNameLst>
                                          <p:attrName>style.visibility</p:attrName>
                                        </p:attrNameLst>
                                      </p:cBhvr>
                                      <p:to>
                                        <p:strVal val="visible"/>
                                      </p:to>
                                    </p:set>
                                    <p:animEffect transition="in" filter="fade">
                                      <p:cBhvr>
                                        <p:cTn id="122" dur="500"/>
                                        <p:tgtEl>
                                          <p:spTgt spid="6">
                                            <p:txEl>
                                              <p:pRg st="18" end="18"/>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6">
                                            <p:txEl>
                                              <p:pRg st="19" end="19"/>
                                            </p:txEl>
                                          </p:spTgt>
                                        </p:tgtEl>
                                        <p:attrNameLst>
                                          <p:attrName>style.visibility</p:attrName>
                                        </p:attrNameLst>
                                      </p:cBhvr>
                                      <p:to>
                                        <p:strVal val="visible"/>
                                      </p:to>
                                    </p:set>
                                    <p:animEffect transition="in" filter="fade">
                                      <p:cBhvr>
                                        <p:cTn id="127" dur="500"/>
                                        <p:tgtEl>
                                          <p:spTgt spid="6">
                                            <p:txEl>
                                              <p:pRg st="19" end="19"/>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0" presetClass="entr" presetSubtype="0" fill="hold" grpId="0" nodeType="clickEffect">
                                  <p:stCondLst>
                                    <p:cond delay="0"/>
                                  </p:stCondLst>
                                  <p:childTnLst>
                                    <p:set>
                                      <p:cBhvr>
                                        <p:cTn id="131" dur="1" fill="hold">
                                          <p:stCondLst>
                                            <p:cond delay="0"/>
                                          </p:stCondLst>
                                        </p:cTn>
                                        <p:tgtEl>
                                          <p:spTgt spid="6">
                                            <p:txEl>
                                              <p:pRg st="20" end="20"/>
                                            </p:txEl>
                                          </p:spTgt>
                                        </p:tgtEl>
                                        <p:attrNameLst>
                                          <p:attrName>style.visibility</p:attrName>
                                        </p:attrNameLst>
                                      </p:cBhvr>
                                      <p:to>
                                        <p:strVal val="visible"/>
                                      </p:to>
                                    </p:set>
                                    <p:animEffect transition="in" filter="fade">
                                      <p:cBhvr>
                                        <p:cTn id="132" dur="500"/>
                                        <p:tgtEl>
                                          <p:spTgt spid="6">
                                            <p:txEl>
                                              <p:pRg st="20" end="2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10" presetClass="entr" presetSubtype="0" fill="hold" grpId="0" nodeType="clickEffect">
                                  <p:stCondLst>
                                    <p:cond delay="0"/>
                                  </p:stCondLst>
                                  <p:childTnLst>
                                    <p:set>
                                      <p:cBhvr>
                                        <p:cTn id="136" dur="1" fill="hold">
                                          <p:stCondLst>
                                            <p:cond delay="0"/>
                                          </p:stCondLst>
                                        </p:cTn>
                                        <p:tgtEl>
                                          <p:spTgt spid="6">
                                            <p:txEl>
                                              <p:pRg st="21" end="21"/>
                                            </p:txEl>
                                          </p:spTgt>
                                        </p:tgtEl>
                                        <p:attrNameLst>
                                          <p:attrName>style.visibility</p:attrName>
                                        </p:attrNameLst>
                                      </p:cBhvr>
                                      <p:to>
                                        <p:strVal val="visible"/>
                                      </p:to>
                                    </p:set>
                                    <p:animEffect transition="in" filter="fade">
                                      <p:cBhvr>
                                        <p:cTn id="137" dur="500"/>
                                        <p:tgtEl>
                                          <p:spTgt spid="6">
                                            <p:txEl>
                                              <p:pRg st="21"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6" grpId="0" build="p"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pic>
        <p:nvPicPr>
          <p:cNvPr id="7170" name="图片 10" descr="4T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84337" y="1844824"/>
            <a:ext cx="5695975" cy="3063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1043484" y="5157275"/>
            <a:ext cx="7793930" cy="1200329"/>
          </a:xfrm>
          <a:prstGeom prst="rect">
            <a:avLst/>
          </a:prstGeom>
        </p:spPr>
        <p:txBody>
          <a:bodyPr wrap="square">
            <a:spAutoFit/>
          </a:bodyPr>
          <a:lstStyle/>
          <a:p>
            <a:pPr marL="285750" indent="-285750">
              <a:buFont typeface="Wingdings" panose="05000000000000000000" pitchFamily="2" charset="2"/>
              <a:buChar char="Ø"/>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主程序在转入子程序执行之前，将被加数首地址、加数首地址、和数首地址压入堆栈。</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buFont typeface="Wingdings" panose="05000000000000000000" pitchFamily="2" charset="2"/>
              <a:buChar char="Ø"/>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子程序利用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BP</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指针取出这些参数。在子程序执行完后，又通过带参数的返回指令跳过参数区，使</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SP</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恢复到调子之前的值。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wipe(down)">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8280" y="1478626"/>
            <a:ext cx="8229600" cy="563562"/>
          </a:xfrm>
        </p:spPr>
        <p:txBody>
          <a:bodyPr/>
          <a:lstStyle/>
          <a:p>
            <a:r>
              <a:rPr lang="en-US" altLang="zh-CN" b="1" dirty="0">
                <a:latin typeface="Times New Roman" panose="02020603050405020304" pitchFamily="18" charset="0"/>
                <a:cs typeface="Times New Roman" panose="02020603050405020304" pitchFamily="18" charset="0"/>
              </a:rPr>
              <a:t>④</a:t>
            </a:r>
            <a:r>
              <a:rPr lang="zh-CN" altLang="zh-CN" b="1" dirty="0">
                <a:latin typeface="Times New Roman" panose="02020603050405020304" pitchFamily="18" charset="0"/>
                <a:cs typeface="Times New Roman" panose="02020603050405020304" pitchFamily="18" charset="0"/>
              </a:rPr>
              <a:t>子程序的嵌套和递归调用</a:t>
            </a:r>
            <a:endParaRPr lang="zh-CN" altLang="en-US" b="1"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Rectangle 3" descr="Rectangle: Click to edit Master text styles&#10;Second level&#10;Third level&#10;Fourth level&#10;Fifth level"/>
          <p:cNvSpPr txBox="1">
            <a:spLocks noChangeArrowheads="1"/>
          </p:cNvSpPr>
          <p:nvPr/>
        </p:nvSpPr>
        <p:spPr bwMode="auto">
          <a:xfrm>
            <a:off x="277191" y="2042188"/>
            <a:ext cx="8280400" cy="3742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base">
              <a:spcBef>
                <a:spcPct val="20000"/>
              </a:spcBef>
              <a:spcAft>
                <a:spcPct val="0"/>
              </a:spcAft>
              <a:buClr>
                <a:schemeClr val="hlink"/>
              </a:buClr>
              <a:buSzPct val="110000"/>
              <a:buFont typeface="Wingdings" panose="05000000000000000000" pitchFamily="2" charset="2"/>
              <a:buBlip>
                <a:blip r:embed="rId2"/>
              </a:buBlip>
              <a:defRPr sz="3000" b="1" kern="1200">
                <a:solidFill>
                  <a:srgbClr val="000054"/>
                </a:solidFill>
                <a:latin typeface="+mn-lt"/>
                <a:ea typeface="+mn-ea"/>
                <a:cs typeface="+mn-cs"/>
              </a:defRPr>
            </a:lvl1pPr>
            <a:lvl2pPr marL="742950" indent="-285750" algn="l" rtl="0" fontAlgn="base">
              <a:spcBef>
                <a:spcPct val="20000"/>
              </a:spcBef>
              <a:spcAft>
                <a:spcPct val="0"/>
              </a:spcAft>
              <a:buClr>
                <a:schemeClr val="tx1"/>
              </a:buClr>
              <a:buSzPct val="60000"/>
              <a:buFont typeface="Wingdings" panose="05000000000000000000" pitchFamily="2" charset="2"/>
              <a:buChar char="n"/>
              <a:defRPr sz="2800" b="1" kern="1200">
                <a:solidFill>
                  <a:srgbClr val="000054"/>
                </a:solidFill>
                <a:latin typeface="+mn-lt"/>
                <a:ea typeface="+mn-ea"/>
                <a:cs typeface="+mn-cs"/>
              </a:defRPr>
            </a:lvl2pPr>
            <a:lvl3pPr marL="1143000" indent="-228600" algn="l" rtl="0" fontAlgn="base">
              <a:spcBef>
                <a:spcPct val="20000"/>
              </a:spcBef>
              <a:spcAft>
                <a:spcPct val="0"/>
              </a:spcAft>
              <a:buClr>
                <a:schemeClr val="hlink"/>
              </a:buClr>
              <a:buSzPct val="95000"/>
              <a:buFont typeface="Wingdings" panose="05000000000000000000" pitchFamily="2" charset="2"/>
              <a:buChar char="w"/>
              <a:defRPr sz="2400" b="1" kern="1200">
                <a:solidFill>
                  <a:srgbClr val="000054"/>
                </a:solidFill>
                <a:latin typeface="+mn-lt"/>
                <a:ea typeface="+mn-ea"/>
                <a:cs typeface="+mn-cs"/>
              </a:defRPr>
            </a:lvl3pPr>
            <a:lvl4pPr marL="1600200" indent="-228600" algn="l" rtl="0" fontAlgn="base">
              <a:spcBef>
                <a:spcPct val="20000"/>
              </a:spcBef>
              <a:spcAft>
                <a:spcPct val="0"/>
              </a:spcAft>
              <a:buClr>
                <a:schemeClr val="tx1"/>
              </a:buClr>
              <a:buSzPct val="65000"/>
              <a:buFont typeface="Wingdings" panose="05000000000000000000" pitchFamily="2" charset="2"/>
              <a:buChar char="n"/>
              <a:defRPr sz="2000" b="1" kern="1200">
                <a:solidFill>
                  <a:srgbClr val="000054"/>
                </a:solidFill>
                <a:latin typeface="+mn-lt"/>
                <a:ea typeface="+mn-ea"/>
                <a:cs typeface="+mn-cs"/>
              </a:defRPr>
            </a:lvl4pPr>
            <a:lvl5pPr marL="2057400" indent="-228600" algn="l" rtl="0" fontAlgn="base">
              <a:spcBef>
                <a:spcPct val="20000"/>
              </a:spcBef>
              <a:spcAft>
                <a:spcPct val="0"/>
              </a:spcAft>
              <a:buClr>
                <a:schemeClr val="hlink"/>
              </a:buClr>
              <a:buSzPct val="60000"/>
              <a:buFont typeface="Wingdings" panose="05000000000000000000" pitchFamily="2" charset="2"/>
              <a:buChar char="n"/>
              <a:defRPr sz="2000" b="1" kern="1200">
                <a:solidFill>
                  <a:srgbClr val="00005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90000"/>
              </a:lnSpc>
              <a:spcBef>
                <a:spcPct val="20000"/>
              </a:spcBef>
              <a:spcAft>
                <a:spcPct val="0"/>
              </a:spcAft>
              <a:buClr>
                <a:srgbClr val="6F89F7"/>
              </a:buClr>
              <a:buSzPct val="100000"/>
              <a:buFont typeface="Wingdings" panose="05000000000000000000" pitchFamily="2" charset="2"/>
              <a:buChar char="Ø"/>
              <a:defRPr/>
            </a:pP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子程序中又调用另外一个子程序叫做</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子程序嵌套</a:t>
            </a: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。嵌套的层次不限</a:t>
            </a:r>
            <a:r>
              <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受到堆栈大小的限制</a:t>
            </a:r>
            <a:r>
              <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。嵌套的层次叫</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深度</a:t>
            </a: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342900" marR="0" lvl="0" indent="-342900" algn="l" defTabSz="914400" rtl="0" eaLnBrk="1" fontAlgn="base" latinLnBrk="0" hangingPunct="1">
              <a:lnSpc>
                <a:spcPct val="90000"/>
              </a:lnSpc>
              <a:spcBef>
                <a:spcPct val="20000"/>
              </a:spcBef>
              <a:spcAft>
                <a:spcPct val="0"/>
              </a:spcAft>
              <a:buClr>
                <a:srgbClr val="6F89F7"/>
              </a:buClr>
              <a:buSzPct val="100000"/>
              <a:buFont typeface="Wingdings" panose="05000000000000000000" pitchFamily="2" charset="2"/>
              <a:buChar char="Ø"/>
              <a:defRPr/>
            </a:pP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嵌套子程序的设计方法与前面学习的方法一致。</a:t>
            </a: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a:t>
            </a:r>
            <a:endPar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endPar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endPar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endPar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None/>
              <a:defRPr/>
            </a:pP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注意：</a:t>
            </a: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Blip>
                <a:blip r:embed="rId2"/>
              </a:buBlip>
              <a:defRPr/>
            </a:pP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子程序中的</a:t>
            </a:r>
            <a:r>
              <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CALL</a:t>
            </a: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a:t>
            </a:r>
            <a:r>
              <a:rPr kumimoji="0" lang="en-US" altLang="zh-CN"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RET</a:t>
            </a: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应正确使用。</a:t>
            </a:r>
          </a:p>
          <a:p>
            <a:pPr marL="342900" marR="0" lvl="0" indent="-342900" algn="l" defTabSz="914400" rtl="0" eaLnBrk="1" fontAlgn="base" latinLnBrk="0" hangingPunct="1">
              <a:lnSpc>
                <a:spcPct val="90000"/>
              </a:lnSpc>
              <a:spcBef>
                <a:spcPct val="20000"/>
              </a:spcBef>
              <a:spcAft>
                <a:spcPct val="0"/>
              </a:spcAft>
              <a:buClr>
                <a:srgbClr val="6F89F7"/>
              </a:buClr>
              <a:buSzPct val="110000"/>
              <a:buFont typeface="Wingdings" panose="05000000000000000000" pitchFamily="2" charset="2"/>
              <a:buBlip>
                <a:blip r:embed="rId2"/>
              </a:buBlip>
              <a:defRPr/>
            </a:pPr>
            <a:r>
              <a:rPr kumimoji="0" lang="zh-CN" altLang="en-US" sz="2000" b="1" i="0" u="none" strike="noStrike" kern="1200" cap="none" spc="0" normalizeH="0" baseline="0" noProof="0" dirty="0">
                <a:ln>
                  <a:noFill/>
                </a:ln>
                <a:solidFill>
                  <a:srgbClr val="000054"/>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在寄存器的保护、恢复时，避免层次之间因寄存器冲突而出错。</a:t>
            </a:r>
          </a:p>
        </p:txBody>
      </p:sp>
      <p:grpSp>
        <p:nvGrpSpPr>
          <p:cNvPr id="11" name="组合 10"/>
          <p:cNvGrpSpPr/>
          <p:nvPr/>
        </p:nvGrpSpPr>
        <p:grpSpPr>
          <a:xfrm>
            <a:off x="657087" y="3101166"/>
            <a:ext cx="6034405" cy="1722120"/>
            <a:chOff x="657087" y="3101166"/>
            <a:chExt cx="6034405" cy="1722120"/>
          </a:xfrm>
        </p:grpSpPr>
        <p:sp>
          <p:nvSpPr>
            <p:cNvPr id="6" name="Line 4"/>
            <p:cNvSpPr>
              <a:spLocks noChangeShapeType="1"/>
            </p:cNvSpPr>
            <p:nvPr/>
          </p:nvSpPr>
          <p:spPr bwMode="auto">
            <a:xfrm flipV="1">
              <a:off x="1907704" y="3349642"/>
              <a:ext cx="574675" cy="647700"/>
            </a:xfrm>
            <a:prstGeom prst="line">
              <a:avLst/>
            </a:prstGeom>
            <a:noFill/>
            <a:ln w="25400" cmpd="sng">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7" name="Line 5"/>
            <p:cNvSpPr>
              <a:spLocks noChangeShapeType="1"/>
            </p:cNvSpPr>
            <p:nvPr/>
          </p:nvSpPr>
          <p:spPr bwMode="auto">
            <a:xfrm flipV="1">
              <a:off x="3604267" y="3412335"/>
              <a:ext cx="385027" cy="512488"/>
            </a:xfrm>
            <a:prstGeom prst="line">
              <a:avLst/>
            </a:prstGeom>
            <a:noFill/>
            <a:ln w="25400" cmpd="sng">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8" name="Line 6"/>
            <p:cNvSpPr>
              <a:spLocks noChangeShapeType="1"/>
            </p:cNvSpPr>
            <p:nvPr/>
          </p:nvSpPr>
          <p:spPr bwMode="auto">
            <a:xfrm flipH="1" flipV="1">
              <a:off x="3681528" y="4221659"/>
              <a:ext cx="1008063" cy="576263"/>
            </a:xfrm>
            <a:prstGeom prst="line">
              <a:avLst/>
            </a:prstGeom>
            <a:noFill/>
            <a:ln w="25400" cmpd="sng">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9" name="Line 7"/>
            <p:cNvSpPr>
              <a:spLocks noChangeShapeType="1"/>
            </p:cNvSpPr>
            <p:nvPr/>
          </p:nvSpPr>
          <p:spPr bwMode="auto">
            <a:xfrm flipH="1" flipV="1">
              <a:off x="1832413" y="4239940"/>
              <a:ext cx="821769" cy="432098"/>
            </a:xfrm>
            <a:prstGeom prst="line">
              <a:avLst/>
            </a:prstGeom>
            <a:noFill/>
            <a:ln w="25400" cmpd="sng">
              <a:solidFill>
                <a:schemeClr val="tx1"/>
              </a:solidFill>
              <a:rou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zh-CN" altLang="en-US"/>
            </a:p>
          </p:txBody>
        </p:sp>
        <p:sp>
          <p:nvSpPr>
            <p:cNvPr id="10" name="矩形 9"/>
            <p:cNvSpPr/>
            <p:nvPr/>
          </p:nvSpPr>
          <p:spPr>
            <a:xfrm>
              <a:off x="657087" y="3101166"/>
              <a:ext cx="6034405" cy="1722120"/>
            </a:xfrm>
            <a:prstGeom prst="rect">
              <a:avLst/>
            </a:prstGeom>
          </p:spPr>
          <p:txBody>
            <a:bodyPr wrap="square">
              <a:spAutoFit/>
            </a:bodyPr>
            <a:lstStyle/>
            <a:p>
              <a:pPr marL="342900" lvl="0" indent="-342900">
                <a:lnSpc>
                  <a:spcPct val="90000"/>
                </a:lnSpc>
                <a:spcBef>
                  <a:spcPct val="20000"/>
                </a:spcBef>
                <a:buClr>
                  <a:srgbClr val="6F89F7"/>
                </a:buClr>
                <a:buSzPct val="110000"/>
                <a:defRPr/>
              </a:pP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主程序            子程序</a:t>
              </a: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P1       </a:t>
              </a:r>
              <a:r>
                <a:rPr lang="zh-CN" altLang="en-US"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P2</a:t>
              </a:r>
            </a:p>
            <a:p>
              <a:pPr marL="342900" lvl="0" indent="-342900">
                <a:lnSpc>
                  <a:spcPct val="90000"/>
                </a:lnSpc>
                <a:spcBef>
                  <a:spcPct val="20000"/>
                </a:spcBef>
                <a:buClr>
                  <a:srgbClr val="6F89F7"/>
                </a:buClr>
                <a:buSzPct val="110000"/>
                <a:defRPr/>
              </a:pP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                      ┇                    ┇</a:t>
              </a:r>
            </a:p>
            <a:p>
              <a:pPr marL="342900" lvl="0" indent="-342900">
                <a:lnSpc>
                  <a:spcPct val="90000"/>
                </a:lnSpc>
                <a:spcBef>
                  <a:spcPct val="20000"/>
                </a:spcBef>
                <a:buClr>
                  <a:srgbClr val="6F89F7"/>
                </a:buClr>
                <a:buSzPct val="110000"/>
                <a:defRPr/>
              </a:pP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CALL   P1           CALL  P2              ┇</a:t>
              </a:r>
            </a:p>
            <a:p>
              <a:pPr marL="342900" lvl="0" indent="-342900">
                <a:lnSpc>
                  <a:spcPct val="90000"/>
                </a:lnSpc>
                <a:spcBef>
                  <a:spcPct val="20000"/>
                </a:spcBef>
                <a:buClr>
                  <a:srgbClr val="6F89F7"/>
                </a:buClr>
                <a:buSzPct val="110000"/>
                <a:defRPr/>
              </a:pP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                      ┇                   ┇</a:t>
              </a:r>
            </a:p>
            <a:p>
              <a:pPr marL="342900" lvl="0" indent="-342900">
                <a:lnSpc>
                  <a:spcPct val="90000"/>
                </a:lnSpc>
                <a:spcBef>
                  <a:spcPct val="20000"/>
                </a:spcBef>
                <a:buClr>
                  <a:srgbClr val="6F89F7"/>
                </a:buClr>
                <a:buSzPct val="110000"/>
                <a:defRPr/>
              </a:pPr>
              <a:r>
                <a:rPr lang="en-US" altLang="zh-CN"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                  RET                     </a:t>
              </a:r>
              <a:r>
                <a:rPr lang="en-US" altLang="zh-CN" sz="2000" b="1" dirty="0" err="1">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RET</a:t>
              </a:r>
              <a:endParaRPr lang="zh-CN" altLang="en-US" sz="200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500"/>
                                        <p:tgtEl>
                                          <p:spTgt spid="5">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500"/>
                                        <p:tgtEl>
                                          <p:spTgt spid="5">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11" end="11"/>
                                            </p:txEl>
                                          </p:spTgt>
                                        </p:tgtEl>
                                        <p:attrNameLst>
                                          <p:attrName>style.visibility</p:attrName>
                                        </p:attrNameLst>
                                      </p:cBhvr>
                                      <p:to>
                                        <p:strVal val="visible"/>
                                      </p:to>
                                    </p:set>
                                    <p:animEffect transition="in" filter="fade">
                                      <p:cBhvr>
                                        <p:cTn id="42" dur="500"/>
                                        <p:tgtEl>
                                          <p:spTgt spid="5">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uiExpand="1"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AutoShape 4"/>
          <p:cNvSpPr>
            <a:spLocks noChangeArrowheads="1"/>
          </p:cNvSpPr>
          <p:nvPr/>
        </p:nvSpPr>
        <p:spPr bwMode="auto">
          <a:xfrm>
            <a:off x="520627" y="1695831"/>
            <a:ext cx="287337" cy="360363"/>
          </a:xfrm>
          <a:prstGeom prst="sun">
            <a:avLst>
              <a:gd name="adj" fmla="val 25000"/>
            </a:avLst>
          </a:prstGeom>
          <a:solidFill>
            <a:srgbClr val="FF00FF"/>
          </a:solidFill>
          <a:ln w="9525">
            <a:solidFill>
              <a:srgbClr val="FFFF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Box 5"/>
          <p:cNvSpPr txBox="1">
            <a:spLocks noChangeArrowheads="1"/>
          </p:cNvSpPr>
          <p:nvPr/>
        </p:nvSpPr>
        <p:spPr bwMode="auto">
          <a:xfrm>
            <a:off x="755576" y="1694277"/>
            <a:ext cx="249299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子程序的几种调用形式</a:t>
            </a:r>
          </a:p>
        </p:txBody>
      </p:sp>
      <p:grpSp>
        <p:nvGrpSpPr>
          <p:cNvPr id="7" name="Group 54"/>
          <p:cNvGrpSpPr/>
          <p:nvPr/>
        </p:nvGrpSpPr>
        <p:grpSpPr bwMode="auto">
          <a:xfrm>
            <a:off x="755576" y="2420888"/>
            <a:ext cx="2122488" cy="3897313"/>
            <a:chOff x="340" y="981"/>
            <a:chExt cx="1337" cy="2455"/>
          </a:xfrm>
        </p:grpSpPr>
        <p:sp>
          <p:nvSpPr>
            <p:cNvPr id="8" name="Line 6"/>
            <p:cNvSpPr>
              <a:spLocks noChangeShapeType="1"/>
            </p:cNvSpPr>
            <p:nvPr/>
          </p:nvSpPr>
          <p:spPr bwMode="auto">
            <a:xfrm>
              <a:off x="670" y="1344"/>
              <a:ext cx="0" cy="862"/>
            </a:xfrm>
            <a:prstGeom prst="line">
              <a:avLst/>
            </a:prstGeom>
            <a:noFill/>
            <a:ln w="6032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Line 7"/>
            <p:cNvSpPr>
              <a:spLocks noChangeShapeType="1"/>
            </p:cNvSpPr>
            <p:nvPr/>
          </p:nvSpPr>
          <p:spPr bwMode="auto">
            <a:xfrm>
              <a:off x="670" y="2342"/>
              <a:ext cx="0" cy="771"/>
            </a:xfrm>
            <a:prstGeom prst="line">
              <a:avLst/>
            </a:prstGeom>
            <a:noFill/>
            <a:ln w="60325">
              <a:solidFill>
                <a:srgbClr val="002060"/>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Line 8"/>
            <p:cNvSpPr>
              <a:spLocks noChangeShapeType="1"/>
            </p:cNvSpPr>
            <p:nvPr/>
          </p:nvSpPr>
          <p:spPr bwMode="auto">
            <a:xfrm flipV="1">
              <a:off x="670" y="1707"/>
              <a:ext cx="726" cy="499"/>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Line 9"/>
            <p:cNvSpPr>
              <a:spLocks noChangeShapeType="1"/>
            </p:cNvSpPr>
            <p:nvPr/>
          </p:nvSpPr>
          <p:spPr bwMode="auto">
            <a:xfrm>
              <a:off x="1396" y="1798"/>
              <a:ext cx="0" cy="771"/>
            </a:xfrm>
            <a:prstGeom prst="line">
              <a:avLst/>
            </a:prstGeom>
            <a:noFill/>
            <a:ln w="60325">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Line 10"/>
            <p:cNvSpPr>
              <a:spLocks noChangeShapeType="1"/>
            </p:cNvSpPr>
            <p:nvPr/>
          </p:nvSpPr>
          <p:spPr bwMode="auto">
            <a:xfrm flipH="1" flipV="1">
              <a:off x="715" y="2251"/>
              <a:ext cx="636" cy="318"/>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Text Box 11"/>
            <p:cNvSpPr txBox="1">
              <a:spLocks noChangeArrowheads="1"/>
            </p:cNvSpPr>
            <p:nvPr/>
          </p:nvSpPr>
          <p:spPr bwMode="auto">
            <a:xfrm>
              <a:off x="340" y="981"/>
              <a:ext cx="5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主程序</a:t>
              </a:r>
            </a:p>
          </p:txBody>
        </p:sp>
        <p:sp>
          <p:nvSpPr>
            <p:cNvPr id="14" name="Text Box 12"/>
            <p:cNvSpPr txBox="1">
              <a:spLocks noChangeArrowheads="1"/>
            </p:cNvSpPr>
            <p:nvPr/>
          </p:nvSpPr>
          <p:spPr bwMode="auto">
            <a:xfrm>
              <a:off x="1124" y="1299"/>
              <a:ext cx="5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子程序</a:t>
              </a:r>
            </a:p>
          </p:txBody>
        </p:sp>
        <p:sp>
          <p:nvSpPr>
            <p:cNvPr id="15" name="Text Box 51"/>
            <p:cNvSpPr txBox="1">
              <a:spLocks noChangeArrowheads="1"/>
            </p:cNvSpPr>
            <p:nvPr/>
          </p:nvSpPr>
          <p:spPr bwMode="auto">
            <a:xfrm>
              <a:off x="373" y="3203"/>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一般调用</a:t>
              </a:r>
            </a:p>
          </p:txBody>
        </p:sp>
      </p:grpSp>
      <p:grpSp>
        <p:nvGrpSpPr>
          <p:cNvPr id="16" name="Group 55"/>
          <p:cNvGrpSpPr/>
          <p:nvPr/>
        </p:nvGrpSpPr>
        <p:grpSpPr bwMode="auto">
          <a:xfrm>
            <a:off x="3132064" y="2349450"/>
            <a:ext cx="3067050" cy="3968750"/>
            <a:chOff x="1837" y="936"/>
            <a:chExt cx="1932" cy="2500"/>
          </a:xfrm>
        </p:grpSpPr>
        <p:sp>
          <p:nvSpPr>
            <p:cNvPr id="17" name="Line 13"/>
            <p:cNvSpPr>
              <a:spLocks noChangeShapeType="1"/>
            </p:cNvSpPr>
            <p:nvPr/>
          </p:nvSpPr>
          <p:spPr bwMode="auto">
            <a:xfrm>
              <a:off x="2212" y="1299"/>
              <a:ext cx="0" cy="862"/>
            </a:xfrm>
            <a:prstGeom prst="line">
              <a:avLst/>
            </a:prstGeom>
            <a:noFill/>
            <a:ln w="603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Line 14"/>
            <p:cNvSpPr>
              <a:spLocks noChangeShapeType="1"/>
            </p:cNvSpPr>
            <p:nvPr/>
          </p:nvSpPr>
          <p:spPr bwMode="auto">
            <a:xfrm>
              <a:off x="2212" y="2297"/>
              <a:ext cx="0" cy="771"/>
            </a:xfrm>
            <a:prstGeom prst="line">
              <a:avLst/>
            </a:prstGeom>
            <a:noFill/>
            <a:ln w="60325">
              <a:solidFill>
                <a:schemeClr val="tx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Line 15"/>
            <p:cNvSpPr>
              <a:spLocks noChangeShapeType="1"/>
            </p:cNvSpPr>
            <p:nvPr/>
          </p:nvSpPr>
          <p:spPr bwMode="auto">
            <a:xfrm flipV="1">
              <a:off x="2212" y="1571"/>
              <a:ext cx="454" cy="590"/>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Line 16"/>
            <p:cNvSpPr>
              <a:spLocks noChangeShapeType="1"/>
            </p:cNvSpPr>
            <p:nvPr/>
          </p:nvSpPr>
          <p:spPr bwMode="auto">
            <a:xfrm>
              <a:off x="2712" y="1571"/>
              <a:ext cx="0" cy="453"/>
            </a:xfrm>
            <a:prstGeom prst="line">
              <a:avLst/>
            </a:prstGeom>
            <a:noFill/>
            <a:ln w="603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Line 17"/>
            <p:cNvSpPr>
              <a:spLocks noChangeShapeType="1"/>
            </p:cNvSpPr>
            <p:nvPr/>
          </p:nvSpPr>
          <p:spPr bwMode="auto">
            <a:xfrm flipH="1" flipV="1">
              <a:off x="2257" y="2206"/>
              <a:ext cx="409" cy="453"/>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Text Box 18"/>
            <p:cNvSpPr txBox="1">
              <a:spLocks noChangeArrowheads="1"/>
            </p:cNvSpPr>
            <p:nvPr/>
          </p:nvSpPr>
          <p:spPr bwMode="auto">
            <a:xfrm>
              <a:off x="1882" y="936"/>
              <a:ext cx="5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主程序</a:t>
              </a:r>
            </a:p>
          </p:txBody>
        </p:sp>
        <p:sp>
          <p:nvSpPr>
            <p:cNvPr id="23" name="Text Box 19"/>
            <p:cNvSpPr txBox="1">
              <a:spLocks noChangeArrowheads="1"/>
            </p:cNvSpPr>
            <p:nvPr/>
          </p:nvSpPr>
          <p:spPr bwMode="auto">
            <a:xfrm>
              <a:off x="2258" y="1208"/>
              <a:ext cx="65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子程序</a:t>
              </a:r>
              <a:r>
                <a:rPr kumimoji="1" lang="en-US" altLang="zh-CN" b="1">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24" name="Line 20"/>
            <p:cNvSpPr>
              <a:spLocks noChangeShapeType="1"/>
            </p:cNvSpPr>
            <p:nvPr/>
          </p:nvSpPr>
          <p:spPr bwMode="auto">
            <a:xfrm>
              <a:off x="2712" y="2160"/>
              <a:ext cx="0" cy="500"/>
            </a:xfrm>
            <a:prstGeom prst="line">
              <a:avLst/>
            </a:prstGeom>
            <a:noFill/>
            <a:ln w="50800">
              <a:solidFill>
                <a:schemeClr val="tx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Line 21"/>
            <p:cNvSpPr>
              <a:spLocks noChangeShapeType="1"/>
            </p:cNvSpPr>
            <p:nvPr/>
          </p:nvSpPr>
          <p:spPr bwMode="auto">
            <a:xfrm flipV="1">
              <a:off x="2757" y="1662"/>
              <a:ext cx="544" cy="362"/>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Line 22"/>
            <p:cNvSpPr>
              <a:spLocks noChangeShapeType="1"/>
            </p:cNvSpPr>
            <p:nvPr/>
          </p:nvSpPr>
          <p:spPr bwMode="auto">
            <a:xfrm>
              <a:off x="3301" y="1707"/>
              <a:ext cx="0" cy="771"/>
            </a:xfrm>
            <a:prstGeom prst="line">
              <a:avLst/>
            </a:prstGeom>
            <a:noFill/>
            <a:ln w="603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Line 23"/>
            <p:cNvSpPr>
              <a:spLocks noChangeShapeType="1"/>
            </p:cNvSpPr>
            <p:nvPr/>
          </p:nvSpPr>
          <p:spPr bwMode="auto">
            <a:xfrm flipH="1" flipV="1">
              <a:off x="2757" y="2115"/>
              <a:ext cx="499" cy="363"/>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Text Box 24"/>
            <p:cNvSpPr txBox="1">
              <a:spLocks noChangeArrowheads="1"/>
            </p:cNvSpPr>
            <p:nvPr/>
          </p:nvSpPr>
          <p:spPr bwMode="auto">
            <a:xfrm>
              <a:off x="3120" y="1253"/>
              <a:ext cx="64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子程序</a:t>
              </a:r>
              <a:r>
                <a:rPr kumimoji="1" lang="en-US" altLang="zh-CN" b="1">
                  <a:latin typeface="Times New Roman" panose="02020603050405020304" pitchFamily="18" charset="0"/>
                  <a:ea typeface="微软雅黑" panose="020B0503020204020204" pitchFamily="34" charset="-122"/>
                  <a:cs typeface="Times New Roman" panose="02020603050405020304" pitchFamily="18" charset="0"/>
                </a:rPr>
                <a:t>B</a:t>
              </a:r>
            </a:p>
          </p:txBody>
        </p:sp>
        <p:sp>
          <p:nvSpPr>
            <p:cNvPr id="29" name="Text Box 52"/>
            <p:cNvSpPr txBox="1">
              <a:spLocks noChangeArrowheads="1"/>
            </p:cNvSpPr>
            <p:nvPr/>
          </p:nvSpPr>
          <p:spPr bwMode="auto">
            <a:xfrm>
              <a:off x="1837" y="3203"/>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嵌套调用</a:t>
              </a:r>
            </a:p>
          </p:txBody>
        </p:sp>
      </p:grpSp>
      <p:grpSp>
        <p:nvGrpSpPr>
          <p:cNvPr id="30" name="Group 56"/>
          <p:cNvGrpSpPr/>
          <p:nvPr/>
        </p:nvGrpSpPr>
        <p:grpSpPr bwMode="auto">
          <a:xfrm>
            <a:off x="6392790" y="2420888"/>
            <a:ext cx="2122488" cy="3897313"/>
            <a:chOff x="3891" y="981"/>
            <a:chExt cx="1337" cy="2455"/>
          </a:xfrm>
        </p:grpSpPr>
        <p:sp>
          <p:nvSpPr>
            <p:cNvPr id="31" name="Line 26"/>
            <p:cNvSpPr>
              <a:spLocks noChangeShapeType="1"/>
            </p:cNvSpPr>
            <p:nvPr/>
          </p:nvSpPr>
          <p:spPr bwMode="auto">
            <a:xfrm>
              <a:off x="4221" y="1344"/>
              <a:ext cx="0" cy="862"/>
            </a:xfrm>
            <a:prstGeom prst="line">
              <a:avLst/>
            </a:prstGeom>
            <a:noFill/>
            <a:ln w="603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Line 27"/>
            <p:cNvSpPr>
              <a:spLocks noChangeShapeType="1"/>
            </p:cNvSpPr>
            <p:nvPr/>
          </p:nvSpPr>
          <p:spPr bwMode="auto">
            <a:xfrm>
              <a:off x="4221" y="2342"/>
              <a:ext cx="0" cy="771"/>
            </a:xfrm>
            <a:prstGeom prst="line">
              <a:avLst/>
            </a:prstGeom>
            <a:noFill/>
            <a:ln w="60325">
              <a:solidFill>
                <a:schemeClr val="tx2"/>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Line 28"/>
            <p:cNvSpPr>
              <a:spLocks noChangeShapeType="1"/>
            </p:cNvSpPr>
            <p:nvPr/>
          </p:nvSpPr>
          <p:spPr bwMode="auto">
            <a:xfrm flipV="1">
              <a:off x="4221" y="1707"/>
              <a:ext cx="726" cy="499"/>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Line 29"/>
            <p:cNvSpPr>
              <a:spLocks noChangeShapeType="1"/>
            </p:cNvSpPr>
            <p:nvPr/>
          </p:nvSpPr>
          <p:spPr bwMode="auto">
            <a:xfrm>
              <a:off x="4947" y="1798"/>
              <a:ext cx="0" cy="771"/>
            </a:xfrm>
            <a:prstGeom prst="line">
              <a:avLst/>
            </a:prstGeom>
            <a:noFill/>
            <a:ln w="60325">
              <a:solidFill>
                <a:schemeClr val="tx2"/>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Line 30"/>
            <p:cNvSpPr>
              <a:spLocks noChangeShapeType="1"/>
            </p:cNvSpPr>
            <p:nvPr/>
          </p:nvSpPr>
          <p:spPr bwMode="auto">
            <a:xfrm flipH="1" flipV="1">
              <a:off x="4266" y="2251"/>
              <a:ext cx="636" cy="318"/>
            </a:xfrm>
            <a:prstGeom prst="line">
              <a:avLst/>
            </a:prstGeom>
            <a:noFill/>
            <a:ln w="9525">
              <a:solidFill>
                <a:srgbClr val="C000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Text Box 31"/>
            <p:cNvSpPr txBox="1">
              <a:spLocks noChangeArrowheads="1"/>
            </p:cNvSpPr>
            <p:nvPr/>
          </p:nvSpPr>
          <p:spPr bwMode="auto">
            <a:xfrm>
              <a:off x="3891" y="981"/>
              <a:ext cx="5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主程序</a:t>
              </a:r>
            </a:p>
          </p:txBody>
        </p:sp>
        <p:sp>
          <p:nvSpPr>
            <p:cNvPr id="37" name="Text Box 32"/>
            <p:cNvSpPr txBox="1">
              <a:spLocks noChangeArrowheads="1"/>
            </p:cNvSpPr>
            <p:nvPr/>
          </p:nvSpPr>
          <p:spPr bwMode="auto">
            <a:xfrm>
              <a:off x="4675" y="1299"/>
              <a:ext cx="55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a:t>
              </a:r>
            </a:p>
          </p:txBody>
        </p:sp>
        <p:sp>
          <p:nvSpPr>
            <p:cNvPr id="38" name="Freeform 33"/>
            <p:cNvSpPr/>
            <p:nvPr/>
          </p:nvSpPr>
          <p:spPr bwMode="auto">
            <a:xfrm>
              <a:off x="4979" y="1752"/>
              <a:ext cx="189" cy="817"/>
            </a:xfrm>
            <a:custGeom>
              <a:avLst/>
              <a:gdLst>
                <a:gd name="T0" fmla="*/ 0 w 143"/>
                <a:gd name="T1" fmla="*/ 771 h 771"/>
                <a:gd name="T2" fmla="*/ 136 w 143"/>
                <a:gd name="T3" fmla="*/ 499 h 771"/>
                <a:gd name="T4" fmla="*/ 45 w 143"/>
                <a:gd name="T5" fmla="*/ 0 h 771"/>
              </a:gdLst>
              <a:ahLst/>
              <a:cxnLst>
                <a:cxn ang="0">
                  <a:pos x="T0" y="T1"/>
                </a:cxn>
                <a:cxn ang="0">
                  <a:pos x="T2" y="T3"/>
                </a:cxn>
                <a:cxn ang="0">
                  <a:pos x="T4" y="T5"/>
                </a:cxn>
              </a:cxnLst>
              <a:rect l="0" t="0" r="r" b="b"/>
              <a:pathLst>
                <a:path w="143" h="771">
                  <a:moveTo>
                    <a:pt x="0" y="771"/>
                  </a:moveTo>
                  <a:cubicBezTo>
                    <a:pt x="64" y="699"/>
                    <a:pt x="129" y="627"/>
                    <a:pt x="136" y="499"/>
                  </a:cubicBezTo>
                  <a:cubicBezTo>
                    <a:pt x="143" y="371"/>
                    <a:pt x="94" y="185"/>
                    <a:pt x="45" y="0"/>
                  </a:cubicBezTo>
                </a:path>
              </a:pathLst>
            </a:custGeom>
            <a:noFill/>
            <a:ln w="9525" cap="flat">
              <a:solidFill>
                <a:srgbClr val="CC00CC"/>
              </a:solidFill>
              <a:prstDash val="dash"/>
              <a:roun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kumimoji="1" lang="zh-CN" altLang="en-US" b="1">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Text Box 53"/>
            <p:cNvSpPr txBox="1">
              <a:spLocks noChangeArrowheads="1"/>
            </p:cNvSpPr>
            <p:nvPr/>
          </p:nvSpPr>
          <p:spPr bwMode="auto">
            <a:xfrm>
              <a:off x="3911" y="3203"/>
              <a:ext cx="69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b="1">
                  <a:latin typeface="Times New Roman" panose="02020603050405020304" pitchFamily="18" charset="0"/>
                  <a:ea typeface="微软雅黑" panose="020B0503020204020204" pitchFamily="34" charset="-122"/>
                  <a:cs typeface="Times New Roman" panose="02020603050405020304" pitchFamily="18" charset="0"/>
                </a:rPr>
                <a:t>递归调用</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1000"/>
                                        <p:tgtEl>
                                          <p:spTgt spid="30"/>
                                        </p:tgtEl>
                                      </p:cBhvr>
                                    </p:animEffect>
                                    <p:anim calcmode="lin" valueType="num">
                                      <p:cBhvr>
                                        <p:cTn id="27" dur="1000" fill="hold"/>
                                        <p:tgtEl>
                                          <p:spTgt spid="30"/>
                                        </p:tgtEl>
                                        <p:attrNameLst>
                                          <p:attrName>ppt_x</p:attrName>
                                        </p:attrNameLst>
                                      </p:cBhvr>
                                      <p:tavLst>
                                        <p:tav tm="0">
                                          <p:val>
                                            <p:strVal val="#ppt_x"/>
                                          </p:val>
                                        </p:tav>
                                        <p:tav tm="100000">
                                          <p:val>
                                            <p:strVal val="#ppt_x"/>
                                          </p:val>
                                        </p:tav>
                                      </p:tavLst>
                                    </p:anim>
                                    <p:anim calcmode="lin" valueType="num">
                                      <p:cBhvr>
                                        <p:cTn id="2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b="1" dirty="0">
                <a:latin typeface="Times New Roman" panose="02020603050405020304" pitchFamily="18" charset="0"/>
                <a:cs typeface="Times New Roman" panose="02020603050405020304" pitchFamily="18" charset="0"/>
              </a:rPr>
              <a:t>4.7.6</a:t>
            </a:r>
            <a:r>
              <a:rPr lang="zh-CN" altLang="en-US" b="1" dirty="0">
                <a:latin typeface="Times New Roman" panose="02020603050405020304" pitchFamily="18" charset="0"/>
                <a:cs typeface="Times New Roman" panose="02020603050405020304" pitchFamily="18" charset="0"/>
              </a:rPr>
              <a:t>实用程序设计举例</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678396" y="2218719"/>
            <a:ext cx="7787208" cy="1322070"/>
          </a:xfrm>
          <a:prstGeom prst="rect">
            <a:avLst/>
          </a:prstGeom>
        </p:spPr>
        <p:txBody>
          <a:bodyPr wrap="square">
            <a:spAutoFit/>
          </a:bodyPr>
          <a:lstStyle/>
          <a:p>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4.16</a:t>
            </a:r>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设有两个</a:t>
            </a:r>
            <a:r>
              <a:rPr lang="en-US" altLang="zh-CN"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位十进制数，以非压缩</a:t>
            </a:r>
            <a:r>
              <a:rPr lang="en-US" altLang="zh-CN"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BCD</a:t>
            </a:r>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码的形式表示，分别存放在</a:t>
            </a:r>
            <a:r>
              <a:rPr lang="en-US" altLang="zh-CN"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SUB1</a:t>
            </a:r>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SUB2</a:t>
            </a:r>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单元中。试编程序求两个数相减的绝对值，将结果存于</a:t>
            </a:r>
            <a:r>
              <a:rPr lang="en-US" altLang="zh-CN"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RESULT</a:t>
            </a:r>
            <a:r>
              <a:rPr lang="zh-CN" altLang="en-US" sz="20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单元，低位在高地址，高位在低地址，同时在屏幕上显示运算结果。</a:t>
            </a:r>
          </a:p>
        </p:txBody>
      </p:sp>
      <p:sp>
        <p:nvSpPr>
          <p:cNvPr id="6" name="矩形 5"/>
          <p:cNvSpPr/>
          <p:nvPr/>
        </p:nvSpPr>
        <p:spPr>
          <a:xfrm>
            <a:off x="1403648" y="3789040"/>
            <a:ext cx="6840760" cy="1595309"/>
          </a:xfrm>
          <a:prstGeom prst="rect">
            <a:avLst/>
          </a:prstGeom>
        </p:spPr>
        <p:txBody>
          <a:bodyPr wrap="square">
            <a:spAutoFit/>
          </a:bodyPr>
          <a:lstStyle/>
          <a:p>
            <a:r>
              <a:rPr lang="zh-CN" altLang="en-US" sz="2000" b="1" dirty="0"/>
              <a:t>设计思路：</a:t>
            </a:r>
            <a:endParaRPr lang="en-US" altLang="zh-CN" sz="2000" b="1" dirty="0"/>
          </a:p>
          <a:p>
            <a:pPr>
              <a:lnSpc>
                <a:spcPct val="150000"/>
              </a:lnSpc>
            </a:pPr>
            <a:r>
              <a:rPr lang="zh-CN" altLang="en-US" b="1" dirty="0"/>
              <a:t>程序设计时，可将两个数按从高位到低位的顺序比较，判断出大小，设置被减数和减数指针，然后做二进制减法，十进制调整。</a:t>
            </a:r>
            <a:endParaRPr lang="en-US" altLang="zh-CN" b="1" dirty="0"/>
          </a:p>
          <a:p>
            <a:pPr>
              <a:lnSpc>
                <a:spcPct val="150000"/>
              </a:lnSpc>
            </a:pPr>
            <a:r>
              <a:rPr lang="zh-CN" altLang="en-US" b="1" dirty="0"/>
              <a:t>代码见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448280" y="1700808"/>
            <a:ext cx="8501235" cy="4431983"/>
          </a:xfrm>
          <a:prstGeom prst="rect">
            <a:avLst/>
          </a:prstGeom>
        </p:spPr>
        <p:txBody>
          <a:bodyPr wrap="square">
            <a:spAutoFit/>
          </a:bodyPr>
          <a:lstStyle/>
          <a:p>
            <a:pPr>
              <a:spcBef>
                <a:spcPts val="1200"/>
              </a:spcBef>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表</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串处理程序设计示例</a:t>
            </a:r>
          </a:p>
          <a:p>
            <a:pPr>
              <a:spcBef>
                <a:spcPts val="1200"/>
              </a:spcBef>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串的处理是程序设计中经常遇到的另一类问题。表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串是一组顺序存放的元素集合，其元素类型可以是数值型、字符型或具有某种意义的信息代码。对表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串的处理通常有传送、查找、删除、插入、排序、检索等，可以充分利用串操作类指令。</a:t>
            </a: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⑴ 表的搜索、插入、删除、统计</a:t>
            </a:r>
          </a:p>
          <a:p>
            <a:pPr>
              <a:spcBef>
                <a:spcPts val="1200"/>
              </a:spcBef>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表是一组连续存放的元素集合，对表的操作通常要求不破坏表原来各元素间的位置关系。</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要删除一个元素，首先要找到这个元素，然后将后续元素向前移动一个位置，覆盖掉这个元素就可以了。</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而要向表中插入一个元素，首先要将插入点以后的所有元素向后移动一个位置，留出空位，然后方可插入元素。</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在统计一个表的元素时，要事先给表的结束位置加一个结束标志，才可以进行统计。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fade">
                                      <p:cBhvr>
                                        <p:cTn id="21" dur="500"/>
                                        <p:tgtEl>
                                          <p:spTgt spid="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fade">
                                      <p:cBhvr>
                                        <p:cTn id="24" dur="500"/>
                                        <p:tgtEl>
                                          <p:spTgt spid="5">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fade">
                                      <p:cBhvr>
                                        <p:cTn id="2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755576" y="1859339"/>
            <a:ext cx="7920880" cy="4123055"/>
          </a:xfrm>
          <a:prstGeom prst="rect">
            <a:avLst/>
          </a:prstGeom>
        </p:spPr>
        <p:txBody>
          <a:bodyPr wrap="square">
            <a:spAutoFit/>
          </a:bodyPr>
          <a:lstStyle/>
          <a:p>
            <a:pPr>
              <a:spcBef>
                <a:spcPts val="1200"/>
              </a:spcBef>
            </a:pPr>
            <a:r>
              <a:rPr lang="zh-CN" altLang="en-US" sz="2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4.17 STRA</a:t>
            </a:r>
            <a:r>
              <a:rPr lang="zh-CN" altLang="en-US" sz="2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缓冲区中存放有</a:t>
            </a:r>
            <a:r>
              <a:rPr lang="en-US" altLang="zh-CN" sz="2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100</a:t>
            </a:r>
            <a:r>
              <a:rPr lang="zh-CN" altLang="en-US" sz="2400" b="1" dirty="0">
                <a:solidFill>
                  <a:schemeClr val="tx2"/>
                </a:solidFill>
                <a:latin typeface="Times New Roman" panose="02020603050405020304" pitchFamily="18" charset="0"/>
                <a:ea typeface="微软雅黑" panose="020B0503020204020204" pitchFamily="34" charset="-122"/>
                <a:cs typeface="Times New Roman" panose="02020603050405020304" pitchFamily="18" charset="0"/>
              </a:rPr>
              <a:t>个字符数据，按要求对它们进行下列处理。</a:t>
            </a: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①删除</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中所有的‘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字母。</a:t>
            </a: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②统计</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中删除后的字符个数送入</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LENG</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单元。</a:t>
            </a: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③从键盘读入一个字符，插入</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串第一个字母</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后。</a:t>
            </a: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④显示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中的字符串。</a:t>
            </a: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可以将每个处理部分设计为</a:t>
            </a:r>
            <a:r>
              <a:rPr lang="zh-CN" altLang="en-US"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一个或多个子程序</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，由</a:t>
            </a:r>
            <a:r>
              <a:rPr lang="zh-CN" altLang="en-US"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主程序</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调用。</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在插入和删除子程序中都要进行串的移动，所以另外设计一个移动串子程序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TRAS</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供删除和插入子程序调用。</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各子程序共享数据段</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，都可以对</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缓冲区进行访问。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fade">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419207" y="3831451"/>
            <a:ext cx="7924077" cy="2739211"/>
          </a:xfrm>
          <a:prstGeom prst="rect">
            <a:avLst/>
          </a:prstGeom>
        </p:spPr>
        <p:txBody>
          <a:bodyPr wrap="square">
            <a:spAutoFit/>
          </a:bodyPr>
          <a:lstStyle/>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各子程序功能及入口、出口参数：</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12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DELET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入口：</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指向</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首址，</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串长度。</a:t>
            </a:r>
          </a:p>
          <a:p>
            <a:pPr>
              <a:spcBef>
                <a:spcPts val="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COUNT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入口：</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指向</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首址； 出口</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LENG=</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串长度。</a:t>
            </a:r>
          </a:p>
          <a:p>
            <a:pPr>
              <a:spcBef>
                <a:spcPts val="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INSER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入口：</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AL=</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待插入字符，</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指向</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首址。</a:t>
            </a:r>
          </a:p>
          <a:p>
            <a:pPr>
              <a:spcBef>
                <a:spcPts val="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DISPL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入口：</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指向</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STRA</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首址。</a:t>
            </a:r>
          </a:p>
          <a:p>
            <a:pPr>
              <a:spcBef>
                <a:spcPts val="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子程序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TRAS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入口：</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指向源串首</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末址，</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DI</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指向目的串首</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末址，</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移动次数，设置好方向标志</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DF</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的值。</a:t>
            </a:r>
            <a:endParaRPr lang="en-US" altLang="zh-CN"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0"/>
              </a:spcBef>
            </a:pP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另外，所有的子程序都利用数据段存储单元传递参数。</a:t>
            </a:r>
          </a:p>
        </p:txBody>
      </p:sp>
      <p:sp>
        <p:nvSpPr>
          <p:cNvPr id="6" name="矩形 5"/>
          <p:cNvSpPr/>
          <p:nvPr/>
        </p:nvSpPr>
        <p:spPr>
          <a:xfrm>
            <a:off x="419207" y="1642775"/>
            <a:ext cx="2492990" cy="400110"/>
          </a:xfrm>
          <a:prstGeom prst="rect">
            <a:avLst/>
          </a:prstGeom>
        </p:spPr>
        <p:txBody>
          <a:bodyPr wrap="none">
            <a:spAutoFit/>
          </a:bodyPr>
          <a:lstStyle/>
          <a:p>
            <a:r>
              <a:rPr lang="zh-CN" altLang="en-US" sz="2000" b="1" dirty="0"/>
              <a:t>各子程序的调用关系</a:t>
            </a:r>
          </a:p>
        </p:txBody>
      </p:sp>
      <p:pic>
        <p:nvPicPr>
          <p:cNvPr id="7" name="图片 6"/>
          <p:cNvPicPr>
            <a:picLocks noChangeAspect="1"/>
          </p:cNvPicPr>
          <p:nvPr/>
        </p:nvPicPr>
        <p:blipFill>
          <a:blip r:embed="rId2"/>
          <a:stretch>
            <a:fillRect/>
          </a:stretch>
        </p:blipFill>
        <p:spPr>
          <a:xfrm>
            <a:off x="3203848" y="1594225"/>
            <a:ext cx="4526973" cy="209048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fade">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fade">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fade">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fade">
                                      <p:cBhvr>
                                        <p:cTn id="37" dur="500"/>
                                        <p:tgtEl>
                                          <p:spTgt spid="5">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5" end="5"/>
                                            </p:txEl>
                                          </p:spTgt>
                                        </p:tgtEl>
                                        <p:attrNameLst>
                                          <p:attrName>style.visibility</p:attrName>
                                        </p:attrNameLst>
                                      </p:cBhvr>
                                      <p:to>
                                        <p:strVal val="visible"/>
                                      </p:to>
                                    </p:set>
                                    <p:animEffect transition="in" filter="fade">
                                      <p:cBhvr>
                                        <p:cTn id="42" dur="500"/>
                                        <p:tgtEl>
                                          <p:spTgt spid="5">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Effect transition="in" filter="fade">
                                      <p:cBhvr>
                                        <p:cTn id="47"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344150" y="936650"/>
            <a:ext cx="5682853" cy="512415"/>
          </a:xfrm>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344150" y="1439096"/>
            <a:ext cx="7746038" cy="1335622"/>
          </a:xfrm>
          <a:prstGeom prst="rect">
            <a:avLst/>
          </a:prstGeom>
        </p:spPr>
        <p:txBody>
          <a:bodyPr wrap="square">
            <a:spAutoFit/>
          </a:bodyPr>
          <a:lstStyle/>
          <a:p>
            <a:pPr>
              <a:lnSpc>
                <a:spcPct val="150000"/>
              </a:lnSpc>
              <a:spcBef>
                <a:spcPts val="1200"/>
              </a:spcBef>
            </a:pPr>
            <a:r>
              <a:rPr lang="en-US" altLang="zh-CN" sz="2000" b="1" dirty="0"/>
              <a:t>2) </a:t>
            </a:r>
            <a:r>
              <a:rPr lang="zh-CN" altLang="en-US" sz="2000" b="1" dirty="0"/>
              <a:t>排序与检索</a:t>
            </a:r>
            <a:endParaRPr lang="en-US" altLang="zh-CN" sz="2000" b="1" dirty="0"/>
          </a:p>
          <a:p>
            <a:pPr>
              <a:lnSpc>
                <a:spcPct val="150000"/>
              </a:lnSpc>
            </a:pPr>
            <a:r>
              <a:rPr lang="zh-CN" altLang="en-US" dirty="0"/>
              <a:t>对表的处理中，非常重要的一种就是排序。排序的算法有很多种，各有优劣，在这里，给大家介绍一种广泛使用的排序算法</a:t>
            </a:r>
            <a:r>
              <a:rPr lang="en-US" altLang="zh-CN" dirty="0"/>
              <a:t>——</a:t>
            </a:r>
            <a:r>
              <a:rPr lang="zh-CN" altLang="en-US" dirty="0"/>
              <a:t>冒泡排序。</a:t>
            </a:r>
          </a:p>
        </p:txBody>
      </p:sp>
      <p:sp>
        <p:nvSpPr>
          <p:cNvPr id="6" name="矩形 5"/>
          <p:cNvSpPr/>
          <p:nvPr/>
        </p:nvSpPr>
        <p:spPr>
          <a:xfrm>
            <a:off x="513859" y="2774718"/>
            <a:ext cx="8116282" cy="3508653"/>
          </a:xfrm>
          <a:prstGeom prst="rect">
            <a:avLst/>
          </a:prstGeom>
        </p:spPr>
        <p:txBody>
          <a:bodyPr wrap="square">
            <a:spAutoFit/>
          </a:bodyPr>
          <a:lstStyle/>
          <a:p>
            <a:pPr>
              <a:lnSpc>
                <a:spcPct val="150000"/>
              </a:lnSpc>
              <a:spcBef>
                <a:spcPts val="600"/>
              </a:spcBef>
            </a:pP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算法思想</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从第一个数开始，依次对</a:t>
            </a:r>
            <a:r>
              <a:rPr lang="zh-CN" altLang="en-US"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相邻的两个数比较</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，若顺序符合要求，则不处理</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若顺序不符合要求，则交换两个数的位置。</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重复这个过程，</a:t>
            </a:r>
            <a:r>
              <a:rPr lang="zh-CN" altLang="en-US"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共比较</a:t>
            </a:r>
            <a:r>
              <a:rPr lang="en-US" altLang="zh-CN"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(N-1)</a:t>
            </a:r>
            <a:r>
              <a:rPr lang="zh-CN" altLang="en-US"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次</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，比较完所有的元素，称为一轮比较。</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一轮比较后，已经将最小的数放在了最后，</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第二轮比较只需要比较前边的</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N-1)</a:t>
            </a:r>
            <a:r>
              <a:rPr lang="zh-CN" altLang="en-US"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个元素，共比较</a:t>
            </a:r>
            <a:r>
              <a:rPr lang="en-US" altLang="zh-CN"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(N-2)</a:t>
            </a:r>
            <a:r>
              <a:rPr lang="zh-CN" altLang="en-US"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次</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比较完后，又将数组中的次小数排在了倒数第二个位置，然后，再进行下一轮的比较，</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这样依此类推，总共进行</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(N-1)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轮的比较，就可以完成排序。</a:t>
            </a:r>
            <a:endParaRPr lang="en-US" altLang="zh-CN" sz="160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Bef>
                <a:spcPts val="600"/>
              </a:spcBef>
              <a:buClr>
                <a:srgbClr val="CC6600"/>
              </a:buClr>
              <a:buFont typeface="Wingdings" panose="05000000000000000000" pitchFamily="2" charset="2"/>
              <a:buChar char="Ø"/>
            </a:pP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每次进入外循环时，将</a:t>
            </a:r>
            <a:r>
              <a:rPr lang="zh-CN" altLang="en-US"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标志位设为</a:t>
            </a:r>
            <a:r>
              <a:rPr lang="en-US" altLang="zh-CN" sz="1600" b="1" dirty="0">
                <a:solidFill>
                  <a:srgbClr val="B1030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，若内循环中有交换发生，就将标志位设为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。内循环结束时检测标志位的值，若为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，就再一次进入外循环</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若为</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，则表明前一轮比较没有交换发生，已经完成排序，从而立即结束外循环。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fade">
                                      <p:cBhvr>
                                        <p:cTn id="32" dur="500"/>
                                        <p:tgtEl>
                                          <p:spTgt spid="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Effect transition="in" filter="fade">
                                      <p:cBhvr>
                                        <p:cTn id="37" dur="500"/>
                                        <p:tgtEl>
                                          <p:spTgt spid="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fade">
                                      <p:cBhvr>
                                        <p:cTn id="42" dur="500"/>
                                        <p:tgtEl>
                                          <p:spTgt spid="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fade">
                                      <p:cBhvr>
                                        <p:cTn id="47" dur="500"/>
                                        <p:tgtEl>
                                          <p:spTgt spid="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fade">
                                      <p:cBhvr>
                                        <p:cTn id="5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grpSp>
        <p:nvGrpSpPr>
          <p:cNvPr id="71" name="组合 70"/>
          <p:cNvGrpSpPr/>
          <p:nvPr/>
        </p:nvGrpSpPr>
        <p:grpSpPr>
          <a:xfrm>
            <a:off x="1475656" y="1642775"/>
            <a:ext cx="7147520" cy="4834225"/>
            <a:chOff x="533400" y="457200"/>
            <a:chExt cx="8305800" cy="6019800"/>
          </a:xfrm>
        </p:grpSpPr>
        <p:sp>
          <p:nvSpPr>
            <p:cNvPr id="72" name="Line 4"/>
            <p:cNvSpPr>
              <a:spLocks noChangeShapeType="1"/>
            </p:cNvSpPr>
            <p:nvPr/>
          </p:nvSpPr>
          <p:spPr bwMode="auto">
            <a:xfrm>
              <a:off x="4495800" y="4876800"/>
              <a:ext cx="0" cy="457200"/>
            </a:xfrm>
            <a:prstGeom prst="line">
              <a:avLst/>
            </a:prstGeom>
            <a:noFill/>
            <a:ln w="38100">
              <a:solidFill>
                <a:srgbClr val="FFFF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3" name="Group 5"/>
            <p:cNvGrpSpPr/>
            <p:nvPr/>
          </p:nvGrpSpPr>
          <p:grpSpPr bwMode="auto">
            <a:xfrm>
              <a:off x="5486400" y="3962400"/>
              <a:ext cx="1447800" cy="1752600"/>
              <a:chOff x="3456" y="2496"/>
              <a:chExt cx="912" cy="1104"/>
            </a:xfrm>
          </p:grpSpPr>
          <p:sp>
            <p:nvSpPr>
              <p:cNvPr id="133" name="Line 6"/>
              <p:cNvSpPr>
                <a:spLocks noChangeShapeType="1"/>
              </p:cNvSpPr>
              <p:nvPr/>
            </p:nvSpPr>
            <p:spPr bwMode="auto">
              <a:xfrm>
                <a:off x="3456" y="3600"/>
                <a:ext cx="240" cy="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4" name="Line 7"/>
              <p:cNvSpPr>
                <a:spLocks noChangeShapeType="1"/>
              </p:cNvSpPr>
              <p:nvPr/>
            </p:nvSpPr>
            <p:spPr bwMode="auto">
              <a:xfrm>
                <a:off x="3696" y="2496"/>
                <a:ext cx="672" cy="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5" name="Line 8"/>
              <p:cNvSpPr>
                <a:spLocks noChangeShapeType="1"/>
              </p:cNvSpPr>
              <p:nvPr/>
            </p:nvSpPr>
            <p:spPr bwMode="auto">
              <a:xfrm>
                <a:off x="4368" y="2496"/>
                <a:ext cx="0" cy="288"/>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6" name="Line 9"/>
              <p:cNvSpPr>
                <a:spLocks noChangeShapeType="1"/>
              </p:cNvSpPr>
              <p:nvPr/>
            </p:nvSpPr>
            <p:spPr bwMode="auto">
              <a:xfrm flipV="1">
                <a:off x="3696" y="2496"/>
                <a:ext cx="0" cy="1104"/>
              </a:xfrm>
              <a:prstGeom prst="line">
                <a:avLst/>
              </a:prstGeom>
              <a:noFill/>
              <a:ln w="3492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74" name="AutoShape 11"/>
            <p:cNvSpPr>
              <a:spLocks noChangeArrowheads="1"/>
            </p:cNvSpPr>
            <p:nvPr/>
          </p:nvSpPr>
          <p:spPr bwMode="auto">
            <a:xfrm>
              <a:off x="1524000" y="762000"/>
              <a:ext cx="1143000" cy="457200"/>
            </a:xfrm>
            <a:prstGeom prst="flowChartAlternateProcess">
              <a:avLst/>
            </a:prstGeom>
            <a:solidFill>
              <a:srgbClr val="00CC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开始</a:t>
              </a:r>
            </a:p>
          </p:txBody>
        </p:sp>
        <p:sp>
          <p:nvSpPr>
            <p:cNvPr id="75" name="Rectangle 12"/>
            <p:cNvSpPr>
              <a:spLocks noChangeArrowheads="1"/>
            </p:cNvSpPr>
            <p:nvPr/>
          </p:nvSpPr>
          <p:spPr bwMode="auto">
            <a:xfrm>
              <a:off x="1219200" y="1676400"/>
              <a:ext cx="1828800" cy="457200"/>
            </a:xfrm>
            <a:prstGeom prst="rect">
              <a:avLst/>
            </a:prstGeom>
            <a:solidFill>
              <a:srgbClr val="CCFFFF"/>
            </a:solidFill>
            <a:ln w="34925"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置循环初值</a:t>
              </a:r>
            </a:p>
          </p:txBody>
        </p:sp>
        <p:sp>
          <p:nvSpPr>
            <p:cNvPr id="76" name="Rectangle 13"/>
            <p:cNvSpPr>
              <a:spLocks noChangeArrowheads="1"/>
            </p:cNvSpPr>
            <p:nvPr/>
          </p:nvSpPr>
          <p:spPr bwMode="auto">
            <a:xfrm>
              <a:off x="1219200" y="2590800"/>
              <a:ext cx="1828800" cy="457200"/>
            </a:xfrm>
            <a:prstGeom prst="rect">
              <a:avLst/>
            </a:prstGeom>
            <a:solidFill>
              <a:srgbClr val="CCFFFF"/>
            </a:solidFill>
            <a:ln w="34925"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清交换标志</a:t>
              </a:r>
            </a:p>
          </p:txBody>
        </p:sp>
        <p:sp>
          <p:nvSpPr>
            <p:cNvPr id="77" name="Rectangle 14"/>
            <p:cNvSpPr>
              <a:spLocks noChangeArrowheads="1"/>
            </p:cNvSpPr>
            <p:nvPr/>
          </p:nvSpPr>
          <p:spPr bwMode="auto">
            <a:xfrm>
              <a:off x="1219200" y="3352800"/>
              <a:ext cx="1828800" cy="457200"/>
            </a:xfrm>
            <a:prstGeom prst="rect">
              <a:avLst/>
            </a:prstGeom>
            <a:solidFill>
              <a:srgbClr val="CCFFFF"/>
            </a:solidFill>
            <a:ln w="34925"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置地址指针</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SI</a:t>
              </a:r>
            </a:p>
          </p:txBody>
        </p:sp>
        <p:sp>
          <p:nvSpPr>
            <p:cNvPr id="78" name="Rectangle 15"/>
            <p:cNvSpPr>
              <a:spLocks noChangeArrowheads="1"/>
            </p:cNvSpPr>
            <p:nvPr/>
          </p:nvSpPr>
          <p:spPr bwMode="auto">
            <a:xfrm>
              <a:off x="1143000" y="4953000"/>
              <a:ext cx="1828800" cy="457200"/>
            </a:xfrm>
            <a:prstGeom prst="rect">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取数</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(SI)</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AX</a:t>
              </a:r>
            </a:p>
          </p:txBody>
        </p:sp>
        <p:sp>
          <p:nvSpPr>
            <p:cNvPr id="79" name="Rectangle 16"/>
            <p:cNvSpPr>
              <a:spLocks noChangeArrowheads="1"/>
            </p:cNvSpPr>
            <p:nvPr/>
          </p:nvSpPr>
          <p:spPr bwMode="auto">
            <a:xfrm>
              <a:off x="3657600" y="4419600"/>
              <a:ext cx="1828800" cy="457200"/>
            </a:xfrm>
            <a:prstGeom prst="rect">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修改地址</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a:t>
              </a:r>
            </a:p>
          </p:txBody>
        </p:sp>
        <p:sp>
          <p:nvSpPr>
            <p:cNvPr id="80" name="Rectangle 17"/>
            <p:cNvSpPr>
              <a:spLocks noChangeArrowheads="1"/>
            </p:cNvSpPr>
            <p:nvPr/>
          </p:nvSpPr>
          <p:spPr bwMode="auto">
            <a:xfrm>
              <a:off x="3657600" y="3581400"/>
              <a:ext cx="1828800" cy="457200"/>
            </a:xfrm>
            <a:prstGeom prst="rect">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修改地址</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SI</a:t>
              </a:r>
            </a:p>
          </p:txBody>
        </p:sp>
        <p:sp>
          <p:nvSpPr>
            <p:cNvPr id="81" name="Rectangle 18"/>
            <p:cNvSpPr>
              <a:spLocks noChangeArrowheads="1"/>
            </p:cNvSpPr>
            <p:nvPr/>
          </p:nvSpPr>
          <p:spPr bwMode="auto">
            <a:xfrm>
              <a:off x="3581400" y="1905000"/>
              <a:ext cx="1828800" cy="457200"/>
            </a:xfrm>
            <a:prstGeom prst="rect">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两数交换位置</a:t>
              </a:r>
            </a:p>
          </p:txBody>
        </p:sp>
        <p:sp>
          <p:nvSpPr>
            <p:cNvPr id="82" name="Rectangle 19"/>
            <p:cNvSpPr>
              <a:spLocks noChangeArrowheads="1"/>
            </p:cNvSpPr>
            <p:nvPr/>
          </p:nvSpPr>
          <p:spPr bwMode="auto">
            <a:xfrm>
              <a:off x="1219200" y="4114800"/>
              <a:ext cx="1828800" cy="457200"/>
            </a:xfrm>
            <a:prstGeom prst="rect">
              <a:avLst/>
            </a:prstGeom>
            <a:solidFill>
              <a:srgbClr val="CCFFFF"/>
            </a:solidFill>
            <a:ln w="34925"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置地址指针</a:t>
              </a: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DI</a:t>
              </a:r>
            </a:p>
          </p:txBody>
        </p:sp>
        <p:sp>
          <p:nvSpPr>
            <p:cNvPr id="83" name="Rectangle 20"/>
            <p:cNvSpPr>
              <a:spLocks noChangeArrowheads="1"/>
            </p:cNvSpPr>
            <p:nvPr/>
          </p:nvSpPr>
          <p:spPr bwMode="auto">
            <a:xfrm>
              <a:off x="3581400" y="2743200"/>
              <a:ext cx="1828800" cy="457200"/>
            </a:xfrm>
            <a:prstGeom prst="rect">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置交换标志</a:t>
              </a:r>
            </a:p>
          </p:txBody>
        </p:sp>
        <p:sp>
          <p:nvSpPr>
            <p:cNvPr id="84" name="AutoShape 21"/>
            <p:cNvSpPr>
              <a:spLocks noChangeArrowheads="1"/>
            </p:cNvSpPr>
            <p:nvPr/>
          </p:nvSpPr>
          <p:spPr bwMode="auto">
            <a:xfrm>
              <a:off x="3505200" y="838200"/>
              <a:ext cx="1905000" cy="762000"/>
            </a:xfrm>
            <a:prstGeom prst="flowChartDecision">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AX&gt;(DI)?</a:t>
              </a:r>
            </a:p>
          </p:txBody>
        </p:sp>
        <p:sp>
          <p:nvSpPr>
            <p:cNvPr id="85" name="AutoShape 22"/>
            <p:cNvSpPr>
              <a:spLocks noChangeArrowheads="1"/>
            </p:cNvSpPr>
            <p:nvPr/>
          </p:nvSpPr>
          <p:spPr bwMode="auto">
            <a:xfrm>
              <a:off x="3581400" y="5334000"/>
              <a:ext cx="1905000" cy="762000"/>
            </a:xfrm>
            <a:prstGeom prst="flowChartDecision">
              <a:avLst/>
            </a:prstGeom>
            <a:solidFill>
              <a:srgbClr val="FFFF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内循环结束？</a:t>
              </a:r>
            </a:p>
          </p:txBody>
        </p:sp>
        <p:sp>
          <p:nvSpPr>
            <p:cNvPr id="86" name="Line 23"/>
            <p:cNvSpPr>
              <a:spLocks noChangeShapeType="1"/>
            </p:cNvSpPr>
            <p:nvPr/>
          </p:nvSpPr>
          <p:spPr bwMode="auto">
            <a:xfrm>
              <a:off x="2057400" y="1219200"/>
              <a:ext cx="0" cy="4572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7" name="Line 24"/>
            <p:cNvSpPr>
              <a:spLocks noChangeShapeType="1"/>
            </p:cNvSpPr>
            <p:nvPr/>
          </p:nvSpPr>
          <p:spPr bwMode="auto">
            <a:xfrm>
              <a:off x="2057400" y="2133600"/>
              <a:ext cx="0" cy="457200"/>
            </a:xfrm>
            <a:prstGeom prst="line">
              <a:avLst/>
            </a:prstGeom>
            <a:noFill/>
            <a:ln w="34925" cap="sq">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8" name="Line 25"/>
            <p:cNvSpPr>
              <a:spLocks noChangeShapeType="1"/>
            </p:cNvSpPr>
            <p:nvPr/>
          </p:nvSpPr>
          <p:spPr bwMode="auto">
            <a:xfrm>
              <a:off x="2057400" y="3048000"/>
              <a:ext cx="0" cy="304800"/>
            </a:xfrm>
            <a:prstGeom prst="line">
              <a:avLst/>
            </a:prstGeom>
            <a:noFill/>
            <a:ln w="34925" cap="sq">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9" name="Line 26"/>
            <p:cNvSpPr>
              <a:spLocks noChangeShapeType="1"/>
            </p:cNvSpPr>
            <p:nvPr/>
          </p:nvSpPr>
          <p:spPr bwMode="auto">
            <a:xfrm>
              <a:off x="2057400" y="3810000"/>
              <a:ext cx="0" cy="304800"/>
            </a:xfrm>
            <a:prstGeom prst="line">
              <a:avLst/>
            </a:prstGeom>
            <a:noFill/>
            <a:ln w="34925" cap="sq">
              <a:solidFill>
                <a:srgbClr val="0000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0" name="Line 27"/>
            <p:cNvSpPr>
              <a:spLocks noChangeShapeType="1"/>
            </p:cNvSpPr>
            <p:nvPr/>
          </p:nvSpPr>
          <p:spPr bwMode="auto">
            <a:xfrm>
              <a:off x="2057400" y="4572000"/>
              <a:ext cx="0" cy="3810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1" name="Line 28"/>
            <p:cNvSpPr>
              <a:spLocks noChangeShapeType="1"/>
            </p:cNvSpPr>
            <p:nvPr/>
          </p:nvSpPr>
          <p:spPr bwMode="auto">
            <a:xfrm>
              <a:off x="4495800" y="3276600"/>
              <a:ext cx="0" cy="3810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2" name="Line 29"/>
            <p:cNvSpPr>
              <a:spLocks noChangeShapeType="1"/>
            </p:cNvSpPr>
            <p:nvPr/>
          </p:nvSpPr>
          <p:spPr bwMode="auto">
            <a:xfrm>
              <a:off x="4495800" y="4038600"/>
              <a:ext cx="0" cy="3810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3" name="Line 30"/>
            <p:cNvSpPr>
              <a:spLocks noChangeShapeType="1"/>
            </p:cNvSpPr>
            <p:nvPr/>
          </p:nvSpPr>
          <p:spPr bwMode="auto">
            <a:xfrm>
              <a:off x="2057400" y="5410200"/>
              <a:ext cx="0" cy="30480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4" name="Line 31"/>
            <p:cNvSpPr>
              <a:spLocks noChangeShapeType="1"/>
            </p:cNvSpPr>
            <p:nvPr/>
          </p:nvSpPr>
          <p:spPr bwMode="auto">
            <a:xfrm>
              <a:off x="2057400" y="5715000"/>
              <a:ext cx="1143000" cy="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 name="Line 32"/>
            <p:cNvSpPr>
              <a:spLocks noChangeShapeType="1"/>
            </p:cNvSpPr>
            <p:nvPr/>
          </p:nvSpPr>
          <p:spPr bwMode="auto">
            <a:xfrm flipH="1" flipV="1">
              <a:off x="3200400" y="457200"/>
              <a:ext cx="0" cy="525780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6" name="Line 33"/>
            <p:cNvSpPr>
              <a:spLocks noChangeShapeType="1"/>
            </p:cNvSpPr>
            <p:nvPr/>
          </p:nvSpPr>
          <p:spPr bwMode="auto">
            <a:xfrm>
              <a:off x="3200400" y="457200"/>
              <a:ext cx="1295400" cy="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7" name="Line 34"/>
            <p:cNvSpPr>
              <a:spLocks noChangeShapeType="1"/>
            </p:cNvSpPr>
            <p:nvPr/>
          </p:nvSpPr>
          <p:spPr bwMode="auto">
            <a:xfrm>
              <a:off x="4495800" y="457200"/>
              <a:ext cx="0" cy="3810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8" name="Line 35"/>
            <p:cNvSpPr>
              <a:spLocks noChangeShapeType="1"/>
            </p:cNvSpPr>
            <p:nvPr/>
          </p:nvSpPr>
          <p:spPr bwMode="auto">
            <a:xfrm>
              <a:off x="4495800" y="1600200"/>
              <a:ext cx="0" cy="3048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9" name="Line 36"/>
            <p:cNvSpPr>
              <a:spLocks noChangeShapeType="1"/>
            </p:cNvSpPr>
            <p:nvPr/>
          </p:nvSpPr>
          <p:spPr bwMode="auto">
            <a:xfrm>
              <a:off x="4495800" y="2362200"/>
              <a:ext cx="0" cy="3810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0" name="Line 37"/>
            <p:cNvSpPr>
              <a:spLocks noChangeShapeType="1"/>
            </p:cNvSpPr>
            <p:nvPr/>
          </p:nvSpPr>
          <p:spPr bwMode="auto">
            <a:xfrm>
              <a:off x="4495800" y="3200400"/>
              <a:ext cx="0" cy="3810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1" name="AutoShape 38"/>
            <p:cNvSpPr>
              <a:spLocks noChangeArrowheads="1"/>
            </p:cNvSpPr>
            <p:nvPr/>
          </p:nvSpPr>
          <p:spPr bwMode="auto">
            <a:xfrm>
              <a:off x="6019800" y="4419600"/>
              <a:ext cx="1905000" cy="762000"/>
            </a:xfrm>
            <a:prstGeom prst="flowChartDecision">
              <a:avLst/>
            </a:prstGeom>
            <a:solidFill>
              <a:srgbClr val="00CC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600"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交换标志为</a:t>
              </a:r>
              <a:r>
                <a:rPr kumimoji="1" lang="en-US" altLang="zh-CN" sz="1600"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p>
          </p:txBody>
        </p:sp>
        <p:sp>
          <p:nvSpPr>
            <p:cNvPr id="102" name="AutoShape 39"/>
            <p:cNvSpPr>
              <a:spLocks noChangeArrowheads="1"/>
            </p:cNvSpPr>
            <p:nvPr/>
          </p:nvSpPr>
          <p:spPr bwMode="auto">
            <a:xfrm>
              <a:off x="7696200" y="5715000"/>
              <a:ext cx="1143000" cy="457200"/>
            </a:xfrm>
            <a:prstGeom prst="flowChartAlternateProcess">
              <a:avLst/>
            </a:prstGeom>
            <a:solidFill>
              <a:srgbClr val="00CC99"/>
            </a:solidFill>
            <a:ln w="34925" cap="sq">
              <a:solidFill>
                <a:srgbClr val="FFFF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结束</a:t>
              </a:r>
            </a:p>
          </p:txBody>
        </p:sp>
        <p:sp>
          <p:nvSpPr>
            <p:cNvPr id="103" name="Line 40"/>
            <p:cNvSpPr>
              <a:spLocks noChangeShapeType="1"/>
            </p:cNvSpPr>
            <p:nvPr/>
          </p:nvSpPr>
          <p:spPr bwMode="auto">
            <a:xfrm>
              <a:off x="7924800" y="4800600"/>
              <a:ext cx="304800" cy="0"/>
            </a:xfrm>
            <a:prstGeom prst="line">
              <a:avLst/>
            </a:prstGeom>
            <a:noFill/>
            <a:ln w="34925" cap="sq">
              <a:solidFill>
                <a:srgbClr val="FFFF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4" name="Line 41"/>
            <p:cNvSpPr>
              <a:spLocks noChangeShapeType="1"/>
            </p:cNvSpPr>
            <p:nvPr/>
          </p:nvSpPr>
          <p:spPr bwMode="auto">
            <a:xfrm>
              <a:off x="8229600" y="4800600"/>
              <a:ext cx="0" cy="914400"/>
            </a:xfrm>
            <a:prstGeom prst="line">
              <a:avLst/>
            </a:prstGeom>
            <a:noFill/>
            <a:ln w="34925" cap="sq">
              <a:solidFill>
                <a:srgbClr val="FFFF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5" name="Group 42"/>
            <p:cNvGrpSpPr/>
            <p:nvPr/>
          </p:nvGrpSpPr>
          <p:grpSpPr bwMode="auto">
            <a:xfrm>
              <a:off x="4495800" y="1219200"/>
              <a:ext cx="2209800" cy="2209800"/>
              <a:chOff x="2928" y="768"/>
              <a:chExt cx="1392" cy="1392"/>
            </a:xfrm>
          </p:grpSpPr>
          <p:sp>
            <p:nvSpPr>
              <p:cNvPr id="129" name="Line 43"/>
              <p:cNvSpPr>
                <a:spLocks noChangeShapeType="1"/>
              </p:cNvSpPr>
              <p:nvPr/>
            </p:nvSpPr>
            <p:spPr bwMode="auto">
              <a:xfrm>
                <a:off x="3504" y="768"/>
                <a:ext cx="816" cy="0"/>
              </a:xfrm>
              <a:prstGeom prst="line">
                <a:avLst/>
              </a:prstGeom>
              <a:noFill/>
              <a:ln w="34925" cap="sq">
                <a:solidFill>
                  <a:srgbClr val="00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0" name="Line 44"/>
              <p:cNvSpPr>
                <a:spLocks noChangeShapeType="1"/>
              </p:cNvSpPr>
              <p:nvPr/>
            </p:nvSpPr>
            <p:spPr bwMode="auto">
              <a:xfrm>
                <a:off x="4320" y="768"/>
                <a:ext cx="0" cy="1200"/>
              </a:xfrm>
              <a:prstGeom prst="line">
                <a:avLst/>
              </a:prstGeom>
              <a:noFill/>
              <a:ln w="34925" cap="sq">
                <a:solidFill>
                  <a:srgbClr val="00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1" name="Line 45"/>
              <p:cNvSpPr>
                <a:spLocks noChangeShapeType="1"/>
              </p:cNvSpPr>
              <p:nvPr/>
            </p:nvSpPr>
            <p:spPr bwMode="auto">
              <a:xfrm>
                <a:off x="4320" y="1920"/>
                <a:ext cx="0" cy="240"/>
              </a:xfrm>
              <a:prstGeom prst="line">
                <a:avLst/>
              </a:prstGeom>
              <a:noFill/>
              <a:ln w="34925" cap="sq">
                <a:solidFill>
                  <a:srgbClr val="00FF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2" name="Line 46"/>
              <p:cNvSpPr>
                <a:spLocks noChangeShapeType="1"/>
              </p:cNvSpPr>
              <p:nvPr/>
            </p:nvSpPr>
            <p:spPr bwMode="auto">
              <a:xfrm flipH="1">
                <a:off x="2928" y="2160"/>
                <a:ext cx="1392" cy="0"/>
              </a:xfrm>
              <a:prstGeom prst="line">
                <a:avLst/>
              </a:prstGeom>
              <a:noFill/>
              <a:ln w="34925" cap="sq">
                <a:solidFill>
                  <a:srgbClr val="00FFFF"/>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06" name="Text Box 47"/>
            <p:cNvSpPr txBox="1">
              <a:spLocks noChangeArrowheads="1"/>
            </p:cNvSpPr>
            <p:nvPr/>
          </p:nvSpPr>
          <p:spPr bwMode="auto">
            <a:xfrm>
              <a:off x="5410200" y="762000"/>
              <a:ext cx="482831" cy="459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4925">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Ｎ</a:t>
              </a:r>
            </a:p>
          </p:txBody>
        </p:sp>
        <p:sp>
          <p:nvSpPr>
            <p:cNvPr id="107" name="Text Box 48"/>
            <p:cNvSpPr txBox="1">
              <a:spLocks noChangeArrowheads="1"/>
            </p:cNvSpPr>
            <p:nvPr/>
          </p:nvSpPr>
          <p:spPr bwMode="auto">
            <a:xfrm>
              <a:off x="3886199" y="1524000"/>
              <a:ext cx="482831" cy="45990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4925">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Ｙ</a:t>
              </a:r>
            </a:p>
          </p:txBody>
        </p:sp>
        <p:sp>
          <p:nvSpPr>
            <p:cNvPr id="108" name="Text Box 49"/>
            <p:cNvSpPr txBox="1">
              <a:spLocks noChangeArrowheads="1"/>
            </p:cNvSpPr>
            <p:nvPr/>
          </p:nvSpPr>
          <p:spPr bwMode="auto">
            <a:xfrm>
              <a:off x="6474241" y="5191939"/>
              <a:ext cx="488950" cy="459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4925">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Ｙ</a:t>
              </a:r>
            </a:p>
          </p:txBody>
        </p:sp>
        <p:sp>
          <p:nvSpPr>
            <p:cNvPr id="109" name="Text Box 50"/>
            <p:cNvSpPr txBox="1">
              <a:spLocks noChangeArrowheads="1"/>
            </p:cNvSpPr>
            <p:nvPr/>
          </p:nvSpPr>
          <p:spPr bwMode="auto">
            <a:xfrm>
              <a:off x="8315293" y="4295099"/>
              <a:ext cx="482831" cy="459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4925">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Ｎ</a:t>
              </a:r>
            </a:p>
          </p:txBody>
        </p:sp>
        <p:sp>
          <p:nvSpPr>
            <p:cNvPr id="110" name="Text Box 51"/>
            <p:cNvSpPr txBox="1">
              <a:spLocks noChangeArrowheads="1"/>
            </p:cNvSpPr>
            <p:nvPr/>
          </p:nvSpPr>
          <p:spPr bwMode="auto">
            <a:xfrm>
              <a:off x="3352800" y="5715000"/>
              <a:ext cx="482831" cy="459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4925">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dirty="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Ｎ</a:t>
              </a:r>
            </a:p>
          </p:txBody>
        </p:sp>
        <p:sp>
          <p:nvSpPr>
            <p:cNvPr id="111" name="Text Box 52"/>
            <p:cNvSpPr txBox="1">
              <a:spLocks noChangeArrowheads="1"/>
            </p:cNvSpPr>
            <p:nvPr/>
          </p:nvSpPr>
          <p:spPr bwMode="auto">
            <a:xfrm>
              <a:off x="5105400" y="5105400"/>
              <a:ext cx="482831" cy="459909"/>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34925">
                  <a:solidFill>
                    <a:srgbClr val="FFFF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Ｙ</a:t>
              </a:r>
            </a:p>
          </p:txBody>
        </p:sp>
        <p:sp>
          <p:nvSpPr>
            <p:cNvPr id="112" name="Freeform 53"/>
            <p:cNvSpPr/>
            <p:nvPr/>
          </p:nvSpPr>
          <p:spPr bwMode="auto">
            <a:xfrm>
              <a:off x="533400" y="1371600"/>
              <a:ext cx="6477000" cy="5105400"/>
            </a:xfrm>
            <a:custGeom>
              <a:avLst/>
              <a:gdLst>
                <a:gd name="T0" fmla="*/ 4128 w 4128"/>
                <a:gd name="T1" fmla="*/ 2448 h 3264"/>
                <a:gd name="T2" fmla="*/ 4128 w 4128"/>
                <a:gd name="T3" fmla="*/ 3264 h 3264"/>
                <a:gd name="T4" fmla="*/ 0 w 4128"/>
                <a:gd name="T5" fmla="*/ 3264 h 3264"/>
                <a:gd name="T6" fmla="*/ 0 w 4128"/>
                <a:gd name="T7" fmla="*/ 0 h 3264"/>
                <a:gd name="T8" fmla="*/ 960 w 4128"/>
                <a:gd name="T9" fmla="*/ 0 h 3264"/>
              </a:gdLst>
              <a:ahLst/>
              <a:cxnLst>
                <a:cxn ang="0">
                  <a:pos x="T0" y="T1"/>
                </a:cxn>
                <a:cxn ang="0">
                  <a:pos x="T2" y="T3"/>
                </a:cxn>
                <a:cxn ang="0">
                  <a:pos x="T4" y="T5"/>
                </a:cxn>
                <a:cxn ang="0">
                  <a:pos x="T6" y="T7"/>
                </a:cxn>
                <a:cxn ang="0">
                  <a:pos x="T8" y="T9"/>
                </a:cxn>
              </a:cxnLst>
              <a:rect l="0" t="0" r="r" b="b"/>
              <a:pathLst>
                <a:path w="4128" h="3264">
                  <a:moveTo>
                    <a:pt x="4128" y="2448"/>
                  </a:moveTo>
                  <a:lnTo>
                    <a:pt x="4128" y="3264"/>
                  </a:lnTo>
                  <a:lnTo>
                    <a:pt x="0" y="3264"/>
                  </a:lnTo>
                  <a:lnTo>
                    <a:pt x="0" y="0"/>
                  </a:lnTo>
                  <a:lnTo>
                    <a:pt x="960" y="0"/>
                  </a:lnTo>
                </a:path>
              </a:pathLst>
            </a:custGeom>
            <a:noFill/>
            <a:ln w="28575">
              <a:solidFill>
                <a:srgbClr val="FF00FF"/>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3" name="Freeform 54"/>
            <p:cNvSpPr/>
            <p:nvPr/>
          </p:nvSpPr>
          <p:spPr bwMode="auto">
            <a:xfrm>
              <a:off x="914400" y="4800600"/>
              <a:ext cx="3505200" cy="1371600"/>
            </a:xfrm>
            <a:custGeom>
              <a:avLst/>
              <a:gdLst>
                <a:gd name="T0" fmla="*/ 2208 w 2208"/>
                <a:gd name="T1" fmla="*/ 768 h 864"/>
                <a:gd name="T2" fmla="*/ 2208 w 2208"/>
                <a:gd name="T3" fmla="*/ 864 h 864"/>
                <a:gd name="T4" fmla="*/ 0 w 2208"/>
                <a:gd name="T5" fmla="*/ 864 h 864"/>
                <a:gd name="T6" fmla="*/ 0 w 2208"/>
                <a:gd name="T7" fmla="*/ 0 h 864"/>
                <a:gd name="T8" fmla="*/ 720 w 2208"/>
                <a:gd name="T9" fmla="*/ 0 h 864"/>
              </a:gdLst>
              <a:ahLst/>
              <a:cxnLst>
                <a:cxn ang="0">
                  <a:pos x="T0" y="T1"/>
                </a:cxn>
                <a:cxn ang="0">
                  <a:pos x="T2" y="T3"/>
                </a:cxn>
                <a:cxn ang="0">
                  <a:pos x="T4" y="T5"/>
                </a:cxn>
                <a:cxn ang="0">
                  <a:pos x="T6" y="T7"/>
                </a:cxn>
                <a:cxn ang="0">
                  <a:pos x="T8" y="T9"/>
                </a:cxn>
              </a:cxnLst>
              <a:rect l="0" t="0" r="r" b="b"/>
              <a:pathLst>
                <a:path w="2208" h="864">
                  <a:moveTo>
                    <a:pt x="2208" y="768"/>
                  </a:moveTo>
                  <a:lnTo>
                    <a:pt x="2208" y="864"/>
                  </a:lnTo>
                  <a:lnTo>
                    <a:pt x="0" y="864"/>
                  </a:lnTo>
                  <a:lnTo>
                    <a:pt x="0" y="0"/>
                  </a:lnTo>
                  <a:lnTo>
                    <a:pt x="720" y="0"/>
                  </a:lnTo>
                </a:path>
              </a:pathLst>
            </a:custGeom>
            <a:noFill/>
            <a:ln w="3175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4" name="Line 55"/>
            <p:cNvSpPr>
              <a:spLocks noChangeShapeType="1"/>
            </p:cNvSpPr>
            <p:nvPr/>
          </p:nvSpPr>
          <p:spPr bwMode="auto">
            <a:xfrm>
              <a:off x="2057400" y="1219200"/>
              <a:ext cx="0" cy="4572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Line 56"/>
            <p:cNvSpPr>
              <a:spLocks noChangeShapeType="1"/>
            </p:cNvSpPr>
            <p:nvPr/>
          </p:nvSpPr>
          <p:spPr bwMode="auto">
            <a:xfrm>
              <a:off x="2057400" y="2209800"/>
              <a:ext cx="0" cy="4572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6" name="Line 57"/>
            <p:cNvSpPr>
              <a:spLocks noChangeShapeType="1"/>
            </p:cNvSpPr>
            <p:nvPr/>
          </p:nvSpPr>
          <p:spPr bwMode="auto">
            <a:xfrm>
              <a:off x="2057400" y="3048000"/>
              <a:ext cx="0" cy="4572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Line 58"/>
            <p:cNvSpPr>
              <a:spLocks noChangeShapeType="1"/>
            </p:cNvSpPr>
            <p:nvPr/>
          </p:nvSpPr>
          <p:spPr bwMode="auto">
            <a:xfrm>
              <a:off x="2057400" y="3810000"/>
              <a:ext cx="0" cy="4572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8" name="Line 59"/>
            <p:cNvSpPr>
              <a:spLocks noChangeShapeType="1"/>
            </p:cNvSpPr>
            <p:nvPr/>
          </p:nvSpPr>
          <p:spPr bwMode="auto">
            <a:xfrm>
              <a:off x="2057400" y="4572000"/>
              <a:ext cx="0" cy="4572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9" name="Freeform 60"/>
            <p:cNvSpPr/>
            <p:nvPr/>
          </p:nvSpPr>
          <p:spPr bwMode="auto">
            <a:xfrm>
              <a:off x="2057400" y="457200"/>
              <a:ext cx="2438400" cy="5257800"/>
            </a:xfrm>
            <a:custGeom>
              <a:avLst/>
              <a:gdLst>
                <a:gd name="T0" fmla="*/ 0 w 1536"/>
                <a:gd name="T1" fmla="*/ 3120 h 3312"/>
                <a:gd name="T2" fmla="*/ 0 w 1536"/>
                <a:gd name="T3" fmla="*/ 3312 h 3312"/>
                <a:gd name="T4" fmla="*/ 720 w 1536"/>
                <a:gd name="T5" fmla="*/ 3312 h 3312"/>
                <a:gd name="T6" fmla="*/ 720 w 1536"/>
                <a:gd name="T7" fmla="*/ 0 h 3312"/>
                <a:gd name="T8" fmla="*/ 1536 w 1536"/>
                <a:gd name="T9" fmla="*/ 0 h 3312"/>
                <a:gd name="T10" fmla="*/ 1536 w 1536"/>
                <a:gd name="T11" fmla="*/ 240 h 3312"/>
              </a:gdLst>
              <a:ahLst/>
              <a:cxnLst>
                <a:cxn ang="0">
                  <a:pos x="T0" y="T1"/>
                </a:cxn>
                <a:cxn ang="0">
                  <a:pos x="T2" y="T3"/>
                </a:cxn>
                <a:cxn ang="0">
                  <a:pos x="T4" y="T5"/>
                </a:cxn>
                <a:cxn ang="0">
                  <a:pos x="T6" y="T7"/>
                </a:cxn>
                <a:cxn ang="0">
                  <a:pos x="T8" y="T9"/>
                </a:cxn>
                <a:cxn ang="0">
                  <a:pos x="T10" y="T11"/>
                </a:cxn>
              </a:cxnLst>
              <a:rect l="0" t="0" r="r" b="b"/>
              <a:pathLst>
                <a:path w="1536" h="3312">
                  <a:moveTo>
                    <a:pt x="0" y="3120"/>
                  </a:moveTo>
                  <a:lnTo>
                    <a:pt x="0" y="3312"/>
                  </a:lnTo>
                  <a:lnTo>
                    <a:pt x="720" y="3312"/>
                  </a:lnTo>
                  <a:lnTo>
                    <a:pt x="720" y="0"/>
                  </a:lnTo>
                  <a:lnTo>
                    <a:pt x="1536" y="0"/>
                  </a:lnTo>
                  <a:lnTo>
                    <a:pt x="1536" y="240"/>
                  </a:lnTo>
                </a:path>
              </a:pathLst>
            </a:custGeom>
            <a:noFill/>
            <a:ln w="47625">
              <a:solidFill>
                <a:srgbClr val="FF00FF"/>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0" name="Line 61"/>
            <p:cNvSpPr>
              <a:spLocks noChangeShapeType="1"/>
            </p:cNvSpPr>
            <p:nvPr/>
          </p:nvSpPr>
          <p:spPr bwMode="auto">
            <a:xfrm>
              <a:off x="4495800" y="1600200"/>
              <a:ext cx="0" cy="3048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1" name="Line 62"/>
            <p:cNvSpPr>
              <a:spLocks noChangeShapeType="1"/>
            </p:cNvSpPr>
            <p:nvPr/>
          </p:nvSpPr>
          <p:spPr bwMode="auto">
            <a:xfrm>
              <a:off x="4495800" y="2362200"/>
              <a:ext cx="0" cy="3810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2" name="Line 63"/>
            <p:cNvSpPr>
              <a:spLocks noChangeShapeType="1"/>
            </p:cNvSpPr>
            <p:nvPr/>
          </p:nvSpPr>
          <p:spPr bwMode="auto">
            <a:xfrm>
              <a:off x="4495800" y="3200400"/>
              <a:ext cx="0" cy="3810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3" name="Freeform 64"/>
            <p:cNvSpPr/>
            <p:nvPr/>
          </p:nvSpPr>
          <p:spPr bwMode="auto">
            <a:xfrm>
              <a:off x="4572000" y="1219200"/>
              <a:ext cx="2133600" cy="2209800"/>
            </a:xfrm>
            <a:custGeom>
              <a:avLst/>
              <a:gdLst>
                <a:gd name="T0" fmla="*/ 528 w 1344"/>
                <a:gd name="T1" fmla="*/ 0 h 1392"/>
                <a:gd name="T2" fmla="*/ 1344 w 1344"/>
                <a:gd name="T3" fmla="*/ 0 h 1392"/>
                <a:gd name="T4" fmla="*/ 1344 w 1344"/>
                <a:gd name="T5" fmla="*/ 1392 h 1392"/>
                <a:gd name="T6" fmla="*/ 0 w 1344"/>
                <a:gd name="T7" fmla="*/ 1392 h 1392"/>
              </a:gdLst>
              <a:ahLst/>
              <a:cxnLst>
                <a:cxn ang="0">
                  <a:pos x="T0" y="T1"/>
                </a:cxn>
                <a:cxn ang="0">
                  <a:pos x="T2" y="T3"/>
                </a:cxn>
                <a:cxn ang="0">
                  <a:pos x="T4" y="T5"/>
                </a:cxn>
                <a:cxn ang="0">
                  <a:pos x="T6" y="T7"/>
                </a:cxn>
              </a:cxnLst>
              <a:rect l="0" t="0" r="r" b="b"/>
              <a:pathLst>
                <a:path w="1344" h="1392">
                  <a:moveTo>
                    <a:pt x="528" y="0"/>
                  </a:moveTo>
                  <a:lnTo>
                    <a:pt x="1344" y="0"/>
                  </a:lnTo>
                  <a:lnTo>
                    <a:pt x="1344" y="1392"/>
                  </a:lnTo>
                  <a:lnTo>
                    <a:pt x="0" y="1392"/>
                  </a:lnTo>
                </a:path>
              </a:pathLst>
            </a:custGeom>
            <a:noFill/>
            <a:ln w="50800">
              <a:solidFill>
                <a:srgbClr val="FF00FF"/>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4" name="Line 65"/>
            <p:cNvSpPr>
              <a:spLocks noChangeShapeType="1"/>
            </p:cNvSpPr>
            <p:nvPr/>
          </p:nvSpPr>
          <p:spPr bwMode="auto">
            <a:xfrm>
              <a:off x="4495800" y="4114800"/>
              <a:ext cx="0" cy="3810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5" name="Line 66"/>
            <p:cNvSpPr>
              <a:spLocks noChangeShapeType="1"/>
            </p:cNvSpPr>
            <p:nvPr/>
          </p:nvSpPr>
          <p:spPr bwMode="auto">
            <a:xfrm>
              <a:off x="4495800" y="4876800"/>
              <a:ext cx="0" cy="457200"/>
            </a:xfrm>
            <a:prstGeom prst="line">
              <a:avLst/>
            </a:prstGeom>
            <a:noFill/>
            <a:ln w="41275">
              <a:solidFill>
                <a:srgbClr val="FF00FF"/>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6" name="Freeform 67"/>
            <p:cNvSpPr/>
            <p:nvPr/>
          </p:nvSpPr>
          <p:spPr bwMode="auto">
            <a:xfrm>
              <a:off x="914400" y="4800600"/>
              <a:ext cx="3505200" cy="1371600"/>
            </a:xfrm>
            <a:custGeom>
              <a:avLst/>
              <a:gdLst>
                <a:gd name="T0" fmla="*/ 2208 w 2208"/>
                <a:gd name="T1" fmla="*/ 768 h 864"/>
                <a:gd name="T2" fmla="*/ 2208 w 2208"/>
                <a:gd name="T3" fmla="*/ 864 h 864"/>
                <a:gd name="T4" fmla="*/ 0 w 2208"/>
                <a:gd name="T5" fmla="*/ 864 h 864"/>
                <a:gd name="T6" fmla="*/ 0 w 2208"/>
                <a:gd name="T7" fmla="*/ 0 h 864"/>
                <a:gd name="T8" fmla="*/ 720 w 2208"/>
                <a:gd name="T9" fmla="*/ 0 h 864"/>
              </a:gdLst>
              <a:ahLst/>
              <a:cxnLst>
                <a:cxn ang="0">
                  <a:pos x="T0" y="T1"/>
                </a:cxn>
                <a:cxn ang="0">
                  <a:pos x="T2" y="T3"/>
                </a:cxn>
                <a:cxn ang="0">
                  <a:pos x="T4" y="T5"/>
                </a:cxn>
                <a:cxn ang="0">
                  <a:pos x="T6" y="T7"/>
                </a:cxn>
                <a:cxn ang="0">
                  <a:pos x="T8" y="T9"/>
                </a:cxn>
              </a:cxnLst>
              <a:rect l="0" t="0" r="r" b="b"/>
              <a:pathLst>
                <a:path w="2208" h="864">
                  <a:moveTo>
                    <a:pt x="2208" y="768"/>
                  </a:moveTo>
                  <a:lnTo>
                    <a:pt x="2208" y="864"/>
                  </a:lnTo>
                  <a:lnTo>
                    <a:pt x="0" y="864"/>
                  </a:lnTo>
                  <a:lnTo>
                    <a:pt x="0" y="0"/>
                  </a:lnTo>
                  <a:lnTo>
                    <a:pt x="720" y="0"/>
                  </a:lnTo>
                </a:path>
              </a:pathLst>
            </a:custGeom>
            <a:noFill/>
            <a:ln w="50800">
              <a:solidFill>
                <a:srgbClr val="FF00FF"/>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7" name="Freeform 68"/>
            <p:cNvSpPr/>
            <p:nvPr/>
          </p:nvSpPr>
          <p:spPr bwMode="auto">
            <a:xfrm>
              <a:off x="533400" y="1371600"/>
              <a:ext cx="6477000" cy="5105400"/>
            </a:xfrm>
            <a:custGeom>
              <a:avLst/>
              <a:gdLst>
                <a:gd name="T0" fmla="*/ 4080 w 4080"/>
                <a:gd name="T1" fmla="*/ 2400 h 3216"/>
                <a:gd name="T2" fmla="*/ 4080 w 4080"/>
                <a:gd name="T3" fmla="*/ 3216 h 3216"/>
                <a:gd name="T4" fmla="*/ 0 w 4080"/>
                <a:gd name="T5" fmla="*/ 3216 h 3216"/>
                <a:gd name="T6" fmla="*/ 0 w 4080"/>
                <a:gd name="T7" fmla="*/ 0 h 3216"/>
                <a:gd name="T8" fmla="*/ 912 w 4080"/>
                <a:gd name="T9" fmla="*/ 0 h 3216"/>
              </a:gdLst>
              <a:ahLst/>
              <a:cxnLst>
                <a:cxn ang="0">
                  <a:pos x="T0" y="T1"/>
                </a:cxn>
                <a:cxn ang="0">
                  <a:pos x="T2" y="T3"/>
                </a:cxn>
                <a:cxn ang="0">
                  <a:pos x="T4" y="T5"/>
                </a:cxn>
                <a:cxn ang="0">
                  <a:pos x="T6" y="T7"/>
                </a:cxn>
                <a:cxn ang="0">
                  <a:pos x="T8" y="T9"/>
                </a:cxn>
              </a:cxnLst>
              <a:rect l="0" t="0" r="r" b="b"/>
              <a:pathLst>
                <a:path w="4080" h="3216">
                  <a:moveTo>
                    <a:pt x="4080" y="2400"/>
                  </a:moveTo>
                  <a:lnTo>
                    <a:pt x="4080" y="3216"/>
                  </a:lnTo>
                  <a:lnTo>
                    <a:pt x="0" y="3216"/>
                  </a:lnTo>
                  <a:lnTo>
                    <a:pt x="0" y="0"/>
                  </a:lnTo>
                  <a:lnTo>
                    <a:pt x="912" y="0"/>
                  </a:lnTo>
                </a:path>
              </a:pathLst>
            </a:custGeom>
            <a:noFill/>
            <a:ln w="50800">
              <a:solidFill>
                <a:srgbClr val="00FF00"/>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8" name="Freeform 69"/>
            <p:cNvSpPr/>
            <p:nvPr/>
          </p:nvSpPr>
          <p:spPr bwMode="auto">
            <a:xfrm>
              <a:off x="5486400" y="3962400"/>
              <a:ext cx="1447800" cy="1752600"/>
            </a:xfrm>
            <a:custGeom>
              <a:avLst/>
              <a:gdLst>
                <a:gd name="T0" fmla="*/ 0 w 912"/>
                <a:gd name="T1" fmla="*/ 1104 h 1104"/>
                <a:gd name="T2" fmla="*/ 240 w 912"/>
                <a:gd name="T3" fmla="*/ 1104 h 1104"/>
                <a:gd name="T4" fmla="*/ 240 w 912"/>
                <a:gd name="T5" fmla="*/ 0 h 1104"/>
                <a:gd name="T6" fmla="*/ 912 w 912"/>
                <a:gd name="T7" fmla="*/ 0 h 1104"/>
                <a:gd name="T8" fmla="*/ 912 w 912"/>
                <a:gd name="T9" fmla="*/ 288 h 1104"/>
              </a:gdLst>
              <a:ahLst/>
              <a:cxnLst>
                <a:cxn ang="0">
                  <a:pos x="T0" y="T1"/>
                </a:cxn>
                <a:cxn ang="0">
                  <a:pos x="T2" y="T3"/>
                </a:cxn>
                <a:cxn ang="0">
                  <a:pos x="T4" y="T5"/>
                </a:cxn>
                <a:cxn ang="0">
                  <a:pos x="T6" y="T7"/>
                </a:cxn>
                <a:cxn ang="0">
                  <a:pos x="T8" y="T9"/>
                </a:cxn>
              </a:cxnLst>
              <a:rect l="0" t="0" r="r" b="b"/>
              <a:pathLst>
                <a:path w="912" h="1104">
                  <a:moveTo>
                    <a:pt x="0" y="1104"/>
                  </a:moveTo>
                  <a:lnTo>
                    <a:pt x="240" y="1104"/>
                  </a:lnTo>
                  <a:lnTo>
                    <a:pt x="240" y="0"/>
                  </a:lnTo>
                  <a:lnTo>
                    <a:pt x="912" y="0"/>
                  </a:lnTo>
                  <a:lnTo>
                    <a:pt x="912" y="288"/>
                  </a:lnTo>
                </a:path>
              </a:pathLst>
            </a:custGeom>
            <a:noFill/>
            <a:ln w="38100">
              <a:solidFill>
                <a:srgbClr val="FF00FF"/>
              </a:solidFill>
              <a:rou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1" lang="zh-CN" altLang="en-US" b="0" i="0" u="none" strike="noStrike" kern="0" cap="none" spc="0" normalizeH="0" baseline="0" noProof="0">
                <a:ln>
                  <a:noFill/>
                </a:ln>
                <a:solidFill>
                  <a:srgbClr val="74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563562"/>
          </a:xfrm>
        </p:spPr>
        <p:txBody>
          <a:bodyPr/>
          <a:lstStyle/>
          <a:p>
            <a:r>
              <a:rPr lang="en-US" altLang="zh-CN" dirty="0"/>
              <a:t>3. </a:t>
            </a:r>
            <a:r>
              <a:rPr lang="zh-CN" altLang="en-US" dirty="0"/>
              <a:t>代码转换程序设计示例</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678396" y="2228671"/>
            <a:ext cx="7787208" cy="1200329"/>
          </a:xfrm>
          <a:prstGeom prst="rect">
            <a:avLst/>
          </a:prstGeom>
        </p:spPr>
        <p:txBody>
          <a:bodyPr wrap="square">
            <a:spAutoFit/>
          </a:bodyPr>
          <a:lstStyle/>
          <a:p>
            <a:pPr>
              <a:spcBef>
                <a:spcPts val="0"/>
              </a:spcBef>
              <a:spcAft>
                <a:spcPts val="1200"/>
              </a:spcAft>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代码转换是在程序设计中经常遇到的一类问题。例如，从键盘输入的数据都是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码的形式，计算机进行处理时，必须将它们转换为二进制数值； 要显示输出的数据必须先转换为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用户输入的十进制数据，要转换为二进制处理；处理后的数据，要转换为十进制输出，等等。</a:t>
            </a:r>
          </a:p>
        </p:txBody>
      </p:sp>
      <p:sp>
        <p:nvSpPr>
          <p:cNvPr id="6" name="矩形 5"/>
          <p:cNvSpPr/>
          <p:nvPr/>
        </p:nvSpPr>
        <p:spPr>
          <a:xfrm>
            <a:off x="755576" y="3645024"/>
            <a:ext cx="7787208" cy="646331"/>
          </a:xfrm>
          <a:prstGeom prst="rect">
            <a:avLst/>
          </a:prstGeom>
        </p:spPr>
        <p:txBody>
          <a:bodyPr wrap="square">
            <a:spAutoFit/>
          </a:bodyPr>
          <a:lstStyle/>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代码转换通常有两种方法： 对于没有规律的转换代码，可通过</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查表</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来实现； 对于有规律的转换代码，可根据它们的</a:t>
            </a:r>
            <a:r>
              <a:rPr lang="zh-CN" altLang="en-US"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转换规则</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进行处理，实现转换。</a:t>
            </a:r>
          </a:p>
        </p:txBody>
      </p:sp>
      <p:sp>
        <p:nvSpPr>
          <p:cNvPr id="7" name="矩形 6"/>
          <p:cNvSpPr/>
          <p:nvPr/>
        </p:nvSpPr>
        <p:spPr>
          <a:xfrm>
            <a:off x="652365" y="4345012"/>
            <a:ext cx="8229600" cy="2169825"/>
          </a:xfrm>
          <a:prstGeom prst="rect">
            <a:avLst/>
          </a:prstGeom>
        </p:spPr>
        <p:txBody>
          <a:bodyPr wrap="square">
            <a:spAutoFit/>
          </a:bodyPr>
          <a:lstStyle/>
          <a:p>
            <a:pPr>
              <a:lnSpc>
                <a:spcPct val="150000"/>
              </a:lnSpc>
            </a:pP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二进制码和</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码间的相互转换</a:t>
            </a: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实际上，二进制数据通常都以十六进制的形式表示，所以这里主要讨论十六进制码和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码的相互转换。</a:t>
            </a: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十六进制数据的</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个符号</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0~9</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A~F(</a:t>
            </a:r>
            <a:r>
              <a:rPr lang="en-US" altLang="zh-CN" b="1" dirty="0" err="1">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a~f</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，对应的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码为</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30H~39H</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41H~46H(61H~66H)</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0~9</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的数，要转换为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码，只要</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加</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逻辑“或”</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)30H</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就可以了； 而对于</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A~F(</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a~f</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的数，则要</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加</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逻辑“或”</a:t>
            </a:r>
            <a:r>
              <a:rPr lang="en-US" altLang="zh-CN" b="1"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)37H(57H)</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1" end="1"/>
                                            </p:txEl>
                                          </p:spTgt>
                                        </p:tgtEl>
                                        <p:attrNameLst>
                                          <p:attrName>style.visibility</p:attrName>
                                        </p:attrNameLst>
                                      </p:cBhvr>
                                      <p:to>
                                        <p:strVal val="visible"/>
                                      </p:to>
                                    </p:set>
                                    <p:animEffect transition="in" filter="fade">
                                      <p:cBhvr>
                                        <p:cTn id="27" dur="500"/>
                                        <p:tgtEl>
                                          <p:spTgt spid="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fade">
                                      <p:cBhvr>
                                        <p:cTn id="32" dur="500"/>
                                        <p:tgtEl>
                                          <p:spTgt spid="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
                                            <p:txEl>
                                              <p:pRg st="3" end="3"/>
                                            </p:txEl>
                                          </p:spTgt>
                                        </p:tgtEl>
                                        <p:attrNameLst>
                                          <p:attrName>style.visibility</p:attrName>
                                        </p:attrNameLst>
                                      </p:cBhvr>
                                      <p:to>
                                        <p:strVal val="visible"/>
                                      </p:to>
                                    </p:set>
                                    <p:animEffect transition="in" filter="fade">
                                      <p:cBhvr>
                                        <p:cTn id="3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p:bldP spid="7"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5"/>
            <a:ext cx="8229600" cy="1070338"/>
          </a:xfrm>
        </p:spPr>
        <p:txBody>
          <a:bodyPr/>
          <a:lstStyle/>
          <a:p>
            <a:r>
              <a:rPr lang="zh-CN" altLang="en-US" dirty="0">
                <a:latin typeface="Times New Roman" panose="02020603050405020304" pitchFamily="18" charset="0"/>
                <a:cs typeface="Times New Roman" panose="02020603050405020304" pitchFamily="18" charset="0"/>
              </a:rPr>
              <a:t>例</a:t>
            </a:r>
            <a:r>
              <a:rPr lang="en-US" altLang="zh-CN" dirty="0">
                <a:latin typeface="Times New Roman" panose="02020603050405020304" pitchFamily="18" charset="0"/>
                <a:cs typeface="Times New Roman" panose="02020603050405020304" pitchFamily="18" charset="0"/>
              </a:rPr>
              <a:t>4.18 </a:t>
            </a:r>
            <a:r>
              <a:rPr lang="zh-CN" altLang="en-US" dirty="0">
                <a:latin typeface="Times New Roman" panose="02020603050405020304" pitchFamily="18" charset="0"/>
                <a:cs typeface="Times New Roman" panose="02020603050405020304" pitchFamily="18" charset="0"/>
              </a:rPr>
              <a:t>将以</a:t>
            </a:r>
            <a:r>
              <a:rPr lang="en-US" altLang="zh-CN" dirty="0">
                <a:latin typeface="Times New Roman" panose="02020603050405020304" pitchFamily="18" charset="0"/>
                <a:cs typeface="Times New Roman" panose="02020603050405020304" pitchFamily="18" charset="0"/>
              </a:rPr>
              <a:t>BUF</a:t>
            </a:r>
            <a:r>
              <a:rPr lang="zh-CN" altLang="en-US" dirty="0">
                <a:latin typeface="Times New Roman" panose="02020603050405020304" pitchFamily="18" charset="0"/>
                <a:cs typeface="Times New Roman" panose="02020603050405020304" pitchFamily="18" charset="0"/>
              </a:rPr>
              <a:t>为首址的存储单元中的字数据显示输出，每两个字之间用空格分隔。</a:t>
            </a: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755576" y="2745235"/>
            <a:ext cx="6427976" cy="2951705"/>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要显示输出，必须首先将数据转换为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每个字的转换通过循环左移指令，依次将字的高位十六进制数移入低位来进行转换。</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依此，循环执行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次，即可实现一个字的转换。</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多个字的转换可以用双重循环实现，外循环用于控制待转换的字数，内循环控制每个字需要转换的次数。</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字符显示可用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号功能调用。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fade">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fade">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fade">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fade">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dirty="0">
                <a:latin typeface="Times New Roman" panose="02020603050405020304" pitchFamily="18" charset="0"/>
                <a:cs typeface="Times New Roman" panose="02020603050405020304" pitchFamily="18" charset="0"/>
              </a:rPr>
              <a:t>2) </a:t>
            </a:r>
            <a:r>
              <a:rPr lang="zh-CN" altLang="zh-CN" dirty="0">
                <a:latin typeface="Times New Roman" panose="02020603050405020304" pitchFamily="18" charset="0"/>
                <a:cs typeface="Times New Roman" panose="02020603050405020304" pitchFamily="18" charset="0"/>
              </a:rPr>
              <a:t>十进制数转换为二进制数</a:t>
            </a:r>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755576" y="2384146"/>
            <a:ext cx="7848872" cy="706755"/>
          </a:xfrm>
          <a:prstGeom prst="rect">
            <a:avLst/>
          </a:prstGeom>
        </p:spPr>
        <p:txBody>
          <a:bodyPr wrap="square">
            <a:spAutoFit/>
          </a:bodyPr>
          <a:lstStyle/>
          <a:p>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4.19 </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将键盘输入的十进制数转换为二进制数，十进制数串以回车符结束，要求转换后的二进制数存入</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DX</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寄存器</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假设不超过</a:t>
            </a:r>
            <a:r>
              <a:rPr lang="en-US" altLang="zh-CN" sz="2000" b="1" dirty="0">
                <a:latin typeface="Times New Roman" panose="02020603050405020304" pitchFamily="18" charset="0"/>
                <a:ea typeface="微软雅黑" panose="020B0503020204020204" pitchFamily="34" charset="-122"/>
                <a:cs typeface="Times New Roman" panose="02020603050405020304" pitchFamily="18" charset="0"/>
              </a:rPr>
              <a:t>65535)</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矩形 5"/>
          <p:cNvSpPr/>
          <p:nvPr/>
        </p:nvSpPr>
        <p:spPr>
          <a:xfrm>
            <a:off x="827584" y="3429000"/>
            <a:ext cx="7848872" cy="2120709"/>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首先要将键盘输入的</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码形式的十进制数符转换为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BCD</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码。</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若输入的十进制数是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D4D3D2D1D0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，则可用下述公式将它转换为二进制值：</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(D4D3D2D1D0)=((((0×10+D4)×10+D3)×10+D2)×10+D1)×10+D0</a:t>
            </a:r>
          </a:p>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由展开式可见，整个转换过程是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从待转换数码的高位开始，重复执行中间结果乘</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再加以待转换数码的过程。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fade">
                                      <p:cBhvr>
                                        <p:cTn id="3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66574"/>
            <a:ext cx="8229600" cy="563563"/>
          </a:xfrm>
        </p:spPr>
        <p:txBody>
          <a:bodyPr/>
          <a:lstStyle/>
          <a:p>
            <a:r>
              <a:rPr lang="en-US" altLang="zh-CN" dirty="0">
                <a:latin typeface="Times New Roman" panose="02020603050405020304" pitchFamily="18" charset="0"/>
                <a:cs typeface="Times New Roman" panose="02020603050405020304" pitchFamily="18" charset="0"/>
              </a:rPr>
              <a:t>3) </a:t>
            </a:r>
            <a:r>
              <a:rPr lang="zh-CN" altLang="zh-CN" dirty="0">
                <a:latin typeface="Times New Roman" panose="02020603050405020304" pitchFamily="18" charset="0"/>
                <a:cs typeface="Times New Roman" panose="02020603050405020304" pitchFamily="18" charset="0"/>
              </a:rPr>
              <a:t>二进制数转换为十进制数</a:t>
            </a:r>
          </a:p>
          <a:p>
            <a:endParaRPr lang="zh-CN" altLang="en-US" dirty="0">
              <a:latin typeface="Times New Roman" panose="02020603050405020304" pitchFamily="18" charset="0"/>
              <a:cs typeface="Times New Roman" panose="02020603050405020304" pitchFamily="18" charset="0"/>
            </a:endParaRPr>
          </a:p>
        </p:txBody>
      </p:sp>
      <p:sp>
        <p:nvSpPr>
          <p:cNvPr id="3" name="文本占位符 2"/>
          <p:cNvSpPr>
            <a:spLocks noGrp="1"/>
          </p:cNvSpPr>
          <p:nvPr>
            <p:ph type="body" sz="quarter" idx="10"/>
          </p:nvPr>
        </p:nvSpPr>
        <p:spPr/>
        <p:txBody>
          <a:bodyPr/>
          <a:lstStyle/>
          <a:p>
            <a:r>
              <a:rPr lang="en-US" altLang="zh-CN" dirty="0"/>
              <a:t>4.7</a:t>
            </a:r>
            <a:r>
              <a:rPr lang="zh-CN" altLang="en-US" dirty="0"/>
              <a:t>汇编语言程序设计举例</a:t>
            </a:r>
          </a:p>
          <a:p>
            <a:endParaRPr lang="zh-CN" altLang="en-US" dirty="0"/>
          </a:p>
        </p:txBody>
      </p:sp>
      <p:sp>
        <p:nvSpPr>
          <p:cNvPr id="5" name="矩形 4"/>
          <p:cNvSpPr/>
          <p:nvPr/>
        </p:nvSpPr>
        <p:spPr>
          <a:xfrm>
            <a:off x="755576" y="2348880"/>
            <a:ext cx="7344816" cy="706755"/>
          </a:xfrm>
          <a:prstGeom prst="rect">
            <a:avLst/>
          </a:prstGeom>
        </p:spPr>
        <p:txBody>
          <a:bodyPr wrap="square">
            <a:spAutoFit/>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4.20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将一个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位二进制数转换为十进制数，形成的十进制数以非组合</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BCD</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码的形式表示。</a:t>
            </a:r>
          </a:p>
        </p:txBody>
      </p:sp>
      <p:sp>
        <p:nvSpPr>
          <p:cNvPr id="6" name="矩形 5"/>
          <p:cNvSpPr/>
          <p:nvPr/>
        </p:nvSpPr>
        <p:spPr>
          <a:xfrm>
            <a:off x="899592" y="3237975"/>
            <a:ext cx="7344816" cy="2584450"/>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与十进制转换为二进制相似，若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16</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位二进制数是</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B15B14…B1B0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那么可以用下述公式实现转换</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p>
          <a:p>
            <a:pPr>
              <a:lnSpc>
                <a:spcPct val="150000"/>
              </a:lnSpc>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(B15B14…B1B0)=(…((0×2+B15)×2+B14)×2+…+B1)×2+B0</a:t>
            </a:r>
          </a:p>
          <a:p>
            <a:pPr marL="285750" indent="-285750">
              <a:lnSpc>
                <a:spcPct val="150000"/>
              </a:lnSpc>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从待转换数码的高位开始，重复执行中间结果乘</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再加以待转换数码的过程，并在每一步的乘或加运算操作后，用十进制调整指令调整，那么，最后的运算结果一定是十进制数，并且结果不超过</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fade">
                                      <p:cBhvr>
                                        <p:cTn id="3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6"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4.8</a:t>
            </a:r>
            <a:r>
              <a:rPr lang="zh-CN" altLang="en-US" dirty="0"/>
              <a:t>汇编语言程序上机过程</a:t>
            </a:r>
          </a:p>
        </p:txBody>
      </p:sp>
      <p:grpSp>
        <p:nvGrpSpPr>
          <p:cNvPr id="28" name="Group 44"/>
          <p:cNvGrpSpPr/>
          <p:nvPr/>
        </p:nvGrpSpPr>
        <p:grpSpPr bwMode="auto">
          <a:xfrm>
            <a:off x="542657" y="1642775"/>
            <a:ext cx="7926469" cy="5013176"/>
            <a:chOff x="216" y="468"/>
            <a:chExt cx="5384" cy="3617"/>
          </a:xfrm>
        </p:grpSpPr>
        <p:grpSp>
          <p:nvGrpSpPr>
            <p:cNvPr id="29" name="Group 5"/>
            <p:cNvGrpSpPr/>
            <p:nvPr/>
          </p:nvGrpSpPr>
          <p:grpSpPr bwMode="auto">
            <a:xfrm>
              <a:off x="232" y="468"/>
              <a:ext cx="4139" cy="480"/>
              <a:chOff x="556" y="624"/>
              <a:chExt cx="4139" cy="480"/>
            </a:xfrm>
          </p:grpSpPr>
          <p:sp>
            <p:nvSpPr>
              <p:cNvPr id="64" name="Text Box 6"/>
              <p:cNvSpPr txBox="1">
                <a:spLocks noChangeArrowheads="1"/>
              </p:cNvSpPr>
              <p:nvPr/>
            </p:nvSpPr>
            <p:spPr bwMode="auto">
              <a:xfrm>
                <a:off x="4361" y="648"/>
                <a:ext cx="33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编辑</a:t>
                </a:r>
              </a:p>
            </p:txBody>
          </p:sp>
          <p:sp>
            <p:nvSpPr>
              <p:cNvPr id="65" name="Line 7"/>
              <p:cNvSpPr>
                <a:spLocks noChangeShapeType="1"/>
              </p:cNvSpPr>
              <p:nvPr/>
            </p:nvSpPr>
            <p:spPr bwMode="auto">
              <a:xfrm>
                <a:off x="4337" y="624"/>
                <a:ext cx="0" cy="48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6" name="AutoShape 8"/>
              <p:cNvSpPr/>
              <p:nvPr/>
            </p:nvSpPr>
            <p:spPr bwMode="auto">
              <a:xfrm>
                <a:off x="556" y="767"/>
                <a:ext cx="2578" cy="289"/>
              </a:xfrm>
              <a:prstGeom prst="accentCallout1">
                <a:avLst>
                  <a:gd name="adj1" fmla="val 24491"/>
                  <a:gd name="adj2" fmla="val 101861"/>
                  <a:gd name="adj3" fmla="val 26870"/>
                  <a:gd name="adj4" fmla="val 121449"/>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文本编辑器，如 </a:t>
                </a:r>
                <a:r>
                  <a:rPr kumimoji="1" lang="en-US" altLang="zh-CN" sz="200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PWB.EXE</a:t>
                </a:r>
              </a:p>
            </p:txBody>
          </p:sp>
        </p:grpSp>
        <p:sp>
          <p:nvSpPr>
            <p:cNvPr id="30" name="AutoShape 9"/>
            <p:cNvSpPr>
              <a:spLocks noChangeArrowheads="1"/>
            </p:cNvSpPr>
            <p:nvPr/>
          </p:nvSpPr>
          <p:spPr bwMode="auto">
            <a:xfrm>
              <a:off x="2781" y="942"/>
              <a:ext cx="2446" cy="410"/>
            </a:xfrm>
            <a:prstGeom prst="flowChartPreparation">
              <a:avLst/>
            </a:prstGeom>
            <a:noFill/>
            <a:ln w="9525">
              <a:solidFill>
                <a:srgbClr val="FF33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80000"/>
                </a:lnSpc>
                <a:spcBef>
                  <a:spcPct val="20000"/>
                </a:spcBef>
                <a:spcAft>
                  <a:spcPts val="0"/>
                </a:spcAft>
                <a:buClr>
                  <a:srgbClr val="CC0000"/>
                </a:buClr>
                <a:buSzTx/>
                <a:buFont typeface="Wingdings" panose="05000000000000000000" pitchFamily="2" charset="2"/>
                <a:buNone/>
                <a:defRPr/>
              </a:pPr>
              <a:endParaRPr kumimoji="0"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Text Box 10"/>
            <p:cNvSpPr txBox="1">
              <a:spLocks noChangeArrowheads="1"/>
            </p:cNvSpPr>
            <p:nvPr/>
          </p:nvSpPr>
          <p:spPr bwMode="auto">
            <a:xfrm>
              <a:off x="2997" y="1001"/>
              <a:ext cx="207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源程序：文件名</a:t>
              </a:r>
              <a:r>
                <a:rPr kumimoji="1" lang="en-US" altLang="zh-CN"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.asm</a:t>
              </a:r>
              <a:endParaRPr kumimoji="1" lang="en-US" altLang="zh-CN"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2" name="Group 11"/>
            <p:cNvGrpSpPr/>
            <p:nvPr/>
          </p:nvGrpSpPr>
          <p:grpSpPr bwMode="auto">
            <a:xfrm>
              <a:off x="232" y="1356"/>
              <a:ext cx="4139" cy="480"/>
              <a:chOff x="556" y="624"/>
              <a:chExt cx="4139" cy="480"/>
            </a:xfrm>
          </p:grpSpPr>
          <p:sp>
            <p:nvSpPr>
              <p:cNvPr id="61" name="Text Box 12"/>
              <p:cNvSpPr txBox="1">
                <a:spLocks noChangeArrowheads="1"/>
              </p:cNvSpPr>
              <p:nvPr/>
            </p:nvSpPr>
            <p:spPr bwMode="auto">
              <a:xfrm>
                <a:off x="4361" y="648"/>
                <a:ext cx="33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汇编</a:t>
                </a:r>
              </a:p>
            </p:txBody>
          </p:sp>
          <p:sp>
            <p:nvSpPr>
              <p:cNvPr id="62" name="Line 13"/>
              <p:cNvSpPr>
                <a:spLocks noChangeShapeType="1"/>
              </p:cNvSpPr>
              <p:nvPr/>
            </p:nvSpPr>
            <p:spPr bwMode="auto">
              <a:xfrm>
                <a:off x="4337" y="624"/>
                <a:ext cx="0" cy="48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3" name="AutoShape 14"/>
              <p:cNvSpPr/>
              <p:nvPr/>
            </p:nvSpPr>
            <p:spPr bwMode="auto">
              <a:xfrm>
                <a:off x="556" y="767"/>
                <a:ext cx="2578" cy="289"/>
              </a:xfrm>
              <a:prstGeom prst="accentCallout1">
                <a:avLst>
                  <a:gd name="adj1" fmla="val 24491"/>
                  <a:gd name="adj2" fmla="val 101861"/>
                  <a:gd name="adj3" fmla="val 26870"/>
                  <a:gd name="adj4" fmla="val 121449"/>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汇编程序，如 </a:t>
                </a:r>
                <a:r>
                  <a:rPr kumimoji="1" lang="en-US" altLang="zh-CN"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ML.EXE</a:t>
                </a:r>
              </a:p>
            </p:txBody>
          </p:sp>
        </p:grpSp>
        <p:sp>
          <p:nvSpPr>
            <p:cNvPr id="33" name="AutoShape 15"/>
            <p:cNvSpPr>
              <a:spLocks noChangeArrowheads="1"/>
            </p:cNvSpPr>
            <p:nvPr/>
          </p:nvSpPr>
          <p:spPr bwMode="auto">
            <a:xfrm>
              <a:off x="2781" y="1830"/>
              <a:ext cx="2446" cy="410"/>
            </a:xfrm>
            <a:prstGeom prst="flowChartPreparation">
              <a:avLst/>
            </a:prstGeom>
            <a:noFill/>
            <a:ln w="9525">
              <a:solidFill>
                <a:srgbClr val="FF33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80000"/>
                </a:lnSpc>
                <a:spcBef>
                  <a:spcPct val="20000"/>
                </a:spcBef>
                <a:spcAft>
                  <a:spcPts val="0"/>
                </a:spcAft>
                <a:buClr>
                  <a:srgbClr val="CC0000"/>
                </a:buClr>
                <a:buSzTx/>
                <a:buFont typeface="Wingdings" panose="05000000000000000000" pitchFamily="2" charset="2"/>
                <a:buNone/>
                <a:defRPr/>
              </a:pPr>
              <a:endParaRPr kumimoji="0"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 name="Text Box 16"/>
            <p:cNvSpPr txBox="1">
              <a:spLocks noChangeArrowheads="1"/>
            </p:cNvSpPr>
            <p:nvPr/>
          </p:nvSpPr>
          <p:spPr bwMode="auto">
            <a:xfrm>
              <a:off x="2950" y="1891"/>
              <a:ext cx="2072"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目标模块：文件名</a:t>
              </a:r>
              <a:r>
                <a:rPr kumimoji="1" lang="en-US" altLang="zh-CN"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.obj</a:t>
              </a:r>
              <a:endParaRPr kumimoji="1" lang="en-US" altLang="zh-CN"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5" name="Group 17"/>
            <p:cNvGrpSpPr/>
            <p:nvPr/>
          </p:nvGrpSpPr>
          <p:grpSpPr bwMode="auto">
            <a:xfrm>
              <a:off x="232" y="2244"/>
              <a:ext cx="4139" cy="480"/>
              <a:chOff x="556" y="624"/>
              <a:chExt cx="4139" cy="480"/>
            </a:xfrm>
          </p:grpSpPr>
          <p:sp>
            <p:nvSpPr>
              <p:cNvPr id="58" name="Text Box 18"/>
              <p:cNvSpPr txBox="1">
                <a:spLocks noChangeArrowheads="1"/>
              </p:cNvSpPr>
              <p:nvPr/>
            </p:nvSpPr>
            <p:spPr bwMode="auto">
              <a:xfrm>
                <a:off x="4361" y="648"/>
                <a:ext cx="33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连接</a:t>
                </a:r>
              </a:p>
            </p:txBody>
          </p:sp>
          <p:sp>
            <p:nvSpPr>
              <p:cNvPr id="59" name="Line 19"/>
              <p:cNvSpPr>
                <a:spLocks noChangeShapeType="1"/>
              </p:cNvSpPr>
              <p:nvPr/>
            </p:nvSpPr>
            <p:spPr bwMode="auto">
              <a:xfrm>
                <a:off x="4337" y="624"/>
                <a:ext cx="0" cy="48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0" name="AutoShape 20"/>
              <p:cNvSpPr/>
              <p:nvPr/>
            </p:nvSpPr>
            <p:spPr bwMode="auto">
              <a:xfrm>
                <a:off x="556" y="767"/>
                <a:ext cx="2578" cy="289"/>
              </a:xfrm>
              <a:prstGeom prst="accentCallout1">
                <a:avLst>
                  <a:gd name="adj1" fmla="val 24491"/>
                  <a:gd name="adj2" fmla="val 101861"/>
                  <a:gd name="adj3" fmla="val 26870"/>
                  <a:gd name="adj4" fmla="val 121449"/>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连接程序，如 </a:t>
                </a:r>
                <a:r>
                  <a:rPr kumimoji="1" lang="en-US" altLang="zh-CN"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LINK.EXE</a:t>
                </a:r>
              </a:p>
            </p:txBody>
          </p:sp>
        </p:grpSp>
        <p:sp>
          <p:nvSpPr>
            <p:cNvPr id="36" name="AutoShape 21"/>
            <p:cNvSpPr>
              <a:spLocks noChangeArrowheads="1"/>
            </p:cNvSpPr>
            <p:nvPr/>
          </p:nvSpPr>
          <p:spPr bwMode="auto">
            <a:xfrm>
              <a:off x="2781" y="2718"/>
              <a:ext cx="2446" cy="410"/>
            </a:xfrm>
            <a:prstGeom prst="flowChartPreparation">
              <a:avLst/>
            </a:prstGeom>
            <a:noFill/>
            <a:ln w="9525">
              <a:solidFill>
                <a:srgbClr val="FF33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80000"/>
                </a:lnSpc>
                <a:spcBef>
                  <a:spcPct val="20000"/>
                </a:spcBef>
                <a:spcAft>
                  <a:spcPts val="0"/>
                </a:spcAft>
                <a:buClr>
                  <a:srgbClr val="CC0000"/>
                </a:buClr>
                <a:buSzTx/>
                <a:buFont typeface="Wingdings" panose="05000000000000000000" pitchFamily="2" charset="2"/>
                <a:buNone/>
                <a:defRPr/>
              </a:pPr>
              <a:endParaRPr kumimoji="0"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Text Box 22"/>
            <p:cNvSpPr txBox="1">
              <a:spLocks noChangeArrowheads="1"/>
            </p:cNvSpPr>
            <p:nvPr/>
          </p:nvSpPr>
          <p:spPr bwMode="auto">
            <a:xfrm>
              <a:off x="2862" y="2779"/>
              <a:ext cx="232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可执行文件：文件名</a:t>
              </a:r>
              <a:r>
                <a:rPr kumimoji="1" lang="en-US" altLang="zh-CN"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.exe</a:t>
              </a:r>
              <a:endParaRPr kumimoji="1" lang="en-US" altLang="zh-CN"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8" name="Group 23"/>
            <p:cNvGrpSpPr/>
            <p:nvPr/>
          </p:nvGrpSpPr>
          <p:grpSpPr bwMode="auto">
            <a:xfrm>
              <a:off x="216" y="3134"/>
              <a:ext cx="4139" cy="480"/>
              <a:chOff x="556" y="624"/>
              <a:chExt cx="4139" cy="480"/>
            </a:xfrm>
          </p:grpSpPr>
          <p:sp>
            <p:nvSpPr>
              <p:cNvPr id="55" name="Text Box 24"/>
              <p:cNvSpPr txBox="1">
                <a:spLocks noChangeArrowheads="1"/>
              </p:cNvSpPr>
              <p:nvPr/>
            </p:nvSpPr>
            <p:spPr bwMode="auto">
              <a:xfrm>
                <a:off x="4361" y="648"/>
                <a:ext cx="334"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调试</a:t>
                </a:r>
              </a:p>
            </p:txBody>
          </p:sp>
          <p:sp>
            <p:nvSpPr>
              <p:cNvPr id="56" name="Line 25"/>
              <p:cNvSpPr>
                <a:spLocks noChangeShapeType="1"/>
              </p:cNvSpPr>
              <p:nvPr/>
            </p:nvSpPr>
            <p:spPr bwMode="auto">
              <a:xfrm>
                <a:off x="4337" y="624"/>
                <a:ext cx="0" cy="480"/>
              </a:xfrm>
              <a:prstGeom prst="line">
                <a:avLst/>
              </a:prstGeom>
              <a:noFill/>
              <a:ln w="28575">
                <a:solidFill>
                  <a:srgbClr val="FF3300"/>
                </a:solidFill>
                <a:round/>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7" name="AutoShape 26"/>
              <p:cNvSpPr/>
              <p:nvPr/>
            </p:nvSpPr>
            <p:spPr bwMode="auto">
              <a:xfrm>
                <a:off x="556" y="767"/>
                <a:ext cx="2578" cy="289"/>
              </a:xfrm>
              <a:prstGeom prst="accentCallout1">
                <a:avLst>
                  <a:gd name="adj1" fmla="val 24491"/>
                  <a:gd name="adj2" fmla="val 101861"/>
                  <a:gd name="adj3" fmla="val 26870"/>
                  <a:gd name="adj4" fmla="val 121449"/>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defRPr/>
                </a:pPr>
                <a:r>
                  <a:rPr kumimoji="1" lang="zh-CN" altLang="en-US" sz="200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调试程序，如 </a:t>
                </a:r>
                <a:r>
                  <a:rPr kumimoji="1" lang="en-US" altLang="zh-CN" sz="2000"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DEBUG.EXE</a:t>
                </a:r>
              </a:p>
            </p:txBody>
          </p:sp>
        </p:grpSp>
        <p:grpSp>
          <p:nvGrpSpPr>
            <p:cNvPr id="39" name="Group 27"/>
            <p:cNvGrpSpPr/>
            <p:nvPr/>
          </p:nvGrpSpPr>
          <p:grpSpPr bwMode="auto">
            <a:xfrm>
              <a:off x="3412" y="3617"/>
              <a:ext cx="1147" cy="468"/>
              <a:chOff x="3412" y="3617"/>
              <a:chExt cx="1147" cy="468"/>
            </a:xfrm>
          </p:grpSpPr>
          <p:sp>
            <p:nvSpPr>
              <p:cNvPr id="53" name="AutoShape 28"/>
              <p:cNvSpPr>
                <a:spLocks noChangeArrowheads="1"/>
              </p:cNvSpPr>
              <p:nvPr/>
            </p:nvSpPr>
            <p:spPr bwMode="auto">
              <a:xfrm>
                <a:off x="3412" y="3617"/>
                <a:ext cx="1147" cy="468"/>
              </a:xfrm>
              <a:prstGeom prst="flowChartAlternateProcess">
                <a:avLst/>
              </a:prstGeom>
              <a:noFill/>
              <a:ln w="9525">
                <a:solidFill>
                  <a:srgbClr val="FF3300"/>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defTabSz="914400" eaLnBrk="1" fontAlgn="auto" latinLnBrk="0" hangingPunct="1">
                  <a:lnSpc>
                    <a:spcPct val="80000"/>
                  </a:lnSpc>
                  <a:spcBef>
                    <a:spcPct val="20000"/>
                  </a:spcBef>
                  <a:spcAft>
                    <a:spcPts val="0"/>
                  </a:spcAft>
                  <a:buClr>
                    <a:srgbClr val="CC0000"/>
                  </a:buClr>
                  <a:buSzTx/>
                  <a:buFont typeface="Wingdings" panose="05000000000000000000" pitchFamily="2" charset="2"/>
                  <a:buNone/>
                  <a:defRPr/>
                </a:pPr>
                <a:endParaRPr kumimoji="0"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Text Box 29"/>
              <p:cNvSpPr txBox="1">
                <a:spLocks noChangeArrowheads="1"/>
              </p:cNvSpPr>
              <p:nvPr/>
            </p:nvSpPr>
            <p:spPr bwMode="auto">
              <a:xfrm>
                <a:off x="3486" y="3691"/>
                <a:ext cx="105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2000"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应用程序</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0" name="Line 30"/>
            <p:cNvSpPr>
              <a:spLocks noChangeShapeType="1"/>
            </p:cNvSpPr>
            <p:nvPr/>
          </p:nvSpPr>
          <p:spPr bwMode="auto">
            <a:xfrm>
              <a:off x="5527" y="468"/>
              <a:ext cx="0" cy="3361"/>
            </a:xfrm>
            <a:prstGeom prst="line">
              <a:avLst/>
            </a:prstGeom>
            <a:noFill/>
            <a:ln w="9525">
              <a:solidFill>
                <a:srgbClr val="000000"/>
              </a:solidFill>
              <a:round/>
              <a:headEnd type="arrow"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1" name="Line 31"/>
            <p:cNvSpPr>
              <a:spLocks noChangeShapeType="1"/>
            </p:cNvSpPr>
            <p:nvPr/>
          </p:nvSpPr>
          <p:spPr bwMode="auto">
            <a:xfrm>
              <a:off x="4015" y="468"/>
              <a:ext cx="1510" cy="0"/>
            </a:xfrm>
            <a:prstGeom prst="line">
              <a:avLst/>
            </a:prstGeom>
            <a:noFill/>
            <a:ln w="9525">
              <a:solidFill>
                <a:srgbClr val="000000"/>
              </a:solidFill>
              <a:round/>
              <a:headEnd type="arrow"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Line 32"/>
            <p:cNvSpPr>
              <a:spLocks noChangeShapeType="1"/>
            </p:cNvSpPr>
            <p:nvPr/>
          </p:nvSpPr>
          <p:spPr bwMode="auto">
            <a:xfrm>
              <a:off x="4544" y="3830"/>
              <a:ext cx="971"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Text Box 33"/>
            <p:cNvSpPr txBox="1">
              <a:spLocks noChangeArrowheads="1"/>
            </p:cNvSpPr>
            <p:nvPr/>
          </p:nvSpPr>
          <p:spPr bwMode="auto">
            <a:xfrm>
              <a:off x="4746" y="3588"/>
              <a:ext cx="52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1800" i="0" u="none" strike="noStrike" kern="0" cap="none" spc="0" normalizeH="0" baseline="0" noProof="0">
                  <a:ln>
                    <a:noFill/>
                  </a:ln>
                  <a:solidFill>
                    <a:srgbClr val="3366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错误</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4" name="Group 34"/>
            <p:cNvGrpSpPr/>
            <p:nvPr/>
          </p:nvGrpSpPr>
          <p:grpSpPr bwMode="auto">
            <a:xfrm>
              <a:off x="5062" y="2639"/>
              <a:ext cx="526" cy="289"/>
              <a:chOff x="5062" y="2639"/>
              <a:chExt cx="526" cy="289"/>
            </a:xfrm>
          </p:grpSpPr>
          <p:sp>
            <p:nvSpPr>
              <p:cNvPr id="51" name="Line 35"/>
              <p:cNvSpPr>
                <a:spLocks noChangeShapeType="1"/>
              </p:cNvSpPr>
              <p:nvPr/>
            </p:nvSpPr>
            <p:spPr bwMode="auto">
              <a:xfrm>
                <a:off x="5188" y="2928"/>
                <a:ext cx="315"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2" name="Text Box 36"/>
              <p:cNvSpPr txBox="1">
                <a:spLocks noChangeArrowheads="1"/>
              </p:cNvSpPr>
              <p:nvPr/>
            </p:nvSpPr>
            <p:spPr bwMode="auto">
              <a:xfrm>
                <a:off x="5062" y="2639"/>
                <a:ext cx="52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1800" i="0" u="none" strike="noStrike" kern="0" cap="none" spc="0" normalizeH="0" baseline="0" noProof="0">
                    <a:ln>
                      <a:noFill/>
                    </a:ln>
                    <a:solidFill>
                      <a:srgbClr val="3366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错误</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45" name="Group 37"/>
            <p:cNvGrpSpPr/>
            <p:nvPr/>
          </p:nvGrpSpPr>
          <p:grpSpPr bwMode="auto">
            <a:xfrm>
              <a:off x="5074" y="1751"/>
              <a:ext cx="526" cy="289"/>
              <a:chOff x="5062" y="2639"/>
              <a:chExt cx="526" cy="289"/>
            </a:xfrm>
          </p:grpSpPr>
          <p:sp>
            <p:nvSpPr>
              <p:cNvPr id="49" name="Line 38"/>
              <p:cNvSpPr>
                <a:spLocks noChangeShapeType="1"/>
              </p:cNvSpPr>
              <p:nvPr/>
            </p:nvSpPr>
            <p:spPr bwMode="auto">
              <a:xfrm>
                <a:off x="5188" y="2928"/>
                <a:ext cx="315"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Text Box 39"/>
              <p:cNvSpPr txBox="1">
                <a:spLocks noChangeArrowheads="1"/>
              </p:cNvSpPr>
              <p:nvPr/>
            </p:nvSpPr>
            <p:spPr bwMode="auto">
              <a:xfrm>
                <a:off x="5062" y="2639"/>
                <a:ext cx="52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1800" i="0" u="none" strike="noStrike" kern="0" cap="none" spc="0" normalizeH="0" baseline="0" noProof="0">
                    <a:ln>
                      <a:noFill/>
                    </a:ln>
                    <a:solidFill>
                      <a:srgbClr val="3366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错误</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46" name="Group 40"/>
            <p:cNvGrpSpPr/>
            <p:nvPr/>
          </p:nvGrpSpPr>
          <p:grpSpPr bwMode="auto">
            <a:xfrm>
              <a:off x="5074" y="863"/>
              <a:ext cx="526" cy="289"/>
              <a:chOff x="5062" y="2639"/>
              <a:chExt cx="526" cy="289"/>
            </a:xfrm>
          </p:grpSpPr>
          <p:sp>
            <p:nvSpPr>
              <p:cNvPr id="47" name="Line 41"/>
              <p:cNvSpPr>
                <a:spLocks noChangeShapeType="1"/>
              </p:cNvSpPr>
              <p:nvPr/>
            </p:nvSpPr>
            <p:spPr bwMode="auto">
              <a:xfrm>
                <a:off x="5188" y="2928"/>
                <a:ext cx="315" cy="0"/>
              </a:xfrm>
              <a:prstGeom prst="line">
                <a:avLst/>
              </a:prstGeom>
              <a:noFill/>
              <a:ln w="9525">
                <a:solidFill>
                  <a:srgbClr val="000000"/>
                </a:solidFill>
                <a:round/>
                <a:tailEnd type="arrow"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2000" b="1" i="0" u="none" strike="noStrike" kern="0" cap="none" spc="0" normalizeH="0" baseline="0" noProof="0">
                  <a:ln>
                    <a:noFill/>
                  </a:ln>
                  <a:solidFill>
                    <a:srgbClr val="0000FF"/>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Text Box 42"/>
              <p:cNvSpPr txBox="1">
                <a:spLocks noChangeArrowheads="1"/>
              </p:cNvSpPr>
              <p:nvPr/>
            </p:nvSpPr>
            <p:spPr bwMode="auto">
              <a:xfrm>
                <a:off x="5062" y="2639"/>
                <a:ext cx="526"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1pPr>
                <a:lvl2pPr marL="742950" indent="-28575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2pPr>
                <a:lvl3pPr marL="11430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3pPr>
                <a:lvl4pPr marL="16002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4pPr>
                <a:lvl5pPr marL="2057400" indent="-228600" eaLnBrk="0" hangingPunct="0">
                  <a:lnSpc>
                    <a:spcPct val="80000"/>
                  </a:lnSpc>
                  <a:spcBef>
                    <a:spcPct val="20000"/>
                  </a:spcBef>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5pPr>
                <a:lvl6pPr marL="25146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6pPr>
                <a:lvl7pPr marL="29718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7pPr>
                <a:lvl8pPr marL="34290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8pPr>
                <a:lvl9pPr marL="3886200" indent="-228600" eaLnBrk="0" fontAlgn="base" hangingPunct="0">
                  <a:lnSpc>
                    <a:spcPct val="80000"/>
                  </a:lnSpc>
                  <a:spcBef>
                    <a:spcPct val="20000"/>
                  </a:spcBef>
                  <a:spcAft>
                    <a:spcPct val="0"/>
                  </a:spcAft>
                  <a:buClr>
                    <a:schemeClr val="accent2"/>
                  </a:buClr>
                  <a:buFont typeface="Wingdings" panose="05000000000000000000" pitchFamily="2" charset="2"/>
                  <a:defRPr sz="2400" b="1">
                    <a:solidFill>
                      <a:srgbClr val="0000FF"/>
                    </a:solidFill>
                    <a:latin typeface="宋体" panose="02010600030101010101" pitchFamily="2" charset="-122"/>
                    <a:ea typeface="宋体" panose="02010600030101010101" pitchFamily="2" charset="-122"/>
                  </a:defRPr>
                </a:lvl9pPr>
              </a:lstStyle>
              <a:p>
                <a:pPr marL="0" marR="0" lvl="0" indent="0" algn="ctr" defTabSz="914400" eaLnBrk="1" fontAlgn="auto" latinLnBrk="0" hangingPunct="1">
                  <a:lnSpc>
                    <a:spcPct val="100000"/>
                  </a:lnSpc>
                  <a:spcBef>
                    <a:spcPct val="50000"/>
                  </a:spcBef>
                  <a:spcAft>
                    <a:spcPts val="0"/>
                  </a:spcAft>
                  <a:buClrTx/>
                  <a:buSzTx/>
                  <a:buFontTx/>
                  <a:buNone/>
                  <a:defRPr/>
                </a:pPr>
                <a:r>
                  <a:rPr kumimoji="1" lang="zh-CN" altLang="en-US" sz="1800" i="0" u="none" strike="noStrike" kern="0" cap="none" spc="0" normalizeH="0" baseline="0" noProof="0">
                    <a:ln>
                      <a:noFill/>
                    </a:ln>
                    <a:solidFill>
                      <a:srgbClr val="3366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错误</a:t>
                </a:r>
                <a:endParaRPr kumimoji="1" lang="zh-CN" altLang="en-US" sz="2000" i="0" u="none" strike="noStrike" kern="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4.8</a:t>
            </a:r>
            <a:r>
              <a:rPr lang="zh-CN" altLang="en-US" dirty="0"/>
              <a:t>汇编语言程序上机过程</a:t>
            </a:r>
          </a:p>
          <a:p>
            <a:endParaRPr lang="zh-CN" altLang="en-US" dirty="0"/>
          </a:p>
        </p:txBody>
      </p:sp>
      <p:sp>
        <p:nvSpPr>
          <p:cNvPr id="5" name="Rectangle 2"/>
          <p:cNvSpPr txBox="1">
            <a:spLocks noChangeArrowheads="1"/>
          </p:cNvSpPr>
          <p:nvPr/>
        </p:nvSpPr>
        <p:spPr bwMode="auto">
          <a:xfrm>
            <a:off x="611560" y="1642775"/>
            <a:ext cx="45370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l" rtl="0" fontAlgn="base">
              <a:spcBef>
                <a:spcPct val="0"/>
              </a:spcBef>
              <a:spcAft>
                <a:spcPct val="0"/>
              </a:spcAft>
              <a:defRPr sz="3200" b="1">
                <a:solidFill>
                  <a:schemeClr val="tx2"/>
                </a:solidFill>
                <a:latin typeface="+mj-lt"/>
                <a:ea typeface="+mj-ea"/>
                <a:cs typeface="+mj-cs"/>
              </a:defRPr>
            </a:lvl1pPr>
            <a:lvl2pPr algn="l"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l"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l"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l"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一、建立文件</a:t>
            </a:r>
          </a:p>
        </p:txBody>
      </p:sp>
      <p:sp>
        <p:nvSpPr>
          <p:cNvPr id="6" name="Rectangle 3"/>
          <p:cNvSpPr txBox="1">
            <a:spLocks noChangeArrowheads="1"/>
          </p:cNvSpPr>
          <p:nvPr/>
        </p:nvSpPr>
        <p:spPr bwMode="auto">
          <a:xfrm>
            <a:off x="677821" y="2239705"/>
            <a:ext cx="7926387" cy="40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469900" indent="-469900" algn="l" rtl="0" fontAlgn="base">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fontAlgn="base">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fontAlgn="base">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fontAlgn="base">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eaLnBrk="1" fontAlgn="base" hangingPunct="1">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0" indent="0">
              <a:buFont typeface="Wingdings" panose="05000000000000000000" pitchFamily="2" charset="2"/>
              <a:buNone/>
            </a:pP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可以用任何一种熟悉的文本编辑器建立、编辑汇编语言源程序。</a:t>
            </a:r>
          </a:p>
          <a:p>
            <a:pPr marL="0" indent="0">
              <a:buFont typeface="Wingdings" panose="05000000000000000000" pitchFamily="2" charset="2"/>
              <a:buNone/>
            </a:pP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在</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windows</a:t>
            </a: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下可以用记事本编辑程序，对于汇编语言源程序，其文件名的扩展名部分必须是</a:t>
            </a:r>
            <a:r>
              <a:rPr lang="en-US" altLang="zh-CN" sz="2400" b="1" kern="0" dirty="0">
                <a:latin typeface="Times New Roman" panose="02020603050405020304" pitchFamily="18" charset="0"/>
                <a:ea typeface="微软雅黑" panose="020B0503020204020204" pitchFamily="34" charset="-122"/>
                <a:cs typeface="Times New Roman" panose="02020603050405020304" pitchFamily="18" charset="0"/>
              </a:rPr>
              <a:t>.ASM</a:t>
            </a: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0">
              <a:buFont typeface="Wingdings" panose="05000000000000000000" pitchFamily="2" charset="2"/>
              <a:buNone/>
            </a:pPr>
            <a:r>
              <a:rPr lang="zh-CN" altLang="en-US" sz="2400" b="1" kern="0" dirty="0">
                <a:latin typeface="Times New Roman" panose="02020603050405020304" pitchFamily="18" charset="0"/>
                <a:ea typeface="微软雅黑" panose="020B0503020204020204" pitchFamily="34" charset="-122"/>
                <a:cs typeface="Times New Roman" panose="02020603050405020304" pitchFamily="18" charset="0"/>
              </a:rPr>
              <a:t>	例如，用记事本编辑一个程序后，将该文件命名为</a:t>
            </a:r>
            <a:r>
              <a:rPr lang="en-US" altLang="zh-CN" sz="1800" b="1" kern="0" dirty="0">
                <a:latin typeface="Times New Roman" panose="02020603050405020304" pitchFamily="18" charset="0"/>
                <a:ea typeface="微软雅黑" panose="020B0503020204020204" pitchFamily="34" charset="-122"/>
                <a:cs typeface="Times New Roman" panose="02020603050405020304" pitchFamily="18" charset="0"/>
              </a:rPr>
              <a:t>ADD1.asm</a:t>
            </a:r>
          </a:p>
          <a:p>
            <a:pPr marL="0" indent="0">
              <a:buFont typeface="Wingdings" panose="05000000000000000000" pitchFamily="2" charset="2"/>
              <a:buNone/>
            </a:pPr>
            <a:r>
              <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b="1" kern="0" dirty="0">
                <a:latin typeface="Times New Roman" panose="02020603050405020304" pitchFamily="18" charset="0"/>
                <a:ea typeface="微软雅黑" panose="020B0503020204020204" pitchFamily="34" charset="-122"/>
                <a:cs typeface="Times New Roman" panose="02020603050405020304" pitchFamily="18" charset="0"/>
              </a:rPr>
              <a:t>下面我们假设该文件存于</a:t>
            </a:r>
            <a:r>
              <a:rPr lang="en-US" altLang="zh-CN" sz="2000" b="1" kern="0" dirty="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000" b="1" kern="0" dirty="0">
                <a:latin typeface="Times New Roman" panose="02020603050405020304" pitchFamily="18" charset="0"/>
                <a:ea typeface="微软雅黑" panose="020B0503020204020204" pitchFamily="34" charset="-122"/>
                <a:cs typeface="Times New Roman" panose="02020603050405020304" pitchFamily="18" charset="0"/>
              </a:rPr>
              <a:t>盘的</a:t>
            </a:r>
            <a:r>
              <a:rPr lang="en-US" altLang="zh-CN" sz="2000" b="1" kern="0" dirty="0">
                <a:latin typeface="Times New Roman" panose="02020603050405020304" pitchFamily="18" charset="0"/>
                <a:ea typeface="微软雅黑" panose="020B0503020204020204" pitchFamily="34" charset="-122"/>
                <a:cs typeface="Times New Roman" panose="02020603050405020304" pitchFamily="18" charset="0"/>
              </a:rPr>
              <a:t>MASM</a:t>
            </a:r>
            <a:r>
              <a:rPr lang="zh-CN" altLang="en-US" sz="2000" b="1" kern="0" dirty="0">
                <a:latin typeface="Times New Roman" panose="02020603050405020304" pitchFamily="18" charset="0"/>
                <a:ea typeface="微软雅黑" panose="020B0503020204020204" pitchFamily="34" charset="-122"/>
                <a:cs typeface="Times New Roman" panose="02020603050405020304" pitchFamily="18" charset="0"/>
              </a:rPr>
              <a:t>文件夹，即目录是</a:t>
            </a:r>
            <a:r>
              <a:rPr lang="en-US" altLang="zh-CN" sz="2000" b="1" kern="0" dirty="0">
                <a:latin typeface="Times New Roman" panose="02020603050405020304" pitchFamily="18" charset="0"/>
                <a:ea typeface="微软雅黑" panose="020B0503020204020204" pitchFamily="34" charset="-122"/>
                <a:cs typeface="Times New Roman" panose="02020603050405020304" pitchFamily="18" charset="0"/>
              </a:rPr>
              <a:t>D:\MASM&gt;</a:t>
            </a:r>
            <a:endParaRPr lang="zh-CN" altLang="en-US" sz="1800" b="1" kern="0"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4.8</a:t>
            </a:r>
            <a:r>
              <a:rPr lang="zh-CN" altLang="en-US" dirty="0"/>
              <a:t>汇编语言程序上机过程</a:t>
            </a:r>
          </a:p>
          <a:p>
            <a:endParaRPr lang="zh-CN" altLang="en-US" dirty="0"/>
          </a:p>
        </p:txBody>
      </p:sp>
      <p:sp>
        <p:nvSpPr>
          <p:cNvPr id="7" name="Rectangle 1026"/>
          <p:cNvSpPr txBox="1">
            <a:spLocks noChangeArrowheads="1"/>
          </p:cNvSpPr>
          <p:nvPr/>
        </p:nvSpPr>
        <p:spPr>
          <a:xfrm>
            <a:off x="459639" y="1772816"/>
            <a:ext cx="2881312" cy="752475"/>
          </a:xfrm>
        </p:spPr>
        <p:txBody>
          <a:bodyPr/>
          <a:lstStyle>
            <a:lvl1pPr algn="l" rtl="0" eaLnBrk="1" fontAlgn="base" hangingPunct="1">
              <a:spcBef>
                <a:spcPct val="0"/>
              </a:spcBef>
              <a:spcAft>
                <a:spcPct val="0"/>
              </a:spcAft>
              <a:defRPr lang="zh-CN" altLang="zh-CN" sz="2800" b="1" smtClean="0">
                <a:solidFill>
                  <a:schemeClr val="bg1"/>
                </a:solidFill>
                <a:effectLst/>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zh-CN" altLang="en-US" sz="2400" kern="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二、汇编</a:t>
            </a:r>
          </a:p>
        </p:txBody>
      </p:sp>
      <p:sp>
        <p:nvSpPr>
          <p:cNvPr id="8" name="Rectangle 1027"/>
          <p:cNvSpPr txBox="1">
            <a:spLocks noChangeArrowheads="1"/>
          </p:cNvSpPr>
          <p:nvPr/>
        </p:nvSpPr>
        <p:spPr>
          <a:xfrm>
            <a:off x="611560" y="2525291"/>
            <a:ext cx="7488238" cy="4751387"/>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gn="just">
              <a:lnSpc>
                <a:spcPct val="110000"/>
              </a:lnSpc>
            </a:pPr>
            <a:r>
              <a:rPr lang="zh-CN" altLang="en-US" sz="2000" b="1" kern="0" dirty="0">
                <a:latin typeface="Times New Roman" panose="02020603050405020304" pitchFamily="18" charset="0"/>
                <a:cs typeface="Times New Roman" panose="02020603050405020304" pitchFamily="18" charset="0"/>
              </a:rPr>
              <a:t>汇编是将源程序翻译成由机器代码组成的目标模块文件的过程。</a:t>
            </a:r>
          </a:p>
          <a:p>
            <a:r>
              <a:rPr lang="zh-CN" altLang="en-US" sz="2000" b="1" kern="0" dirty="0">
                <a:latin typeface="Times New Roman" panose="02020603050405020304" pitchFamily="18" charset="0"/>
                <a:cs typeface="Times New Roman" panose="02020603050405020304" pitchFamily="18" charset="0"/>
              </a:rPr>
              <a:t>在</a:t>
            </a:r>
            <a:r>
              <a:rPr lang="en-US" altLang="zh-CN" sz="2000" b="1" kern="0" dirty="0">
                <a:latin typeface="Times New Roman" panose="02020603050405020304" pitchFamily="18" charset="0"/>
                <a:cs typeface="Times New Roman" panose="02020603050405020304" pitchFamily="18" charset="0"/>
              </a:rPr>
              <a:t>DOS</a:t>
            </a:r>
            <a:r>
              <a:rPr lang="zh-CN" altLang="en-US" sz="2000" b="1" kern="0" dirty="0">
                <a:latin typeface="Times New Roman" panose="02020603050405020304" pitchFamily="18" charset="0"/>
                <a:cs typeface="Times New Roman" panose="02020603050405020304" pitchFamily="18" charset="0"/>
              </a:rPr>
              <a:t>平台上可以使用</a:t>
            </a:r>
            <a:r>
              <a:rPr lang="en-US" altLang="zh-CN" sz="2000" b="1" kern="0" dirty="0">
                <a:latin typeface="Times New Roman" panose="02020603050405020304" pitchFamily="18" charset="0"/>
                <a:cs typeface="Times New Roman" panose="02020603050405020304" pitchFamily="18" charset="0"/>
              </a:rPr>
              <a:t>MASM5.EXE</a:t>
            </a:r>
            <a:r>
              <a:rPr lang="zh-CN" altLang="en-US" sz="2000" b="1" kern="0" dirty="0">
                <a:latin typeface="Times New Roman" panose="02020603050405020304" pitchFamily="18" charset="0"/>
                <a:cs typeface="Times New Roman" panose="02020603050405020304" pitchFamily="18" charset="0"/>
              </a:rPr>
              <a:t>汇编源程序。</a:t>
            </a:r>
          </a:p>
          <a:p>
            <a:r>
              <a:rPr lang="en-US" altLang="zh-CN" b="1" kern="0" dirty="0">
                <a:latin typeface="Times New Roman" panose="02020603050405020304" pitchFamily="18" charset="0"/>
                <a:cs typeface="Times New Roman" panose="02020603050405020304" pitchFamily="18" charset="0"/>
              </a:rPr>
              <a:t>	D:\MASM&gt;</a:t>
            </a:r>
            <a:r>
              <a:rPr lang="en-US" altLang="zh-CN" sz="2000" b="1" kern="0" dirty="0">
                <a:latin typeface="Times New Roman" panose="02020603050405020304" pitchFamily="18" charset="0"/>
                <a:cs typeface="Times New Roman" panose="02020603050405020304" pitchFamily="18" charset="0"/>
              </a:rPr>
              <a:t>MASM ADD1.ASM</a:t>
            </a:r>
          </a:p>
          <a:p>
            <a:pPr algn="just"/>
            <a:r>
              <a:rPr lang="zh-CN" altLang="en-US" sz="2000" b="1" kern="0" dirty="0">
                <a:latin typeface="Times New Roman" panose="02020603050405020304" pitchFamily="18" charset="0"/>
                <a:cs typeface="Times New Roman" panose="02020603050405020304" pitchFamily="18" charset="0"/>
              </a:rPr>
              <a:t>如果源程序中没有语法错误，</a:t>
            </a:r>
            <a:r>
              <a:rPr lang="en-US" altLang="zh-CN" sz="2000" b="1" kern="0" dirty="0">
                <a:latin typeface="Times New Roman" panose="02020603050405020304" pitchFamily="18" charset="0"/>
                <a:cs typeface="Times New Roman" panose="02020603050405020304" pitchFamily="18" charset="0"/>
              </a:rPr>
              <a:t>MASM</a:t>
            </a:r>
            <a:r>
              <a:rPr lang="zh-CN" altLang="en-US" sz="2000" b="1" kern="0" dirty="0">
                <a:latin typeface="Times New Roman" panose="02020603050405020304" pitchFamily="18" charset="0"/>
                <a:cs typeface="Times New Roman" panose="02020603050405020304" pitchFamily="18" charset="0"/>
              </a:rPr>
              <a:t>将自动生成一个目标模块文件（</a:t>
            </a:r>
            <a:r>
              <a:rPr lang="en-US" altLang="zh-CN" sz="2000" b="1" kern="0" dirty="0">
                <a:latin typeface="Times New Roman" panose="02020603050405020304" pitchFamily="18" charset="0"/>
                <a:cs typeface="Times New Roman" panose="02020603050405020304" pitchFamily="18" charset="0"/>
              </a:rPr>
              <a:t>ADD1.obj</a:t>
            </a:r>
            <a:r>
              <a:rPr lang="zh-CN" altLang="en-US" sz="2000" b="1" kern="0" dirty="0">
                <a:latin typeface="Times New Roman" panose="02020603050405020304" pitchFamily="18" charset="0"/>
                <a:cs typeface="Times New Roman" panose="02020603050405020304" pitchFamily="18" charset="0"/>
              </a:rPr>
              <a:t>），否则</a:t>
            </a:r>
            <a:r>
              <a:rPr lang="en-US" altLang="zh-CN" sz="2000" b="1" kern="0" dirty="0">
                <a:latin typeface="Times New Roman" panose="02020603050405020304" pitchFamily="18" charset="0"/>
                <a:cs typeface="Times New Roman" panose="02020603050405020304" pitchFamily="18" charset="0"/>
              </a:rPr>
              <a:t>MASM</a:t>
            </a:r>
            <a:r>
              <a:rPr lang="zh-CN" altLang="en-US" sz="2000" b="1" kern="0" dirty="0">
                <a:latin typeface="Times New Roman" panose="02020603050405020304" pitchFamily="18" charset="0"/>
                <a:cs typeface="Times New Roman" panose="02020603050405020304" pitchFamily="18" charset="0"/>
              </a:rPr>
              <a:t>将给出相应的错误信息。这时应根据错误信息，重新编辑修改源程序后，再进行汇编。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4.8</a:t>
            </a:r>
            <a:r>
              <a:rPr lang="zh-CN" altLang="en-US" dirty="0"/>
              <a:t>汇编语言程序上机过程</a:t>
            </a:r>
          </a:p>
          <a:p>
            <a:endParaRPr lang="zh-CN" altLang="en-US" dirty="0"/>
          </a:p>
        </p:txBody>
      </p:sp>
      <p:sp>
        <p:nvSpPr>
          <p:cNvPr id="5" name="Rectangle 2"/>
          <p:cNvSpPr txBox="1">
            <a:spLocks noChangeArrowheads="1"/>
          </p:cNvSpPr>
          <p:nvPr/>
        </p:nvSpPr>
        <p:spPr>
          <a:xfrm>
            <a:off x="478165" y="1633094"/>
            <a:ext cx="2743200" cy="838200"/>
          </a:xfrm>
        </p:spPr>
        <p:txBody>
          <a:bodyPr/>
          <a:lstStyle>
            <a:lvl1pPr algn="l" rtl="0" eaLnBrk="1" fontAlgn="base" hangingPunct="1">
              <a:spcBef>
                <a:spcPct val="0"/>
              </a:spcBef>
              <a:spcAft>
                <a:spcPct val="0"/>
              </a:spcAft>
              <a:defRPr lang="zh-CN" altLang="zh-CN" sz="2800" b="1" smtClean="0">
                <a:solidFill>
                  <a:schemeClr val="bg1"/>
                </a:solidFill>
                <a:effectLst/>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zh-CN" altLang="en-US" kern="0" dirty="0">
                <a:solidFill>
                  <a:schemeClr val="tx1"/>
                </a:solidFill>
              </a:rPr>
              <a:t>三、连接</a:t>
            </a:r>
          </a:p>
        </p:txBody>
      </p:sp>
      <p:sp>
        <p:nvSpPr>
          <p:cNvPr id="6" name="Rectangle 3"/>
          <p:cNvSpPr txBox="1">
            <a:spLocks noChangeArrowheads="1"/>
          </p:cNvSpPr>
          <p:nvPr/>
        </p:nvSpPr>
        <p:spPr>
          <a:xfrm>
            <a:off x="775049" y="2195069"/>
            <a:ext cx="7489825" cy="2467862"/>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90000"/>
              </a:lnSpc>
            </a:pPr>
            <a:r>
              <a:rPr lang="en-US" altLang="zh-CN" sz="3200" b="1" kern="0" dirty="0">
                <a:latin typeface="Times New Roman" panose="02020603050405020304" pitchFamily="18" charset="0"/>
                <a:cs typeface="Times New Roman" panose="02020603050405020304" pitchFamily="18" charset="0"/>
              </a:rPr>
              <a:t>	</a:t>
            </a:r>
            <a:r>
              <a:rPr lang="zh-CN" altLang="en-US" b="1" kern="0" dirty="0">
                <a:latin typeface="Times New Roman" panose="02020603050405020304" pitchFamily="18" charset="0"/>
                <a:cs typeface="Times New Roman" panose="02020603050405020304" pitchFamily="18" charset="0"/>
              </a:rPr>
              <a:t>程序被汇编通过后，需要经过连接才能执行。连接程序的功能是连接分别产生的目标模块、解决外部交叉调用、产生一个可重定位的装入模块、以及产生可选的内存映象文件等。在</a:t>
            </a:r>
            <a:r>
              <a:rPr lang="en-US" altLang="zh-CN" b="1" kern="0" dirty="0">
                <a:latin typeface="Times New Roman" panose="02020603050405020304" pitchFamily="18" charset="0"/>
                <a:cs typeface="Times New Roman" panose="02020603050405020304" pitchFamily="18" charset="0"/>
              </a:rPr>
              <a:t>DOS</a:t>
            </a:r>
            <a:r>
              <a:rPr lang="zh-CN" altLang="en-US" b="1" kern="0" dirty="0">
                <a:latin typeface="Times New Roman" panose="02020603050405020304" pitchFamily="18" charset="0"/>
                <a:cs typeface="Times New Roman" panose="02020603050405020304" pitchFamily="18" charset="0"/>
              </a:rPr>
              <a:t>平台上使用较普遍的连接程序是</a:t>
            </a:r>
            <a:r>
              <a:rPr lang="en-US" altLang="zh-CN" b="1" kern="0" dirty="0">
                <a:latin typeface="Times New Roman" panose="02020603050405020304" pitchFamily="18" charset="0"/>
                <a:cs typeface="Times New Roman" panose="02020603050405020304" pitchFamily="18" charset="0"/>
              </a:rPr>
              <a:t>LINK</a:t>
            </a:r>
            <a:r>
              <a:rPr lang="zh-CN" altLang="en-US" b="1" kern="0" dirty="0">
                <a:latin typeface="Times New Roman" panose="02020603050405020304" pitchFamily="18" charset="0"/>
                <a:cs typeface="Times New Roman" panose="02020603050405020304" pitchFamily="18" charset="0"/>
              </a:rPr>
              <a:t>和</a:t>
            </a:r>
            <a:r>
              <a:rPr lang="en-US" altLang="zh-CN" b="1" kern="0" dirty="0">
                <a:latin typeface="Times New Roman" panose="02020603050405020304" pitchFamily="18" charset="0"/>
                <a:cs typeface="Times New Roman" panose="02020603050405020304" pitchFamily="18" charset="0"/>
              </a:rPr>
              <a:t>TLINK</a:t>
            </a:r>
            <a:r>
              <a:rPr lang="zh-CN" altLang="en-US" b="1" kern="0" dirty="0">
                <a:latin typeface="Times New Roman" panose="02020603050405020304" pitchFamily="18" charset="0"/>
                <a:cs typeface="Times New Roman" panose="02020603050405020304" pitchFamily="18" charset="0"/>
              </a:rPr>
              <a:t>。</a:t>
            </a:r>
          </a:p>
          <a:p>
            <a:pPr>
              <a:lnSpc>
                <a:spcPct val="90000"/>
              </a:lnSpc>
            </a:pPr>
            <a:r>
              <a:rPr lang="zh-CN" altLang="en-US" b="1" kern="0" dirty="0">
                <a:latin typeface="Times New Roman" panose="02020603050405020304" pitchFamily="18" charset="0"/>
                <a:cs typeface="Times New Roman" panose="02020603050405020304" pitchFamily="18" charset="0"/>
              </a:rPr>
              <a:t>	</a:t>
            </a:r>
            <a:r>
              <a:rPr lang="en-US" altLang="zh-CN" b="1" kern="0" dirty="0">
                <a:latin typeface="Times New Roman" panose="02020603050405020304" pitchFamily="18" charset="0"/>
                <a:cs typeface="Times New Roman" panose="02020603050405020304" pitchFamily="18" charset="0"/>
              </a:rPr>
              <a:t>D:\MASM&gt;link ADD1.obj</a:t>
            </a:r>
          </a:p>
        </p:txBody>
      </p:sp>
      <p:sp>
        <p:nvSpPr>
          <p:cNvPr id="7" name="Rectangle 3"/>
          <p:cNvSpPr txBox="1">
            <a:spLocks noChangeArrowheads="1"/>
          </p:cNvSpPr>
          <p:nvPr/>
        </p:nvSpPr>
        <p:spPr>
          <a:xfrm>
            <a:off x="775049" y="5085185"/>
            <a:ext cx="8154987" cy="921916"/>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100000"/>
              </a:lnSpc>
            </a:pPr>
            <a:r>
              <a:rPr lang="en-US" altLang="zh-CN" b="1" kern="0" dirty="0">
                <a:solidFill>
                  <a:srgbClr val="740000"/>
                </a:solidFill>
                <a:latin typeface="Times New Roman" panose="02020603050405020304" pitchFamily="18" charset="0"/>
                <a:cs typeface="Times New Roman" panose="02020603050405020304" pitchFamily="18" charset="0"/>
              </a:rPr>
              <a:t>     </a:t>
            </a:r>
            <a:r>
              <a:rPr lang="zh-CN" altLang="en-US" b="1" kern="0" dirty="0">
                <a:solidFill>
                  <a:srgbClr val="740000"/>
                </a:solidFill>
                <a:latin typeface="Times New Roman" panose="02020603050405020304" pitchFamily="18" charset="0"/>
                <a:cs typeface="Times New Roman" panose="02020603050405020304" pitchFamily="18" charset="0"/>
              </a:rPr>
              <a:t>对以上操作，</a:t>
            </a:r>
            <a:r>
              <a:rPr lang="en-US" altLang="zh-CN" b="1" kern="0" dirty="0">
                <a:solidFill>
                  <a:srgbClr val="740000"/>
                </a:solidFill>
                <a:latin typeface="Times New Roman" panose="02020603050405020304" pitchFamily="18" charset="0"/>
                <a:cs typeface="Times New Roman" panose="02020603050405020304" pitchFamily="18" charset="0"/>
              </a:rPr>
              <a:t>ADD1.OBJ</a:t>
            </a:r>
            <a:r>
              <a:rPr lang="zh-CN" altLang="en-US" b="1" kern="0" dirty="0">
                <a:solidFill>
                  <a:srgbClr val="740000"/>
                </a:solidFill>
                <a:latin typeface="Times New Roman" panose="02020603050405020304" pitchFamily="18" charset="0"/>
                <a:cs typeface="Times New Roman" panose="02020603050405020304" pitchFamily="18" charset="0"/>
              </a:rPr>
              <a:t>经连接后在当前目录下产生了</a:t>
            </a:r>
            <a:r>
              <a:rPr lang="en-US" altLang="zh-CN" b="1" kern="0" dirty="0">
                <a:solidFill>
                  <a:srgbClr val="740000"/>
                </a:solidFill>
                <a:latin typeface="Times New Roman" panose="02020603050405020304" pitchFamily="18" charset="0"/>
                <a:cs typeface="Times New Roman" panose="02020603050405020304" pitchFamily="18" charset="0"/>
              </a:rPr>
              <a:t>ADD1.EXE</a:t>
            </a:r>
            <a:endParaRPr lang="zh-CN" altLang="en-US" b="1" kern="0" dirty="0">
              <a:solidFill>
                <a:srgbClr val="740000"/>
              </a:solidFill>
              <a:latin typeface="Times New Roman" panose="02020603050405020304" pitchFamily="18" charset="0"/>
              <a:cs typeface="Times New Roman" panose="02020603050405020304" pitchFamily="18" charset="0"/>
            </a:endParaRPr>
          </a:p>
        </p:txBody>
      </p:sp>
      <p:sp>
        <p:nvSpPr>
          <p:cNvPr id="8" name="Rectangle 4"/>
          <p:cNvSpPr txBox="1">
            <a:spLocks noChangeArrowheads="1"/>
          </p:cNvSpPr>
          <p:nvPr/>
        </p:nvSpPr>
        <p:spPr>
          <a:xfrm>
            <a:off x="775049" y="4425901"/>
            <a:ext cx="8001000" cy="366615"/>
          </a:xfrm>
        </p:spPr>
        <p:txBody>
          <a:bodyPr/>
          <a:lstStyle>
            <a:lvl1pPr algn="l" rtl="0" eaLnBrk="1" fontAlgn="base" hangingPunct="1">
              <a:spcBef>
                <a:spcPct val="0"/>
              </a:spcBef>
              <a:spcAft>
                <a:spcPct val="0"/>
              </a:spcAft>
              <a:defRPr lang="zh-CN" altLang="zh-CN" sz="2800" b="1" smtClean="0">
                <a:solidFill>
                  <a:schemeClr val="bg1"/>
                </a:solidFill>
                <a:effectLst/>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zh-CN" altLang="en-US" kern="0" dirty="0">
                <a:solidFill>
                  <a:srgbClr val="740000"/>
                </a:solidFill>
              </a:rPr>
              <a:t>生成执行文件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xEl>
                                              <p:pRg st="0" end="0"/>
                                            </p:txEl>
                                          </p:spTgt>
                                        </p:tgtEl>
                                        <p:attrNameLst>
                                          <p:attrName>style.visibility</p:attrName>
                                        </p:attrNameLst>
                                      </p:cBhvr>
                                      <p:to>
                                        <p:strVal val="visible"/>
                                      </p:to>
                                    </p:set>
                                    <p:animEffect transition="in" filter="fade">
                                      <p:cBhvr>
                                        <p:cTn id="18" dur="500"/>
                                        <p:tgtEl>
                                          <p:spTgt spid="8">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animEffect transition="in" filter="fade">
                                      <p:cBhvr>
                                        <p:cTn id="2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P spid="7" grpId="0" build="p"/>
      <p:bldP spid="8"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4.8</a:t>
            </a:r>
            <a:r>
              <a:rPr lang="zh-CN" altLang="en-US" dirty="0"/>
              <a:t>汇编语言程序上机过程</a:t>
            </a:r>
          </a:p>
          <a:p>
            <a:endParaRPr lang="zh-CN" altLang="en-US" dirty="0"/>
          </a:p>
        </p:txBody>
      </p:sp>
      <p:sp>
        <p:nvSpPr>
          <p:cNvPr id="5" name="Rectangle 2"/>
          <p:cNvSpPr txBox="1">
            <a:spLocks noChangeArrowheads="1"/>
          </p:cNvSpPr>
          <p:nvPr/>
        </p:nvSpPr>
        <p:spPr>
          <a:xfrm>
            <a:off x="558827" y="1772816"/>
            <a:ext cx="2590800" cy="617537"/>
          </a:xfrm>
        </p:spPr>
        <p:txBody>
          <a:bodyPr/>
          <a:lstStyle>
            <a:lvl1pPr algn="l" rtl="0" eaLnBrk="1" fontAlgn="base" hangingPunct="1">
              <a:spcBef>
                <a:spcPct val="0"/>
              </a:spcBef>
              <a:spcAft>
                <a:spcPct val="0"/>
              </a:spcAft>
              <a:defRPr lang="zh-CN" altLang="zh-CN" sz="2800" b="1" smtClean="0">
                <a:solidFill>
                  <a:schemeClr val="bg1"/>
                </a:solidFill>
                <a:effectLst/>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zh-CN" altLang="en-US" kern="0" dirty="0">
                <a:solidFill>
                  <a:schemeClr val="tx1"/>
                </a:solidFill>
              </a:rPr>
              <a:t>四、运行</a:t>
            </a:r>
          </a:p>
        </p:txBody>
      </p:sp>
      <p:sp>
        <p:nvSpPr>
          <p:cNvPr id="6" name="Rectangle 3"/>
          <p:cNvSpPr txBox="1">
            <a:spLocks noChangeArrowheads="1"/>
          </p:cNvSpPr>
          <p:nvPr/>
        </p:nvSpPr>
        <p:spPr>
          <a:xfrm>
            <a:off x="476533" y="2625371"/>
            <a:ext cx="8077200" cy="2171781"/>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100000"/>
              </a:lnSpc>
            </a:pPr>
            <a:r>
              <a:rPr lang="en-US" altLang="zh-CN" b="1" kern="0" dirty="0">
                <a:latin typeface="Times New Roman" panose="02020603050405020304" pitchFamily="18" charset="0"/>
                <a:cs typeface="Times New Roman" panose="02020603050405020304" pitchFamily="18" charset="0"/>
              </a:rPr>
              <a:t>	</a:t>
            </a:r>
            <a:r>
              <a:rPr lang="zh-CN" altLang="en-US" b="1" kern="0" dirty="0">
                <a:latin typeface="Times New Roman" panose="02020603050405020304" pitchFamily="18" charset="0"/>
                <a:cs typeface="Times New Roman" panose="02020603050405020304" pitchFamily="18" charset="0"/>
              </a:rPr>
              <a:t>当生成</a:t>
            </a:r>
            <a:r>
              <a:rPr lang="en-US" altLang="zh-CN" b="1" kern="0" dirty="0">
                <a:latin typeface="Times New Roman" panose="02020603050405020304" pitchFamily="18" charset="0"/>
                <a:cs typeface="Times New Roman" panose="02020603050405020304" pitchFamily="18" charset="0"/>
              </a:rPr>
              <a:t>.EXE</a:t>
            </a:r>
            <a:r>
              <a:rPr lang="zh-CN" altLang="en-US" b="1" kern="0" dirty="0">
                <a:latin typeface="Times New Roman" panose="02020603050405020304" pitchFamily="18" charset="0"/>
                <a:cs typeface="Times New Roman" panose="02020603050405020304" pitchFamily="18" charset="0"/>
              </a:rPr>
              <a:t>文件后，就可以键入该文件名运行它，注意不必键入扩展名。</a:t>
            </a:r>
          </a:p>
          <a:p>
            <a:pPr>
              <a:lnSpc>
                <a:spcPct val="100000"/>
              </a:lnSpc>
            </a:pPr>
            <a:r>
              <a:rPr lang="zh-CN" altLang="en-US" b="1" kern="0" dirty="0">
                <a:latin typeface="Times New Roman" panose="02020603050405020304" pitchFamily="18" charset="0"/>
                <a:cs typeface="Times New Roman" panose="02020603050405020304" pitchFamily="18" charset="0"/>
              </a:rPr>
              <a:t>	例．</a:t>
            </a:r>
            <a:r>
              <a:rPr lang="en-US" altLang="zh-CN" b="1" kern="0" dirty="0">
                <a:latin typeface="Times New Roman" panose="02020603050405020304" pitchFamily="18" charset="0"/>
                <a:cs typeface="Times New Roman" panose="02020603050405020304" pitchFamily="18" charset="0"/>
              </a:rPr>
              <a:t>D:\MASM&gt;ADD1</a:t>
            </a:r>
          </a:p>
          <a:p>
            <a:pPr>
              <a:lnSpc>
                <a:spcPct val="100000"/>
              </a:lnSpc>
            </a:pPr>
            <a:r>
              <a:rPr lang="en-US" altLang="zh-CN" b="1" kern="0" dirty="0">
                <a:latin typeface="Times New Roman" panose="02020603050405020304" pitchFamily="18" charset="0"/>
                <a:cs typeface="Times New Roman" panose="02020603050405020304" pitchFamily="18" charset="0"/>
              </a:rPr>
              <a:t>	</a:t>
            </a:r>
            <a:r>
              <a:rPr lang="zh-CN" altLang="en-US" b="1" kern="0" dirty="0">
                <a:latin typeface="Times New Roman" panose="02020603050405020304" pitchFamily="18" charset="0"/>
                <a:cs typeface="Times New Roman" panose="02020603050405020304" pitchFamily="18" charset="0"/>
              </a:rPr>
              <a:t>如果程序使用各种测试数据均可运行并得到正确结果，则该程序就可以投入正式运行。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latin typeface="Times New Roman" panose="02020603050405020304" pitchFamily="18" charset="0"/>
                <a:cs typeface="Times New Roman" panose="02020603050405020304" pitchFamily="18" charset="0"/>
              </a:rPr>
              <a:t>4.9</a:t>
            </a:r>
            <a:r>
              <a:rPr lang="zh-CN" altLang="en-US" dirty="0">
                <a:latin typeface="Times New Roman" panose="02020603050405020304" pitchFamily="18" charset="0"/>
                <a:cs typeface="Times New Roman" panose="02020603050405020304" pitchFamily="18" charset="0"/>
              </a:rPr>
              <a:t>调试程序</a:t>
            </a:r>
            <a:r>
              <a:rPr lang="en-US" altLang="zh-CN" dirty="0">
                <a:latin typeface="Times New Roman" panose="02020603050405020304" pitchFamily="18" charset="0"/>
                <a:cs typeface="Times New Roman" panose="02020603050405020304" pitchFamily="18" charset="0"/>
              </a:rPr>
              <a:t>DEBUG</a:t>
            </a:r>
            <a:r>
              <a:rPr lang="zh-CN" altLang="en-US" dirty="0">
                <a:latin typeface="Times New Roman" panose="02020603050405020304" pitchFamily="18" charset="0"/>
                <a:cs typeface="Times New Roman" panose="02020603050405020304" pitchFamily="18" charset="0"/>
              </a:rPr>
              <a:t>的使用</a:t>
            </a:r>
          </a:p>
        </p:txBody>
      </p:sp>
      <p:sp>
        <p:nvSpPr>
          <p:cNvPr id="7" name="Rectangle 2"/>
          <p:cNvSpPr txBox="1">
            <a:spLocks noChangeArrowheads="1"/>
          </p:cNvSpPr>
          <p:nvPr/>
        </p:nvSpPr>
        <p:spPr bwMode="auto">
          <a:xfrm>
            <a:off x="448280" y="1706130"/>
            <a:ext cx="8229600" cy="563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800" b="1" i="0" u="none" strike="noStrike" kern="0" cap="none" spc="0" normalizeH="0" baseline="0" noProof="0" dirty="0">
                <a:ln>
                  <a:noFill/>
                </a:ln>
                <a:solidFill>
                  <a:srgbClr val="740000"/>
                </a:solidFill>
                <a:effectLst/>
                <a:uLnTx/>
                <a:uFillTx/>
                <a:latin typeface="Times New Roman" panose="02020603050405020304"/>
                <a:ea typeface="宋体" panose="02010600030101010101" pitchFamily="2" charset="-122"/>
                <a:cs typeface="+mj-cs"/>
              </a:rPr>
              <a:t>1. </a:t>
            </a:r>
            <a:r>
              <a:rPr kumimoji="0" lang="zh-CN" altLang="zh-CN" sz="2800" b="1" i="0" u="none" strike="noStrike" kern="0" cap="none" spc="0" normalizeH="0" baseline="0" noProof="0" dirty="0">
                <a:ln>
                  <a:noFill/>
                </a:ln>
                <a:solidFill>
                  <a:srgbClr val="740000"/>
                </a:solidFill>
                <a:effectLst/>
                <a:uLnTx/>
                <a:uFillTx/>
                <a:latin typeface="Times New Roman" panose="02020603050405020304"/>
                <a:ea typeface="宋体" panose="02010600030101010101" pitchFamily="2" charset="-122"/>
                <a:cs typeface="+mj-cs"/>
                <a:hlinkClick r:id="rId2" action="ppaction://hlinksldjump"/>
              </a:rPr>
              <a:t>DEBUG程序的调用</a:t>
            </a:r>
            <a:endParaRPr kumimoji="0" lang="zh-CN" altLang="zh-CN" sz="2800" b="1" i="0" u="none" strike="noStrike" kern="0" cap="none" spc="0" normalizeH="0" baseline="0" noProof="0" dirty="0">
              <a:ln>
                <a:noFill/>
              </a:ln>
              <a:solidFill>
                <a:srgbClr val="740000"/>
              </a:solidFill>
              <a:effectLst/>
              <a:uLnTx/>
              <a:uFillTx/>
              <a:latin typeface="Times New Roman" panose="02020603050405020304"/>
              <a:ea typeface="宋体" panose="02010600030101010101" pitchFamily="2" charset="-122"/>
              <a:cs typeface="+mj-cs"/>
            </a:endParaRPr>
          </a:p>
        </p:txBody>
      </p:sp>
      <p:sp>
        <p:nvSpPr>
          <p:cNvPr id="8" name="Rectangle 3"/>
          <p:cNvSpPr txBox="1">
            <a:spLocks noChangeArrowheads="1"/>
          </p:cNvSpPr>
          <p:nvPr/>
        </p:nvSpPr>
        <p:spPr bwMode="auto">
          <a:xfrm>
            <a:off x="428334" y="2325327"/>
            <a:ext cx="8229600" cy="3119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ü"/>
              <a:defRPr sz="2400" b="1">
                <a:solidFill>
                  <a:schemeClr val="tx1"/>
                </a:solidFill>
                <a:latin typeface="+mn-lt"/>
                <a:ea typeface="+mn-ea"/>
              </a:defRPr>
            </a:lvl2pPr>
            <a:lvl3pPr marL="1143000" indent="-228600" algn="l" rtl="0" eaLnBrk="0" fontAlgn="base" hangingPunct="0">
              <a:spcBef>
                <a:spcPct val="20000"/>
              </a:spcBef>
              <a:spcAft>
                <a:spcPct val="0"/>
              </a:spcAft>
              <a:buClr>
                <a:srgbClr val="A50021"/>
              </a:buClr>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在DOS提示符下，可如下键入DEBUG启动调试程序：</a:t>
            </a:r>
          </a:p>
          <a:p>
            <a:pPr marL="34290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defRPr/>
            </a:pPr>
            <a:r>
              <a:rPr kumimoji="0" lang="zh-CN"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zh-CN" sz="2000" b="1" i="0" u="none" strike="noStrike" kern="0" cap="none" spc="0" normalizeH="0" baseline="0" noProof="0" dirty="0">
                <a:ln>
                  <a:noFill/>
                </a:ln>
                <a:solidFill>
                  <a:srgbClr val="0000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DEBUG[路径\文件名][参数1][参数2]</a:t>
            </a:r>
          </a:p>
          <a:p>
            <a:pPr marL="34290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DEBUG后可以不带文件名，仅运行DEBUG程序。需要时，再用N和L命令调入被调试程序。</a:t>
            </a:r>
          </a:p>
          <a:p>
            <a:pPr marL="34290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命令中可以指定文件名，则在运行DEBUG的同时，还将指定的程序调入内存；参数1/2是被调试程序所需要用的参数。</a:t>
            </a:r>
          </a:p>
          <a:p>
            <a:pPr marL="342900" marR="0" lvl="0" indent="-342900" algn="l"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在DEBUG程序调入后，根据有无调试程序及其类型相应设置寄存器组的内容，发出DEBUG的提示符“</a:t>
            </a:r>
            <a:r>
              <a:rPr kumimoji="0" lang="zh-CN" altLang="zh-CN" sz="20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zh-CN"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”，此时就可用DEBUG命令来调试程序。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500"/>
                                        <p:tgtEl>
                                          <p:spTgt spid="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fade">
                                      <p:cBhvr>
                                        <p:cTn id="15" dur="50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500"/>
                                        <p:tgtEl>
                                          <p:spTgt spid="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animEffect transition="in" filter="fade">
                                      <p:cBhvr>
                                        <p:cTn id="25" dur="500"/>
                                        <p:tgtEl>
                                          <p:spTgt spid="8">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xEl>
                                              <p:pRg st="4" end="4"/>
                                            </p:txEl>
                                          </p:spTgt>
                                        </p:tgtEl>
                                        <p:attrNameLst>
                                          <p:attrName>style.visibility</p:attrName>
                                        </p:attrNameLst>
                                      </p:cBhvr>
                                      <p:to>
                                        <p:strVal val="visible"/>
                                      </p:to>
                                    </p:set>
                                    <p:animEffect transition="in" filter="fade">
                                      <p:cBhvr>
                                        <p:cTn id="30"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337431" y="1642775"/>
            <a:ext cx="8229600" cy="67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800" b="1" i="0" u="none" strike="noStrike" kern="0" cap="none" spc="0" normalizeH="0" baseline="0" noProof="0" dirty="0">
                <a:ln>
                  <a:noFill/>
                </a:ln>
                <a:solidFill>
                  <a:srgbClr val="740000"/>
                </a:solidFill>
                <a:effectLst/>
                <a:uLnTx/>
                <a:uFillTx/>
                <a:latin typeface="Times New Roman" panose="02020603050405020304"/>
                <a:ea typeface="宋体" panose="02010600030101010101" pitchFamily="2" charset="-122"/>
                <a:cs typeface="+mj-cs"/>
              </a:rPr>
              <a:t>1. </a:t>
            </a:r>
            <a:r>
              <a:rPr kumimoji="0" lang="zh-CN" altLang="zh-CN" sz="2800" b="1" i="0" u="none" strike="noStrike" kern="0" cap="none" spc="0" normalizeH="0" baseline="0" noProof="0" dirty="0">
                <a:ln>
                  <a:noFill/>
                </a:ln>
                <a:solidFill>
                  <a:srgbClr val="740000"/>
                </a:solidFill>
                <a:effectLst/>
                <a:uLnTx/>
                <a:uFillTx/>
                <a:latin typeface="Times New Roman" panose="02020603050405020304"/>
                <a:ea typeface="宋体" panose="02010600030101010101" pitchFamily="2" charset="-122"/>
                <a:cs typeface="+mj-cs"/>
                <a:hlinkClick r:id="rId2" action="ppaction://hlinksldjump"/>
              </a:rPr>
              <a:t>DEBUG程序的调用</a:t>
            </a:r>
            <a:endParaRPr kumimoji="0" lang="zh-CN" altLang="zh-CN" sz="2800" b="1" i="0" u="none" strike="noStrike" kern="0" cap="none" spc="0" normalizeH="0" baseline="0" noProof="0" dirty="0">
              <a:ln>
                <a:noFill/>
              </a:ln>
              <a:solidFill>
                <a:srgbClr val="740000"/>
              </a:solidFill>
              <a:effectLst/>
              <a:uLnTx/>
              <a:uFillTx/>
              <a:latin typeface="Times New Roman" panose="02020603050405020304"/>
              <a:ea typeface="宋体" panose="02010600030101010101" pitchFamily="2" charset="-122"/>
              <a:cs typeface="+mj-cs"/>
            </a:endParaRPr>
          </a:p>
        </p:txBody>
      </p:sp>
      <p:sp>
        <p:nvSpPr>
          <p:cNvPr id="6" name="Rectangle 3"/>
          <p:cNvSpPr txBox="1">
            <a:spLocks noChangeArrowheads="1"/>
          </p:cNvSpPr>
          <p:nvPr/>
        </p:nvSpPr>
        <p:spPr bwMode="auto">
          <a:xfrm>
            <a:off x="304233" y="2482156"/>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ü"/>
              <a:defRPr sz="2400" b="1">
                <a:solidFill>
                  <a:schemeClr val="tx1"/>
                </a:solidFill>
                <a:latin typeface="+mn-lt"/>
                <a:ea typeface="+mn-ea"/>
              </a:defRPr>
            </a:lvl2pPr>
            <a:lvl3pPr marL="1143000" indent="-228600" algn="l" rtl="0" eaLnBrk="0" fontAlgn="base" hangingPunct="0">
              <a:spcBef>
                <a:spcPct val="20000"/>
              </a:spcBef>
              <a:spcAft>
                <a:spcPct val="0"/>
              </a:spcAft>
              <a:buClr>
                <a:srgbClr val="A50021"/>
              </a:buClr>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a:lstStyle>
          <a:p>
            <a:pPr marL="342900" marR="0" lvl="0" indent="-342900" algn="just" defTabSz="914400" rtl="0" eaLnBrk="1" fontAlgn="base" latinLnBrk="0" hangingPunct="1">
              <a:lnSpc>
                <a:spcPct val="9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运行DEBUG程序时，如果不带被调试程序，则所有段寄存器值相等，都指向当前可用的主存段；除SP之外的通用寄存器都设置为0，而	SP指示当前堆栈顶在这个段的尾部；IP=0100h；状态标志都是清0状态。</a:t>
            </a:r>
          </a:p>
          <a:p>
            <a:pPr marL="342900" marR="0" lvl="0" indent="-342900" algn="just" defTabSz="914400" rtl="0" eaLnBrk="1" fontAlgn="base" latinLnBrk="0" hangingPunct="1">
              <a:lnSpc>
                <a:spcPct val="9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运行DEBUG程序时，如果带入的被调试程序扩展名不是.EXE，则BX,CX包含被调试文件大小的字节数（BX为高16位），其他同不带被调试程序的情况。</a:t>
            </a:r>
          </a:p>
          <a:p>
            <a:pPr marL="342900" marR="0" lvl="0" indent="-342900" algn="just" defTabSz="914400" rtl="0" eaLnBrk="1" fontAlgn="base" latinLnBrk="0" hangingPunct="1">
              <a:lnSpc>
                <a:spcPct val="9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运行DEBUG程序时，如果带入的被调试程序扩展名是.EXE，则需要重新定位。此时，</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CS:IP和SS:SP根据被调试程序确定</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，分别指向代码段和堆栈段。DS=ES指向当前可用的主存段，BX,CX包含被调试文件大小的字节数（BX为高16位），其他通用寄存器为0，状态标志都是清0状态。</a:t>
            </a:r>
          </a:p>
        </p:txBody>
      </p:sp>
      <p:sp>
        <p:nvSpPr>
          <p:cNvPr id="7" name="文本占位符 2"/>
          <p:cNvSpPr>
            <a:spLocks noGrp="1"/>
          </p:cNvSpPr>
          <p:nvPr>
            <p:ph type="body" sz="quarter" idx="10"/>
          </p:nvPr>
        </p:nvSpPr>
        <p:spPr>
          <a:xfrm>
            <a:off x="447675" y="990600"/>
            <a:ext cx="5832475" cy="512763"/>
          </a:xfrm>
        </p:spPr>
        <p:txBody>
          <a:bodyPr/>
          <a:lstStyle/>
          <a:p>
            <a:r>
              <a:rPr lang="en-US" altLang="zh-CN" dirty="0">
                <a:latin typeface="Times New Roman" panose="02020603050405020304" pitchFamily="18" charset="0"/>
                <a:cs typeface="Times New Roman" panose="02020603050405020304" pitchFamily="18" charset="0"/>
              </a:rPr>
              <a:t>4.9</a:t>
            </a:r>
            <a:r>
              <a:rPr lang="zh-CN" altLang="en-US" dirty="0">
                <a:latin typeface="Times New Roman" panose="02020603050405020304" pitchFamily="18" charset="0"/>
                <a:cs typeface="Times New Roman" panose="02020603050405020304" pitchFamily="18" charset="0"/>
              </a:rPr>
              <a:t>调试程序</a:t>
            </a:r>
            <a:r>
              <a:rPr lang="en-US" altLang="zh-CN" dirty="0">
                <a:latin typeface="Times New Roman" panose="02020603050405020304" pitchFamily="18" charset="0"/>
                <a:cs typeface="Times New Roman" panose="02020603050405020304" pitchFamily="18" charset="0"/>
              </a:rPr>
              <a:t>DEBUG</a:t>
            </a:r>
            <a:r>
              <a:rPr lang="zh-CN" altLang="en-US" dirty="0">
                <a:latin typeface="Times New Roman" panose="02020603050405020304" pitchFamily="18" charset="0"/>
                <a:cs typeface="Times New Roman" panose="02020603050405020304" pitchFamily="18" charset="0"/>
              </a:rPr>
              <a:t>的使用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 calcmode="lin" valueType="num">
                                      <p:cBhvr additive="base">
                                        <p:cTn id="2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611560" y="1844824"/>
            <a:ext cx="8229600" cy="512415"/>
          </a:xfrm>
        </p:spPr>
        <p:txBody>
          <a:bodyPr/>
          <a:lstStyle>
            <a:lvl1pPr algn="l" rtl="0" eaLnBrk="1" fontAlgn="base" hangingPunct="1">
              <a:spcBef>
                <a:spcPct val="0"/>
              </a:spcBef>
              <a:spcAft>
                <a:spcPct val="0"/>
              </a:spcAft>
              <a:defRPr lang="zh-CN" altLang="zh-CN" sz="2800" b="1" smtClean="0">
                <a:solidFill>
                  <a:schemeClr val="bg1"/>
                </a:solidFill>
                <a:effectLst/>
                <a:latin typeface="幼圆" panose="02010509060101010101" pitchFamily="49" charset="-122"/>
                <a:ea typeface="幼圆" panose="02010509060101010101" pitchFamily="49" charset="-122"/>
                <a:cs typeface="+mj-cs"/>
              </a:defRPr>
            </a:lvl1pPr>
            <a:lvl2pPr algn="l" rtl="0" eaLnBrk="1" fontAlgn="base" hangingPunct="1">
              <a:spcBef>
                <a:spcPct val="0"/>
              </a:spcBef>
              <a:spcAft>
                <a:spcPct val="0"/>
              </a:spcAft>
              <a:defRPr sz="3200" b="1">
                <a:solidFill>
                  <a:schemeClr val="bg1"/>
                </a:solidFill>
                <a:latin typeface="Verdana" panose="020B0604030504040204" pitchFamily="34" charset="0"/>
              </a:defRPr>
            </a:lvl2pPr>
            <a:lvl3pPr algn="l" rtl="0" eaLnBrk="1" fontAlgn="base" hangingPunct="1">
              <a:spcBef>
                <a:spcPct val="0"/>
              </a:spcBef>
              <a:spcAft>
                <a:spcPct val="0"/>
              </a:spcAft>
              <a:defRPr sz="3200" b="1">
                <a:solidFill>
                  <a:schemeClr val="bg1"/>
                </a:solidFill>
                <a:latin typeface="Verdana" panose="020B0604030504040204" pitchFamily="34" charset="0"/>
              </a:defRPr>
            </a:lvl3pPr>
            <a:lvl4pPr algn="l" rtl="0" eaLnBrk="1" fontAlgn="base" hangingPunct="1">
              <a:spcBef>
                <a:spcPct val="0"/>
              </a:spcBef>
              <a:spcAft>
                <a:spcPct val="0"/>
              </a:spcAft>
              <a:defRPr sz="3200" b="1">
                <a:solidFill>
                  <a:schemeClr val="bg1"/>
                </a:solidFill>
                <a:latin typeface="Verdana" panose="020B0604030504040204" pitchFamily="34" charset="0"/>
              </a:defRPr>
            </a:lvl4pPr>
            <a:lvl5pPr algn="l" rtl="0" eaLnBrk="1" fontAlgn="base" hangingPunct="1">
              <a:spcBef>
                <a:spcPct val="0"/>
              </a:spcBef>
              <a:spcAft>
                <a:spcPct val="0"/>
              </a:spcAft>
              <a:defRPr sz="3200" b="1">
                <a:solidFill>
                  <a:schemeClr val="bg1"/>
                </a:solidFill>
                <a:latin typeface="Verdana" panose="020B0604030504040204" pitchFamily="34" charset="0"/>
              </a:defRPr>
            </a:lvl5pPr>
            <a:lvl6pPr marL="457200" algn="l" rtl="0" eaLnBrk="1" fontAlgn="base" hangingPunct="1">
              <a:spcBef>
                <a:spcPct val="0"/>
              </a:spcBef>
              <a:spcAft>
                <a:spcPct val="0"/>
              </a:spcAft>
              <a:defRPr sz="3200" b="1">
                <a:solidFill>
                  <a:schemeClr val="bg1"/>
                </a:solidFill>
                <a:latin typeface="Verdana" panose="020B0604030504040204" pitchFamily="34" charset="0"/>
              </a:defRPr>
            </a:lvl6pPr>
            <a:lvl7pPr marL="914400" algn="l" rtl="0" eaLnBrk="1" fontAlgn="base" hangingPunct="1">
              <a:spcBef>
                <a:spcPct val="0"/>
              </a:spcBef>
              <a:spcAft>
                <a:spcPct val="0"/>
              </a:spcAft>
              <a:defRPr sz="3200" b="1">
                <a:solidFill>
                  <a:schemeClr val="bg1"/>
                </a:solidFill>
                <a:latin typeface="Verdana" panose="020B0604030504040204" pitchFamily="34" charset="0"/>
              </a:defRPr>
            </a:lvl7pPr>
            <a:lvl8pPr marL="1371600" algn="l" rtl="0" eaLnBrk="1" fontAlgn="base" hangingPunct="1">
              <a:spcBef>
                <a:spcPct val="0"/>
              </a:spcBef>
              <a:spcAft>
                <a:spcPct val="0"/>
              </a:spcAft>
              <a:defRPr sz="3200" b="1">
                <a:solidFill>
                  <a:schemeClr val="bg1"/>
                </a:solidFill>
                <a:latin typeface="Verdana" panose="020B0604030504040204" pitchFamily="34" charset="0"/>
              </a:defRPr>
            </a:lvl8pPr>
            <a:lvl9pPr marL="1828800" algn="l" rtl="0" eaLnBrk="1" fontAlgn="base" hangingPunct="1">
              <a:spcBef>
                <a:spcPct val="0"/>
              </a:spcBef>
              <a:spcAft>
                <a:spcPct val="0"/>
              </a:spcAft>
              <a:defRPr sz="3200" b="1">
                <a:solidFill>
                  <a:schemeClr val="bg1"/>
                </a:solidFill>
                <a:latin typeface="Verdana" panose="020B0604030504040204" pitchFamily="34" charset="0"/>
              </a:defRPr>
            </a:lvl9pPr>
          </a:lstStyle>
          <a:p>
            <a:r>
              <a:rPr lang="en-US" sz="2400" kern="0"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rPr>
              <a:t>2. </a:t>
            </a:r>
            <a:r>
              <a:rPr lang="en-US" sz="2400" kern="0"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DEBUG</a:t>
            </a:r>
            <a:r>
              <a:rPr lang="zh-CN" altLang="en-US" sz="2400" kern="0"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hlinkClick r:id="rId2" action="ppaction://hlinksldjump"/>
              </a:rPr>
              <a:t>命令的格式</a:t>
            </a:r>
            <a:endParaRPr lang="zh-CN" altLang="en-US" sz="2400" kern="0" dirty="0">
              <a:solidFill>
                <a:srgbClr val="74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Rectangle 3"/>
          <p:cNvSpPr txBox="1">
            <a:spLocks noChangeArrowheads="1"/>
          </p:cNvSpPr>
          <p:nvPr/>
        </p:nvSpPr>
        <p:spPr>
          <a:xfrm>
            <a:off x="620823" y="2529423"/>
            <a:ext cx="8229600" cy="4525963"/>
          </a:xfrm>
          <a:prstGeom prst="rect">
            <a:avLst/>
          </a:prstGeom>
        </p:spPr>
        <p:txBody>
          <a:bodyPr/>
          <a:lstStyle>
            <a:lvl1pPr marL="0" indent="0" algn="l" rtl="0" eaLnBrk="1" fontAlgn="base" hangingPunct="1">
              <a:lnSpc>
                <a:spcPct val="150000"/>
              </a:lnSpc>
              <a:spcBef>
                <a:spcPct val="20000"/>
              </a:spcBef>
              <a:spcAft>
                <a:spcPct val="0"/>
              </a:spcAft>
              <a:buClr>
                <a:schemeClr val="hlink"/>
              </a:buClr>
              <a:buFont typeface="Wingdings" panose="05000000000000000000" pitchFamily="2" charset="2"/>
              <a:buNone/>
              <a:defRPr sz="2400" b="0">
                <a:solidFill>
                  <a:srgbClr val="00349E"/>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lnSpc>
                <a:spcPct val="150000"/>
              </a:lnSpc>
              <a:spcBef>
                <a:spcPct val="20000"/>
              </a:spcBef>
              <a:spcAft>
                <a:spcPct val="0"/>
              </a:spcAft>
              <a:buClr>
                <a:schemeClr val="accent1"/>
              </a:buClr>
              <a:buFont typeface="Wingdings" panose="05000000000000000000" charset="0"/>
              <a:buChar char="n"/>
              <a:defRPr sz="2000" b="0">
                <a:solidFill>
                  <a:schemeClr val="tx1"/>
                </a:solidFill>
                <a:latin typeface="微软雅黑" panose="020B0503020204020204" pitchFamily="34" charset="-122"/>
                <a:ea typeface="微软雅黑" panose="020B0503020204020204" pitchFamily="34" charset="-122"/>
              </a:defRPr>
            </a:lvl2pPr>
            <a:lvl3pPr marL="1143000" indent="-228600" algn="l" rtl="0" eaLnBrk="1" fontAlgn="base" hangingPunct="1">
              <a:lnSpc>
                <a:spcPct val="150000"/>
              </a:lnSpc>
              <a:spcBef>
                <a:spcPct val="20000"/>
              </a:spcBef>
              <a:spcAft>
                <a:spcPct val="0"/>
              </a:spcAft>
              <a:buClr>
                <a:schemeClr val="tx1"/>
              </a:buClr>
              <a:buFont typeface="Wingdings" panose="05000000000000000000" charset="0"/>
              <a:buChar char="p"/>
              <a:defRPr sz="1800" b="0">
                <a:solidFill>
                  <a:schemeClr val="tx1"/>
                </a:solidFill>
                <a:latin typeface="微软雅黑" panose="020B0503020204020204" pitchFamily="34" charset="-122"/>
                <a:ea typeface="微软雅黑" panose="020B0503020204020204" pitchFamily="34" charset="-122"/>
              </a:defRPr>
            </a:lvl3pPr>
            <a:lvl4pPr marL="1600200" indent="-228600" algn="l" rtl="0" eaLnBrk="1" fontAlgn="base" hangingPunct="1">
              <a:lnSpc>
                <a:spcPct val="150000"/>
              </a:lnSpc>
              <a:spcBef>
                <a:spcPct val="20000"/>
              </a:spcBef>
              <a:spcAft>
                <a:spcPct val="0"/>
              </a:spcAft>
              <a:buChar char="–"/>
              <a:defRPr sz="1600" b="0">
                <a:solidFill>
                  <a:schemeClr val="tx1"/>
                </a:solidFill>
                <a:latin typeface="微软雅黑" panose="020B0503020204020204" pitchFamily="34" charset="-122"/>
                <a:ea typeface="微软雅黑" panose="020B0503020204020204" pitchFamily="34" charset="-122"/>
              </a:defRPr>
            </a:lvl4pPr>
            <a:lvl5pPr marL="1828800" indent="0" algn="l" rtl="0" eaLnBrk="1" fontAlgn="base" hangingPunct="1">
              <a:spcBef>
                <a:spcPct val="20000"/>
              </a:spcBef>
              <a:spcAft>
                <a:spcPct val="0"/>
              </a:spcAft>
              <a:buNone/>
              <a:defRPr sz="2000" b="0">
                <a:solidFill>
                  <a:schemeClr val="tx1"/>
                </a:solidFill>
                <a:latin typeface="微软雅黑" panose="020B0503020204020204" pitchFamily="34" charset="-122"/>
                <a:ea typeface="微软雅黑" panose="020B0503020204020204" pitchFamily="34" charset="-122"/>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lnSpc>
                <a:spcPct val="90000"/>
              </a:lnSpc>
            </a:pPr>
            <a:r>
              <a:rPr lang="zh-CN" altLang="zh-CN" sz="2000" b="1" kern="0" dirty="0">
                <a:latin typeface="Times New Roman" panose="02020603050405020304" pitchFamily="18" charset="0"/>
                <a:cs typeface="Times New Roman" panose="02020603050405020304" pitchFamily="18" charset="0"/>
              </a:rPr>
              <a:t>DEBUG的命令都是一个字母，后跟一个或多个参数：</a:t>
            </a:r>
          </a:p>
          <a:p>
            <a:pPr>
              <a:lnSpc>
                <a:spcPct val="90000"/>
              </a:lnSpc>
            </a:pPr>
            <a:r>
              <a:rPr lang="zh-CN" altLang="zh-CN" sz="2000" b="1" kern="0" dirty="0">
                <a:latin typeface="Times New Roman" panose="02020603050405020304" pitchFamily="18" charset="0"/>
                <a:cs typeface="Times New Roman" panose="02020603050405020304" pitchFamily="18" charset="0"/>
              </a:rPr>
              <a:t>			</a:t>
            </a:r>
            <a:r>
              <a:rPr lang="zh-CN" altLang="zh-CN" sz="2000" b="1" kern="0" dirty="0">
                <a:solidFill>
                  <a:srgbClr val="C00000"/>
                </a:solidFill>
                <a:latin typeface="Times New Roman" panose="02020603050405020304" pitchFamily="18" charset="0"/>
                <a:cs typeface="Times New Roman" panose="02020603050405020304" pitchFamily="18" charset="0"/>
              </a:rPr>
              <a:t>字母[参数]</a:t>
            </a:r>
          </a:p>
          <a:p>
            <a:pPr>
              <a:lnSpc>
                <a:spcPct val="90000"/>
              </a:lnSpc>
            </a:pPr>
            <a:r>
              <a:rPr lang="zh-CN" altLang="zh-CN" sz="2000" b="1" kern="0" dirty="0">
                <a:latin typeface="Times New Roman" panose="02020603050405020304" pitchFamily="18" charset="0"/>
                <a:cs typeface="Times New Roman" panose="02020603050405020304" pitchFamily="18" charset="0"/>
              </a:rPr>
              <a:t>命令的使用中注意：</a:t>
            </a:r>
          </a:p>
          <a:p>
            <a:pPr lvl="1">
              <a:lnSpc>
                <a:spcPct val="90000"/>
              </a:lnSpc>
            </a:pPr>
            <a:r>
              <a:rPr lang="zh-CN" altLang="zh-CN" sz="1800" b="1" kern="0" dirty="0">
                <a:latin typeface="Times New Roman" panose="02020603050405020304" pitchFamily="18" charset="0"/>
                <a:cs typeface="Times New Roman" panose="02020603050405020304" pitchFamily="18" charset="0"/>
              </a:rPr>
              <a:t>字母不分大小写；</a:t>
            </a:r>
          </a:p>
          <a:p>
            <a:pPr lvl="1">
              <a:lnSpc>
                <a:spcPct val="90000"/>
              </a:lnSpc>
            </a:pPr>
            <a:r>
              <a:rPr lang="zh-CN" altLang="zh-CN" sz="1800" b="1" kern="0" dirty="0">
                <a:latin typeface="Times New Roman" panose="02020603050405020304" pitchFamily="18" charset="0"/>
                <a:cs typeface="Times New Roman" panose="02020603050405020304" pitchFamily="18" charset="0"/>
              </a:rPr>
              <a:t>只使用</a:t>
            </a:r>
            <a:r>
              <a:rPr lang="zh-CN" altLang="zh-CN" sz="1800" b="1" kern="0" dirty="0">
                <a:solidFill>
                  <a:srgbClr val="FF0000"/>
                </a:solidFill>
                <a:latin typeface="Times New Roman" panose="02020603050405020304" pitchFamily="18" charset="0"/>
                <a:cs typeface="Times New Roman" panose="02020603050405020304" pitchFamily="18" charset="0"/>
              </a:rPr>
              <a:t>16进制数</a:t>
            </a:r>
            <a:r>
              <a:rPr lang="zh-CN" altLang="zh-CN" sz="1800" b="1" kern="0" dirty="0">
                <a:latin typeface="Times New Roman" panose="02020603050405020304" pitchFamily="18" charset="0"/>
                <a:cs typeface="Times New Roman" panose="02020603050405020304" pitchFamily="18" charset="0"/>
              </a:rPr>
              <a:t>，</a:t>
            </a:r>
            <a:r>
              <a:rPr lang="zh-CN" altLang="zh-CN" sz="1800" b="1" kern="0" dirty="0">
                <a:solidFill>
                  <a:srgbClr val="FF0000"/>
                </a:solidFill>
                <a:latin typeface="Times New Roman" panose="02020603050405020304" pitchFamily="18" charset="0"/>
                <a:cs typeface="Times New Roman" panose="02020603050405020304" pitchFamily="18" charset="0"/>
              </a:rPr>
              <a:t>没有后缀字母</a:t>
            </a:r>
            <a:r>
              <a:rPr lang="zh-CN" altLang="zh-CN" sz="1800" b="1" kern="0" dirty="0">
                <a:latin typeface="Times New Roman" panose="02020603050405020304" pitchFamily="18" charset="0"/>
                <a:cs typeface="Times New Roman" panose="02020603050405020304" pitchFamily="18" charset="0"/>
              </a:rPr>
              <a:t>；</a:t>
            </a:r>
          </a:p>
          <a:p>
            <a:pPr lvl="1">
              <a:lnSpc>
                <a:spcPct val="90000"/>
              </a:lnSpc>
            </a:pPr>
            <a:r>
              <a:rPr lang="zh-CN" altLang="zh-CN" sz="1800" b="1" kern="0" dirty="0">
                <a:latin typeface="Times New Roman" panose="02020603050405020304" pitchFamily="18" charset="0"/>
                <a:cs typeface="Times New Roman" panose="02020603050405020304" pitchFamily="18" charset="0"/>
              </a:rPr>
              <a:t>分隔符（空格和逗号）只在两个数值之间是必须的，命令和参数间可无分隔符；</a:t>
            </a:r>
          </a:p>
          <a:p>
            <a:pPr lvl="1">
              <a:lnSpc>
                <a:spcPct val="90000"/>
              </a:lnSpc>
            </a:pPr>
            <a:r>
              <a:rPr lang="zh-CN" altLang="zh-CN" sz="1800" b="1" kern="0" dirty="0">
                <a:latin typeface="Times New Roman" panose="02020603050405020304" pitchFamily="18" charset="0"/>
                <a:cs typeface="Times New Roman" panose="02020603050405020304" pitchFamily="18" charset="0"/>
              </a:rPr>
              <a:t>每个命令只有按了回车键后才有效，可以用</a:t>
            </a:r>
            <a:r>
              <a:rPr lang="zh-CN" altLang="zh-CN" sz="1800" b="1" kern="0" dirty="0">
                <a:solidFill>
                  <a:srgbClr val="FF0000"/>
                </a:solidFill>
                <a:latin typeface="Times New Roman" panose="02020603050405020304" pitchFamily="18" charset="0"/>
                <a:cs typeface="Times New Roman" panose="02020603050405020304" pitchFamily="18" charset="0"/>
              </a:rPr>
              <a:t>Ctrl+Break</a:t>
            </a:r>
            <a:r>
              <a:rPr lang="zh-CN" altLang="zh-CN" sz="1800" b="1" kern="0" dirty="0">
                <a:latin typeface="Times New Roman" panose="02020603050405020304" pitchFamily="18" charset="0"/>
                <a:cs typeface="Times New Roman" panose="02020603050405020304" pitchFamily="18" charset="0"/>
              </a:rPr>
              <a:t>中止命令的执行；</a:t>
            </a:r>
          </a:p>
          <a:p>
            <a:pPr lvl="1">
              <a:lnSpc>
                <a:spcPct val="90000"/>
              </a:lnSpc>
            </a:pPr>
            <a:r>
              <a:rPr lang="zh-CN" altLang="zh-CN" sz="1800" b="1" kern="0" dirty="0">
                <a:latin typeface="Times New Roman" panose="02020603050405020304" pitchFamily="18" charset="0"/>
                <a:cs typeface="Times New Roman" panose="02020603050405020304" pitchFamily="18" charset="0"/>
              </a:rPr>
              <a:t>命令如果不符合DEBUG的规则，则将以“</a:t>
            </a:r>
            <a:r>
              <a:rPr lang="zh-CN" altLang="zh-CN" sz="1800" b="1" kern="0" dirty="0">
                <a:solidFill>
                  <a:srgbClr val="FF0000"/>
                </a:solidFill>
                <a:latin typeface="Times New Roman" panose="02020603050405020304" pitchFamily="18" charset="0"/>
                <a:cs typeface="Times New Roman" panose="02020603050405020304" pitchFamily="18" charset="0"/>
              </a:rPr>
              <a:t>error</a:t>
            </a:r>
            <a:r>
              <a:rPr lang="zh-CN" altLang="zh-CN" sz="1800" b="1" kern="0" dirty="0">
                <a:latin typeface="Times New Roman" panose="02020603050405020304" pitchFamily="18" charset="0"/>
                <a:cs typeface="Times New Roman" panose="02020603050405020304" pitchFamily="18" charset="0"/>
              </a:rPr>
              <a:t>”提示，并用“</a:t>
            </a:r>
            <a:r>
              <a:rPr lang="zh-CN" altLang="zh-CN" sz="1800" b="1" kern="0" dirty="0">
                <a:solidFill>
                  <a:schemeClr val="accent2"/>
                </a:solidFill>
                <a:latin typeface="Times New Roman" panose="02020603050405020304" pitchFamily="18" charset="0"/>
                <a:cs typeface="Times New Roman" panose="02020603050405020304" pitchFamily="18" charset="0"/>
              </a:rPr>
              <a:t>^</a:t>
            </a:r>
            <a:r>
              <a:rPr lang="zh-CN" altLang="zh-CN" sz="1800" b="1" kern="0" dirty="0">
                <a:latin typeface="Times New Roman" panose="02020603050405020304" pitchFamily="18" charset="0"/>
                <a:cs typeface="Times New Roman" panose="02020603050405020304" pitchFamily="18" charset="0"/>
              </a:rPr>
              <a:t>”指示错误位置。</a:t>
            </a:r>
          </a:p>
        </p:txBody>
      </p:sp>
      <p:sp>
        <p:nvSpPr>
          <p:cNvPr id="7" name="文本占位符 2"/>
          <p:cNvSpPr>
            <a:spLocks noGrp="1"/>
          </p:cNvSpPr>
          <p:nvPr>
            <p:ph type="body" sz="quarter" idx="10"/>
          </p:nvPr>
        </p:nvSpPr>
        <p:spPr>
          <a:xfrm>
            <a:off x="447675" y="990600"/>
            <a:ext cx="5832475" cy="512763"/>
          </a:xfrm>
        </p:spPr>
        <p:txBody>
          <a:bodyPr/>
          <a:lstStyle/>
          <a:p>
            <a:r>
              <a:rPr lang="en-US" altLang="zh-CN" dirty="0">
                <a:latin typeface="Times New Roman" panose="02020603050405020304" pitchFamily="18" charset="0"/>
                <a:cs typeface="Times New Roman" panose="02020603050405020304" pitchFamily="18" charset="0"/>
              </a:rPr>
              <a:t>4.9</a:t>
            </a:r>
            <a:r>
              <a:rPr lang="zh-CN" altLang="en-US" dirty="0">
                <a:latin typeface="Times New Roman" panose="02020603050405020304" pitchFamily="18" charset="0"/>
                <a:cs typeface="Times New Roman" panose="02020603050405020304" pitchFamily="18" charset="0"/>
              </a:rPr>
              <a:t>调试程序</a:t>
            </a:r>
            <a:r>
              <a:rPr lang="en-US" altLang="zh-CN" dirty="0">
                <a:latin typeface="Times New Roman" panose="02020603050405020304" pitchFamily="18" charset="0"/>
                <a:cs typeface="Times New Roman" panose="02020603050405020304" pitchFamily="18" charset="0"/>
              </a:rPr>
              <a:t>DEBUG</a:t>
            </a:r>
            <a:r>
              <a:rPr lang="zh-CN" altLang="en-US" dirty="0">
                <a:latin typeface="Times New Roman" panose="02020603050405020304" pitchFamily="18" charset="0"/>
                <a:cs typeface="Times New Roman" panose="02020603050405020304" pitchFamily="18" charset="0"/>
              </a:rPr>
              <a:t>的使用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500"/>
                                        <p:tgtEl>
                                          <p:spTgt spid="6">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500"/>
                                        <p:tgtEl>
                                          <p:spTgt spid="6">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 calcmode="lin" valueType="num">
                                      <p:cBhvr additive="base">
                                        <p:cTn id="2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anim calcmode="lin" valueType="num">
                                      <p:cBhvr additive="base">
                                        <p:cTn id="3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anim calcmode="lin" valueType="num">
                                      <p:cBhvr additive="base">
                                        <p:cTn id="35"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
                                            <p:txEl>
                                              <p:pRg st="7" end="7"/>
                                            </p:txEl>
                                          </p:spTgt>
                                        </p:tgtEl>
                                        <p:attrNameLst>
                                          <p:attrName>style.visibility</p:attrName>
                                        </p:attrNameLst>
                                      </p:cBhvr>
                                      <p:to>
                                        <p:strVal val="visible"/>
                                      </p:to>
                                    </p:set>
                                    <p:anim calcmode="lin" valueType="num">
                                      <p:cBhvr additive="base">
                                        <p:cTn id="39"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98450" y="1759144"/>
            <a:ext cx="82296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4400" b="1">
                <a:solidFill>
                  <a:schemeClr val="tx2"/>
                </a:solidFill>
                <a:latin typeface="+mj-lt"/>
                <a:ea typeface="+mj-ea"/>
                <a:cs typeface="+mj-cs"/>
              </a:defRPr>
            </a:lvl1pPr>
            <a:lvl2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2"/>
                </a:solidFill>
                <a:latin typeface="Times New Roman" panose="02020603050405020304" pitchFamily="18" charset="0"/>
                <a:ea typeface="宋体" panose="02010600030101010101" pitchFamily="2" charset="-122"/>
              </a:defRPr>
            </a:lvl9pPr>
          </a:lstStyle>
          <a:p>
            <a:pPr marL="0" marR="0" lvl="0" indent="0" defTabSz="914400" rtl="0" eaLnBrk="1" fontAlgn="base" latinLnBrk="0" hangingPunct="1">
              <a:lnSpc>
                <a:spcPct val="100000"/>
              </a:lnSpc>
              <a:spcBef>
                <a:spcPct val="0"/>
              </a:spcBef>
              <a:spcAft>
                <a:spcPct val="0"/>
              </a:spcAft>
              <a:buClrTx/>
              <a:buSzTx/>
              <a:buFontTx/>
              <a:buNone/>
              <a:defRPr/>
            </a:pPr>
            <a:r>
              <a:rPr kumimoji="0" lang="zh-CN" altLang="zh-CN" sz="2800" b="1" i="0" u="none" strike="noStrike" kern="0" cap="none" spc="0" normalizeH="0" baseline="0" noProof="0" dirty="0">
                <a:ln>
                  <a:noFill/>
                </a:ln>
                <a:solidFill>
                  <a:srgbClr val="003366"/>
                </a:solidFill>
                <a:effectLst/>
                <a:uLnTx/>
                <a:uFillTx/>
                <a:latin typeface="微软雅黑" panose="020B0503020204020204" pitchFamily="34" charset="-122"/>
                <a:ea typeface="微软雅黑" panose="020B0503020204020204" pitchFamily="34" charset="-122"/>
              </a:rPr>
              <a:t>命令的参数</a:t>
            </a:r>
          </a:p>
        </p:txBody>
      </p:sp>
      <p:sp>
        <p:nvSpPr>
          <p:cNvPr id="6" name="Rectangle 3"/>
          <p:cNvSpPr txBox="1">
            <a:spLocks noChangeArrowheads="1"/>
          </p:cNvSpPr>
          <p:nvPr/>
        </p:nvSpPr>
        <p:spPr bwMode="auto">
          <a:xfrm>
            <a:off x="463965" y="2578807"/>
            <a:ext cx="8229600" cy="2578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Font typeface="Wingdings" panose="05000000000000000000" pitchFamily="2" charset="2"/>
              <a:buChar char="Ø"/>
              <a:defRPr sz="2400" b="1">
                <a:solidFill>
                  <a:schemeClr val="tx1"/>
                </a:solidFill>
                <a:latin typeface="+mn-lt"/>
                <a:ea typeface="+mn-ea"/>
                <a:cs typeface="+mn-cs"/>
              </a:defRPr>
            </a:lvl1pPr>
            <a:lvl2pPr marL="742950" indent="-285750" algn="l" rtl="0" eaLnBrk="0" fontAlgn="base" hangingPunct="0">
              <a:spcBef>
                <a:spcPct val="20000"/>
              </a:spcBef>
              <a:spcAft>
                <a:spcPct val="0"/>
              </a:spcAft>
              <a:buClr>
                <a:srgbClr val="A50021"/>
              </a:buClr>
              <a:buFont typeface="Wingdings" panose="05000000000000000000" pitchFamily="2" charset="2"/>
              <a:buChar char="ü"/>
              <a:defRPr sz="2400" b="1">
                <a:solidFill>
                  <a:schemeClr val="tx1"/>
                </a:solidFill>
                <a:latin typeface="+mn-lt"/>
                <a:ea typeface="+mn-ea"/>
              </a:defRPr>
            </a:lvl2pPr>
            <a:lvl3pPr marL="1143000" indent="-228600" algn="l" rtl="0" eaLnBrk="0" fontAlgn="base" hangingPunct="0">
              <a:spcBef>
                <a:spcPct val="20000"/>
              </a:spcBef>
              <a:spcAft>
                <a:spcPct val="0"/>
              </a:spcAft>
              <a:buClr>
                <a:srgbClr val="A50021"/>
              </a:buClr>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a:lstStyle>
          <a:p>
            <a:pPr marL="342900" marR="0" lvl="0" indent="-342900" algn="just"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许多命令的参数是主存逻辑地址，形式是“</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段基地址：偏移地址</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342900" marR="0" lvl="0" indent="-342900" algn="just"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其中，段基地址可以是段寄存器或数值；偏移地址是数值。</a:t>
            </a:r>
          </a:p>
          <a:p>
            <a:pPr marL="342900" marR="0" lvl="0" indent="-342900" algn="just"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如果不输入段地址，则采用默认值，可以是默认段寄存器值。</a:t>
            </a:r>
          </a:p>
          <a:p>
            <a:pPr marL="342900" marR="0" lvl="0" indent="-342900" algn="just"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如果没有提供偏移地址，则通常就是当前偏移地址。</a:t>
            </a:r>
          </a:p>
          <a:p>
            <a:pPr marL="342900" marR="0" lvl="0" indent="-342900" algn="just"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Char char="Ø"/>
              <a:defRPr/>
            </a:pP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对主存操作的命令还支持</a:t>
            </a:r>
            <a:r>
              <a:rPr kumimoji="0" lang="zh-CN" altLang="en-US" sz="2000" b="1" i="0" u="none" strike="noStrike" kern="0" cap="none" spc="0" normalizeH="0" baseline="0" noProof="0" dirty="0">
                <a:ln>
                  <a:noFill/>
                </a:ln>
                <a:solidFill>
                  <a:srgbClr val="000099"/>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地址范围</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这种参数，它的形式是“</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开始地址  结束地址</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”（结束地址不能具有段地址），或者是“</a:t>
            </a:r>
            <a:r>
              <a:rPr kumimoji="0" lang="zh-CN" altLang="en-US" sz="2000" b="1" i="0" u="none" strike="noStrike" kern="0" cap="none" spc="0" normalizeH="0" baseline="0" noProof="0" dirty="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开始地址  L字节长度</a:t>
            </a:r>
            <a:r>
              <a:rPr kumimoji="0" lang="zh-CN" altLang="en-US" sz="2000" b="1" i="0"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 name="文本占位符 2"/>
          <p:cNvSpPr>
            <a:spLocks noGrp="1"/>
          </p:cNvSpPr>
          <p:nvPr>
            <p:ph type="body" sz="quarter" idx="10"/>
          </p:nvPr>
        </p:nvSpPr>
        <p:spPr>
          <a:xfrm>
            <a:off x="447675" y="990600"/>
            <a:ext cx="5832475" cy="512763"/>
          </a:xfrm>
        </p:spPr>
        <p:txBody>
          <a:bodyPr/>
          <a:lstStyle/>
          <a:p>
            <a:r>
              <a:rPr lang="en-US" altLang="zh-CN" dirty="0">
                <a:latin typeface="Times New Roman" panose="02020603050405020304" pitchFamily="18" charset="0"/>
                <a:cs typeface="Times New Roman" panose="02020603050405020304" pitchFamily="18" charset="0"/>
              </a:rPr>
              <a:t>4.9</a:t>
            </a:r>
            <a:r>
              <a:rPr lang="zh-CN" altLang="en-US" dirty="0">
                <a:latin typeface="Times New Roman" panose="02020603050405020304" pitchFamily="18" charset="0"/>
                <a:cs typeface="Times New Roman" panose="02020603050405020304" pitchFamily="18" charset="0"/>
              </a:rPr>
              <a:t>调试程序</a:t>
            </a:r>
            <a:r>
              <a:rPr lang="en-US" altLang="zh-CN" dirty="0">
                <a:latin typeface="Times New Roman" panose="02020603050405020304" pitchFamily="18" charset="0"/>
                <a:cs typeface="Times New Roman" panose="02020603050405020304" pitchFamily="18" charset="0"/>
              </a:rPr>
              <a:t>DEBUG</a:t>
            </a:r>
            <a:r>
              <a:rPr lang="zh-CN" altLang="en-US" dirty="0">
                <a:latin typeface="Times New Roman" panose="02020603050405020304" pitchFamily="18" charset="0"/>
                <a:cs typeface="Times New Roman" panose="02020603050405020304" pitchFamily="18" charset="0"/>
              </a:rPr>
              <a:t>的使用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 calcmode="lin" valueType="num">
                                      <p:cBhvr additive="base">
                                        <p:cTn id="2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 calcmode="lin" valueType="num">
                                      <p:cBhvr additive="base">
                                        <p:cTn id="3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3" end="3"/>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6">
                                            <p:txEl>
                                              <p:pRg st="4" end="4"/>
                                            </p:txEl>
                                          </p:spTgt>
                                        </p:tgtEl>
                                        <p:attrNameLst>
                                          <p:attrName>style.visibility</p:attrName>
                                        </p:attrNameLst>
                                      </p:cBhvr>
                                      <p:to>
                                        <p:strVal val="visible"/>
                                      </p:to>
                                    </p:set>
                                    <p:anim calcmode="lin" valueType="num">
                                      <p:cBhvr additive="base">
                                        <p:cTn id="34"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11560" y="1529077"/>
            <a:ext cx="8229600" cy="678085"/>
          </a:xfrm>
        </p:spPr>
        <p:txBody>
          <a:bodyPr/>
          <a:lstStyle/>
          <a:p>
            <a:pPr algn="l"/>
            <a:r>
              <a:rPr lang="zh-CN" altLang="zh-CN" sz="2800"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zh-CN" sz="28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DEBUG的命令</a:t>
            </a:r>
            <a:endParaRPr lang="zh-CN" altLang="zh-CN" sz="2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315" name="Rectangle 3"/>
          <p:cNvSpPr>
            <a:spLocks noGrp="1" noChangeArrowheads="1"/>
          </p:cNvSpPr>
          <p:nvPr>
            <p:ph type="body" idx="1"/>
          </p:nvPr>
        </p:nvSpPr>
        <p:spPr>
          <a:xfrm>
            <a:off x="611560" y="2204864"/>
            <a:ext cx="8229600" cy="3888432"/>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4" action="ppaction://hlinksldjump"/>
              </a:rPr>
              <a:t>显示命令D（Dump）</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5" action="ppaction://hlinksldjump"/>
              </a:rPr>
              <a:t>修改命令E（Enter）</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6" action="ppaction://hlinksldjump"/>
              </a:rPr>
              <a:t>填充命令F（Fill）</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7" action="ppaction://hlinksldjump"/>
              </a:rPr>
              <a:t>寄存器命令R（Register）</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8" action="ppaction://hlinksldjump"/>
              </a:rPr>
              <a:t>汇编命令A（Assembler）</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9" action="ppaction://hlinksldjump"/>
              </a:rPr>
              <a:t>反汇编命令U（Unassembler）</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0" action="ppaction://hlinksldjump"/>
              </a:rPr>
              <a:t>运行命令G（Go）</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1" action="ppaction://hlinksldjump"/>
              </a:rPr>
              <a:t>跟踪命令T（Trace）</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2" action="ppaction://hlinksldjump"/>
              </a:rPr>
              <a:t>继续命令</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3" action="ppaction://hlinksldjump"/>
              </a:rPr>
              <a:t>退出命令Q</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（Quit）、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4" action="ppaction://hlinksldjump"/>
              </a:rPr>
              <a:t>命名命令</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5" action="ppaction://hlinksldjump"/>
              </a:rPr>
              <a:t>装入命令</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6" action="ppaction://hlinksldjump"/>
              </a:rPr>
              <a:t>写盘命令</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17" action="ppaction://hlinksldjump"/>
              </a:rPr>
              <a:t>其他命令</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fade">
                                      <p:cBhvr>
                                        <p:cTn id="7" dur="500"/>
                                        <p:tgtEl>
                                          <p:spTgt spid="133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315">
                                            <p:txEl>
                                              <p:pRg st="0" end="0"/>
                                            </p:txEl>
                                          </p:spTgt>
                                        </p:tgtEl>
                                        <p:attrNameLst>
                                          <p:attrName>style.visibility</p:attrName>
                                        </p:attrNameLst>
                                      </p:cBhvr>
                                      <p:to>
                                        <p:strVal val="visible"/>
                                      </p:to>
                                    </p:set>
                                    <p:animEffect transition="in" filter="fade">
                                      <p:cBhvr>
                                        <p:cTn id="10" dur="500"/>
                                        <p:tgtEl>
                                          <p:spTgt spid="1331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315">
                                            <p:txEl>
                                              <p:pRg st="1" end="1"/>
                                            </p:txEl>
                                          </p:spTgt>
                                        </p:tgtEl>
                                        <p:attrNameLst>
                                          <p:attrName>style.visibility</p:attrName>
                                        </p:attrNameLst>
                                      </p:cBhvr>
                                      <p:to>
                                        <p:strVal val="visible"/>
                                      </p:to>
                                    </p:set>
                                    <p:animEffect transition="in" filter="fade">
                                      <p:cBhvr>
                                        <p:cTn id="15" dur="500"/>
                                        <p:tgtEl>
                                          <p:spTgt spid="1331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315">
                                            <p:txEl>
                                              <p:pRg st="2" end="2"/>
                                            </p:txEl>
                                          </p:spTgt>
                                        </p:tgtEl>
                                        <p:attrNameLst>
                                          <p:attrName>style.visibility</p:attrName>
                                        </p:attrNameLst>
                                      </p:cBhvr>
                                      <p:to>
                                        <p:strVal val="visible"/>
                                      </p:to>
                                    </p:set>
                                    <p:animEffect transition="in" filter="fade">
                                      <p:cBhvr>
                                        <p:cTn id="20" dur="500"/>
                                        <p:tgtEl>
                                          <p:spTgt spid="1331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315">
                                            <p:txEl>
                                              <p:pRg st="3" end="3"/>
                                            </p:txEl>
                                          </p:spTgt>
                                        </p:tgtEl>
                                        <p:attrNameLst>
                                          <p:attrName>style.visibility</p:attrName>
                                        </p:attrNameLst>
                                      </p:cBhvr>
                                      <p:to>
                                        <p:strVal val="visible"/>
                                      </p:to>
                                    </p:set>
                                    <p:animEffect transition="in" filter="fade">
                                      <p:cBhvr>
                                        <p:cTn id="25" dur="500"/>
                                        <p:tgtEl>
                                          <p:spTgt spid="1331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3315">
                                            <p:txEl>
                                              <p:pRg st="4" end="4"/>
                                            </p:txEl>
                                          </p:spTgt>
                                        </p:tgtEl>
                                        <p:attrNameLst>
                                          <p:attrName>style.visibility</p:attrName>
                                        </p:attrNameLst>
                                      </p:cBhvr>
                                      <p:to>
                                        <p:strVal val="visible"/>
                                      </p:to>
                                    </p:set>
                                    <p:animEffect transition="in" filter="fade">
                                      <p:cBhvr>
                                        <p:cTn id="30" dur="500"/>
                                        <p:tgtEl>
                                          <p:spTgt spid="1331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315">
                                            <p:txEl>
                                              <p:pRg st="5" end="5"/>
                                            </p:txEl>
                                          </p:spTgt>
                                        </p:tgtEl>
                                        <p:attrNameLst>
                                          <p:attrName>style.visibility</p:attrName>
                                        </p:attrNameLst>
                                      </p:cBhvr>
                                      <p:to>
                                        <p:strVal val="visible"/>
                                      </p:to>
                                    </p:set>
                                    <p:animEffect transition="in" filter="fade">
                                      <p:cBhvr>
                                        <p:cTn id="35" dur="500"/>
                                        <p:tgtEl>
                                          <p:spTgt spid="1331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315">
                                            <p:txEl>
                                              <p:pRg st="6" end="6"/>
                                            </p:txEl>
                                          </p:spTgt>
                                        </p:tgtEl>
                                        <p:attrNameLst>
                                          <p:attrName>style.visibility</p:attrName>
                                        </p:attrNameLst>
                                      </p:cBhvr>
                                      <p:to>
                                        <p:strVal val="visible"/>
                                      </p:to>
                                    </p:set>
                                    <p:animEffect transition="in" filter="fade">
                                      <p:cBhvr>
                                        <p:cTn id="40" dur="500"/>
                                        <p:tgtEl>
                                          <p:spTgt spid="1331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3315">
                                            <p:txEl>
                                              <p:pRg st="7" end="7"/>
                                            </p:txEl>
                                          </p:spTgt>
                                        </p:tgtEl>
                                        <p:attrNameLst>
                                          <p:attrName>style.visibility</p:attrName>
                                        </p:attrNameLst>
                                      </p:cBhvr>
                                      <p:to>
                                        <p:strVal val="visible"/>
                                      </p:to>
                                    </p:set>
                                    <p:animEffect transition="in" filter="fade">
                                      <p:cBhvr>
                                        <p:cTn id="45" dur="500"/>
                                        <p:tgtEl>
                                          <p:spTgt spid="13315">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13315">
                                            <p:txEl>
                                              <p:pRg st="8" end="8"/>
                                            </p:txEl>
                                          </p:spTgt>
                                        </p:tgtEl>
                                        <p:attrNameLst>
                                          <p:attrName>style.visibility</p:attrName>
                                        </p:attrNameLst>
                                      </p:cBhvr>
                                      <p:to>
                                        <p:strVal val="visible"/>
                                      </p:to>
                                    </p:set>
                                    <p:animEffect transition="in" filter="fade">
                                      <p:cBhvr>
                                        <p:cTn id="50" dur="500"/>
                                        <p:tgtEl>
                                          <p:spTgt spid="13315">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315">
                                            <p:txEl>
                                              <p:pRg st="9" end="9"/>
                                            </p:txEl>
                                          </p:spTgt>
                                        </p:tgtEl>
                                        <p:attrNameLst>
                                          <p:attrName>style.visibility</p:attrName>
                                        </p:attrNameLst>
                                      </p:cBhvr>
                                      <p:to>
                                        <p:strVal val="visible"/>
                                      </p:to>
                                    </p:set>
                                    <p:animEffect transition="in" filter="fade">
                                      <p:cBhvr>
                                        <p:cTn id="55" dur="500"/>
                                        <p:tgtEl>
                                          <p:spTgt spid="1331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ldLvl="0" animBg="1"/>
      <p:bldP spid="13315"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251520" y="1556792"/>
            <a:ext cx="8229600" cy="648072"/>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显示命令D（Dump）</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339" name="Rectangle 3"/>
          <p:cNvSpPr>
            <a:spLocks noGrp="1" noChangeArrowheads="1"/>
          </p:cNvSpPr>
          <p:nvPr>
            <p:ph type="body" idx="1"/>
          </p:nvPr>
        </p:nvSpPr>
        <p:spPr>
          <a:xfrm>
            <a:off x="611560" y="2348880"/>
            <a:ext cx="8229600" cy="3345235"/>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D命令显示主存单元的内容，格式如下：</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D[地址]		；显示当前或指定开始地址的主存内容</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D[范围]		；显示指定范围的主存内容</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一个D命令只显示“8行×16个字节”（80列显示模式）内容。</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例如：</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 100		;显示数据段100h开始的主存单元</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 cs:0		;显示代码段的主存内容</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 2f0 L20	;显示ds:2f0h开始的20h个主存数据</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fade">
                                      <p:cBhvr>
                                        <p:cTn id="7" dur="500"/>
                                        <p:tgtEl>
                                          <p:spTgt spid="143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339">
                                            <p:txEl>
                                              <p:pRg st="0" end="0"/>
                                            </p:txEl>
                                          </p:spTgt>
                                        </p:tgtEl>
                                        <p:attrNameLst>
                                          <p:attrName>style.visibility</p:attrName>
                                        </p:attrNameLst>
                                      </p:cBhvr>
                                      <p:to>
                                        <p:strVal val="visible"/>
                                      </p:to>
                                    </p:set>
                                    <p:animEffect transition="in" filter="fade">
                                      <p:cBhvr>
                                        <p:cTn id="10" dur="500"/>
                                        <p:tgtEl>
                                          <p:spTgt spid="1433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339">
                                            <p:txEl>
                                              <p:pRg st="1" end="1"/>
                                            </p:txEl>
                                          </p:spTgt>
                                        </p:tgtEl>
                                        <p:attrNameLst>
                                          <p:attrName>style.visibility</p:attrName>
                                        </p:attrNameLst>
                                      </p:cBhvr>
                                      <p:to>
                                        <p:strVal val="visible"/>
                                      </p:to>
                                    </p:set>
                                    <p:animEffect transition="in" filter="fade">
                                      <p:cBhvr>
                                        <p:cTn id="13" dur="500"/>
                                        <p:tgtEl>
                                          <p:spTgt spid="14339">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339">
                                            <p:txEl>
                                              <p:pRg st="2" end="2"/>
                                            </p:txEl>
                                          </p:spTgt>
                                        </p:tgtEl>
                                        <p:attrNameLst>
                                          <p:attrName>style.visibility</p:attrName>
                                        </p:attrNameLst>
                                      </p:cBhvr>
                                      <p:to>
                                        <p:strVal val="visible"/>
                                      </p:to>
                                    </p:set>
                                    <p:animEffect transition="in" filter="fade">
                                      <p:cBhvr>
                                        <p:cTn id="16" dur="500"/>
                                        <p:tgtEl>
                                          <p:spTgt spid="14339">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339">
                                            <p:txEl>
                                              <p:pRg st="3" end="3"/>
                                            </p:txEl>
                                          </p:spTgt>
                                        </p:tgtEl>
                                        <p:attrNameLst>
                                          <p:attrName>style.visibility</p:attrName>
                                        </p:attrNameLst>
                                      </p:cBhvr>
                                      <p:to>
                                        <p:strVal val="visible"/>
                                      </p:to>
                                    </p:set>
                                    <p:animEffect transition="in" filter="fade">
                                      <p:cBhvr>
                                        <p:cTn id="21" dur="500"/>
                                        <p:tgtEl>
                                          <p:spTgt spid="1433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4339">
                                            <p:txEl>
                                              <p:pRg st="4" end="4"/>
                                            </p:txEl>
                                          </p:spTgt>
                                        </p:tgtEl>
                                        <p:attrNameLst>
                                          <p:attrName>style.visibility</p:attrName>
                                        </p:attrNameLst>
                                      </p:cBhvr>
                                      <p:to>
                                        <p:strVal val="visible"/>
                                      </p:to>
                                    </p:set>
                                    <p:animEffect transition="in" filter="fade">
                                      <p:cBhvr>
                                        <p:cTn id="26" dur="500"/>
                                        <p:tgtEl>
                                          <p:spTgt spid="14339">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4339">
                                            <p:txEl>
                                              <p:pRg st="5" end="5"/>
                                            </p:txEl>
                                          </p:spTgt>
                                        </p:tgtEl>
                                        <p:attrNameLst>
                                          <p:attrName>style.visibility</p:attrName>
                                        </p:attrNameLst>
                                      </p:cBhvr>
                                      <p:to>
                                        <p:strVal val="visible"/>
                                      </p:to>
                                    </p:set>
                                    <p:animEffect transition="in" filter="fade">
                                      <p:cBhvr>
                                        <p:cTn id="29" dur="500"/>
                                        <p:tgtEl>
                                          <p:spTgt spid="14339">
                                            <p:txEl>
                                              <p:pRg st="5" end="5"/>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339">
                                            <p:txEl>
                                              <p:pRg st="6" end="6"/>
                                            </p:txEl>
                                          </p:spTgt>
                                        </p:tgtEl>
                                        <p:attrNameLst>
                                          <p:attrName>style.visibility</p:attrName>
                                        </p:attrNameLst>
                                      </p:cBhvr>
                                      <p:to>
                                        <p:strVal val="visible"/>
                                      </p:to>
                                    </p:set>
                                    <p:animEffect transition="in" filter="fade">
                                      <p:cBhvr>
                                        <p:cTn id="32" dur="500"/>
                                        <p:tgtEl>
                                          <p:spTgt spid="14339">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339">
                                            <p:txEl>
                                              <p:pRg st="7" end="7"/>
                                            </p:txEl>
                                          </p:spTgt>
                                        </p:tgtEl>
                                        <p:attrNameLst>
                                          <p:attrName>style.visibility</p:attrName>
                                        </p:attrNameLst>
                                      </p:cBhvr>
                                      <p:to>
                                        <p:strVal val="visible"/>
                                      </p:to>
                                    </p:set>
                                    <p:animEffect transition="in" filter="fade">
                                      <p:cBhvr>
                                        <p:cTn id="35" dur="500"/>
                                        <p:tgtEl>
                                          <p:spTgt spid="1433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0" animBg="1"/>
      <p:bldP spid="14339"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251520" y="1340768"/>
            <a:ext cx="8229600" cy="750093"/>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显示命令D（Dump）</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63" name="Rectangle 3"/>
          <p:cNvSpPr>
            <a:spLocks noGrp="1" noChangeArrowheads="1"/>
          </p:cNvSpPr>
          <p:nvPr>
            <p:ph type="body" idx="1"/>
          </p:nvPr>
        </p:nvSpPr>
        <p:spPr>
          <a:xfrm>
            <a:off x="59085" y="1916832"/>
            <a:ext cx="9025829" cy="4525963"/>
          </a:xfrm>
        </p:spPr>
        <p:txBody>
          <a:bodyPr/>
          <a:lstStyle/>
          <a:p>
            <a:pPr>
              <a:lnSpc>
                <a:spcPct val="150000"/>
              </a:lnSpc>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例如，显示当前（接上一个D命令显示的最后一个地址）主存内容：</a:t>
            </a:r>
          </a:p>
          <a:p>
            <a:pP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－d</a:t>
            </a:r>
          </a:p>
          <a:p>
            <a:pP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1492:0100	     41 EB EA 5E E3 0B F7 C2 －01 00 74 1C 80  3C 2E 74             A..^……t..&lt;.t</a:t>
            </a:r>
          </a:p>
          <a:p>
            <a:pP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1492:0110	     47 83 3E 75 E0 02 75 0A－80 3E 7C E1 34 00 81 14	  G.&gt;u..u..&gt;|.4…</a:t>
            </a:r>
          </a:p>
          <a:p>
            <a:pP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zh-CN" altLang="zh-CN" sz="1600" dirty="0">
                <a:latin typeface="Times New Roman" panose="02020603050405020304" pitchFamily="18" charset="0"/>
                <a:ea typeface="微软雅黑" panose="020B0503020204020204" pitchFamily="34" charset="-122"/>
                <a:cs typeface="Times New Roman" panose="02020603050405020304" pitchFamily="18" charset="0"/>
              </a:rPr>
              <a:t>1492:0170     75 1A EB 12 52 51 53 E8 －28 01 0A C0 75 58 80 7C	u…RQS.(…uX.|</a:t>
            </a:r>
          </a:p>
        </p:txBody>
      </p:sp>
      <p:grpSp>
        <p:nvGrpSpPr>
          <p:cNvPr id="15364" name="Group 4"/>
          <p:cNvGrpSpPr/>
          <p:nvPr/>
        </p:nvGrpSpPr>
        <p:grpSpPr bwMode="auto">
          <a:xfrm>
            <a:off x="76528" y="4509120"/>
            <a:ext cx="7989888" cy="1193800"/>
            <a:chOff x="0" y="0"/>
            <a:chExt cx="5033" cy="752"/>
          </a:xfrm>
        </p:grpSpPr>
        <p:sp>
          <p:nvSpPr>
            <p:cNvPr id="15366" name="Line 5"/>
            <p:cNvSpPr>
              <a:spLocks noChangeShapeType="1"/>
            </p:cNvSpPr>
            <p:nvPr/>
          </p:nvSpPr>
          <p:spPr bwMode="auto">
            <a:xfrm flipV="1">
              <a:off x="408" y="0"/>
              <a:ext cx="0" cy="318"/>
            </a:xfrm>
            <a:prstGeom prst="line">
              <a:avLst/>
            </a:prstGeom>
            <a:noFill/>
            <a:ln w="28575">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67" name="Text Box 6"/>
            <p:cNvSpPr txBox="1">
              <a:spLocks noChangeArrowheads="1"/>
            </p:cNvSpPr>
            <p:nvPr/>
          </p:nvSpPr>
          <p:spPr bwMode="auto">
            <a:xfrm>
              <a:off x="0" y="302"/>
              <a:ext cx="767"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逻辑地址</a:t>
              </a:r>
            </a:p>
          </p:txBody>
        </p:sp>
        <p:sp>
          <p:nvSpPr>
            <p:cNvPr id="15368" name="AutoShape 7"/>
            <p:cNvSpPr/>
            <p:nvPr/>
          </p:nvSpPr>
          <p:spPr bwMode="auto">
            <a:xfrm rot="5400000">
              <a:off x="2220" y="-1315"/>
              <a:ext cx="91" cy="2722"/>
            </a:xfrm>
            <a:prstGeom prst="rightBrace">
              <a:avLst>
                <a:gd name="adj1" fmla="val 249267"/>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69" name="Text Box 8"/>
            <p:cNvSpPr txBox="1">
              <a:spLocks noChangeArrowheads="1"/>
            </p:cNvSpPr>
            <p:nvPr/>
          </p:nvSpPr>
          <p:spPr bwMode="auto">
            <a:xfrm>
              <a:off x="1225" y="137"/>
              <a:ext cx="1932"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连续16个字节的主存内容</a:t>
              </a:r>
            </a:p>
          </p:txBody>
        </p:sp>
        <p:sp>
          <p:nvSpPr>
            <p:cNvPr id="15370" name="AutoShape 9"/>
            <p:cNvSpPr/>
            <p:nvPr/>
          </p:nvSpPr>
          <p:spPr bwMode="auto">
            <a:xfrm rot="5400000">
              <a:off x="4579" y="-362"/>
              <a:ext cx="45" cy="862"/>
            </a:xfrm>
            <a:prstGeom prst="rightBrace">
              <a:avLst>
                <a:gd name="adj1" fmla="val 159630"/>
                <a:gd name="adj2" fmla="val 50000"/>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371" name="Text Box 10"/>
            <p:cNvSpPr txBox="1">
              <a:spLocks noChangeArrowheads="1"/>
            </p:cNvSpPr>
            <p:nvPr/>
          </p:nvSpPr>
          <p:spPr bwMode="auto">
            <a:xfrm>
              <a:off x="1950" y="500"/>
              <a:ext cx="2841"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16个字节的主存内容的ASCII字符显示</a:t>
              </a:r>
            </a:p>
          </p:txBody>
        </p:sp>
        <p:sp>
          <p:nvSpPr>
            <p:cNvPr id="15372" name="Line 11"/>
            <p:cNvSpPr>
              <a:spLocks noChangeShapeType="1"/>
            </p:cNvSpPr>
            <p:nvPr/>
          </p:nvSpPr>
          <p:spPr bwMode="auto">
            <a:xfrm flipV="1">
              <a:off x="4672" y="91"/>
              <a:ext cx="0" cy="363"/>
            </a:xfrm>
            <a:prstGeom prst="line">
              <a:avLst/>
            </a:prstGeom>
            <a:noFill/>
            <a:ln w="28575">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5365" name="Text Box 12"/>
          <p:cNvSpPr txBox="1">
            <a:spLocks noChangeArrowheads="1"/>
          </p:cNvSpPr>
          <p:nvPr/>
        </p:nvSpPr>
        <p:spPr bwMode="auto">
          <a:xfrm>
            <a:off x="3790405" y="2396017"/>
            <a:ext cx="3992563" cy="400110"/>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不可显示字符用点“.”表示</a:t>
            </a:r>
          </a:p>
        </p:txBody>
      </p:sp>
      <p:sp>
        <p:nvSpPr>
          <p:cNvPr id="15"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fade">
                                      <p:cBhvr>
                                        <p:cTn id="7" dur="500"/>
                                        <p:tgtEl>
                                          <p:spTgt spid="1536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363">
                                            <p:txEl>
                                              <p:pRg st="0" end="0"/>
                                            </p:txEl>
                                          </p:spTgt>
                                        </p:tgtEl>
                                        <p:attrNameLst>
                                          <p:attrName>style.visibility</p:attrName>
                                        </p:attrNameLst>
                                      </p:cBhvr>
                                      <p:to>
                                        <p:strVal val="visible"/>
                                      </p:to>
                                    </p:set>
                                    <p:animEffect transition="in" filter="fade">
                                      <p:cBhvr>
                                        <p:cTn id="10" dur="500"/>
                                        <p:tgtEl>
                                          <p:spTgt spid="1536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5363">
                                            <p:txEl>
                                              <p:pRg st="1" end="1"/>
                                            </p:txEl>
                                          </p:spTgt>
                                        </p:tgtEl>
                                        <p:attrNameLst>
                                          <p:attrName>style.visibility</p:attrName>
                                        </p:attrNameLst>
                                      </p:cBhvr>
                                      <p:to>
                                        <p:strVal val="visible"/>
                                      </p:to>
                                    </p:set>
                                    <p:animEffect transition="in" filter="fade">
                                      <p:cBhvr>
                                        <p:cTn id="15" dur="500"/>
                                        <p:tgtEl>
                                          <p:spTgt spid="1536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363">
                                            <p:txEl>
                                              <p:pRg st="2" end="2"/>
                                            </p:txEl>
                                          </p:spTgt>
                                        </p:tgtEl>
                                        <p:attrNameLst>
                                          <p:attrName>style.visibility</p:attrName>
                                        </p:attrNameLst>
                                      </p:cBhvr>
                                      <p:to>
                                        <p:strVal val="visible"/>
                                      </p:to>
                                    </p:set>
                                    <p:animEffect transition="in" filter="fade">
                                      <p:cBhvr>
                                        <p:cTn id="20" dur="500"/>
                                        <p:tgtEl>
                                          <p:spTgt spid="1536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Effect transition="in" filter="fade">
                                      <p:cBhvr>
                                        <p:cTn id="25" dur="500"/>
                                        <p:tgtEl>
                                          <p:spTgt spid="1536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363">
                                            <p:txEl>
                                              <p:pRg st="4" end="4"/>
                                            </p:txEl>
                                          </p:spTgt>
                                        </p:tgtEl>
                                        <p:attrNameLst>
                                          <p:attrName>style.visibility</p:attrName>
                                        </p:attrNameLst>
                                      </p:cBhvr>
                                      <p:to>
                                        <p:strVal val="visible"/>
                                      </p:to>
                                    </p:set>
                                    <p:animEffect transition="in" filter="fade">
                                      <p:cBhvr>
                                        <p:cTn id="30" dur="500"/>
                                        <p:tgtEl>
                                          <p:spTgt spid="15363">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363">
                                            <p:txEl>
                                              <p:pRg st="5" end="5"/>
                                            </p:txEl>
                                          </p:spTgt>
                                        </p:tgtEl>
                                        <p:attrNameLst>
                                          <p:attrName>style.visibility</p:attrName>
                                        </p:attrNameLst>
                                      </p:cBhvr>
                                      <p:to>
                                        <p:strVal val="visible"/>
                                      </p:to>
                                    </p:set>
                                    <p:animEffect transition="in" filter="fade">
                                      <p:cBhvr>
                                        <p:cTn id="35" dur="500"/>
                                        <p:tgtEl>
                                          <p:spTgt spid="1536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365"/>
                                        </p:tgtEl>
                                        <p:attrNameLst>
                                          <p:attrName>style.visibility</p:attrName>
                                        </p:attrNameLst>
                                      </p:cBhvr>
                                      <p:to>
                                        <p:strVal val="visible"/>
                                      </p:to>
                                    </p:set>
                                    <p:animEffect transition="in" filter="wipe(left)">
                                      <p:cBhvr>
                                        <p:cTn id="40" dur="500"/>
                                        <p:tgtEl>
                                          <p:spTgt spid="15365"/>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5364"/>
                                        </p:tgtEl>
                                        <p:attrNameLst>
                                          <p:attrName>style.visibility</p:attrName>
                                        </p:attrNameLst>
                                      </p:cBhvr>
                                      <p:to>
                                        <p:strVal val="visible"/>
                                      </p:to>
                                    </p:set>
                                    <p:animEffect transition="in" filter="fade">
                                      <p:cBhvr>
                                        <p:cTn id="45" dur="500"/>
                                        <p:tgtEl>
                                          <p:spTgt spid="15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ldLvl="0" animBg="1"/>
      <p:bldP spid="15363" grpId="0" build="p"/>
      <p:bldP spid="15365"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39552" y="1455366"/>
            <a:ext cx="8229600" cy="749498"/>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修改命令E（Enter）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387" name="Rectangle 3"/>
          <p:cNvSpPr>
            <a:spLocks noGrp="1" noChangeArrowheads="1"/>
          </p:cNvSpPr>
          <p:nvPr>
            <p:ph type="body" idx="1"/>
          </p:nvPr>
        </p:nvSpPr>
        <p:spPr>
          <a:xfrm>
            <a:off x="683568" y="2221361"/>
            <a:ext cx="8229600" cy="3312368"/>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E命令用于修改主存内容，有两种格式：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E 地址</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；格式1，修改指定地址的内容</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E 地址 </a:t>
            </a:r>
            <a:r>
              <a:rPr lang="en-US"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数据表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；格式2，用数据表的数据修改指定地			；址的内容</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格式1，是逐个单元相继修改的方法。例如：键入</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e ds:100</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DEBUG显示原来内容，用户可以直接输入新数据，然后按</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空格键显示下一个单元的内容</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，或者按</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“－”键显示上一个单元的内容</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；不需要修改可以直接按空格或“－”键；这样，用户可以不断修改相继单元的内容，</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直到用回车键结束该命令为止</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fade">
                                      <p:cBhvr>
                                        <p:cTn id="7" dur="500"/>
                                        <p:tgtEl>
                                          <p:spTgt spid="1638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387">
                                            <p:txEl>
                                              <p:pRg st="0" end="0"/>
                                            </p:txEl>
                                          </p:spTgt>
                                        </p:tgtEl>
                                        <p:attrNameLst>
                                          <p:attrName>style.visibility</p:attrName>
                                        </p:attrNameLst>
                                      </p:cBhvr>
                                      <p:to>
                                        <p:strVal val="visible"/>
                                      </p:to>
                                    </p:set>
                                    <p:animEffect transition="in" filter="fade">
                                      <p:cBhvr>
                                        <p:cTn id="10" dur="500"/>
                                        <p:tgtEl>
                                          <p:spTgt spid="1638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387">
                                            <p:txEl>
                                              <p:pRg st="1" end="1"/>
                                            </p:txEl>
                                          </p:spTgt>
                                        </p:tgtEl>
                                        <p:attrNameLst>
                                          <p:attrName>style.visibility</p:attrName>
                                        </p:attrNameLst>
                                      </p:cBhvr>
                                      <p:to>
                                        <p:strVal val="visible"/>
                                      </p:to>
                                    </p:set>
                                    <p:animEffect transition="in" filter="fade">
                                      <p:cBhvr>
                                        <p:cTn id="15" dur="500"/>
                                        <p:tgtEl>
                                          <p:spTgt spid="1638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387">
                                            <p:txEl>
                                              <p:pRg st="2" end="2"/>
                                            </p:txEl>
                                          </p:spTgt>
                                        </p:tgtEl>
                                        <p:attrNameLst>
                                          <p:attrName>style.visibility</p:attrName>
                                        </p:attrNameLst>
                                      </p:cBhvr>
                                      <p:to>
                                        <p:strVal val="visible"/>
                                      </p:to>
                                    </p:set>
                                    <p:animEffect transition="in" filter="fade">
                                      <p:cBhvr>
                                        <p:cTn id="20" dur="500"/>
                                        <p:tgtEl>
                                          <p:spTgt spid="1638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387">
                                            <p:txEl>
                                              <p:pRg st="3" end="3"/>
                                            </p:txEl>
                                          </p:spTgt>
                                        </p:tgtEl>
                                        <p:attrNameLst>
                                          <p:attrName>style.visibility</p:attrName>
                                        </p:attrNameLst>
                                      </p:cBhvr>
                                      <p:to>
                                        <p:strVal val="visible"/>
                                      </p:to>
                                    </p:set>
                                    <p:animEffect transition="in" filter="fade">
                                      <p:cBhvr>
                                        <p:cTn id="25" dur="500"/>
                                        <p:tgtEl>
                                          <p:spTgt spid="1638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6387">
                                            <p:txEl>
                                              <p:pRg st="4" end="4"/>
                                            </p:txEl>
                                          </p:spTgt>
                                        </p:tgtEl>
                                        <p:attrNameLst>
                                          <p:attrName>style.visibility</p:attrName>
                                        </p:attrNameLst>
                                      </p:cBhvr>
                                      <p:to>
                                        <p:strVal val="visible"/>
                                      </p:to>
                                    </p:set>
                                    <p:animEffect transition="in" filter="fade">
                                      <p:cBhvr>
                                        <p:cTn id="30" dur="500"/>
                                        <p:tgtEl>
                                          <p:spTgt spid="16387">
                                            <p:txEl>
                                              <p:pRg st="4" end="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387">
                                            <p:txEl>
                                              <p:pRg st="5" end="5"/>
                                            </p:txEl>
                                          </p:spTgt>
                                        </p:tgtEl>
                                        <p:attrNameLst>
                                          <p:attrName>style.visibility</p:attrName>
                                        </p:attrNameLst>
                                      </p:cBhvr>
                                      <p:to>
                                        <p:strVal val="visible"/>
                                      </p:to>
                                    </p:set>
                                    <p:animEffect transition="in" filter="fade">
                                      <p:cBhvr>
                                        <p:cTn id="33" dur="500"/>
                                        <p:tgtEl>
                                          <p:spTgt spid="163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ldLvl="0" animBg="1"/>
      <p:bldP spid="16387"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23528" y="1628800"/>
            <a:ext cx="8229600" cy="648072"/>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修改命令E（Enter）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411" name="Rectangle 3"/>
          <p:cNvSpPr>
            <a:spLocks noGrp="1" noChangeArrowheads="1"/>
          </p:cNvSpPr>
          <p:nvPr>
            <p:ph type="body" idx="1"/>
          </p:nvPr>
        </p:nvSpPr>
        <p:spPr>
          <a:xfrm>
            <a:off x="457200" y="2492896"/>
            <a:ext cx="8229600" cy="4525963"/>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格式2，可以一次修改多个单元，例如：</a:t>
            </a:r>
          </a:p>
          <a:p>
            <a:r>
              <a:rPr lang="zh-CN" altLang="zh-CN" sz="2000"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－e ds:100 F3’XYZ’8D	</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；用F3/’X’/’Y’/’Z’/8D这4个数据替代DS:0100~0104的原来内容</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若是数字，要用分隔符（空格或逗号）隔开。例如：</a:t>
            </a:r>
          </a:p>
          <a:p>
            <a:r>
              <a:rPr lang="zh-CN" altLang="zh-CN" sz="2000" dirty="0">
                <a:solidFill>
                  <a:srgbClr val="CC6600"/>
                </a:solidFill>
                <a:latin typeface="Times New Roman" panose="02020603050405020304" pitchFamily="18" charset="0"/>
                <a:ea typeface="微软雅黑" panose="020B0503020204020204" pitchFamily="34" charset="-122"/>
                <a:cs typeface="Times New Roman" panose="02020603050405020304" pitchFamily="18" charset="0"/>
              </a:rPr>
              <a:t>－e ds:100 F3 78 78 7A 8D</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wipe(left)">
                                      <p:cBhvr>
                                        <p:cTn id="12" dur="500"/>
                                        <p:tgtEl>
                                          <p:spTgt spid="174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1">
                                            <p:txEl>
                                              <p:pRg st="1" end="1"/>
                                            </p:txEl>
                                          </p:spTgt>
                                        </p:tgtEl>
                                        <p:attrNameLst>
                                          <p:attrName>style.visibility</p:attrName>
                                        </p:attrNameLst>
                                      </p:cBhvr>
                                      <p:to>
                                        <p:strVal val="visible"/>
                                      </p:to>
                                    </p:set>
                                    <p:animEffect transition="in" filter="wipe(left)">
                                      <p:cBhvr>
                                        <p:cTn id="17" dur="500"/>
                                        <p:tgtEl>
                                          <p:spTgt spid="174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11">
                                            <p:txEl>
                                              <p:pRg st="2" end="2"/>
                                            </p:txEl>
                                          </p:spTgt>
                                        </p:tgtEl>
                                        <p:attrNameLst>
                                          <p:attrName>style.visibility</p:attrName>
                                        </p:attrNameLst>
                                      </p:cBhvr>
                                      <p:to>
                                        <p:strVal val="visible"/>
                                      </p:to>
                                    </p:set>
                                    <p:animEffect transition="in" filter="wipe(left)">
                                      <p:cBhvr>
                                        <p:cTn id="22" dur="500"/>
                                        <p:tgtEl>
                                          <p:spTgt spid="1741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411">
                                            <p:txEl>
                                              <p:pRg st="3" end="3"/>
                                            </p:txEl>
                                          </p:spTgt>
                                        </p:tgtEl>
                                        <p:attrNameLst>
                                          <p:attrName>style.visibility</p:attrName>
                                        </p:attrNameLst>
                                      </p:cBhvr>
                                      <p:to>
                                        <p:strVal val="visible"/>
                                      </p:to>
                                    </p:set>
                                    <p:animEffect transition="in" filter="wipe(left)">
                                      <p:cBhvr>
                                        <p:cTn id="27" dur="500"/>
                                        <p:tgtEl>
                                          <p:spTgt spid="1741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411">
                                            <p:txEl>
                                              <p:pRg st="4" end="4"/>
                                            </p:txEl>
                                          </p:spTgt>
                                        </p:tgtEl>
                                        <p:attrNameLst>
                                          <p:attrName>style.visibility</p:attrName>
                                        </p:attrNameLst>
                                      </p:cBhvr>
                                      <p:to>
                                        <p:strVal val="visible"/>
                                      </p:to>
                                    </p:set>
                                    <p:animEffect transition="in" filter="wipe(left)">
                                      <p:cBhvr>
                                        <p:cTn id="32" dur="500"/>
                                        <p:tgtEl>
                                          <p:spTgt spid="174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bldLvl="0" animBg="1"/>
      <p:bldP spid="17411"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571935"/>
            <a:ext cx="8229600" cy="720080"/>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填充命令F（Fill）</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435" name="Rectangle 3"/>
          <p:cNvSpPr>
            <a:spLocks noGrp="1" noChangeArrowheads="1"/>
          </p:cNvSpPr>
          <p:nvPr>
            <p:ph type="body" idx="1"/>
          </p:nvPr>
        </p:nvSpPr>
        <p:spPr>
          <a:xfrm>
            <a:off x="457200" y="2292015"/>
            <a:ext cx="8229600" cy="4525963"/>
          </a:xfrm>
        </p:spPr>
        <p:txBody>
          <a:bodyPr/>
          <a:lstStyle/>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F命令用于对一个主存区域填写内容，同时改写原来的内容，其格式为：</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accent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F          范围         数据表</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该命令用数据表写入指定范围的主存。</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如果数据个数超过了指定的范围，则忽略多出的项；</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如果数据个数小于指定的范围，则重复使用这些数据，直到填满指定范围。</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例如：</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dirty="0">
                <a:solidFill>
                  <a:schemeClr val="accent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－F 0137:0100 0106 1, 2, 3, 4, 4, 6, 7</a:t>
            </a:r>
          </a:p>
          <a:p>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命令执行后可用－D 0137：0100 0106来显示。</a:t>
            </a:r>
          </a:p>
        </p:txBody>
      </p:sp>
      <p:grpSp>
        <p:nvGrpSpPr>
          <p:cNvPr id="17412" name="Group 4"/>
          <p:cNvGrpSpPr/>
          <p:nvPr/>
        </p:nvGrpSpPr>
        <p:grpSpPr bwMode="auto">
          <a:xfrm>
            <a:off x="4186238" y="2852936"/>
            <a:ext cx="4173537" cy="687388"/>
            <a:chOff x="0" y="0"/>
            <a:chExt cx="2629" cy="433"/>
          </a:xfrm>
        </p:grpSpPr>
        <p:sp>
          <p:nvSpPr>
            <p:cNvPr id="18437" name="Line 5"/>
            <p:cNvSpPr>
              <a:spLocks noChangeShapeType="1"/>
            </p:cNvSpPr>
            <p:nvPr/>
          </p:nvSpPr>
          <p:spPr bwMode="auto">
            <a:xfrm flipH="1" flipV="1">
              <a:off x="409" y="272"/>
              <a:ext cx="1088" cy="136"/>
            </a:xfrm>
            <a:prstGeom prst="line">
              <a:avLst/>
            </a:prstGeom>
            <a:noFill/>
            <a:ln w="28575">
              <a:solidFill>
                <a:schemeClr val="folHlink"/>
              </a:solidFill>
              <a:round/>
              <a:head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438" name="Text Box 6"/>
            <p:cNvSpPr txBox="1">
              <a:spLocks noChangeArrowheads="1"/>
            </p:cNvSpPr>
            <p:nvPr/>
          </p:nvSpPr>
          <p:spPr bwMode="auto">
            <a:xfrm>
              <a:off x="1543" y="181"/>
              <a:ext cx="1086"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逻辑地址形式</a:t>
              </a:r>
            </a:p>
          </p:txBody>
        </p:sp>
        <p:sp>
          <p:nvSpPr>
            <p:cNvPr id="18439" name="Oval 7"/>
            <p:cNvSpPr>
              <a:spLocks noChangeArrowheads="1"/>
            </p:cNvSpPr>
            <p:nvPr/>
          </p:nvSpPr>
          <p:spPr bwMode="auto">
            <a:xfrm>
              <a:off x="0" y="0"/>
              <a:ext cx="499" cy="317"/>
            </a:xfrm>
            <a:prstGeom prst="ellipse">
              <a:avLst/>
            </a:prstGeom>
            <a:noFill/>
            <a:ln w="28575">
              <a:solidFill>
                <a:schemeClr val="accent2"/>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0"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4"/>
                                        </p:tgtEl>
                                        <p:attrNameLst>
                                          <p:attrName>style.visibility</p:attrName>
                                        </p:attrNameLst>
                                      </p:cBhvr>
                                      <p:to>
                                        <p:strVal val="visible"/>
                                      </p:to>
                                    </p:set>
                                    <p:animEffect transition="in" filter="fade">
                                      <p:cBhvr>
                                        <p:cTn id="7" dur="5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435">
                                            <p:txEl>
                                              <p:pRg st="0" end="0"/>
                                            </p:txEl>
                                          </p:spTgt>
                                        </p:tgtEl>
                                        <p:attrNameLst>
                                          <p:attrName>style.visibility</p:attrName>
                                        </p:attrNameLst>
                                      </p:cBhvr>
                                      <p:to>
                                        <p:strVal val="visible"/>
                                      </p:to>
                                    </p:set>
                                    <p:animEffect transition="in" filter="fade">
                                      <p:cBhvr>
                                        <p:cTn id="12" dur="500"/>
                                        <p:tgtEl>
                                          <p:spTgt spid="1843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435">
                                            <p:txEl>
                                              <p:pRg st="1" end="1"/>
                                            </p:txEl>
                                          </p:spTgt>
                                        </p:tgtEl>
                                        <p:attrNameLst>
                                          <p:attrName>style.visibility</p:attrName>
                                        </p:attrNameLst>
                                      </p:cBhvr>
                                      <p:to>
                                        <p:strVal val="visible"/>
                                      </p:to>
                                    </p:set>
                                    <p:animEffect transition="in" filter="fade">
                                      <p:cBhvr>
                                        <p:cTn id="17" dur="500"/>
                                        <p:tgtEl>
                                          <p:spTgt spid="1843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435">
                                            <p:txEl>
                                              <p:pRg st="2" end="2"/>
                                            </p:txEl>
                                          </p:spTgt>
                                        </p:tgtEl>
                                        <p:attrNameLst>
                                          <p:attrName>style.visibility</p:attrName>
                                        </p:attrNameLst>
                                      </p:cBhvr>
                                      <p:to>
                                        <p:strVal val="visible"/>
                                      </p:to>
                                    </p:set>
                                    <p:animEffect transition="in" filter="fade">
                                      <p:cBhvr>
                                        <p:cTn id="22" dur="500"/>
                                        <p:tgtEl>
                                          <p:spTgt spid="1843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8435">
                                            <p:txEl>
                                              <p:pRg st="3" end="3"/>
                                            </p:txEl>
                                          </p:spTgt>
                                        </p:tgtEl>
                                        <p:attrNameLst>
                                          <p:attrName>style.visibility</p:attrName>
                                        </p:attrNameLst>
                                      </p:cBhvr>
                                      <p:to>
                                        <p:strVal val="visible"/>
                                      </p:to>
                                    </p:set>
                                    <p:animEffect transition="in" filter="fade">
                                      <p:cBhvr>
                                        <p:cTn id="27" dur="500"/>
                                        <p:tgtEl>
                                          <p:spTgt spid="1843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435">
                                            <p:txEl>
                                              <p:pRg st="4" end="4"/>
                                            </p:txEl>
                                          </p:spTgt>
                                        </p:tgtEl>
                                        <p:attrNameLst>
                                          <p:attrName>style.visibility</p:attrName>
                                        </p:attrNameLst>
                                      </p:cBhvr>
                                      <p:to>
                                        <p:strVal val="visible"/>
                                      </p:to>
                                    </p:set>
                                    <p:animEffect transition="in" filter="fade">
                                      <p:cBhvr>
                                        <p:cTn id="32" dur="500"/>
                                        <p:tgtEl>
                                          <p:spTgt spid="18435">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435">
                                            <p:txEl>
                                              <p:pRg st="5" end="5"/>
                                            </p:txEl>
                                          </p:spTgt>
                                        </p:tgtEl>
                                        <p:attrNameLst>
                                          <p:attrName>style.visibility</p:attrName>
                                        </p:attrNameLst>
                                      </p:cBhvr>
                                      <p:to>
                                        <p:strVal val="visible"/>
                                      </p:to>
                                    </p:set>
                                    <p:animEffect transition="in" filter="fade">
                                      <p:cBhvr>
                                        <p:cTn id="37" dur="500"/>
                                        <p:tgtEl>
                                          <p:spTgt spid="18435">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8435">
                                            <p:txEl>
                                              <p:pRg st="6" end="6"/>
                                            </p:txEl>
                                          </p:spTgt>
                                        </p:tgtEl>
                                        <p:attrNameLst>
                                          <p:attrName>style.visibility</p:attrName>
                                        </p:attrNameLst>
                                      </p:cBhvr>
                                      <p:to>
                                        <p:strVal val="visible"/>
                                      </p:to>
                                    </p:set>
                                    <p:animEffect transition="in" filter="fade">
                                      <p:cBhvr>
                                        <p:cTn id="42" dur="500"/>
                                        <p:tgtEl>
                                          <p:spTgt spid="18435">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435">
                                            <p:txEl>
                                              <p:pRg st="7" end="7"/>
                                            </p:txEl>
                                          </p:spTgt>
                                        </p:tgtEl>
                                        <p:attrNameLst>
                                          <p:attrName>style.visibility</p:attrName>
                                        </p:attrNameLst>
                                      </p:cBhvr>
                                      <p:to>
                                        <p:strVal val="visible"/>
                                      </p:to>
                                    </p:set>
                                    <p:animEffect transition="in" filter="fade">
                                      <p:cBhvr>
                                        <p:cTn id="47" dur="500"/>
                                        <p:tgtEl>
                                          <p:spTgt spid="18435">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17412"/>
                                        </p:tgtEl>
                                        <p:attrNameLst>
                                          <p:attrName>style.visibility</p:attrName>
                                        </p:attrNameLst>
                                      </p:cBhvr>
                                      <p:to>
                                        <p:strVal val="visible"/>
                                      </p:to>
                                    </p:set>
                                    <p:animEffect transition="in" filter="dissolve">
                                      <p:cBhvr>
                                        <p:cTn id="52" dur="5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0" animBg="1"/>
      <p:bldP spid="18435"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74650" y="1484784"/>
            <a:ext cx="8229600" cy="576064"/>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寄存器命令R（Register）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459" name="Rectangle 3"/>
          <p:cNvSpPr>
            <a:spLocks noGrp="1" noChangeArrowheads="1"/>
          </p:cNvSpPr>
          <p:nvPr>
            <p:ph type="body" idx="1"/>
          </p:nvPr>
        </p:nvSpPr>
        <p:spPr>
          <a:xfrm>
            <a:off x="440432" y="2063985"/>
            <a:ext cx="8621018" cy="4525963"/>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R命令用于显示和修改处理器的寄存器，它有三种格式：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R			;格式1，显示所有寄存器内容和标志位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；状态</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R  寄存器名	</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；格式2，显示和修改指定寄存器</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RF			；格式3，显示和修改标志位</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格式1，例如，当刚进入DEBUG时，就可以执行该命令，显示示例如下：</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R</a:t>
            </a: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AX=0000 BX=0000 CX=010A DX=0000 SP=FFFE BP=0000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SI=0000 DI=0000 DS=18E4 ES=18E4 SS=18E4 IP=0100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NV UP DI PL NZ NA PO NC</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18E4:0100 C70604023801 MOV WORD PTR[0204],0138 DS:0204=0000</a:t>
            </a:r>
          </a:p>
        </p:txBody>
      </p:sp>
      <p:sp>
        <p:nvSpPr>
          <p:cNvPr id="19460" name="Rectangle 4"/>
          <p:cNvSpPr>
            <a:spLocks noChangeArrowheads="1"/>
          </p:cNvSpPr>
          <p:nvPr/>
        </p:nvSpPr>
        <p:spPr bwMode="auto">
          <a:xfrm>
            <a:off x="539749" y="4581525"/>
            <a:ext cx="8220869" cy="1055775"/>
          </a:xfrm>
          <a:prstGeom prst="rect">
            <a:avLst/>
          </a:prstGeom>
          <a:noFill/>
          <a:ln w="2857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461" name="Rectangle 5"/>
          <p:cNvSpPr>
            <a:spLocks noChangeArrowheads="1"/>
          </p:cNvSpPr>
          <p:nvPr/>
        </p:nvSpPr>
        <p:spPr bwMode="auto">
          <a:xfrm>
            <a:off x="539750" y="5661942"/>
            <a:ext cx="6264275" cy="287338"/>
          </a:xfrm>
          <a:prstGeom prst="rect">
            <a:avLst/>
          </a:prstGeom>
          <a:noFill/>
          <a:ln w="28575">
            <a:solidFill>
              <a:schemeClr val="accent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9462" name="Rectangle 6"/>
          <p:cNvSpPr>
            <a:spLocks noChangeArrowheads="1"/>
          </p:cNvSpPr>
          <p:nvPr/>
        </p:nvSpPr>
        <p:spPr bwMode="auto">
          <a:xfrm>
            <a:off x="7104856" y="5668728"/>
            <a:ext cx="1655763" cy="287338"/>
          </a:xfrm>
          <a:prstGeom prst="rect">
            <a:avLst/>
          </a:prstGeom>
          <a:noFill/>
          <a:ln w="28575">
            <a:solidFill>
              <a:schemeClr val="fo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8439" name="Text Box 7"/>
          <p:cNvSpPr txBox="1">
            <a:spLocks noChangeArrowheads="1"/>
          </p:cNvSpPr>
          <p:nvPr/>
        </p:nvSpPr>
        <p:spPr bwMode="auto">
          <a:xfrm>
            <a:off x="4246563" y="5237190"/>
            <a:ext cx="4357688" cy="400110"/>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所有寄存器的值，包括各个标志状态</a:t>
            </a:r>
          </a:p>
        </p:txBody>
      </p:sp>
      <p:sp>
        <p:nvSpPr>
          <p:cNvPr id="18440" name="Text Box 8"/>
          <p:cNvSpPr txBox="1">
            <a:spLocks noChangeArrowheads="1"/>
          </p:cNvSpPr>
          <p:nvPr/>
        </p:nvSpPr>
        <p:spPr bwMode="auto">
          <a:xfrm>
            <a:off x="577225" y="6073721"/>
            <a:ext cx="3130673" cy="400110"/>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当前CS:IP处的指令</a:t>
            </a:r>
          </a:p>
        </p:txBody>
      </p:sp>
      <p:sp>
        <p:nvSpPr>
          <p:cNvPr id="18441" name="Text Box 9"/>
          <p:cNvSpPr txBox="1">
            <a:spLocks noChangeArrowheads="1"/>
          </p:cNvSpPr>
          <p:nvPr/>
        </p:nvSpPr>
        <p:spPr bwMode="auto">
          <a:xfrm>
            <a:off x="6948266" y="6138925"/>
            <a:ext cx="2113185" cy="400110"/>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相应单元的内容</a:t>
            </a:r>
          </a:p>
        </p:txBody>
      </p:sp>
      <p:sp>
        <p:nvSpPr>
          <p:cNvPr id="18442" name="Line 10"/>
          <p:cNvSpPr>
            <a:spLocks noChangeShapeType="1"/>
          </p:cNvSpPr>
          <p:nvPr/>
        </p:nvSpPr>
        <p:spPr bwMode="auto">
          <a:xfrm>
            <a:off x="7884368" y="5956066"/>
            <a:ext cx="0" cy="215900"/>
          </a:xfrm>
          <a:prstGeom prst="line">
            <a:avLst/>
          </a:prstGeom>
          <a:noFill/>
          <a:ln w="28575">
            <a:solidFill>
              <a:schemeClr val="accent2"/>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3"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fade">
                                      <p:cBhvr>
                                        <p:cTn id="7" dur="5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xEl>
                                              <p:pRg st="0" end="0"/>
                                            </p:txEl>
                                          </p:spTgt>
                                        </p:tgtEl>
                                        <p:attrNameLst>
                                          <p:attrName>style.visibility</p:attrName>
                                        </p:attrNameLst>
                                      </p:cBhvr>
                                      <p:to>
                                        <p:strVal val="visible"/>
                                      </p:to>
                                    </p:set>
                                    <p:animEffect transition="in" filter="fade">
                                      <p:cBhvr>
                                        <p:cTn id="12" dur="500"/>
                                        <p:tgtEl>
                                          <p:spTgt spid="19459">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9459">
                                            <p:txEl>
                                              <p:pRg st="1" end="1"/>
                                            </p:txEl>
                                          </p:spTgt>
                                        </p:tgtEl>
                                        <p:attrNameLst>
                                          <p:attrName>style.visibility</p:attrName>
                                        </p:attrNameLst>
                                      </p:cBhvr>
                                      <p:to>
                                        <p:strVal val="visible"/>
                                      </p:to>
                                    </p:set>
                                    <p:animEffect transition="in" filter="fade">
                                      <p:cBhvr>
                                        <p:cTn id="15" dur="500"/>
                                        <p:tgtEl>
                                          <p:spTgt spid="19459">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9459">
                                            <p:txEl>
                                              <p:pRg st="2" end="2"/>
                                            </p:txEl>
                                          </p:spTgt>
                                        </p:tgtEl>
                                        <p:attrNameLst>
                                          <p:attrName>style.visibility</p:attrName>
                                        </p:attrNameLst>
                                      </p:cBhvr>
                                      <p:to>
                                        <p:strVal val="visible"/>
                                      </p:to>
                                    </p:set>
                                    <p:animEffect transition="in" filter="fade">
                                      <p:cBhvr>
                                        <p:cTn id="18" dur="500"/>
                                        <p:tgtEl>
                                          <p:spTgt spid="19459">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9459">
                                            <p:txEl>
                                              <p:pRg st="3" end="3"/>
                                            </p:txEl>
                                          </p:spTgt>
                                        </p:tgtEl>
                                        <p:attrNameLst>
                                          <p:attrName>style.visibility</p:attrName>
                                        </p:attrNameLst>
                                      </p:cBhvr>
                                      <p:to>
                                        <p:strVal val="visible"/>
                                      </p:to>
                                    </p:set>
                                    <p:animEffect transition="in" filter="fade">
                                      <p:cBhvr>
                                        <p:cTn id="21" dur="500"/>
                                        <p:tgtEl>
                                          <p:spTgt spid="1945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9459">
                                            <p:txEl>
                                              <p:pRg st="4" end="4"/>
                                            </p:txEl>
                                          </p:spTgt>
                                        </p:tgtEl>
                                        <p:attrNameLst>
                                          <p:attrName>style.visibility</p:attrName>
                                        </p:attrNameLst>
                                      </p:cBhvr>
                                      <p:to>
                                        <p:strVal val="visible"/>
                                      </p:to>
                                    </p:set>
                                    <p:animEffect transition="in" filter="fade">
                                      <p:cBhvr>
                                        <p:cTn id="26" dur="500"/>
                                        <p:tgtEl>
                                          <p:spTgt spid="19459">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9459">
                                            <p:txEl>
                                              <p:pRg st="5" end="5"/>
                                            </p:txEl>
                                          </p:spTgt>
                                        </p:tgtEl>
                                        <p:attrNameLst>
                                          <p:attrName>style.visibility</p:attrName>
                                        </p:attrNameLst>
                                      </p:cBhvr>
                                      <p:to>
                                        <p:strVal val="visible"/>
                                      </p:to>
                                    </p:set>
                                    <p:animEffect transition="in" filter="fade">
                                      <p:cBhvr>
                                        <p:cTn id="29" dur="500"/>
                                        <p:tgtEl>
                                          <p:spTgt spid="19459">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9459">
                                            <p:txEl>
                                              <p:pRg st="6" end="6"/>
                                            </p:txEl>
                                          </p:spTgt>
                                        </p:tgtEl>
                                        <p:attrNameLst>
                                          <p:attrName>style.visibility</p:attrName>
                                        </p:attrNameLst>
                                      </p:cBhvr>
                                      <p:to>
                                        <p:strVal val="visible"/>
                                      </p:to>
                                    </p:set>
                                    <p:animEffect transition="in" filter="fade">
                                      <p:cBhvr>
                                        <p:cTn id="32" dur="500"/>
                                        <p:tgtEl>
                                          <p:spTgt spid="19459">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9459">
                                            <p:txEl>
                                              <p:pRg st="7" end="7"/>
                                            </p:txEl>
                                          </p:spTgt>
                                        </p:tgtEl>
                                        <p:attrNameLst>
                                          <p:attrName>style.visibility</p:attrName>
                                        </p:attrNameLst>
                                      </p:cBhvr>
                                      <p:to>
                                        <p:strVal val="visible"/>
                                      </p:to>
                                    </p:set>
                                    <p:animEffect transition="in" filter="fade">
                                      <p:cBhvr>
                                        <p:cTn id="35" dur="500"/>
                                        <p:tgtEl>
                                          <p:spTgt spid="19459">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9459">
                                            <p:txEl>
                                              <p:pRg st="8" end="8"/>
                                            </p:txEl>
                                          </p:spTgt>
                                        </p:tgtEl>
                                        <p:attrNameLst>
                                          <p:attrName>style.visibility</p:attrName>
                                        </p:attrNameLst>
                                      </p:cBhvr>
                                      <p:to>
                                        <p:strVal val="visible"/>
                                      </p:to>
                                    </p:set>
                                    <p:animEffect transition="in" filter="fade">
                                      <p:cBhvr>
                                        <p:cTn id="38" dur="500"/>
                                        <p:tgtEl>
                                          <p:spTgt spid="19459">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9460"/>
                                        </p:tgtEl>
                                        <p:attrNameLst>
                                          <p:attrName>style.visibility</p:attrName>
                                        </p:attrNameLst>
                                      </p:cBhvr>
                                      <p:to>
                                        <p:strVal val="visible"/>
                                      </p:to>
                                    </p:set>
                                    <p:animEffect transition="in" filter="fade">
                                      <p:cBhvr>
                                        <p:cTn id="43" dur="500"/>
                                        <p:tgtEl>
                                          <p:spTgt spid="19460"/>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8439"/>
                                        </p:tgtEl>
                                        <p:attrNameLst>
                                          <p:attrName>style.visibility</p:attrName>
                                        </p:attrNameLst>
                                      </p:cBhvr>
                                      <p:to>
                                        <p:strVal val="visible"/>
                                      </p:to>
                                    </p:set>
                                    <p:animEffect transition="in" filter="dissolve">
                                      <p:cBhvr>
                                        <p:cTn id="46" dur="500"/>
                                        <p:tgtEl>
                                          <p:spTgt spid="1843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9461"/>
                                        </p:tgtEl>
                                        <p:attrNameLst>
                                          <p:attrName>style.visibility</p:attrName>
                                        </p:attrNameLst>
                                      </p:cBhvr>
                                      <p:to>
                                        <p:strVal val="visible"/>
                                      </p:to>
                                    </p:set>
                                    <p:animEffect transition="in" filter="fade">
                                      <p:cBhvr>
                                        <p:cTn id="51" dur="500"/>
                                        <p:tgtEl>
                                          <p:spTgt spid="19461"/>
                                        </p:tgtEl>
                                      </p:cBhvr>
                                    </p:animEffect>
                                  </p:childTnLst>
                                </p:cTn>
                              </p:par>
                            </p:childTnLst>
                          </p:cTn>
                        </p:par>
                        <p:par>
                          <p:cTn id="52" fill="hold">
                            <p:stCondLst>
                              <p:cond delay="500"/>
                            </p:stCondLst>
                            <p:childTnLst>
                              <p:par>
                                <p:cTn id="53" presetID="9" presetClass="entr" presetSubtype="0" fill="hold" grpId="0" nodeType="afterEffect">
                                  <p:stCondLst>
                                    <p:cond delay="0"/>
                                  </p:stCondLst>
                                  <p:childTnLst>
                                    <p:set>
                                      <p:cBhvr>
                                        <p:cTn id="54" dur="1" fill="hold">
                                          <p:stCondLst>
                                            <p:cond delay="0"/>
                                          </p:stCondLst>
                                        </p:cTn>
                                        <p:tgtEl>
                                          <p:spTgt spid="18440"/>
                                        </p:tgtEl>
                                        <p:attrNameLst>
                                          <p:attrName>style.visibility</p:attrName>
                                        </p:attrNameLst>
                                      </p:cBhvr>
                                      <p:to>
                                        <p:strVal val="visible"/>
                                      </p:to>
                                    </p:set>
                                    <p:animEffect transition="in" filter="dissolve">
                                      <p:cBhvr>
                                        <p:cTn id="55" dur="500"/>
                                        <p:tgtEl>
                                          <p:spTgt spid="1844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462"/>
                                        </p:tgtEl>
                                        <p:attrNameLst>
                                          <p:attrName>style.visibility</p:attrName>
                                        </p:attrNameLst>
                                      </p:cBhvr>
                                      <p:to>
                                        <p:strVal val="visible"/>
                                      </p:to>
                                    </p:set>
                                    <p:animEffect transition="in" filter="fade">
                                      <p:cBhvr>
                                        <p:cTn id="60" dur="500"/>
                                        <p:tgtEl>
                                          <p:spTgt spid="19462"/>
                                        </p:tgtEl>
                                      </p:cBhvr>
                                    </p:animEffect>
                                  </p:childTnLst>
                                </p:cTn>
                              </p:par>
                            </p:childTnLst>
                          </p:cTn>
                        </p:par>
                        <p:par>
                          <p:cTn id="61" fill="hold">
                            <p:stCondLst>
                              <p:cond delay="500"/>
                            </p:stCondLst>
                            <p:childTnLst>
                              <p:par>
                                <p:cTn id="62" presetID="9" presetClass="entr" presetSubtype="0" fill="hold" nodeType="afterEffect">
                                  <p:stCondLst>
                                    <p:cond delay="0"/>
                                  </p:stCondLst>
                                  <p:childTnLst>
                                    <p:set>
                                      <p:cBhvr>
                                        <p:cTn id="63" dur="1" fill="hold">
                                          <p:stCondLst>
                                            <p:cond delay="0"/>
                                          </p:stCondLst>
                                        </p:cTn>
                                        <p:tgtEl>
                                          <p:spTgt spid="18442"/>
                                        </p:tgtEl>
                                        <p:attrNameLst>
                                          <p:attrName>style.visibility</p:attrName>
                                        </p:attrNameLst>
                                      </p:cBhvr>
                                      <p:to>
                                        <p:strVal val="visible"/>
                                      </p:to>
                                    </p:set>
                                    <p:animEffect transition="in" filter="dissolve">
                                      <p:cBhvr>
                                        <p:cTn id="64" dur="500"/>
                                        <p:tgtEl>
                                          <p:spTgt spid="1844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18441"/>
                                        </p:tgtEl>
                                        <p:attrNameLst>
                                          <p:attrName>style.visibility</p:attrName>
                                        </p:attrNameLst>
                                      </p:cBhvr>
                                      <p:to>
                                        <p:strVal val="visible"/>
                                      </p:to>
                                    </p:set>
                                    <p:animEffect transition="in" filter="dissolve">
                                      <p:cBhvr>
                                        <p:cTn id="67" dur="500"/>
                                        <p:tgtEl>
                                          <p:spTgt spid="18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ldLvl="0" animBg="1"/>
      <p:bldP spid="19460" grpId="0" animBg="1"/>
      <p:bldP spid="19461" grpId="0" animBg="1"/>
      <p:bldP spid="19462" grpId="0" animBg="1"/>
      <p:bldP spid="18439" grpId="0" bldLvl="0" animBg="1" autoUpdateAnimBg="0"/>
      <p:bldP spid="18440" grpId="0" animBg="1" autoUpdateAnimBg="0"/>
      <p:bldP spid="18441" grpId="0" animBg="1"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484784"/>
            <a:ext cx="8229600" cy="648072"/>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（4）寄存器命令R（Register）</a:t>
            </a:r>
          </a:p>
        </p:txBody>
      </p:sp>
      <p:sp>
        <p:nvSpPr>
          <p:cNvPr id="20483" name="Rectangle 3"/>
          <p:cNvSpPr>
            <a:spLocks noGrp="1" noChangeArrowheads="1"/>
          </p:cNvSpPr>
          <p:nvPr>
            <p:ph type="body" idx="1"/>
          </p:nvPr>
        </p:nvSpPr>
        <p:spPr>
          <a:xfrm>
            <a:off x="899592" y="2348880"/>
            <a:ext cx="7571184" cy="2904939"/>
          </a:xfrm>
        </p:spPr>
        <p:txBody>
          <a:bodyPr/>
          <a:lstStyle/>
          <a:p>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格式2</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，例如，键入</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r ax	</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DEBUG给出当前AX内容，冒号后用于输入数据，如不修改则按ENTER键。</a:t>
            </a:r>
          </a:p>
          <a:p>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格式3</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，DEBUG将显示当前各个标志位的状态。显示的符号及其状态</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如表F</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5</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.1所示</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，用户只要输入这些符号就可以修改对应的标志状态，键入顺序可以任意。</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fade">
                                      <p:cBhvr>
                                        <p:cTn id="7" dur="500"/>
                                        <p:tgtEl>
                                          <p:spTgt spid="2048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483">
                                            <p:txEl>
                                              <p:pRg st="0" end="0"/>
                                            </p:txEl>
                                          </p:spTgt>
                                        </p:tgtEl>
                                        <p:attrNameLst>
                                          <p:attrName>style.visibility</p:attrName>
                                        </p:attrNameLst>
                                      </p:cBhvr>
                                      <p:to>
                                        <p:strVal val="visible"/>
                                      </p:to>
                                    </p:set>
                                    <p:animEffect transition="in" filter="fade">
                                      <p:cBhvr>
                                        <p:cTn id="10" dur="500"/>
                                        <p:tgtEl>
                                          <p:spTgt spid="2048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0483">
                                            <p:txEl>
                                              <p:pRg st="1" end="1"/>
                                            </p:txEl>
                                          </p:spTgt>
                                        </p:tgtEl>
                                        <p:attrNameLst>
                                          <p:attrName>style.visibility</p:attrName>
                                        </p:attrNameLst>
                                      </p:cBhvr>
                                      <p:to>
                                        <p:strVal val="visible"/>
                                      </p:to>
                                    </p:set>
                                    <p:animEffect transition="in" filter="fade">
                                      <p:cBhvr>
                                        <p:cTn id="15" dur="500"/>
                                        <p:tgtEl>
                                          <p:spTgt spid="2048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0483">
                                            <p:txEl>
                                              <p:pRg st="2" end="2"/>
                                            </p:txEl>
                                          </p:spTgt>
                                        </p:tgtEl>
                                        <p:attrNameLst>
                                          <p:attrName>style.visibility</p:attrName>
                                        </p:attrNameLst>
                                      </p:cBhvr>
                                      <p:to>
                                        <p:strVal val="visible"/>
                                      </p:to>
                                    </p:set>
                                    <p:animEffect transition="in" filter="fade">
                                      <p:cBhvr>
                                        <p:cTn id="20" dur="500"/>
                                        <p:tgtEl>
                                          <p:spTgt spid="2048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Effect transition="in" filter="fade">
                                      <p:cBhvr>
                                        <p:cTn id="25" dur="500"/>
                                        <p:tgtEl>
                                          <p:spTgt spid="2048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bldLvl="0" animBg="1"/>
      <p:bldP spid="20483" grpId="0" build="p"/>
    </p:bldLst>
  </p:timing>
</p:sld>
</file>

<file path=ppt/slides/slide119.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1556792"/>
            <a:ext cx="8229600" cy="625000"/>
          </a:xfrm>
        </p:spPr>
        <p:txBody>
          <a:bodyPr/>
          <a:lstStyle/>
          <a:p>
            <a:pPr algn="l"/>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表F</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5</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.1 标志状态的表示符号</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0483" name="Group 3"/>
          <p:cNvGraphicFramePr>
            <a:graphicFrameLocks noGrp="1"/>
          </p:cNvGraphicFramePr>
          <p:nvPr>
            <p:ph idx="1"/>
          </p:nvPr>
        </p:nvGraphicFramePr>
        <p:xfrm>
          <a:off x="1763688" y="2181792"/>
          <a:ext cx="5904657" cy="4216400"/>
        </p:xfrm>
        <a:graphic>
          <a:graphicData uri="http://schemas.openxmlformats.org/drawingml/2006/table">
            <a:tbl>
              <a:tblPr/>
              <a:tblGrid>
                <a:gridCol w="1968219">
                  <a:extLst>
                    <a:ext uri="{9D8B030D-6E8A-4147-A177-3AD203B41FA5}">
                      <a16:colId xmlns:a16="http://schemas.microsoft.com/office/drawing/2014/main" val="20000"/>
                    </a:ext>
                  </a:extLst>
                </a:gridCol>
                <a:gridCol w="1968219">
                  <a:extLst>
                    <a:ext uri="{9D8B030D-6E8A-4147-A177-3AD203B41FA5}">
                      <a16:colId xmlns:a16="http://schemas.microsoft.com/office/drawing/2014/main" val="20001"/>
                    </a:ext>
                  </a:extLst>
                </a:gridCol>
                <a:gridCol w="1968219">
                  <a:extLst>
                    <a:ext uri="{9D8B030D-6E8A-4147-A177-3AD203B41FA5}">
                      <a16:colId xmlns:a16="http://schemas.microsoft.com/office/drawing/2014/main" val="20002"/>
                    </a:ext>
                  </a:extLst>
                </a:gridCol>
              </a:tblGrid>
              <a:tr h="5334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标志</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置位符号1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复位符号0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溢出</a:t>
                      </a:r>
                      <a:r>
                        <a:rPr kumimoji="0" lang="zh-CN"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OF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OV</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NV</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方向</a:t>
                      </a:r>
                      <a:r>
                        <a:rPr kumimoji="0" lang="zh-CN" altLang="zh-CN" sz="2000" b="1"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DF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DN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UP</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中断</a:t>
                      </a:r>
                      <a:r>
                        <a:rPr kumimoji="0" lang="zh-CN" alt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IF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EI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DI</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符号</a:t>
                      </a:r>
                      <a:r>
                        <a:rPr kumimoji="0" lang="zh-CN" alt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SF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PL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零位</a:t>
                      </a:r>
                      <a:r>
                        <a:rPr kumimoji="0" lang="zh-CN" alt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ZF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ZR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NZ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辅助</a:t>
                      </a:r>
                      <a:r>
                        <a:rPr kumimoji="0" lang="zh-CN" alt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AF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AC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NA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4572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奇偶</a:t>
                      </a:r>
                      <a:r>
                        <a:rPr kumimoji="0" lang="zh-CN" alt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PF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PE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PO</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482600">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进位</a:t>
                      </a:r>
                      <a:r>
                        <a:rPr kumimoji="0" lang="zh-CN" altLang="zh-CN" sz="2000" b="1" i="0" u="none" strike="noStrike" cap="none" normalizeH="0" baseline="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CF</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hlink"/>
                          </a:solidFill>
                          <a:effectLst/>
                          <a:latin typeface="Times New Roman" panose="02020603050405020304" pitchFamily="18" charset="0"/>
                          <a:ea typeface="微软雅黑" panose="020B0503020204020204" pitchFamily="34" charset="-122"/>
                          <a:cs typeface="Times New Roman" panose="02020603050405020304" pitchFamily="18" charset="0"/>
                        </a:rPr>
                        <a:t>CY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A50021"/>
                        </a:buClr>
                        <a:buSzTx/>
                        <a:buFont typeface="Wingdings" panose="05000000000000000000" pitchFamily="2" charset="2"/>
                        <a:buNone/>
                      </a:pPr>
                      <a:r>
                        <a:rPr kumimoji="0" lang="zh-CN" altLang="zh-CN" sz="2000" b="1" i="0" u="none" strike="noStrike" cap="none" normalizeH="0" baseline="0" dirty="0">
                          <a:ln>
                            <a:noFill/>
                          </a:ln>
                          <a:solidFill>
                            <a:schemeClr val="folHlink"/>
                          </a:solidFill>
                          <a:effectLst/>
                          <a:latin typeface="Times New Roman" panose="02020603050405020304" pitchFamily="18" charset="0"/>
                          <a:ea typeface="微软雅黑" panose="020B0503020204020204" pitchFamily="34" charset="-122"/>
                          <a:cs typeface="Times New Roman" panose="02020603050405020304" pitchFamily="18" charset="0"/>
                        </a:rPr>
                        <a:t>NC</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fade">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0483"/>
                                        </p:tgtEl>
                                        <p:attrNameLst>
                                          <p:attrName>style.visibility</p:attrName>
                                        </p:attrNameLst>
                                      </p:cBhvr>
                                      <p:to>
                                        <p:strVal val="visible"/>
                                      </p:to>
                                    </p:set>
                                    <p:animEffect transition="in" filter="wipe(up)">
                                      <p:cBhvr>
                                        <p:cTn id="12" dur="500"/>
                                        <p:tgtEl>
                                          <p:spTgt spid="2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536" y="1556792"/>
            <a:ext cx="8229600" cy="648072"/>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汇编命令A（Assembler）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531" name="Rectangle 3"/>
          <p:cNvSpPr>
            <a:spLocks noGrp="1" noChangeArrowheads="1"/>
          </p:cNvSpPr>
          <p:nvPr>
            <p:ph type="body" idx="1"/>
          </p:nvPr>
        </p:nvSpPr>
        <p:spPr>
          <a:xfrm>
            <a:off x="457200" y="2312767"/>
            <a:ext cx="8507288" cy="3564505"/>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 [地址]	；从</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指定地址</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开始汇编指令</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A命令中如果</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没有指定地址</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，则</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接着上一个A命令的最后一个单元开始</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；若还</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没有使用过A命令</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，则从当前CS：IP开始。</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输入A命令后，就可以输入8086指令，DEBUG将它们汇编成机器代码，相继地存放在指定地址开始的存储区中，记住最后要</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输入一个回车结束A命令。</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进行汇编的步骤如下；</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输</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入</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汇编命令A[地址]，按回车。DEBUG提示地址，等待用户输入新指令；</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500"/>
                                        <p:tgtEl>
                                          <p:spTgt spid="225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531">
                                            <p:txEl>
                                              <p:pRg st="0" end="0"/>
                                            </p:txEl>
                                          </p:spTgt>
                                        </p:tgtEl>
                                        <p:attrNameLst>
                                          <p:attrName>style.visibility</p:attrName>
                                        </p:attrNameLst>
                                      </p:cBhvr>
                                      <p:to>
                                        <p:strVal val="visible"/>
                                      </p:to>
                                    </p:set>
                                    <p:animEffect transition="in" filter="fade">
                                      <p:cBhvr>
                                        <p:cTn id="10" dur="500"/>
                                        <p:tgtEl>
                                          <p:spTgt spid="2253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531">
                                            <p:txEl>
                                              <p:pRg st="1" end="1"/>
                                            </p:txEl>
                                          </p:spTgt>
                                        </p:tgtEl>
                                        <p:attrNameLst>
                                          <p:attrName>style.visibility</p:attrName>
                                        </p:attrNameLst>
                                      </p:cBhvr>
                                      <p:to>
                                        <p:strVal val="visible"/>
                                      </p:to>
                                    </p:set>
                                    <p:animEffect transition="in" filter="fade">
                                      <p:cBhvr>
                                        <p:cTn id="15" dur="500"/>
                                        <p:tgtEl>
                                          <p:spTgt spid="2253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2531">
                                            <p:txEl>
                                              <p:pRg st="2" end="2"/>
                                            </p:txEl>
                                          </p:spTgt>
                                        </p:tgtEl>
                                        <p:attrNameLst>
                                          <p:attrName>style.visibility</p:attrName>
                                        </p:attrNameLst>
                                      </p:cBhvr>
                                      <p:to>
                                        <p:strVal val="visible"/>
                                      </p:to>
                                    </p:set>
                                    <p:animEffect transition="in" filter="fade">
                                      <p:cBhvr>
                                        <p:cTn id="20" dur="500"/>
                                        <p:tgtEl>
                                          <p:spTgt spid="2253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2531">
                                            <p:txEl>
                                              <p:pRg st="3" end="3"/>
                                            </p:txEl>
                                          </p:spTgt>
                                        </p:tgtEl>
                                        <p:attrNameLst>
                                          <p:attrName>style.visibility</p:attrName>
                                        </p:attrNameLst>
                                      </p:cBhvr>
                                      <p:to>
                                        <p:strVal val="visible"/>
                                      </p:to>
                                    </p:set>
                                    <p:animEffect transition="in" filter="fade">
                                      <p:cBhvr>
                                        <p:cTn id="25" dur="500"/>
                                        <p:tgtEl>
                                          <p:spTgt spid="2253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2531">
                                            <p:txEl>
                                              <p:pRg st="4" end="4"/>
                                            </p:txEl>
                                          </p:spTgt>
                                        </p:tgtEl>
                                        <p:attrNameLst>
                                          <p:attrName>style.visibility</p:attrName>
                                        </p:attrNameLst>
                                      </p:cBhvr>
                                      <p:to>
                                        <p:strVal val="visible"/>
                                      </p:to>
                                    </p:set>
                                    <p:animEffect transition="in" filter="fade">
                                      <p:cBhvr>
                                        <p:cTn id="30" dur="500"/>
                                        <p:tgtEl>
                                          <p:spTgt spid="22531">
                                            <p:txEl>
                                              <p:pRg st="4" end="4"/>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531">
                                            <p:txEl>
                                              <p:pRg st="5" end="5"/>
                                            </p:txEl>
                                          </p:spTgt>
                                        </p:tgtEl>
                                        <p:attrNameLst>
                                          <p:attrName>style.visibility</p:attrName>
                                        </p:attrNameLst>
                                      </p:cBhvr>
                                      <p:to>
                                        <p:strVal val="visible"/>
                                      </p:to>
                                    </p:set>
                                    <p:animEffect transition="in" filter="fade">
                                      <p:cBhvr>
                                        <p:cTn id="33" dur="500"/>
                                        <p:tgtEl>
                                          <p:spTgt spid="2253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ldLvl="0" animBg="1"/>
      <p:bldP spid="22531"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9512" y="1556792"/>
            <a:ext cx="5068619" cy="571500"/>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汇编命令A（Assembler）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555" name="Rectangle 3"/>
          <p:cNvSpPr>
            <a:spLocks noGrp="1" noChangeArrowheads="1"/>
          </p:cNvSpPr>
          <p:nvPr>
            <p:ph type="body" idx="1"/>
          </p:nvPr>
        </p:nvSpPr>
        <p:spPr>
          <a:xfrm>
            <a:off x="457200" y="2276872"/>
            <a:ext cx="8229600" cy="3412976"/>
          </a:xfrm>
        </p:spPr>
        <p:txBody>
          <a:bodyPr/>
          <a:lstStyle/>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输入汇编指令，按回车；</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如上继续输入汇编指令，直到输入所有指令；</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不输入内容就按回车，结束汇编，返回DEBUG的提示符状态。</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A命令支持标准的8086（和8087浮点）指令系统以及汇编语句格式，但要注意以下一些规则：</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所有输入的数值都是</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16进制数</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段超越指令需要在相应指令前，单独一行输入；</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段间（远）返回的</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助记符要使用RETF</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A命令也支持最常用的两个伪指令</a:t>
            </a:r>
            <a:r>
              <a:rPr lang="zh-CN" altLang="zh-CN" sz="2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DB和DW</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500"/>
                                        <p:tgtEl>
                                          <p:spTgt spid="235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5">
                                            <p:txEl>
                                              <p:pRg st="0" end="0"/>
                                            </p:txEl>
                                          </p:spTgt>
                                        </p:tgtEl>
                                        <p:attrNameLst>
                                          <p:attrName>style.visibility</p:attrName>
                                        </p:attrNameLst>
                                      </p:cBhvr>
                                      <p:to>
                                        <p:strVal val="visible"/>
                                      </p:to>
                                    </p:set>
                                    <p:animEffect transition="in" filter="fade">
                                      <p:cBhvr>
                                        <p:cTn id="10" dur="500"/>
                                        <p:tgtEl>
                                          <p:spTgt spid="2355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Effect transition="in" filter="fade">
                                      <p:cBhvr>
                                        <p:cTn id="13" dur="500"/>
                                        <p:tgtEl>
                                          <p:spTgt spid="23555">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555">
                                            <p:txEl>
                                              <p:pRg st="2" end="2"/>
                                            </p:txEl>
                                          </p:spTgt>
                                        </p:tgtEl>
                                        <p:attrNameLst>
                                          <p:attrName>style.visibility</p:attrName>
                                        </p:attrNameLst>
                                      </p:cBhvr>
                                      <p:to>
                                        <p:strVal val="visible"/>
                                      </p:to>
                                    </p:set>
                                    <p:animEffect transition="in" filter="fade">
                                      <p:cBhvr>
                                        <p:cTn id="16" dur="500"/>
                                        <p:tgtEl>
                                          <p:spTgt spid="2355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3555">
                                            <p:txEl>
                                              <p:pRg st="3" end="3"/>
                                            </p:txEl>
                                          </p:spTgt>
                                        </p:tgtEl>
                                        <p:attrNameLst>
                                          <p:attrName>style.visibility</p:attrName>
                                        </p:attrNameLst>
                                      </p:cBhvr>
                                      <p:to>
                                        <p:strVal val="visible"/>
                                      </p:to>
                                    </p:set>
                                    <p:animEffect transition="in" filter="fade">
                                      <p:cBhvr>
                                        <p:cTn id="21" dur="500"/>
                                        <p:tgtEl>
                                          <p:spTgt spid="23555">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555">
                                            <p:txEl>
                                              <p:pRg st="4" end="4"/>
                                            </p:txEl>
                                          </p:spTgt>
                                        </p:tgtEl>
                                        <p:attrNameLst>
                                          <p:attrName>style.visibility</p:attrName>
                                        </p:attrNameLst>
                                      </p:cBhvr>
                                      <p:to>
                                        <p:strVal val="visible"/>
                                      </p:to>
                                    </p:set>
                                    <p:animEffect transition="in" filter="fade">
                                      <p:cBhvr>
                                        <p:cTn id="24" dur="500"/>
                                        <p:tgtEl>
                                          <p:spTgt spid="23555">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3555">
                                            <p:txEl>
                                              <p:pRg st="5" end="5"/>
                                            </p:txEl>
                                          </p:spTgt>
                                        </p:tgtEl>
                                        <p:attrNameLst>
                                          <p:attrName>style.visibility</p:attrName>
                                        </p:attrNameLst>
                                      </p:cBhvr>
                                      <p:to>
                                        <p:strVal val="visible"/>
                                      </p:to>
                                    </p:set>
                                    <p:animEffect transition="in" filter="fade">
                                      <p:cBhvr>
                                        <p:cTn id="27" dur="500"/>
                                        <p:tgtEl>
                                          <p:spTgt spid="23555">
                                            <p:txEl>
                                              <p:pRg st="5" end="5"/>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555">
                                            <p:txEl>
                                              <p:pRg st="6" end="6"/>
                                            </p:txEl>
                                          </p:spTgt>
                                        </p:tgtEl>
                                        <p:attrNameLst>
                                          <p:attrName>style.visibility</p:attrName>
                                        </p:attrNameLst>
                                      </p:cBhvr>
                                      <p:to>
                                        <p:strVal val="visible"/>
                                      </p:to>
                                    </p:set>
                                    <p:animEffect transition="in" filter="fade">
                                      <p:cBhvr>
                                        <p:cTn id="30" dur="500"/>
                                        <p:tgtEl>
                                          <p:spTgt spid="23555">
                                            <p:txEl>
                                              <p:pRg st="6" end="6"/>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3555">
                                            <p:txEl>
                                              <p:pRg st="7" end="7"/>
                                            </p:txEl>
                                          </p:spTgt>
                                        </p:tgtEl>
                                        <p:attrNameLst>
                                          <p:attrName>style.visibility</p:attrName>
                                        </p:attrNameLst>
                                      </p:cBhvr>
                                      <p:to>
                                        <p:strVal val="visible"/>
                                      </p:to>
                                    </p:set>
                                    <p:animEffect transition="in" filter="fade">
                                      <p:cBhvr>
                                        <p:cTn id="33" dur="500"/>
                                        <p:tgtEl>
                                          <p:spTgt spid="235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p:bldP spid="23555" grpId="0" uiExpand="1" build="p"/>
    </p:bldLst>
  </p:timing>
</p:sld>
</file>

<file path=ppt/slides/slide122.xml><?xml version="1.0" encoding="utf-8"?>
<p:sld xmlns:a="http://schemas.openxmlformats.org/drawingml/2006/main" xmlns:r="http://schemas.openxmlformats.org/officeDocument/2006/relationships" xmlns:p="http://schemas.openxmlformats.org/presentationml/2006/main">
  <p:cSld>
    <p:bg>
      <p:bgPr>
        <a:blipFill dpi="0" rotWithShape="0">
          <a:blip r:embed="rId4">
            <a:lum/>
          </a:blip>
          <a:srcRect/>
          <a:stretch>
            <a:fillRect/>
          </a:stretch>
        </a:blip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9512" y="1556792"/>
            <a:ext cx="5068619" cy="571500"/>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5" action="ppaction://hlinksldjump"/>
              </a:rPr>
              <a:t>汇编命令A（Assembler）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555" name="Rectangle 3"/>
          <p:cNvSpPr>
            <a:spLocks noGrp="1" noChangeArrowheads="1"/>
          </p:cNvSpPr>
          <p:nvPr>
            <p:ph type="body" idx="1"/>
          </p:nvPr>
        </p:nvSpPr>
        <p:spPr>
          <a:xfrm>
            <a:off x="457200" y="2276872"/>
            <a:ext cx="8229600" cy="3412976"/>
          </a:xfrm>
        </p:spPr>
        <p:txBody>
          <a:bodyPr/>
          <a:lstStyle/>
          <a:p>
            <a:pPr marL="457200" lvl="1" indent="0">
              <a:buNone/>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例题：</a:t>
            </a:r>
          </a:p>
          <a:p>
            <a:pPr marL="457200" lvl="1" indent="0">
              <a:buNone/>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使用A命令在0100H开始输入指令mov ax, 10 inc cx mov bl, al</a:t>
            </a:r>
          </a:p>
          <a:p>
            <a:pPr marL="457200" lvl="1" indent="0">
              <a:buNone/>
            </a:pPr>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pic>
        <p:nvPicPr>
          <p:cNvPr id="3" name="图片 2"/>
          <p:cNvPicPr>
            <a:picLocks noChangeAspect="1"/>
          </p:cNvPicPr>
          <p:nvPr>
            <p:custDataLst>
              <p:tags r:id="rId1"/>
            </p:custDataLst>
          </p:nvPr>
        </p:nvPicPr>
        <p:blipFill>
          <a:blip r:embed="rId6"/>
          <a:stretch>
            <a:fillRect/>
          </a:stretch>
        </p:blipFill>
        <p:spPr>
          <a:xfrm>
            <a:off x="1276350" y="3860800"/>
            <a:ext cx="5934075" cy="2314575"/>
          </a:xfrm>
          <a:prstGeom prst="rect">
            <a:avLst/>
          </a:prstGeom>
        </p:spPr>
      </p:pic>
      <p:pic>
        <p:nvPicPr>
          <p:cNvPr id="4" name="图片 3"/>
          <p:cNvPicPr>
            <a:picLocks noChangeAspect="1"/>
          </p:cNvPicPr>
          <p:nvPr>
            <p:custDataLst>
              <p:tags r:id="rId2"/>
            </p:custDataLst>
          </p:nvPr>
        </p:nvPicPr>
        <p:blipFill>
          <a:blip r:embed="rId7"/>
          <a:stretch>
            <a:fillRect/>
          </a:stretch>
        </p:blipFill>
        <p:spPr>
          <a:xfrm>
            <a:off x="1276350" y="3023870"/>
            <a:ext cx="5933440" cy="809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500"/>
                                        <p:tgtEl>
                                          <p:spTgt spid="2355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555">
                                            <p:txEl>
                                              <p:pRg st="0" end="0"/>
                                            </p:txEl>
                                          </p:spTgt>
                                        </p:tgtEl>
                                        <p:attrNameLst>
                                          <p:attrName>style.visibility</p:attrName>
                                        </p:attrNameLst>
                                      </p:cBhvr>
                                      <p:to>
                                        <p:strVal val="visible"/>
                                      </p:to>
                                    </p:set>
                                    <p:animEffect transition="in" filter="fade">
                                      <p:cBhvr>
                                        <p:cTn id="10" dur="500"/>
                                        <p:tgtEl>
                                          <p:spTgt spid="23555">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555">
                                            <p:txEl>
                                              <p:pRg st="1" end="1"/>
                                            </p:txEl>
                                          </p:spTgt>
                                        </p:tgtEl>
                                        <p:attrNameLst>
                                          <p:attrName>style.visibility</p:attrName>
                                        </p:attrNameLst>
                                      </p:cBhvr>
                                      <p:to>
                                        <p:strVal val="visible"/>
                                      </p:to>
                                    </p:set>
                                    <p:animEffect transition="in" filter="fade">
                                      <p:cBhvr>
                                        <p:cTn id="13" dur="500"/>
                                        <p:tgtEl>
                                          <p:spTgt spid="2355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ldLvl="0" animBg="1"/>
      <p:bldP spid="23555" grpId="0" uiExpand="1" build="p"/>
    </p:bldLst>
  </p:timing>
</p:sld>
</file>

<file path=ppt/slides/slide123.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02752"/>
            <a:ext cx="8229600" cy="564553"/>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（6）</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反汇编命令U（Unassembler）</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579" name="Rectangle 3"/>
          <p:cNvSpPr>
            <a:spLocks noGrp="1" noChangeArrowheads="1"/>
          </p:cNvSpPr>
          <p:nvPr>
            <p:ph type="body" idx="1"/>
          </p:nvPr>
        </p:nvSpPr>
        <p:spPr>
          <a:xfrm>
            <a:off x="457200" y="2054019"/>
            <a:ext cx="8673858" cy="4525963"/>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U [地址]</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；从指定地址开始，反汇编32个字节（80列显示模式）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U 范围	</a:t>
            </a:r>
            <a:r>
              <a:rPr lang="en-US"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；对指定范围的主存内容进行汇编</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U命令中如果没有指定地址，则接着上一个U命令的最后一个单元开始；若还没有使用过U命令，则从当前CS:IP开始。</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例如：</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－U</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14C8:0000 	B8CD14	MOV	AX , 14CD</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14C8:0003	8ED8		MVO	DS , AX</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p>
        </p:txBody>
      </p:sp>
      <p:grpSp>
        <p:nvGrpSpPr>
          <p:cNvPr id="23556" name="Group 4"/>
          <p:cNvGrpSpPr/>
          <p:nvPr/>
        </p:nvGrpSpPr>
        <p:grpSpPr bwMode="auto">
          <a:xfrm>
            <a:off x="2123728" y="3933056"/>
            <a:ext cx="6070600" cy="2528888"/>
            <a:chOff x="454" y="-369"/>
            <a:chExt cx="3824" cy="1593"/>
          </a:xfrm>
        </p:grpSpPr>
        <p:sp>
          <p:nvSpPr>
            <p:cNvPr id="24581" name="Line 5"/>
            <p:cNvSpPr>
              <a:spLocks noChangeShapeType="1"/>
            </p:cNvSpPr>
            <p:nvPr/>
          </p:nvSpPr>
          <p:spPr bwMode="auto">
            <a:xfrm>
              <a:off x="817" y="745"/>
              <a:ext cx="227" cy="182"/>
            </a:xfrm>
            <a:prstGeom prst="line">
              <a:avLst/>
            </a:prstGeom>
            <a:noFill/>
            <a:ln w="28575">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582" name="Text Box 6"/>
            <p:cNvSpPr txBox="1">
              <a:spLocks noChangeArrowheads="1"/>
            </p:cNvSpPr>
            <p:nvPr/>
          </p:nvSpPr>
          <p:spPr bwMode="auto">
            <a:xfrm>
              <a:off x="454" y="972"/>
              <a:ext cx="763"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逻辑地址</a:t>
              </a:r>
            </a:p>
          </p:txBody>
        </p:sp>
        <p:sp>
          <p:nvSpPr>
            <p:cNvPr id="24583" name="Text Box 7"/>
            <p:cNvSpPr txBox="1">
              <a:spLocks noChangeArrowheads="1"/>
            </p:cNvSpPr>
            <p:nvPr/>
          </p:nvSpPr>
          <p:spPr bwMode="auto">
            <a:xfrm>
              <a:off x="1724" y="881"/>
              <a:ext cx="1769"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rPr>
                <a:t>指令的机器代码</a:t>
              </a:r>
            </a:p>
          </p:txBody>
        </p:sp>
        <p:sp>
          <p:nvSpPr>
            <p:cNvPr id="24584" name="Text Box 8"/>
            <p:cNvSpPr txBox="1">
              <a:spLocks noChangeArrowheads="1"/>
            </p:cNvSpPr>
            <p:nvPr/>
          </p:nvSpPr>
          <p:spPr bwMode="auto">
            <a:xfrm>
              <a:off x="2708" y="-369"/>
              <a:ext cx="1570" cy="252"/>
            </a:xfrm>
            <a:prstGeom prst="rect">
              <a:avLst/>
            </a:prstGeom>
            <a:solidFill>
              <a:srgbClr val="FFFF99"/>
            </a:solidFill>
            <a:ln w="28575">
              <a:solidFill>
                <a:srgbClr val="008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对应的指令汇编格式</a:t>
              </a:r>
            </a:p>
          </p:txBody>
        </p:sp>
        <p:sp>
          <p:nvSpPr>
            <p:cNvPr id="24585" name="Line 9"/>
            <p:cNvSpPr>
              <a:spLocks noChangeShapeType="1"/>
            </p:cNvSpPr>
            <p:nvPr/>
          </p:nvSpPr>
          <p:spPr bwMode="auto">
            <a:xfrm>
              <a:off x="2132" y="700"/>
              <a:ext cx="318" cy="136"/>
            </a:xfrm>
            <a:prstGeom prst="line">
              <a:avLst/>
            </a:prstGeom>
            <a:noFill/>
            <a:ln w="28575">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586" name="Line 10"/>
            <p:cNvSpPr>
              <a:spLocks noChangeShapeType="1"/>
            </p:cNvSpPr>
            <p:nvPr/>
          </p:nvSpPr>
          <p:spPr bwMode="auto">
            <a:xfrm flipV="1">
              <a:off x="3161" y="-52"/>
              <a:ext cx="363" cy="363"/>
            </a:xfrm>
            <a:prstGeom prst="line">
              <a:avLst/>
            </a:prstGeom>
            <a:noFill/>
            <a:ln w="28575">
              <a:solidFill>
                <a:schemeClr val="folHlink"/>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grpSp>
      <p:sp>
        <p:nvSpPr>
          <p:cNvPr id="13"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3556"/>
                                        </p:tgtEl>
                                        <p:attrNameLst>
                                          <p:attrName>style.visibility</p:attrName>
                                        </p:attrNameLst>
                                      </p:cBhvr>
                                      <p:to>
                                        <p:strVal val="visible"/>
                                      </p:to>
                                    </p:set>
                                    <p:animEffect transition="in" filter="randombar(horizontal)">
                                      <p:cBhvr>
                                        <p:cTn id="7" dur="500"/>
                                        <p:tgtEl>
                                          <p:spTgt spid="235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578"/>
                                        </p:tgtEl>
                                        <p:attrNameLst>
                                          <p:attrName>style.visibility</p:attrName>
                                        </p:attrNameLst>
                                      </p:cBhvr>
                                      <p:to>
                                        <p:strVal val="visible"/>
                                      </p:to>
                                    </p:set>
                                    <p:animEffect transition="in" filter="fade">
                                      <p:cBhvr>
                                        <p:cTn id="12" dur="500"/>
                                        <p:tgtEl>
                                          <p:spTgt spid="2457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4579">
                                            <p:txEl>
                                              <p:pRg st="0" end="0"/>
                                            </p:txEl>
                                          </p:spTgt>
                                        </p:tgtEl>
                                        <p:attrNameLst>
                                          <p:attrName>style.visibility</p:attrName>
                                        </p:attrNameLst>
                                      </p:cBhvr>
                                      <p:to>
                                        <p:strVal val="visible"/>
                                      </p:to>
                                    </p:set>
                                    <p:animEffect transition="in" filter="fade">
                                      <p:cBhvr>
                                        <p:cTn id="15" dur="500"/>
                                        <p:tgtEl>
                                          <p:spTgt spid="2457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579">
                                            <p:txEl>
                                              <p:pRg st="1" end="1"/>
                                            </p:txEl>
                                          </p:spTgt>
                                        </p:tgtEl>
                                        <p:attrNameLst>
                                          <p:attrName>style.visibility</p:attrName>
                                        </p:attrNameLst>
                                      </p:cBhvr>
                                      <p:to>
                                        <p:strVal val="visible"/>
                                      </p:to>
                                    </p:set>
                                    <p:animEffect transition="in" filter="fade">
                                      <p:cBhvr>
                                        <p:cTn id="20" dur="500"/>
                                        <p:tgtEl>
                                          <p:spTgt spid="2457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579">
                                            <p:txEl>
                                              <p:pRg st="2" end="2"/>
                                            </p:txEl>
                                          </p:spTgt>
                                        </p:tgtEl>
                                        <p:attrNameLst>
                                          <p:attrName>style.visibility</p:attrName>
                                        </p:attrNameLst>
                                      </p:cBhvr>
                                      <p:to>
                                        <p:strVal val="visible"/>
                                      </p:to>
                                    </p:set>
                                    <p:animEffect transition="in" filter="fade">
                                      <p:cBhvr>
                                        <p:cTn id="25" dur="500"/>
                                        <p:tgtEl>
                                          <p:spTgt spid="24579">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4579">
                                            <p:txEl>
                                              <p:pRg st="3" end="3"/>
                                            </p:txEl>
                                          </p:spTgt>
                                        </p:tgtEl>
                                        <p:attrNameLst>
                                          <p:attrName>style.visibility</p:attrName>
                                        </p:attrNameLst>
                                      </p:cBhvr>
                                      <p:to>
                                        <p:strVal val="visible"/>
                                      </p:to>
                                    </p:set>
                                    <p:animEffect transition="in" filter="fade">
                                      <p:cBhvr>
                                        <p:cTn id="30" dur="500"/>
                                        <p:tgtEl>
                                          <p:spTgt spid="24579">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4579">
                                            <p:txEl>
                                              <p:pRg st="4" end="4"/>
                                            </p:txEl>
                                          </p:spTgt>
                                        </p:tgtEl>
                                        <p:attrNameLst>
                                          <p:attrName>style.visibility</p:attrName>
                                        </p:attrNameLst>
                                      </p:cBhvr>
                                      <p:to>
                                        <p:strVal val="visible"/>
                                      </p:to>
                                    </p:set>
                                    <p:animEffect transition="in" filter="fade">
                                      <p:cBhvr>
                                        <p:cTn id="35" dur="500"/>
                                        <p:tgtEl>
                                          <p:spTgt spid="24579">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4579">
                                            <p:txEl>
                                              <p:pRg st="5" end="5"/>
                                            </p:txEl>
                                          </p:spTgt>
                                        </p:tgtEl>
                                        <p:attrNameLst>
                                          <p:attrName>style.visibility</p:attrName>
                                        </p:attrNameLst>
                                      </p:cBhvr>
                                      <p:to>
                                        <p:strVal val="visible"/>
                                      </p:to>
                                    </p:set>
                                    <p:animEffect transition="in" filter="fade">
                                      <p:cBhvr>
                                        <p:cTn id="40" dur="500"/>
                                        <p:tgtEl>
                                          <p:spTgt spid="24579">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579">
                                            <p:txEl>
                                              <p:pRg st="6" end="6"/>
                                            </p:txEl>
                                          </p:spTgt>
                                        </p:tgtEl>
                                        <p:attrNameLst>
                                          <p:attrName>style.visibility</p:attrName>
                                        </p:attrNameLst>
                                      </p:cBhvr>
                                      <p:to>
                                        <p:strVal val="visible"/>
                                      </p:to>
                                    </p:set>
                                    <p:animEffect transition="in" filter="fade">
                                      <p:cBhvr>
                                        <p:cTn id="45" dur="500"/>
                                        <p:tgtEl>
                                          <p:spTgt spid="24579">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579">
                                            <p:txEl>
                                              <p:pRg st="7" end="7"/>
                                            </p:txEl>
                                          </p:spTgt>
                                        </p:tgtEl>
                                        <p:attrNameLst>
                                          <p:attrName>style.visibility</p:attrName>
                                        </p:attrNameLst>
                                      </p:cBhvr>
                                      <p:to>
                                        <p:strVal val="visible"/>
                                      </p:to>
                                    </p:set>
                                    <p:animEffect transition="in" filter="fade">
                                      <p:cBhvr>
                                        <p:cTn id="50" dur="500"/>
                                        <p:tgtEl>
                                          <p:spTgt spid="24579">
                                            <p:txEl>
                                              <p:pRg st="7" end="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579">
                                            <p:txEl>
                                              <p:pRg st="8" end="8"/>
                                            </p:txEl>
                                          </p:spTgt>
                                        </p:tgtEl>
                                        <p:attrNameLst>
                                          <p:attrName>style.visibility</p:attrName>
                                        </p:attrNameLst>
                                      </p:cBhvr>
                                      <p:to>
                                        <p:strVal val="visible"/>
                                      </p:to>
                                    </p:set>
                                    <p:animEffect transition="in" filter="fade">
                                      <p:cBhvr>
                                        <p:cTn id="55" dur="500"/>
                                        <p:tgtEl>
                                          <p:spTgt spid="24579">
                                            <p:txEl>
                                              <p:pRg st="8" end="8"/>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4579">
                                            <p:txEl>
                                              <p:pRg st="9" end="9"/>
                                            </p:txEl>
                                          </p:spTgt>
                                        </p:tgtEl>
                                        <p:attrNameLst>
                                          <p:attrName>style.visibility</p:attrName>
                                        </p:attrNameLst>
                                      </p:cBhvr>
                                      <p:to>
                                        <p:strVal val="visible"/>
                                      </p:to>
                                    </p:set>
                                    <p:animEffect transition="in" filter="fade">
                                      <p:cBhvr>
                                        <p:cTn id="60" dur="500"/>
                                        <p:tgtEl>
                                          <p:spTgt spid="2457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bldLvl="0" animBg="1"/>
      <p:bldP spid="24579"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979712" y="1556792"/>
            <a:ext cx="5050904" cy="508918"/>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运行命令G（Go）</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579" name="Rectangle 3"/>
          <p:cNvSpPr>
            <a:spLocks noGrp="1" noChangeArrowheads="1"/>
          </p:cNvSpPr>
          <p:nvPr>
            <p:ph type="body" idx="1"/>
          </p:nvPr>
        </p:nvSpPr>
        <p:spPr>
          <a:xfrm>
            <a:off x="683568" y="2204864"/>
            <a:ext cx="8229600" cy="3843475"/>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G [=地址][断点地址1，断点地址2，…，断点地址10]</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G命令等号后的</a:t>
            </a:r>
            <a:r>
              <a:rPr lang="zh-CN" altLang="zh-CN" sz="2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地址指定程序段运行的起始地址，如不指定从当前的CS:IP开始运行</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断点地址如果只有偏移地址，则默认是代码段CS；断点可以没有，但最多只能有10个。</a:t>
            </a:r>
          </a:p>
          <a:p>
            <a:r>
              <a:rPr lang="zh-CN" altLang="zh-CN" sz="2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G命令输入后，从指定地址处开始运行程序，直到遇到断点或者程序正常结束。</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程序遇到断点（实际上就是断点中断指令INT 3），停止执行，并显示当前所有寄存器和标志位的内容，以及下一条将要执行的指令（显示内容同R命令），以便观察程序运行到此的情况。</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4579">
                                            <p:txEl>
                                              <p:pRg st="0" end="0"/>
                                            </p:txEl>
                                          </p:spTgt>
                                        </p:tgtEl>
                                        <p:attrNameLst>
                                          <p:attrName>style.visibility</p:attrName>
                                        </p:attrNameLst>
                                      </p:cBhvr>
                                      <p:to>
                                        <p:strVal val="visible"/>
                                      </p:to>
                                    </p:set>
                                    <p:anim calcmode="lin" valueType="num">
                                      <p:cBhvr additive="base">
                                        <p:cTn id="12"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57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4579">
                                            <p:txEl>
                                              <p:pRg st="1" end="1"/>
                                            </p:txEl>
                                          </p:spTgt>
                                        </p:tgtEl>
                                        <p:attrNameLst>
                                          <p:attrName>style.visibility</p:attrName>
                                        </p:attrNameLst>
                                      </p:cBhvr>
                                      <p:to>
                                        <p:strVal val="visible"/>
                                      </p:to>
                                    </p:set>
                                    <p:anim calcmode="lin" valueType="num">
                                      <p:cBhvr additive="base">
                                        <p:cTn id="18"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4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4579">
                                            <p:txEl>
                                              <p:pRg st="2" end="2"/>
                                            </p:txEl>
                                          </p:spTgt>
                                        </p:tgtEl>
                                        <p:attrNameLst>
                                          <p:attrName>style.visibility</p:attrName>
                                        </p:attrNameLst>
                                      </p:cBhvr>
                                      <p:to>
                                        <p:strVal val="visible"/>
                                      </p:to>
                                    </p:set>
                                    <p:anim calcmode="lin" valueType="num">
                                      <p:cBhvr additive="base">
                                        <p:cTn id="24"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457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4579">
                                            <p:txEl>
                                              <p:pRg st="3" end="3"/>
                                            </p:txEl>
                                          </p:spTgt>
                                        </p:tgtEl>
                                        <p:attrNameLst>
                                          <p:attrName>style.visibility</p:attrName>
                                        </p:attrNameLst>
                                      </p:cBhvr>
                                      <p:to>
                                        <p:strVal val="visible"/>
                                      </p:to>
                                    </p:set>
                                    <p:anim calcmode="lin" valueType="num">
                                      <p:cBhvr additive="base">
                                        <p:cTn id="30"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4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4579">
                                            <p:txEl>
                                              <p:pRg st="4" end="4"/>
                                            </p:txEl>
                                          </p:spTgt>
                                        </p:tgtEl>
                                        <p:attrNameLst>
                                          <p:attrName>style.visibility</p:attrName>
                                        </p:attrNameLst>
                                      </p:cBhvr>
                                      <p:to>
                                        <p:strVal val="visible"/>
                                      </p:to>
                                    </p:set>
                                    <p:anim calcmode="lin" valueType="num">
                                      <p:cBhvr additive="base">
                                        <p:cTn id="36" dur="500" fill="hold"/>
                                        <p:tgtEl>
                                          <p:spTgt spid="24579">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245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4579">
                                            <p:txEl>
                                              <p:pRg st="5" end="5"/>
                                            </p:txEl>
                                          </p:spTgt>
                                        </p:tgtEl>
                                        <p:attrNameLst>
                                          <p:attrName>style.visibility</p:attrName>
                                        </p:attrNameLst>
                                      </p:cBhvr>
                                      <p:to>
                                        <p:strVal val="visible"/>
                                      </p:to>
                                    </p:set>
                                    <p:anim calcmode="lin" valueType="num">
                                      <p:cBhvr additive="base">
                                        <p:cTn id="42"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457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ldLvl="0" animBg="1"/>
      <p:bldP spid="24579"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43608" y="1484784"/>
            <a:ext cx="6501408" cy="576064"/>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运行命令G（Go）</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603" name="Rectangle 3"/>
          <p:cNvSpPr>
            <a:spLocks noGrp="1" noChangeArrowheads="1"/>
          </p:cNvSpPr>
          <p:nvPr>
            <p:ph type="body" idx="1"/>
          </p:nvPr>
        </p:nvSpPr>
        <p:spPr>
          <a:xfrm>
            <a:off x="457200" y="2276872"/>
            <a:ext cx="8229600" cy="3273227"/>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程序正常结束，将显示“Program terminated normally”。</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注意，G命令以及后面的T和P命令要指向正确的指令代码，否则会出现不可预测的结果，例如“死机”。</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wipe(up)">
                                      <p:cBhvr>
                                        <p:cTn id="7" dur="500"/>
                                        <p:tgtEl>
                                          <p:spTgt spid="2662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603">
                                            <p:txEl>
                                              <p:pRg st="0" end="0"/>
                                            </p:txEl>
                                          </p:spTgt>
                                        </p:tgtEl>
                                        <p:attrNameLst>
                                          <p:attrName>style.visibility</p:attrName>
                                        </p:attrNameLst>
                                      </p:cBhvr>
                                      <p:to>
                                        <p:strVal val="visible"/>
                                      </p:to>
                                    </p:set>
                                    <p:anim calcmode="lin" valueType="num">
                                      <p:cBhvr additive="base">
                                        <p:cTn id="12"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5603">
                                            <p:txEl>
                                              <p:pRg st="1" end="1"/>
                                            </p:txEl>
                                          </p:spTgt>
                                        </p:tgtEl>
                                        <p:attrNameLst>
                                          <p:attrName>style.visibility</p:attrName>
                                        </p:attrNameLst>
                                      </p:cBhvr>
                                      <p:to>
                                        <p:strVal val="visible"/>
                                      </p:to>
                                    </p:set>
                                    <p:anim calcmode="lin" valueType="num">
                                      <p:cBhvr additive="base">
                                        <p:cTn id="18"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560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ldLvl="0" animBg="1"/>
      <p:bldP spid="2560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1331640" y="1600200"/>
            <a:ext cx="6017975" cy="403448"/>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跟踪命令T（Trace）</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627" name="Rectangle 3"/>
          <p:cNvSpPr>
            <a:spLocks noGrp="1" noChangeArrowheads="1"/>
          </p:cNvSpPr>
          <p:nvPr>
            <p:ph type="body" idx="1"/>
          </p:nvPr>
        </p:nvSpPr>
        <p:spPr>
          <a:xfrm>
            <a:off x="457200" y="2204864"/>
            <a:ext cx="8229600" cy="3895936"/>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T [=地址]		；逐条指令跟踪</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T [=地址][数值]	；多条指令跟踪</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从指定地址起执行一条或数值参数指定条数的指令后停下来，每条指令执行后都要显示所有寄存器和标志位的值以及下一条指令。如未指定地址则从当前CS:IP开始执行。</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sz="2000" dirty="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rPr>
              <a:t>给出的执行地址前有一个等号，否则会被认为是被跟踪指令的条数（数值）</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zh-CN" sz="2000" dirty="0">
                <a:solidFill>
                  <a:srgbClr val="00349E"/>
                </a:solidFill>
                <a:latin typeface="Times New Roman" panose="02020603050405020304" pitchFamily="18" charset="0"/>
                <a:ea typeface="微软雅黑" panose="020B0503020204020204" pitchFamily="34" charset="-122"/>
                <a:cs typeface="Times New Roman" panose="02020603050405020304" pitchFamily="18" charset="0"/>
              </a:rPr>
              <a:t>T跟踪命令也常被称为单步命令。</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T命令逐条指令执行程序，遇到子程序（CALL）或中断调用（INT n）指令也不例外，也</a:t>
            </a:r>
            <a:r>
              <a:rPr lang="zh-CN" altLang="zh-CN" sz="20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rPr>
              <a:t>会进入</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到子程序或中断服务程序当中执行。</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1000"/>
                                        <p:tgtEl>
                                          <p:spTgt spid="276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6627">
                                            <p:txEl>
                                              <p:pRg st="0" end="0"/>
                                            </p:txEl>
                                          </p:spTgt>
                                        </p:tgtEl>
                                        <p:attrNameLst>
                                          <p:attrName>style.visibility</p:attrName>
                                        </p:attrNameLst>
                                      </p:cBhvr>
                                      <p:to>
                                        <p:strVal val="visible"/>
                                      </p:to>
                                    </p:set>
                                    <p:animEffect transition="in" filter="wipe(down)">
                                      <p:cBhvr>
                                        <p:cTn id="12" dur="500"/>
                                        <p:tgtEl>
                                          <p:spTgt spid="26627">
                                            <p:txEl>
                                              <p:pRg st="0" end="0"/>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6627">
                                            <p:txEl>
                                              <p:pRg st="1" end="1"/>
                                            </p:txEl>
                                          </p:spTgt>
                                        </p:tgtEl>
                                        <p:attrNameLst>
                                          <p:attrName>style.visibility</p:attrName>
                                        </p:attrNameLst>
                                      </p:cBhvr>
                                      <p:to>
                                        <p:strVal val="visible"/>
                                      </p:to>
                                    </p:set>
                                    <p:animEffect transition="in" filter="wipe(down)">
                                      <p:cBhvr>
                                        <p:cTn id="15" dur="500"/>
                                        <p:tgtEl>
                                          <p:spTgt spid="26627">
                                            <p:txEl>
                                              <p:pRg st="1" end="1"/>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26627">
                                            <p:txEl>
                                              <p:pRg st="2" end="2"/>
                                            </p:txEl>
                                          </p:spTgt>
                                        </p:tgtEl>
                                        <p:attrNameLst>
                                          <p:attrName>style.visibility</p:attrName>
                                        </p:attrNameLst>
                                      </p:cBhvr>
                                      <p:to>
                                        <p:strVal val="visible"/>
                                      </p:to>
                                    </p:set>
                                    <p:animEffect transition="in" filter="wipe(down)">
                                      <p:cBhvr>
                                        <p:cTn id="18" dur="500"/>
                                        <p:tgtEl>
                                          <p:spTgt spid="2662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26627">
                                            <p:txEl>
                                              <p:pRg st="3" end="3"/>
                                            </p:txEl>
                                          </p:spTgt>
                                        </p:tgtEl>
                                        <p:attrNameLst>
                                          <p:attrName>style.visibility</p:attrName>
                                        </p:attrNameLst>
                                      </p:cBhvr>
                                      <p:to>
                                        <p:strVal val="visible"/>
                                      </p:to>
                                    </p:set>
                                    <p:animEffect transition="in" filter="wipe(down)">
                                      <p:cBhvr>
                                        <p:cTn id="23" dur="500"/>
                                        <p:tgtEl>
                                          <p:spTgt spid="26627">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26627">
                                            <p:txEl>
                                              <p:pRg st="4" end="4"/>
                                            </p:txEl>
                                          </p:spTgt>
                                        </p:tgtEl>
                                        <p:attrNameLst>
                                          <p:attrName>style.visibility</p:attrName>
                                        </p:attrNameLst>
                                      </p:cBhvr>
                                      <p:to>
                                        <p:strVal val="visible"/>
                                      </p:to>
                                    </p:set>
                                    <p:animEffect transition="in" filter="wipe(down)">
                                      <p:cBhvr>
                                        <p:cTn id="28" dur="500"/>
                                        <p:tgtEl>
                                          <p:spTgt spid="26627">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6627">
                                            <p:txEl>
                                              <p:pRg st="5" end="5"/>
                                            </p:txEl>
                                          </p:spTgt>
                                        </p:tgtEl>
                                        <p:attrNameLst>
                                          <p:attrName>style.visibility</p:attrName>
                                        </p:attrNameLst>
                                      </p:cBhvr>
                                      <p:to>
                                        <p:strVal val="visible"/>
                                      </p:to>
                                    </p:set>
                                    <p:animEffect transition="in" filter="wipe(down)">
                                      <p:cBhvr>
                                        <p:cTn id="33" dur="500"/>
                                        <p:tgtEl>
                                          <p:spTgt spid="26627">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6627">
                                            <p:txEl>
                                              <p:pRg st="6" end="6"/>
                                            </p:txEl>
                                          </p:spTgt>
                                        </p:tgtEl>
                                        <p:attrNameLst>
                                          <p:attrName>style.visibility</p:attrName>
                                        </p:attrNameLst>
                                      </p:cBhvr>
                                      <p:to>
                                        <p:strVal val="visible"/>
                                      </p:to>
                                    </p:set>
                                    <p:animEffect transition="in" filter="wipe(down)">
                                      <p:cBhvr>
                                        <p:cTn id="38" dur="500"/>
                                        <p:tgtEl>
                                          <p:spTgt spid="2662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ldLvl="0" animBg="1"/>
      <p:bldP spid="26627"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395536" y="1628800"/>
            <a:ext cx="8229600" cy="648072"/>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（9）</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继续命令P（Proceed）</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651" name="Rectangle 3"/>
          <p:cNvSpPr>
            <a:spLocks noGrp="1" noChangeArrowheads="1"/>
          </p:cNvSpPr>
          <p:nvPr>
            <p:ph type="body" idx="1"/>
          </p:nvPr>
        </p:nvSpPr>
        <p:spPr>
          <a:xfrm>
            <a:off x="402094" y="2564904"/>
            <a:ext cx="8229600" cy="2376264"/>
          </a:xfrm>
        </p:spPr>
        <p:txBody>
          <a:bodyPr/>
          <a:lstStyle/>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rPr>
              <a:t>P[=地址][数值]</a:t>
            </a:r>
          </a:p>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P命令类似T命令，只是</a:t>
            </a:r>
            <a:r>
              <a:rPr lang="zh-CN" altLang="zh-CN"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rPr>
              <a:t>不会进入</a:t>
            </a:r>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子程序或中断服务程序中。</a:t>
            </a:r>
          </a:p>
          <a:p>
            <a:r>
              <a:rPr lang="zh-CN" altLang="zh-CN" dirty="0">
                <a:latin typeface="Times New Roman" panose="02020603050405020304" pitchFamily="18" charset="0"/>
                <a:ea typeface="微软雅黑" panose="020B0503020204020204" pitchFamily="34" charset="-122"/>
                <a:cs typeface="Times New Roman" panose="02020603050405020304" pitchFamily="18" charset="0"/>
              </a:rPr>
              <a:t>当不需要调试子程序或中断服务程序时，要用P命令。</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wipe(left)">
                                      <p:cBhvr>
                                        <p:cTn id="7" dur="500"/>
                                        <p:tgtEl>
                                          <p:spTgt spid="2867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27651">
                                            <p:txEl>
                                              <p:pRg st="0" end="0"/>
                                            </p:txEl>
                                          </p:spTgt>
                                        </p:tgtEl>
                                        <p:attrNameLst>
                                          <p:attrName>style.visibility</p:attrName>
                                        </p:attrNameLst>
                                      </p:cBhvr>
                                      <p:to>
                                        <p:strVal val="visible"/>
                                      </p:to>
                                    </p:set>
                                    <p:animEffect transition="in" filter="randombar(horizontal)">
                                      <p:cBhvr>
                                        <p:cTn id="12" dur="500"/>
                                        <p:tgtEl>
                                          <p:spTgt spid="276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27651">
                                            <p:txEl>
                                              <p:pRg st="1" end="1"/>
                                            </p:txEl>
                                          </p:spTgt>
                                        </p:tgtEl>
                                        <p:attrNameLst>
                                          <p:attrName>style.visibility</p:attrName>
                                        </p:attrNameLst>
                                      </p:cBhvr>
                                      <p:to>
                                        <p:strVal val="visible"/>
                                      </p:to>
                                    </p:set>
                                    <p:animEffect transition="in" filter="randombar(horizontal)">
                                      <p:cBhvr>
                                        <p:cTn id="17" dur="500"/>
                                        <p:tgtEl>
                                          <p:spTgt spid="276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7651">
                                            <p:txEl>
                                              <p:pRg st="2" end="2"/>
                                            </p:txEl>
                                          </p:spTgt>
                                        </p:tgtEl>
                                        <p:attrNameLst>
                                          <p:attrName>style.visibility</p:attrName>
                                        </p:attrNameLst>
                                      </p:cBhvr>
                                      <p:to>
                                        <p:strVal val="visible"/>
                                      </p:to>
                                    </p:set>
                                    <p:animEffect transition="in" filter="randombar(horizontal)">
                                      <p:cBhvr>
                                        <p:cTn id="22" dur="500"/>
                                        <p:tgtEl>
                                          <p:spTgt spid="2765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27651">
                                            <p:txEl>
                                              <p:pRg st="3" end="3"/>
                                            </p:txEl>
                                          </p:spTgt>
                                        </p:tgtEl>
                                        <p:attrNameLst>
                                          <p:attrName>style.visibility</p:attrName>
                                        </p:attrNameLst>
                                      </p:cBhvr>
                                      <p:to>
                                        <p:strVal val="visible"/>
                                      </p:to>
                                    </p:set>
                                    <p:animEffect transition="in" filter="randombar(horizontal)">
                                      <p:cBhvr>
                                        <p:cTn id="27" dur="500"/>
                                        <p:tgtEl>
                                          <p:spTgt spid="27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ldLvl="0" animBg="1"/>
      <p:bldP spid="27651"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07504" y="1412776"/>
            <a:ext cx="8229600" cy="864096"/>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退出命令Q（Quit）</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699" name="Rectangle 3"/>
          <p:cNvSpPr>
            <a:spLocks noGrp="1" noChangeArrowheads="1"/>
          </p:cNvSpPr>
          <p:nvPr>
            <p:ph type="body" idx="1"/>
          </p:nvPr>
        </p:nvSpPr>
        <p:spPr>
          <a:xfrm>
            <a:off x="1403648" y="2492896"/>
            <a:ext cx="6624736" cy="2088233"/>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Q</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Q命令使DEBUG程序退出，返回DOS。</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Q命令无存盘功能，可使用W命令存盘。</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fade">
                                      <p:cBhvr>
                                        <p:cTn id="7" dur="500"/>
                                        <p:tgtEl>
                                          <p:spTgt spid="2969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699">
                                            <p:txEl>
                                              <p:pRg st="0" end="0"/>
                                            </p:txEl>
                                          </p:spTgt>
                                        </p:tgtEl>
                                        <p:attrNameLst>
                                          <p:attrName>style.visibility</p:attrName>
                                        </p:attrNameLst>
                                      </p:cBhvr>
                                      <p:to>
                                        <p:strVal val="visible"/>
                                      </p:to>
                                    </p:set>
                                    <p:animEffect transition="in" filter="fade">
                                      <p:cBhvr>
                                        <p:cTn id="10" dur="500"/>
                                        <p:tgtEl>
                                          <p:spTgt spid="29699">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9699">
                                            <p:txEl>
                                              <p:pRg st="1" end="1"/>
                                            </p:txEl>
                                          </p:spTgt>
                                        </p:tgtEl>
                                        <p:attrNameLst>
                                          <p:attrName>style.visibility</p:attrName>
                                        </p:attrNameLst>
                                      </p:cBhvr>
                                      <p:to>
                                        <p:strVal val="visible"/>
                                      </p:to>
                                    </p:set>
                                    <p:animEffect transition="in" filter="fade">
                                      <p:cBhvr>
                                        <p:cTn id="15" dur="500"/>
                                        <p:tgtEl>
                                          <p:spTgt spid="2969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9699">
                                            <p:txEl>
                                              <p:pRg st="2" end="2"/>
                                            </p:txEl>
                                          </p:spTgt>
                                        </p:tgtEl>
                                        <p:attrNameLst>
                                          <p:attrName>style.visibility</p:attrName>
                                        </p:attrNameLst>
                                      </p:cBhvr>
                                      <p:to>
                                        <p:strVal val="visible"/>
                                      </p:to>
                                    </p:set>
                                    <p:animEffect transition="in" filter="fade">
                                      <p:cBhvr>
                                        <p:cTn id="20" dur="500"/>
                                        <p:tgtEl>
                                          <p:spTgt spid="2969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9699">
                                            <p:txEl>
                                              <p:pRg st="3" end="3"/>
                                            </p:txEl>
                                          </p:spTgt>
                                        </p:tgtEl>
                                        <p:attrNameLst>
                                          <p:attrName>style.visibility</p:attrName>
                                        </p:attrNameLst>
                                      </p:cBhvr>
                                      <p:to>
                                        <p:strVal val="visible"/>
                                      </p:to>
                                    </p:set>
                                    <p:animEffect transition="in" filter="fade">
                                      <p:cBhvr>
                                        <p:cTn id="25" dur="500"/>
                                        <p:tgtEl>
                                          <p:spTgt spid="296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8" grpId="0" bldLvl="0" animBg="1"/>
      <p:bldP spid="29699"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51520" y="1493913"/>
            <a:ext cx="8229600" cy="638943"/>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（11）</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命名命令N（Name）</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723" name="Rectangle 3"/>
          <p:cNvSpPr>
            <a:spLocks noGrp="1" noChangeArrowheads="1"/>
          </p:cNvSpPr>
          <p:nvPr>
            <p:ph type="body" idx="1"/>
          </p:nvPr>
        </p:nvSpPr>
        <p:spPr>
          <a:xfrm>
            <a:off x="611560" y="2375115"/>
            <a:ext cx="8229600" cy="2376264"/>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N 文件标识符1[,文件标识符2]</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N命令把一个或两个文件标识符存入DEBUG的文件控制块FCB中，以便在其后用L或W命令把文件装入或存盘。</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文件标识符就是包含路径的文件全名。</a:t>
            </a:r>
          </a:p>
          <a:p>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Effect transition="in" filter="fade">
                                      <p:cBhvr>
                                        <p:cTn id="7" dur="500"/>
                                        <p:tgtEl>
                                          <p:spTgt spid="307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723">
                                            <p:txEl>
                                              <p:pRg st="0" end="0"/>
                                            </p:txEl>
                                          </p:spTgt>
                                        </p:tgtEl>
                                        <p:attrNameLst>
                                          <p:attrName>style.visibility</p:attrName>
                                        </p:attrNameLst>
                                      </p:cBhvr>
                                      <p:to>
                                        <p:strVal val="visible"/>
                                      </p:to>
                                    </p:set>
                                    <p:animEffect transition="in" filter="fade">
                                      <p:cBhvr>
                                        <p:cTn id="10" dur="500"/>
                                        <p:tgtEl>
                                          <p:spTgt spid="3072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723">
                                            <p:txEl>
                                              <p:pRg st="1" end="1"/>
                                            </p:txEl>
                                          </p:spTgt>
                                        </p:tgtEl>
                                        <p:attrNameLst>
                                          <p:attrName>style.visibility</p:attrName>
                                        </p:attrNameLst>
                                      </p:cBhvr>
                                      <p:to>
                                        <p:strVal val="visible"/>
                                      </p:to>
                                    </p:set>
                                    <p:animEffect transition="in" filter="fade">
                                      <p:cBhvr>
                                        <p:cTn id="15" dur="500"/>
                                        <p:tgtEl>
                                          <p:spTgt spid="3072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723">
                                            <p:txEl>
                                              <p:pRg st="2" end="2"/>
                                            </p:txEl>
                                          </p:spTgt>
                                        </p:tgtEl>
                                        <p:attrNameLst>
                                          <p:attrName>style.visibility</p:attrName>
                                        </p:attrNameLst>
                                      </p:cBhvr>
                                      <p:to>
                                        <p:strVal val="visible"/>
                                      </p:to>
                                    </p:set>
                                    <p:animEffect transition="in" filter="fade">
                                      <p:cBhvr>
                                        <p:cTn id="20" dur="500"/>
                                        <p:tgtEl>
                                          <p:spTgt spid="3072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0723">
                                            <p:txEl>
                                              <p:pRg st="3" end="3"/>
                                            </p:txEl>
                                          </p:spTgt>
                                        </p:tgtEl>
                                        <p:attrNameLst>
                                          <p:attrName>style.visibility</p:attrName>
                                        </p:attrNameLst>
                                      </p:cBhvr>
                                      <p:to>
                                        <p:strVal val="visible"/>
                                      </p:to>
                                    </p:set>
                                    <p:animEffect transition="in" filter="fade">
                                      <p:cBhvr>
                                        <p:cTn id="25" dur="500"/>
                                        <p:tgtEl>
                                          <p:spTgt spid="307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ldLvl="0" animBg="1"/>
      <p:bldP spid="30723" grpId="0" build="p"/>
    </p:bldLst>
  </p:timing>
</p:sld>
</file>

<file path=ppt/slides/slide130.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619672" y="1484784"/>
            <a:ext cx="5277272" cy="716631"/>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（12）</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装入命令L（Load）</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747" name="Rectangle 3"/>
          <p:cNvSpPr>
            <a:spLocks noGrp="1" noChangeArrowheads="1"/>
          </p:cNvSpPr>
          <p:nvPr>
            <p:ph type="body" idx="1"/>
          </p:nvPr>
        </p:nvSpPr>
        <p:spPr>
          <a:xfrm>
            <a:off x="457200" y="2057399"/>
            <a:ext cx="8229600" cy="4525963"/>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L [地址]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格式1：装入由N命令指定的文件</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L 地址 驱动器 扇区号 扇区数</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；格式2：装入指定磁盘</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；扇区范围的内容</a:t>
            </a:r>
          </a:p>
          <a:p>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格式1，</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装载一个文件到给定的主存地址处；如未指定地址，则装入CS:100开始的存储区；对于COM和EXE文件，则一定装入CS:100位置处。</a:t>
            </a:r>
          </a:p>
          <a:p>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格式2</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，装载磁盘的若干扇区（最多80h）到指定的主存地址处；默认段地址是CS。其中，0表示A盘，1表示B盘，2表示C盘，……。例如将硬盘C的DOS引导扇区（逻辑扇区号为0的一个扇区）内容装入，然后查看的命令是：</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－L 0 2 0 1</a:t>
            </a:r>
          </a:p>
          <a:p>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		－D CS:0</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500"/>
                                        <p:tgtEl>
                                          <p:spTgt spid="317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747">
                                            <p:txEl>
                                              <p:pRg st="0" end="0"/>
                                            </p:txEl>
                                          </p:spTgt>
                                        </p:tgtEl>
                                        <p:attrNameLst>
                                          <p:attrName>style.visibility</p:attrName>
                                        </p:attrNameLst>
                                      </p:cBhvr>
                                      <p:to>
                                        <p:strVal val="visible"/>
                                      </p:to>
                                    </p:set>
                                    <p:animEffect transition="in" filter="fade">
                                      <p:cBhvr>
                                        <p:cTn id="10" dur="500"/>
                                        <p:tgtEl>
                                          <p:spTgt spid="31747">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1747">
                                            <p:txEl>
                                              <p:pRg st="1" end="1"/>
                                            </p:txEl>
                                          </p:spTgt>
                                        </p:tgtEl>
                                        <p:attrNameLst>
                                          <p:attrName>style.visibility</p:attrName>
                                        </p:attrNameLst>
                                      </p:cBhvr>
                                      <p:to>
                                        <p:strVal val="visible"/>
                                      </p:to>
                                    </p:set>
                                    <p:animEffect transition="in" filter="fade">
                                      <p:cBhvr>
                                        <p:cTn id="15" dur="500"/>
                                        <p:tgtEl>
                                          <p:spTgt spid="3174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1747">
                                            <p:txEl>
                                              <p:pRg st="2" end="2"/>
                                            </p:txEl>
                                          </p:spTgt>
                                        </p:tgtEl>
                                        <p:attrNameLst>
                                          <p:attrName>style.visibility</p:attrName>
                                        </p:attrNameLst>
                                      </p:cBhvr>
                                      <p:to>
                                        <p:strVal val="visible"/>
                                      </p:to>
                                    </p:set>
                                    <p:animEffect transition="in" filter="fade">
                                      <p:cBhvr>
                                        <p:cTn id="20" dur="500"/>
                                        <p:tgtEl>
                                          <p:spTgt spid="3174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1747">
                                            <p:txEl>
                                              <p:pRg st="3" end="3"/>
                                            </p:txEl>
                                          </p:spTgt>
                                        </p:tgtEl>
                                        <p:attrNameLst>
                                          <p:attrName>style.visibility</p:attrName>
                                        </p:attrNameLst>
                                      </p:cBhvr>
                                      <p:to>
                                        <p:strVal val="visible"/>
                                      </p:to>
                                    </p:set>
                                    <p:animEffect transition="in" filter="fade">
                                      <p:cBhvr>
                                        <p:cTn id="25" dur="500"/>
                                        <p:tgtEl>
                                          <p:spTgt spid="31747">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1747">
                                            <p:txEl>
                                              <p:pRg st="4" end="4"/>
                                            </p:txEl>
                                          </p:spTgt>
                                        </p:tgtEl>
                                        <p:attrNameLst>
                                          <p:attrName>style.visibility</p:attrName>
                                        </p:attrNameLst>
                                      </p:cBhvr>
                                      <p:to>
                                        <p:strVal val="visible"/>
                                      </p:to>
                                    </p:set>
                                    <p:animEffect transition="in" filter="fade">
                                      <p:cBhvr>
                                        <p:cTn id="30" dur="500"/>
                                        <p:tgtEl>
                                          <p:spTgt spid="31747">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1747">
                                            <p:txEl>
                                              <p:pRg st="5" end="5"/>
                                            </p:txEl>
                                          </p:spTgt>
                                        </p:tgtEl>
                                        <p:attrNameLst>
                                          <p:attrName>style.visibility</p:attrName>
                                        </p:attrNameLst>
                                      </p:cBhvr>
                                      <p:to>
                                        <p:strVal val="visible"/>
                                      </p:to>
                                    </p:set>
                                    <p:animEffect transition="in" filter="fade">
                                      <p:cBhvr>
                                        <p:cTn id="35" dur="500"/>
                                        <p:tgtEl>
                                          <p:spTgt spid="31747">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1747">
                                            <p:txEl>
                                              <p:pRg st="6" end="6"/>
                                            </p:txEl>
                                          </p:spTgt>
                                        </p:tgtEl>
                                        <p:attrNameLst>
                                          <p:attrName>style.visibility</p:attrName>
                                        </p:attrNameLst>
                                      </p:cBhvr>
                                      <p:to>
                                        <p:strVal val="visible"/>
                                      </p:to>
                                    </p:set>
                                    <p:animEffect transition="in" filter="fade">
                                      <p:cBhvr>
                                        <p:cTn id="40" dur="500"/>
                                        <p:tgtEl>
                                          <p:spTgt spid="31747">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1747">
                                            <p:txEl>
                                              <p:pRg st="7" end="7"/>
                                            </p:txEl>
                                          </p:spTgt>
                                        </p:tgtEl>
                                        <p:attrNameLst>
                                          <p:attrName>style.visibility</p:attrName>
                                        </p:attrNameLst>
                                      </p:cBhvr>
                                      <p:to>
                                        <p:strVal val="visible"/>
                                      </p:to>
                                    </p:set>
                                    <p:animEffect transition="in" filter="fade">
                                      <p:cBhvr>
                                        <p:cTn id="45" dur="500"/>
                                        <p:tgtEl>
                                          <p:spTgt spid="3174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bldLvl="0" animBg="1"/>
      <p:bldP spid="31747"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547664" y="1628800"/>
            <a:ext cx="5554960" cy="422920"/>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（13）</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写盘命令W（Write）</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771" name="Rectangle 3"/>
          <p:cNvSpPr>
            <a:spLocks noGrp="1" noChangeArrowheads="1"/>
          </p:cNvSpPr>
          <p:nvPr>
            <p:ph type="body" idx="1"/>
          </p:nvPr>
        </p:nvSpPr>
        <p:spPr>
          <a:xfrm>
            <a:off x="539552" y="2204864"/>
            <a:ext cx="8229600" cy="3633267"/>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W[地址]</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；格式1，将由N命令指定的文件写入磁盘</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000" dirty="0">
                <a:solidFill>
                  <a:schemeClr val="tx2">
                    <a:lumMod val="60000"/>
                    <a:lumOff val="40000"/>
                  </a:schemeClr>
                </a:solidFill>
                <a:latin typeface="Times New Roman" panose="02020603050405020304" pitchFamily="18" charset="0"/>
                <a:ea typeface="微软雅黑" panose="020B0503020204020204" pitchFamily="34" charset="-122"/>
                <a:cs typeface="Times New Roman" panose="02020603050405020304" pitchFamily="18" charset="0"/>
              </a:rPr>
              <a:t>W 地址 驱动器 扇区号 扇区数	</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；格式2：把数据写入</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；指定磁盘扇区范围</a:t>
            </a:r>
          </a:p>
          <a:p>
            <a:r>
              <a:rPr lang="zh-CN" altLang="zh-CN" sz="2000" dirty="0">
                <a:solidFill>
                  <a:schemeClr val="accent2"/>
                </a:solidFill>
                <a:latin typeface="Times New Roman" panose="02020603050405020304" pitchFamily="18" charset="0"/>
                <a:ea typeface="微软雅黑" panose="020B0503020204020204" pitchFamily="34" charset="-122"/>
                <a:cs typeface="Times New Roman" panose="02020603050405020304" pitchFamily="18" charset="0"/>
              </a:rPr>
              <a:t>格式1</a:t>
            </a: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将指定开始地址的数据写入一个文件（这个文件应该已经用N命令命名）；如未指定地址则从CS:IP开始。要写入文件的字节数应先放入BX（高字）和CX（低字）中。如果采用这个W命令保存可执行程序，扩展名应是COM；它不能写入具有EXE和HEX扩展名的文件。</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770"/>
                                        </p:tgtEl>
                                        <p:attrNameLst>
                                          <p:attrName>style.visibility</p:attrName>
                                        </p:attrNameLst>
                                      </p:cBhvr>
                                      <p:to>
                                        <p:strVal val="visible"/>
                                      </p:to>
                                    </p:set>
                                    <p:animEffect transition="in" filter="fade">
                                      <p:cBhvr>
                                        <p:cTn id="7" dur="500"/>
                                        <p:tgtEl>
                                          <p:spTgt spid="3277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771">
                                            <p:txEl>
                                              <p:pRg st="0" end="0"/>
                                            </p:txEl>
                                          </p:spTgt>
                                        </p:tgtEl>
                                        <p:attrNameLst>
                                          <p:attrName>style.visibility</p:attrName>
                                        </p:attrNameLst>
                                      </p:cBhvr>
                                      <p:to>
                                        <p:strVal val="visible"/>
                                      </p:to>
                                    </p:set>
                                    <p:animEffect transition="in" filter="fade">
                                      <p:cBhvr>
                                        <p:cTn id="10" dur="500"/>
                                        <p:tgtEl>
                                          <p:spTgt spid="3277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2771">
                                            <p:txEl>
                                              <p:pRg st="1" end="1"/>
                                            </p:txEl>
                                          </p:spTgt>
                                        </p:tgtEl>
                                        <p:attrNameLst>
                                          <p:attrName>style.visibility</p:attrName>
                                        </p:attrNameLst>
                                      </p:cBhvr>
                                      <p:to>
                                        <p:strVal val="visible"/>
                                      </p:to>
                                    </p:set>
                                    <p:animEffect transition="in" filter="fade">
                                      <p:cBhvr>
                                        <p:cTn id="15" dur="500"/>
                                        <p:tgtEl>
                                          <p:spTgt spid="32771">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2771">
                                            <p:txEl>
                                              <p:pRg st="2" end="2"/>
                                            </p:txEl>
                                          </p:spTgt>
                                        </p:tgtEl>
                                        <p:attrNameLst>
                                          <p:attrName>style.visibility</p:attrName>
                                        </p:attrNameLst>
                                      </p:cBhvr>
                                      <p:to>
                                        <p:strVal val="visible"/>
                                      </p:to>
                                    </p:set>
                                    <p:animEffect transition="in" filter="fade">
                                      <p:cBhvr>
                                        <p:cTn id="20" dur="500"/>
                                        <p:tgtEl>
                                          <p:spTgt spid="3277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771">
                                            <p:txEl>
                                              <p:pRg st="3" end="3"/>
                                            </p:txEl>
                                          </p:spTgt>
                                        </p:tgtEl>
                                        <p:attrNameLst>
                                          <p:attrName>style.visibility</p:attrName>
                                        </p:attrNameLst>
                                      </p:cBhvr>
                                      <p:to>
                                        <p:strVal val="visible"/>
                                      </p:to>
                                    </p:set>
                                    <p:animEffect transition="in" filter="fade">
                                      <p:cBhvr>
                                        <p:cTn id="25" dur="500"/>
                                        <p:tgtEl>
                                          <p:spTgt spid="32771">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2771">
                                            <p:txEl>
                                              <p:pRg st="4" end="4"/>
                                            </p:txEl>
                                          </p:spTgt>
                                        </p:tgtEl>
                                        <p:attrNameLst>
                                          <p:attrName>style.visibility</p:attrName>
                                        </p:attrNameLst>
                                      </p:cBhvr>
                                      <p:to>
                                        <p:strVal val="visible"/>
                                      </p:to>
                                    </p:set>
                                    <p:animEffect transition="in" filter="fade">
                                      <p:cBhvr>
                                        <p:cTn id="30" dur="500"/>
                                        <p:tgtEl>
                                          <p:spTgt spid="327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bldLvl="0" animBg="1"/>
      <p:bldP spid="32771"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835696" y="1772816"/>
            <a:ext cx="5184576" cy="432048"/>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（13）写盘命令W（Write）</a:t>
            </a:r>
          </a:p>
        </p:txBody>
      </p:sp>
      <p:sp>
        <p:nvSpPr>
          <p:cNvPr id="33795" name="Rectangle 3"/>
          <p:cNvSpPr>
            <a:spLocks noGrp="1" noChangeArrowheads="1"/>
          </p:cNvSpPr>
          <p:nvPr>
            <p:ph type="body" idx="1"/>
          </p:nvPr>
        </p:nvSpPr>
        <p:spPr>
          <a:xfrm>
            <a:off x="457200" y="2708920"/>
            <a:ext cx="8229600" cy="3057203"/>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格式2，将指定地址的数据写入磁盘的若干扇区（最多80h）；如果没有给出段地址，则默认段是CS。其他说明同L命令。</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格式2直接对磁盘写入，没有经过DOS文件系统管理，所以一定要小心，否则可能无法利用DOS文件系统读写。</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fade">
                                      <p:cBhvr>
                                        <p:cTn id="7" dur="500"/>
                                        <p:tgtEl>
                                          <p:spTgt spid="3379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795">
                                            <p:txEl>
                                              <p:pRg st="0" end="0"/>
                                            </p:txEl>
                                          </p:spTgt>
                                        </p:tgtEl>
                                        <p:attrNameLst>
                                          <p:attrName>style.visibility</p:attrName>
                                        </p:attrNameLst>
                                      </p:cBhvr>
                                      <p:to>
                                        <p:strVal val="visible"/>
                                      </p:to>
                                    </p:set>
                                    <p:animEffect transition="in" filter="fade">
                                      <p:cBhvr>
                                        <p:cTn id="10" dur="500"/>
                                        <p:tgtEl>
                                          <p:spTgt spid="3379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3795">
                                            <p:txEl>
                                              <p:pRg st="1" end="1"/>
                                            </p:txEl>
                                          </p:spTgt>
                                        </p:tgtEl>
                                        <p:attrNameLst>
                                          <p:attrName>style.visibility</p:attrName>
                                        </p:attrNameLst>
                                      </p:cBhvr>
                                      <p:to>
                                        <p:strVal val="visible"/>
                                      </p:to>
                                    </p:set>
                                    <p:animEffect transition="in" filter="fade">
                                      <p:cBhvr>
                                        <p:cTn id="15" dur="500"/>
                                        <p:tgtEl>
                                          <p:spTgt spid="337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bldLvl="0" animBg="1"/>
      <p:bldP spid="33795"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79512" y="1268760"/>
            <a:ext cx="8229600" cy="1143000"/>
          </a:xfrm>
        </p:spPr>
        <p:txBody>
          <a:bodyPr/>
          <a:lstStyle/>
          <a:p>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rPr>
              <a:t>（14）</a:t>
            </a:r>
            <a:r>
              <a:rPr lang="zh-CN" altLang="zh-CN" sz="2400" dirty="0">
                <a:latin typeface="Times New Roman" panose="02020603050405020304" pitchFamily="18" charset="0"/>
                <a:ea typeface="微软雅黑" panose="020B0503020204020204" pitchFamily="34" charset="-122"/>
                <a:cs typeface="Times New Roman" panose="02020603050405020304" pitchFamily="18" charset="0"/>
                <a:hlinkClick r:id="rId3" action="ppaction://hlinksldjump"/>
              </a:rPr>
              <a:t>其他命令</a:t>
            </a:r>
            <a:endParaRPr lang="zh-CN"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4819" name="Rectangle 3"/>
          <p:cNvSpPr>
            <a:spLocks noGrp="1" noChangeArrowheads="1"/>
          </p:cNvSpPr>
          <p:nvPr>
            <p:ph type="body" idx="1"/>
          </p:nvPr>
        </p:nvSpPr>
        <p:spPr>
          <a:xfrm>
            <a:off x="457200" y="2636912"/>
            <a:ext cx="8229600" cy="3489251"/>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比较命令C（Compare）</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C 范围 地址	；将指定范围的内容与指定地址的内容			；比较</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16进制数计算命令H（Hex）</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H 数字1，数字2	；同时计算两个16进制数字				；和与差</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输入命令I（Input）</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I 端口地址 	；从指定I/O端口输入一个字节，				；并显示</a:t>
            </a: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fade">
                                      <p:cBhvr>
                                        <p:cTn id="7" dur="500"/>
                                        <p:tgtEl>
                                          <p:spTgt spid="348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819">
                                            <p:txEl>
                                              <p:pRg st="0" end="0"/>
                                            </p:txEl>
                                          </p:spTgt>
                                        </p:tgtEl>
                                        <p:attrNameLst>
                                          <p:attrName>style.visibility</p:attrName>
                                        </p:attrNameLst>
                                      </p:cBhvr>
                                      <p:to>
                                        <p:strVal val="visible"/>
                                      </p:to>
                                    </p:set>
                                    <p:animEffect transition="in" filter="fade">
                                      <p:cBhvr>
                                        <p:cTn id="10" dur="500"/>
                                        <p:tgtEl>
                                          <p:spTgt spid="34819">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4819">
                                            <p:txEl>
                                              <p:pRg st="1" end="1"/>
                                            </p:txEl>
                                          </p:spTgt>
                                        </p:tgtEl>
                                        <p:attrNameLst>
                                          <p:attrName>style.visibility</p:attrName>
                                        </p:attrNameLst>
                                      </p:cBhvr>
                                      <p:to>
                                        <p:strVal val="visible"/>
                                      </p:to>
                                    </p:set>
                                    <p:animEffect transition="in" filter="fade">
                                      <p:cBhvr>
                                        <p:cTn id="13" dur="500"/>
                                        <p:tgtEl>
                                          <p:spTgt spid="3481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4819">
                                            <p:txEl>
                                              <p:pRg st="2" end="2"/>
                                            </p:txEl>
                                          </p:spTgt>
                                        </p:tgtEl>
                                        <p:attrNameLst>
                                          <p:attrName>style.visibility</p:attrName>
                                        </p:attrNameLst>
                                      </p:cBhvr>
                                      <p:to>
                                        <p:strVal val="visible"/>
                                      </p:to>
                                    </p:set>
                                    <p:animEffect transition="in" filter="fade">
                                      <p:cBhvr>
                                        <p:cTn id="18" dur="500"/>
                                        <p:tgtEl>
                                          <p:spTgt spid="34819">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4819">
                                            <p:txEl>
                                              <p:pRg st="3" end="3"/>
                                            </p:txEl>
                                          </p:spTgt>
                                        </p:tgtEl>
                                        <p:attrNameLst>
                                          <p:attrName>style.visibility</p:attrName>
                                        </p:attrNameLst>
                                      </p:cBhvr>
                                      <p:to>
                                        <p:strVal val="visible"/>
                                      </p:to>
                                    </p:set>
                                    <p:animEffect transition="in" filter="fade">
                                      <p:cBhvr>
                                        <p:cTn id="21" dur="500"/>
                                        <p:tgtEl>
                                          <p:spTgt spid="348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4819">
                                            <p:txEl>
                                              <p:pRg st="4" end="4"/>
                                            </p:txEl>
                                          </p:spTgt>
                                        </p:tgtEl>
                                        <p:attrNameLst>
                                          <p:attrName>style.visibility</p:attrName>
                                        </p:attrNameLst>
                                      </p:cBhvr>
                                      <p:to>
                                        <p:strVal val="visible"/>
                                      </p:to>
                                    </p:set>
                                    <p:animEffect transition="in" filter="fade">
                                      <p:cBhvr>
                                        <p:cTn id="26" dur="500"/>
                                        <p:tgtEl>
                                          <p:spTgt spid="34819">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4819">
                                            <p:txEl>
                                              <p:pRg st="5" end="5"/>
                                            </p:txEl>
                                          </p:spTgt>
                                        </p:tgtEl>
                                        <p:attrNameLst>
                                          <p:attrName>style.visibility</p:attrName>
                                        </p:attrNameLst>
                                      </p:cBhvr>
                                      <p:to>
                                        <p:strVal val="visible"/>
                                      </p:to>
                                    </p:set>
                                    <p:animEffect transition="in" filter="fade">
                                      <p:cBhvr>
                                        <p:cTn id="29" dur="5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bldLvl="0" animBg="1"/>
      <p:bldP spid="34819"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979712" y="1484784"/>
            <a:ext cx="4701208" cy="648073"/>
          </a:xfrm>
        </p:spPr>
        <p:txBody>
          <a:bodyPr/>
          <a:lstStyle/>
          <a:p>
            <a:r>
              <a:rPr lang="zh-CN" altLang="zh-CN" sz="2400" dirty="0">
                <a:latin typeface="微软雅黑" panose="020B0503020204020204" pitchFamily="34" charset="-122"/>
                <a:ea typeface="微软雅黑" panose="020B0503020204020204" pitchFamily="34" charset="-122"/>
                <a:hlinkClick r:id="rId3" action="ppaction://hlinksldjump"/>
              </a:rPr>
              <a:t>其他命令</a:t>
            </a:r>
            <a:endParaRPr lang="zh-CN" altLang="zh-CN" sz="2400" dirty="0">
              <a:latin typeface="微软雅黑" panose="020B0503020204020204" pitchFamily="34" charset="-122"/>
              <a:ea typeface="微软雅黑" panose="020B0503020204020204" pitchFamily="34" charset="-122"/>
            </a:endParaRPr>
          </a:p>
        </p:txBody>
      </p:sp>
      <p:sp>
        <p:nvSpPr>
          <p:cNvPr id="35843" name="Rectangle 3"/>
          <p:cNvSpPr>
            <a:spLocks noGrp="1" noChangeArrowheads="1"/>
          </p:cNvSpPr>
          <p:nvPr>
            <p:ph type="body" idx="1"/>
          </p:nvPr>
        </p:nvSpPr>
        <p:spPr>
          <a:xfrm>
            <a:off x="452400" y="2564905"/>
            <a:ext cx="8229600" cy="3024336"/>
          </a:xfrm>
        </p:spPr>
        <p:txBody>
          <a:bodyPr/>
          <a:lstStyle/>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输出命令O（Output）</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O 端口地址 字节数据		；将数据输出到指定的</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；I/O端口</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传送命令M（Move）</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M 范围 地址		；将指定范围的内容传送到指定</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					；指定地址处</a:t>
            </a:r>
          </a:p>
          <a:p>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查找命令S（Search）</a:t>
            </a:r>
          </a:p>
          <a:p>
            <a:pPr lvl="1"/>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S 范围 [指定串]		；在指定范围内查找指定的数据</a:t>
            </a:r>
          </a:p>
          <a:p>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endParaRPr lang="zh-CN"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占位符 2"/>
          <p:cNvSpPr txBox="1"/>
          <p:nvPr/>
        </p:nvSpPr>
        <p:spPr>
          <a:xfrm>
            <a:off x="448280" y="990630"/>
            <a:ext cx="5832475" cy="51241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None/>
              <a:defRPr sz="2400" b="1">
                <a:solidFill>
                  <a:srgbClr val="000000"/>
                </a:solidFill>
                <a:latin typeface="微软雅黑" panose="020B0503020204020204" pitchFamily="34" charset="-122"/>
                <a:ea typeface="微软雅黑" panose="020B0503020204020204" pitchFamily="34" charset="-122"/>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None/>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altLang="zh-CN" kern="0">
                <a:latin typeface="Times New Roman" panose="02020603050405020304" pitchFamily="18" charset="0"/>
                <a:cs typeface="Times New Roman" panose="02020603050405020304" pitchFamily="18" charset="0"/>
              </a:rPr>
              <a:t>4.9</a:t>
            </a:r>
            <a:r>
              <a:rPr lang="zh-CN" altLang="en-US" kern="0">
                <a:latin typeface="Times New Roman" panose="02020603050405020304" pitchFamily="18" charset="0"/>
                <a:cs typeface="Times New Roman" panose="02020603050405020304" pitchFamily="18" charset="0"/>
              </a:rPr>
              <a:t>调试程序</a:t>
            </a:r>
            <a:r>
              <a:rPr lang="en-US" altLang="zh-CN" kern="0">
                <a:latin typeface="Times New Roman" panose="02020603050405020304" pitchFamily="18" charset="0"/>
                <a:cs typeface="Times New Roman" panose="02020603050405020304" pitchFamily="18" charset="0"/>
              </a:rPr>
              <a:t>DEBUG</a:t>
            </a:r>
            <a:r>
              <a:rPr lang="zh-CN" altLang="en-US" kern="0">
                <a:latin typeface="Times New Roman" panose="02020603050405020304" pitchFamily="18" charset="0"/>
                <a:cs typeface="Times New Roman" panose="02020603050405020304" pitchFamily="18" charset="0"/>
              </a:rPr>
              <a:t>的使用</a:t>
            </a:r>
            <a:endParaRPr lang="zh-CN" altLang="en-US" kern="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500"/>
                                        <p:tgtEl>
                                          <p:spTgt spid="358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843">
                                            <p:txEl>
                                              <p:pRg st="0" end="0"/>
                                            </p:txEl>
                                          </p:spTgt>
                                        </p:tgtEl>
                                        <p:attrNameLst>
                                          <p:attrName>style.visibility</p:attrName>
                                        </p:attrNameLst>
                                      </p:cBhvr>
                                      <p:to>
                                        <p:strVal val="visible"/>
                                      </p:to>
                                    </p:set>
                                    <p:animEffect transition="in" filter="fade">
                                      <p:cBhvr>
                                        <p:cTn id="10" dur="500"/>
                                        <p:tgtEl>
                                          <p:spTgt spid="35843">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843">
                                            <p:txEl>
                                              <p:pRg st="1" end="1"/>
                                            </p:txEl>
                                          </p:spTgt>
                                        </p:tgtEl>
                                        <p:attrNameLst>
                                          <p:attrName>style.visibility</p:attrName>
                                        </p:attrNameLst>
                                      </p:cBhvr>
                                      <p:to>
                                        <p:strVal val="visible"/>
                                      </p:to>
                                    </p:set>
                                    <p:animEffect transition="in" filter="fade">
                                      <p:cBhvr>
                                        <p:cTn id="13" dur="500"/>
                                        <p:tgtEl>
                                          <p:spTgt spid="35843">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5843">
                                            <p:txEl>
                                              <p:pRg st="2" end="2"/>
                                            </p:txEl>
                                          </p:spTgt>
                                        </p:tgtEl>
                                        <p:attrNameLst>
                                          <p:attrName>style.visibility</p:attrName>
                                        </p:attrNameLst>
                                      </p:cBhvr>
                                      <p:to>
                                        <p:strVal val="visible"/>
                                      </p:to>
                                    </p:set>
                                    <p:animEffect transition="in" filter="fade">
                                      <p:cBhvr>
                                        <p:cTn id="16" dur="500"/>
                                        <p:tgtEl>
                                          <p:spTgt spid="3584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5843">
                                            <p:txEl>
                                              <p:pRg st="3" end="3"/>
                                            </p:txEl>
                                          </p:spTgt>
                                        </p:tgtEl>
                                        <p:attrNameLst>
                                          <p:attrName>style.visibility</p:attrName>
                                        </p:attrNameLst>
                                      </p:cBhvr>
                                      <p:to>
                                        <p:strVal val="visible"/>
                                      </p:to>
                                    </p:set>
                                    <p:animEffect transition="in" filter="fade">
                                      <p:cBhvr>
                                        <p:cTn id="21" dur="500"/>
                                        <p:tgtEl>
                                          <p:spTgt spid="3584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5843">
                                            <p:txEl>
                                              <p:pRg st="4" end="4"/>
                                            </p:txEl>
                                          </p:spTgt>
                                        </p:tgtEl>
                                        <p:attrNameLst>
                                          <p:attrName>style.visibility</p:attrName>
                                        </p:attrNameLst>
                                      </p:cBhvr>
                                      <p:to>
                                        <p:strVal val="visible"/>
                                      </p:to>
                                    </p:set>
                                    <p:animEffect transition="in" filter="fade">
                                      <p:cBhvr>
                                        <p:cTn id="24" dur="500"/>
                                        <p:tgtEl>
                                          <p:spTgt spid="35843">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5843">
                                            <p:txEl>
                                              <p:pRg st="5" end="5"/>
                                            </p:txEl>
                                          </p:spTgt>
                                        </p:tgtEl>
                                        <p:attrNameLst>
                                          <p:attrName>style.visibility</p:attrName>
                                        </p:attrNameLst>
                                      </p:cBhvr>
                                      <p:to>
                                        <p:strVal val="visible"/>
                                      </p:to>
                                    </p:set>
                                    <p:animEffect transition="in" filter="fade">
                                      <p:cBhvr>
                                        <p:cTn id="27" dur="500"/>
                                        <p:tgtEl>
                                          <p:spTgt spid="3584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843">
                                            <p:txEl>
                                              <p:pRg st="6" end="6"/>
                                            </p:txEl>
                                          </p:spTgt>
                                        </p:tgtEl>
                                        <p:attrNameLst>
                                          <p:attrName>style.visibility</p:attrName>
                                        </p:attrNameLst>
                                      </p:cBhvr>
                                      <p:to>
                                        <p:strVal val="visible"/>
                                      </p:to>
                                    </p:set>
                                    <p:animEffect transition="in" filter="fade">
                                      <p:cBhvr>
                                        <p:cTn id="32" dur="500"/>
                                        <p:tgtEl>
                                          <p:spTgt spid="35843">
                                            <p:txEl>
                                              <p:pRg st="6" end="6"/>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5843">
                                            <p:txEl>
                                              <p:pRg st="7" end="7"/>
                                            </p:txEl>
                                          </p:spTgt>
                                        </p:tgtEl>
                                        <p:attrNameLst>
                                          <p:attrName>style.visibility</p:attrName>
                                        </p:attrNameLst>
                                      </p:cBhvr>
                                      <p:to>
                                        <p:strVal val="visible"/>
                                      </p:to>
                                    </p:set>
                                    <p:animEffect transition="in" filter="fade">
                                      <p:cBhvr>
                                        <p:cTn id="35" dur="500"/>
                                        <p:tgtEl>
                                          <p:spTgt spid="358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ldLvl="0" animBg="1"/>
      <p:bldP spid="35843" grpId="0"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1.</a:t>
            </a:r>
            <a:r>
              <a:rPr lang="zh-CN" altLang="en-US" dirty="0"/>
              <a:t>某数据段内有如下数据定义</a:t>
            </a:r>
          </a:p>
          <a:p>
            <a:r>
              <a:rPr lang="en-US" altLang="zh-CN" sz="1800" dirty="0">
                <a:latin typeface="Times New Roman" panose="02020603050405020304" pitchFamily="18" charset="0"/>
                <a:cs typeface="Times New Roman" panose="02020603050405020304" pitchFamily="18" charset="0"/>
              </a:rPr>
              <a:t>X1   </a:t>
            </a:r>
            <a:r>
              <a:rPr lang="en-US" altLang="zh-CN" sz="1800" dirty="0" err="1">
                <a:latin typeface="Times New Roman" panose="02020603050405020304" pitchFamily="18" charset="0"/>
                <a:cs typeface="Times New Roman" panose="02020603050405020304" pitchFamily="18" charset="0"/>
              </a:rPr>
              <a:t>db</a:t>
            </a:r>
            <a:r>
              <a:rPr lang="en-US" altLang="zh-CN" sz="1800" dirty="0">
                <a:latin typeface="Times New Roman" panose="02020603050405020304" pitchFamily="18" charset="0"/>
                <a:cs typeface="Times New Roman" panose="02020603050405020304" pitchFamily="18" charset="0"/>
              </a:rPr>
              <a:t>  20,20H, ‘AB’, 3-2, ?, 11000011B</a:t>
            </a:r>
          </a:p>
          <a:p>
            <a:r>
              <a:rPr lang="en-US" altLang="zh-CN" sz="1800" dirty="0">
                <a:latin typeface="Times New Roman" panose="02020603050405020304" pitchFamily="18" charset="0"/>
                <a:cs typeface="Times New Roman" panose="02020603050405020304" pitchFamily="18" charset="0"/>
              </a:rPr>
              <a:t>X2   </a:t>
            </a:r>
            <a:r>
              <a:rPr lang="en-US" altLang="zh-CN" sz="1800" dirty="0" err="1">
                <a:latin typeface="Times New Roman" panose="02020603050405020304" pitchFamily="18" charset="0"/>
                <a:cs typeface="Times New Roman" panose="02020603050405020304" pitchFamily="18" charset="0"/>
              </a:rPr>
              <a:t>dw</a:t>
            </a:r>
            <a:r>
              <a:rPr lang="en-US" altLang="zh-CN" sz="1800" dirty="0">
                <a:latin typeface="Times New Roman" panose="02020603050405020304" pitchFamily="18" charset="0"/>
                <a:cs typeface="Times New Roman" panose="02020603050405020304" pitchFamily="18" charset="0"/>
              </a:rPr>
              <a:t>  0AAH, -1, ‘AB’</a:t>
            </a:r>
          </a:p>
          <a:p>
            <a:r>
              <a:rPr lang="en-US" altLang="zh-CN" sz="1800" dirty="0">
                <a:latin typeface="Times New Roman" panose="02020603050405020304" pitchFamily="18" charset="0"/>
                <a:cs typeface="Times New Roman" panose="02020603050405020304" pitchFamily="18" charset="0"/>
              </a:rPr>
              <a:t>Z    dd   4 dup(3, 2 dup(?), 0)</a:t>
            </a:r>
          </a:p>
          <a:p>
            <a:r>
              <a:rPr lang="en-US" altLang="zh-CN" sz="1800" dirty="0">
                <a:latin typeface="Times New Roman" panose="02020603050405020304" pitchFamily="18" charset="0"/>
                <a:cs typeface="Times New Roman" panose="02020603050405020304" pitchFamily="18" charset="0"/>
              </a:rPr>
              <a:t>W   </a:t>
            </a:r>
            <a:r>
              <a:rPr lang="en-US" altLang="zh-CN" sz="1800" dirty="0" err="1">
                <a:latin typeface="Times New Roman" panose="02020603050405020304" pitchFamily="18" charset="0"/>
                <a:cs typeface="Times New Roman" panose="02020603050405020304" pitchFamily="18" charset="0"/>
              </a:rPr>
              <a:t>dw</a:t>
            </a:r>
            <a:r>
              <a:rPr lang="en-US" altLang="zh-CN" sz="1800" dirty="0">
                <a:latin typeface="Times New Roman" panose="02020603050405020304" pitchFamily="18" charset="0"/>
                <a:cs typeface="Times New Roman" panose="02020603050405020304" pitchFamily="18" charset="0"/>
              </a:rPr>
              <a:t>   Z-X2</a:t>
            </a:r>
          </a:p>
          <a:p>
            <a:r>
              <a:rPr lang="zh-CN" altLang="en-US" sz="1800" dirty="0">
                <a:latin typeface="Times New Roman" panose="02020603050405020304" pitchFamily="18" charset="0"/>
                <a:cs typeface="Times New Roman" panose="02020603050405020304" pitchFamily="18" charset="0"/>
              </a:rPr>
              <a:t>假设</a:t>
            </a:r>
            <a:r>
              <a:rPr lang="en-US" altLang="zh-CN" sz="1800" dirty="0">
                <a:latin typeface="Times New Roman" panose="02020603050405020304" pitchFamily="18" charset="0"/>
                <a:cs typeface="Times New Roman" panose="02020603050405020304" pitchFamily="18" charset="0"/>
              </a:rPr>
              <a:t>X1</a:t>
            </a:r>
            <a:r>
              <a:rPr lang="zh-CN" altLang="en-US" sz="1800" dirty="0">
                <a:latin typeface="Times New Roman" panose="02020603050405020304" pitchFamily="18" charset="0"/>
                <a:cs typeface="Times New Roman" panose="02020603050405020304" pitchFamily="18" charset="0"/>
              </a:rPr>
              <a:t>的偏移地址微</a:t>
            </a:r>
            <a:r>
              <a:rPr lang="en-US" altLang="zh-CN" sz="1800" dirty="0">
                <a:latin typeface="Times New Roman" panose="02020603050405020304" pitchFamily="18" charset="0"/>
                <a:cs typeface="Times New Roman" panose="02020603050405020304" pitchFamily="18" charset="0"/>
              </a:rPr>
              <a:t>100H</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）写出变量</a:t>
            </a:r>
            <a:r>
              <a:rPr lang="en-US" altLang="zh-CN" sz="1800" dirty="0">
                <a:latin typeface="Times New Roman" panose="02020603050405020304" pitchFamily="18" charset="0"/>
                <a:cs typeface="Times New Roman" panose="02020603050405020304" pitchFamily="18" charset="0"/>
              </a:rPr>
              <a:t>X1</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X2</a:t>
            </a:r>
            <a:r>
              <a:rPr lang="zh-CN" altLang="en-US" sz="1800" dirty="0">
                <a:latin typeface="Times New Roman" panose="02020603050405020304" pitchFamily="18" charset="0"/>
                <a:cs typeface="Times New Roman" panose="02020603050405020304" pitchFamily="18" charset="0"/>
              </a:rPr>
              <a:t>各数据在内存中具体位置和相关内存单元的值；</a:t>
            </a:r>
            <a:endParaRPr lang="en-US" altLang="zh-CN" sz="1800" dirty="0">
              <a:latin typeface="Times New Roman" panose="02020603050405020304" pitchFamily="18" charset="0"/>
              <a:cs typeface="Times New Roman" panose="02020603050405020304" pitchFamily="18" charset="0"/>
            </a:endParaRPr>
          </a:p>
          <a:p>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）写出变量</a:t>
            </a:r>
            <a:r>
              <a:rPr lang="en-US" altLang="zh-CN" sz="1800" dirty="0">
                <a:latin typeface="Times New Roman" panose="02020603050405020304" pitchFamily="18" charset="0"/>
                <a:cs typeface="Times New Roman" panose="02020603050405020304" pitchFamily="18" charset="0"/>
              </a:rPr>
              <a:t>Z</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W</a:t>
            </a:r>
            <a:r>
              <a:rPr lang="zh-CN" altLang="en-US" sz="1800" dirty="0">
                <a:latin typeface="Times New Roman" panose="02020603050405020304" pitchFamily="18" charset="0"/>
                <a:cs typeface="Times New Roman" panose="02020603050405020304" pitchFamily="18" charset="0"/>
              </a:rPr>
              <a:t>的偏移地址；</a:t>
            </a:r>
            <a:endParaRPr lang="en-US" altLang="zh-CN" sz="1800" dirty="0">
              <a:latin typeface="Times New Roman" panose="02020603050405020304" pitchFamily="18" charset="0"/>
              <a:cs typeface="Times New Roman" panose="02020603050405020304" pitchFamily="18" charset="0"/>
            </a:endParaRPr>
          </a:p>
          <a:p>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）写出变量</a:t>
            </a:r>
            <a:r>
              <a:rPr lang="en-US" altLang="zh-CN" sz="1800" dirty="0">
                <a:latin typeface="Times New Roman" panose="02020603050405020304" pitchFamily="18" charset="0"/>
                <a:cs typeface="Times New Roman" panose="02020603050405020304" pitchFamily="18" charset="0"/>
              </a:rPr>
              <a:t>W</a:t>
            </a:r>
            <a:r>
              <a:rPr lang="zh-CN" altLang="en-US" sz="1800" dirty="0">
                <a:latin typeface="Times New Roman" panose="02020603050405020304" pitchFamily="18" charset="0"/>
                <a:cs typeface="Times New Roman" panose="02020603050405020304" pitchFamily="18" charset="0"/>
              </a:rPr>
              <a:t>的值</a:t>
            </a:r>
          </a:p>
          <a:p>
            <a:endParaRPr lang="zh-CN" altLang="en-US" dirty="0"/>
          </a:p>
        </p:txBody>
      </p:sp>
      <p:sp>
        <p:nvSpPr>
          <p:cNvPr id="3" name="文本占位符 2"/>
          <p:cNvSpPr>
            <a:spLocks noGrp="1"/>
          </p:cNvSpPr>
          <p:nvPr>
            <p:ph type="body" sz="quarter" idx="10"/>
          </p:nvPr>
        </p:nvSpPr>
        <p:spPr>
          <a:xfrm>
            <a:off x="456425" y="1024206"/>
            <a:ext cx="5832475" cy="512415"/>
          </a:xfrm>
        </p:spPr>
        <p:txBody>
          <a:bodyPr/>
          <a:lstStyle/>
          <a:p>
            <a:r>
              <a:rPr lang="en-US" altLang="zh-CN" dirty="0"/>
              <a:t>4.10 </a:t>
            </a:r>
            <a:r>
              <a:rPr lang="zh-CN" altLang="en-US" dirty="0"/>
              <a:t>例题解析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
        <p:nvSpPr>
          <p:cNvPr id="7" name="矩形 6"/>
          <p:cNvSpPr/>
          <p:nvPr/>
        </p:nvSpPr>
        <p:spPr>
          <a:xfrm>
            <a:off x="620350" y="2204864"/>
            <a:ext cx="4572000" cy="1015663"/>
          </a:xfrm>
          <a:prstGeom prst="rect">
            <a:avLst/>
          </a:prstGeom>
        </p:spPr>
        <p:txBody>
          <a:bodyPr>
            <a:spAutoFit/>
          </a:bodyPr>
          <a:lstStyle/>
          <a:p>
            <a:pPr indent="254000" algn="just">
              <a:spcAft>
                <a:spcPts val="0"/>
              </a:spcAft>
            </a:pPr>
            <a:r>
              <a:rPr lang="zh-CN" altLang="zh-CN" sz="2000" dirty="0">
                <a:latin typeface="Times New Roman" panose="02020603050405020304" pitchFamily="18" charset="0"/>
                <a:ea typeface="微软雅黑" panose="020B0503020204020204" pitchFamily="34" charset="-122"/>
                <a:cs typeface="Times New Roman" panose="02020603050405020304" pitchFamily="18" charset="0"/>
              </a:rPr>
              <a:t>【解析】：</a:t>
            </a:r>
          </a:p>
          <a:p>
            <a:r>
              <a:rPr lang="en-US" altLang="zh-CN" sz="2000" kern="100" dirty="0">
                <a:latin typeface="Times New Roman" panose="02020603050405020304" pitchFamily="18" charset="0"/>
                <a:ea typeface="微软雅黑" panose="020B0503020204020204" pitchFamily="34" charset="-122"/>
                <a:cs typeface="Times New Roman" panose="02020603050405020304" pitchFamily="18" charset="0"/>
              </a:rPr>
              <a:t>(1)  X1</a:t>
            </a:r>
            <a:r>
              <a:rPr lang="zh-CN" altLang="zh-CN" sz="2000"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kern="100" dirty="0">
                <a:latin typeface="Times New Roman" panose="02020603050405020304" pitchFamily="18" charset="0"/>
                <a:ea typeface="微软雅黑" panose="020B0503020204020204" pitchFamily="34" charset="-122"/>
                <a:cs typeface="Times New Roman" panose="02020603050405020304" pitchFamily="18" charset="0"/>
              </a:rPr>
              <a:t>X2</a:t>
            </a:r>
            <a:r>
              <a:rPr lang="zh-CN" altLang="zh-CN" sz="2000" kern="100" dirty="0">
                <a:latin typeface="Times New Roman" panose="02020603050405020304" pitchFamily="18" charset="0"/>
                <a:ea typeface="微软雅黑" panose="020B0503020204020204" pitchFamily="34" charset="-122"/>
                <a:cs typeface="Times New Roman" panose="02020603050405020304" pitchFamily="18" charset="0"/>
              </a:rPr>
              <a:t>各数据在内存中存放的位置和内存单元的值如</a:t>
            </a:r>
            <a:r>
              <a:rPr lang="zh-CN" altLang="en-US" sz="2000" kern="100" dirty="0">
                <a:latin typeface="Times New Roman" panose="02020603050405020304" pitchFamily="18" charset="0"/>
                <a:ea typeface="微软雅黑" panose="020B0503020204020204" pitchFamily="34" charset="-122"/>
                <a:cs typeface="Times New Roman" panose="02020603050405020304" pitchFamily="18" charset="0"/>
              </a:rPr>
              <a:t>右图</a:t>
            </a:r>
            <a:r>
              <a:rPr lang="zh-CN" altLang="zh-CN" sz="20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 name="表格 7"/>
          <p:cNvGraphicFramePr>
            <a:graphicFrameLocks noGrp="1"/>
          </p:cNvGraphicFramePr>
          <p:nvPr/>
        </p:nvGraphicFramePr>
        <p:xfrm>
          <a:off x="6716008" y="2204864"/>
          <a:ext cx="1979712" cy="3589020"/>
        </p:xfrm>
        <a:graphic>
          <a:graphicData uri="http://schemas.openxmlformats.org/drawingml/2006/table">
            <a:tbl>
              <a:tblPr/>
              <a:tblGrid>
                <a:gridCol w="883871">
                  <a:extLst>
                    <a:ext uri="{9D8B030D-6E8A-4147-A177-3AD203B41FA5}">
                      <a16:colId xmlns:a16="http://schemas.microsoft.com/office/drawing/2014/main" val="20000"/>
                    </a:ext>
                  </a:extLst>
                </a:gridCol>
                <a:gridCol w="1095841">
                  <a:extLst>
                    <a:ext uri="{9D8B030D-6E8A-4147-A177-3AD203B41FA5}">
                      <a16:colId xmlns:a16="http://schemas.microsoft.com/office/drawing/2014/main" val="20001"/>
                    </a:ext>
                  </a:extLst>
                </a:gridCol>
              </a:tblGrid>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0100H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solidFill>
                            <a:srgbClr val="0070C0"/>
                          </a:solidFill>
                          <a:effectLst/>
                          <a:latin typeface="Times New Roman" panose="02020603050405020304" pitchFamily="18" charset="0"/>
                          <a:ea typeface="宋体" panose="02010600030101010101" pitchFamily="2" charset="-122"/>
                        </a:rPr>
                        <a:t>14H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20H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41H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42H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01H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00H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C3H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0107H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AAH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00H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FFH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solidFill>
                            <a:srgbClr val="0070C0"/>
                          </a:solidFill>
                          <a:effectLst/>
                          <a:latin typeface="Times New Roman" panose="02020603050405020304" pitchFamily="18" charset="0"/>
                          <a:ea typeface="宋体" panose="02010600030101010101" pitchFamily="2" charset="-122"/>
                        </a:rPr>
                        <a:t>FFH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42H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5590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 </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41H</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62255">
                <a:tc>
                  <a:txBody>
                    <a:bodyPr/>
                    <a:lstStyle/>
                    <a:p>
                      <a:pPr algn="just">
                        <a:lnSpc>
                          <a:spcPts val="2000"/>
                        </a:lnSpc>
                        <a:spcAft>
                          <a:spcPts val="0"/>
                        </a:spcAft>
                      </a:pPr>
                      <a:r>
                        <a:rPr lang="fr-FR" sz="1600" b="1" kern="100">
                          <a:effectLst/>
                          <a:latin typeface="Times New Roman" panose="02020603050405020304" pitchFamily="18" charset="0"/>
                          <a:ea typeface="宋体" panose="02010600030101010101" pitchFamily="2" charset="-122"/>
                        </a:rPr>
                        <a:t>010D</a:t>
                      </a:r>
                      <a:endParaRPr lang="zh-CN" sz="1600" b="1"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ts val="2000"/>
                        </a:lnSpc>
                        <a:spcAft>
                          <a:spcPts val="0"/>
                        </a:spcAft>
                      </a:pPr>
                      <a:r>
                        <a:rPr lang="fr-FR" sz="1600" b="1" kern="100" dirty="0">
                          <a:effectLst/>
                          <a:latin typeface="Times New Roman" panose="02020603050405020304" pitchFamily="18" charset="0"/>
                          <a:ea typeface="宋体" panose="02010600030101010101" pitchFamily="2" charset="-122"/>
                        </a:rPr>
                        <a:t> </a:t>
                      </a:r>
                      <a:endParaRPr lang="zh-CN" sz="1600" b="1"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
        <p:nvSpPr>
          <p:cNvPr id="9" name="矩形 8"/>
          <p:cNvSpPr/>
          <p:nvPr/>
        </p:nvSpPr>
        <p:spPr>
          <a:xfrm>
            <a:off x="587625" y="3429000"/>
            <a:ext cx="4572000" cy="2399665"/>
          </a:xfrm>
          <a:prstGeom prst="rect">
            <a:avLst/>
          </a:prstGeom>
        </p:spPr>
        <p:txBody>
          <a:bodyPr>
            <a:spAutoFit/>
          </a:bodyPr>
          <a:lstStyle/>
          <a:p>
            <a:pPr>
              <a:spcBef>
                <a:spcPts val="600"/>
              </a:spcBef>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根据</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在内存中的分布，可以发现</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的偏移地址是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010DH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；由于</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中的每个数据都是双字，占</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个字节，一共占用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4×(4+2×4+4)=80=50H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个字节，则</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W</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的偏移地址是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015DH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600"/>
              </a:spcBef>
            </a:pP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a:p>
            <a:pPr>
              <a:spcBef>
                <a:spcPts val="600"/>
              </a:spcBef>
            </a:pP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 Z-X2</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的值是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06H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1"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
        <p:nvSpPr>
          <p:cNvPr id="5" name="矩形 4"/>
          <p:cNvSpPr/>
          <p:nvPr/>
        </p:nvSpPr>
        <p:spPr>
          <a:xfrm>
            <a:off x="539552" y="1988840"/>
            <a:ext cx="3438128" cy="4061460"/>
          </a:xfrm>
          <a:prstGeom prst="rect">
            <a:avLst/>
          </a:prstGeom>
        </p:spPr>
        <p:txBody>
          <a:bodyPr wrap="square">
            <a:spAutoFit/>
          </a:bodyPr>
          <a:lstStyle/>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根据下列要求编写一个汇编语言程序。</a:t>
            </a:r>
          </a:p>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代码段的段名为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COD_SG</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数据段的段名为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DAT_SG</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 </a:t>
            </a:r>
          </a:p>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堆栈段的段名为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STK_SG</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变量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HIGH_DAT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所包含的数据为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95</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将变量</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HIGH_DAT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装入寄存器</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AH</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BH</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DL</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pPr>
              <a:spcBef>
                <a:spcPts val="1200"/>
              </a:spcBef>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程序运行的入口地址为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START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6" name="矩形 5"/>
          <p:cNvSpPr/>
          <p:nvPr/>
        </p:nvSpPr>
        <p:spPr>
          <a:xfrm>
            <a:off x="4283968" y="2000875"/>
            <a:ext cx="4598504" cy="4185761"/>
          </a:xfrm>
          <a:prstGeom prst="rect">
            <a:avLst/>
          </a:prstGeom>
          <a:solidFill>
            <a:srgbClr val="FFFFCC"/>
          </a:solidFill>
          <a:ln>
            <a:solidFill>
              <a:srgbClr val="FF0000"/>
            </a:solidFill>
          </a:ln>
        </p:spPr>
        <p:txBody>
          <a:bodyPr wrap="square">
            <a:spAutoFit/>
          </a:bodyPr>
          <a:lstStyle/>
          <a:p>
            <a:r>
              <a:rPr lang="en-US" altLang="zh-CN" sz="1400" b="1" dirty="0">
                <a:latin typeface="Times New Roman" panose="02020603050405020304" pitchFamily="18" charset="0"/>
                <a:cs typeface="Times New Roman" panose="02020603050405020304" pitchFamily="18" charset="0"/>
              </a:rPr>
              <a:t>DAT_SG   	SEGMENT</a:t>
            </a:r>
          </a:p>
          <a:p>
            <a:r>
              <a:rPr lang="en-US" altLang="zh-CN" sz="1400" b="1" dirty="0">
                <a:latin typeface="Times New Roman" panose="02020603050405020304" pitchFamily="18" charset="0"/>
                <a:cs typeface="Times New Roman" panose="02020603050405020304" pitchFamily="18" charset="0"/>
              </a:rPr>
              <a:t>	HIGH_DAT    DB  95</a:t>
            </a:r>
          </a:p>
          <a:p>
            <a:r>
              <a:rPr lang="en-US" altLang="zh-CN" sz="1400" b="1" dirty="0">
                <a:latin typeface="Times New Roman" panose="02020603050405020304" pitchFamily="18" charset="0"/>
                <a:cs typeface="Times New Roman" panose="02020603050405020304" pitchFamily="18" charset="0"/>
              </a:rPr>
              <a:t>DAT_SG   	ENDS</a:t>
            </a:r>
          </a:p>
          <a:p>
            <a:r>
              <a:rPr lang="en-US" altLang="zh-CN" sz="1400" b="1" dirty="0">
                <a:latin typeface="Times New Roman" panose="02020603050405020304" pitchFamily="18" charset="0"/>
                <a:cs typeface="Times New Roman" panose="02020603050405020304" pitchFamily="18" charset="0"/>
              </a:rPr>
              <a:t>  </a:t>
            </a:r>
          </a:p>
          <a:p>
            <a:r>
              <a:rPr lang="en-US" altLang="zh-CN" sz="1400" b="1" dirty="0">
                <a:latin typeface="Times New Roman" panose="02020603050405020304" pitchFamily="18" charset="0"/>
                <a:cs typeface="Times New Roman" panose="02020603050405020304" pitchFamily="18" charset="0"/>
              </a:rPr>
              <a:t>STK_SG   	SEGMENT</a:t>
            </a:r>
          </a:p>
          <a:p>
            <a:r>
              <a:rPr lang="en-US" altLang="zh-CN" sz="1400" b="1" dirty="0">
                <a:latin typeface="Times New Roman" panose="02020603050405020304" pitchFamily="18" charset="0"/>
                <a:cs typeface="Times New Roman" panose="02020603050405020304" pitchFamily="18" charset="0"/>
              </a:rPr>
              <a:t>	DW 64 DUP(?)</a:t>
            </a:r>
          </a:p>
          <a:p>
            <a:r>
              <a:rPr lang="en-US" altLang="zh-CN" sz="1400" b="1" dirty="0">
                <a:latin typeface="Times New Roman" panose="02020603050405020304" pitchFamily="18" charset="0"/>
                <a:cs typeface="Times New Roman" panose="02020603050405020304" pitchFamily="18" charset="0"/>
              </a:rPr>
              <a:t>STK_SG   	ENDS</a:t>
            </a:r>
          </a:p>
          <a:p>
            <a:r>
              <a:rPr lang="en-US" altLang="zh-CN" sz="1400" b="1" dirty="0">
                <a:latin typeface="Times New Roman" panose="02020603050405020304" pitchFamily="18" charset="0"/>
                <a:cs typeface="Times New Roman" panose="02020603050405020304" pitchFamily="18" charset="0"/>
              </a:rPr>
              <a:t>  </a:t>
            </a:r>
          </a:p>
          <a:p>
            <a:r>
              <a:rPr lang="en-US" altLang="zh-CN" sz="1400" b="1" dirty="0">
                <a:latin typeface="Times New Roman" panose="02020603050405020304" pitchFamily="18" charset="0"/>
                <a:cs typeface="Times New Roman" panose="02020603050405020304" pitchFamily="18" charset="0"/>
              </a:rPr>
              <a:t>COD_SG   	SEGMENT</a:t>
            </a:r>
          </a:p>
          <a:p>
            <a:r>
              <a:rPr lang="en-US" altLang="zh-CN" sz="1400" b="1" dirty="0">
                <a:latin typeface="Times New Roman" panose="02020603050405020304" pitchFamily="18" charset="0"/>
                <a:cs typeface="Times New Roman" panose="02020603050405020304" pitchFamily="18" charset="0"/>
              </a:rPr>
              <a:t>ASSUME   	CS: COD_SG ,  DS: DAT_SG ,  SS: STK_SG</a:t>
            </a:r>
          </a:p>
          <a:p>
            <a:r>
              <a:rPr lang="en-US" altLang="zh-CN" sz="1400" b="1" dirty="0">
                <a:latin typeface="Times New Roman" panose="02020603050405020304" pitchFamily="18" charset="0"/>
                <a:cs typeface="Times New Roman" panose="02020603050405020304" pitchFamily="18" charset="0"/>
              </a:rPr>
              <a:t>START: 	MOV   AX , DAT_SG</a:t>
            </a:r>
          </a:p>
          <a:p>
            <a:r>
              <a:rPr lang="en-US" altLang="zh-CN" sz="1400" b="1" dirty="0">
                <a:latin typeface="Times New Roman" panose="02020603050405020304" pitchFamily="18" charset="0"/>
                <a:cs typeface="Times New Roman" panose="02020603050405020304" pitchFamily="18" charset="0"/>
              </a:rPr>
              <a:t>	MOV	DS , AX</a:t>
            </a:r>
          </a:p>
          <a:p>
            <a:r>
              <a:rPr lang="en-US" altLang="zh-CN" sz="1400" b="1" dirty="0">
                <a:latin typeface="Times New Roman" panose="02020603050405020304" pitchFamily="18" charset="0"/>
                <a:cs typeface="Times New Roman" panose="02020603050405020304" pitchFamily="18" charset="0"/>
              </a:rPr>
              <a:t>	MOV	AH , HIGH_DAT</a:t>
            </a:r>
          </a:p>
          <a:p>
            <a:r>
              <a:rPr lang="en-US" altLang="zh-CN" sz="1400" b="1" dirty="0">
                <a:latin typeface="Times New Roman" panose="02020603050405020304" pitchFamily="18" charset="0"/>
                <a:cs typeface="Times New Roman" panose="02020603050405020304" pitchFamily="18" charset="0"/>
              </a:rPr>
              <a:t>	MOV	BH , AH</a:t>
            </a:r>
          </a:p>
          <a:p>
            <a:r>
              <a:rPr lang="en-US" altLang="zh-CN" sz="1400" b="1" dirty="0">
                <a:latin typeface="Times New Roman" panose="02020603050405020304" pitchFamily="18" charset="0"/>
                <a:cs typeface="Times New Roman" panose="02020603050405020304" pitchFamily="18" charset="0"/>
              </a:rPr>
              <a:t>	MOV	DL,AH</a:t>
            </a:r>
          </a:p>
          <a:p>
            <a:r>
              <a:rPr lang="en-US" altLang="zh-CN" sz="1400" b="1" dirty="0">
                <a:latin typeface="Times New Roman" panose="02020603050405020304" pitchFamily="18" charset="0"/>
                <a:cs typeface="Times New Roman" panose="02020603050405020304" pitchFamily="18" charset="0"/>
              </a:rPr>
              <a:t>	MOV	AH,4CH</a:t>
            </a:r>
          </a:p>
          <a:p>
            <a:r>
              <a:rPr lang="en-US" altLang="zh-CN" sz="1400" b="1" dirty="0">
                <a:latin typeface="Times New Roman" panose="02020603050405020304" pitchFamily="18" charset="0"/>
                <a:cs typeface="Times New Roman" panose="02020603050405020304" pitchFamily="18" charset="0"/>
              </a:rPr>
              <a:t>	INT	21H</a:t>
            </a:r>
          </a:p>
          <a:p>
            <a:r>
              <a:rPr lang="en-US" altLang="zh-CN" sz="1400" b="1" dirty="0">
                <a:latin typeface="Times New Roman" panose="02020603050405020304" pitchFamily="18" charset="0"/>
                <a:cs typeface="Times New Roman" panose="02020603050405020304" pitchFamily="18" charset="0"/>
              </a:rPr>
              <a:t>COD_SG  	ENDS</a:t>
            </a:r>
          </a:p>
          <a:p>
            <a:r>
              <a:rPr lang="en-US" altLang="zh-CN" sz="1400" b="1" dirty="0">
                <a:latin typeface="Times New Roman" panose="02020603050405020304" pitchFamily="18" charset="0"/>
                <a:cs typeface="Times New Roman" panose="02020603050405020304" pitchFamily="18" charset="0"/>
              </a:rPr>
              <a:t>END    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
        <p:nvSpPr>
          <p:cNvPr id="5" name="矩形 4"/>
          <p:cNvSpPr/>
          <p:nvPr/>
        </p:nvSpPr>
        <p:spPr>
          <a:xfrm>
            <a:off x="326239" y="1772816"/>
            <a:ext cx="3960440" cy="4524315"/>
          </a:xfrm>
          <a:prstGeom prst="rect">
            <a:avLst/>
          </a:prstGeom>
          <a:solidFill>
            <a:srgbClr val="FFFFCC"/>
          </a:solidFill>
          <a:ln>
            <a:solidFill>
              <a:srgbClr val="740000"/>
            </a:solidFill>
          </a:ln>
        </p:spPr>
        <p:txBody>
          <a:bodyPr wrap="square">
            <a:spAutoFit/>
          </a:bodyPr>
          <a:lstStyle/>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指出下列程序中的错误。</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STAKSG  SEGMENT</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DB   100  DUP(?)</a:t>
            </a:r>
          </a:p>
          <a:p>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STA_SG	</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ENDS</a:t>
            </a:r>
          </a:p>
          <a:p>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DTSEG 	  SEGMENT</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DATA1	  DB  ?</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DTSEG	  END</a:t>
            </a:r>
          </a:p>
          <a:p>
            <a:endPar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CDSEG	  SEGMENT</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MAIN	  PROC   	FAR</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START: 	  MOV 	DS , DATSEG</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AL , 34H</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ADD	  AL , 4FH</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MOV  	DATA , AL</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START	  ENDP</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CDSEG 	  ENDS</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	 END</a:t>
            </a:r>
          </a:p>
        </p:txBody>
      </p:sp>
      <p:sp>
        <p:nvSpPr>
          <p:cNvPr id="6" name="矩形 5"/>
          <p:cNvSpPr/>
          <p:nvPr/>
        </p:nvSpPr>
        <p:spPr>
          <a:xfrm>
            <a:off x="5032514" y="1988840"/>
            <a:ext cx="3510136" cy="3693319"/>
          </a:xfrm>
          <a:prstGeom prst="rect">
            <a:avLst/>
          </a:prstGeom>
        </p:spPr>
        <p:txBody>
          <a:bodyPr wrap="square">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首先段名和子程序名的标号必须前后一致，但是堆栈段和主程序标号前后不对应；</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其次需用使用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ASSUME</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将程序中的段和段寄存器对应起来；</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主程序要有结束本程序并返回操作系统的操作；</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END [label]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其中标号指示程序开始执行的起始地址，</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只有在多个程序模块相连接，则只有主程序要使用标号，其他子程序模块则只使用</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END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而不必使用标号。</a:t>
            </a:r>
          </a:p>
        </p:txBody>
      </p:sp>
      <p:sp>
        <p:nvSpPr>
          <p:cNvPr id="7" name="矩形 6"/>
          <p:cNvSpPr/>
          <p:nvPr/>
        </p:nvSpPr>
        <p:spPr>
          <a:xfrm>
            <a:off x="328808" y="1614117"/>
            <a:ext cx="4896544" cy="4770537"/>
          </a:xfrm>
          <a:prstGeom prst="rect">
            <a:avLst/>
          </a:prstGeom>
          <a:solidFill>
            <a:schemeClr val="accent6">
              <a:lumMod val="95000"/>
            </a:schemeClr>
          </a:solidFill>
          <a:ln>
            <a:solidFill>
              <a:srgbClr val="740000"/>
            </a:solidFill>
          </a:ln>
        </p:spPr>
        <p:txBody>
          <a:bodyPr wrap="square">
            <a:spAutoFit/>
          </a:bodyPr>
          <a:lstStyle/>
          <a:p>
            <a:r>
              <a:rPr lang="en-US" altLang="zh-CN" sz="1600" dirty="0">
                <a:latin typeface="Times New Roman" panose="02020603050405020304" pitchFamily="18" charset="0"/>
                <a:cs typeface="Times New Roman" panose="02020603050405020304" pitchFamily="18" charset="0"/>
              </a:rPr>
              <a:t>STAKSG   SEGMENT</a:t>
            </a:r>
          </a:p>
          <a:p>
            <a:r>
              <a:rPr lang="en-US" altLang="zh-CN" sz="1600" dirty="0">
                <a:latin typeface="Times New Roman" panose="02020603050405020304" pitchFamily="18" charset="0"/>
                <a:cs typeface="Times New Roman" panose="02020603050405020304" pitchFamily="18" charset="0"/>
              </a:rPr>
              <a:t>	DB    100 DUP(?)</a:t>
            </a:r>
          </a:p>
          <a:p>
            <a:r>
              <a:rPr lang="en-US" altLang="zh-CN" sz="1600" b="1" dirty="0">
                <a:solidFill>
                  <a:srgbClr val="FF0000"/>
                </a:solidFill>
                <a:latin typeface="Times New Roman" panose="02020603050405020304" pitchFamily="18" charset="0"/>
                <a:cs typeface="Times New Roman" panose="02020603050405020304" pitchFamily="18" charset="0"/>
              </a:rPr>
              <a:t>STAKSG</a:t>
            </a:r>
            <a:r>
              <a:rPr lang="en-US" altLang="zh-CN" sz="1600" dirty="0">
                <a:solidFill>
                  <a:srgbClr val="FF0000"/>
                </a:solidFill>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	ENDS</a:t>
            </a:r>
          </a:p>
          <a:p>
            <a:r>
              <a:rPr lang="en-US" altLang="zh-CN" sz="1600" dirty="0">
                <a:latin typeface="Times New Roman" panose="02020603050405020304" pitchFamily="18" charset="0"/>
                <a:cs typeface="Times New Roman" panose="02020603050405020304" pitchFamily="18" charset="0"/>
              </a:rPr>
              <a:t>DTSEG		SEGMENT</a:t>
            </a:r>
          </a:p>
          <a:p>
            <a:r>
              <a:rPr lang="en-US" altLang="zh-CN" sz="1600" dirty="0">
                <a:latin typeface="Times New Roman" panose="02020603050405020304" pitchFamily="18" charset="0"/>
                <a:cs typeface="Times New Roman" panose="02020603050405020304" pitchFamily="18" charset="0"/>
              </a:rPr>
              <a:t>	DATA1		DB ?</a:t>
            </a:r>
          </a:p>
          <a:p>
            <a:r>
              <a:rPr lang="en-US" altLang="zh-CN" sz="1600" dirty="0">
                <a:latin typeface="Times New Roman" panose="02020603050405020304" pitchFamily="18" charset="0"/>
                <a:cs typeface="Times New Roman" panose="02020603050405020304" pitchFamily="18" charset="0"/>
              </a:rPr>
              <a:t>DTSEG		ENDS</a:t>
            </a:r>
          </a:p>
          <a:p>
            <a:r>
              <a:rPr lang="en-US" altLang="zh-CN" sz="1600" dirty="0">
                <a:latin typeface="Times New Roman" panose="02020603050405020304" pitchFamily="18" charset="0"/>
                <a:cs typeface="Times New Roman" panose="02020603050405020304" pitchFamily="18" charset="0"/>
              </a:rPr>
              <a:t>CDSEG     	SEGMENT</a:t>
            </a:r>
          </a:p>
          <a:p>
            <a:r>
              <a:rPr lang="en-US" altLang="zh-CN" sz="1600" dirty="0">
                <a:latin typeface="Times New Roman" panose="02020603050405020304" pitchFamily="18" charset="0"/>
                <a:cs typeface="Times New Roman" panose="02020603050405020304" pitchFamily="18" charset="0"/>
              </a:rPr>
              <a:t>	MAIN		PROC   FAR</a:t>
            </a:r>
          </a:p>
          <a:p>
            <a:r>
              <a:rPr lang="en-US" altLang="zh-CN" sz="1600" b="1" u="sng" dirty="0">
                <a:solidFill>
                  <a:srgbClr val="FF0000"/>
                </a:solidFill>
                <a:latin typeface="Times New Roman" panose="02020603050405020304" pitchFamily="18" charset="0"/>
                <a:cs typeface="Times New Roman" panose="02020603050405020304" pitchFamily="18" charset="0"/>
              </a:rPr>
              <a:t>ASSUME CS: CDSEG ,  DS: DTSEG , SS: STAKSG</a:t>
            </a:r>
          </a:p>
          <a:p>
            <a:r>
              <a:rPr lang="en-US" altLang="zh-CN" sz="1600" dirty="0">
                <a:latin typeface="Times New Roman" panose="02020603050405020304" pitchFamily="18" charset="0"/>
                <a:cs typeface="Times New Roman" panose="02020603050405020304" pitchFamily="18" charset="0"/>
              </a:rPr>
              <a:t>START: 	MOV  AX, DTSEG</a:t>
            </a:r>
          </a:p>
          <a:p>
            <a:r>
              <a:rPr lang="en-US" altLang="zh-CN" sz="1600" dirty="0">
                <a:latin typeface="Times New Roman" panose="02020603050405020304" pitchFamily="18" charset="0"/>
                <a:cs typeface="Times New Roman" panose="02020603050405020304" pitchFamily="18" charset="0"/>
              </a:rPr>
              <a:t>	MOV  DS,AX</a:t>
            </a:r>
          </a:p>
          <a:p>
            <a:r>
              <a:rPr lang="en-US" altLang="zh-CN" sz="1600" dirty="0">
                <a:latin typeface="Times New Roman" panose="02020603050405020304" pitchFamily="18" charset="0"/>
                <a:cs typeface="Times New Roman" panose="02020603050405020304" pitchFamily="18" charset="0"/>
              </a:rPr>
              <a:t>	MOV  AL,34H</a:t>
            </a:r>
          </a:p>
          <a:p>
            <a:r>
              <a:rPr lang="en-US" altLang="zh-CN" sz="1600" dirty="0">
                <a:latin typeface="Times New Roman" panose="02020603050405020304" pitchFamily="18" charset="0"/>
                <a:cs typeface="Times New Roman" panose="02020603050405020304" pitchFamily="18" charset="0"/>
              </a:rPr>
              <a:t>	ADD  AL,4FH</a:t>
            </a:r>
          </a:p>
          <a:p>
            <a:r>
              <a:rPr lang="en-US" altLang="zh-CN" sz="1600" dirty="0">
                <a:latin typeface="Times New Roman" panose="02020603050405020304" pitchFamily="18" charset="0"/>
                <a:cs typeface="Times New Roman" panose="02020603050405020304" pitchFamily="18" charset="0"/>
              </a:rPr>
              <a:t>	MOV  DATA1,AL</a:t>
            </a:r>
          </a:p>
          <a:p>
            <a:r>
              <a:rPr lang="en-US" altLang="zh-CN" sz="1600" dirty="0">
                <a:latin typeface="Times New Roman" panose="02020603050405020304" pitchFamily="18" charset="0"/>
                <a:cs typeface="Times New Roman" panose="02020603050405020304" pitchFamily="18" charset="0"/>
              </a:rPr>
              <a:t>	</a:t>
            </a:r>
            <a:r>
              <a:rPr lang="en-US" altLang="zh-CN" sz="1600" b="1" u="sng" dirty="0">
                <a:solidFill>
                  <a:srgbClr val="CC00CC"/>
                </a:solidFill>
                <a:latin typeface="Times New Roman" panose="02020603050405020304" pitchFamily="18" charset="0"/>
                <a:cs typeface="Times New Roman" panose="02020603050405020304" pitchFamily="18" charset="0"/>
              </a:rPr>
              <a:t>MOV  AH,4CH</a:t>
            </a:r>
          </a:p>
          <a:p>
            <a:r>
              <a:rPr lang="en-US" altLang="zh-CN" sz="1600" b="1" u="sng" dirty="0">
                <a:solidFill>
                  <a:srgbClr val="CC00CC"/>
                </a:solidFill>
                <a:latin typeface="Times New Roman" panose="02020603050405020304" pitchFamily="18" charset="0"/>
                <a:cs typeface="Times New Roman" panose="02020603050405020304" pitchFamily="18" charset="0"/>
              </a:rPr>
              <a:t>	INT   21H</a:t>
            </a:r>
          </a:p>
          <a:p>
            <a:r>
              <a:rPr lang="en-US" altLang="zh-CN" sz="1600" b="1" u="sng" dirty="0">
                <a:solidFill>
                  <a:srgbClr val="FF0000"/>
                </a:solidFill>
                <a:latin typeface="Times New Roman" panose="02020603050405020304" pitchFamily="18" charset="0"/>
                <a:cs typeface="Times New Roman" panose="02020603050405020304" pitchFamily="18" charset="0"/>
              </a:rPr>
              <a:t>MAIN  	ENDP</a:t>
            </a:r>
          </a:p>
          <a:p>
            <a:r>
              <a:rPr lang="en-US" altLang="zh-CN" sz="1600" dirty="0">
                <a:latin typeface="Times New Roman" panose="02020603050405020304" pitchFamily="18" charset="0"/>
                <a:cs typeface="Times New Roman" panose="02020603050405020304" pitchFamily="18" charset="0"/>
              </a:rPr>
              <a:t>	CDSEG 	ENDS</a:t>
            </a:r>
          </a:p>
          <a:p>
            <a:r>
              <a:rPr lang="en-US" altLang="zh-CN" sz="1600" dirty="0">
                <a:latin typeface="Times New Roman" panose="02020603050405020304" pitchFamily="18" charset="0"/>
                <a:cs typeface="Times New Roman" panose="02020603050405020304" pitchFamily="18" charset="0"/>
              </a:rPr>
              <a:t>END    </a:t>
            </a:r>
            <a:r>
              <a:rPr lang="en-US" altLang="zh-CN" sz="1600" b="1" dirty="0">
                <a:solidFill>
                  <a:srgbClr val="FF0000"/>
                </a:solidFill>
                <a:latin typeface="Times New Roman" panose="02020603050405020304" pitchFamily="18" charset="0"/>
                <a:cs typeface="Times New Roman" panose="02020603050405020304" pitchFamily="18" charset="0"/>
              </a:rPr>
              <a:t>START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p:bldP spid="7"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
        <p:nvSpPr>
          <p:cNvPr id="5" name="矩形 4"/>
          <p:cNvSpPr/>
          <p:nvPr/>
        </p:nvSpPr>
        <p:spPr>
          <a:xfrm>
            <a:off x="297775" y="2132856"/>
            <a:ext cx="8460940" cy="1815882"/>
          </a:xfrm>
          <a:prstGeom prst="rect">
            <a:avLst/>
          </a:prstGeom>
        </p:spPr>
        <p:txBody>
          <a:bodyPr wrap="square">
            <a:spAutoFit/>
          </a:bodyPr>
          <a:lstStyle/>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对于下面两个数据段，偏移地址</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10H</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11H</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的两个字节中的数据是一样的吗？为什么？ </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数据段</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600" b="1" dirty="0">
                <a:latin typeface="Times New Roman" panose="02020603050405020304" pitchFamily="18" charset="0"/>
                <a:ea typeface="微软雅黑" panose="020B0503020204020204" pitchFamily="34" charset="-122"/>
                <a:cs typeface="Times New Roman" panose="02020603050405020304" pitchFamily="18" charset="0"/>
              </a:rPr>
              <a:t>数据段</a:t>
            </a:r>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2</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DTSEG   SEGMENT     		   |    DTSEG   SEGMENT</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ORG     10H		      	   |    		ORG     10H</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DATA1   DB  72H	       		   |    		DATA1   DW    7204H</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DB  04H	   			   |    DTSEG   ENDS</a:t>
            </a:r>
          </a:p>
          <a:p>
            <a:r>
              <a:rPr lang="en-US" altLang="zh-CN" sz="1600" b="1" dirty="0">
                <a:latin typeface="Times New Roman" panose="02020603050405020304" pitchFamily="18" charset="0"/>
                <a:ea typeface="微软雅黑" panose="020B0503020204020204" pitchFamily="34" charset="-122"/>
                <a:cs typeface="Times New Roman" panose="02020603050405020304" pitchFamily="18" charset="0"/>
              </a:rPr>
              <a:t>DTSEG   ENDS		                     |</a:t>
            </a:r>
          </a:p>
        </p:txBody>
      </p:sp>
      <p:sp>
        <p:nvSpPr>
          <p:cNvPr id="6" name="矩形 5"/>
          <p:cNvSpPr/>
          <p:nvPr/>
        </p:nvSpPr>
        <p:spPr>
          <a:xfrm>
            <a:off x="711821" y="4143821"/>
            <a:ext cx="7632848" cy="1723549"/>
          </a:xfrm>
          <a:prstGeom prst="rect">
            <a:avLst/>
          </a:prstGeom>
        </p:spPr>
        <p:txBody>
          <a:bodyPr wrap="square">
            <a:spAutoFit/>
          </a:bodyPr>
          <a:lstStyle/>
          <a:p>
            <a:pPr indent="254000" algn="just">
              <a:spcAft>
                <a:spcPts val="0"/>
              </a:spcAft>
            </a:pPr>
            <a:r>
              <a:rPr lang="zh-CN" altLang="zh-CN" sz="1600" b="1" dirty="0">
                <a:latin typeface="Times New Roman" panose="02020603050405020304" pitchFamily="18" charset="0"/>
                <a:ea typeface="微软雅黑" panose="020B0503020204020204" pitchFamily="34" charset="-122"/>
                <a:cs typeface="Times New Roman" panose="02020603050405020304" pitchFamily="18" charset="0"/>
              </a:rPr>
              <a:t>【解析】</a:t>
            </a:r>
          </a:p>
          <a:p>
            <a:r>
              <a:rPr lang="zh-CN" altLang="zh-CN" b="1" kern="1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rPr>
              <a:t>不一样。</a:t>
            </a:r>
            <a:endParaRPr lang="en-US" altLang="zh-CN" b="1" kern="100" dirty="0">
              <a:solidFill>
                <a:srgbClr val="CC00CC"/>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数据段</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从</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10H</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开始两个字节依序存放了</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72H</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04H</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数据段</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则存放着</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04H</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72H</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究其原因是因为数据段</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中存放的是</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两个字节类型的数</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，数据段</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存放的是</a:t>
            </a:r>
            <a:r>
              <a:rPr lang="zh-CN" altLang="zh-CN" b="1" kern="1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一个字类型的数</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，存储字时低</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位存在低字节</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高</a:t>
            </a:r>
            <a:r>
              <a:rPr lang="en-US" altLang="zh-CN" b="1" kern="100" dirty="0">
                <a:latin typeface="Times New Roman" panose="02020603050405020304" pitchFamily="18" charset="0"/>
                <a:ea typeface="微软雅黑" panose="020B0503020204020204" pitchFamily="34" charset="-122"/>
                <a:cs typeface="Times New Roman" panose="02020603050405020304" pitchFamily="18" charset="0"/>
              </a:rPr>
              <a:t>8</a:t>
            </a:r>
            <a:r>
              <a:rPr lang="zh-CN" altLang="zh-CN" b="1" kern="100" dirty="0">
                <a:latin typeface="Times New Roman" panose="02020603050405020304" pitchFamily="18" charset="0"/>
                <a:ea typeface="微软雅黑" panose="020B0503020204020204" pitchFamily="34" charset="-122"/>
                <a:cs typeface="Times New Roman" panose="02020603050405020304" pitchFamily="18" charset="0"/>
              </a:rPr>
              <a:t>位存在高字节。</a:t>
            </a:r>
            <a:endParaRPr lang="zh-CN" altLang="en-US" b="1"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500"/>
                                        <p:tgtEl>
                                          <p:spTgt spid="5">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500"/>
                                        <p:tgtEl>
                                          <p:spTgt spid="5">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3" end="3"/>
                                            </p:txEl>
                                          </p:spTgt>
                                        </p:tgtEl>
                                        <p:attrNameLst>
                                          <p:attrName>style.visibility</p:attrName>
                                        </p:attrNameLst>
                                      </p:cBhvr>
                                      <p:to>
                                        <p:strVal val="visible"/>
                                      </p:to>
                                    </p:set>
                                    <p:animEffect transition="in" filter="fade">
                                      <p:cBhvr>
                                        <p:cTn id="16" dur="500"/>
                                        <p:tgtEl>
                                          <p:spTgt spid="5">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Effect transition="in" filter="fade">
                                      <p:cBhvr>
                                        <p:cTn id="19" dur="500"/>
                                        <p:tgtEl>
                                          <p:spTgt spid="5">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fade">
                                      <p:cBhvr>
                                        <p:cTn id="30" dur="500"/>
                                        <p:tgtEl>
                                          <p:spTgt spid="6">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animEffect transition="in" filter="fade">
                                      <p:cBhvr>
                                        <p:cTn id="35" dur="500"/>
                                        <p:tgtEl>
                                          <p:spTgt spid="6">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Effect transition="in" filter="fade">
                                      <p:cBhvr>
                                        <p:cTn id="40" dur="500"/>
                                        <p:tgtEl>
                                          <p:spTgt spid="6">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animEffect transition="in" filter="fade">
                                      <p:cBhvr>
                                        <p:cTn id="45" dur="500"/>
                                        <p:tgtEl>
                                          <p:spTgt spid="6">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6">
                                            <p:txEl>
                                              <p:pRg st="4" end="4"/>
                                            </p:txEl>
                                          </p:spTgt>
                                        </p:tgtEl>
                                        <p:attrNameLst>
                                          <p:attrName>style.visibility</p:attrName>
                                        </p:attrNameLst>
                                      </p:cBhvr>
                                      <p:to>
                                        <p:strVal val="visible"/>
                                      </p:to>
                                    </p:set>
                                    <p:animEffect transition="in" filter="fade">
                                      <p:cBhvr>
                                        <p:cTn id="50"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
        <p:nvSpPr>
          <p:cNvPr id="5" name="矩形 4"/>
          <p:cNvSpPr/>
          <p:nvPr/>
        </p:nvSpPr>
        <p:spPr>
          <a:xfrm>
            <a:off x="448280" y="1665493"/>
            <a:ext cx="4572000" cy="922020"/>
          </a:xfrm>
          <a:prstGeom prst="rect">
            <a:avLst/>
          </a:prstGeom>
        </p:spPr>
        <p:txBody>
          <a:bodyPr>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假设</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单元的内容为双精度数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单元的内容为双精度数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为低位字</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试说明下列程序段做什么工作？</a:t>
            </a:r>
          </a:p>
        </p:txBody>
      </p:sp>
      <p:sp>
        <p:nvSpPr>
          <p:cNvPr id="6" name="矩形 5"/>
          <p:cNvSpPr/>
          <p:nvPr/>
        </p:nvSpPr>
        <p:spPr>
          <a:xfrm>
            <a:off x="899592" y="2751271"/>
            <a:ext cx="3240360" cy="3385542"/>
          </a:xfrm>
          <a:prstGeom prst="rect">
            <a:avLst/>
          </a:prstGeom>
        </p:spPr>
        <p:txBody>
          <a:bodyPr wrap="square">
            <a:spAutoFit/>
          </a:bodyPr>
          <a:lstStyle/>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MOV   DX, X+2</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MOV   AX, X</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ADD   AX, X</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ADC   DX, X+2</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CMP   DX, Y+2</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JL  	   L2</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JG     L1</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CMP   AX, Y</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JBE    L2</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L1</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MOV  AX, 1</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JMP   SHORT EXIT</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L2</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MOV  AX, 2</a:t>
            </a:r>
          </a:p>
          <a:p>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EXIT</a:t>
            </a:r>
            <a:r>
              <a:rPr lang="zh-CN" altLang="en-US" sz="16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dirty="0">
                <a:latin typeface="Times New Roman" panose="02020603050405020304" pitchFamily="18" charset="0"/>
                <a:ea typeface="微软雅黑" panose="020B0503020204020204" pitchFamily="34" charset="-122"/>
                <a:cs typeface="Times New Roman" panose="02020603050405020304" pitchFamily="18" charset="0"/>
              </a:rPr>
              <a:t>INT 20H</a:t>
            </a:r>
          </a:p>
        </p:txBody>
      </p:sp>
      <p:sp>
        <p:nvSpPr>
          <p:cNvPr id="7" name="矩形 6"/>
          <p:cNvSpPr/>
          <p:nvPr/>
        </p:nvSpPr>
        <p:spPr>
          <a:xfrm>
            <a:off x="3724641" y="3982377"/>
            <a:ext cx="4572000" cy="923330"/>
          </a:xfrm>
          <a:prstGeom prst="rect">
            <a:avLst/>
          </a:prstGeom>
          <a:solidFill>
            <a:srgbClr val="FFFFCC"/>
          </a:solidFill>
        </p:spPr>
        <p:txBody>
          <a:bodyPr>
            <a:spAutoFit/>
          </a:bodyPr>
          <a:lstStyle/>
          <a:p>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此程序段判断</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q</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，则使</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(AX)=1</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后退出；</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p*2≤q</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，则使</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(AX)=2</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后退出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
        <p:nvSpPr>
          <p:cNvPr id="5" name="矩形 4"/>
          <p:cNvSpPr/>
          <p:nvPr/>
        </p:nvSpPr>
        <p:spPr>
          <a:xfrm>
            <a:off x="465994" y="1772816"/>
            <a:ext cx="7634397" cy="646331"/>
          </a:xfrm>
          <a:prstGeom prst="rect">
            <a:avLst/>
          </a:prstGeom>
        </p:spPr>
        <p:txBody>
          <a:bodyPr wrap="square">
            <a:spAutoFit/>
          </a:bodyPr>
          <a:lstStyle/>
          <a:p>
            <a:pPr indent="254000" algn="just">
              <a:spcAft>
                <a:spcPts val="0"/>
              </a:spcAft>
            </a:pP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6. </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有两个</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位的</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ASCII</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数串</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ASC1</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ASC2</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定义如下：</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ASC1 DB '578'</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ASC2 DB '694'</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ASC3 DB '0000'</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，请编写程序段计算</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ASC3</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ASC1+ASC2</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zh-CN" sz="1800" b="1" dirty="0">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646083" y="2592194"/>
            <a:ext cx="4572000" cy="3693319"/>
          </a:xfrm>
          <a:prstGeom prst="rect">
            <a:avLst/>
          </a:prstGeom>
          <a:solidFill>
            <a:srgbClr val="FFFFCC"/>
          </a:solidFill>
        </p:spPr>
        <p:txBody>
          <a:bodyPr>
            <a:spAutoFit/>
          </a:bodyPr>
          <a:lstStyle/>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CLC</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CX,3</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BX,2</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BACK: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MOV	AL, ASC1</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ADC	AL, ASC2</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AAA</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OR	ASC3</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BX+1</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AL</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DEC	BX</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LOOP	BACK</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RCL	CX, 1</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OR	ASC3</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BX</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,CL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7. </a:t>
            </a:r>
            <a:r>
              <a:rPr lang="zh-CN" altLang="en-US" dirty="0"/>
              <a:t>试编写程序，要求从键盘输入</a:t>
            </a:r>
            <a:r>
              <a:rPr lang="en-US" altLang="zh-CN" dirty="0"/>
              <a:t>3</a:t>
            </a:r>
            <a:r>
              <a:rPr lang="zh-CN" altLang="en-US" dirty="0"/>
              <a:t>个十六进制数，并根据对</a:t>
            </a:r>
            <a:r>
              <a:rPr lang="en-US" altLang="zh-CN" dirty="0"/>
              <a:t>3</a:t>
            </a:r>
            <a:r>
              <a:rPr lang="zh-CN" altLang="en-US" dirty="0"/>
              <a:t>个数的比较显示如下信息</a:t>
            </a:r>
            <a:r>
              <a:rPr lang="en-US" altLang="zh-CN" dirty="0"/>
              <a:t>: </a:t>
            </a:r>
          </a:p>
          <a:p>
            <a:r>
              <a:rPr lang="en-US" altLang="zh-CN" dirty="0"/>
              <a:t>(1) </a:t>
            </a:r>
            <a:r>
              <a:rPr lang="zh-CN" altLang="en-US" dirty="0"/>
              <a:t>如果</a:t>
            </a:r>
            <a:r>
              <a:rPr lang="en-US" altLang="zh-CN" dirty="0"/>
              <a:t>3</a:t>
            </a:r>
            <a:r>
              <a:rPr lang="zh-CN" altLang="en-US" dirty="0"/>
              <a:t>个数都不相等则显示</a:t>
            </a:r>
            <a:r>
              <a:rPr lang="en-US" altLang="zh-CN" dirty="0"/>
              <a:t>0</a:t>
            </a:r>
            <a:r>
              <a:rPr lang="zh-CN" altLang="en-US" dirty="0"/>
              <a:t>。</a:t>
            </a:r>
          </a:p>
          <a:p>
            <a:r>
              <a:rPr lang="en-US" altLang="zh-CN" dirty="0"/>
              <a:t>(2) </a:t>
            </a:r>
            <a:r>
              <a:rPr lang="zh-CN" altLang="en-US" dirty="0"/>
              <a:t>如果</a:t>
            </a:r>
            <a:r>
              <a:rPr lang="en-US" altLang="zh-CN" dirty="0"/>
              <a:t>3</a:t>
            </a:r>
            <a:r>
              <a:rPr lang="zh-CN" altLang="en-US" dirty="0"/>
              <a:t>个数中有两个数相等则显示</a:t>
            </a:r>
            <a:r>
              <a:rPr lang="en-US" altLang="zh-CN" dirty="0"/>
              <a:t>2</a:t>
            </a:r>
            <a:r>
              <a:rPr lang="zh-CN" altLang="en-US" dirty="0"/>
              <a:t>。</a:t>
            </a:r>
          </a:p>
          <a:p>
            <a:r>
              <a:rPr lang="en-US" altLang="zh-CN" dirty="0"/>
              <a:t>(3) </a:t>
            </a:r>
            <a:r>
              <a:rPr lang="zh-CN" altLang="en-US" dirty="0"/>
              <a:t>如果</a:t>
            </a:r>
            <a:r>
              <a:rPr lang="en-US" altLang="zh-CN" dirty="0"/>
              <a:t>3</a:t>
            </a:r>
            <a:r>
              <a:rPr lang="zh-CN" altLang="en-US" dirty="0"/>
              <a:t>个数都相等则显示</a:t>
            </a:r>
            <a:r>
              <a:rPr lang="en-US" altLang="zh-CN" dirty="0"/>
              <a:t>3</a:t>
            </a:r>
            <a:r>
              <a:rPr lang="zh-CN" altLang="en-US" dirty="0"/>
              <a:t>。</a:t>
            </a:r>
          </a:p>
          <a:p>
            <a:endParaRPr lang="zh-CN" altLang="en-US" dirty="0"/>
          </a:p>
        </p:txBody>
      </p:sp>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sz="2000" b="1" dirty="0"/>
              <a:t>8. </a:t>
            </a:r>
            <a:r>
              <a:rPr lang="zh-CN" altLang="en-US" sz="2000" b="1" dirty="0"/>
              <a:t>试编写程序，它轮流测试两个设备的状态寄存器，只要一个状态寄存器的第</a:t>
            </a:r>
            <a:r>
              <a:rPr lang="en-US" altLang="zh-CN" sz="2000" b="1" dirty="0"/>
              <a:t>0</a:t>
            </a:r>
            <a:r>
              <a:rPr lang="zh-CN" altLang="en-US" sz="2000" b="1" dirty="0"/>
              <a:t>位为</a:t>
            </a:r>
            <a:r>
              <a:rPr lang="en-US" altLang="zh-CN" sz="2000" b="1" dirty="0"/>
              <a:t>1</a:t>
            </a:r>
            <a:r>
              <a:rPr lang="zh-CN" altLang="en-US" sz="2000" b="1" dirty="0"/>
              <a:t>，则与其相应的设备就输入一个字符；如果其中任一状态寄存器的第</a:t>
            </a:r>
            <a:r>
              <a:rPr lang="en-US" altLang="zh-CN" sz="2000" b="1" dirty="0"/>
              <a:t>3</a:t>
            </a:r>
            <a:r>
              <a:rPr lang="zh-CN" altLang="en-US" sz="2000" b="1" dirty="0"/>
              <a:t>位为</a:t>
            </a:r>
            <a:r>
              <a:rPr lang="en-US" altLang="zh-CN" sz="2000" b="1" dirty="0"/>
              <a:t>1</a:t>
            </a:r>
            <a:r>
              <a:rPr lang="zh-CN" altLang="en-US" sz="2000" b="1" dirty="0"/>
              <a:t>，则整个输入过程结束。两个状态寄存器的端口地址分别是</a:t>
            </a:r>
            <a:r>
              <a:rPr lang="en-US" altLang="zh-CN" sz="2000" b="1" dirty="0"/>
              <a:t>0024H</a:t>
            </a:r>
            <a:r>
              <a:rPr lang="zh-CN" altLang="en-US" sz="2000" b="1" dirty="0"/>
              <a:t>和</a:t>
            </a:r>
            <a:r>
              <a:rPr lang="en-US" altLang="zh-CN" sz="2000" b="1" dirty="0"/>
              <a:t>0036H</a:t>
            </a:r>
            <a:r>
              <a:rPr lang="zh-CN" altLang="en-US" sz="2000" b="1" dirty="0"/>
              <a:t>，与其相应的数据输入寄存器的端口则为</a:t>
            </a:r>
            <a:r>
              <a:rPr lang="en-US" altLang="zh-CN" sz="2000" b="1" dirty="0"/>
              <a:t>0026H</a:t>
            </a:r>
            <a:r>
              <a:rPr lang="zh-CN" altLang="en-US" sz="2000" b="1" dirty="0"/>
              <a:t>和</a:t>
            </a:r>
            <a:r>
              <a:rPr lang="en-US" altLang="zh-CN" sz="2000" b="1" dirty="0"/>
              <a:t>0038H</a:t>
            </a:r>
            <a:r>
              <a:rPr lang="zh-CN" altLang="en-US" sz="2000" b="1" dirty="0"/>
              <a:t>，输入字符分别存入首地址为</a:t>
            </a:r>
            <a:r>
              <a:rPr lang="en-US" altLang="zh-CN" sz="2000" b="1" dirty="0"/>
              <a:t>BUFF1</a:t>
            </a:r>
            <a:r>
              <a:rPr lang="zh-CN" altLang="en-US" sz="2000" b="1" dirty="0"/>
              <a:t>和</a:t>
            </a:r>
            <a:r>
              <a:rPr lang="en-US" altLang="zh-CN" sz="2000" b="1" dirty="0"/>
              <a:t>BUFF2</a:t>
            </a:r>
            <a:r>
              <a:rPr lang="zh-CN" altLang="en-US" sz="2000" b="1" dirty="0"/>
              <a:t>的存储区中。</a:t>
            </a:r>
          </a:p>
        </p:txBody>
      </p:sp>
      <p:sp>
        <p:nvSpPr>
          <p:cNvPr id="3" name="文本占位符 2"/>
          <p:cNvSpPr>
            <a:spLocks noGrp="1"/>
          </p:cNvSpPr>
          <p:nvPr>
            <p:ph type="body" sz="quarter" idx="10"/>
          </p:nvPr>
        </p:nvSpPr>
        <p:spPr/>
        <p:txBody>
          <a:bodyPr/>
          <a:lstStyle/>
          <a:p>
            <a:r>
              <a:rPr lang="en-US" altLang="zh-CN" dirty="0"/>
              <a:t>4.10 </a:t>
            </a:r>
            <a:r>
              <a:rPr lang="zh-CN" altLang="en-US" dirty="0"/>
              <a:t>例题解析</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en-US" altLang="zh-CN" dirty="0"/>
              <a:t>4.10 </a:t>
            </a:r>
            <a:r>
              <a:rPr lang="zh-CN" altLang="en-US"/>
              <a:t>例题解析</a:t>
            </a:r>
          </a:p>
          <a:p>
            <a:endParaRPr lang="zh-CN" altLang="en-US"/>
          </a:p>
        </p:txBody>
      </p:sp>
      <p:sp>
        <p:nvSpPr>
          <p:cNvPr id="5" name="矩形 4"/>
          <p:cNvSpPr/>
          <p:nvPr/>
        </p:nvSpPr>
        <p:spPr>
          <a:xfrm>
            <a:off x="611560" y="1772816"/>
            <a:ext cx="7344816" cy="1200329"/>
          </a:xfrm>
          <a:prstGeom prst="rect">
            <a:avLst/>
          </a:prstGeom>
        </p:spPr>
        <p:txBody>
          <a:bodyPr wrap="square">
            <a:spAutoFit/>
          </a:bodyPr>
          <a:lstStyle/>
          <a:p>
            <a:pPr marL="342900" lvl="0" indent="-342900" algn="just">
              <a:spcAft>
                <a:spcPts val="0"/>
              </a:spcAft>
              <a:buFont typeface="+mj-lt"/>
              <a:buAutoNum type="arabicPeriod" startAt="9"/>
            </a:pP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给定</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(SP)=0100H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(SS)=0300H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(FLAGS)=0240H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，存储单元的内容为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(00020H)=0040H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(00022H)=0100H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，在段地址为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0900H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及偏移地址为</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00A0H</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的单元中有一条中断指令</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INT 8</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，试问执行</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INT 8</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指令后，</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SP</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SS</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FLAGS</a:t>
            </a:r>
            <a:r>
              <a:rPr lang="zh-CN" altLang="zh-CN" b="1" dirty="0">
                <a:latin typeface="Times New Roman" panose="02020603050405020304" pitchFamily="18" charset="0"/>
                <a:ea typeface="微软雅黑" panose="020B0503020204020204" pitchFamily="34" charset="-122"/>
                <a:cs typeface="Times New Roman" panose="02020603050405020304" pitchFamily="18" charset="0"/>
              </a:rPr>
              <a:t>的内容各是什么？栈顶的三个字是什么？</a:t>
            </a:r>
            <a:endParaRPr lang="zh-CN" altLang="zh-CN" sz="1800" b="1" dirty="0">
              <a:effectLst/>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971600" y="3429000"/>
            <a:ext cx="4572000" cy="1477328"/>
          </a:xfrm>
          <a:prstGeom prst="rect">
            <a:avLst/>
          </a:prstGeom>
        </p:spPr>
        <p:txBody>
          <a:bodyPr>
            <a:spAutoFit/>
          </a:bodyPr>
          <a:lstStyle/>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 </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(SP)=00FAH</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(SS)=0300H</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(IP)=0040H</a:t>
            </a:r>
          </a:p>
          <a:p>
            <a:r>
              <a:rPr lang="en-US" altLang="zh-CN" b="1" dirty="0">
                <a:latin typeface="Times New Roman" panose="02020603050405020304" pitchFamily="18" charset="0"/>
                <a:ea typeface="微软雅黑" panose="020B0503020204020204" pitchFamily="34" charset="-122"/>
                <a:cs typeface="Times New Roman" panose="02020603050405020304" pitchFamily="18" charset="0"/>
              </a:rPr>
              <a:t>(FLAGS)=0040H</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堆栈内容：</a:t>
            </a:r>
          </a:p>
        </p:txBody>
      </p:sp>
      <p:graphicFrame>
        <p:nvGraphicFramePr>
          <p:cNvPr id="8" name="表格 7"/>
          <p:cNvGraphicFramePr>
            <a:graphicFrameLocks noGrp="1"/>
          </p:cNvGraphicFramePr>
          <p:nvPr/>
        </p:nvGraphicFramePr>
        <p:xfrm>
          <a:off x="5004049" y="3680905"/>
          <a:ext cx="936104" cy="1097280"/>
        </p:xfrm>
        <a:graphic>
          <a:graphicData uri="http://schemas.openxmlformats.org/drawingml/2006/table">
            <a:tbl>
              <a:tblPr/>
              <a:tblGrid>
                <a:gridCol w="936104">
                  <a:extLst>
                    <a:ext uri="{9D8B030D-6E8A-4147-A177-3AD203B41FA5}">
                      <a16:colId xmlns:a16="http://schemas.microsoft.com/office/drawing/2014/main" val="20000"/>
                    </a:ext>
                  </a:extLst>
                </a:gridCol>
              </a:tblGrid>
              <a:tr h="182245">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rPr>
                        <a:t> </a:t>
                      </a:r>
                      <a:endParaRPr lang="zh-CN" sz="18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8125">
                <a:tc>
                  <a:txBody>
                    <a:bodyPr/>
                    <a:lstStyle/>
                    <a:p>
                      <a:pPr algn="just">
                        <a:spcAft>
                          <a:spcPts val="0"/>
                        </a:spcAft>
                      </a:pPr>
                      <a:r>
                        <a:rPr lang="en-US" sz="1800" kern="100">
                          <a:effectLst/>
                          <a:latin typeface="Times New Roman" panose="02020603050405020304" pitchFamily="18" charset="0"/>
                          <a:ea typeface="宋体" panose="02010600030101010101" pitchFamily="2" charset="-122"/>
                        </a:rPr>
                        <a:t>00A1H</a:t>
                      </a:r>
                      <a:endParaRPr lang="zh-CN" sz="18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38125">
                <a:tc>
                  <a:txBody>
                    <a:bodyPr/>
                    <a:lstStyle/>
                    <a:p>
                      <a:pPr algn="just">
                        <a:spcAft>
                          <a:spcPts val="0"/>
                        </a:spcAft>
                      </a:pPr>
                      <a:r>
                        <a:rPr lang="en-US" sz="1800" kern="100">
                          <a:effectLst/>
                          <a:latin typeface="Times New Roman" panose="02020603050405020304" pitchFamily="18" charset="0"/>
                          <a:ea typeface="宋体" panose="02010600030101010101" pitchFamily="2" charset="-122"/>
                        </a:rPr>
                        <a:t>0900H</a:t>
                      </a:r>
                      <a:endParaRPr lang="zh-CN" sz="1800" kern="10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4160">
                <a:tc>
                  <a:txBody>
                    <a:bodyPr/>
                    <a:lstStyle/>
                    <a:p>
                      <a:pPr algn="just">
                        <a:spcAft>
                          <a:spcPts val="0"/>
                        </a:spcAft>
                      </a:pPr>
                      <a:r>
                        <a:rPr lang="en-US" sz="1800" kern="100" dirty="0">
                          <a:effectLst/>
                          <a:latin typeface="Times New Roman" panose="02020603050405020304" pitchFamily="18" charset="0"/>
                          <a:ea typeface="宋体" panose="02010600030101010101" pitchFamily="2" charset="-122"/>
                        </a:rPr>
                        <a:t>0240H</a:t>
                      </a:r>
                      <a:endParaRPr lang="zh-CN" sz="18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E0YTZkNjZlMWQ4OTljNWNkOWE4ZTk2MTNlM2Q5YW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cdb2004c012l">
  <a:themeElements>
    <a:clrScheme name="自定义 2">
      <a:dk1>
        <a:srgbClr val="00349E"/>
      </a:dk1>
      <a:lt1>
        <a:sysClr val="window" lastClr="FFFFFF"/>
      </a:lt1>
      <a:dk2>
        <a:srgbClr val="002676"/>
      </a:dk2>
      <a:lt2>
        <a:srgbClr val="D2D2D2"/>
      </a:lt2>
      <a:accent1>
        <a:srgbClr val="002676"/>
      </a:accent1>
      <a:accent2>
        <a:srgbClr val="005BD3"/>
      </a:accent2>
      <a:accent3>
        <a:srgbClr val="00B050"/>
      </a:accent3>
      <a:accent4>
        <a:srgbClr val="92D050"/>
      </a:accent4>
      <a:accent5>
        <a:srgbClr val="17BBFD"/>
      </a:accent5>
      <a:accent6>
        <a:srgbClr val="FFFFFF"/>
      </a:accent6>
      <a:hlink>
        <a:srgbClr val="17BBFD"/>
      </a:hlink>
      <a:folHlink>
        <a:srgbClr val="4E005F"/>
      </a:folHlink>
    </a:clrScheme>
    <a:fontScheme name="sample">
      <a:majorFont>
        <a:latin typeface="Verdana"/>
        <a:ea typeface=""/>
        <a:cs typeface=""/>
      </a:majorFont>
      <a:minorFont>
        <a:latin typeface="Verdana"/>
        <a:ea typeface=""/>
        <a:cs typeface=""/>
      </a:minorFont>
    </a:fontScheme>
    <a:fmtScheme name="行云流水">
      <a:fillStyleLst>
        <a:solidFill>
          <a:schemeClr val="phClr"/>
        </a:solidFill>
        <a:gradFill rotWithShape="1">
          <a:gsLst>
            <a:gs pos="0">
              <a:schemeClr val="phClr">
                <a:tint val="90000"/>
                <a:satMod val="130000"/>
              </a:schemeClr>
            </a:gs>
            <a:gs pos="50000">
              <a:schemeClr val="phClr">
                <a:tint val="45000"/>
                <a:satMod val="220000"/>
              </a:schemeClr>
            </a:gs>
            <a:gs pos="100000">
              <a:schemeClr val="phClr">
                <a:tint val="90000"/>
                <a:satMod val="130000"/>
              </a:schemeClr>
            </a:gs>
          </a:gsLst>
          <a:lin ang="5400000" scaled="1"/>
        </a:gradFill>
        <a:gradFill rotWithShape="1">
          <a:gsLst>
            <a:gs pos="0">
              <a:schemeClr val="phClr">
                <a:tint val="100000"/>
                <a:shade val="90000"/>
                <a:hueMod val="100000"/>
                <a:satMod val="200000"/>
              </a:schemeClr>
            </a:gs>
            <a:gs pos="50000">
              <a:schemeClr val="phClr">
                <a:tint val="100000"/>
                <a:shade val="60000"/>
                <a:hueMod val="100000"/>
                <a:satMod val="180000"/>
              </a:schemeClr>
            </a:gs>
            <a:gs pos="100000">
              <a:schemeClr val="phClr">
                <a:tint val="100000"/>
                <a:shade val="90000"/>
                <a:hueMod val="100000"/>
                <a:satMod val="200000"/>
              </a:schemeClr>
            </a:gs>
          </a:gsLst>
          <a:lin ang="540000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50600">
              <a:schemeClr val="phClr">
                <a:alpha val="40000"/>
              </a:schemeClr>
            </a:glow>
          </a:effectLst>
        </a:effectStyle>
        <a:effectStyle>
          <a:effectLst>
            <a:glow rad="101600">
              <a:schemeClr val="phClr">
                <a:alpha val="60000"/>
              </a:schemeClr>
            </a:glow>
          </a:effectLst>
          <a:scene3d>
            <a:camera prst="isometricLeftDown" fov="0">
              <a:rot lat="0" lon="0" rev="0"/>
            </a:camera>
            <a:lightRig rig="harsh" dir="tl">
              <a:rot lat="0" lon="0" rev="14280000"/>
            </a:lightRig>
          </a:scene3d>
          <a:sp3d prstMaterial="flat">
            <a:bevelT w="38100" h="50800" prst="softRound"/>
          </a:sp3d>
        </a:effectStyle>
        <a:effectStyle>
          <a:effectLst>
            <a:glow>
              <a:schemeClr val="phClr"/>
            </a:glow>
          </a:effectLst>
          <a:scene3d>
            <a:camera prst="isometricLeftDown">
              <a:rot lat="0" lon="0" rev="0"/>
            </a:camera>
            <a:lightRig rig="harsh" dir="tl">
              <a:rot lat="0" lon="0" rev="14280000"/>
            </a:lightRig>
          </a:scene3d>
          <a:sp3d extrusionH="63500" contourW="38100" prstMaterial="flat">
            <a:bevelT w="50800" h="63500" prst="softRound"/>
            <a:contourClr>
              <a:schemeClr val="phClr">
                <a:tint val="5"/>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2B166E"/>
        </a:dk1>
        <a:lt1>
          <a:srgbClr val="FFFFFF"/>
        </a:lt1>
        <a:dk2>
          <a:srgbClr val="336699"/>
        </a:dk2>
        <a:lt2>
          <a:srgbClr val="C0C0C0"/>
        </a:lt2>
        <a:accent1>
          <a:srgbClr val="458F8F"/>
        </a:accent1>
        <a:accent2>
          <a:srgbClr val="CCCC00"/>
        </a:accent2>
        <a:accent3>
          <a:srgbClr val="FFFFFF"/>
        </a:accent3>
        <a:accent4>
          <a:srgbClr val="23115D"/>
        </a:accent4>
        <a:accent5>
          <a:srgbClr val="B0C6C6"/>
        </a:accent5>
        <a:accent6>
          <a:srgbClr val="B9B900"/>
        </a:accent6>
        <a:hlink>
          <a:srgbClr val="9999FF"/>
        </a:hlink>
        <a:folHlink>
          <a:srgbClr val="6C9BBE"/>
        </a:folHlink>
      </a:clrScheme>
      <a:clrMap bg1="lt1" tx1="dk1" bg2="lt2" tx2="dk2" accent1="accent1" accent2="accent2" accent3="accent3" accent4="accent4" accent5="accent5" accent6="accent6" hlink="hlink" folHlink="folHlink"/>
    </a:extraClrScheme>
    <a:extraClrScheme>
      <a:clrScheme name="sample 2">
        <a:dk1>
          <a:srgbClr val="1D528D"/>
        </a:dk1>
        <a:lt1>
          <a:srgbClr val="FFFFFF"/>
        </a:lt1>
        <a:dk2>
          <a:srgbClr val="000000"/>
        </a:dk2>
        <a:lt2>
          <a:srgbClr val="C0C0C0"/>
        </a:lt2>
        <a:accent1>
          <a:srgbClr val="2CA3C8"/>
        </a:accent1>
        <a:accent2>
          <a:srgbClr val="FF9900"/>
        </a:accent2>
        <a:accent3>
          <a:srgbClr val="FFFFFF"/>
        </a:accent3>
        <a:accent4>
          <a:srgbClr val="174578"/>
        </a:accent4>
        <a:accent5>
          <a:srgbClr val="ACCEE0"/>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sample 3">
        <a:dk1>
          <a:srgbClr val="666633"/>
        </a:dk1>
        <a:lt1>
          <a:srgbClr val="FFFFFF"/>
        </a:lt1>
        <a:dk2>
          <a:srgbClr val="000000"/>
        </a:dk2>
        <a:lt2>
          <a:srgbClr val="D1C68D"/>
        </a:lt2>
        <a:accent1>
          <a:srgbClr val="C86C62"/>
        </a:accent1>
        <a:accent2>
          <a:srgbClr val="C78DD7"/>
        </a:accent2>
        <a:accent3>
          <a:srgbClr val="FFFFFF"/>
        </a:accent3>
        <a:accent4>
          <a:srgbClr val="56562A"/>
        </a:accent4>
        <a:accent5>
          <a:srgbClr val="E0BAB7"/>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13">
      <a:dk1>
        <a:srgbClr val="000000"/>
      </a:dk1>
      <a:lt1>
        <a:srgbClr val="FFFFFF"/>
      </a:lt1>
      <a:dk2>
        <a:srgbClr val="003366"/>
      </a:dk2>
      <a:lt2>
        <a:srgbClr val="808080"/>
      </a:lt2>
      <a:accent1>
        <a:srgbClr val="BBE0E3"/>
      </a:accent1>
      <a:accent2>
        <a:srgbClr val="FF0000"/>
      </a:accent2>
      <a:accent3>
        <a:srgbClr val="FFFFFF"/>
      </a:accent3>
      <a:accent4>
        <a:srgbClr val="000000"/>
      </a:accent4>
      <a:accent5>
        <a:srgbClr val="DAEDEF"/>
      </a:accent5>
      <a:accent6>
        <a:srgbClr val="E70000"/>
      </a:accent6>
      <a:hlink>
        <a:srgbClr val="000099"/>
      </a:hlink>
      <a:folHlink>
        <a:srgbClr val="660033"/>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3366"/>
        </a:dk2>
        <a:lt2>
          <a:srgbClr val="808080"/>
        </a:lt2>
        <a:accent1>
          <a:srgbClr val="BBE0E3"/>
        </a:accent1>
        <a:accent2>
          <a:srgbClr val="FF0000"/>
        </a:accent2>
        <a:accent3>
          <a:srgbClr val="FFFFFF"/>
        </a:accent3>
        <a:accent4>
          <a:srgbClr val="000000"/>
        </a:accent4>
        <a:accent5>
          <a:srgbClr val="DAEDEF"/>
        </a:accent5>
        <a:accent6>
          <a:srgbClr val="E70000"/>
        </a:accent6>
        <a:hlink>
          <a:srgbClr val="000099"/>
        </a:hlink>
        <a:folHlink>
          <a:srgbClr val="6600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Opulent</Template>
  <TotalTime>87</TotalTime>
  <Words>17069</Words>
  <Application>Microsoft Office PowerPoint</Application>
  <PresentationFormat>全屏显示(4:3)</PresentationFormat>
  <Paragraphs>1898</Paragraphs>
  <Slides>144</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144</vt:i4>
      </vt:variant>
    </vt:vector>
  </HeadingPairs>
  <TitlesOfParts>
    <vt:vector size="160" baseType="lpstr">
      <vt:lpstr>宋体</vt:lpstr>
      <vt:lpstr>Verdana</vt:lpstr>
      <vt:lpstr>幼圆</vt:lpstr>
      <vt:lpstr>Calibri</vt:lpstr>
      <vt:lpstr>仿宋</vt:lpstr>
      <vt:lpstr>兰米楷体-商</vt:lpstr>
      <vt:lpstr>微软雅黑</vt:lpstr>
      <vt:lpstr>Arial</vt:lpstr>
      <vt:lpstr>楷体_GB2312</vt:lpstr>
      <vt:lpstr>Wingdings</vt:lpstr>
      <vt:lpstr>Times New Roman</vt:lpstr>
      <vt:lpstr>黑体</vt:lpstr>
      <vt:lpstr>cdb2004c012l</vt:lpstr>
      <vt:lpstr>默认设计模板</vt:lpstr>
      <vt:lpstr>Paintbrush Picture</vt:lpstr>
      <vt:lpstr>公式</vt:lpstr>
      <vt:lpstr>微机原理与接口技术（第3版）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 DEBUG的命令</vt:lpstr>
      <vt:lpstr>（1）显示命令D（Dump）</vt:lpstr>
      <vt:lpstr>（1）显示命令D（Dump）</vt:lpstr>
      <vt:lpstr>（2）修改命令E（Enter）</vt:lpstr>
      <vt:lpstr>（2）修改命令E（Enter）</vt:lpstr>
      <vt:lpstr>（3）填充命令F（Fill）</vt:lpstr>
      <vt:lpstr>（4）寄存器命令R（Register）</vt:lpstr>
      <vt:lpstr>（4）寄存器命令R（Register）</vt:lpstr>
      <vt:lpstr>表F5.1 标志状态的表示符号</vt:lpstr>
      <vt:lpstr>（4）汇编命令A（Assembler）</vt:lpstr>
      <vt:lpstr>（4）汇编命令A（Assembler）</vt:lpstr>
      <vt:lpstr>（4）汇编命令A（Assembler）</vt:lpstr>
      <vt:lpstr>（6）反汇编命令U（Unassembler）</vt:lpstr>
      <vt:lpstr>（7）运行命令G（Go）</vt:lpstr>
      <vt:lpstr>（7）运行命令G（Go）</vt:lpstr>
      <vt:lpstr>（8）跟踪命令T（Trace）</vt:lpstr>
      <vt:lpstr>（9）继续命令P（Proceed）</vt:lpstr>
      <vt:lpstr>（10）退出命令Q（Quit）</vt:lpstr>
      <vt:lpstr>（11）命名命令N（Name）</vt:lpstr>
      <vt:lpstr>（12）装入命令L（Load）</vt:lpstr>
      <vt:lpstr>（13）写盘命令W（Write）</vt:lpstr>
      <vt:lpstr>（13）写盘命令W（Write）</vt:lpstr>
      <vt:lpstr>（14）其他命令</vt:lpstr>
      <vt:lpstr>其他命令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SONY</dc:creator>
  <cp:lastModifiedBy>gkq2414774255@163.com</cp:lastModifiedBy>
  <cp:revision>967</cp:revision>
  <dcterms:created xsi:type="dcterms:W3CDTF">2010-12-06T14:45:00Z</dcterms:created>
  <dcterms:modified xsi:type="dcterms:W3CDTF">2024-12-21T13:30:30Z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1033-12.2.0.18283</vt:lpwstr>
  </property>
  <property fmtid="{D5CDD505-2E9C-101B-9397-08002B2CF9AE}" pid="3" name="ICV">
    <vt:lpwstr>D27D51CE1A1D4A48A574CA650A28EB76_12</vt:lpwstr>
  </property>
</Properties>
</file>