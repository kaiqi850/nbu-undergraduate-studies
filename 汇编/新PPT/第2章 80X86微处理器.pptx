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07"/>
  </p:handoutMasterIdLst>
  <p:sldIdLst>
    <p:sldId id="785" r:id="rId3"/>
    <p:sldId id="787" r:id="rId4"/>
    <p:sldId id="786" r:id="rId5"/>
    <p:sldId id="788" r:id="rId6"/>
    <p:sldId id="789" r:id="rId7"/>
    <p:sldId id="790" r:id="rId8"/>
    <p:sldId id="791" r:id="rId9"/>
    <p:sldId id="799" r:id="rId10"/>
    <p:sldId id="800" r:id="rId12"/>
    <p:sldId id="801" r:id="rId13"/>
    <p:sldId id="802" r:id="rId14"/>
    <p:sldId id="803" r:id="rId15"/>
    <p:sldId id="804" r:id="rId16"/>
    <p:sldId id="805" r:id="rId17"/>
    <p:sldId id="811" r:id="rId18"/>
    <p:sldId id="812" r:id="rId19"/>
    <p:sldId id="813" r:id="rId20"/>
    <p:sldId id="814" r:id="rId21"/>
    <p:sldId id="815" r:id="rId22"/>
    <p:sldId id="816" r:id="rId23"/>
    <p:sldId id="817" r:id="rId24"/>
    <p:sldId id="818" r:id="rId25"/>
    <p:sldId id="819" r:id="rId26"/>
    <p:sldId id="820" r:id="rId27"/>
    <p:sldId id="821" r:id="rId28"/>
    <p:sldId id="822" r:id="rId29"/>
    <p:sldId id="806" r:id="rId30"/>
    <p:sldId id="807" r:id="rId31"/>
    <p:sldId id="808" r:id="rId32"/>
    <p:sldId id="809" r:id="rId33"/>
    <p:sldId id="810" r:id="rId34"/>
    <p:sldId id="891" r:id="rId35"/>
    <p:sldId id="792" r:id="rId36"/>
    <p:sldId id="793" r:id="rId37"/>
    <p:sldId id="794" r:id="rId38"/>
    <p:sldId id="795" r:id="rId39"/>
    <p:sldId id="796" r:id="rId40"/>
    <p:sldId id="797" r:id="rId41"/>
    <p:sldId id="798" r:id="rId42"/>
    <p:sldId id="892" r:id="rId43"/>
    <p:sldId id="893" r:id="rId44"/>
    <p:sldId id="894" r:id="rId45"/>
    <p:sldId id="895" r:id="rId46"/>
    <p:sldId id="896" r:id="rId47"/>
    <p:sldId id="897" r:id="rId48"/>
    <p:sldId id="898" r:id="rId49"/>
    <p:sldId id="899" r:id="rId50"/>
    <p:sldId id="900" r:id="rId51"/>
    <p:sldId id="901" r:id="rId52"/>
    <p:sldId id="902" r:id="rId53"/>
    <p:sldId id="903" r:id="rId54"/>
    <p:sldId id="904" r:id="rId55"/>
    <p:sldId id="905" r:id="rId56"/>
    <p:sldId id="906" r:id="rId57"/>
    <p:sldId id="907" r:id="rId58"/>
    <p:sldId id="908" r:id="rId59"/>
    <p:sldId id="909" r:id="rId60"/>
    <p:sldId id="910" r:id="rId61"/>
    <p:sldId id="911" r:id="rId62"/>
    <p:sldId id="912" r:id="rId63"/>
    <p:sldId id="920" r:id="rId64"/>
    <p:sldId id="921" r:id="rId65"/>
    <p:sldId id="922" r:id="rId66"/>
    <p:sldId id="923" r:id="rId67"/>
    <p:sldId id="924" r:id="rId68"/>
    <p:sldId id="925" r:id="rId69"/>
    <p:sldId id="926" r:id="rId70"/>
    <p:sldId id="927" r:id="rId71"/>
    <p:sldId id="929" r:id="rId72"/>
    <p:sldId id="959" r:id="rId73"/>
    <p:sldId id="960" r:id="rId74"/>
    <p:sldId id="961" r:id="rId75"/>
    <p:sldId id="962" r:id="rId76"/>
    <p:sldId id="963" r:id="rId77"/>
    <p:sldId id="964" r:id="rId78"/>
    <p:sldId id="965" r:id="rId79"/>
    <p:sldId id="966" r:id="rId80"/>
    <p:sldId id="967" r:id="rId81"/>
    <p:sldId id="968" r:id="rId82"/>
    <p:sldId id="969" r:id="rId83"/>
    <p:sldId id="970" r:id="rId84"/>
    <p:sldId id="971" r:id="rId85"/>
    <p:sldId id="972" r:id="rId86"/>
    <p:sldId id="973" r:id="rId87"/>
    <p:sldId id="974" r:id="rId88"/>
    <p:sldId id="525" r:id="rId89"/>
    <p:sldId id="976" r:id="rId90"/>
    <p:sldId id="975" r:id="rId91"/>
    <p:sldId id="977" r:id="rId92"/>
    <p:sldId id="978" r:id="rId93"/>
    <p:sldId id="979" r:id="rId94"/>
    <p:sldId id="980" r:id="rId95"/>
    <p:sldId id="981" r:id="rId96"/>
    <p:sldId id="982" r:id="rId97"/>
    <p:sldId id="983" r:id="rId98"/>
    <p:sldId id="989" r:id="rId99"/>
    <p:sldId id="984" r:id="rId100"/>
    <p:sldId id="985" r:id="rId101"/>
    <p:sldId id="986" r:id="rId102"/>
    <p:sldId id="987" r:id="rId103"/>
    <p:sldId id="988" r:id="rId104"/>
    <p:sldId id="990" r:id="rId105"/>
    <p:sldId id="991" r:id="rId10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00"/>
    <a:srgbClr val="A50021"/>
    <a:srgbClr val="009900"/>
    <a:srgbClr val="FF6699"/>
    <a:srgbClr val="FFFFA3"/>
    <a:srgbClr val="F05010"/>
    <a:srgbClr val="996600"/>
    <a:srgbClr val="CC9900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84229" autoAdjust="0"/>
  </p:normalViewPr>
  <p:slideViewPr>
    <p:cSldViewPr snapToGrid="0" showGuides="1">
      <p:cViewPr varScale="1">
        <p:scale>
          <a:sx n="75" d="100"/>
          <a:sy n="75" d="100"/>
        </p:scale>
        <p:origin x="1517" y="53"/>
      </p:cViewPr>
      <p:guideLst>
        <p:guide orient="horz" pos="2160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0" Type="http://schemas.openxmlformats.org/officeDocument/2006/relationships/tableStyles" Target="tableStyles.xml"/><Relationship Id="rId11" Type="http://schemas.openxmlformats.org/officeDocument/2006/relationships/notesMaster" Target="notesMasters/notesMaster1.xml"/><Relationship Id="rId109" Type="http://schemas.openxmlformats.org/officeDocument/2006/relationships/viewProps" Target="viewProps.xml"/><Relationship Id="rId108" Type="http://schemas.openxmlformats.org/officeDocument/2006/relationships/presProps" Target="presProps.xml"/><Relationship Id="rId107" Type="http://schemas.openxmlformats.org/officeDocument/2006/relationships/handoutMaster" Target="handoutMasters/handoutMaster1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9665E31-3EE6-47BC-ADEC-063869896D6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AF0FA118-E241-4AD6-8CE9-C901AC1A6D5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9-26T09:20:30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2894.390 6546.410,'28.000'0.000,"14.000"0.000,13.000 0.000,1.000 0.000,14.000 0.000,27.000 0.000,0.000 0.000,14.000 0.000,14.000 0.000,42.000 0.000,14.000 0.000,41.000 0.000,15.000 0.000,-1.000 0.000,56.000 0.000,-84.000 0.000,15.000 0.000,-43.000 0.000,-13.000 0.000,-70.000 0.000,-27.000 0.000,-14.000 0.000,-29.000 0.000,-13.000 0.000,14.000 0.000,-14.000 0.000,-14.000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D592CB48-58DB-44A5-9191-B83C6531CC3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完成指令译码和执行指令的功能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功能：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①负责从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BIU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的指令队列中取得指令、分析指令、执行指令，并将结果存入通用寄存器或由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BIU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写入内存单元；②同时负责计算操作数所在内存单元的偏移地址。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组成：算术逻辑单元（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标志寄存器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通用寄存器：数据寄存器：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AX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BX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CX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指针和变址寄存器：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控制电路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各组件的功能：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算术逻辑单元（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）：对操作数进行算术和逻辑运算，也可按指令的寻址方式计算出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要访问的内存单元的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位偏移地址；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标志寄存器：用于反映算术和逻辑运算结果的状态；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通用寄存器：用于存放供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访问的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位数据或地址信息（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数据寄存器：用于保存操作数或运算结果等信息；指针和变址寄存器：用于存放操作数所处存储单元的偏移地址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控制电路：接收从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BIU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指令队列中取得的指令，分析、译码，以便形成各种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时控制信号，对各个部件实现特定的控制操作。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BIU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：负责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完成所有的总线操作，包括取指令、指令排队、读写操作数、地址转换和总线控制等功能。实现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与存储器、外部设备之间进行信息交换。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功能：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①负责从内存指定单元取出指令，并送到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字节的指令队列中排列；②同时负责从内存指定单元取出指令所需的操作数并送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运算结果也由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BIU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负责写入内存指定单元。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组成：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位的地址加法器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段寄存器（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指令指针（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字节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指令队列缓存器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总线控制电路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各组件功能：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①地址加法器：计算并形成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要访问的内存单元的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位物理地址；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②段寄存器：用于存放对应段的段基址；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③指令指针寄存器：用于存放下一条要执行的指令的偏移地址；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④指令队列：是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字节的“先进先出”的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RAM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存储器，用于顺序存放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要执行的指令，并送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去执行；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⑤总线控制电路：产生总线控制信号，如存储器读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写、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I/O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读写控制信号。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E06E05A-7134-47AF-8092-B930489DA5D5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①地址加法器：计算并形成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要访问的内存单元的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位物理地址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②段寄存器：用于存放对应段的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段基址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③指令指针：用于存放下一条要执行的指令的</a:t>
            </a:r>
            <a:r>
              <a:rPr lang="zh-CN" altLang="zh-CN" sz="1200" b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偏移地址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④指令队列：是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字节的“先进先出”的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RAM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存储器，用于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顺序存放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要执行的指令，并送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去执行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⑤总线控制电路：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产生总线控制信号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，如存储器读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写、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I/O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读写控制信号。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---------------------------------------------------------------------------------------------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算术逻辑单元（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）：对操作数进行算术和逻辑运算，也可按指令的寻址方式计算出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要访问的内存单元的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位偏移地址；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标志寄存器：用于反映算术和逻辑运算结果的状态；</a:t>
            </a:r>
            <a:endParaRPr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通用寄存器：用于存放供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访问的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位数据或地址信息（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数据寄存器：用于保存操作数或运算结果等信息；指针和变址寄存器：用于存放操作数所处存储单元的偏移地址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控制电路：接收从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BIU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指令队列中取得的指令，分析、译码，以便形成各种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时控制信号，对各个部件实现特定的控制操作。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EU</a:t>
            </a:r>
            <a:r>
              <a:rPr lang="zh-CN" altLang="en-US" dirty="0"/>
              <a:t>执行指令的过程中，</a:t>
            </a:r>
            <a:r>
              <a:rPr lang="en-US" altLang="zh-CN" dirty="0"/>
              <a:t>BIU</a:t>
            </a:r>
            <a:r>
              <a:rPr lang="zh-CN" altLang="en-US" dirty="0"/>
              <a:t>可以取出多条指令，放进指令队列中排队，</a:t>
            </a:r>
            <a:r>
              <a:rPr lang="en-US" altLang="zh-CN" dirty="0"/>
              <a:t>EU</a:t>
            </a:r>
            <a:r>
              <a:rPr lang="zh-CN" altLang="en-US" dirty="0"/>
              <a:t>仅从</a:t>
            </a:r>
            <a:r>
              <a:rPr lang="en-US" altLang="zh-CN" dirty="0"/>
              <a:t>BIU</a:t>
            </a:r>
            <a:r>
              <a:rPr lang="zh-CN" altLang="en-US" dirty="0"/>
              <a:t>的指令队列中不断地取指令并执行指令，省去了访问内存取指令的时间，加快了程序的运行速度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AX: accumulator  </a:t>
            </a:r>
            <a:r>
              <a:rPr lang="zh-CN" altLang="en-US" dirty="0"/>
              <a:t>累加器</a:t>
            </a:r>
            <a:endParaRPr lang="en-US" altLang="zh-CN" dirty="0"/>
          </a:p>
          <a:p>
            <a:r>
              <a:rPr lang="en-US" altLang="zh-CN" dirty="0"/>
              <a:t>BX: base </a:t>
            </a:r>
            <a:r>
              <a:rPr lang="zh-CN" altLang="en-US" dirty="0"/>
              <a:t>基址寄存器</a:t>
            </a:r>
            <a:endParaRPr lang="en-US" altLang="zh-CN" dirty="0"/>
          </a:p>
          <a:p>
            <a:r>
              <a:rPr lang="en-US" altLang="zh-CN" dirty="0"/>
              <a:t>CX: count  </a:t>
            </a:r>
            <a:r>
              <a:rPr lang="zh-CN" altLang="en-US" dirty="0"/>
              <a:t>计数器</a:t>
            </a:r>
            <a:endParaRPr lang="en-US" altLang="zh-CN" dirty="0"/>
          </a:p>
          <a:p>
            <a:r>
              <a:rPr lang="en-US" altLang="zh-CN" dirty="0"/>
              <a:t>DX:</a:t>
            </a:r>
            <a:r>
              <a:rPr lang="zh-CN" altLang="en-US" dirty="0"/>
              <a:t> </a:t>
            </a:r>
            <a:r>
              <a:rPr lang="en-US" altLang="zh-CN" dirty="0"/>
              <a:t>data  </a:t>
            </a:r>
            <a:r>
              <a:rPr lang="zh-CN" altLang="en-US" dirty="0"/>
              <a:t>数据寄存器</a:t>
            </a:r>
            <a:endParaRPr lang="en-US" altLang="zh-CN" dirty="0"/>
          </a:p>
          <a:p>
            <a:r>
              <a:rPr lang="en-US" altLang="zh-CN" dirty="0"/>
              <a:t>BP: base pointer  </a:t>
            </a:r>
            <a:r>
              <a:rPr lang="zh-CN" altLang="en-US" dirty="0"/>
              <a:t>基址指针寄存器</a:t>
            </a:r>
            <a:endParaRPr lang="en-US" altLang="zh-CN" dirty="0"/>
          </a:p>
          <a:p>
            <a:r>
              <a:rPr lang="en-US" altLang="zh-CN" dirty="0"/>
              <a:t>SP</a:t>
            </a:r>
            <a:r>
              <a:rPr lang="zh-CN" altLang="en-US" dirty="0"/>
              <a:t>：</a:t>
            </a:r>
            <a:r>
              <a:rPr lang="en-US" altLang="zh-CN" dirty="0"/>
              <a:t>stack pointer  </a:t>
            </a:r>
            <a:r>
              <a:rPr lang="zh-CN" altLang="en-US" dirty="0"/>
              <a:t>堆栈指针寄存器</a:t>
            </a:r>
            <a:endParaRPr lang="en-US" altLang="zh-CN" dirty="0"/>
          </a:p>
          <a:p>
            <a:r>
              <a:rPr lang="en-US" altLang="zh-CN" dirty="0"/>
              <a:t>SI</a:t>
            </a:r>
            <a:r>
              <a:rPr lang="zh-CN" altLang="en-US" dirty="0"/>
              <a:t>：</a:t>
            </a:r>
            <a:r>
              <a:rPr lang="en-US" altLang="zh-CN" dirty="0"/>
              <a:t>source index  </a:t>
            </a:r>
            <a:r>
              <a:rPr lang="zh-CN" altLang="en-US" dirty="0"/>
              <a:t>源变址寄存器</a:t>
            </a:r>
            <a:endParaRPr lang="en-US" altLang="zh-CN" dirty="0"/>
          </a:p>
          <a:p>
            <a:r>
              <a:rPr lang="en-US" altLang="zh-CN" dirty="0"/>
              <a:t>DI</a:t>
            </a:r>
            <a:r>
              <a:rPr lang="zh-CN" altLang="en-US" dirty="0"/>
              <a:t>：</a:t>
            </a:r>
            <a:r>
              <a:rPr lang="en-US" altLang="zh-CN" dirty="0"/>
              <a:t>destination  </a:t>
            </a:r>
            <a:r>
              <a:rPr lang="zh-CN" altLang="en-US" dirty="0"/>
              <a:t>目的变址寄存器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D919F43-02A3-4087-9CF3-D5F5CC20B9D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kumimoji="1" lang="en-US" altLang="zh-CN" sz="1200" b="1" dirty="0">
                <a:ea typeface="楷体_GB2312" pitchFamily="49" charset="-122"/>
              </a:rPr>
              <a:t>PSW</a:t>
            </a:r>
            <a:r>
              <a:rPr kumimoji="1" lang="zh-CN" altLang="en-US" sz="1200" b="1" dirty="0">
                <a:ea typeface="楷体_GB2312" pitchFamily="49" charset="-122"/>
              </a:rPr>
              <a:t>（</a:t>
            </a:r>
            <a:r>
              <a:rPr kumimoji="1" lang="en-US" altLang="zh-CN" sz="1200" b="1" dirty="0">
                <a:ea typeface="楷体_GB2312" pitchFamily="49" charset="-122"/>
              </a:rPr>
              <a:t>Program Status Word</a:t>
            </a:r>
            <a:r>
              <a:rPr kumimoji="1" lang="zh-CN" altLang="en-US" sz="1200" b="1" dirty="0">
                <a:ea typeface="楷体_GB2312" pitchFamily="49" charset="-122"/>
              </a:rPr>
              <a:t>）为程序状态字寄存器</a:t>
            </a:r>
            <a:endParaRPr kumimoji="1" lang="en-US" altLang="zh-CN" sz="1200" b="1" dirty="0">
              <a:ea typeface="楷体_GB2312" pitchFamily="49" charset="-122"/>
            </a:endParaRPr>
          </a:p>
          <a:p>
            <a:endParaRPr kumimoji="1" lang="en-US" altLang="zh-CN" sz="1200" b="1" dirty="0"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sz="1200" b="1" dirty="0">
                <a:ea typeface="楷体_GB2312" pitchFamily="49" charset="-122"/>
              </a:rPr>
              <a:t>PSW</a:t>
            </a:r>
            <a:r>
              <a:rPr kumimoji="1" lang="zh-CN" altLang="en-US" sz="1200" b="1" dirty="0">
                <a:ea typeface="楷体_GB2312" pitchFamily="49" charset="-122"/>
              </a:rPr>
              <a:t>寄存器中有</a:t>
            </a:r>
            <a:r>
              <a:rPr kumimoji="1" lang="en-US" altLang="zh-CN" sz="1200" b="1" dirty="0">
                <a:ea typeface="楷体_GB2312" pitchFamily="49" charset="-122"/>
              </a:rPr>
              <a:t>9</a:t>
            </a:r>
            <a:r>
              <a:rPr kumimoji="1" lang="zh-CN" altLang="en-US" sz="1200" b="1" dirty="0">
                <a:ea typeface="楷体_GB2312" pitchFamily="49" charset="-122"/>
              </a:rPr>
              <a:t>个标志位，其中</a:t>
            </a:r>
            <a:r>
              <a:rPr kumimoji="1" lang="en-US" altLang="zh-CN" sz="1200" b="1" dirty="0">
                <a:ea typeface="楷体_GB2312" pitchFamily="49" charset="-122"/>
              </a:rPr>
              <a:t>6</a:t>
            </a:r>
            <a:r>
              <a:rPr kumimoji="1" lang="zh-CN" altLang="en-US" sz="1200" b="1" dirty="0">
                <a:ea typeface="楷体_GB2312" pitchFamily="49" charset="-122"/>
              </a:rPr>
              <a:t>个标志位（</a:t>
            </a:r>
            <a:r>
              <a:rPr kumimoji="1" lang="en-US" altLang="zh-CN" sz="1200" b="1" dirty="0">
                <a:ea typeface="楷体_GB2312" pitchFamily="49" charset="-122"/>
              </a:rPr>
              <a:t>OF</a:t>
            </a:r>
            <a:r>
              <a:rPr kumimoji="1" lang="zh-CN" altLang="en-US" sz="1200" b="1" dirty="0">
                <a:ea typeface="楷体_GB2312" pitchFamily="49" charset="-122"/>
              </a:rPr>
              <a:t>，</a:t>
            </a:r>
            <a:r>
              <a:rPr kumimoji="1" lang="en-US" altLang="zh-CN" sz="1200" b="1" dirty="0">
                <a:ea typeface="楷体_GB2312" pitchFamily="49" charset="-122"/>
              </a:rPr>
              <a:t>SF</a:t>
            </a:r>
            <a:r>
              <a:rPr kumimoji="1" lang="zh-CN" altLang="en-US" sz="1200" b="1" dirty="0">
                <a:ea typeface="楷体_GB2312" pitchFamily="49" charset="-122"/>
              </a:rPr>
              <a:t>，</a:t>
            </a:r>
            <a:r>
              <a:rPr kumimoji="1" lang="en-US" altLang="zh-CN" sz="1200" b="1" dirty="0">
                <a:ea typeface="楷体_GB2312" pitchFamily="49" charset="-122"/>
              </a:rPr>
              <a:t>ZF</a:t>
            </a:r>
            <a:r>
              <a:rPr kumimoji="1" lang="zh-CN" altLang="en-US" sz="1200" b="1" dirty="0">
                <a:ea typeface="楷体_GB2312" pitchFamily="49" charset="-122"/>
              </a:rPr>
              <a:t>，</a:t>
            </a:r>
            <a:r>
              <a:rPr kumimoji="1" lang="en-US" altLang="zh-CN" sz="1200" b="1" dirty="0">
                <a:ea typeface="楷体_GB2312" pitchFamily="49" charset="-122"/>
              </a:rPr>
              <a:t>AF</a:t>
            </a:r>
            <a:r>
              <a:rPr kumimoji="1" lang="zh-CN" altLang="en-US" sz="1200" b="1" dirty="0">
                <a:ea typeface="楷体_GB2312" pitchFamily="49" charset="-122"/>
              </a:rPr>
              <a:t>，</a:t>
            </a:r>
            <a:r>
              <a:rPr kumimoji="1" lang="en-US" altLang="zh-CN" sz="1200" b="1" dirty="0">
                <a:ea typeface="楷体_GB2312" pitchFamily="49" charset="-122"/>
              </a:rPr>
              <a:t>PF</a:t>
            </a:r>
            <a:r>
              <a:rPr kumimoji="1" lang="zh-CN" altLang="en-US" sz="1200" b="1" dirty="0">
                <a:ea typeface="楷体_GB2312" pitchFamily="49" charset="-122"/>
              </a:rPr>
              <a:t>，</a:t>
            </a:r>
            <a:r>
              <a:rPr kumimoji="1" lang="en-US" altLang="zh-CN" sz="1200" b="1" dirty="0">
                <a:ea typeface="楷体_GB2312" pitchFamily="49" charset="-122"/>
              </a:rPr>
              <a:t>CF</a:t>
            </a:r>
            <a:r>
              <a:rPr kumimoji="1" lang="zh-CN" altLang="en-US" sz="1200" b="1" dirty="0">
                <a:ea typeface="楷体_GB2312" pitchFamily="49" charset="-122"/>
              </a:rPr>
              <a:t>）作为</a:t>
            </a:r>
            <a:r>
              <a:rPr kumimoji="1" lang="zh-CN" altLang="en-US" sz="1200" b="1" dirty="0">
                <a:solidFill>
                  <a:srgbClr val="A3092E"/>
                </a:solidFill>
                <a:ea typeface="楷体_GB2312" pitchFamily="49" charset="-122"/>
              </a:rPr>
              <a:t>状态标志</a:t>
            </a:r>
            <a:r>
              <a:rPr kumimoji="1" lang="zh-CN" altLang="en-US" sz="1200" b="1" dirty="0">
                <a:ea typeface="楷体_GB2312" pitchFamily="49" charset="-122"/>
              </a:rPr>
              <a:t>，记载了刚刚执行完算术或逻辑运算指令后的某些特征。</a:t>
            </a:r>
            <a:endParaRPr kumimoji="1" lang="zh-CN" altLang="en-US" sz="1200" b="1" dirty="0">
              <a:ea typeface="楷体_GB2312" pitchFamily="49" charset="-122"/>
            </a:endParaRPr>
          </a:p>
          <a:p>
            <a:pPr algn="just">
              <a:lnSpc>
                <a:spcPct val="110000"/>
              </a:lnSpc>
            </a:pPr>
            <a:r>
              <a:rPr kumimoji="1" lang="zh-CN" altLang="en-US" sz="1200" b="1" dirty="0">
                <a:ea typeface="楷体_GB2312" pitchFamily="49" charset="-122"/>
              </a:rPr>
              <a:t>另外三个标志位为</a:t>
            </a:r>
            <a:r>
              <a:rPr kumimoji="1" lang="en-US" altLang="zh-CN" sz="1200" b="1" dirty="0">
                <a:ea typeface="楷体_GB2312" pitchFamily="49" charset="-122"/>
              </a:rPr>
              <a:t>DF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IF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TF</a:t>
            </a:r>
            <a:r>
              <a:rPr kumimoji="1" lang="zh-CN" altLang="en-US" sz="1200" b="1" dirty="0">
                <a:ea typeface="楷体_GB2312" pitchFamily="49" charset="-122"/>
              </a:rPr>
              <a:t>作为</a:t>
            </a:r>
            <a:r>
              <a:rPr kumimoji="1" lang="zh-CN" altLang="en-US" sz="1200" b="1" dirty="0">
                <a:solidFill>
                  <a:srgbClr val="A3092E"/>
                </a:solidFill>
                <a:ea typeface="楷体_GB2312" pitchFamily="49" charset="-122"/>
              </a:rPr>
              <a:t>控制标志</a:t>
            </a:r>
            <a:r>
              <a:rPr kumimoji="1" lang="zh-CN" altLang="en-US" sz="1200" b="1" dirty="0">
                <a:ea typeface="楷体_GB2312" pitchFamily="49" charset="-122"/>
              </a:rPr>
              <a:t>，完全由编程者设定，在执行某些指令时起控制作用。</a:t>
            </a:r>
            <a:endParaRPr kumimoji="1" lang="zh-CN" altLang="en-US" sz="1200" b="1" dirty="0">
              <a:ea typeface="楷体_GB2312" pitchFamily="49" charset="-122"/>
            </a:endParaRPr>
          </a:p>
          <a:p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辅助进位标志</a:t>
            </a:r>
            <a:r>
              <a:rPr lang="en-US" altLang="zh-CN" dirty="0"/>
              <a:t>AF</a:t>
            </a:r>
            <a:r>
              <a:rPr lang="zh-CN" altLang="en-US" dirty="0"/>
              <a:t>用来反映结果低四位产生进位或借位情况，如果运算结果的第三位产生了一个进位或借位，则</a:t>
            </a:r>
            <a:r>
              <a:rPr lang="en-US" altLang="zh-CN" dirty="0"/>
              <a:t>AF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，否则置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AF</a:t>
            </a:r>
            <a:r>
              <a:rPr lang="zh-CN" altLang="en-US"/>
              <a:t>只反映运算结果的低八位，与操作数长度无关，主要用于十进制的调整。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rgbClr val="0000CC"/>
                </a:solidFill>
                <a:latin typeface="Arial" panose="020B0604020202020204" pitchFamily="34" charset="0"/>
                <a:ea typeface="楷体_GB2312"/>
                <a:cs typeface="+mn-cs"/>
              </a:rPr>
              <a:t>10110110</a:t>
            </a:r>
            <a:r>
              <a:rPr lang="zh-CN" altLang="en-US" sz="1200" kern="1200" dirty="0">
                <a:solidFill>
                  <a:srgbClr val="0000CC"/>
                </a:solidFill>
                <a:latin typeface="Arial" panose="020B0604020202020204" pitchFamily="34" charset="0"/>
                <a:ea typeface="楷体_GB2312"/>
                <a:cs typeface="+mn-cs"/>
              </a:rPr>
              <a:t>作为有符号数，取反</a:t>
            </a:r>
            <a:r>
              <a:rPr lang="en-US" altLang="zh-CN" sz="1200" kern="1200" dirty="0">
                <a:solidFill>
                  <a:srgbClr val="0000CC"/>
                </a:solidFill>
                <a:latin typeface="Arial" panose="020B0604020202020204" pitchFamily="34" charset="0"/>
                <a:ea typeface="楷体_GB2312"/>
                <a:cs typeface="+mn-cs"/>
              </a:rPr>
              <a:t>+1  =-74</a:t>
            </a:r>
            <a:endParaRPr lang="en-US" altLang="zh-CN" sz="1200" kern="1200" dirty="0">
              <a:solidFill>
                <a:srgbClr val="0000CC"/>
              </a:solidFill>
              <a:latin typeface="Arial" panose="020B0604020202020204" pitchFamily="34" charset="0"/>
              <a:ea typeface="楷体_GB231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计算机储存有符号的整数时，是用该整数的补码进行储存的，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的原码、补码都是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，正数的原码、补码可以特殊理解为相同，负数的补码是它的反码加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dirty="0"/>
              <a:t>例</a:t>
            </a:r>
            <a:r>
              <a:rPr lang="en-US" altLang="zh-CN" dirty="0"/>
              <a:t>1:58+124=182&gt;128 </a:t>
            </a:r>
            <a:r>
              <a:rPr lang="zh-CN" altLang="en-US" dirty="0"/>
              <a:t>溢出</a:t>
            </a:r>
            <a:endParaRPr lang="en-US" altLang="zh-CN" dirty="0"/>
          </a:p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-86+124=38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负数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负数的绝对值按位取反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+1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负数按位取反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+1 =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负数的绝对值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dirty="0"/>
              <a:t>有符号数二进制转</a:t>
            </a:r>
            <a:r>
              <a:rPr lang="en-US" altLang="zh-CN" dirty="0"/>
              <a:t>10</a:t>
            </a:r>
            <a:r>
              <a:rPr lang="zh-CN" altLang="en-US" dirty="0"/>
              <a:t>进制：当做无符号数转成十进制后减去</a:t>
            </a:r>
            <a:r>
              <a:rPr lang="en-US" altLang="zh-CN" dirty="0"/>
              <a:t>256</a:t>
            </a:r>
            <a:r>
              <a:rPr lang="zh-CN" altLang="en-US" dirty="0"/>
              <a:t>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377825">
              <a:defRPr/>
            </a:pP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CF=1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，产生进位			 		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AF=0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，半字节无进位</a:t>
            </a:r>
            <a:endParaRPr kumimoji="1" lang="zh-CN" altLang="en-US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SF=0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，结果为正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(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最高位为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0)	ZF=0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，结果不为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0</a:t>
            </a:r>
            <a:endParaRPr kumimoji="1" lang="en-US" altLang="zh-CN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PF=1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，结果偶数个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1</a:t>
            </a:r>
            <a:endParaRPr kumimoji="1" lang="en-US" altLang="zh-CN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OF=0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，将两个操作数作为有符号数，相加结果无溢出。</a:t>
            </a:r>
            <a:endParaRPr kumimoji="1" lang="zh-CN" altLang="en-US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		   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10010001B = -6FH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01110100B = +74H</a:t>
            </a:r>
            <a:endParaRPr kumimoji="1" lang="en-US" altLang="zh-CN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		   (-6FH) + (+74H) = +05H</a:t>
            </a:r>
            <a:endParaRPr kumimoji="1" lang="en-US" altLang="zh-CN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加法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OF</a:t>
            </a:r>
            <a:r>
              <a:rPr kumimoji="1" lang="zh-CN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的判断：同符号数相加而和的符号与之相反则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OF</a:t>
            </a:r>
            <a:r>
              <a:rPr kumimoji="1" lang="zh-CN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为1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(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产生溢出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)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，否则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OF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为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0(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不产生溢出</a:t>
            </a:r>
            <a:r>
              <a:rPr kumimoji="1" lang="en-US" altLang="zh-CN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)</a:t>
            </a:r>
            <a:r>
              <a:rPr kumimoji="1" lang="zh-CN" altLang="en-US" sz="1200" b="1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rPr>
              <a:t>。</a:t>
            </a:r>
            <a:endParaRPr kumimoji="1" lang="zh-CN" altLang="en-US" sz="1200" b="1" kern="12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CB0CDF-5422-45E0-9204-FF95D63A78C1}" type="slidenum">
              <a:rPr lang="en-US" altLang="zh-CN"/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9188" y="679450"/>
            <a:ext cx="4624387" cy="3468688"/>
          </a:xfrm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73563"/>
            <a:ext cx="5032375" cy="4075112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有符号数是用补码表示，</a:t>
            </a:r>
            <a:r>
              <a:rPr lang="en-US" altLang="zh-CN" dirty="0">
                <a:latin typeface="Arial" panose="020B0604020202020204" pitchFamily="34" charset="0"/>
              </a:rPr>
              <a:t>C000H</a:t>
            </a:r>
            <a:r>
              <a:rPr lang="zh-CN" altLang="en-US" dirty="0">
                <a:latin typeface="Arial" panose="020B0604020202020204" pitchFamily="34" charset="0"/>
              </a:rPr>
              <a:t>实际上是－</a:t>
            </a:r>
            <a:r>
              <a:rPr lang="en-US" altLang="zh-CN" dirty="0">
                <a:latin typeface="Arial" panose="020B0604020202020204" pitchFamily="34" charset="0"/>
              </a:rPr>
              <a:t>400H</a:t>
            </a:r>
            <a:r>
              <a:rPr lang="zh-CN" altLang="en-US" dirty="0">
                <a:latin typeface="Arial" panose="020B0604020202020204" pitchFamily="34" charset="0"/>
              </a:rPr>
              <a:t>也就是</a:t>
            </a:r>
            <a:r>
              <a:rPr lang="en-US" altLang="zh-CN" dirty="0">
                <a:latin typeface="Arial" panose="020B0604020202020204" pitchFamily="34" charset="0"/>
              </a:rPr>
              <a:t>-16384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C000H+C000H</a:t>
            </a:r>
            <a:r>
              <a:rPr lang="zh-CN" altLang="en-US" dirty="0">
                <a:latin typeface="Arial" panose="020B0604020202020204" pitchFamily="34" charset="0"/>
              </a:rPr>
              <a:t>＝</a:t>
            </a:r>
            <a:r>
              <a:rPr lang="en-US" altLang="zh-CN" dirty="0">
                <a:latin typeface="Arial" panose="020B0604020202020204" pitchFamily="34" charset="0"/>
              </a:rPr>
              <a:t>8000H</a:t>
            </a:r>
            <a:r>
              <a:rPr lang="zh-CN" altLang="en-US" dirty="0">
                <a:latin typeface="Arial" panose="020B0604020202020204" pitchFamily="34" charset="0"/>
              </a:rPr>
              <a:t>加上进位，有符号数不考虑进位标志，所以运算的结果就是有符号数的最小值－</a:t>
            </a:r>
            <a:r>
              <a:rPr lang="en-US" altLang="zh-CN" dirty="0">
                <a:latin typeface="Arial" panose="020B0604020202020204" pitchFamily="34" charset="0"/>
              </a:rPr>
              <a:t>32768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0001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0010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0011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0100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0101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0110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0111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运算结果为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0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则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ZF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＝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1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，否则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ZF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＝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0</a:t>
            </a:r>
            <a:endParaRPr lang="en-US" altLang="zh-CN" sz="1200" b="1" kern="1200" dirty="0">
              <a:solidFill>
                <a:srgbClr val="002060"/>
              </a:solidFill>
              <a:ea typeface="楷体_GB2312"/>
            </a:endParaRPr>
          </a:p>
          <a:p>
            <a:pPr eaLnBrk="1" hangingPunct="1"/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当运算结果最低字节中“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1”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的个数为零或偶数时，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PF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＝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1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；</a:t>
            </a:r>
            <a:endParaRPr lang="en-US" altLang="zh-CN" sz="1200" b="1" kern="1200" dirty="0">
              <a:solidFill>
                <a:srgbClr val="002060"/>
              </a:solidFill>
              <a:ea typeface="楷体_GB2312"/>
            </a:endParaRPr>
          </a:p>
          <a:p>
            <a:pPr eaLnBrk="1" hangingPunct="1"/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运算结果最高位为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1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则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SF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＝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1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，否则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SF</a:t>
            </a:r>
            <a:r>
              <a:rPr lang="zh-CN" altLang="en-US" sz="1200" b="1" kern="1200" dirty="0">
                <a:solidFill>
                  <a:srgbClr val="002060"/>
                </a:solidFill>
                <a:ea typeface="楷体_GB2312"/>
              </a:rPr>
              <a:t>＝</a:t>
            </a:r>
            <a:r>
              <a:rPr lang="en-US" altLang="zh-CN" sz="1200" b="1" kern="1200" dirty="0">
                <a:solidFill>
                  <a:srgbClr val="002060"/>
                </a:solidFill>
                <a:ea typeface="楷体_GB2312"/>
              </a:rPr>
              <a:t>0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dirty="0">
                <a:solidFill>
                  <a:srgbClr val="A3092E"/>
                </a:solidFill>
                <a:ea typeface="楷体_GB2312" pitchFamily="49" charset="-122"/>
              </a:rPr>
              <a:t>DF</a:t>
            </a:r>
            <a:r>
              <a:rPr kumimoji="1" lang="zh-CN" altLang="en-US" sz="1200" b="1" dirty="0">
                <a:solidFill>
                  <a:srgbClr val="A3092E"/>
                </a:solidFill>
                <a:ea typeface="楷体_GB2312" pitchFamily="49" charset="-122"/>
              </a:rPr>
              <a:t>：（</a:t>
            </a:r>
            <a:r>
              <a:rPr kumimoji="1" lang="en-US" altLang="zh-CN" sz="1200" b="1" dirty="0">
                <a:solidFill>
                  <a:srgbClr val="A3092E"/>
                </a:solidFill>
                <a:ea typeface="楷体_GB2312" pitchFamily="49" charset="-122"/>
              </a:rPr>
              <a:t>Direction Flag</a:t>
            </a:r>
            <a:r>
              <a:rPr kumimoji="1" lang="zh-CN" altLang="en-US" sz="1200" b="1" dirty="0">
                <a:solidFill>
                  <a:srgbClr val="A3092E"/>
                </a:solidFill>
                <a:ea typeface="楷体_GB2312" pitchFamily="49" charset="-122"/>
              </a:rPr>
              <a:t>）方向标志</a:t>
            </a:r>
            <a:r>
              <a:rPr kumimoji="1" lang="zh-CN" altLang="en-US" sz="1200" b="1" dirty="0">
                <a:ea typeface="楷体_GB2312" pitchFamily="49" charset="-122"/>
              </a:rPr>
              <a:t>，主要用在串处理指令中控制处理信息的地址增减的方向。当</a:t>
            </a:r>
            <a:r>
              <a:rPr kumimoji="1" lang="en-US" altLang="zh-CN" sz="1200" b="1" dirty="0">
                <a:ea typeface="楷体_GB2312" pitchFamily="49" charset="-122"/>
              </a:rPr>
              <a:t>DF</a:t>
            </a:r>
            <a:r>
              <a:rPr kumimoji="1" lang="zh-CN" altLang="en-US" sz="1200" b="1" dirty="0">
                <a:ea typeface="楷体_GB2312" pitchFamily="49" charset="-122"/>
              </a:rPr>
              <a:t>位置‘</a:t>
            </a:r>
            <a:r>
              <a:rPr kumimoji="1" lang="en-US" altLang="zh-CN" sz="1200" b="1" dirty="0">
                <a:ea typeface="楷体_GB2312" pitchFamily="49" charset="-122"/>
              </a:rPr>
              <a:t>1’</a:t>
            </a:r>
            <a:r>
              <a:rPr kumimoji="1" lang="zh-CN" altLang="en-US" sz="1200" b="1" dirty="0">
                <a:ea typeface="楷体_GB2312" pitchFamily="49" charset="-122"/>
              </a:rPr>
              <a:t>时（使用</a:t>
            </a:r>
            <a:r>
              <a:rPr kumimoji="1" lang="en-US" altLang="zh-CN" sz="1200" b="1" dirty="0">
                <a:ea typeface="楷体_GB2312" pitchFamily="49" charset="-122"/>
              </a:rPr>
              <a:t>STD</a:t>
            </a:r>
            <a:r>
              <a:rPr kumimoji="1" lang="zh-CN" altLang="en-US" sz="1200" b="1" dirty="0">
                <a:ea typeface="楷体_GB2312" pitchFamily="49" charset="-122"/>
              </a:rPr>
              <a:t>指令），每次串操作后变址寄存器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和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自动减</a:t>
            </a:r>
            <a:r>
              <a:rPr kumimoji="1" lang="en-US" altLang="zh-CN" sz="1200" b="1" dirty="0">
                <a:ea typeface="楷体_GB2312" pitchFamily="49" charset="-122"/>
              </a:rPr>
              <a:t>1</a:t>
            </a:r>
            <a:r>
              <a:rPr kumimoji="1" lang="zh-CN" altLang="en-US" sz="1200" b="1" dirty="0">
                <a:ea typeface="楷体_GB2312" pitchFamily="49" charset="-122"/>
              </a:rPr>
              <a:t>（字节操作）或减</a:t>
            </a:r>
            <a:r>
              <a:rPr kumimoji="1" lang="en-US" altLang="zh-CN" sz="1200" b="1" dirty="0">
                <a:ea typeface="楷体_GB2312" pitchFamily="49" charset="-122"/>
              </a:rPr>
              <a:t>2</a:t>
            </a:r>
            <a:r>
              <a:rPr kumimoji="1" lang="zh-CN" altLang="en-US" sz="1200" b="1" dirty="0">
                <a:ea typeface="楷体_GB2312" pitchFamily="49" charset="-122"/>
              </a:rPr>
              <a:t>（字操作），这样就使串处理从高地址向低地址方向处理。当</a:t>
            </a:r>
            <a:r>
              <a:rPr kumimoji="1" lang="en-US" altLang="zh-CN" sz="1200" b="1" dirty="0">
                <a:ea typeface="楷体_GB2312" pitchFamily="49" charset="-122"/>
              </a:rPr>
              <a:t>DF</a:t>
            </a:r>
            <a:r>
              <a:rPr kumimoji="1" lang="zh-CN" altLang="en-US" sz="1200" b="1" dirty="0">
                <a:ea typeface="楷体_GB2312" pitchFamily="49" charset="-122"/>
              </a:rPr>
              <a:t>为‘</a:t>
            </a:r>
            <a:r>
              <a:rPr kumimoji="1" lang="en-US" altLang="zh-CN" sz="1200" b="1" dirty="0">
                <a:ea typeface="楷体_GB2312" pitchFamily="49" charset="-122"/>
              </a:rPr>
              <a:t>0’</a:t>
            </a:r>
            <a:r>
              <a:rPr kumimoji="1" lang="zh-CN" altLang="en-US" sz="1200" b="1" dirty="0">
                <a:ea typeface="楷体_GB2312" pitchFamily="49" charset="-122"/>
              </a:rPr>
              <a:t>时，则使变址寄存器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和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自动加</a:t>
            </a:r>
            <a:r>
              <a:rPr kumimoji="1" lang="en-US" altLang="zh-CN" sz="1200" b="1" dirty="0">
                <a:ea typeface="楷体_GB2312" pitchFamily="49" charset="-122"/>
              </a:rPr>
              <a:t>1</a:t>
            </a:r>
            <a:r>
              <a:rPr kumimoji="1" lang="zh-CN" altLang="en-US" sz="1200" b="1" dirty="0">
                <a:ea typeface="楷体_GB2312" pitchFamily="49" charset="-122"/>
              </a:rPr>
              <a:t>（字节操作）或加</a:t>
            </a:r>
            <a:r>
              <a:rPr kumimoji="1" lang="en-US" altLang="zh-CN" sz="1200" b="1" dirty="0">
                <a:ea typeface="楷体_GB2312" pitchFamily="49" charset="-122"/>
              </a:rPr>
              <a:t>2</a:t>
            </a:r>
            <a:r>
              <a:rPr kumimoji="1" lang="zh-CN" altLang="en-US" sz="1200" b="1" dirty="0">
                <a:ea typeface="楷体_GB2312" pitchFamily="49" charset="-122"/>
              </a:rPr>
              <a:t>（字操作），使串处理从低地址向高地址方向进行。</a:t>
            </a:r>
            <a:endParaRPr kumimoji="1" lang="zh-CN" altLang="en-US" sz="1200" b="1" dirty="0">
              <a:ea typeface="楷体_GB2312" pitchFamily="49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回顾：</a:t>
            </a:r>
            <a:r>
              <a:rPr kumimoji="1" lang="zh-CN" altLang="en-US" sz="1200" b="1" dirty="0">
                <a:solidFill>
                  <a:srgbClr val="0000FF"/>
                </a:solidFill>
                <a:ea typeface="楷体_GB2312" pitchFamily="49" charset="-122"/>
              </a:rPr>
              <a:t>变址寄存器</a:t>
            </a:r>
            <a:endParaRPr kumimoji="1" lang="zh-CN" altLang="en-US" sz="1200" b="1" dirty="0">
              <a:solidFill>
                <a:srgbClr val="0000FF"/>
              </a:solidFill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200" b="1" dirty="0">
                <a:ea typeface="楷体_GB2312" pitchFamily="49" charset="-122"/>
              </a:rPr>
              <a:t>        两个变址寄存器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，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皆为十六位，在不同情况下的用法为：</a:t>
            </a:r>
            <a:endParaRPr kumimoji="1" lang="zh-CN" altLang="en-US" sz="1200" b="1" dirty="0"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200" b="1" dirty="0">
                <a:ea typeface="楷体_GB2312" pitchFamily="49" charset="-122"/>
              </a:rPr>
              <a:t>      </a:t>
            </a:r>
            <a:r>
              <a:rPr kumimoji="1" lang="en-US" altLang="zh-CN" sz="1200" b="1" dirty="0">
                <a:ea typeface="楷体_GB2312" pitchFamily="49" charset="-122"/>
              </a:rPr>
              <a:t>(1) </a:t>
            </a:r>
            <a:r>
              <a:rPr kumimoji="1" lang="zh-CN" altLang="en-US" sz="1200" b="1" dirty="0">
                <a:ea typeface="楷体_GB2312" pitchFamily="49" charset="-122"/>
              </a:rPr>
              <a:t>只有在串操作指令中，</a:t>
            </a:r>
            <a:r>
              <a:rPr kumimoji="1" lang="zh-CN" altLang="en-US" sz="1200" b="1" dirty="0">
                <a:solidFill>
                  <a:srgbClr val="A3092E"/>
                </a:solidFill>
                <a:ea typeface="楷体_GB2312" pitchFamily="49" charset="-122"/>
              </a:rPr>
              <a:t>源串</a:t>
            </a:r>
            <a:r>
              <a:rPr kumimoji="1" lang="zh-CN" altLang="en-US" sz="1200" b="1" dirty="0">
                <a:ea typeface="楷体_GB2312" pitchFamily="49" charset="-122"/>
              </a:rPr>
              <a:t>操作数必须用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来提供偏移量，</a:t>
            </a:r>
            <a:r>
              <a:rPr kumimoji="1" lang="zh-CN" altLang="en-US" sz="1200" b="1" dirty="0">
                <a:solidFill>
                  <a:srgbClr val="A3092E"/>
                </a:solidFill>
                <a:ea typeface="楷体_GB2312" pitchFamily="49" charset="-122"/>
              </a:rPr>
              <a:t>目的串</a:t>
            </a:r>
            <a:r>
              <a:rPr kumimoji="1" lang="zh-CN" altLang="en-US" sz="1200" b="1" dirty="0">
                <a:ea typeface="楷体_GB2312" pitchFamily="49" charset="-122"/>
              </a:rPr>
              <a:t>操作数必须用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提供偏移量。对于串操作指令，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的作用绝对不能互换，在这种情况下，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才是名副其实的源变址寄存器与目的变址寄存器，必须严格按规定使用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。</a:t>
            </a:r>
            <a:endParaRPr kumimoji="1" lang="zh-CN" altLang="en-US" sz="1200" b="1" dirty="0"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200" b="1" dirty="0">
                <a:ea typeface="楷体_GB2312" pitchFamily="49" charset="-122"/>
              </a:rPr>
              <a:t>       </a:t>
            </a:r>
            <a:r>
              <a:rPr kumimoji="1" lang="en-US" altLang="zh-CN" sz="1200" b="1" dirty="0">
                <a:ea typeface="楷体_GB2312" pitchFamily="49" charset="-122"/>
              </a:rPr>
              <a:t>(2) </a:t>
            </a:r>
            <a:r>
              <a:rPr kumimoji="1" lang="zh-CN" altLang="en-US" sz="1200" b="1" dirty="0">
                <a:ea typeface="楷体_GB2312" pitchFamily="49" charset="-122"/>
              </a:rPr>
              <a:t>在串指令以外的多数情况下，源和目的变址寄存器，可由用户随意选用，被用来作地址寄存器，在变址寻址中</a:t>
            </a:r>
            <a:r>
              <a:rPr kumimoji="1" lang="en-US" altLang="zh-CN" sz="1200" b="1" dirty="0">
                <a:ea typeface="楷体_GB2312" pitchFamily="49" charset="-122"/>
              </a:rPr>
              <a:t>SI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的内容作为段内偏移量的组成部分。</a:t>
            </a:r>
            <a:endParaRPr kumimoji="1" lang="zh-CN" altLang="en-US" sz="1200" b="1" dirty="0"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200" b="1" dirty="0">
                <a:ea typeface="楷体_GB2312" pitchFamily="49" charset="-122"/>
              </a:rPr>
              <a:t>       </a:t>
            </a:r>
            <a:r>
              <a:rPr kumimoji="1" lang="en-US" altLang="zh-CN" sz="1200" b="1" dirty="0">
                <a:ea typeface="楷体_GB2312" pitchFamily="49" charset="-122"/>
              </a:rPr>
              <a:t>(3) SI</a:t>
            </a:r>
            <a:r>
              <a:rPr kumimoji="1" lang="zh-CN" altLang="en-US" sz="1200" b="1" dirty="0">
                <a:ea typeface="楷体_GB2312" pitchFamily="49" charset="-122"/>
              </a:rPr>
              <a:t>、</a:t>
            </a:r>
            <a:r>
              <a:rPr kumimoji="1" lang="en-US" altLang="zh-CN" sz="1200" b="1" dirty="0">
                <a:ea typeface="楷体_GB2312" pitchFamily="49" charset="-122"/>
              </a:rPr>
              <a:t>DI</a:t>
            </a:r>
            <a:r>
              <a:rPr kumimoji="1" lang="zh-CN" altLang="en-US" sz="1200" b="1" dirty="0">
                <a:ea typeface="楷体_GB2312" pitchFamily="49" charset="-122"/>
              </a:rPr>
              <a:t>两寄存器除作地址寄存器外，同</a:t>
            </a:r>
            <a:r>
              <a:rPr kumimoji="1" lang="en-US" altLang="zh-CN" sz="1200" b="1" dirty="0">
                <a:ea typeface="楷体_GB2312" pitchFamily="49" charset="-122"/>
              </a:rPr>
              <a:t>BP</a:t>
            </a:r>
            <a:r>
              <a:rPr kumimoji="1" lang="zh-CN" altLang="en-US" sz="1200" b="1" dirty="0">
                <a:ea typeface="楷体_GB2312" pitchFamily="49" charset="-122"/>
              </a:rPr>
              <a:t>类似，也可以作为通用数据寄存器使用，存放操作数和运算结果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DF</a:t>
            </a:r>
            <a:r>
              <a:rPr lang="zh-CN" altLang="en-US" dirty="0"/>
              <a:t>：（</a:t>
            </a:r>
            <a:r>
              <a:rPr lang="en-US" altLang="zh-CN" dirty="0"/>
              <a:t>Direction Flag</a:t>
            </a:r>
            <a:r>
              <a:rPr lang="zh-CN" altLang="en-US" dirty="0"/>
              <a:t>）方向标志，主要用在串处理指令中控制处理信息的地址增减的方向。当</a:t>
            </a:r>
            <a:r>
              <a:rPr lang="en-US" altLang="zh-CN" dirty="0"/>
              <a:t>DF</a:t>
            </a:r>
            <a:r>
              <a:rPr lang="zh-CN" altLang="en-US" dirty="0"/>
              <a:t>位置‘</a:t>
            </a:r>
            <a:r>
              <a:rPr lang="en-US" altLang="zh-CN" dirty="0"/>
              <a:t>1’</a:t>
            </a:r>
            <a:r>
              <a:rPr lang="zh-CN" altLang="en-US" dirty="0"/>
              <a:t>时（使用</a:t>
            </a:r>
            <a:r>
              <a:rPr lang="en-US" altLang="zh-CN" dirty="0"/>
              <a:t>STD</a:t>
            </a:r>
            <a:r>
              <a:rPr lang="zh-CN" altLang="en-US" dirty="0"/>
              <a:t>指令），每次串操作后变址寄存器</a:t>
            </a:r>
            <a:r>
              <a:rPr lang="en-US" altLang="zh-CN" dirty="0"/>
              <a:t>SI</a:t>
            </a:r>
            <a:r>
              <a:rPr lang="zh-CN" altLang="en-US" dirty="0"/>
              <a:t>和</a:t>
            </a:r>
            <a:r>
              <a:rPr lang="en-US" altLang="zh-CN" dirty="0"/>
              <a:t>DI</a:t>
            </a:r>
            <a:r>
              <a:rPr lang="zh-CN" altLang="en-US" dirty="0"/>
              <a:t>自动减</a:t>
            </a:r>
            <a:r>
              <a:rPr lang="en-US" altLang="zh-CN" dirty="0"/>
              <a:t>1</a:t>
            </a:r>
            <a:r>
              <a:rPr lang="zh-CN" altLang="en-US" dirty="0"/>
              <a:t>（字节操作）或减</a:t>
            </a:r>
            <a:r>
              <a:rPr lang="en-US" altLang="zh-CN" dirty="0"/>
              <a:t>2</a:t>
            </a:r>
            <a:r>
              <a:rPr lang="zh-CN" altLang="en-US" dirty="0"/>
              <a:t>（字操作），这样就使串处理从高地址向低地址方向处理。当</a:t>
            </a:r>
            <a:r>
              <a:rPr lang="en-US" altLang="zh-CN" dirty="0"/>
              <a:t>DF</a:t>
            </a:r>
            <a:r>
              <a:rPr lang="zh-CN" altLang="en-US" dirty="0"/>
              <a:t>为‘</a:t>
            </a:r>
            <a:r>
              <a:rPr lang="en-US" altLang="zh-CN" dirty="0"/>
              <a:t>0’</a:t>
            </a:r>
            <a:r>
              <a:rPr lang="zh-CN" altLang="en-US" dirty="0"/>
              <a:t>时，则使变址寄存器</a:t>
            </a:r>
            <a:r>
              <a:rPr lang="en-US" altLang="zh-CN" dirty="0"/>
              <a:t>SI</a:t>
            </a:r>
            <a:r>
              <a:rPr lang="zh-CN" altLang="en-US" dirty="0"/>
              <a:t>和</a:t>
            </a:r>
            <a:r>
              <a:rPr lang="en-US" altLang="zh-CN" dirty="0"/>
              <a:t>DI</a:t>
            </a:r>
            <a:r>
              <a:rPr lang="zh-CN" altLang="en-US" dirty="0"/>
              <a:t>自动加</a:t>
            </a:r>
            <a:r>
              <a:rPr lang="en-US" altLang="zh-CN" dirty="0"/>
              <a:t>1</a:t>
            </a:r>
            <a:r>
              <a:rPr lang="zh-CN" altLang="en-US" dirty="0"/>
              <a:t>（字节操作）或加</a:t>
            </a:r>
            <a:r>
              <a:rPr lang="en-US" altLang="zh-CN" dirty="0"/>
              <a:t>2</a:t>
            </a:r>
            <a:r>
              <a:rPr lang="zh-CN" altLang="en-US" dirty="0"/>
              <a:t>（字操作），使串处理从低地址向高地址方向进行。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IF</a:t>
            </a:r>
            <a:r>
              <a:rPr lang="zh-CN" altLang="en-US" dirty="0"/>
              <a:t>：（</a:t>
            </a:r>
            <a:r>
              <a:rPr lang="en-US" altLang="zh-CN" dirty="0"/>
              <a:t>Interrupt Flag</a:t>
            </a:r>
            <a:r>
              <a:rPr lang="zh-CN" altLang="en-US" dirty="0"/>
              <a:t>）中断标志，这个标志位主要针对外中断中可屏蔽中断的开放或禁止。当</a:t>
            </a:r>
            <a:r>
              <a:rPr lang="en-US" altLang="zh-CN" dirty="0"/>
              <a:t>IF=‘1’</a:t>
            </a:r>
            <a:r>
              <a:rPr lang="zh-CN" altLang="en-US" dirty="0"/>
              <a:t>时，</a:t>
            </a:r>
            <a:r>
              <a:rPr lang="en-US" altLang="zh-CN" dirty="0"/>
              <a:t>CPU</a:t>
            </a:r>
            <a:r>
              <a:rPr lang="zh-CN" altLang="en-US" dirty="0"/>
              <a:t>允许响应可屏蔽中断，相反，</a:t>
            </a:r>
            <a:r>
              <a:rPr lang="en-US" altLang="zh-CN" dirty="0"/>
              <a:t>IF</a:t>
            </a:r>
            <a:r>
              <a:rPr lang="zh-CN" altLang="en-US" dirty="0"/>
              <a:t>＝‘</a:t>
            </a:r>
            <a:r>
              <a:rPr lang="en-US" altLang="zh-CN" dirty="0"/>
              <a:t>0’</a:t>
            </a:r>
            <a:r>
              <a:rPr lang="zh-CN" altLang="en-US" dirty="0"/>
              <a:t>时，则不允许响应可屏蔽中断，这里所说的屏蔽即为“拒绝”之意。用</a:t>
            </a:r>
            <a:r>
              <a:rPr lang="en-US" altLang="zh-CN" dirty="0"/>
              <a:t>STI</a:t>
            </a:r>
            <a:r>
              <a:rPr lang="zh-CN" altLang="en-US" dirty="0"/>
              <a:t>指令使</a:t>
            </a:r>
            <a:r>
              <a:rPr lang="en-US" altLang="zh-CN" dirty="0"/>
              <a:t>IF</a:t>
            </a:r>
            <a:r>
              <a:rPr lang="zh-CN" altLang="en-US" dirty="0"/>
              <a:t>置‘</a:t>
            </a:r>
            <a:r>
              <a:rPr lang="en-US" altLang="zh-CN" dirty="0"/>
              <a:t>1’</a:t>
            </a:r>
            <a:r>
              <a:rPr lang="zh-CN" altLang="en-US" dirty="0"/>
              <a:t>，用</a:t>
            </a:r>
            <a:r>
              <a:rPr lang="en-US" altLang="zh-CN" dirty="0"/>
              <a:t>CLI</a:t>
            </a:r>
            <a:r>
              <a:rPr lang="zh-CN" altLang="en-US" dirty="0"/>
              <a:t>使</a:t>
            </a:r>
            <a:r>
              <a:rPr lang="en-US" altLang="zh-CN" dirty="0"/>
              <a:t>IF=‘0’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TF</a:t>
            </a:r>
            <a:r>
              <a:rPr lang="zh-CN" altLang="en-US" dirty="0"/>
              <a:t>：又称陷阱标志（</a:t>
            </a:r>
            <a:r>
              <a:rPr lang="en-US" altLang="zh-CN" dirty="0"/>
              <a:t>Trap Flag</a:t>
            </a:r>
            <a:r>
              <a:rPr lang="zh-CN" altLang="en-US" dirty="0"/>
              <a:t>），又称跟踪标志（</a:t>
            </a:r>
            <a:r>
              <a:rPr lang="en-US" altLang="zh-CN" dirty="0"/>
              <a:t>Trace </a:t>
            </a:r>
            <a:r>
              <a:rPr lang="en-US" altLang="zh-CN" dirty="0" err="1"/>
              <a:t>Tlag</a:t>
            </a:r>
            <a:r>
              <a:rPr lang="zh-CN" altLang="en-US" dirty="0"/>
              <a:t>）或称单步标志位。用于单步方式操作，当</a:t>
            </a:r>
            <a:r>
              <a:rPr lang="en-US" altLang="zh-CN" dirty="0"/>
              <a:t>TF=‘1’</a:t>
            </a:r>
            <a:r>
              <a:rPr lang="zh-CN" altLang="en-US" dirty="0"/>
              <a:t>时，在执行完一条指令后，产生单步中断。这在</a:t>
            </a:r>
            <a:r>
              <a:rPr lang="en-US" altLang="zh-CN" dirty="0"/>
              <a:t>DEBUG</a:t>
            </a:r>
            <a:r>
              <a:rPr lang="zh-CN" altLang="en-US" dirty="0"/>
              <a:t>调试程序状态下，可以使指令单步运行，可逐一检查各寄存器内容，标志状态、存储器的检查或修改等等。</a:t>
            </a:r>
            <a:r>
              <a:rPr lang="en-US" altLang="zh-CN" dirty="0"/>
              <a:t>TF=‘1’</a:t>
            </a:r>
            <a:r>
              <a:rPr lang="zh-CN" altLang="en-US" dirty="0"/>
              <a:t>时为调试程序时所用，当程序调试成功后让</a:t>
            </a:r>
            <a:r>
              <a:rPr lang="en-US" altLang="zh-CN" dirty="0"/>
              <a:t>TF=‘0’</a:t>
            </a:r>
            <a:r>
              <a:rPr lang="zh-CN" altLang="en-US" dirty="0"/>
              <a:t>，</a:t>
            </a:r>
            <a:r>
              <a:rPr lang="en-US" altLang="zh-CN" dirty="0"/>
              <a:t>CPU</a:t>
            </a:r>
            <a:r>
              <a:rPr lang="zh-CN" altLang="en-US" dirty="0"/>
              <a:t>正常工作不产生单步中断。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2CB48-58DB-44A5-9191-B83C6531C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307138"/>
            <a:ext cx="2627313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CFE83B1-F634-4D03-BBF3-374F469F8139}" type="slidenum">
              <a:rPr lang="en-US" altLang="zh-CN"/>
            </a:fld>
            <a:endParaRPr lang="en-US" altLang="zh-CN"/>
          </a:p>
        </p:txBody>
      </p:sp>
      <p:pic>
        <p:nvPicPr>
          <p:cNvPr id="6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979863"/>
            <a:ext cx="2914650" cy="287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307138"/>
            <a:ext cx="2627313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1D841AD-41CE-48E1-A3F3-C8790E51327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307138"/>
            <a:ext cx="2627313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5632390-A314-45E9-8259-B97D324B6C7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307138"/>
            <a:ext cx="2627313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F3ADCAF-667C-45A4-A92D-EFE3E33F1F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307138"/>
            <a:ext cx="2627313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9F8F266-A9BD-4E96-8D21-F1DD509164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307138"/>
            <a:ext cx="2627313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2A56F96-8D26-418C-8B28-821F6665A9F2}" type="slidenum">
              <a:rPr lang="en-US" altLang="zh-CN"/>
            </a:fld>
            <a:endParaRPr lang="en-US" altLang="zh-CN"/>
          </a:p>
        </p:txBody>
      </p:sp>
      <p:pic>
        <p:nvPicPr>
          <p:cNvPr id="5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979863"/>
            <a:ext cx="2914650" cy="287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293688" y="6219825"/>
            <a:ext cx="2492375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A6FE6A3-213F-4858-8423-606B1BC540F3}" type="slidenum">
              <a:rPr lang="en-US" altLang="zh-CN"/>
            </a:fld>
            <a:endParaRPr lang="en-US" altLang="zh-CN"/>
          </a:p>
        </p:txBody>
      </p:sp>
      <p:pic>
        <p:nvPicPr>
          <p:cNvPr id="4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979863"/>
            <a:ext cx="2914650" cy="287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303188A-B6B5-43BA-B654-A929C0D9C973}" type="slidenum">
              <a:rPr lang="en-US" altLang="zh-CN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3688" y="6219825"/>
            <a:ext cx="2492375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92BDE03-8452-4F2E-A063-3EA34E875852}" type="slidenum">
              <a:rPr lang="en-US" altLang="zh-CN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3688" y="6219825"/>
            <a:ext cx="2492375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666D835-6AA7-426A-B360-43BB7A0E8822}" type="slidenum">
              <a:rPr lang="en-US" altLang="zh-CN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3688" y="6219825"/>
            <a:ext cx="2492375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1E0FA5C-78E7-4801-B735-240B548A4911}" type="slidenum">
              <a:rPr lang="en-US" altLang="zh-CN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3688" y="6219825"/>
            <a:ext cx="2492375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86750" y="6381750"/>
            <a:ext cx="638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1DA4F1-4DAA-43CD-9AB4-23180FA39D80}" type="slidenum">
              <a:rPr lang="en-US" altLang="zh-CN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3688" y="6219825"/>
            <a:ext cx="2492375" cy="4603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汇编与接口技术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7.png"/><Relationship Id="rId18" Type="http://schemas.openxmlformats.org/officeDocument/2006/relationships/image" Target="../media/image1.jpeg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jpeg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Text Box 14"/>
          <p:cNvSpPr txBox="1">
            <a:spLocks noChangeArrowheads="1"/>
          </p:cNvSpPr>
          <p:nvPr userDrawn="1"/>
        </p:nvSpPr>
        <p:spPr bwMode="auto">
          <a:xfrm>
            <a:off x="5473700" y="320675"/>
            <a:ext cx="275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5580" indent="-19558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zh-CN" altLang="zh-CN" i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307138"/>
            <a:ext cx="26273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spAutoFit/>
          </a:bodyPr>
          <a:lstStyle>
            <a:lvl1pPr algn="ctr" eaLnBrk="1" hangingPunct="1">
              <a:buFontTx/>
              <a:buNone/>
              <a:defRPr kumimoji="0" b="0" i="1">
                <a:solidFill>
                  <a:srgbClr val="C00000"/>
                </a:solidFill>
                <a:latin typeface="+mn-lt"/>
                <a:ea typeface="隶书" panose="02010509060101010101" pitchFamily="49" charset="-122"/>
              </a:defRPr>
            </a:lvl1pPr>
          </a:lstStyle>
          <a:p>
            <a:pPr>
              <a:defRPr/>
            </a:pPr>
            <a:r>
              <a:rPr lang="zh-CN" altLang="en-US" dirty="0"/>
              <a:t>汇编与接口技术</a:t>
            </a:r>
            <a:endParaRPr lang="zh-CN" alt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86750" y="6381750"/>
            <a:ext cx="638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6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fld id="{E00DAA55-B56C-4031-AF56-C6B2033A3705}" type="slidenum">
              <a:rPr lang="en-US" altLang="zh-CN"/>
            </a:fld>
            <a:endParaRPr lang="en-US" altLang="zh-CN"/>
          </a:p>
        </p:txBody>
      </p:sp>
      <p:sp>
        <p:nvSpPr>
          <p:cNvPr id="12" name="Text Box 14"/>
          <p:cNvSpPr txBox="1">
            <a:spLocks noChangeArrowheads="1"/>
          </p:cNvSpPr>
          <p:nvPr userDrawn="1"/>
        </p:nvSpPr>
        <p:spPr bwMode="auto">
          <a:xfrm>
            <a:off x="5401692" y="320675"/>
            <a:ext cx="275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5580" indent="-19558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endParaRPr kumimoji="0" lang="zh-CN" altLang="zh-CN" b="1" i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363216" y="921544"/>
            <a:ext cx="8673280" cy="61104"/>
          </a:xfrm>
          <a:prstGeom prst="rect">
            <a:avLst/>
          </a:prstGeom>
          <a:gradFill flip="none" rotWithShape="1">
            <a:gsLst>
              <a:gs pos="0">
                <a:srgbClr val="133984">
                  <a:gamma/>
                  <a:tint val="0"/>
                  <a:invGamma/>
                </a:srgbClr>
              </a:gs>
              <a:gs pos="100000">
                <a:srgbClr val="16429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4" name="Picture 27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13" y="177006"/>
            <a:ext cx="842962" cy="56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8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50" y="181768"/>
            <a:ext cx="952500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9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79388"/>
            <a:ext cx="838200" cy="56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1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992" y="184150"/>
            <a:ext cx="762000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2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84150"/>
            <a:ext cx="881063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5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979863"/>
            <a:ext cx="2914650" cy="287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447517" y="145733"/>
            <a:ext cx="2478564" cy="6826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hyperlink" Target="../../ddd/&#21160;&#30011;1.htm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39.png"/><Relationship Id="rId2" Type="http://schemas.openxmlformats.org/officeDocument/2006/relationships/customXml" Target="../ink/ink1.xml"/><Relationship Id="rId1" Type="http://schemas.openxmlformats.org/officeDocument/2006/relationships/image" Target="../media/image38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8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2.wav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0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인터넷01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43843" y="2578478"/>
            <a:ext cx="6056313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lang="en-US" altLang="zh-CN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章 </a:t>
            </a:r>
            <a:r>
              <a:rPr lang="en-US" altLang="zh-CN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80x86</a:t>
            </a:r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微处理器</a:t>
            </a:r>
            <a:endParaRPr lang="zh-CN" altLang="en-US" sz="40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4" name="文本框 29"/>
          <p:cNvSpPr txBox="1">
            <a:spLocks noChangeArrowheads="1"/>
          </p:cNvSpPr>
          <p:nvPr/>
        </p:nvSpPr>
        <p:spPr bwMode="auto">
          <a:xfrm>
            <a:off x="3042071" y="1384300"/>
            <a:ext cx="30598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3600" dirty="0">
                <a:solidFill>
                  <a:srgbClr val="A50021"/>
                </a:solidFill>
                <a:latin typeface="+mn-lt"/>
                <a:ea typeface="+mn-ea"/>
                <a:cs typeface="+mn-ea"/>
                <a:sym typeface="+mn-lt"/>
              </a:rPr>
              <a:t>本章教学内容</a:t>
            </a:r>
            <a:endParaRPr kumimoji="1" lang="zh-CN" altLang="en-US" sz="3600" dirty="0">
              <a:solidFill>
                <a:srgbClr val="A5002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19113" y="2474572"/>
            <a:ext cx="8313388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SzPct val="60000"/>
              <a:buFont typeface="Wingdings" panose="05000000000000000000" pitchFamily="2" charset="2"/>
              <a:buChar char="l"/>
            </a:pPr>
            <a:r>
              <a:rPr kumimoji="1" lang="en-US" altLang="zh-CN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80X86 CPU</a:t>
            </a:r>
            <a:r>
              <a:rPr kumimoji="1" lang="zh-CN" altLang="en-US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的基本组成和寄存器作用</a:t>
            </a:r>
            <a:endParaRPr kumimoji="1" lang="zh-CN" altLang="en-US" sz="2600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SzPct val="6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标志寄存器各位的含义</a:t>
            </a:r>
            <a:endParaRPr kumimoji="1" lang="zh-CN" altLang="en-US" sz="2600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SzPct val="6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实模式下存储器的分段、</a:t>
            </a:r>
            <a:r>
              <a:rPr kumimoji="1" lang="en-US" altLang="zh-CN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20</a:t>
            </a:r>
            <a:r>
              <a:rPr kumimoji="1" lang="zh-CN" altLang="en-US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位物理地址的形成</a:t>
            </a:r>
            <a:endParaRPr kumimoji="1" lang="zh-CN" altLang="en-US" sz="2600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SzPct val="6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段地址寄存器和偏移地址寄存器之间的隐含规则</a:t>
            </a:r>
            <a:endParaRPr kumimoji="1" lang="zh-CN" altLang="en-US" sz="2600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3060065" y="1197000"/>
            <a:ext cx="3168650" cy="64135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主要内容</a:t>
            </a:r>
            <a:endParaRPr lang="zh-CN" altLang="en-US" sz="3600" b="1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5" name="AutoShape 6"/>
          <p:cNvSpPr>
            <a:spLocks noChangeArrowheads="1"/>
          </p:cNvSpPr>
          <p:nvPr/>
        </p:nvSpPr>
        <p:spPr bwMode="auto">
          <a:xfrm>
            <a:off x="850265" y="1953676"/>
            <a:ext cx="7535545" cy="4043482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195580" indent="-1955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70000"/>
              </a:lnSpc>
            </a:pPr>
            <a:r>
              <a:rPr lang="en-US" altLang="zh-CN" sz="3400" b="1" u="sng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2.1 80x86</a:t>
            </a:r>
            <a:r>
              <a:rPr lang="zh-CN" altLang="en-US" sz="3400" b="1" u="sng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内部结构与内部寄存器组</a:t>
            </a:r>
            <a:endParaRPr lang="en-US" altLang="zh-CN" sz="3400" b="1" u="sng" dirty="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lnSpc>
                <a:spcPct val="170000"/>
              </a:lnSpc>
            </a:pPr>
            <a:r>
              <a:rPr lang="en-US" altLang="zh-CN" sz="3400" b="1" dirty="0">
                <a:latin typeface="+mn-lt"/>
                <a:ea typeface="+mn-ea"/>
                <a:cs typeface="+mn-ea"/>
                <a:sym typeface="+mn-lt"/>
              </a:rPr>
              <a:t>2.2 80x86</a:t>
            </a:r>
            <a:r>
              <a:rPr lang="zh-CN" altLang="en-US" sz="3400" b="1" dirty="0">
                <a:latin typeface="+mn-lt"/>
                <a:ea typeface="+mn-ea"/>
                <a:cs typeface="+mn-ea"/>
                <a:sym typeface="+mn-lt"/>
              </a:rPr>
              <a:t>的引脚</a:t>
            </a:r>
            <a:r>
              <a:rPr lang="zh-CN" altLang="en-US" sz="3400" b="1" dirty="0">
                <a:latin typeface="+mn-lt"/>
                <a:ea typeface="+mn-ea"/>
                <a:cs typeface="+mn-ea"/>
                <a:sym typeface="+mn-lt"/>
              </a:rPr>
              <a:t>信号</a:t>
            </a:r>
            <a:endParaRPr lang="zh-CN" altLang="en-US" sz="3400" b="1" dirty="0">
              <a:latin typeface="+mn-lt"/>
              <a:ea typeface="+mn-ea"/>
              <a:cs typeface="+mn-ea"/>
              <a:sym typeface="+mn-lt"/>
            </a:endParaRPr>
          </a:p>
          <a:p>
            <a:pPr algn="l">
              <a:lnSpc>
                <a:spcPct val="170000"/>
              </a:lnSpc>
            </a:pPr>
            <a:r>
              <a:rPr lang="en-US" altLang="zh-CN" sz="3400" b="1" dirty="0">
                <a:latin typeface="+mn-lt"/>
                <a:ea typeface="+mn-ea"/>
                <a:cs typeface="+mn-ea"/>
                <a:sym typeface="+mn-lt"/>
              </a:rPr>
              <a:t>2.3 80x86</a:t>
            </a:r>
            <a:r>
              <a:rPr lang="zh-CN" altLang="en-US" sz="3400" b="1" dirty="0">
                <a:latin typeface="+mn-lt"/>
                <a:ea typeface="+mn-ea"/>
                <a:cs typeface="+mn-ea"/>
                <a:sym typeface="+mn-lt"/>
              </a:rPr>
              <a:t>系统总线的</a:t>
            </a:r>
            <a:r>
              <a:rPr lang="zh-CN" altLang="en-US" sz="3400" b="1" dirty="0">
                <a:latin typeface="+mn-lt"/>
                <a:ea typeface="+mn-ea"/>
                <a:cs typeface="+mn-ea"/>
                <a:sym typeface="+mn-lt"/>
              </a:rPr>
              <a:t>构成</a:t>
            </a:r>
            <a:endParaRPr lang="zh-CN" altLang="en-US" sz="3400" b="1" dirty="0">
              <a:latin typeface="+mn-lt"/>
              <a:ea typeface="+mn-ea"/>
              <a:cs typeface="+mn-ea"/>
              <a:sym typeface="+mn-lt"/>
            </a:endParaRPr>
          </a:p>
          <a:p>
            <a:pPr algn="l">
              <a:lnSpc>
                <a:spcPct val="170000"/>
              </a:lnSpc>
            </a:pPr>
            <a:r>
              <a:rPr lang="en-US" altLang="zh-CN" sz="3400" b="1" dirty="0">
                <a:latin typeface="+mn-lt"/>
                <a:ea typeface="+mn-ea"/>
                <a:cs typeface="+mn-ea"/>
                <a:sym typeface="+mn-lt"/>
              </a:rPr>
              <a:t>2.4 80x86</a:t>
            </a:r>
            <a:r>
              <a:rPr lang="zh-CN" altLang="en-US" sz="3400" b="1" dirty="0"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lang="zh-CN" altLang="en-US" sz="3400" b="1" dirty="0">
                <a:latin typeface="+mn-lt"/>
                <a:ea typeface="+mn-ea"/>
                <a:cs typeface="+mn-ea"/>
                <a:sym typeface="+mn-lt"/>
              </a:rPr>
              <a:t>工作方式</a:t>
            </a:r>
            <a:endParaRPr lang="zh-CN" altLang="en-US" sz="3400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인터넷01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43843" y="2578478"/>
            <a:ext cx="6056313" cy="13220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2.1</a:t>
            </a:r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80x86内部结构与内部寄存器组</a:t>
            </a:r>
            <a:endParaRPr lang="en-US" sz="40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4207377" y="1396207"/>
            <a:ext cx="451674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i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lt"/>
              </a:rPr>
              <a:t>以</a:t>
            </a:r>
            <a:r>
              <a:rPr lang="en-US" altLang="zh-CN" sz="2800" i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lt"/>
              </a:rPr>
              <a:t>16</a:t>
            </a:r>
            <a:r>
              <a:rPr lang="zh-CN" altLang="en-US" sz="2800" i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lt"/>
              </a:rPr>
              <a:t>位的</a:t>
            </a:r>
            <a:r>
              <a:rPr lang="en-US" altLang="zh-CN" sz="2800" i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lt"/>
              </a:rPr>
              <a:t>8086</a:t>
            </a:r>
            <a:r>
              <a:rPr lang="zh-CN" altLang="en-US" sz="2800" i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lt"/>
              </a:rPr>
              <a:t>为教学对象</a:t>
            </a:r>
            <a:endParaRPr lang="zh-CN" altLang="en-US" sz="2800" i="1" dirty="0">
              <a:solidFill>
                <a:srgbClr val="CC33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  <a:sym typeface="+mn-lt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1015904" y="2367840"/>
            <a:ext cx="7413625" cy="3940966"/>
            <a:chOff x="1015904" y="2367840"/>
            <a:chExt cx="7413625" cy="3940966"/>
          </a:xfrm>
        </p:grpSpPr>
        <p:sp>
          <p:nvSpPr>
            <p:cNvPr id="13315" name="Rectangle 42"/>
            <p:cNvSpPr>
              <a:spLocks noChangeArrowheads="1"/>
            </p:cNvSpPr>
            <p:nvPr/>
          </p:nvSpPr>
          <p:spPr bwMode="auto">
            <a:xfrm>
              <a:off x="4829079" y="5095519"/>
              <a:ext cx="3281362" cy="755650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rgbClr val="000000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894166" y="5200294"/>
              <a:ext cx="1231900" cy="56197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2"/>
              </a:solidFill>
              <a:miter lim="800000"/>
            </a:ln>
          </p:spPr>
          <p:txBody>
            <a:bodyPr anchor="ctr" anchorCtr="1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>
                  <a:latin typeface="+mn-lt"/>
                  <a:ea typeface="+mn-ea"/>
                  <a:cs typeface="+mn-ea"/>
                  <a:sym typeface="+mn-lt"/>
                </a:rPr>
                <a:t>I/O</a:t>
              </a:r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接口</a:t>
              </a:r>
              <a:endParaRPr lang="zh-CN" altLang="en-US" sz="20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749954" y="5200294"/>
              <a:ext cx="1231900" cy="561975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外部设备</a:t>
              </a:r>
              <a:endParaRPr lang="zh-CN" altLang="en-US" sz="20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3082829" y="5216169"/>
              <a:ext cx="1117600" cy="560387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存储器</a:t>
              </a:r>
              <a:endParaRPr lang="zh-CN" altLang="en-US" sz="20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19" name="AutoShape 9"/>
            <p:cNvSpPr>
              <a:spLocks noChangeArrowheads="1"/>
            </p:cNvSpPr>
            <p:nvPr/>
          </p:nvSpPr>
          <p:spPr bwMode="auto">
            <a:xfrm>
              <a:off x="6154641" y="5406669"/>
              <a:ext cx="542925" cy="198437"/>
            </a:xfrm>
            <a:prstGeom prst="leftRightArrow">
              <a:avLst>
                <a:gd name="adj1" fmla="val 50000"/>
                <a:gd name="adj2" fmla="val 5472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0" name="Text Box 11"/>
            <p:cNvSpPr txBox="1">
              <a:spLocks noChangeArrowheads="1"/>
            </p:cNvSpPr>
            <p:nvPr/>
          </p:nvSpPr>
          <p:spPr bwMode="auto">
            <a:xfrm>
              <a:off x="5676804" y="4203344"/>
              <a:ext cx="275272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控制总线（</a:t>
              </a:r>
              <a:r>
                <a:rPr lang="en-US" altLang="zh-CN" sz="2000">
                  <a:latin typeface="+mn-lt"/>
                  <a:ea typeface="+mn-ea"/>
                  <a:cs typeface="+mn-ea"/>
                  <a:sym typeface="+mn-lt"/>
                </a:rPr>
                <a:t>CB</a:t>
              </a:r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）</a:t>
              </a:r>
              <a:endParaRPr lang="zh-CN" altLang="en-US" sz="20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1" name="AutoShape 13"/>
            <p:cNvSpPr>
              <a:spLocks noChangeArrowheads="1"/>
            </p:cNvSpPr>
            <p:nvPr/>
          </p:nvSpPr>
          <p:spPr bwMode="auto">
            <a:xfrm>
              <a:off x="3822604" y="4689119"/>
              <a:ext cx="163512" cy="506412"/>
            </a:xfrm>
            <a:prstGeom prst="upDownArrow">
              <a:avLst>
                <a:gd name="adj1" fmla="val 50000"/>
                <a:gd name="adj2" fmla="val 61942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2" name="AutoShape 14"/>
            <p:cNvSpPr>
              <a:spLocks noChangeArrowheads="1"/>
            </p:cNvSpPr>
            <p:nvPr/>
          </p:nvSpPr>
          <p:spPr bwMode="auto">
            <a:xfrm>
              <a:off x="5805391" y="4689119"/>
              <a:ext cx="161925" cy="506412"/>
            </a:xfrm>
            <a:prstGeom prst="upDownArrow">
              <a:avLst>
                <a:gd name="adj1" fmla="val 50000"/>
                <a:gd name="adj2" fmla="val 62549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AutoShape 15"/>
            <p:cNvSpPr>
              <a:spLocks noChangeArrowheads="1"/>
            </p:cNvSpPr>
            <p:nvPr/>
          </p:nvSpPr>
          <p:spPr bwMode="auto">
            <a:xfrm>
              <a:off x="2705004" y="4455756"/>
              <a:ext cx="5405437" cy="284163"/>
            </a:xfrm>
            <a:prstGeom prst="leftRightArrow">
              <a:avLst>
                <a:gd name="adj1" fmla="val 44426"/>
                <a:gd name="adj2" fmla="val 36900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4" name="Text Box 17"/>
            <p:cNvSpPr txBox="1">
              <a:spLocks noChangeArrowheads="1"/>
            </p:cNvSpPr>
            <p:nvPr/>
          </p:nvSpPr>
          <p:spPr bwMode="auto">
            <a:xfrm>
              <a:off x="5856191" y="3415944"/>
              <a:ext cx="2436813" cy="41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数据总线（</a:t>
              </a:r>
              <a:r>
                <a:rPr lang="en-US" altLang="zh-CN" sz="2000">
                  <a:latin typeface="+mn-lt"/>
                  <a:ea typeface="+mn-ea"/>
                  <a:cs typeface="+mn-ea"/>
                  <a:sym typeface="+mn-lt"/>
                </a:rPr>
                <a:t>DB</a:t>
              </a:r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）</a:t>
              </a:r>
              <a:endParaRPr lang="zh-CN" altLang="en-US" sz="20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AutoShape 18"/>
            <p:cNvSpPr>
              <a:spLocks noChangeArrowheads="1"/>
            </p:cNvSpPr>
            <p:nvPr/>
          </p:nvSpPr>
          <p:spPr bwMode="auto">
            <a:xfrm>
              <a:off x="2705004" y="3646131"/>
              <a:ext cx="5405437" cy="374650"/>
            </a:xfrm>
            <a:prstGeom prst="leftRightArrow">
              <a:avLst>
                <a:gd name="adj1" fmla="val 44426"/>
                <a:gd name="adj2" fmla="val 37034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195580" indent="-195580" algn="ctr">
                <a:buFontTx/>
                <a:buChar char="•"/>
                <a:defRPr/>
              </a:pPr>
              <a:endParaRPr lang="zh-CN" altLang="zh-CN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6" name="AutoShape 20"/>
            <p:cNvSpPr>
              <a:spLocks noChangeArrowheads="1"/>
            </p:cNvSpPr>
            <p:nvPr/>
          </p:nvSpPr>
          <p:spPr bwMode="auto">
            <a:xfrm>
              <a:off x="5443441" y="3941406"/>
              <a:ext cx="163513" cy="1233488"/>
            </a:xfrm>
            <a:prstGeom prst="upDownArrow">
              <a:avLst>
                <a:gd name="adj1" fmla="val 50000"/>
                <a:gd name="adj2" fmla="val 150873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7" name="Text Box 23"/>
            <p:cNvSpPr txBox="1">
              <a:spLocks noChangeArrowheads="1"/>
            </p:cNvSpPr>
            <p:nvPr/>
          </p:nvSpPr>
          <p:spPr bwMode="auto">
            <a:xfrm>
              <a:off x="5808566" y="2722206"/>
              <a:ext cx="2495550" cy="38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地址总线（</a:t>
              </a:r>
              <a:r>
                <a:rPr lang="en-US" altLang="zh-CN" sz="2000">
                  <a:latin typeface="+mn-lt"/>
                  <a:ea typeface="+mn-ea"/>
                  <a:cs typeface="+mn-ea"/>
                  <a:sym typeface="+mn-lt"/>
                </a:rPr>
                <a:t>AB</a:t>
              </a:r>
              <a:r>
                <a:rPr lang="zh-CN" altLang="en-US" sz="2000">
                  <a:latin typeface="+mn-lt"/>
                  <a:ea typeface="+mn-ea"/>
                  <a:cs typeface="+mn-ea"/>
                  <a:sym typeface="+mn-lt"/>
                </a:rPr>
                <a:t>）</a:t>
              </a:r>
              <a:endParaRPr lang="zh-CN" altLang="en-US" sz="20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28" name="AutoShape 25"/>
            <p:cNvSpPr>
              <a:spLocks noChangeArrowheads="1"/>
            </p:cNvSpPr>
            <p:nvPr/>
          </p:nvSpPr>
          <p:spPr bwMode="auto">
            <a:xfrm>
              <a:off x="5064029" y="3217506"/>
              <a:ext cx="192087" cy="1978025"/>
            </a:xfrm>
            <a:prstGeom prst="downArrow">
              <a:avLst>
                <a:gd name="adj1" fmla="val 50185"/>
                <a:gd name="adj2" fmla="val 147503"/>
              </a:avLst>
            </a:prstGeom>
            <a:solidFill>
              <a:srgbClr val="339933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AutoShape 27"/>
            <p:cNvSpPr>
              <a:spLocks noChangeArrowheads="1"/>
            </p:cNvSpPr>
            <p:nvPr/>
          </p:nvSpPr>
          <p:spPr bwMode="auto">
            <a:xfrm>
              <a:off x="2705004" y="3023831"/>
              <a:ext cx="5405437" cy="261938"/>
            </a:xfrm>
            <a:prstGeom prst="leftRightArrow">
              <a:avLst>
                <a:gd name="adj1" fmla="val 44426"/>
                <a:gd name="adj2" fmla="val 38120"/>
              </a:avLst>
            </a:prstGeom>
            <a:solidFill>
              <a:srgbClr val="339933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30" name="AutoShape 28">
              <a:hlinkClick r:id="" action="ppaction://hlinkshowjump?jump=nextslide"/>
            </p:cNvPr>
            <p:cNvSpPr>
              <a:spLocks noChangeArrowheads="1"/>
            </p:cNvSpPr>
            <p:nvPr/>
          </p:nvSpPr>
          <p:spPr bwMode="auto">
            <a:xfrm>
              <a:off x="3266979" y="3217506"/>
              <a:ext cx="192087" cy="1978025"/>
            </a:xfrm>
            <a:prstGeom prst="downArrow">
              <a:avLst>
                <a:gd name="adj1" fmla="val 50185"/>
                <a:gd name="adj2" fmla="val 147503"/>
              </a:avLst>
            </a:prstGeom>
            <a:solidFill>
              <a:srgbClr val="339933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31" name="AutoShape 33"/>
            <p:cNvSpPr>
              <a:spLocks noChangeArrowheads="1"/>
            </p:cNvSpPr>
            <p:nvPr/>
          </p:nvSpPr>
          <p:spPr bwMode="auto">
            <a:xfrm>
              <a:off x="3557491" y="3946169"/>
              <a:ext cx="163513" cy="1233487"/>
            </a:xfrm>
            <a:prstGeom prst="upDownArrow">
              <a:avLst>
                <a:gd name="adj1" fmla="val 50000"/>
                <a:gd name="adj2" fmla="val 150873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Char char="•"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Rectangle 35"/>
            <p:cNvSpPr>
              <a:spLocks noChangeArrowheads="1"/>
            </p:cNvSpPr>
            <p:nvPr/>
          </p:nvSpPr>
          <p:spPr bwMode="auto">
            <a:xfrm>
              <a:off x="1015904" y="2679344"/>
              <a:ext cx="554037" cy="2290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1"/>
            <a:lstStyle>
              <a:lvl1pPr marL="195580" indent="-19558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微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  <a:p>
              <a:pPr algn="ctr"/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处</a:t>
              </a: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  <a:p>
              <a:pPr algn="ctr"/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理</a:t>
              </a: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  <a:p>
              <a:pPr algn="ctr"/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器</a:t>
              </a: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Rectangle 38"/>
            <p:cNvSpPr>
              <a:spLocks noChangeArrowheads="1"/>
            </p:cNvSpPr>
            <p:nvPr/>
          </p:nvSpPr>
          <p:spPr bwMode="auto">
            <a:xfrm>
              <a:off x="3381279" y="2392006"/>
              <a:ext cx="278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95580" indent="-19558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dirty="0">
                  <a:latin typeface="+mn-lt"/>
                  <a:ea typeface="+mn-ea"/>
                  <a:cs typeface="+mn-ea"/>
                  <a:sym typeface="+mn-lt"/>
                </a:rPr>
                <a:t>系统总线（</a:t>
              </a:r>
              <a:r>
                <a:rPr lang="en-US" altLang="zh-CN" dirty="0">
                  <a:latin typeface="+mn-lt"/>
                  <a:ea typeface="+mn-ea"/>
                  <a:cs typeface="+mn-ea"/>
                  <a:sym typeface="+mn-lt"/>
                </a:rPr>
                <a:t>BUS</a:t>
              </a:r>
              <a:r>
                <a:rPr lang="zh-CN" altLang="en-US" dirty="0">
                  <a:latin typeface="+mn-lt"/>
                  <a:ea typeface="+mn-ea"/>
                  <a:cs typeface="+mn-ea"/>
                  <a:sym typeface="+mn-lt"/>
                </a:rPr>
                <a:t>）</a:t>
              </a:r>
              <a:endParaRPr lang="zh-CN" altLang="en-US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Rectangle 35"/>
            <p:cNvSpPr>
              <a:spLocks noChangeArrowheads="1"/>
            </p:cNvSpPr>
            <p:nvPr/>
          </p:nvSpPr>
          <p:spPr bwMode="auto">
            <a:xfrm>
              <a:off x="2150966" y="2738081"/>
              <a:ext cx="554038" cy="22907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1"/>
            <a:lstStyle>
              <a:lvl1pPr marL="195580" indent="-19558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总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线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控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制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逻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  <a:p>
              <a:r>
                <a:rPr lang="zh-CN" altLang="en-US">
                  <a:latin typeface="+mn-lt"/>
                  <a:ea typeface="+mn-ea"/>
                  <a:cs typeface="+mn-ea"/>
                  <a:sym typeface="+mn-lt"/>
                </a:rPr>
                <a:t>辑</a:t>
              </a: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341" name="AutoShape 8"/>
            <p:cNvSpPr>
              <a:spLocks noChangeArrowheads="1"/>
            </p:cNvSpPr>
            <p:nvPr/>
          </p:nvSpPr>
          <p:spPr bwMode="auto">
            <a:xfrm>
              <a:off x="1586576" y="3563581"/>
              <a:ext cx="533400" cy="457200"/>
            </a:xfrm>
            <a:prstGeom prst="leftRightArrow">
              <a:avLst>
                <a:gd name="adj1" fmla="val 50000"/>
                <a:gd name="adj2" fmla="val 23333"/>
              </a:avLst>
            </a:prstGeom>
            <a:solidFill>
              <a:schemeClr val="folHlink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45899" y="5044222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latin typeface="+mn-ea"/>
                  <a:ea typeface="+mn-ea"/>
                </a:rPr>
                <a:t>①</a:t>
              </a: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381279" y="5760488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②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278174" y="5847141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③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118881" y="5847140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④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077457" y="2367840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⑤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94640" y="1332230"/>
            <a:ext cx="31521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6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zh-CN" altLang="en-US" sz="36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计算机系统</a:t>
            </a:r>
            <a:endParaRPr kumimoji="1" lang="en-US" altLang="zh-CN" sz="36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670719" y="1379782"/>
            <a:ext cx="7802562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14350" indent="-5143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16280" indent="-25908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8086 </a:t>
            </a:r>
            <a:r>
              <a:rPr lang="zh-CN" altLang="en-US" sz="3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的基本性能指标</a:t>
            </a:r>
            <a:endParaRPr lang="zh-CN" altLang="en-US" sz="3200" dirty="0">
              <a:solidFill>
                <a:srgbClr val="0000FF"/>
              </a:solidFill>
              <a:latin typeface="+mn-ea"/>
              <a:ea typeface="+mn-ea"/>
              <a:cs typeface="+mn-ea"/>
              <a:sym typeface="+mn-lt"/>
            </a:endParaRPr>
          </a:p>
          <a:p>
            <a:pPr lvl="1" fontAlgn="t">
              <a:lnSpc>
                <a:spcPct val="150000"/>
              </a:lnSpc>
              <a:spcBef>
                <a:spcPct val="200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16</a:t>
            </a:r>
            <a:r>
              <a:rPr lang="zh-CN" altLang="en-US" sz="2600" dirty="0">
                <a:latin typeface="+mn-ea"/>
                <a:ea typeface="+mn-ea"/>
                <a:cs typeface="+mn-ea"/>
                <a:sym typeface="+mn-lt"/>
              </a:rPr>
              <a:t>位微处理器</a:t>
            </a:r>
            <a:endParaRPr lang="zh-CN" altLang="en-US" sz="2600" dirty="0">
              <a:latin typeface="+mn-ea"/>
              <a:ea typeface="+mn-ea"/>
              <a:cs typeface="+mn-ea"/>
              <a:sym typeface="+mn-lt"/>
            </a:endParaRPr>
          </a:p>
          <a:p>
            <a:pPr lvl="1" algn="just" fontAlgn="t">
              <a:lnSpc>
                <a:spcPct val="150000"/>
              </a:lnSpc>
              <a:spcBef>
                <a:spcPct val="200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16</a:t>
            </a:r>
            <a:r>
              <a:rPr lang="zh-CN" altLang="en-US" sz="2600" dirty="0">
                <a:latin typeface="+mn-ea"/>
                <a:ea typeface="+mn-ea"/>
                <a:cs typeface="+mn-ea"/>
                <a:sym typeface="+mn-lt"/>
              </a:rPr>
              <a:t>根数据线、</a:t>
            </a:r>
            <a:r>
              <a:rPr lang="en-US" altLang="zh-CN" sz="26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20</a:t>
            </a:r>
            <a:r>
              <a:rPr lang="zh-CN" altLang="en-US" sz="2600" dirty="0">
                <a:latin typeface="+mn-ea"/>
                <a:ea typeface="+mn-ea"/>
                <a:cs typeface="+mn-ea"/>
                <a:sym typeface="+mn-lt"/>
              </a:rPr>
              <a:t>根地址线，可寻址的地址空间达</a:t>
            </a:r>
            <a:r>
              <a:rPr lang="en-US" altLang="zh-CN" sz="26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1MB</a:t>
            </a:r>
            <a:r>
              <a:rPr lang="en-US" altLang="zh-CN" sz="2600" dirty="0">
                <a:latin typeface="+mn-ea"/>
                <a:ea typeface="+mn-ea"/>
                <a:cs typeface="+mn-ea"/>
                <a:sym typeface="+mn-lt"/>
              </a:rPr>
              <a:t> (2</a:t>
            </a:r>
            <a:r>
              <a:rPr lang="en-US" altLang="zh-CN" sz="2600" baseline="30000" dirty="0">
                <a:latin typeface="+mn-ea"/>
                <a:ea typeface="+mn-ea"/>
                <a:cs typeface="+mn-ea"/>
                <a:sym typeface="+mn-lt"/>
              </a:rPr>
              <a:t>20</a:t>
            </a:r>
            <a:r>
              <a:rPr lang="en-US" altLang="zh-CN" sz="2600" dirty="0">
                <a:latin typeface="+mn-ea"/>
                <a:ea typeface="+mn-ea"/>
                <a:cs typeface="+mn-ea"/>
                <a:sym typeface="+mn-lt"/>
              </a:rPr>
              <a:t>Byte</a:t>
            </a:r>
            <a:r>
              <a:rPr lang="zh-CN" altLang="en-US" sz="2600" dirty="0">
                <a:latin typeface="+mn-ea"/>
                <a:ea typeface="+mn-ea"/>
                <a:cs typeface="+mn-ea"/>
                <a:sym typeface="+mn-lt"/>
              </a:rPr>
              <a:t>＝</a:t>
            </a:r>
            <a:r>
              <a:rPr lang="en-US" altLang="zh-CN" sz="2600" dirty="0">
                <a:latin typeface="+mn-ea"/>
                <a:ea typeface="+mn-ea"/>
                <a:cs typeface="+mn-ea"/>
                <a:sym typeface="+mn-lt"/>
              </a:rPr>
              <a:t>1MB)</a:t>
            </a:r>
            <a:endParaRPr lang="en-US" altLang="zh-CN" sz="2600" dirty="0">
              <a:latin typeface="+mn-ea"/>
              <a:ea typeface="+mn-ea"/>
              <a:cs typeface="+mn-ea"/>
              <a:sym typeface="+mn-lt"/>
            </a:endParaRPr>
          </a:p>
          <a:p>
            <a:pPr lvl="1" algn="just" fontAlgn="t">
              <a:lnSpc>
                <a:spcPct val="150000"/>
              </a:lnSpc>
              <a:spcBef>
                <a:spcPct val="200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+mn-ea"/>
                <a:ea typeface="+mn-ea"/>
                <a:cs typeface="+mn-ea"/>
                <a:sym typeface="+mn-lt"/>
              </a:rPr>
              <a:t>可以和浮点运算器、</a:t>
            </a:r>
            <a:r>
              <a:rPr lang="en-US" altLang="zh-CN" sz="2600" dirty="0">
                <a:latin typeface="+mn-ea"/>
                <a:ea typeface="+mn-ea"/>
                <a:cs typeface="+mn-ea"/>
                <a:sym typeface="+mn-lt"/>
              </a:rPr>
              <a:t>I/O</a:t>
            </a:r>
            <a:r>
              <a:rPr lang="zh-CN" altLang="en-US" sz="2600" dirty="0">
                <a:latin typeface="+mn-ea"/>
                <a:ea typeface="+mn-ea"/>
                <a:cs typeface="+mn-ea"/>
                <a:sym typeface="+mn-lt"/>
              </a:rPr>
              <a:t>处理器或其他处理器组成多处理器系统，从而提高系统的数据吞吐能力和数据处理能力。 </a:t>
            </a:r>
            <a:endParaRPr lang="zh-CN" altLang="en-US" sz="2600" dirty="0"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4350" y="1292225"/>
            <a:ext cx="5265738" cy="68326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514350" indent="-514350" algn="l" fontAlgn="t">
              <a:lnSpc>
                <a:spcPct val="120000"/>
              </a:lnSpc>
              <a:spcBef>
                <a:spcPct val="20000"/>
              </a:spcBef>
              <a:buFont typeface="+mj-lt"/>
              <a:buAutoNum type="arabicPeriod" startAt="2"/>
            </a:pPr>
            <a:r>
              <a:rPr lang="en-US" altLang="zh-CN" sz="3200" b="1" kern="1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8086 </a:t>
            </a:r>
            <a:r>
              <a:rPr lang="zh-CN" altLang="en-US" sz="3200" b="1" kern="1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的功能结构 </a:t>
            </a:r>
            <a:endParaRPr lang="zh-CN" altLang="en-US" sz="3200" b="1" kern="1200" dirty="0">
              <a:solidFill>
                <a:srgbClr val="0000FF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74078" y="2719388"/>
            <a:ext cx="3089275" cy="64928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指令执行部件</a:t>
            </a:r>
            <a:r>
              <a:rPr lang="en-US" altLang="zh-CN" sz="28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(EU)</a:t>
            </a:r>
            <a:endParaRPr lang="en-US" altLang="zh-CN" sz="2800" dirty="0">
              <a:solidFill>
                <a:srgbClr val="C00000"/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 </a:t>
            </a:r>
            <a:endParaRPr lang="zh-CN" altLang="en-US" sz="2800" dirty="0">
              <a:solidFill>
                <a:srgbClr val="C0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794703" y="4532313"/>
            <a:ext cx="3363912" cy="64928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总线接口部件</a:t>
            </a:r>
            <a:r>
              <a:rPr lang="en-US" altLang="zh-CN" sz="28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(BIU)</a:t>
            </a:r>
            <a:endParaRPr lang="en-US" altLang="zh-CN" sz="2800" dirty="0">
              <a:solidFill>
                <a:srgbClr val="C00000"/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 </a:t>
            </a:r>
            <a:endParaRPr lang="zh-CN" altLang="en-US" sz="2800" dirty="0">
              <a:solidFill>
                <a:srgbClr val="C0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" name="左大括号 1"/>
          <p:cNvSpPr/>
          <p:nvPr/>
        </p:nvSpPr>
        <p:spPr bwMode="auto">
          <a:xfrm>
            <a:off x="452036" y="3081338"/>
            <a:ext cx="404812" cy="1878288"/>
          </a:xfrm>
          <a:prstGeom prst="leftBrace">
            <a:avLst>
              <a:gd name="adj1" fmla="val 40161"/>
              <a:gd name="adj2" fmla="val 50000"/>
            </a:avLst>
          </a:prstGeom>
          <a:noFill/>
          <a:ln w="19050" algn="ctr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95580" indent="-19558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Char char="•"/>
            </a:pPr>
            <a:endParaRPr lang="zh-CN" altLang="en-US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左大括号 16"/>
          <p:cNvSpPr/>
          <p:nvPr/>
        </p:nvSpPr>
        <p:spPr bwMode="auto">
          <a:xfrm>
            <a:off x="3996690" y="2138680"/>
            <a:ext cx="267970" cy="1661160"/>
          </a:xfrm>
          <a:prstGeom prst="leftBrace">
            <a:avLst>
              <a:gd name="adj1" fmla="val 61499"/>
              <a:gd name="adj2" fmla="val 50000"/>
            </a:avLst>
          </a:prstGeom>
          <a:noFill/>
          <a:ln w="19050" algn="ctr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95580" indent="-19558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Char char="•"/>
            </a:pPr>
            <a:endParaRPr lang="zh-CN" altLang="en-US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4340860" y="1567180"/>
            <a:ext cx="4164965" cy="64897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算术逻辑运算器（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ALU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4321810" y="2074545"/>
            <a:ext cx="4791710" cy="64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状态标志寄存器（</a:t>
            </a: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FLAGS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）</a:t>
            </a:r>
            <a:endParaRPr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 </a:t>
            </a:r>
            <a:endParaRPr lang="zh-CN" altLang="en-US" sz="2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331172" y="3508058"/>
            <a:ext cx="23558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latin typeface="+mn-ea"/>
                <a:ea typeface="+mn-ea"/>
                <a:cs typeface="+mn-ea"/>
                <a:sym typeface="+mn-lt"/>
              </a:rPr>
              <a:t>EU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控制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单元</a:t>
            </a:r>
            <a:endParaRPr lang="zh-CN" altLang="en-US" sz="2800" dirty="0"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4407535" y="3961130"/>
            <a:ext cx="3678555" cy="64897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指令队列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缓冲器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4377055" y="4538980"/>
            <a:ext cx="4582795" cy="64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16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位指令指针和段寄存器</a:t>
            </a: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IP</a:t>
            </a:r>
            <a:endParaRPr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 </a:t>
            </a:r>
            <a:endParaRPr lang="zh-CN" altLang="en-US" sz="2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4396105" y="5094605"/>
            <a:ext cx="4476115" cy="64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地址产生器和段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寄存器</a:t>
            </a:r>
            <a:endParaRPr lang="zh-CN" altLang="en-US" sz="2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左大括号 14"/>
          <p:cNvSpPr/>
          <p:nvPr/>
        </p:nvSpPr>
        <p:spPr bwMode="auto">
          <a:xfrm>
            <a:off x="4048760" y="4287520"/>
            <a:ext cx="267970" cy="1804670"/>
          </a:xfrm>
          <a:prstGeom prst="leftBrace">
            <a:avLst>
              <a:gd name="adj1" fmla="val 61499"/>
              <a:gd name="adj2" fmla="val 50000"/>
            </a:avLst>
          </a:prstGeom>
          <a:noFill/>
          <a:ln w="19050" algn="ctr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95580" indent="-19558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Char char="•"/>
            </a:pPr>
            <a:endParaRPr lang="zh-CN" altLang="en-US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361815" y="2597785"/>
            <a:ext cx="4164965" cy="64897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暂存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寄存器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335145" y="3053080"/>
            <a:ext cx="4164965" cy="64897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通用寄存器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组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450715" y="5690235"/>
            <a:ext cx="3678555" cy="64897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t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总线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控制逻辑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" grpId="0" bldLvl="0" animBg="1"/>
      <p:bldP spid="17" grpId="0" bldLvl="0" animBg="1"/>
      <p:bldP spid="18" grpId="0"/>
      <p:bldP spid="19" grpId="0"/>
      <p:bldP spid="20" grpId="0"/>
      <p:bldP spid="22" grpId="0"/>
      <p:bldP spid="23" grpId="0"/>
      <p:bldP spid="24" grpId="0"/>
      <p:bldP spid="15" grpId="0" bldLvl="0" animBg="1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8435" name="Group 109"/>
          <p:cNvGrpSpPr/>
          <p:nvPr/>
        </p:nvGrpSpPr>
        <p:grpSpPr bwMode="auto">
          <a:xfrm>
            <a:off x="152400" y="152400"/>
            <a:ext cx="8991600" cy="6569076"/>
            <a:chOff x="96" y="96"/>
            <a:chExt cx="5664" cy="4138"/>
          </a:xfrm>
        </p:grpSpPr>
        <p:sp>
          <p:nvSpPr>
            <p:cNvPr id="18450" name="Rectangle 110"/>
            <p:cNvSpPr>
              <a:spLocks noChangeArrowheads="1"/>
            </p:cNvSpPr>
            <p:nvPr/>
          </p:nvSpPr>
          <p:spPr bwMode="auto">
            <a:xfrm>
              <a:off x="912" y="576"/>
              <a:ext cx="864" cy="1536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1" name="Line 111"/>
            <p:cNvSpPr>
              <a:spLocks noChangeShapeType="1"/>
            </p:cNvSpPr>
            <p:nvPr/>
          </p:nvSpPr>
          <p:spPr bwMode="auto">
            <a:xfrm>
              <a:off x="912" y="172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2" name="Line 112"/>
            <p:cNvSpPr>
              <a:spLocks noChangeShapeType="1"/>
            </p:cNvSpPr>
            <p:nvPr/>
          </p:nvSpPr>
          <p:spPr bwMode="auto">
            <a:xfrm>
              <a:off x="912" y="192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3" name="Line 113"/>
            <p:cNvSpPr>
              <a:spLocks noChangeShapeType="1"/>
            </p:cNvSpPr>
            <p:nvPr/>
          </p:nvSpPr>
          <p:spPr bwMode="auto">
            <a:xfrm>
              <a:off x="912" y="76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4" name="Line 114"/>
            <p:cNvSpPr>
              <a:spLocks noChangeShapeType="1"/>
            </p:cNvSpPr>
            <p:nvPr/>
          </p:nvSpPr>
          <p:spPr bwMode="auto">
            <a:xfrm>
              <a:off x="912" y="96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5" name="Line 115"/>
            <p:cNvSpPr>
              <a:spLocks noChangeShapeType="1"/>
            </p:cNvSpPr>
            <p:nvPr/>
          </p:nvSpPr>
          <p:spPr bwMode="auto">
            <a:xfrm>
              <a:off x="912" y="1152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6" name="Line 116"/>
            <p:cNvSpPr>
              <a:spLocks noChangeShapeType="1"/>
            </p:cNvSpPr>
            <p:nvPr/>
          </p:nvSpPr>
          <p:spPr bwMode="auto">
            <a:xfrm>
              <a:off x="912" y="1344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7" name="Line 117"/>
            <p:cNvSpPr>
              <a:spLocks noChangeShapeType="1"/>
            </p:cNvSpPr>
            <p:nvPr/>
          </p:nvSpPr>
          <p:spPr bwMode="auto">
            <a:xfrm>
              <a:off x="912" y="1536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8" name="Line 118"/>
            <p:cNvSpPr>
              <a:spLocks noChangeShapeType="1"/>
            </p:cNvSpPr>
            <p:nvPr/>
          </p:nvSpPr>
          <p:spPr bwMode="auto">
            <a:xfrm>
              <a:off x="1344" y="576"/>
              <a:ext cx="0" cy="768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59" name="Freeform 119"/>
            <p:cNvSpPr/>
            <p:nvPr/>
          </p:nvSpPr>
          <p:spPr bwMode="auto">
            <a:xfrm>
              <a:off x="768" y="2784"/>
              <a:ext cx="1200" cy="480"/>
            </a:xfrm>
            <a:custGeom>
              <a:avLst/>
              <a:gdLst>
                <a:gd name="T0" fmla="*/ 0 w 1200"/>
                <a:gd name="T1" fmla="*/ 0 h 480"/>
                <a:gd name="T2" fmla="*/ 384 w 1200"/>
                <a:gd name="T3" fmla="*/ 0 h 480"/>
                <a:gd name="T4" fmla="*/ 480 w 1200"/>
                <a:gd name="T5" fmla="*/ 192 h 480"/>
                <a:gd name="T6" fmla="*/ 720 w 1200"/>
                <a:gd name="T7" fmla="*/ 192 h 480"/>
                <a:gd name="T8" fmla="*/ 816 w 1200"/>
                <a:gd name="T9" fmla="*/ 0 h 480"/>
                <a:gd name="T10" fmla="*/ 1200 w 1200"/>
                <a:gd name="T11" fmla="*/ 0 h 480"/>
                <a:gd name="T12" fmla="*/ 912 w 1200"/>
                <a:gd name="T13" fmla="*/ 480 h 480"/>
                <a:gd name="T14" fmla="*/ 240 w 1200"/>
                <a:gd name="T15" fmla="*/ 480 h 480"/>
                <a:gd name="T16" fmla="*/ 0 w 1200"/>
                <a:gd name="T17" fmla="*/ 0 h 4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00" h="480">
                  <a:moveTo>
                    <a:pt x="0" y="0"/>
                  </a:moveTo>
                  <a:lnTo>
                    <a:pt x="384" y="0"/>
                  </a:lnTo>
                  <a:lnTo>
                    <a:pt x="480" y="192"/>
                  </a:lnTo>
                  <a:lnTo>
                    <a:pt x="720" y="192"/>
                  </a:lnTo>
                  <a:lnTo>
                    <a:pt x="816" y="0"/>
                  </a:lnTo>
                  <a:lnTo>
                    <a:pt x="1200" y="0"/>
                  </a:lnTo>
                  <a:lnTo>
                    <a:pt x="912" y="480"/>
                  </a:lnTo>
                  <a:lnTo>
                    <a:pt x="240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0" name="Line 120"/>
            <p:cNvSpPr>
              <a:spLocks noChangeShapeType="1"/>
            </p:cNvSpPr>
            <p:nvPr/>
          </p:nvSpPr>
          <p:spPr bwMode="auto">
            <a:xfrm>
              <a:off x="1344" y="2112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1" name="Line 121"/>
            <p:cNvSpPr>
              <a:spLocks noChangeShapeType="1"/>
            </p:cNvSpPr>
            <p:nvPr/>
          </p:nvSpPr>
          <p:spPr bwMode="auto">
            <a:xfrm>
              <a:off x="1008" y="2448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2" name="Line 122"/>
            <p:cNvSpPr>
              <a:spLocks noChangeShapeType="1"/>
            </p:cNvSpPr>
            <p:nvPr/>
          </p:nvSpPr>
          <p:spPr bwMode="auto">
            <a:xfrm>
              <a:off x="1776" y="2448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3" name="Rectangle 123"/>
            <p:cNvSpPr>
              <a:spLocks noChangeArrowheads="1"/>
            </p:cNvSpPr>
            <p:nvPr/>
          </p:nvSpPr>
          <p:spPr bwMode="auto">
            <a:xfrm>
              <a:off x="864" y="3648"/>
              <a:ext cx="1056" cy="24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4" name="Line 124"/>
            <p:cNvSpPr>
              <a:spLocks noChangeShapeType="1"/>
            </p:cNvSpPr>
            <p:nvPr/>
          </p:nvSpPr>
          <p:spPr bwMode="auto">
            <a:xfrm>
              <a:off x="1536" y="3264"/>
              <a:ext cx="0" cy="38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5" name="Line 125"/>
            <p:cNvSpPr>
              <a:spLocks noChangeShapeType="1"/>
            </p:cNvSpPr>
            <p:nvPr/>
          </p:nvSpPr>
          <p:spPr bwMode="auto">
            <a:xfrm>
              <a:off x="624" y="2448"/>
              <a:ext cx="0" cy="100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6" name="Line 126"/>
            <p:cNvSpPr>
              <a:spLocks noChangeShapeType="1"/>
            </p:cNvSpPr>
            <p:nvPr/>
          </p:nvSpPr>
          <p:spPr bwMode="auto">
            <a:xfrm>
              <a:off x="624" y="3436"/>
              <a:ext cx="576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7" name="Line 127"/>
            <p:cNvSpPr>
              <a:spLocks noChangeShapeType="1"/>
            </p:cNvSpPr>
            <p:nvPr/>
          </p:nvSpPr>
          <p:spPr bwMode="auto">
            <a:xfrm>
              <a:off x="1200" y="3264"/>
              <a:ext cx="0" cy="192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8" name="Line 128"/>
            <p:cNvSpPr>
              <a:spLocks noChangeShapeType="1"/>
            </p:cNvSpPr>
            <p:nvPr/>
          </p:nvSpPr>
          <p:spPr bwMode="auto">
            <a:xfrm>
              <a:off x="96" y="2448"/>
              <a:ext cx="3264" cy="0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69" name="Line 129"/>
            <p:cNvSpPr>
              <a:spLocks noChangeShapeType="1"/>
            </p:cNvSpPr>
            <p:nvPr/>
          </p:nvSpPr>
          <p:spPr bwMode="auto">
            <a:xfrm>
              <a:off x="288" y="2448"/>
              <a:ext cx="0" cy="168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0" name="Line 130"/>
            <p:cNvSpPr>
              <a:spLocks noChangeShapeType="1"/>
            </p:cNvSpPr>
            <p:nvPr/>
          </p:nvSpPr>
          <p:spPr bwMode="auto">
            <a:xfrm>
              <a:off x="288" y="4108"/>
              <a:ext cx="1152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1" name="Line 131"/>
            <p:cNvSpPr>
              <a:spLocks noChangeShapeType="1"/>
            </p:cNvSpPr>
            <p:nvPr/>
          </p:nvSpPr>
          <p:spPr bwMode="auto">
            <a:xfrm>
              <a:off x="1440" y="3888"/>
              <a:ext cx="0" cy="24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2" name="Freeform 132">
              <a:hlinkClick r:id="rId1"/>
            </p:cNvPr>
            <p:cNvSpPr/>
            <p:nvPr/>
          </p:nvSpPr>
          <p:spPr bwMode="auto">
            <a:xfrm>
              <a:off x="3360" y="384"/>
              <a:ext cx="1008" cy="384"/>
            </a:xfrm>
            <a:custGeom>
              <a:avLst/>
              <a:gdLst>
                <a:gd name="T0" fmla="*/ 0 w 1008"/>
                <a:gd name="T1" fmla="*/ 384 h 384"/>
                <a:gd name="T2" fmla="*/ 288 w 1008"/>
                <a:gd name="T3" fmla="*/ 384 h 384"/>
                <a:gd name="T4" fmla="*/ 384 w 1008"/>
                <a:gd name="T5" fmla="*/ 192 h 384"/>
                <a:gd name="T6" fmla="*/ 624 w 1008"/>
                <a:gd name="T7" fmla="*/ 192 h 384"/>
                <a:gd name="T8" fmla="*/ 720 w 1008"/>
                <a:gd name="T9" fmla="*/ 384 h 384"/>
                <a:gd name="T10" fmla="*/ 1008 w 1008"/>
                <a:gd name="T11" fmla="*/ 384 h 384"/>
                <a:gd name="T12" fmla="*/ 816 w 1008"/>
                <a:gd name="T13" fmla="*/ 0 h 384"/>
                <a:gd name="T14" fmla="*/ 144 w 1008"/>
                <a:gd name="T15" fmla="*/ 0 h 384"/>
                <a:gd name="T16" fmla="*/ 0 w 1008"/>
                <a:gd name="T17" fmla="*/ 384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08" h="384">
                  <a:moveTo>
                    <a:pt x="0" y="384"/>
                  </a:moveTo>
                  <a:lnTo>
                    <a:pt x="288" y="384"/>
                  </a:lnTo>
                  <a:lnTo>
                    <a:pt x="384" y="192"/>
                  </a:lnTo>
                  <a:lnTo>
                    <a:pt x="624" y="192"/>
                  </a:lnTo>
                  <a:lnTo>
                    <a:pt x="720" y="384"/>
                  </a:lnTo>
                  <a:lnTo>
                    <a:pt x="1008" y="384"/>
                  </a:lnTo>
                  <a:lnTo>
                    <a:pt x="816" y="0"/>
                  </a:lnTo>
                  <a:lnTo>
                    <a:pt x="144" y="0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B2B2B2"/>
            </a:solidFill>
            <a:ln w="127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3" name="Rectangle 133"/>
            <p:cNvSpPr>
              <a:spLocks noChangeArrowheads="1"/>
            </p:cNvSpPr>
            <p:nvPr/>
          </p:nvSpPr>
          <p:spPr bwMode="auto">
            <a:xfrm>
              <a:off x="3456" y="1056"/>
              <a:ext cx="864" cy="1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180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4" name="Line 134"/>
            <p:cNvSpPr>
              <a:spLocks noChangeShapeType="1"/>
            </p:cNvSpPr>
            <p:nvPr/>
          </p:nvSpPr>
          <p:spPr bwMode="auto">
            <a:xfrm>
              <a:off x="3456" y="1824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5" name="Line 135"/>
            <p:cNvSpPr>
              <a:spLocks noChangeShapeType="1"/>
            </p:cNvSpPr>
            <p:nvPr/>
          </p:nvSpPr>
          <p:spPr bwMode="auto">
            <a:xfrm>
              <a:off x="3456" y="1632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6" name="Line 136"/>
            <p:cNvSpPr>
              <a:spLocks noChangeShapeType="1"/>
            </p:cNvSpPr>
            <p:nvPr/>
          </p:nvSpPr>
          <p:spPr bwMode="auto">
            <a:xfrm>
              <a:off x="3456" y="124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7" name="Line 137"/>
            <p:cNvSpPr>
              <a:spLocks noChangeShapeType="1"/>
            </p:cNvSpPr>
            <p:nvPr/>
          </p:nvSpPr>
          <p:spPr bwMode="auto">
            <a:xfrm>
              <a:off x="3456" y="144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8" name="Line 138"/>
            <p:cNvSpPr>
              <a:spLocks noChangeShapeType="1"/>
            </p:cNvSpPr>
            <p:nvPr/>
          </p:nvSpPr>
          <p:spPr bwMode="auto">
            <a:xfrm>
              <a:off x="3456" y="2016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79" name="Rectangle 139"/>
            <p:cNvSpPr>
              <a:spLocks noChangeArrowheads="1"/>
            </p:cNvSpPr>
            <p:nvPr/>
          </p:nvSpPr>
          <p:spPr bwMode="auto">
            <a:xfrm>
              <a:off x="2208" y="2784"/>
              <a:ext cx="720" cy="48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0" name="Rectangle 140"/>
            <p:cNvSpPr>
              <a:spLocks noChangeArrowheads="1"/>
            </p:cNvSpPr>
            <p:nvPr/>
          </p:nvSpPr>
          <p:spPr bwMode="auto">
            <a:xfrm>
              <a:off x="3360" y="2880"/>
              <a:ext cx="864" cy="2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1" name="Rectangle 141"/>
            <p:cNvSpPr>
              <a:spLocks noChangeArrowheads="1"/>
            </p:cNvSpPr>
            <p:nvPr/>
          </p:nvSpPr>
          <p:spPr bwMode="auto">
            <a:xfrm>
              <a:off x="4560" y="1392"/>
              <a:ext cx="720" cy="528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2" name="Line 142"/>
            <p:cNvSpPr>
              <a:spLocks noChangeShapeType="1"/>
            </p:cNvSpPr>
            <p:nvPr/>
          </p:nvSpPr>
          <p:spPr bwMode="auto">
            <a:xfrm>
              <a:off x="5280" y="1680"/>
              <a:ext cx="480" cy="0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3" name="Line 143"/>
            <p:cNvSpPr>
              <a:spLocks noChangeShapeType="1"/>
            </p:cNvSpPr>
            <p:nvPr/>
          </p:nvSpPr>
          <p:spPr bwMode="auto">
            <a:xfrm>
              <a:off x="5040" y="96"/>
              <a:ext cx="0" cy="1296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4" name="Line 144"/>
            <p:cNvSpPr>
              <a:spLocks noChangeShapeType="1"/>
            </p:cNvSpPr>
            <p:nvPr/>
          </p:nvSpPr>
          <p:spPr bwMode="auto">
            <a:xfrm>
              <a:off x="3840" y="240"/>
              <a:ext cx="1152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5" name="Line 145"/>
            <p:cNvSpPr>
              <a:spLocks noChangeShapeType="1"/>
            </p:cNvSpPr>
            <p:nvPr/>
          </p:nvSpPr>
          <p:spPr bwMode="auto">
            <a:xfrm>
              <a:off x="3840" y="216"/>
              <a:ext cx="0" cy="16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6" name="Line 146"/>
            <p:cNvSpPr>
              <a:spLocks noChangeShapeType="1"/>
            </p:cNvSpPr>
            <p:nvPr/>
          </p:nvSpPr>
          <p:spPr bwMode="auto">
            <a:xfrm>
              <a:off x="3552" y="768"/>
              <a:ext cx="0" cy="28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7" name="Line 147"/>
            <p:cNvSpPr>
              <a:spLocks noChangeShapeType="1"/>
            </p:cNvSpPr>
            <p:nvPr/>
          </p:nvSpPr>
          <p:spPr bwMode="auto">
            <a:xfrm>
              <a:off x="4176" y="768"/>
              <a:ext cx="0" cy="28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8" name="Line 148"/>
            <p:cNvSpPr>
              <a:spLocks noChangeShapeType="1"/>
            </p:cNvSpPr>
            <p:nvPr/>
          </p:nvSpPr>
          <p:spPr bwMode="auto">
            <a:xfrm>
              <a:off x="4176" y="912"/>
              <a:ext cx="864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89" name="Text Box 149"/>
            <p:cNvSpPr txBox="1">
              <a:spLocks noChangeArrowheads="1"/>
            </p:cNvSpPr>
            <p:nvPr/>
          </p:nvSpPr>
          <p:spPr bwMode="auto">
            <a:xfrm>
              <a:off x="3484" y="2025"/>
              <a:ext cx="8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>
                  <a:latin typeface="+mn-lt"/>
                  <a:ea typeface="+mn-ea"/>
                  <a:cs typeface="+mn-ea"/>
                  <a:sym typeface="+mn-lt"/>
                </a:rPr>
                <a:t>内部暂存器</a:t>
              </a:r>
              <a:endParaRPr lang="zh-CN" altLang="en-US" sz="180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0" name="Text Box 150"/>
            <p:cNvSpPr txBox="1">
              <a:spLocks noChangeArrowheads="1"/>
            </p:cNvSpPr>
            <p:nvPr/>
          </p:nvSpPr>
          <p:spPr bwMode="auto">
            <a:xfrm>
              <a:off x="3504" y="1824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180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      </a:t>
              </a: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IP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1" name="Text Box 151"/>
            <p:cNvSpPr txBox="1">
              <a:spLocks noChangeArrowheads="1"/>
            </p:cNvSpPr>
            <p:nvPr/>
          </p:nvSpPr>
          <p:spPr bwMode="auto">
            <a:xfrm>
              <a:off x="3552" y="1632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    </a:t>
              </a: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ES</a:t>
              </a:r>
              <a:endParaRPr lang="en-US" altLang="zh-CN" sz="1800" i="1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2" name="Text Box 152"/>
            <p:cNvSpPr txBox="1">
              <a:spLocks noChangeArrowheads="1"/>
            </p:cNvSpPr>
            <p:nvPr/>
          </p:nvSpPr>
          <p:spPr bwMode="auto">
            <a:xfrm>
              <a:off x="3648" y="1440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SS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3" name="Text Box 153"/>
            <p:cNvSpPr txBox="1">
              <a:spLocks noChangeArrowheads="1"/>
            </p:cNvSpPr>
            <p:nvPr/>
          </p:nvSpPr>
          <p:spPr bwMode="auto">
            <a:xfrm>
              <a:off x="3648" y="1248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DS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4" name="Text Box 154"/>
            <p:cNvSpPr txBox="1">
              <a:spLocks noChangeArrowheads="1"/>
            </p:cNvSpPr>
            <p:nvPr/>
          </p:nvSpPr>
          <p:spPr bwMode="auto">
            <a:xfrm>
              <a:off x="3648" y="1056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CS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5" name="Text Box 155"/>
            <p:cNvSpPr txBox="1">
              <a:spLocks noChangeArrowheads="1"/>
            </p:cNvSpPr>
            <p:nvPr/>
          </p:nvSpPr>
          <p:spPr bwMode="auto">
            <a:xfrm>
              <a:off x="4552" y="1459"/>
              <a:ext cx="8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+mn-lt"/>
                  <a:ea typeface="+mn-ea"/>
                  <a:cs typeface="+mn-ea"/>
                  <a:sym typeface="+mn-lt"/>
                </a:rPr>
                <a:t>输入</a:t>
              </a:r>
              <a:r>
                <a:rPr lang="en-US" altLang="zh-CN" sz="1800" dirty="0">
                  <a:latin typeface="+mn-lt"/>
                  <a:ea typeface="+mn-ea"/>
                  <a:cs typeface="+mn-ea"/>
                  <a:sym typeface="+mn-lt"/>
                </a:rPr>
                <a:t>/</a:t>
              </a:r>
              <a:r>
                <a:rPr lang="zh-CN" altLang="en-US" sz="1800" dirty="0">
                  <a:latin typeface="+mn-lt"/>
                  <a:ea typeface="+mn-ea"/>
                  <a:cs typeface="+mn-ea"/>
                  <a:sym typeface="+mn-lt"/>
                </a:rPr>
                <a:t>输出控制电路</a:t>
              </a:r>
              <a:endParaRPr lang="zh-CN" altLang="en-US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6" name="Text Box 156"/>
            <p:cNvSpPr txBox="1">
              <a:spLocks noChangeArrowheads="1"/>
            </p:cNvSpPr>
            <p:nvPr/>
          </p:nvSpPr>
          <p:spPr bwMode="auto">
            <a:xfrm>
              <a:off x="5469" y="1872"/>
              <a:ext cx="291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latin typeface="+mn-lt"/>
                  <a:ea typeface="+mn-ea"/>
                  <a:cs typeface="+mn-ea"/>
                  <a:sym typeface="+mn-lt"/>
                </a:rPr>
                <a:t>外部总线</a:t>
              </a:r>
              <a:endParaRPr lang="zh-CN" altLang="en-US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7" name="Line 157"/>
            <p:cNvSpPr>
              <a:spLocks noChangeShapeType="1"/>
            </p:cNvSpPr>
            <p:nvPr/>
          </p:nvSpPr>
          <p:spPr bwMode="auto">
            <a:xfrm>
              <a:off x="2928" y="3024"/>
              <a:ext cx="432" cy="0"/>
            </a:xfrm>
            <a:prstGeom prst="line">
              <a:avLst/>
            </a:prstGeom>
            <a:noFill/>
            <a:ln w="95250">
              <a:solidFill>
                <a:srgbClr val="996600"/>
              </a:solidFill>
              <a:round/>
              <a:head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8" name="Line 158"/>
            <p:cNvSpPr>
              <a:spLocks noChangeShapeType="1"/>
            </p:cNvSpPr>
            <p:nvPr/>
          </p:nvSpPr>
          <p:spPr bwMode="auto">
            <a:xfrm>
              <a:off x="5040" y="1920"/>
              <a:ext cx="0" cy="1134"/>
            </a:xfrm>
            <a:prstGeom prst="line">
              <a:avLst/>
            </a:prstGeom>
            <a:noFill/>
            <a:ln w="101600">
              <a:solidFill>
                <a:srgbClr val="99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99" name="Line 159"/>
            <p:cNvSpPr>
              <a:spLocks noChangeShapeType="1"/>
            </p:cNvSpPr>
            <p:nvPr/>
          </p:nvSpPr>
          <p:spPr bwMode="auto">
            <a:xfrm>
              <a:off x="4224" y="3024"/>
              <a:ext cx="816" cy="0"/>
            </a:xfrm>
            <a:prstGeom prst="line">
              <a:avLst/>
            </a:prstGeom>
            <a:noFill/>
            <a:ln w="95250">
              <a:solidFill>
                <a:srgbClr val="996600"/>
              </a:solidFill>
              <a:round/>
              <a:head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0" name="Line 160"/>
            <p:cNvSpPr>
              <a:spLocks noChangeShapeType="1"/>
            </p:cNvSpPr>
            <p:nvPr/>
          </p:nvSpPr>
          <p:spPr bwMode="auto">
            <a:xfrm>
              <a:off x="3216" y="2448"/>
              <a:ext cx="0" cy="576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1" name="Line 161"/>
            <p:cNvSpPr>
              <a:spLocks noChangeShapeType="1"/>
            </p:cNvSpPr>
            <p:nvPr/>
          </p:nvSpPr>
          <p:spPr bwMode="auto">
            <a:xfrm>
              <a:off x="3120" y="2160"/>
              <a:ext cx="336" cy="0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2" name="Line 162"/>
            <p:cNvSpPr>
              <a:spLocks noChangeShapeType="1"/>
            </p:cNvSpPr>
            <p:nvPr/>
          </p:nvSpPr>
          <p:spPr bwMode="auto">
            <a:xfrm flipH="1">
              <a:off x="3120" y="2160"/>
              <a:ext cx="1" cy="240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3" name="Text Box 163"/>
            <p:cNvSpPr txBox="1">
              <a:spLocks noChangeArrowheads="1"/>
            </p:cNvSpPr>
            <p:nvPr/>
          </p:nvSpPr>
          <p:spPr bwMode="auto">
            <a:xfrm>
              <a:off x="2220" y="2832"/>
              <a:ext cx="71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+mn-lt"/>
                  <a:ea typeface="+mn-ea"/>
                  <a:cs typeface="+mn-ea"/>
                  <a:sym typeface="+mn-lt"/>
                </a:rPr>
                <a:t>执行部分控制电路</a:t>
              </a:r>
              <a:endParaRPr lang="zh-CN" altLang="en-US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4" name="Line 164"/>
            <p:cNvSpPr>
              <a:spLocks noChangeShapeType="1"/>
            </p:cNvSpPr>
            <p:nvPr/>
          </p:nvSpPr>
          <p:spPr bwMode="auto">
            <a:xfrm>
              <a:off x="2112" y="2256"/>
              <a:ext cx="0" cy="14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5" name="Line 165"/>
            <p:cNvSpPr>
              <a:spLocks noChangeShapeType="1"/>
            </p:cNvSpPr>
            <p:nvPr/>
          </p:nvSpPr>
          <p:spPr bwMode="auto">
            <a:xfrm>
              <a:off x="1680" y="2256"/>
              <a:ext cx="432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6" name="Line 166"/>
            <p:cNvSpPr>
              <a:spLocks noChangeShapeType="1"/>
            </p:cNvSpPr>
            <p:nvPr/>
          </p:nvSpPr>
          <p:spPr bwMode="auto">
            <a:xfrm>
              <a:off x="1680" y="2112"/>
              <a:ext cx="0" cy="14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7" name="Line 167"/>
            <p:cNvSpPr>
              <a:spLocks noChangeShapeType="1"/>
            </p:cNvSpPr>
            <p:nvPr/>
          </p:nvSpPr>
          <p:spPr bwMode="auto">
            <a:xfrm>
              <a:off x="1824" y="3024"/>
              <a:ext cx="384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8" name="Line 168"/>
            <p:cNvSpPr>
              <a:spLocks noChangeShapeType="1"/>
            </p:cNvSpPr>
            <p:nvPr/>
          </p:nvSpPr>
          <p:spPr bwMode="auto">
            <a:xfrm>
              <a:off x="1920" y="3744"/>
              <a:ext cx="192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09" name="Line 169"/>
            <p:cNvSpPr>
              <a:spLocks noChangeShapeType="1"/>
            </p:cNvSpPr>
            <p:nvPr/>
          </p:nvSpPr>
          <p:spPr bwMode="auto">
            <a:xfrm>
              <a:off x="3504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0" name="Line 170"/>
            <p:cNvSpPr>
              <a:spLocks noChangeShapeType="1"/>
            </p:cNvSpPr>
            <p:nvPr/>
          </p:nvSpPr>
          <p:spPr bwMode="auto">
            <a:xfrm>
              <a:off x="3648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1" name="Line 171"/>
            <p:cNvSpPr>
              <a:spLocks noChangeShapeType="1"/>
            </p:cNvSpPr>
            <p:nvPr/>
          </p:nvSpPr>
          <p:spPr bwMode="auto">
            <a:xfrm>
              <a:off x="3792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2" name="Line 172"/>
            <p:cNvSpPr>
              <a:spLocks noChangeShapeType="1"/>
            </p:cNvSpPr>
            <p:nvPr/>
          </p:nvSpPr>
          <p:spPr bwMode="auto">
            <a:xfrm>
              <a:off x="3936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3" name="Line 173"/>
            <p:cNvSpPr>
              <a:spLocks noChangeShapeType="1"/>
            </p:cNvSpPr>
            <p:nvPr/>
          </p:nvSpPr>
          <p:spPr bwMode="auto">
            <a:xfrm>
              <a:off x="4080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4" name="Text Box 174"/>
            <p:cNvSpPr txBox="1">
              <a:spLocks noChangeArrowheads="1"/>
            </p:cNvSpPr>
            <p:nvPr/>
          </p:nvSpPr>
          <p:spPr bwMode="auto">
            <a:xfrm>
              <a:off x="3344" y="2928"/>
              <a:ext cx="92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700" dirty="0">
                  <a:latin typeface="+mn-lt"/>
                  <a:ea typeface="+mn-ea"/>
                  <a:cs typeface="+mn-ea"/>
                  <a:sym typeface="+mn-lt"/>
                </a:rPr>
                <a:t>1 2  3  4  5  6</a:t>
              </a:r>
              <a:endParaRPr lang="en-US" altLang="zh-CN" sz="17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5" name="Line 175"/>
            <p:cNvSpPr>
              <a:spLocks noChangeShapeType="1"/>
            </p:cNvSpPr>
            <p:nvPr/>
          </p:nvSpPr>
          <p:spPr bwMode="auto">
            <a:xfrm>
              <a:off x="3024" y="480"/>
              <a:ext cx="0" cy="3696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prstDash val="lgDashDot"/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6" name="Line 176"/>
            <p:cNvSpPr>
              <a:spLocks noChangeShapeType="1"/>
            </p:cNvSpPr>
            <p:nvPr/>
          </p:nvSpPr>
          <p:spPr bwMode="auto">
            <a:xfrm>
              <a:off x="5472" y="144"/>
              <a:ext cx="0" cy="3984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prstDash val="lgDashDot"/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7" name="Text Box 177"/>
            <p:cNvSpPr txBox="1">
              <a:spLocks noChangeArrowheads="1"/>
            </p:cNvSpPr>
            <p:nvPr/>
          </p:nvSpPr>
          <p:spPr bwMode="auto">
            <a:xfrm>
              <a:off x="3717" y="33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+mn-lt"/>
                  <a:ea typeface="+mn-ea"/>
                  <a:cs typeface="+mn-ea"/>
                  <a:sym typeface="+mn-lt"/>
                </a:rPr>
                <a:t>∑</a:t>
              </a:r>
              <a:endParaRPr lang="en-US" altLang="zh-CN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8" name="Text Box 178"/>
            <p:cNvSpPr txBox="1">
              <a:spLocks noChangeArrowheads="1"/>
            </p:cNvSpPr>
            <p:nvPr/>
          </p:nvSpPr>
          <p:spPr bwMode="auto">
            <a:xfrm>
              <a:off x="1104" y="297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+mn-lt"/>
                  <a:ea typeface="+mn-ea"/>
                  <a:cs typeface="+mn-ea"/>
                  <a:sym typeface="+mn-lt"/>
                </a:rPr>
                <a:t>ALU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19" name="Text Box 179"/>
            <p:cNvSpPr txBox="1">
              <a:spLocks noChangeArrowheads="1"/>
            </p:cNvSpPr>
            <p:nvPr/>
          </p:nvSpPr>
          <p:spPr bwMode="auto">
            <a:xfrm>
              <a:off x="912" y="3648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latin typeface="+mn-lt"/>
                  <a:ea typeface="+mn-ea"/>
                  <a:cs typeface="+mn-ea"/>
                  <a:sym typeface="+mn-lt"/>
                </a:rPr>
                <a:t>标志寄存器</a:t>
              </a:r>
              <a:endParaRPr lang="zh-CN" altLang="en-US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0" name="Text Box 180"/>
            <p:cNvSpPr txBox="1">
              <a:spLocks noChangeArrowheads="1"/>
            </p:cNvSpPr>
            <p:nvPr/>
          </p:nvSpPr>
          <p:spPr bwMode="auto">
            <a:xfrm>
              <a:off x="864" y="576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lt"/>
                  <a:ea typeface="+mn-ea"/>
                  <a:cs typeface="+mn-ea"/>
                  <a:sym typeface="+mn-lt"/>
                </a:rPr>
                <a:t>  AH      AL   </a:t>
              </a:r>
              <a:endParaRPr lang="en-US" altLang="zh-CN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1" name="Text Box 181"/>
            <p:cNvSpPr txBox="1">
              <a:spLocks noChangeArrowheads="1"/>
            </p:cNvSpPr>
            <p:nvPr/>
          </p:nvSpPr>
          <p:spPr bwMode="auto">
            <a:xfrm>
              <a:off x="912" y="768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BH      BL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2" name="Text Box 182"/>
            <p:cNvSpPr txBox="1">
              <a:spLocks noChangeArrowheads="1"/>
            </p:cNvSpPr>
            <p:nvPr/>
          </p:nvSpPr>
          <p:spPr bwMode="auto">
            <a:xfrm>
              <a:off x="960" y="960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CH      CL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3" name="Text Box 183"/>
            <p:cNvSpPr txBox="1">
              <a:spLocks noChangeArrowheads="1"/>
            </p:cNvSpPr>
            <p:nvPr/>
          </p:nvSpPr>
          <p:spPr bwMode="auto">
            <a:xfrm>
              <a:off x="912" y="1152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DH      DL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4" name="Text Box 184"/>
            <p:cNvSpPr txBox="1">
              <a:spLocks noChangeArrowheads="1"/>
            </p:cNvSpPr>
            <p:nvPr/>
          </p:nvSpPr>
          <p:spPr bwMode="auto">
            <a:xfrm>
              <a:off x="1056" y="1344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   SP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5" name="Text Box 185"/>
            <p:cNvSpPr txBox="1">
              <a:spLocks noChangeArrowheads="1"/>
            </p:cNvSpPr>
            <p:nvPr/>
          </p:nvSpPr>
          <p:spPr bwMode="auto">
            <a:xfrm>
              <a:off x="1056" y="1536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   BP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6" name="Text Box 186"/>
            <p:cNvSpPr txBox="1">
              <a:spLocks noChangeArrowheads="1"/>
            </p:cNvSpPr>
            <p:nvPr/>
          </p:nvSpPr>
          <p:spPr bwMode="auto">
            <a:xfrm>
              <a:off x="1056" y="1728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   SI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7" name="Text Box 187"/>
            <p:cNvSpPr txBox="1">
              <a:spLocks noChangeArrowheads="1"/>
            </p:cNvSpPr>
            <p:nvPr/>
          </p:nvSpPr>
          <p:spPr bwMode="auto">
            <a:xfrm>
              <a:off x="1104" y="192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lt"/>
                  <a:ea typeface="+mn-ea"/>
                  <a:cs typeface="+mn-ea"/>
                  <a:sym typeface="+mn-lt"/>
                </a:rPr>
                <a:t>   DI</a:t>
              </a:r>
              <a:endParaRPr lang="en-US" altLang="zh-CN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8" name="Text Box 188"/>
            <p:cNvSpPr txBox="1">
              <a:spLocks noChangeArrowheads="1"/>
            </p:cNvSpPr>
            <p:nvPr/>
          </p:nvSpPr>
          <p:spPr bwMode="auto">
            <a:xfrm>
              <a:off x="1872" y="624"/>
              <a:ext cx="96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sz="1800">
                  <a:latin typeface="+mn-lt"/>
                  <a:ea typeface="+mn-ea"/>
                  <a:cs typeface="+mn-ea"/>
                  <a:sym typeface="+mn-lt"/>
                </a:rPr>
                <a:t>通用寄存器</a:t>
              </a:r>
              <a:endParaRPr lang="zh-CN" altLang="en-US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29" name="Text Box 189"/>
            <p:cNvSpPr txBox="1">
              <a:spLocks noChangeArrowheads="1"/>
            </p:cNvSpPr>
            <p:nvPr/>
          </p:nvSpPr>
          <p:spPr bwMode="auto">
            <a:xfrm>
              <a:off x="2784" y="144"/>
              <a:ext cx="10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+mn-lt"/>
                  <a:ea typeface="+mn-ea"/>
                  <a:cs typeface="+mn-ea"/>
                  <a:sym typeface="+mn-lt"/>
                </a:rPr>
                <a:t>地址加法器</a:t>
              </a:r>
              <a:endParaRPr lang="zh-CN" altLang="en-US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0" name="Text Box 190"/>
            <p:cNvSpPr txBox="1">
              <a:spLocks noChangeArrowheads="1"/>
            </p:cNvSpPr>
            <p:nvPr/>
          </p:nvSpPr>
          <p:spPr bwMode="auto">
            <a:xfrm>
              <a:off x="3312" y="3216"/>
              <a:ext cx="1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latin typeface="+mn-lt"/>
                  <a:ea typeface="+mn-ea"/>
                  <a:cs typeface="+mn-ea"/>
                  <a:sym typeface="+mn-lt"/>
                </a:rPr>
                <a:t>指令队列缓冲器</a:t>
              </a:r>
              <a:endParaRPr lang="zh-CN" altLang="en-US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1" name="Text Box 191"/>
            <p:cNvSpPr txBox="1">
              <a:spLocks noChangeArrowheads="1"/>
            </p:cNvSpPr>
            <p:nvPr/>
          </p:nvSpPr>
          <p:spPr bwMode="auto">
            <a:xfrm>
              <a:off x="1648" y="3982"/>
              <a:ext cx="147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00000"/>
                  </a:solidFill>
                  <a:latin typeface="+mn-lt"/>
                  <a:ea typeface="+mn-ea"/>
                  <a:cs typeface="+mn-ea"/>
                  <a:sym typeface="+mn-lt"/>
                </a:rPr>
                <a:t>指令执行部件</a:t>
              </a:r>
              <a:r>
                <a:rPr lang="en-US" altLang="zh-CN" sz="2000" dirty="0">
                  <a:solidFill>
                    <a:srgbClr val="C00000"/>
                  </a:solidFill>
                  <a:latin typeface="+mn-lt"/>
                  <a:ea typeface="+mn-ea"/>
                  <a:cs typeface="+mn-ea"/>
                  <a:sym typeface="+mn-lt"/>
                </a:rPr>
                <a:t>(EU)</a:t>
              </a:r>
              <a:endParaRPr lang="en-US" altLang="zh-CN" sz="20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2" name="Text Box 192"/>
            <p:cNvSpPr txBox="1">
              <a:spLocks noChangeArrowheads="1"/>
            </p:cNvSpPr>
            <p:nvPr/>
          </p:nvSpPr>
          <p:spPr bwMode="auto">
            <a:xfrm>
              <a:off x="3464" y="3962"/>
              <a:ext cx="16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spcBef>
                  <a:spcPct val="50000"/>
                </a:spcBef>
                <a:defRPr sz="2000"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+mn-lt"/>
                  <a:ea typeface="+mn-ea"/>
                  <a:cs typeface="+mn-ea"/>
                  <a:sym typeface="+mn-lt"/>
                </a:rPr>
                <a:t>总线接口部件</a:t>
              </a:r>
              <a:r>
                <a:rPr lang="en-US" altLang="zh-CN" dirty="0">
                  <a:solidFill>
                    <a:srgbClr val="C00000"/>
                  </a:solidFill>
                  <a:latin typeface="+mn-lt"/>
                  <a:ea typeface="+mn-ea"/>
                  <a:cs typeface="+mn-ea"/>
                  <a:sym typeface="+mn-lt"/>
                </a:rPr>
                <a:t>(BIU)</a:t>
              </a:r>
              <a:endPara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3" name="Line 193"/>
            <p:cNvSpPr>
              <a:spLocks noChangeShapeType="1"/>
            </p:cNvSpPr>
            <p:nvPr/>
          </p:nvSpPr>
          <p:spPr bwMode="auto">
            <a:xfrm flipH="1">
              <a:off x="2350" y="2350"/>
              <a:ext cx="240" cy="193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4" name="Text Box 194"/>
            <p:cNvSpPr txBox="1">
              <a:spLocks noChangeArrowheads="1"/>
            </p:cNvSpPr>
            <p:nvPr/>
          </p:nvSpPr>
          <p:spPr bwMode="auto">
            <a:xfrm>
              <a:off x="2352" y="2160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A50021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16</a:t>
              </a:r>
              <a:r>
                <a:rPr lang="zh-CN" altLang="en-US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位</a:t>
              </a:r>
              <a:endParaRPr lang="zh-CN" altLang="en-US" sz="1600">
                <a:solidFill>
                  <a:srgbClr val="0066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5" name="Line 195"/>
            <p:cNvSpPr>
              <a:spLocks noChangeShapeType="1"/>
            </p:cNvSpPr>
            <p:nvPr/>
          </p:nvSpPr>
          <p:spPr bwMode="auto">
            <a:xfrm flipH="1">
              <a:off x="4464" y="144"/>
              <a:ext cx="240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6" name="Text Box 196"/>
            <p:cNvSpPr txBox="1">
              <a:spLocks noChangeArrowheads="1"/>
            </p:cNvSpPr>
            <p:nvPr/>
          </p:nvSpPr>
          <p:spPr bwMode="auto">
            <a:xfrm>
              <a:off x="4368" y="288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A50021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20</a:t>
              </a:r>
              <a:r>
                <a:rPr lang="zh-CN" altLang="en-US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位</a:t>
              </a:r>
              <a:endParaRPr lang="zh-CN" altLang="en-US" sz="1600">
                <a:solidFill>
                  <a:srgbClr val="0066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7" name="Line 197"/>
            <p:cNvSpPr>
              <a:spLocks noChangeShapeType="1"/>
            </p:cNvSpPr>
            <p:nvPr/>
          </p:nvSpPr>
          <p:spPr bwMode="auto">
            <a:xfrm flipH="1">
              <a:off x="4560" y="816"/>
              <a:ext cx="192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8" name="Text Box 198"/>
            <p:cNvSpPr txBox="1">
              <a:spLocks noChangeArrowheads="1"/>
            </p:cNvSpPr>
            <p:nvPr/>
          </p:nvSpPr>
          <p:spPr bwMode="auto">
            <a:xfrm>
              <a:off x="4464" y="96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A50021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16</a:t>
              </a:r>
              <a:r>
                <a:rPr lang="zh-CN" altLang="en-US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位</a:t>
              </a:r>
              <a:endParaRPr lang="zh-CN" altLang="en-US" sz="1600">
                <a:solidFill>
                  <a:srgbClr val="0066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39" name="Line 199"/>
            <p:cNvSpPr>
              <a:spLocks noChangeShapeType="1"/>
            </p:cNvSpPr>
            <p:nvPr/>
          </p:nvSpPr>
          <p:spPr bwMode="auto">
            <a:xfrm flipH="1">
              <a:off x="3120" y="2928"/>
              <a:ext cx="192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540" name="Text Box 200"/>
            <p:cNvSpPr txBox="1">
              <a:spLocks noChangeArrowheads="1"/>
            </p:cNvSpPr>
            <p:nvPr/>
          </p:nvSpPr>
          <p:spPr bwMode="auto">
            <a:xfrm>
              <a:off x="3024" y="30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A50021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8</a:t>
              </a:r>
              <a:r>
                <a:rPr lang="zh-CN" altLang="en-US" sz="1600">
                  <a:solidFill>
                    <a:srgbClr val="0066FF"/>
                  </a:solidFill>
                  <a:latin typeface="+mn-lt"/>
                  <a:ea typeface="+mn-ea"/>
                  <a:cs typeface="+mn-ea"/>
                  <a:sym typeface="+mn-lt"/>
                </a:rPr>
                <a:t>位</a:t>
              </a:r>
              <a:endParaRPr lang="zh-CN" altLang="en-US" sz="1600">
                <a:solidFill>
                  <a:srgbClr val="0066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" name="Text Box 180"/>
            <p:cNvSpPr txBox="1">
              <a:spLocks noChangeArrowheads="1"/>
            </p:cNvSpPr>
            <p:nvPr/>
          </p:nvSpPr>
          <p:spPr bwMode="auto">
            <a:xfrm>
              <a:off x="495" y="543"/>
              <a:ext cx="42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lt"/>
                  <a:ea typeface="+mn-ea"/>
                  <a:cs typeface="+mn-ea"/>
                  <a:sym typeface="+mn-lt"/>
                </a:rPr>
                <a:t>  AX</a:t>
              </a:r>
              <a:endParaRPr lang="en-US" altLang="zh-CN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" name="Text Box 180"/>
            <p:cNvSpPr txBox="1">
              <a:spLocks noChangeArrowheads="1"/>
            </p:cNvSpPr>
            <p:nvPr/>
          </p:nvSpPr>
          <p:spPr bwMode="auto">
            <a:xfrm>
              <a:off x="492" y="735"/>
              <a:ext cx="42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lt"/>
                  <a:ea typeface="+mn-ea"/>
                  <a:cs typeface="+mn-ea"/>
                  <a:sym typeface="+mn-lt"/>
                </a:rPr>
                <a:t>  BX</a:t>
              </a:r>
              <a:endParaRPr lang="en-US" altLang="zh-CN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" name="Text Box 180"/>
            <p:cNvSpPr txBox="1">
              <a:spLocks noChangeArrowheads="1"/>
            </p:cNvSpPr>
            <p:nvPr/>
          </p:nvSpPr>
          <p:spPr bwMode="auto">
            <a:xfrm>
              <a:off x="492" y="936"/>
              <a:ext cx="42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lt"/>
                  <a:ea typeface="+mn-ea"/>
                  <a:cs typeface="+mn-ea"/>
                  <a:sym typeface="+mn-lt"/>
                </a:rPr>
                <a:t>  CX</a:t>
              </a:r>
              <a:endParaRPr lang="en-US" altLang="zh-CN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" name="Text Box 180"/>
            <p:cNvSpPr txBox="1">
              <a:spLocks noChangeArrowheads="1"/>
            </p:cNvSpPr>
            <p:nvPr/>
          </p:nvSpPr>
          <p:spPr bwMode="auto">
            <a:xfrm>
              <a:off x="492" y="1137"/>
              <a:ext cx="42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9966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lt"/>
                  <a:ea typeface="+mn-ea"/>
                  <a:cs typeface="+mn-ea"/>
                  <a:sym typeface="+mn-lt"/>
                </a:rPr>
                <a:t>  DX</a:t>
              </a:r>
              <a:endParaRPr lang="en-US" altLang="zh-CN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4" name="Text Box 189"/>
          <p:cNvSpPr txBox="1">
            <a:spLocks noChangeArrowheads="1"/>
          </p:cNvSpPr>
          <p:nvPr/>
        </p:nvSpPr>
        <p:spPr bwMode="auto">
          <a:xfrm>
            <a:off x="6925494" y="1070031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rgbClr val="9966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数据总线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436" name="Text Box 201"/>
          <p:cNvSpPr txBox="1">
            <a:spLocks noChangeArrowheads="1"/>
          </p:cNvSpPr>
          <p:nvPr/>
        </p:nvSpPr>
        <p:spPr bwMode="auto">
          <a:xfrm>
            <a:off x="285749" y="112713"/>
            <a:ext cx="327818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8086CPU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结构示意图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378" name="AutoShape 202"/>
          <p:cNvSpPr>
            <a:spLocks noChangeArrowheads="1"/>
          </p:cNvSpPr>
          <p:nvPr/>
        </p:nvSpPr>
        <p:spPr bwMode="auto">
          <a:xfrm>
            <a:off x="3057756" y="646747"/>
            <a:ext cx="5691951" cy="1268520"/>
          </a:xfrm>
          <a:prstGeom prst="wedgeRoundRectCallout">
            <a:avLst>
              <a:gd name="adj1" fmla="val -53454"/>
              <a:gd name="adj2" fmla="val 98389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通用寄存器包括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16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位寄存器分别为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AX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BX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CX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DX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SP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BP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SI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DI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；</a:t>
            </a:r>
            <a:endParaRPr lang="en-US" altLang="zh-CN" sz="2000" dirty="0">
              <a:latin typeface="+mn-lt"/>
              <a:ea typeface="+mn-ea"/>
              <a:cs typeface="+mn-ea"/>
              <a:sym typeface="+mn-lt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标志寄存器为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FLAGS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，是一个</a:t>
            </a:r>
            <a:r>
              <a:rPr lang="en-US" altLang="zh-CN" sz="2000" dirty="0">
                <a:latin typeface="+mn-lt"/>
                <a:ea typeface="+mn-ea"/>
                <a:cs typeface="+mn-ea"/>
                <a:sym typeface="+mn-lt"/>
              </a:rPr>
              <a:t>16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位的寄存器。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379" name="Group 203"/>
          <p:cNvGrpSpPr/>
          <p:nvPr/>
        </p:nvGrpSpPr>
        <p:grpSpPr bwMode="auto">
          <a:xfrm>
            <a:off x="2627313" y="1341438"/>
            <a:ext cx="5329237" cy="4464050"/>
            <a:chOff x="1655" y="845"/>
            <a:chExt cx="3357" cy="2812"/>
          </a:xfrm>
        </p:grpSpPr>
        <p:grpSp>
          <p:nvGrpSpPr>
            <p:cNvPr id="18444" name="Group 204"/>
            <p:cNvGrpSpPr/>
            <p:nvPr/>
          </p:nvGrpSpPr>
          <p:grpSpPr bwMode="auto">
            <a:xfrm>
              <a:off x="1655" y="1162"/>
              <a:ext cx="3357" cy="2495"/>
              <a:chOff x="1655" y="1162"/>
              <a:chExt cx="3357" cy="2495"/>
            </a:xfrm>
          </p:grpSpPr>
          <p:sp>
            <p:nvSpPr>
              <p:cNvPr id="18447" name="Line 205"/>
              <p:cNvSpPr>
                <a:spLocks noChangeShapeType="1"/>
              </p:cNvSpPr>
              <p:nvPr/>
            </p:nvSpPr>
            <p:spPr bwMode="auto">
              <a:xfrm flipH="1">
                <a:off x="1655" y="2115"/>
                <a:ext cx="817" cy="1542"/>
              </a:xfrm>
              <a:prstGeom prst="line">
                <a:avLst/>
              </a:prstGeom>
              <a:noFill/>
              <a:ln w="50800">
                <a:solidFill>
                  <a:srgbClr val="00FF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448" name="Line 206"/>
              <p:cNvSpPr>
                <a:spLocks noChangeShapeType="1"/>
              </p:cNvSpPr>
              <p:nvPr/>
            </p:nvSpPr>
            <p:spPr bwMode="auto">
              <a:xfrm>
                <a:off x="2653" y="1979"/>
                <a:ext cx="136" cy="816"/>
              </a:xfrm>
              <a:prstGeom prst="line">
                <a:avLst/>
              </a:prstGeom>
              <a:noFill/>
              <a:ln w="66675">
                <a:solidFill>
                  <a:srgbClr val="00FF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449" name="Text Box 207"/>
              <p:cNvSpPr txBox="1">
                <a:spLocks noChangeArrowheads="1"/>
              </p:cNvSpPr>
              <p:nvPr/>
            </p:nvSpPr>
            <p:spPr bwMode="auto">
              <a:xfrm>
                <a:off x="2109" y="1162"/>
                <a:ext cx="2903" cy="110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30000"/>
                  </a:spcBef>
                </a:pPr>
                <a:r>
                  <a:rPr lang="zh-CN" altLang="en-US" sz="2000" dirty="0">
                    <a:latin typeface="+mn-lt"/>
                    <a:ea typeface="+mn-ea"/>
                    <a:cs typeface="+mn-ea"/>
                    <a:sym typeface="+mn-lt"/>
                  </a:rPr>
                  <a:t>指令执行部件</a:t>
                </a:r>
                <a:endParaRPr lang="zh-CN" altLang="en-US" sz="20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  <a:spcBef>
                    <a:spcPct val="30000"/>
                  </a:spcBef>
                </a:pPr>
                <a:r>
                  <a:rPr lang="zh-CN" altLang="en-US" sz="2000" dirty="0">
                    <a:latin typeface="+mn-lt"/>
                    <a:ea typeface="+mn-ea"/>
                    <a:cs typeface="+mn-ea"/>
                    <a:sym typeface="+mn-lt"/>
                  </a:rPr>
                  <a:t>功能：控制和执行指令</a:t>
                </a:r>
                <a:endParaRPr lang="zh-CN" altLang="en-US" sz="2000" dirty="0">
                  <a:latin typeface="+mn-lt"/>
                  <a:ea typeface="+mn-ea"/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  <a:spcBef>
                    <a:spcPct val="30000"/>
                  </a:spcBef>
                </a:pPr>
                <a:r>
                  <a:rPr lang="zh-CN" altLang="en-US" sz="2000" dirty="0">
                    <a:latin typeface="+mn-lt"/>
                    <a:ea typeface="+mn-ea"/>
                    <a:cs typeface="+mn-ea"/>
                    <a:sym typeface="+mn-lt"/>
                  </a:rPr>
                  <a:t>组成：算术逻辑运算部件</a:t>
                </a:r>
                <a:r>
                  <a:rPr lang="en-US" altLang="zh-CN" sz="2000" dirty="0">
                    <a:latin typeface="+mn-lt"/>
                    <a:ea typeface="+mn-ea"/>
                    <a:cs typeface="+mn-ea"/>
                    <a:sym typeface="+mn-lt"/>
                  </a:rPr>
                  <a:t>ALU</a:t>
                </a:r>
                <a:r>
                  <a:rPr lang="zh-CN" altLang="en-US" sz="2000" dirty="0">
                    <a:latin typeface="+mn-lt"/>
                    <a:ea typeface="+mn-ea"/>
                    <a:cs typeface="+mn-ea"/>
                    <a:sym typeface="+mn-lt"/>
                  </a:rPr>
                  <a:t>、</a:t>
                </a:r>
                <a:r>
                  <a:rPr lang="en-US" altLang="zh-CN" sz="2000" dirty="0">
                    <a:latin typeface="+mn-lt"/>
                    <a:ea typeface="+mn-ea"/>
                    <a:cs typeface="+mn-ea"/>
                    <a:sym typeface="+mn-lt"/>
                  </a:rPr>
                  <a:t>EU</a:t>
                </a:r>
                <a:r>
                  <a:rPr lang="zh-CN" altLang="en-US" sz="2000" dirty="0">
                    <a:latin typeface="+mn-lt"/>
                    <a:ea typeface="+mn-ea"/>
                    <a:cs typeface="+mn-ea"/>
                    <a:sym typeface="+mn-lt"/>
                  </a:rPr>
                  <a:t>单元控制系统、寄存器</a:t>
                </a:r>
                <a:endParaRPr lang="zh-CN" altLang="en-US" sz="20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445" name="Line 208"/>
            <p:cNvSpPr>
              <a:spLocks noChangeShapeType="1"/>
            </p:cNvSpPr>
            <p:nvPr/>
          </p:nvSpPr>
          <p:spPr bwMode="auto">
            <a:xfrm flipH="1">
              <a:off x="1837" y="2198"/>
              <a:ext cx="332" cy="597"/>
            </a:xfrm>
            <a:prstGeom prst="line">
              <a:avLst/>
            </a:prstGeom>
            <a:noFill/>
            <a:ln w="66675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46" name="Line 209"/>
            <p:cNvSpPr>
              <a:spLocks noChangeShapeType="1"/>
            </p:cNvSpPr>
            <p:nvPr/>
          </p:nvSpPr>
          <p:spPr bwMode="auto">
            <a:xfrm flipH="1" flipV="1">
              <a:off x="1746" y="845"/>
              <a:ext cx="1089" cy="317"/>
            </a:xfrm>
            <a:prstGeom prst="line">
              <a:avLst/>
            </a:prstGeom>
            <a:noFill/>
            <a:ln w="66675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0386" name="Group 210"/>
          <p:cNvGrpSpPr/>
          <p:nvPr/>
        </p:nvGrpSpPr>
        <p:grpSpPr bwMode="auto">
          <a:xfrm>
            <a:off x="549276" y="948533"/>
            <a:ext cx="4967287" cy="3598862"/>
            <a:chOff x="567" y="709"/>
            <a:chExt cx="3129" cy="2177"/>
          </a:xfrm>
        </p:grpSpPr>
        <p:sp>
          <p:nvSpPr>
            <p:cNvPr id="18440" name="Text Box 211"/>
            <p:cNvSpPr txBox="1">
              <a:spLocks noChangeArrowheads="1"/>
            </p:cNvSpPr>
            <p:nvPr/>
          </p:nvSpPr>
          <p:spPr bwMode="auto">
            <a:xfrm>
              <a:off x="567" y="709"/>
              <a:ext cx="2132" cy="154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60000"/>
                </a:lnSpc>
                <a:buClr>
                  <a:schemeClr val="folHlink"/>
                </a:buClr>
                <a:buSzPct val="85000"/>
                <a:buFont typeface="Wingdings 2" panose="05020102010507070707" pitchFamily="18" charset="2"/>
                <a:buNone/>
              </a:pPr>
              <a:r>
                <a:rPr lang="zh-CN" altLang="en-US" sz="2000" dirty="0">
                  <a:latin typeface="+mn-lt"/>
                  <a:ea typeface="+mn-ea"/>
                  <a:cs typeface="+mn-ea"/>
                  <a:sym typeface="+mn-lt"/>
                </a:rPr>
                <a:t>总线接口部件</a:t>
              </a:r>
              <a:endParaRPr lang="zh-CN" altLang="en-US" sz="2000" dirty="0">
                <a:latin typeface="+mn-lt"/>
                <a:ea typeface="+mn-ea"/>
                <a:cs typeface="+mn-ea"/>
                <a:sym typeface="+mn-lt"/>
              </a:endParaRPr>
            </a:p>
            <a:p>
              <a:pPr algn="just">
                <a:lnSpc>
                  <a:spcPct val="160000"/>
                </a:lnSpc>
                <a:buClr>
                  <a:schemeClr val="folHlink"/>
                </a:buClr>
                <a:buSzPct val="85000"/>
                <a:buFont typeface="Wingdings 2" panose="05020102010507070707" pitchFamily="18" charset="2"/>
                <a:buNone/>
              </a:pPr>
              <a:r>
                <a:rPr lang="zh-CN" altLang="en-US" sz="2000" dirty="0">
                  <a:latin typeface="+mn-lt"/>
                  <a:ea typeface="+mn-ea"/>
                  <a:cs typeface="+mn-ea"/>
                  <a:sym typeface="+mn-lt"/>
                </a:rPr>
                <a:t>功能：预取指令和数据，总线操作，信息传递。</a:t>
              </a:r>
              <a:endParaRPr lang="zh-CN" altLang="en-US" sz="2000" dirty="0">
                <a:latin typeface="+mn-lt"/>
                <a:ea typeface="+mn-ea"/>
                <a:cs typeface="+mn-ea"/>
                <a:sym typeface="+mn-lt"/>
              </a:endParaRPr>
            </a:p>
            <a:p>
              <a:pPr algn="just">
                <a:lnSpc>
                  <a:spcPct val="160000"/>
                </a:lnSpc>
                <a:buClr>
                  <a:schemeClr val="folHlink"/>
                </a:buClr>
                <a:buSzPct val="85000"/>
                <a:buFont typeface="Wingdings 2" panose="05020102010507070707" pitchFamily="18" charset="2"/>
                <a:buNone/>
              </a:pPr>
              <a:r>
                <a:rPr lang="zh-CN" altLang="en-US" sz="2000" dirty="0">
                  <a:latin typeface="+mn-lt"/>
                  <a:ea typeface="+mn-ea"/>
                  <a:cs typeface="+mn-ea"/>
                  <a:sym typeface="+mn-lt"/>
                </a:rPr>
                <a:t>组成：指令队列、指令指针寄存器、地址加法器</a:t>
              </a:r>
              <a:endParaRPr lang="zh-CN" altLang="en-US" sz="1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41" name="Line 212"/>
            <p:cNvSpPr>
              <a:spLocks noChangeShapeType="1"/>
            </p:cNvSpPr>
            <p:nvPr/>
          </p:nvSpPr>
          <p:spPr bwMode="auto">
            <a:xfrm flipV="1">
              <a:off x="2608" y="799"/>
              <a:ext cx="907" cy="771"/>
            </a:xfrm>
            <a:prstGeom prst="line">
              <a:avLst/>
            </a:prstGeom>
            <a:noFill/>
            <a:ln w="66675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42" name="Line 213"/>
            <p:cNvSpPr>
              <a:spLocks noChangeShapeType="1"/>
            </p:cNvSpPr>
            <p:nvPr/>
          </p:nvSpPr>
          <p:spPr bwMode="auto">
            <a:xfrm>
              <a:off x="2608" y="2115"/>
              <a:ext cx="1088" cy="771"/>
            </a:xfrm>
            <a:prstGeom prst="line">
              <a:avLst/>
            </a:prstGeom>
            <a:noFill/>
            <a:ln w="66675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443" name="Line 214"/>
            <p:cNvSpPr>
              <a:spLocks noChangeShapeType="1"/>
            </p:cNvSpPr>
            <p:nvPr/>
          </p:nvSpPr>
          <p:spPr bwMode="auto">
            <a:xfrm>
              <a:off x="2655" y="1764"/>
              <a:ext cx="815" cy="124"/>
            </a:xfrm>
            <a:prstGeom prst="line">
              <a:avLst/>
            </a:prstGeom>
            <a:noFill/>
            <a:ln w="63500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3" name="Text Box 189"/>
          <p:cNvSpPr txBox="1">
            <a:spLocks noChangeArrowheads="1"/>
          </p:cNvSpPr>
          <p:nvPr/>
        </p:nvSpPr>
        <p:spPr bwMode="auto">
          <a:xfrm>
            <a:off x="6121454" y="34760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rgbClr val="9966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地址总线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500"/>
                                        <p:tgtEl>
                                          <p:spTgt spid="50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500"/>
                                        <p:tgtEl>
                                          <p:spTgt spid="503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500"/>
                                        <p:tgtEl>
                                          <p:spTgt spid="50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7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 txBox="1">
            <a:spLocks noChangeArrowheads="1"/>
          </p:cNvSpPr>
          <p:nvPr/>
        </p:nvSpPr>
        <p:spPr bwMode="auto">
          <a:xfrm>
            <a:off x="432658" y="1341697"/>
            <a:ext cx="8278683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总线接口部件</a:t>
            </a:r>
            <a:endParaRPr lang="zh-CN" altLang="en-US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负责管理与系统总线的接口，负责对存储器和外设访问</a:t>
            </a:r>
            <a:endParaRPr lang="en-US" altLang="zh-CN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spcAft>
                <a:spcPts val="600"/>
              </a:spcAft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包括指令队列、指令指针、段寄存器、地址加法器和总线控制逻辑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指令执行部件</a:t>
            </a:r>
            <a:endParaRPr lang="zh-CN" altLang="en-US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包括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ALU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、通用寄存器、标志寄存器和控制电路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spcAft>
                <a:spcPts val="600"/>
              </a:spcAft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负责指令译码、数据运算和指令执行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指令执行的两个主要阶段：</a:t>
            </a:r>
            <a:r>
              <a:rPr lang="zh-CN" altLang="en-US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取指和执行</a:t>
            </a:r>
            <a:endParaRPr lang="zh-CN" altLang="en-US" dirty="0">
              <a:solidFill>
                <a:srgbClr val="0099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取指：从主存取出指令代码进入指令队列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执行：译码指令、并发出有关控制信号实现指令功能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689097" y="1222619"/>
            <a:ext cx="4775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/>
            <a:r>
              <a:rPr lang="zh-CN" altLang="en-US" sz="3200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指令预取（</a:t>
            </a:r>
            <a:r>
              <a:rPr lang="en-US" altLang="zh-CN" sz="3200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Prefetch</a:t>
            </a:r>
            <a:r>
              <a:rPr lang="zh-CN" altLang="en-US" sz="3200" dirty="0">
                <a:solidFill>
                  <a:schemeClr val="tx2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3200" dirty="0">
              <a:solidFill>
                <a:schemeClr val="tx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689097" y="2147644"/>
            <a:ext cx="8043496" cy="348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8086</a:t>
            </a:r>
            <a:r>
              <a:rPr lang="zh-CN" altLang="en-US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处理器的指令读取，实际上是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指令预取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spcAft>
                <a:spcPts val="600"/>
              </a:spcAft>
              <a:buFontTx/>
              <a:buChar char="–"/>
            </a:pP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8086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处理器维护着长度为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个字节的指令队列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spcAft>
                <a:spcPts val="600"/>
              </a:spcAft>
              <a:buFontTx/>
              <a:buChar char="–"/>
            </a:pP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EU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单元译码、执行指令，同时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BIU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单元读取后续指令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spcAft>
                <a:spcPts val="1200"/>
              </a:spcAft>
              <a:buFontTx/>
              <a:buChar char="–"/>
            </a:pP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BIU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EU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两个单元相互独立，可以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并行操作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最简单的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指令流水线技术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节省许多取指时间，提高了工作效率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7" t="12283" r="24945" b="12158"/>
          <a:stretch>
            <a:fillRect/>
          </a:stretch>
        </p:blipFill>
        <p:spPr bwMode="auto">
          <a:xfrm>
            <a:off x="1300163" y="1712913"/>
            <a:ext cx="5905500" cy="4895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10" name="Group 10"/>
          <p:cNvGrpSpPr/>
          <p:nvPr/>
        </p:nvGrpSpPr>
        <p:grpSpPr bwMode="auto">
          <a:xfrm>
            <a:off x="5394325" y="3348038"/>
            <a:ext cx="3600450" cy="720725"/>
            <a:chOff x="3107" y="1933"/>
            <a:chExt cx="2358" cy="454"/>
          </a:xfrm>
        </p:grpSpPr>
        <p:sp>
          <p:nvSpPr>
            <p:cNvPr id="22536" name="Text Box 11"/>
            <p:cNvSpPr txBox="1">
              <a:spLocks noChangeArrowheads="1"/>
            </p:cNvSpPr>
            <p:nvPr/>
          </p:nvSpPr>
          <p:spPr bwMode="auto">
            <a:xfrm>
              <a:off x="3379" y="1933"/>
              <a:ext cx="2086" cy="404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latin typeface="+mn-lt"/>
                  <a:ea typeface="+mn-ea"/>
                  <a:cs typeface="+mn-ea"/>
                  <a:sym typeface="+mn-lt"/>
                </a:rPr>
                <a:t>变址和指针寄存器用于存放某个存储单元的偏移地址</a:t>
              </a:r>
              <a:endParaRPr lang="zh-CN" altLang="en-US" sz="1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7" name="Line 12"/>
            <p:cNvSpPr>
              <a:spLocks noChangeShapeType="1"/>
            </p:cNvSpPr>
            <p:nvPr/>
          </p:nvSpPr>
          <p:spPr bwMode="auto">
            <a:xfrm flipH="1" flipV="1">
              <a:off x="3107" y="2069"/>
              <a:ext cx="273" cy="136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 flipH="1">
              <a:off x="3107" y="2296"/>
              <a:ext cx="272" cy="91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1218" name="AutoShape 18"/>
          <p:cNvSpPr>
            <a:spLocks noChangeArrowheads="1"/>
          </p:cNvSpPr>
          <p:nvPr/>
        </p:nvSpPr>
        <p:spPr bwMode="auto">
          <a:xfrm>
            <a:off x="6007100" y="1563688"/>
            <a:ext cx="2808288" cy="647700"/>
          </a:xfrm>
          <a:prstGeom prst="wedgeRectCallout">
            <a:avLst>
              <a:gd name="adj1" fmla="val -70736"/>
              <a:gd name="adj2" fmla="val 58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数据寄存器用来保存操作数或运算结果等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533" name="Text Box 20"/>
          <p:cNvSpPr txBox="1">
            <a:spLocks noChangeArrowheads="1"/>
          </p:cNvSpPr>
          <p:nvPr/>
        </p:nvSpPr>
        <p:spPr bwMode="auto">
          <a:xfrm>
            <a:off x="560387" y="955675"/>
            <a:ext cx="48339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AutoNum type="arabicPeriod" startAt="3"/>
            </a:pPr>
            <a:r>
              <a:rPr lang="en-US" altLang="zh-CN" sz="3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8086</a:t>
            </a:r>
            <a:r>
              <a:rPr lang="zh-CN" altLang="en-US" sz="3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的寄存器结构</a:t>
            </a:r>
            <a:endParaRPr lang="zh-CN" altLang="en-US" sz="3200" dirty="0">
              <a:solidFill>
                <a:srgbClr val="0000FF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51219" name="AutoShape 19"/>
          <p:cNvSpPr>
            <a:spLocks noChangeArrowheads="1"/>
          </p:cNvSpPr>
          <p:nvPr/>
        </p:nvSpPr>
        <p:spPr bwMode="auto">
          <a:xfrm>
            <a:off x="5602288" y="5824538"/>
            <a:ext cx="3460750" cy="690562"/>
          </a:xfrm>
          <a:prstGeom prst="wedgeRectCallout">
            <a:avLst>
              <a:gd name="adj1" fmla="val -59083"/>
              <a:gd name="adj2" fmla="val -29421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段寄存器用来确定该段在内存中的起始地址。  </a:t>
            </a:r>
            <a:r>
              <a:rPr lang="zh-CN" altLang="en-US" sz="180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便于</a:t>
            </a:r>
            <a:r>
              <a:rPr lang="en-US" altLang="zh-CN" sz="180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OS</a:t>
            </a:r>
            <a:r>
              <a:rPr lang="zh-CN" altLang="en-US" sz="180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执行程序</a:t>
            </a:r>
            <a:endParaRPr lang="zh-CN" altLang="en-US" sz="1800">
              <a:solidFill>
                <a:srgbClr val="CC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AutoShape 18"/>
          <p:cNvSpPr>
            <a:spLocks noChangeArrowheads="1"/>
          </p:cNvSpPr>
          <p:nvPr/>
        </p:nvSpPr>
        <p:spPr bwMode="auto">
          <a:xfrm>
            <a:off x="5808663" y="4543425"/>
            <a:ext cx="3186112" cy="992188"/>
          </a:xfrm>
          <a:prstGeom prst="wedgeRectCallout">
            <a:avLst>
              <a:gd name="adj1" fmla="val -60644"/>
              <a:gd name="adj2" fmla="val -1490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控制寄存器用来控制指令执行顺序、执行方式，保存运行结果状态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8" grpId="0" bldLvl="0" animBg="1"/>
      <p:bldP spid="51219" grpId="0" bldLvl="0" animBg="1"/>
      <p:bldP spid="2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7" t="12283" r="24945" b="12158"/>
          <a:stretch>
            <a:fillRect/>
          </a:stretch>
        </p:blipFill>
        <p:spPr bwMode="auto">
          <a:xfrm>
            <a:off x="827088" y="1412875"/>
            <a:ext cx="5905500" cy="4895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2197100" y="1484313"/>
            <a:ext cx="3744913" cy="22891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常用的状态标志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记录程序运行结果的状态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）进位标志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CF</a:t>
            </a:r>
            <a:endParaRPr lang="en-US" altLang="zh-CN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）零标志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ZF</a:t>
            </a:r>
            <a:endParaRPr lang="en-US" altLang="zh-CN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）符号标志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SF</a:t>
            </a:r>
            <a:endParaRPr lang="en-US" altLang="zh-CN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）溢出标志 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OF </a:t>
            </a:r>
            <a:endParaRPr lang="en-US" altLang="zh-CN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）奇偶标志 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PF </a:t>
            </a:r>
            <a:endParaRPr lang="en-US" altLang="zh-CN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）辅助进位标志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AF</a:t>
            </a:r>
            <a:endParaRPr lang="en-US" altLang="zh-CN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3278188" y="3357563"/>
            <a:ext cx="4032250" cy="1079500"/>
          </a:xfrm>
          <a:prstGeom prst="wedgeRectCallout">
            <a:avLst>
              <a:gd name="adj1" fmla="val -43069"/>
              <a:gd name="adj2" fmla="val 68384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个标志位，保存一条指令执行后，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所处状态信息及运算结果的特征。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8256686" y="1628775"/>
            <a:ext cx="492443" cy="25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8086CPU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寄存器分组</a:t>
            </a:r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6" name="AutoShape 6"/>
          <p:cNvSpPr>
            <a:spLocks noChangeArrowheads="1"/>
          </p:cNvSpPr>
          <p:nvPr/>
        </p:nvSpPr>
        <p:spPr bwMode="auto">
          <a:xfrm>
            <a:off x="3060700" y="1341438"/>
            <a:ext cx="4826000" cy="719137"/>
          </a:xfrm>
          <a:prstGeom prst="wedgeRectCallout">
            <a:avLst>
              <a:gd name="adj1" fmla="val -58389"/>
              <a:gd name="adj2" fmla="val -12472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累加器。用于算术、逻辑运算以及与外设传送信息等。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7" name="AutoShape 7"/>
          <p:cNvSpPr>
            <a:spLocks noChangeArrowheads="1"/>
          </p:cNvSpPr>
          <p:nvPr/>
        </p:nvSpPr>
        <p:spPr bwMode="auto">
          <a:xfrm>
            <a:off x="3205163" y="1628775"/>
            <a:ext cx="4464050" cy="360363"/>
          </a:xfrm>
          <a:prstGeom prst="wedgeRectCallout">
            <a:avLst>
              <a:gd name="adj1" fmla="val -62306"/>
              <a:gd name="adj2" fmla="val 36782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基址寄存器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常于存放存储器地址。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8" name="AutoShape 8"/>
          <p:cNvSpPr>
            <a:spLocks noChangeArrowheads="1"/>
          </p:cNvSpPr>
          <p:nvPr/>
        </p:nvSpPr>
        <p:spPr bwMode="auto">
          <a:xfrm>
            <a:off x="3421063" y="1844675"/>
            <a:ext cx="4681537" cy="719138"/>
          </a:xfrm>
          <a:prstGeom prst="wedgeRectCallout">
            <a:avLst>
              <a:gd name="adj1" fmla="val -66343"/>
              <a:gd name="adj2" fmla="val 2319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计数器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作为循环或串操作等指令中的隐含计数器。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9" name="AutoShape 9"/>
          <p:cNvSpPr>
            <a:spLocks noChangeArrowheads="1"/>
          </p:cNvSpPr>
          <p:nvPr/>
        </p:nvSpPr>
        <p:spPr bwMode="auto">
          <a:xfrm>
            <a:off x="3421063" y="2133600"/>
            <a:ext cx="4968875" cy="719138"/>
          </a:xfrm>
          <a:prstGeom prst="wedgeRectCallout">
            <a:avLst>
              <a:gd name="adj1" fmla="val -65398"/>
              <a:gd name="adj2" fmla="val 2319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数据寄存器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用来存放双字数据的高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位，或存放外设端口地址。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4933950" y="3068638"/>
            <a:ext cx="3600450" cy="720725"/>
            <a:chOff x="3107" y="1933"/>
            <a:chExt cx="2358" cy="454"/>
          </a:xfrm>
        </p:grpSpPr>
        <p:sp>
          <p:nvSpPr>
            <p:cNvPr id="10263" name="Text Box 11"/>
            <p:cNvSpPr txBox="1">
              <a:spLocks noChangeArrowheads="1"/>
            </p:cNvSpPr>
            <p:nvPr/>
          </p:nvSpPr>
          <p:spPr bwMode="auto">
            <a:xfrm>
              <a:off x="3379" y="1933"/>
              <a:ext cx="2086" cy="404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变址和指针寄存器用于存放某个存储单元的偏移地址</a:t>
              </a:r>
              <a:endPara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64" name="Line 12"/>
            <p:cNvSpPr>
              <a:spLocks noChangeShapeType="1"/>
            </p:cNvSpPr>
            <p:nvPr/>
          </p:nvSpPr>
          <p:spPr bwMode="auto">
            <a:xfrm flipH="1" flipV="1">
              <a:off x="3107" y="2069"/>
              <a:ext cx="273" cy="136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65" name="Line 13"/>
            <p:cNvSpPr>
              <a:spLocks noChangeShapeType="1"/>
            </p:cNvSpPr>
            <p:nvPr/>
          </p:nvSpPr>
          <p:spPr bwMode="auto">
            <a:xfrm flipH="1">
              <a:off x="3107" y="2296"/>
              <a:ext cx="272" cy="91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1214" name="AutoShape 14"/>
          <p:cNvSpPr>
            <a:spLocks noChangeArrowheads="1"/>
          </p:cNvSpPr>
          <p:nvPr/>
        </p:nvSpPr>
        <p:spPr bwMode="auto">
          <a:xfrm>
            <a:off x="4933950" y="1989138"/>
            <a:ext cx="3527425" cy="935037"/>
          </a:xfrm>
          <a:prstGeom prst="wedgeRectCallout">
            <a:avLst>
              <a:gd name="adj1" fmla="val -53014"/>
              <a:gd name="adj2" fmla="val 8684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SP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用于存放当前堆栈段中栈顶的偏移地址；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BP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用于存放堆栈段中某一存储单元的偏移地址。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15" name="AutoShape 15"/>
          <p:cNvSpPr>
            <a:spLocks noChangeArrowheads="1"/>
          </p:cNvSpPr>
          <p:nvPr/>
        </p:nvSpPr>
        <p:spPr bwMode="auto">
          <a:xfrm>
            <a:off x="5005388" y="2708275"/>
            <a:ext cx="3455987" cy="649288"/>
          </a:xfrm>
          <a:prstGeom prst="wedgeRectCallout">
            <a:avLst>
              <a:gd name="adj1" fmla="val -53079"/>
              <a:gd name="adj2" fmla="val 11406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在字符串操作中，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SI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DI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都具有自动增量或减量的功能。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16" name="AutoShape 16"/>
          <p:cNvSpPr>
            <a:spLocks noChangeArrowheads="1"/>
          </p:cNvSpPr>
          <p:nvPr/>
        </p:nvSpPr>
        <p:spPr bwMode="auto">
          <a:xfrm>
            <a:off x="2989263" y="3213100"/>
            <a:ext cx="4824412" cy="936625"/>
          </a:xfrm>
          <a:prstGeom prst="wedgeRectCallout">
            <a:avLst>
              <a:gd name="adj1" fmla="val -44208"/>
              <a:gd name="adj2" fmla="val 71185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20000"/>
              </a:spcBef>
              <a:buClr>
                <a:srgbClr val="99CCFF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保存下一次将要取出指令的偏移地址，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IP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的内容由微处理器硬件自动设置，有一些指令可改变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IP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的值，如转移指令、子程序调用指令等。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17" name="Text Box 17"/>
          <p:cNvSpPr txBox="1">
            <a:spLocks noChangeArrowheads="1"/>
          </p:cNvSpPr>
          <p:nvPr/>
        </p:nvSpPr>
        <p:spPr bwMode="auto">
          <a:xfrm>
            <a:off x="2197100" y="3716338"/>
            <a:ext cx="3744913" cy="1465262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控制标志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控制处理器执行指令的方式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）方向标志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DF</a:t>
            </a:r>
            <a:endParaRPr lang="en-US" altLang="zh-CN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）中断允许标志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IF</a:t>
            </a:r>
            <a:endParaRPr lang="en-US" altLang="zh-CN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）追踪标志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TF</a:t>
            </a:r>
            <a:endParaRPr lang="en-US" altLang="zh-CN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18" name="AutoShape 18"/>
          <p:cNvSpPr>
            <a:spLocks noChangeArrowheads="1"/>
          </p:cNvSpPr>
          <p:nvPr/>
        </p:nvSpPr>
        <p:spPr bwMode="auto">
          <a:xfrm>
            <a:off x="4357688" y="1196975"/>
            <a:ext cx="2808287" cy="647700"/>
          </a:xfrm>
          <a:prstGeom prst="wedgeRectCallout">
            <a:avLst>
              <a:gd name="adj1" fmla="val -57856"/>
              <a:gd name="adj2" fmla="val 71079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数据寄存器用来保存操作数或运算结果等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19" name="AutoShape 19"/>
          <p:cNvSpPr>
            <a:spLocks noChangeArrowheads="1"/>
          </p:cNvSpPr>
          <p:nvPr/>
        </p:nvSpPr>
        <p:spPr bwMode="auto">
          <a:xfrm>
            <a:off x="4572000" y="3716338"/>
            <a:ext cx="3600450" cy="1512887"/>
          </a:xfrm>
          <a:prstGeom prst="wedgeRectCallout">
            <a:avLst>
              <a:gd name="adj1" fmla="val -41755"/>
              <a:gd name="adj2" fmla="val 78648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8086CPU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的４个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位的段寄存器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:CS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DS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SS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ES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80386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以后增添了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FS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GS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段寄存器用来确定该段在内存中的起始地址。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4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9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4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4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9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4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9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4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9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3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ldLvl="0" animBg="1" autoUpdateAnimBg="0"/>
      <p:bldP spid="51204" grpId="0" bldLvl="0" animBg="1" autoUpdateAnimBg="0"/>
      <p:bldP spid="51205" grpId="0" autoUpdateAnimBg="0"/>
      <p:bldP spid="51206" grpId="0" bldLvl="0" animBg="1" autoUpdateAnimBg="0"/>
      <p:bldP spid="51207" grpId="0" bldLvl="0" animBg="1" autoUpdateAnimBg="0"/>
      <p:bldP spid="51208" grpId="0" bldLvl="0" animBg="1" autoUpdateAnimBg="0"/>
      <p:bldP spid="51209" grpId="0" bldLvl="0" animBg="1" autoUpdateAnimBg="0"/>
      <p:bldP spid="51214" grpId="0" bldLvl="0" animBg="1" autoUpdateAnimBg="0"/>
      <p:bldP spid="51215" grpId="0" bldLvl="0" animBg="1" autoUpdateAnimBg="0"/>
      <p:bldP spid="51216" grpId="0" bldLvl="0" animBg="1" autoUpdateAnimBg="0"/>
      <p:bldP spid="51217" grpId="0" bldLvl="0" animBg="1" autoUpdateAnimBg="0"/>
      <p:bldP spid="51218" grpId="0" bldLvl="0" animBg="1" autoUpdateAnimBg="0"/>
      <p:bldP spid="51219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729602" y="1166295"/>
            <a:ext cx="49688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/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通用寄存器的一般用途</a:t>
            </a:r>
            <a:endParaRPr lang="zh-CN" altLang="en-US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3555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385" y="1895799"/>
            <a:ext cx="7612062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95099" y="1101725"/>
            <a:ext cx="4968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/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通用寄存器的专门用途</a:t>
            </a:r>
            <a:endParaRPr lang="zh-CN" altLang="en-US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4579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1760538"/>
            <a:ext cx="7256462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08185" y="2363544"/>
            <a:ext cx="7513027" cy="336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FLAGS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是一个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16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位的寄存器，共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个标志，其中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状态标志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控制标志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ct val="20000"/>
              </a:spcBef>
              <a:buFontTx/>
              <a:buChar char="−"/>
              <a:defRPr/>
            </a:pPr>
            <a:r>
              <a:rPr lang="zh-CN" altLang="en-US" sz="2800" dirty="0">
                <a:solidFill>
                  <a:srgbClr val="7030A0"/>
                </a:solidFill>
                <a:latin typeface="+mn-lt"/>
                <a:ea typeface="+mn-ea"/>
                <a:cs typeface="+mn-ea"/>
                <a:sym typeface="+mn-lt"/>
              </a:rPr>
              <a:t>状态标志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反映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EU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执行算术逻辑运算后的结果特征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ct val="20000"/>
              </a:spcBef>
              <a:buFontTx/>
              <a:buChar char="−"/>
              <a:defRPr/>
            </a:pPr>
            <a:r>
              <a:rPr lang="zh-CN" altLang="en-US" sz="2800" dirty="0">
                <a:solidFill>
                  <a:srgbClr val="7030A0"/>
                </a:solidFill>
                <a:latin typeface="+mn-lt"/>
                <a:ea typeface="+mn-ea"/>
                <a:cs typeface="+mn-ea"/>
                <a:sym typeface="+mn-lt"/>
              </a:rPr>
              <a:t>控制标志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用来控制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CPU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的工作方式或工作状态 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699" name="矩形 1"/>
          <p:cNvSpPr>
            <a:spLocks noChangeArrowheads="1"/>
          </p:cNvSpPr>
          <p:nvPr/>
        </p:nvSpPr>
        <p:spPr bwMode="auto">
          <a:xfrm>
            <a:off x="635000" y="1443648"/>
            <a:ext cx="6745514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/>
            <a:r>
              <a:rPr lang="zh-CN" altLang="en-US" sz="32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标志寄存器 </a:t>
            </a:r>
            <a:r>
              <a:rPr lang="en-US" altLang="zh-CN" sz="32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 FLAGS/PSW </a:t>
            </a:r>
            <a:r>
              <a:rPr lang="zh-CN" altLang="en-US" sz="32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32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627063" y="1396208"/>
            <a:ext cx="579755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CC6600"/>
                </a:solidFill>
                <a:latin typeface="+mn-lt"/>
                <a:ea typeface="+mn-ea"/>
                <a:cs typeface="+mn-ea"/>
                <a:sym typeface="+mn-lt"/>
              </a:rPr>
              <a:t>标志寄存器的格式及各位的含义：</a:t>
            </a:r>
            <a:endParaRPr lang="zh-CN" altLang="en-US" sz="2800" dirty="0">
              <a:solidFill>
                <a:srgbClr val="CC66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buFontTx/>
              <a:buChar char="•"/>
            </a:pPr>
            <a:endParaRPr kumimoji="1" lang="en-US" altLang="zh-CN" sz="2600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55299" name="Group 3"/>
          <p:cNvGraphicFramePr>
            <a:graphicFrameLocks noGrp="1"/>
          </p:cNvGraphicFramePr>
          <p:nvPr/>
        </p:nvGraphicFramePr>
        <p:xfrm>
          <a:off x="567699" y="2312988"/>
          <a:ext cx="6629400" cy="749300"/>
        </p:xfrm>
        <a:graphic>
          <a:graphicData uri="http://schemas.openxmlformats.org/drawingml/2006/table">
            <a:tbl>
              <a:tblPr/>
              <a:tblGrid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</a:tblGrid>
              <a:tr h="352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DF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ZF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75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CF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99" name="Text Box 73"/>
          <p:cNvSpPr txBox="1">
            <a:spLocks noChangeArrowheads="1"/>
          </p:cNvSpPr>
          <p:nvPr/>
        </p:nvSpPr>
        <p:spPr bwMode="auto">
          <a:xfrm>
            <a:off x="8475538" y="3532188"/>
            <a:ext cx="46166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状态标志</a:t>
            </a:r>
            <a:endParaRPr lang="zh-CN" altLang="en-US" sz="1800">
              <a:solidFill>
                <a:srgbClr val="CC33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0" name="Text Box 75"/>
          <p:cNvSpPr txBox="1">
            <a:spLocks noChangeArrowheads="1"/>
          </p:cNvSpPr>
          <p:nvPr/>
        </p:nvSpPr>
        <p:spPr bwMode="auto">
          <a:xfrm>
            <a:off x="1093869" y="3379788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方向标志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1" name="Text Box 76"/>
          <p:cNvSpPr txBox="1">
            <a:spLocks noChangeArrowheads="1"/>
          </p:cNvSpPr>
          <p:nvPr/>
        </p:nvSpPr>
        <p:spPr bwMode="auto">
          <a:xfrm>
            <a:off x="1025598" y="3760788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中断标志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2" name="Text Box 77"/>
          <p:cNvSpPr txBox="1">
            <a:spLocks noChangeArrowheads="1"/>
          </p:cNvSpPr>
          <p:nvPr/>
        </p:nvSpPr>
        <p:spPr bwMode="auto">
          <a:xfrm>
            <a:off x="1093869" y="4141788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跟踪标志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4" name="Text Box 79"/>
          <p:cNvSpPr txBox="1">
            <a:spLocks noChangeArrowheads="1"/>
          </p:cNvSpPr>
          <p:nvPr/>
        </p:nvSpPr>
        <p:spPr bwMode="auto">
          <a:xfrm>
            <a:off x="274214" y="3356558"/>
            <a:ext cx="461665" cy="121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rPr>
              <a:t>控制标志</a:t>
            </a:r>
            <a:endParaRPr lang="zh-CN" altLang="en-US" sz="1800" dirty="0">
              <a:solidFill>
                <a:srgbClr val="CC33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5" name="AutoShape 80"/>
          <p:cNvSpPr/>
          <p:nvPr/>
        </p:nvSpPr>
        <p:spPr bwMode="auto">
          <a:xfrm>
            <a:off x="796998" y="3455988"/>
            <a:ext cx="304800" cy="990599"/>
          </a:xfrm>
          <a:prstGeom prst="leftBrace">
            <a:avLst>
              <a:gd name="adj1" fmla="val 3958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6" name="Text Box 81"/>
          <p:cNvSpPr txBox="1">
            <a:spLocks noChangeArrowheads="1"/>
          </p:cNvSpPr>
          <p:nvPr/>
        </p:nvSpPr>
        <p:spPr bwMode="auto">
          <a:xfrm>
            <a:off x="6976649" y="3303588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进位标志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7" name="Text Box 82"/>
          <p:cNvSpPr txBox="1">
            <a:spLocks noChangeArrowheads="1"/>
          </p:cNvSpPr>
          <p:nvPr/>
        </p:nvSpPr>
        <p:spPr bwMode="auto">
          <a:xfrm>
            <a:off x="6975061" y="3684588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奇偶标志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8" name="Text Box 83"/>
          <p:cNvSpPr txBox="1">
            <a:spLocks noChangeArrowheads="1"/>
          </p:cNvSpPr>
          <p:nvPr/>
        </p:nvSpPr>
        <p:spPr bwMode="auto">
          <a:xfrm>
            <a:off x="6908378" y="4065588"/>
            <a:ext cx="1371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半进位标志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09" name="Text Box 84"/>
          <p:cNvSpPr txBox="1">
            <a:spLocks noChangeArrowheads="1"/>
          </p:cNvSpPr>
          <p:nvPr/>
        </p:nvSpPr>
        <p:spPr bwMode="auto">
          <a:xfrm>
            <a:off x="6978567" y="4446588"/>
            <a:ext cx="8819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零标志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0" name="Text Box 85"/>
          <p:cNvSpPr txBox="1">
            <a:spLocks noChangeArrowheads="1"/>
          </p:cNvSpPr>
          <p:nvPr/>
        </p:nvSpPr>
        <p:spPr bwMode="auto">
          <a:xfrm>
            <a:off x="6976649" y="4827588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符号标志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1" name="Text Box 86"/>
          <p:cNvSpPr txBox="1">
            <a:spLocks noChangeArrowheads="1"/>
          </p:cNvSpPr>
          <p:nvPr/>
        </p:nvSpPr>
        <p:spPr bwMode="auto">
          <a:xfrm>
            <a:off x="6976649" y="5132388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+mn-lt"/>
                <a:ea typeface="+mn-ea"/>
                <a:cs typeface="+mn-ea"/>
                <a:sym typeface="+mn-lt"/>
              </a:rPr>
              <a:t>溢出标志</a:t>
            </a: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2" name="AutoShape 87"/>
          <p:cNvSpPr/>
          <p:nvPr/>
        </p:nvSpPr>
        <p:spPr bwMode="auto">
          <a:xfrm>
            <a:off x="8051378" y="3455988"/>
            <a:ext cx="381000" cy="1905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18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3" name="Line 88"/>
          <p:cNvSpPr>
            <a:spLocks noChangeShapeType="1"/>
          </p:cNvSpPr>
          <p:nvPr/>
        </p:nvSpPr>
        <p:spPr bwMode="auto">
          <a:xfrm>
            <a:off x="2167899" y="360838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4" name="Line 89"/>
          <p:cNvSpPr>
            <a:spLocks noChangeShapeType="1"/>
          </p:cNvSpPr>
          <p:nvPr/>
        </p:nvSpPr>
        <p:spPr bwMode="auto">
          <a:xfrm flipV="1">
            <a:off x="2853699" y="3074988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5" name="Line 90"/>
          <p:cNvSpPr>
            <a:spLocks noChangeShapeType="1"/>
          </p:cNvSpPr>
          <p:nvPr/>
        </p:nvSpPr>
        <p:spPr bwMode="auto">
          <a:xfrm>
            <a:off x="2167899" y="3913188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6" name="Line 91"/>
          <p:cNvSpPr>
            <a:spLocks noChangeShapeType="1"/>
          </p:cNvSpPr>
          <p:nvPr/>
        </p:nvSpPr>
        <p:spPr bwMode="auto">
          <a:xfrm flipV="1">
            <a:off x="3234699" y="3074988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7" name="Line 92"/>
          <p:cNvSpPr>
            <a:spLocks noChangeShapeType="1"/>
          </p:cNvSpPr>
          <p:nvPr/>
        </p:nvSpPr>
        <p:spPr bwMode="auto">
          <a:xfrm>
            <a:off x="2167899" y="4370388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8" name="Line 93"/>
          <p:cNvSpPr>
            <a:spLocks noChangeShapeType="1"/>
          </p:cNvSpPr>
          <p:nvPr/>
        </p:nvSpPr>
        <p:spPr bwMode="auto">
          <a:xfrm flipV="1">
            <a:off x="3691899" y="3074988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19" name="Line 94"/>
          <p:cNvSpPr>
            <a:spLocks noChangeShapeType="1"/>
          </p:cNvSpPr>
          <p:nvPr/>
        </p:nvSpPr>
        <p:spPr bwMode="auto">
          <a:xfrm flipV="1">
            <a:off x="4072899" y="3074988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0" name="Line 95"/>
          <p:cNvSpPr>
            <a:spLocks noChangeShapeType="1"/>
          </p:cNvSpPr>
          <p:nvPr/>
        </p:nvSpPr>
        <p:spPr bwMode="auto">
          <a:xfrm flipV="1">
            <a:off x="4530099" y="3074988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1" name="Line 96"/>
          <p:cNvSpPr>
            <a:spLocks noChangeShapeType="1"/>
          </p:cNvSpPr>
          <p:nvPr/>
        </p:nvSpPr>
        <p:spPr bwMode="auto">
          <a:xfrm flipV="1">
            <a:off x="5292099" y="3074988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2" name="Line 97"/>
          <p:cNvSpPr>
            <a:spLocks noChangeShapeType="1"/>
          </p:cNvSpPr>
          <p:nvPr/>
        </p:nvSpPr>
        <p:spPr bwMode="auto">
          <a:xfrm flipV="1">
            <a:off x="6206499" y="3074988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3" name="Line 98"/>
          <p:cNvSpPr>
            <a:spLocks noChangeShapeType="1"/>
          </p:cNvSpPr>
          <p:nvPr/>
        </p:nvSpPr>
        <p:spPr bwMode="auto">
          <a:xfrm flipV="1">
            <a:off x="6892299" y="3074988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4" name="Line 99"/>
          <p:cNvSpPr>
            <a:spLocks noChangeShapeType="1"/>
          </p:cNvSpPr>
          <p:nvPr/>
        </p:nvSpPr>
        <p:spPr bwMode="auto">
          <a:xfrm flipV="1">
            <a:off x="2396499" y="3074988"/>
            <a:ext cx="0" cy="2286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5" name="Line 100"/>
          <p:cNvSpPr>
            <a:spLocks noChangeShapeType="1"/>
          </p:cNvSpPr>
          <p:nvPr/>
        </p:nvSpPr>
        <p:spPr bwMode="auto">
          <a:xfrm>
            <a:off x="2396499" y="5360988"/>
            <a:ext cx="457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6" name="Line 101"/>
          <p:cNvSpPr>
            <a:spLocks noChangeShapeType="1"/>
          </p:cNvSpPr>
          <p:nvPr/>
        </p:nvSpPr>
        <p:spPr bwMode="auto">
          <a:xfrm>
            <a:off x="4072899" y="4979988"/>
            <a:ext cx="2895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7" name="Line 102"/>
          <p:cNvSpPr>
            <a:spLocks noChangeShapeType="1"/>
          </p:cNvSpPr>
          <p:nvPr/>
        </p:nvSpPr>
        <p:spPr bwMode="auto">
          <a:xfrm>
            <a:off x="5292099" y="4217988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8" name="Line 103"/>
          <p:cNvSpPr>
            <a:spLocks noChangeShapeType="1"/>
          </p:cNvSpPr>
          <p:nvPr/>
        </p:nvSpPr>
        <p:spPr bwMode="auto">
          <a:xfrm>
            <a:off x="6206499" y="3836988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29" name="Line 104"/>
          <p:cNvSpPr>
            <a:spLocks noChangeShapeType="1"/>
          </p:cNvSpPr>
          <p:nvPr/>
        </p:nvSpPr>
        <p:spPr bwMode="auto">
          <a:xfrm flipV="1">
            <a:off x="4530099" y="4598988"/>
            <a:ext cx="2438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830" name="Line 105"/>
          <p:cNvSpPr>
            <a:spLocks noChangeShapeType="1"/>
          </p:cNvSpPr>
          <p:nvPr/>
        </p:nvSpPr>
        <p:spPr bwMode="auto">
          <a:xfrm>
            <a:off x="6892299" y="3532188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9" grpId="0" bldLvl="0" animBg="1"/>
      <p:bldP spid="31800" grpId="0" bldLvl="0" animBg="1"/>
      <p:bldP spid="31801" grpId="0" bldLvl="0" animBg="1"/>
      <p:bldP spid="31802" grpId="0" bldLvl="0" animBg="1"/>
      <p:bldP spid="31804" grpId="0" bldLvl="0" animBg="1"/>
      <p:bldP spid="31805" grpId="0" bldLvl="0" animBg="1"/>
      <p:bldP spid="31806" grpId="0" bldLvl="0" animBg="1"/>
      <p:bldP spid="31807" grpId="0" bldLvl="0" animBg="1"/>
      <p:bldP spid="31808" grpId="0" bldLvl="0" animBg="1"/>
      <p:bldP spid="31809" grpId="0" bldLvl="0" animBg="1"/>
      <p:bldP spid="31810" grpId="0" bldLvl="0" animBg="1"/>
      <p:bldP spid="31811" grpId="0" bldLvl="0" animBg="1"/>
      <p:bldP spid="31812" grpId="0" bldLvl="0" animBg="1"/>
      <p:bldP spid="31813" grpId="0" bldLvl="0" animBg="1"/>
      <p:bldP spid="31814" grpId="0" bldLvl="0" animBg="1"/>
      <p:bldP spid="31815" grpId="0" bldLvl="0" animBg="1"/>
      <p:bldP spid="31816" grpId="0" bldLvl="0" animBg="1"/>
      <p:bldP spid="31817" grpId="0" bldLvl="0" animBg="1"/>
      <p:bldP spid="31818" grpId="0" bldLvl="0" animBg="1"/>
      <p:bldP spid="31819" grpId="0" bldLvl="0" animBg="1"/>
      <p:bldP spid="31820" grpId="0" bldLvl="0" animBg="1"/>
      <p:bldP spid="31821" grpId="0" bldLvl="0" animBg="1"/>
      <p:bldP spid="31822" grpId="0" bldLvl="0" animBg="1"/>
      <p:bldP spid="31823" grpId="0" bldLvl="0" animBg="1"/>
      <p:bldP spid="31824" grpId="0" bldLvl="0" animBg="1"/>
      <p:bldP spid="31825" grpId="0" bldLvl="0" animBg="1"/>
      <p:bldP spid="31826" grpId="0" bldLvl="0" animBg="1"/>
      <p:bldP spid="31827" grpId="0" bldLvl="0" animBg="1"/>
      <p:bldP spid="31828" grpId="0" bldLvl="0" animBg="1"/>
      <p:bldP spid="31829" grpId="0" bldLvl="0" animBg="1"/>
      <p:bldP spid="3183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2" y="1343820"/>
            <a:ext cx="7878762" cy="5953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defRPr/>
            </a:pPr>
            <a:r>
              <a:rPr lang="en-US" altLang="zh-CN" sz="3200" b="1" kern="12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1. </a:t>
            </a:r>
            <a:r>
              <a:rPr lang="zh-CN" altLang="en-US" sz="3200" b="1" kern="12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状态标志</a:t>
            </a:r>
            <a:r>
              <a:rPr lang="en-US" altLang="zh-CN" sz="3200" b="1" kern="1200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sz="2800" b="1" kern="12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记录程序运行结果的状态信息</a:t>
            </a:r>
            <a:endParaRPr lang="zh-CN" altLang="en-US" sz="2800" b="1" kern="1200" dirty="0">
              <a:solidFill>
                <a:srgbClr val="00206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2531" name="Group 31"/>
          <p:cNvGrpSpPr/>
          <p:nvPr/>
        </p:nvGrpSpPr>
        <p:grpSpPr bwMode="auto">
          <a:xfrm>
            <a:off x="874713" y="5080000"/>
            <a:ext cx="7707312" cy="858838"/>
            <a:chOff x="877" y="3328"/>
            <a:chExt cx="4855" cy="541"/>
          </a:xfrm>
        </p:grpSpPr>
        <p:sp>
          <p:nvSpPr>
            <p:cNvPr id="32773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4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5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6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7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8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79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0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1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2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3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4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5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6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7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8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89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0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1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2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3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4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5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796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2772" name="Rectangle 3"/>
          <p:cNvSpPr txBox="1">
            <a:spLocks noChangeArrowheads="1"/>
          </p:cNvSpPr>
          <p:nvPr/>
        </p:nvSpPr>
        <p:spPr bwMode="auto">
          <a:xfrm>
            <a:off x="1013749" y="2227263"/>
            <a:ext cx="7573962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最基本的标志，有</a:t>
            </a:r>
            <a:r>
              <a:rPr lang="en-US" altLang="zh-CN" sz="2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个</a:t>
            </a:r>
            <a:endParaRPr lang="zh-CN" altLang="en-US" sz="2600" dirty="0"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用来记录</a:t>
            </a:r>
            <a:r>
              <a:rPr lang="zh-CN" altLang="en-US" sz="2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指令执行结果的辅助信息</a:t>
            </a:r>
            <a:endParaRPr lang="zh-CN" altLang="en-US" sz="26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主要由</a:t>
            </a:r>
            <a:r>
              <a:rPr lang="zh-CN" altLang="en-US" sz="2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加减运算和逻辑运算指令</a:t>
            </a: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设置</a:t>
            </a:r>
            <a:endParaRPr lang="zh-CN" altLang="en-US" sz="2600" dirty="0">
              <a:latin typeface="+mn-lt"/>
              <a:ea typeface="+mn-ea"/>
              <a:cs typeface="+mn-ea"/>
              <a:sym typeface="+mn-lt"/>
            </a:endParaRPr>
          </a:p>
          <a:p>
            <a:pPr algn="just"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处理器主要使用其中</a:t>
            </a:r>
            <a:r>
              <a:rPr lang="en-US" altLang="zh-CN" sz="2600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zh-CN" altLang="en-US" sz="26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构成各种条件</a:t>
            </a:r>
            <a:r>
              <a:rPr lang="zh-CN" altLang="en-US" sz="2600" dirty="0">
                <a:latin typeface="+mn-lt"/>
                <a:ea typeface="+mn-ea"/>
                <a:cs typeface="+mn-ea"/>
                <a:sym typeface="+mn-lt"/>
              </a:rPr>
              <a:t>，分支指令判断这些条件实现程序分支 </a:t>
            </a:r>
            <a:endParaRPr lang="zh-CN" altLang="en-US" sz="26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87730" y="1176338"/>
            <a:ext cx="5825739" cy="584200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进位标志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CF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Carry Flag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153" y="1963737"/>
            <a:ext cx="8179693" cy="9969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当加减运算的</a:t>
            </a:r>
            <a:r>
              <a:rPr lang="zh-CN" altLang="en-US" sz="2800" b="1" kern="1200" dirty="0">
                <a:solidFill>
                  <a:srgbClr val="C00000"/>
                </a:solidFill>
                <a:cs typeface="+mn-ea"/>
                <a:sym typeface="+mn-lt"/>
              </a:rPr>
              <a:t>最高有效位</a:t>
            </a:r>
            <a:r>
              <a:rPr lang="zh-CN" altLang="en-US" sz="2800" b="1" kern="1200" dirty="0">
                <a:cs typeface="+mn-ea"/>
                <a:sym typeface="+mn-lt"/>
              </a:rPr>
              <a:t>有</a:t>
            </a:r>
            <a:r>
              <a:rPr lang="zh-CN" altLang="en-US" sz="2800" b="1" kern="1200" dirty="0">
                <a:solidFill>
                  <a:srgbClr val="C00000"/>
                </a:solidFill>
                <a:cs typeface="+mn-ea"/>
                <a:sym typeface="+mn-lt"/>
              </a:rPr>
              <a:t>进位（加法）或借位（减法）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时，</a:t>
            </a:r>
            <a:r>
              <a:rPr lang="en-US" altLang="zh-CN" sz="2800" b="1" kern="1200" dirty="0">
                <a:solidFill>
                  <a:srgbClr val="C00000"/>
                </a:solidFill>
                <a:cs typeface="+mn-ea"/>
                <a:sym typeface="+mn-lt"/>
              </a:rPr>
              <a:t>CF</a:t>
            </a:r>
            <a:r>
              <a:rPr lang="zh-CN" altLang="en-US" sz="2800" b="1" kern="1200" dirty="0">
                <a:solidFill>
                  <a:srgbClr val="C0000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C00000"/>
                </a:solidFill>
                <a:cs typeface="+mn-ea"/>
                <a:sym typeface="+mn-lt"/>
              </a:rPr>
              <a:t>1</a:t>
            </a:r>
            <a:r>
              <a:rPr lang="zh-CN" altLang="en-US" sz="2800" b="1" kern="1200" dirty="0">
                <a:solidFill>
                  <a:srgbClr val="C00000"/>
                </a:solidFill>
                <a:cs typeface="+mn-ea"/>
                <a:sym typeface="+mn-lt"/>
              </a:rPr>
              <a:t>，否则</a:t>
            </a:r>
            <a:r>
              <a:rPr lang="en-US" altLang="zh-CN" sz="2800" b="1" kern="1200" dirty="0">
                <a:solidFill>
                  <a:srgbClr val="C00000"/>
                </a:solidFill>
                <a:cs typeface="+mn-ea"/>
                <a:sym typeface="+mn-lt"/>
              </a:rPr>
              <a:t>CF</a:t>
            </a:r>
            <a:r>
              <a:rPr lang="zh-CN" altLang="en-US" sz="2800" b="1" kern="1200" dirty="0">
                <a:solidFill>
                  <a:srgbClr val="C0000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C00000"/>
                </a:solidFill>
                <a:cs typeface="+mn-ea"/>
                <a:sym typeface="+mn-lt"/>
              </a:rPr>
              <a:t>0</a:t>
            </a:r>
            <a:endParaRPr lang="en-US" altLang="zh-CN" sz="2800" b="1" kern="1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85863" y="3228975"/>
            <a:ext cx="7377112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00111010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最高位无进位</a:t>
            </a:r>
            <a:r>
              <a:rPr lang="zh-CN" altLang="en-US" sz="28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， 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CF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lang="en-US" altLang="zh-CN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10101010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最高位有进位，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CF=1</a:t>
            </a:r>
            <a:endParaRPr lang="zh-CN" altLang="en-US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08650" y="3371850"/>
            <a:ext cx="2152650" cy="523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10110110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38813" y="4805363"/>
            <a:ext cx="2722562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[1]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00100110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Group 31"/>
          <p:cNvGrpSpPr/>
          <p:nvPr/>
        </p:nvGrpSpPr>
        <p:grpSpPr bwMode="auto">
          <a:xfrm>
            <a:off x="680243" y="5985669"/>
            <a:ext cx="7707312" cy="858838"/>
            <a:chOff x="877" y="3328"/>
            <a:chExt cx="4855" cy="541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" name="椭圆 2"/>
          <p:cNvSpPr/>
          <p:nvPr/>
        </p:nvSpPr>
        <p:spPr bwMode="auto">
          <a:xfrm>
            <a:off x="7670798" y="5985669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0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75" grpId="0" build="p"/>
      <p:bldP spid="5" grpId="0" build="p"/>
      <p:bldP spid="2" grpId="0" bldLvl="0" animBg="1"/>
      <p:bldP spid="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4522" y="1252538"/>
            <a:ext cx="8360229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针对</a:t>
            </a:r>
            <a:r>
              <a:rPr lang="zh-CN" altLang="en-US" sz="2800" b="1" kern="1200" dirty="0">
                <a:solidFill>
                  <a:srgbClr val="C00000"/>
                </a:solidFill>
                <a:cs typeface="+mn-ea"/>
                <a:sym typeface="+mn-lt"/>
              </a:rPr>
              <a:t>无符号整数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，判断加减结果是否超出表达范围</a:t>
            </a:r>
            <a:endParaRPr lang="zh-CN" altLang="en-US" sz="28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 lvl="1">
              <a:defRPr/>
            </a:pPr>
            <a:r>
              <a:rPr lang="en-US" altLang="zh-CN" b="1" dirty="0">
                <a:cs typeface="+mn-ea"/>
                <a:sym typeface="+mn-lt"/>
              </a:rPr>
              <a:t>N</a:t>
            </a:r>
            <a:r>
              <a:rPr lang="zh-CN" altLang="en-US" b="1" dirty="0">
                <a:cs typeface="+mn-ea"/>
                <a:sym typeface="+mn-lt"/>
              </a:rPr>
              <a:t>个二进制位表达无符号整数的范围：</a:t>
            </a:r>
            <a:endParaRPr lang="zh-CN" altLang="en-US" b="1" dirty="0">
              <a:cs typeface="+mn-ea"/>
              <a:sym typeface="+mn-lt"/>
            </a:endParaRPr>
          </a:p>
          <a:p>
            <a:pPr marL="457200" lvl="1" indent="0" algn="ctr">
              <a:buFontTx/>
              <a:buNone/>
              <a:defRPr/>
            </a:pPr>
            <a:r>
              <a:rPr lang="en-US" altLang="zh-CN" b="1" dirty="0">
                <a:cs typeface="+mn-ea"/>
                <a:sym typeface="+mn-lt"/>
              </a:rPr>
              <a:t>0</a:t>
            </a:r>
            <a:r>
              <a:rPr lang="zh-CN" altLang="en-US" b="1" dirty="0">
                <a:cs typeface="+mn-ea"/>
                <a:sym typeface="+mn-lt"/>
              </a:rPr>
              <a:t>～</a:t>
            </a: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en-US" altLang="zh-CN" b="1" baseline="30000" dirty="0">
                <a:cs typeface="+mn-ea"/>
                <a:sym typeface="+mn-lt"/>
              </a:rPr>
              <a:t>N</a:t>
            </a:r>
            <a:r>
              <a:rPr lang="en-US" altLang="zh-CN" b="1" dirty="0">
                <a:cs typeface="+mn-ea"/>
                <a:sym typeface="+mn-lt"/>
              </a:rPr>
              <a:t>-1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spcBef>
                <a:spcPts val="3000"/>
              </a:spcBef>
              <a:defRPr/>
            </a:pPr>
            <a:r>
              <a:rPr lang="en-US" altLang="zh-CN" b="1" dirty="0">
                <a:cs typeface="+mn-ea"/>
                <a:sym typeface="+mn-lt"/>
              </a:rPr>
              <a:t>  8</a:t>
            </a:r>
            <a:r>
              <a:rPr lang="zh-CN" altLang="en-US" b="1" dirty="0">
                <a:cs typeface="+mn-ea"/>
                <a:sym typeface="+mn-lt"/>
              </a:rPr>
              <a:t>位：</a:t>
            </a:r>
            <a:r>
              <a:rPr lang="en-US" altLang="zh-CN" b="1" dirty="0">
                <a:cs typeface="+mn-ea"/>
                <a:sym typeface="+mn-lt"/>
              </a:rPr>
              <a:t>0</a:t>
            </a:r>
            <a:r>
              <a:rPr lang="zh-CN" altLang="en-US" b="1" dirty="0">
                <a:cs typeface="+mn-ea"/>
                <a:sym typeface="+mn-lt"/>
              </a:rPr>
              <a:t>～</a:t>
            </a:r>
            <a:r>
              <a:rPr lang="en-US" altLang="zh-CN" b="1" dirty="0">
                <a:cs typeface="+mn-ea"/>
                <a:sym typeface="+mn-lt"/>
              </a:rPr>
              <a:t>255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defRPr/>
            </a:pPr>
            <a:r>
              <a:rPr lang="en-US" altLang="zh-CN" b="1" dirty="0">
                <a:cs typeface="+mn-ea"/>
                <a:sym typeface="+mn-lt"/>
              </a:rPr>
              <a:t>16</a:t>
            </a:r>
            <a:r>
              <a:rPr lang="zh-CN" altLang="en-US" b="1" dirty="0">
                <a:cs typeface="+mn-ea"/>
                <a:sym typeface="+mn-lt"/>
              </a:rPr>
              <a:t>位：</a:t>
            </a:r>
            <a:r>
              <a:rPr lang="en-US" altLang="zh-CN" b="1" dirty="0">
                <a:cs typeface="+mn-ea"/>
                <a:sym typeface="+mn-lt"/>
              </a:rPr>
              <a:t>0</a:t>
            </a:r>
            <a:r>
              <a:rPr lang="zh-CN" altLang="en-US" b="1" dirty="0">
                <a:cs typeface="+mn-ea"/>
                <a:sym typeface="+mn-lt"/>
              </a:rPr>
              <a:t>～</a:t>
            </a:r>
            <a:r>
              <a:rPr lang="en-US" altLang="zh-CN" b="1" dirty="0">
                <a:cs typeface="+mn-ea"/>
                <a:sym typeface="+mn-lt"/>
              </a:rPr>
              <a:t>65535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defRPr/>
            </a:pPr>
            <a:r>
              <a:rPr lang="en-US" altLang="zh-CN" b="1" dirty="0">
                <a:cs typeface="+mn-ea"/>
                <a:sym typeface="+mn-lt"/>
              </a:rPr>
              <a:t>32</a:t>
            </a:r>
            <a:r>
              <a:rPr lang="zh-CN" altLang="en-US" b="1" dirty="0">
                <a:cs typeface="+mn-ea"/>
                <a:sym typeface="+mn-lt"/>
              </a:rPr>
              <a:t>位：</a:t>
            </a:r>
            <a:r>
              <a:rPr lang="en-US" altLang="zh-CN" b="1" dirty="0">
                <a:cs typeface="+mn-ea"/>
                <a:sym typeface="+mn-lt"/>
              </a:rPr>
              <a:t>0</a:t>
            </a:r>
            <a:r>
              <a:rPr lang="zh-CN" altLang="en-US" b="1" dirty="0">
                <a:cs typeface="+mn-ea"/>
                <a:sym typeface="+mn-lt"/>
              </a:rPr>
              <a:t>～</a:t>
            </a: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en-US" altLang="zh-CN" b="1" baseline="30000" dirty="0">
                <a:cs typeface="+mn-ea"/>
                <a:sym typeface="+mn-lt"/>
              </a:rPr>
              <a:t>32</a:t>
            </a:r>
            <a:r>
              <a:rPr lang="zh-CN" altLang="en-US" b="1" dirty="0">
                <a:cs typeface="+mn-ea"/>
                <a:sym typeface="+mn-lt"/>
              </a:rPr>
              <a:t>－</a:t>
            </a:r>
            <a:r>
              <a:rPr lang="en-US" altLang="zh-CN" b="1" dirty="0">
                <a:cs typeface="+mn-ea"/>
                <a:sym typeface="+mn-lt"/>
              </a:rPr>
              <a:t>1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29" name="Group 31"/>
          <p:cNvGrpSpPr/>
          <p:nvPr/>
        </p:nvGrpSpPr>
        <p:grpSpPr bwMode="auto">
          <a:xfrm>
            <a:off x="680243" y="5906157"/>
            <a:ext cx="7707312" cy="858838"/>
            <a:chOff x="877" y="3328"/>
            <a:chExt cx="4855" cy="541"/>
          </a:xfrm>
        </p:grpSpPr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4" name="椭圆 53"/>
          <p:cNvSpPr/>
          <p:nvPr/>
        </p:nvSpPr>
        <p:spPr bwMode="auto">
          <a:xfrm>
            <a:off x="5104607" y="5921208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4674636" y="3759706"/>
            <a:ext cx="407124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+mn-ea"/>
                <a:cs typeface="+mn-ea"/>
                <a:sym typeface="+mn-lt"/>
              </a:rPr>
              <a:t>AF(Auxiliary carry Flag)</a:t>
            </a:r>
            <a:r>
              <a:rPr lang="zh-CN" altLang="en-US" sz="2400" b="1" dirty="0">
                <a:solidFill>
                  <a:srgbClr val="3333FF"/>
                </a:solidFill>
                <a:latin typeface="+mn-lt"/>
                <a:ea typeface="+mn-ea"/>
                <a:cs typeface="+mn-ea"/>
                <a:sym typeface="+mn-lt"/>
              </a:rPr>
              <a:t>辅助进位标志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，当运算结果的低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位向高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位有进位或借位时，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AF=1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。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A3092E"/>
                </a:solidFill>
                <a:latin typeface="+mn-lt"/>
                <a:ea typeface="+mn-ea"/>
                <a:cs typeface="+mn-ea"/>
                <a:sym typeface="+mn-lt"/>
              </a:rPr>
              <a:t>该标志与操作数长度无关。</a:t>
            </a:r>
            <a:endParaRPr lang="zh-CN" altLang="en-US" sz="2400" b="1" dirty="0">
              <a:solidFill>
                <a:srgbClr val="A3092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0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0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0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0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0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75" grpId="0" build="p"/>
      <p:bldP spid="54" grpId="0" bldLvl="0" animBg="1"/>
      <p:bldP spid="5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94251"/>
            <a:ext cx="8229600" cy="953135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溢出标志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Overflow Flag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b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2400" b="1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ea"/>
                <a:sym typeface="+mn-lt"/>
              </a:rPr>
              <a:t>运算时，最高位和次高位只有一个有进位，就溢出了</a:t>
            </a:r>
            <a:endParaRPr lang="zh-CN" altLang="en-US" sz="2400" b="1" kern="1200" dirty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9757" y="1876425"/>
            <a:ext cx="7917506" cy="736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4625" indent="-174625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zh-CN" sz="2600" b="1" kern="1200" dirty="0">
                <a:solidFill>
                  <a:srgbClr val="C00000"/>
                </a:solidFill>
                <a:cs typeface="+mn-ea"/>
                <a:sym typeface="+mn-lt"/>
              </a:rPr>
              <a:t>有符号数</a:t>
            </a:r>
            <a:r>
              <a:rPr lang="zh-CN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加减结果有溢出则OF＝1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，</a:t>
            </a:r>
            <a:r>
              <a:rPr lang="zh-CN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否则OF＝0</a:t>
            </a:r>
            <a:endParaRPr lang="zh-CN" altLang="en-US" sz="2600" dirty="0">
              <a:cs typeface="+mn-ea"/>
              <a:sym typeface="+mn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12836" y="2735669"/>
            <a:ext cx="7377112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00111010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超出表达范围</a:t>
            </a:r>
            <a:r>
              <a:rPr lang="zh-CN" altLang="en-US" sz="28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en-US" altLang="zh-CN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10101010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未超出表达范围，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OF=0</a:t>
            </a:r>
            <a:endParaRPr lang="zh-CN" altLang="en-US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635623" y="2849969"/>
            <a:ext cx="2152650" cy="522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10110110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635623" y="4297769"/>
            <a:ext cx="272415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[1]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00100110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Group 31"/>
          <p:cNvGrpSpPr/>
          <p:nvPr/>
        </p:nvGrpSpPr>
        <p:grpSpPr bwMode="auto">
          <a:xfrm>
            <a:off x="727182" y="5835198"/>
            <a:ext cx="7707312" cy="858838"/>
            <a:chOff x="877" y="3328"/>
            <a:chExt cx="4855" cy="541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椭圆 33"/>
          <p:cNvSpPr/>
          <p:nvPr/>
        </p:nvSpPr>
        <p:spPr bwMode="auto">
          <a:xfrm>
            <a:off x="654052" y="5848691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ldLvl="0" animBg="1"/>
      <p:bldP spid="8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829" y="1136650"/>
            <a:ext cx="8248261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针对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有符号整数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，判断加减结果是否超出表达范围</a:t>
            </a:r>
            <a:endParaRPr lang="zh-CN" altLang="en-US" sz="26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 lvl="1">
              <a:defRPr/>
            </a:pPr>
            <a:r>
              <a:rPr lang="en-US" altLang="zh-CN" b="1" dirty="0">
                <a:cs typeface="+mn-ea"/>
                <a:sym typeface="+mn-lt"/>
              </a:rPr>
              <a:t>N</a:t>
            </a:r>
            <a:r>
              <a:rPr lang="zh-CN" altLang="en-US" b="1" dirty="0">
                <a:cs typeface="+mn-ea"/>
                <a:sym typeface="+mn-lt"/>
              </a:rPr>
              <a:t>个二进制位表达有符号整数的范围：</a:t>
            </a:r>
            <a:endParaRPr lang="zh-CN" altLang="en-US" b="1" dirty="0">
              <a:cs typeface="+mn-ea"/>
              <a:sym typeface="+mn-lt"/>
            </a:endParaRPr>
          </a:p>
          <a:p>
            <a:pPr marL="0" lvl="1" indent="0" algn="ctr">
              <a:buFontTx/>
              <a:buNone/>
              <a:defRPr/>
            </a:pPr>
            <a:r>
              <a:rPr lang="en-US" altLang="zh-CN" b="1" dirty="0">
                <a:cs typeface="+mn-ea"/>
                <a:sym typeface="+mn-lt"/>
              </a:rPr>
              <a:t>-2</a:t>
            </a:r>
            <a:r>
              <a:rPr lang="en-US" altLang="zh-CN" b="1" baseline="30000" dirty="0">
                <a:cs typeface="+mn-ea"/>
                <a:sym typeface="+mn-lt"/>
              </a:rPr>
              <a:t>N-1</a:t>
            </a:r>
            <a:r>
              <a:rPr lang="zh-CN" altLang="en-US" b="1" dirty="0">
                <a:cs typeface="+mn-ea"/>
                <a:sym typeface="+mn-lt"/>
              </a:rPr>
              <a:t>～</a:t>
            </a: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en-US" altLang="zh-CN" b="1" baseline="30000" dirty="0">
                <a:cs typeface="+mn-ea"/>
                <a:sym typeface="+mn-lt"/>
              </a:rPr>
              <a:t>N-1</a:t>
            </a:r>
            <a:r>
              <a:rPr lang="en-US" altLang="zh-CN" b="1" dirty="0">
                <a:cs typeface="+mn-ea"/>
                <a:sym typeface="+mn-lt"/>
              </a:rPr>
              <a:t>-1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spcBef>
                <a:spcPts val="3000"/>
              </a:spcBef>
              <a:defRPr/>
            </a:pPr>
            <a:r>
              <a:rPr lang="en-US" altLang="zh-CN" b="1" dirty="0">
                <a:cs typeface="+mn-ea"/>
                <a:sym typeface="+mn-lt"/>
              </a:rPr>
              <a:t>8</a:t>
            </a:r>
            <a:r>
              <a:rPr lang="zh-CN" altLang="en-US" b="1" dirty="0">
                <a:cs typeface="+mn-ea"/>
                <a:sym typeface="+mn-lt"/>
              </a:rPr>
              <a:t>位：－</a:t>
            </a:r>
            <a:r>
              <a:rPr lang="en-US" altLang="zh-CN" b="1" dirty="0">
                <a:cs typeface="+mn-ea"/>
                <a:sym typeface="+mn-lt"/>
              </a:rPr>
              <a:t>128</a:t>
            </a:r>
            <a:r>
              <a:rPr lang="zh-CN" altLang="en-US" b="1" dirty="0">
                <a:cs typeface="+mn-ea"/>
                <a:sym typeface="+mn-lt"/>
              </a:rPr>
              <a:t>～＋</a:t>
            </a:r>
            <a:r>
              <a:rPr lang="en-US" altLang="zh-CN" b="1" dirty="0">
                <a:cs typeface="+mn-ea"/>
                <a:sym typeface="+mn-lt"/>
              </a:rPr>
              <a:t>127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defRPr/>
            </a:pPr>
            <a:r>
              <a:rPr lang="en-US" altLang="zh-CN" b="1" dirty="0">
                <a:cs typeface="+mn-ea"/>
                <a:sym typeface="+mn-lt"/>
              </a:rPr>
              <a:t>16</a:t>
            </a:r>
            <a:r>
              <a:rPr lang="zh-CN" altLang="en-US" b="1" dirty="0">
                <a:cs typeface="+mn-ea"/>
                <a:sym typeface="+mn-lt"/>
              </a:rPr>
              <a:t>位：－</a:t>
            </a:r>
            <a:r>
              <a:rPr lang="en-US" altLang="zh-CN" b="1" dirty="0">
                <a:cs typeface="+mn-ea"/>
                <a:sym typeface="+mn-lt"/>
              </a:rPr>
              <a:t>32768</a:t>
            </a:r>
            <a:r>
              <a:rPr lang="zh-CN" altLang="en-US" b="1" dirty="0">
                <a:cs typeface="+mn-ea"/>
                <a:sym typeface="+mn-lt"/>
              </a:rPr>
              <a:t>～＋</a:t>
            </a:r>
            <a:r>
              <a:rPr lang="en-US" altLang="zh-CN" b="1" dirty="0">
                <a:cs typeface="+mn-ea"/>
                <a:sym typeface="+mn-lt"/>
              </a:rPr>
              <a:t>32767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defRPr/>
            </a:pPr>
            <a:r>
              <a:rPr lang="en-US" altLang="zh-CN" b="1" dirty="0">
                <a:cs typeface="+mn-ea"/>
                <a:sym typeface="+mn-lt"/>
              </a:rPr>
              <a:t>32</a:t>
            </a:r>
            <a:r>
              <a:rPr lang="zh-CN" altLang="en-US" b="1" dirty="0">
                <a:cs typeface="+mn-ea"/>
                <a:sym typeface="+mn-lt"/>
              </a:rPr>
              <a:t>位：－</a:t>
            </a: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en-US" altLang="zh-CN" b="1" baseline="30000" dirty="0">
                <a:cs typeface="+mn-ea"/>
                <a:sym typeface="+mn-lt"/>
              </a:rPr>
              <a:t>31</a:t>
            </a:r>
            <a:r>
              <a:rPr lang="zh-CN" altLang="en-US" b="1" dirty="0">
                <a:cs typeface="+mn-ea"/>
                <a:sym typeface="+mn-lt"/>
              </a:rPr>
              <a:t>～＋</a:t>
            </a: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en-US" altLang="zh-CN" b="1" baseline="30000" dirty="0">
                <a:cs typeface="+mn-ea"/>
                <a:sym typeface="+mn-lt"/>
              </a:rPr>
              <a:t>31</a:t>
            </a:r>
            <a:r>
              <a:rPr lang="zh-CN" altLang="en-US" b="1" dirty="0">
                <a:cs typeface="+mn-ea"/>
                <a:sym typeface="+mn-lt"/>
              </a:rPr>
              <a:t>－</a:t>
            </a:r>
            <a:r>
              <a:rPr lang="en-US" altLang="zh-CN" b="1" dirty="0">
                <a:cs typeface="+mn-ea"/>
                <a:sym typeface="+mn-lt"/>
              </a:rPr>
              <a:t>1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2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7774189" y="1338782"/>
            <a:ext cx="617457" cy="4524315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195580" indent="-195580"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3200" b="1" kern="12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进位和溢出的区别</a:t>
            </a:r>
            <a:endParaRPr lang="zh-CN" altLang="en-US" sz="3200" b="1" kern="12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37134"/>
            <a:ext cx="82296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CF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反映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无符号整数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运算结果是否超出范围</a:t>
            </a:r>
            <a:endParaRPr lang="zh-CN" altLang="en-US" sz="26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 marL="720090" lvl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有进位，加上进位或借位后运算结果仍然正确</a:t>
            </a:r>
            <a:endParaRPr lang="zh-CN" altLang="en-US" sz="2400" b="1" kern="1200" dirty="0">
              <a:cs typeface="+mn-ea"/>
              <a:sym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OF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反映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有符号整数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运算结果是否超出范围</a:t>
            </a:r>
            <a:endParaRPr lang="zh-CN" altLang="en-US" sz="26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 marL="720090" lvl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有溢出，运算结果已经</a:t>
            </a:r>
            <a:r>
              <a:rPr lang="zh-CN" altLang="en-US" sz="3600" b="1" kern="1200" dirty="0">
                <a:solidFill>
                  <a:srgbClr val="990033"/>
                </a:solidFill>
                <a:cs typeface="+mn-ea"/>
                <a:sym typeface="+mn-lt"/>
              </a:rPr>
              <a:t>不正确</a:t>
            </a:r>
            <a:endParaRPr lang="zh-CN" altLang="en-US" sz="2400" b="1" kern="1200" dirty="0">
              <a:cs typeface="+mn-ea"/>
              <a:sym typeface="+mn-lt"/>
            </a:endParaRPr>
          </a:p>
          <a:p>
            <a:pPr marL="342900" lvl="1" indent="-342900">
              <a:spcAft>
                <a:spcPts val="600"/>
              </a:spcAft>
              <a:buFontTx/>
              <a:buChar char="•"/>
              <a:defRPr/>
            </a:pPr>
            <a:r>
              <a:rPr lang="zh-CN" altLang="en-US" sz="2600" b="1" kern="1200" dirty="0">
                <a:cs typeface="+mn-ea"/>
                <a:sym typeface="+mn-lt"/>
              </a:rPr>
              <a:t>处理器按照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无符号整数</a:t>
            </a:r>
            <a:r>
              <a:rPr lang="zh-CN" altLang="en-US" sz="2600" b="1" kern="1200" dirty="0">
                <a:cs typeface="+mn-ea"/>
                <a:sym typeface="+mn-lt"/>
              </a:rPr>
              <a:t>求得结果</a:t>
            </a:r>
            <a:endParaRPr lang="en-US" altLang="zh-CN" sz="2600" b="1" kern="1200" dirty="0">
              <a:cs typeface="+mn-ea"/>
              <a:sym typeface="+mn-lt"/>
            </a:endParaRPr>
          </a:p>
          <a:p>
            <a:pPr lvl="1"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设置进位标志</a:t>
            </a:r>
            <a:r>
              <a:rPr lang="en-US" altLang="zh-CN" sz="2400" b="1" kern="1200" dirty="0">
                <a:cs typeface="+mn-ea"/>
                <a:sym typeface="+mn-lt"/>
              </a:rPr>
              <a:t>CF</a:t>
            </a:r>
            <a:endParaRPr lang="en-US" altLang="zh-CN" sz="2400" b="1" kern="1200" dirty="0">
              <a:cs typeface="+mn-ea"/>
              <a:sym typeface="+mn-lt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设置溢出标志</a:t>
            </a:r>
            <a:r>
              <a:rPr lang="en-US" altLang="zh-CN" sz="2400" b="1" kern="1200" dirty="0">
                <a:cs typeface="+mn-ea"/>
                <a:sym typeface="+mn-lt"/>
              </a:rPr>
              <a:t>OF</a:t>
            </a:r>
            <a:endParaRPr lang="en-US" altLang="zh-CN" sz="2400" b="1" kern="1200" dirty="0">
              <a:cs typeface="+mn-ea"/>
              <a:sym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zh-CN" altLang="en-US" sz="2600" b="1" kern="1200" dirty="0">
                <a:cs typeface="+mn-ea"/>
                <a:sym typeface="+mn-lt"/>
              </a:rPr>
              <a:t>程序员决定</a:t>
            </a:r>
            <a:endParaRPr lang="zh-CN" altLang="en-US" sz="2600" b="1" kern="1200" dirty="0">
              <a:cs typeface="+mn-ea"/>
              <a:sym typeface="+mn-lt"/>
            </a:endParaRPr>
          </a:p>
          <a:p>
            <a:pPr lvl="1"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操作数是</a:t>
            </a:r>
            <a:r>
              <a:rPr lang="zh-CN" altLang="en-US" sz="2400" b="1" kern="1200" dirty="0">
                <a:solidFill>
                  <a:srgbClr val="C00000"/>
                </a:solidFill>
                <a:cs typeface="+mn-ea"/>
                <a:sym typeface="+mn-lt"/>
              </a:rPr>
              <a:t>无符号数</a:t>
            </a:r>
            <a:r>
              <a:rPr lang="zh-CN" altLang="en-US" sz="2400" b="1" kern="1200" dirty="0">
                <a:cs typeface="+mn-ea"/>
                <a:sym typeface="+mn-lt"/>
              </a:rPr>
              <a:t>，关心</a:t>
            </a:r>
            <a:r>
              <a:rPr lang="zh-CN" altLang="en-US" sz="2400" b="1" kern="1200" dirty="0">
                <a:solidFill>
                  <a:srgbClr val="C00000"/>
                </a:solidFill>
                <a:cs typeface="+mn-ea"/>
                <a:sym typeface="+mn-lt"/>
              </a:rPr>
              <a:t>进位</a:t>
            </a:r>
            <a:endParaRPr lang="zh-CN" altLang="en-US" sz="2400" b="1" kern="1200" dirty="0">
              <a:solidFill>
                <a:srgbClr val="C00000"/>
              </a:solidFill>
              <a:cs typeface="+mn-ea"/>
              <a:sym typeface="+mn-lt"/>
            </a:endParaRPr>
          </a:p>
          <a:p>
            <a:pPr lvl="1"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操作数是</a:t>
            </a:r>
            <a:r>
              <a:rPr lang="zh-CN" altLang="en-US" sz="2400" b="1" kern="1200" dirty="0">
                <a:solidFill>
                  <a:srgbClr val="C00000"/>
                </a:solidFill>
                <a:cs typeface="+mn-ea"/>
                <a:sym typeface="+mn-lt"/>
              </a:rPr>
              <a:t>有符号数</a:t>
            </a:r>
            <a:r>
              <a:rPr lang="zh-CN" altLang="en-US" sz="2400" b="1" kern="1200" dirty="0">
                <a:cs typeface="+mn-ea"/>
                <a:sym typeface="+mn-lt"/>
              </a:rPr>
              <a:t>，注意</a:t>
            </a:r>
            <a:r>
              <a:rPr lang="zh-CN" altLang="en-US" sz="2400" b="1" kern="1200" dirty="0">
                <a:solidFill>
                  <a:srgbClr val="C00000"/>
                </a:solidFill>
                <a:cs typeface="+mn-ea"/>
                <a:sym typeface="+mn-lt"/>
              </a:rPr>
              <a:t>溢出</a:t>
            </a:r>
            <a:endParaRPr lang="zh-CN" altLang="en-US" sz="2400" b="1" kern="1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0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0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0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0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0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0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0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0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0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0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0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05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05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05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05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05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05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05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05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05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05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05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05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57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1082"/>
            <a:ext cx="8229600" cy="584200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195580" indent="-195580"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溢出标志的判断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1367" y="1662112"/>
            <a:ext cx="8229600" cy="45259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处理器硬件判断规则</a:t>
            </a:r>
            <a:endParaRPr lang="zh-CN" altLang="en-US" sz="26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 marL="720090" lvl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最高位和次高位同时有进位或同时无进位，无溢出；</a:t>
            </a:r>
            <a:endParaRPr lang="en-US" altLang="zh-CN" sz="2400" b="1" kern="1200" dirty="0">
              <a:cs typeface="+mn-ea"/>
              <a:sym typeface="+mn-lt"/>
            </a:endParaRPr>
          </a:p>
          <a:p>
            <a:pPr marL="720090" lvl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最高位和次高位进位状态不同，有溢出</a:t>
            </a:r>
            <a:endParaRPr lang="zh-CN" altLang="en-US" sz="2400" b="1" kern="1200" dirty="0">
              <a:cs typeface="+mn-ea"/>
              <a:sym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人工判断的简单规则</a:t>
            </a:r>
            <a:endParaRPr lang="zh-CN" altLang="en-US" sz="26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 marL="720090" lvl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只有当两个相同符号数相加（含两个不同符号数相减），而运算结果的符号与原数据符号相反时，产生溢出；其他情况下，不会产生溢出</a:t>
            </a:r>
            <a:endParaRPr lang="zh-CN" altLang="en-US" sz="2400" b="1" kern="1200" dirty="0">
              <a:cs typeface="+mn-ea"/>
              <a:sym typeface="+mn-lt"/>
            </a:endParaRPr>
          </a:p>
        </p:txBody>
      </p:sp>
      <p:grpSp>
        <p:nvGrpSpPr>
          <p:cNvPr id="28676" name="Group 4"/>
          <p:cNvGrpSpPr/>
          <p:nvPr/>
        </p:nvGrpSpPr>
        <p:grpSpPr bwMode="auto">
          <a:xfrm>
            <a:off x="2049416" y="4960936"/>
            <a:ext cx="3950073" cy="1728788"/>
            <a:chOff x="748" y="2892"/>
            <a:chExt cx="2323" cy="1089"/>
          </a:xfrm>
        </p:grpSpPr>
        <p:grpSp>
          <p:nvGrpSpPr>
            <p:cNvPr id="38917" name="Group 5"/>
            <p:cNvGrpSpPr/>
            <p:nvPr/>
          </p:nvGrpSpPr>
          <p:grpSpPr bwMode="auto">
            <a:xfrm>
              <a:off x="1665" y="2892"/>
              <a:ext cx="1406" cy="1089"/>
              <a:chOff x="3208" y="3028"/>
              <a:chExt cx="1406" cy="1089"/>
            </a:xfrm>
          </p:grpSpPr>
          <p:sp>
            <p:nvSpPr>
              <p:cNvPr id="38927" name="filecab3"/>
              <p:cNvSpPr>
                <a:spLocks noEditPoints="1" noChangeArrowheads="1"/>
              </p:cNvSpPr>
              <p:nvPr/>
            </p:nvSpPr>
            <p:spPr bwMode="auto">
              <a:xfrm flipV="1">
                <a:off x="3208" y="3028"/>
                <a:ext cx="1406" cy="108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999 w 21600"/>
                  <a:gd name="T25" fmla="*/ 516 h 21600"/>
                  <a:gd name="T26" fmla="*/ 20540 w 21600"/>
                  <a:gd name="T27" fmla="*/ 1876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10788" y="0"/>
                    </a:moveTo>
                    <a:lnTo>
                      <a:pt x="0" y="0"/>
                    </a:lnTo>
                    <a:lnTo>
                      <a:pt x="0" y="10800"/>
                    </a:lnTo>
                    <a:lnTo>
                      <a:pt x="0" y="19099"/>
                    </a:lnTo>
                    <a:lnTo>
                      <a:pt x="8466" y="19099"/>
                    </a:lnTo>
                    <a:lnTo>
                      <a:pt x="8490" y="19440"/>
                    </a:lnTo>
                    <a:lnTo>
                      <a:pt x="8537" y="20008"/>
                    </a:lnTo>
                    <a:lnTo>
                      <a:pt x="8607" y="20349"/>
                    </a:lnTo>
                    <a:lnTo>
                      <a:pt x="8701" y="20691"/>
                    </a:lnTo>
                    <a:lnTo>
                      <a:pt x="8842" y="21145"/>
                    </a:lnTo>
                    <a:lnTo>
                      <a:pt x="9053" y="21373"/>
                    </a:lnTo>
                    <a:lnTo>
                      <a:pt x="9264" y="21600"/>
                    </a:lnTo>
                    <a:lnTo>
                      <a:pt x="9545" y="21600"/>
                    </a:lnTo>
                    <a:lnTo>
                      <a:pt x="10718" y="21600"/>
                    </a:lnTo>
                    <a:lnTo>
                      <a:pt x="11891" y="21600"/>
                    </a:lnTo>
                    <a:lnTo>
                      <a:pt x="12266" y="21600"/>
                    </a:lnTo>
                    <a:lnTo>
                      <a:pt x="12477" y="21429"/>
                    </a:lnTo>
                    <a:lnTo>
                      <a:pt x="12618" y="21202"/>
                    </a:lnTo>
                    <a:lnTo>
                      <a:pt x="12758" y="20861"/>
                    </a:lnTo>
                    <a:lnTo>
                      <a:pt x="12922" y="20349"/>
                    </a:lnTo>
                    <a:lnTo>
                      <a:pt x="12993" y="19952"/>
                    </a:lnTo>
                    <a:lnTo>
                      <a:pt x="13016" y="19440"/>
                    </a:lnTo>
                    <a:lnTo>
                      <a:pt x="13063" y="19099"/>
                    </a:lnTo>
                    <a:lnTo>
                      <a:pt x="21600" y="19099"/>
                    </a:lnTo>
                    <a:lnTo>
                      <a:pt x="21600" y="10800"/>
                    </a:lnTo>
                    <a:lnTo>
                      <a:pt x="21600" y="0"/>
                    </a:lnTo>
                    <a:lnTo>
                      <a:pt x="10788" y="0"/>
                    </a:lnTo>
                    <a:close/>
                    <a:moveTo>
                      <a:pt x="9053" y="19099"/>
                    </a:moveTo>
                    <a:lnTo>
                      <a:pt x="9053" y="19440"/>
                    </a:lnTo>
                    <a:lnTo>
                      <a:pt x="9076" y="19611"/>
                    </a:lnTo>
                    <a:lnTo>
                      <a:pt x="9123" y="19781"/>
                    </a:lnTo>
                    <a:lnTo>
                      <a:pt x="9193" y="20008"/>
                    </a:lnTo>
                    <a:lnTo>
                      <a:pt x="9264" y="20179"/>
                    </a:lnTo>
                    <a:lnTo>
                      <a:pt x="9334" y="20293"/>
                    </a:lnTo>
                    <a:lnTo>
                      <a:pt x="9405" y="20349"/>
                    </a:lnTo>
                    <a:lnTo>
                      <a:pt x="9545" y="20349"/>
                    </a:lnTo>
                    <a:lnTo>
                      <a:pt x="11891" y="20349"/>
                    </a:lnTo>
                    <a:lnTo>
                      <a:pt x="12031" y="20349"/>
                    </a:lnTo>
                    <a:lnTo>
                      <a:pt x="12172" y="20236"/>
                    </a:lnTo>
                    <a:lnTo>
                      <a:pt x="12266" y="20179"/>
                    </a:lnTo>
                    <a:lnTo>
                      <a:pt x="12336" y="20008"/>
                    </a:lnTo>
                    <a:lnTo>
                      <a:pt x="12383" y="19838"/>
                    </a:lnTo>
                    <a:lnTo>
                      <a:pt x="12430" y="19611"/>
                    </a:lnTo>
                    <a:lnTo>
                      <a:pt x="12477" y="19440"/>
                    </a:lnTo>
                    <a:lnTo>
                      <a:pt x="12477" y="19099"/>
                    </a:lnTo>
                    <a:lnTo>
                      <a:pt x="9053" y="19099"/>
                    </a:lnTo>
                    <a:close/>
                  </a:path>
                  <a:path w="21600" h="21600" extrusionOk="0">
                    <a:moveTo>
                      <a:pt x="9053" y="19099"/>
                    </a:moveTo>
                    <a:lnTo>
                      <a:pt x="0" y="19099"/>
                    </a:lnTo>
                    <a:lnTo>
                      <a:pt x="21600" y="19099"/>
                    </a:lnTo>
                  </a:path>
                </a:pathLst>
              </a:custGeom>
              <a:solidFill>
                <a:schemeClr val="folHlink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rot="10800000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zh-CN" altLang="en-US" sz="2800">
                    <a:solidFill>
                      <a:srgbClr val="0000CC"/>
                    </a:solidFill>
                    <a:latin typeface="+mn-lt"/>
                    <a:ea typeface="+mn-ea"/>
                    <a:cs typeface="+mn-ea"/>
                    <a:sym typeface="+mn-lt"/>
                  </a:rPr>
                  <a:t>　</a:t>
                </a:r>
                <a:r>
                  <a:rPr lang="en-US" altLang="zh-CN" sz="2800">
                    <a:solidFill>
                      <a:srgbClr val="CC3300"/>
                    </a:solidFill>
                    <a:latin typeface="+mn-lt"/>
                    <a:ea typeface="+mn-ea"/>
                    <a:cs typeface="+mn-ea"/>
                    <a:sym typeface="+mn-lt"/>
                  </a:rPr>
                  <a:t>0</a:t>
                </a:r>
                <a:r>
                  <a:rPr lang="en-US" altLang="zh-CN" sz="2800">
                    <a:solidFill>
                      <a:srgbClr val="0000CC"/>
                    </a:solidFill>
                    <a:latin typeface="+mn-lt"/>
                    <a:ea typeface="+mn-ea"/>
                    <a:cs typeface="+mn-ea"/>
                    <a:sym typeface="+mn-lt"/>
                  </a:rPr>
                  <a:t>0</a:t>
                </a:r>
                <a:r>
                  <a:rPr lang="en-US" altLang="zh-CN" sz="2800">
                    <a:latin typeface="+mn-lt"/>
                    <a:ea typeface="+mn-ea"/>
                    <a:cs typeface="+mn-ea"/>
                    <a:sym typeface="+mn-lt"/>
                  </a:rPr>
                  <a:t>111010</a:t>
                </a:r>
                <a:endParaRPr lang="en-US" altLang="zh-CN" sz="280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algn="just"/>
                <a:r>
                  <a:rPr lang="zh-CN" altLang="en-US" sz="2800">
                    <a:solidFill>
                      <a:srgbClr val="0000CC"/>
                    </a:solidFill>
                    <a:latin typeface="+mn-lt"/>
                    <a:ea typeface="+mn-ea"/>
                    <a:cs typeface="+mn-ea"/>
                    <a:sym typeface="+mn-lt"/>
                  </a:rPr>
                  <a:t>＋</a:t>
                </a:r>
                <a:r>
                  <a:rPr lang="en-US" altLang="zh-CN" sz="2800">
                    <a:solidFill>
                      <a:srgbClr val="CC3300"/>
                    </a:solidFill>
                    <a:latin typeface="+mn-lt"/>
                    <a:ea typeface="+mn-ea"/>
                    <a:cs typeface="+mn-ea"/>
                    <a:sym typeface="+mn-lt"/>
                  </a:rPr>
                  <a:t>0</a:t>
                </a:r>
                <a:r>
                  <a:rPr lang="en-US" altLang="zh-CN" sz="2800">
                    <a:solidFill>
                      <a:srgbClr val="0000CC"/>
                    </a:solidFill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r>
                  <a:rPr lang="en-US" altLang="zh-CN" sz="2800">
                    <a:latin typeface="+mn-lt"/>
                    <a:ea typeface="+mn-ea"/>
                    <a:cs typeface="+mn-ea"/>
                    <a:sym typeface="+mn-lt"/>
                  </a:rPr>
                  <a:t>111100</a:t>
                </a:r>
                <a:endParaRPr lang="en-US" altLang="zh-CN" sz="2800">
                  <a:latin typeface="+mn-lt"/>
                  <a:ea typeface="+mn-ea"/>
                  <a:cs typeface="+mn-ea"/>
                  <a:sym typeface="+mn-lt"/>
                </a:endParaRPr>
              </a:p>
              <a:p>
                <a:pPr algn="just">
                  <a:spcBef>
                    <a:spcPct val="20000"/>
                  </a:spcBef>
                </a:pPr>
                <a:r>
                  <a:rPr lang="zh-CN" altLang="en-US" sz="2800">
                    <a:solidFill>
                      <a:srgbClr val="CC3300"/>
                    </a:solidFill>
                    <a:latin typeface="+mn-lt"/>
                    <a:ea typeface="+mn-ea"/>
                    <a:cs typeface="+mn-ea"/>
                    <a:sym typeface="+mn-lt"/>
                  </a:rPr>
                  <a:t>　</a:t>
                </a:r>
                <a:r>
                  <a:rPr lang="en-US" altLang="zh-CN" sz="2800">
                    <a:solidFill>
                      <a:srgbClr val="CC3300"/>
                    </a:solidFill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r>
                  <a:rPr lang="en-US" altLang="zh-CN" sz="2800">
                    <a:solidFill>
                      <a:srgbClr val="0000CC"/>
                    </a:solidFill>
                    <a:latin typeface="+mn-lt"/>
                    <a:ea typeface="+mn-ea"/>
                    <a:cs typeface="+mn-ea"/>
                    <a:sym typeface="+mn-lt"/>
                  </a:rPr>
                  <a:t>0</a:t>
                </a:r>
                <a:r>
                  <a:rPr lang="en-US" altLang="zh-CN" sz="2800">
                    <a:latin typeface="+mn-lt"/>
                    <a:ea typeface="+mn-ea"/>
                    <a:cs typeface="+mn-ea"/>
                    <a:sym typeface="+mn-lt"/>
                  </a:rPr>
                  <a:t>110110</a:t>
                </a:r>
                <a:endParaRPr lang="zh-CN" altLang="en-US" sz="280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928" name="Line 7"/>
              <p:cNvSpPr>
                <a:spLocks noChangeShapeType="1"/>
              </p:cNvSpPr>
              <p:nvPr/>
            </p:nvSpPr>
            <p:spPr bwMode="auto">
              <a:xfrm>
                <a:off x="3298" y="3801"/>
                <a:ext cx="11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8918" name="Group 8"/>
            <p:cNvGrpSpPr/>
            <p:nvPr/>
          </p:nvGrpSpPr>
          <p:grpSpPr bwMode="auto">
            <a:xfrm>
              <a:off x="748" y="2971"/>
              <a:ext cx="1243" cy="291"/>
              <a:chOff x="866" y="2971"/>
              <a:chExt cx="1243" cy="291"/>
            </a:xfrm>
          </p:grpSpPr>
          <p:sp>
            <p:nvSpPr>
              <p:cNvPr id="38925" name="Text Box 9"/>
              <p:cNvSpPr txBox="1">
                <a:spLocks noChangeArrowheads="1"/>
              </p:cNvSpPr>
              <p:nvPr/>
            </p:nvSpPr>
            <p:spPr bwMode="auto">
              <a:xfrm>
                <a:off x="866" y="2971"/>
                <a:ext cx="47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dirty="0">
                    <a:solidFill>
                      <a:srgbClr val="660066"/>
                    </a:solidFill>
                    <a:latin typeface="+mn-lt"/>
                    <a:ea typeface="+mn-ea"/>
                    <a:cs typeface="+mn-ea"/>
                    <a:sym typeface="+mn-lt"/>
                  </a:rPr>
                  <a:t>正数</a:t>
                </a:r>
                <a:endParaRPr lang="zh-CN" altLang="en-US" dirty="0">
                  <a:solidFill>
                    <a:srgbClr val="660066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926" name="Line 10"/>
              <p:cNvSpPr>
                <a:spLocks noChangeShapeType="1"/>
              </p:cNvSpPr>
              <p:nvPr/>
            </p:nvSpPr>
            <p:spPr bwMode="auto">
              <a:xfrm>
                <a:off x="1338" y="3113"/>
                <a:ext cx="771" cy="0"/>
              </a:xfrm>
              <a:prstGeom prst="line">
                <a:avLst/>
              </a:prstGeom>
              <a:noFill/>
              <a:ln w="9525">
                <a:solidFill>
                  <a:srgbClr val="66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8919" name="Group 11"/>
            <p:cNvGrpSpPr/>
            <p:nvPr/>
          </p:nvGrpSpPr>
          <p:grpSpPr bwMode="auto">
            <a:xfrm>
              <a:off x="748" y="3294"/>
              <a:ext cx="1243" cy="291"/>
              <a:chOff x="866" y="2971"/>
              <a:chExt cx="1243" cy="291"/>
            </a:xfrm>
          </p:grpSpPr>
          <p:sp>
            <p:nvSpPr>
              <p:cNvPr id="38923" name="Text Box 12"/>
              <p:cNvSpPr txBox="1">
                <a:spLocks noChangeArrowheads="1"/>
              </p:cNvSpPr>
              <p:nvPr/>
            </p:nvSpPr>
            <p:spPr bwMode="auto">
              <a:xfrm>
                <a:off x="866" y="2971"/>
                <a:ext cx="47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dirty="0">
                    <a:solidFill>
                      <a:srgbClr val="660066"/>
                    </a:solidFill>
                    <a:latin typeface="+mn-lt"/>
                    <a:ea typeface="+mn-ea"/>
                    <a:cs typeface="+mn-ea"/>
                    <a:sym typeface="+mn-lt"/>
                  </a:rPr>
                  <a:t>正数</a:t>
                </a:r>
                <a:endParaRPr lang="zh-CN" altLang="en-US" dirty="0">
                  <a:solidFill>
                    <a:srgbClr val="660066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924" name="Line 13"/>
              <p:cNvSpPr>
                <a:spLocks noChangeShapeType="1"/>
              </p:cNvSpPr>
              <p:nvPr/>
            </p:nvSpPr>
            <p:spPr bwMode="auto">
              <a:xfrm>
                <a:off x="1338" y="3113"/>
                <a:ext cx="771" cy="0"/>
              </a:xfrm>
              <a:prstGeom prst="line">
                <a:avLst/>
              </a:prstGeom>
              <a:noFill/>
              <a:ln w="9525">
                <a:solidFill>
                  <a:srgbClr val="66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8920" name="Group 14"/>
            <p:cNvGrpSpPr/>
            <p:nvPr/>
          </p:nvGrpSpPr>
          <p:grpSpPr bwMode="auto">
            <a:xfrm>
              <a:off x="748" y="3612"/>
              <a:ext cx="1243" cy="291"/>
              <a:chOff x="866" y="2971"/>
              <a:chExt cx="1243" cy="291"/>
            </a:xfrm>
          </p:grpSpPr>
          <p:sp>
            <p:nvSpPr>
              <p:cNvPr id="38921" name="Text Box 15"/>
              <p:cNvSpPr txBox="1">
                <a:spLocks noChangeArrowheads="1"/>
              </p:cNvSpPr>
              <p:nvPr/>
            </p:nvSpPr>
            <p:spPr bwMode="auto">
              <a:xfrm>
                <a:off x="866" y="2971"/>
                <a:ext cx="47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660066"/>
                    </a:solidFill>
                    <a:latin typeface="+mn-lt"/>
                    <a:ea typeface="+mn-ea"/>
                    <a:cs typeface="+mn-ea"/>
                    <a:sym typeface="+mn-lt"/>
                  </a:rPr>
                  <a:t>负数</a:t>
                </a:r>
                <a:endParaRPr lang="zh-CN" altLang="en-US">
                  <a:solidFill>
                    <a:srgbClr val="660066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922" name="Line 16"/>
              <p:cNvSpPr>
                <a:spLocks noChangeShapeType="1"/>
              </p:cNvSpPr>
              <p:nvPr/>
            </p:nvSpPr>
            <p:spPr bwMode="auto">
              <a:xfrm>
                <a:off x="1338" y="3113"/>
                <a:ext cx="771" cy="0"/>
              </a:xfrm>
              <a:prstGeom prst="line">
                <a:avLst/>
              </a:prstGeom>
              <a:noFill/>
              <a:ln w="9525">
                <a:solidFill>
                  <a:srgbClr val="66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177925"/>
            <a:ext cx="8229600" cy="584200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零标志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ZF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Zero Flag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5375" y="1876425"/>
            <a:ext cx="7481888" cy="736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4625" indent="-174625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 运算结果为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0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则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ZF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1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，否则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ZF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0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85863" y="2895600"/>
            <a:ext cx="7377112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00111010</a:t>
            </a:r>
            <a:r>
              <a:rPr lang="zh-CN" altLang="en-US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结果不是</a:t>
            </a: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zh-CN" altLang="en-US" sz="280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ZF</a:t>
            </a: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lang="en-US" altLang="zh-CN" sz="280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10000100</a:t>
            </a:r>
            <a:r>
              <a:rPr lang="zh-CN" altLang="en-US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结果是</a:t>
            </a: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ZF=1</a:t>
            </a:r>
            <a:endParaRPr lang="zh-CN" altLang="en-US" sz="280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08650" y="3009900"/>
            <a:ext cx="2152650" cy="522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10110110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8650" y="4457700"/>
            <a:ext cx="272415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[1]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00000000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Group 31"/>
          <p:cNvGrpSpPr/>
          <p:nvPr/>
        </p:nvGrpSpPr>
        <p:grpSpPr bwMode="auto">
          <a:xfrm>
            <a:off x="725488" y="5870769"/>
            <a:ext cx="7707312" cy="858838"/>
            <a:chOff x="877" y="3328"/>
            <a:chExt cx="4855" cy="541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椭圆 33"/>
          <p:cNvSpPr/>
          <p:nvPr/>
        </p:nvSpPr>
        <p:spPr bwMode="auto">
          <a:xfrm>
            <a:off x="3862387" y="5884262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ldLvl="0" animBg="1"/>
      <p:bldP spid="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177925"/>
            <a:ext cx="8229600" cy="584200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符号标志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SF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Sign Flag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8400" y="1876425"/>
            <a:ext cx="7481888" cy="736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4625" indent="-174625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 运算结果最高位为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1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则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SF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1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，否则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SF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0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85863" y="2895600"/>
            <a:ext cx="7377112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00111010</a:t>
            </a:r>
            <a:r>
              <a:rPr lang="zh-CN" altLang="en-US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最高位为</a:t>
            </a: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SF</a:t>
            </a: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en-US" altLang="zh-CN" sz="280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10000100</a:t>
            </a:r>
            <a:r>
              <a:rPr lang="zh-CN" altLang="en-US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最高位为</a:t>
            </a:r>
            <a:r>
              <a:rPr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zh-CN" altLang="en-US" sz="280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SF=0</a:t>
            </a:r>
            <a:endParaRPr lang="zh-CN" altLang="en-US" sz="280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08650" y="3009900"/>
            <a:ext cx="2152650" cy="522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0110110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8650" y="4457700"/>
            <a:ext cx="272415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[1]0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0000000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H="1" flipV="1">
            <a:off x="6402388" y="4973638"/>
            <a:ext cx="314325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672263" y="5153025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进位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" name="Group 31"/>
          <p:cNvGrpSpPr/>
          <p:nvPr/>
        </p:nvGrpSpPr>
        <p:grpSpPr bwMode="auto">
          <a:xfrm>
            <a:off x="761748" y="5904644"/>
            <a:ext cx="7707312" cy="858838"/>
            <a:chOff x="877" y="3328"/>
            <a:chExt cx="4855" cy="541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" name="椭圆 35"/>
          <p:cNvSpPr/>
          <p:nvPr/>
        </p:nvSpPr>
        <p:spPr bwMode="auto">
          <a:xfrm>
            <a:off x="3256502" y="5904644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ldLvl="0" animBg="1"/>
      <p:bldP spid="8" grpId="0" bldLvl="0" animBg="1"/>
      <p:bldP spid="10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177925"/>
            <a:ext cx="8229600" cy="584200"/>
          </a:xfrm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奇偶标志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PF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Parity Flag</a:t>
            </a:r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965" y="1797844"/>
            <a:ext cx="8384070" cy="736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4625" indent="-174625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当运算结果最低字节中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”1”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的个数为零或偶数时，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PF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1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；否则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PF</a:t>
            </a:r>
            <a:r>
              <a:rPr lang="zh-CN" altLang="en-US" sz="28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800" b="1" kern="1200" dirty="0">
                <a:solidFill>
                  <a:srgbClr val="002060"/>
                </a:solidFill>
                <a:cs typeface="+mn-ea"/>
                <a:sym typeface="+mn-lt"/>
              </a:rPr>
              <a:t>0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32682" y="2997995"/>
            <a:ext cx="7375525" cy="318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00111010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         “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”的个数为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zh-CN" altLang="en-US" sz="28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PF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lang="en-US" altLang="zh-CN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10000100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＋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01111100</a:t>
            </a:r>
            <a:endParaRPr lang="en-US" altLang="zh-CN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”的个数为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个，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PF=1</a:t>
            </a:r>
            <a:endParaRPr lang="zh-CN" altLang="en-US" sz="2800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37994" y="3144045"/>
            <a:ext cx="2152650" cy="5222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11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11</a:t>
            </a:r>
            <a:r>
              <a:rPr lang="en-US" altLang="zh-CN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sz="2800" dirty="0">
              <a:solidFill>
                <a:srgbClr val="0000C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684044" y="4575970"/>
            <a:ext cx="27225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CC"/>
                </a:solidFill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[1</a:t>
            </a:r>
            <a:r>
              <a:rPr lang="en-US" altLang="zh-CN" sz="2800" u="sng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]00000000</a:t>
            </a:r>
            <a:endParaRPr lang="zh-CN" altLang="en-US" sz="2800" u="sng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Group 31"/>
          <p:cNvGrpSpPr/>
          <p:nvPr/>
        </p:nvGrpSpPr>
        <p:grpSpPr bwMode="auto">
          <a:xfrm>
            <a:off x="730029" y="5935974"/>
            <a:ext cx="7707312" cy="858838"/>
            <a:chOff x="877" y="3328"/>
            <a:chExt cx="4855" cy="541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椭圆 33"/>
          <p:cNvSpPr/>
          <p:nvPr/>
        </p:nvSpPr>
        <p:spPr bwMode="auto">
          <a:xfrm>
            <a:off x="6430341" y="5949467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ldLvl="0" animBg="1"/>
      <p:bldP spid="8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4"/>
          <p:cNvSpPr>
            <a:spLocks noChangeArrowheads="1"/>
          </p:cNvSpPr>
          <p:nvPr/>
        </p:nvSpPr>
        <p:spPr bwMode="gray">
          <a:xfrm rot="5400000">
            <a:off x="6265069" y="646844"/>
            <a:ext cx="1727200" cy="3240088"/>
          </a:xfrm>
          <a:prstGeom prst="roundRect">
            <a:avLst>
              <a:gd name="adj" fmla="val 11560"/>
            </a:avLst>
          </a:prstGeom>
          <a:gradFill rotWithShape="1">
            <a:gsLst>
              <a:gs pos="0">
                <a:srgbClr val="F8F8F8">
                  <a:gamma/>
                  <a:shade val="77647"/>
                  <a:invGamma/>
                  <a:alpha val="98000"/>
                </a:srgbClr>
              </a:gs>
              <a:gs pos="50000">
                <a:srgbClr val="F8F8F8"/>
              </a:gs>
              <a:gs pos="100000">
                <a:srgbClr val="F8F8F8">
                  <a:gamma/>
                  <a:shade val="77647"/>
                  <a:invGamma/>
                  <a:alpha val="98000"/>
                </a:srgbClr>
              </a:gs>
            </a:gsLst>
            <a:lin ang="5400000" scaled="1"/>
          </a:gradFill>
          <a:ln w="38100" algn="ctr">
            <a:noFill/>
            <a:round/>
          </a:ln>
          <a:effectLst>
            <a:prstShdw prst="shdw17" dist="17961" dir="2700000">
              <a:srgbClr val="F8F8F8">
                <a:gamma/>
                <a:shade val="60000"/>
                <a:invGamma/>
              </a:srgbClr>
            </a:prstShdw>
          </a:effectLst>
        </p:spPr>
        <p:txBody>
          <a:bodyPr rot="10800000" vert="eaVert" wrap="none" anchor="ctr"/>
          <a:lstStyle/>
          <a:p>
            <a:pPr algn="l">
              <a:defRPr/>
            </a:pPr>
            <a:r>
              <a:rPr kumimoji="1" lang="zh-CN" altLang="en-US" sz="2400">
                <a:latin typeface="+mn-lt"/>
                <a:ea typeface="+mn-ea"/>
                <a:cs typeface="+mn-ea"/>
                <a:sym typeface="+mn-lt"/>
              </a:rPr>
              <a:t>         </a:t>
            </a:r>
            <a:r>
              <a:rPr kumimoji="1" lang="en-US" altLang="zh-CN" sz="2400" b="1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1 0 0 1 0 0 0 1</a:t>
            </a:r>
            <a:endParaRPr kumimoji="1" lang="en-US" altLang="zh-CN" sz="2400" b="1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defRPr/>
            </a:pPr>
            <a:r>
              <a:rPr kumimoji="1" lang="en-US" altLang="zh-CN" sz="2400" b="1" u="sng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1" lang="en-US" altLang="en-US" sz="2400" b="1" u="sng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1" lang="en-US" altLang="zh-CN" sz="2400" b="1" u="sng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en-US" sz="2400" b="1" u="sng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+ 0 1 1 1 0 1 0 0  </a:t>
            </a:r>
            <a:endParaRPr kumimoji="1" lang="en-US" altLang="zh-CN" sz="2400" b="1" u="sng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defRPr/>
            </a:pPr>
            <a:r>
              <a:rPr kumimoji="1" lang="en-US" altLang="zh-CN" sz="2400" b="1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 1←</a:t>
            </a:r>
            <a:r>
              <a:rPr kumimoji="1" lang="en-US" altLang="zh-CN" b="1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1" lang="en-US" altLang="zh-CN" sz="2400" b="1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0 0 0 0 0 1 0 1</a:t>
            </a:r>
            <a:endParaRPr kumimoji="1" lang="en-US" altLang="zh-CN" sz="2400" b="1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defRPr/>
            </a:pPr>
            <a:r>
              <a:rPr kumimoji="1" lang="zh-CN" altLang="en-US" sz="2400" b="1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进位</a:t>
            </a:r>
            <a:endParaRPr lang="zh-CN" altLang="en-US" sz="2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AutoShape 70"/>
          <p:cNvSpPr>
            <a:spLocks noChangeArrowheads="1"/>
          </p:cNvSpPr>
          <p:nvPr/>
        </p:nvSpPr>
        <p:spPr bwMode="gray">
          <a:xfrm>
            <a:off x="468313" y="1401701"/>
            <a:ext cx="4752975" cy="1728787"/>
          </a:xfrm>
          <a:prstGeom prst="roundRect">
            <a:avLst>
              <a:gd name="adj" fmla="val 4639"/>
            </a:avLst>
          </a:prstGeom>
          <a:gradFill rotWithShape="1">
            <a:gsLst>
              <a:gs pos="0">
                <a:schemeClr val="hlink">
                  <a:gamma/>
                  <a:tint val="4314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9050">
            <a:solidFill>
              <a:srgbClr val="C0C0C0"/>
            </a:solidFill>
            <a:rou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anchor="ctr"/>
          <a:lstStyle/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二进制加法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10010001B + 01110100B 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= 00000101B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invGray">
          <a:xfrm>
            <a:off x="4279137" y="1185801"/>
            <a:ext cx="723880" cy="431800"/>
          </a:xfrm>
          <a:prstGeom prst="hexagon">
            <a:avLst/>
          </a:prstGeom>
          <a:gradFill rotWithShape="1">
            <a:gsLst>
              <a:gs pos="0">
                <a:srgbClr val="FFEBFA"/>
              </a:gs>
              <a:gs pos="100000">
                <a:schemeClr val="hlink"/>
              </a:gs>
            </a:gsLst>
            <a:lin ang="5400000" scaled="1"/>
          </a:gradFill>
          <a:ln w="9525" algn="ctr">
            <a:noFill/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endParaRPr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AutoShape 72"/>
          <p:cNvSpPr>
            <a:spLocks noChangeArrowheads="1"/>
          </p:cNvSpPr>
          <p:nvPr/>
        </p:nvSpPr>
        <p:spPr bwMode="gray">
          <a:xfrm>
            <a:off x="468313" y="3357563"/>
            <a:ext cx="8280400" cy="3097212"/>
          </a:xfrm>
          <a:prstGeom prst="roundRect">
            <a:avLst>
              <a:gd name="adj" fmla="val 4639"/>
            </a:avLst>
          </a:prstGeom>
          <a:gradFill rotWithShape="1">
            <a:gsLst>
              <a:gs pos="0">
                <a:schemeClr val="hlink">
                  <a:gamma/>
                  <a:tint val="4314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9050">
            <a:solidFill>
              <a:srgbClr val="C0C0C0"/>
            </a:solidFill>
            <a:rou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anchor="ctr"/>
          <a:lstStyle/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CF=1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，产生进位			 		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AF=0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，半字节无进位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SF=0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，结果为正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最高位为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0)	ZF=0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，结果不为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PF=1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，结果偶数个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OF=0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，将两个操作数作为有符号数，相加结果无溢出。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	   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10010001B = -6FH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01110100B = +74H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	   (-6FH) + (+74H) = +05H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加法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kumimoji="1" lang="zh-CN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的判断：同符号数相加而和的符号与之相反则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kumimoji="1" lang="zh-CN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为1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产生溢出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，否则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0(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不产生溢出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9"/>
          <p:cNvSpPr>
            <a:spLocks noChangeArrowheads="1"/>
          </p:cNvSpPr>
          <p:nvPr/>
        </p:nvSpPr>
        <p:spPr bwMode="gray">
          <a:xfrm rot="5400000">
            <a:off x="6336507" y="727869"/>
            <a:ext cx="1655762" cy="3168650"/>
          </a:xfrm>
          <a:prstGeom prst="roundRect">
            <a:avLst>
              <a:gd name="adj" fmla="val 9741"/>
            </a:avLst>
          </a:prstGeom>
          <a:gradFill rotWithShape="1">
            <a:gsLst>
              <a:gs pos="0">
                <a:srgbClr val="F8F8F8">
                  <a:gamma/>
                  <a:shade val="77647"/>
                  <a:invGamma/>
                  <a:alpha val="98000"/>
                </a:srgbClr>
              </a:gs>
              <a:gs pos="50000">
                <a:srgbClr val="F8F8F8"/>
              </a:gs>
              <a:gs pos="100000">
                <a:srgbClr val="F8F8F8">
                  <a:gamma/>
                  <a:shade val="77647"/>
                  <a:invGamma/>
                  <a:alpha val="98000"/>
                </a:srgbClr>
              </a:gs>
            </a:gsLst>
            <a:lin ang="5400000" scaled="1"/>
          </a:gradFill>
          <a:ln w="22225" algn="ctr">
            <a:solidFill>
              <a:srgbClr val="808080"/>
            </a:solidFill>
            <a:round/>
          </a:ln>
          <a:effectLst/>
        </p:spPr>
        <p:txBody>
          <a:bodyPr rot="10800000" vert="eaVert" wrap="none" anchor="ctr"/>
          <a:lstStyle/>
          <a:p>
            <a:pPr algn="l">
              <a:defRPr/>
            </a:pPr>
            <a:r>
              <a:rPr kumimoji="1" lang="zh-CN" altLang="en-US" sz="1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zh-CN" altLang="en-US" sz="2400" dirty="0"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1" lang="en-US" altLang="zh-CN" sz="2400" b="1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0 1 1 1 0 0 0 1 </a:t>
            </a:r>
            <a:endParaRPr kumimoji="1" lang="en-US" altLang="zh-CN" sz="2400" b="1" dirty="0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defRPr/>
            </a:pPr>
            <a:r>
              <a:rPr kumimoji="1" lang="en-US" altLang="en-US" sz="2400" b="1" u="sng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   -</a:t>
            </a:r>
            <a:r>
              <a:rPr kumimoji="1" lang="en-US" altLang="zh-CN" sz="2400" b="1" u="sng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1" lang="en-US" altLang="zh-CN" sz="1000" b="1" u="sng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en-US" sz="2400" b="1" u="sng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1 0 0 0 1 0 1 1  </a:t>
            </a:r>
            <a:endParaRPr kumimoji="1" lang="en-US" altLang="zh-CN" sz="2400" b="1" u="sng" dirty="0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defRPr/>
            </a:pPr>
            <a:r>
              <a:rPr kumimoji="1" lang="en-US" altLang="zh-CN" sz="2400" b="1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 1 → 1 1 1 0 0 1 1 0</a:t>
            </a:r>
            <a:endParaRPr kumimoji="1" lang="en-US" altLang="zh-CN" sz="2400" b="1" dirty="0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>
              <a:defRPr/>
            </a:pPr>
            <a:r>
              <a:rPr kumimoji="1" lang="zh-CN" altLang="en-US" sz="2400" b="1" dirty="0">
                <a:solidFill>
                  <a:srgbClr val="990099"/>
                </a:solidFill>
                <a:latin typeface="+mn-lt"/>
                <a:ea typeface="+mn-ea"/>
                <a:cs typeface="+mn-ea"/>
                <a:sym typeface="+mn-lt"/>
              </a:rPr>
              <a:t>借位</a:t>
            </a:r>
            <a:endParaRPr kumimoji="1" lang="zh-CN" altLang="en-US" sz="2400" b="1" dirty="0">
              <a:solidFill>
                <a:srgbClr val="99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gray">
          <a:xfrm>
            <a:off x="468313" y="1484313"/>
            <a:ext cx="4752975" cy="1655762"/>
          </a:xfrm>
          <a:prstGeom prst="roundRect">
            <a:avLst>
              <a:gd name="adj" fmla="val 4639"/>
            </a:avLst>
          </a:prstGeom>
          <a:gradFill rotWithShape="1">
            <a:gsLst>
              <a:gs pos="0">
                <a:schemeClr val="hlink">
                  <a:gamma/>
                  <a:tint val="4314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9050">
            <a:solidFill>
              <a:srgbClr val="C0C0C0"/>
            </a:solidFill>
            <a:rou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anchor="ctr"/>
          <a:lstStyle/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二进制减法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01110001B - 10001011B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=  11100110B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gray">
          <a:xfrm>
            <a:off x="468313" y="3429000"/>
            <a:ext cx="8280400" cy="3097213"/>
          </a:xfrm>
          <a:prstGeom prst="roundRect">
            <a:avLst>
              <a:gd name="adj" fmla="val 4639"/>
            </a:avLst>
          </a:prstGeom>
          <a:gradFill rotWithShape="1">
            <a:gsLst>
              <a:gs pos="0">
                <a:schemeClr val="hlink">
                  <a:gamma/>
                  <a:tint val="4314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9050">
            <a:solidFill>
              <a:srgbClr val="C0C0C0"/>
            </a:solidFill>
            <a:rou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anchor="ctr"/>
          <a:lstStyle/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CF=1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，产生借位					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AF=1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，半字节产生进位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SF=1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，结果为负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最高位为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1)	ZF=0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，结果不为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PF=0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，结果奇数个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OF=1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，将两个操作数作为有符号数，相减结果产生溢出。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	    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01110001B = +71H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10001011B = -75H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		    (+71H) - (-75H) = -1AH</a:t>
            </a:r>
            <a:endParaRPr kumimoji="1" lang="en-US" altLang="zh-CN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l" defTabSz="377825">
              <a:defRPr/>
            </a:pP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减法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kumimoji="1" lang="zh-CN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的判断：不同符号数相减而差的符号与减数相同则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kumimoji="1" lang="zh-CN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为1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产生溢出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，否则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OF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0(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不产生溢出</a:t>
            </a:r>
            <a:r>
              <a:rPr kumimoji="1" lang="en-US" altLang="zh-CN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1"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AutoShape 71"/>
          <p:cNvSpPr>
            <a:spLocks noChangeArrowheads="1"/>
          </p:cNvSpPr>
          <p:nvPr/>
        </p:nvSpPr>
        <p:spPr bwMode="invGray">
          <a:xfrm>
            <a:off x="4279137" y="1266826"/>
            <a:ext cx="723880" cy="431800"/>
          </a:xfrm>
          <a:prstGeom prst="hexagon">
            <a:avLst/>
          </a:prstGeom>
          <a:gradFill rotWithShape="1">
            <a:gsLst>
              <a:gs pos="0">
                <a:srgbClr val="FFEBFA"/>
              </a:gs>
              <a:gs pos="100000">
                <a:schemeClr val="hlink"/>
              </a:gs>
            </a:gsLst>
            <a:lin ang="5400000" scaled="1"/>
          </a:gradFill>
          <a:ln w="9525" algn="ctr">
            <a:noFill/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99"/>
                </a:solidFill>
                <a:latin typeface="+mn-lt"/>
                <a:ea typeface="+mn-ea"/>
                <a:cs typeface="+mn-ea"/>
                <a:sym typeface="+mn-lt"/>
              </a:rPr>
              <a:t>例</a:t>
            </a:r>
            <a:endParaRPr lang="zh-CN" altLang="en-US" sz="2400" b="1" dirty="0">
              <a:solidFill>
                <a:srgbClr val="0000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610" name="Group 2"/>
          <p:cNvGraphicFramePr>
            <a:graphicFrameLocks noGrp="1"/>
          </p:cNvGraphicFramePr>
          <p:nvPr/>
        </p:nvGraphicFramePr>
        <p:xfrm>
          <a:off x="628650" y="2073275"/>
          <a:ext cx="8128000" cy="4222751"/>
        </p:xfrm>
        <a:graphic>
          <a:graphicData uri="http://schemas.openxmlformats.org/drawingml/2006/table">
            <a:tbl>
              <a:tblPr/>
              <a:tblGrid>
                <a:gridCol w="1282700"/>
                <a:gridCol w="1766888"/>
                <a:gridCol w="1584325"/>
                <a:gridCol w="1603375"/>
                <a:gridCol w="1890712"/>
              </a:tblGrid>
              <a:tr h="14049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                 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ZF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50" name="Text Box 56"/>
          <p:cNvSpPr txBox="1">
            <a:spLocks noChangeArrowheads="1"/>
          </p:cNvSpPr>
          <p:nvPr/>
        </p:nvSpPr>
        <p:spPr bwMode="auto">
          <a:xfrm>
            <a:off x="2316163" y="2939584"/>
            <a:ext cx="12610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0000H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3055" name="组合 3"/>
          <p:cNvGrpSpPr/>
          <p:nvPr/>
        </p:nvGrpSpPr>
        <p:grpSpPr bwMode="auto">
          <a:xfrm>
            <a:off x="2016125" y="2064872"/>
            <a:ext cx="1545892" cy="907395"/>
            <a:chOff x="2111375" y="1569572"/>
            <a:chExt cx="1545892" cy="907395"/>
          </a:xfrm>
        </p:grpSpPr>
        <p:sp>
          <p:nvSpPr>
            <p:cNvPr id="43079" name="Text Box 53"/>
            <p:cNvSpPr txBox="1">
              <a:spLocks noChangeArrowheads="1"/>
            </p:cNvSpPr>
            <p:nvPr/>
          </p:nvSpPr>
          <p:spPr bwMode="auto">
            <a:xfrm>
              <a:off x="2398713" y="1569572"/>
              <a:ext cx="12458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8000H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80" name="Text Box 54"/>
            <p:cNvSpPr txBox="1">
              <a:spLocks noChangeArrowheads="1"/>
            </p:cNvSpPr>
            <p:nvPr/>
          </p:nvSpPr>
          <p:spPr bwMode="auto">
            <a:xfrm>
              <a:off x="2411413" y="1953747"/>
              <a:ext cx="12458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8000H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81" name="Text Box 55"/>
            <p:cNvSpPr txBox="1">
              <a:spLocks noChangeArrowheads="1"/>
            </p:cNvSpPr>
            <p:nvPr/>
          </p:nvSpPr>
          <p:spPr bwMode="auto">
            <a:xfrm>
              <a:off x="2111375" y="1953747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+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82" name="Line 57"/>
            <p:cNvSpPr>
              <a:spLocks noChangeShapeType="1"/>
            </p:cNvSpPr>
            <p:nvPr/>
          </p:nvSpPr>
          <p:spPr bwMode="auto">
            <a:xfrm>
              <a:off x="2162175" y="2449513"/>
              <a:ext cx="14636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2845" name="Text Box 62"/>
          <p:cNvSpPr txBox="1">
            <a:spLocks noChangeArrowheads="1"/>
          </p:cNvSpPr>
          <p:nvPr/>
        </p:nvSpPr>
        <p:spPr bwMode="auto">
          <a:xfrm>
            <a:off x="4071938" y="2957046"/>
            <a:ext cx="13220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8000H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3670300" y="2028532"/>
            <a:ext cx="1630603" cy="933742"/>
            <a:chOff x="3765552" y="1533234"/>
            <a:chExt cx="1630604" cy="933118"/>
          </a:xfrm>
        </p:grpSpPr>
        <p:sp>
          <p:nvSpPr>
            <p:cNvPr id="43075" name="Text Box 59"/>
            <p:cNvSpPr txBox="1">
              <a:spLocks noChangeArrowheads="1"/>
            </p:cNvSpPr>
            <p:nvPr/>
          </p:nvSpPr>
          <p:spPr bwMode="auto">
            <a:xfrm>
              <a:off x="4065590" y="1533234"/>
              <a:ext cx="1305166" cy="522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C000H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6" name="Text Box 60"/>
            <p:cNvSpPr txBox="1">
              <a:spLocks noChangeArrowheads="1"/>
            </p:cNvSpPr>
            <p:nvPr/>
          </p:nvSpPr>
          <p:spPr bwMode="auto">
            <a:xfrm>
              <a:off x="4090990" y="1941222"/>
              <a:ext cx="1305166" cy="522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C000H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7" name="Text Box 61"/>
            <p:cNvSpPr txBox="1">
              <a:spLocks noChangeArrowheads="1"/>
            </p:cNvSpPr>
            <p:nvPr/>
          </p:nvSpPr>
          <p:spPr bwMode="auto">
            <a:xfrm>
              <a:off x="3765552" y="1942809"/>
              <a:ext cx="394660" cy="522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+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8" name="Line 63"/>
            <p:cNvSpPr>
              <a:spLocks noChangeShapeType="1"/>
            </p:cNvSpPr>
            <p:nvPr/>
          </p:nvSpPr>
          <p:spPr bwMode="auto">
            <a:xfrm>
              <a:off x="3871470" y="2466352"/>
              <a:ext cx="14636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2840" name="Text Box 68"/>
          <p:cNvSpPr txBox="1">
            <a:spLocks noChangeArrowheads="1"/>
          </p:cNvSpPr>
          <p:nvPr/>
        </p:nvSpPr>
        <p:spPr bwMode="auto">
          <a:xfrm>
            <a:off x="5562600" y="2982446"/>
            <a:ext cx="1318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8010H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253038" y="2028359"/>
            <a:ext cx="1544304" cy="947083"/>
            <a:chOff x="5348288" y="1533059"/>
            <a:chExt cx="1544304" cy="947084"/>
          </a:xfrm>
        </p:grpSpPr>
        <p:sp>
          <p:nvSpPr>
            <p:cNvPr id="43071" name="Text Box 65"/>
            <p:cNvSpPr txBox="1">
              <a:spLocks noChangeArrowheads="1"/>
            </p:cNvSpPr>
            <p:nvPr/>
          </p:nvSpPr>
          <p:spPr bwMode="auto">
            <a:xfrm>
              <a:off x="5635625" y="1533059"/>
              <a:ext cx="1245854" cy="523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4008H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2" name="Text Box 66"/>
            <p:cNvSpPr txBox="1">
              <a:spLocks noChangeArrowheads="1"/>
            </p:cNvSpPr>
            <p:nvPr/>
          </p:nvSpPr>
          <p:spPr bwMode="auto">
            <a:xfrm>
              <a:off x="5646738" y="1941047"/>
              <a:ext cx="1245854" cy="523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4008H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3" name="Text Box 67"/>
            <p:cNvSpPr txBox="1">
              <a:spLocks noChangeArrowheads="1"/>
            </p:cNvSpPr>
            <p:nvPr/>
          </p:nvSpPr>
          <p:spPr bwMode="auto">
            <a:xfrm>
              <a:off x="5348288" y="1956922"/>
              <a:ext cx="394660" cy="523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+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4" name="Line 69"/>
            <p:cNvSpPr>
              <a:spLocks noChangeShapeType="1"/>
            </p:cNvSpPr>
            <p:nvPr/>
          </p:nvSpPr>
          <p:spPr bwMode="auto">
            <a:xfrm>
              <a:off x="5413375" y="2474913"/>
              <a:ext cx="14636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2835" name="Text Box 74"/>
          <p:cNvSpPr txBox="1">
            <a:spLocks noChangeArrowheads="1"/>
          </p:cNvSpPr>
          <p:nvPr/>
        </p:nvSpPr>
        <p:spPr bwMode="auto">
          <a:xfrm>
            <a:off x="7227887" y="2957046"/>
            <a:ext cx="1400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C808H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6954838" y="2028360"/>
            <a:ext cx="1579802" cy="941853"/>
            <a:chOff x="7050088" y="1533060"/>
            <a:chExt cx="1579802" cy="941853"/>
          </a:xfrm>
        </p:grpSpPr>
        <p:sp>
          <p:nvSpPr>
            <p:cNvPr id="43067" name="Text Box 71"/>
            <p:cNvSpPr txBox="1">
              <a:spLocks noChangeArrowheads="1"/>
            </p:cNvSpPr>
            <p:nvPr/>
          </p:nvSpPr>
          <p:spPr bwMode="auto">
            <a:xfrm>
              <a:off x="7362825" y="1533060"/>
              <a:ext cx="12458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0808H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68" name="Text Box 72"/>
            <p:cNvSpPr txBox="1">
              <a:spLocks noChangeArrowheads="1"/>
            </p:cNvSpPr>
            <p:nvPr/>
          </p:nvSpPr>
          <p:spPr bwMode="auto">
            <a:xfrm>
              <a:off x="7324725" y="1928348"/>
              <a:ext cx="130516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C000H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69" name="Text Box 73"/>
            <p:cNvSpPr txBox="1">
              <a:spLocks noChangeArrowheads="1"/>
            </p:cNvSpPr>
            <p:nvPr/>
          </p:nvSpPr>
          <p:spPr bwMode="auto">
            <a:xfrm>
              <a:off x="7050088" y="1904535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>
                  <a:latin typeface="+mn-lt"/>
                  <a:ea typeface="+mn-ea"/>
                  <a:cs typeface="+mn-ea"/>
                  <a:sym typeface="+mn-lt"/>
                </a:rPr>
                <a:t>+</a:t>
              </a:r>
              <a:endParaRPr kumimoji="1" lang="en-US" altLang="zh-CN" sz="28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070" name="Line 75"/>
            <p:cNvSpPr>
              <a:spLocks noChangeShapeType="1"/>
            </p:cNvSpPr>
            <p:nvPr/>
          </p:nvSpPr>
          <p:spPr bwMode="auto">
            <a:xfrm>
              <a:off x="7150100" y="2474913"/>
              <a:ext cx="14636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24684" name="Text Box 76"/>
          <p:cNvSpPr txBox="1">
            <a:spLocks noChangeArrowheads="1"/>
          </p:cNvSpPr>
          <p:nvPr/>
        </p:nvSpPr>
        <p:spPr bwMode="auto">
          <a:xfrm>
            <a:off x="2638425" y="3388927"/>
            <a:ext cx="485775" cy="293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2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4685" name="Text Box 77"/>
          <p:cNvSpPr txBox="1">
            <a:spLocks noChangeArrowheads="1"/>
          </p:cNvSpPr>
          <p:nvPr/>
        </p:nvSpPr>
        <p:spPr bwMode="auto">
          <a:xfrm>
            <a:off x="4354513" y="3411152"/>
            <a:ext cx="485775" cy="293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2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4686" name="Text Box 78"/>
          <p:cNvSpPr txBox="1">
            <a:spLocks noChangeArrowheads="1"/>
          </p:cNvSpPr>
          <p:nvPr/>
        </p:nvSpPr>
        <p:spPr bwMode="auto">
          <a:xfrm>
            <a:off x="5918200" y="3411152"/>
            <a:ext cx="485775" cy="293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2000"/>
              </a:lnSpc>
              <a:defRPr/>
            </a:pPr>
            <a:r>
              <a:rPr kumimoji="1"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  <a:defRPr/>
            </a:pPr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  <a:defRPr/>
            </a:pPr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  <a:defRPr/>
            </a:pPr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  <a:defRPr/>
            </a:pPr>
            <a:r>
              <a:rPr kumimoji="1" lang="en-US" altLang="zh-CN" sz="28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 dirty="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4687" name="Text Box 79"/>
          <p:cNvSpPr txBox="1">
            <a:spLocks noChangeArrowheads="1"/>
          </p:cNvSpPr>
          <p:nvPr/>
        </p:nvSpPr>
        <p:spPr bwMode="auto">
          <a:xfrm>
            <a:off x="7594600" y="3430202"/>
            <a:ext cx="485775" cy="293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2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latin typeface="+mn-lt"/>
                <a:ea typeface="+mn-ea"/>
                <a:cs typeface="+mn-ea"/>
                <a:sym typeface="+mn-lt"/>
              </a:rPr>
              <a:t>1</a:t>
            </a:r>
            <a:endParaRPr kumimoji="1" lang="en-US" altLang="zh-CN" sz="28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32000"/>
              </a:lnSpc>
            </a:pPr>
            <a:r>
              <a:rPr kumimoji="1" lang="en-US" altLang="zh-CN" sz="280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endParaRPr kumimoji="1" lang="en-US" altLang="zh-CN" sz="280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66" name="Rectangle 80"/>
          <p:cNvSpPr>
            <a:spLocks noChangeArrowheads="1"/>
          </p:cNvSpPr>
          <p:nvPr/>
        </p:nvSpPr>
        <p:spPr bwMode="auto">
          <a:xfrm>
            <a:off x="511969" y="1239044"/>
            <a:ext cx="7685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195580" indent="-19558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练习：</a:t>
            </a:r>
            <a:r>
              <a:rPr kumimoji="1" lang="zh-CN" altLang="en-US" sz="28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下列十六进制数相加会如何影响标志位？</a:t>
            </a:r>
            <a:endParaRPr kumimoji="1" lang="zh-CN" altLang="en-US" sz="28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5" dur="500"/>
                                        <p:tgtEl>
                                          <p:spTgt spid="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50" grpId="0" bldLvl="0" animBg="1"/>
      <p:bldP spid="32845" grpId="0" bldLvl="0" animBg="1"/>
      <p:bldP spid="32840" grpId="0" bldLvl="0" animBg="1"/>
      <p:bldP spid="32835" grpId="0" bldLvl="0" animBg="1"/>
      <p:bldP spid="324684" grpId="0" autoUpdateAnimBg="0" build="p"/>
      <p:bldP spid="324685" grpId="0" autoUpdateAnimBg="0" build="allAtOnce"/>
      <p:bldP spid="324686" grpId="0" autoUpdateAnimBg="0" build="allAtOnce"/>
      <p:bldP spid="324687" grpId="0" autoUpdateAnimBg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2637" y="1128712"/>
            <a:ext cx="7990973" cy="6397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defRPr/>
            </a:pPr>
            <a:r>
              <a:rPr lang="en-US" altLang="zh-CN" sz="3200" b="1" kern="12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2. </a:t>
            </a:r>
            <a:r>
              <a:rPr lang="zh-CN" altLang="en-US" sz="3200" b="1" kern="12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控制标志</a:t>
            </a:r>
            <a:r>
              <a:rPr lang="en-US" altLang="zh-CN" sz="2800" b="1" kern="1200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sz="2800" b="1" kern="12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方向标志</a:t>
            </a:r>
            <a:r>
              <a:rPr lang="en-US" altLang="zh-CN" sz="2800" b="1" kern="12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DF(Direction Flag</a:t>
            </a:r>
            <a:r>
              <a:rPr lang="en-US" altLang="zh-CN" sz="2800" b="1" kern="12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br>
              <a:rPr lang="en-US" altLang="zh-CN" sz="2800" b="1" kern="1200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2000" b="1" kern="1200" dirty="0">
                <a:solidFill>
                  <a:srgbClr val="002060"/>
                </a:solidFill>
                <a:highlight>
                  <a:srgbClr val="FFFF00"/>
                </a:highlight>
                <a:latin typeface="+mn-lt"/>
                <a:ea typeface="+mn-ea"/>
                <a:cs typeface="+mn-ea"/>
                <a:sym typeface="+mn-lt"/>
              </a:rPr>
              <a:t>自己运行时可自主修改</a:t>
            </a:r>
            <a:br>
              <a:rPr lang="zh-CN" altLang="en-US" sz="2800" b="1" kern="1200" dirty="0">
                <a:latin typeface="+mn-lt"/>
                <a:ea typeface="+mn-ea"/>
                <a:cs typeface="+mn-ea"/>
                <a:sym typeface="+mn-lt"/>
              </a:rPr>
            </a:br>
            <a:endParaRPr lang="zh-CN" altLang="en-US" sz="2800" b="1" kern="12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4411" y="1768475"/>
            <a:ext cx="6989763" cy="46136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仅用于</a:t>
            </a:r>
            <a:r>
              <a:rPr lang="zh-CN" altLang="en-US" sz="2600" b="1" kern="1200" dirty="0">
                <a:solidFill>
                  <a:srgbClr val="009900"/>
                </a:solidFill>
                <a:cs typeface="+mn-ea"/>
                <a:sym typeface="+mn-lt"/>
              </a:rPr>
              <a:t>串操作指令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，控制地址的变化方向</a:t>
            </a:r>
            <a:endParaRPr lang="zh-CN" altLang="en-US" sz="2600" b="1" kern="1200" dirty="0">
              <a:solidFill>
                <a:srgbClr val="C0000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Times New Roman" panose="02020603050405020304" pitchFamily="18" charset="0"/>
              <a:buChar char="−"/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设置</a:t>
            </a:r>
            <a:r>
              <a:rPr lang="en-US" altLang="zh-CN" sz="2400" b="1" kern="1200" dirty="0">
                <a:solidFill>
                  <a:srgbClr val="002060"/>
                </a:solidFill>
                <a:cs typeface="+mn-ea"/>
                <a:sym typeface="+mn-lt"/>
              </a:rPr>
              <a:t>DF</a:t>
            </a:r>
            <a:r>
              <a:rPr lang="zh-CN" altLang="en-US" sz="24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400" b="1" kern="1200" dirty="0">
                <a:solidFill>
                  <a:srgbClr val="002060"/>
                </a:solidFill>
                <a:cs typeface="+mn-ea"/>
                <a:sym typeface="+mn-lt"/>
              </a:rPr>
              <a:t>0</a:t>
            </a:r>
            <a:r>
              <a:rPr lang="zh-CN" altLang="en-US" sz="2400" b="1" kern="1200" dirty="0">
                <a:cs typeface="+mn-ea"/>
                <a:sym typeface="+mn-lt"/>
              </a:rPr>
              <a:t>，每次串操作后的</a:t>
            </a:r>
            <a:r>
              <a:rPr lang="zh-CN" altLang="en-US" sz="2400" b="1" kern="1200" dirty="0">
                <a:solidFill>
                  <a:srgbClr val="002060"/>
                </a:solidFill>
                <a:cs typeface="+mn-ea"/>
                <a:sym typeface="+mn-lt"/>
              </a:rPr>
              <a:t>存储器地址就自动增加</a:t>
            </a:r>
            <a:r>
              <a:rPr lang="zh-CN" altLang="en-US" sz="2400" b="1" kern="1200" dirty="0">
                <a:cs typeface="+mn-ea"/>
                <a:sym typeface="+mn-lt"/>
              </a:rPr>
              <a:t>，即从低地址向高地址处理数据串</a:t>
            </a:r>
            <a:endParaRPr lang="zh-CN" altLang="en-US" sz="2400" b="1" kern="1200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Times New Roman" panose="02020603050405020304" pitchFamily="18" charset="0"/>
              <a:buChar char="−"/>
              <a:defRPr/>
            </a:pPr>
            <a:r>
              <a:rPr lang="zh-CN" altLang="en-US" sz="2400" b="1" kern="1200" dirty="0">
                <a:cs typeface="+mn-ea"/>
                <a:sym typeface="+mn-lt"/>
              </a:rPr>
              <a:t>设置</a:t>
            </a:r>
            <a:r>
              <a:rPr lang="en-US" altLang="zh-CN" sz="2400" b="1" kern="1200" dirty="0">
                <a:solidFill>
                  <a:srgbClr val="002060"/>
                </a:solidFill>
                <a:cs typeface="+mn-ea"/>
                <a:sym typeface="+mn-lt"/>
              </a:rPr>
              <a:t>DF</a:t>
            </a:r>
            <a:r>
              <a:rPr lang="zh-CN" altLang="en-US" sz="24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400" b="1" kern="1200" dirty="0">
                <a:solidFill>
                  <a:srgbClr val="002060"/>
                </a:solidFill>
                <a:cs typeface="+mn-ea"/>
                <a:sym typeface="+mn-lt"/>
              </a:rPr>
              <a:t>1</a:t>
            </a:r>
            <a:r>
              <a:rPr lang="zh-CN" altLang="en-US" sz="2400" b="1" kern="1200" dirty="0">
                <a:cs typeface="+mn-ea"/>
                <a:sym typeface="+mn-lt"/>
              </a:rPr>
              <a:t>，每次串操作后的</a:t>
            </a:r>
            <a:r>
              <a:rPr lang="zh-CN" altLang="en-US" sz="2400" b="1" kern="1200" dirty="0">
                <a:solidFill>
                  <a:srgbClr val="002060"/>
                </a:solidFill>
                <a:cs typeface="+mn-ea"/>
                <a:sym typeface="+mn-lt"/>
              </a:rPr>
              <a:t>存储器地址就自动减少</a:t>
            </a:r>
            <a:r>
              <a:rPr lang="zh-CN" altLang="en-US" sz="2400" b="1" kern="1200" dirty="0">
                <a:cs typeface="+mn-ea"/>
                <a:sym typeface="+mn-lt"/>
              </a:rPr>
              <a:t>，即从高地址向低地址处理数据串</a:t>
            </a:r>
            <a:endParaRPr lang="zh-CN" altLang="en-US" sz="2400" b="1" kern="1200" dirty="0">
              <a:cs typeface="+mn-ea"/>
              <a:sym typeface="+mn-lt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执行</a:t>
            </a: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CLD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指令设置</a:t>
            </a: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DF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0</a:t>
            </a:r>
            <a:endParaRPr lang="en-US" altLang="zh-CN" sz="2600" b="1" kern="1200" dirty="0">
              <a:solidFill>
                <a:srgbClr val="00206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执行</a:t>
            </a: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STD</a:t>
            </a:r>
            <a:r>
              <a:rPr lang="zh-CN" altLang="en-US" sz="2600" b="1" kern="1200" dirty="0">
                <a:solidFill>
                  <a:srgbClr val="C00000"/>
                </a:solidFill>
                <a:cs typeface="+mn-ea"/>
                <a:sym typeface="+mn-lt"/>
              </a:rPr>
              <a:t>指令设置</a:t>
            </a: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DF</a:t>
            </a:r>
            <a:r>
              <a:rPr lang="zh-CN" altLang="en-US" sz="2600" b="1" kern="1200" dirty="0">
                <a:solidFill>
                  <a:srgbClr val="002060"/>
                </a:solidFill>
                <a:cs typeface="+mn-ea"/>
                <a:sym typeface="+mn-lt"/>
              </a:rPr>
              <a:t>＝</a:t>
            </a:r>
            <a:r>
              <a:rPr lang="en-US" altLang="zh-CN" sz="2600" b="1" kern="1200" dirty="0">
                <a:solidFill>
                  <a:srgbClr val="002060"/>
                </a:solidFill>
                <a:cs typeface="+mn-ea"/>
                <a:sym typeface="+mn-lt"/>
              </a:rPr>
              <a:t>1</a:t>
            </a:r>
            <a:r>
              <a:rPr lang="en-US" altLang="zh-CN" sz="2600" b="1" kern="1200" dirty="0">
                <a:solidFill>
                  <a:srgbClr val="C00000"/>
                </a:solidFill>
                <a:cs typeface="+mn-ea"/>
                <a:sym typeface="+mn-lt"/>
              </a:rPr>
              <a:t> </a:t>
            </a:r>
            <a:endParaRPr lang="zh-CN" altLang="en-US" sz="2600" b="1" kern="1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grpSp>
        <p:nvGrpSpPr>
          <p:cNvPr id="4" name="Group 31"/>
          <p:cNvGrpSpPr/>
          <p:nvPr/>
        </p:nvGrpSpPr>
        <p:grpSpPr bwMode="auto">
          <a:xfrm>
            <a:off x="776219" y="5952720"/>
            <a:ext cx="7707312" cy="858838"/>
            <a:chOff x="877" y="3328"/>
            <a:chExt cx="4855" cy="541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9" name="椭圆 28"/>
          <p:cNvSpPr/>
          <p:nvPr/>
        </p:nvSpPr>
        <p:spPr bwMode="auto">
          <a:xfrm>
            <a:off x="1343749" y="5952720"/>
            <a:ext cx="790577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812" y="1100721"/>
            <a:ext cx="8308221" cy="52818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中断允许标志</a:t>
            </a:r>
            <a:r>
              <a:rPr lang="en-US" altLang="zh-CN" sz="2800" b="1" dirty="0">
                <a:solidFill>
                  <a:srgbClr val="C00000"/>
                </a:solidFill>
                <a:cs typeface="+mn-ea"/>
                <a:sym typeface="+mn-lt"/>
              </a:rPr>
              <a:t>IF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cs typeface="+mn-ea"/>
                <a:sym typeface="+mn-lt"/>
              </a:rPr>
              <a:t>Interrupt-enable Flag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）：</a:t>
            </a:r>
            <a:r>
              <a:rPr lang="zh-CN" altLang="en-US" sz="2000" b="1" dirty="0">
                <a:cs typeface="+mn-ea"/>
                <a:sym typeface="+mn-lt"/>
              </a:rPr>
              <a:t>主要针对外中断中</a:t>
            </a:r>
            <a:r>
              <a:rPr lang="zh-CN" altLang="en-US" sz="2000" b="1" dirty="0">
                <a:solidFill>
                  <a:srgbClr val="0000FF"/>
                </a:solidFill>
                <a:cs typeface="+mn-ea"/>
                <a:sym typeface="+mn-lt"/>
              </a:rPr>
              <a:t>可屏蔽中断</a:t>
            </a:r>
            <a:r>
              <a:rPr lang="zh-CN" altLang="en-US" sz="2000" b="1" dirty="0">
                <a:cs typeface="+mn-ea"/>
                <a:sym typeface="+mn-lt"/>
              </a:rPr>
              <a:t>的开放或禁止。当</a:t>
            </a:r>
            <a:r>
              <a:rPr lang="en-US" altLang="zh-CN" sz="2000" b="1" dirty="0">
                <a:cs typeface="+mn-ea"/>
                <a:sym typeface="+mn-lt"/>
              </a:rPr>
              <a:t>IF=‘1’</a:t>
            </a:r>
            <a:r>
              <a:rPr lang="zh-CN" altLang="en-US" sz="2000" b="1" dirty="0">
                <a:cs typeface="+mn-ea"/>
                <a:sym typeface="+mn-lt"/>
              </a:rPr>
              <a:t>时，</a:t>
            </a:r>
            <a:r>
              <a:rPr lang="en-US" altLang="zh-CN" sz="2000" b="1" dirty="0">
                <a:cs typeface="+mn-ea"/>
                <a:sym typeface="+mn-lt"/>
              </a:rPr>
              <a:t>CPU</a:t>
            </a:r>
            <a:r>
              <a:rPr lang="zh-CN" altLang="en-US" sz="2000" b="1" dirty="0">
                <a:cs typeface="+mn-ea"/>
                <a:sym typeface="+mn-lt"/>
              </a:rPr>
              <a:t>允许响应可屏蔽中断，中断当前程序，转去执行中断处理程序。</a:t>
            </a:r>
            <a:r>
              <a:rPr lang="en-US" altLang="zh-CN" sz="2000" b="1" dirty="0">
                <a:cs typeface="+mn-ea"/>
                <a:sym typeface="+mn-lt"/>
              </a:rPr>
              <a:t>IF</a:t>
            </a:r>
            <a:r>
              <a:rPr lang="zh-CN" altLang="en-US" sz="2000" b="1" dirty="0">
                <a:cs typeface="+mn-ea"/>
                <a:sym typeface="+mn-lt"/>
              </a:rPr>
              <a:t>＝</a:t>
            </a:r>
            <a:r>
              <a:rPr lang="en-US" altLang="zh-CN" sz="2000" b="1" dirty="0">
                <a:cs typeface="+mn-ea"/>
                <a:sym typeface="+mn-lt"/>
              </a:rPr>
              <a:t>‘0’</a:t>
            </a:r>
            <a:r>
              <a:rPr lang="zh-CN" altLang="en-US" sz="2000" b="1" dirty="0">
                <a:cs typeface="+mn-ea"/>
                <a:sym typeface="+mn-lt"/>
              </a:rPr>
              <a:t>时，则不允许响应可屏蔽中断。用</a:t>
            </a:r>
            <a:r>
              <a:rPr lang="en-US" altLang="zh-CN" sz="2000" b="1" dirty="0">
                <a:cs typeface="+mn-ea"/>
                <a:sym typeface="+mn-lt"/>
              </a:rPr>
              <a:t>STI</a:t>
            </a:r>
            <a:r>
              <a:rPr lang="zh-CN" altLang="en-US" sz="2000" b="1" dirty="0">
                <a:cs typeface="+mn-ea"/>
                <a:sym typeface="+mn-lt"/>
              </a:rPr>
              <a:t>指令使</a:t>
            </a:r>
            <a:r>
              <a:rPr lang="en-US" altLang="zh-CN" sz="2000" b="1" dirty="0">
                <a:cs typeface="+mn-ea"/>
                <a:sym typeface="+mn-lt"/>
              </a:rPr>
              <a:t>IF</a:t>
            </a:r>
            <a:r>
              <a:rPr lang="zh-CN" altLang="en-US" sz="2000" b="1" dirty="0">
                <a:cs typeface="+mn-ea"/>
                <a:sym typeface="+mn-lt"/>
              </a:rPr>
              <a:t>置</a:t>
            </a:r>
            <a:r>
              <a:rPr lang="en-US" altLang="zh-CN" sz="2000" b="1" dirty="0">
                <a:cs typeface="+mn-ea"/>
                <a:sym typeface="+mn-lt"/>
              </a:rPr>
              <a:t>‘1’</a:t>
            </a:r>
            <a:r>
              <a:rPr lang="zh-CN" altLang="en-US" sz="2000" b="1" dirty="0">
                <a:cs typeface="+mn-ea"/>
                <a:sym typeface="+mn-lt"/>
              </a:rPr>
              <a:t>，用</a:t>
            </a:r>
            <a:r>
              <a:rPr lang="en-US" altLang="zh-CN" sz="2000" b="1" dirty="0">
                <a:cs typeface="+mn-ea"/>
                <a:sym typeface="+mn-lt"/>
              </a:rPr>
              <a:t>CLI</a:t>
            </a:r>
            <a:r>
              <a:rPr lang="zh-CN" altLang="en-US" sz="2000" b="1" dirty="0">
                <a:cs typeface="+mn-ea"/>
                <a:sym typeface="+mn-lt"/>
              </a:rPr>
              <a:t>使</a:t>
            </a:r>
            <a:r>
              <a:rPr lang="en-US" altLang="zh-CN" sz="2000" b="1" dirty="0">
                <a:cs typeface="+mn-ea"/>
                <a:sym typeface="+mn-lt"/>
              </a:rPr>
              <a:t>IF=‘0’</a:t>
            </a:r>
            <a:r>
              <a:rPr lang="zh-CN" altLang="en-US" sz="2000" b="1" dirty="0">
                <a:cs typeface="+mn-ea"/>
                <a:sym typeface="+mn-lt"/>
              </a:rPr>
              <a:t>。</a:t>
            </a:r>
            <a:endParaRPr lang="zh-CN" altLang="en-US" sz="2000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追踪标志</a:t>
            </a:r>
            <a:r>
              <a:rPr lang="en-US" altLang="zh-CN" sz="2800" b="1" dirty="0">
                <a:solidFill>
                  <a:srgbClr val="C00000"/>
                </a:solidFill>
                <a:cs typeface="+mn-ea"/>
                <a:sym typeface="+mn-lt"/>
              </a:rPr>
              <a:t>TF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cs typeface="+mn-ea"/>
                <a:sym typeface="+mn-lt"/>
              </a:rPr>
              <a:t>Trace Flag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）：</a:t>
            </a:r>
            <a:r>
              <a:rPr lang="zh-CN" altLang="en-US" sz="2000" b="1" dirty="0">
                <a:cs typeface="+mn-ea"/>
                <a:sym typeface="+mn-lt"/>
              </a:rPr>
              <a:t>用于单步调试程序。当</a:t>
            </a:r>
            <a:r>
              <a:rPr lang="en-US" altLang="zh-CN" sz="2000" b="1" dirty="0">
                <a:cs typeface="+mn-ea"/>
                <a:sym typeface="+mn-lt"/>
              </a:rPr>
              <a:t>TF=‘1’</a:t>
            </a:r>
            <a:r>
              <a:rPr lang="zh-CN" altLang="en-US" sz="2000" b="1" dirty="0">
                <a:cs typeface="+mn-ea"/>
                <a:sym typeface="+mn-lt"/>
              </a:rPr>
              <a:t>时，在执行完一条指令后，产生单步中断。这在</a:t>
            </a:r>
            <a:r>
              <a:rPr lang="en-US" altLang="zh-CN" sz="2000" b="1" dirty="0">
                <a:cs typeface="+mn-ea"/>
                <a:sym typeface="+mn-lt"/>
              </a:rPr>
              <a:t>DEBUG</a:t>
            </a:r>
            <a:r>
              <a:rPr lang="zh-CN" altLang="en-US" sz="2000" b="1" dirty="0">
                <a:cs typeface="+mn-ea"/>
                <a:sym typeface="+mn-lt"/>
              </a:rPr>
              <a:t>调试程序状态下，可以使指令单步运行，可逐一检查各寄存器内容，标志状态、存储器的检查或修改等等。</a:t>
            </a:r>
            <a:r>
              <a:rPr lang="en-US" altLang="zh-CN" sz="2000" b="1" dirty="0">
                <a:cs typeface="+mn-ea"/>
                <a:sym typeface="+mn-lt"/>
              </a:rPr>
              <a:t>TF=‘1’</a:t>
            </a:r>
            <a:r>
              <a:rPr lang="zh-CN" altLang="en-US" sz="2000" b="1" dirty="0">
                <a:cs typeface="+mn-ea"/>
                <a:sym typeface="+mn-lt"/>
              </a:rPr>
              <a:t>时为调试程序时所用，当程序调试成功后让</a:t>
            </a:r>
            <a:r>
              <a:rPr lang="en-US" altLang="zh-CN" sz="2000" b="1" dirty="0">
                <a:cs typeface="+mn-ea"/>
                <a:sym typeface="+mn-lt"/>
              </a:rPr>
              <a:t>TF=‘0’</a:t>
            </a:r>
            <a:r>
              <a:rPr lang="zh-CN" altLang="en-US" sz="2000" b="1" dirty="0">
                <a:cs typeface="+mn-ea"/>
                <a:sym typeface="+mn-lt"/>
              </a:rPr>
              <a:t>，</a:t>
            </a:r>
            <a:r>
              <a:rPr lang="en-US" altLang="zh-CN" sz="2000" b="1" dirty="0">
                <a:cs typeface="+mn-ea"/>
                <a:sym typeface="+mn-lt"/>
              </a:rPr>
              <a:t>CPU</a:t>
            </a:r>
            <a:r>
              <a:rPr lang="zh-CN" altLang="en-US" sz="2000" b="1" dirty="0">
                <a:cs typeface="+mn-ea"/>
                <a:sym typeface="+mn-lt"/>
              </a:rPr>
              <a:t>正常工作不产生单步中断。 </a:t>
            </a:r>
            <a:endParaRPr lang="en-US" altLang="zh-CN" sz="2000" b="1" dirty="0">
              <a:cs typeface="+mn-ea"/>
              <a:sym typeface="+mn-lt"/>
            </a:endParaRPr>
          </a:p>
        </p:txBody>
      </p:sp>
      <p:grpSp>
        <p:nvGrpSpPr>
          <p:cNvPr id="5" name="Group 31"/>
          <p:cNvGrpSpPr/>
          <p:nvPr/>
        </p:nvGrpSpPr>
        <p:grpSpPr bwMode="auto">
          <a:xfrm>
            <a:off x="748162" y="5826645"/>
            <a:ext cx="7707312" cy="858838"/>
            <a:chOff x="877" y="3328"/>
            <a:chExt cx="4855" cy="541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87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OF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87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1282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DF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1282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1686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IF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1686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2091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TF</a:t>
              </a:r>
              <a:endParaRPr kumimoji="1" lang="en-US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2091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2495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SF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2495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2900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ZF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2900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3305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3305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3709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AF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3709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4114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4114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4518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PF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4518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4923" y="3578"/>
              <a:ext cx="404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solidFill>
                    <a:schemeClr val="hlink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4923" y="3328"/>
              <a:ext cx="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 dirty="0"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1" lang="zh-CN" altLang="zh-CN" dirty="0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5327" y="3578"/>
              <a:ext cx="405" cy="291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>
                  <a:solidFill>
                    <a:srgbClr val="CC3300"/>
                  </a:solidFill>
                  <a:latin typeface="+mn-lt"/>
                  <a:ea typeface="+mn-ea"/>
                  <a:cs typeface="+mn-ea"/>
                  <a:sym typeface="+mn-lt"/>
                </a:rPr>
                <a:t>CF</a:t>
              </a:r>
              <a:endParaRPr kumimoji="1" lang="en-US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5327" y="3328"/>
              <a:ext cx="4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CC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zh-CN" sz="200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1" lang="zh-CN" altLang="zh-CN">
                <a:solidFill>
                  <a:srgbClr val="CC33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0" name="椭圆 29"/>
          <p:cNvSpPr/>
          <p:nvPr/>
        </p:nvSpPr>
        <p:spPr bwMode="auto">
          <a:xfrm>
            <a:off x="1995362" y="5826645"/>
            <a:ext cx="1412766" cy="8588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195580" marR="0" indent="-19558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인터넷01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43843" y="2578478"/>
            <a:ext cx="6056313" cy="13220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2.1</a:t>
            </a:r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80x86</a:t>
            </a:r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微处理器基本引脚与工作</a:t>
            </a:r>
            <a:r>
              <a:rPr lang="zh-CN" altLang="en-US" sz="40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模式</a:t>
            </a:r>
            <a:endParaRPr lang="zh-CN" altLang="en-US" sz="40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1795" y="1068705"/>
            <a:ext cx="2627630" cy="68199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0" indent="0" algn="l" fontAlgn="t">
              <a:lnSpc>
                <a:spcPct val="120000"/>
              </a:lnSpc>
              <a:spcBef>
                <a:spcPct val="20000"/>
              </a:spcBef>
              <a:buFont typeface="+mj-lt"/>
              <a:buNone/>
            </a:pPr>
            <a:r>
              <a:rPr lang="zh-CN" altLang="en-US" sz="3200" b="1" kern="1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了解几个</a:t>
            </a:r>
            <a:r>
              <a:rPr lang="zh-CN" altLang="en-US" sz="3200" b="1" kern="12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概念</a:t>
            </a:r>
            <a:endParaRPr lang="zh-CN" altLang="en-US" sz="3200" b="1" kern="1200" dirty="0">
              <a:solidFill>
                <a:srgbClr val="0000FF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1"/>
          <p:cNvSpPr>
            <a:spLocks noGrp="1"/>
          </p:cNvSpPr>
          <p:nvPr>
            <p:ph idx="1"/>
          </p:nvPr>
        </p:nvSpPr>
        <p:spPr>
          <a:xfrm>
            <a:off x="391795" y="1846146"/>
            <a:ext cx="8686800" cy="4263752"/>
          </a:xfrm>
        </p:spPr>
        <p:txBody>
          <a:bodyPr/>
          <a:p>
            <a:pPr marL="342900" indent="-342900">
              <a:lnSpc>
                <a:spcPts val="32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主频：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的工作频率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时钟周期：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对主频进行分频后的工作时钟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总线周期：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完成一次总线操作所需的时间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200"/>
              </a:lnSpc>
              <a:spcBef>
                <a:spcPts val="600"/>
              </a:spcBef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8088CPU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与内存或接口间进行通信，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200"/>
              </a:lnSpc>
              <a:spcBef>
                <a:spcPts val="6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如将一个字节写入内存一个单元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或接口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200"/>
              </a:lnSpc>
              <a:spcBef>
                <a:spcPts val="6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或者从内存某单元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或某接口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读一个字节到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200"/>
              </a:lnSpc>
              <a:spcBef>
                <a:spcPts val="6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这种读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写的过程称为一个总线周期。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指令周期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一条指令从开始取指令到最后执行完毕所需的时间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48280" y="1084323"/>
            <a:ext cx="8372192" cy="2226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总线周期时序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个总线周期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正常情况下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时钟周期（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T1―T4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组成；时钟周期由主频决定；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空闲周期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和等待周期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读、写、中断响应、总线保持与响应等的总线周期时序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2"/>
          <p:cNvGrpSpPr/>
          <p:nvPr/>
        </p:nvGrpSpPr>
        <p:grpSpPr bwMode="auto">
          <a:xfrm>
            <a:off x="494176" y="3343349"/>
            <a:ext cx="8280400" cy="2635873"/>
            <a:chOff x="811" y="3540"/>
            <a:chExt cx="3071" cy="785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>
              <a:off x="811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85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Line 5"/>
            <p:cNvSpPr>
              <a:spLocks noChangeShapeType="1"/>
            </p:cNvSpPr>
            <p:nvPr/>
          </p:nvSpPr>
          <p:spPr bwMode="auto">
            <a:xfrm>
              <a:off x="900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Line 6"/>
            <p:cNvSpPr>
              <a:spLocks noChangeShapeType="1"/>
            </p:cNvSpPr>
            <p:nvPr/>
          </p:nvSpPr>
          <p:spPr bwMode="auto">
            <a:xfrm flipV="1">
              <a:off x="94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979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02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068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V="1">
              <a:off x="111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147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19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236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127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15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36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404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144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483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53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572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161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651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69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1740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V="1">
              <a:off x="178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1819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186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1908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V="1">
              <a:off x="195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1987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203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2076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flipV="1">
              <a:off x="211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2155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220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2244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 flipV="1">
              <a:off x="228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>
              <a:off x="2323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237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2412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245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2491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253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2580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V="1">
              <a:off x="262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2659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270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2748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 flipV="1">
              <a:off x="279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>
              <a:off x="2827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>
              <a:off x="287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2916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295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>
              <a:off x="2995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>
              <a:off x="304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Line 57"/>
            <p:cNvSpPr>
              <a:spLocks noChangeShapeType="1"/>
            </p:cNvSpPr>
            <p:nvPr/>
          </p:nvSpPr>
          <p:spPr bwMode="auto">
            <a:xfrm>
              <a:off x="3084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58"/>
            <p:cNvSpPr>
              <a:spLocks noChangeShapeType="1"/>
            </p:cNvSpPr>
            <p:nvPr/>
          </p:nvSpPr>
          <p:spPr bwMode="auto">
            <a:xfrm flipV="1">
              <a:off x="312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3163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321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3252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flipV="1">
              <a:off x="329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3331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>
              <a:off x="337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3420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V="1">
              <a:off x="3462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>
              <a:off x="3499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68"/>
            <p:cNvSpPr>
              <a:spLocks noChangeShapeType="1"/>
            </p:cNvSpPr>
            <p:nvPr/>
          </p:nvSpPr>
          <p:spPr bwMode="auto">
            <a:xfrm>
              <a:off x="3546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69"/>
            <p:cNvSpPr>
              <a:spLocks noChangeShapeType="1"/>
            </p:cNvSpPr>
            <p:nvPr/>
          </p:nvSpPr>
          <p:spPr bwMode="auto">
            <a:xfrm>
              <a:off x="3588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 flipV="1">
              <a:off x="3630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3667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3714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73"/>
            <p:cNvSpPr>
              <a:spLocks noChangeShapeType="1"/>
            </p:cNvSpPr>
            <p:nvPr/>
          </p:nvSpPr>
          <p:spPr bwMode="auto">
            <a:xfrm>
              <a:off x="3756" y="4113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74"/>
            <p:cNvSpPr>
              <a:spLocks noChangeShapeType="1"/>
            </p:cNvSpPr>
            <p:nvPr/>
          </p:nvSpPr>
          <p:spPr bwMode="auto">
            <a:xfrm flipV="1">
              <a:off x="3798" y="3988"/>
              <a:ext cx="42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75"/>
            <p:cNvSpPr>
              <a:spLocks noChangeShapeType="1"/>
            </p:cNvSpPr>
            <p:nvPr/>
          </p:nvSpPr>
          <p:spPr bwMode="auto">
            <a:xfrm>
              <a:off x="3835" y="3989"/>
              <a:ext cx="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76"/>
            <p:cNvSpPr>
              <a:spLocks noChangeShapeType="1"/>
            </p:cNvSpPr>
            <p:nvPr/>
          </p:nvSpPr>
          <p:spPr bwMode="auto">
            <a:xfrm>
              <a:off x="858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Line 77"/>
            <p:cNvSpPr>
              <a:spLocks noChangeShapeType="1"/>
            </p:cNvSpPr>
            <p:nvPr/>
          </p:nvSpPr>
          <p:spPr bwMode="auto">
            <a:xfrm>
              <a:off x="1026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Text Box 78"/>
            <p:cNvSpPr txBox="1">
              <a:spLocks noChangeArrowheads="1"/>
            </p:cNvSpPr>
            <p:nvPr/>
          </p:nvSpPr>
          <p:spPr bwMode="auto">
            <a:xfrm>
              <a:off x="900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Line 79"/>
            <p:cNvSpPr>
              <a:spLocks noChangeShapeType="1"/>
            </p:cNvSpPr>
            <p:nvPr/>
          </p:nvSpPr>
          <p:spPr bwMode="auto">
            <a:xfrm>
              <a:off x="1194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80"/>
            <p:cNvSpPr>
              <a:spLocks noChangeShapeType="1"/>
            </p:cNvSpPr>
            <p:nvPr/>
          </p:nvSpPr>
          <p:spPr bwMode="auto">
            <a:xfrm>
              <a:off x="1362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Line 81"/>
            <p:cNvSpPr>
              <a:spLocks noChangeShapeType="1"/>
            </p:cNvSpPr>
            <p:nvPr/>
          </p:nvSpPr>
          <p:spPr bwMode="auto">
            <a:xfrm>
              <a:off x="2370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Line 82"/>
            <p:cNvSpPr>
              <a:spLocks noChangeShapeType="1"/>
            </p:cNvSpPr>
            <p:nvPr/>
          </p:nvSpPr>
          <p:spPr bwMode="auto">
            <a:xfrm>
              <a:off x="2538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2706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Line 84"/>
            <p:cNvSpPr>
              <a:spLocks noChangeShapeType="1"/>
            </p:cNvSpPr>
            <p:nvPr/>
          </p:nvSpPr>
          <p:spPr bwMode="auto">
            <a:xfrm>
              <a:off x="2874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Line 85"/>
            <p:cNvSpPr>
              <a:spLocks noChangeShapeType="1"/>
            </p:cNvSpPr>
            <p:nvPr/>
          </p:nvSpPr>
          <p:spPr bwMode="auto">
            <a:xfrm>
              <a:off x="3042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Line 86"/>
            <p:cNvSpPr>
              <a:spLocks noChangeShapeType="1"/>
            </p:cNvSpPr>
            <p:nvPr/>
          </p:nvSpPr>
          <p:spPr bwMode="auto">
            <a:xfrm>
              <a:off x="3546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Line 87"/>
            <p:cNvSpPr>
              <a:spLocks noChangeShapeType="1"/>
            </p:cNvSpPr>
            <p:nvPr/>
          </p:nvSpPr>
          <p:spPr bwMode="auto">
            <a:xfrm>
              <a:off x="3378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3" name="Line 88"/>
            <p:cNvSpPr>
              <a:spLocks noChangeShapeType="1"/>
            </p:cNvSpPr>
            <p:nvPr/>
          </p:nvSpPr>
          <p:spPr bwMode="auto">
            <a:xfrm>
              <a:off x="3714" y="3825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4" name="Line 89"/>
            <p:cNvSpPr>
              <a:spLocks noChangeShapeType="1"/>
            </p:cNvSpPr>
            <p:nvPr/>
          </p:nvSpPr>
          <p:spPr bwMode="auto">
            <a:xfrm>
              <a:off x="3881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AutoShape 90"/>
            <p:cNvSpPr/>
            <p:nvPr/>
          </p:nvSpPr>
          <p:spPr bwMode="auto">
            <a:xfrm rot="16200000" flipH="1">
              <a:off x="3511" y="3645"/>
              <a:ext cx="63" cy="298"/>
            </a:xfrm>
            <a:prstGeom prst="leftBrace">
              <a:avLst>
                <a:gd name="adj1" fmla="val 39418"/>
                <a:gd name="adj2" fmla="val 53602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Line 91"/>
            <p:cNvSpPr>
              <a:spLocks noChangeShapeType="1"/>
            </p:cNvSpPr>
            <p:nvPr/>
          </p:nvSpPr>
          <p:spPr bwMode="auto">
            <a:xfrm flipV="1">
              <a:off x="2290" y="3575"/>
              <a:ext cx="0" cy="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Line 92"/>
            <p:cNvSpPr>
              <a:spLocks noChangeShapeType="1"/>
            </p:cNvSpPr>
            <p:nvPr/>
          </p:nvSpPr>
          <p:spPr bwMode="auto">
            <a:xfrm flipV="1">
              <a:off x="2290" y="3575"/>
              <a:ext cx="4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8" name="Line 93"/>
            <p:cNvSpPr>
              <a:spLocks noChangeShapeType="1"/>
            </p:cNvSpPr>
            <p:nvPr/>
          </p:nvSpPr>
          <p:spPr bwMode="auto">
            <a:xfrm flipV="1">
              <a:off x="3553" y="3575"/>
              <a:ext cx="1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2768" y="3540"/>
              <a:ext cx="395" cy="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96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等待状态</a:t>
              </a:r>
              <a:endPara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Line 95"/>
            <p:cNvSpPr>
              <a:spLocks noChangeShapeType="1"/>
            </p:cNvSpPr>
            <p:nvPr/>
          </p:nvSpPr>
          <p:spPr bwMode="auto">
            <a:xfrm>
              <a:off x="3126" y="3575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AutoShape 96"/>
            <p:cNvSpPr/>
            <p:nvPr/>
          </p:nvSpPr>
          <p:spPr bwMode="auto">
            <a:xfrm rot="5400000" flipH="1" flipV="1">
              <a:off x="1158" y="3838"/>
              <a:ext cx="63" cy="663"/>
            </a:xfrm>
            <a:prstGeom prst="leftBrace">
              <a:avLst>
                <a:gd name="adj1" fmla="val 87698"/>
                <a:gd name="adj2" fmla="val 51069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97"/>
            <p:cNvSpPr txBox="1">
              <a:spLocks noChangeArrowheads="1"/>
            </p:cNvSpPr>
            <p:nvPr/>
          </p:nvSpPr>
          <p:spPr bwMode="auto">
            <a:xfrm>
              <a:off x="1004" y="4237"/>
              <a:ext cx="420" cy="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18000" tIns="0" rIns="1800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总线周期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k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Line 98"/>
            <p:cNvSpPr>
              <a:spLocks noChangeShapeType="1"/>
            </p:cNvSpPr>
            <p:nvPr/>
          </p:nvSpPr>
          <p:spPr bwMode="auto">
            <a:xfrm>
              <a:off x="1521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Line 99"/>
            <p:cNvSpPr>
              <a:spLocks noChangeShapeType="1"/>
            </p:cNvSpPr>
            <p:nvPr/>
          </p:nvSpPr>
          <p:spPr bwMode="auto">
            <a:xfrm>
              <a:off x="1689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Line 100"/>
            <p:cNvSpPr>
              <a:spLocks noChangeShapeType="1"/>
            </p:cNvSpPr>
            <p:nvPr/>
          </p:nvSpPr>
          <p:spPr bwMode="auto">
            <a:xfrm>
              <a:off x="1857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Line 101"/>
            <p:cNvSpPr>
              <a:spLocks noChangeShapeType="1"/>
            </p:cNvSpPr>
            <p:nvPr/>
          </p:nvSpPr>
          <p:spPr bwMode="auto">
            <a:xfrm>
              <a:off x="2025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Line 102"/>
            <p:cNvSpPr>
              <a:spLocks noChangeShapeType="1"/>
            </p:cNvSpPr>
            <p:nvPr/>
          </p:nvSpPr>
          <p:spPr bwMode="auto">
            <a:xfrm>
              <a:off x="2201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" name="Line 103"/>
            <p:cNvSpPr>
              <a:spLocks noChangeShapeType="1"/>
            </p:cNvSpPr>
            <p:nvPr/>
          </p:nvSpPr>
          <p:spPr bwMode="auto">
            <a:xfrm>
              <a:off x="3209" y="3825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" name="Text Box 104"/>
            <p:cNvSpPr txBox="1">
              <a:spLocks noChangeArrowheads="1"/>
            </p:cNvSpPr>
            <p:nvPr/>
          </p:nvSpPr>
          <p:spPr bwMode="auto">
            <a:xfrm>
              <a:off x="1068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" name="Text Box 105"/>
            <p:cNvSpPr txBox="1">
              <a:spLocks noChangeArrowheads="1"/>
            </p:cNvSpPr>
            <p:nvPr/>
          </p:nvSpPr>
          <p:spPr bwMode="auto">
            <a:xfrm>
              <a:off x="1227" y="3843"/>
              <a:ext cx="101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1" name="Text Box 106"/>
            <p:cNvSpPr txBox="1">
              <a:spLocks noChangeArrowheads="1"/>
            </p:cNvSpPr>
            <p:nvPr/>
          </p:nvSpPr>
          <p:spPr bwMode="auto">
            <a:xfrm>
              <a:off x="1395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" name="Text Box 107"/>
            <p:cNvSpPr txBox="1">
              <a:spLocks noChangeArrowheads="1"/>
            </p:cNvSpPr>
            <p:nvPr/>
          </p:nvSpPr>
          <p:spPr bwMode="auto">
            <a:xfrm>
              <a:off x="1564" y="3843"/>
              <a:ext cx="101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Text Box 108"/>
            <p:cNvSpPr txBox="1">
              <a:spLocks noChangeArrowheads="1"/>
            </p:cNvSpPr>
            <p:nvPr/>
          </p:nvSpPr>
          <p:spPr bwMode="auto">
            <a:xfrm>
              <a:off x="1732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4" name="Text Box 109"/>
            <p:cNvSpPr txBox="1">
              <a:spLocks noChangeArrowheads="1"/>
            </p:cNvSpPr>
            <p:nvPr/>
          </p:nvSpPr>
          <p:spPr bwMode="auto">
            <a:xfrm>
              <a:off x="1892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5" name="Text Box 110"/>
            <p:cNvSpPr txBox="1">
              <a:spLocks noChangeArrowheads="1"/>
            </p:cNvSpPr>
            <p:nvPr/>
          </p:nvSpPr>
          <p:spPr bwMode="auto">
            <a:xfrm>
              <a:off x="2059" y="3843"/>
              <a:ext cx="123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" name="Text Box 111"/>
            <p:cNvSpPr txBox="1">
              <a:spLocks noChangeArrowheads="1"/>
            </p:cNvSpPr>
            <p:nvPr/>
          </p:nvSpPr>
          <p:spPr bwMode="auto">
            <a:xfrm>
              <a:off x="2239" y="3843"/>
              <a:ext cx="123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W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Text Box 112"/>
            <p:cNvSpPr txBox="1">
              <a:spLocks noChangeArrowheads="1"/>
            </p:cNvSpPr>
            <p:nvPr/>
          </p:nvSpPr>
          <p:spPr bwMode="auto">
            <a:xfrm>
              <a:off x="2412" y="3843"/>
              <a:ext cx="101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Text Box 113"/>
            <p:cNvSpPr txBox="1">
              <a:spLocks noChangeArrowheads="1"/>
            </p:cNvSpPr>
            <p:nvPr/>
          </p:nvSpPr>
          <p:spPr bwMode="auto">
            <a:xfrm>
              <a:off x="2572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9" name="Text Box 114"/>
            <p:cNvSpPr txBox="1">
              <a:spLocks noChangeArrowheads="1"/>
            </p:cNvSpPr>
            <p:nvPr/>
          </p:nvSpPr>
          <p:spPr bwMode="auto">
            <a:xfrm>
              <a:off x="2740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" name="Text Box 115"/>
            <p:cNvSpPr txBox="1">
              <a:spLocks noChangeArrowheads="1"/>
            </p:cNvSpPr>
            <p:nvPr/>
          </p:nvSpPr>
          <p:spPr bwMode="auto">
            <a:xfrm>
              <a:off x="2917" y="3843"/>
              <a:ext cx="100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Text Box 116"/>
            <p:cNvSpPr txBox="1">
              <a:spLocks noChangeArrowheads="1"/>
            </p:cNvSpPr>
            <p:nvPr/>
          </p:nvSpPr>
          <p:spPr bwMode="auto">
            <a:xfrm>
              <a:off x="3084" y="3843"/>
              <a:ext cx="101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" name="Text Box 117"/>
            <p:cNvSpPr txBox="1">
              <a:spLocks noChangeArrowheads="1"/>
            </p:cNvSpPr>
            <p:nvPr/>
          </p:nvSpPr>
          <p:spPr bwMode="auto">
            <a:xfrm>
              <a:off x="3244" y="3843"/>
              <a:ext cx="122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3" name="Text Box 118"/>
            <p:cNvSpPr txBox="1">
              <a:spLocks noChangeArrowheads="1"/>
            </p:cNvSpPr>
            <p:nvPr/>
          </p:nvSpPr>
          <p:spPr bwMode="auto">
            <a:xfrm>
              <a:off x="3412" y="3843"/>
              <a:ext cx="122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W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4" name="Text Box 119"/>
            <p:cNvSpPr txBox="1">
              <a:spLocks noChangeArrowheads="1"/>
            </p:cNvSpPr>
            <p:nvPr/>
          </p:nvSpPr>
          <p:spPr bwMode="auto">
            <a:xfrm>
              <a:off x="3575" y="3843"/>
              <a:ext cx="122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W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5" name="Text Box 120"/>
            <p:cNvSpPr txBox="1">
              <a:spLocks noChangeArrowheads="1"/>
            </p:cNvSpPr>
            <p:nvPr/>
          </p:nvSpPr>
          <p:spPr bwMode="auto">
            <a:xfrm>
              <a:off x="3755" y="3843"/>
              <a:ext cx="122" cy="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marR="0" lvl="0" indent="-34290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6" name="AutoShape 121"/>
            <p:cNvSpPr/>
            <p:nvPr/>
          </p:nvSpPr>
          <p:spPr bwMode="auto">
            <a:xfrm rot="16200000" flipH="1">
              <a:off x="2676" y="3644"/>
              <a:ext cx="63" cy="299"/>
            </a:xfrm>
            <a:prstGeom prst="leftBrace">
              <a:avLst>
                <a:gd name="adj1" fmla="val 39550"/>
                <a:gd name="adj2" fmla="val 53602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7" name="Line 122"/>
            <p:cNvSpPr>
              <a:spLocks noChangeShapeType="1"/>
            </p:cNvSpPr>
            <p:nvPr/>
          </p:nvSpPr>
          <p:spPr bwMode="auto">
            <a:xfrm flipV="1">
              <a:off x="2718" y="3672"/>
              <a:ext cx="0" cy="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" name="Line 123"/>
            <p:cNvSpPr>
              <a:spLocks noChangeShapeType="1"/>
            </p:cNvSpPr>
            <p:nvPr/>
          </p:nvSpPr>
          <p:spPr bwMode="auto">
            <a:xfrm flipH="1">
              <a:off x="2201" y="3672"/>
              <a:ext cx="5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" name="Line 124"/>
            <p:cNvSpPr>
              <a:spLocks noChangeShapeType="1"/>
            </p:cNvSpPr>
            <p:nvPr/>
          </p:nvSpPr>
          <p:spPr bwMode="auto">
            <a:xfrm flipV="1">
              <a:off x="1601" y="3672"/>
              <a:ext cx="0" cy="1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0" name="Line 125"/>
            <p:cNvSpPr>
              <a:spLocks noChangeShapeType="1"/>
            </p:cNvSpPr>
            <p:nvPr/>
          </p:nvSpPr>
          <p:spPr bwMode="auto">
            <a:xfrm>
              <a:off x="1601" y="3672"/>
              <a:ext cx="26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1" name="Text Box 126"/>
            <p:cNvSpPr txBox="1">
              <a:spLocks noChangeArrowheads="1"/>
            </p:cNvSpPr>
            <p:nvPr/>
          </p:nvSpPr>
          <p:spPr bwMode="auto">
            <a:xfrm>
              <a:off x="1883" y="3639"/>
              <a:ext cx="360" cy="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96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空闲状态</a:t>
              </a:r>
              <a:endPara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2" name="AutoShape 127"/>
            <p:cNvSpPr/>
            <p:nvPr/>
          </p:nvSpPr>
          <p:spPr bwMode="auto">
            <a:xfrm rot="5400000" flipH="1" flipV="1">
              <a:off x="2056" y="3767"/>
              <a:ext cx="63" cy="806"/>
            </a:xfrm>
            <a:prstGeom prst="leftBrace">
              <a:avLst>
                <a:gd name="adj1" fmla="val 106614"/>
                <a:gd name="adj2" fmla="val 51069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" name="Text Box 128"/>
            <p:cNvSpPr txBox="1">
              <a:spLocks noChangeArrowheads="1"/>
            </p:cNvSpPr>
            <p:nvPr/>
          </p:nvSpPr>
          <p:spPr bwMode="auto">
            <a:xfrm>
              <a:off x="1878" y="4237"/>
              <a:ext cx="576" cy="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18000" tIns="0" rIns="1800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总线周期</a:t>
              </a: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k+1</a:t>
              </a:r>
              <a:endPara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4" name="AutoShape 129"/>
            <p:cNvSpPr/>
            <p:nvPr/>
          </p:nvSpPr>
          <p:spPr bwMode="auto">
            <a:xfrm rot="5400000" flipH="1" flipV="1">
              <a:off x="3337" y="3662"/>
              <a:ext cx="63" cy="1016"/>
            </a:xfrm>
            <a:prstGeom prst="leftBrace">
              <a:avLst>
                <a:gd name="adj1" fmla="val 134392"/>
                <a:gd name="adj2" fmla="val 51069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5" name="Text Box 130"/>
            <p:cNvSpPr txBox="1">
              <a:spLocks noChangeArrowheads="1"/>
            </p:cNvSpPr>
            <p:nvPr/>
          </p:nvSpPr>
          <p:spPr bwMode="auto">
            <a:xfrm>
              <a:off x="3184" y="4237"/>
              <a:ext cx="571" cy="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lIns="18000" tIns="0" rIns="18000" bIns="0"/>
            <a:lstStyle>
              <a:lvl1pPr marL="342900" indent="-342900"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 eaLnBrk="0" hangingPunct="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just" defTabSz="914400" eaLnBrk="1" fontAlgn="auto" latinLnBrk="0" hangingPunct="1">
                <a:lnSpc>
                  <a:spcPct val="72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E4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总线周期</a:t>
              </a: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k+2</a:t>
              </a:r>
              <a:endPara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5922" y="1295290"/>
            <a:ext cx="7908925" cy="29635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3200"/>
              </a:lnSpc>
            </a:pP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模式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：系统中只有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一个微处理器，所有的总线控制信号均为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产生，系统中的总线控制逻辑电路，减少到最少。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最大模式：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用于大型（中型）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系统中。系统总是包含有两个或多个微处理器，其中一个主处理器就是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，还有协处理器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8087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8089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等。通常由专门的总线控制器（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8288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）产生总线控制信号。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12626" y="1646775"/>
            <a:ext cx="4489574" cy="1008112"/>
          </a:xfrm>
        </p:spPr>
        <p:txBody>
          <a:bodyPr/>
          <a:p>
            <a:pPr>
              <a:lnSpc>
                <a:spcPct val="10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采用双列直插式（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In line Package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）封装，具有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条引脚，使用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电源供电。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/>
        </p:nvSpPr>
        <p:spPr>
          <a:xfrm>
            <a:off x="448280" y="990630"/>
            <a:ext cx="5832475" cy="57626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微处理器外部基本引脚与工作模式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5" name="图片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566923"/>
            <a:ext cx="4753099" cy="5003769"/>
          </a:xfrm>
          <a:prstGeom prst="rect">
            <a:avLst/>
          </a:prstGeom>
        </p:spPr>
      </p:pic>
      <p:sp>
        <p:nvSpPr>
          <p:cNvPr id="197" name="AutoShape 380"/>
          <p:cNvSpPr>
            <a:spLocks noChangeArrowheads="1"/>
          </p:cNvSpPr>
          <p:nvPr/>
        </p:nvSpPr>
        <p:spPr bwMode="auto">
          <a:xfrm rot="10800000">
            <a:off x="4470377" y="3570752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rgbClr val="C00000"/>
              </a:solidFill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575861" y="451232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时钟频率有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种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5MHz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8MHz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8086-1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）和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10MHz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8086-2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）。其引脚信号如图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3.13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所示，括号内为最大模式时的引脚名称。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42" y="1073382"/>
            <a:ext cx="7181881" cy="5025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8070" y="1334919"/>
            <a:ext cx="8229600" cy="636931"/>
          </a:xfrm>
        </p:spPr>
        <p:txBody>
          <a:bodyPr/>
          <a:p>
            <a:pPr marL="0" indent="0">
              <a:buNone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两种模式下公用的引脚信号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9592" y="2034774"/>
            <a:ext cx="6768752" cy="116955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ts val="6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所谓三态是指总线输出可以有三个状态：</a:t>
            </a:r>
            <a:endParaRPr lang="zh-CN" altLang="en-US" sz="2000" b="1" dirty="0"/>
          </a:p>
          <a:p>
            <a:pPr>
              <a:spcBef>
                <a:spcPts val="6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/>
              <a:t>高电平、低电平和高阻状态。</a:t>
            </a:r>
            <a:endParaRPr lang="zh-CN" altLang="en-US" sz="2000" b="1" dirty="0"/>
          </a:p>
          <a:p>
            <a:pPr>
              <a:spcBef>
                <a:spcPts val="6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/>
              <a:t>当处于高阻状态时，该总线在逻辑上与所有连接负载断开。</a:t>
            </a:r>
            <a:endParaRPr lang="zh-CN" altLang="en-US" sz="2000" b="1" dirty="0"/>
          </a:p>
        </p:txBody>
      </p:sp>
      <p:sp>
        <p:nvSpPr>
          <p:cNvPr id="7" name="矩形 6"/>
          <p:cNvSpPr/>
          <p:nvPr/>
        </p:nvSpPr>
        <p:spPr>
          <a:xfrm>
            <a:off x="683062" y="3250220"/>
            <a:ext cx="8229600" cy="3108543"/>
          </a:xfrm>
          <a:prstGeom prst="rect">
            <a:avLst/>
          </a:prstGeom>
        </p:spPr>
        <p:txBody>
          <a:bodyPr wrap="square">
            <a:spAutoFit/>
          </a:bodyPr>
          <a:p>
            <a:pPr marL="457200" lvl="0" indent="-457200">
              <a:lnSpc>
                <a:spcPct val="150000"/>
              </a:lnSpc>
              <a:spcBef>
                <a:spcPct val="20000"/>
              </a:spcBef>
              <a:buClr>
                <a:srgbClr val="740000"/>
              </a:buClr>
              <a:buAutoNum type="arabicPeriod"/>
            </a:pPr>
            <a:r>
              <a:rPr lang="zh-CN" altLang="zh-CN" sz="24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地址总线、数据总线、状态信号</a:t>
            </a:r>
            <a:endParaRPr lang="en-US" altLang="zh-CN" sz="2400" b="1" kern="0" dirty="0">
              <a:solidFill>
                <a:srgbClr val="00349E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buClr>
                <a:schemeClr val="tx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AD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15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AD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2~16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39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地址／数据复用总线；  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双向、三态；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分时输出低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16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位地址信号及进行数据信号的输入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输出。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A15-A0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T1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输出访问存储器或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I/O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的地址信息。</a:t>
            </a:r>
            <a:endParaRPr lang="en-US" altLang="zh-CN" sz="2000" b="1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D15-D0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T2-T4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输出与存储器和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I/O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设备交换数据信息。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42900" y="1138706"/>
            <a:ext cx="8991600" cy="238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tx2"/>
              </a:buClr>
              <a:buSzTx/>
            </a:pPr>
            <a:r>
              <a:rPr lang="en-US" altLang="zh-CN" sz="24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A19/S6</a:t>
            </a:r>
            <a:r>
              <a:rPr lang="zh-CN" altLang="en-US" sz="24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A16/S3 (35~38)</a:t>
            </a:r>
            <a:endParaRPr lang="zh-CN" altLang="en-US" sz="2400" b="1" dirty="0">
              <a:solidFill>
                <a:srgbClr val="74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地址／状态复用线；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输出、三态；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分时输出地址的高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位及状态信息。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A19-A16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输出访问存储器的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位地址的高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位地址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A19-A16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S6-S3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T2-T4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输出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的工作状态。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87755" y="3518535"/>
            <a:ext cx="6896100" cy="73596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05000"/>
              </a:lnSpc>
              <a:buClr>
                <a:schemeClr val="tx2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其中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S6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用以指示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当前与总线连通；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5000"/>
              </a:lnSpc>
              <a:buClr>
                <a:schemeClr val="tx2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S5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表明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可以响应可屏蔽中断。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87755" y="4246880"/>
            <a:ext cx="7091680" cy="4133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05000"/>
              </a:lnSpc>
              <a:buClr>
                <a:schemeClr val="tx2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S4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S3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共有四个组合状态，用以指明当前使用的段寄存器；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4"/>
          <p:cNvGrpSpPr/>
          <p:nvPr/>
        </p:nvGrpSpPr>
        <p:grpSpPr bwMode="auto">
          <a:xfrm>
            <a:off x="1539693" y="4775185"/>
            <a:ext cx="5532122" cy="1418921"/>
            <a:chOff x="1296" y="1248"/>
            <a:chExt cx="2776" cy="1920"/>
          </a:xfrm>
        </p:grpSpPr>
        <p:grpSp>
          <p:nvGrpSpPr>
            <p:cNvPr id="9" name="Group 5"/>
            <p:cNvGrpSpPr/>
            <p:nvPr/>
          </p:nvGrpSpPr>
          <p:grpSpPr bwMode="auto">
            <a:xfrm>
              <a:off x="1296" y="1248"/>
              <a:ext cx="500" cy="384"/>
              <a:chOff x="0" y="0"/>
              <a:chExt cx="417" cy="384"/>
            </a:xfrm>
          </p:grpSpPr>
          <p:sp>
            <p:nvSpPr>
              <p:cNvPr id="52" name="Rectangle 6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33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1600" b="1" baseline="-3000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4</a:t>
                </a:r>
                <a:endParaRPr kumimoji="1"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1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" name="Group 8"/>
            <p:cNvGrpSpPr/>
            <p:nvPr/>
          </p:nvGrpSpPr>
          <p:grpSpPr bwMode="auto">
            <a:xfrm>
              <a:off x="1796" y="1248"/>
              <a:ext cx="534" cy="384"/>
              <a:chOff x="417" y="0"/>
              <a:chExt cx="446" cy="384"/>
            </a:xfrm>
          </p:grpSpPr>
          <p:sp>
            <p:nvSpPr>
              <p:cNvPr id="50" name="Rectangle 9"/>
              <p:cNvSpPr>
                <a:spLocks noChangeArrowheads="1"/>
              </p:cNvSpPr>
              <p:nvPr/>
            </p:nvSpPr>
            <p:spPr bwMode="auto">
              <a:xfrm>
                <a:off x="460" y="0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1600" b="1" baseline="-3000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Rectangle 10"/>
              <p:cNvSpPr>
                <a:spLocks noChangeArrowheads="1"/>
              </p:cNvSpPr>
              <p:nvPr/>
            </p:nvSpPr>
            <p:spPr bwMode="auto">
              <a:xfrm>
                <a:off x="417" y="0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11"/>
            <p:cNvGrpSpPr/>
            <p:nvPr/>
          </p:nvGrpSpPr>
          <p:grpSpPr bwMode="auto">
            <a:xfrm>
              <a:off x="2330" y="1248"/>
              <a:ext cx="1742" cy="384"/>
              <a:chOff x="863" y="0"/>
              <a:chExt cx="1454" cy="384"/>
            </a:xfrm>
          </p:grpSpPr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906" y="0"/>
                <a:ext cx="13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zh-CN" altLang="en-US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当前正在使用的段寄存器</a:t>
                </a:r>
                <a:endParaRPr kumimoji="1" lang="zh-CN" altLang="en-US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863" y="0"/>
                <a:ext cx="14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14"/>
            <p:cNvGrpSpPr/>
            <p:nvPr/>
          </p:nvGrpSpPr>
          <p:grpSpPr bwMode="auto">
            <a:xfrm>
              <a:off x="1296" y="1632"/>
              <a:ext cx="500" cy="384"/>
              <a:chOff x="0" y="384"/>
              <a:chExt cx="417" cy="384"/>
            </a:xfrm>
          </p:grpSpPr>
          <p:sp>
            <p:nvSpPr>
              <p:cNvPr id="46" name="Rectangle 15"/>
              <p:cNvSpPr>
                <a:spLocks noChangeArrowheads="1"/>
              </p:cNvSpPr>
              <p:nvPr/>
            </p:nvSpPr>
            <p:spPr bwMode="auto">
              <a:xfrm>
                <a:off x="43" y="384"/>
                <a:ext cx="33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Rectangle 16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41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7"/>
            <p:cNvGrpSpPr/>
            <p:nvPr/>
          </p:nvGrpSpPr>
          <p:grpSpPr bwMode="auto">
            <a:xfrm>
              <a:off x="1796" y="1632"/>
              <a:ext cx="534" cy="384"/>
              <a:chOff x="417" y="384"/>
              <a:chExt cx="446" cy="384"/>
            </a:xfrm>
          </p:grpSpPr>
          <p:sp>
            <p:nvSpPr>
              <p:cNvPr id="44" name="Rectangle 18"/>
              <p:cNvSpPr>
                <a:spLocks noChangeArrowheads="1"/>
              </p:cNvSpPr>
              <p:nvPr/>
            </p:nvSpPr>
            <p:spPr bwMode="auto">
              <a:xfrm>
                <a:off x="460" y="384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Rectangle 19"/>
              <p:cNvSpPr>
                <a:spLocks noChangeArrowheads="1"/>
              </p:cNvSpPr>
              <p:nvPr/>
            </p:nvSpPr>
            <p:spPr bwMode="auto">
              <a:xfrm>
                <a:off x="417" y="384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20"/>
            <p:cNvGrpSpPr/>
            <p:nvPr/>
          </p:nvGrpSpPr>
          <p:grpSpPr bwMode="auto">
            <a:xfrm>
              <a:off x="2330" y="1632"/>
              <a:ext cx="1742" cy="384"/>
              <a:chOff x="863" y="384"/>
              <a:chExt cx="1454" cy="384"/>
            </a:xfrm>
          </p:grpSpPr>
          <p:sp>
            <p:nvSpPr>
              <p:cNvPr id="42" name="Rectangle 21"/>
              <p:cNvSpPr>
                <a:spLocks noChangeArrowheads="1"/>
              </p:cNvSpPr>
              <p:nvPr/>
            </p:nvSpPr>
            <p:spPr bwMode="auto">
              <a:xfrm>
                <a:off x="906" y="384"/>
                <a:ext cx="13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ES</a:t>
                </a:r>
                <a:endParaRPr kumimoji="1"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Rectangle 22"/>
              <p:cNvSpPr>
                <a:spLocks noChangeArrowheads="1"/>
              </p:cNvSpPr>
              <p:nvPr/>
            </p:nvSpPr>
            <p:spPr bwMode="auto">
              <a:xfrm>
                <a:off x="863" y="384"/>
                <a:ext cx="14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23"/>
            <p:cNvGrpSpPr/>
            <p:nvPr/>
          </p:nvGrpSpPr>
          <p:grpSpPr bwMode="auto">
            <a:xfrm>
              <a:off x="1296" y="2016"/>
              <a:ext cx="500" cy="384"/>
              <a:chOff x="0" y="768"/>
              <a:chExt cx="417" cy="384"/>
            </a:xfrm>
          </p:grpSpPr>
          <p:sp>
            <p:nvSpPr>
              <p:cNvPr id="40" name="Rectangle 24"/>
              <p:cNvSpPr>
                <a:spLocks noChangeArrowheads="1"/>
              </p:cNvSpPr>
              <p:nvPr/>
            </p:nvSpPr>
            <p:spPr bwMode="auto">
              <a:xfrm>
                <a:off x="43" y="768"/>
                <a:ext cx="33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 25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41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26"/>
            <p:cNvGrpSpPr/>
            <p:nvPr/>
          </p:nvGrpSpPr>
          <p:grpSpPr bwMode="auto">
            <a:xfrm>
              <a:off x="1796" y="2016"/>
              <a:ext cx="534" cy="384"/>
              <a:chOff x="417" y="768"/>
              <a:chExt cx="446" cy="384"/>
            </a:xfrm>
          </p:grpSpPr>
          <p:sp>
            <p:nvSpPr>
              <p:cNvPr id="38" name="Rectangle 27"/>
              <p:cNvSpPr>
                <a:spLocks noChangeArrowheads="1"/>
              </p:cNvSpPr>
              <p:nvPr/>
            </p:nvSpPr>
            <p:spPr bwMode="auto">
              <a:xfrm>
                <a:off x="460" y="768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Rectangle 28"/>
              <p:cNvSpPr>
                <a:spLocks noChangeArrowheads="1"/>
              </p:cNvSpPr>
              <p:nvPr/>
            </p:nvSpPr>
            <p:spPr bwMode="auto">
              <a:xfrm>
                <a:off x="417" y="768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29"/>
            <p:cNvGrpSpPr/>
            <p:nvPr/>
          </p:nvGrpSpPr>
          <p:grpSpPr bwMode="auto">
            <a:xfrm>
              <a:off x="2330" y="2016"/>
              <a:ext cx="1742" cy="384"/>
              <a:chOff x="863" y="768"/>
              <a:chExt cx="1454" cy="384"/>
            </a:xfrm>
          </p:grpSpPr>
          <p:sp>
            <p:nvSpPr>
              <p:cNvPr id="36" name="Rectangle 30"/>
              <p:cNvSpPr>
                <a:spLocks noChangeArrowheads="1"/>
              </p:cNvSpPr>
              <p:nvPr/>
            </p:nvSpPr>
            <p:spPr bwMode="auto">
              <a:xfrm>
                <a:off x="906" y="768"/>
                <a:ext cx="13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SS</a:t>
                </a:r>
                <a:endParaRPr kumimoji="1"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1"/>
              <p:cNvSpPr>
                <a:spLocks noChangeArrowheads="1"/>
              </p:cNvSpPr>
              <p:nvPr/>
            </p:nvSpPr>
            <p:spPr bwMode="auto">
              <a:xfrm>
                <a:off x="863" y="768"/>
                <a:ext cx="14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32"/>
            <p:cNvGrpSpPr/>
            <p:nvPr/>
          </p:nvGrpSpPr>
          <p:grpSpPr bwMode="auto">
            <a:xfrm>
              <a:off x="1296" y="2400"/>
              <a:ext cx="500" cy="384"/>
              <a:chOff x="0" y="1152"/>
              <a:chExt cx="417" cy="384"/>
            </a:xfrm>
          </p:grpSpPr>
          <p:sp>
            <p:nvSpPr>
              <p:cNvPr id="34" name="Rectangle 33"/>
              <p:cNvSpPr>
                <a:spLocks noChangeArrowheads="1"/>
              </p:cNvSpPr>
              <p:nvPr/>
            </p:nvSpPr>
            <p:spPr bwMode="auto">
              <a:xfrm>
                <a:off x="43" y="1152"/>
                <a:ext cx="33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4"/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41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35"/>
            <p:cNvGrpSpPr/>
            <p:nvPr/>
          </p:nvGrpSpPr>
          <p:grpSpPr bwMode="auto">
            <a:xfrm>
              <a:off x="1796" y="2400"/>
              <a:ext cx="534" cy="384"/>
              <a:chOff x="417" y="1152"/>
              <a:chExt cx="446" cy="384"/>
            </a:xfrm>
          </p:grpSpPr>
          <p:sp>
            <p:nvSpPr>
              <p:cNvPr id="32" name="Rectangle 36"/>
              <p:cNvSpPr>
                <a:spLocks noChangeArrowheads="1"/>
              </p:cNvSpPr>
              <p:nvPr/>
            </p:nvSpPr>
            <p:spPr bwMode="auto">
              <a:xfrm>
                <a:off x="460" y="1152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0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7"/>
              <p:cNvSpPr>
                <a:spLocks noChangeArrowheads="1"/>
              </p:cNvSpPr>
              <p:nvPr/>
            </p:nvSpPr>
            <p:spPr bwMode="auto">
              <a:xfrm>
                <a:off x="417" y="1152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38"/>
            <p:cNvGrpSpPr/>
            <p:nvPr/>
          </p:nvGrpSpPr>
          <p:grpSpPr bwMode="auto">
            <a:xfrm>
              <a:off x="2330" y="2400"/>
              <a:ext cx="1742" cy="384"/>
              <a:chOff x="863" y="1152"/>
              <a:chExt cx="1454" cy="384"/>
            </a:xfrm>
          </p:grpSpPr>
          <p:sp>
            <p:nvSpPr>
              <p:cNvPr id="30" name="Rectangle 39"/>
              <p:cNvSpPr>
                <a:spLocks noChangeArrowheads="1"/>
              </p:cNvSpPr>
              <p:nvPr/>
            </p:nvSpPr>
            <p:spPr bwMode="auto">
              <a:xfrm>
                <a:off x="906" y="1152"/>
                <a:ext cx="13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CS</a:t>
                </a:r>
                <a:r>
                  <a:rPr kumimoji="1" lang="zh-CN" altLang="en-US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或未使用任何段寄存器</a:t>
                </a:r>
                <a:endParaRPr kumimoji="1" lang="zh-CN" altLang="en-US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40"/>
              <p:cNvSpPr>
                <a:spLocks noChangeArrowheads="1"/>
              </p:cNvSpPr>
              <p:nvPr/>
            </p:nvSpPr>
            <p:spPr bwMode="auto">
              <a:xfrm>
                <a:off x="863" y="1152"/>
                <a:ext cx="14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41"/>
            <p:cNvGrpSpPr/>
            <p:nvPr/>
          </p:nvGrpSpPr>
          <p:grpSpPr bwMode="auto">
            <a:xfrm>
              <a:off x="1296" y="2784"/>
              <a:ext cx="500" cy="384"/>
              <a:chOff x="0" y="1536"/>
              <a:chExt cx="417" cy="384"/>
            </a:xfrm>
          </p:grpSpPr>
          <p:sp>
            <p:nvSpPr>
              <p:cNvPr id="28" name="Rectangle 42"/>
              <p:cNvSpPr>
                <a:spLocks noChangeArrowheads="1"/>
              </p:cNvSpPr>
              <p:nvPr/>
            </p:nvSpPr>
            <p:spPr bwMode="auto">
              <a:xfrm>
                <a:off x="43" y="1536"/>
                <a:ext cx="33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ectangle 43"/>
              <p:cNvSpPr>
                <a:spLocks noChangeArrowheads="1"/>
              </p:cNvSpPr>
              <p:nvPr/>
            </p:nvSpPr>
            <p:spPr bwMode="auto">
              <a:xfrm>
                <a:off x="0" y="1536"/>
                <a:ext cx="41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44"/>
            <p:cNvGrpSpPr/>
            <p:nvPr/>
          </p:nvGrpSpPr>
          <p:grpSpPr bwMode="auto">
            <a:xfrm>
              <a:off x="1796" y="2784"/>
              <a:ext cx="534" cy="384"/>
              <a:chOff x="417" y="1536"/>
              <a:chExt cx="446" cy="384"/>
            </a:xfrm>
          </p:grpSpPr>
          <p:sp>
            <p:nvSpPr>
              <p:cNvPr id="26" name="Rectangle 45"/>
              <p:cNvSpPr>
                <a:spLocks noChangeArrowheads="1"/>
              </p:cNvSpPr>
              <p:nvPr/>
            </p:nvSpPr>
            <p:spPr bwMode="auto">
              <a:xfrm>
                <a:off x="460" y="1536"/>
                <a:ext cx="36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1600" b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Rectangle 46"/>
              <p:cNvSpPr>
                <a:spLocks noChangeArrowheads="1"/>
              </p:cNvSpPr>
              <p:nvPr/>
            </p:nvSpPr>
            <p:spPr bwMode="auto">
              <a:xfrm>
                <a:off x="417" y="1536"/>
                <a:ext cx="44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oup 47"/>
            <p:cNvGrpSpPr/>
            <p:nvPr/>
          </p:nvGrpSpPr>
          <p:grpSpPr bwMode="auto">
            <a:xfrm>
              <a:off x="2330" y="2784"/>
              <a:ext cx="1742" cy="384"/>
              <a:chOff x="863" y="1536"/>
              <a:chExt cx="1454" cy="384"/>
            </a:xfrm>
          </p:grpSpPr>
          <p:sp>
            <p:nvSpPr>
              <p:cNvPr id="24" name="Rectangle 48"/>
              <p:cNvSpPr>
                <a:spLocks noChangeArrowheads="1"/>
              </p:cNvSpPr>
              <p:nvPr/>
            </p:nvSpPr>
            <p:spPr bwMode="auto">
              <a:xfrm>
                <a:off x="906" y="1536"/>
                <a:ext cx="136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p>
                <a:pPr algn="ctr"/>
                <a:r>
                  <a:rPr kumimoji="1" lang="en-US" altLang="zh-CN" sz="16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DS</a:t>
                </a:r>
                <a:endParaRPr kumimoji="1"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49"/>
              <p:cNvSpPr>
                <a:spLocks noChangeArrowheads="1"/>
              </p:cNvSpPr>
              <p:nvPr/>
            </p:nvSpPr>
            <p:spPr bwMode="auto">
              <a:xfrm>
                <a:off x="863" y="1536"/>
                <a:ext cx="145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p>
                <a:endParaRPr lang="zh-CN" altLang="en-US" sz="160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1122045"/>
            <a:ext cx="8315325" cy="5010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" y="1386205"/>
            <a:ext cx="7960360" cy="430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1154430"/>
            <a:ext cx="8509635" cy="426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" y="1259840"/>
            <a:ext cx="8345170" cy="4337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188720"/>
            <a:ext cx="7095490" cy="3307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0" y="1061085"/>
            <a:ext cx="5388610" cy="4735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" y="1108075"/>
            <a:ext cx="6935470" cy="4463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" y="1031240"/>
            <a:ext cx="7839075" cy="579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180465"/>
            <a:ext cx="8759825" cy="4497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139190"/>
            <a:ext cx="5557520" cy="2834640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03" y="900596"/>
            <a:ext cx="28305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224155" y="4432300"/>
            <a:ext cx="8205470" cy="1035685"/>
          </a:xfrm>
          <a:prstGeom prst="rect">
            <a:avLst/>
          </a:prstGeom>
        </p:spPr>
        <p:txBody>
          <a:bodyPr wrap="square">
            <a:noAutofit/>
          </a:bodyPr>
          <a:p>
            <a:pPr lvl="0" algn="just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准备就绪电路</a:t>
            </a:r>
            <a:endParaRPr lang="zh-CN" altLang="en-US" sz="2000" b="1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0" algn="just">
              <a:lnSpc>
                <a:spcPct val="110000"/>
              </a:lnSpc>
            </a:pPr>
            <a:r>
              <a:rPr lang="en-US" altLang="zh-CN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RDY1,RDY2</a:t>
            </a:r>
            <a:r>
              <a:rPr lang="zh-CN" altLang="en-US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准备就绪输入信号，</a:t>
            </a:r>
            <a:endParaRPr lang="zh-CN" altLang="en-US" sz="2000" b="1" kern="0" dirty="0">
              <a:solidFill>
                <a:srgbClr val="00349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10000"/>
              </a:lnSpc>
            </a:pPr>
            <a:r>
              <a:rPr lang="en-US" altLang="zh-CN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AEN1,AEN2</a:t>
            </a:r>
            <a:r>
              <a:rPr lang="zh-CN" altLang="en-US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用来决定对应的</a:t>
            </a:r>
            <a:r>
              <a:rPr lang="en-US" altLang="zh-CN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RDY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信号生效与否，若有效使</a:t>
            </a:r>
            <a:r>
              <a:rPr lang="en-US" altLang="zh-CN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RDY1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RDY2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产生</a:t>
            </a:r>
            <a:r>
              <a:rPr lang="en-US" altLang="zh-CN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REDAY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信号，否则使</a:t>
            </a:r>
            <a:r>
              <a:rPr lang="en-US" altLang="zh-CN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CPU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产生等待周期</a:t>
            </a:r>
            <a:endParaRPr lang="zh-CN" altLang="en-US" sz="2000" b="1" kern="0" dirty="0">
              <a:solidFill>
                <a:srgbClr val="00349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10000"/>
              </a:lnSpc>
            </a:pPr>
            <a:r>
              <a:rPr lang="en-US" altLang="zh-CN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ASYNC</a:t>
            </a:r>
            <a:r>
              <a:rPr lang="zh-CN" altLang="en-US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准备就绪输入信号和时钟信号进行同步的方式选择输入端</a:t>
            </a:r>
            <a:endParaRPr lang="zh-CN" altLang="en-US" sz="2000" b="1" kern="0" dirty="0">
              <a:solidFill>
                <a:srgbClr val="00349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10000"/>
              </a:lnSpc>
            </a:pPr>
            <a:r>
              <a:rPr lang="en-US" altLang="zh-CN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REDAY</a:t>
            </a:r>
            <a:r>
              <a:rPr lang="zh-CN" altLang="en-US" sz="2000" b="1" kern="0" dirty="0">
                <a:solidFill>
                  <a:srgbClr val="99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输出到</a:t>
            </a:r>
            <a:r>
              <a:rPr lang="en-US" altLang="zh-CN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CPU</a:t>
            </a:r>
            <a:r>
              <a:rPr lang="zh-CN" altLang="en-US" sz="2000" b="1" kern="0" dirty="0">
                <a:solidFill>
                  <a:srgbClr val="00349E"/>
                </a:solidFill>
                <a:latin typeface="Times New Roman" panose="02020603050405020304" pitchFamily="18" charset="0"/>
                <a:ea typeface="楷体_GB2312" pitchFamily="49" charset="-122"/>
              </a:rPr>
              <a:t>的准备就绪信号</a:t>
            </a:r>
            <a:endParaRPr lang="zh-CN" altLang="en-US" sz="2000" b="1" kern="0" dirty="0">
              <a:solidFill>
                <a:srgbClr val="00349E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207770"/>
            <a:ext cx="7960995" cy="4122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242695"/>
            <a:ext cx="8355965" cy="3938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303020"/>
            <a:ext cx="8482330" cy="4022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206500"/>
            <a:ext cx="6932295" cy="4174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" y="1188720"/>
            <a:ext cx="8114030" cy="4598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" y="1287780"/>
            <a:ext cx="8282940" cy="3807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3" name="内容占位符 1"/>
          <p:cNvSpPr>
            <a:spLocks noGrp="1"/>
          </p:cNvSpPr>
          <p:nvPr>
            <p:ph idx="1"/>
          </p:nvPr>
        </p:nvSpPr>
        <p:spPr>
          <a:xfrm>
            <a:off x="466120" y="1477264"/>
            <a:ext cx="8229600" cy="4263752"/>
          </a:xfrm>
        </p:spPr>
        <p:txBody>
          <a:bodyPr/>
          <a:p>
            <a:pPr marL="0" indent="0">
              <a:buNone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最大模式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在最小模式下，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必须配有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8282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8284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8286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才能构成整个微处理器系统，才能通过地址、数据、控制总线与外部设备联系，控制外设工作。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在最大模式下，除了上述还需要配置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8288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总线控制器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8288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对处理器发出的控制信号进行变换和组合，最终由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8288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产生总线控制信号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，而不是由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直接产生。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有两个或两个以上的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，一个为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主处理器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8086/8088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另一个为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协处理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8087/8089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数值运算协处理器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8087, 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输入输出协处理器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8089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</a:pP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" y="1426845"/>
            <a:ext cx="8641715" cy="3665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7825" y="1245870"/>
            <a:ext cx="2740025" cy="1829435"/>
          </a:xfrm>
        </p:spPr>
        <p:txBody>
          <a:bodyPr/>
          <a:p>
            <a:r>
              <a:rPr lang="en-US" altLang="zh-CN" sz="2000" b="1" dirty="0">
                <a:latin typeface="Times New Roman" panose="02020603050405020304" pitchFamily="18" charset="0"/>
              </a:rPr>
              <a:t>8086</a:t>
            </a:r>
            <a:r>
              <a:rPr lang="zh-CN" altLang="en-US" sz="2000" b="1" dirty="0">
                <a:latin typeface="Times New Roman" panose="02020603050405020304" pitchFamily="18" charset="0"/>
              </a:rPr>
              <a:t>在最</a:t>
            </a:r>
            <a:r>
              <a:rPr lang="zh-CN" altLang="en-US" sz="2000" b="1" dirty="0">
                <a:latin typeface="Times New Roman" panose="02020603050405020304" pitchFamily="18" charset="0"/>
              </a:rPr>
              <a:t>大模式下的典型配置 </a:t>
            </a:r>
            <a:endParaRPr lang="zh-CN" altLang="en-US" sz="2000" b="1" dirty="0"/>
          </a:p>
        </p:txBody>
      </p:sp>
      <p:pic>
        <p:nvPicPr>
          <p:cNvPr id="5" name="Picture 4" descr="wx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03335" y="1325387"/>
            <a:ext cx="4857341" cy="50674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95" y="1064260"/>
            <a:ext cx="8876030" cy="5025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" y="1085215"/>
            <a:ext cx="8007350" cy="5240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9866" y="2576680"/>
            <a:ext cx="3457575" cy="3960812"/>
          </a:xfrm>
        </p:spPr>
        <p:txBody>
          <a:bodyPr/>
          <a:lstStyle/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用于输出中断响应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读</a:t>
            </a:r>
            <a:r>
              <a:rPr lang="en-US" altLang="zh-CN" sz="1800" b="1" dirty="0">
                <a:solidFill>
                  <a:schemeClr val="folHlink"/>
                </a:solidFill>
                <a:effectLst/>
              </a:rPr>
              <a:t>I/O</a:t>
            </a: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信号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写</a:t>
            </a:r>
            <a:r>
              <a:rPr lang="en-US" altLang="zh-CN" sz="1800" b="1" dirty="0">
                <a:solidFill>
                  <a:schemeClr val="folHlink"/>
                </a:solidFill>
                <a:effectLst/>
              </a:rPr>
              <a:t>I/O</a:t>
            </a: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信号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folHlink"/>
                </a:solidFill>
                <a:effectLst/>
              </a:rPr>
              <a:t>I/O</a:t>
            </a: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写超前控制信号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读存储器信号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写存储器信号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  <a:p>
            <a:pPr>
              <a:lnSpc>
                <a:spcPct val="122000"/>
              </a:lnSpc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folHlink"/>
                </a:solidFill>
                <a:effectLst/>
              </a:rPr>
              <a:t>存储器写超前控制信号</a:t>
            </a:r>
            <a:endParaRPr lang="zh-CN" altLang="en-US" sz="1800" b="1" dirty="0">
              <a:solidFill>
                <a:schemeClr val="folHlink"/>
              </a:solidFill>
              <a:effectLst/>
            </a:endParaRPr>
          </a:p>
        </p:txBody>
      </p:sp>
      <p:grpSp>
        <p:nvGrpSpPr>
          <p:cNvPr id="13315" name="Group 3"/>
          <p:cNvGrpSpPr/>
          <p:nvPr/>
        </p:nvGrpSpPr>
        <p:grpSpPr bwMode="auto">
          <a:xfrm>
            <a:off x="720366" y="2576680"/>
            <a:ext cx="1298575" cy="2775178"/>
            <a:chOff x="0" y="0"/>
            <a:chExt cx="817" cy="2268"/>
          </a:xfrm>
        </p:grpSpPr>
        <p:grpSp>
          <p:nvGrpSpPr>
            <p:cNvPr id="13316" name="Group 4"/>
            <p:cNvGrpSpPr/>
            <p:nvPr/>
          </p:nvGrpSpPr>
          <p:grpSpPr bwMode="auto">
            <a:xfrm>
              <a:off x="91" y="0"/>
              <a:ext cx="633" cy="318"/>
              <a:chOff x="0" y="0"/>
              <a:chExt cx="576" cy="318"/>
            </a:xfrm>
          </p:grpSpPr>
          <p:sp>
            <p:nvSpPr>
              <p:cNvPr id="13317" name="Text Box 5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INTA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18" name="Line 6"/>
              <p:cNvSpPr>
                <a:spLocks noChangeShapeType="1"/>
              </p:cNvSpPr>
              <p:nvPr/>
            </p:nvSpPr>
            <p:spPr bwMode="auto">
              <a:xfrm>
                <a:off x="48" y="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19" name="Group 7"/>
            <p:cNvGrpSpPr/>
            <p:nvPr/>
          </p:nvGrpSpPr>
          <p:grpSpPr bwMode="auto">
            <a:xfrm>
              <a:off x="45" y="1315"/>
              <a:ext cx="726" cy="318"/>
              <a:chOff x="0" y="0"/>
              <a:chExt cx="576" cy="318"/>
            </a:xfrm>
          </p:grpSpPr>
          <p:sp>
            <p:nvSpPr>
              <p:cNvPr id="13320" name="Text Box 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MRDC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21" name="Line 9"/>
              <p:cNvSpPr>
                <a:spLocks noChangeShapeType="1"/>
              </p:cNvSpPr>
              <p:nvPr/>
            </p:nvSpPr>
            <p:spPr bwMode="auto">
              <a:xfrm>
                <a:off x="48" y="2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22" name="Group 10"/>
            <p:cNvGrpSpPr/>
            <p:nvPr/>
          </p:nvGrpSpPr>
          <p:grpSpPr bwMode="auto">
            <a:xfrm>
              <a:off x="93" y="317"/>
              <a:ext cx="633" cy="318"/>
              <a:chOff x="0" y="0"/>
              <a:chExt cx="576" cy="318"/>
            </a:xfrm>
          </p:grpSpPr>
          <p:sp>
            <p:nvSpPr>
              <p:cNvPr id="13323" name="Text Box 11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IORC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24" name="Line 12"/>
              <p:cNvSpPr>
                <a:spLocks noChangeShapeType="1"/>
              </p:cNvSpPr>
              <p:nvPr/>
            </p:nvSpPr>
            <p:spPr bwMode="auto">
              <a:xfrm>
                <a:off x="48" y="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25" name="Group 13"/>
            <p:cNvGrpSpPr/>
            <p:nvPr/>
          </p:nvGrpSpPr>
          <p:grpSpPr bwMode="auto">
            <a:xfrm>
              <a:off x="0" y="952"/>
              <a:ext cx="817" cy="318"/>
              <a:chOff x="0" y="0"/>
              <a:chExt cx="624" cy="318"/>
            </a:xfrm>
          </p:grpSpPr>
          <p:sp>
            <p:nvSpPr>
              <p:cNvPr id="13326" name="Text Box 14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24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AIOWC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27" name="Line 15"/>
              <p:cNvSpPr>
                <a:spLocks noChangeShapeType="1"/>
              </p:cNvSpPr>
              <p:nvPr/>
            </p:nvSpPr>
            <p:spPr bwMode="auto">
              <a:xfrm>
                <a:off x="64" y="20"/>
                <a:ext cx="4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28" name="Group 16"/>
            <p:cNvGrpSpPr/>
            <p:nvPr/>
          </p:nvGrpSpPr>
          <p:grpSpPr bwMode="auto">
            <a:xfrm>
              <a:off x="45" y="657"/>
              <a:ext cx="681" cy="318"/>
              <a:chOff x="0" y="0"/>
              <a:chExt cx="576" cy="318"/>
            </a:xfrm>
          </p:grpSpPr>
          <p:sp>
            <p:nvSpPr>
              <p:cNvPr id="13329" name="Text Box 1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IOWC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0" name="Line 18"/>
              <p:cNvSpPr>
                <a:spLocks noChangeShapeType="1"/>
              </p:cNvSpPr>
              <p:nvPr/>
            </p:nvSpPr>
            <p:spPr bwMode="auto">
              <a:xfrm>
                <a:off x="48" y="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31" name="Group 19"/>
            <p:cNvGrpSpPr/>
            <p:nvPr/>
          </p:nvGrpSpPr>
          <p:grpSpPr bwMode="auto">
            <a:xfrm>
              <a:off x="45" y="1633"/>
              <a:ext cx="726" cy="318"/>
              <a:chOff x="0" y="0"/>
              <a:chExt cx="576" cy="318"/>
            </a:xfrm>
          </p:grpSpPr>
          <p:sp>
            <p:nvSpPr>
              <p:cNvPr id="13332" name="Text Box 20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MWTC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3" name="Line 21"/>
              <p:cNvSpPr>
                <a:spLocks noChangeShapeType="1"/>
              </p:cNvSpPr>
              <p:nvPr/>
            </p:nvSpPr>
            <p:spPr bwMode="auto">
              <a:xfrm>
                <a:off x="48" y="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34" name="Group 22"/>
            <p:cNvGrpSpPr/>
            <p:nvPr/>
          </p:nvGrpSpPr>
          <p:grpSpPr bwMode="auto">
            <a:xfrm>
              <a:off x="0" y="1950"/>
              <a:ext cx="771" cy="318"/>
              <a:chOff x="0" y="0"/>
              <a:chExt cx="576" cy="318"/>
            </a:xfrm>
          </p:grpSpPr>
          <p:sp>
            <p:nvSpPr>
              <p:cNvPr id="13335" name="Text Box 2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AMWC</a:t>
                </a:r>
                <a:endPara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6" name="Line 24"/>
              <p:cNvSpPr>
                <a:spLocks noChangeShapeType="1"/>
              </p:cNvSpPr>
              <p:nvPr/>
            </p:nvSpPr>
            <p:spPr bwMode="auto">
              <a:xfrm>
                <a:off x="48" y="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506191" y="1781440"/>
            <a:ext cx="49119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8288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各输出命令信号的功能 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3478" name="Group 166"/>
          <p:cNvGrpSpPr/>
          <p:nvPr/>
        </p:nvGrpSpPr>
        <p:grpSpPr bwMode="auto">
          <a:xfrm>
            <a:off x="8064758" y="2488274"/>
            <a:ext cx="1066800" cy="1368425"/>
            <a:chOff x="0" y="0"/>
            <a:chExt cx="672" cy="768"/>
          </a:xfrm>
        </p:grpSpPr>
        <p:sp>
          <p:nvSpPr>
            <p:cNvPr id="13479" name="Text Box 167"/>
            <p:cNvSpPr txBox="1">
              <a:spLocks noChangeArrowheads="1"/>
            </p:cNvSpPr>
            <p:nvPr/>
          </p:nvSpPr>
          <p:spPr bwMode="auto">
            <a:xfrm>
              <a:off x="144" y="48"/>
              <a:ext cx="528" cy="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74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输出命令信号</a:t>
              </a:r>
              <a:endParaRPr lang="zh-CN" altLang="en-US" sz="2000" b="1" dirty="0">
                <a:solidFill>
                  <a:srgbClr val="74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480" name="AutoShape 168"/>
            <p:cNvSpPr/>
            <p:nvPr/>
          </p:nvSpPr>
          <p:spPr bwMode="auto">
            <a:xfrm>
              <a:off x="0" y="0"/>
              <a:ext cx="144" cy="768"/>
            </a:xfrm>
            <a:prstGeom prst="rightBrace">
              <a:avLst>
                <a:gd name="adj1" fmla="val 4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9" name="文本占位符 2"/>
          <p:cNvSpPr txBox="1"/>
          <p:nvPr/>
        </p:nvSpPr>
        <p:spPr>
          <a:xfrm>
            <a:off x="478645" y="974884"/>
            <a:ext cx="6396545" cy="57626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微处理器外部基本引脚与工作模式</a:t>
            </a:r>
            <a:endParaRPr lang="zh-CN" altLang="en-US" sz="2400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sz="2400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359" y="2304073"/>
            <a:ext cx="4002854" cy="255289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4298" y="348635"/>
            <a:ext cx="4424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838325" y="4157345"/>
              <a:ext cx="1969135" cy="63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838325" y="4157345"/>
                <a:ext cx="1969135" cy="635"/>
              </a:xfrm>
              <a:prstGeom prst="rect"/>
            </p:spPr>
          </p:pic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8" name="Group 72"/>
          <p:cNvGrpSpPr/>
          <p:nvPr/>
        </p:nvGrpSpPr>
        <p:grpSpPr bwMode="auto">
          <a:xfrm>
            <a:off x="2375422" y="5085184"/>
            <a:ext cx="914400" cy="1296144"/>
            <a:chOff x="0" y="6"/>
            <a:chExt cx="576" cy="634"/>
          </a:xfrm>
        </p:grpSpPr>
        <p:sp>
          <p:nvSpPr>
            <p:cNvPr id="14409" name="Text Box 73"/>
            <p:cNvSpPr txBox="1">
              <a:spLocks noChangeArrowheads="1"/>
            </p:cNvSpPr>
            <p:nvPr/>
          </p:nvSpPr>
          <p:spPr bwMode="auto">
            <a:xfrm>
              <a:off x="0" y="6"/>
              <a:ext cx="52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8086</a:t>
              </a:r>
              <a:r>
                <a:rPr lang="zh-CN" altLang="en-US" sz="20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控制逻辑</a:t>
              </a:r>
              <a:endPara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10" name="AutoShape 74"/>
            <p:cNvSpPr/>
            <p:nvPr/>
          </p:nvSpPr>
          <p:spPr bwMode="auto">
            <a:xfrm>
              <a:off x="528" y="48"/>
              <a:ext cx="48" cy="48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411" name="Group 75"/>
          <p:cNvGrpSpPr/>
          <p:nvPr/>
        </p:nvGrpSpPr>
        <p:grpSpPr bwMode="auto">
          <a:xfrm>
            <a:off x="330200" y="1553086"/>
            <a:ext cx="8632825" cy="1514476"/>
            <a:chOff x="48" y="-117"/>
            <a:chExt cx="5438" cy="954"/>
          </a:xfrm>
        </p:grpSpPr>
        <p:sp>
          <p:nvSpPr>
            <p:cNvPr id="14412" name="Rectangle 76"/>
            <p:cNvSpPr>
              <a:spLocks noChangeArrowheads="1"/>
            </p:cNvSpPr>
            <p:nvPr/>
          </p:nvSpPr>
          <p:spPr bwMode="auto">
            <a:xfrm>
              <a:off x="48" y="-117"/>
              <a:ext cx="5438" cy="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514350" indent="-514350">
                <a:lnSpc>
                  <a:spcPct val="150000"/>
                </a:lnSpc>
                <a:buClr>
                  <a:srgbClr val="740000"/>
                </a:buClr>
                <a:buFont typeface="+mj-ea"/>
                <a:buAutoNum type="circleNumDbPlain" startAt="2"/>
              </a:pPr>
              <a:r>
                <a:rPr lang="zh-CN" altLang="zh-CN" sz="24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8288控制逻辑</a:t>
              </a:r>
              <a:endParaRPr lang="zh-CN" altLang="zh-CN" sz="24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zh-CN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8288的工作受输入控制信号控制，控制信号包括IOB、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</a:t>
              </a:r>
              <a:r>
                <a:rPr lang="zh-CN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 、CEN和CLK，其功能是使8288与CPU保持同步工作。</a:t>
              </a:r>
              <a:r>
                <a:rPr lang="zh-CN" altLang="zh-CN" sz="20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endParaRPr lang="zh-CN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413" name="Group 77"/>
            <p:cNvGrpSpPr/>
            <p:nvPr/>
          </p:nvGrpSpPr>
          <p:grpSpPr bwMode="auto">
            <a:xfrm>
              <a:off x="4240" y="309"/>
              <a:ext cx="546" cy="252"/>
              <a:chOff x="4070" y="-260"/>
              <a:chExt cx="624" cy="252"/>
            </a:xfrm>
          </p:grpSpPr>
          <p:sp>
            <p:nvSpPr>
              <p:cNvPr id="14414" name="Text Box 78"/>
              <p:cNvSpPr txBox="1">
                <a:spLocks noChangeArrowheads="1"/>
              </p:cNvSpPr>
              <p:nvPr/>
            </p:nvSpPr>
            <p:spPr bwMode="auto">
              <a:xfrm>
                <a:off x="4070" y="-260"/>
                <a:ext cx="62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AEN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15" name="Line 79"/>
              <p:cNvSpPr>
                <a:spLocks noChangeShapeType="1"/>
              </p:cNvSpPr>
              <p:nvPr/>
            </p:nvSpPr>
            <p:spPr bwMode="auto">
              <a:xfrm>
                <a:off x="4149" y="-260"/>
                <a:ext cx="2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0" name="文本占位符 2"/>
          <p:cNvSpPr txBox="1"/>
          <p:nvPr/>
        </p:nvSpPr>
        <p:spPr>
          <a:xfrm>
            <a:off x="478645" y="974884"/>
            <a:ext cx="6396545" cy="57626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微处理器外部基本引脚与工作模式</a:t>
            </a:r>
            <a:endParaRPr lang="zh-CN" altLang="en-US" sz="2400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sz="2400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822" y="3429000"/>
            <a:ext cx="4629156" cy="29523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0619" y="270945"/>
            <a:ext cx="4424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/>
          <p:nvPr/>
        </p:nvGrpSpPr>
        <p:grpSpPr bwMode="auto">
          <a:xfrm>
            <a:off x="365952" y="2958555"/>
            <a:ext cx="4745289" cy="1198563"/>
            <a:chOff x="0" y="0"/>
            <a:chExt cx="2669" cy="755"/>
          </a:xfrm>
        </p:grpSpPr>
        <p:sp>
          <p:nvSpPr>
            <p:cNvPr id="15363" name="Text Box 3"/>
            <p:cNvSpPr txBox="1">
              <a:spLocks noChangeArrowheads="1"/>
            </p:cNvSpPr>
            <p:nvPr/>
          </p:nvSpPr>
          <p:spPr bwMode="auto">
            <a:xfrm>
              <a:off x="336" y="0"/>
              <a:ext cx="2333" cy="7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地址使能信号，当8288处于系统总线方式下（IOB=0），用于多总线同步。该信号保持低电平115ns后，8288开始输出控制信号。  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364" name="Group 4"/>
            <p:cNvGrpSpPr/>
            <p:nvPr/>
          </p:nvGrpSpPr>
          <p:grpSpPr bwMode="auto">
            <a:xfrm>
              <a:off x="0" y="10"/>
              <a:ext cx="432" cy="406"/>
              <a:chOff x="0" y="0"/>
              <a:chExt cx="432" cy="406"/>
            </a:xfrm>
          </p:grpSpPr>
          <p:sp>
            <p:nvSpPr>
              <p:cNvPr id="15365" name="Text Box 5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32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zh-CN" sz="1800" b="1" dirty="0">
                    <a:solidFill>
                      <a:srgbClr val="74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AEN：</a:t>
                </a:r>
                <a:endParaRPr lang="zh-CN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66" name="Line 6"/>
              <p:cNvSpPr>
                <a:spLocks noChangeShapeType="1"/>
              </p:cNvSpPr>
              <p:nvPr/>
            </p:nvSpPr>
            <p:spPr bwMode="auto">
              <a:xfrm>
                <a:off x="48" y="4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367" name="Group 7"/>
          <p:cNvGrpSpPr/>
          <p:nvPr/>
        </p:nvGrpSpPr>
        <p:grpSpPr bwMode="auto">
          <a:xfrm>
            <a:off x="379222" y="4078123"/>
            <a:ext cx="4800600" cy="1603375"/>
            <a:chOff x="20" y="-57"/>
            <a:chExt cx="3024" cy="1010"/>
          </a:xfrm>
        </p:grpSpPr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20" y="-57"/>
              <a:ext cx="3024" cy="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CEN</a:t>
              </a:r>
              <a:r>
                <a:rPr lang="zh-CN" altLang="en-US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8288</a:t>
              </a:r>
              <a:r>
                <a:rPr lang="zh-CN" altLang="en-US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片选有效信号，用于多片</a:t>
              </a:r>
              <a:r>
                <a:rPr lang="en-US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8288</a:t>
              </a:r>
              <a:r>
                <a:rPr lang="zh-CN" altLang="en-US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协调工作。</a:t>
              </a:r>
              <a:endPara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69" name="Rectangle 9"/>
            <p:cNvSpPr>
              <a:spLocks noChangeArrowheads="1"/>
            </p:cNvSpPr>
            <p:nvPr/>
          </p:nvSpPr>
          <p:spPr bwMode="auto">
            <a:xfrm>
              <a:off x="143" y="529"/>
              <a:ext cx="44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CEN</a:t>
              </a:r>
              <a:endParaRPr lang="en-US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70" name="AutoShape 10"/>
            <p:cNvSpPr/>
            <p:nvPr/>
          </p:nvSpPr>
          <p:spPr bwMode="auto">
            <a:xfrm>
              <a:off x="566" y="390"/>
              <a:ext cx="120" cy="513"/>
            </a:xfrm>
            <a:prstGeom prst="leftBrace">
              <a:avLst>
                <a:gd name="adj1" fmla="val 200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71" name="Text Box 11"/>
            <p:cNvSpPr txBox="1">
              <a:spLocks noChangeArrowheads="1"/>
            </p:cNvSpPr>
            <p:nvPr/>
          </p:nvSpPr>
          <p:spPr bwMode="auto">
            <a:xfrm>
              <a:off x="669" y="346"/>
              <a:ext cx="1133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=1，该8288工作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72" name="Text Box 12"/>
            <p:cNvSpPr txBox="1">
              <a:spLocks noChangeArrowheads="1"/>
            </p:cNvSpPr>
            <p:nvPr/>
          </p:nvSpPr>
          <p:spPr bwMode="auto">
            <a:xfrm>
              <a:off x="669" y="721"/>
              <a:ext cx="1277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=0，该8288不工作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01502" y="5906924"/>
            <a:ext cx="4117863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CLK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：时钟信号，通常由系统时钟提供，同步控制信号的节拍。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5444" name="Group 84"/>
          <p:cNvGrpSpPr/>
          <p:nvPr/>
        </p:nvGrpSpPr>
        <p:grpSpPr bwMode="auto">
          <a:xfrm>
            <a:off x="330551" y="1556792"/>
            <a:ext cx="8185150" cy="1263650"/>
            <a:chOff x="0" y="0"/>
            <a:chExt cx="5156" cy="796"/>
          </a:xfrm>
        </p:grpSpPr>
        <p:sp>
          <p:nvSpPr>
            <p:cNvPr id="15445" name="Text Box 85"/>
            <p:cNvSpPr txBox="1">
              <a:spLocks noChangeArrowheads="1"/>
            </p:cNvSpPr>
            <p:nvPr/>
          </p:nvSpPr>
          <p:spPr bwMode="auto">
            <a:xfrm>
              <a:off x="566" y="429"/>
              <a:ext cx="495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IOB</a:t>
              </a:r>
              <a:endParaRPr lang="en-US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46" name="Text Box 86"/>
            <p:cNvSpPr txBox="1">
              <a:spLocks noChangeArrowheads="1"/>
            </p:cNvSpPr>
            <p:nvPr/>
          </p:nvSpPr>
          <p:spPr bwMode="auto">
            <a:xfrm>
              <a:off x="970" y="254"/>
              <a:ext cx="2085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=0，系统总线工作方式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47" name="Text Box 87"/>
            <p:cNvSpPr txBox="1">
              <a:spLocks noChangeArrowheads="1"/>
            </p:cNvSpPr>
            <p:nvPr/>
          </p:nvSpPr>
          <p:spPr bwMode="auto">
            <a:xfrm>
              <a:off x="1017" y="564"/>
              <a:ext cx="1994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=1，I/O总线工作方式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48" name="AutoShape 88"/>
            <p:cNvSpPr/>
            <p:nvPr/>
          </p:nvSpPr>
          <p:spPr bwMode="auto">
            <a:xfrm>
              <a:off x="1040" y="314"/>
              <a:ext cx="154" cy="432"/>
            </a:xfrm>
            <a:prstGeom prst="leftBrace">
              <a:avLst>
                <a:gd name="adj1" fmla="val 2337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49" name="Text Box 89"/>
            <p:cNvSpPr txBox="1">
              <a:spLocks noChangeArrowheads="1"/>
            </p:cNvSpPr>
            <p:nvPr/>
          </p:nvSpPr>
          <p:spPr bwMode="auto">
            <a:xfrm>
              <a:off x="0" y="0"/>
              <a:ext cx="515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IOB</a:t>
              </a:r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：总线工作方式信号，决定该8288的工作方式。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6830" y="3466229"/>
            <a:ext cx="4117863" cy="262588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51520" y="1014809"/>
            <a:ext cx="623310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rgbClr val="17BBFD"/>
              </a:buClr>
            </a:pP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8086</a:t>
            </a:r>
            <a:r>
              <a:rPr lang="zh-CN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微处理器外部基本引脚与工作模式</a:t>
            </a:r>
            <a:endParaRPr lang="zh-CN" altLang="zh-CN" sz="2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1202" y="292469"/>
            <a:ext cx="4424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3" grpId="0" bldLvl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0181" y="1793962"/>
            <a:ext cx="8783638" cy="1008137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Clr>
                <a:srgbClr val="740000"/>
              </a:buClr>
              <a:buFont typeface="+mj-ea"/>
              <a:buAutoNum type="circleNumDbPlain" startAt="3"/>
            </a:pPr>
            <a:r>
              <a:rPr lang="zh-CN" altLang="zh-CN" sz="2000" b="1" dirty="0">
                <a:solidFill>
                  <a:srgbClr val="74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8288输出控制信号</a:t>
            </a:r>
            <a:endParaRPr lang="zh-CN" altLang="zh-CN" sz="2000" b="1" dirty="0">
              <a:solidFill>
                <a:srgbClr val="74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8288在进行总线读写控制中，需要提供相应的地址锁存、数据使能及方向控制等信号。8288提供的信号包括ALE、DEN、DT/</a:t>
            </a:r>
            <a:r>
              <a:rPr lang="zh-CN" altLang="zh-CN" sz="20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和MCE/</a:t>
            </a:r>
            <a:r>
              <a:rPr lang="zh-CN" altLang="zh-CN" sz="20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PDEN</a:t>
            </a:r>
            <a:r>
              <a:rPr lang="zh-CN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767303" y="4179905"/>
            <a:ext cx="27673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ALE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：地址锁存允许信号 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767303" y="4717995"/>
            <a:ext cx="23228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DEN</a:t>
            </a: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：数据使能信号 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6389" name="Group 5"/>
          <p:cNvGrpSpPr/>
          <p:nvPr/>
        </p:nvGrpSpPr>
        <p:grpSpPr bwMode="auto">
          <a:xfrm>
            <a:off x="4670153" y="5293266"/>
            <a:ext cx="3670300" cy="378981"/>
            <a:chOff x="0" y="48"/>
            <a:chExt cx="2312" cy="238"/>
          </a:xfrm>
        </p:grpSpPr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0" y="48"/>
              <a:ext cx="2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DT/ </a:t>
              </a:r>
              <a:r>
                <a:rPr lang="zh-CN" altLang="zh-CN" sz="1800" b="1" dirty="0">
                  <a:solidFill>
                    <a:srgbClr val="FFCC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：数据收发方向信号</a:t>
              </a:r>
              <a:endParaRPr lang="zh-CN" altLang="zh-CN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6391" name="Group 7"/>
            <p:cNvGrpSpPr/>
            <p:nvPr/>
          </p:nvGrpSpPr>
          <p:grpSpPr bwMode="auto">
            <a:xfrm>
              <a:off x="272" y="55"/>
              <a:ext cx="221" cy="231"/>
              <a:chOff x="-182" y="55"/>
              <a:chExt cx="221" cy="231"/>
            </a:xfrm>
          </p:grpSpPr>
          <p:sp>
            <p:nvSpPr>
              <p:cNvPr id="16392" name="Rectangle 8"/>
              <p:cNvSpPr>
                <a:spLocks noChangeArrowheads="1"/>
              </p:cNvSpPr>
              <p:nvPr/>
            </p:nvSpPr>
            <p:spPr bwMode="auto">
              <a:xfrm>
                <a:off x="-182" y="55"/>
                <a:ext cx="22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>
                    <a:solidFill>
                      <a:srgbClr val="74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R</a:t>
                </a:r>
                <a:endPara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93" name="Line 9"/>
              <p:cNvSpPr>
                <a:spLocks noChangeShapeType="1"/>
              </p:cNvSpPr>
              <p:nvPr/>
            </p:nvSpPr>
            <p:spPr bwMode="auto">
              <a:xfrm>
                <a:off x="-145" y="10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6394" name="Group 10"/>
          <p:cNvGrpSpPr/>
          <p:nvPr/>
        </p:nvGrpSpPr>
        <p:grpSpPr bwMode="auto">
          <a:xfrm>
            <a:off x="3635896" y="5967335"/>
            <a:ext cx="8604250" cy="379413"/>
            <a:chOff x="0" y="48"/>
            <a:chExt cx="5420" cy="239"/>
          </a:xfrm>
        </p:grpSpPr>
        <p:sp>
          <p:nvSpPr>
            <p:cNvPr id="16395" name="Rectangle 11"/>
            <p:cNvSpPr>
              <a:spLocks noChangeArrowheads="1"/>
            </p:cNvSpPr>
            <p:nvPr/>
          </p:nvSpPr>
          <p:spPr bwMode="auto">
            <a:xfrm>
              <a:off x="0" y="48"/>
              <a:ext cx="5420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MCE/            </a:t>
              </a:r>
              <a:r>
                <a:rPr lang="zh-CN" altLang="en-US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：主设备使能</a:t>
              </a:r>
              <a:r>
                <a:rPr lang="en-US" altLang="zh-CN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外设数据允许，复用信号 </a:t>
              </a:r>
              <a:endPara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6396" name="Group 12"/>
            <p:cNvGrpSpPr/>
            <p:nvPr/>
          </p:nvGrpSpPr>
          <p:grpSpPr bwMode="auto">
            <a:xfrm>
              <a:off x="399" y="55"/>
              <a:ext cx="507" cy="232"/>
              <a:chOff x="-259" y="55"/>
              <a:chExt cx="507" cy="232"/>
            </a:xfrm>
          </p:grpSpPr>
          <p:sp>
            <p:nvSpPr>
              <p:cNvPr id="16397" name="Rectangle 13"/>
              <p:cNvSpPr>
                <a:spLocks noChangeArrowheads="1"/>
              </p:cNvSpPr>
              <p:nvPr/>
            </p:nvSpPr>
            <p:spPr bwMode="auto">
              <a:xfrm>
                <a:off x="-259" y="55"/>
                <a:ext cx="507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 dirty="0">
                    <a:solidFill>
                      <a:srgbClr val="74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PDEN</a:t>
                </a:r>
                <a:endPara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98" name="Line 14"/>
              <p:cNvSpPr>
                <a:spLocks noChangeShapeType="1"/>
              </p:cNvSpPr>
              <p:nvPr/>
            </p:nvSpPr>
            <p:spPr bwMode="auto">
              <a:xfrm>
                <a:off x="-204" y="98"/>
                <a:ext cx="3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81" y="3136619"/>
            <a:ext cx="4117863" cy="262588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0181" y="1157984"/>
            <a:ext cx="6606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rgbClr val="17BBFD"/>
              </a:buClr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3.6 8086</a:t>
            </a:r>
            <a:r>
              <a:rPr lang="zh-CN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微处理器外部基本引脚与工作模式</a:t>
            </a:r>
            <a:endParaRPr lang="zh-CN" altLang="en-US" sz="24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544" y="331710"/>
            <a:ext cx="4424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sz="2800" b="1" i="1" kern="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ldLvl="0" animBg="1" autoUpdateAnimBg="0"/>
      <p:bldP spid="16388" grpId="0" bldLvl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4406" y="1570029"/>
            <a:ext cx="8229600" cy="5762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最大模式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外部引脚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sz="4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11560" y="2286022"/>
            <a:ext cx="8229600" cy="1931670"/>
            <a:chOff x="683568" y="2476111"/>
            <a:chExt cx="8229600" cy="1931670"/>
          </a:xfrm>
        </p:grpSpPr>
        <p:sp>
          <p:nvSpPr>
            <p:cNvPr id="5" name="矩形 4"/>
            <p:cNvSpPr/>
            <p:nvPr/>
          </p:nvSpPr>
          <p:spPr>
            <a:xfrm>
              <a:off x="683568" y="2476111"/>
              <a:ext cx="8229600" cy="1931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eaLnBrk="1" hangingPunct="1">
                <a:lnSpc>
                  <a:spcPct val="120000"/>
                </a:lnSpc>
                <a:spcBef>
                  <a:spcPct val="65000"/>
                </a:spcBef>
                <a:buFont typeface="+mj-ea"/>
                <a:buAutoNum type="circleNumDbPlain"/>
              </a:pPr>
              <a:r>
                <a: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1800" b="1" baseline="-25000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,S</a:t>
              </a:r>
              <a:r>
                <a:rPr lang="en-US" altLang="zh-CN" sz="1800" b="1" baseline="-25000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,S</a:t>
              </a:r>
              <a:r>
                <a:rPr lang="en-US" altLang="zh-CN" sz="1800" b="1" baseline="-25000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18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(Bus Cycle Status)</a:t>
              </a:r>
              <a:endPara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285750" indent="-285750" eaLnBrk="1" hangingPunct="1">
                <a:lnSpc>
                  <a:spcPct val="120000"/>
                </a:lnSpc>
                <a:spcBef>
                  <a:spcPct val="65000"/>
                </a:spcBef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总线周期状态信号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三态输出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285750" indent="-285750" eaLnBrk="1" hangingPunct="1">
                <a:lnSpc>
                  <a:spcPct val="120000"/>
                </a:lnSpc>
                <a:spcBef>
                  <a:spcPct val="65000"/>
                </a:spcBef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它们提供当前总线周期中所进行的数据传输过程的类型。由总线控制器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8288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根据这些对存储器及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I/O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进行控制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.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115616" y="2564904"/>
              <a:ext cx="144016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400536" y="2571532"/>
              <a:ext cx="144016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685932" y="2578160"/>
              <a:ext cx="144016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641580" y="4365104"/>
            <a:ext cx="4384675" cy="1599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740000"/>
              </a:buClr>
              <a:buFont typeface="+mj-ea"/>
              <a:buAutoNum type="circleNumDbPlain" startAt="2"/>
            </a:pP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QS</a:t>
            </a:r>
            <a:r>
              <a:rPr lang="en-US" altLang="zh-CN" sz="1800" b="1" baseline="-25000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,QS</a:t>
            </a:r>
            <a:r>
              <a:rPr lang="en-US" altLang="zh-CN" sz="1800" b="1" baseline="-25000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1800" b="1" baseline="-25000" dirty="0">
              <a:solidFill>
                <a:srgbClr val="74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指令队列状态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向外部输出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.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用来表示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中指令队列当前的状态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.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编码如下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Group 36"/>
          <p:cNvGraphicFramePr>
            <a:graphicFrameLocks noGrp="1"/>
          </p:cNvGraphicFramePr>
          <p:nvPr/>
        </p:nvGraphicFramePr>
        <p:xfrm>
          <a:off x="5061249" y="4581128"/>
          <a:ext cx="3582757" cy="1790617"/>
        </p:xfrm>
        <a:graphic>
          <a:graphicData uri="http://schemas.openxmlformats.org/drawingml/2006/table">
            <a:tbl>
              <a:tblPr/>
              <a:tblGrid>
                <a:gridCol w="1083848"/>
                <a:gridCol w="2498909"/>
              </a:tblGrid>
              <a:tr h="3584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QS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QS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含          义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4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无操作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从队列中取第一个字节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4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1        0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队列已空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4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1        1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335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1752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209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667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124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581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从队列中取后续字节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6985"/>
            <a:ext cx="9069070" cy="8604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" y="79375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1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448280" y="1050734"/>
            <a:ext cx="7924254" cy="2290445"/>
            <a:chOff x="320154" y="1916832"/>
            <a:chExt cx="7924254" cy="2290445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320154" y="1916832"/>
              <a:ext cx="7924254" cy="2290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457200" indent="-457200" eaLnBrk="1" hangingPunct="1">
                <a:lnSpc>
                  <a:spcPct val="150000"/>
                </a:lnSpc>
                <a:spcBef>
                  <a:spcPct val="35000"/>
                </a:spcBef>
                <a:buFont typeface="+mj-ea"/>
                <a:buAutoNum type="circleNumDbPlain" startAt="3"/>
              </a:pPr>
              <a:r>
                <a:rPr lang="en-US" altLang="zh-CN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RQ/GT</a:t>
              </a:r>
              <a:r>
                <a:rPr lang="en-US" altLang="zh-CN" b="1" baseline="-25000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 </a:t>
              </a:r>
              <a:r>
                <a:rPr lang="zh-CN" altLang="en-US" b="1" baseline="-25000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RQ/GT</a:t>
              </a:r>
              <a:r>
                <a:rPr lang="en-US" altLang="zh-CN" b="1" baseline="-25000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(Request/Grant)</a:t>
              </a:r>
              <a:endParaRPr lang="en-US" altLang="zh-CN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80000"/>
                </a:lnSpc>
                <a:spcBef>
                  <a:spcPct val="35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请求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同意信号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双向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低电平有效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.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80000"/>
                </a:lnSpc>
                <a:spcBef>
                  <a:spcPct val="35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输入时表示其它主控者请求使用总线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80000"/>
                </a:lnSpc>
                <a:spcBef>
                  <a:spcPct val="35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输出时表示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CPU 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对总线请求的响应信号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80000"/>
                </a:lnSpc>
                <a:spcBef>
                  <a:spcPct val="35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两条线可同时与两个主控者相连。但是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GT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的优先级比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GT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的高。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ct val="35000"/>
                </a:spcBef>
              </a:pPr>
              <a:endParaRPr lang="zh-CN" altLang="en-US" sz="2000" b="1" u="sng" baseline="-25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935937" y="2106352"/>
              <a:ext cx="339585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584009" y="2106352"/>
              <a:ext cx="339585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366041" y="2106352"/>
              <a:ext cx="339585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880153" y="2089151"/>
              <a:ext cx="339585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089308" y="3631772"/>
              <a:ext cx="25513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817500" y="3616964"/>
              <a:ext cx="25513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448280" y="3348799"/>
            <a:ext cx="7582539" cy="1999615"/>
            <a:chOff x="448280" y="4033964"/>
            <a:chExt cx="7582539" cy="1999615"/>
          </a:xfrm>
        </p:grpSpPr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448280" y="4033964"/>
              <a:ext cx="7582539" cy="1999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40000"/>
                </a:spcBef>
                <a:spcAft>
                  <a:spcPts val="1200"/>
                </a:spcAft>
                <a:buFont typeface="+mj-ea"/>
                <a:buAutoNum type="circleNumDbPlain" startAt="4"/>
              </a:pPr>
              <a:r>
                <a:rPr lang="en-US" altLang="zh-CN" sz="20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LOCK  </a:t>
              </a:r>
              <a:r>
                <a:rPr lang="zh-CN" altLang="en-US" sz="2000" b="1" dirty="0">
                  <a:solidFill>
                    <a:srgbClr val="74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封锁信号</a:t>
              </a:r>
              <a:endPara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4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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三态输出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低电平有效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.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400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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LOCK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有效时表示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CPU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不允许其它总线主控者占用总线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.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400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 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可防止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8086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在响应中断时总线被其它主控部件所占用，在中断过程中，也自动变为低电平 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794809" y="4033964"/>
              <a:ext cx="968879" cy="0"/>
            </a:xfrm>
            <a:prstGeom prst="line">
              <a:avLst/>
            </a:prstGeom>
            <a:ln>
              <a:solidFill>
                <a:srgbClr val="B1030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98465" y="4994176"/>
              <a:ext cx="6015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48280" y="990630"/>
            <a:ext cx="5832475" cy="5762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3.7 8086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微处理器的时序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66738" y="1752600"/>
            <a:ext cx="8001000" cy="426720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400" b="0">
                <a:solidFill>
                  <a:srgbClr val="00349E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charset="0"/>
              <a:buChar char="n"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charset="0"/>
              <a:buChar char="p"/>
              <a:def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folHlink"/>
              </a:buClr>
              <a:buSzPct val="60000"/>
            </a:pPr>
            <a:r>
              <a:rPr kumimoji="1" lang="en-US" altLang="zh-CN" sz="2000" b="1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8086</a:t>
            </a:r>
            <a:r>
              <a:rPr kumimoji="1" lang="zh-CN" altLang="en-US" sz="2000" b="1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的主要操作</a:t>
            </a:r>
            <a:r>
              <a:rPr kumimoji="1" lang="en-US" altLang="zh-CN" sz="2000" b="1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: </a:t>
            </a:r>
            <a:endParaRPr kumimoji="1" lang="en-US" altLang="zh-CN" sz="2000" b="1" kern="0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algn="just">
              <a:buClr>
                <a:schemeClr val="folHlink"/>
              </a:buClr>
              <a:buSzPct val="60000"/>
            </a:pPr>
            <a:r>
              <a:rPr kumimoji="1" lang="en-US" altLang="zh-CN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① 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系统的复位和启动操作；</a:t>
            </a:r>
            <a:endParaRPr kumimoji="1" lang="zh-CN" altLang="en-US" sz="2000" b="1" kern="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just">
              <a:buClr>
                <a:schemeClr val="folHlink"/>
              </a:buClr>
              <a:buSzPct val="60000"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② 暂停操作；</a:t>
            </a:r>
            <a:endParaRPr kumimoji="1" lang="zh-CN" altLang="en-US" sz="2000" b="1" kern="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just">
              <a:buClr>
                <a:schemeClr val="folHlink"/>
              </a:buClr>
              <a:buSzPct val="60000"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③ 总线操作；</a:t>
            </a:r>
            <a:endParaRPr kumimoji="1" lang="zh-CN" altLang="en-US" sz="2000" b="1" kern="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just">
              <a:buClr>
                <a:schemeClr val="folHlink"/>
              </a:buClr>
              <a:buSzPct val="60000"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④ 中断操作；</a:t>
            </a:r>
            <a:endParaRPr kumimoji="1" lang="zh-CN" altLang="en-US" sz="2000" b="1" kern="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just">
              <a:buClr>
                <a:schemeClr val="folHlink"/>
              </a:buClr>
              <a:buSzPct val="60000"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⑤ 最小模式下的总线保持；</a:t>
            </a:r>
            <a:endParaRPr kumimoji="1" lang="zh-CN" altLang="en-US" sz="2000" b="1" kern="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just">
              <a:buClr>
                <a:schemeClr val="folHlink"/>
              </a:buClr>
              <a:buSzPct val="60000"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⑥ 最大模式下的总线请求</a:t>
            </a:r>
            <a:r>
              <a:rPr kumimoji="1" lang="en-US" altLang="zh-CN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宋体" panose="02010600030101010101" pitchFamily="2" charset="-122"/>
              </a:rPr>
              <a:t>允许。</a:t>
            </a:r>
            <a:r>
              <a:rPr kumimoji="1" lang="zh-CN" altLang="en-US" sz="2000" b="1" kern="0" dirty="0">
                <a:solidFill>
                  <a:schemeClr val="accent1"/>
                </a:solidFill>
                <a:latin typeface="宋体" panose="02010600030101010101" pitchFamily="2" charset="-122"/>
              </a:rPr>
              <a:t> </a:t>
            </a:r>
            <a:endParaRPr kumimoji="1" lang="zh-CN" altLang="en-US" sz="2000" b="1" kern="0" dirty="0">
              <a:solidFill>
                <a:schemeClr val="accent1"/>
              </a:solidFill>
              <a:latin typeface="宋体" panose="02010600030101010101" pitchFamily="2" charset="-122"/>
            </a:endParaRPr>
          </a:p>
          <a:p>
            <a:endParaRPr lang="en-US" altLang="zh-CN" kern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23028"/>
            <a:ext cx="8229600" cy="563562"/>
          </a:xfrm>
        </p:spPr>
        <p:txBody>
          <a:bodyPr/>
          <a:lstStyle/>
          <a:p>
            <a:pPr marL="0" indent="0">
              <a:buNone/>
            </a:pP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系统的复位与启动</a:t>
            </a:r>
            <a:endParaRPr lang="zh-CN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48310" y="1843696"/>
            <a:ext cx="8569325" cy="4556125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400" b="0">
                <a:solidFill>
                  <a:srgbClr val="00349E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charset="0"/>
              <a:buChar char="n"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charset="0"/>
              <a:buChar char="p"/>
              <a:def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kern="0" dirty="0">
                <a:latin typeface="Times New Roman" panose="02020603050405020304" pitchFamily="18" charset="0"/>
              </a:rPr>
              <a:t>产生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RESET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端上的高电平维持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个时钟周期，可使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CPU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复位。如果是初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次加电引起的复位，则要求维持不小于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50us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的高电平。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kern="0" dirty="0">
                <a:latin typeface="Times New Roman" panose="02020603050405020304" pitchFamily="18" charset="0"/>
              </a:rPr>
              <a:t>CPU</a:t>
            </a:r>
            <a:r>
              <a:rPr kumimoji="1" lang="zh-CN" altLang="en-US" sz="2000" b="1" kern="0" dirty="0">
                <a:latin typeface="Times New Roman" panose="02020603050405020304" pitchFamily="18" charset="0"/>
              </a:rPr>
              <a:t>复位：</a:t>
            </a:r>
            <a:endParaRPr kumimoji="1" lang="zh-CN" altLang="en-US" sz="2000" b="1" kern="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PSW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DS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ES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SS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IP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等寄存器，指令队列被清零。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CS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寄存器设置为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FFFFH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kern="0" dirty="0">
                <a:solidFill>
                  <a:srgbClr val="B10303"/>
                </a:solidFill>
                <a:latin typeface="Times New Roman" panose="02020603050405020304" pitchFamily="18" charset="0"/>
              </a:rPr>
              <a:t>注：由于复位后，</a:t>
            </a:r>
            <a:r>
              <a:rPr kumimoji="1" lang="en-US" altLang="zh-CN" sz="2000" b="1" kern="0" dirty="0">
                <a:solidFill>
                  <a:srgbClr val="B10303"/>
                </a:solidFill>
                <a:latin typeface="Times New Roman" panose="02020603050405020304" pitchFamily="18" charset="0"/>
              </a:rPr>
              <a:t>IF=0</a:t>
            </a:r>
            <a:r>
              <a:rPr kumimoji="1" lang="zh-CN" altLang="en-US" sz="2000" b="1" kern="0" dirty="0">
                <a:solidFill>
                  <a:srgbClr val="B10303"/>
                </a:solidFill>
                <a:latin typeface="Times New Roman" panose="02020603050405020304" pitchFamily="18" charset="0"/>
              </a:rPr>
              <a:t>，处关中断状态，所以在初始化程序中应开中断，使</a:t>
            </a:r>
            <a:r>
              <a:rPr kumimoji="1" lang="en-US" altLang="zh-CN" sz="2000" b="1" kern="0" dirty="0">
                <a:solidFill>
                  <a:srgbClr val="B10303"/>
                </a:solidFill>
                <a:latin typeface="Times New Roman" panose="02020603050405020304" pitchFamily="18" charset="0"/>
              </a:rPr>
              <a:t>CPU</a:t>
            </a:r>
            <a:r>
              <a:rPr kumimoji="1" lang="zh-CN" altLang="en-US" sz="2000" b="1" kern="0" dirty="0">
                <a:solidFill>
                  <a:srgbClr val="B10303"/>
                </a:solidFill>
                <a:latin typeface="Times New Roman" panose="02020603050405020304" pitchFamily="18" charset="0"/>
              </a:rPr>
              <a:t>可响应中断请求。</a:t>
            </a:r>
            <a:endParaRPr kumimoji="1" lang="zh-CN" altLang="en-US" sz="2000" b="1" kern="0" dirty="0">
              <a:solidFill>
                <a:srgbClr val="B10303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CPU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重启：总线周期：又称为机器周期，是CPU从存储器或 I/O设备读或写一个字节或字所需要的时间。总线周期通常包括4个时钟周期：T1、T2、T3、T4。</a:t>
            </a:r>
            <a:endParaRPr kumimoji="1" lang="zh-CN" altLang="en-US" sz="2000" b="1" kern="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复位信号</a:t>
            </a:r>
            <a:r>
              <a:rPr kumimoji="1" lang="en-US" altLang="zh-CN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RESET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从高电平到低电平的跳变会触发</a:t>
            </a:r>
            <a:r>
              <a:rPr kumimoji="1" lang="en-US" altLang="zh-CN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CPU</a:t>
            </a:r>
            <a:r>
              <a:rPr kumimoji="1" lang="zh-CN" altLang="en-US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内部的复位逻辑</a:t>
            </a:r>
            <a:endParaRPr kumimoji="1" lang="zh-CN" altLang="en-US" sz="2000" b="1" kern="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kern="0" dirty="0">
                <a:solidFill>
                  <a:srgbClr val="0070C0"/>
                </a:solidFill>
                <a:latin typeface="Times New Roman" panose="02020603050405020304" pitchFamily="18" charset="0"/>
              </a:rPr>
              <a:t>电路，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RESET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由高电平变低电平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个机器周期后，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CPU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开始从</a:t>
            </a:r>
            <a:r>
              <a:rPr kumimoji="1" lang="en-US" altLang="zh-CN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FFFF0</a:t>
            </a: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处执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kern="0" dirty="0">
                <a:solidFill>
                  <a:srgbClr val="008000"/>
                </a:solidFill>
                <a:latin typeface="Times New Roman" panose="02020603050405020304" pitchFamily="18" charset="0"/>
              </a:rPr>
              <a:t>行程序。</a:t>
            </a:r>
            <a:endParaRPr kumimoji="1" lang="zh-CN" altLang="en-US" sz="2000" b="1" kern="0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endParaRPr lang="en-US" altLang="zh-CN" sz="2000" kern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48280" y="990630"/>
            <a:ext cx="5832475" cy="5762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3.7 8086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微处理器的时序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440977" y="1730220"/>
            <a:ext cx="8229600" cy="706437"/>
          </a:xfr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sz="2400" i="0" kern="0" dirty="0">
                <a:solidFill>
                  <a:srgbClr val="740000"/>
                </a:solidFill>
                <a:latin typeface="Times New Roman" panose="02020603050405020304" pitchFamily="18" charset="0"/>
                <a:ea typeface="方正粗倩简体" pitchFamily="65" charset="-122"/>
                <a:cs typeface="Times New Roman" panose="02020603050405020304" pitchFamily="18" charset="0"/>
              </a:rPr>
              <a:t>8086</a:t>
            </a:r>
            <a:r>
              <a:rPr lang="zh-CN" altLang="en-US" sz="2400" i="0" kern="0" dirty="0">
                <a:solidFill>
                  <a:srgbClr val="740000"/>
                </a:solidFill>
                <a:latin typeface="Times New Roman" panose="02020603050405020304" pitchFamily="18" charset="0"/>
                <a:ea typeface="方正粗倩简体" pitchFamily="65" charset="-122"/>
                <a:cs typeface="Times New Roman" panose="02020603050405020304" pitchFamily="18" charset="0"/>
              </a:rPr>
              <a:t>的复位操作</a:t>
            </a:r>
            <a:endParaRPr lang="zh-CN" altLang="en-US" sz="2400" i="0" kern="0" dirty="0">
              <a:solidFill>
                <a:srgbClr val="740000"/>
              </a:solidFill>
              <a:latin typeface="Times New Roman" panose="02020603050405020304" pitchFamily="18" charset="0"/>
              <a:ea typeface="方正粗倩简体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48280" y="2152576"/>
            <a:ext cx="7282830" cy="1468437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400" b="0">
                <a:solidFill>
                  <a:srgbClr val="00349E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charset="0"/>
              <a:buChar char="n"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charset="0"/>
              <a:buChar char="p"/>
              <a:def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引脚信号执行，至少维持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个时钟周期高电平，初次加电不少于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50μs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复位后各寄存器值</a:t>
            </a:r>
            <a:endParaRPr lang="zh-CN" altLang="en-US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4"/>
          <p:cNvGraphicFramePr/>
          <p:nvPr/>
        </p:nvGraphicFramePr>
        <p:xfrm>
          <a:off x="3203848" y="3106573"/>
          <a:ext cx="5185072" cy="2943360"/>
        </p:xfrm>
        <a:graphic>
          <a:graphicData uri="http://schemas.openxmlformats.org/drawingml/2006/table">
            <a:tbl>
              <a:tblPr/>
              <a:tblGrid>
                <a:gridCol w="2592536"/>
                <a:gridCol w="2592536"/>
              </a:tblGrid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74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标志寄存器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74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4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清零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74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IP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0000H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FFFFH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0000H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SS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0000H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ES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0000H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指令队列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空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其它寄存器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0000H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207135"/>
            <a:ext cx="8630920" cy="484441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" y="1122045"/>
            <a:ext cx="8670290" cy="483171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" y="1047750"/>
            <a:ext cx="8707755" cy="49403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" y="1031875"/>
            <a:ext cx="8690610" cy="495617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85" y="991870"/>
            <a:ext cx="8195945" cy="491934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992505"/>
            <a:ext cx="8482965" cy="503047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" y="1079500"/>
            <a:ext cx="8629650" cy="5007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" y="5897245"/>
            <a:ext cx="5927725" cy="5905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002665"/>
            <a:ext cx="8520430" cy="488696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1138555"/>
            <a:ext cx="8558530" cy="523049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" y="1137920"/>
            <a:ext cx="8679815" cy="523621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" y="1080135"/>
            <a:ext cx="8693150" cy="543814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41400"/>
            <a:ext cx="8583930" cy="554164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" y="1002665"/>
            <a:ext cx="8338185" cy="526224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" y="1027430"/>
            <a:ext cx="8512175" cy="507238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" y="1010285"/>
            <a:ext cx="8393430" cy="503999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1028065"/>
            <a:ext cx="8414385" cy="533527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4"/>
          <p:cNvSpPr txBox="1">
            <a:spLocks noChangeArrowheads="1"/>
          </p:cNvSpPr>
          <p:nvPr/>
        </p:nvSpPr>
        <p:spPr bwMode="auto">
          <a:xfrm>
            <a:off x="2987675" y="1412875"/>
            <a:ext cx="3168650" cy="64135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6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主要内容</a:t>
            </a:r>
            <a:endParaRPr kumimoji="1" lang="zh-CN" altLang="en-US" sz="36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8131" name="AutoShape 6"/>
          <p:cNvSpPr>
            <a:spLocks noChangeArrowheads="1"/>
          </p:cNvSpPr>
          <p:nvPr/>
        </p:nvSpPr>
        <p:spPr bwMode="auto">
          <a:xfrm>
            <a:off x="2128838" y="2456344"/>
            <a:ext cx="4743450" cy="2923212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95580" indent="-19558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70000"/>
              </a:lnSpc>
            </a:pPr>
            <a:r>
              <a:rPr kumimoji="1" lang="en-US" altLang="zh-CN" sz="3400">
                <a:latin typeface="+mn-lt"/>
                <a:ea typeface="+mn-ea"/>
                <a:cs typeface="+mn-ea"/>
                <a:sym typeface="+mn-lt"/>
              </a:rPr>
              <a:t>2.1 </a:t>
            </a:r>
            <a:r>
              <a:rPr kumimoji="1" lang="zh-CN" altLang="en-US" sz="3400">
                <a:latin typeface="+mn-lt"/>
                <a:ea typeface="+mn-ea"/>
                <a:cs typeface="+mn-ea"/>
                <a:sym typeface="+mn-lt"/>
              </a:rPr>
              <a:t>计算机系统</a:t>
            </a:r>
            <a:endParaRPr kumimoji="1" lang="en-US" altLang="zh-CN" sz="34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70000"/>
              </a:lnSpc>
            </a:pPr>
            <a:r>
              <a:rPr kumimoji="1" lang="en-US" altLang="zh-CN" sz="3400">
                <a:latin typeface="+mn-lt"/>
                <a:ea typeface="+mn-ea"/>
                <a:cs typeface="+mn-ea"/>
                <a:sym typeface="+mn-lt"/>
              </a:rPr>
              <a:t>2.2 8086</a:t>
            </a:r>
            <a:r>
              <a:rPr kumimoji="1" lang="zh-CN" altLang="en-US" sz="3400">
                <a:latin typeface="+mn-lt"/>
                <a:ea typeface="+mn-ea"/>
                <a:cs typeface="+mn-ea"/>
                <a:sym typeface="+mn-lt"/>
              </a:rPr>
              <a:t>微处理器</a:t>
            </a:r>
            <a:endParaRPr kumimoji="1" lang="en-US" altLang="zh-CN" sz="340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70000"/>
              </a:lnSpc>
            </a:pPr>
            <a:r>
              <a:rPr kumimoji="1" lang="en-US" altLang="zh-CN" sz="3400">
                <a:latin typeface="+mn-lt"/>
                <a:ea typeface="+mn-ea"/>
                <a:cs typeface="+mn-ea"/>
                <a:sym typeface="+mn-lt"/>
              </a:rPr>
              <a:t>2.3 </a:t>
            </a:r>
            <a:r>
              <a:rPr kumimoji="1" lang="zh-CN" altLang="en-US" sz="3400" u="sng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存储器地址</a:t>
            </a:r>
            <a:endParaRPr kumimoji="1" lang="zh-CN" altLang="en-US" sz="3400" u="sng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1075055"/>
            <a:ext cx="8199755" cy="523938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" y="1066165"/>
            <a:ext cx="8338185" cy="552386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" y="1183640"/>
            <a:ext cx="8766175" cy="503110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114425"/>
            <a:ext cx="8405495" cy="524637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25" y="1232535"/>
            <a:ext cx="8502650" cy="491680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0005"/>
            <a:ext cx="7736205" cy="36957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45" y="1215390"/>
            <a:ext cx="7000240" cy="277241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 CPU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在内部结构上由哪几部分组成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其功能是什么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【解析】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的内部结构分成两部分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总线接口部件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BIU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和执行部件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总线接口部件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BIU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，负责控制存储器与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端口的信息读写，包括指令获取与排队、操作数存取等。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执行部件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负责从指令队列中取出指令，完成指令译码与指令的执行。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/>
        </p:nvSpPr>
        <p:spPr>
          <a:xfrm>
            <a:off x="448280" y="990630"/>
            <a:ext cx="5832475" cy="57626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3.8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例题解析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6" name="内容占位符 1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p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BIU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由哪几部分组成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其功能是什么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【解析】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的总线接口部件主要由下面几部分组成：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个段寄存器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CS/DS/ES/SS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，用于保存各段地址；一个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位的指令指针寄存器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，用于保存当前指令的偏移地址；一个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位地址加法器，用于形成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位物理地址；指令流字节队列，用于保存指令；存储器接口，用于内总线与外总线的连接。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由那几部分组成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有什么功能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【解析】</a:t>
            </a:r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的执行单元部件主要由下面几部分组成：控制器、算术逻辑单元、标志寄存器、通用寄存器组。</a:t>
            </a:r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控制器：从指令流顺序取指令、进行指令译码，完成指令的执行等。</a:t>
            </a:r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算术逻辑单元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：根据控制器完成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8/16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位二进制算数与逻辑运算。</a:t>
            </a:r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标志寄存器：使用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位，标志分两类。其中状态标志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位，存放算数逻辑单元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运算结果特征；控制标志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位，控制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种特定操作。</a:t>
            </a:r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通用寄存器组：用于暂存数据或指针的寄存器阵列。</a:t>
            </a:r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38430" y="1297305"/>
            <a:ext cx="8547735" cy="4264025"/>
          </a:xfrm>
        </p:spPr>
        <p:txBody>
          <a:bodyPr/>
          <a:p>
            <a:r>
              <a:rPr lang="en-US" altLang="zh-CN" sz="2800" b="1" dirty="0">
                <a:solidFill>
                  <a:srgbClr val="740000"/>
                </a:solidFill>
              </a:rPr>
              <a:t>4</a:t>
            </a:r>
            <a:r>
              <a:rPr lang="zh-CN" altLang="zh-CN" sz="2800" b="1" dirty="0">
                <a:solidFill>
                  <a:srgbClr val="740000"/>
                </a:solidFill>
              </a:rPr>
              <a:t>．说明标志位中溢出位与进位标志位的区别</a:t>
            </a:r>
            <a:r>
              <a:rPr lang="zh-CN" altLang="zh-CN" sz="1800" b="1" dirty="0"/>
              <a:t>。</a:t>
            </a:r>
            <a:endParaRPr lang="zh-CN" altLang="zh-CN" sz="1800" b="1" dirty="0"/>
          </a:p>
          <a:p>
            <a:r>
              <a:rPr lang="zh-CN" altLang="zh-CN" sz="1600" b="1" dirty="0"/>
              <a:t>【解析】</a:t>
            </a:r>
            <a:endParaRPr lang="zh-CN" altLang="zh-CN" sz="1600" b="1" dirty="0"/>
          </a:p>
          <a:p>
            <a:r>
              <a:rPr lang="zh-CN" altLang="zh-CN" sz="1600" b="1" dirty="0"/>
              <a:t>进位标志位</a:t>
            </a:r>
            <a:r>
              <a:rPr lang="en-US" altLang="zh-CN" sz="1600" b="1" dirty="0"/>
              <a:t>CF</a:t>
            </a:r>
            <a:r>
              <a:rPr lang="zh-CN" altLang="zh-CN" sz="1600" b="1" dirty="0"/>
              <a:t>是指两个操作数在进行算术运算后，最高位（</a:t>
            </a:r>
            <a:r>
              <a:rPr lang="en-US" altLang="zh-CN" sz="1600" b="1" dirty="0"/>
              <a:t>8</a:t>
            </a:r>
            <a:r>
              <a:rPr lang="zh-CN" altLang="zh-CN" sz="1600" b="1" dirty="0"/>
              <a:t>位操作为</a:t>
            </a:r>
            <a:r>
              <a:rPr lang="en-US" altLang="zh-CN" sz="1600" b="1" dirty="0"/>
              <a:t>D7</a:t>
            </a:r>
            <a:r>
              <a:rPr lang="zh-CN" altLang="zh-CN" sz="1600" b="1" dirty="0"/>
              <a:t>位，</a:t>
            </a:r>
            <a:r>
              <a:rPr lang="en-US" altLang="zh-CN" sz="1600" b="1" dirty="0"/>
              <a:t>16</a:t>
            </a:r>
            <a:r>
              <a:rPr lang="zh-CN" altLang="zh-CN" sz="1600" b="1" dirty="0"/>
              <a:t>位操作为</a:t>
            </a:r>
            <a:r>
              <a:rPr lang="en-US" altLang="zh-CN" sz="1600" b="1" dirty="0"/>
              <a:t>D15</a:t>
            </a:r>
            <a:r>
              <a:rPr lang="zh-CN" altLang="zh-CN" sz="1600" b="1" dirty="0"/>
              <a:t>位）是否出现进位或借位的情况，</a:t>
            </a:r>
            <a:r>
              <a:rPr lang="zh-CN" altLang="zh-CN" sz="1600" b="1" dirty="0">
                <a:solidFill>
                  <a:srgbClr val="FF0000"/>
                </a:solidFill>
              </a:rPr>
              <a:t>有进位或借位，</a:t>
            </a:r>
            <a:r>
              <a:rPr lang="en-US" altLang="zh-CN" sz="1600" b="1" dirty="0">
                <a:solidFill>
                  <a:srgbClr val="FF0000"/>
                </a:solidFill>
              </a:rPr>
              <a:t>CF</a:t>
            </a:r>
            <a:r>
              <a:rPr lang="zh-CN" altLang="zh-CN" sz="1600" b="1" dirty="0">
                <a:solidFill>
                  <a:srgbClr val="FF0000"/>
                </a:solidFill>
              </a:rPr>
              <a:t>置“</a:t>
            </a:r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r>
              <a:rPr lang="zh-CN" altLang="zh-CN" sz="1600" b="1" dirty="0">
                <a:solidFill>
                  <a:srgbClr val="FF0000"/>
                </a:solidFill>
              </a:rPr>
              <a:t>”，否则置“</a:t>
            </a:r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r>
              <a:rPr lang="zh-CN" altLang="zh-CN" sz="1600" b="1" dirty="0">
                <a:solidFill>
                  <a:srgbClr val="FF0000"/>
                </a:solidFill>
              </a:rPr>
              <a:t>”</a:t>
            </a:r>
            <a:r>
              <a:rPr lang="zh-CN" altLang="zh-CN" sz="1600" b="1" dirty="0"/>
              <a:t>。</a:t>
            </a:r>
            <a:endParaRPr lang="zh-CN" altLang="zh-CN" sz="1600" b="1" dirty="0"/>
          </a:p>
          <a:p>
            <a:r>
              <a:rPr lang="zh-CN" altLang="zh-CN" sz="1600" b="1" dirty="0"/>
              <a:t>溢出位</a:t>
            </a:r>
            <a:r>
              <a:rPr lang="en-US" altLang="zh-CN" sz="1600" b="1" dirty="0"/>
              <a:t>OF</a:t>
            </a:r>
            <a:r>
              <a:rPr lang="zh-CN" altLang="zh-CN" sz="1600" b="1" dirty="0"/>
              <a:t>是反映带符号数（以二进制补码表示）运算结果</a:t>
            </a:r>
            <a:r>
              <a:rPr lang="zh-CN" altLang="zh-CN" sz="1600" b="1" dirty="0">
                <a:solidFill>
                  <a:srgbClr val="FF0000"/>
                </a:solidFill>
              </a:rPr>
              <a:t>是否超过机器所能表示的数值范围的情况</a:t>
            </a:r>
            <a:r>
              <a:rPr lang="zh-CN" altLang="zh-CN" sz="1600" b="1" dirty="0"/>
              <a:t>。</a:t>
            </a:r>
            <a:r>
              <a:rPr lang="en-US" altLang="zh-CN" sz="1600" b="1" dirty="0"/>
              <a:t>8086</a:t>
            </a:r>
            <a:r>
              <a:rPr lang="zh-CN" altLang="zh-CN" sz="1600" b="1" dirty="0"/>
              <a:t>中的数据用补码表示，对于</a:t>
            </a:r>
            <a:r>
              <a:rPr lang="en-US" altLang="zh-CN" sz="1600" b="1" dirty="0"/>
              <a:t>8</a:t>
            </a:r>
            <a:r>
              <a:rPr lang="zh-CN" altLang="zh-CN" sz="1600" b="1" dirty="0"/>
              <a:t>位的字节运算，数值范围为</a:t>
            </a:r>
            <a:r>
              <a:rPr lang="en-US" altLang="zh-CN" sz="1600" b="1" dirty="0"/>
              <a:t>-128~+127</a:t>
            </a:r>
            <a:r>
              <a:rPr lang="zh-CN" altLang="zh-CN" sz="1600" b="1" dirty="0"/>
              <a:t>；对于</a:t>
            </a:r>
            <a:r>
              <a:rPr lang="en-US" altLang="zh-CN" sz="1600" b="1" dirty="0"/>
              <a:t>16</a:t>
            </a:r>
            <a:r>
              <a:rPr lang="zh-CN" altLang="zh-CN" sz="1600" b="1" dirty="0"/>
              <a:t>位的字运算，数值范围为</a:t>
            </a:r>
            <a:r>
              <a:rPr lang="en-US" altLang="zh-CN" sz="1600" b="1" dirty="0"/>
              <a:t>-32768~+32767</a:t>
            </a:r>
            <a:r>
              <a:rPr lang="zh-CN" altLang="zh-CN" sz="1600" b="1" dirty="0"/>
              <a:t>。若超过上述范围，则称为“溢出”，</a:t>
            </a:r>
            <a:r>
              <a:rPr lang="en-US" altLang="zh-CN" sz="1600" b="1" dirty="0"/>
              <a:t>OF</a:t>
            </a:r>
            <a:r>
              <a:rPr lang="zh-CN" altLang="zh-CN" sz="1600" b="1" dirty="0"/>
              <a:t>置“</a:t>
            </a:r>
            <a:r>
              <a:rPr lang="en-US" altLang="zh-CN" sz="1600" b="1" dirty="0"/>
              <a:t>1</a:t>
            </a:r>
            <a:r>
              <a:rPr lang="zh-CN" altLang="zh-CN" sz="1600" b="1" dirty="0"/>
              <a:t>”。</a:t>
            </a:r>
            <a:endParaRPr lang="zh-CN" altLang="zh-CN" sz="1600" b="1" dirty="0"/>
          </a:p>
          <a:p>
            <a:r>
              <a:rPr lang="zh-CN" altLang="zh-CN" sz="1600" b="1" dirty="0"/>
              <a:t>溢出和进位是两个不同的概念，某些运算结果，有“溢出”不一定有“进位”，反之，有“进位”也不一定有“溢出”。</a:t>
            </a:r>
            <a:endParaRPr lang="zh-CN" altLang="zh-CN" sz="16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195" y="1215591"/>
            <a:ext cx="8229600" cy="4263752"/>
          </a:xfrm>
        </p:spPr>
        <p:txBody>
          <a:bodyPr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．存储器物理地址为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400A5H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400AAH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的单元中，有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个字节的数据分别为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，若当前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(DS)=4002H</a:t>
            </a:r>
            <a:r>
              <a:rPr lang="zh-CN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，请说明它们的偏移地址值。如果要从存储器中读出这些数据，需要访问几次存储器，各读出哪些数据？</a:t>
            </a:r>
            <a:endParaRPr lang="zh-CN" altLang="zh-CN" sz="18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【解析】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这个题目考查重点是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规则字和非规则字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的应用。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由于：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=400A5H=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*16+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偏移地址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=40020H+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偏移地址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偏移地址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=400A5-40020=85H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若以最少访问次数而言，可以如下操作：从奇地址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400A5H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中读出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个字节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；从偶地址开始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400A6H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400A7H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两个单元读出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3322H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；从偶地址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400A8H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400A9H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两个单元读出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5544H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；从偶地址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400AAH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中读出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个字节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。最少读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次。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p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被复位以后，有关寄存器的状态是什么？微处理器从何处开始执行程序？</a:t>
            </a:r>
            <a:endParaRPr lang="zh-CN" altLang="zh-CN" sz="28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【解析】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标志寄存器、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和指令队列置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置全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1(FFFFH)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处理器从</a:t>
            </a:r>
            <a:r>
              <a:rPr lang="en-US" altLang="zh-CN" sz="1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FFFF0H</a:t>
            </a:r>
            <a:r>
              <a:rPr lang="zh-C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存储单元取指令并开始执行。</a:t>
            </a:r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2095" y="1165860"/>
            <a:ext cx="8229600" cy="4525963"/>
          </a:xfrm>
        </p:spPr>
        <p:txBody>
          <a:bodyPr/>
          <a:p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为什么采用地址</a:t>
            </a:r>
            <a:r>
              <a:rPr lang="en-US" altLang="zh-CN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数据引线复用技术？</a:t>
            </a:r>
            <a:endParaRPr lang="zh-CN" altLang="en-US" sz="28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考虑到芯片成本和体积，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根引线的封装结构。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根线无法直接引出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的全部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位地址、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位数据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、诸多控制信号和状态信号，因此采用地址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数据线复用引线方法解决这一矛盾。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从逻辑角度来看，地址与数据信号不会同时出现，二者可以分时复用同一组引线。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55600" y="1083945"/>
            <a:ext cx="8229600" cy="4525963"/>
          </a:xfrm>
        </p:spPr>
        <p:txBody>
          <a:bodyPr/>
          <a:p>
            <a:r>
              <a:rPr lang="en-US" altLang="zh-CN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形成总线数据时，为什么要对部分地址线进行锁存？用什么信号控制锁存？</a:t>
            </a:r>
            <a:endParaRPr lang="zh-CN" altLang="en-US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为了确保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对存储器和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端口的正常读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写操作，要求地址和数据同时出现在地址总线和数据总线上。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AD0~AD15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总线是地址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数据分时复用的，即在总线周期的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状态传送出地址信息，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状态传送数据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；因此借由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送出的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高电平锁存信号，将在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状态传送出的地址信息存于锁存器中。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457200" y="1296943"/>
            <a:ext cx="8229600" cy="4263752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2400" b="0">
                <a:solidFill>
                  <a:srgbClr val="00349E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charset="0"/>
              <a:buChar char="n"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charset="0"/>
              <a:buChar char="p"/>
              <a:def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构成系统时存储器分为哪两个存储体？它们如何与地址、数据总线连接？</a:t>
            </a:r>
            <a:endParaRPr lang="zh-CN" altLang="en-US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构成系统分为偶地址存储体和奇地址存储体。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偶地址存储体：连接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D7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A0=0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时选通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奇地址存储体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D8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BHE=0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A0=1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时选通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8086/8088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微处理器结构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5085"/>
            <a:ext cx="9069070" cy="860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75260"/>
            <a:ext cx="1644015" cy="730250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252095" y="1165860"/>
            <a:ext cx="8229600" cy="4525963"/>
          </a:xfrm>
        </p:spPr>
        <p:txBody>
          <a:bodyPr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写总线周期各包含多少个时钟周期？什么情况下需要插入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等待周期？应插入多少个</a:t>
            </a:r>
            <a:r>
              <a:rPr lang="en-US" altLang="zh-CN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，取决于什么因素？什么情况下会出现空闲状态</a:t>
            </a:r>
            <a:r>
              <a:rPr lang="en-US" altLang="zh-CN" sz="2000" b="1" dirty="0" err="1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zh-CN" altLang="en-US" sz="2000" b="1" dirty="0">
                <a:solidFill>
                  <a:srgbClr val="7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sz="2000" b="1" dirty="0">
              <a:solidFill>
                <a:srgbClr val="7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写总线周期包含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个时钟周期。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与慢速的存储器或外设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端口交换信息，系统中就要用一个电路来产生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信号，并传递给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状态的下降沿对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信号进行采样。如果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信号是无效信号，那么，就会在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之后插入等待状态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。插入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的个数取决于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接收到高电平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信号的时间。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在不执行总线周期时，总线接口部件就不和总线打交道，此时，进入总线空闲周期。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uf3gkw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9933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95580" marR="0" indent="-19558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9933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95580" marR="0" indent="-19558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10969</Words>
  <Application>WPS Presentation</Application>
  <PresentationFormat>全屏显示(4:3)</PresentationFormat>
  <Paragraphs>1519</Paragraphs>
  <Slides>103</Slides>
  <Notes>38</Notes>
  <HiddenSlides>10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29" baseType="lpstr">
      <vt:lpstr>Arial</vt:lpstr>
      <vt:lpstr>宋体</vt:lpstr>
      <vt:lpstr>Wingdings</vt:lpstr>
      <vt:lpstr>Times New Roman</vt:lpstr>
      <vt:lpstr>隶书</vt:lpstr>
      <vt:lpstr>Calibri</vt:lpstr>
      <vt:lpstr>华文新魏</vt:lpstr>
      <vt:lpstr>黑体</vt:lpstr>
      <vt:lpstr>Wingdings 2</vt:lpstr>
      <vt:lpstr>微软雅黑</vt:lpstr>
      <vt:lpstr>Arial Unicode MS</vt:lpstr>
      <vt:lpstr>楷体_GB2312</vt:lpstr>
      <vt:lpstr>新宋体</vt:lpstr>
      <vt:lpstr>Tahoma</vt:lpstr>
      <vt:lpstr>楷体_GB2312</vt:lpstr>
      <vt:lpstr>华文中宋</vt:lpstr>
      <vt:lpstr>Wingdings</vt:lpstr>
      <vt:lpstr>Verdana</vt:lpstr>
      <vt:lpstr>方正粗倩简体</vt:lpstr>
      <vt:lpstr>Garamond</vt:lpstr>
      <vt:lpstr>Gulim</vt:lpstr>
      <vt:lpstr>Malgun Gothic</vt:lpstr>
      <vt:lpstr>Symbol</vt:lpstr>
      <vt:lpstr>华文细黑</vt:lpstr>
      <vt:lpstr>华光魏体_CNKI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8086 的功能结构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状态标志——记录程序运行结果的状态信息</vt:lpstr>
      <vt:lpstr>进位标志CF（Carry Flag）</vt:lpstr>
      <vt:lpstr>PowerPoint 演示文稿</vt:lpstr>
      <vt:lpstr>溢出标志OF（Overflow Flag） 运算时，最高位和次高位只有一个有进位，就溢出了</vt:lpstr>
      <vt:lpstr>PowerPoint 演示文稿</vt:lpstr>
      <vt:lpstr> 进位和溢出的区别</vt:lpstr>
      <vt:lpstr>溢出标志的判断</vt:lpstr>
      <vt:lpstr>零标志ZF（Zero Flag）</vt:lpstr>
      <vt:lpstr>符号标志SF（Sign Flag）</vt:lpstr>
      <vt:lpstr>奇偶标志PF（Parity Flag）</vt:lpstr>
      <vt:lpstr>PowerPoint 演示文稿</vt:lpstr>
      <vt:lpstr>PowerPoint 演示文稿</vt:lpstr>
      <vt:lpstr>PowerPoint 演示文稿</vt:lpstr>
      <vt:lpstr>2. 控制标志——方向标志 DF(Direction Flag) 自己运行时可自主修改 </vt:lpstr>
      <vt:lpstr>PowerPoint 演示文稿</vt:lpstr>
      <vt:lpstr>PowerPoint 演示文稿</vt:lpstr>
      <vt:lpstr>了解几个概念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PowerPoint 演示文稿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  <vt:lpstr>3　8086/8088微处理器结构</vt:lpstr>
    </vt:vector>
  </TitlesOfParts>
  <Company>bjtu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zq</dc:creator>
  <cp:lastModifiedBy>chenyu</cp:lastModifiedBy>
  <cp:revision>1577</cp:revision>
  <dcterms:created xsi:type="dcterms:W3CDTF">2007-07-12T10:32:00Z</dcterms:created>
  <dcterms:modified xsi:type="dcterms:W3CDTF">2024-09-26T09:00:06Z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47897E1792764C009B84FB080E985CFD_12</vt:lpwstr>
  </property>
  <property fmtid="{D5CDD505-2E9C-101B-9397-08002B2CF9AE}" pid="3" name="KSOProductBuildVer">
    <vt:lpwstr>1033-12.2.0.18283</vt:lpwstr>
  </property>
</Properties>
</file>