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71" r:id="rId39"/>
    <p:sldId id="382" r:id="rId40"/>
    <p:sldId id="383" r:id="rId41"/>
    <p:sldId id="384" r:id="rId42"/>
    <p:sldId id="372" r:id="rId43"/>
    <p:sldId id="373" r:id="rId44"/>
    <p:sldId id="374" r:id="rId45"/>
    <p:sldId id="375" r:id="rId46"/>
    <p:sldId id="376" r:id="rId47"/>
  </p:sldIdLst>
  <p:sldSz cx="9144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6476" y="155701"/>
            <a:ext cx="3957319" cy="4761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152" y="729995"/>
            <a:ext cx="6731508" cy="1783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39339" y="6199632"/>
            <a:ext cx="6731508" cy="1859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0263" y="60960"/>
            <a:ext cx="7124001" cy="6205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7840" y="1357090"/>
            <a:ext cx="6998334" cy="4599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24544" y="6412527"/>
            <a:ext cx="597534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17.jpeg"/><Relationship Id="rId1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slide" Target="slide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15567" y="2247900"/>
            <a:ext cx="6731508" cy="1783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15567" y="3723132"/>
            <a:ext cx="6731508" cy="1859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73212" y="2688590"/>
            <a:ext cx="581660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lang="en-US" sz="4800" dirty="0">
                <a:latin typeface="黑体" panose="02010609060101010101" charset="-122"/>
                <a:ea typeface="黑体" panose="02010609060101010101" charset="-122"/>
                <a:cs typeface="IPAPGothic"/>
              </a:rPr>
              <a:t>7-3</a:t>
            </a:r>
            <a:r>
              <a:rPr sz="4800" dirty="0">
                <a:latin typeface="IPAPGothic"/>
                <a:cs typeface="IPAPGothic"/>
              </a:rPr>
              <a:t>	串行通信接</a:t>
            </a:r>
            <a:r>
              <a:rPr sz="4800" spc="-50" dirty="0">
                <a:latin typeface="IPAPGothic"/>
                <a:cs typeface="IPAPGothic"/>
              </a:rPr>
              <a:t>口</a:t>
            </a:r>
            <a:endParaRPr sz="4800">
              <a:latin typeface="IPAPGothic"/>
              <a:cs typeface="IPAP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13677"/>
            <a:ext cx="294894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串行通信基础</a:t>
            </a:r>
            <a:endParaRPr spc="-35" dirty="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4718" y="1007884"/>
            <a:ext cx="7988300" cy="139700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串行通信：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使数据一位一位地进行传输而实现的通信。</a:t>
            </a:r>
            <a:endParaRPr sz="2400">
              <a:latin typeface="Noto Serif CJK JP"/>
              <a:cs typeface="Noto Serif CJK JP"/>
            </a:endParaRPr>
          </a:p>
          <a:p>
            <a:pPr marL="12700" marR="5080">
              <a:lnSpc>
                <a:spcPct val="125000"/>
              </a:lnSpc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串行通信具有传输线少，成本低，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erif CJK JP"/>
                <a:cs typeface="Noto Serif CJK JP"/>
              </a:rPr>
              <a:t>速度快</a:t>
            </a:r>
            <a:r>
              <a:rPr sz="2400" u="none" spc="-10" dirty="0">
                <a:solidFill>
                  <a:srgbClr val="0000CC"/>
                </a:solidFill>
                <a:latin typeface="Noto Serif CJK JP"/>
                <a:cs typeface="Noto Serif CJK JP"/>
              </a:rPr>
              <a:t>等优点，因而得到了广泛的应用。</a:t>
            </a:r>
            <a:endParaRPr sz="2400">
              <a:latin typeface="Noto Serif CJK JP"/>
              <a:cs typeface="Noto Serif CJK JP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69848" y="2898874"/>
            <a:ext cx="6517640" cy="2625725"/>
            <a:chOff x="1369848" y="2898874"/>
            <a:chExt cx="6517640" cy="262572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69848" y="2898874"/>
              <a:ext cx="6517193" cy="26251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31294" y="3169500"/>
              <a:ext cx="1729739" cy="114300"/>
            </a:xfrm>
            <a:custGeom>
              <a:avLst/>
              <a:gdLst/>
              <a:ahLst/>
              <a:cxnLst/>
              <a:rect l="l" t="t" r="r" b="b"/>
              <a:pathLst>
                <a:path w="1729740" h="114300">
                  <a:moveTo>
                    <a:pt x="1615020" y="114300"/>
                  </a:moveTo>
                  <a:lnTo>
                    <a:pt x="1615020" y="0"/>
                  </a:lnTo>
                  <a:lnTo>
                    <a:pt x="1691220" y="38100"/>
                  </a:lnTo>
                  <a:lnTo>
                    <a:pt x="1643595" y="38100"/>
                  </a:lnTo>
                  <a:lnTo>
                    <a:pt x="1643595" y="76200"/>
                  </a:lnTo>
                  <a:lnTo>
                    <a:pt x="1691220" y="76200"/>
                  </a:lnTo>
                  <a:lnTo>
                    <a:pt x="1615020" y="114300"/>
                  </a:lnTo>
                  <a:close/>
                </a:path>
                <a:path w="1729740" h="114300">
                  <a:moveTo>
                    <a:pt x="1615020" y="76200"/>
                  </a:moveTo>
                  <a:lnTo>
                    <a:pt x="0" y="76200"/>
                  </a:lnTo>
                  <a:lnTo>
                    <a:pt x="0" y="38100"/>
                  </a:lnTo>
                  <a:lnTo>
                    <a:pt x="1615020" y="38100"/>
                  </a:lnTo>
                  <a:lnTo>
                    <a:pt x="1615020" y="76200"/>
                  </a:lnTo>
                  <a:close/>
                </a:path>
                <a:path w="1729740" h="114300">
                  <a:moveTo>
                    <a:pt x="1691220" y="76200"/>
                  </a:moveTo>
                  <a:lnTo>
                    <a:pt x="1643595" y="76200"/>
                  </a:lnTo>
                  <a:lnTo>
                    <a:pt x="1643595" y="38100"/>
                  </a:lnTo>
                  <a:lnTo>
                    <a:pt x="1691220" y="38100"/>
                  </a:lnTo>
                  <a:lnTo>
                    <a:pt x="1729320" y="57150"/>
                  </a:lnTo>
                  <a:lnTo>
                    <a:pt x="169122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377332" y="3464801"/>
              <a:ext cx="1360170" cy="826769"/>
            </a:xfrm>
            <a:custGeom>
              <a:avLst/>
              <a:gdLst/>
              <a:ahLst/>
              <a:cxnLst/>
              <a:rect l="l" t="t" r="r" b="b"/>
              <a:pathLst>
                <a:path w="1360170" h="826770">
                  <a:moveTo>
                    <a:pt x="1232979" y="825500"/>
                  </a:moveTo>
                  <a:lnTo>
                    <a:pt x="126441" y="825500"/>
                  </a:lnTo>
                  <a:lnTo>
                    <a:pt x="105625" y="821689"/>
                  </a:lnTo>
                  <a:lnTo>
                    <a:pt x="98933" y="819150"/>
                  </a:lnTo>
                  <a:lnTo>
                    <a:pt x="92392" y="817880"/>
                  </a:lnTo>
                  <a:lnTo>
                    <a:pt x="86207" y="815339"/>
                  </a:lnTo>
                  <a:lnTo>
                    <a:pt x="79743" y="812800"/>
                  </a:lnTo>
                  <a:lnTo>
                    <a:pt x="73672" y="808989"/>
                  </a:lnTo>
                  <a:lnTo>
                    <a:pt x="41363" y="784860"/>
                  </a:lnTo>
                  <a:lnTo>
                    <a:pt x="36537" y="779779"/>
                  </a:lnTo>
                  <a:lnTo>
                    <a:pt x="32118" y="774700"/>
                  </a:lnTo>
                  <a:lnTo>
                    <a:pt x="27940" y="769620"/>
                  </a:lnTo>
                  <a:lnTo>
                    <a:pt x="24015" y="763270"/>
                  </a:lnTo>
                  <a:lnTo>
                    <a:pt x="20345" y="758189"/>
                  </a:lnTo>
                  <a:lnTo>
                    <a:pt x="16954" y="751839"/>
                  </a:lnTo>
                  <a:lnTo>
                    <a:pt x="13944" y="746760"/>
                  </a:lnTo>
                  <a:lnTo>
                    <a:pt x="11036" y="740410"/>
                  </a:lnTo>
                  <a:lnTo>
                    <a:pt x="8509" y="734060"/>
                  </a:lnTo>
                  <a:lnTo>
                    <a:pt x="6299" y="726439"/>
                  </a:lnTo>
                  <a:lnTo>
                    <a:pt x="4406" y="720089"/>
                  </a:lnTo>
                  <a:lnTo>
                    <a:pt x="0" y="685800"/>
                  </a:lnTo>
                  <a:lnTo>
                    <a:pt x="0" y="139700"/>
                  </a:lnTo>
                  <a:lnTo>
                    <a:pt x="6375" y="97789"/>
                  </a:lnTo>
                  <a:lnTo>
                    <a:pt x="17068" y="73660"/>
                  </a:lnTo>
                  <a:lnTo>
                    <a:pt x="20345" y="67310"/>
                  </a:lnTo>
                  <a:lnTo>
                    <a:pt x="46266" y="35560"/>
                  </a:lnTo>
                  <a:lnTo>
                    <a:pt x="51384" y="31750"/>
                  </a:lnTo>
                  <a:lnTo>
                    <a:pt x="56705" y="26670"/>
                  </a:lnTo>
                  <a:lnTo>
                    <a:pt x="62242" y="22860"/>
                  </a:lnTo>
                  <a:lnTo>
                    <a:pt x="67767" y="20320"/>
                  </a:lnTo>
                  <a:lnTo>
                    <a:pt x="73672" y="16510"/>
                  </a:lnTo>
                  <a:lnTo>
                    <a:pt x="79959" y="12700"/>
                  </a:lnTo>
                  <a:lnTo>
                    <a:pt x="92608" y="7620"/>
                  </a:lnTo>
                  <a:lnTo>
                    <a:pt x="98933" y="6350"/>
                  </a:lnTo>
                  <a:lnTo>
                    <a:pt x="105854" y="3810"/>
                  </a:lnTo>
                  <a:lnTo>
                    <a:pt x="126441" y="0"/>
                  </a:lnTo>
                  <a:lnTo>
                    <a:pt x="1233220" y="0"/>
                  </a:lnTo>
                  <a:lnTo>
                    <a:pt x="1254036" y="3810"/>
                  </a:lnTo>
                  <a:lnTo>
                    <a:pt x="1260729" y="6350"/>
                  </a:lnTo>
                  <a:lnTo>
                    <a:pt x="1267282" y="7620"/>
                  </a:lnTo>
                  <a:lnTo>
                    <a:pt x="1270482" y="8889"/>
                  </a:lnTo>
                  <a:lnTo>
                    <a:pt x="134315" y="8889"/>
                  </a:lnTo>
                  <a:lnTo>
                    <a:pt x="127406" y="10160"/>
                  </a:lnTo>
                  <a:lnTo>
                    <a:pt x="121056" y="10160"/>
                  </a:lnTo>
                  <a:lnTo>
                    <a:pt x="114350" y="11429"/>
                  </a:lnTo>
                  <a:lnTo>
                    <a:pt x="114592" y="11429"/>
                  </a:lnTo>
                  <a:lnTo>
                    <a:pt x="108000" y="12700"/>
                  </a:lnTo>
                  <a:lnTo>
                    <a:pt x="108229" y="12700"/>
                  </a:lnTo>
                  <a:lnTo>
                    <a:pt x="101765" y="15239"/>
                  </a:lnTo>
                  <a:lnTo>
                    <a:pt x="101993" y="15239"/>
                  </a:lnTo>
                  <a:lnTo>
                    <a:pt x="95656" y="16510"/>
                  </a:lnTo>
                  <a:lnTo>
                    <a:pt x="95885" y="16510"/>
                  </a:lnTo>
                  <a:lnTo>
                    <a:pt x="89700" y="19050"/>
                  </a:lnTo>
                  <a:lnTo>
                    <a:pt x="89916" y="19050"/>
                  </a:lnTo>
                  <a:lnTo>
                    <a:pt x="83883" y="21589"/>
                  </a:lnTo>
                  <a:lnTo>
                    <a:pt x="84086" y="21589"/>
                  </a:lnTo>
                  <a:lnTo>
                    <a:pt x="80175" y="24129"/>
                  </a:lnTo>
                  <a:lnTo>
                    <a:pt x="78422" y="24129"/>
                  </a:lnTo>
                  <a:lnTo>
                    <a:pt x="72707" y="27939"/>
                  </a:lnTo>
                  <a:lnTo>
                    <a:pt x="72910" y="27939"/>
                  </a:lnTo>
                  <a:lnTo>
                    <a:pt x="67386" y="31750"/>
                  </a:lnTo>
                  <a:lnTo>
                    <a:pt x="67576" y="31750"/>
                  </a:lnTo>
                  <a:lnTo>
                    <a:pt x="62230" y="35560"/>
                  </a:lnTo>
                  <a:lnTo>
                    <a:pt x="62420" y="35560"/>
                  </a:lnTo>
                  <a:lnTo>
                    <a:pt x="57264" y="39370"/>
                  </a:lnTo>
                  <a:lnTo>
                    <a:pt x="57442" y="39370"/>
                  </a:lnTo>
                  <a:lnTo>
                    <a:pt x="52501" y="43179"/>
                  </a:lnTo>
                  <a:lnTo>
                    <a:pt x="52666" y="43179"/>
                  </a:lnTo>
                  <a:lnTo>
                    <a:pt x="47942" y="46989"/>
                  </a:lnTo>
                  <a:lnTo>
                    <a:pt x="48094" y="46989"/>
                  </a:lnTo>
                  <a:lnTo>
                    <a:pt x="43586" y="52070"/>
                  </a:lnTo>
                  <a:lnTo>
                    <a:pt x="43738" y="52070"/>
                  </a:lnTo>
                  <a:lnTo>
                    <a:pt x="39458" y="57150"/>
                  </a:lnTo>
                  <a:lnTo>
                    <a:pt x="39611" y="57150"/>
                  </a:lnTo>
                  <a:lnTo>
                    <a:pt x="35560" y="62229"/>
                  </a:lnTo>
                  <a:lnTo>
                    <a:pt x="35699" y="62229"/>
                  </a:lnTo>
                  <a:lnTo>
                    <a:pt x="31902" y="67310"/>
                  </a:lnTo>
                  <a:lnTo>
                    <a:pt x="32029" y="67310"/>
                  </a:lnTo>
                  <a:lnTo>
                    <a:pt x="28486" y="72389"/>
                  </a:lnTo>
                  <a:lnTo>
                    <a:pt x="25323" y="77470"/>
                  </a:lnTo>
                  <a:lnTo>
                    <a:pt x="22428" y="83820"/>
                  </a:lnTo>
                  <a:lnTo>
                    <a:pt x="19799" y="88900"/>
                  </a:lnTo>
                  <a:lnTo>
                    <a:pt x="17449" y="95250"/>
                  </a:lnTo>
                  <a:lnTo>
                    <a:pt x="15392" y="101600"/>
                  </a:lnTo>
                  <a:lnTo>
                    <a:pt x="13627" y="107950"/>
                  </a:lnTo>
                  <a:lnTo>
                    <a:pt x="12166" y="114300"/>
                  </a:lnTo>
                  <a:lnTo>
                    <a:pt x="11010" y="120650"/>
                  </a:lnTo>
                  <a:lnTo>
                    <a:pt x="10185" y="127000"/>
                  </a:lnTo>
                  <a:lnTo>
                    <a:pt x="9677" y="133350"/>
                  </a:lnTo>
                  <a:lnTo>
                    <a:pt x="9541" y="139700"/>
                  </a:lnTo>
                  <a:lnTo>
                    <a:pt x="9512" y="684529"/>
                  </a:lnTo>
                  <a:lnTo>
                    <a:pt x="9690" y="692150"/>
                  </a:lnTo>
                  <a:lnTo>
                    <a:pt x="10210" y="698500"/>
                  </a:lnTo>
                  <a:lnTo>
                    <a:pt x="11049" y="704850"/>
                  </a:lnTo>
                  <a:lnTo>
                    <a:pt x="12217" y="711200"/>
                  </a:lnTo>
                  <a:lnTo>
                    <a:pt x="13690" y="717550"/>
                  </a:lnTo>
                  <a:lnTo>
                    <a:pt x="15468" y="723900"/>
                  </a:lnTo>
                  <a:lnTo>
                    <a:pt x="17538" y="730250"/>
                  </a:lnTo>
                  <a:lnTo>
                    <a:pt x="19888" y="736600"/>
                  </a:lnTo>
                  <a:lnTo>
                    <a:pt x="22529" y="741679"/>
                  </a:lnTo>
                  <a:lnTo>
                    <a:pt x="25438" y="748029"/>
                  </a:lnTo>
                  <a:lnTo>
                    <a:pt x="28600" y="753110"/>
                  </a:lnTo>
                  <a:lnTo>
                    <a:pt x="32029" y="758189"/>
                  </a:lnTo>
                  <a:lnTo>
                    <a:pt x="31902" y="758189"/>
                  </a:lnTo>
                  <a:lnTo>
                    <a:pt x="35699" y="763270"/>
                  </a:lnTo>
                  <a:lnTo>
                    <a:pt x="35560" y="763270"/>
                  </a:lnTo>
                  <a:lnTo>
                    <a:pt x="39611" y="768350"/>
                  </a:lnTo>
                  <a:lnTo>
                    <a:pt x="39458" y="768350"/>
                  </a:lnTo>
                  <a:lnTo>
                    <a:pt x="43738" y="773429"/>
                  </a:lnTo>
                  <a:lnTo>
                    <a:pt x="43586" y="773429"/>
                  </a:lnTo>
                  <a:lnTo>
                    <a:pt x="48094" y="778510"/>
                  </a:lnTo>
                  <a:lnTo>
                    <a:pt x="47942" y="778510"/>
                  </a:lnTo>
                  <a:lnTo>
                    <a:pt x="52666" y="782320"/>
                  </a:lnTo>
                  <a:lnTo>
                    <a:pt x="52501" y="782320"/>
                  </a:lnTo>
                  <a:lnTo>
                    <a:pt x="57442" y="786129"/>
                  </a:lnTo>
                  <a:lnTo>
                    <a:pt x="57264" y="786129"/>
                  </a:lnTo>
                  <a:lnTo>
                    <a:pt x="62420" y="791210"/>
                  </a:lnTo>
                  <a:lnTo>
                    <a:pt x="64012" y="791210"/>
                  </a:lnTo>
                  <a:lnTo>
                    <a:pt x="67576" y="793750"/>
                  </a:lnTo>
                  <a:lnTo>
                    <a:pt x="67386" y="793750"/>
                  </a:lnTo>
                  <a:lnTo>
                    <a:pt x="72910" y="797560"/>
                  </a:lnTo>
                  <a:lnTo>
                    <a:pt x="72707" y="797560"/>
                  </a:lnTo>
                  <a:lnTo>
                    <a:pt x="78422" y="801370"/>
                  </a:lnTo>
                  <a:lnTo>
                    <a:pt x="80175" y="801370"/>
                  </a:lnTo>
                  <a:lnTo>
                    <a:pt x="84086" y="803910"/>
                  </a:lnTo>
                  <a:lnTo>
                    <a:pt x="83883" y="803910"/>
                  </a:lnTo>
                  <a:lnTo>
                    <a:pt x="89916" y="806450"/>
                  </a:lnTo>
                  <a:lnTo>
                    <a:pt x="89700" y="806450"/>
                  </a:lnTo>
                  <a:lnTo>
                    <a:pt x="95885" y="808989"/>
                  </a:lnTo>
                  <a:lnTo>
                    <a:pt x="95656" y="808989"/>
                  </a:lnTo>
                  <a:lnTo>
                    <a:pt x="101993" y="810260"/>
                  </a:lnTo>
                  <a:lnTo>
                    <a:pt x="101765" y="810260"/>
                  </a:lnTo>
                  <a:lnTo>
                    <a:pt x="108229" y="812800"/>
                  </a:lnTo>
                  <a:lnTo>
                    <a:pt x="108000" y="812800"/>
                  </a:lnTo>
                  <a:lnTo>
                    <a:pt x="114592" y="814069"/>
                  </a:lnTo>
                  <a:lnTo>
                    <a:pt x="114350" y="814069"/>
                  </a:lnTo>
                  <a:lnTo>
                    <a:pt x="121056" y="815339"/>
                  </a:lnTo>
                  <a:lnTo>
                    <a:pt x="127406" y="815339"/>
                  </a:lnTo>
                  <a:lnTo>
                    <a:pt x="134315" y="816610"/>
                  </a:lnTo>
                  <a:lnTo>
                    <a:pt x="1270260" y="816610"/>
                  </a:lnTo>
                  <a:lnTo>
                    <a:pt x="1267053" y="817880"/>
                  </a:lnTo>
                  <a:lnTo>
                    <a:pt x="1260729" y="819150"/>
                  </a:lnTo>
                  <a:lnTo>
                    <a:pt x="1254036" y="821689"/>
                  </a:lnTo>
                  <a:lnTo>
                    <a:pt x="1232979" y="825500"/>
                  </a:lnTo>
                  <a:close/>
                </a:path>
                <a:path w="1360170" h="826770">
                  <a:moveTo>
                    <a:pt x="1281455" y="25400"/>
                  </a:moveTo>
                  <a:lnTo>
                    <a:pt x="1275575" y="21589"/>
                  </a:lnTo>
                  <a:lnTo>
                    <a:pt x="1275791" y="21589"/>
                  </a:lnTo>
                  <a:lnTo>
                    <a:pt x="1269758" y="19050"/>
                  </a:lnTo>
                  <a:lnTo>
                    <a:pt x="1269974" y="19050"/>
                  </a:lnTo>
                  <a:lnTo>
                    <a:pt x="1263777" y="16510"/>
                  </a:lnTo>
                  <a:lnTo>
                    <a:pt x="1264005" y="16510"/>
                  </a:lnTo>
                  <a:lnTo>
                    <a:pt x="1257681" y="15239"/>
                  </a:lnTo>
                  <a:lnTo>
                    <a:pt x="1257896" y="15239"/>
                  </a:lnTo>
                  <a:lnTo>
                    <a:pt x="1251432" y="12700"/>
                  </a:lnTo>
                  <a:lnTo>
                    <a:pt x="1251661" y="12700"/>
                  </a:lnTo>
                  <a:lnTo>
                    <a:pt x="1245082" y="11429"/>
                  </a:lnTo>
                  <a:lnTo>
                    <a:pt x="1245311" y="11429"/>
                  </a:lnTo>
                  <a:lnTo>
                    <a:pt x="1238605" y="10160"/>
                  </a:lnTo>
                  <a:lnTo>
                    <a:pt x="1232255" y="10160"/>
                  </a:lnTo>
                  <a:lnTo>
                    <a:pt x="1225346" y="8889"/>
                  </a:lnTo>
                  <a:lnTo>
                    <a:pt x="1270482" y="8889"/>
                  </a:lnTo>
                  <a:lnTo>
                    <a:pt x="1273683" y="10160"/>
                  </a:lnTo>
                  <a:lnTo>
                    <a:pt x="1279918" y="12700"/>
                  </a:lnTo>
                  <a:lnTo>
                    <a:pt x="1286002" y="16510"/>
                  </a:lnTo>
                  <a:lnTo>
                    <a:pt x="1291894" y="20320"/>
                  </a:lnTo>
                  <a:lnTo>
                    <a:pt x="1297609" y="24129"/>
                  </a:lnTo>
                  <a:lnTo>
                    <a:pt x="1281252" y="24129"/>
                  </a:lnTo>
                  <a:lnTo>
                    <a:pt x="1281455" y="25400"/>
                  </a:lnTo>
                  <a:close/>
                </a:path>
                <a:path w="1360170" h="826770">
                  <a:moveTo>
                    <a:pt x="78219" y="25400"/>
                  </a:moveTo>
                  <a:lnTo>
                    <a:pt x="78422" y="24129"/>
                  </a:lnTo>
                  <a:lnTo>
                    <a:pt x="80175" y="24129"/>
                  </a:lnTo>
                  <a:lnTo>
                    <a:pt x="78219" y="25400"/>
                  </a:lnTo>
                  <a:close/>
                </a:path>
                <a:path w="1360170" h="826770">
                  <a:moveTo>
                    <a:pt x="1359674" y="685800"/>
                  </a:moveTo>
                  <a:lnTo>
                    <a:pt x="1350149" y="685800"/>
                  </a:lnTo>
                  <a:lnTo>
                    <a:pt x="1350149" y="139700"/>
                  </a:lnTo>
                  <a:lnTo>
                    <a:pt x="1349971" y="133350"/>
                  </a:lnTo>
                  <a:lnTo>
                    <a:pt x="1349451" y="127000"/>
                  </a:lnTo>
                  <a:lnTo>
                    <a:pt x="1348613" y="120650"/>
                  </a:lnTo>
                  <a:lnTo>
                    <a:pt x="1347457" y="114300"/>
                  </a:lnTo>
                  <a:lnTo>
                    <a:pt x="1345984" y="107950"/>
                  </a:lnTo>
                  <a:lnTo>
                    <a:pt x="1344206" y="101600"/>
                  </a:lnTo>
                  <a:lnTo>
                    <a:pt x="1342136" y="95250"/>
                  </a:lnTo>
                  <a:lnTo>
                    <a:pt x="1339773" y="88900"/>
                  </a:lnTo>
                  <a:lnTo>
                    <a:pt x="1337132" y="83820"/>
                  </a:lnTo>
                  <a:lnTo>
                    <a:pt x="1334223" y="77470"/>
                  </a:lnTo>
                  <a:lnTo>
                    <a:pt x="1331061" y="72389"/>
                  </a:lnTo>
                  <a:lnTo>
                    <a:pt x="1327632" y="67310"/>
                  </a:lnTo>
                  <a:lnTo>
                    <a:pt x="1323962" y="62229"/>
                  </a:lnTo>
                  <a:lnTo>
                    <a:pt x="1324102" y="62229"/>
                  </a:lnTo>
                  <a:lnTo>
                    <a:pt x="1320063" y="57150"/>
                  </a:lnTo>
                  <a:lnTo>
                    <a:pt x="1320203" y="57150"/>
                  </a:lnTo>
                  <a:lnTo>
                    <a:pt x="1315923" y="52070"/>
                  </a:lnTo>
                  <a:lnTo>
                    <a:pt x="1316075" y="52070"/>
                  </a:lnTo>
                  <a:lnTo>
                    <a:pt x="1311567" y="46989"/>
                  </a:lnTo>
                  <a:lnTo>
                    <a:pt x="1311732" y="46989"/>
                  </a:lnTo>
                  <a:lnTo>
                    <a:pt x="1306995" y="43179"/>
                  </a:lnTo>
                  <a:lnTo>
                    <a:pt x="1307160" y="43179"/>
                  </a:lnTo>
                  <a:lnTo>
                    <a:pt x="1302219" y="39370"/>
                  </a:lnTo>
                  <a:lnTo>
                    <a:pt x="1302397" y="39370"/>
                  </a:lnTo>
                  <a:lnTo>
                    <a:pt x="1297254" y="35560"/>
                  </a:lnTo>
                  <a:lnTo>
                    <a:pt x="1297432" y="35560"/>
                  </a:lnTo>
                  <a:lnTo>
                    <a:pt x="1292098" y="31750"/>
                  </a:lnTo>
                  <a:lnTo>
                    <a:pt x="1292288" y="31750"/>
                  </a:lnTo>
                  <a:lnTo>
                    <a:pt x="1286751" y="27939"/>
                  </a:lnTo>
                  <a:lnTo>
                    <a:pt x="1286954" y="27939"/>
                  </a:lnTo>
                  <a:lnTo>
                    <a:pt x="1281252" y="24129"/>
                  </a:lnTo>
                  <a:lnTo>
                    <a:pt x="1297609" y="24129"/>
                  </a:lnTo>
                  <a:lnTo>
                    <a:pt x="1327543" y="50800"/>
                  </a:lnTo>
                  <a:lnTo>
                    <a:pt x="1335659" y="62229"/>
                  </a:lnTo>
                  <a:lnTo>
                    <a:pt x="1339316" y="67310"/>
                  </a:lnTo>
                  <a:lnTo>
                    <a:pt x="1342707" y="73660"/>
                  </a:lnTo>
                  <a:lnTo>
                    <a:pt x="1345818" y="78739"/>
                  </a:lnTo>
                  <a:lnTo>
                    <a:pt x="1348638" y="85089"/>
                  </a:lnTo>
                  <a:lnTo>
                    <a:pt x="1351153" y="91439"/>
                  </a:lnTo>
                  <a:lnTo>
                    <a:pt x="1353299" y="97789"/>
                  </a:lnTo>
                  <a:lnTo>
                    <a:pt x="1355204" y="105410"/>
                  </a:lnTo>
                  <a:lnTo>
                    <a:pt x="1356829" y="111760"/>
                  </a:lnTo>
                  <a:lnTo>
                    <a:pt x="1358061" y="119379"/>
                  </a:lnTo>
                  <a:lnTo>
                    <a:pt x="1358950" y="125729"/>
                  </a:lnTo>
                  <a:lnTo>
                    <a:pt x="1359496" y="133350"/>
                  </a:lnTo>
                  <a:lnTo>
                    <a:pt x="1359674" y="139700"/>
                  </a:lnTo>
                  <a:lnTo>
                    <a:pt x="1359674" y="685800"/>
                  </a:lnTo>
                  <a:close/>
                </a:path>
                <a:path w="1360170" h="826770">
                  <a:moveTo>
                    <a:pt x="9525" y="140425"/>
                  </a:moveTo>
                  <a:lnTo>
                    <a:pt x="9525" y="139700"/>
                  </a:lnTo>
                  <a:lnTo>
                    <a:pt x="9525" y="140425"/>
                  </a:lnTo>
                  <a:close/>
                </a:path>
                <a:path w="1360170" h="826770">
                  <a:moveTo>
                    <a:pt x="1350149" y="140970"/>
                  </a:moveTo>
                  <a:lnTo>
                    <a:pt x="1350120" y="139700"/>
                  </a:lnTo>
                  <a:lnTo>
                    <a:pt x="1350149" y="140970"/>
                  </a:lnTo>
                  <a:close/>
                </a:path>
                <a:path w="1360170" h="826770">
                  <a:moveTo>
                    <a:pt x="9525" y="685074"/>
                  </a:moveTo>
                  <a:lnTo>
                    <a:pt x="9512" y="684529"/>
                  </a:lnTo>
                  <a:lnTo>
                    <a:pt x="9525" y="685074"/>
                  </a:lnTo>
                  <a:close/>
                </a:path>
                <a:path w="1360170" h="826770">
                  <a:moveTo>
                    <a:pt x="1311689" y="791210"/>
                  </a:moveTo>
                  <a:lnTo>
                    <a:pt x="1297254" y="791210"/>
                  </a:lnTo>
                  <a:lnTo>
                    <a:pt x="1302397" y="786129"/>
                  </a:lnTo>
                  <a:lnTo>
                    <a:pt x="1302219" y="786129"/>
                  </a:lnTo>
                  <a:lnTo>
                    <a:pt x="1307160" y="782320"/>
                  </a:lnTo>
                  <a:lnTo>
                    <a:pt x="1306995" y="782320"/>
                  </a:lnTo>
                  <a:lnTo>
                    <a:pt x="1311732" y="778510"/>
                  </a:lnTo>
                  <a:lnTo>
                    <a:pt x="1311567" y="778510"/>
                  </a:lnTo>
                  <a:lnTo>
                    <a:pt x="1316075" y="773429"/>
                  </a:lnTo>
                  <a:lnTo>
                    <a:pt x="1315923" y="773429"/>
                  </a:lnTo>
                  <a:lnTo>
                    <a:pt x="1320203" y="768350"/>
                  </a:lnTo>
                  <a:lnTo>
                    <a:pt x="1320063" y="768350"/>
                  </a:lnTo>
                  <a:lnTo>
                    <a:pt x="1324102" y="763270"/>
                  </a:lnTo>
                  <a:lnTo>
                    <a:pt x="1323962" y="763270"/>
                  </a:lnTo>
                  <a:lnTo>
                    <a:pt x="1327759" y="758189"/>
                  </a:lnTo>
                  <a:lnTo>
                    <a:pt x="1331175" y="753110"/>
                  </a:lnTo>
                  <a:lnTo>
                    <a:pt x="1334338" y="748029"/>
                  </a:lnTo>
                  <a:lnTo>
                    <a:pt x="1337233" y="741679"/>
                  </a:lnTo>
                  <a:lnTo>
                    <a:pt x="1339862" y="736600"/>
                  </a:lnTo>
                  <a:lnTo>
                    <a:pt x="1342212" y="730250"/>
                  </a:lnTo>
                  <a:lnTo>
                    <a:pt x="1344269" y="723900"/>
                  </a:lnTo>
                  <a:lnTo>
                    <a:pt x="1346034" y="717550"/>
                  </a:lnTo>
                  <a:lnTo>
                    <a:pt x="1347495" y="711200"/>
                  </a:lnTo>
                  <a:lnTo>
                    <a:pt x="1348651" y="704850"/>
                  </a:lnTo>
                  <a:lnTo>
                    <a:pt x="1349476" y="698500"/>
                  </a:lnTo>
                  <a:lnTo>
                    <a:pt x="1349984" y="692150"/>
                  </a:lnTo>
                  <a:lnTo>
                    <a:pt x="1350149" y="684529"/>
                  </a:lnTo>
                  <a:lnTo>
                    <a:pt x="1350149" y="685800"/>
                  </a:lnTo>
                  <a:lnTo>
                    <a:pt x="1359674" y="685800"/>
                  </a:lnTo>
                  <a:lnTo>
                    <a:pt x="1353299" y="727710"/>
                  </a:lnTo>
                  <a:lnTo>
                    <a:pt x="1339202" y="758189"/>
                  </a:lnTo>
                  <a:lnTo>
                    <a:pt x="1335532" y="764539"/>
                  </a:lnTo>
                  <a:lnTo>
                    <a:pt x="1313395" y="789939"/>
                  </a:lnTo>
                  <a:lnTo>
                    <a:pt x="1311689" y="791210"/>
                  </a:lnTo>
                  <a:close/>
                </a:path>
                <a:path w="1360170" h="826770">
                  <a:moveTo>
                    <a:pt x="9541" y="685800"/>
                  </a:moveTo>
                  <a:lnTo>
                    <a:pt x="9525" y="685074"/>
                  </a:lnTo>
                  <a:lnTo>
                    <a:pt x="9541" y="685800"/>
                  </a:lnTo>
                  <a:close/>
                </a:path>
                <a:path w="1360170" h="826770">
                  <a:moveTo>
                    <a:pt x="64012" y="791210"/>
                  </a:moveTo>
                  <a:lnTo>
                    <a:pt x="62420" y="791210"/>
                  </a:lnTo>
                  <a:lnTo>
                    <a:pt x="62230" y="789939"/>
                  </a:lnTo>
                  <a:lnTo>
                    <a:pt x="64012" y="791210"/>
                  </a:lnTo>
                  <a:close/>
                </a:path>
                <a:path w="1360170" h="826770">
                  <a:moveTo>
                    <a:pt x="1299265" y="801370"/>
                  </a:moveTo>
                  <a:lnTo>
                    <a:pt x="1281252" y="801370"/>
                  </a:lnTo>
                  <a:lnTo>
                    <a:pt x="1286954" y="797560"/>
                  </a:lnTo>
                  <a:lnTo>
                    <a:pt x="1286751" y="797560"/>
                  </a:lnTo>
                  <a:lnTo>
                    <a:pt x="1292288" y="793750"/>
                  </a:lnTo>
                  <a:lnTo>
                    <a:pt x="1292098" y="793750"/>
                  </a:lnTo>
                  <a:lnTo>
                    <a:pt x="1297432" y="789939"/>
                  </a:lnTo>
                  <a:lnTo>
                    <a:pt x="1297254" y="791210"/>
                  </a:lnTo>
                  <a:lnTo>
                    <a:pt x="1311689" y="791210"/>
                  </a:lnTo>
                  <a:lnTo>
                    <a:pt x="1308277" y="793750"/>
                  </a:lnTo>
                  <a:lnTo>
                    <a:pt x="1302956" y="798829"/>
                  </a:lnTo>
                  <a:lnTo>
                    <a:pt x="1299265" y="801370"/>
                  </a:lnTo>
                  <a:close/>
                </a:path>
                <a:path w="1360170" h="826770">
                  <a:moveTo>
                    <a:pt x="80175" y="801370"/>
                  </a:moveTo>
                  <a:lnTo>
                    <a:pt x="78422" y="801370"/>
                  </a:lnTo>
                  <a:lnTo>
                    <a:pt x="78219" y="800100"/>
                  </a:lnTo>
                  <a:lnTo>
                    <a:pt x="80175" y="801370"/>
                  </a:lnTo>
                  <a:close/>
                </a:path>
                <a:path w="1360170" h="826770">
                  <a:moveTo>
                    <a:pt x="1270260" y="816610"/>
                  </a:moveTo>
                  <a:lnTo>
                    <a:pt x="1225346" y="816610"/>
                  </a:lnTo>
                  <a:lnTo>
                    <a:pt x="1232255" y="815339"/>
                  </a:lnTo>
                  <a:lnTo>
                    <a:pt x="1238605" y="815339"/>
                  </a:lnTo>
                  <a:lnTo>
                    <a:pt x="1245311" y="814069"/>
                  </a:lnTo>
                  <a:lnTo>
                    <a:pt x="1245082" y="814069"/>
                  </a:lnTo>
                  <a:lnTo>
                    <a:pt x="1251661" y="812800"/>
                  </a:lnTo>
                  <a:lnTo>
                    <a:pt x="1251432" y="812800"/>
                  </a:lnTo>
                  <a:lnTo>
                    <a:pt x="1257896" y="810260"/>
                  </a:lnTo>
                  <a:lnTo>
                    <a:pt x="1257681" y="810260"/>
                  </a:lnTo>
                  <a:lnTo>
                    <a:pt x="1264005" y="808989"/>
                  </a:lnTo>
                  <a:lnTo>
                    <a:pt x="1263777" y="808989"/>
                  </a:lnTo>
                  <a:lnTo>
                    <a:pt x="1269974" y="806450"/>
                  </a:lnTo>
                  <a:lnTo>
                    <a:pt x="1269758" y="806450"/>
                  </a:lnTo>
                  <a:lnTo>
                    <a:pt x="1275791" y="803910"/>
                  </a:lnTo>
                  <a:lnTo>
                    <a:pt x="1275575" y="803910"/>
                  </a:lnTo>
                  <a:lnTo>
                    <a:pt x="1281455" y="800100"/>
                  </a:lnTo>
                  <a:lnTo>
                    <a:pt x="1281252" y="801370"/>
                  </a:lnTo>
                  <a:lnTo>
                    <a:pt x="1299265" y="801370"/>
                  </a:lnTo>
                  <a:lnTo>
                    <a:pt x="1297419" y="802639"/>
                  </a:lnTo>
                  <a:lnTo>
                    <a:pt x="1291704" y="805179"/>
                  </a:lnTo>
                  <a:lnTo>
                    <a:pt x="1285798" y="808989"/>
                  </a:lnTo>
                  <a:lnTo>
                    <a:pt x="1279715" y="812800"/>
                  </a:lnTo>
                  <a:lnTo>
                    <a:pt x="1273467" y="815339"/>
                  </a:lnTo>
                  <a:lnTo>
                    <a:pt x="1270260" y="816610"/>
                  </a:lnTo>
                  <a:close/>
                </a:path>
                <a:path w="1360170" h="826770">
                  <a:moveTo>
                    <a:pt x="1218818" y="826769"/>
                  </a:moveTo>
                  <a:lnTo>
                    <a:pt x="140843" y="826769"/>
                  </a:lnTo>
                  <a:lnTo>
                    <a:pt x="133604" y="825500"/>
                  </a:lnTo>
                  <a:lnTo>
                    <a:pt x="1225829" y="825500"/>
                  </a:lnTo>
                  <a:lnTo>
                    <a:pt x="1218818" y="826769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822035" y="3442779"/>
            <a:ext cx="469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6AH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0" marR="36195" indent="-82550">
              <a:lnSpc>
                <a:spcPct val="100000"/>
              </a:lnSpc>
            </a:pPr>
            <a:r>
              <a:rPr sz="18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106 ‘J’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776" rIns="0" bIns="0" rtlCol="0">
            <a:spAutoFit/>
          </a:bodyPr>
          <a:lstStyle/>
          <a:p>
            <a:pPr marL="236855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latin typeface="Droid Sans Fallback"/>
                <a:cs typeface="Droid Sans Fallback"/>
              </a:rPr>
              <a:t>串行通信实例 </a:t>
            </a:r>
            <a:r>
              <a:rPr dirty="0"/>
              <a:t>USB</a:t>
            </a:r>
            <a:r>
              <a:rPr dirty="0">
                <a:latin typeface="Droid Sans Fallback"/>
                <a:cs typeface="Droid Sans Fallback"/>
              </a:rPr>
              <a:t>（</a:t>
            </a:r>
            <a:r>
              <a:rPr dirty="0"/>
              <a:t>Universal</a:t>
            </a:r>
            <a:r>
              <a:rPr spc="-70" dirty="0"/>
              <a:t> </a:t>
            </a:r>
            <a:r>
              <a:rPr dirty="0"/>
              <a:t>Serial</a:t>
            </a:r>
            <a:r>
              <a:rPr spc="-70" dirty="0"/>
              <a:t> </a:t>
            </a:r>
            <a:r>
              <a:rPr spc="-20" dirty="0"/>
              <a:t>Bus</a:t>
            </a:r>
            <a:r>
              <a:rPr spc="-20" dirty="0">
                <a:latin typeface="Droid Sans Fallback"/>
                <a:cs typeface="Droid Sans Fallback"/>
              </a:rPr>
              <a:t>）</a:t>
            </a:r>
            <a:endParaRPr spc="-20" dirty="0">
              <a:latin typeface="Droid Sans Fallback"/>
              <a:cs typeface="Droid Sans Fallb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4990" y="943292"/>
            <a:ext cx="7058659" cy="134175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indent="815975">
              <a:lnSpc>
                <a:spcPct val="100000"/>
              </a:lnSpc>
              <a:spcBef>
                <a:spcPts val="675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USB1.0</a:t>
            </a:r>
            <a:r>
              <a:rPr sz="2400" dirty="0">
                <a:solidFill>
                  <a:srgbClr val="0000CC"/>
                </a:solidFill>
                <a:latin typeface="Droid Sans Fallback"/>
                <a:cs typeface="Droid Sans Fallback"/>
              </a:rPr>
              <a:t>理论最高速度为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12Mbps</a:t>
            </a: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，折合</a:t>
            </a:r>
            <a:r>
              <a:rPr sz="2400" spc="-7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1.5MB/s</a:t>
            </a:r>
            <a:r>
              <a:rPr sz="2400" spc="-50" dirty="0">
                <a:solidFill>
                  <a:srgbClr val="0000CC"/>
                </a:solidFill>
                <a:latin typeface="Droid Sans Fallback"/>
                <a:cs typeface="Droid Sans Fallback"/>
              </a:rPr>
              <a:t>。</a:t>
            </a:r>
            <a:endParaRPr sz="2400">
              <a:latin typeface="Droid Sans Fallback"/>
              <a:cs typeface="Droid Sans Fallback"/>
            </a:endParaRPr>
          </a:p>
          <a:p>
            <a:pPr marL="12700" indent="815975">
              <a:lnSpc>
                <a:spcPct val="100000"/>
              </a:lnSpc>
              <a:spcBef>
                <a:spcPts val="575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USB2.0</a:t>
            </a:r>
            <a:r>
              <a:rPr sz="2400" dirty="0">
                <a:solidFill>
                  <a:srgbClr val="0000CC"/>
                </a:solidFill>
                <a:latin typeface="Droid Sans Fallback"/>
                <a:cs typeface="Droid Sans Fallback"/>
              </a:rPr>
              <a:t>理论最高速度为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480Mbps</a:t>
            </a: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，折合</a:t>
            </a:r>
            <a:r>
              <a:rPr sz="2400" spc="-2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60MB/s</a:t>
            </a:r>
            <a:r>
              <a:rPr sz="2400" spc="-50" dirty="0">
                <a:solidFill>
                  <a:srgbClr val="0000CC"/>
                </a:solidFill>
                <a:latin typeface="Droid Sans Fallback"/>
                <a:cs typeface="Droid Sans Fallback"/>
              </a:rPr>
              <a:t>。</a:t>
            </a:r>
            <a:endParaRPr sz="2400">
              <a:latin typeface="Droid Sans Fallback"/>
              <a:cs typeface="Droid Sans Fallback"/>
            </a:endParaRPr>
          </a:p>
          <a:p>
            <a:pPr marL="828675" indent="-815975">
              <a:lnSpc>
                <a:spcPct val="100000"/>
              </a:lnSpc>
              <a:spcBef>
                <a:spcPts val="575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USB3.0</a:t>
            </a:r>
            <a:r>
              <a:rPr sz="2400" dirty="0">
                <a:solidFill>
                  <a:srgbClr val="0000CC"/>
                </a:solidFill>
                <a:latin typeface="Droid Sans Fallback"/>
                <a:cs typeface="Droid Sans Fallback"/>
              </a:rPr>
              <a:t>理论最高速度为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5Gbps</a:t>
            </a:r>
            <a:r>
              <a:rPr sz="2400" spc="-5" dirty="0">
                <a:solidFill>
                  <a:srgbClr val="0000CC"/>
                </a:solidFill>
                <a:latin typeface="Droid Sans Fallback"/>
                <a:cs typeface="Droid Sans Fallback"/>
              </a:rPr>
              <a:t>，折合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625MB/s</a:t>
            </a:r>
            <a:r>
              <a:rPr sz="2400" spc="-2230" dirty="0">
                <a:solidFill>
                  <a:srgbClr val="0000CC"/>
                </a:solidFill>
                <a:latin typeface="Droid Sans Fallback"/>
                <a:cs typeface="Droid Sans Fallback"/>
              </a:rPr>
              <a:t>。</a:t>
            </a:r>
            <a:endParaRPr sz="2400">
              <a:latin typeface="Droid Sans Fallback"/>
              <a:cs typeface="Droid Sans Fallb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71231" y="908303"/>
            <a:ext cx="1099185" cy="937260"/>
            <a:chOff x="7571231" y="908303"/>
            <a:chExt cx="1099185" cy="93726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71231" y="908303"/>
              <a:ext cx="1098803" cy="4221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9" y="1359407"/>
              <a:ext cx="1002792" cy="48615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7911" y="1943100"/>
            <a:ext cx="1057655" cy="5974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311" y="2484120"/>
            <a:ext cx="6350508" cy="35692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05326" y="5298119"/>
            <a:ext cx="695309" cy="6953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13677"/>
            <a:ext cx="3601085" cy="2554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lvl="2" indent="0">
              <a:lnSpc>
                <a:spcPct val="100000"/>
              </a:lnSpc>
              <a:spcBef>
                <a:spcPts val="95"/>
              </a:spcBef>
              <a:buFont typeface="Arial" panose="020B0604020202020204"/>
              <a:buNone/>
              <a:tabLst>
                <a:tab pos="1097915" algn="l"/>
              </a:tabLst>
            </a:pPr>
            <a:r>
              <a:rPr lang="en-US" altLang="" sz="2800" spc="-35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1. </a:t>
            </a: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数据的传输方向</a:t>
            </a:r>
            <a:endParaRPr sz="2800">
              <a:latin typeface="Noto Serif CJK JP"/>
              <a:cs typeface="Noto Serif CJK JP"/>
            </a:endParaRPr>
          </a:p>
          <a:p>
            <a:pPr marL="584200" lvl="3" indent="-354965">
              <a:lnSpc>
                <a:spcPct val="100000"/>
              </a:lnSpc>
              <a:spcBef>
                <a:spcPts val="3990"/>
              </a:spcBef>
              <a:buSzPct val="96000"/>
              <a:buAutoNum type="arabicPeriod"/>
              <a:tabLst>
                <a:tab pos="584200" algn="l"/>
              </a:tabLst>
            </a:pPr>
            <a:r>
              <a:rPr sz="2800" spc="-45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单工</a:t>
            </a:r>
            <a:endParaRPr sz="2800">
              <a:latin typeface="黑体" panose="02010609060101010101" charset="-122"/>
              <a:ea typeface="黑体" panose="02010609060101010101" charset="-122"/>
              <a:cs typeface="Noto Serif CJK JP"/>
            </a:endParaRPr>
          </a:p>
          <a:p>
            <a:pPr marL="584200" lvl="3" indent="-354965">
              <a:lnSpc>
                <a:spcPct val="100000"/>
              </a:lnSpc>
              <a:spcBef>
                <a:spcPts val="1200"/>
              </a:spcBef>
              <a:buSzPct val="96000"/>
              <a:buAutoNum type="arabicPeriod"/>
              <a:tabLst>
                <a:tab pos="584200" algn="l"/>
              </a:tabLst>
            </a:pPr>
            <a:r>
              <a:rPr sz="2800" spc="-4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半双工</a:t>
            </a:r>
            <a:endParaRPr sz="2800">
              <a:latin typeface="黑体" panose="02010609060101010101" charset="-122"/>
              <a:ea typeface="黑体" panose="02010609060101010101" charset="-122"/>
              <a:cs typeface="Noto Serif CJK JP"/>
            </a:endParaRPr>
          </a:p>
          <a:p>
            <a:pPr marL="584200" lvl="3" indent="-354965">
              <a:lnSpc>
                <a:spcPct val="100000"/>
              </a:lnSpc>
              <a:spcBef>
                <a:spcPts val="1200"/>
              </a:spcBef>
              <a:buSzPct val="96000"/>
              <a:buAutoNum type="arabicPeriod"/>
              <a:tabLst>
                <a:tab pos="584200" algn="l"/>
              </a:tabLst>
            </a:pPr>
            <a:r>
              <a:rPr kumimoji="0" lang="en-US" sz="2800" b="0" i="0" u="none" strike="noStrike" kern="0" cap="none" spc="-35" normalizeH="0" baseline="0" noProof="1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全双工</a:t>
            </a:r>
            <a:endParaRPr kumimoji="0" lang="en-US" sz="2800" b="0" i="0" u="none" strike="noStrike" kern="0" cap="none" spc="-35" normalizeH="0" baseline="0" noProof="1" dirty="0">
              <a:solidFill>
                <a:srgbClr val="0000CC"/>
              </a:solidFill>
              <a:latin typeface="黑体" panose="02010609060101010101" charset="-122"/>
              <a:ea typeface="黑体" panose="02010609060101010101" charset="-122"/>
              <a:cs typeface="Noto Serif CJK JP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13677"/>
            <a:ext cx="6224905" cy="2427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数据的传输方向</a:t>
            </a:r>
            <a:endParaRPr sz="2800">
              <a:latin typeface="Noto Serif CJK JP"/>
              <a:cs typeface="Noto Serif CJK JP"/>
            </a:endParaRPr>
          </a:p>
          <a:p>
            <a:pPr marL="167005">
              <a:lnSpc>
                <a:spcPct val="100000"/>
              </a:lnSpc>
              <a:spcBef>
                <a:spcPts val="3700"/>
              </a:spcBef>
            </a:pPr>
            <a:r>
              <a:rPr sz="28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1.</a:t>
            </a:r>
            <a:r>
              <a:rPr sz="2800" spc="-30" dirty="0">
                <a:solidFill>
                  <a:srgbClr val="FF0000"/>
                </a:solidFill>
                <a:latin typeface="Noto Serif CJK JP"/>
                <a:cs typeface="Noto Serif CJK JP"/>
              </a:rPr>
              <a:t>单工</a:t>
            </a:r>
            <a:r>
              <a:rPr sz="28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(Simplex)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67005" marR="5080">
              <a:lnSpc>
                <a:spcPct val="125000"/>
              </a:lnSpc>
              <a:spcBef>
                <a:spcPts val="20"/>
              </a:spcBef>
            </a:pP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通信双方之间只进行单向的数据传输。</a:t>
            </a:r>
            <a:r>
              <a:rPr sz="2800" spc="-30" dirty="0">
                <a:solidFill>
                  <a:srgbClr val="0000CC"/>
                </a:solidFill>
                <a:latin typeface="Noto Serif CJK JP"/>
                <a:cs typeface="Noto Serif CJK JP"/>
              </a:rPr>
              <a:t>例：有线电视</a:t>
            </a:r>
            <a:r>
              <a:rPr sz="2800" spc="-75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800" spc="-7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CATV</a:t>
            </a:r>
            <a:r>
              <a:rPr sz="2800" spc="-75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r>
              <a:rPr sz="2800" spc="-40" dirty="0">
                <a:solidFill>
                  <a:srgbClr val="0000CC"/>
                </a:solidFill>
                <a:latin typeface="Noto Serif CJK JP"/>
                <a:cs typeface="Noto Serif CJK JP"/>
              </a:rPr>
              <a:t>、广播</a:t>
            </a:r>
            <a:endParaRPr sz="2800"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475988" y="3721608"/>
            <a:ext cx="2811779" cy="14447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13677"/>
            <a:ext cx="7734300" cy="3162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数据的传输方向</a:t>
            </a:r>
            <a:endParaRPr sz="2800">
              <a:latin typeface="Noto Serif CJK JP"/>
              <a:cs typeface="Noto Serif CJK JP"/>
            </a:endParaRPr>
          </a:p>
          <a:p>
            <a:pPr marL="165100">
              <a:lnSpc>
                <a:spcPct val="100000"/>
              </a:lnSpc>
              <a:spcBef>
                <a:spcPts val="3700"/>
              </a:spcBef>
            </a:pPr>
            <a:r>
              <a:rPr sz="28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2.</a:t>
            </a:r>
            <a:r>
              <a:rPr sz="2800" spc="-30" dirty="0">
                <a:solidFill>
                  <a:srgbClr val="FF0000"/>
                </a:solidFill>
                <a:latin typeface="Noto Serif CJK JP"/>
                <a:cs typeface="Noto Serif CJK JP"/>
              </a:rPr>
              <a:t>半双工</a:t>
            </a:r>
            <a:r>
              <a:rPr sz="28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(half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duplex)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65100" marR="5080">
              <a:lnSpc>
                <a:spcPts val="4210"/>
              </a:lnSpc>
              <a:spcBef>
                <a:spcPts val="275"/>
              </a:spcBef>
            </a:pP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通信双方之间只有一条信道， 通过分时的方式实现双向通信。</a:t>
            </a:r>
            <a:endParaRPr sz="2800">
              <a:latin typeface="Noto Serif CJK JP"/>
              <a:cs typeface="Noto Serif CJK JP"/>
            </a:endParaRPr>
          </a:p>
          <a:p>
            <a:pPr marL="232410">
              <a:lnSpc>
                <a:spcPct val="100000"/>
              </a:lnSpc>
              <a:spcBef>
                <a:spcPts val="2095"/>
              </a:spcBef>
            </a:pP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例：对讲机</a:t>
            </a:r>
            <a:endParaRPr sz="2800"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37665" y="3849334"/>
            <a:ext cx="3779022" cy="1381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13677"/>
            <a:ext cx="8003540" cy="2425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数据的传输方向</a:t>
            </a:r>
            <a:endParaRPr sz="2800">
              <a:latin typeface="Noto Serif CJK JP"/>
              <a:cs typeface="Noto Serif CJK JP"/>
            </a:endParaRPr>
          </a:p>
          <a:p>
            <a:pPr marL="167640">
              <a:lnSpc>
                <a:spcPct val="100000"/>
              </a:lnSpc>
              <a:spcBef>
                <a:spcPts val="3695"/>
              </a:spcBef>
            </a:pPr>
            <a:r>
              <a:rPr sz="28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3.</a:t>
            </a:r>
            <a:r>
              <a:rPr sz="2800" spc="-30" dirty="0">
                <a:solidFill>
                  <a:srgbClr val="FF0000"/>
                </a:solidFill>
                <a:latin typeface="Noto Serif CJK JP"/>
                <a:cs typeface="Noto Serif CJK JP"/>
              </a:rPr>
              <a:t>全双工</a:t>
            </a:r>
            <a:r>
              <a:rPr sz="28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(full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duplex)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67640" marR="5080">
              <a:lnSpc>
                <a:spcPct val="125000"/>
              </a:lnSpc>
              <a:spcBef>
                <a:spcPts val="10"/>
              </a:spcBef>
            </a:pP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通信双方之间有两条独立的信道，可以同时进行信息的发送和接收。</a:t>
            </a:r>
            <a:endParaRPr sz="2800"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1103" y="2987488"/>
            <a:ext cx="3921918" cy="16828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7876" y="4553711"/>
            <a:ext cx="2264664" cy="1481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7876" y="3023616"/>
            <a:ext cx="2264664" cy="141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112" y="4553711"/>
            <a:ext cx="1686682" cy="146608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9142730" cy="62071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227" y="2962997"/>
            <a:ext cx="8077834" cy="3771900"/>
            <a:chOff x="993227" y="2962997"/>
            <a:chExt cx="8077834" cy="37719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93227" y="2962997"/>
              <a:ext cx="7402215" cy="179401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304" y="4735067"/>
              <a:ext cx="1930908" cy="19994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55282" y="1007618"/>
            <a:ext cx="7995920" cy="163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r>
              <a:rPr sz="2400" spc="25" dirty="0">
                <a:solidFill>
                  <a:srgbClr val="0000CC"/>
                </a:solidFill>
                <a:latin typeface="Noto Serif CJK JP"/>
                <a:cs typeface="Noto Serif CJK JP"/>
              </a:rPr>
              <a:t>利用电话线做远距离传输时，发送方需要通过</a:t>
            </a:r>
            <a:r>
              <a:rPr sz="2400" spc="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MODEM</a:t>
            </a:r>
            <a:r>
              <a:rPr sz="2400" spc="30" dirty="0">
                <a:solidFill>
                  <a:srgbClr val="0000CC"/>
                </a:solidFill>
                <a:latin typeface="Noto Serif CJK JP"/>
                <a:cs typeface="Noto Serif CJK JP"/>
              </a:rPr>
              <a:t>将</a:t>
            </a: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数</a:t>
            </a:r>
            <a:r>
              <a:rPr sz="2400" spc="60" dirty="0">
                <a:solidFill>
                  <a:srgbClr val="FF0000"/>
                </a:solidFill>
                <a:latin typeface="Noto Serif CJK JP"/>
                <a:cs typeface="Noto Serif CJK JP"/>
              </a:rPr>
              <a:t>字信号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转换为</a:t>
            </a:r>
            <a:r>
              <a:rPr sz="2400" spc="60" dirty="0">
                <a:solidFill>
                  <a:srgbClr val="FF0000"/>
                </a:solidFill>
                <a:latin typeface="Noto Serif CJK JP"/>
                <a:cs typeface="Noto Serif CJK JP"/>
              </a:rPr>
              <a:t>模拟信号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，称为调制</a:t>
            </a:r>
            <a:r>
              <a:rPr sz="2400" spc="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(modulate)</a:t>
            </a:r>
            <a:r>
              <a:rPr sz="2400" spc="50" dirty="0">
                <a:solidFill>
                  <a:srgbClr val="0000CC"/>
                </a:solidFill>
                <a:latin typeface="Noto Serif CJK JP"/>
                <a:cs typeface="Noto Serif CJK JP"/>
              </a:rPr>
              <a:t>；接收方则利</a:t>
            </a:r>
            <a:r>
              <a:rPr sz="2400" spc="470" dirty="0">
                <a:solidFill>
                  <a:srgbClr val="0000CC"/>
                </a:solidFill>
                <a:latin typeface="Noto Serif CJK JP"/>
                <a:cs typeface="Noto Serif CJK JP"/>
              </a:rPr>
              <a:t>用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400" spc="-1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400" spc="-1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spc="-1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1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400" spc="-1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370" dirty="0">
                <a:solidFill>
                  <a:srgbClr val="0000CC"/>
                </a:solidFill>
                <a:latin typeface="Noto Serif CJK JP"/>
                <a:cs typeface="Noto Serif CJK JP"/>
              </a:rPr>
              <a:t>将模拟信号转换为数字信号， 称为解调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(demodulate)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6395" y="110489"/>
            <a:ext cx="3478529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35" dirty="0">
                <a:latin typeface="Noto Serif CJK JP"/>
                <a:cs typeface="Noto Serif CJK JP"/>
              </a:rPr>
              <a:t>信号的调制解调</a:t>
            </a:r>
            <a:endParaRPr spc="-35" dirty="0">
              <a:latin typeface="Noto Serif CJK JP"/>
              <a:cs typeface="Noto Serif CJK JP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0344" y="4882896"/>
            <a:ext cx="2933700" cy="181965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6565" y="1031875"/>
            <a:ext cx="8255000" cy="261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通信协议是通信双方对数据格式、同步方式、传送速度、传送步骤、检验纠错方式及控制字符定义等问题做出的统一规定，通信双方必须共同遵守。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串行通信协议有如下两种。</a:t>
            </a:r>
            <a:endParaRPr sz="2400">
              <a:latin typeface="Noto Serif CJK JP"/>
              <a:cs typeface="Noto Serif CJK JP"/>
            </a:endParaRPr>
          </a:p>
          <a:p>
            <a:pPr marL="241300" indent="-231775">
              <a:lnSpc>
                <a:spcPct val="100000"/>
              </a:lnSpc>
              <a:spcBef>
                <a:spcPts val="1190"/>
              </a:spcBef>
              <a:buSzPct val="96000"/>
              <a:buFont typeface="Times New Roman" panose="02020603050405020304"/>
              <a:buAutoNum type="arabicPeriod"/>
              <a:tabLst>
                <a:tab pos="241300" algn="l"/>
              </a:tabLst>
            </a:pPr>
            <a:r>
              <a:rPr sz="2400" spc="-1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异步串行通信协议</a:t>
            </a:r>
            <a:endParaRPr sz="2400">
              <a:latin typeface="黑体" panose="02010609060101010101" charset="-122"/>
              <a:ea typeface="黑体" panose="02010609060101010101" charset="-122"/>
              <a:cs typeface="Noto Serif CJK JP"/>
            </a:endParaRPr>
          </a:p>
          <a:p>
            <a:pPr marL="241300" indent="-231775">
              <a:lnSpc>
                <a:spcPct val="100000"/>
              </a:lnSpc>
              <a:spcBef>
                <a:spcPts val="1200"/>
              </a:spcBef>
              <a:buSzPct val="96000"/>
              <a:buFont typeface="Times New Roman" panose="02020603050405020304"/>
              <a:buAutoNum type="arabicPeriod"/>
              <a:tabLst>
                <a:tab pos="241300" algn="l"/>
              </a:tabLst>
            </a:pPr>
            <a:r>
              <a:rPr sz="2400" spc="-1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同步串行通信协议</a:t>
            </a:r>
            <a:endParaRPr sz="2400">
              <a:latin typeface="黑体" panose="02010609060101010101" charset="-122"/>
              <a:ea typeface="黑体" panose="02010609060101010101" charset="-122"/>
              <a:cs typeface="Noto Serif CJK JP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80378"/>
            <a:ext cx="292227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2</a:t>
            </a:r>
            <a:r>
              <a:rPr spc="-125" dirty="0"/>
              <a:t> </a:t>
            </a:r>
            <a:r>
              <a:rPr spc="-35" dirty="0">
                <a:latin typeface="Noto Serif CJK JP"/>
                <a:cs typeface="Noto Serif CJK JP"/>
              </a:rPr>
              <a:t>串行通信协议</a:t>
            </a:r>
            <a:endParaRPr spc="-35" dirty="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382" y="999807"/>
            <a:ext cx="8094980" cy="135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 marR="5080" indent="-22225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异步串行通信以字符为单位进行数据传送，通信双方需约定好数据包格式和通信速率等，即制定通信协议。</a:t>
            </a:r>
            <a:endParaRPr sz="2400" spc="-5" dirty="0">
              <a:solidFill>
                <a:srgbClr val="0000CC"/>
              </a:solidFill>
              <a:latin typeface="Noto Serif CJK JP"/>
              <a:cs typeface="Noto Serif CJK JP"/>
            </a:endParaRPr>
          </a:p>
          <a:p>
            <a:pPr marL="34925" marR="5080" indent="-22225">
              <a:lnSpc>
                <a:spcPct val="120000"/>
              </a:lnSpc>
              <a:spcBef>
                <a:spcPts val="100"/>
              </a:spcBef>
            </a:pPr>
            <a:r>
              <a:rPr lang="zh-CN" altLang="" sz="2400" spc="-5" dirty="0">
                <a:solidFill>
                  <a:srgbClr val="C00000"/>
                </a:solidFill>
                <a:latin typeface="Noto Serif CJK JP"/>
                <a:ea typeface="宋体" panose="02010600030101010101" pitchFamily="2" charset="-122"/>
                <a:cs typeface="Noto Serif CJK JP"/>
              </a:rPr>
              <a:t>（字符是广义的，一组若干位的二进制码）</a:t>
            </a:r>
            <a:endParaRPr lang="zh-CN" altLang="" sz="2400" spc="-5" dirty="0">
              <a:solidFill>
                <a:srgbClr val="C00000"/>
              </a:solidFill>
              <a:latin typeface="Noto Serif CJK JP"/>
              <a:ea typeface="宋体" panose="02010600030101010101" pitchFamily="2" charset="-122"/>
              <a:cs typeface="Noto Serif CJK JP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456476" y="155701"/>
            <a:ext cx="3957319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 </a:t>
            </a:r>
            <a:r>
              <a:rPr spc="-35" dirty="0">
                <a:latin typeface="Noto Serif CJK JP"/>
                <a:cs typeface="Noto Serif CJK JP"/>
              </a:rPr>
              <a:t>异步串行通信协议</a:t>
            </a:r>
            <a:endParaRPr spc="-35" dirty="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4419" y="3738026"/>
            <a:ext cx="6834276" cy="217482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27148" y="6089903"/>
            <a:ext cx="3781425" cy="401320"/>
          </a:xfrm>
          <a:custGeom>
            <a:avLst/>
            <a:gdLst/>
            <a:ahLst/>
            <a:cxnLst/>
            <a:rect l="l" t="t" r="r" b="b"/>
            <a:pathLst>
              <a:path w="3781425" h="401320">
                <a:moveTo>
                  <a:pt x="3781044" y="400812"/>
                </a:moveTo>
                <a:lnTo>
                  <a:pt x="0" y="400812"/>
                </a:lnTo>
                <a:lnTo>
                  <a:pt x="0" y="0"/>
                </a:lnTo>
                <a:lnTo>
                  <a:pt x="3781044" y="0"/>
                </a:lnTo>
                <a:lnTo>
                  <a:pt x="3781044" y="400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05951" y="6108750"/>
            <a:ext cx="3582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起止式异步串行通信的字符格式</a:t>
            </a:r>
            <a:endParaRPr sz="2000">
              <a:latin typeface="Noto Serif CJK JP"/>
              <a:cs typeface="Noto Serif CJK JP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718" y="870661"/>
            <a:ext cx="6426200" cy="2616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1.</a:t>
            </a:r>
            <a:r>
              <a:rPr sz="2400" spc="-5" dirty="0">
                <a:solidFill>
                  <a:srgbClr val="FF0000"/>
                </a:solidFill>
                <a:latin typeface="Noto Serif CJK JP"/>
                <a:cs typeface="Noto Serif CJK JP"/>
              </a:rPr>
              <a:t>异步串行通信数据帧格式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① 起始位：字符开始传送的标志，逻辑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电平。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② 数据位：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~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个二进制位。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③ 奇偶校验位：可选。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④ 停止位：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位，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1.5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位或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位长度，逻辑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电平。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8784" y="229996"/>
            <a:ext cx="39300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异步串行通信协议</a:t>
            </a:r>
            <a:endParaRPr spc="-35" dirty="0">
              <a:latin typeface="Noto Serif CJK JP"/>
              <a:cs typeface="Noto Serif CJK JP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3969" y="5551042"/>
            <a:ext cx="572072" cy="5720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5010" y="905942"/>
            <a:ext cx="7930515" cy="41097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2.</a:t>
            </a: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波特率</a:t>
            </a:r>
            <a:r>
              <a:rPr sz="2400" spc="-20" dirty="0">
                <a:solidFill>
                  <a:srgbClr val="FF0000"/>
                </a:solidFill>
                <a:latin typeface="Noto Serif CJK JP"/>
                <a:cs typeface="Noto Serif CJK JP"/>
              </a:rPr>
              <a:t>（</a:t>
            </a:r>
            <a:r>
              <a:rPr sz="2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bps</a:t>
            </a:r>
            <a:r>
              <a:rPr sz="2400" spc="-20" dirty="0">
                <a:solidFill>
                  <a:srgbClr val="FF0000"/>
                </a:solidFill>
                <a:latin typeface="Noto Serif CJK JP"/>
                <a:cs typeface="Noto Serif CJK JP"/>
              </a:rPr>
              <a:t>）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波特率就是传送数据位的速率，用位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秒表示。</a:t>
            </a:r>
            <a:endParaRPr sz="2400">
              <a:latin typeface="Noto Serif CJK JP"/>
              <a:cs typeface="Noto Serif CJK JP"/>
            </a:endParaRPr>
          </a:p>
          <a:p>
            <a:pPr marL="12700" marR="53975">
              <a:lnSpc>
                <a:spcPct val="125000"/>
              </a:lnSpc>
              <a:spcBef>
                <a:spcPts val="590"/>
              </a:spcBef>
            </a:pP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例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：数据传送速率为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120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字符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秒，每帧包括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个数据位，则</a:t>
            </a: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波特率为</a:t>
            </a:r>
            <a:endParaRPr sz="2400">
              <a:latin typeface="Noto Serif CJK JP"/>
              <a:cs typeface="Noto Serif CJK JP"/>
            </a:endParaRPr>
          </a:p>
          <a:p>
            <a:pPr marL="850900">
              <a:lnSpc>
                <a:spcPct val="100000"/>
              </a:lnSpc>
              <a:spcBef>
                <a:spcPts val="1310"/>
              </a:spcBef>
            </a:pP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120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×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=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1200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位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秒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= 1200</a:t>
            </a:r>
            <a:r>
              <a:rPr sz="2400" spc="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bps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国际标准的波特率系列：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spc="-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110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300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600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1200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1800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2400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4800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9600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14.4K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28.8K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33.6K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56Kbps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263" y="206489"/>
            <a:ext cx="39300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异步串行通信协议</a:t>
            </a:r>
            <a:endParaRPr spc="-35" dirty="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120" y="922731"/>
            <a:ext cx="7950200" cy="261747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3.</a:t>
            </a:r>
            <a:r>
              <a:rPr sz="2400" spc="-20" dirty="0">
                <a:solidFill>
                  <a:srgbClr val="FF0000"/>
                </a:solidFill>
                <a:latin typeface="Noto Serif CJK JP"/>
                <a:cs typeface="Noto Serif CJK JP"/>
              </a:rPr>
              <a:t>校验位</a:t>
            </a:r>
            <a:endParaRPr sz="2400">
              <a:latin typeface="Noto Serif CJK JP"/>
              <a:cs typeface="Noto Serif CJK JP"/>
            </a:endParaRPr>
          </a:p>
          <a:p>
            <a:pPr marL="12700" marR="2748280">
              <a:lnSpc>
                <a:spcPct val="146000"/>
              </a:lnSpc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奇校验 ：字符加上校验位有奇数个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；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偶校验 ：字符加上校验位有偶数个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  <a:p>
            <a:pPr marL="12700" marR="5080">
              <a:lnSpc>
                <a:spcPct val="125000"/>
              </a:lnSpc>
              <a:spcBef>
                <a:spcPts val="610"/>
              </a:spcBef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校验位的生成和检查由串行通信控制器内部自动完成，停止位也是由硬件自动产生的。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259" y="229996"/>
            <a:ext cx="39300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 </a:t>
            </a:r>
            <a:r>
              <a:rPr spc="-35" dirty="0">
                <a:latin typeface="Noto Serif CJK JP"/>
                <a:cs typeface="Noto Serif CJK JP"/>
              </a:rPr>
              <a:t>异步串行通信协议</a:t>
            </a:r>
            <a:endParaRPr spc="-35" dirty="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40659" y="4006978"/>
            <a:ext cx="5555805" cy="17682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397" y="1010285"/>
            <a:ext cx="8168005" cy="147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特点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利用同步字符（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SYN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实现通信双方的同步，数据之间无间隔符，所以传输速率较高。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同步串行传输的数据格式：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8733" y="3920985"/>
            <a:ext cx="814832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CRC</a:t>
            </a:r>
            <a:r>
              <a:rPr sz="2400" spc="-25" dirty="0">
                <a:solidFill>
                  <a:srgbClr val="FF0000"/>
                </a:solidFill>
                <a:latin typeface="Noto Serif CJK JP"/>
                <a:cs typeface="Noto Serif CJK JP"/>
              </a:rPr>
              <a:t>校验</a:t>
            </a:r>
            <a:endParaRPr sz="2400">
              <a:latin typeface="Noto Serif CJK JP"/>
              <a:cs typeface="Noto Serif CJK JP"/>
            </a:endParaRPr>
          </a:p>
          <a:p>
            <a:pPr marL="12700" marR="5080" algn="just">
              <a:lnSpc>
                <a:spcPct val="100000"/>
              </a:lnSpc>
              <a:spcBef>
                <a:spcPts val="10"/>
              </a:spcBef>
            </a:pP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传送数据作为被除数，发送器本身产生一固定除数，前者除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以后者得到余数即为该</a:t>
            </a:r>
            <a:r>
              <a:rPr sz="2400" spc="204" dirty="0">
                <a:solidFill>
                  <a:srgbClr val="0000CC"/>
                </a:solidFill>
                <a:latin typeface="Noto Serif CJK JP"/>
                <a:cs typeface="Noto Serif CJK JP"/>
              </a:rPr>
              <a:t>“冗余”字符。当数据和冗余字符一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起被传送到接收器时，接收器产生与发送器相同的除数，和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数据位相除，得到余数进行比较。</a:t>
            </a:r>
            <a:endParaRPr sz="240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2227" y="2604516"/>
            <a:ext cx="7314073" cy="1143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213677"/>
            <a:ext cx="39300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同步串行通信协议</a:t>
            </a:r>
            <a:endParaRPr spc="-35" dirty="0">
              <a:latin typeface="Noto Serif CJK JP"/>
              <a:cs typeface="Noto Serif CJK JP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282" y="1017142"/>
            <a:ext cx="8363584" cy="408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46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目前，用于串行通信的接口标准种类很多，包括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RS-232</a:t>
            </a:r>
            <a:r>
              <a:rPr sz="2400" spc="16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RS-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422,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RS-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485 </a:t>
            </a: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等多种。</a:t>
            </a:r>
            <a:endParaRPr sz="2400">
              <a:latin typeface="Noto Serif CJK JP"/>
              <a:cs typeface="Noto Serif CJK JP"/>
            </a:endParaRPr>
          </a:p>
          <a:p>
            <a:pPr marL="62230">
              <a:lnSpc>
                <a:spcPct val="100000"/>
              </a:lnSpc>
              <a:spcBef>
                <a:spcPts val="2375"/>
              </a:spcBef>
            </a:pP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1.RS-</a:t>
            </a: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232</a:t>
            </a:r>
            <a:r>
              <a:rPr sz="2400" spc="-25" dirty="0">
                <a:solidFill>
                  <a:srgbClr val="FF0000"/>
                </a:solidFill>
                <a:latin typeface="Noto Serif CJK JP"/>
                <a:cs typeface="Noto Serif CJK JP"/>
              </a:rPr>
              <a:t>概述</a:t>
            </a:r>
            <a:endParaRPr sz="2400">
              <a:latin typeface="Noto Serif CJK JP"/>
              <a:cs typeface="Noto Serif CJK JP"/>
            </a:endParaRPr>
          </a:p>
          <a:p>
            <a:pPr marL="69215" marR="335280">
              <a:lnSpc>
                <a:spcPct val="100000"/>
              </a:lnSpc>
              <a:spcBef>
                <a:spcPts val="1120"/>
              </a:spcBef>
            </a:pP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RS-</a:t>
            </a:r>
            <a:r>
              <a:rPr sz="2400" u="heavy" spc="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232</a:t>
            </a:r>
            <a:r>
              <a:rPr sz="2400" u="none" spc="55" dirty="0">
                <a:solidFill>
                  <a:srgbClr val="0000CC"/>
                </a:solidFill>
                <a:latin typeface="Noto Serif CJK JP"/>
                <a:cs typeface="Noto Serif CJK JP"/>
              </a:rPr>
              <a:t>是最早的串行接口标准，在短距离（</a:t>
            </a:r>
            <a:r>
              <a:rPr sz="2400" u="none" spc="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&lt;15m</a:t>
            </a:r>
            <a:r>
              <a:rPr sz="2400" u="none" spc="55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r>
              <a:rPr sz="2400" u="none" spc="20" dirty="0">
                <a:solidFill>
                  <a:srgbClr val="0000CC"/>
                </a:solidFill>
                <a:latin typeface="Noto Serif CJK JP"/>
                <a:cs typeface="Noto Serif CJK JP"/>
              </a:rPr>
              <a:t>、较低</a:t>
            </a:r>
            <a:r>
              <a:rPr sz="2400" u="none" spc="-5" dirty="0">
                <a:solidFill>
                  <a:srgbClr val="0000CC"/>
                </a:solidFill>
                <a:latin typeface="Noto Serif CJK JP"/>
                <a:cs typeface="Noto Serif CJK JP"/>
              </a:rPr>
              <a:t>波特率的串行通信当中得到了广泛应用。</a:t>
            </a:r>
            <a:endParaRPr sz="2400">
              <a:latin typeface="Noto Serif CJK JP"/>
              <a:cs typeface="Noto Serif CJK JP"/>
            </a:endParaRPr>
          </a:p>
          <a:p>
            <a:pPr marL="69215" marR="5080">
              <a:lnSpc>
                <a:spcPct val="100000"/>
              </a:lnSpc>
              <a:spcBef>
                <a:spcPts val="2140"/>
              </a:spcBef>
            </a:pPr>
            <a:r>
              <a:rPr sz="2400" spc="1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RS-</a:t>
            </a:r>
            <a:r>
              <a:rPr sz="2400" spc="114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232-C</a:t>
            </a:r>
            <a:r>
              <a:rPr sz="2400" spc="125" dirty="0">
                <a:solidFill>
                  <a:srgbClr val="0000CC"/>
                </a:solidFill>
                <a:latin typeface="Noto Serif CJK JP"/>
                <a:cs typeface="Noto Serif CJK JP"/>
              </a:rPr>
              <a:t>标准的制定时间早于</a:t>
            </a:r>
            <a:r>
              <a:rPr sz="2400" u="heavy" spc="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TTL</a:t>
            </a:r>
            <a:r>
              <a:rPr sz="2400" u="none" spc="105" dirty="0">
                <a:solidFill>
                  <a:srgbClr val="0000CC"/>
                </a:solidFill>
                <a:latin typeface="Noto Serif CJK JP"/>
                <a:cs typeface="Noto Serif CJK JP"/>
              </a:rPr>
              <a:t>电路的产生，其数据线</a:t>
            </a:r>
            <a:r>
              <a:rPr sz="2400" u="none" spc="-5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u="none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TXD</a:t>
            </a:r>
            <a:r>
              <a:rPr sz="2400" u="none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u="none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RXD</a:t>
            </a:r>
            <a:r>
              <a:rPr sz="2400" u="none" spc="-5" dirty="0">
                <a:solidFill>
                  <a:srgbClr val="0000CC"/>
                </a:solidFill>
                <a:latin typeface="Noto Serif CJK JP"/>
                <a:cs typeface="Noto Serif CJK JP"/>
              </a:rPr>
              <a:t>的信号电平使用负逻辑，且高、低电平要求对称。</a:t>
            </a:r>
            <a:endParaRPr sz="2400">
              <a:latin typeface="Noto Serif CJK JP"/>
              <a:cs typeface="Noto Serif CJK JP"/>
            </a:endParaRPr>
          </a:p>
          <a:p>
            <a:pPr marL="66040" marR="913765">
              <a:lnSpc>
                <a:spcPct val="121000"/>
              </a:lnSpc>
              <a:spcBef>
                <a:spcPts val="2470"/>
              </a:spcBef>
              <a:tabLst>
                <a:tab pos="2668270" algn="l"/>
              </a:tabLst>
            </a:pP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lang="en-US" altLang=""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~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-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15V</a:t>
            </a:r>
            <a:r>
              <a:rPr sz="2400" spc="-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逻辑</a:t>
            </a:r>
            <a:r>
              <a:rPr sz="2400" spc="380" dirty="0">
                <a:solidFill>
                  <a:srgbClr val="0000CC"/>
                </a:solidFill>
                <a:latin typeface="Noto Serif CJK JP"/>
                <a:cs typeface="Noto Serif CJK JP"/>
              </a:rPr>
              <a:t>“</a:t>
            </a:r>
            <a:r>
              <a:rPr sz="2400" spc="3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spc="380" dirty="0">
                <a:solidFill>
                  <a:srgbClr val="0000CC"/>
                </a:solidFill>
                <a:latin typeface="Noto Serif CJK JP"/>
                <a:cs typeface="Noto Serif CJK JP"/>
              </a:rPr>
              <a:t>”，</a:t>
            </a:r>
            <a:r>
              <a:rPr sz="2400" spc="3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lang="en-US" altLang="" sz="2400" spc="3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400" spc="3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~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+15V</a:t>
            </a:r>
            <a:r>
              <a:rPr sz="2400" spc="-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逻辑</a:t>
            </a:r>
            <a:r>
              <a:rPr sz="2400" spc="869" dirty="0">
                <a:solidFill>
                  <a:srgbClr val="0000CC"/>
                </a:solidFill>
                <a:latin typeface="Noto Serif CJK JP"/>
                <a:cs typeface="Noto Serif CJK JP"/>
              </a:rPr>
              <a:t>“</a:t>
            </a:r>
            <a:r>
              <a:rPr sz="2400" spc="869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869" dirty="0">
                <a:solidFill>
                  <a:srgbClr val="0000CC"/>
                </a:solidFill>
                <a:latin typeface="Noto Serif CJK JP"/>
                <a:cs typeface="Noto Serif CJK JP"/>
              </a:rPr>
              <a:t>”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259" y="132054"/>
            <a:ext cx="506730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35" dirty="0">
                <a:latin typeface="Noto Serif CJK JP"/>
                <a:cs typeface="Noto Serif CJK JP"/>
              </a:rPr>
              <a:t>串行接口标准</a:t>
            </a:r>
            <a:endParaRPr spc="-35" dirty="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990" y="940117"/>
            <a:ext cx="4552950" cy="268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EIA:</a:t>
            </a:r>
            <a:r>
              <a:rPr sz="2400" spc="-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Electronic</a:t>
            </a:r>
            <a:r>
              <a:rPr sz="2400" spc="-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Industry</a:t>
            </a:r>
            <a:r>
              <a:rPr sz="2400" spc="-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Association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RS:</a:t>
            </a:r>
            <a:r>
              <a:rPr sz="2400" spc="-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Recommend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Standard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TTL</a:t>
            </a:r>
            <a:r>
              <a:rPr sz="2400" spc="-15" dirty="0">
                <a:solidFill>
                  <a:srgbClr val="FF0000"/>
                </a:solidFill>
                <a:latin typeface="Noto Serif CJK JP"/>
                <a:cs typeface="Noto Serif CJK JP"/>
              </a:rPr>
              <a:t>电平标准</a:t>
            </a:r>
            <a:endParaRPr sz="2400">
              <a:latin typeface="Noto Serif CJK JP"/>
              <a:cs typeface="Noto Serif CJK JP"/>
            </a:endParaRPr>
          </a:p>
          <a:p>
            <a:pPr marL="828675" indent="-815975">
              <a:lnSpc>
                <a:spcPct val="100000"/>
              </a:lnSpc>
              <a:spcBef>
                <a:spcPts val="575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输出 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：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&lt; 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0.8V ;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：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&gt;2.4V</a:t>
            </a:r>
            <a:r>
              <a:rPr sz="2400" spc="-237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  <a:p>
            <a:pPr marL="828675" indent="-815975">
              <a:lnSpc>
                <a:spcPct val="100000"/>
              </a:lnSpc>
              <a:spcBef>
                <a:spcPts val="575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输入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： 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&lt;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1.2V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;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：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2.0V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914433" y="5107225"/>
            <a:ext cx="882908" cy="8829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60960"/>
            <a:ext cx="7124001" cy="539115"/>
          </a:xfrm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latin typeface="Noto Serif CJK JP"/>
                <a:cs typeface="Noto Serif CJK JP"/>
              </a:rPr>
              <a:t>串行接口标准</a:t>
            </a:r>
            <a:endParaRPr spc="-2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70376" y="2505455"/>
            <a:ext cx="4762500" cy="35341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4990" y="867168"/>
            <a:ext cx="7814945" cy="30556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TTL—</a:t>
            </a:r>
            <a:r>
              <a:rPr sz="2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EIA</a:t>
            </a:r>
            <a:r>
              <a:rPr sz="2400" spc="-10" dirty="0">
                <a:solidFill>
                  <a:srgbClr val="FF0000"/>
                </a:solidFill>
                <a:latin typeface="Noto Serif CJK JP"/>
                <a:cs typeface="Noto Serif CJK JP"/>
              </a:rPr>
              <a:t>电平转换电路</a:t>
            </a:r>
            <a:endParaRPr sz="2400">
              <a:latin typeface="Noto Serif CJK JP"/>
              <a:cs typeface="Noto Serif CJK JP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RS-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232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标准的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EIA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电平与计算机中的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TTL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电平标准不兼容，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电路连接时必须经过电平转换，否则将使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TTL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电路烧坏。</a:t>
            </a:r>
            <a:endParaRPr sz="2400">
              <a:latin typeface="Noto Serif CJK JP"/>
              <a:cs typeface="Noto Serif CJK JP"/>
            </a:endParaRPr>
          </a:p>
          <a:p>
            <a:pPr marL="12700" marR="4826635" algn="l">
              <a:lnSpc>
                <a:spcPct val="100000"/>
              </a:lnSpc>
              <a:spcBef>
                <a:spcPts val="1295"/>
              </a:spcBef>
            </a:pPr>
            <a:r>
              <a:rPr sz="2400" spc="195" dirty="0">
                <a:solidFill>
                  <a:srgbClr val="0000CC"/>
                </a:solidFill>
                <a:latin typeface="Noto Serif CJK JP"/>
                <a:cs typeface="Noto Serif CJK JP"/>
              </a:rPr>
              <a:t>电平转换可用电平转</a:t>
            </a:r>
            <a:r>
              <a:rPr sz="2400" spc="105" dirty="0">
                <a:solidFill>
                  <a:srgbClr val="0000CC"/>
                </a:solidFill>
                <a:latin typeface="Noto Serif CJK JP"/>
                <a:cs typeface="Noto Serif CJK JP"/>
              </a:rPr>
              <a:t>换芯片实现， 右图是</a:t>
            </a:r>
            <a:r>
              <a:rPr sz="2400" spc="215" dirty="0">
                <a:solidFill>
                  <a:srgbClr val="0000CC"/>
                </a:solidFill>
                <a:latin typeface="Noto Serif CJK JP"/>
                <a:cs typeface="Noto Serif CJK JP"/>
              </a:rPr>
              <a:t>应用</a:t>
            </a:r>
            <a:r>
              <a:rPr sz="2400" spc="1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MAX</a:t>
            </a:r>
            <a:r>
              <a:rPr sz="2400" spc="-38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2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23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400" spc="-38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145" dirty="0">
                <a:solidFill>
                  <a:srgbClr val="0000CC"/>
                </a:solidFill>
                <a:latin typeface="Noto Serif CJK JP"/>
                <a:cs typeface="Noto Serif CJK JP"/>
              </a:rPr>
              <a:t>实现电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平转换的原理图。</a:t>
            </a:r>
            <a:endParaRPr sz="2400">
              <a:latin typeface="Noto Serif CJK JP"/>
              <a:cs typeface="Noto Serif CJK JP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503" y="5277611"/>
            <a:ext cx="1598675" cy="5852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5503" y="4285488"/>
            <a:ext cx="1581911" cy="762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71576"/>
            <a:ext cx="336296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RS-</a:t>
            </a:r>
            <a:r>
              <a:rPr spc="-25" dirty="0"/>
              <a:t>232</a:t>
            </a:r>
            <a:r>
              <a:rPr spc="-35" dirty="0">
                <a:latin typeface="Droid Sans Fallback"/>
                <a:cs typeface="Droid Sans Fallback"/>
              </a:rPr>
              <a:t>电缆及接插件</a:t>
            </a:r>
            <a:endParaRPr spc="-35" dirty="0">
              <a:latin typeface="Droid Sans Fallback"/>
              <a:cs typeface="Droid Sans Fallb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86255" y="1088136"/>
            <a:ext cx="2009774" cy="18383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035552" y="1161288"/>
            <a:ext cx="4521835" cy="4593590"/>
            <a:chOff x="4035552" y="1161288"/>
            <a:chExt cx="4521835" cy="45935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5552" y="1161288"/>
              <a:ext cx="2095500" cy="1905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6460" y="2897123"/>
              <a:ext cx="2590799" cy="28575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691" y="3493008"/>
            <a:ext cx="2428524" cy="20955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420" y="4977384"/>
            <a:ext cx="8758555" cy="1736089"/>
            <a:chOff x="312420" y="4977384"/>
            <a:chExt cx="8758555" cy="1736089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84448" y="4977384"/>
              <a:ext cx="2420111" cy="11811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" y="4977384"/>
              <a:ext cx="2798064" cy="173583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55282" y="1031062"/>
            <a:ext cx="5528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RS-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232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串行通信系统的结构如下图所示。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4202" y="174447"/>
            <a:ext cx="506730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串行接口标准</a:t>
            </a:r>
            <a:endParaRPr spc="-35" dirty="0">
              <a:latin typeface="Noto Serif CJK JP"/>
              <a:cs typeface="Noto Serif CJK JP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0366" y="2186216"/>
            <a:ext cx="280035" cy="788035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5000"/>
              </a:lnSpc>
            </a:pPr>
            <a:r>
              <a:rPr sz="2000" spc="-5" dirty="0">
                <a:latin typeface="Noto Sans CJK HK"/>
                <a:cs typeface="Noto Sans CJK HK"/>
              </a:rPr>
              <a:t>计算</a:t>
            </a:r>
            <a:r>
              <a:rPr sz="2000" dirty="0">
                <a:latin typeface="Noto Sans CJK HK"/>
                <a:cs typeface="Noto Sans CJK HK"/>
              </a:rPr>
              <a:t>机</a:t>
            </a:r>
            <a:endParaRPr sz="2000">
              <a:latin typeface="Noto Sans CJK HK"/>
              <a:cs typeface="Noto Sans CJK H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8008" y="2059508"/>
            <a:ext cx="1156970" cy="1042035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39065">
              <a:lnSpc>
                <a:spcPct val="65000"/>
              </a:lnSpc>
            </a:pP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CJK HK"/>
                <a:cs typeface="Noto Sans CJK HK"/>
              </a:rPr>
              <a:t>连接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CJK HK"/>
                <a:cs typeface="Noto Sans CJK HK"/>
              </a:rPr>
              <a:t>器</a:t>
            </a:r>
            <a:endParaRPr sz="2000">
              <a:latin typeface="Noto Sans CJK HK"/>
              <a:cs typeface="Noto Sans CJK HK"/>
            </a:endParaRPr>
          </a:p>
          <a:p>
            <a:pPr marL="12700" marR="5080">
              <a:lnSpc>
                <a:spcPct val="144000"/>
              </a:lnSpc>
            </a:pPr>
            <a:r>
              <a:rPr sz="2000" spc="-5" dirty="0">
                <a:solidFill>
                  <a:srgbClr val="FF0000"/>
                </a:solidFill>
                <a:latin typeface="Noto Sans CJK HK"/>
                <a:cs typeface="Noto Sans CJK HK"/>
              </a:rPr>
              <a:t>电平转</a:t>
            </a:r>
            <a:r>
              <a:rPr sz="2000" dirty="0">
                <a:solidFill>
                  <a:srgbClr val="FF0000"/>
                </a:solidFill>
                <a:latin typeface="Noto Sans CJK HK"/>
                <a:cs typeface="Noto Sans CJK HK"/>
              </a:rPr>
              <a:t>换</a:t>
            </a:r>
            <a:r>
              <a:rPr sz="2000" spc="-5" dirty="0">
                <a:latin typeface="Noto Sans CJK HK"/>
                <a:cs typeface="Noto Sans CJK HK"/>
              </a:rPr>
              <a:t>串行接</a:t>
            </a:r>
            <a:r>
              <a:rPr sz="2000" dirty="0">
                <a:latin typeface="Noto Sans CJK HK"/>
                <a:cs typeface="Noto Sans CJK HK"/>
              </a:rPr>
              <a:t>口</a:t>
            </a:r>
            <a:endParaRPr sz="2000">
              <a:latin typeface="Noto Sans CJK HK"/>
              <a:cs typeface="Noto Sans CJK H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3618" y="1710867"/>
            <a:ext cx="3084830" cy="1738630"/>
          </a:xfrm>
          <a:custGeom>
            <a:avLst/>
            <a:gdLst/>
            <a:ahLst/>
            <a:cxnLst/>
            <a:rect l="l" t="t" r="r" b="b"/>
            <a:pathLst>
              <a:path w="3084829" h="1738629">
                <a:moveTo>
                  <a:pt x="2032317" y="0"/>
                </a:moveTo>
                <a:lnTo>
                  <a:pt x="2016442" y="0"/>
                </a:lnTo>
                <a:lnTo>
                  <a:pt x="2016442" y="15875"/>
                </a:lnTo>
                <a:lnTo>
                  <a:pt x="2016442" y="1722170"/>
                </a:lnTo>
                <a:lnTo>
                  <a:pt x="15875" y="1722170"/>
                </a:lnTo>
                <a:lnTo>
                  <a:pt x="15875" y="15875"/>
                </a:lnTo>
                <a:lnTo>
                  <a:pt x="2016442" y="15875"/>
                </a:lnTo>
                <a:lnTo>
                  <a:pt x="2016442" y="0"/>
                </a:lnTo>
                <a:lnTo>
                  <a:pt x="0" y="0"/>
                </a:lnTo>
                <a:lnTo>
                  <a:pt x="0" y="1738045"/>
                </a:lnTo>
                <a:lnTo>
                  <a:pt x="2032317" y="1738045"/>
                </a:lnTo>
                <a:lnTo>
                  <a:pt x="2032317" y="1730108"/>
                </a:lnTo>
                <a:lnTo>
                  <a:pt x="2032317" y="1722170"/>
                </a:lnTo>
                <a:lnTo>
                  <a:pt x="2032317" y="15875"/>
                </a:lnTo>
                <a:lnTo>
                  <a:pt x="2032317" y="7937"/>
                </a:lnTo>
                <a:lnTo>
                  <a:pt x="2032317" y="0"/>
                </a:lnTo>
                <a:close/>
              </a:path>
              <a:path w="3084829" h="1738629">
                <a:moveTo>
                  <a:pt x="3084360" y="101307"/>
                </a:moveTo>
                <a:lnTo>
                  <a:pt x="3068485" y="101307"/>
                </a:lnTo>
                <a:lnTo>
                  <a:pt x="3068485" y="117182"/>
                </a:lnTo>
                <a:lnTo>
                  <a:pt x="3068485" y="1722170"/>
                </a:lnTo>
                <a:lnTo>
                  <a:pt x="2646007" y="1722170"/>
                </a:lnTo>
                <a:lnTo>
                  <a:pt x="2646007" y="117182"/>
                </a:lnTo>
                <a:lnTo>
                  <a:pt x="3068485" y="117182"/>
                </a:lnTo>
                <a:lnTo>
                  <a:pt x="3068485" y="101307"/>
                </a:lnTo>
                <a:lnTo>
                  <a:pt x="2630132" y="101307"/>
                </a:lnTo>
                <a:lnTo>
                  <a:pt x="2630132" y="1738045"/>
                </a:lnTo>
                <a:lnTo>
                  <a:pt x="3084360" y="1738045"/>
                </a:lnTo>
                <a:lnTo>
                  <a:pt x="3084360" y="1730108"/>
                </a:lnTo>
                <a:lnTo>
                  <a:pt x="3084360" y="1722170"/>
                </a:lnTo>
                <a:lnTo>
                  <a:pt x="3084360" y="117182"/>
                </a:lnTo>
                <a:lnTo>
                  <a:pt x="3084360" y="109245"/>
                </a:lnTo>
                <a:lnTo>
                  <a:pt x="3084360" y="1013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06622" y="2130628"/>
            <a:ext cx="307975" cy="100012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MODEM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89632" y="1718805"/>
            <a:ext cx="0" cy="1722755"/>
          </a:xfrm>
          <a:custGeom>
            <a:avLst/>
            <a:gdLst/>
            <a:ahLst/>
            <a:cxnLst/>
            <a:rect l="l" t="t" r="r" b="b"/>
            <a:pathLst>
              <a:path h="1722754">
                <a:moveTo>
                  <a:pt x="0" y="0"/>
                </a:moveTo>
                <a:lnTo>
                  <a:pt x="0" y="1722170"/>
                </a:lnTo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51279" y="1718805"/>
            <a:ext cx="0" cy="1722755"/>
          </a:xfrm>
          <a:custGeom>
            <a:avLst/>
            <a:gdLst/>
            <a:ahLst/>
            <a:cxnLst/>
            <a:rect l="l" t="t" r="r" b="b"/>
            <a:pathLst>
              <a:path h="1722754">
                <a:moveTo>
                  <a:pt x="0" y="0"/>
                </a:moveTo>
                <a:lnTo>
                  <a:pt x="0" y="1722170"/>
                </a:lnTo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12925" y="1718805"/>
            <a:ext cx="0" cy="1722755"/>
          </a:xfrm>
          <a:custGeom>
            <a:avLst/>
            <a:gdLst/>
            <a:ahLst/>
            <a:cxnLst/>
            <a:rect l="l" t="t" r="r" b="b"/>
            <a:pathLst>
              <a:path h="1722754">
                <a:moveTo>
                  <a:pt x="0" y="0"/>
                </a:moveTo>
                <a:lnTo>
                  <a:pt x="0" y="1722170"/>
                </a:lnTo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14333" y="2513825"/>
            <a:ext cx="641350" cy="233679"/>
          </a:xfrm>
          <a:custGeom>
            <a:avLst/>
            <a:gdLst/>
            <a:ahLst/>
            <a:cxnLst/>
            <a:rect l="l" t="t" r="r" b="b"/>
            <a:pathLst>
              <a:path w="641350" h="233680">
                <a:moveTo>
                  <a:pt x="163423" y="233451"/>
                </a:moveTo>
                <a:lnTo>
                  <a:pt x="0" y="116725"/>
                </a:lnTo>
                <a:lnTo>
                  <a:pt x="163423" y="0"/>
                </a:lnTo>
                <a:lnTo>
                  <a:pt x="163423" y="15417"/>
                </a:lnTo>
                <a:lnTo>
                  <a:pt x="147548" y="15417"/>
                </a:lnTo>
                <a:lnTo>
                  <a:pt x="147537" y="30852"/>
                </a:lnTo>
                <a:lnTo>
                  <a:pt x="36358" y="110261"/>
                </a:lnTo>
                <a:lnTo>
                  <a:pt x="18275" y="110261"/>
                </a:lnTo>
                <a:lnTo>
                  <a:pt x="18275" y="123177"/>
                </a:lnTo>
                <a:lnTo>
                  <a:pt x="36356" y="123177"/>
                </a:lnTo>
                <a:lnTo>
                  <a:pt x="147537" y="202597"/>
                </a:lnTo>
                <a:lnTo>
                  <a:pt x="147548" y="218033"/>
                </a:lnTo>
                <a:lnTo>
                  <a:pt x="163423" y="218033"/>
                </a:lnTo>
                <a:lnTo>
                  <a:pt x="163423" y="233451"/>
                </a:lnTo>
                <a:close/>
              </a:path>
              <a:path w="641350" h="233680">
                <a:moveTo>
                  <a:pt x="477596" y="66065"/>
                </a:moveTo>
                <a:lnTo>
                  <a:pt x="477596" y="0"/>
                </a:lnTo>
                <a:lnTo>
                  <a:pt x="499180" y="15417"/>
                </a:lnTo>
                <a:lnTo>
                  <a:pt x="493471" y="15417"/>
                </a:lnTo>
                <a:lnTo>
                  <a:pt x="480910" y="21882"/>
                </a:lnTo>
                <a:lnTo>
                  <a:pt x="493459" y="30844"/>
                </a:lnTo>
                <a:lnTo>
                  <a:pt x="493471" y="58127"/>
                </a:lnTo>
                <a:lnTo>
                  <a:pt x="485533" y="58127"/>
                </a:lnTo>
                <a:lnTo>
                  <a:pt x="477596" y="66065"/>
                </a:lnTo>
                <a:close/>
              </a:path>
              <a:path w="641350" h="233680">
                <a:moveTo>
                  <a:pt x="147548" y="30844"/>
                </a:moveTo>
                <a:lnTo>
                  <a:pt x="147548" y="15417"/>
                </a:lnTo>
                <a:lnTo>
                  <a:pt x="160096" y="21882"/>
                </a:lnTo>
                <a:lnTo>
                  <a:pt x="147548" y="30844"/>
                </a:lnTo>
                <a:close/>
              </a:path>
              <a:path w="641350" h="233680">
                <a:moveTo>
                  <a:pt x="493471" y="74002"/>
                </a:moveTo>
                <a:lnTo>
                  <a:pt x="147548" y="74002"/>
                </a:lnTo>
                <a:lnTo>
                  <a:pt x="147548" y="30844"/>
                </a:lnTo>
                <a:lnTo>
                  <a:pt x="160096" y="21882"/>
                </a:lnTo>
                <a:lnTo>
                  <a:pt x="147548" y="15417"/>
                </a:lnTo>
                <a:lnTo>
                  <a:pt x="163423" y="15417"/>
                </a:lnTo>
                <a:lnTo>
                  <a:pt x="163423" y="58127"/>
                </a:lnTo>
                <a:lnTo>
                  <a:pt x="155486" y="58127"/>
                </a:lnTo>
                <a:lnTo>
                  <a:pt x="163423" y="66065"/>
                </a:lnTo>
                <a:lnTo>
                  <a:pt x="493471" y="66065"/>
                </a:lnTo>
                <a:lnTo>
                  <a:pt x="493471" y="74002"/>
                </a:lnTo>
                <a:close/>
              </a:path>
              <a:path w="641350" h="233680">
                <a:moveTo>
                  <a:pt x="493471" y="30852"/>
                </a:moveTo>
                <a:lnTo>
                  <a:pt x="480910" y="21882"/>
                </a:lnTo>
                <a:lnTo>
                  <a:pt x="493471" y="15417"/>
                </a:lnTo>
                <a:lnTo>
                  <a:pt x="493471" y="30852"/>
                </a:lnTo>
                <a:close/>
              </a:path>
              <a:path w="641350" h="233680">
                <a:moveTo>
                  <a:pt x="613702" y="116719"/>
                </a:moveTo>
                <a:lnTo>
                  <a:pt x="493471" y="30852"/>
                </a:lnTo>
                <a:lnTo>
                  <a:pt x="493471" y="15417"/>
                </a:lnTo>
                <a:lnTo>
                  <a:pt x="499180" y="15417"/>
                </a:lnTo>
                <a:lnTo>
                  <a:pt x="631957" y="110261"/>
                </a:lnTo>
                <a:lnTo>
                  <a:pt x="622744" y="110261"/>
                </a:lnTo>
                <a:lnTo>
                  <a:pt x="613702" y="116719"/>
                </a:lnTo>
                <a:close/>
              </a:path>
              <a:path w="641350" h="233680">
                <a:moveTo>
                  <a:pt x="163423" y="66065"/>
                </a:moveTo>
                <a:lnTo>
                  <a:pt x="155486" y="58127"/>
                </a:lnTo>
                <a:lnTo>
                  <a:pt x="163423" y="58127"/>
                </a:lnTo>
                <a:lnTo>
                  <a:pt x="163423" y="66065"/>
                </a:lnTo>
                <a:close/>
              </a:path>
              <a:path w="641350" h="233680">
                <a:moveTo>
                  <a:pt x="477596" y="66065"/>
                </a:moveTo>
                <a:lnTo>
                  <a:pt x="163423" y="66065"/>
                </a:lnTo>
                <a:lnTo>
                  <a:pt x="163423" y="58127"/>
                </a:lnTo>
                <a:lnTo>
                  <a:pt x="477596" y="58127"/>
                </a:lnTo>
                <a:lnTo>
                  <a:pt x="477596" y="66065"/>
                </a:lnTo>
                <a:close/>
              </a:path>
              <a:path w="641350" h="233680">
                <a:moveTo>
                  <a:pt x="493471" y="66065"/>
                </a:moveTo>
                <a:lnTo>
                  <a:pt x="477596" y="66065"/>
                </a:lnTo>
                <a:lnTo>
                  <a:pt x="485533" y="58127"/>
                </a:lnTo>
                <a:lnTo>
                  <a:pt x="493471" y="58127"/>
                </a:lnTo>
                <a:lnTo>
                  <a:pt x="493471" y="66065"/>
                </a:lnTo>
                <a:close/>
              </a:path>
              <a:path w="641350" h="233680">
                <a:moveTo>
                  <a:pt x="18275" y="123177"/>
                </a:moveTo>
                <a:lnTo>
                  <a:pt x="18275" y="110261"/>
                </a:lnTo>
                <a:lnTo>
                  <a:pt x="27316" y="116719"/>
                </a:lnTo>
                <a:lnTo>
                  <a:pt x="18275" y="123177"/>
                </a:lnTo>
                <a:close/>
              </a:path>
              <a:path w="641350" h="233680">
                <a:moveTo>
                  <a:pt x="27316" y="116719"/>
                </a:moveTo>
                <a:lnTo>
                  <a:pt x="18275" y="110261"/>
                </a:lnTo>
                <a:lnTo>
                  <a:pt x="36358" y="110261"/>
                </a:lnTo>
                <a:lnTo>
                  <a:pt x="27316" y="116719"/>
                </a:lnTo>
                <a:close/>
              </a:path>
              <a:path w="641350" h="233680">
                <a:moveTo>
                  <a:pt x="622744" y="123177"/>
                </a:moveTo>
                <a:lnTo>
                  <a:pt x="613702" y="116719"/>
                </a:lnTo>
                <a:lnTo>
                  <a:pt x="622744" y="110261"/>
                </a:lnTo>
                <a:lnTo>
                  <a:pt x="622744" y="123177"/>
                </a:lnTo>
                <a:close/>
              </a:path>
              <a:path w="641350" h="233680">
                <a:moveTo>
                  <a:pt x="631975" y="123177"/>
                </a:moveTo>
                <a:lnTo>
                  <a:pt x="622744" y="123177"/>
                </a:lnTo>
                <a:lnTo>
                  <a:pt x="622744" y="110261"/>
                </a:lnTo>
                <a:lnTo>
                  <a:pt x="631957" y="110261"/>
                </a:lnTo>
                <a:lnTo>
                  <a:pt x="641007" y="116725"/>
                </a:lnTo>
                <a:lnTo>
                  <a:pt x="631975" y="123177"/>
                </a:lnTo>
                <a:close/>
              </a:path>
              <a:path w="641350" h="233680">
                <a:moveTo>
                  <a:pt x="36356" y="123177"/>
                </a:moveTo>
                <a:lnTo>
                  <a:pt x="18275" y="123177"/>
                </a:lnTo>
                <a:lnTo>
                  <a:pt x="27324" y="116725"/>
                </a:lnTo>
                <a:lnTo>
                  <a:pt x="36356" y="123177"/>
                </a:lnTo>
                <a:close/>
              </a:path>
              <a:path w="641350" h="233680">
                <a:moveTo>
                  <a:pt x="499180" y="218033"/>
                </a:moveTo>
                <a:lnTo>
                  <a:pt x="493471" y="218033"/>
                </a:lnTo>
                <a:lnTo>
                  <a:pt x="493471" y="202597"/>
                </a:lnTo>
                <a:lnTo>
                  <a:pt x="613710" y="116725"/>
                </a:lnTo>
                <a:lnTo>
                  <a:pt x="622744" y="123177"/>
                </a:lnTo>
                <a:lnTo>
                  <a:pt x="631975" y="123177"/>
                </a:lnTo>
                <a:lnTo>
                  <a:pt x="499180" y="218033"/>
                </a:lnTo>
                <a:close/>
              </a:path>
              <a:path w="641350" h="233680">
                <a:moveTo>
                  <a:pt x="163423" y="218033"/>
                </a:moveTo>
                <a:lnTo>
                  <a:pt x="147548" y="218033"/>
                </a:lnTo>
                <a:lnTo>
                  <a:pt x="160096" y="211569"/>
                </a:lnTo>
                <a:lnTo>
                  <a:pt x="147548" y="202606"/>
                </a:lnTo>
                <a:lnTo>
                  <a:pt x="147548" y="159435"/>
                </a:lnTo>
                <a:lnTo>
                  <a:pt x="493471" y="159435"/>
                </a:lnTo>
                <a:lnTo>
                  <a:pt x="493471" y="167373"/>
                </a:lnTo>
                <a:lnTo>
                  <a:pt x="163423" y="167373"/>
                </a:lnTo>
                <a:lnTo>
                  <a:pt x="155486" y="175310"/>
                </a:lnTo>
                <a:lnTo>
                  <a:pt x="163423" y="175310"/>
                </a:lnTo>
                <a:lnTo>
                  <a:pt x="163423" y="218033"/>
                </a:lnTo>
                <a:close/>
              </a:path>
              <a:path w="641350" h="233680">
                <a:moveTo>
                  <a:pt x="163423" y="175310"/>
                </a:moveTo>
                <a:lnTo>
                  <a:pt x="155486" y="175310"/>
                </a:lnTo>
                <a:lnTo>
                  <a:pt x="163423" y="167373"/>
                </a:lnTo>
                <a:lnTo>
                  <a:pt x="163423" y="175310"/>
                </a:lnTo>
                <a:close/>
              </a:path>
              <a:path w="641350" h="233680">
                <a:moveTo>
                  <a:pt x="477596" y="175310"/>
                </a:moveTo>
                <a:lnTo>
                  <a:pt x="163423" y="175310"/>
                </a:lnTo>
                <a:lnTo>
                  <a:pt x="163423" y="167373"/>
                </a:lnTo>
                <a:lnTo>
                  <a:pt x="477596" y="167373"/>
                </a:lnTo>
                <a:lnTo>
                  <a:pt x="477596" y="175310"/>
                </a:lnTo>
                <a:close/>
              </a:path>
              <a:path w="641350" h="233680">
                <a:moveTo>
                  <a:pt x="477596" y="233451"/>
                </a:moveTo>
                <a:lnTo>
                  <a:pt x="477596" y="167373"/>
                </a:lnTo>
                <a:lnTo>
                  <a:pt x="485533" y="175310"/>
                </a:lnTo>
                <a:lnTo>
                  <a:pt x="493471" y="175310"/>
                </a:lnTo>
                <a:lnTo>
                  <a:pt x="493459" y="202606"/>
                </a:lnTo>
                <a:lnTo>
                  <a:pt x="480910" y="211569"/>
                </a:lnTo>
                <a:lnTo>
                  <a:pt x="493471" y="218033"/>
                </a:lnTo>
                <a:lnTo>
                  <a:pt x="499180" y="218033"/>
                </a:lnTo>
                <a:lnTo>
                  <a:pt x="477596" y="233451"/>
                </a:lnTo>
                <a:close/>
              </a:path>
              <a:path w="641350" h="233680">
                <a:moveTo>
                  <a:pt x="493471" y="175310"/>
                </a:moveTo>
                <a:lnTo>
                  <a:pt x="485533" y="175310"/>
                </a:lnTo>
                <a:lnTo>
                  <a:pt x="477596" y="167373"/>
                </a:lnTo>
                <a:lnTo>
                  <a:pt x="493471" y="167373"/>
                </a:lnTo>
                <a:lnTo>
                  <a:pt x="493471" y="175310"/>
                </a:lnTo>
                <a:close/>
              </a:path>
              <a:path w="641350" h="233680">
                <a:moveTo>
                  <a:pt x="493471" y="218033"/>
                </a:moveTo>
                <a:lnTo>
                  <a:pt x="480910" y="211569"/>
                </a:lnTo>
                <a:lnTo>
                  <a:pt x="493471" y="202597"/>
                </a:lnTo>
                <a:lnTo>
                  <a:pt x="493471" y="218033"/>
                </a:lnTo>
                <a:close/>
              </a:path>
              <a:path w="641350" h="233680">
                <a:moveTo>
                  <a:pt x="147548" y="218033"/>
                </a:moveTo>
                <a:lnTo>
                  <a:pt x="147548" y="202606"/>
                </a:lnTo>
                <a:lnTo>
                  <a:pt x="160096" y="211569"/>
                </a:lnTo>
                <a:lnTo>
                  <a:pt x="147548" y="2180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893925" y="2186216"/>
            <a:ext cx="280035" cy="788035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5000"/>
              </a:lnSpc>
            </a:pPr>
            <a:r>
              <a:rPr sz="2000" spc="-5" dirty="0">
                <a:latin typeface="Noto Sans CJK HK"/>
                <a:cs typeface="Noto Sans CJK HK"/>
              </a:rPr>
              <a:t>计算</a:t>
            </a:r>
            <a:r>
              <a:rPr sz="2000" dirty="0">
                <a:latin typeface="Noto Sans CJK HK"/>
                <a:cs typeface="Noto Sans CJK HK"/>
              </a:rPr>
              <a:t>机</a:t>
            </a:r>
            <a:endParaRPr sz="2000">
              <a:latin typeface="Noto Sans CJK HK"/>
              <a:cs typeface="Noto Sans CJK H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91185" y="2059508"/>
            <a:ext cx="1156970" cy="1042035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5000"/>
              </a:lnSpc>
            </a:pPr>
            <a:r>
              <a:rPr sz="2000" spc="-5" dirty="0">
                <a:latin typeface="Noto Sans CJK HK"/>
                <a:cs typeface="Noto Sans CJK HK"/>
              </a:rPr>
              <a:t>串行接</a:t>
            </a:r>
            <a:r>
              <a:rPr sz="2000" dirty="0">
                <a:latin typeface="Noto Sans CJK HK"/>
                <a:cs typeface="Noto Sans CJK HK"/>
              </a:rPr>
              <a:t>口</a:t>
            </a:r>
            <a:endParaRPr sz="2000">
              <a:latin typeface="Noto Sans CJK HK"/>
              <a:cs typeface="Noto Sans CJK HK"/>
            </a:endParaRPr>
          </a:p>
          <a:p>
            <a:pPr marL="139065" marR="5080" indent="-127000">
              <a:lnSpc>
                <a:spcPct val="144000"/>
              </a:lnSpc>
            </a:pPr>
            <a:r>
              <a:rPr sz="2000" spc="-5" dirty="0">
                <a:solidFill>
                  <a:srgbClr val="FF0000"/>
                </a:solidFill>
                <a:latin typeface="Noto Sans CJK HK"/>
                <a:cs typeface="Noto Sans CJK HK"/>
              </a:rPr>
              <a:t>电平转</a:t>
            </a:r>
            <a:r>
              <a:rPr sz="2000" dirty="0">
                <a:solidFill>
                  <a:srgbClr val="FF0000"/>
                </a:solidFill>
                <a:latin typeface="Noto Sans CJK HK"/>
                <a:cs typeface="Noto Sans CJK HK"/>
              </a:rPr>
              <a:t>换</a:t>
            </a:r>
            <a:r>
              <a:rPr sz="2000" spc="-5" dirty="0">
                <a:latin typeface="Noto Sans CJK HK"/>
                <a:cs typeface="Noto Sans CJK HK"/>
              </a:rPr>
              <a:t>连接</a:t>
            </a:r>
            <a:r>
              <a:rPr sz="2000" dirty="0">
                <a:latin typeface="Noto Sans CJK HK"/>
                <a:cs typeface="Noto Sans CJK HK"/>
              </a:rPr>
              <a:t>器</a:t>
            </a:r>
            <a:endParaRPr sz="2000">
              <a:latin typeface="Noto Sans CJK HK"/>
              <a:cs typeface="Noto Sans CJK HK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37861" y="1710867"/>
            <a:ext cx="3084830" cy="1738630"/>
          </a:xfrm>
          <a:custGeom>
            <a:avLst/>
            <a:gdLst/>
            <a:ahLst/>
            <a:cxnLst/>
            <a:rect l="l" t="t" r="r" b="b"/>
            <a:pathLst>
              <a:path w="3084829" h="1738629">
                <a:moveTo>
                  <a:pt x="454228" y="101307"/>
                </a:moveTo>
                <a:lnTo>
                  <a:pt x="438353" y="101307"/>
                </a:lnTo>
                <a:lnTo>
                  <a:pt x="438353" y="117182"/>
                </a:lnTo>
                <a:lnTo>
                  <a:pt x="438353" y="1722170"/>
                </a:lnTo>
                <a:lnTo>
                  <a:pt x="15875" y="1722170"/>
                </a:lnTo>
                <a:lnTo>
                  <a:pt x="15875" y="117182"/>
                </a:lnTo>
                <a:lnTo>
                  <a:pt x="438353" y="117182"/>
                </a:lnTo>
                <a:lnTo>
                  <a:pt x="438353" y="101307"/>
                </a:lnTo>
                <a:lnTo>
                  <a:pt x="0" y="101307"/>
                </a:lnTo>
                <a:lnTo>
                  <a:pt x="0" y="1738045"/>
                </a:lnTo>
                <a:lnTo>
                  <a:pt x="454228" y="1738045"/>
                </a:lnTo>
                <a:lnTo>
                  <a:pt x="454228" y="1730108"/>
                </a:lnTo>
                <a:lnTo>
                  <a:pt x="454228" y="1722170"/>
                </a:lnTo>
                <a:lnTo>
                  <a:pt x="454228" y="117182"/>
                </a:lnTo>
                <a:lnTo>
                  <a:pt x="454228" y="109245"/>
                </a:lnTo>
                <a:lnTo>
                  <a:pt x="454228" y="101307"/>
                </a:lnTo>
                <a:close/>
              </a:path>
              <a:path w="3084829" h="1738629">
                <a:moveTo>
                  <a:pt x="3084347" y="0"/>
                </a:moveTo>
                <a:lnTo>
                  <a:pt x="3068472" y="0"/>
                </a:lnTo>
                <a:lnTo>
                  <a:pt x="3068472" y="15875"/>
                </a:lnTo>
                <a:lnTo>
                  <a:pt x="3068472" y="1722170"/>
                </a:lnTo>
                <a:lnTo>
                  <a:pt x="1067917" y="1722170"/>
                </a:lnTo>
                <a:lnTo>
                  <a:pt x="1067917" y="15875"/>
                </a:lnTo>
                <a:lnTo>
                  <a:pt x="3068472" y="15875"/>
                </a:lnTo>
                <a:lnTo>
                  <a:pt x="3068472" y="0"/>
                </a:lnTo>
                <a:lnTo>
                  <a:pt x="1052042" y="0"/>
                </a:lnTo>
                <a:lnTo>
                  <a:pt x="1052042" y="1738045"/>
                </a:lnTo>
                <a:lnTo>
                  <a:pt x="3084347" y="1738045"/>
                </a:lnTo>
                <a:lnTo>
                  <a:pt x="3084347" y="1730108"/>
                </a:lnTo>
                <a:lnTo>
                  <a:pt x="3084347" y="1722170"/>
                </a:lnTo>
                <a:lnTo>
                  <a:pt x="3084347" y="15875"/>
                </a:lnTo>
                <a:lnTo>
                  <a:pt x="3084347" y="7937"/>
                </a:lnTo>
                <a:lnTo>
                  <a:pt x="30843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410733" y="2130628"/>
            <a:ext cx="307975" cy="100012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MODEM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12912" y="1718805"/>
            <a:ext cx="0" cy="1722755"/>
          </a:xfrm>
          <a:custGeom>
            <a:avLst/>
            <a:gdLst/>
            <a:ahLst/>
            <a:cxnLst/>
            <a:rect l="l" t="t" r="r" b="b"/>
            <a:pathLst>
              <a:path h="1722754">
                <a:moveTo>
                  <a:pt x="0" y="0"/>
                </a:moveTo>
                <a:lnTo>
                  <a:pt x="0" y="1722170"/>
                </a:lnTo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74547" y="1718805"/>
            <a:ext cx="0" cy="1722755"/>
          </a:xfrm>
          <a:custGeom>
            <a:avLst/>
            <a:gdLst/>
            <a:ahLst/>
            <a:cxnLst/>
            <a:rect l="l" t="t" r="r" b="b"/>
            <a:pathLst>
              <a:path h="1722754">
                <a:moveTo>
                  <a:pt x="0" y="0"/>
                </a:moveTo>
                <a:lnTo>
                  <a:pt x="0" y="1722170"/>
                </a:lnTo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36194" y="1718805"/>
            <a:ext cx="0" cy="1722755"/>
          </a:xfrm>
          <a:custGeom>
            <a:avLst/>
            <a:gdLst/>
            <a:ahLst/>
            <a:cxnLst/>
            <a:rect l="l" t="t" r="r" b="b"/>
            <a:pathLst>
              <a:path h="1722754">
                <a:moveTo>
                  <a:pt x="0" y="0"/>
                </a:moveTo>
                <a:lnTo>
                  <a:pt x="0" y="1722170"/>
                </a:lnTo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3618610" y="2318346"/>
            <a:ext cx="2793365" cy="429259"/>
            <a:chOff x="3618610" y="2318346"/>
            <a:chExt cx="2793365" cy="429259"/>
          </a:xfrm>
        </p:grpSpPr>
        <p:sp>
          <p:nvSpPr>
            <p:cNvPr id="23" name="object 23"/>
            <p:cNvSpPr/>
            <p:nvPr/>
          </p:nvSpPr>
          <p:spPr>
            <a:xfrm>
              <a:off x="5770486" y="2513825"/>
              <a:ext cx="641350" cy="233679"/>
            </a:xfrm>
            <a:custGeom>
              <a:avLst/>
              <a:gdLst/>
              <a:ahLst/>
              <a:cxnLst/>
              <a:rect l="l" t="t" r="r" b="b"/>
              <a:pathLst>
                <a:path w="641350" h="233680">
                  <a:moveTo>
                    <a:pt x="163423" y="233451"/>
                  </a:moveTo>
                  <a:lnTo>
                    <a:pt x="0" y="116725"/>
                  </a:lnTo>
                  <a:lnTo>
                    <a:pt x="163423" y="0"/>
                  </a:lnTo>
                  <a:lnTo>
                    <a:pt x="163423" y="15417"/>
                  </a:lnTo>
                  <a:lnTo>
                    <a:pt x="147548" y="15417"/>
                  </a:lnTo>
                  <a:lnTo>
                    <a:pt x="147548" y="30844"/>
                  </a:lnTo>
                  <a:lnTo>
                    <a:pt x="36358" y="110261"/>
                  </a:lnTo>
                  <a:lnTo>
                    <a:pt x="18275" y="110261"/>
                  </a:lnTo>
                  <a:lnTo>
                    <a:pt x="18275" y="123177"/>
                  </a:lnTo>
                  <a:lnTo>
                    <a:pt x="36356" y="123177"/>
                  </a:lnTo>
                  <a:lnTo>
                    <a:pt x="147548" y="202606"/>
                  </a:lnTo>
                  <a:lnTo>
                    <a:pt x="147548" y="218033"/>
                  </a:lnTo>
                  <a:lnTo>
                    <a:pt x="163423" y="218033"/>
                  </a:lnTo>
                  <a:lnTo>
                    <a:pt x="163423" y="233451"/>
                  </a:lnTo>
                  <a:close/>
                </a:path>
                <a:path w="641350" h="233680">
                  <a:moveTo>
                    <a:pt x="477596" y="66065"/>
                  </a:moveTo>
                  <a:lnTo>
                    <a:pt x="477596" y="0"/>
                  </a:lnTo>
                  <a:lnTo>
                    <a:pt x="499180" y="15417"/>
                  </a:lnTo>
                  <a:lnTo>
                    <a:pt x="493471" y="15417"/>
                  </a:lnTo>
                  <a:lnTo>
                    <a:pt x="480923" y="21882"/>
                  </a:lnTo>
                  <a:lnTo>
                    <a:pt x="493471" y="30844"/>
                  </a:lnTo>
                  <a:lnTo>
                    <a:pt x="493471" y="58127"/>
                  </a:lnTo>
                  <a:lnTo>
                    <a:pt x="485533" y="58127"/>
                  </a:lnTo>
                  <a:lnTo>
                    <a:pt x="477596" y="66065"/>
                  </a:lnTo>
                  <a:close/>
                </a:path>
                <a:path w="641350" h="233680">
                  <a:moveTo>
                    <a:pt x="147548" y="30844"/>
                  </a:moveTo>
                  <a:lnTo>
                    <a:pt x="147548" y="15417"/>
                  </a:lnTo>
                  <a:lnTo>
                    <a:pt x="160096" y="21882"/>
                  </a:lnTo>
                  <a:lnTo>
                    <a:pt x="147548" y="30844"/>
                  </a:lnTo>
                  <a:close/>
                </a:path>
                <a:path w="641350" h="233680">
                  <a:moveTo>
                    <a:pt x="493471" y="74002"/>
                  </a:moveTo>
                  <a:lnTo>
                    <a:pt x="147548" y="74002"/>
                  </a:lnTo>
                  <a:lnTo>
                    <a:pt x="147548" y="30844"/>
                  </a:lnTo>
                  <a:lnTo>
                    <a:pt x="160096" y="21882"/>
                  </a:lnTo>
                  <a:lnTo>
                    <a:pt x="147548" y="15417"/>
                  </a:lnTo>
                  <a:lnTo>
                    <a:pt x="163423" y="15417"/>
                  </a:lnTo>
                  <a:lnTo>
                    <a:pt x="163423" y="58127"/>
                  </a:lnTo>
                  <a:lnTo>
                    <a:pt x="155486" y="58127"/>
                  </a:lnTo>
                  <a:lnTo>
                    <a:pt x="163423" y="66065"/>
                  </a:lnTo>
                  <a:lnTo>
                    <a:pt x="493471" y="66065"/>
                  </a:lnTo>
                  <a:lnTo>
                    <a:pt x="493471" y="74002"/>
                  </a:lnTo>
                  <a:close/>
                </a:path>
                <a:path w="641350" h="233680">
                  <a:moveTo>
                    <a:pt x="493471" y="30844"/>
                  </a:moveTo>
                  <a:lnTo>
                    <a:pt x="480923" y="21882"/>
                  </a:lnTo>
                  <a:lnTo>
                    <a:pt x="493471" y="15417"/>
                  </a:lnTo>
                  <a:lnTo>
                    <a:pt x="493471" y="30844"/>
                  </a:lnTo>
                  <a:close/>
                </a:path>
                <a:path w="641350" h="233680">
                  <a:moveTo>
                    <a:pt x="613703" y="116719"/>
                  </a:moveTo>
                  <a:lnTo>
                    <a:pt x="493471" y="30844"/>
                  </a:lnTo>
                  <a:lnTo>
                    <a:pt x="493471" y="15417"/>
                  </a:lnTo>
                  <a:lnTo>
                    <a:pt x="499180" y="15417"/>
                  </a:lnTo>
                  <a:lnTo>
                    <a:pt x="631957" y="110261"/>
                  </a:lnTo>
                  <a:lnTo>
                    <a:pt x="622744" y="110261"/>
                  </a:lnTo>
                  <a:lnTo>
                    <a:pt x="613703" y="116719"/>
                  </a:lnTo>
                  <a:close/>
                </a:path>
                <a:path w="641350" h="233680">
                  <a:moveTo>
                    <a:pt x="163423" y="66065"/>
                  </a:moveTo>
                  <a:lnTo>
                    <a:pt x="155486" y="58127"/>
                  </a:lnTo>
                  <a:lnTo>
                    <a:pt x="163423" y="58127"/>
                  </a:lnTo>
                  <a:lnTo>
                    <a:pt x="163423" y="66065"/>
                  </a:lnTo>
                  <a:close/>
                </a:path>
                <a:path w="641350" h="233680">
                  <a:moveTo>
                    <a:pt x="477596" y="66065"/>
                  </a:moveTo>
                  <a:lnTo>
                    <a:pt x="163423" y="66065"/>
                  </a:lnTo>
                  <a:lnTo>
                    <a:pt x="163423" y="58127"/>
                  </a:lnTo>
                  <a:lnTo>
                    <a:pt x="477596" y="58127"/>
                  </a:lnTo>
                  <a:lnTo>
                    <a:pt x="477596" y="66065"/>
                  </a:lnTo>
                  <a:close/>
                </a:path>
                <a:path w="641350" h="233680">
                  <a:moveTo>
                    <a:pt x="493471" y="66065"/>
                  </a:moveTo>
                  <a:lnTo>
                    <a:pt x="477596" y="66065"/>
                  </a:lnTo>
                  <a:lnTo>
                    <a:pt x="485533" y="58127"/>
                  </a:lnTo>
                  <a:lnTo>
                    <a:pt x="493471" y="58127"/>
                  </a:lnTo>
                  <a:lnTo>
                    <a:pt x="493471" y="66065"/>
                  </a:lnTo>
                  <a:close/>
                </a:path>
                <a:path w="641350" h="233680">
                  <a:moveTo>
                    <a:pt x="18275" y="123177"/>
                  </a:moveTo>
                  <a:lnTo>
                    <a:pt x="18275" y="110261"/>
                  </a:lnTo>
                  <a:lnTo>
                    <a:pt x="27316" y="116719"/>
                  </a:lnTo>
                  <a:lnTo>
                    <a:pt x="18275" y="123177"/>
                  </a:lnTo>
                  <a:close/>
                </a:path>
                <a:path w="641350" h="233680">
                  <a:moveTo>
                    <a:pt x="27316" y="116719"/>
                  </a:moveTo>
                  <a:lnTo>
                    <a:pt x="18275" y="110261"/>
                  </a:lnTo>
                  <a:lnTo>
                    <a:pt x="36358" y="110261"/>
                  </a:lnTo>
                  <a:lnTo>
                    <a:pt x="27316" y="116719"/>
                  </a:lnTo>
                  <a:close/>
                </a:path>
                <a:path w="641350" h="233680">
                  <a:moveTo>
                    <a:pt x="622744" y="123177"/>
                  </a:moveTo>
                  <a:lnTo>
                    <a:pt x="613703" y="116719"/>
                  </a:lnTo>
                  <a:lnTo>
                    <a:pt x="622744" y="110261"/>
                  </a:lnTo>
                  <a:lnTo>
                    <a:pt x="622744" y="123177"/>
                  </a:lnTo>
                  <a:close/>
                </a:path>
                <a:path w="641350" h="233680">
                  <a:moveTo>
                    <a:pt x="631975" y="123177"/>
                  </a:moveTo>
                  <a:lnTo>
                    <a:pt x="622744" y="123177"/>
                  </a:lnTo>
                  <a:lnTo>
                    <a:pt x="622744" y="110261"/>
                  </a:lnTo>
                  <a:lnTo>
                    <a:pt x="631957" y="110261"/>
                  </a:lnTo>
                  <a:lnTo>
                    <a:pt x="641007" y="116725"/>
                  </a:lnTo>
                  <a:lnTo>
                    <a:pt x="631975" y="123177"/>
                  </a:lnTo>
                  <a:close/>
                </a:path>
                <a:path w="641350" h="233680">
                  <a:moveTo>
                    <a:pt x="36356" y="123177"/>
                  </a:moveTo>
                  <a:lnTo>
                    <a:pt x="18275" y="123177"/>
                  </a:lnTo>
                  <a:lnTo>
                    <a:pt x="27324" y="116725"/>
                  </a:lnTo>
                  <a:lnTo>
                    <a:pt x="36356" y="123177"/>
                  </a:lnTo>
                  <a:close/>
                </a:path>
                <a:path w="641350" h="233680">
                  <a:moveTo>
                    <a:pt x="499180" y="218033"/>
                  </a:moveTo>
                  <a:lnTo>
                    <a:pt x="493471" y="218033"/>
                  </a:lnTo>
                  <a:lnTo>
                    <a:pt x="493471" y="202606"/>
                  </a:lnTo>
                  <a:lnTo>
                    <a:pt x="613711" y="116725"/>
                  </a:lnTo>
                  <a:lnTo>
                    <a:pt x="622744" y="123177"/>
                  </a:lnTo>
                  <a:lnTo>
                    <a:pt x="631975" y="123177"/>
                  </a:lnTo>
                  <a:lnTo>
                    <a:pt x="499180" y="218033"/>
                  </a:lnTo>
                  <a:close/>
                </a:path>
                <a:path w="641350" h="233680">
                  <a:moveTo>
                    <a:pt x="163423" y="218033"/>
                  </a:moveTo>
                  <a:lnTo>
                    <a:pt x="147548" y="218033"/>
                  </a:lnTo>
                  <a:lnTo>
                    <a:pt x="160096" y="211569"/>
                  </a:lnTo>
                  <a:lnTo>
                    <a:pt x="147548" y="202606"/>
                  </a:lnTo>
                  <a:lnTo>
                    <a:pt x="147548" y="159435"/>
                  </a:lnTo>
                  <a:lnTo>
                    <a:pt x="493471" y="159435"/>
                  </a:lnTo>
                  <a:lnTo>
                    <a:pt x="493471" y="167373"/>
                  </a:lnTo>
                  <a:lnTo>
                    <a:pt x="163423" y="167373"/>
                  </a:lnTo>
                  <a:lnTo>
                    <a:pt x="155486" y="175310"/>
                  </a:lnTo>
                  <a:lnTo>
                    <a:pt x="163423" y="175310"/>
                  </a:lnTo>
                  <a:lnTo>
                    <a:pt x="163423" y="218033"/>
                  </a:lnTo>
                  <a:close/>
                </a:path>
                <a:path w="641350" h="233680">
                  <a:moveTo>
                    <a:pt x="163423" y="175310"/>
                  </a:moveTo>
                  <a:lnTo>
                    <a:pt x="155486" y="175310"/>
                  </a:lnTo>
                  <a:lnTo>
                    <a:pt x="163423" y="167373"/>
                  </a:lnTo>
                  <a:lnTo>
                    <a:pt x="163423" y="175310"/>
                  </a:lnTo>
                  <a:close/>
                </a:path>
                <a:path w="641350" h="233680">
                  <a:moveTo>
                    <a:pt x="477596" y="175310"/>
                  </a:moveTo>
                  <a:lnTo>
                    <a:pt x="163423" y="175310"/>
                  </a:lnTo>
                  <a:lnTo>
                    <a:pt x="163423" y="167373"/>
                  </a:lnTo>
                  <a:lnTo>
                    <a:pt x="477596" y="167373"/>
                  </a:lnTo>
                  <a:lnTo>
                    <a:pt x="477596" y="175310"/>
                  </a:lnTo>
                  <a:close/>
                </a:path>
                <a:path w="641350" h="233680">
                  <a:moveTo>
                    <a:pt x="477596" y="233451"/>
                  </a:moveTo>
                  <a:lnTo>
                    <a:pt x="477596" y="167373"/>
                  </a:lnTo>
                  <a:lnTo>
                    <a:pt x="485533" y="175310"/>
                  </a:lnTo>
                  <a:lnTo>
                    <a:pt x="493471" y="175310"/>
                  </a:lnTo>
                  <a:lnTo>
                    <a:pt x="493471" y="202606"/>
                  </a:lnTo>
                  <a:lnTo>
                    <a:pt x="480923" y="211569"/>
                  </a:lnTo>
                  <a:lnTo>
                    <a:pt x="493471" y="218033"/>
                  </a:lnTo>
                  <a:lnTo>
                    <a:pt x="499180" y="218033"/>
                  </a:lnTo>
                  <a:lnTo>
                    <a:pt x="477596" y="233451"/>
                  </a:lnTo>
                  <a:close/>
                </a:path>
                <a:path w="641350" h="233680">
                  <a:moveTo>
                    <a:pt x="493471" y="175310"/>
                  </a:moveTo>
                  <a:lnTo>
                    <a:pt x="485533" y="175310"/>
                  </a:lnTo>
                  <a:lnTo>
                    <a:pt x="477596" y="167373"/>
                  </a:lnTo>
                  <a:lnTo>
                    <a:pt x="493471" y="167373"/>
                  </a:lnTo>
                  <a:lnTo>
                    <a:pt x="493471" y="175310"/>
                  </a:lnTo>
                  <a:close/>
                </a:path>
                <a:path w="641350" h="233680">
                  <a:moveTo>
                    <a:pt x="147548" y="218033"/>
                  </a:moveTo>
                  <a:lnTo>
                    <a:pt x="147548" y="202606"/>
                  </a:lnTo>
                  <a:lnTo>
                    <a:pt x="160096" y="211569"/>
                  </a:lnTo>
                  <a:lnTo>
                    <a:pt x="147548" y="218033"/>
                  </a:lnTo>
                  <a:close/>
                </a:path>
                <a:path w="641350" h="233680">
                  <a:moveTo>
                    <a:pt x="493471" y="218033"/>
                  </a:moveTo>
                  <a:lnTo>
                    <a:pt x="480923" y="211569"/>
                  </a:lnTo>
                  <a:lnTo>
                    <a:pt x="493471" y="202606"/>
                  </a:lnTo>
                  <a:lnTo>
                    <a:pt x="493471" y="2180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80459" y="2327147"/>
              <a:ext cx="965200" cy="303530"/>
            </a:xfrm>
            <a:custGeom>
              <a:avLst/>
              <a:gdLst/>
              <a:ahLst/>
              <a:cxnLst/>
              <a:rect l="l" t="t" r="r" b="b"/>
              <a:pathLst>
                <a:path w="965200" h="303530">
                  <a:moveTo>
                    <a:pt x="0" y="303275"/>
                  </a:moveTo>
                  <a:lnTo>
                    <a:pt x="304800" y="181356"/>
                  </a:lnTo>
                  <a:lnTo>
                    <a:pt x="224027" y="169163"/>
                  </a:lnTo>
                  <a:lnTo>
                    <a:pt x="470915" y="94487"/>
                  </a:lnTo>
                  <a:lnTo>
                    <a:pt x="390143" y="85343"/>
                  </a:lnTo>
                  <a:lnTo>
                    <a:pt x="585215" y="0"/>
                  </a:lnTo>
                  <a:lnTo>
                    <a:pt x="964691" y="54863"/>
                  </a:lnTo>
                  <a:lnTo>
                    <a:pt x="624839" y="117347"/>
                  </a:lnTo>
                  <a:lnTo>
                    <a:pt x="739139" y="135635"/>
                  </a:lnTo>
                  <a:lnTo>
                    <a:pt x="417575" y="196595"/>
                  </a:lnTo>
                  <a:lnTo>
                    <a:pt x="516636" y="208787"/>
                  </a:lnTo>
                  <a:lnTo>
                    <a:pt x="0" y="303275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18610" y="2318461"/>
              <a:ext cx="1075055" cy="331470"/>
            </a:xfrm>
            <a:custGeom>
              <a:avLst/>
              <a:gdLst/>
              <a:ahLst/>
              <a:cxnLst/>
              <a:rect l="l" t="t" r="r" b="b"/>
              <a:pathLst>
                <a:path w="1075054" h="331469">
                  <a:moveTo>
                    <a:pt x="493879" y="106991"/>
                  </a:moveTo>
                  <a:lnTo>
                    <a:pt x="421982" y="98018"/>
                  </a:lnTo>
                  <a:lnTo>
                    <a:pt x="646455" y="0"/>
                  </a:lnTo>
                  <a:lnTo>
                    <a:pt x="753189" y="15443"/>
                  </a:lnTo>
                  <a:lnTo>
                    <a:pt x="650735" y="15443"/>
                  </a:lnTo>
                  <a:lnTo>
                    <a:pt x="646429" y="16027"/>
                  </a:lnTo>
                  <a:lnTo>
                    <a:pt x="648658" y="16349"/>
                  </a:lnTo>
                  <a:lnTo>
                    <a:pt x="489522" y="85839"/>
                  </a:lnTo>
                  <a:lnTo>
                    <a:pt x="452627" y="85839"/>
                  </a:lnTo>
                  <a:lnTo>
                    <a:pt x="454825" y="100990"/>
                  </a:lnTo>
                  <a:lnTo>
                    <a:pt x="514080" y="100990"/>
                  </a:lnTo>
                  <a:lnTo>
                    <a:pt x="493879" y="106991"/>
                  </a:lnTo>
                  <a:close/>
                </a:path>
                <a:path w="1075054" h="331469">
                  <a:moveTo>
                    <a:pt x="648658" y="16349"/>
                  </a:moveTo>
                  <a:lnTo>
                    <a:pt x="646429" y="16027"/>
                  </a:lnTo>
                  <a:lnTo>
                    <a:pt x="650735" y="15443"/>
                  </a:lnTo>
                  <a:lnTo>
                    <a:pt x="648658" y="16349"/>
                  </a:lnTo>
                  <a:close/>
                </a:path>
                <a:path w="1075054" h="331469">
                  <a:moveTo>
                    <a:pt x="977174" y="63890"/>
                  </a:moveTo>
                  <a:lnTo>
                    <a:pt x="648658" y="16349"/>
                  </a:lnTo>
                  <a:lnTo>
                    <a:pt x="650735" y="15443"/>
                  </a:lnTo>
                  <a:lnTo>
                    <a:pt x="753189" y="15443"/>
                  </a:lnTo>
                  <a:lnTo>
                    <a:pt x="1027310" y="55105"/>
                  </a:lnTo>
                  <a:lnTo>
                    <a:pt x="1024356" y="55105"/>
                  </a:lnTo>
                  <a:lnTo>
                    <a:pt x="977174" y="63890"/>
                  </a:lnTo>
                  <a:close/>
                </a:path>
                <a:path w="1075054" h="331469">
                  <a:moveTo>
                    <a:pt x="1024674" y="70764"/>
                  </a:moveTo>
                  <a:lnTo>
                    <a:pt x="977174" y="63890"/>
                  </a:lnTo>
                  <a:lnTo>
                    <a:pt x="1024356" y="55105"/>
                  </a:lnTo>
                  <a:lnTo>
                    <a:pt x="1024674" y="70764"/>
                  </a:lnTo>
                  <a:close/>
                </a:path>
                <a:path w="1075054" h="331469">
                  <a:moveTo>
                    <a:pt x="1026974" y="70764"/>
                  </a:moveTo>
                  <a:lnTo>
                    <a:pt x="1024674" y="70764"/>
                  </a:lnTo>
                  <a:lnTo>
                    <a:pt x="1024356" y="55105"/>
                  </a:lnTo>
                  <a:lnTo>
                    <a:pt x="1027310" y="55105"/>
                  </a:lnTo>
                  <a:lnTo>
                    <a:pt x="1074445" y="61925"/>
                  </a:lnTo>
                  <a:lnTo>
                    <a:pt x="1026974" y="70764"/>
                  </a:lnTo>
                  <a:close/>
                </a:path>
                <a:path w="1075054" h="331469">
                  <a:moveTo>
                    <a:pt x="755408" y="145302"/>
                  </a:moveTo>
                  <a:lnTo>
                    <a:pt x="640079" y="126657"/>
                  </a:lnTo>
                  <a:lnTo>
                    <a:pt x="977174" y="63890"/>
                  </a:lnTo>
                  <a:lnTo>
                    <a:pt x="1024674" y="70764"/>
                  </a:lnTo>
                  <a:lnTo>
                    <a:pt x="1026974" y="70764"/>
                  </a:lnTo>
                  <a:lnTo>
                    <a:pt x="771818" y="118275"/>
                  </a:lnTo>
                  <a:lnTo>
                    <a:pt x="687666" y="118275"/>
                  </a:lnTo>
                  <a:lnTo>
                    <a:pt x="687857" y="133908"/>
                  </a:lnTo>
                  <a:lnTo>
                    <a:pt x="784423" y="133908"/>
                  </a:lnTo>
                  <a:lnTo>
                    <a:pt x="803052" y="136918"/>
                  </a:lnTo>
                  <a:lnTo>
                    <a:pt x="800138" y="136918"/>
                  </a:lnTo>
                  <a:lnTo>
                    <a:pt x="755408" y="145302"/>
                  </a:lnTo>
                  <a:close/>
                </a:path>
                <a:path w="1075054" h="331469">
                  <a:moveTo>
                    <a:pt x="454825" y="100990"/>
                  </a:moveTo>
                  <a:lnTo>
                    <a:pt x="452627" y="85839"/>
                  </a:lnTo>
                  <a:lnTo>
                    <a:pt x="481319" y="89421"/>
                  </a:lnTo>
                  <a:lnTo>
                    <a:pt x="454825" y="100990"/>
                  </a:lnTo>
                  <a:close/>
                </a:path>
                <a:path w="1075054" h="331469">
                  <a:moveTo>
                    <a:pt x="481319" y="89421"/>
                  </a:moveTo>
                  <a:lnTo>
                    <a:pt x="452627" y="85839"/>
                  </a:lnTo>
                  <a:lnTo>
                    <a:pt x="489522" y="85839"/>
                  </a:lnTo>
                  <a:lnTo>
                    <a:pt x="481319" y="89421"/>
                  </a:lnTo>
                  <a:close/>
                </a:path>
                <a:path w="1075054" h="331469">
                  <a:moveTo>
                    <a:pt x="514080" y="100990"/>
                  </a:moveTo>
                  <a:lnTo>
                    <a:pt x="454825" y="100990"/>
                  </a:lnTo>
                  <a:lnTo>
                    <a:pt x="481319" y="89421"/>
                  </a:lnTo>
                  <a:lnTo>
                    <a:pt x="535640" y="96202"/>
                  </a:lnTo>
                  <a:lnTo>
                    <a:pt x="530199" y="96202"/>
                  </a:lnTo>
                  <a:lnTo>
                    <a:pt x="514080" y="100990"/>
                  </a:lnTo>
                  <a:close/>
                </a:path>
                <a:path w="1075054" h="331469">
                  <a:moveTo>
                    <a:pt x="531482" y="111683"/>
                  </a:moveTo>
                  <a:lnTo>
                    <a:pt x="493879" y="106991"/>
                  </a:lnTo>
                  <a:lnTo>
                    <a:pt x="530199" y="96202"/>
                  </a:lnTo>
                  <a:lnTo>
                    <a:pt x="531482" y="111683"/>
                  </a:lnTo>
                  <a:close/>
                </a:path>
                <a:path w="1075054" h="331469">
                  <a:moveTo>
                    <a:pt x="533808" y="111683"/>
                  </a:moveTo>
                  <a:lnTo>
                    <a:pt x="531482" y="111683"/>
                  </a:lnTo>
                  <a:lnTo>
                    <a:pt x="530199" y="96202"/>
                  </a:lnTo>
                  <a:lnTo>
                    <a:pt x="535640" y="96202"/>
                  </a:lnTo>
                  <a:lnTo>
                    <a:pt x="571042" y="100622"/>
                  </a:lnTo>
                  <a:lnTo>
                    <a:pt x="533808" y="111683"/>
                  </a:lnTo>
                  <a:close/>
                </a:path>
                <a:path w="1075054" h="331469">
                  <a:moveTo>
                    <a:pt x="336562" y="192847"/>
                  </a:moveTo>
                  <a:lnTo>
                    <a:pt x="249339" y="179628"/>
                  </a:lnTo>
                  <a:lnTo>
                    <a:pt x="493879" y="106991"/>
                  </a:lnTo>
                  <a:lnTo>
                    <a:pt x="531482" y="111683"/>
                  </a:lnTo>
                  <a:lnTo>
                    <a:pt x="533808" y="111683"/>
                  </a:lnTo>
                  <a:lnTo>
                    <a:pt x="339985" y="169265"/>
                  </a:lnTo>
                  <a:lnTo>
                    <a:pt x="286880" y="169265"/>
                  </a:lnTo>
                  <a:lnTo>
                    <a:pt x="287959" y="184721"/>
                  </a:lnTo>
                  <a:lnTo>
                    <a:pt x="356762" y="184721"/>
                  </a:lnTo>
                  <a:lnTo>
                    <a:pt x="336562" y="192847"/>
                  </a:lnTo>
                  <a:close/>
                </a:path>
                <a:path w="1075054" h="331469">
                  <a:moveTo>
                    <a:pt x="687857" y="133908"/>
                  </a:moveTo>
                  <a:lnTo>
                    <a:pt x="687666" y="118275"/>
                  </a:lnTo>
                  <a:lnTo>
                    <a:pt x="732721" y="125554"/>
                  </a:lnTo>
                  <a:lnTo>
                    <a:pt x="687857" y="133908"/>
                  </a:lnTo>
                  <a:close/>
                </a:path>
                <a:path w="1075054" h="331469">
                  <a:moveTo>
                    <a:pt x="732721" y="125554"/>
                  </a:moveTo>
                  <a:lnTo>
                    <a:pt x="687666" y="118275"/>
                  </a:lnTo>
                  <a:lnTo>
                    <a:pt x="771818" y="118275"/>
                  </a:lnTo>
                  <a:lnTo>
                    <a:pt x="732721" y="125554"/>
                  </a:lnTo>
                  <a:close/>
                </a:path>
                <a:path w="1075054" h="331469">
                  <a:moveTo>
                    <a:pt x="784423" y="133908"/>
                  </a:moveTo>
                  <a:lnTo>
                    <a:pt x="687857" y="133908"/>
                  </a:lnTo>
                  <a:lnTo>
                    <a:pt x="732721" y="125554"/>
                  </a:lnTo>
                  <a:lnTo>
                    <a:pt x="784423" y="133908"/>
                  </a:lnTo>
                  <a:close/>
                </a:path>
                <a:path w="1075054" h="331469">
                  <a:moveTo>
                    <a:pt x="800328" y="152565"/>
                  </a:moveTo>
                  <a:lnTo>
                    <a:pt x="755408" y="145302"/>
                  </a:lnTo>
                  <a:lnTo>
                    <a:pt x="800138" y="136918"/>
                  </a:lnTo>
                  <a:lnTo>
                    <a:pt x="800328" y="152565"/>
                  </a:lnTo>
                  <a:close/>
                </a:path>
                <a:path w="1075054" h="331469">
                  <a:moveTo>
                    <a:pt x="802850" y="152565"/>
                  </a:moveTo>
                  <a:lnTo>
                    <a:pt x="800328" y="152565"/>
                  </a:lnTo>
                  <a:lnTo>
                    <a:pt x="800138" y="136918"/>
                  </a:lnTo>
                  <a:lnTo>
                    <a:pt x="803052" y="136918"/>
                  </a:lnTo>
                  <a:lnTo>
                    <a:pt x="847775" y="144144"/>
                  </a:lnTo>
                  <a:lnTo>
                    <a:pt x="802850" y="152565"/>
                  </a:lnTo>
                  <a:close/>
                </a:path>
                <a:path w="1075054" h="331469">
                  <a:moveTo>
                    <a:pt x="527647" y="219264"/>
                  </a:moveTo>
                  <a:lnTo>
                    <a:pt x="429844" y="206324"/>
                  </a:lnTo>
                  <a:lnTo>
                    <a:pt x="755408" y="145302"/>
                  </a:lnTo>
                  <a:lnTo>
                    <a:pt x="800328" y="152565"/>
                  </a:lnTo>
                  <a:lnTo>
                    <a:pt x="802850" y="152565"/>
                  </a:lnTo>
                  <a:lnTo>
                    <a:pt x="565213" y="197103"/>
                  </a:lnTo>
                  <a:lnTo>
                    <a:pt x="481177" y="197103"/>
                  </a:lnTo>
                  <a:lnTo>
                    <a:pt x="481596" y="212775"/>
                  </a:lnTo>
                  <a:lnTo>
                    <a:pt x="563338" y="212775"/>
                  </a:lnTo>
                  <a:lnTo>
                    <a:pt x="527647" y="219264"/>
                  </a:lnTo>
                  <a:close/>
                </a:path>
                <a:path w="1075054" h="331469">
                  <a:moveTo>
                    <a:pt x="287959" y="184721"/>
                  </a:moveTo>
                  <a:lnTo>
                    <a:pt x="286880" y="169265"/>
                  </a:lnTo>
                  <a:lnTo>
                    <a:pt x="322051" y="174593"/>
                  </a:lnTo>
                  <a:lnTo>
                    <a:pt x="287959" y="184721"/>
                  </a:lnTo>
                  <a:close/>
                </a:path>
                <a:path w="1075054" h="331469">
                  <a:moveTo>
                    <a:pt x="322051" y="174593"/>
                  </a:moveTo>
                  <a:lnTo>
                    <a:pt x="286880" y="169265"/>
                  </a:lnTo>
                  <a:lnTo>
                    <a:pt x="339985" y="169265"/>
                  </a:lnTo>
                  <a:lnTo>
                    <a:pt x="322051" y="174593"/>
                  </a:lnTo>
                  <a:close/>
                </a:path>
                <a:path w="1075054" h="331469">
                  <a:moveTo>
                    <a:pt x="356762" y="184721"/>
                  </a:moveTo>
                  <a:lnTo>
                    <a:pt x="287959" y="184721"/>
                  </a:lnTo>
                  <a:lnTo>
                    <a:pt x="322051" y="174593"/>
                  </a:lnTo>
                  <a:lnTo>
                    <a:pt x="370885" y="181990"/>
                  </a:lnTo>
                  <a:lnTo>
                    <a:pt x="363550" y="181990"/>
                  </a:lnTo>
                  <a:lnTo>
                    <a:pt x="356762" y="184721"/>
                  </a:lnTo>
                  <a:close/>
                </a:path>
                <a:path w="1075054" h="331469">
                  <a:moveTo>
                    <a:pt x="365315" y="197205"/>
                  </a:moveTo>
                  <a:lnTo>
                    <a:pt x="336562" y="192847"/>
                  </a:lnTo>
                  <a:lnTo>
                    <a:pt x="363550" y="181990"/>
                  </a:lnTo>
                  <a:lnTo>
                    <a:pt x="365315" y="197205"/>
                  </a:lnTo>
                  <a:close/>
                </a:path>
                <a:path w="1075054" h="331469">
                  <a:moveTo>
                    <a:pt x="368266" y="197205"/>
                  </a:moveTo>
                  <a:lnTo>
                    <a:pt x="365315" y="197205"/>
                  </a:lnTo>
                  <a:lnTo>
                    <a:pt x="363550" y="181990"/>
                  </a:lnTo>
                  <a:lnTo>
                    <a:pt x="370885" y="181990"/>
                  </a:lnTo>
                  <a:lnTo>
                    <a:pt x="396455" y="185864"/>
                  </a:lnTo>
                  <a:lnTo>
                    <a:pt x="368266" y="197205"/>
                  </a:lnTo>
                  <a:close/>
                </a:path>
                <a:path w="1075054" h="331469">
                  <a:moveTo>
                    <a:pt x="850" y="331165"/>
                  </a:moveTo>
                  <a:lnTo>
                    <a:pt x="0" y="328244"/>
                  </a:lnTo>
                  <a:lnTo>
                    <a:pt x="336562" y="192847"/>
                  </a:lnTo>
                  <a:lnTo>
                    <a:pt x="365315" y="197205"/>
                  </a:lnTo>
                  <a:lnTo>
                    <a:pt x="368266" y="197205"/>
                  </a:lnTo>
                  <a:lnTo>
                    <a:pt x="136845" y="290310"/>
                  </a:lnTo>
                  <a:lnTo>
                    <a:pt x="60007" y="304279"/>
                  </a:lnTo>
                  <a:lnTo>
                    <a:pt x="64401" y="319455"/>
                  </a:lnTo>
                  <a:lnTo>
                    <a:pt x="65257" y="319455"/>
                  </a:lnTo>
                  <a:lnTo>
                    <a:pt x="850" y="331165"/>
                  </a:lnTo>
                  <a:close/>
                </a:path>
                <a:path w="1075054" h="331469">
                  <a:moveTo>
                    <a:pt x="481596" y="212775"/>
                  </a:moveTo>
                  <a:lnTo>
                    <a:pt x="481177" y="197103"/>
                  </a:lnTo>
                  <a:lnTo>
                    <a:pt x="530440" y="203621"/>
                  </a:lnTo>
                  <a:lnTo>
                    <a:pt x="481596" y="212775"/>
                  </a:lnTo>
                  <a:close/>
                </a:path>
                <a:path w="1075054" h="331469">
                  <a:moveTo>
                    <a:pt x="530440" y="203621"/>
                  </a:moveTo>
                  <a:lnTo>
                    <a:pt x="481177" y="197103"/>
                  </a:lnTo>
                  <a:lnTo>
                    <a:pt x="565213" y="197103"/>
                  </a:lnTo>
                  <a:lnTo>
                    <a:pt x="530440" y="203621"/>
                  </a:lnTo>
                  <a:close/>
                </a:path>
                <a:path w="1075054" h="331469">
                  <a:moveTo>
                    <a:pt x="563338" y="212775"/>
                  </a:moveTo>
                  <a:lnTo>
                    <a:pt x="481596" y="212775"/>
                  </a:lnTo>
                  <a:lnTo>
                    <a:pt x="530440" y="203621"/>
                  </a:lnTo>
                  <a:lnTo>
                    <a:pt x="580341" y="210223"/>
                  </a:lnTo>
                  <a:lnTo>
                    <a:pt x="577380" y="210223"/>
                  </a:lnTo>
                  <a:lnTo>
                    <a:pt x="563338" y="212775"/>
                  </a:lnTo>
                  <a:close/>
                </a:path>
                <a:path w="1075054" h="331469">
                  <a:moveTo>
                    <a:pt x="577761" y="225894"/>
                  </a:moveTo>
                  <a:lnTo>
                    <a:pt x="527647" y="219264"/>
                  </a:lnTo>
                  <a:lnTo>
                    <a:pt x="577380" y="210223"/>
                  </a:lnTo>
                  <a:lnTo>
                    <a:pt x="577761" y="225894"/>
                  </a:lnTo>
                  <a:close/>
                </a:path>
                <a:path w="1075054" h="331469">
                  <a:moveTo>
                    <a:pt x="579884" y="225894"/>
                  </a:moveTo>
                  <a:lnTo>
                    <a:pt x="577761" y="225894"/>
                  </a:lnTo>
                  <a:lnTo>
                    <a:pt x="577380" y="210223"/>
                  </a:lnTo>
                  <a:lnTo>
                    <a:pt x="580341" y="210223"/>
                  </a:lnTo>
                  <a:lnTo>
                    <a:pt x="629970" y="216788"/>
                  </a:lnTo>
                  <a:lnTo>
                    <a:pt x="579884" y="225894"/>
                  </a:lnTo>
                  <a:close/>
                </a:path>
                <a:path w="1075054" h="331469">
                  <a:moveTo>
                    <a:pt x="65257" y="319455"/>
                  </a:moveTo>
                  <a:lnTo>
                    <a:pt x="64401" y="319455"/>
                  </a:lnTo>
                  <a:lnTo>
                    <a:pt x="136845" y="290310"/>
                  </a:lnTo>
                  <a:lnTo>
                    <a:pt x="527647" y="219264"/>
                  </a:lnTo>
                  <a:lnTo>
                    <a:pt x="577761" y="225894"/>
                  </a:lnTo>
                  <a:lnTo>
                    <a:pt x="579884" y="225894"/>
                  </a:lnTo>
                  <a:lnTo>
                    <a:pt x="65257" y="319455"/>
                  </a:lnTo>
                  <a:close/>
                </a:path>
                <a:path w="1075054" h="331469">
                  <a:moveTo>
                    <a:pt x="64401" y="319455"/>
                  </a:moveTo>
                  <a:lnTo>
                    <a:pt x="60007" y="304279"/>
                  </a:lnTo>
                  <a:lnTo>
                    <a:pt x="136845" y="290310"/>
                  </a:lnTo>
                  <a:lnTo>
                    <a:pt x="64401" y="3194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556759" y="2327147"/>
              <a:ext cx="789940" cy="303530"/>
            </a:xfrm>
            <a:custGeom>
              <a:avLst/>
              <a:gdLst/>
              <a:ahLst/>
              <a:cxnLst/>
              <a:rect l="l" t="t" r="r" b="b"/>
              <a:pathLst>
                <a:path w="789939" h="303530">
                  <a:moveTo>
                    <a:pt x="789431" y="303275"/>
                  </a:moveTo>
                  <a:lnTo>
                    <a:pt x="365760" y="208787"/>
                  </a:lnTo>
                  <a:lnTo>
                    <a:pt x="446531" y="196595"/>
                  </a:lnTo>
                  <a:lnTo>
                    <a:pt x="182879" y="135635"/>
                  </a:lnTo>
                  <a:lnTo>
                    <a:pt x="277367" y="117347"/>
                  </a:lnTo>
                  <a:lnTo>
                    <a:pt x="0" y="54863"/>
                  </a:lnTo>
                  <a:lnTo>
                    <a:pt x="309372" y="0"/>
                  </a:lnTo>
                  <a:lnTo>
                    <a:pt x="469391" y="85343"/>
                  </a:lnTo>
                  <a:lnTo>
                    <a:pt x="403860" y="94487"/>
                  </a:lnTo>
                  <a:lnTo>
                    <a:pt x="605027" y="169163"/>
                  </a:lnTo>
                  <a:lnTo>
                    <a:pt x="539495" y="181356"/>
                  </a:lnTo>
                  <a:lnTo>
                    <a:pt x="789431" y="303275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16691" y="2318346"/>
              <a:ext cx="889635" cy="334010"/>
            </a:xfrm>
            <a:custGeom>
              <a:avLst/>
              <a:gdLst/>
              <a:ahLst/>
              <a:cxnLst/>
              <a:rect l="l" t="t" r="r" b="b"/>
              <a:pathLst>
                <a:path w="889635" h="334010">
                  <a:moveTo>
                    <a:pt x="279589" y="125672"/>
                  </a:moveTo>
                  <a:lnTo>
                    <a:pt x="0" y="62039"/>
                  </a:lnTo>
                  <a:lnTo>
                    <a:pt x="350862" y="0"/>
                  </a:lnTo>
                  <a:lnTo>
                    <a:pt x="379514" y="15290"/>
                  </a:lnTo>
                  <a:lnTo>
                    <a:pt x="345808" y="15290"/>
                  </a:lnTo>
                  <a:lnTo>
                    <a:pt x="348226" y="16581"/>
                  </a:lnTo>
                  <a:lnTo>
                    <a:pt x="129403" y="55283"/>
                  </a:lnTo>
                  <a:lnTo>
                    <a:pt x="41821" y="55283"/>
                  </a:lnTo>
                  <a:lnTo>
                    <a:pt x="41440" y="70840"/>
                  </a:lnTo>
                  <a:lnTo>
                    <a:pt x="110181" y="70840"/>
                  </a:lnTo>
                  <a:lnTo>
                    <a:pt x="319335" y="118440"/>
                  </a:lnTo>
                  <a:lnTo>
                    <a:pt x="316217" y="118440"/>
                  </a:lnTo>
                  <a:lnTo>
                    <a:pt x="279589" y="125672"/>
                  </a:lnTo>
                  <a:close/>
                </a:path>
                <a:path w="889635" h="334010">
                  <a:moveTo>
                    <a:pt x="348226" y="16581"/>
                  </a:moveTo>
                  <a:lnTo>
                    <a:pt x="345808" y="15290"/>
                  </a:lnTo>
                  <a:lnTo>
                    <a:pt x="350926" y="16103"/>
                  </a:lnTo>
                  <a:lnTo>
                    <a:pt x="348226" y="16581"/>
                  </a:lnTo>
                  <a:close/>
                </a:path>
                <a:path w="889635" h="334010">
                  <a:moveTo>
                    <a:pt x="485023" y="89592"/>
                  </a:moveTo>
                  <a:lnTo>
                    <a:pt x="348226" y="16581"/>
                  </a:lnTo>
                  <a:lnTo>
                    <a:pt x="350926" y="16103"/>
                  </a:lnTo>
                  <a:lnTo>
                    <a:pt x="345808" y="15290"/>
                  </a:lnTo>
                  <a:lnTo>
                    <a:pt x="379514" y="15290"/>
                  </a:lnTo>
                  <a:lnTo>
                    <a:pt x="511990" y="85991"/>
                  </a:lnTo>
                  <a:lnTo>
                    <a:pt x="508635" y="85991"/>
                  </a:lnTo>
                  <a:lnTo>
                    <a:pt x="485023" y="89592"/>
                  </a:lnTo>
                  <a:close/>
                </a:path>
                <a:path w="889635" h="334010">
                  <a:moveTo>
                    <a:pt x="41440" y="70840"/>
                  </a:moveTo>
                  <a:lnTo>
                    <a:pt x="41821" y="55283"/>
                  </a:lnTo>
                  <a:lnTo>
                    <a:pt x="80120" y="63999"/>
                  </a:lnTo>
                  <a:lnTo>
                    <a:pt x="41440" y="70840"/>
                  </a:lnTo>
                  <a:close/>
                </a:path>
                <a:path w="889635" h="334010">
                  <a:moveTo>
                    <a:pt x="80120" y="63999"/>
                  </a:moveTo>
                  <a:lnTo>
                    <a:pt x="41821" y="55283"/>
                  </a:lnTo>
                  <a:lnTo>
                    <a:pt x="129403" y="55283"/>
                  </a:lnTo>
                  <a:lnTo>
                    <a:pt x="80120" y="63999"/>
                  </a:lnTo>
                  <a:close/>
                </a:path>
                <a:path w="889635" h="334010">
                  <a:moveTo>
                    <a:pt x="110181" y="70840"/>
                  </a:moveTo>
                  <a:lnTo>
                    <a:pt x="41440" y="70840"/>
                  </a:lnTo>
                  <a:lnTo>
                    <a:pt x="80120" y="63999"/>
                  </a:lnTo>
                  <a:lnTo>
                    <a:pt x="110181" y="70840"/>
                  </a:lnTo>
                  <a:close/>
                </a:path>
                <a:path w="889635" h="334010">
                  <a:moveTo>
                    <a:pt x="506095" y="100837"/>
                  </a:moveTo>
                  <a:lnTo>
                    <a:pt x="485023" y="89592"/>
                  </a:lnTo>
                  <a:lnTo>
                    <a:pt x="508635" y="85991"/>
                  </a:lnTo>
                  <a:lnTo>
                    <a:pt x="506095" y="100837"/>
                  </a:lnTo>
                  <a:close/>
                </a:path>
                <a:path w="889635" h="334010">
                  <a:moveTo>
                    <a:pt x="516580" y="100837"/>
                  </a:moveTo>
                  <a:lnTo>
                    <a:pt x="506095" y="100837"/>
                  </a:lnTo>
                  <a:lnTo>
                    <a:pt x="508635" y="85991"/>
                  </a:lnTo>
                  <a:lnTo>
                    <a:pt x="511990" y="85991"/>
                  </a:lnTo>
                  <a:lnTo>
                    <a:pt x="534644" y="98082"/>
                  </a:lnTo>
                  <a:lnTo>
                    <a:pt x="516580" y="100837"/>
                  </a:lnTo>
                  <a:close/>
                </a:path>
                <a:path w="889635" h="334010">
                  <a:moveTo>
                    <a:pt x="615489" y="174730"/>
                  </a:moveTo>
                  <a:lnTo>
                    <a:pt x="411772" y="100761"/>
                  </a:lnTo>
                  <a:lnTo>
                    <a:pt x="485023" y="89592"/>
                  </a:lnTo>
                  <a:lnTo>
                    <a:pt x="497885" y="96456"/>
                  </a:lnTo>
                  <a:lnTo>
                    <a:pt x="446417" y="96456"/>
                  </a:lnTo>
                  <a:lnTo>
                    <a:pt x="444906" y="111772"/>
                  </a:lnTo>
                  <a:lnTo>
                    <a:pt x="488602" y="111772"/>
                  </a:lnTo>
                  <a:lnTo>
                    <a:pt x="647373" y="169417"/>
                  </a:lnTo>
                  <a:lnTo>
                    <a:pt x="644169" y="169417"/>
                  </a:lnTo>
                  <a:lnTo>
                    <a:pt x="615489" y="174730"/>
                  </a:lnTo>
                  <a:close/>
                </a:path>
                <a:path w="889635" h="334010">
                  <a:moveTo>
                    <a:pt x="444906" y="111772"/>
                  </a:moveTo>
                  <a:lnTo>
                    <a:pt x="446417" y="96456"/>
                  </a:lnTo>
                  <a:lnTo>
                    <a:pt x="475674" y="107078"/>
                  </a:lnTo>
                  <a:lnTo>
                    <a:pt x="444906" y="111772"/>
                  </a:lnTo>
                  <a:close/>
                </a:path>
                <a:path w="889635" h="334010">
                  <a:moveTo>
                    <a:pt x="475674" y="107078"/>
                  </a:moveTo>
                  <a:lnTo>
                    <a:pt x="446417" y="96456"/>
                  </a:lnTo>
                  <a:lnTo>
                    <a:pt x="497885" y="96456"/>
                  </a:lnTo>
                  <a:lnTo>
                    <a:pt x="506095" y="100837"/>
                  </a:lnTo>
                  <a:lnTo>
                    <a:pt x="516580" y="100837"/>
                  </a:lnTo>
                  <a:lnTo>
                    <a:pt x="475674" y="107078"/>
                  </a:lnTo>
                  <a:close/>
                </a:path>
                <a:path w="889635" h="334010">
                  <a:moveTo>
                    <a:pt x="488602" y="111772"/>
                  </a:moveTo>
                  <a:lnTo>
                    <a:pt x="444906" y="111772"/>
                  </a:lnTo>
                  <a:lnTo>
                    <a:pt x="475674" y="107078"/>
                  </a:lnTo>
                  <a:lnTo>
                    <a:pt x="488602" y="111772"/>
                  </a:lnTo>
                  <a:close/>
                </a:path>
                <a:path w="889635" h="334010">
                  <a:moveTo>
                    <a:pt x="316001" y="133959"/>
                  </a:moveTo>
                  <a:lnTo>
                    <a:pt x="279589" y="125672"/>
                  </a:lnTo>
                  <a:lnTo>
                    <a:pt x="316217" y="118440"/>
                  </a:lnTo>
                  <a:lnTo>
                    <a:pt x="316001" y="133959"/>
                  </a:lnTo>
                  <a:close/>
                </a:path>
                <a:path w="889635" h="334010">
                  <a:moveTo>
                    <a:pt x="319557" y="133959"/>
                  </a:moveTo>
                  <a:lnTo>
                    <a:pt x="316001" y="133959"/>
                  </a:lnTo>
                  <a:lnTo>
                    <a:pt x="316217" y="118440"/>
                  </a:lnTo>
                  <a:lnTo>
                    <a:pt x="319335" y="118440"/>
                  </a:lnTo>
                  <a:lnTo>
                    <a:pt x="355942" y="126771"/>
                  </a:lnTo>
                  <a:lnTo>
                    <a:pt x="319557" y="133959"/>
                  </a:lnTo>
                  <a:close/>
                </a:path>
                <a:path w="889635" h="334010">
                  <a:moveTo>
                    <a:pt x="445121" y="203746"/>
                  </a:moveTo>
                  <a:lnTo>
                    <a:pt x="185458" y="144259"/>
                  </a:lnTo>
                  <a:lnTo>
                    <a:pt x="279589" y="125672"/>
                  </a:lnTo>
                  <a:lnTo>
                    <a:pt x="316001" y="133959"/>
                  </a:lnTo>
                  <a:lnTo>
                    <a:pt x="319557" y="133959"/>
                  </a:lnTo>
                  <a:lnTo>
                    <a:pt x="303678" y="137096"/>
                  </a:lnTo>
                  <a:lnTo>
                    <a:pt x="225285" y="137096"/>
                  </a:lnTo>
                  <a:lnTo>
                    <a:pt x="225056" y="152628"/>
                  </a:lnTo>
                  <a:lnTo>
                    <a:pt x="293089" y="152628"/>
                  </a:lnTo>
                  <a:lnTo>
                    <a:pt x="487910" y="197256"/>
                  </a:lnTo>
                  <a:lnTo>
                    <a:pt x="485175" y="197269"/>
                  </a:lnTo>
                  <a:lnTo>
                    <a:pt x="445121" y="203746"/>
                  </a:lnTo>
                  <a:close/>
                </a:path>
                <a:path w="889635" h="334010">
                  <a:moveTo>
                    <a:pt x="225056" y="152628"/>
                  </a:moveTo>
                  <a:lnTo>
                    <a:pt x="225285" y="137096"/>
                  </a:lnTo>
                  <a:lnTo>
                    <a:pt x="261586" y="145412"/>
                  </a:lnTo>
                  <a:lnTo>
                    <a:pt x="225056" y="152628"/>
                  </a:lnTo>
                  <a:close/>
                </a:path>
                <a:path w="889635" h="334010">
                  <a:moveTo>
                    <a:pt x="261586" y="145412"/>
                  </a:moveTo>
                  <a:lnTo>
                    <a:pt x="225285" y="137096"/>
                  </a:lnTo>
                  <a:lnTo>
                    <a:pt x="303678" y="137096"/>
                  </a:lnTo>
                  <a:lnTo>
                    <a:pt x="261586" y="145412"/>
                  </a:lnTo>
                  <a:close/>
                </a:path>
                <a:path w="889635" h="334010">
                  <a:moveTo>
                    <a:pt x="293089" y="152628"/>
                  </a:moveTo>
                  <a:lnTo>
                    <a:pt x="225056" y="152628"/>
                  </a:lnTo>
                  <a:lnTo>
                    <a:pt x="261586" y="145412"/>
                  </a:lnTo>
                  <a:lnTo>
                    <a:pt x="293089" y="152628"/>
                  </a:lnTo>
                  <a:close/>
                </a:path>
                <a:path w="889635" h="334010">
                  <a:moveTo>
                    <a:pt x="642899" y="184683"/>
                  </a:moveTo>
                  <a:lnTo>
                    <a:pt x="615489" y="174730"/>
                  </a:lnTo>
                  <a:lnTo>
                    <a:pt x="644169" y="169417"/>
                  </a:lnTo>
                  <a:lnTo>
                    <a:pt x="642899" y="184683"/>
                  </a:lnTo>
                  <a:close/>
                </a:path>
                <a:path w="889635" h="334010">
                  <a:moveTo>
                    <a:pt x="648918" y="184683"/>
                  </a:moveTo>
                  <a:lnTo>
                    <a:pt x="642899" y="184683"/>
                  </a:lnTo>
                  <a:lnTo>
                    <a:pt x="644169" y="169417"/>
                  </a:lnTo>
                  <a:lnTo>
                    <a:pt x="647373" y="169417"/>
                  </a:lnTo>
                  <a:lnTo>
                    <a:pt x="675741" y="179717"/>
                  </a:lnTo>
                  <a:lnTo>
                    <a:pt x="648918" y="184683"/>
                  </a:lnTo>
                  <a:close/>
                </a:path>
                <a:path w="889635" h="334010">
                  <a:moveTo>
                    <a:pt x="861580" y="319328"/>
                  </a:moveTo>
                  <a:lnTo>
                    <a:pt x="825601" y="319328"/>
                  </a:lnTo>
                  <a:lnTo>
                    <a:pt x="830821" y="304457"/>
                  </a:lnTo>
                  <a:lnTo>
                    <a:pt x="766113" y="290079"/>
                  </a:lnTo>
                  <a:lnTo>
                    <a:pt x="554494" y="186029"/>
                  </a:lnTo>
                  <a:lnTo>
                    <a:pt x="615489" y="174730"/>
                  </a:lnTo>
                  <a:lnTo>
                    <a:pt x="636463" y="182346"/>
                  </a:lnTo>
                  <a:lnTo>
                    <a:pt x="582993" y="182346"/>
                  </a:lnTo>
                  <a:lnTo>
                    <a:pt x="580936" y="197269"/>
                  </a:lnTo>
                  <a:lnTo>
                    <a:pt x="613342" y="197269"/>
                  </a:lnTo>
                  <a:lnTo>
                    <a:pt x="861580" y="319328"/>
                  </a:lnTo>
                  <a:close/>
                </a:path>
                <a:path w="889635" h="334010">
                  <a:moveTo>
                    <a:pt x="580936" y="197269"/>
                  </a:moveTo>
                  <a:lnTo>
                    <a:pt x="582993" y="182346"/>
                  </a:lnTo>
                  <a:lnTo>
                    <a:pt x="604478" y="192910"/>
                  </a:lnTo>
                  <a:lnTo>
                    <a:pt x="580936" y="197269"/>
                  </a:lnTo>
                  <a:close/>
                </a:path>
                <a:path w="889635" h="334010">
                  <a:moveTo>
                    <a:pt x="604478" y="192910"/>
                  </a:moveTo>
                  <a:lnTo>
                    <a:pt x="582993" y="182346"/>
                  </a:lnTo>
                  <a:lnTo>
                    <a:pt x="636463" y="182346"/>
                  </a:lnTo>
                  <a:lnTo>
                    <a:pt x="642899" y="184683"/>
                  </a:lnTo>
                  <a:lnTo>
                    <a:pt x="648918" y="184683"/>
                  </a:lnTo>
                  <a:lnTo>
                    <a:pt x="604478" y="192910"/>
                  </a:lnTo>
                  <a:close/>
                </a:path>
                <a:path w="889635" h="334010">
                  <a:moveTo>
                    <a:pt x="613342" y="197269"/>
                  </a:moveTo>
                  <a:lnTo>
                    <a:pt x="580936" y="197269"/>
                  </a:lnTo>
                  <a:lnTo>
                    <a:pt x="604478" y="192910"/>
                  </a:lnTo>
                  <a:lnTo>
                    <a:pt x="613342" y="197269"/>
                  </a:lnTo>
                  <a:close/>
                </a:path>
                <a:path w="889635" h="334010">
                  <a:moveTo>
                    <a:pt x="484759" y="212826"/>
                  </a:moveTo>
                  <a:lnTo>
                    <a:pt x="445121" y="203746"/>
                  </a:lnTo>
                  <a:lnTo>
                    <a:pt x="485254" y="197256"/>
                  </a:lnTo>
                  <a:lnTo>
                    <a:pt x="484759" y="212826"/>
                  </a:lnTo>
                  <a:close/>
                </a:path>
                <a:path w="889635" h="334010">
                  <a:moveTo>
                    <a:pt x="488378" y="212826"/>
                  </a:moveTo>
                  <a:lnTo>
                    <a:pt x="484759" y="212826"/>
                  </a:lnTo>
                  <a:lnTo>
                    <a:pt x="485254" y="197256"/>
                  </a:lnTo>
                  <a:lnTo>
                    <a:pt x="487965" y="197269"/>
                  </a:lnTo>
                  <a:lnTo>
                    <a:pt x="527938" y="206425"/>
                  </a:lnTo>
                  <a:lnTo>
                    <a:pt x="488378" y="212826"/>
                  </a:lnTo>
                  <a:close/>
                </a:path>
                <a:path w="889635" h="334010">
                  <a:moveTo>
                    <a:pt x="888885" y="333616"/>
                  </a:moveTo>
                  <a:lnTo>
                    <a:pt x="363677" y="216915"/>
                  </a:lnTo>
                  <a:lnTo>
                    <a:pt x="445121" y="203746"/>
                  </a:lnTo>
                  <a:lnTo>
                    <a:pt x="474170" y="210400"/>
                  </a:lnTo>
                  <a:lnTo>
                    <a:pt x="407517" y="210400"/>
                  </a:lnTo>
                  <a:lnTo>
                    <a:pt x="407060" y="225983"/>
                  </a:lnTo>
                  <a:lnTo>
                    <a:pt x="477649" y="225983"/>
                  </a:lnTo>
                  <a:lnTo>
                    <a:pt x="766113" y="290079"/>
                  </a:lnTo>
                  <a:lnTo>
                    <a:pt x="825601" y="319328"/>
                  </a:lnTo>
                  <a:lnTo>
                    <a:pt x="861580" y="319328"/>
                  </a:lnTo>
                  <a:lnTo>
                    <a:pt x="889139" y="332879"/>
                  </a:lnTo>
                  <a:lnTo>
                    <a:pt x="888885" y="333616"/>
                  </a:lnTo>
                  <a:close/>
                </a:path>
                <a:path w="889635" h="334010">
                  <a:moveTo>
                    <a:pt x="407060" y="225983"/>
                  </a:moveTo>
                  <a:lnTo>
                    <a:pt x="407517" y="210400"/>
                  </a:lnTo>
                  <a:lnTo>
                    <a:pt x="447906" y="219375"/>
                  </a:lnTo>
                  <a:lnTo>
                    <a:pt x="407060" y="225983"/>
                  </a:lnTo>
                  <a:close/>
                </a:path>
                <a:path w="889635" h="334010">
                  <a:moveTo>
                    <a:pt x="447906" y="219375"/>
                  </a:moveTo>
                  <a:lnTo>
                    <a:pt x="407517" y="210400"/>
                  </a:lnTo>
                  <a:lnTo>
                    <a:pt x="474170" y="210400"/>
                  </a:lnTo>
                  <a:lnTo>
                    <a:pt x="484759" y="212826"/>
                  </a:lnTo>
                  <a:lnTo>
                    <a:pt x="488378" y="212826"/>
                  </a:lnTo>
                  <a:lnTo>
                    <a:pt x="447906" y="219375"/>
                  </a:lnTo>
                  <a:close/>
                </a:path>
                <a:path w="889635" h="334010">
                  <a:moveTo>
                    <a:pt x="477649" y="225983"/>
                  </a:moveTo>
                  <a:lnTo>
                    <a:pt x="407060" y="225983"/>
                  </a:lnTo>
                  <a:lnTo>
                    <a:pt x="447906" y="219375"/>
                  </a:lnTo>
                  <a:lnTo>
                    <a:pt x="477649" y="225983"/>
                  </a:lnTo>
                  <a:close/>
                </a:path>
                <a:path w="889635" h="334010">
                  <a:moveTo>
                    <a:pt x="825601" y="319328"/>
                  </a:moveTo>
                  <a:lnTo>
                    <a:pt x="766113" y="290079"/>
                  </a:lnTo>
                  <a:lnTo>
                    <a:pt x="830821" y="304457"/>
                  </a:lnTo>
                  <a:lnTo>
                    <a:pt x="825601" y="319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90295" y="2614041"/>
            <a:ext cx="8255000" cy="2188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96570" algn="ctr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Noto Serif CJK JP"/>
                <a:cs typeface="Noto Serif CJK JP"/>
              </a:rPr>
              <a:t>通信线路</a:t>
            </a:r>
            <a:endParaRPr sz="2000">
              <a:latin typeface="Noto Serif CJK JP"/>
              <a:cs typeface="Noto Serif CJK JP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000">
              <a:latin typeface="Noto Serif CJK JP"/>
              <a:cs typeface="Noto Serif CJK JP"/>
            </a:endParaRPr>
          </a:p>
          <a:p>
            <a:pPr marL="681990">
              <a:lnSpc>
                <a:spcPct val="100000"/>
              </a:lnSpc>
              <a:tabLst>
                <a:tab pos="2515870" algn="l"/>
                <a:tab pos="4620260" algn="l"/>
                <a:tab pos="6468110" algn="l"/>
              </a:tabLst>
            </a:pP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DTE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DTE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DTE—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数据终端设备，数据的源头和目的地；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DCE—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数据通信设备，使数据符合线路要求的调制解调设备。</a:t>
            </a:r>
            <a:endParaRPr sz="2400">
              <a:latin typeface="Noto Serif CJK JP"/>
              <a:cs typeface="Noto Serif CJK JP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1534" y="5401926"/>
            <a:ext cx="600020" cy="600020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5010" y="4027156"/>
            <a:ext cx="8148320" cy="194754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信号分为两种类型：</a:t>
            </a:r>
            <a:endParaRPr sz="2400">
              <a:latin typeface="Noto Serif CJK JP"/>
              <a:cs typeface="Noto Serif CJK JP"/>
            </a:endParaRPr>
          </a:p>
          <a:p>
            <a:pPr marL="12700" marR="5080" indent="0">
              <a:lnSpc>
                <a:spcPct val="100000"/>
              </a:lnSpc>
              <a:spcBef>
                <a:spcPts val="1190"/>
              </a:spcBef>
              <a:buSzPct val="96000"/>
              <a:buNone/>
              <a:tabLst>
                <a:tab pos="780415" algn="l"/>
              </a:tabLst>
            </a:pPr>
            <a:r>
              <a:rPr lang="en-US" altLang="" sz="240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sz="240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数据终端设备（</a:t>
            </a:r>
            <a:r>
              <a:rPr sz="240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DTE）与数据通信设备（</a:t>
            </a:r>
            <a:r>
              <a:rPr sz="240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DCE）</a:t>
            </a:r>
            <a:r>
              <a:rPr sz="2400" spc="-2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交换的</a:t>
            </a:r>
            <a:r>
              <a:rPr sz="2400" spc="-5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信息：</a:t>
            </a:r>
            <a:r>
              <a:rPr sz="2400" spc="-1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TXD</a:t>
            </a:r>
            <a:r>
              <a:rPr sz="240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sz="2400" spc="-2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RXD；</a:t>
            </a:r>
            <a:endParaRPr sz="2400">
              <a:latin typeface="Noto Serif CJK JP"/>
              <a:cs typeface="Noto Serif CJK JP"/>
            </a:endParaRPr>
          </a:p>
          <a:p>
            <a:pPr marL="12700" indent="0">
              <a:lnSpc>
                <a:spcPct val="100000"/>
              </a:lnSpc>
              <a:spcBef>
                <a:spcPts val="1200"/>
              </a:spcBef>
              <a:buSzPct val="96000"/>
              <a:buNone/>
              <a:tabLst>
                <a:tab pos="774700" algn="l"/>
              </a:tabLst>
            </a:pPr>
            <a:r>
              <a:rPr lang="en-US" altLang="" sz="2400" spc="-5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2.</a:t>
            </a:r>
            <a:r>
              <a:rPr sz="2400" spc="-5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为了正确无误地传输上述信息而设计的联络信号。</a:t>
            </a:r>
            <a:endParaRPr sz="2400">
              <a:latin typeface="黑体" panose="02010609060101010101" charset="-122"/>
              <a:ea typeface="黑体" panose="02010609060101010101" charset="-122"/>
              <a:cs typeface="Noto Serif CJK JP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4202" y="157606"/>
            <a:ext cx="435610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引脚定义</a:t>
            </a:r>
            <a:endParaRPr spc="-35" dirty="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67455" y="1313688"/>
            <a:ext cx="1610499" cy="2406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955" y="1508760"/>
            <a:ext cx="1911095" cy="2096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6964" y="1133855"/>
            <a:ext cx="2964180" cy="295656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852804"/>
            <a:ext cx="6397625" cy="424878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300"/>
              </a:spcBef>
              <a:buSzPct val="96000"/>
              <a:buNone/>
              <a:tabLst>
                <a:tab pos="774700" algn="l"/>
              </a:tabLst>
            </a:pPr>
            <a:r>
              <a:rPr lang="en-US" altLang="" sz="2400" spc="-1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1.</a:t>
            </a:r>
            <a:r>
              <a:rPr sz="2400" spc="-1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数据收发引脚</a:t>
            </a:r>
            <a:endParaRPr sz="2400">
              <a:latin typeface="黑体" panose="02010609060101010101" charset="-122"/>
              <a:ea typeface="黑体" panose="02010609060101010101" charset="-122"/>
              <a:cs typeface="Noto Serif CJK JP"/>
            </a:endParaRPr>
          </a:p>
          <a:p>
            <a:pPr marL="698500" marR="412750">
              <a:lnSpc>
                <a:spcPct val="142000"/>
              </a:lnSpc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数据发送引脚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TXD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Transmitting</a:t>
            </a:r>
            <a:r>
              <a:rPr sz="2400" spc="-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数据接收引脚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RXD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Receiving</a:t>
            </a:r>
            <a:r>
              <a:rPr sz="2400" spc="-7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endParaRPr sz="2400">
              <a:latin typeface="Noto Serif CJK JP"/>
              <a:cs typeface="Noto Serif CJK JP"/>
            </a:endParaRPr>
          </a:p>
          <a:p>
            <a:pPr marL="12700" marR="0" algn="l" rtl="0" eaLnBrk="1" fontAlgn="auto" latinLnBrk="0" hangingPunct="1">
              <a:lnSpc>
                <a:spcPct val="100000"/>
              </a:lnSpc>
              <a:spcBef>
                <a:spcPts val="1300"/>
              </a:spcBef>
              <a:buClrTx/>
              <a:buSzPct val="96000"/>
              <a:buFontTx/>
              <a:buNone/>
              <a:tabLst>
                <a:tab pos="774700" algn="l"/>
              </a:tabLst>
            </a:pPr>
            <a:r>
              <a:rPr kumimoji="0" lang="en-US" sz="2400" b="0" i="0" u="sng" strike="noStrike" kern="0" cap="none" spc="-10" normalizeH="0" baseline="0" noProof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Noto Serif CJK JP"/>
                <a:hlinkClick r:id="rId1" action="ppaction://hlinksldjump"/>
              </a:rPr>
              <a:t>2.联络信号</a:t>
            </a:r>
            <a:endParaRPr kumimoji="0" lang="en-US" sz="2400" b="0" i="0" u="sng" strike="noStrike" kern="0" cap="none" spc="-10" normalizeH="0" baseline="0" noProof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Noto Serif CJK JP"/>
            </a:endParaRPr>
          </a:p>
          <a:p>
            <a:pPr marL="2413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①请求传送信号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RTS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Request</a:t>
            </a:r>
            <a:r>
              <a:rPr sz="2400" spc="-1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1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Send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endParaRPr sz="2400">
              <a:latin typeface="Noto Serif CJK JP"/>
              <a:cs typeface="Noto Serif CJK JP"/>
            </a:endParaRPr>
          </a:p>
          <a:p>
            <a:pPr marL="5461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DTE</a:t>
            </a:r>
            <a:r>
              <a:rPr sz="2400" spc="-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requests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-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prepare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transmit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data.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41300">
              <a:lnSpc>
                <a:spcPct val="100000"/>
              </a:lnSpc>
              <a:spcBef>
                <a:spcPts val="209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②清除发送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CTS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Clear</a:t>
            </a:r>
            <a:r>
              <a:rPr sz="2400" spc="-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Send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endParaRPr sz="2400">
              <a:latin typeface="Noto Serif CJK JP"/>
              <a:cs typeface="Noto Serif CJK JP"/>
            </a:endParaRPr>
          </a:p>
          <a:p>
            <a:pPr marL="5461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accept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DTE.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259" y="129438"/>
            <a:ext cx="435610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引脚定义</a:t>
            </a:r>
            <a:endParaRPr spc="-35" dirty="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7647" y="5114544"/>
            <a:ext cx="2798063" cy="17358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282" y="1137678"/>
            <a:ext cx="8306434" cy="340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2442845" indent="-304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③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DSR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）数据设备准备就绪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receive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commands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data.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7500" marR="1727835" indent="-304800">
              <a:lnSpc>
                <a:spcPct val="100000"/>
              </a:lnSpc>
              <a:spcBef>
                <a:spcPts val="245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④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DTR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400" spc="-114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Terminal</a:t>
            </a:r>
            <a:r>
              <a:rPr sz="2400" spc="-7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）数据终端就绪信号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DTE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receive.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31470" marR="1889125" indent="-304800">
              <a:lnSpc>
                <a:spcPct val="100000"/>
              </a:lnSpc>
              <a:spcBef>
                <a:spcPts val="1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⑤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DCD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400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Carrier</a:t>
            </a:r>
            <a:r>
              <a:rPr sz="2400" spc="-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Detect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）数据载波监测信号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receiving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carrier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remote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69570" marR="5080" indent="-38100">
              <a:lnSpc>
                <a:spcPct val="100000"/>
              </a:lnSpc>
            </a:pP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向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DTE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发出的状态信息。当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DCD=1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时，表示本地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接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收到远程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发来的载波信号。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4202" y="129438"/>
            <a:ext cx="435610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引脚定义</a:t>
            </a:r>
            <a:endParaRPr spc="-35" dirty="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76544" y="4405900"/>
            <a:ext cx="2819400" cy="16767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875" y="871803"/>
            <a:ext cx="8024495" cy="23114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⑥振铃指示信号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RI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Ring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Indication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endParaRPr sz="2400">
              <a:latin typeface="Noto Serif CJK JP"/>
              <a:cs typeface="Noto Serif CJK JP"/>
            </a:endParaRPr>
          </a:p>
          <a:p>
            <a:pPr marL="165100" indent="317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has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detected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incoming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ring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telephone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line.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93675" marR="23495" indent="-28575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向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DTE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发出的状态信息。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RI = 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时，表示本地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接收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到远程</a:t>
            </a:r>
            <a:r>
              <a:rPr sz="2400" spc="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DCE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的振铃信号，线路接通，使</a:t>
            </a:r>
            <a:r>
              <a:rPr sz="2400" spc="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DTE</a:t>
            </a:r>
            <a:r>
              <a:rPr sz="2400" spc="40" dirty="0">
                <a:solidFill>
                  <a:srgbClr val="0000CC"/>
                </a:solidFill>
                <a:latin typeface="Noto Serif CJK JP"/>
                <a:cs typeface="Noto Serif CJK JP"/>
              </a:rPr>
              <a:t>处于待接收状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态，通常，把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RI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信号作为中断请求用。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11" y="157606"/>
            <a:ext cx="435610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Noto Serif CJK JP"/>
                <a:cs typeface="Noto Serif CJK JP"/>
              </a:rPr>
              <a:t>引脚定义</a:t>
            </a:r>
            <a:endParaRPr spc="-35" dirty="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57687" y="3570787"/>
            <a:ext cx="3554640" cy="21134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60960"/>
            <a:ext cx="7124001" cy="539115"/>
          </a:xfrm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latin typeface="Noto Serif CJK JP"/>
                <a:cs typeface="Noto Serif CJK JP"/>
              </a:rPr>
              <a:t>串行接口标准</a:t>
            </a:r>
            <a:endParaRPr spc="-2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7337" y="1039914"/>
          <a:ext cx="8767445" cy="4938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375"/>
                <a:gridCol w="1618615"/>
                <a:gridCol w="1752600"/>
                <a:gridCol w="2656204"/>
                <a:gridCol w="1793875"/>
              </a:tblGrid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引脚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0" marR="120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代号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其他表示法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05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2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信号名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方向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AA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101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PG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2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保护地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2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设备地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BA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103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TxD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，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SD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1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发送数据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DTE→DCE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BB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104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RxD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1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接收数据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DCE→DTE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CA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105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RTS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，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RS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1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请求发送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DTE→DCE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CB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106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CTS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，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CS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允许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2400" spc="-1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清除发送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DCE→DTE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CC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108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DSR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，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MR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DCE</a:t>
                      </a:r>
                      <a:r>
                        <a:rPr sz="2400" spc="-2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就绪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DCE→DTE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AB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102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SG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2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信号地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信号公共地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8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86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CF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109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86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5702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RLSD</a:t>
                      </a:r>
                      <a:r>
                        <a:rPr sz="2400" spc="-2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， </a:t>
                      </a:r>
                      <a:r>
                        <a:rPr sz="2400" spc="-25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DCD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接收线路信号检测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DCE→DTE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86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20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CD(108.2)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DTR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DTE</a:t>
                      </a:r>
                      <a:r>
                        <a:rPr sz="2400" spc="-2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就绪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DTE→DCE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22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206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CE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125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）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RI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1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振铃指示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Arial" panose="020B0604020202020204"/>
                          <a:cs typeface="Arial" panose="020B0604020202020204"/>
                        </a:rPr>
                        <a:t>DCE→DTE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990600"/>
            <a:ext cx="7457440" cy="48234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5334000"/>
            <a:ext cx="1936750" cy="8642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143000"/>
            <a:ext cx="7312025" cy="4778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24000"/>
            <a:ext cx="7078980" cy="34321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1219200"/>
            <a:ext cx="8042275" cy="26149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205230"/>
            <a:ext cx="6212205" cy="47129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grpSp>
        <p:nvGrpSpPr>
          <p:cNvPr id="8" name="Group 7"/>
          <p:cNvGrpSpPr/>
          <p:nvPr/>
        </p:nvGrpSpPr>
        <p:grpSpPr>
          <a:xfrm>
            <a:off x="533400" y="1143000"/>
            <a:ext cx="7600950" cy="4246880"/>
            <a:chOff x="840" y="1800"/>
            <a:chExt cx="11970" cy="6688"/>
          </a:xfrm>
        </p:grpSpPr>
        <p:grpSp>
          <p:nvGrpSpPr>
            <p:cNvPr id="7" name="Group 6"/>
            <p:cNvGrpSpPr/>
            <p:nvPr/>
          </p:nvGrpSpPr>
          <p:grpSpPr>
            <a:xfrm>
              <a:off x="840" y="1800"/>
              <a:ext cx="11970" cy="6688"/>
              <a:chOff x="840" y="1800"/>
              <a:chExt cx="11970" cy="6688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840" y="1800"/>
                <a:ext cx="11970" cy="6689"/>
              </a:xfrm>
              <a:prstGeom prst="rect">
                <a:avLst/>
              </a:prstGeom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60" y="5160"/>
                <a:ext cx="439" cy="652"/>
              </a:xfrm>
              <a:prstGeom prst="rect">
                <a:avLst/>
              </a:prstGeom>
            </p:spPr>
          </p:pic>
        </p:grpSp>
        <p:sp>
          <p:nvSpPr>
            <p:cNvPr id="4" name="Text Box 3"/>
            <p:cNvSpPr txBox="1"/>
            <p:nvPr/>
          </p:nvSpPr>
          <p:spPr>
            <a:xfrm>
              <a:off x="8565" y="5160"/>
              <a:ext cx="8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/>
                <a:t>上</a:t>
              </a:r>
              <a:endParaRPr lang="zh-CN" altLang="en-US" sz="280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914400"/>
            <a:ext cx="6496050" cy="505587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6800"/>
            <a:ext cx="7633970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8251</a:t>
            </a:r>
            <a:r>
              <a:rPr lang="zh-CN" altLang="en-US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工作模式字</a:t>
            </a:r>
            <a:endParaRPr lang="zh-CN" altLang="en-US" spc="-3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066800"/>
            <a:ext cx="6805295" cy="1304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514600"/>
            <a:ext cx="5746750" cy="1612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825" y="4114800"/>
            <a:ext cx="5594350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990600"/>
            <a:ext cx="7105650" cy="4658995"/>
          </a:xfrm>
          <a:prstGeom prst="rect">
            <a:avLst/>
          </a:prstGeom>
        </p:spPr>
      </p:pic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8251</a:t>
            </a:r>
            <a:r>
              <a:rPr lang="zh-CN" altLang="en-US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工作模式字</a:t>
            </a:r>
            <a:endParaRPr lang="zh-CN" altLang="en-US" spc="-3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914400"/>
            <a:ext cx="6895465" cy="5149215"/>
          </a:xfrm>
          <a:prstGeom prst="rect">
            <a:avLst/>
          </a:prstGeom>
        </p:spPr>
      </p:pic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8251</a:t>
            </a:r>
            <a:r>
              <a:rPr lang="zh-CN" altLang="en-US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工作模式字</a:t>
            </a:r>
            <a:endParaRPr lang="zh-CN" altLang="en-US" spc="-3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alt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8251</a:t>
            </a:r>
            <a:r>
              <a:rPr 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命令控制字</a:t>
            </a:r>
            <a:endParaRPr lang="zh-CN" spc="-3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026795"/>
            <a:ext cx="8042910" cy="49549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alt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8251</a:t>
            </a:r>
            <a:r>
              <a:rPr 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命令控制字</a:t>
            </a:r>
            <a:endParaRPr lang="zh-CN" spc="-3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6800"/>
            <a:ext cx="7218045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alt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8251</a:t>
            </a:r>
            <a:r>
              <a:rPr lang="zh-CN" altLang="en-US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状态</a:t>
            </a:r>
            <a:r>
              <a:rPr 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字</a:t>
            </a:r>
            <a:endParaRPr lang="zh-CN" spc="-3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43000"/>
            <a:ext cx="7726045" cy="12623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362200"/>
            <a:ext cx="7258050" cy="36169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alt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8251</a:t>
            </a:r>
            <a:r>
              <a:rPr 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状态</a:t>
            </a:r>
            <a:r>
              <a:rPr lang="zh-CN" spc="-3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字</a:t>
            </a:r>
            <a:endParaRPr lang="zh-CN" spc="-3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7820025" cy="478409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r>
              <a:rPr lang="zh-CN" altLang="en-US" spc="-25" dirty="0">
                <a:latin typeface="Times New Roman" panose="02020603050405020304"/>
                <a:cs typeface="Times New Roman" panose="02020603050405020304"/>
              </a:rPr>
              <a:t>初始化</a:t>
            </a:r>
            <a:r>
              <a:rPr lang="zh-CN" altLang="en-US" spc="-25" dirty="0">
                <a:latin typeface="Times New Roman" panose="02020603050405020304"/>
                <a:cs typeface="Times New Roman" panose="02020603050405020304"/>
              </a:rPr>
              <a:t>编程</a:t>
            </a:r>
            <a:endParaRPr lang="zh-CN" altLang="en-US" spc="-2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1066800"/>
            <a:ext cx="4756150" cy="4762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1066800"/>
            <a:ext cx="2791460" cy="504253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r>
              <a:rPr lang="zh-CN" altLang="en-US" spc="-25" dirty="0">
                <a:latin typeface="Times New Roman" panose="02020603050405020304"/>
                <a:cs typeface="Times New Roman" panose="02020603050405020304"/>
              </a:rPr>
              <a:t>初始化</a:t>
            </a:r>
            <a:r>
              <a:rPr lang="zh-CN" altLang="en-US" spc="-25" dirty="0">
                <a:latin typeface="Times New Roman" panose="02020603050405020304"/>
                <a:cs typeface="Times New Roman" panose="02020603050405020304"/>
              </a:rPr>
              <a:t>编程</a:t>
            </a:r>
            <a:endParaRPr lang="zh-CN" altLang="en-US" spc="-2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99185"/>
            <a:ext cx="7642225" cy="47675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0600"/>
            <a:ext cx="1355090" cy="5365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133475"/>
            <a:ext cx="8089900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1231900"/>
            <a:ext cx="7975600" cy="4394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155701"/>
            <a:ext cx="69945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spc="-30" dirty="0">
                <a:latin typeface="Noto Serif CJK JP"/>
                <a:cs typeface="Noto Serif CJK JP"/>
              </a:rPr>
              <a:t>可编程串行通信接口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8251</a:t>
            </a: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990600"/>
            <a:ext cx="7745095" cy="50279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3024</Words>
  <Application>WPS Presentation</Application>
  <PresentationFormat>On-screen Show (4:3)</PresentationFormat>
  <Paragraphs>401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8" baseType="lpstr">
      <vt:lpstr>Arial</vt:lpstr>
      <vt:lpstr>宋体</vt:lpstr>
      <vt:lpstr>Wingdings</vt:lpstr>
      <vt:lpstr>Arial</vt:lpstr>
      <vt:lpstr>IPAPGothic</vt:lpstr>
      <vt:lpstr>Segoe Print</vt:lpstr>
      <vt:lpstr>Times New Roman</vt:lpstr>
      <vt:lpstr>Noto Serif CJK JP</vt:lpstr>
      <vt:lpstr>Droid Sans Fallback</vt:lpstr>
      <vt:lpstr>Wingdings</vt:lpstr>
      <vt:lpstr>Calibri</vt:lpstr>
      <vt:lpstr>微软雅黑</vt:lpstr>
      <vt:lpstr>Arial Unicode MS</vt:lpstr>
      <vt:lpstr>Noto Sans CJK HK</vt:lpstr>
      <vt:lpstr>Symbol</vt:lpstr>
      <vt:lpstr>Georgia</vt:lpstr>
      <vt:lpstr>Noto Sans Display</vt:lpstr>
      <vt:lpstr>Palladio Uralic</vt:lpstr>
      <vt:lpstr>Arial Black</vt:lpstr>
      <vt:lpstr>Arial Rounded MT Bold</vt:lpstr>
      <vt:lpstr>隶书</vt:lpstr>
      <vt:lpstr>黑体</vt:lpstr>
      <vt:lpstr>Office Theme</vt:lpstr>
      <vt:lpstr>第11章	串行通信接口</vt:lpstr>
      <vt:lpstr>11.1 串行通信基础</vt:lpstr>
      <vt:lpstr>串行通信实例 USB（Universal Serial Bus）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11.1.2 信号的调制解调</vt:lpstr>
      <vt:lpstr>11.2 串行通信协议</vt:lpstr>
      <vt:lpstr>11.2.1 异步串行通信协议</vt:lpstr>
      <vt:lpstr>11.2.1 异步串行通信协议</vt:lpstr>
      <vt:lpstr>11.2.1 异步串行通信协议</vt:lpstr>
      <vt:lpstr>11.2.1 异步串行通信协议</vt:lpstr>
      <vt:lpstr>11.2.2 同步串行通信协议</vt:lpstr>
      <vt:lpstr>11.3 EIA-232D异步串行接口标准</vt:lpstr>
      <vt:lpstr>PowerPoint 演示文稿</vt:lpstr>
      <vt:lpstr>11.3 串行接口标准EIA-232D</vt:lpstr>
      <vt:lpstr>RS-232电缆及接插件</vt:lpstr>
      <vt:lpstr>11.3 EIA-232D异步串行接口标准</vt:lpstr>
      <vt:lpstr>11.3.1 EIA-232D 的引脚定义</vt:lpstr>
      <vt:lpstr>11.3.1 EIA-232D 的引脚定义</vt:lpstr>
      <vt:lpstr>11.3.1 EIA-232D 的引脚定义</vt:lpstr>
      <vt:lpstr>11.3.1 EIA-232D 的引脚定义</vt:lpstr>
      <vt:lpstr>11.3 串行接口标准EIA-232D</vt:lpstr>
      <vt:lpstr>11.4	可编程串行通信接口INS8250和NS16x50</vt:lpstr>
      <vt:lpstr>可编程串行通信接口8251</vt:lpstr>
      <vt:lpstr>可编程串行通信接口8251</vt:lpstr>
      <vt:lpstr>可编程串行通信接口8251</vt:lpstr>
      <vt:lpstr>可编程串行通信接口8251</vt:lpstr>
      <vt:lpstr>可编程串行通信接口8251</vt:lpstr>
      <vt:lpstr>可编程串行通信接口8251</vt:lpstr>
      <vt:lpstr>可编程串行通信接口8251</vt:lpstr>
      <vt:lpstr>可编程串行通信接口8251</vt:lpstr>
      <vt:lpstr>8251工作模式字</vt:lpstr>
      <vt:lpstr>8251工作模式字</vt:lpstr>
      <vt:lpstr>可编程串行通信接口8251</vt:lpstr>
      <vt:lpstr>8251命令控制字</vt:lpstr>
      <vt:lpstr>8251命令控制字</vt:lpstr>
      <vt:lpstr>8251命令控制字</vt:lpstr>
      <vt:lpstr>可编程串行通信接口8251</vt:lpstr>
      <vt:lpstr>可编程串行通信接口8251</vt:lpstr>
      <vt:lpstr>可编程串行通信接口8251</vt:lpstr>
      <vt:lpstr>可编程串行通信接口8251</vt:lpstr>
      <vt:lpstr>可编程串行通信接口8251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7-3	串行通信接口</dc:title>
  <dc:creator/>
  <cp:lastModifiedBy>chenyu</cp:lastModifiedBy>
  <cp:revision>14</cp:revision>
  <dcterms:created xsi:type="dcterms:W3CDTF">2024-12-11T08:27:46Z</dcterms:created>
  <dcterms:modified xsi:type="dcterms:W3CDTF">2024-12-12T09:13:10Z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2023-03-23T08:00:00Z</vt:filetime>
  </property>
  <property fmtid="{D5CDD505-2E9C-101B-9397-08002B2CF9AE}" pid="3" name="Creator">
    <vt:lpwstr>WPS 演示</vt:lpwstr>
  </property>
  <property fmtid="{D5CDD505-2E9C-101B-9397-08002B2CF9AE}" pid="4" name="LastSaved">
    <vt:filetime>2024-12-11T08:00:00Z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SourceModified">
    <vt:lpwstr>D:20230323084635+00'46'</vt:lpwstr>
  </property>
  <property fmtid="{D5CDD505-2E9C-101B-9397-08002B2CF9AE}" pid="7" name="ICV">
    <vt:lpwstr>9F5F63E8E4A44C39BECF589D6A221A16_12</vt:lpwstr>
  </property>
  <property fmtid="{D5CDD505-2E9C-101B-9397-08002B2CF9AE}" pid="8" name="KSOProductBuildVer">
    <vt:lpwstr>1033-12.2.0.19307</vt:lpwstr>
  </property>
</Properties>
</file>