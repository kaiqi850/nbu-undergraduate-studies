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2" r:id="rId1"/>
  </p:sldMasterIdLst>
  <p:notesMasterIdLst>
    <p:notesMasterId r:id="rId59"/>
  </p:notesMasterIdLst>
  <p:sldIdLst>
    <p:sldId id="1149" r:id="rId2"/>
    <p:sldId id="390" r:id="rId3"/>
    <p:sldId id="391" r:id="rId4"/>
    <p:sldId id="392" r:id="rId5"/>
    <p:sldId id="488" r:id="rId6"/>
    <p:sldId id="502" r:id="rId7"/>
    <p:sldId id="394" r:id="rId8"/>
    <p:sldId id="395" r:id="rId9"/>
    <p:sldId id="396" r:id="rId10"/>
    <p:sldId id="397" r:id="rId11"/>
    <p:sldId id="398" r:id="rId12"/>
    <p:sldId id="399" r:id="rId13"/>
    <p:sldId id="400" r:id="rId14"/>
    <p:sldId id="401" r:id="rId15"/>
    <p:sldId id="402" r:id="rId16"/>
    <p:sldId id="493" r:id="rId17"/>
    <p:sldId id="492" r:id="rId18"/>
    <p:sldId id="497" r:id="rId19"/>
    <p:sldId id="409" r:id="rId20"/>
    <p:sldId id="410" r:id="rId21"/>
    <p:sldId id="411" r:id="rId22"/>
    <p:sldId id="412" r:id="rId23"/>
    <p:sldId id="413" r:id="rId24"/>
    <p:sldId id="414" r:id="rId25"/>
    <p:sldId id="415" r:id="rId26"/>
    <p:sldId id="416" r:id="rId27"/>
    <p:sldId id="417" r:id="rId28"/>
    <p:sldId id="418" r:id="rId29"/>
    <p:sldId id="504" r:id="rId30"/>
    <p:sldId id="503" r:id="rId31"/>
    <p:sldId id="419" r:id="rId32"/>
    <p:sldId id="420" r:id="rId33"/>
    <p:sldId id="421" r:id="rId34"/>
    <p:sldId id="422" r:id="rId35"/>
    <p:sldId id="505" r:id="rId36"/>
    <p:sldId id="423" r:id="rId37"/>
    <p:sldId id="424" r:id="rId38"/>
    <p:sldId id="425" r:id="rId39"/>
    <p:sldId id="426" r:id="rId40"/>
    <p:sldId id="427" r:id="rId41"/>
    <p:sldId id="428" r:id="rId42"/>
    <p:sldId id="429" r:id="rId43"/>
    <p:sldId id="494" r:id="rId44"/>
    <p:sldId id="430" r:id="rId45"/>
    <p:sldId id="431" r:id="rId46"/>
    <p:sldId id="432" r:id="rId47"/>
    <p:sldId id="433" r:id="rId48"/>
    <p:sldId id="506" r:id="rId49"/>
    <p:sldId id="435" r:id="rId50"/>
    <p:sldId id="436" r:id="rId51"/>
    <p:sldId id="437" r:id="rId52"/>
    <p:sldId id="438" r:id="rId53"/>
    <p:sldId id="439" r:id="rId54"/>
    <p:sldId id="440" r:id="rId55"/>
    <p:sldId id="441" r:id="rId56"/>
    <p:sldId id="442" r:id="rId57"/>
    <p:sldId id="443" r:id="rId58"/>
  </p:sldIdLst>
  <p:sldSz cx="12192000" cy="6858000"/>
  <p:notesSz cx="6834188" cy="997902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392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冯 盛世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2334"/>
    <p:restoredTop sz="94651"/>
  </p:normalViewPr>
  <p:slideViewPr>
    <p:cSldViewPr snapToObjects="1">
      <p:cViewPr varScale="1">
        <p:scale>
          <a:sx n="69" d="100"/>
          <a:sy n="69" d="100"/>
        </p:scale>
        <p:origin x="664" y="44"/>
      </p:cViewPr>
      <p:guideLst>
        <p:guide orient="horz" pos="2166"/>
        <p:guide pos="39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16159B0-1567-C550-15FD-F9D41CADDE2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84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AA7BD50-622D-F5D8-5ADE-21A16DB22FC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2275" cy="4984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D74650C5-ABCB-9449-B7C4-7FC74A0CA88B}" type="datetimeFigureOut">
              <a:rPr lang="zh-CN" altLang="en-US"/>
              <a:pPr>
                <a:defRPr/>
              </a:pPr>
              <a:t>2023/8/19</a:t>
            </a:fld>
            <a:endParaRPr 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FF617706-07DB-5120-2DB3-C2CDD7137037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0488" y="747713"/>
            <a:ext cx="6651625" cy="374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04853618-1043-A577-7CD6-E65E5789B8F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2625" y="4740275"/>
            <a:ext cx="5467350" cy="4489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E0CD192E-B476-F89D-4A7F-A8FD4D8077F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77375"/>
            <a:ext cx="2960688" cy="5000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EB31D08A-344D-7E8D-1B21-7BE5E0CD0D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9477375"/>
            <a:ext cx="2962275" cy="5000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EF1CA65C-4106-954D-B1BB-0DB537C3784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20240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9583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C221F872-CD88-F6CB-8324-60AC20D03C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7713"/>
            <a:ext cx="6651625" cy="3741737"/>
          </a:xfrm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F30FBAD2-D2C1-5A41-3E70-EE0D048F4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1B20B496-0560-1C00-5A39-4725A663E7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A17210-5790-FA49-B080-CADCE14A444D}" type="slidenum">
              <a:rPr lang="zh-CN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719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746395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58380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50413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39851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39851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70344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0231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99734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2210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95248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78827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02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33338"/>
            <a:ext cx="2743200" cy="6227763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33338"/>
            <a:ext cx="8026400" cy="6227763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33612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>
            <a:extLst>
              <a:ext uri="{FF2B5EF4-FFF2-40B4-BE49-F238E27FC236}">
                <a16:creationId xmlns:a16="http://schemas.microsoft.com/office/drawing/2014/main" id="{EDF4C6FE-1707-85B3-159D-7D7E68B0E69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dirty="0"/>
              <a:t>单击此处编辑母版标题样式</a:t>
            </a:r>
          </a:p>
        </p:txBody>
      </p:sp>
      <p:sp>
        <p:nvSpPr>
          <p:cNvPr id="1030" name="Rectangle 3">
            <a:extLst>
              <a:ext uri="{FF2B5EF4-FFF2-40B4-BE49-F238E27FC236}">
                <a16:creationId xmlns:a16="http://schemas.microsoft.com/office/drawing/2014/main" id="{8D95A120-4EE6-690F-E786-E92C1B9C944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339852"/>
            <a:ext cx="10598968" cy="4393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DA94B25-9026-75D8-F516-747E6CEED77F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14495" y="21498"/>
            <a:ext cx="823705" cy="815214"/>
          </a:xfrm>
          <a:prstGeom prst="ellipse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B951891-E644-1D6A-1DF0-12344B4BDBBE}"/>
              </a:ext>
            </a:extLst>
          </p:cNvPr>
          <p:cNvSpPr txBox="1"/>
          <p:nvPr userDrawn="1"/>
        </p:nvSpPr>
        <p:spPr>
          <a:xfrm>
            <a:off x="119336" y="6474463"/>
            <a:ext cx="1192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FFFFFF"/>
                </a:solidFill>
              </a:rPr>
              <a:t> </a:t>
            </a:r>
            <a:fld id="{0BBE24EF-DCFE-4DE1-A977-01AE1A4B2DE6}" type="slidenum">
              <a:rPr lang="zh-CN" altLang="en-US" sz="1800" b="1" smtClean="0">
                <a:solidFill>
                  <a:srgbClr val="FFFFFF"/>
                </a:solidFill>
              </a:rPr>
              <a:pPr/>
              <a:t>‹#›</a:t>
            </a:fld>
            <a:r>
              <a:rPr lang="en-US" altLang="zh-CN" sz="1800" b="1">
                <a:solidFill>
                  <a:srgbClr val="FFFFFF"/>
                </a:solidFill>
              </a:rPr>
              <a:t>/57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5409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3000"/>
                    </a14:imgEffect>
                    <a14:imgEffect>
                      <a14:colorTemperature colorTemp="5050"/>
                    </a14:imgEffect>
                    <a14:imgEffect>
                      <a14:saturation sat="1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42"/>
            <a:ext cx="12513417" cy="6858000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softEdge rad="0"/>
          </a:effectLst>
        </p:spPr>
      </p:pic>
      <p:sp>
        <p:nvSpPr>
          <p:cNvPr id="10" name="矩形 9"/>
          <p:cNvSpPr/>
          <p:nvPr/>
        </p:nvSpPr>
        <p:spPr>
          <a:xfrm rot="18900000">
            <a:off x="5953558" y="3199971"/>
            <a:ext cx="284886" cy="284884"/>
          </a:xfrm>
          <a:prstGeom prst="rect">
            <a:avLst/>
          </a:prstGeom>
          <a:ln w="19050">
            <a:solidFill>
              <a:schemeClr val="bg1"/>
            </a:solidFill>
          </a:ln>
          <a:scene3d>
            <a:camera prst="orthographicFront"/>
            <a:lightRig rig="threePt" dir="t"/>
          </a:scene3d>
          <a:sp3d contourW="12700">
            <a:bevelB/>
            <a:contourClr>
              <a:schemeClr val="bg1"/>
            </a:contour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06980D4-5D78-867E-C73D-BB980576D40C}"/>
              </a:ext>
            </a:extLst>
          </p:cNvPr>
          <p:cNvGrpSpPr/>
          <p:nvPr/>
        </p:nvGrpSpPr>
        <p:grpSpPr>
          <a:xfrm>
            <a:off x="2400300" y="3356992"/>
            <a:ext cx="7391400" cy="365792"/>
            <a:chOff x="2400300" y="3894867"/>
            <a:chExt cx="7391400" cy="365792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2400300" y="3910260"/>
              <a:ext cx="3368766" cy="0"/>
            </a:xfrm>
            <a:prstGeom prst="line">
              <a:avLst/>
            </a:prstGeom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 contourW="12700">
              <a:bevelB/>
              <a:contourClr>
                <a:schemeClr val="bg1"/>
              </a:contourClr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6422934" y="3910260"/>
              <a:ext cx="3368766" cy="0"/>
            </a:xfrm>
            <a:prstGeom prst="line">
              <a:avLst/>
            </a:prstGeom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 contourW="12700">
              <a:bevelB/>
              <a:contourClr>
                <a:schemeClr val="bg1"/>
              </a:contourClr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5"/>
            <a:srcRect t="50000"/>
            <a:stretch>
              <a:fillRect/>
            </a:stretch>
          </p:blipFill>
          <p:spPr>
            <a:xfrm>
              <a:off x="5730208" y="3894867"/>
              <a:ext cx="731583" cy="365792"/>
            </a:xfrm>
            <a:custGeom>
              <a:avLst/>
              <a:gdLst>
                <a:gd name="connsiteX0" fmla="*/ 0 w 731583"/>
                <a:gd name="connsiteY0" fmla="*/ 0 h 365792"/>
                <a:gd name="connsiteX1" fmla="*/ 731583 w 731583"/>
                <a:gd name="connsiteY1" fmla="*/ 0 h 365792"/>
                <a:gd name="connsiteX2" fmla="*/ 731583 w 731583"/>
                <a:gd name="connsiteY2" fmla="*/ 365792 h 365792"/>
                <a:gd name="connsiteX3" fmla="*/ 0 w 731583"/>
                <a:gd name="connsiteY3" fmla="*/ 365792 h 36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1583" h="365792">
                  <a:moveTo>
                    <a:pt x="0" y="0"/>
                  </a:moveTo>
                  <a:lnTo>
                    <a:pt x="731583" y="0"/>
                  </a:lnTo>
                  <a:lnTo>
                    <a:pt x="731583" y="365792"/>
                  </a:lnTo>
                  <a:lnTo>
                    <a:pt x="0" y="365792"/>
                  </a:lnTo>
                  <a:close/>
                </a:path>
              </a:pathLst>
            </a:custGeom>
          </p:spPr>
        </p:pic>
      </p:grpSp>
      <p:sp>
        <p:nvSpPr>
          <p:cNvPr id="14" name="文本框 13"/>
          <p:cNvSpPr txBox="1"/>
          <p:nvPr/>
        </p:nvSpPr>
        <p:spPr>
          <a:xfrm>
            <a:off x="1421816" y="1046085"/>
            <a:ext cx="89454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  <a:bevelB w="38100" h="38100"/>
            </a:sp3d>
          </a:bodyPr>
          <a:lstStyle/>
          <a:p>
            <a:pPr algn="ctr">
              <a:buFont typeface="Arial" panose="020B0604020202020204" pitchFamily="34" charset="0"/>
            </a:pPr>
            <a:r>
              <a:rPr lang="zh-CN" altLang="en-US" sz="6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数据库原理与应用</a:t>
            </a:r>
            <a:endParaRPr lang="en-US" altLang="zh-CN" sz="6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ADC799-635A-7E9C-31F3-DF90E0F9B3C2}"/>
              </a:ext>
            </a:extLst>
          </p:cNvPr>
          <p:cNvSpPr/>
          <p:nvPr/>
        </p:nvSpPr>
        <p:spPr>
          <a:xfrm>
            <a:off x="1854269" y="4293096"/>
            <a:ext cx="9570323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4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4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4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章 关系数据库标准语言</a:t>
            </a:r>
            <a:r>
              <a:rPr lang="en-US" altLang="zh-CN" sz="4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buClrTx/>
              <a:buFont typeface="Wingdings" panose="05000000000000000000" pitchFamily="2" charset="2"/>
            </a:pPr>
            <a:endParaRPr lang="zh-CN" altLang="en-US" sz="4400" b="1" dirty="0">
              <a:solidFill>
                <a:schemeClr val="bg1"/>
              </a:solidFill>
              <a:latin typeface="Times-Roman" charset="0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1950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页脚占位符 4">
            <a:extLst>
              <a:ext uri="{FF2B5EF4-FFF2-40B4-BE49-F238E27FC236}">
                <a16:creationId xmlns:a16="http://schemas.microsoft.com/office/drawing/2014/main" id="{1A5B5489-03A1-BA01-02B3-86E8DCB16D9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743700" y="6381763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en-US" altLang="zh-CN" sz="1800" b="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68E242C0-1780-8276-F206-D6DA189C6AA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zh-CN" altLang="en-US" sz="3600" dirty="0"/>
              <a:t>第三章</a:t>
            </a:r>
            <a:r>
              <a:rPr lang="zh-CN" altLang="en-US" sz="3600" dirty="0">
                <a:ea typeface="黑体" panose="02010609060101010101" pitchFamily="49" charset="-122"/>
              </a:rPr>
              <a:t>  </a:t>
            </a:r>
            <a:r>
              <a:rPr lang="zh-CN" altLang="en-US" sz="3600" dirty="0"/>
              <a:t>关系数据库标准语言</a:t>
            </a:r>
            <a:r>
              <a:rPr lang="en-US" altLang="zh-CN" sz="3600" dirty="0">
                <a:ea typeface="黑体" panose="02010609060101010101" pitchFamily="49" charset="-122"/>
              </a:rPr>
              <a:t>SQL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68E3BBAF-F692-01BD-7840-EB20EC3194C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196975"/>
            <a:ext cx="6508750" cy="5184775"/>
          </a:xfrm>
        </p:spPr>
        <p:txBody>
          <a:bodyPr/>
          <a:lstStyle/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0066FF"/>
                </a:solidFill>
              </a:rPr>
              <a:t>3.1 SQL</a:t>
            </a:r>
            <a:r>
              <a:rPr lang="zh-CN" altLang="en-US" dirty="0">
                <a:solidFill>
                  <a:srgbClr val="0066FF"/>
                </a:solidFill>
              </a:rPr>
              <a:t>概述</a:t>
            </a:r>
            <a:endParaRPr lang="en-US" altLang="zh-CN" dirty="0">
              <a:solidFill>
                <a:srgbClr val="0066FF"/>
              </a:solidFill>
            </a:endParaRPr>
          </a:p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/>
              <a:t>3.2 </a:t>
            </a:r>
            <a:r>
              <a:rPr lang="zh-CN" altLang="en-US" dirty="0"/>
              <a:t>数据定义</a:t>
            </a:r>
          </a:p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/>
              <a:t>3.3 </a:t>
            </a:r>
            <a:r>
              <a:rPr lang="zh-CN" altLang="en-US" dirty="0"/>
              <a:t>数据查询</a:t>
            </a:r>
          </a:p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/>
              <a:t>3.4 </a:t>
            </a:r>
            <a:r>
              <a:rPr lang="zh-CN" altLang="en-US" dirty="0"/>
              <a:t>数据更新</a:t>
            </a:r>
            <a:endParaRPr lang="zh-CN" altLang="en-US" sz="3200" dirty="0"/>
          </a:p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/>
              <a:t>3.5 </a:t>
            </a:r>
            <a:r>
              <a:rPr lang="zh-CN" altLang="en-US" dirty="0"/>
              <a:t>空值的处理</a:t>
            </a:r>
          </a:p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/>
              <a:t>3.6 </a:t>
            </a:r>
            <a:r>
              <a:rPr lang="zh-CN" altLang="en-US" dirty="0"/>
              <a:t>视图</a:t>
            </a:r>
          </a:p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dirty="0"/>
              <a:t>本章小结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921F713-98B0-9761-5A62-BA9BB8252AE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en-US" altLang="zh-CN" sz="3600"/>
              <a:t>3.1 SQL</a:t>
            </a:r>
            <a:r>
              <a:rPr lang="zh-CN" altLang="en-US" sz="3600"/>
              <a:t>概述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053D65F-9735-F44C-ECAE-BECA372F488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341438"/>
            <a:ext cx="8642350" cy="4567237"/>
          </a:xfrm>
        </p:spPr>
        <p:txBody>
          <a:bodyPr/>
          <a:lstStyle/>
          <a:p>
            <a:pPr eaLnBrk="1" hangingPunct="1">
              <a:lnSpc>
                <a:spcPct val="180000"/>
              </a:lnSpc>
            </a:pPr>
            <a:r>
              <a:rPr lang="en-US" altLang="zh-CN" dirty="0"/>
              <a:t>SQL</a:t>
            </a:r>
            <a:r>
              <a:rPr lang="zh-CN" altLang="en-US" dirty="0"/>
              <a:t>（</a:t>
            </a:r>
            <a:r>
              <a:rPr lang="en-US" altLang="zh-CN" dirty="0"/>
              <a:t>Structured Query Language</a:t>
            </a:r>
            <a:r>
              <a:rPr lang="zh-CN" altLang="en-US" dirty="0"/>
              <a:t>）</a:t>
            </a:r>
          </a:p>
          <a:p>
            <a:pPr eaLnBrk="1" hangingPunct="1">
              <a:lnSpc>
                <a:spcPct val="180000"/>
              </a:lnSpc>
              <a:buFont typeface="Wingdings" pitchFamily="2" charset="2"/>
              <a:buNone/>
            </a:pPr>
            <a:r>
              <a:rPr lang="zh-CN" altLang="en-US" dirty="0"/>
              <a:t>    结构化查询语言，是关系数据库的标准语言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zh-CN" dirty="0"/>
              <a:t>包括数据查询、数据库模式创建、数据库数据的增删改、数据库安全性和完整性定义与控制等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页脚占位符 4">
            <a:extLst>
              <a:ext uri="{FF2B5EF4-FFF2-40B4-BE49-F238E27FC236}">
                <a16:creationId xmlns:a16="http://schemas.microsoft.com/office/drawing/2014/main" id="{0EFF3DCB-0BB1-2B16-7C31-6A6E7284B16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743700" y="6381763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en-US" altLang="zh-CN" sz="1800" b="0"/>
          </a:p>
        </p:txBody>
      </p:sp>
      <p:sp>
        <p:nvSpPr>
          <p:cNvPr id="9219" name="Rectangle 1026">
            <a:extLst>
              <a:ext uri="{FF2B5EF4-FFF2-40B4-BE49-F238E27FC236}">
                <a16:creationId xmlns:a16="http://schemas.microsoft.com/office/drawing/2014/main" id="{DEE09608-BE76-3708-B2EA-F9E89524776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en-US" altLang="zh-CN" sz="3600"/>
              <a:t>SQL</a:t>
            </a:r>
            <a:r>
              <a:rPr lang="zh-CN" altLang="en-US" sz="3600"/>
              <a:t>概述（续）</a:t>
            </a:r>
          </a:p>
        </p:txBody>
      </p:sp>
      <p:sp>
        <p:nvSpPr>
          <p:cNvPr id="9220" name="Rectangle 1027">
            <a:extLst>
              <a:ext uri="{FF2B5EF4-FFF2-40B4-BE49-F238E27FC236}">
                <a16:creationId xmlns:a16="http://schemas.microsoft.com/office/drawing/2014/main" id="{EB5A2A9A-F480-B7E6-A381-6254246F2FF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332288" y="1339850"/>
            <a:ext cx="7859712" cy="4854575"/>
          </a:xfrm>
        </p:spPr>
        <p:txBody>
          <a:bodyPr/>
          <a:lstStyle/>
          <a:p>
            <a:pPr marL="0" indent="0" eaLnBrk="1" hangingPunct="1">
              <a:lnSpc>
                <a:spcPct val="17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3.1.1  SQL </a:t>
            </a:r>
            <a:r>
              <a:rPr lang="zh-CN" altLang="en-US" dirty="0">
                <a:solidFill>
                  <a:srgbClr val="00B050"/>
                </a:solidFill>
              </a:rPr>
              <a:t>的产生与发展</a:t>
            </a:r>
          </a:p>
          <a:p>
            <a:pPr marL="0" indent="0" eaLnBrk="1" hangingPunct="1">
              <a:lnSpc>
                <a:spcPct val="170000"/>
              </a:lnSpc>
              <a:buNone/>
            </a:pPr>
            <a:r>
              <a:rPr lang="en-US" altLang="zh-CN" dirty="0"/>
              <a:t>3.1.2  SQL</a:t>
            </a:r>
            <a:r>
              <a:rPr lang="zh-CN" altLang="en-US" dirty="0"/>
              <a:t>的特点</a:t>
            </a:r>
          </a:p>
          <a:p>
            <a:pPr marL="0" indent="0" eaLnBrk="1" hangingPunct="1">
              <a:lnSpc>
                <a:spcPct val="170000"/>
              </a:lnSpc>
              <a:buNone/>
            </a:pPr>
            <a:r>
              <a:rPr lang="en-US" altLang="zh-CN" dirty="0"/>
              <a:t>3.1.3  SQL</a:t>
            </a:r>
            <a:r>
              <a:rPr lang="zh-CN" altLang="en-US" dirty="0"/>
              <a:t>的基本概念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46B39575-3322-4BF0-E37D-4E792CAC7EC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6363"/>
            <a:ext cx="8229600" cy="874712"/>
          </a:xfrm>
        </p:spPr>
        <p:txBody>
          <a:bodyPr/>
          <a:lstStyle/>
          <a:p>
            <a:r>
              <a:rPr lang="en-US" altLang="zh-CN" sz="3600"/>
              <a:t>3.1.1 SQL</a:t>
            </a:r>
            <a:r>
              <a:rPr lang="zh-CN" altLang="en-US" sz="3600"/>
              <a:t>的产生与发展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1EFF72D-F598-B817-F3D0-457CD808C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340926"/>
              </p:ext>
            </p:extLst>
          </p:nvPr>
        </p:nvGraphicFramePr>
        <p:xfrm>
          <a:off x="623392" y="1412887"/>
          <a:ext cx="11017224" cy="3675065"/>
        </p:xfrm>
        <a:graphic>
          <a:graphicData uri="http://schemas.openxmlformats.org/drawingml/2006/table">
            <a:tbl>
              <a:tblPr/>
              <a:tblGrid>
                <a:gridCol w="2774122">
                  <a:extLst>
                    <a:ext uri="{9D8B030D-6E8A-4147-A177-3AD203B41FA5}">
                      <a16:colId xmlns:a16="http://schemas.microsoft.com/office/drawing/2014/main" val="4127669730"/>
                    </a:ext>
                  </a:extLst>
                </a:gridCol>
                <a:gridCol w="1898527">
                  <a:extLst>
                    <a:ext uri="{9D8B030D-6E8A-4147-A177-3AD203B41FA5}">
                      <a16:colId xmlns:a16="http://schemas.microsoft.com/office/drawing/2014/main" val="3640190543"/>
                    </a:ext>
                  </a:extLst>
                </a:gridCol>
                <a:gridCol w="1586691">
                  <a:extLst>
                    <a:ext uri="{9D8B030D-6E8A-4147-A177-3AD203B41FA5}">
                      <a16:colId xmlns:a16="http://schemas.microsoft.com/office/drawing/2014/main" val="2561563199"/>
                    </a:ext>
                  </a:extLst>
                </a:gridCol>
                <a:gridCol w="1785572">
                  <a:extLst>
                    <a:ext uri="{9D8B030D-6E8A-4147-A177-3AD203B41FA5}">
                      <a16:colId xmlns:a16="http://schemas.microsoft.com/office/drawing/2014/main" val="1975546667"/>
                    </a:ext>
                  </a:extLst>
                </a:gridCol>
                <a:gridCol w="1486156">
                  <a:extLst>
                    <a:ext uri="{9D8B030D-6E8A-4147-A177-3AD203B41FA5}">
                      <a16:colId xmlns:a16="http://schemas.microsoft.com/office/drawing/2014/main" val="2377185700"/>
                    </a:ext>
                  </a:extLst>
                </a:gridCol>
                <a:gridCol w="1486156">
                  <a:extLst>
                    <a:ext uri="{9D8B030D-6E8A-4147-A177-3AD203B41FA5}">
                      <a16:colId xmlns:a16="http://schemas.microsoft.com/office/drawing/2014/main" val="583786706"/>
                    </a:ext>
                  </a:extLst>
                </a:gridCol>
              </a:tblGrid>
              <a:tr h="735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标准</a:t>
                      </a: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篇幅（约）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页</a:t>
                      </a: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发布日期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</a:t>
                      </a: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标准</a:t>
                      </a:r>
                    </a:p>
                  </a:txBody>
                  <a:tcPr marL="68578" marR="68578" marT="0" marB="0" anchor="ctr" horzOverflow="overflow">
                    <a:lnL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大致页数</a:t>
                      </a: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发布日期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</a:t>
                      </a: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280296"/>
                  </a:ext>
                </a:extLst>
              </a:tr>
              <a:tr h="735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 86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1986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</a:t>
                      </a: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 2003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3 600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2003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378139"/>
                  </a:ext>
                </a:extLst>
              </a:tr>
              <a:tr h="735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 89(FIPS 127-1)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120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页</a:t>
                      </a: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1989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</a:t>
                      </a: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 2008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3 777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2008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770533"/>
                  </a:ext>
                </a:extLst>
              </a:tr>
              <a:tr h="735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 92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622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页</a:t>
                      </a: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1992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</a:t>
                      </a: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 2011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3817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2011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312220"/>
                  </a:ext>
                </a:extLst>
              </a:tr>
              <a:tr h="735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 99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 3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1700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页</a:t>
                      </a: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1999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</a:t>
                      </a: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SQL2016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4035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2016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758960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09EBC541-D990-F3AC-915C-DCCE469EF986}"/>
              </a:ext>
            </a:extLst>
          </p:cNvPr>
          <p:cNvSpPr txBox="1"/>
          <p:nvPr/>
        </p:nvSpPr>
        <p:spPr>
          <a:xfrm>
            <a:off x="3503613" y="5472113"/>
            <a:ext cx="4813300" cy="29845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1550"/>
              </a:lnSpc>
              <a:spcBef>
                <a:spcPts val="400"/>
              </a:spcBef>
              <a:spcAft>
                <a:spcPts val="300"/>
              </a:spcAft>
            </a:pPr>
            <a:r>
              <a:rPr lang="zh-CN" altLang="zh-CN" sz="1600" b="1"/>
              <a:t>表</a:t>
            </a:r>
            <a:r>
              <a:rPr lang="en-US" altLang="zh-CN" sz="1600" b="1"/>
              <a:t>3.1  SQL</a:t>
            </a:r>
            <a:r>
              <a:rPr lang="zh-CN" altLang="zh-CN" sz="1600" b="1"/>
              <a:t>标准的发展过程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E90D795C-1BCC-F6DF-A283-1A3B8989F45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6363"/>
            <a:ext cx="8229600" cy="874712"/>
          </a:xfrm>
        </p:spPr>
        <p:txBody>
          <a:bodyPr/>
          <a:lstStyle/>
          <a:p>
            <a:r>
              <a:rPr lang="en-US" altLang="zh-CN" sz="3600"/>
              <a:t>SQL</a:t>
            </a:r>
            <a:r>
              <a:rPr lang="zh-CN" altLang="en-US" sz="3600"/>
              <a:t>的产生与发展（续）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82F19AE-F76A-BC7B-C396-85B67417A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440" y="5588807"/>
            <a:ext cx="10513168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目前，没有一个关系数据库管理系统能够支持</a:t>
            </a:r>
            <a:r>
              <a:rPr lang="en-US" altLang="zh-CN" sz="2400" dirty="0"/>
              <a:t>SQL</a:t>
            </a:r>
            <a:r>
              <a:rPr lang="zh-CN" altLang="en-US" sz="2400" dirty="0"/>
              <a:t>标准的所有概念和特性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3EA29AA-6D47-CC39-B404-28C945CD3FF5}"/>
              </a:ext>
            </a:extLst>
          </p:cNvPr>
          <p:cNvSpPr txBox="1"/>
          <p:nvPr/>
        </p:nvSpPr>
        <p:spPr>
          <a:xfrm>
            <a:off x="983432" y="1022783"/>
            <a:ext cx="1029714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ct val="150000"/>
              </a:lnSpc>
              <a:buSzPct val="100000"/>
              <a:buFont typeface="Wingdings" pitchFamily="2" charset="2"/>
              <a:buChar char="n"/>
            </a:pPr>
            <a:r>
              <a:rPr lang="en-US" altLang="zh-CN" sz="2400" b="1" dirty="0"/>
              <a:t>SQL 86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SQL 89</a:t>
            </a:r>
            <a:r>
              <a:rPr lang="zh-CN" altLang="en-US" sz="2400" b="1" dirty="0"/>
              <a:t>是单个文档。</a:t>
            </a:r>
          </a:p>
          <a:p>
            <a:pPr lvl="1" eaLnBrk="1" hangingPunct="1">
              <a:lnSpc>
                <a:spcPct val="150000"/>
              </a:lnSpc>
              <a:buSzPct val="100000"/>
              <a:buFont typeface="Wingdings" pitchFamily="2" charset="2"/>
              <a:buChar char="n"/>
            </a:pPr>
            <a:r>
              <a:rPr lang="en-US" altLang="zh-CN" sz="2400" b="1" dirty="0"/>
              <a:t>SQL 92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SQL 99</a:t>
            </a:r>
            <a:r>
              <a:rPr lang="zh-CN" altLang="en-US" sz="2400" b="1" dirty="0"/>
              <a:t>扩展为一系列开放的部分。例如，</a:t>
            </a:r>
            <a:r>
              <a:rPr lang="en-US" altLang="zh-CN" sz="2400" b="1" dirty="0"/>
              <a:t>SQL 92</a:t>
            </a:r>
            <a:r>
              <a:rPr lang="zh-CN" altLang="en-US" sz="2400" b="1" dirty="0"/>
              <a:t>增加了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调用接口、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永久存储模块；</a:t>
            </a:r>
          </a:p>
          <a:p>
            <a:pPr lvl="1" eaLnBrk="1" hangingPunct="1">
              <a:lnSpc>
                <a:spcPct val="150000"/>
              </a:lnSpc>
              <a:buSzPct val="100000"/>
              <a:buFont typeface="Wingdings" pitchFamily="2" charset="2"/>
              <a:buChar char="n"/>
            </a:pPr>
            <a:r>
              <a:rPr lang="en-US" altLang="zh-CN" sz="2400" b="1" dirty="0"/>
              <a:t>SQL 99</a:t>
            </a:r>
            <a:r>
              <a:rPr lang="zh-CN" altLang="en-US" sz="2400" b="1" dirty="0"/>
              <a:t>扩展为框架、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基础部分、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调用接口、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永久存储模块、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宿主语言绑定、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外部数据的管理和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对象语言绑定等</a:t>
            </a:r>
          </a:p>
          <a:p>
            <a:pPr lvl="1" eaLnBrk="1" hangingPunct="1">
              <a:lnSpc>
                <a:spcPct val="150000"/>
              </a:lnSpc>
              <a:buSzPct val="100000"/>
              <a:buFont typeface="Wingdings" pitchFamily="2" charset="2"/>
              <a:buChar char="n"/>
            </a:pPr>
            <a:r>
              <a:rPr lang="en-US" altLang="zh-CN" sz="2400" b="1" dirty="0"/>
              <a:t>SQL2016</a:t>
            </a:r>
            <a:r>
              <a:rPr lang="zh-CN" altLang="en-US" sz="2400" b="1" dirty="0"/>
              <a:t>扩展到了</a:t>
            </a:r>
            <a:r>
              <a:rPr lang="en-US" altLang="zh-CN" sz="2400" b="1" dirty="0"/>
              <a:t>12</a:t>
            </a:r>
            <a:r>
              <a:rPr lang="zh-CN" altLang="en-US" sz="2400" b="1" dirty="0"/>
              <a:t>个部分，引入</a:t>
            </a:r>
            <a:r>
              <a:rPr lang="en-US" altLang="zh-CN" sz="2400" b="1" dirty="0"/>
              <a:t>XML</a:t>
            </a:r>
            <a:r>
              <a:rPr lang="zh-CN" altLang="en-US" sz="2400" b="1" dirty="0"/>
              <a:t>类型、</a:t>
            </a:r>
            <a:r>
              <a:rPr lang="en-US" altLang="zh-CN" sz="2400" b="1" dirty="0"/>
              <a:t>Window</a:t>
            </a:r>
            <a:r>
              <a:rPr lang="zh-CN" altLang="en-US" sz="2400" b="1" dirty="0"/>
              <a:t>函数、</a:t>
            </a:r>
            <a:r>
              <a:rPr lang="en-US" altLang="zh-CN" sz="2400" b="1" dirty="0"/>
              <a:t>TRUNCATE</a:t>
            </a:r>
            <a:r>
              <a:rPr lang="zh-CN" altLang="en-US" sz="2400" b="1" dirty="0"/>
              <a:t>操作、时序数据以及</a:t>
            </a:r>
            <a:r>
              <a:rPr lang="en-US" altLang="zh-CN" sz="2400" b="1" dirty="0"/>
              <a:t>JSON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JavaScript Object Notation</a:t>
            </a:r>
            <a:r>
              <a:rPr lang="zh-CN" altLang="en-US" sz="2400" b="1" dirty="0"/>
              <a:t>）类型等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6">
            <a:extLst>
              <a:ext uri="{FF2B5EF4-FFF2-40B4-BE49-F238E27FC236}">
                <a16:creationId xmlns:a16="http://schemas.microsoft.com/office/drawing/2014/main" id="{B58A6974-223D-F92A-A7C9-DFF0B76992E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en-US" altLang="zh-CN" sz="3600"/>
              <a:t>3.1 SQL</a:t>
            </a:r>
            <a:r>
              <a:rPr lang="zh-CN" altLang="en-US" sz="3600"/>
              <a:t>概述</a:t>
            </a:r>
          </a:p>
        </p:txBody>
      </p:sp>
      <p:sp>
        <p:nvSpPr>
          <p:cNvPr id="12291" name="Rectangle 1027">
            <a:extLst>
              <a:ext uri="{FF2B5EF4-FFF2-40B4-BE49-F238E27FC236}">
                <a16:creationId xmlns:a16="http://schemas.microsoft.com/office/drawing/2014/main" id="{1D2D1BD0-2C1E-6BCF-BBBF-75416841444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189413" y="1339850"/>
            <a:ext cx="8002587" cy="4854575"/>
          </a:xfrm>
        </p:spPr>
        <p:txBody>
          <a:bodyPr/>
          <a:lstStyle/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 dirty="0"/>
              <a:t>3.1.1  SQL </a:t>
            </a:r>
            <a:r>
              <a:rPr lang="zh-CN" altLang="en-US" dirty="0"/>
              <a:t>的产生与发展</a:t>
            </a: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3.1.2  SQL</a:t>
            </a:r>
            <a:r>
              <a:rPr lang="zh-CN" altLang="en-US" dirty="0">
                <a:solidFill>
                  <a:srgbClr val="00B050"/>
                </a:solidFill>
              </a:rPr>
              <a:t>的特点</a:t>
            </a: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 dirty="0"/>
              <a:t>3.1.3  SQL</a:t>
            </a:r>
            <a:r>
              <a:rPr lang="zh-CN" altLang="en-US" dirty="0"/>
              <a:t>的基本概念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C4D263A-E38A-A752-FA93-5CC35B30EDD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en-US" altLang="zh-CN" sz="3600"/>
              <a:t>3.1.2 SQL</a:t>
            </a:r>
            <a:r>
              <a:rPr lang="zh-CN" altLang="en-US" sz="3600"/>
              <a:t>的特点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113DD18-5C47-29AA-8D1A-057D7A8E6A4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69925" y="981075"/>
            <a:ext cx="11522075" cy="5472113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None/>
            </a:pPr>
            <a:r>
              <a:rPr lang="en-US" altLang="zh-CN" dirty="0"/>
              <a:t>1.</a:t>
            </a:r>
            <a:r>
              <a:rPr lang="zh-CN" altLang="en-US" dirty="0"/>
              <a:t>功能综合且风格统一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集数据定义语言（</a:t>
            </a:r>
            <a:r>
              <a:rPr lang="en-US" altLang="zh-CN" dirty="0"/>
              <a:t>DDL</a:t>
            </a:r>
            <a:r>
              <a:rPr lang="zh-CN" altLang="en-US" dirty="0"/>
              <a:t>），数据操纵语言（</a:t>
            </a:r>
            <a:r>
              <a:rPr lang="en-US" altLang="zh-CN" dirty="0"/>
              <a:t>DML</a:t>
            </a:r>
            <a:r>
              <a:rPr lang="zh-CN" altLang="en-US" dirty="0"/>
              <a:t>），数据控制语言（</a:t>
            </a:r>
            <a:r>
              <a:rPr lang="en-US" altLang="zh-CN" dirty="0"/>
              <a:t>DCL</a:t>
            </a:r>
            <a:r>
              <a:rPr lang="zh-CN" altLang="en-US" dirty="0"/>
              <a:t>）功能于一体。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可以独立完成数据库生命周期中的全部活动：</a:t>
            </a:r>
          </a:p>
          <a:p>
            <a:pPr lvl="2" eaLnBrk="1" hangingPunct="1">
              <a:lnSpc>
                <a:spcPct val="120000"/>
              </a:lnSpc>
              <a:buSzPct val="87000"/>
              <a:buFont typeface="Wingdings" pitchFamily="2" charset="2"/>
              <a:buChar char="l"/>
            </a:pPr>
            <a:r>
              <a:rPr lang="zh-CN" altLang="zh-CN" sz="2200" dirty="0"/>
              <a:t>创建和删除数据库模式</a:t>
            </a:r>
          </a:p>
          <a:p>
            <a:pPr lvl="2" eaLnBrk="1" hangingPunct="1">
              <a:lnSpc>
                <a:spcPct val="120000"/>
              </a:lnSpc>
              <a:buSzPct val="87000"/>
              <a:buFont typeface="Wingdings" pitchFamily="2" charset="2"/>
              <a:buChar char="l"/>
            </a:pPr>
            <a:r>
              <a:rPr lang="zh-CN" altLang="zh-CN" sz="2200" dirty="0"/>
              <a:t>创建基本表，创建视图</a:t>
            </a:r>
          </a:p>
          <a:p>
            <a:pPr lvl="2" eaLnBrk="1" hangingPunct="1">
              <a:lnSpc>
                <a:spcPct val="120000"/>
              </a:lnSpc>
              <a:buSzPct val="87000"/>
              <a:buFont typeface="Wingdings" pitchFamily="2" charset="2"/>
              <a:buChar char="l"/>
            </a:pPr>
            <a:r>
              <a:rPr lang="zh-CN" altLang="zh-CN" sz="2200" dirty="0"/>
              <a:t>使用数据库，包括查询和增删改数据、事务处理等</a:t>
            </a:r>
          </a:p>
          <a:p>
            <a:pPr lvl="2" eaLnBrk="1" hangingPunct="1">
              <a:lnSpc>
                <a:spcPct val="120000"/>
              </a:lnSpc>
              <a:buSzPct val="87000"/>
              <a:buFont typeface="Wingdings" pitchFamily="2" charset="2"/>
              <a:buChar char="l"/>
            </a:pPr>
            <a:r>
              <a:rPr lang="zh-CN" altLang="zh-CN" sz="2200" dirty="0"/>
              <a:t>数据库控制，包括安全性控制、完整性控制和并发控制等</a:t>
            </a:r>
          </a:p>
          <a:p>
            <a:pPr lvl="2" eaLnBrk="1" hangingPunct="1">
              <a:lnSpc>
                <a:spcPct val="120000"/>
              </a:lnSpc>
              <a:buSzPct val="87000"/>
              <a:buFont typeface="Wingdings" pitchFamily="2" charset="2"/>
              <a:buChar char="l"/>
            </a:pPr>
            <a:r>
              <a:rPr lang="zh-CN" altLang="zh-CN" sz="2200" dirty="0"/>
              <a:t>数据库维护和重构，如修改和删除基本表、数据库备份与恢复等</a:t>
            </a:r>
            <a:endParaRPr lang="zh-CN" altLang="en-US" sz="2200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用户在数据库投入运行后，可根据需要随时或逐步创建模式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数据操作符统一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80C6BAD-8187-42A3-1104-770028CFF42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en-US" altLang="zh-CN" sz="3600"/>
              <a:t>SQL</a:t>
            </a:r>
            <a:r>
              <a:rPr lang="zh-CN" altLang="en-US" sz="3600"/>
              <a:t>的特点（续）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D0FDABD7-79EF-D6F1-2AF8-AD739F72B71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255838" y="1196975"/>
            <a:ext cx="9936162" cy="4854575"/>
          </a:xfrm>
        </p:spPr>
        <p:txBody>
          <a:bodyPr/>
          <a:lstStyle/>
          <a:p>
            <a:pPr marL="0" indent="0" eaLnBrk="1" hangingPunct="1">
              <a:lnSpc>
                <a:spcPct val="160000"/>
              </a:lnSpc>
              <a:buNone/>
            </a:pPr>
            <a:r>
              <a:rPr lang="en-US" altLang="zh-CN" dirty="0"/>
              <a:t>2. </a:t>
            </a:r>
            <a:r>
              <a:rPr lang="zh-CN" altLang="en-US" dirty="0"/>
              <a:t>数据操纵高度非过程化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层次、网状模型的数据操纵语言</a:t>
            </a:r>
            <a:r>
              <a:rPr lang="zh-CN" altLang="en-US" dirty="0">
                <a:solidFill>
                  <a:srgbClr val="FF00FF"/>
                </a:solidFill>
              </a:rPr>
              <a:t>面向过程</a:t>
            </a:r>
            <a:r>
              <a:rPr lang="zh-CN" altLang="en-US" dirty="0"/>
              <a:t>，必须指定存取路径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/>
              <a:t>SQL</a:t>
            </a:r>
            <a:r>
              <a:rPr lang="zh-CN" altLang="en-US" dirty="0"/>
              <a:t>只要提出“做什么”，无须了解存取路径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 存取路径的选择以及</a:t>
            </a:r>
            <a:r>
              <a:rPr lang="en-US" altLang="zh-CN" dirty="0"/>
              <a:t>SQL</a:t>
            </a:r>
            <a:r>
              <a:rPr lang="zh-CN" altLang="en-US" dirty="0"/>
              <a:t>的操作过程由系统自动完成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>
            <a:extLst>
              <a:ext uri="{FF2B5EF4-FFF2-40B4-BE49-F238E27FC236}">
                <a16:creationId xmlns:a16="http://schemas.microsoft.com/office/drawing/2014/main" id="{1D4B415B-F8A6-4165-5A9B-1F9C91DC479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en-US" altLang="zh-CN" sz="3600"/>
              <a:t>SQL</a:t>
            </a:r>
            <a:r>
              <a:rPr lang="zh-CN" altLang="en-US" sz="3600"/>
              <a:t>的特点（续）</a:t>
            </a:r>
          </a:p>
        </p:txBody>
      </p:sp>
      <p:sp>
        <p:nvSpPr>
          <p:cNvPr id="15363" name="Rectangle 1027">
            <a:extLst>
              <a:ext uri="{FF2B5EF4-FFF2-40B4-BE49-F238E27FC236}">
                <a16:creationId xmlns:a16="http://schemas.microsoft.com/office/drawing/2014/main" id="{679CBF8E-8FC8-22EC-D010-9F047EBB9B5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543175" y="1098550"/>
            <a:ext cx="9648825" cy="5226050"/>
          </a:xfrm>
        </p:spPr>
        <p:txBody>
          <a:bodyPr/>
          <a:lstStyle/>
          <a:p>
            <a:pPr marL="0" indent="0" eaLnBrk="1" hangingPunct="1">
              <a:lnSpc>
                <a:spcPct val="140000"/>
              </a:lnSpc>
              <a:buNone/>
            </a:pPr>
            <a:r>
              <a:rPr lang="en-US" altLang="zh-CN" dirty="0"/>
              <a:t>3. </a:t>
            </a:r>
            <a:r>
              <a:rPr lang="zh-CN" altLang="en-US" dirty="0"/>
              <a:t>面向集合的操作方式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层次、网状模型采用面向记录的操作方式，操作对象是一条记录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/>
              <a:t>SQL</a:t>
            </a:r>
            <a:r>
              <a:rPr lang="zh-CN" altLang="en-US" dirty="0"/>
              <a:t>采用集合操作方式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itchFamily="2" charset="2"/>
              <a:buChar char="l"/>
            </a:pPr>
            <a:r>
              <a:rPr lang="zh-CN" altLang="en-US" sz="2200" dirty="0"/>
              <a:t> 操作对象、查找结果可以是元组的集合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itchFamily="2" charset="2"/>
              <a:buChar char="l"/>
            </a:pPr>
            <a:r>
              <a:rPr lang="zh-CN" altLang="en-US" sz="2200" dirty="0"/>
              <a:t> 一次插入、删除、更新操作的对象也可以是元组的集合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>
            <a:extLst>
              <a:ext uri="{FF2B5EF4-FFF2-40B4-BE49-F238E27FC236}">
                <a16:creationId xmlns:a16="http://schemas.microsoft.com/office/drawing/2014/main" id="{8EC66526-2CE2-09CE-1F1C-F2F5C69EF75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en-US" altLang="zh-CN" sz="3600"/>
              <a:t>SQL</a:t>
            </a:r>
            <a:r>
              <a:rPr lang="zh-CN" altLang="en-US" sz="3600"/>
              <a:t>的特点（续）</a:t>
            </a:r>
          </a:p>
        </p:txBody>
      </p:sp>
      <p:sp>
        <p:nvSpPr>
          <p:cNvPr id="15363" name="Rectangle 1027">
            <a:extLst>
              <a:ext uri="{FF2B5EF4-FFF2-40B4-BE49-F238E27FC236}">
                <a16:creationId xmlns:a16="http://schemas.microsoft.com/office/drawing/2014/main" id="{BB2E7F8B-0E46-740B-F6B6-DE694A1BBDA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09750" y="1339850"/>
            <a:ext cx="10382250" cy="4854575"/>
          </a:xfrm>
        </p:spPr>
        <p:txBody>
          <a:bodyPr/>
          <a:lstStyle/>
          <a:p>
            <a:pPr marL="0" indent="0" eaLnBrk="1" hangingPunct="1">
              <a:lnSpc>
                <a:spcPct val="160000"/>
              </a:lnSpc>
              <a:buNone/>
            </a:pPr>
            <a:r>
              <a:rPr lang="en-US" altLang="zh-CN" dirty="0"/>
              <a:t>4. </a:t>
            </a:r>
            <a:r>
              <a:rPr lang="zh-CN" altLang="en-US" dirty="0"/>
              <a:t>以统一的语法结构提供多种使用方式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/>
              <a:t>SQL</a:t>
            </a:r>
            <a:r>
              <a:rPr lang="zh-CN" altLang="en-US" dirty="0"/>
              <a:t>是独立的语言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dirty="0"/>
              <a:t>    能够独立地用于联机交互的使用方式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/>
              <a:t>SQL</a:t>
            </a:r>
            <a:r>
              <a:rPr lang="zh-CN" altLang="en-US" dirty="0"/>
              <a:t>又是嵌入式语言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dirty="0"/>
              <a:t>   </a:t>
            </a:r>
            <a:r>
              <a:rPr lang="en-US" altLang="zh-CN" dirty="0"/>
              <a:t>SQL</a:t>
            </a:r>
            <a:r>
              <a:rPr lang="zh-CN" altLang="en-US" dirty="0"/>
              <a:t>能够嵌入到高级语言（例如</a:t>
            </a:r>
            <a:r>
              <a:rPr lang="en-US" altLang="zh-CN" dirty="0"/>
              <a:t>C</a:t>
            </a:r>
            <a:r>
              <a:rPr lang="zh-CN" altLang="en-US" dirty="0"/>
              <a:t>、</a:t>
            </a:r>
            <a:r>
              <a:rPr lang="en-US" altLang="zh-CN" dirty="0"/>
              <a:t>C++</a:t>
            </a:r>
            <a:r>
              <a:rPr lang="zh-CN" altLang="en-US" dirty="0"/>
              <a:t>、</a:t>
            </a:r>
            <a:r>
              <a:rPr lang="en-US" altLang="zh-CN" dirty="0"/>
              <a:t>Java</a:t>
            </a:r>
            <a:r>
              <a:rPr lang="zh-CN" altLang="en-US" dirty="0"/>
              <a:t>、</a:t>
            </a:r>
            <a:r>
              <a:rPr lang="en-US" altLang="zh-CN" dirty="0"/>
              <a:t>Python</a:t>
            </a:r>
            <a:r>
              <a:rPr lang="zh-CN" altLang="en-US" dirty="0"/>
              <a:t>）程序中，供程序员设计程序时使用</a:t>
            </a:r>
          </a:p>
          <a:p>
            <a:pPr marL="0" indent="0"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FED4F19-4821-657A-6403-01DD8AF86BC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800600" y="260350"/>
            <a:ext cx="7391400" cy="5619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z="3600"/>
              <a:t>SQL</a:t>
            </a:r>
            <a:r>
              <a:rPr lang="zh-CN" altLang="en-US" sz="3600"/>
              <a:t>的特点（续）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97C4D923-F503-2891-1A19-4321D11774FC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052513"/>
            <a:ext cx="7715250" cy="5272087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dirty="0"/>
              <a:t>5.</a:t>
            </a:r>
            <a:r>
              <a:rPr lang="zh-CN" altLang="en-US" dirty="0"/>
              <a:t>语言简洁且易学易用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/>
              <a:t>SQL</a:t>
            </a:r>
            <a:r>
              <a:rPr lang="zh-CN" altLang="en-US" dirty="0"/>
              <a:t>功能极强，完成核心功能只用</a:t>
            </a:r>
            <a:r>
              <a:rPr lang="en-US" altLang="zh-CN" dirty="0"/>
              <a:t>9</a:t>
            </a:r>
            <a:r>
              <a:rPr lang="zh-CN" altLang="en-US" dirty="0"/>
              <a:t>个动词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CC3603E-83D0-2670-CBF3-8A213CF6F1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301701"/>
              </p:ext>
            </p:extLst>
          </p:nvPr>
        </p:nvGraphicFramePr>
        <p:xfrm>
          <a:off x="2640026" y="2492375"/>
          <a:ext cx="6192278" cy="2738440"/>
        </p:xfrm>
        <a:graphic>
          <a:graphicData uri="http://schemas.openxmlformats.org/drawingml/2006/table">
            <a:tbl>
              <a:tblPr/>
              <a:tblGrid>
                <a:gridCol w="1823729">
                  <a:extLst>
                    <a:ext uri="{9D8B030D-6E8A-4147-A177-3AD203B41FA5}">
                      <a16:colId xmlns:a16="http://schemas.microsoft.com/office/drawing/2014/main" val="3534047851"/>
                    </a:ext>
                  </a:extLst>
                </a:gridCol>
                <a:gridCol w="4368549">
                  <a:extLst>
                    <a:ext uri="{9D8B030D-6E8A-4147-A177-3AD203B41FA5}">
                      <a16:colId xmlns:a16="http://schemas.microsoft.com/office/drawing/2014/main" val="2270953507"/>
                    </a:ext>
                  </a:extLst>
                </a:gridCol>
              </a:tblGrid>
              <a:tr h="5540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 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功能</a:t>
                      </a: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动词</a:t>
                      </a: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3749"/>
                  </a:ext>
                </a:extLst>
              </a:tr>
              <a:tr h="538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数据定义</a:t>
                      </a: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CREATE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DROP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ALTER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339546"/>
                  </a:ext>
                </a:extLst>
              </a:tr>
              <a:tr h="538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数据查询</a:t>
                      </a: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SELECT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173477"/>
                  </a:ext>
                </a:extLst>
              </a:tr>
              <a:tr h="538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数据操纵</a:t>
                      </a: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INSERT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UPDATE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DELETE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0698535"/>
                  </a:ext>
                </a:extLst>
              </a:tr>
              <a:tr h="569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数据控制</a:t>
                      </a: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GRANT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REVOKE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56144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1B8FA65-A7A5-5FB1-12DD-C25E83CE7EE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en-US" altLang="zh-CN" sz="3600"/>
              <a:t>3.1 SQL</a:t>
            </a:r>
            <a:r>
              <a:rPr lang="zh-CN" altLang="en-US" sz="3600"/>
              <a:t>概述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400A6462-8B6B-BBA3-84AF-16AC9C8D79B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116388" y="1339850"/>
            <a:ext cx="8075612" cy="4854575"/>
          </a:xfrm>
        </p:spPr>
        <p:txBody>
          <a:bodyPr/>
          <a:lstStyle/>
          <a:p>
            <a:pPr marL="0" indent="0" eaLnBrk="1" hangingPunct="1">
              <a:lnSpc>
                <a:spcPct val="180000"/>
              </a:lnSpc>
              <a:buNone/>
            </a:pPr>
            <a:r>
              <a:rPr lang="en-US" altLang="zh-CN" dirty="0"/>
              <a:t>3.1.1  SQL </a:t>
            </a:r>
            <a:r>
              <a:rPr lang="zh-CN" altLang="en-US" dirty="0"/>
              <a:t>的产生与发展</a:t>
            </a:r>
          </a:p>
          <a:p>
            <a:pPr marL="0" indent="0" eaLnBrk="1" hangingPunct="1">
              <a:lnSpc>
                <a:spcPct val="180000"/>
              </a:lnSpc>
              <a:buNone/>
            </a:pPr>
            <a:r>
              <a:rPr lang="en-US" altLang="zh-CN" dirty="0"/>
              <a:t>3.1.2  SQL</a:t>
            </a:r>
            <a:r>
              <a:rPr lang="zh-CN" altLang="en-US" dirty="0"/>
              <a:t>的特点</a:t>
            </a:r>
          </a:p>
          <a:p>
            <a:pPr marL="0" indent="0" eaLnBrk="1" hangingPunct="1">
              <a:lnSpc>
                <a:spcPct val="18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3.1.3  SQL</a:t>
            </a:r>
            <a:r>
              <a:rPr lang="zh-CN" altLang="en-US" dirty="0">
                <a:solidFill>
                  <a:srgbClr val="00B050"/>
                </a:solidFill>
              </a:rPr>
              <a:t>的基本概念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>
            <a:extLst>
              <a:ext uri="{FF2B5EF4-FFF2-40B4-BE49-F238E27FC236}">
                <a16:creationId xmlns:a16="http://schemas.microsoft.com/office/drawing/2014/main" id="{E866D9C6-A144-41F5-AFBD-2D833AF7A41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en-US" altLang="zh-CN" sz="3600" dirty="0"/>
              <a:t>3.1.3 SQL</a:t>
            </a:r>
            <a:r>
              <a:rPr lang="zh-CN" altLang="en-US" sz="3600" dirty="0"/>
              <a:t>的基本概念</a:t>
            </a:r>
          </a:p>
        </p:txBody>
      </p:sp>
      <p:sp>
        <p:nvSpPr>
          <p:cNvPr id="19459" name="Rectangle 1056">
            <a:extLst>
              <a:ext uri="{FF2B5EF4-FFF2-40B4-BE49-F238E27FC236}">
                <a16:creationId xmlns:a16="http://schemas.microsoft.com/office/drawing/2014/main" id="{3529EA6D-6FC0-E74A-A576-FD3F92B91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13" y="1098550"/>
            <a:ext cx="5610225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buClr>
                <a:schemeClr val="hlink"/>
              </a:buClr>
              <a:buSzTx/>
              <a:buFont typeface="Wingdings" pitchFamily="2" charset="2"/>
              <a:buNone/>
            </a:pPr>
            <a:r>
              <a:rPr lang="en-US" altLang="zh-CN"/>
              <a:t>SQL</a:t>
            </a:r>
            <a:r>
              <a:rPr lang="zh-CN" altLang="en-US"/>
              <a:t>对关系数据库三级模式的支持</a:t>
            </a:r>
          </a:p>
        </p:txBody>
      </p:sp>
      <p:pic>
        <p:nvPicPr>
          <p:cNvPr id="19460" name="图片 1">
            <a:extLst>
              <a:ext uri="{FF2B5EF4-FFF2-40B4-BE49-F238E27FC236}">
                <a16:creationId xmlns:a16="http://schemas.microsoft.com/office/drawing/2014/main" id="{FC53CD66-036C-503D-8A11-8943A6958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3" y="1866913"/>
            <a:ext cx="7427912" cy="381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B88D97E4-A359-9AC9-B9E9-18BF8BC5D36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en-US" altLang="zh-CN" sz="3600" dirty="0"/>
              <a:t>SQL</a:t>
            </a:r>
            <a:r>
              <a:rPr lang="zh-CN" altLang="en-US" sz="3600" dirty="0"/>
              <a:t>的基本概念（续）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74101127-85DB-2F44-F698-849FBEBC646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095375"/>
            <a:ext cx="8229600" cy="48545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基本表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本身独立存在的表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关系数据库管理系统中一个关系就对应一个基本表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一个或多个基本表对应一个存储文件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一个表可以带若干索引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09286C69-9FF2-DC2B-FBFA-2C34EE4176C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en-US" altLang="zh-CN" sz="3600" dirty="0"/>
              <a:t>SQL</a:t>
            </a:r>
            <a:r>
              <a:rPr lang="zh-CN" altLang="en-US" sz="3600" dirty="0"/>
              <a:t>的基本概念（续）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8FF4BDE5-8D76-3838-3EBA-66E4E6B585D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095375"/>
            <a:ext cx="8229600" cy="485457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/>
              <a:t>存储文件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/>
              <a:t>逻辑结构和物理结构组成了关系数据库的内模式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zh-CN"/>
              <a:t>物理文件结构是由数据库管理系统设计确定的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3B3ECDD6-A916-3984-DB77-9C2CFFF9DF9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en-US" altLang="zh-CN" sz="3600" dirty="0"/>
              <a:t>SQL</a:t>
            </a:r>
            <a:r>
              <a:rPr lang="zh-CN" altLang="en-US" sz="3600" dirty="0"/>
              <a:t>的基本概念（续）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4616762A-0BEC-D88D-C14B-F007E593B61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095375"/>
            <a:ext cx="8229600" cy="48545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视图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zh-CN"/>
              <a:t>从基本表或其他视图中导出的表</a:t>
            </a:r>
            <a:endParaRPr lang="en-US" altLang="zh-CN"/>
          </a:p>
          <a:p>
            <a:pPr lvl="1" eaLnBrk="1" hangingPunct="1">
              <a:lnSpc>
                <a:spcPct val="150000"/>
              </a:lnSpc>
            </a:pPr>
            <a:r>
              <a:rPr lang="zh-CN" altLang="en-US"/>
              <a:t>数据库中只存放视图的定义而不存放视图对应的数据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/>
              <a:t>视图是一个虚表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/>
              <a:t>用户可以在视图上再定义视图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页脚占位符 4">
            <a:extLst>
              <a:ext uri="{FF2B5EF4-FFF2-40B4-BE49-F238E27FC236}">
                <a16:creationId xmlns:a16="http://schemas.microsoft.com/office/drawing/2014/main" id="{AE80A1C5-5442-6290-E0F1-D52369E1FDC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743700" y="6381763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en-US" altLang="zh-CN" sz="1800" b="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337630A5-23D2-9F43-E8D7-AF03373EF97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zh-CN" altLang="en-US" sz="3600"/>
              <a:t>第三章</a:t>
            </a:r>
            <a:r>
              <a:rPr lang="zh-CN" altLang="en-US" sz="3600">
                <a:ea typeface="黑体" panose="02010609060101010101" pitchFamily="49" charset="-122"/>
              </a:rPr>
              <a:t>  </a:t>
            </a:r>
            <a:r>
              <a:rPr lang="zh-CN" altLang="en-US" sz="3600"/>
              <a:t>关系数据库标准语言</a:t>
            </a:r>
            <a:r>
              <a:rPr lang="en-US" altLang="zh-CN" sz="3600">
                <a:ea typeface="黑体" panose="02010609060101010101" pitchFamily="49" charset="-122"/>
              </a:rPr>
              <a:t>SQL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A8CAA300-9189-A169-C143-7EE00E69F13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387475"/>
            <a:ext cx="6508750" cy="4994275"/>
          </a:xfrm>
        </p:spPr>
        <p:txBody>
          <a:bodyPr/>
          <a:lstStyle/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/>
              <a:t>3.1 SQL</a:t>
            </a:r>
            <a:r>
              <a:rPr lang="zh-CN" altLang="en-US" dirty="0"/>
              <a:t>概述</a:t>
            </a:r>
            <a:endParaRPr lang="en-US" altLang="zh-CN" dirty="0"/>
          </a:p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0066FF"/>
                </a:solidFill>
              </a:rPr>
              <a:t>3.2 </a:t>
            </a:r>
            <a:r>
              <a:rPr lang="zh-CN" altLang="en-US" dirty="0">
                <a:solidFill>
                  <a:srgbClr val="0066FF"/>
                </a:solidFill>
              </a:rPr>
              <a:t>数据定义</a:t>
            </a:r>
          </a:p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/>
              <a:t>3.3 </a:t>
            </a:r>
            <a:r>
              <a:rPr lang="zh-CN" altLang="en-US" dirty="0"/>
              <a:t>数据查询</a:t>
            </a:r>
          </a:p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/>
              <a:t>3.4 </a:t>
            </a:r>
            <a:r>
              <a:rPr lang="zh-CN" altLang="en-US" dirty="0"/>
              <a:t>数据更新</a:t>
            </a:r>
            <a:endParaRPr lang="zh-CN" altLang="en-US" sz="3200" dirty="0"/>
          </a:p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/>
              <a:t>3.5 </a:t>
            </a:r>
            <a:r>
              <a:rPr lang="zh-CN" altLang="en-US" dirty="0"/>
              <a:t>空值的处理</a:t>
            </a:r>
          </a:p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/>
              <a:t>3.6 </a:t>
            </a:r>
            <a:r>
              <a:rPr lang="zh-CN" altLang="en-US" dirty="0"/>
              <a:t>视图</a:t>
            </a:r>
          </a:p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dirty="0"/>
              <a:t>本章小结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>
            <a:extLst>
              <a:ext uri="{FF2B5EF4-FFF2-40B4-BE49-F238E27FC236}">
                <a16:creationId xmlns:a16="http://schemas.microsoft.com/office/drawing/2014/main" id="{21E75961-589E-51CC-A1D4-07EDD376F64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635250" y="-33338"/>
            <a:ext cx="9556750" cy="777876"/>
          </a:xfrm>
        </p:spPr>
        <p:txBody>
          <a:bodyPr/>
          <a:lstStyle/>
          <a:p>
            <a:pPr eaLnBrk="1" hangingPunct="1"/>
            <a:r>
              <a:rPr lang="en-US" altLang="zh-CN" sz="3600" dirty="0"/>
              <a:t>3.2  </a:t>
            </a:r>
            <a:r>
              <a:rPr lang="zh-CN" altLang="en-US" sz="3600" dirty="0"/>
              <a:t>数据定义 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1CB813E2-213D-535A-7B01-5AE4271C0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7713" y="1054113"/>
            <a:ext cx="7961313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tx1"/>
              </a:buClr>
              <a:buSzPct val="100000"/>
              <a:buFont typeface="Wingdings" pitchFamily="2" charset="2"/>
              <a:buChar char="v"/>
            </a:pPr>
            <a:r>
              <a:rPr lang="en-US" altLang="zh-CN" sz="2800" b="1"/>
              <a:t>SQL</a:t>
            </a:r>
            <a:r>
              <a:rPr lang="zh-CN" altLang="en-US" sz="2800" b="1"/>
              <a:t>的数据定义功能</a:t>
            </a:r>
            <a:r>
              <a:rPr lang="en-US" altLang="zh-CN" sz="2800" b="1"/>
              <a:t>: </a:t>
            </a:r>
          </a:p>
          <a:p>
            <a:pPr lvl="1" eaLnBrk="1" hangingPunct="1">
              <a:lnSpc>
                <a:spcPct val="120000"/>
              </a:lnSpc>
              <a:buClr>
                <a:schemeClr val="tx1"/>
              </a:buClr>
              <a:buSzPct val="100000"/>
              <a:buFont typeface="Wingdings" pitchFamily="2" charset="2"/>
              <a:buChar char="n"/>
            </a:pPr>
            <a:r>
              <a:rPr lang="zh-CN" altLang="en-US" sz="2400" b="1"/>
              <a:t>数据库模式定义</a:t>
            </a:r>
            <a:endParaRPr lang="zh-CN" altLang="en-US" sz="2000" b="1"/>
          </a:p>
          <a:p>
            <a:pPr lvl="1" eaLnBrk="1" hangingPunct="1">
              <a:lnSpc>
                <a:spcPct val="120000"/>
              </a:lnSpc>
              <a:buClr>
                <a:schemeClr val="tx1"/>
              </a:buClr>
              <a:buSzPct val="100000"/>
              <a:buFont typeface="Wingdings" pitchFamily="2" charset="2"/>
              <a:buChar char="n"/>
            </a:pPr>
            <a:r>
              <a:rPr lang="zh-CN" altLang="en-US" sz="2400" b="1"/>
              <a:t>表定义</a:t>
            </a:r>
            <a:endParaRPr lang="zh-CN" altLang="en-US" sz="2000" b="1"/>
          </a:p>
          <a:p>
            <a:pPr lvl="1" eaLnBrk="1" hangingPunct="1">
              <a:lnSpc>
                <a:spcPct val="120000"/>
              </a:lnSpc>
              <a:buClr>
                <a:schemeClr val="tx1"/>
              </a:buClr>
              <a:buSzPct val="100000"/>
              <a:buFont typeface="Wingdings" pitchFamily="2" charset="2"/>
              <a:buChar char="n"/>
            </a:pPr>
            <a:r>
              <a:rPr lang="zh-CN" altLang="en-US" sz="2400" b="1"/>
              <a:t>视图和索引的定义 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757B1CE-1326-2B30-19C3-35ADA3D0A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491841"/>
              </p:ext>
            </p:extLst>
          </p:nvPr>
        </p:nvGraphicFramePr>
        <p:xfrm>
          <a:off x="1945073" y="3151741"/>
          <a:ext cx="8543415" cy="2962275"/>
        </p:xfrm>
        <a:graphic>
          <a:graphicData uri="http://schemas.openxmlformats.org/drawingml/2006/table">
            <a:tbl>
              <a:tblPr/>
              <a:tblGrid>
                <a:gridCol w="1341528">
                  <a:extLst>
                    <a:ext uri="{9D8B030D-6E8A-4147-A177-3AD203B41FA5}">
                      <a16:colId xmlns:a16="http://schemas.microsoft.com/office/drawing/2014/main" val="3023997088"/>
                    </a:ext>
                  </a:extLst>
                </a:gridCol>
                <a:gridCol w="2334521">
                  <a:extLst>
                    <a:ext uri="{9D8B030D-6E8A-4147-A177-3AD203B41FA5}">
                      <a16:colId xmlns:a16="http://schemas.microsoft.com/office/drawing/2014/main" val="1764543026"/>
                    </a:ext>
                  </a:extLst>
                </a:gridCol>
                <a:gridCol w="2133872">
                  <a:extLst>
                    <a:ext uri="{9D8B030D-6E8A-4147-A177-3AD203B41FA5}">
                      <a16:colId xmlns:a16="http://schemas.microsoft.com/office/drawing/2014/main" val="3583329826"/>
                    </a:ext>
                  </a:extLst>
                </a:gridCol>
                <a:gridCol w="2733494">
                  <a:extLst>
                    <a:ext uri="{9D8B030D-6E8A-4147-A177-3AD203B41FA5}">
                      <a16:colId xmlns:a16="http://schemas.microsoft.com/office/drawing/2014/main" val="4148196477"/>
                    </a:ext>
                  </a:extLst>
                </a:gridCol>
              </a:tblGrid>
              <a:tr h="48260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操作对象</a:t>
                      </a: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操作方式</a:t>
                      </a: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069304"/>
                  </a:ext>
                </a:extLst>
              </a:tr>
              <a:tr h="482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创建</a:t>
                      </a: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删除</a:t>
                      </a: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修改</a:t>
                      </a: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7462670"/>
                  </a:ext>
                </a:extLst>
              </a:tr>
              <a:tr h="549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数据库模式</a:t>
                      </a: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CREATE SCHEMA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DROP SCHEMA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*SQL</a:t>
                      </a: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标准无修改语句</a:t>
                      </a: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570373"/>
                  </a:ext>
                </a:extLst>
              </a:tr>
              <a:tr h="482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表</a:t>
                      </a: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CREATE TABLE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DROP TABLE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ALTER TABLE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129375"/>
                  </a:ext>
                </a:extLst>
              </a:tr>
              <a:tr h="482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视图</a:t>
                      </a: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CREATE VIEW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DROP VIEW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685786"/>
                  </a:ext>
                </a:extLst>
              </a:tr>
              <a:tr h="482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索引</a:t>
                      </a: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*CREATE INDEX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*DROP INDEX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*ALTER INDEX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71126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>
            <a:extLst>
              <a:ext uri="{FF2B5EF4-FFF2-40B4-BE49-F238E27FC236}">
                <a16:creationId xmlns:a16="http://schemas.microsoft.com/office/drawing/2014/main" id="{6D82973C-6E55-F4C9-8D3C-71D8F48A78C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88913"/>
            <a:ext cx="6105525" cy="5635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sz="3600"/>
              <a:t>模式</a:t>
            </a:r>
          </a:p>
        </p:txBody>
      </p:sp>
      <p:sp>
        <p:nvSpPr>
          <p:cNvPr id="26627" name="内容占位符 2">
            <a:extLst>
              <a:ext uri="{FF2B5EF4-FFF2-40B4-BE49-F238E27FC236}">
                <a16:creationId xmlns:a16="http://schemas.microsoft.com/office/drawing/2014/main" id="{91B258FE-605C-2363-059D-46EC6D6E2307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463675" y="3573463"/>
            <a:ext cx="10728325" cy="259238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关系数据库管理系统提供层次化的数据库对象命名机制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一个关系数据库管理系统的实例（</a:t>
            </a:r>
            <a:r>
              <a:rPr lang="en-US" altLang="zh-CN" dirty="0"/>
              <a:t>Instance</a:t>
            </a:r>
            <a:r>
              <a:rPr lang="zh-CN" altLang="en-US" dirty="0"/>
              <a:t>）中可以建立多个数据库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一个数据库中可以建立多个模式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一个模式下通常包括多个表、视图和索引等数据库对象</a:t>
            </a:r>
          </a:p>
        </p:txBody>
      </p:sp>
      <p:sp>
        <p:nvSpPr>
          <p:cNvPr id="26628" name="Rectangle 9">
            <a:extLst>
              <a:ext uri="{FF2B5EF4-FFF2-40B4-BE49-F238E27FC236}">
                <a16:creationId xmlns:a16="http://schemas.microsoft.com/office/drawing/2014/main" id="{D1AB304A-D738-168F-0D43-D758E58E6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1157301"/>
            <a:ext cx="3529012" cy="2200275"/>
          </a:xfrm>
          <a:prstGeom prst="rect">
            <a:avLst/>
          </a:prstGeom>
          <a:noFill/>
          <a:ln w="9525">
            <a:solidFill>
              <a:srgbClr val="FF5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zh-CN" altLang="en-US" sz="1800" b="0"/>
          </a:p>
        </p:txBody>
      </p:sp>
      <p:sp>
        <p:nvSpPr>
          <p:cNvPr id="26629" name="矩形 12">
            <a:extLst>
              <a:ext uri="{FF2B5EF4-FFF2-40B4-BE49-F238E27FC236}">
                <a16:creationId xmlns:a16="http://schemas.microsoft.com/office/drawing/2014/main" id="{9CB4EECA-5743-2A33-6788-1DCED1413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2451" y="1300163"/>
            <a:ext cx="3921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2000"/>
              <a:t>数据库（有的系统称为目录）</a:t>
            </a:r>
          </a:p>
        </p:txBody>
      </p:sp>
      <p:sp>
        <p:nvSpPr>
          <p:cNvPr id="26630" name="AutoShape 10">
            <a:extLst>
              <a:ext uri="{FF2B5EF4-FFF2-40B4-BE49-F238E27FC236}">
                <a16:creationId xmlns:a16="http://schemas.microsoft.com/office/drawing/2014/main" id="{3B056B1C-4623-6758-511D-C01853098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2163" y="1700226"/>
            <a:ext cx="252413" cy="409575"/>
          </a:xfrm>
          <a:prstGeom prst="downArrow">
            <a:avLst>
              <a:gd name="adj1" fmla="val 50000"/>
              <a:gd name="adj2" fmla="val 58265"/>
            </a:avLst>
          </a:prstGeom>
          <a:solidFill>
            <a:srgbClr val="FFFFFF"/>
          </a:solidFill>
          <a:ln w="9525">
            <a:solidFill>
              <a:srgbClr val="FF5050"/>
            </a:solidFill>
            <a:miter lim="800000"/>
            <a:headEnd/>
            <a:tailEnd/>
          </a:ln>
        </p:spPr>
        <p:txBody>
          <a:bodyPr vert="eaVert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26631" name="矩形 14">
            <a:extLst>
              <a:ext uri="{FF2B5EF4-FFF2-40B4-BE49-F238E27FC236}">
                <a16:creationId xmlns:a16="http://schemas.microsoft.com/office/drawing/2014/main" id="{DE40A46F-D89C-2E7E-288A-E275955E3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2763" y="2109788"/>
            <a:ext cx="1511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2000"/>
              <a:t>模式</a:t>
            </a:r>
          </a:p>
        </p:txBody>
      </p:sp>
      <p:sp>
        <p:nvSpPr>
          <p:cNvPr id="26632" name="矩形 15">
            <a:extLst>
              <a:ext uri="{FF2B5EF4-FFF2-40B4-BE49-F238E27FC236}">
                <a16:creationId xmlns:a16="http://schemas.microsoft.com/office/drawing/2014/main" id="{1ABBBD50-9344-CACF-E983-BF7748EBD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51" y="2813050"/>
            <a:ext cx="2605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2000"/>
              <a:t>表以及视图、索引等</a:t>
            </a:r>
          </a:p>
        </p:txBody>
      </p:sp>
      <p:sp>
        <p:nvSpPr>
          <p:cNvPr id="26633" name="AutoShape 10">
            <a:extLst>
              <a:ext uri="{FF2B5EF4-FFF2-40B4-BE49-F238E27FC236}">
                <a16:creationId xmlns:a16="http://schemas.microsoft.com/office/drawing/2014/main" id="{032E11DA-4177-A91C-DDFE-4DEB13BBA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676" y="2473338"/>
            <a:ext cx="249237" cy="411163"/>
          </a:xfrm>
          <a:prstGeom prst="downArrow">
            <a:avLst>
              <a:gd name="adj1" fmla="val 50000"/>
              <a:gd name="adj2" fmla="val 58205"/>
            </a:avLst>
          </a:prstGeom>
          <a:solidFill>
            <a:srgbClr val="FFFFFF"/>
          </a:solidFill>
          <a:ln w="9525">
            <a:solidFill>
              <a:srgbClr val="FF5050"/>
            </a:solidFill>
            <a:miter lim="800000"/>
            <a:headEnd/>
            <a:tailEnd/>
          </a:ln>
        </p:spPr>
        <p:txBody>
          <a:bodyPr vert="eaVert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zh-CN" altLang="en-US"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F18A4553-C7EC-21B8-46B2-EC3A4AF7278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en-US" altLang="zh-CN" sz="3600"/>
              <a:t>3.2 </a:t>
            </a:r>
            <a:r>
              <a:rPr lang="zh-CN" altLang="en-US" sz="3600"/>
              <a:t>数据定义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05B163C6-BE3A-3C39-74D0-1413FE433B9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116388" y="1339850"/>
            <a:ext cx="8075612" cy="4854575"/>
          </a:xfrm>
        </p:spPr>
        <p:txBody>
          <a:bodyPr/>
          <a:lstStyle/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3.2.1 </a:t>
            </a:r>
            <a:r>
              <a:rPr lang="zh-CN" altLang="en-US" dirty="0">
                <a:solidFill>
                  <a:srgbClr val="00B050"/>
                </a:solidFill>
              </a:rPr>
              <a:t>模式的定义与删除</a:t>
            </a: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 dirty="0"/>
              <a:t>3.2.2 </a:t>
            </a:r>
            <a:r>
              <a:rPr lang="zh-CN" altLang="en-US" dirty="0"/>
              <a:t>基本表的定义、删除与修改</a:t>
            </a: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 dirty="0"/>
              <a:t>3.2.3 </a:t>
            </a:r>
            <a:r>
              <a:rPr lang="zh-CN" altLang="en-US" dirty="0"/>
              <a:t>索引的建立与删除</a:t>
            </a:r>
            <a:endParaRPr lang="en-US" altLang="zh-CN" dirty="0"/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 dirty="0"/>
              <a:t>3.2.4 </a:t>
            </a:r>
            <a:r>
              <a:rPr lang="zh-CN" altLang="en-US" dirty="0"/>
              <a:t>数据字典</a:t>
            </a:r>
          </a:p>
          <a:p>
            <a:pPr marL="0" indent="0"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EC20EA41-F9B4-46DC-71C0-1C629EE5594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en-US" altLang="zh-CN" sz="3600"/>
              <a:t>1. </a:t>
            </a:r>
            <a:r>
              <a:rPr lang="zh-CN" altLang="en-US" sz="3600"/>
              <a:t>定义模式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11E74BB-B81B-CA85-28E3-C6B3EB6F0A8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144838" y="1098550"/>
            <a:ext cx="9047162" cy="4495800"/>
          </a:xfrm>
        </p:spPr>
        <p:txBody>
          <a:bodyPr/>
          <a:lstStyle/>
          <a:p>
            <a:pPr eaLnBrk="1" hangingPunct="1">
              <a:lnSpc>
                <a:spcPct val="200000"/>
              </a:lnSpc>
              <a:buFont typeface="Wingdings" pitchFamily="2" charset="2"/>
              <a:buNone/>
            </a:pPr>
            <a:r>
              <a:rPr lang="en-US" altLang="zh-CN" sz="2400" dirty="0"/>
              <a:t>    [</a:t>
            </a:r>
            <a:r>
              <a:rPr lang="zh-CN" altLang="en-US" sz="2400" dirty="0"/>
              <a:t>例</a:t>
            </a:r>
            <a:r>
              <a:rPr lang="en-US" altLang="zh-CN" sz="2400" dirty="0"/>
              <a:t>3.1] </a:t>
            </a:r>
            <a:r>
              <a:rPr lang="zh-CN" altLang="en-US" sz="2400" dirty="0"/>
              <a:t>为用户</a:t>
            </a:r>
            <a:r>
              <a:rPr lang="en-US" altLang="zh-CN" sz="2400" dirty="0"/>
              <a:t>WANG</a:t>
            </a:r>
            <a:r>
              <a:rPr lang="zh-CN" altLang="en-US" sz="2400" dirty="0"/>
              <a:t>定义一个“学生选课”模式</a:t>
            </a:r>
            <a:r>
              <a:rPr lang="en-US" altLang="zh-CN" sz="2400" dirty="0"/>
              <a:t>S-C-SC</a:t>
            </a:r>
          </a:p>
          <a:p>
            <a:pPr eaLnBrk="1" hangingPunct="1">
              <a:lnSpc>
                <a:spcPct val="200000"/>
              </a:lnSpc>
              <a:buFont typeface="Wingdings" pitchFamily="2" charset="2"/>
              <a:buNone/>
            </a:pPr>
            <a:r>
              <a:rPr lang="en-US" altLang="zh-CN" sz="2400" dirty="0"/>
              <a:t>            CREATE SCHEMA “S-C-SC” AUTHORIZATION WANG;</a:t>
            </a:r>
          </a:p>
          <a:p>
            <a:pPr eaLnBrk="1" hangingPunct="1">
              <a:lnSpc>
                <a:spcPct val="200000"/>
              </a:lnSpc>
              <a:buFont typeface="Wingdings" pitchFamily="2" charset="2"/>
              <a:buNone/>
            </a:pPr>
            <a:r>
              <a:rPr lang="en-US" altLang="zh-CN" sz="2400" dirty="0"/>
              <a:t>    [</a:t>
            </a:r>
            <a:r>
              <a:rPr lang="zh-CN" altLang="en-US" sz="2400" dirty="0"/>
              <a:t>例</a:t>
            </a:r>
            <a:r>
              <a:rPr lang="en-US" altLang="zh-CN" sz="2400" dirty="0"/>
              <a:t>3.2] CREATE SCHEMA AUTHORIZATION WANG</a:t>
            </a:r>
            <a:r>
              <a:rPr lang="zh-CN" altLang="en-US" sz="2400" dirty="0"/>
              <a:t>;</a:t>
            </a:r>
          </a:p>
          <a:p>
            <a:pPr lvl="1" eaLnBrk="1" hangingPunct="1">
              <a:lnSpc>
                <a:spcPct val="200000"/>
              </a:lnSpc>
              <a:buFont typeface="Wingdings" pitchFamily="2" charset="2"/>
              <a:buNone/>
            </a:pPr>
            <a:r>
              <a:rPr lang="zh-CN" altLang="en-US" dirty="0"/>
              <a:t>  该语句没有指定</a:t>
            </a:r>
            <a:r>
              <a:rPr lang="en-US" altLang="zh-CN" dirty="0"/>
              <a:t>&lt;</a:t>
            </a:r>
            <a:r>
              <a:rPr lang="zh-CN" altLang="en-US" dirty="0"/>
              <a:t>模式名</a:t>
            </a:r>
            <a:r>
              <a:rPr lang="en-US" altLang="zh-CN" dirty="0"/>
              <a:t>&gt;</a:t>
            </a:r>
            <a:r>
              <a:rPr lang="zh-CN" altLang="en-US" dirty="0"/>
              <a:t>，</a:t>
            </a:r>
            <a:r>
              <a:rPr lang="en-US" altLang="zh-CN" dirty="0"/>
              <a:t>&lt;</a:t>
            </a:r>
            <a:r>
              <a:rPr lang="zh-CN" altLang="en-US" dirty="0"/>
              <a:t>模式名</a:t>
            </a:r>
            <a:r>
              <a:rPr lang="en-US" altLang="zh-CN" dirty="0"/>
              <a:t>&gt;</a:t>
            </a:r>
            <a:r>
              <a:rPr lang="zh-CN" altLang="en-US" dirty="0"/>
              <a:t>隐含为用户名</a:t>
            </a:r>
            <a:r>
              <a:rPr lang="en-US" altLang="zh-CN" dirty="0"/>
              <a:t>WANG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0E43A6BD-F136-F042-D475-C8F27B350B9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zh-CN" altLang="en-US" sz="3600"/>
              <a:t>定义模式（续）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7BBBBB57-6FCC-7386-6917-23E768E6990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759075" y="1196975"/>
            <a:ext cx="9432925" cy="48545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600" dirty="0"/>
              <a:t>定义模式实际上定义了一个</a:t>
            </a:r>
            <a:r>
              <a:rPr lang="zh-CN" altLang="en-US" sz="2600" dirty="0">
                <a:solidFill>
                  <a:srgbClr val="FF00FF"/>
                </a:solidFill>
              </a:rPr>
              <a:t>命名空间</a:t>
            </a:r>
            <a:r>
              <a:rPr lang="zh-CN" altLang="en-US" sz="2600" dirty="0"/>
              <a:t>。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600" dirty="0"/>
              <a:t>在这个空间中可以定义该模式包含的数据库对象，例如基本表、视图、索引等。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600" dirty="0"/>
              <a:t>在</a:t>
            </a:r>
            <a:r>
              <a:rPr lang="en-US" altLang="zh-CN" sz="2600" dirty="0"/>
              <a:t>CREATE SCHEMA</a:t>
            </a:r>
            <a:r>
              <a:rPr lang="zh-CN" altLang="en-US" sz="2600" dirty="0"/>
              <a:t>中可以接受</a:t>
            </a:r>
            <a:r>
              <a:rPr lang="en-US" altLang="zh-CN" sz="2600" dirty="0"/>
              <a:t>CREATE TABLE</a:t>
            </a:r>
            <a:r>
              <a:rPr lang="zh-CN" altLang="en-US" sz="2600" dirty="0"/>
              <a:t>，</a:t>
            </a:r>
            <a:r>
              <a:rPr lang="en-US" altLang="zh-CN" sz="2600" dirty="0"/>
              <a:t>CREATE VIEW</a:t>
            </a:r>
            <a:r>
              <a:rPr lang="zh-CN" altLang="en-US" sz="2600" dirty="0"/>
              <a:t>和</a:t>
            </a:r>
            <a:r>
              <a:rPr lang="en-US" altLang="zh-CN" sz="2600" dirty="0"/>
              <a:t>GRANT</a:t>
            </a:r>
            <a:r>
              <a:rPr lang="zh-CN" altLang="en-US" sz="2600" dirty="0"/>
              <a:t>子句。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dirty="0"/>
              <a:t>   </a:t>
            </a:r>
            <a:r>
              <a:rPr lang="zh-CN" altLang="en-US" sz="2400" dirty="0"/>
              <a:t> </a:t>
            </a:r>
            <a:r>
              <a:rPr lang="en-US" altLang="zh-CN" sz="2400" dirty="0"/>
              <a:t>CREATE SCHEMA &lt;</a:t>
            </a:r>
            <a:r>
              <a:rPr lang="zh-CN" altLang="en-US" sz="2400" dirty="0"/>
              <a:t>模式名</a:t>
            </a:r>
            <a:r>
              <a:rPr lang="en-US" altLang="zh-CN" sz="2400" dirty="0"/>
              <a:t>&gt; AUTHORIZATION &lt;</a:t>
            </a:r>
            <a:r>
              <a:rPr lang="zh-CN" altLang="en-US" sz="2400" dirty="0"/>
              <a:t>用户名</a:t>
            </a:r>
            <a:r>
              <a:rPr lang="en-US" altLang="zh-CN" sz="2400" dirty="0"/>
              <a:t>&gt;[&lt;</a:t>
            </a:r>
            <a:r>
              <a:rPr lang="zh-CN" altLang="en-US" sz="2400" dirty="0"/>
              <a:t>表定义子句</a:t>
            </a:r>
            <a:r>
              <a:rPr lang="en-US" altLang="zh-CN" sz="2400" dirty="0"/>
              <a:t>&gt;|&lt;</a:t>
            </a:r>
            <a:r>
              <a:rPr lang="zh-CN" altLang="en-US" sz="2400" dirty="0"/>
              <a:t>视图定义子句</a:t>
            </a:r>
            <a:r>
              <a:rPr lang="en-US" altLang="zh-CN" sz="2400" dirty="0"/>
              <a:t>&gt;|&lt;</a:t>
            </a:r>
            <a:r>
              <a:rPr lang="zh-CN" altLang="en-US" sz="2400" dirty="0"/>
              <a:t>授权定义子句</a:t>
            </a:r>
            <a:r>
              <a:rPr lang="en-US" altLang="zh-CN" sz="2400" dirty="0"/>
              <a:t>&gt;]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070B7A42-25E1-D6D5-B641-85645264D31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zh-CN" altLang="en-US" sz="3600"/>
              <a:t>定义模式（续）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47B397C4-A022-F0F5-1498-0B7FC4648C2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665288" y="1339850"/>
            <a:ext cx="10526712" cy="48545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/>
              <a:t>［例</a:t>
            </a:r>
            <a:r>
              <a:rPr lang="en-US" altLang="zh-CN" sz="2400" dirty="0"/>
              <a:t>3.3</a:t>
            </a:r>
            <a:r>
              <a:rPr lang="zh-CN" altLang="en-US" sz="2400" dirty="0"/>
              <a:t>］ 为用户</a:t>
            </a:r>
            <a:r>
              <a:rPr lang="en-US" altLang="zh-CN" sz="2400" dirty="0"/>
              <a:t>ZHANG</a:t>
            </a:r>
            <a:r>
              <a:rPr lang="zh-CN" altLang="en-US" sz="2400" dirty="0"/>
              <a:t>创建一个模式</a:t>
            </a:r>
            <a:r>
              <a:rPr lang="en-US" altLang="zh-CN" sz="2400" dirty="0"/>
              <a:t>Test</a:t>
            </a:r>
            <a:r>
              <a:rPr lang="zh-CN" altLang="en-US" sz="2400" dirty="0"/>
              <a:t>，并且在其中定义一个表</a:t>
            </a:r>
            <a:r>
              <a:rPr lang="en-US" altLang="zh-CN" sz="2400" dirty="0"/>
              <a:t>Tab1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4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CREATE SCHEMA Test AUTHORIZATION Zhang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CREATE TABLE Tab1(Col1 SMALLINT,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                   		      Col2 INT,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			                 Col3 CHAR(20),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                   		      Col4 NUMERIC(10,3),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                                       Col5 DECIMAL(5,2)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                                     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/>
              <a:t>   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1BBC0C3-0503-4D0A-0446-2C589BD2DCB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en-US" altLang="zh-CN" sz="3600"/>
              <a:t>2. </a:t>
            </a:r>
            <a:r>
              <a:rPr lang="zh-CN" altLang="en-US" sz="3600"/>
              <a:t>删除模式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2EBF9EDD-138F-844C-5027-F9EC74E3B4C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098550"/>
            <a:ext cx="8229600" cy="4810125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en-US" altLang="zh-CN" sz="2400"/>
              <a:t>DROP SCHEMA &lt;</a:t>
            </a:r>
            <a:r>
              <a:rPr lang="zh-CN" altLang="en-US" sz="2400"/>
              <a:t>模式名</a:t>
            </a:r>
            <a:r>
              <a:rPr lang="en-US" altLang="zh-CN" sz="2400"/>
              <a:t>&gt; &lt;CASCADE|RESTRICT&gt;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zh-CN"/>
              <a:t>CASCADE（</a:t>
            </a:r>
            <a:r>
              <a:rPr lang="zh-CN" altLang="en-US"/>
              <a:t>级联</a:t>
            </a:r>
            <a:r>
              <a:rPr lang="en-US" altLang="zh-CN"/>
              <a:t>）</a:t>
            </a:r>
          </a:p>
          <a:p>
            <a:pPr lvl="2" eaLnBrk="1" hangingPunct="1">
              <a:lnSpc>
                <a:spcPct val="140000"/>
              </a:lnSpc>
              <a:buSzPct val="87000"/>
              <a:buFont typeface="Wingdings" pitchFamily="2" charset="2"/>
              <a:buChar char="l"/>
            </a:pPr>
            <a:r>
              <a:rPr lang="zh-CN" altLang="en-US" sz="2200"/>
              <a:t>删除模式的同时把该模式中所有的数据库对象全部删除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zh-CN"/>
              <a:t>RESTRICT（</a:t>
            </a:r>
            <a:r>
              <a:rPr lang="zh-CN" altLang="en-US"/>
              <a:t>限制</a:t>
            </a:r>
            <a:r>
              <a:rPr lang="en-US" altLang="zh-CN"/>
              <a:t>）</a:t>
            </a:r>
          </a:p>
          <a:p>
            <a:pPr lvl="2" eaLnBrk="1" hangingPunct="1">
              <a:lnSpc>
                <a:spcPct val="140000"/>
              </a:lnSpc>
              <a:buSzPct val="87000"/>
              <a:buFont typeface="Wingdings" pitchFamily="2" charset="2"/>
              <a:buChar char="l"/>
            </a:pPr>
            <a:r>
              <a:rPr lang="zh-CN" altLang="en-US" sz="2200"/>
              <a:t>如果该模式中定义了数据库对象（如表、视图等），则拒绝该删除语句的执行。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/>
              <a:t>仅当该模式中没有任何下属的对象时才能执行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213411B1-D14D-2798-3555-345466C95B2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zh-CN" altLang="en-US" sz="3600"/>
              <a:t>删除模式（续）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9FD6DF34-138E-4876-1C7A-6F30AA29B16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36725" y="1339850"/>
            <a:ext cx="10455275" cy="485457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3.4]  DROP SCHEMA Test CASCADE</a:t>
            </a:r>
            <a:r>
              <a:rPr lang="zh-CN" altLang="en-US" sz="2400" dirty="0"/>
              <a:t>;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endParaRPr lang="zh-CN" altLang="en-US" sz="24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/>
              <a:t>         删除模式</a:t>
            </a:r>
            <a:r>
              <a:rPr lang="en-US" altLang="zh-CN" sz="2400" dirty="0"/>
              <a:t>Test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         </a:t>
            </a:r>
            <a:r>
              <a:rPr lang="zh-CN" altLang="en-US" sz="2400" dirty="0"/>
              <a:t>该模式中定义的表</a:t>
            </a:r>
            <a:r>
              <a:rPr lang="en-US" altLang="zh-CN" sz="2400" dirty="0"/>
              <a:t>Tab1</a:t>
            </a:r>
            <a:r>
              <a:rPr lang="zh-CN" altLang="en-US" sz="2400" dirty="0"/>
              <a:t>也被删除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D69B98B4-E130-3F0C-B1AC-DCA1FEDC8D6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en-US" altLang="zh-CN" sz="3600"/>
              <a:t>3.2 </a:t>
            </a:r>
            <a:r>
              <a:rPr lang="zh-CN" altLang="en-US" sz="3600"/>
              <a:t>数据定义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8613AA33-67FB-4980-AD23-D13A288B178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189413" y="1339850"/>
            <a:ext cx="8002587" cy="4854575"/>
          </a:xfrm>
        </p:spPr>
        <p:txBody>
          <a:bodyPr/>
          <a:lstStyle/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 dirty="0"/>
              <a:t>3.2.1 </a:t>
            </a:r>
            <a:r>
              <a:rPr lang="zh-CN" altLang="en-US" dirty="0"/>
              <a:t>模式的定义与删除</a:t>
            </a: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3.2.2 </a:t>
            </a:r>
            <a:r>
              <a:rPr lang="zh-CN" altLang="en-US" dirty="0">
                <a:solidFill>
                  <a:srgbClr val="00B050"/>
                </a:solidFill>
              </a:rPr>
              <a:t>基本表的定义、删除与修改</a:t>
            </a: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 dirty="0"/>
              <a:t>3.2.3 </a:t>
            </a:r>
            <a:r>
              <a:rPr lang="zh-CN" altLang="en-US" dirty="0"/>
              <a:t>索引的建立与删除</a:t>
            </a:r>
            <a:endParaRPr lang="en-US" altLang="zh-CN" dirty="0"/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 dirty="0"/>
              <a:t>3.2.4 </a:t>
            </a:r>
            <a:r>
              <a:rPr lang="zh-CN" altLang="en-US" dirty="0"/>
              <a:t>数据字典</a:t>
            </a:r>
          </a:p>
          <a:p>
            <a:pPr marL="0" indent="0" eaLnBrk="1" hangingPunct="1">
              <a:lnSpc>
                <a:spcPct val="190000"/>
              </a:lnSpc>
              <a:buNone/>
            </a:pPr>
            <a:endParaRPr lang="zh-CN" altLang="en-US" dirty="0"/>
          </a:p>
          <a:p>
            <a:pPr marL="0" indent="0"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C8098199-FD21-5948-4E13-A2D5A3C52F7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zh-CN" altLang="en-US" sz="3600"/>
              <a:t>定义基本表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7EC68A8-3947-8685-430A-95A180F6B37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398713" y="981075"/>
            <a:ext cx="9793287" cy="5472113"/>
          </a:xfrm>
        </p:spPr>
        <p:txBody>
          <a:bodyPr/>
          <a:lstStyle/>
          <a:p>
            <a:pPr algn="just" eaLnBrk="1" hangingPunct="1"/>
            <a:r>
              <a:rPr lang="en-US" altLang="zh-CN" dirty="0"/>
              <a:t>1.</a:t>
            </a:r>
            <a:r>
              <a:rPr lang="zh-CN" altLang="en-US" dirty="0"/>
              <a:t>定义基本表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1800" dirty="0"/>
              <a:t>		</a:t>
            </a:r>
            <a:r>
              <a:rPr lang="en-US" altLang="zh-CN" sz="2200" dirty="0"/>
              <a:t>CREATE TABLE &lt;</a:t>
            </a:r>
            <a:r>
              <a:rPr lang="zh-CN" altLang="en-US" sz="2200" dirty="0"/>
              <a:t>表名</a:t>
            </a:r>
            <a:r>
              <a:rPr lang="en-US" altLang="zh-CN" sz="2200" dirty="0"/>
              <a:t>&gt;</a:t>
            </a:r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sz="2200" dirty="0"/>
              <a:t>      </a:t>
            </a:r>
            <a:r>
              <a:rPr lang="zh-CN" altLang="en-US" sz="2200" dirty="0"/>
              <a:t>(</a:t>
            </a:r>
            <a:r>
              <a:rPr lang="en-US" altLang="zh-CN" sz="2200" dirty="0"/>
              <a:t>&lt;</a:t>
            </a:r>
            <a:r>
              <a:rPr lang="zh-CN" altLang="en-US" sz="2200" dirty="0"/>
              <a:t>列名</a:t>
            </a:r>
            <a:r>
              <a:rPr lang="en-US" altLang="zh-CN" sz="2200" dirty="0"/>
              <a:t>&gt; &lt;</a:t>
            </a:r>
            <a:r>
              <a:rPr lang="zh-CN" altLang="en-US" sz="2200" dirty="0"/>
              <a:t>数据类型</a:t>
            </a:r>
            <a:r>
              <a:rPr lang="en-US" altLang="zh-CN" sz="2200" dirty="0"/>
              <a:t>&gt;[ &lt;</a:t>
            </a:r>
            <a:r>
              <a:rPr lang="zh-CN" altLang="en-US" sz="2200" dirty="0"/>
              <a:t>列级完整性约束</a:t>
            </a:r>
            <a:r>
              <a:rPr lang="en-US" altLang="zh-CN" sz="2200" dirty="0"/>
              <a:t> ]</a:t>
            </a:r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sz="2200" dirty="0"/>
              <a:t>      [</a:t>
            </a:r>
            <a:r>
              <a:rPr lang="zh-CN" altLang="en-US" sz="2200" dirty="0"/>
              <a:t>,</a:t>
            </a:r>
            <a:r>
              <a:rPr lang="en-US" altLang="zh-CN" sz="2200" dirty="0"/>
              <a:t>&lt;</a:t>
            </a:r>
            <a:r>
              <a:rPr lang="zh-CN" altLang="en-US" sz="2200" dirty="0"/>
              <a:t>列名</a:t>
            </a:r>
            <a:r>
              <a:rPr lang="en-US" altLang="zh-CN" sz="2200" dirty="0"/>
              <a:t>&gt; &lt;</a:t>
            </a:r>
            <a:r>
              <a:rPr lang="zh-CN" altLang="en-US" sz="2200" dirty="0"/>
              <a:t>数据类型</a:t>
            </a:r>
            <a:r>
              <a:rPr lang="en-US" altLang="zh-CN" sz="2200" dirty="0"/>
              <a:t>&gt;[ &lt;</a:t>
            </a:r>
            <a:r>
              <a:rPr lang="zh-CN" altLang="en-US" sz="2200" dirty="0"/>
              <a:t>列级完整性约束</a:t>
            </a:r>
            <a:r>
              <a:rPr lang="en-US" altLang="zh-CN" sz="2200" dirty="0"/>
              <a:t>&gt;] ] </a:t>
            </a:r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sz="2200" dirty="0">
                <a:latin typeface="Courier New" panose="02070309020205020404" pitchFamily="49" charset="0"/>
              </a:rPr>
              <a:t>   …</a:t>
            </a:r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sz="2200" dirty="0"/>
              <a:t>      [</a:t>
            </a:r>
            <a:r>
              <a:rPr lang="zh-CN" altLang="en-US" sz="2200" dirty="0"/>
              <a:t>,</a:t>
            </a:r>
            <a:r>
              <a:rPr lang="en-US" altLang="zh-CN" sz="2200" dirty="0"/>
              <a:t>&lt;</a:t>
            </a:r>
            <a:r>
              <a:rPr lang="zh-CN" altLang="en-US" sz="2200" dirty="0"/>
              <a:t>表级完整性约束</a:t>
            </a:r>
            <a:r>
              <a:rPr lang="en-US" altLang="zh-CN" sz="2200" dirty="0"/>
              <a:t>&gt; ] </a:t>
            </a:r>
            <a:r>
              <a:rPr lang="zh-CN" altLang="en-US" sz="2200" dirty="0"/>
              <a:t>);</a:t>
            </a:r>
          </a:p>
          <a:p>
            <a:pPr lvl="1" algn="just" eaLnBrk="1" hangingPunct="1"/>
            <a:r>
              <a:rPr lang="en-US" altLang="zh-CN" dirty="0">
                <a:solidFill>
                  <a:srgbClr val="FF00FF"/>
                </a:solidFill>
              </a:rPr>
              <a:t>&lt;</a:t>
            </a:r>
            <a:r>
              <a:rPr lang="zh-CN" altLang="en-US" dirty="0">
                <a:solidFill>
                  <a:srgbClr val="FF00FF"/>
                </a:solidFill>
              </a:rPr>
              <a:t>表名</a:t>
            </a:r>
            <a:r>
              <a:rPr lang="en-US" altLang="zh-CN" dirty="0">
                <a:solidFill>
                  <a:srgbClr val="FF00FF"/>
                </a:solidFill>
              </a:rPr>
              <a:t>&gt;</a:t>
            </a:r>
            <a:r>
              <a:rPr lang="zh-CN" altLang="en-US" dirty="0"/>
              <a:t>：所要定义的基本表的名字</a:t>
            </a:r>
          </a:p>
          <a:p>
            <a:pPr lvl="1" algn="just" eaLnBrk="1" hangingPunct="1"/>
            <a:r>
              <a:rPr lang="en-US" altLang="zh-CN" dirty="0">
                <a:solidFill>
                  <a:srgbClr val="FF00FF"/>
                </a:solidFill>
              </a:rPr>
              <a:t>&lt;</a:t>
            </a:r>
            <a:r>
              <a:rPr lang="zh-CN" altLang="en-US" dirty="0">
                <a:solidFill>
                  <a:srgbClr val="FF00FF"/>
                </a:solidFill>
              </a:rPr>
              <a:t>列名</a:t>
            </a:r>
            <a:r>
              <a:rPr lang="en-US" altLang="zh-CN" dirty="0">
                <a:solidFill>
                  <a:srgbClr val="FF00FF"/>
                </a:solidFill>
              </a:rPr>
              <a:t>&gt;</a:t>
            </a:r>
            <a:r>
              <a:rPr lang="zh-CN" altLang="en-US" dirty="0"/>
              <a:t>：组成该表的各个属性（列）</a:t>
            </a:r>
          </a:p>
          <a:p>
            <a:pPr lvl="1" algn="just" eaLnBrk="1" hangingPunct="1"/>
            <a:r>
              <a:rPr lang="en-US" altLang="zh-CN" dirty="0">
                <a:solidFill>
                  <a:srgbClr val="FF00FF"/>
                </a:solidFill>
              </a:rPr>
              <a:t>&lt;</a:t>
            </a:r>
            <a:r>
              <a:rPr lang="zh-CN" altLang="en-US" dirty="0">
                <a:solidFill>
                  <a:srgbClr val="FF00FF"/>
                </a:solidFill>
              </a:rPr>
              <a:t>列级完整性约束</a:t>
            </a:r>
            <a:r>
              <a:rPr lang="en-US" altLang="zh-CN" dirty="0">
                <a:solidFill>
                  <a:srgbClr val="FF00FF"/>
                </a:solidFill>
              </a:rPr>
              <a:t>&gt;</a:t>
            </a:r>
            <a:r>
              <a:rPr lang="zh-CN" altLang="en-US" dirty="0"/>
              <a:t>：涉及相应属性列的完整性约束</a:t>
            </a:r>
          </a:p>
          <a:p>
            <a:pPr lvl="1" eaLnBrk="1" hangingPunct="1"/>
            <a:r>
              <a:rPr lang="en-US" altLang="zh-CN" dirty="0">
                <a:solidFill>
                  <a:srgbClr val="FF00FF"/>
                </a:solidFill>
              </a:rPr>
              <a:t>&lt;</a:t>
            </a:r>
            <a:r>
              <a:rPr lang="zh-CN" altLang="en-US" dirty="0">
                <a:solidFill>
                  <a:srgbClr val="FF00FF"/>
                </a:solidFill>
              </a:rPr>
              <a:t>表级完整性约束</a:t>
            </a:r>
            <a:r>
              <a:rPr lang="en-US" altLang="zh-CN" dirty="0">
                <a:solidFill>
                  <a:srgbClr val="FF00FF"/>
                </a:solidFill>
              </a:rPr>
              <a:t>&gt;</a:t>
            </a:r>
            <a:r>
              <a:rPr lang="zh-CN" altLang="en-US" dirty="0"/>
              <a:t>：涉及一个或多个属性列的完整性约束 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如果完整性约束涉及该表的多个属性列，则必须定义在表级上，否则既可以定义在列级也可以定义在表级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endParaRPr lang="zh-CN" alt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CB2723D4-E6A7-A0DD-65CF-24962833658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zh-CN" altLang="en-US" sz="3600"/>
              <a:t>定义基本表（续）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A9DBA0CD-59F0-8C39-06B6-90CD2827481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614613" y="981075"/>
            <a:ext cx="9577387" cy="5472113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dirty="0"/>
              <a:t>以学生选课数据库为例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dirty="0"/>
              <a:t>定义一个“学生选课”模式</a:t>
            </a:r>
            <a:r>
              <a:rPr lang="en-US" altLang="zh-CN" sz="2400" dirty="0"/>
              <a:t>S-C-SC</a:t>
            </a:r>
            <a:r>
              <a:rPr lang="zh-CN" altLang="en-US" sz="2400" dirty="0"/>
              <a:t>，包括以下三个表：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2400" dirty="0"/>
              <a:t>“学生”表：</a:t>
            </a:r>
            <a:r>
              <a:rPr lang="en-US" altLang="zh-CN" sz="2400" dirty="0"/>
              <a:t>Student(</a:t>
            </a:r>
            <a:r>
              <a:rPr lang="en-US" altLang="zh-CN" sz="2400" u="sng" dirty="0"/>
              <a:t>Sno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Sname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Ssex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Sbirthdate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Smajor</a:t>
            </a:r>
            <a:r>
              <a:rPr lang="en-US" altLang="zh-CN" sz="2400" dirty="0"/>
              <a:t>)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2400" dirty="0"/>
              <a:t>“课程”表：</a:t>
            </a:r>
            <a:r>
              <a:rPr lang="en-US" altLang="zh-CN" sz="2400" dirty="0"/>
              <a:t>Course(</a:t>
            </a:r>
            <a:r>
              <a:rPr lang="en-US" altLang="zh-CN" sz="2400" u="sng" dirty="0" err="1"/>
              <a:t>Cno</a:t>
            </a:r>
            <a:r>
              <a:rPr lang="en-US" altLang="zh-CN" sz="2400" dirty="0" err="1"/>
              <a:t>,Cname,Ccredit,Cpno</a:t>
            </a:r>
            <a:r>
              <a:rPr lang="en-US" altLang="zh-CN" sz="2400" dirty="0"/>
              <a:t>)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2400" dirty="0"/>
              <a:t>“学生选课”表：</a:t>
            </a:r>
            <a:r>
              <a:rPr lang="en-US" altLang="zh-CN" sz="2400" dirty="0"/>
              <a:t>SC(</a:t>
            </a:r>
            <a:r>
              <a:rPr lang="en-US" altLang="zh-CN" sz="2400" u="sng" dirty="0" err="1"/>
              <a:t>Sno,Cno</a:t>
            </a:r>
            <a:r>
              <a:rPr lang="en-US" altLang="zh-CN" sz="2400" dirty="0" err="1"/>
              <a:t>,Grade,Semester,Teachingclass</a:t>
            </a:r>
            <a:r>
              <a:rPr lang="en-US" altLang="zh-CN" sz="2400" dirty="0"/>
              <a:t>)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endParaRPr lang="zh-CN" altLang="en-US" sz="1800" dirty="0"/>
          </a:p>
        </p:txBody>
      </p:sp>
      <p:sp>
        <p:nvSpPr>
          <p:cNvPr id="35844" name="思想气泡: 云 1">
            <a:extLst>
              <a:ext uri="{FF2B5EF4-FFF2-40B4-BE49-F238E27FC236}">
                <a16:creationId xmlns:a16="http://schemas.microsoft.com/office/drawing/2014/main" id="{30425241-4EC1-65D2-23B6-9A61B68FB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968" y="4221088"/>
            <a:ext cx="1008063" cy="612775"/>
          </a:xfrm>
          <a:prstGeom prst="cloudCallout">
            <a:avLst>
              <a:gd name="adj1" fmla="val -63426"/>
              <a:gd name="adj2" fmla="val -6464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800"/>
              <a:t>主码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A75B6D0-67CC-C7BE-FBCB-19146513DD42}"/>
              </a:ext>
            </a:extLst>
          </p:cNvPr>
          <p:cNvSpPr txBox="1"/>
          <p:nvPr/>
        </p:nvSpPr>
        <p:spPr>
          <a:xfrm>
            <a:off x="2063552" y="1124757"/>
            <a:ext cx="8424936" cy="300389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SzPct val="100000"/>
              <a:defRPr/>
            </a:pPr>
            <a:endParaRPr lang="en-US" altLang="zh-CN" sz="2400" b="1" dirty="0">
              <a:latin typeface="+mn-lt"/>
              <a:ea typeface="+mn-ea"/>
            </a:endParaRPr>
          </a:p>
          <a:p>
            <a:pPr algn="ctr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4400" b="1" kern="0" dirty="0">
                <a:highlight>
                  <a:srgbClr val="FFFF00"/>
                </a:highlight>
                <a:latin typeface="+mn-lt"/>
                <a:ea typeface="+mn-ea"/>
              </a:rPr>
              <a:t>学生选课模式</a:t>
            </a:r>
            <a:endParaRPr lang="en-US" altLang="zh-CN" sz="4400" b="1" kern="0" dirty="0">
              <a:highlight>
                <a:srgbClr val="FFFF00"/>
              </a:highlight>
              <a:latin typeface="+mn-lt"/>
              <a:ea typeface="+mn-ea"/>
            </a:endParaRPr>
          </a:p>
          <a:p>
            <a:pPr algn="ctr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zh-CN" sz="4400" b="1" kern="0" dirty="0">
                <a:highlight>
                  <a:srgbClr val="FFFF00"/>
                </a:highlight>
                <a:latin typeface="+mn-lt"/>
                <a:ea typeface="+mn-ea"/>
              </a:rPr>
              <a:t>3</a:t>
            </a:r>
            <a:r>
              <a:rPr lang="zh-CN" altLang="en-US" sz="4400" b="1" kern="0" dirty="0">
                <a:highlight>
                  <a:srgbClr val="FFFF00"/>
                </a:highlight>
                <a:latin typeface="+mn-lt"/>
                <a:ea typeface="+mn-ea"/>
              </a:rPr>
              <a:t>个表的示例数据</a:t>
            </a:r>
            <a:endParaRPr lang="en-US" altLang="zh-CN" sz="4400" b="1" kern="0" dirty="0">
              <a:highlight>
                <a:srgbClr val="FFFF00"/>
              </a:highlight>
              <a:latin typeface="+mn-lt"/>
              <a:ea typeface="+mn-ea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8132AE5-0BB8-7E37-4D33-E4D64D9991BF}"/>
              </a:ext>
            </a:extLst>
          </p:cNvPr>
          <p:cNvSpPr txBox="1"/>
          <p:nvPr/>
        </p:nvSpPr>
        <p:spPr>
          <a:xfrm>
            <a:off x="3870338" y="188913"/>
            <a:ext cx="4811713" cy="64611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600" b="1">
                <a:solidFill>
                  <a:schemeClr val="bg1"/>
                </a:solidFill>
                <a:latin typeface="宋体" panose="02010600030101010101" pitchFamily="2" charset="-122"/>
              </a:rPr>
              <a:t>二维码</a:t>
            </a:r>
            <a:r>
              <a:rPr lang="en-US" altLang="zh-CN" sz="3600" b="1">
                <a:solidFill>
                  <a:schemeClr val="bg1"/>
                </a:solidFill>
              </a:rPr>
              <a:t>3.1</a:t>
            </a:r>
            <a:r>
              <a:rPr lang="en-US" altLang="zh-CN" sz="3600" b="1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endParaRPr lang="zh-CN" altLang="en-US" sz="3600" b="1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>
            <a:extLst>
              <a:ext uri="{FF2B5EF4-FFF2-40B4-BE49-F238E27FC236}">
                <a16:creationId xmlns:a16="http://schemas.microsoft.com/office/drawing/2014/main" id="{17E5BA31-7A6F-FB54-D997-0868B8CD5BC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505200" y="1098550"/>
            <a:ext cx="8686800" cy="4276725"/>
          </a:xfrm>
        </p:spPr>
        <p:txBody>
          <a:bodyPr>
            <a:normAutofit/>
          </a:bodyPr>
          <a:lstStyle/>
          <a:p>
            <a:pPr algn="just" eaLnBrk="1" hangingPunct="1">
              <a:buFont typeface="Wingdings" pitchFamily="2" charset="2"/>
              <a:buNone/>
            </a:pPr>
            <a:r>
              <a:rPr lang="en-US" altLang="zh-CN" sz="2400"/>
              <a:t>[</a:t>
            </a:r>
            <a:r>
              <a:rPr lang="zh-CN" altLang="en-US" sz="2400"/>
              <a:t>例</a:t>
            </a:r>
            <a:r>
              <a:rPr lang="en-US" altLang="zh-CN" sz="2400"/>
              <a:t>3.5]  </a:t>
            </a:r>
            <a:r>
              <a:rPr lang="zh-CN" altLang="en-US" sz="2400"/>
              <a:t>建立“学生”表</a:t>
            </a:r>
            <a:r>
              <a:rPr lang="en-US" altLang="zh-CN" sz="2400"/>
              <a:t>Student</a:t>
            </a:r>
            <a:endParaRPr lang="zh-CN" altLang="en-US" sz="240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1800"/>
              <a:t>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/>
              <a:t>CREATE TABLE Student   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/>
              <a:t>      </a:t>
            </a:r>
            <a:r>
              <a:rPr lang="zh-CN" altLang="en-US" sz="2400"/>
              <a:t>(</a:t>
            </a:r>
            <a:r>
              <a:rPr lang="en-US" altLang="zh-CN" sz="2400"/>
              <a:t>Sno   CHAR</a:t>
            </a:r>
            <a:r>
              <a:rPr lang="zh-CN" altLang="en-US" sz="2400"/>
              <a:t>(</a:t>
            </a:r>
            <a:r>
              <a:rPr lang="en-US" altLang="zh-CN" sz="2400"/>
              <a:t>8</a:t>
            </a:r>
            <a:r>
              <a:rPr lang="zh-CN" altLang="en-US" sz="2400"/>
              <a:t>)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rgbClr val="FF00FF"/>
                </a:solidFill>
              </a:rPr>
              <a:t>PRIMARY KEY</a:t>
            </a:r>
            <a:r>
              <a:rPr lang="zh-CN" altLang="en-US" sz="2400"/>
              <a:t>, </a:t>
            </a:r>
            <a:br>
              <a:rPr lang="en-US" altLang="zh-CN" sz="2400"/>
            </a:br>
            <a:r>
              <a:rPr lang="en-US" altLang="zh-CN" sz="2400"/>
              <a:t>                                          </a:t>
            </a:r>
            <a:r>
              <a:rPr lang="en-US" altLang="zh-CN" sz="2000"/>
              <a:t>/* </a:t>
            </a:r>
            <a:r>
              <a:rPr lang="zh-CN" altLang="en-US" sz="2000"/>
              <a:t>列级完整性约束条件</a:t>
            </a:r>
            <a:r>
              <a:rPr lang="en-US" altLang="zh-CN" sz="2000"/>
              <a:t>,Sno</a:t>
            </a:r>
            <a:r>
              <a:rPr lang="zh-CN" altLang="en-US" sz="2000"/>
              <a:t>是主码*</a:t>
            </a:r>
            <a:r>
              <a:rPr lang="en-US" altLang="zh-CN" sz="2000"/>
              <a:t>/        </a:t>
            </a:r>
            <a:r>
              <a:rPr lang="en-US" altLang="zh-CN" sz="2400"/>
              <a:t>   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/>
              <a:t> </a:t>
            </a:r>
            <a:r>
              <a:rPr lang="zh-CN" altLang="en-US" sz="2400"/>
              <a:t>       </a:t>
            </a:r>
            <a:r>
              <a:rPr lang="en-US" altLang="zh-CN" sz="2400"/>
              <a:t>Sname VARCHAR</a:t>
            </a:r>
            <a:r>
              <a:rPr lang="zh-CN" altLang="en-US" sz="2400"/>
              <a:t>(</a:t>
            </a:r>
            <a:r>
              <a:rPr lang="en-US" altLang="zh-CN" sz="2400"/>
              <a:t>20</a:t>
            </a:r>
            <a:r>
              <a:rPr lang="zh-CN" altLang="en-US" sz="2400"/>
              <a:t>)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rgbClr val="FF00FF"/>
                </a:solidFill>
              </a:rPr>
              <a:t>UNIQUE</a:t>
            </a:r>
            <a:r>
              <a:rPr lang="zh-CN" altLang="en-US" sz="2400"/>
              <a:t>,          </a:t>
            </a:r>
            <a:r>
              <a:rPr lang="zh-CN" altLang="en-US" sz="2000"/>
              <a:t> </a:t>
            </a:r>
            <a:r>
              <a:rPr lang="en-US" altLang="zh-CN" sz="2000"/>
              <a:t>/* Sname</a:t>
            </a:r>
            <a:r>
              <a:rPr lang="zh-CN" altLang="en-US" sz="2000"/>
              <a:t>取唯一值*</a:t>
            </a:r>
            <a:r>
              <a:rPr lang="en-US" altLang="zh-CN" sz="2000"/>
              <a:t>/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/>
              <a:t>        Ssex    CHAR</a:t>
            </a:r>
            <a:r>
              <a:rPr lang="zh-CN" altLang="en-US" sz="2400"/>
              <a:t>(</a:t>
            </a:r>
            <a:r>
              <a:rPr lang="en-US" altLang="zh-CN" sz="2400"/>
              <a:t>6</a:t>
            </a:r>
            <a:r>
              <a:rPr lang="zh-CN" altLang="en-US" sz="2400"/>
              <a:t>),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/>
              <a:t>        </a:t>
            </a:r>
            <a:r>
              <a:rPr lang="en-US" altLang="zh-CN" sz="2400"/>
              <a:t>Sbirthdate</a:t>
            </a:r>
            <a:r>
              <a:rPr lang="zh-CN" altLang="en-US" sz="2400"/>
              <a:t> </a:t>
            </a:r>
            <a:r>
              <a:rPr lang="en-US" altLang="zh-CN" sz="2400"/>
              <a:t>Date</a:t>
            </a:r>
            <a:r>
              <a:rPr lang="zh-CN" altLang="en-US" sz="2400"/>
              <a:t>,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/>
              <a:t>        </a:t>
            </a:r>
            <a:r>
              <a:rPr lang="en-US" altLang="zh-CN" sz="2400"/>
              <a:t>Smajor  VARCHAR</a:t>
            </a:r>
            <a:r>
              <a:rPr lang="zh-CN" altLang="en-US" sz="2400"/>
              <a:t>(</a:t>
            </a:r>
            <a:r>
              <a:rPr lang="en-US" altLang="zh-CN" sz="2400"/>
              <a:t>40</a:t>
            </a:r>
            <a:r>
              <a:rPr lang="zh-CN" altLang="en-US" sz="2400"/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/>
              <a:t>      </a:t>
            </a:r>
            <a:r>
              <a:rPr lang="zh-CN" altLang="en-US" sz="2400"/>
              <a:t>); </a:t>
            </a:r>
          </a:p>
        </p:txBody>
      </p:sp>
      <p:sp>
        <p:nvSpPr>
          <p:cNvPr id="36868" name="AutoShape 7">
            <a:extLst>
              <a:ext uri="{FF2B5EF4-FFF2-40B4-BE49-F238E27FC236}">
                <a16:creationId xmlns:a16="http://schemas.microsoft.com/office/drawing/2014/main" id="{4573510F-24CB-9BB5-423D-427D7EBCA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5" y="1595438"/>
            <a:ext cx="914400" cy="609600"/>
          </a:xfrm>
          <a:prstGeom prst="wedgeRoundRectCallout">
            <a:avLst>
              <a:gd name="adj1" fmla="val -151287"/>
              <a:gd name="adj2" fmla="val 79306"/>
              <a:gd name="adj3" fmla="val 16667"/>
            </a:avLst>
          </a:prstGeom>
          <a:gradFill rotWithShape="1">
            <a:gsLst>
              <a:gs pos="0">
                <a:srgbClr val="CCFFFF">
                  <a:alpha val="73000"/>
                </a:srgbClr>
              </a:gs>
              <a:gs pos="100000">
                <a:srgbClr val="B9CC4A"/>
              </a:gs>
            </a:gsLst>
            <a:lin ang="5400000" scaled="1"/>
          </a:gradFill>
          <a:ln w="25400">
            <a:solidFill>
              <a:srgbClr val="FF99CC"/>
            </a:solidFill>
            <a:miter lim="800000"/>
            <a:headEnd/>
            <a:tailEnd/>
          </a:ln>
        </p:spPr>
        <p:txBody>
          <a:bodyPr anchor="ctr"/>
          <a:lstStyle>
            <a:lvl1pPr marL="342900" indent="-342900"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800"/>
              <a:t>主码</a:t>
            </a:r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55D8A506-7247-B0D6-E43C-7101FBBA4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5" y="3700463"/>
            <a:ext cx="1079500" cy="609600"/>
          </a:xfrm>
          <a:prstGeom prst="wedgeRoundRectCallout">
            <a:avLst>
              <a:gd name="adj1" fmla="val -196079"/>
              <a:gd name="adj2" fmla="val -87884"/>
              <a:gd name="adj3" fmla="val 16667"/>
            </a:avLst>
          </a:prstGeom>
          <a:gradFill rotWithShape="1">
            <a:gsLst>
              <a:gs pos="0">
                <a:srgbClr val="CCFFFF">
                  <a:alpha val="73000"/>
                </a:srgbClr>
              </a:gs>
              <a:gs pos="100000">
                <a:srgbClr val="B9CC4A"/>
              </a:gs>
            </a:gsLst>
            <a:lin ang="5400000" scaled="1"/>
          </a:gradFill>
          <a:ln w="25400">
            <a:solidFill>
              <a:srgbClr val="FF99CC"/>
            </a:solidFill>
            <a:miter lim="800000"/>
            <a:headEnd/>
            <a:tailEnd/>
          </a:ln>
        </p:spPr>
        <p:txBody>
          <a:bodyPr anchor="ctr"/>
          <a:lstStyle>
            <a:lvl1pPr marL="342900" indent="-342900"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600"/>
              <a:t>UNIQUE</a:t>
            </a:r>
          </a:p>
          <a:p>
            <a:pPr algn="ctr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600"/>
              <a:t>约束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DB0A5A0-FEB0-3CA6-6CA7-983E7F939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kern="0" dirty="0"/>
              <a:t>学生表</a:t>
            </a:r>
            <a:r>
              <a:rPr lang="en-US" altLang="zh-CN" sz="3600" kern="0" dirty="0"/>
              <a:t>Student</a:t>
            </a:r>
            <a:endParaRPr lang="zh-CN" altLang="en-US" sz="36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 animBg="1" autoUpdateAnimBg="0"/>
      <p:bldP spid="5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>
            <a:extLst>
              <a:ext uri="{FF2B5EF4-FFF2-40B4-BE49-F238E27FC236}">
                <a16:creationId xmlns:a16="http://schemas.microsoft.com/office/drawing/2014/main" id="{F91DB6E0-3EE3-4EE2-0949-DF863215486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155950" y="1098550"/>
            <a:ext cx="9036050" cy="4495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 </a:t>
            </a:r>
            <a:r>
              <a:rPr lang="en-US" altLang="zh-CN" sz="2400"/>
              <a:t>[</a:t>
            </a:r>
            <a:r>
              <a:rPr lang="zh-CN" altLang="en-US" sz="2400"/>
              <a:t>例</a:t>
            </a:r>
            <a:r>
              <a:rPr lang="en-US" altLang="zh-CN" sz="2400"/>
              <a:t>3.6 ]</a:t>
            </a:r>
            <a:r>
              <a:rPr lang="en-US" altLang="zh-CN" sz="2400">
                <a:latin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</a:rPr>
              <a:t>建立一个“课程”表</a:t>
            </a:r>
            <a:r>
              <a:rPr lang="en-US" altLang="zh-CN" sz="2400"/>
              <a:t>Course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/>
              <a:t>	</a:t>
            </a:r>
            <a:r>
              <a:rPr lang="en-US" altLang="zh-CN" sz="2400"/>
              <a:t>CREATE TABLE  Course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/>
              <a:t>     </a:t>
            </a:r>
            <a:r>
              <a:rPr lang="zh-CN" altLang="en-US" sz="2400"/>
              <a:t>  </a:t>
            </a:r>
            <a:r>
              <a:rPr lang="en-US" altLang="zh-CN" sz="2400"/>
              <a:t>  </a:t>
            </a:r>
            <a:r>
              <a:rPr lang="zh-CN" altLang="en-US" sz="2400"/>
              <a:t> (</a:t>
            </a:r>
            <a:r>
              <a:rPr lang="en-US" altLang="zh-CN" sz="2400"/>
              <a:t>Cno       CHAR</a:t>
            </a:r>
            <a:r>
              <a:rPr lang="zh-CN" altLang="en-US" sz="2400"/>
              <a:t>(</a:t>
            </a:r>
            <a:r>
              <a:rPr lang="en-US" altLang="zh-CN" sz="2400"/>
              <a:t>5</a:t>
            </a:r>
            <a:r>
              <a:rPr lang="zh-CN" altLang="en-US" sz="2400"/>
              <a:t>)</a:t>
            </a:r>
            <a:r>
              <a:rPr lang="en-US" altLang="zh-CN" sz="2400"/>
              <a:t> PRIMARY KEY</a:t>
            </a:r>
            <a:r>
              <a:rPr lang="zh-CN" altLang="en-US" sz="2400"/>
              <a:t>,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/>
              <a:t>        </a:t>
            </a:r>
            <a:r>
              <a:rPr lang="en-US" altLang="zh-CN" sz="2400"/>
              <a:t>	</a:t>
            </a:r>
            <a:r>
              <a:rPr lang="zh-CN" altLang="en-US" sz="2400"/>
              <a:t> </a:t>
            </a:r>
            <a:r>
              <a:rPr lang="en-US" altLang="zh-CN" sz="2400"/>
              <a:t>Cname  VARCHAR</a:t>
            </a:r>
            <a:r>
              <a:rPr lang="zh-CN" altLang="en-US" sz="2400"/>
              <a:t>(</a:t>
            </a:r>
            <a:r>
              <a:rPr lang="en-US" altLang="zh-CN" sz="2400"/>
              <a:t>40</a:t>
            </a:r>
            <a:r>
              <a:rPr lang="zh-CN" altLang="en-US" sz="2400"/>
              <a:t>) </a:t>
            </a:r>
            <a:r>
              <a:rPr lang="en-US" altLang="zh-CN" sz="2400"/>
              <a:t>NOT NULL</a:t>
            </a:r>
            <a:r>
              <a:rPr lang="zh-CN" altLang="en-US" sz="2400"/>
              <a:t>,     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/>
              <a:t>            </a:t>
            </a:r>
            <a:r>
              <a:rPr lang="en-US" altLang="zh-CN" sz="2400"/>
              <a:t>Ccredit  SMALLINT</a:t>
            </a:r>
            <a:r>
              <a:rPr lang="zh-CN" altLang="en-US" sz="2400"/>
              <a:t>，</a:t>
            </a:r>
            <a:endParaRPr lang="en-US" altLang="zh-CN" sz="240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/>
              <a:t>            Cpno     CHAR</a:t>
            </a:r>
            <a:r>
              <a:rPr lang="zh-CN" altLang="en-US" sz="2400"/>
              <a:t>(</a:t>
            </a:r>
            <a:r>
              <a:rPr lang="en-US" altLang="zh-CN" sz="2400"/>
              <a:t>5</a:t>
            </a:r>
            <a:r>
              <a:rPr lang="zh-CN" altLang="en-US" sz="2400"/>
              <a:t>),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/>
              <a:t>            </a:t>
            </a:r>
            <a:r>
              <a:rPr lang="en-US" altLang="zh-CN" sz="2400"/>
              <a:t>FOREIGN KEY </a:t>
            </a:r>
            <a:r>
              <a:rPr lang="zh-CN" altLang="en-US" sz="2400"/>
              <a:t>(</a:t>
            </a:r>
            <a:r>
              <a:rPr lang="en-US" altLang="zh-CN" sz="2400"/>
              <a:t>Cpno</a:t>
            </a:r>
            <a:r>
              <a:rPr lang="zh-CN" altLang="en-US" sz="2400"/>
              <a:t>)</a:t>
            </a:r>
            <a:r>
              <a:rPr lang="en-US" altLang="zh-CN" sz="2400"/>
              <a:t> REFERENCES  Course</a:t>
            </a:r>
            <a:r>
              <a:rPr lang="zh-CN" altLang="en-US" sz="2400"/>
              <a:t>(</a:t>
            </a:r>
            <a:r>
              <a:rPr lang="en-US" altLang="zh-CN" sz="2400"/>
              <a:t>Cno</a:t>
            </a:r>
            <a:r>
              <a:rPr lang="zh-CN" altLang="en-US" sz="2400"/>
              <a:t>)</a:t>
            </a:r>
            <a:r>
              <a:rPr lang="en-US" altLang="zh-CN" sz="2400"/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/>
              <a:t>       </a:t>
            </a:r>
            <a:r>
              <a:rPr lang="zh-CN" altLang="en-US" sz="2400"/>
              <a:t>   )</a:t>
            </a:r>
            <a:r>
              <a:rPr lang="en-US" altLang="zh-CN" sz="2400"/>
              <a:t>; </a:t>
            </a:r>
          </a:p>
        </p:txBody>
      </p:sp>
      <p:sp>
        <p:nvSpPr>
          <p:cNvPr id="37892" name="AutoShape 6">
            <a:extLst>
              <a:ext uri="{FF2B5EF4-FFF2-40B4-BE49-F238E27FC236}">
                <a16:creationId xmlns:a16="http://schemas.microsoft.com/office/drawing/2014/main" id="{DB192DD2-E3A4-FADC-73DC-B684193EF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725" y="2830526"/>
            <a:ext cx="1582738" cy="528637"/>
          </a:xfrm>
          <a:prstGeom prst="wedgeRoundRectCallout">
            <a:avLst>
              <a:gd name="adj1" fmla="val -149101"/>
              <a:gd name="adj2" fmla="val 77623"/>
              <a:gd name="adj3" fmla="val 16667"/>
            </a:avLst>
          </a:prstGeom>
          <a:gradFill rotWithShape="1">
            <a:gsLst>
              <a:gs pos="0">
                <a:srgbClr val="C4F2D2"/>
              </a:gs>
              <a:gs pos="100000">
                <a:srgbClr val="F6FDF8"/>
              </a:gs>
            </a:gsLst>
            <a:lin ang="5400000" scaled="1"/>
          </a:gra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anchor="ctr"/>
          <a:lstStyle>
            <a:lvl1pPr marL="342900" indent="-342900"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800"/>
              <a:t>直接先修课</a:t>
            </a:r>
            <a:r>
              <a:rPr lang="zh-CN" altLang="en-US" sz="1800" b="0"/>
              <a:t> </a:t>
            </a:r>
          </a:p>
        </p:txBody>
      </p:sp>
      <p:sp>
        <p:nvSpPr>
          <p:cNvPr id="37893" name="AutoShape 8">
            <a:extLst>
              <a:ext uri="{FF2B5EF4-FFF2-40B4-BE49-F238E27FC236}">
                <a16:creationId xmlns:a16="http://schemas.microsoft.com/office/drawing/2014/main" id="{7F4D23FE-A0D8-25E9-F45C-42F94F200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88" y="4586288"/>
            <a:ext cx="2447925" cy="1008062"/>
          </a:xfrm>
          <a:prstGeom prst="wedgeRoundRectCallout">
            <a:avLst>
              <a:gd name="adj1" fmla="val -58755"/>
              <a:gd name="adj2" fmla="val -83856"/>
              <a:gd name="adj3" fmla="val 16667"/>
            </a:avLst>
          </a:prstGeom>
          <a:gradFill rotWithShape="1">
            <a:gsLst>
              <a:gs pos="0">
                <a:srgbClr val="C4F2D2"/>
              </a:gs>
              <a:gs pos="100000">
                <a:srgbClr val="E9FAEE"/>
              </a:gs>
            </a:gsLst>
            <a:lin ang="5400000" scaled="1"/>
          </a:gradFill>
          <a:ln w="25400">
            <a:solidFill>
              <a:srgbClr val="00FFFF"/>
            </a:solidFill>
            <a:miter lim="800000"/>
            <a:headEnd/>
            <a:tailEnd/>
          </a:ln>
        </p:spPr>
        <p:txBody>
          <a:bodyPr anchor="ctr"/>
          <a:lstStyle>
            <a:lvl1pPr marL="342900" indent="-342900"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800" b="0"/>
              <a:t>   </a:t>
            </a:r>
            <a:r>
              <a:rPr lang="en-US" altLang="zh-CN" sz="1800"/>
              <a:t>Cpno</a:t>
            </a:r>
            <a:r>
              <a:rPr lang="zh-CN" altLang="en-US" sz="1800"/>
              <a:t>是外码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800"/>
              <a:t>   被参照表是</a:t>
            </a:r>
            <a:r>
              <a:rPr lang="en-US" altLang="zh-CN" sz="1800"/>
              <a:t>Course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800"/>
              <a:t>   被参照列是</a:t>
            </a:r>
            <a:r>
              <a:rPr lang="en-US" altLang="zh-CN" sz="1800"/>
              <a:t>Cno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8CA291A-129F-EB5D-6D5B-78D1B01C9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课程表</a:t>
            </a:r>
            <a:r>
              <a:rPr lang="en-US" altLang="zh-CN" sz="3600">
                <a:solidFill>
                  <a:schemeClr val="bg1"/>
                </a:solidFill>
              </a:rPr>
              <a:t>Course</a:t>
            </a:r>
            <a:endParaRPr lang="zh-CN" altLang="en-US" sz="36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animBg="1" autoUpdateAnimBg="0"/>
      <p:bldP spid="37893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>
            <a:extLst>
              <a:ext uri="{FF2B5EF4-FFF2-40B4-BE49-F238E27FC236}">
                <a16:creationId xmlns:a16="http://schemas.microsoft.com/office/drawing/2014/main" id="{07BA30F3-9BEA-69A7-B111-DB7BFF15F34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098550"/>
            <a:ext cx="8229600" cy="4854575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3.7]</a:t>
            </a:r>
            <a:r>
              <a:rPr lang="zh-CN" altLang="en-US" sz="2400" dirty="0"/>
              <a:t> 建立“学生选课”表</a:t>
            </a:r>
            <a:r>
              <a:rPr lang="en-US" altLang="zh-CN" sz="2400" dirty="0"/>
              <a:t>SC</a:t>
            </a:r>
            <a:endParaRPr lang="zh-CN" altLang="en-US" sz="24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CREATE TABLE SC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  (</a:t>
            </a:r>
            <a:r>
              <a:rPr lang="en-US" altLang="zh-CN" sz="2000" dirty="0" err="1"/>
              <a:t>Sno</a:t>
            </a:r>
            <a:r>
              <a:rPr lang="en-US" altLang="zh-CN" sz="2000" dirty="0"/>
              <a:t> CHAR(8),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   </a:t>
            </a:r>
            <a:r>
              <a:rPr lang="en-US" altLang="zh-CN" sz="2000" dirty="0" err="1"/>
              <a:t>Cno</a:t>
            </a:r>
            <a:r>
              <a:rPr lang="en-US" altLang="zh-CN" sz="2000" dirty="0"/>
              <a:t> CHAR(5),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   Grade SMALLINT,              /*</a:t>
            </a:r>
            <a:r>
              <a:rPr lang="zh-CN" altLang="en-US" sz="2000" dirty="0"/>
              <a:t>成绩*</a:t>
            </a:r>
            <a:r>
              <a:rPr lang="en-US" altLang="zh-CN" sz="2000" dirty="0"/>
              <a:t>/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   Semester CHAR(5),           /*</a:t>
            </a:r>
            <a:r>
              <a:rPr lang="zh-CN" altLang="en-US" sz="2000" dirty="0"/>
              <a:t>开课学期*</a:t>
            </a:r>
            <a:r>
              <a:rPr lang="en-US" altLang="zh-CN" sz="2000" dirty="0"/>
              <a:t>/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   </a:t>
            </a:r>
            <a:r>
              <a:rPr lang="en-US" altLang="zh-CN" sz="2000" dirty="0" err="1"/>
              <a:t>Teachingclass</a:t>
            </a:r>
            <a:r>
              <a:rPr lang="en-US" altLang="zh-CN" sz="2000" dirty="0"/>
              <a:t> CHAR(8),     /*</a:t>
            </a:r>
            <a:r>
              <a:rPr lang="zh-CN" altLang="en-US" sz="2000" dirty="0"/>
              <a:t>学生选修某一门课所在的教学班*</a:t>
            </a:r>
            <a:r>
              <a:rPr lang="en-US" altLang="zh-CN" sz="2000" dirty="0"/>
              <a:t>/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   PRIMARY KEY (</a:t>
            </a:r>
            <a:r>
              <a:rPr lang="en-US" altLang="zh-CN" sz="2000" dirty="0" err="1"/>
              <a:t>Sno,Cno</a:t>
            </a:r>
            <a:r>
              <a:rPr lang="en-US" altLang="zh-CN" sz="2000" dirty="0"/>
              <a:t>),    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                /*</a:t>
            </a:r>
            <a:r>
              <a:rPr lang="zh-CN" altLang="en-US" sz="2000" dirty="0"/>
              <a:t>主码由两个属性构成，必须作为表级完整性进行定义*</a:t>
            </a:r>
            <a:r>
              <a:rPr lang="en-US" altLang="zh-CN" sz="2000" dirty="0"/>
              <a:t>/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   FOREIGN KEY (</a:t>
            </a:r>
            <a:r>
              <a:rPr lang="en-US" altLang="zh-CN" sz="2000" dirty="0" err="1"/>
              <a:t>Sno</a:t>
            </a:r>
            <a:r>
              <a:rPr lang="en-US" altLang="zh-CN" sz="2000" dirty="0"/>
              <a:t>) REFERENCES Student(</a:t>
            </a:r>
            <a:r>
              <a:rPr lang="en-US" altLang="zh-CN" sz="2000" dirty="0" err="1"/>
              <a:t>Sno</a:t>
            </a:r>
            <a:r>
              <a:rPr lang="en-US" altLang="zh-CN" sz="2000" dirty="0"/>
              <a:t>),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		   /*</a:t>
            </a:r>
            <a:r>
              <a:rPr lang="zh-CN" altLang="en-US" sz="2000" dirty="0"/>
              <a:t>表级完整性约束，</a:t>
            </a:r>
            <a:r>
              <a:rPr lang="en-US" altLang="zh-CN" sz="2000" dirty="0" err="1"/>
              <a:t>Sno</a:t>
            </a:r>
            <a:r>
              <a:rPr lang="zh-CN" altLang="en-US" sz="2000" dirty="0"/>
              <a:t>是外码，被参照表是</a:t>
            </a:r>
            <a:r>
              <a:rPr lang="en-US" altLang="zh-CN" sz="2000" dirty="0"/>
              <a:t>Student */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   FOREIGN KEY (</a:t>
            </a:r>
            <a:r>
              <a:rPr lang="en-US" altLang="zh-CN" sz="2000" dirty="0" err="1"/>
              <a:t>Cno</a:t>
            </a:r>
            <a:r>
              <a:rPr lang="en-US" altLang="zh-CN" sz="2000" dirty="0"/>
              <a:t>) REFERENCES Course(</a:t>
            </a:r>
            <a:r>
              <a:rPr lang="en-US" altLang="zh-CN" sz="2000" dirty="0" err="1"/>
              <a:t>Cno</a:t>
            </a:r>
            <a:r>
              <a:rPr lang="en-US" altLang="zh-CN" sz="2000" dirty="0"/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		  /*</a:t>
            </a:r>
            <a:r>
              <a:rPr lang="zh-CN" altLang="en-US" sz="2000" dirty="0"/>
              <a:t>表级完整性约束，</a:t>
            </a:r>
            <a:r>
              <a:rPr lang="en-US" altLang="zh-CN" sz="2000" dirty="0" err="1"/>
              <a:t>Cno</a:t>
            </a:r>
            <a:r>
              <a:rPr lang="zh-CN" altLang="en-US" sz="2000" dirty="0"/>
              <a:t>是外码，被参照表是</a:t>
            </a:r>
            <a:r>
              <a:rPr lang="en-US" altLang="zh-CN" sz="2000" dirty="0"/>
              <a:t>Course*/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);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761D396-B52E-C97D-2758-945CAD150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学生选课表</a:t>
            </a:r>
            <a:r>
              <a:rPr lang="en-US" altLang="zh-CN" sz="3600">
                <a:solidFill>
                  <a:schemeClr val="bg1"/>
                </a:solidFill>
              </a:rPr>
              <a:t>SC</a:t>
            </a:r>
            <a:endParaRPr lang="zh-CN" altLang="en-US" sz="3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>
            <a:extLst>
              <a:ext uri="{FF2B5EF4-FFF2-40B4-BE49-F238E27FC236}">
                <a16:creationId xmlns:a16="http://schemas.microsoft.com/office/drawing/2014/main" id="{3127EDFE-51D6-4E8F-8A03-2697E03D2DE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962400" y="1268413"/>
            <a:ext cx="8229600" cy="4983162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en-US" altLang="zh-CN"/>
              <a:t>2.</a:t>
            </a:r>
            <a:r>
              <a:rPr lang="zh-CN" altLang="en-US"/>
              <a:t>数据类型</a:t>
            </a:r>
            <a:endParaRPr lang="en-US" altLang="zh-CN"/>
          </a:p>
          <a:p>
            <a:pPr lvl="1" eaLnBrk="1" hangingPunct="1">
              <a:lnSpc>
                <a:spcPct val="140000"/>
              </a:lnSpc>
            </a:pPr>
            <a:r>
              <a:rPr lang="en-US" altLang="zh-CN"/>
              <a:t>SQL</a:t>
            </a:r>
            <a:r>
              <a:rPr lang="zh-CN" altLang="en-US"/>
              <a:t>中域的概念用</a:t>
            </a:r>
            <a:r>
              <a:rPr lang="zh-CN" altLang="en-US">
                <a:solidFill>
                  <a:srgbClr val="FF00FF"/>
                </a:solidFill>
              </a:rPr>
              <a:t>数据类型</a:t>
            </a:r>
            <a:r>
              <a:rPr lang="zh-CN" altLang="en-US"/>
              <a:t>来实现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/>
              <a:t>定义表的属性时需要指明其数据类型及长度 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/>
              <a:t>选用哪种数据类型 </a:t>
            </a:r>
          </a:p>
          <a:p>
            <a:pPr lvl="2" eaLnBrk="1" hangingPunct="1">
              <a:lnSpc>
                <a:spcPct val="140000"/>
              </a:lnSpc>
              <a:buFont typeface="Wingdings" pitchFamily="2" charset="2"/>
              <a:buChar char="l"/>
            </a:pPr>
            <a:r>
              <a:rPr lang="zh-CN" altLang="en-US"/>
              <a:t>取值范围 </a:t>
            </a:r>
          </a:p>
          <a:p>
            <a:pPr lvl="2" eaLnBrk="1" hangingPunct="1">
              <a:lnSpc>
                <a:spcPct val="140000"/>
              </a:lnSpc>
              <a:buFont typeface="Wingdings" pitchFamily="2" charset="2"/>
              <a:buChar char="l"/>
            </a:pPr>
            <a:r>
              <a:rPr lang="zh-CN" altLang="en-US"/>
              <a:t>要做哪些运算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1EF23-470C-7D4D-31A9-73C7BA33A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8513" y="-41275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3600">
                <a:solidFill>
                  <a:schemeClr val="bg1"/>
                </a:solidFill>
              </a:rPr>
              <a:t>2.</a:t>
            </a:r>
            <a:r>
              <a:rPr lang="zh-CN" altLang="en-US" sz="3600">
                <a:solidFill>
                  <a:schemeClr val="bg1"/>
                </a:solidFill>
              </a:rPr>
              <a:t>数据类型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6BEE618-5271-F377-A899-8AFBDFB2B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656652"/>
              </p:ext>
            </p:extLst>
          </p:nvPr>
        </p:nvGraphicFramePr>
        <p:xfrm>
          <a:off x="1055440" y="1484314"/>
          <a:ext cx="10225136" cy="4314510"/>
        </p:xfrm>
        <a:graphic>
          <a:graphicData uri="http://schemas.openxmlformats.org/drawingml/2006/table">
            <a:tbl>
              <a:tblPr/>
              <a:tblGrid>
                <a:gridCol w="3717198">
                  <a:extLst>
                    <a:ext uri="{9D8B030D-6E8A-4147-A177-3AD203B41FA5}">
                      <a16:colId xmlns:a16="http://schemas.microsoft.com/office/drawing/2014/main" val="807873328"/>
                    </a:ext>
                  </a:extLst>
                </a:gridCol>
                <a:gridCol w="6507938">
                  <a:extLst>
                    <a:ext uri="{9D8B030D-6E8A-4147-A177-3AD203B41FA5}">
                      <a16:colId xmlns:a16="http://schemas.microsoft.com/office/drawing/2014/main" val="2914652552"/>
                    </a:ext>
                  </a:extLst>
                </a:gridCol>
              </a:tblGrid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数据类型</a:t>
                      </a: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含义</a:t>
                      </a: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3678649"/>
                  </a:ext>
                </a:extLst>
              </a:tr>
              <a:tr h="576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CHAR(</a:t>
                      </a:r>
                      <a:r>
                        <a:rPr kumimoji="0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), CHARACTER(</a:t>
                      </a:r>
                      <a:r>
                        <a:rPr kumimoji="0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 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长度为</a:t>
                      </a:r>
                      <a:r>
                        <a:rPr kumimoji="0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的定长字符串</a:t>
                      </a: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855268"/>
                  </a:ext>
                </a:extLst>
              </a:tr>
              <a:tr h="549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VARCHAR(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), 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CHARACTERVARYING(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最大长度为</a:t>
                      </a:r>
                      <a:r>
                        <a:rPr kumimoji="0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的变长字符串</a:t>
                      </a: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454961"/>
                  </a:ext>
                </a:extLst>
              </a:tr>
              <a:tr h="458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CLOB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字符串大对象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219172"/>
                  </a:ext>
                </a:extLst>
              </a:tr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BLOB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二进制大对象</a:t>
                      </a: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000636"/>
                  </a:ext>
                </a:extLst>
              </a:tr>
              <a:tr h="549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INTEGER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整数（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字节），取值范围是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[-2147483648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2147483647]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075074"/>
                  </a:ext>
                </a:extLst>
              </a:tr>
              <a:tr h="458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SMALLINT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短整数（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字节），取值范围是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[-32768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32767]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420139"/>
                  </a:ext>
                </a:extLst>
              </a:tr>
              <a:tr h="4683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BIGINT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大整数（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字节），取值范围是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[-2^63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2^63-1]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47900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95857148-CAA8-7E0A-69EA-DF67B85B8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数据类型（续）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411DFC-24B8-C096-3DD2-550D231092D7}"/>
              </a:ext>
            </a:extLst>
          </p:cNvPr>
          <p:cNvSpPr txBox="1"/>
          <p:nvPr/>
        </p:nvSpPr>
        <p:spPr>
          <a:xfrm>
            <a:off x="4511824" y="5844863"/>
            <a:ext cx="4818063" cy="40011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数据类型</a:t>
            </a:r>
            <a:endParaRPr lang="zh-CN" altLang="en-US" sz="2000" b="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44D347A-362E-962E-FBF5-381633B20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052728"/>
              </p:ext>
            </p:extLst>
          </p:nvPr>
        </p:nvGraphicFramePr>
        <p:xfrm>
          <a:off x="1559496" y="936625"/>
          <a:ext cx="9649072" cy="5354642"/>
        </p:xfrm>
        <a:graphic>
          <a:graphicData uri="http://schemas.openxmlformats.org/drawingml/2006/table">
            <a:tbl>
              <a:tblPr/>
              <a:tblGrid>
                <a:gridCol w="2689918">
                  <a:extLst>
                    <a:ext uri="{9D8B030D-6E8A-4147-A177-3AD203B41FA5}">
                      <a16:colId xmlns:a16="http://schemas.microsoft.com/office/drawing/2014/main" val="3762249340"/>
                    </a:ext>
                  </a:extLst>
                </a:gridCol>
                <a:gridCol w="6959154">
                  <a:extLst>
                    <a:ext uri="{9D8B030D-6E8A-4147-A177-3AD203B41FA5}">
                      <a16:colId xmlns:a16="http://schemas.microsoft.com/office/drawing/2014/main" val="3593502794"/>
                    </a:ext>
                  </a:extLst>
                </a:gridCol>
              </a:tblGrid>
              <a:tr h="39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数据类型</a:t>
                      </a: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含义</a:t>
                      </a: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298863"/>
                  </a:ext>
                </a:extLst>
              </a:tr>
              <a:tr h="617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NUMERIC(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定点数，由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位数字（不包括符号、小数点）组成，小数点后面有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位数字</a:t>
                      </a: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5972140"/>
                  </a:ext>
                </a:extLst>
              </a:tr>
              <a:tr h="617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DECIMAL(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,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), DEC(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 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同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NUMERIC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类似，但数值精度不受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和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的限制</a:t>
                      </a: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171510"/>
                  </a:ext>
                </a:extLst>
              </a:tr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REAL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取决于机器精度的单精度浮点数</a:t>
                      </a: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570422"/>
                  </a:ext>
                </a:extLst>
              </a:tr>
              <a:tr h="617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DOUBLE PRECISION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取决于机器精度的双精度浮点数</a:t>
                      </a: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503294"/>
                  </a:ext>
                </a:extLst>
              </a:tr>
              <a:tr h="414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FLOAT(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可选精度的浮点数，精度至少为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位数字</a:t>
                      </a: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105855"/>
                  </a:ext>
                </a:extLst>
              </a:tr>
              <a:tr h="515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BOOLEAN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逻辑布尔量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836726"/>
                  </a:ext>
                </a:extLst>
              </a:tr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DATE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日期，包含年、月、日，格式为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YYYY-MM-DD</a:t>
                      </a: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39899"/>
                  </a:ext>
                </a:extLst>
              </a:tr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TIME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时间，包含一日的时、分、秒，格式为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HH:MM:SS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727834"/>
                  </a:ext>
                </a:extLst>
              </a:tr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TIMESTAMP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时间戳类型</a:t>
                      </a: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14713"/>
                  </a:ext>
                </a:extLst>
              </a:tr>
              <a:tr h="314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INTERVAL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时间间隔类型</a:t>
                      </a: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156831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AA8F2FE3-15BA-4466-DBFF-901B65C7A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数据类型（续）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>
            <a:extLst>
              <a:ext uri="{FF2B5EF4-FFF2-40B4-BE49-F238E27FC236}">
                <a16:creationId xmlns:a16="http://schemas.microsoft.com/office/drawing/2014/main" id="{D127300E-11E2-B5F9-696A-6D4E125FCBD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123950"/>
            <a:ext cx="10658475" cy="485457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dirty="0"/>
              <a:t>3.</a:t>
            </a:r>
            <a:r>
              <a:rPr lang="zh-CN" altLang="en-US" dirty="0"/>
              <a:t>模式与表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每一个基本表都属于某一个模式，一个模式包含多个基本表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定义基本表所属模式</a:t>
            </a:r>
          </a:p>
          <a:p>
            <a:pPr lvl="2" eaLnBrk="1" hangingPunct="1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200" dirty="0"/>
              <a:t>方法一：在表名中明显地给出模式名 </a:t>
            </a:r>
          </a:p>
          <a:p>
            <a:pPr marL="457200" lvl="3" indent="0" eaLnBrk="1" hangingPunct="1">
              <a:lnSpc>
                <a:spcPct val="150000"/>
              </a:lnSpc>
              <a:buNone/>
            </a:pPr>
            <a:r>
              <a:rPr lang="en-US" altLang="zh-CN" sz="2200" dirty="0"/>
              <a:t>Create table</a:t>
            </a:r>
            <a:r>
              <a:rPr lang="zh-CN" altLang="en-US" sz="2200" dirty="0"/>
              <a:t>“</a:t>
            </a:r>
            <a:r>
              <a:rPr lang="en-US" altLang="zh-CN" sz="2200" dirty="0"/>
              <a:t>S-C-SC</a:t>
            </a:r>
            <a:r>
              <a:rPr lang="zh-CN" altLang="en-US" sz="2200" dirty="0"/>
              <a:t>”</a:t>
            </a:r>
            <a:r>
              <a:rPr lang="en-US" altLang="zh-CN" sz="2200" dirty="0"/>
              <a:t>.Student</a:t>
            </a:r>
            <a:r>
              <a:rPr lang="zh-CN" altLang="en-US" sz="2200" dirty="0"/>
              <a:t>(</a:t>
            </a:r>
            <a:r>
              <a:rPr lang="en-US" altLang="zh-CN" sz="2200" dirty="0"/>
              <a:t>…</a:t>
            </a:r>
            <a:r>
              <a:rPr lang="zh-CN" altLang="en-US" sz="2200" dirty="0"/>
              <a:t>)</a:t>
            </a:r>
            <a:r>
              <a:rPr lang="en-US" altLang="zh-CN" sz="2200" dirty="0"/>
              <a:t>;  /*Student</a:t>
            </a:r>
            <a:r>
              <a:rPr lang="zh-CN" altLang="en-US" sz="2200" dirty="0"/>
              <a:t>所属的模式是</a:t>
            </a:r>
            <a:r>
              <a:rPr lang="en-US" altLang="zh-CN" sz="2200" dirty="0"/>
              <a:t>S-C-SC*/</a:t>
            </a:r>
          </a:p>
          <a:p>
            <a:pPr marL="457200" lvl="3" indent="0" eaLnBrk="1" hangingPunct="1">
              <a:lnSpc>
                <a:spcPct val="150000"/>
              </a:lnSpc>
              <a:buNone/>
            </a:pPr>
            <a:r>
              <a:rPr lang="en-US" altLang="zh-CN" sz="2200" dirty="0"/>
              <a:t>Create table </a:t>
            </a:r>
            <a:r>
              <a:rPr lang="zh-CN" altLang="en-US" sz="2200" dirty="0"/>
              <a:t>"</a:t>
            </a:r>
            <a:r>
              <a:rPr lang="en-US" altLang="zh-CN" sz="2200" dirty="0"/>
              <a:t>S-C-SC</a:t>
            </a:r>
            <a:r>
              <a:rPr lang="zh-CN" altLang="en-US" sz="2200" dirty="0"/>
              <a:t>"</a:t>
            </a:r>
            <a:r>
              <a:rPr lang="en-US" altLang="zh-CN" sz="2200" dirty="0"/>
              <a:t>.Course</a:t>
            </a:r>
            <a:r>
              <a:rPr lang="zh-CN" altLang="en-US" sz="2200" dirty="0"/>
              <a:t>(</a:t>
            </a:r>
            <a:r>
              <a:rPr lang="en-US" altLang="zh-CN" sz="2200" dirty="0"/>
              <a:t>…</a:t>
            </a:r>
            <a:r>
              <a:rPr lang="zh-CN" altLang="en-US" sz="2200" dirty="0"/>
              <a:t>)</a:t>
            </a:r>
            <a:r>
              <a:rPr lang="en-US" altLang="zh-CN" sz="2200" dirty="0"/>
              <a:t>;      /*Course</a:t>
            </a:r>
            <a:r>
              <a:rPr lang="zh-CN" altLang="en-US" sz="2200" dirty="0"/>
              <a:t>所属的模式是</a:t>
            </a:r>
            <a:r>
              <a:rPr lang="en-US" altLang="zh-CN" sz="2200" dirty="0"/>
              <a:t>S-C-SC*/</a:t>
            </a:r>
          </a:p>
          <a:p>
            <a:pPr marL="457200" lvl="3" indent="0" eaLnBrk="1" hangingPunct="1">
              <a:lnSpc>
                <a:spcPct val="150000"/>
              </a:lnSpc>
              <a:buNone/>
            </a:pPr>
            <a:r>
              <a:rPr lang="en-US" altLang="zh-CN" sz="2200" dirty="0"/>
              <a:t>Create table </a:t>
            </a:r>
            <a:r>
              <a:rPr lang="zh-CN" altLang="en-US" sz="2200" dirty="0"/>
              <a:t>"</a:t>
            </a:r>
            <a:r>
              <a:rPr lang="en-US" altLang="zh-CN" sz="2200" dirty="0"/>
              <a:t>S-C-SC</a:t>
            </a:r>
            <a:r>
              <a:rPr lang="zh-CN" altLang="en-US" sz="2200" dirty="0"/>
              <a:t>"</a:t>
            </a:r>
            <a:r>
              <a:rPr lang="en-US" altLang="zh-CN" sz="2200" dirty="0"/>
              <a:t>.SC</a:t>
            </a:r>
            <a:r>
              <a:rPr lang="zh-CN" altLang="en-US" sz="2200" dirty="0"/>
              <a:t>(</a:t>
            </a:r>
            <a:r>
              <a:rPr lang="en-US" altLang="zh-CN" sz="2200" dirty="0"/>
              <a:t>…</a:t>
            </a:r>
            <a:r>
              <a:rPr lang="zh-CN" altLang="en-US" sz="2200" dirty="0"/>
              <a:t>)</a:t>
            </a:r>
            <a:r>
              <a:rPr lang="en-US" altLang="zh-CN" sz="2200" dirty="0"/>
              <a:t>;             /*SC</a:t>
            </a:r>
            <a:r>
              <a:rPr lang="zh-CN" altLang="en-US" sz="2200" dirty="0"/>
              <a:t>所属的模式是</a:t>
            </a:r>
            <a:r>
              <a:rPr lang="en-US" altLang="zh-CN" sz="2200" dirty="0"/>
              <a:t>S-C-SC*/</a:t>
            </a:r>
          </a:p>
          <a:p>
            <a:pPr lvl="2" eaLnBrk="1" hangingPunct="1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200" dirty="0"/>
              <a:t>方法二：在创建模式语句中同时创建表 </a:t>
            </a:r>
          </a:p>
          <a:p>
            <a:pPr lvl="2" eaLnBrk="1" hangingPunct="1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200" dirty="0"/>
              <a:t>方法三：设置所属的模式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n"/>
            </a:pPr>
            <a:endParaRPr lang="zh-CN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5FAF051-E739-B49A-5584-DF89E01E3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600" kern="0" dirty="0"/>
              <a:t>3.</a:t>
            </a:r>
            <a:r>
              <a:rPr lang="zh-CN" altLang="en-US" sz="3600" kern="0" dirty="0"/>
              <a:t>模式与表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>
            <a:extLst>
              <a:ext uri="{FF2B5EF4-FFF2-40B4-BE49-F238E27FC236}">
                <a16:creationId xmlns:a16="http://schemas.microsoft.com/office/drawing/2014/main" id="{161AE37C-F4B9-702B-8D7A-8B9D40422C8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22450" y="1098550"/>
            <a:ext cx="10369550" cy="459422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/>
              <a:t>创建基本表（其他数据库对象）时，若没有指定模式，系统根据</a:t>
            </a:r>
            <a:r>
              <a:rPr lang="zh-CN" altLang="en-US" dirty="0">
                <a:solidFill>
                  <a:srgbClr val="FF00FF"/>
                </a:solidFill>
              </a:rPr>
              <a:t>搜索路径</a:t>
            </a:r>
            <a:r>
              <a:rPr lang="zh-CN" altLang="en-US" dirty="0"/>
              <a:t>来确定该对象所属的模式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关系数据库管理系统会使用模式列表中</a:t>
            </a:r>
            <a:r>
              <a:rPr lang="zh-CN" altLang="en-US" dirty="0">
                <a:solidFill>
                  <a:srgbClr val="FF00FF"/>
                </a:solidFill>
              </a:rPr>
              <a:t>第一个存在的模式</a:t>
            </a:r>
            <a:r>
              <a:rPr lang="zh-CN" altLang="en-US" dirty="0"/>
              <a:t>作为数据库对象的模式名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若搜索路径中的模式名都不存在，系统将给出错误 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显示当前的搜索路径： </a:t>
            </a:r>
            <a:r>
              <a:rPr lang="en-US" altLang="zh-CN" dirty="0"/>
              <a:t>SHOW SEARCH_PATH; 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搜索路径的当前默认值是：</a:t>
            </a:r>
            <a:r>
              <a:rPr lang="en-US" altLang="zh-CN" dirty="0"/>
              <a:t>$user</a:t>
            </a:r>
            <a:r>
              <a:rPr lang="zh-CN" altLang="en-US" dirty="0"/>
              <a:t>， </a:t>
            </a:r>
            <a:r>
              <a:rPr lang="en-US" altLang="zh-CN" dirty="0"/>
              <a:t>PUBLIC</a:t>
            </a:r>
            <a:r>
              <a:rPr lang="en-US" altLang="zh-CN" sz="2800" dirty="0"/>
              <a:t>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0B66BAD-9C42-E268-2122-B2F67B2DD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模式与表（续）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>
            <a:extLst>
              <a:ext uri="{FF2B5EF4-FFF2-40B4-BE49-F238E27FC236}">
                <a16:creationId xmlns:a16="http://schemas.microsoft.com/office/drawing/2014/main" id="{B31385D8-045E-1DBB-1923-E4403EB23E8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901950" y="1125538"/>
            <a:ext cx="9290050" cy="4854575"/>
          </a:xfrm>
        </p:spPr>
        <p:txBody>
          <a:bodyPr/>
          <a:lstStyle/>
          <a:p>
            <a:pPr lvl="1" eaLnBrk="1" hangingPunct="1">
              <a:lnSpc>
                <a:spcPct val="140000"/>
              </a:lnSpc>
            </a:pPr>
            <a:r>
              <a:rPr lang="zh-CN" altLang="en-US" dirty="0"/>
              <a:t>数据库管理员用户可以设置搜索路径，然后定义基本表 </a:t>
            </a:r>
          </a:p>
          <a:p>
            <a:pPr lvl="2" eaLnBrk="1" hangingPunct="1">
              <a:lnSpc>
                <a:spcPct val="140000"/>
              </a:lnSpc>
              <a:buFont typeface="Wingdings" pitchFamily="2" charset="2"/>
              <a:buChar char="l"/>
            </a:pPr>
            <a:r>
              <a:rPr lang="en-US" altLang="zh-CN" sz="2200" dirty="0">
                <a:solidFill>
                  <a:srgbClr val="FF00FF"/>
                </a:solidFill>
              </a:rPr>
              <a:t>SET SEARCH_PATH TO </a:t>
            </a:r>
            <a:r>
              <a:rPr lang="en-US" altLang="zh-CN" sz="2200" dirty="0"/>
              <a:t>"S-C-SC", PUBLIC</a:t>
            </a:r>
            <a:r>
              <a:rPr lang="zh-CN" altLang="en-US" sz="2200" dirty="0"/>
              <a:t>;</a:t>
            </a:r>
            <a:endParaRPr lang="en-US" altLang="zh-CN" sz="2200" dirty="0"/>
          </a:p>
          <a:p>
            <a:pPr lvl="2" eaLnBrk="1" hangingPunct="1">
              <a:lnSpc>
                <a:spcPct val="140000"/>
              </a:lnSpc>
              <a:buFont typeface="Wingdings" pitchFamily="2" charset="2"/>
              <a:buChar char="l"/>
            </a:pPr>
            <a:r>
              <a:rPr lang="zh-CN" altLang="zh-CN" sz="2200" dirty="0"/>
              <a:t>定义基本表：</a:t>
            </a:r>
            <a:endParaRPr lang="zh-CN" altLang="en-US" sz="2200" dirty="0"/>
          </a:p>
          <a:p>
            <a:pPr lvl="1" eaLnBrk="1" hangingPunct="1">
              <a:lnSpc>
                <a:spcPct val="140000"/>
              </a:lnSpc>
              <a:buFont typeface="Wingdings" pitchFamily="2" charset="2"/>
              <a:buNone/>
            </a:pPr>
            <a:r>
              <a:rPr lang="zh-CN" altLang="en-US" sz="2200" dirty="0"/>
              <a:t>        </a:t>
            </a:r>
            <a:r>
              <a:rPr lang="en-US" altLang="zh-CN" sz="2200" dirty="0"/>
              <a:t>Create table Student</a:t>
            </a:r>
            <a:r>
              <a:rPr lang="zh-CN" altLang="en-US" sz="2200" dirty="0"/>
              <a:t>(</a:t>
            </a:r>
            <a:r>
              <a:rPr lang="en-US" altLang="zh-CN" sz="2200" dirty="0"/>
              <a:t>......</a:t>
            </a:r>
            <a:r>
              <a:rPr lang="zh-CN" altLang="en-US" sz="2200" dirty="0"/>
              <a:t>)</a:t>
            </a:r>
            <a:r>
              <a:rPr lang="en-US" altLang="zh-CN" sz="2200" dirty="0"/>
              <a:t>;   </a:t>
            </a:r>
          </a:p>
          <a:p>
            <a:pPr lvl="2" eaLnBrk="1" hangingPunct="1">
              <a:lnSpc>
                <a:spcPct val="170000"/>
              </a:lnSpc>
              <a:buFont typeface="Wingdings" pitchFamily="2" charset="2"/>
              <a:buChar char="l"/>
            </a:pPr>
            <a:r>
              <a:rPr lang="zh-CN" altLang="en-US" sz="2200" dirty="0"/>
              <a:t>建立</a:t>
            </a:r>
            <a:r>
              <a:rPr lang="en-US" altLang="zh-CN" sz="2200" dirty="0"/>
              <a:t>S-C-</a:t>
            </a:r>
            <a:r>
              <a:rPr lang="en-US" altLang="zh-CN" sz="2200" dirty="0" err="1"/>
              <a:t>SC.Student</a:t>
            </a:r>
            <a:r>
              <a:rPr lang="zh-CN" altLang="en-US" sz="2200" dirty="0"/>
              <a:t>基本表</a:t>
            </a:r>
          </a:p>
          <a:p>
            <a:pPr lvl="2" eaLnBrk="1" hangingPunct="1">
              <a:lnSpc>
                <a:spcPct val="170000"/>
              </a:lnSpc>
              <a:buFont typeface="Wingdings" pitchFamily="2" charset="2"/>
              <a:buChar char="l"/>
            </a:pPr>
            <a:r>
              <a:rPr lang="zh-CN" altLang="en-US" sz="2200" dirty="0"/>
              <a:t>关系数据库管理系统发现搜索路径中第一个模式名</a:t>
            </a:r>
            <a:r>
              <a:rPr lang="en-US" altLang="zh-CN" sz="2200" dirty="0"/>
              <a:t>S-C-SC </a:t>
            </a:r>
            <a:r>
              <a:rPr lang="zh-CN" altLang="en-US" sz="2200" dirty="0"/>
              <a:t>，就把该模式作为基本表</a:t>
            </a:r>
            <a:r>
              <a:rPr lang="en-US" altLang="zh-CN" sz="2200" dirty="0"/>
              <a:t>Student</a:t>
            </a:r>
            <a:r>
              <a:rPr lang="zh-CN" altLang="en-US" sz="2200" dirty="0"/>
              <a:t>所属的模式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7AC6D22-A609-4E58-0952-628868260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模式与表（续）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>
            <a:extLst>
              <a:ext uri="{FF2B5EF4-FFF2-40B4-BE49-F238E27FC236}">
                <a16:creationId xmlns:a16="http://schemas.microsoft.com/office/drawing/2014/main" id="{B469CEEE-7B1F-57E1-8C15-5B3DE5F9C76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406775" y="1268413"/>
            <a:ext cx="8785225" cy="395922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/>
              <a:t>ALTER TABLE &lt;</a:t>
            </a:r>
            <a:r>
              <a:rPr lang="zh-CN" altLang="en-US" sz="2400"/>
              <a:t>表名</a:t>
            </a:r>
            <a:r>
              <a:rPr lang="en-US" altLang="zh-CN" sz="2400"/>
              <a:t>&gt;</a:t>
            </a:r>
          </a:p>
          <a:p>
            <a:pPr marL="0" lvl="2" indent="0">
              <a:lnSpc>
                <a:spcPct val="150000"/>
              </a:lnSpc>
              <a:buClr>
                <a:schemeClr val="hlink"/>
              </a:buClr>
              <a:buNone/>
            </a:pPr>
            <a:r>
              <a:rPr lang="en-US" altLang="zh-CN" sz="2200"/>
              <a:t>[ ADD[COLUMN] &lt;</a:t>
            </a:r>
            <a:r>
              <a:rPr lang="zh-CN" altLang="en-US" sz="2200"/>
              <a:t>新列名</a:t>
            </a:r>
            <a:r>
              <a:rPr lang="en-US" altLang="zh-CN" sz="2200"/>
              <a:t>&gt; &lt;</a:t>
            </a:r>
            <a:r>
              <a:rPr lang="zh-CN" altLang="en-US" sz="2200"/>
              <a:t>数据类型</a:t>
            </a:r>
            <a:r>
              <a:rPr lang="en-US" altLang="zh-CN" sz="2200"/>
              <a:t>&gt; [ </a:t>
            </a:r>
            <a:r>
              <a:rPr lang="zh-CN" altLang="en-US" sz="2200"/>
              <a:t>完整性约束 </a:t>
            </a:r>
            <a:r>
              <a:rPr lang="en-US" altLang="zh-CN" sz="2200"/>
              <a:t>] ]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200"/>
              <a:t>[ ADD &lt;</a:t>
            </a:r>
            <a:r>
              <a:rPr lang="zh-CN" altLang="en-US" sz="2200"/>
              <a:t>表级完整性约束</a:t>
            </a:r>
            <a:r>
              <a:rPr lang="en-US" altLang="zh-CN" sz="2200"/>
              <a:t>&gt;]</a:t>
            </a:r>
            <a:endParaRPr lang="en-US" altLang="zh-CN" sz="1800"/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200"/>
              <a:t>[ DROP [ COLUMN ] &lt;</a:t>
            </a:r>
            <a:r>
              <a:rPr lang="zh-CN" altLang="en-US" sz="2200"/>
              <a:t>列名</a:t>
            </a:r>
            <a:r>
              <a:rPr lang="en-US" altLang="zh-CN" sz="2200"/>
              <a:t>&gt; [CASCADE| RESTRICT] ]</a:t>
            </a:r>
            <a:endParaRPr lang="en-US" altLang="zh-CN" sz="1800"/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200"/>
              <a:t>[ DROP CONSTRAINT&lt;</a:t>
            </a:r>
            <a:r>
              <a:rPr lang="zh-CN" altLang="en-US" sz="2200"/>
              <a:t>完整性约束名</a:t>
            </a:r>
            <a:r>
              <a:rPr lang="en-US" altLang="zh-CN" sz="2200"/>
              <a:t>&gt;[ RESTRICT | CASCADE ]</a:t>
            </a:r>
            <a:r>
              <a:rPr lang="en-US" altLang="zh-CN" sz="2400"/>
              <a:t> ]</a:t>
            </a:r>
            <a:endParaRPr lang="en-US" altLang="zh-CN" sz="2000"/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200"/>
              <a:t>[ RENAME COLUMN &lt;</a:t>
            </a:r>
            <a:r>
              <a:rPr lang="zh-CN" altLang="zh-CN" sz="2200"/>
              <a:t>列名</a:t>
            </a:r>
            <a:r>
              <a:rPr lang="en-US" altLang="zh-CN" sz="2200"/>
              <a:t>&gt; TO &lt;</a:t>
            </a:r>
            <a:r>
              <a:rPr lang="zh-CN" altLang="zh-CN" sz="2200"/>
              <a:t>新列名</a:t>
            </a:r>
            <a:r>
              <a:rPr lang="en-US" altLang="zh-CN" sz="2200"/>
              <a:t>&gt; ]</a:t>
            </a:r>
            <a:endParaRPr lang="zh-CN" altLang="zh-CN" sz="2200"/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200"/>
              <a:t>[ ALTER COLUMN &lt;</a:t>
            </a:r>
            <a:r>
              <a:rPr lang="zh-CN" altLang="zh-CN" sz="2200"/>
              <a:t>列名</a:t>
            </a:r>
            <a:r>
              <a:rPr lang="en-US" altLang="zh-CN" sz="2200"/>
              <a:t>&gt; TYPE &lt;</a:t>
            </a:r>
            <a:r>
              <a:rPr lang="zh-CN" altLang="zh-CN" sz="2200"/>
              <a:t>数据类型</a:t>
            </a:r>
            <a:r>
              <a:rPr lang="en-US" altLang="zh-CN" sz="2200"/>
              <a:t>&gt; ];</a:t>
            </a:r>
            <a:endParaRPr lang="zh-CN" altLang="zh-CN" sz="220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EE90678-1560-6546-3D75-ACDC8A6BA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600" kern="0" dirty="0"/>
              <a:t>4.</a:t>
            </a:r>
            <a:r>
              <a:rPr lang="zh-CN" altLang="en-US" sz="3600" kern="0" dirty="0"/>
              <a:t>修改基本表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内容占位符 2">
            <a:extLst>
              <a:ext uri="{FF2B5EF4-FFF2-40B4-BE49-F238E27FC236}">
                <a16:creationId xmlns:a16="http://schemas.microsoft.com/office/drawing/2014/main" id="{9778AA02-5FB9-521F-A253-59A87D810E0B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822450" y="1054100"/>
            <a:ext cx="10369550" cy="489585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Char char="n"/>
            </a:pPr>
            <a:r>
              <a:rPr lang="en-US" altLang="zh-CN" sz="2400" dirty="0"/>
              <a:t>&lt;</a:t>
            </a:r>
            <a:r>
              <a:rPr lang="zh-CN" altLang="en-US" sz="2400" dirty="0"/>
              <a:t>表名</a:t>
            </a:r>
            <a:r>
              <a:rPr lang="en-US" altLang="zh-CN" sz="2400" dirty="0"/>
              <a:t>&gt;</a:t>
            </a:r>
            <a:r>
              <a:rPr lang="zh-CN" altLang="en-US" sz="2400" dirty="0"/>
              <a:t>是要修改的基本表</a:t>
            </a:r>
            <a:endParaRPr lang="zh-CN" altLang="en-US" sz="20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Char char="n"/>
            </a:pPr>
            <a:r>
              <a:rPr lang="en-US" altLang="zh-CN" sz="2400" dirty="0">
                <a:solidFill>
                  <a:srgbClr val="FF00FF"/>
                </a:solidFill>
              </a:rPr>
              <a:t>ADD</a:t>
            </a:r>
            <a:r>
              <a:rPr lang="zh-CN" altLang="en-US" sz="2400" dirty="0"/>
              <a:t>子句用于增加新列、新的列级完整性约束和新的表级完整性约束</a:t>
            </a:r>
            <a:endParaRPr lang="zh-CN" altLang="en-US" sz="20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Char char="n"/>
            </a:pPr>
            <a:r>
              <a:rPr lang="en-US" altLang="zh-CN" sz="2400" dirty="0">
                <a:solidFill>
                  <a:srgbClr val="FF00FF"/>
                </a:solidFill>
              </a:rPr>
              <a:t>DROP COLUMN</a:t>
            </a:r>
            <a:r>
              <a:rPr lang="zh-CN" altLang="en-US" sz="2400" dirty="0"/>
              <a:t>子句用于删除表中的列</a:t>
            </a:r>
            <a:endParaRPr lang="zh-CN" altLang="en-US" sz="2000" dirty="0"/>
          </a:p>
          <a:p>
            <a:pPr lvl="1" eaLnBrk="1" hangingPunct="1">
              <a:lnSpc>
                <a:spcPct val="120000"/>
              </a:lnSpc>
              <a:buFont typeface="Wingdings" pitchFamily="2" charset="2"/>
              <a:buChar char="l"/>
            </a:pPr>
            <a:r>
              <a:rPr lang="zh-CN" altLang="en-US" sz="2000" dirty="0"/>
              <a:t>如果指定了</a:t>
            </a:r>
            <a:r>
              <a:rPr lang="en-US" altLang="zh-CN" sz="2000" dirty="0"/>
              <a:t>CASCADE</a:t>
            </a:r>
            <a:r>
              <a:rPr lang="zh-CN" altLang="en-US" sz="2000" dirty="0"/>
              <a:t>短语，则自动删除引用了该列的其他对象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Char char="l"/>
            </a:pPr>
            <a:r>
              <a:rPr lang="zh-CN" altLang="en-US" sz="2000" dirty="0"/>
              <a:t>如果指定了</a:t>
            </a:r>
            <a:r>
              <a:rPr lang="en-US" altLang="zh-CN" sz="2000" dirty="0"/>
              <a:t>RESTRICT</a:t>
            </a:r>
            <a:r>
              <a:rPr lang="zh-CN" altLang="en-US" sz="2000" dirty="0"/>
              <a:t>短语，则如果该列被其他对象引用，关系数据库管理系统将拒绝删除该列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Char char="n"/>
            </a:pPr>
            <a:r>
              <a:rPr lang="en-US" altLang="zh-CN" sz="2400" dirty="0">
                <a:solidFill>
                  <a:srgbClr val="FF00FF"/>
                </a:solidFill>
              </a:rPr>
              <a:t>DROP CONSTRAINT</a:t>
            </a:r>
            <a:r>
              <a:rPr lang="zh-CN" altLang="en-US" sz="2400" dirty="0"/>
              <a:t>子句用于删除指定的完整性约束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Char char="n"/>
            </a:pPr>
            <a:r>
              <a:rPr lang="en-US" altLang="zh-CN" sz="2400" dirty="0">
                <a:solidFill>
                  <a:srgbClr val="FF00FF"/>
                </a:solidFill>
              </a:rPr>
              <a:t>RENAME COLUMN</a:t>
            </a:r>
            <a:r>
              <a:rPr lang="zh-CN" altLang="zh-CN" sz="2400" dirty="0"/>
              <a:t>子句用于修改列名</a:t>
            </a:r>
            <a:endParaRPr lang="zh-CN" altLang="en-US" sz="24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Char char="n"/>
            </a:pPr>
            <a:r>
              <a:rPr lang="en-US" altLang="zh-CN" sz="2400" dirty="0">
                <a:solidFill>
                  <a:srgbClr val="FF00FF"/>
                </a:solidFill>
              </a:rPr>
              <a:t>ALTER COLUMN</a:t>
            </a:r>
            <a:r>
              <a:rPr lang="zh-CN" altLang="en-US" sz="2400" dirty="0"/>
              <a:t>子句用于修改列的数据类型</a:t>
            </a:r>
            <a:endParaRPr lang="zh-CN" altLang="en-US" sz="2000" dirty="0"/>
          </a:p>
          <a:p>
            <a:pPr eaLnBrk="1" hangingPunct="1">
              <a:buFont typeface="Wingdings" pitchFamily="2" charset="2"/>
              <a:buChar char="n"/>
            </a:pPr>
            <a:endParaRPr lang="zh-CN" altLang="en-US" sz="1800" b="0" dirty="0"/>
          </a:p>
          <a:p>
            <a:pPr eaLnBrk="1" hangingPunct="1">
              <a:buFont typeface="Wingdings" pitchFamily="2" charset="2"/>
              <a:buChar char="n"/>
            </a:pPr>
            <a:endParaRPr lang="zh-CN" altLang="en-US" sz="1600" b="0" dirty="0"/>
          </a:p>
          <a:p>
            <a:pPr eaLnBrk="1" hangingPunct="1">
              <a:buFont typeface="Wingdings" pitchFamily="2" charset="2"/>
              <a:buChar char="n"/>
            </a:pPr>
            <a:endParaRPr lang="zh-CN" altLang="en-US" sz="1600" b="0" dirty="0"/>
          </a:p>
          <a:p>
            <a:pPr eaLnBrk="1" hangingPunct="1"/>
            <a:endParaRPr lang="zh-CN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0DEA7BD-5994-87B4-6A7A-000551007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修改基本表（续）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>
            <a:extLst>
              <a:ext uri="{FF2B5EF4-FFF2-40B4-BE49-F238E27FC236}">
                <a16:creationId xmlns:a16="http://schemas.microsoft.com/office/drawing/2014/main" id="{0D01BEB2-7B35-70B0-5638-0F28B3B030A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147888" y="1098550"/>
            <a:ext cx="10044112" cy="5097463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3.8]</a:t>
            </a:r>
            <a:r>
              <a:rPr lang="zh-CN" altLang="en-US" sz="2400" dirty="0"/>
              <a:t> 向</a:t>
            </a:r>
            <a:r>
              <a:rPr lang="en-US" altLang="zh-CN" sz="2400" dirty="0"/>
              <a:t>Student</a:t>
            </a:r>
            <a:r>
              <a:rPr lang="zh-CN" altLang="en-US" sz="2400" dirty="0"/>
              <a:t>表增加“邮箱地址”列</a:t>
            </a:r>
            <a:r>
              <a:rPr lang="en-US" altLang="zh-CN" sz="2400" dirty="0" err="1"/>
              <a:t>Semail</a:t>
            </a:r>
            <a:r>
              <a:rPr lang="zh-CN" altLang="en-US" sz="2400" dirty="0"/>
              <a:t>，其数据类型为字符型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dirty="0"/>
              <a:t>		ALTER TABLE Student ADD </a:t>
            </a:r>
            <a:r>
              <a:rPr lang="en-US" altLang="zh-CN" sz="2400" dirty="0" err="1"/>
              <a:t>Semail</a:t>
            </a:r>
            <a:r>
              <a:rPr lang="en-US" altLang="zh-CN" sz="2400" dirty="0"/>
              <a:t> VARCHAR(30);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dirty="0"/>
              <a:t>         不论基本表中原来是否已有数据，新增加的列一律为空值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98B53BF-B8A2-F6F3-9080-51A767EF7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修改基本表（续）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>
            <a:extLst>
              <a:ext uri="{FF2B5EF4-FFF2-40B4-BE49-F238E27FC236}">
                <a16:creationId xmlns:a16="http://schemas.microsoft.com/office/drawing/2014/main" id="{4F55BA3B-92A1-885A-561D-9C6E50D0A6A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830513" y="1098550"/>
            <a:ext cx="9361487" cy="509746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3.9]</a:t>
            </a:r>
            <a:r>
              <a:rPr lang="zh-CN" altLang="en-US" sz="2400" dirty="0"/>
              <a:t> 将</a:t>
            </a:r>
            <a:r>
              <a:rPr lang="en-US" altLang="zh-CN" sz="2400" dirty="0"/>
              <a:t>Student</a:t>
            </a:r>
            <a:r>
              <a:rPr lang="zh-CN" altLang="en-US" sz="2400" dirty="0"/>
              <a:t>表中出生日期</a:t>
            </a:r>
            <a:r>
              <a:rPr lang="en-US" altLang="zh-CN" sz="2400" dirty="0" err="1"/>
              <a:t>Sbirthdate</a:t>
            </a:r>
            <a:r>
              <a:rPr lang="zh-CN" altLang="en-US" sz="2400" dirty="0"/>
              <a:t>的数据类型由</a:t>
            </a:r>
            <a:r>
              <a:rPr lang="en-US" altLang="zh-CN" sz="2400" dirty="0"/>
              <a:t>DATE</a:t>
            </a:r>
            <a:r>
              <a:rPr lang="zh-CN" altLang="en-US" sz="2400" dirty="0"/>
              <a:t>型改为字符型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dirty="0"/>
              <a:t>	</a:t>
            </a:r>
            <a:r>
              <a:rPr lang="en-US" altLang="zh-CN" sz="2200" dirty="0"/>
              <a:t>ALTER TABLE Student ALTER COLUMN </a:t>
            </a:r>
            <a:r>
              <a:rPr lang="en-US" altLang="zh-CN" sz="2200" dirty="0" err="1"/>
              <a:t>Sbirthdate</a:t>
            </a:r>
            <a:r>
              <a:rPr lang="en-US" altLang="zh-CN" sz="2200" dirty="0"/>
              <a:t> TYPE VARCHAR(20);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200" dirty="0"/>
              <a:t>		</a:t>
            </a:r>
            <a:r>
              <a:rPr lang="en-US" altLang="zh-CN" sz="1800" dirty="0"/>
              <a:t>/*</a:t>
            </a:r>
            <a:r>
              <a:rPr lang="zh-CN" altLang="en-US" sz="1800" dirty="0"/>
              <a:t>注意，</a:t>
            </a:r>
            <a:r>
              <a:rPr lang="en-US" altLang="zh-CN" sz="1800" dirty="0"/>
              <a:t>DATE</a:t>
            </a:r>
            <a:r>
              <a:rPr lang="zh-CN" altLang="en-US" sz="1800" dirty="0"/>
              <a:t>类型占用</a:t>
            </a:r>
            <a:r>
              <a:rPr lang="en-US" altLang="zh-CN" sz="1800" dirty="0"/>
              <a:t>19</a:t>
            </a:r>
            <a:r>
              <a:rPr lang="zh-CN" altLang="en-US" sz="1800" dirty="0"/>
              <a:t>字节，所以修改为</a:t>
            </a:r>
            <a:r>
              <a:rPr lang="en-US" altLang="zh-CN" sz="1800" dirty="0"/>
              <a:t>VARCHAR</a:t>
            </a:r>
            <a:r>
              <a:rPr lang="zh-CN" altLang="en-US" sz="1800" dirty="0"/>
              <a:t>时长度要大于等于</a:t>
            </a:r>
            <a:r>
              <a:rPr lang="en-US" altLang="zh-CN" sz="1800" dirty="0"/>
              <a:t>19*/</a:t>
            </a:r>
            <a:endParaRPr lang="en-US" altLang="zh-CN" sz="22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endParaRPr lang="zh-CN" altLang="en-US" sz="24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3.10]</a:t>
            </a:r>
            <a:r>
              <a:rPr lang="zh-CN" altLang="en-US" sz="2400" dirty="0"/>
              <a:t> 增加课程名称必须取唯一值的约束条件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000" dirty="0"/>
              <a:t>    		</a:t>
            </a:r>
            <a:r>
              <a:rPr lang="en-US" altLang="zh-CN" sz="2400" dirty="0"/>
              <a:t>ALTER TABLE Course ADD UNIQUE</a:t>
            </a:r>
            <a:r>
              <a:rPr lang="zh-CN" altLang="en-US" sz="2400" dirty="0"/>
              <a:t>(</a:t>
            </a:r>
            <a:r>
              <a:rPr lang="en-US" altLang="zh-CN" sz="2400" dirty="0" err="1"/>
              <a:t>Cname</a:t>
            </a:r>
            <a:r>
              <a:rPr lang="zh-CN" altLang="en-US" sz="2400" dirty="0"/>
              <a:t>)</a:t>
            </a:r>
            <a:r>
              <a:rPr lang="en-US" altLang="zh-CN" sz="2400" dirty="0"/>
              <a:t>;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6BDD066-4A3F-1F38-3588-6C92E90CD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修改基本表（续）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>
            <a:extLst>
              <a:ext uri="{FF2B5EF4-FFF2-40B4-BE49-F238E27FC236}">
                <a16:creationId xmlns:a16="http://schemas.microsoft.com/office/drawing/2014/main" id="{C58177F6-E17B-8164-613E-5B4346433E2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657600" y="1196975"/>
            <a:ext cx="8534400" cy="512762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dirty="0"/>
              <a:t>DROP TABLE &lt;</a:t>
            </a:r>
            <a:r>
              <a:rPr lang="zh-CN" altLang="en-US" dirty="0"/>
              <a:t>表名</a:t>
            </a:r>
            <a:r>
              <a:rPr lang="en-US" altLang="zh-CN" dirty="0"/>
              <a:t>&gt;</a:t>
            </a:r>
            <a:r>
              <a:rPr lang="zh-CN" altLang="en-US" dirty="0"/>
              <a:t>［</a:t>
            </a:r>
            <a:r>
              <a:rPr lang="en-US" altLang="zh-CN" dirty="0"/>
              <a:t>RESTRICT| CASCADE</a:t>
            </a:r>
            <a:r>
              <a:rPr lang="zh-CN" altLang="en-US" dirty="0"/>
              <a:t>］</a:t>
            </a:r>
            <a:r>
              <a:rPr lang="en-US" altLang="zh-CN" dirty="0"/>
              <a:t>;</a:t>
            </a:r>
            <a:endParaRPr lang="zh-CN" altLang="en-US" sz="24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/>
              <a:t>RESTRICT</a:t>
            </a:r>
            <a:r>
              <a:rPr lang="zh-CN" altLang="en-US" dirty="0"/>
              <a:t>：删除表是有限制的</a:t>
            </a:r>
            <a:endParaRPr lang="zh-CN" altLang="en-US" sz="2000" dirty="0"/>
          </a:p>
          <a:p>
            <a:pPr lvl="2" eaLnBrk="1" hangingPunct="1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200" dirty="0"/>
              <a:t>欲删除的基本表不能被其他表的约束所引用</a:t>
            </a:r>
          </a:p>
          <a:p>
            <a:pPr lvl="2" eaLnBrk="1" hangingPunct="1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200" dirty="0"/>
              <a:t>如果存在依赖该表的对象，则此表不能被删除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dirty="0"/>
              <a:t>CASCADE</a:t>
            </a:r>
            <a:r>
              <a:rPr lang="zh-CN" altLang="en-US" dirty="0"/>
              <a:t>：删除该表没有限制</a:t>
            </a:r>
            <a:endParaRPr lang="zh-CN" altLang="en-US" sz="2000" dirty="0"/>
          </a:p>
          <a:p>
            <a:pPr lvl="2" eaLnBrk="1" hangingPunct="1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200" dirty="0"/>
              <a:t>在删除基本表的同时，相关的依赖对象一起删除 </a:t>
            </a: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648E981C-3D21-5DE5-80E3-E5D816976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SzTx/>
              <a:buFont typeface="Wingdings" pitchFamily="2" charset="2"/>
              <a:buNone/>
            </a:pPr>
            <a:r>
              <a:rPr lang="en-US" altLang="zh-CN" sz="3600">
                <a:solidFill>
                  <a:schemeClr val="bg1"/>
                </a:solidFill>
              </a:rPr>
              <a:t>5.</a:t>
            </a:r>
            <a:r>
              <a:rPr lang="zh-CN" altLang="en-US" sz="3600">
                <a:solidFill>
                  <a:schemeClr val="bg1"/>
                </a:solidFill>
              </a:rPr>
              <a:t>删除基本表</a:t>
            </a:r>
            <a:r>
              <a:rPr lang="en-US" altLang="zh-CN" sz="3600">
                <a:solidFill>
                  <a:schemeClr val="bg1"/>
                </a:solidFill>
              </a:rPr>
              <a:t>	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>
            <a:extLst>
              <a:ext uri="{FF2B5EF4-FFF2-40B4-BE49-F238E27FC236}">
                <a16:creationId xmlns:a16="http://schemas.microsoft.com/office/drawing/2014/main" id="{7226B97B-A865-3003-E85E-142CF6FA07A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339850"/>
            <a:ext cx="10972800" cy="4854575"/>
          </a:xfrm>
        </p:spPr>
        <p:txBody>
          <a:bodyPr/>
          <a:lstStyle/>
          <a:p>
            <a:pPr algn="just" eaLnBrk="1" hangingPunct="1">
              <a:buFont typeface="Wingdings" pitchFamily="2" charset="2"/>
              <a:buNone/>
            </a:pPr>
            <a:r>
              <a:rPr lang="en-US" altLang="zh-CN" sz="2400" dirty="0"/>
              <a:t>    [</a:t>
            </a:r>
            <a:r>
              <a:rPr lang="zh-CN" altLang="en-US" sz="2400" dirty="0"/>
              <a:t>例</a:t>
            </a:r>
            <a:r>
              <a:rPr lang="en-US" altLang="zh-CN" sz="2400" dirty="0"/>
              <a:t>3.11] </a:t>
            </a:r>
            <a:r>
              <a:rPr lang="zh-CN" altLang="en-US" sz="2400" dirty="0"/>
              <a:t>删除</a:t>
            </a:r>
            <a:r>
              <a:rPr lang="en-US" altLang="zh-CN" sz="2400" dirty="0"/>
              <a:t>Student</a:t>
            </a:r>
            <a:r>
              <a:rPr lang="zh-CN" altLang="en-US" sz="2400" dirty="0"/>
              <a:t>表</a:t>
            </a:r>
            <a:r>
              <a:rPr lang="zh-CN" altLang="zh-CN" sz="2400" dirty="0"/>
              <a:t>，选择</a:t>
            </a:r>
            <a:r>
              <a:rPr lang="en-US" altLang="zh-CN" sz="2400" dirty="0"/>
              <a:t>CASCADE</a:t>
            </a:r>
            <a:endParaRPr lang="zh-CN" altLang="en-US" sz="2400" dirty="0"/>
          </a:p>
          <a:p>
            <a:pPr lvl="1" eaLnBrk="1" hangingPunct="1">
              <a:lnSpc>
                <a:spcPct val="160000"/>
              </a:lnSpc>
              <a:buFont typeface="Wingdings" pitchFamily="2" charset="2"/>
              <a:buNone/>
            </a:pPr>
            <a:r>
              <a:rPr lang="zh-CN" altLang="en-US" dirty="0"/>
              <a:t>     </a:t>
            </a:r>
            <a:r>
              <a:rPr lang="en-US" altLang="zh-CN" dirty="0"/>
              <a:t>DROP TABLE  Student  CASCADE;</a:t>
            </a:r>
          </a:p>
          <a:p>
            <a:pPr lvl="1" eaLnBrk="1" hangingPunct="1">
              <a:lnSpc>
                <a:spcPct val="160000"/>
              </a:lnSpc>
            </a:pPr>
            <a:r>
              <a:rPr lang="zh-CN" altLang="en-US" dirty="0"/>
              <a:t>基本表定义被删除，数据被删除</a:t>
            </a:r>
          </a:p>
          <a:p>
            <a:pPr lvl="1" eaLnBrk="1" hangingPunct="1">
              <a:lnSpc>
                <a:spcPct val="160000"/>
              </a:lnSpc>
            </a:pPr>
            <a:r>
              <a:rPr lang="zh-CN" altLang="en-US" dirty="0"/>
              <a:t>表上建立的索引、视图、触发器等一般也将被删除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8663FF6-9F3B-E2E2-C7F2-06A47B5B6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删除基本表（续）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>
            <a:extLst>
              <a:ext uri="{FF2B5EF4-FFF2-40B4-BE49-F238E27FC236}">
                <a16:creationId xmlns:a16="http://schemas.microsoft.com/office/drawing/2014/main" id="{197CBC66-6322-5483-0AAA-5C0F8F53C43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227388" y="1098550"/>
            <a:ext cx="8964612" cy="5643563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/>
              <a:t>  </a:t>
            </a: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3.12 ]</a:t>
            </a:r>
            <a:r>
              <a:rPr lang="zh-CN" altLang="zh-CN" sz="2400" dirty="0"/>
              <a:t>删除</a:t>
            </a:r>
            <a:r>
              <a:rPr lang="en-US" altLang="zh-CN" sz="2400" dirty="0"/>
              <a:t>Student</a:t>
            </a:r>
            <a:r>
              <a:rPr lang="zh-CN" altLang="zh-CN" sz="2400" dirty="0"/>
              <a:t>表，</a:t>
            </a:r>
            <a:r>
              <a:rPr lang="zh-CN" altLang="en-US" sz="2400" dirty="0"/>
              <a:t>若表上建有视图，选择</a:t>
            </a:r>
            <a:r>
              <a:rPr lang="en-US" altLang="zh-CN" sz="2400" dirty="0"/>
              <a:t>RESTRICT</a:t>
            </a:r>
            <a:r>
              <a:rPr lang="zh-CN" altLang="en-US" sz="2400" dirty="0"/>
              <a:t>时表不能删除;选择</a:t>
            </a:r>
            <a:r>
              <a:rPr lang="en-US" altLang="zh-CN" sz="2400" dirty="0"/>
              <a:t>CASCADE</a:t>
            </a:r>
            <a:r>
              <a:rPr lang="zh-CN" altLang="en-US" sz="2400" dirty="0"/>
              <a:t>时可以删除表，视图也自动删除。	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1800" dirty="0"/>
              <a:t>	</a:t>
            </a:r>
            <a:r>
              <a:rPr lang="en-US" altLang="zh-CN" sz="2000" dirty="0"/>
              <a:t>CREATE VIEW </a:t>
            </a:r>
            <a:r>
              <a:rPr lang="en-US" altLang="zh-CN" sz="2000" dirty="0" err="1"/>
              <a:t>CS_Student</a:t>
            </a:r>
            <a:r>
              <a:rPr lang="en-US" altLang="zh-CN" sz="2000" dirty="0"/>
              <a:t>       </a:t>
            </a:r>
            <a:r>
              <a:rPr lang="en-US" altLang="zh-CN" sz="1400" dirty="0"/>
              <a:t>/* Student</a:t>
            </a:r>
            <a:r>
              <a:rPr lang="zh-CN" altLang="en-US" sz="1400" dirty="0"/>
              <a:t>表上建立计算机科学与技术专业学生视图*</a:t>
            </a:r>
            <a:r>
              <a:rPr lang="en-US" altLang="zh-CN" sz="1400" dirty="0"/>
              <a:t>/</a:t>
            </a:r>
            <a:endParaRPr lang="en-US" altLang="zh-CN" sz="20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000" dirty="0"/>
              <a:t>	AS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000" dirty="0"/>
              <a:t>	SELECT </a:t>
            </a:r>
            <a:r>
              <a:rPr lang="en-US" altLang="zh-CN" sz="2000" dirty="0" err="1"/>
              <a:t>Sno,Sname,Ssex,Sbirthdate,Smajor</a:t>
            </a:r>
            <a:endParaRPr lang="en-US" altLang="zh-CN" sz="20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000" dirty="0"/>
              <a:t>	FROM Student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000" dirty="0"/>
              <a:t>	WHERE </a:t>
            </a:r>
            <a:r>
              <a:rPr lang="en-US" altLang="zh-CN" sz="2000" dirty="0" err="1"/>
              <a:t>Smajor</a:t>
            </a:r>
            <a:r>
              <a:rPr lang="en-US" altLang="zh-CN" sz="2000" dirty="0"/>
              <a:t>='</a:t>
            </a:r>
            <a:r>
              <a:rPr lang="zh-CN" altLang="en-US" sz="2000" dirty="0"/>
              <a:t>计算机科学与技术</a:t>
            </a:r>
            <a:r>
              <a:rPr lang="en-US" altLang="zh-CN" sz="2000" dirty="0"/>
              <a:t>’;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endParaRPr lang="en-US" altLang="zh-CN" sz="20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000" dirty="0"/>
              <a:t>	DROP TABLE Student RESTRICT;            </a:t>
            </a:r>
            <a:r>
              <a:rPr lang="en-US" altLang="zh-CN" sz="1600" dirty="0"/>
              <a:t>	/*</a:t>
            </a:r>
            <a:r>
              <a:rPr lang="zh-CN" altLang="en-US" sz="1600" dirty="0"/>
              <a:t>删除</a:t>
            </a:r>
            <a:r>
              <a:rPr lang="en-US" altLang="zh-CN" sz="1600" dirty="0"/>
              <a:t>Student</a:t>
            </a:r>
            <a:r>
              <a:rPr lang="zh-CN" altLang="en-US" sz="1600" dirty="0"/>
              <a:t>表*</a:t>
            </a:r>
            <a:r>
              <a:rPr lang="en-US" altLang="zh-CN" sz="1600" dirty="0"/>
              <a:t>/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000" dirty="0"/>
              <a:t>	</a:t>
            </a:r>
            <a:r>
              <a:rPr lang="en-US" altLang="zh-CN" sz="1600" dirty="0"/>
              <a:t>--ERROR: cannot drop table Student because other objects depend on it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	 /* 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系统返回错误信息，存在依赖该表的对象，此表不能被删除</a:t>
            </a:r>
            <a:r>
              <a:rPr lang="en-US" altLang="zh-CN" sz="1600" dirty="0">
                <a:latin typeface="Times New Roman" panose="02020603050405020304" pitchFamily="18" charset="0"/>
              </a:rPr>
              <a:t>*/</a:t>
            </a:r>
            <a:endParaRPr lang="en-US" altLang="zh-CN" sz="16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A4CF918-AFC2-D47B-CE71-792D13C11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删除基本表（续）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>
            <a:extLst>
              <a:ext uri="{FF2B5EF4-FFF2-40B4-BE49-F238E27FC236}">
                <a16:creationId xmlns:a16="http://schemas.microsoft.com/office/drawing/2014/main" id="{AEE49521-1FE1-070D-AAA7-8EE6C8FA644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686050" y="1052513"/>
            <a:ext cx="9505950" cy="4854575"/>
          </a:xfrm>
        </p:spPr>
        <p:txBody>
          <a:bodyPr>
            <a:normAutofit/>
          </a:bodyPr>
          <a:lstStyle/>
          <a:p>
            <a:pPr eaLnBrk="1" hangingPunct="1">
              <a:lnSpc>
                <a:spcPct val="180000"/>
              </a:lnSpc>
              <a:buFont typeface="Wingdings" pitchFamily="2" charset="2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3.12</a:t>
            </a:r>
            <a:r>
              <a:rPr lang="zh-CN" altLang="en-US" sz="2400" dirty="0"/>
              <a:t>续</a:t>
            </a:r>
            <a:r>
              <a:rPr lang="en-US" altLang="zh-CN" sz="2400" dirty="0"/>
              <a:t>]</a:t>
            </a:r>
            <a:r>
              <a:rPr lang="zh-CN" altLang="en-US" sz="2400" dirty="0"/>
              <a:t> 选择</a:t>
            </a:r>
            <a:r>
              <a:rPr lang="en-US" altLang="zh-CN" sz="2400" dirty="0"/>
              <a:t>CASCADE</a:t>
            </a:r>
            <a:r>
              <a:rPr lang="zh-CN" altLang="en-US" sz="2400" dirty="0"/>
              <a:t>时可以删除表，视图也自动被删除 </a:t>
            </a:r>
          </a:p>
          <a:p>
            <a:pPr eaLnBrk="1" hangingPunct="1">
              <a:lnSpc>
                <a:spcPct val="180000"/>
              </a:lnSpc>
              <a:buFont typeface="Wingdings" pitchFamily="2" charset="2"/>
              <a:buNone/>
            </a:pPr>
            <a:r>
              <a:rPr lang="en-US" altLang="zh-CN" sz="2200" dirty="0"/>
              <a:t>DROP TABLE Student CASCADE;          	  	</a:t>
            </a:r>
            <a:r>
              <a:rPr lang="en-US" altLang="zh-CN" sz="1800" dirty="0"/>
              <a:t>/*</a:t>
            </a:r>
            <a:r>
              <a:rPr lang="zh-CN" altLang="en-US" sz="1800" dirty="0"/>
              <a:t>删除</a:t>
            </a:r>
            <a:r>
              <a:rPr lang="en-US" altLang="zh-CN" sz="1800" dirty="0"/>
              <a:t>Student</a:t>
            </a:r>
            <a:r>
              <a:rPr lang="zh-CN" altLang="en-US" sz="1800" dirty="0"/>
              <a:t>表*</a:t>
            </a:r>
            <a:r>
              <a:rPr lang="en-US" altLang="zh-CN" sz="1800" dirty="0"/>
              <a:t>/</a:t>
            </a:r>
          </a:p>
          <a:p>
            <a:pPr eaLnBrk="1" hangingPunct="1">
              <a:lnSpc>
                <a:spcPct val="180000"/>
              </a:lnSpc>
              <a:buFont typeface="Wingdings" pitchFamily="2" charset="2"/>
              <a:buNone/>
            </a:pPr>
            <a:r>
              <a:rPr lang="en-US" altLang="zh-CN" sz="2200" dirty="0"/>
              <a:t>--NOTICE: drop cascades to view </a:t>
            </a:r>
            <a:r>
              <a:rPr lang="en-US" altLang="zh-CN" sz="2200" dirty="0" err="1"/>
              <a:t>CS_Student</a:t>
            </a:r>
            <a:r>
              <a:rPr lang="en-US" altLang="zh-CN" sz="2200" dirty="0"/>
              <a:t>	</a:t>
            </a:r>
          </a:p>
          <a:p>
            <a:pPr eaLnBrk="1" hangingPunct="1">
              <a:lnSpc>
                <a:spcPct val="180000"/>
              </a:lnSpc>
              <a:buFont typeface="Wingdings" pitchFamily="2" charset="2"/>
              <a:buNone/>
            </a:pPr>
            <a:r>
              <a:rPr lang="en-US" altLang="zh-CN" sz="1800" dirty="0"/>
              <a:t>                     			      /*</a:t>
            </a:r>
            <a:r>
              <a:rPr lang="zh-CN" altLang="en-US" sz="1800" dirty="0"/>
              <a:t>系统返回提示，此表上的视图也被删除*</a:t>
            </a:r>
            <a:r>
              <a:rPr lang="en-US" altLang="zh-CN" sz="1800" dirty="0"/>
              <a:t>/</a:t>
            </a:r>
          </a:p>
          <a:p>
            <a:pPr eaLnBrk="1" hangingPunct="1">
              <a:lnSpc>
                <a:spcPct val="180000"/>
              </a:lnSpc>
              <a:buFont typeface="Wingdings" pitchFamily="2" charset="2"/>
              <a:buNone/>
            </a:pPr>
            <a:endParaRPr lang="en-US" altLang="zh-CN" sz="2200" dirty="0"/>
          </a:p>
          <a:p>
            <a:pPr eaLnBrk="1" hangingPunct="1">
              <a:lnSpc>
                <a:spcPct val="180000"/>
              </a:lnSpc>
              <a:buFont typeface="Wingdings" pitchFamily="2" charset="2"/>
              <a:buNone/>
            </a:pPr>
            <a:r>
              <a:rPr lang="en-US" altLang="zh-CN" sz="2200" dirty="0"/>
              <a:t>SELECT * FROM </a:t>
            </a:r>
            <a:r>
              <a:rPr lang="en-US" altLang="zh-CN" sz="2200" dirty="0" err="1"/>
              <a:t>CS_Student</a:t>
            </a:r>
            <a:r>
              <a:rPr lang="en-US" altLang="zh-CN" sz="2200" dirty="0"/>
              <a:t>;                     </a:t>
            </a:r>
            <a:r>
              <a:rPr lang="en-US" altLang="zh-CN" sz="1800" dirty="0"/>
              <a:t>/* </a:t>
            </a:r>
            <a:r>
              <a:rPr lang="en-US" altLang="zh-CN" sz="1800" dirty="0" err="1"/>
              <a:t>CS_Student</a:t>
            </a:r>
            <a:r>
              <a:rPr lang="zh-CN" altLang="en-US" sz="1800" dirty="0"/>
              <a:t>视图不存在*</a:t>
            </a:r>
            <a:r>
              <a:rPr lang="en-US" altLang="zh-CN" sz="1800" dirty="0"/>
              <a:t>/</a:t>
            </a:r>
            <a:endParaRPr lang="en-US" altLang="zh-CN" sz="2200" dirty="0"/>
          </a:p>
          <a:p>
            <a:pPr eaLnBrk="1" hangingPunct="1">
              <a:lnSpc>
                <a:spcPct val="180000"/>
              </a:lnSpc>
              <a:buFont typeface="Wingdings" pitchFamily="2" charset="2"/>
              <a:buNone/>
            </a:pPr>
            <a:r>
              <a:rPr lang="en-US" altLang="zh-CN" sz="2200" dirty="0"/>
              <a:t>--ERROR: relation " </a:t>
            </a:r>
            <a:r>
              <a:rPr lang="en-US" altLang="zh-CN" sz="2200" dirty="0" err="1"/>
              <a:t>CS_Student</a:t>
            </a:r>
            <a:r>
              <a:rPr lang="en-US" altLang="zh-CN" sz="2200" dirty="0"/>
              <a:t> " does not exist</a:t>
            </a:r>
          </a:p>
          <a:p>
            <a:pPr eaLnBrk="1" hangingPunct="1"/>
            <a:endParaRPr lang="en-US" altLang="zh-CN" sz="24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FB9C34A-87CD-94F1-635D-8B0422491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删除基本表（续）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EB44BF3-A29B-BF8D-4255-90CFE9D94051}"/>
              </a:ext>
            </a:extLst>
          </p:cNvPr>
          <p:cNvSpPr txBox="1"/>
          <p:nvPr/>
        </p:nvSpPr>
        <p:spPr>
          <a:xfrm>
            <a:off x="2063552" y="1124744"/>
            <a:ext cx="8424936" cy="259539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SzPct val="100000"/>
              <a:defRPr/>
            </a:pPr>
            <a:endParaRPr lang="en-US" altLang="zh-CN" sz="2400" b="1" dirty="0">
              <a:latin typeface="+mn-lt"/>
              <a:ea typeface="+mn-ea"/>
            </a:endParaRPr>
          </a:p>
          <a:p>
            <a:pPr algn="ctr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zh-CN" sz="4400" b="1" kern="0" dirty="0">
                <a:highlight>
                  <a:srgbClr val="FFFF00"/>
                </a:highlight>
                <a:latin typeface="+mn-lt"/>
                <a:ea typeface="+mn-ea"/>
              </a:rPr>
              <a:t>不同产品</a:t>
            </a:r>
            <a:r>
              <a:rPr lang="en-US" altLang="zh-CN" sz="4400" b="1" kern="0" dirty="0">
                <a:highlight>
                  <a:srgbClr val="FFFF00"/>
                </a:highlight>
                <a:latin typeface="+mn-lt"/>
                <a:ea typeface="+mn-ea"/>
              </a:rPr>
              <a:t>DROP TABLE</a:t>
            </a:r>
          </a:p>
          <a:p>
            <a:pPr algn="ctr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zh-CN" sz="4400" b="1" kern="0" dirty="0">
                <a:highlight>
                  <a:srgbClr val="FFFF00"/>
                </a:highlight>
                <a:latin typeface="+mn-lt"/>
                <a:ea typeface="+mn-ea"/>
              </a:rPr>
              <a:t>处理策略比较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1D4AC1-5F03-2B77-46DC-E41EB1830D72}"/>
              </a:ext>
            </a:extLst>
          </p:cNvPr>
          <p:cNvSpPr txBox="1"/>
          <p:nvPr/>
        </p:nvSpPr>
        <p:spPr>
          <a:xfrm>
            <a:off x="3870338" y="188913"/>
            <a:ext cx="4811713" cy="64611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600" b="1">
                <a:solidFill>
                  <a:schemeClr val="bg1"/>
                </a:solidFill>
                <a:latin typeface="宋体" panose="02010600030101010101" pitchFamily="2" charset="-122"/>
              </a:rPr>
              <a:t>二维码</a:t>
            </a:r>
            <a:r>
              <a:rPr lang="en-US" altLang="zh-CN" sz="3600" b="1">
                <a:solidFill>
                  <a:schemeClr val="bg1"/>
                </a:solidFill>
              </a:rPr>
              <a:t>3.2</a:t>
            </a:r>
            <a:r>
              <a:rPr lang="en-US" altLang="zh-CN" sz="3600" b="1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endParaRPr lang="zh-CN" altLang="en-US" sz="3600" b="1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03C8CC24-2AF5-5A51-6434-151FF202107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en-US" altLang="zh-CN" sz="3600"/>
              <a:t>3.2 </a:t>
            </a:r>
            <a:r>
              <a:rPr lang="zh-CN" altLang="en-US" sz="3600"/>
              <a:t>数据定义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C6A5ADE9-E3F2-8F06-F806-62C758DC885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116388" y="1339850"/>
            <a:ext cx="8075612" cy="4854575"/>
          </a:xfrm>
        </p:spPr>
        <p:txBody>
          <a:bodyPr/>
          <a:lstStyle/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/>
              <a:t>3.2.1 </a:t>
            </a:r>
            <a:r>
              <a:rPr lang="zh-CN" altLang="en-US"/>
              <a:t>模式的定义与删除</a:t>
            </a: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/>
              <a:t>3.2.2 </a:t>
            </a:r>
            <a:r>
              <a:rPr lang="zh-CN" altLang="en-US"/>
              <a:t>基本表的定义、删除与修改</a:t>
            </a: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>
                <a:solidFill>
                  <a:srgbClr val="00B050"/>
                </a:solidFill>
              </a:rPr>
              <a:t>3.2.3 </a:t>
            </a:r>
            <a:r>
              <a:rPr lang="zh-CN" altLang="en-US">
                <a:solidFill>
                  <a:srgbClr val="00B050"/>
                </a:solidFill>
              </a:rPr>
              <a:t>索引的建立与删除</a:t>
            </a:r>
            <a:endParaRPr lang="en-US" altLang="zh-CN">
              <a:solidFill>
                <a:srgbClr val="00B050"/>
              </a:solidFill>
            </a:endParaRP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/>
              <a:t>3.2.4 </a:t>
            </a:r>
            <a:r>
              <a:rPr lang="zh-CN" altLang="en-US"/>
              <a:t>数据字典</a:t>
            </a:r>
          </a:p>
          <a:p>
            <a:pPr marL="0" indent="0" eaLnBrk="1" hangingPunct="1"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C8AA8FE9-1F52-4D33-5B2B-8DCB4AEB158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en-US" altLang="zh-CN" sz="3600"/>
              <a:t>3.2.3 </a:t>
            </a:r>
            <a:r>
              <a:rPr lang="zh-CN" altLang="en-US" sz="3600"/>
              <a:t>索引的建立与删除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5B3726F9-27FF-DCA5-F772-B79858D2E76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460625" y="1022350"/>
            <a:ext cx="9731375" cy="4927600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 dirty="0"/>
              <a:t>建立索引目的：加快查询速度</a:t>
            </a:r>
            <a:endParaRPr lang="zh-CN" altLang="en-US" sz="3200" dirty="0"/>
          </a:p>
          <a:p>
            <a:pPr eaLnBrk="1" hangingPunct="1">
              <a:lnSpc>
                <a:spcPct val="130000"/>
              </a:lnSpc>
            </a:pPr>
            <a:r>
              <a:rPr lang="zh-CN" altLang="en-US" dirty="0"/>
              <a:t>数据库常见索引：</a:t>
            </a:r>
            <a:endParaRPr lang="zh-CN" altLang="en-US" sz="3200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顺序文件上的索引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/>
              <a:t>B+</a:t>
            </a:r>
            <a:r>
              <a:rPr lang="zh-CN" altLang="en-US" dirty="0"/>
              <a:t>树索引（参见爱课程网“数据库系统概论”课程</a:t>
            </a:r>
            <a:r>
              <a:rPr lang="en-US" altLang="zh-CN" dirty="0"/>
              <a:t>3.2</a:t>
            </a:r>
            <a:r>
              <a:rPr lang="zh-CN" altLang="en-US" dirty="0"/>
              <a:t>节动画“</a:t>
            </a:r>
            <a:r>
              <a:rPr lang="en-US" altLang="zh-CN" dirty="0"/>
              <a:t>B+</a:t>
            </a:r>
            <a:r>
              <a:rPr lang="zh-CN" altLang="en-US" dirty="0"/>
              <a:t>树的</a:t>
            </a:r>
            <a:r>
              <a:rPr lang="zh-CN" altLang="en-US"/>
              <a:t>增删改”）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哈希（</a:t>
            </a:r>
            <a:r>
              <a:rPr lang="en-US" altLang="zh-CN" dirty="0"/>
              <a:t>hash</a:t>
            </a:r>
            <a:r>
              <a:rPr lang="zh-CN" altLang="en-US" dirty="0"/>
              <a:t>）索引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位图索引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/>
              <a:t>特点：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/>
              <a:t>B+</a:t>
            </a:r>
            <a:r>
              <a:rPr lang="zh-CN" altLang="en-US" dirty="0"/>
              <a:t>树索引具有动态平衡的优点 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哈希索引具有查找速度快的特点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2CE055B4-D6BC-978C-7A0E-040A74EA08D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zh-CN" altLang="en-US" sz="3600"/>
              <a:t>索 引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73594EC9-B5DE-2D90-6419-05C169942D8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098550"/>
            <a:ext cx="8229600" cy="4881563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dirty="0"/>
              <a:t>谁可以建立与删除索引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数据库管理员或表的属主（即建立表的人）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 dirty="0"/>
              <a:t>谁维护索引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关系数据库管理系统自动完成 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 dirty="0"/>
              <a:t>使用索引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关系数据库管理系统自动选择合适的索引作为存取路径，用户不必自主地选择索引</a:t>
            </a:r>
          </a:p>
          <a:p>
            <a:pPr lvl="1" eaLnBrk="1" hangingPunct="1">
              <a:lnSpc>
                <a:spcPct val="130000"/>
              </a:lnSpc>
            </a:pPr>
            <a:endParaRPr lang="zh-CN" altLang="en-US" sz="2200" dirty="0"/>
          </a:p>
          <a:p>
            <a:pPr eaLnBrk="1" hangingPunct="1">
              <a:lnSpc>
                <a:spcPct val="130000"/>
              </a:lnSpc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3">
            <a:extLst>
              <a:ext uri="{FF2B5EF4-FFF2-40B4-BE49-F238E27FC236}">
                <a16:creationId xmlns:a16="http://schemas.microsoft.com/office/drawing/2014/main" id="{ABA6BF1F-9A23-9EEC-0421-42FA3BE6E58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479800" y="1100138"/>
            <a:ext cx="8712200" cy="5354637"/>
          </a:xfrm>
        </p:spPr>
        <p:txBody>
          <a:bodyPr/>
          <a:lstStyle/>
          <a:p>
            <a:pPr algn="just" eaLnBrk="1" hangingPunct="1"/>
            <a:r>
              <a:rPr lang="zh-CN" altLang="en-US"/>
              <a:t>语句格式</a:t>
            </a:r>
          </a:p>
          <a:p>
            <a:pPr lvl="1" algn="just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/>
              <a:t>CREATE </a:t>
            </a:r>
            <a:r>
              <a:rPr lang="en-US" altLang="zh-CN">
                <a:solidFill>
                  <a:srgbClr val="FF00FF"/>
                </a:solidFill>
              </a:rPr>
              <a:t>[UNIQUE] [CLUSTER]</a:t>
            </a:r>
            <a:r>
              <a:rPr lang="en-US" altLang="zh-CN"/>
              <a:t> INDEX &lt;</a:t>
            </a:r>
            <a:r>
              <a:rPr lang="zh-CN" altLang="en-US"/>
              <a:t>索引名</a:t>
            </a:r>
            <a:r>
              <a:rPr lang="en-US" altLang="zh-CN"/>
              <a:t>&gt; </a:t>
            </a:r>
          </a:p>
          <a:p>
            <a:pPr lvl="1" algn="just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/>
              <a:t>ON &lt;</a:t>
            </a:r>
            <a:r>
              <a:rPr lang="zh-CN" altLang="en-US"/>
              <a:t>表名</a:t>
            </a:r>
            <a:r>
              <a:rPr lang="en-US" altLang="zh-CN"/>
              <a:t>&gt;(&lt;</a:t>
            </a:r>
            <a:r>
              <a:rPr lang="zh-CN" altLang="en-US"/>
              <a:t>列名</a:t>
            </a:r>
            <a:r>
              <a:rPr lang="en-US" altLang="zh-CN"/>
              <a:t>&gt;[&lt;</a:t>
            </a:r>
            <a:r>
              <a:rPr lang="zh-CN" altLang="en-US"/>
              <a:t>次序</a:t>
            </a:r>
            <a:r>
              <a:rPr lang="en-US" altLang="zh-CN"/>
              <a:t>&gt;][,&lt;</a:t>
            </a:r>
            <a:r>
              <a:rPr lang="zh-CN" altLang="en-US"/>
              <a:t>列名</a:t>
            </a:r>
            <a:r>
              <a:rPr lang="en-US" altLang="zh-CN"/>
              <a:t>&gt;[&lt;</a:t>
            </a:r>
            <a:r>
              <a:rPr lang="zh-CN" altLang="en-US"/>
              <a:t>次序</a:t>
            </a:r>
            <a:r>
              <a:rPr lang="en-US" altLang="zh-CN"/>
              <a:t>&gt;] ]</a:t>
            </a:r>
            <a:r>
              <a:rPr lang="en-US" altLang="zh-CN">
                <a:latin typeface="Courier New" panose="02070309020205020404" pitchFamily="49" charset="0"/>
              </a:rPr>
              <a:t>…)</a:t>
            </a:r>
            <a:r>
              <a:rPr lang="en-US" altLang="zh-CN"/>
              <a:t>;</a:t>
            </a:r>
          </a:p>
          <a:p>
            <a:pPr lvl="1" algn="just">
              <a:buClr>
                <a:schemeClr val="tx1"/>
              </a:buClr>
            </a:pPr>
            <a:r>
              <a:rPr lang="en-US" altLang="zh-CN">
                <a:solidFill>
                  <a:srgbClr val="FF00FF"/>
                </a:solidFill>
              </a:rPr>
              <a:t>&lt;</a:t>
            </a:r>
            <a:r>
              <a:rPr lang="zh-CN" altLang="en-US">
                <a:solidFill>
                  <a:srgbClr val="FF00FF"/>
                </a:solidFill>
              </a:rPr>
              <a:t>表名</a:t>
            </a:r>
            <a:r>
              <a:rPr lang="en-US" altLang="zh-CN">
                <a:solidFill>
                  <a:srgbClr val="FF00FF"/>
                </a:solidFill>
              </a:rPr>
              <a:t>&gt;</a:t>
            </a:r>
            <a:r>
              <a:rPr lang="zh-CN" altLang="en-US">
                <a:solidFill>
                  <a:srgbClr val="FF00FF"/>
                </a:solidFill>
              </a:rPr>
              <a:t>：</a:t>
            </a:r>
            <a:r>
              <a:rPr lang="zh-CN" altLang="en-US"/>
              <a:t>要建索引的基本表的名字</a:t>
            </a:r>
          </a:p>
          <a:p>
            <a:pPr lvl="1" algn="just"/>
            <a:r>
              <a:rPr lang="zh-CN" altLang="en-US"/>
              <a:t>索引：可以建立在该表的一</a:t>
            </a:r>
            <a:r>
              <a:rPr lang="zh-CN" altLang="en-US">
                <a:solidFill>
                  <a:srgbClr val="FF00FF"/>
                </a:solidFill>
              </a:rPr>
              <a:t>列</a:t>
            </a:r>
            <a:r>
              <a:rPr lang="zh-CN" altLang="en-US"/>
              <a:t>或多列上，各列名之间用逗号分隔</a:t>
            </a:r>
          </a:p>
          <a:p>
            <a:pPr lvl="1" algn="just">
              <a:buClr>
                <a:schemeClr val="tx1"/>
              </a:buClr>
            </a:pPr>
            <a:r>
              <a:rPr lang="en-US" altLang="zh-CN">
                <a:solidFill>
                  <a:srgbClr val="FF00FF"/>
                </a:solidFill>
              </a:rPr>
              <a:t>&lt;</a:t>
            </a:r>
            <a:r>
              <a:rPr lang="zh-CN" altLang="en-US">
                <a:solidFill>
                  <a:srgbClr val="FF00FF"/>
                </a:solidFill>
              </a:rPr>
              <a:t>次序</a:t>
            </a:r>
            <a:r>
              <a:rPr lang="en-US" altLang="zh-CN">
                <a:solidFill>
                  <a:srgbClr val="FF00FF"/>
                </a:solidFill>
              </a:rPr>
              <a:t>&gt;</a:t>
            </a:r>
            <a:r>
              <a:rPr lang="zh-CN" altLang="en-US">
                <a:solidFill>
                  <a:srgbClr val="FF00FF"/>
                </a:solidFill>
              </a:rPr>
              <a:t>：</a:t>
            </a:r>
            <a:r>
              <a:rPr lang="zh-CN" altLang="en-US"/>
              <a:t>指定索引值的排列次序，升序：</a:t>
            </a:r>
            <a:r>
              <a:rPr lang="en-US" altLang="zh-CN"/>
              <a:t>ASC</a:t>
            </a:r>
            <a:r>
              <a:rPr lang="zh-CN" altLang="en-US"/>
              <a:t>，降序：</a:t>
            </a:r>
            <a:r>
              <a:rPr lang="en-US" altLang="zh-CN"/>
              <a:t>DESC</a:t>
            </a:r>
            <a:r>
              <a:rPr lang="zh-CN" altLang="en-US"/>
              <a:t>。默认值：</a:t>
            </a:r>
            <a:r>
              <a:rPr lang="en-US" altLang="zh-CN"/>
              <a:t>ASC</a:t>
            </a:r>
          </a:p>
          <a:p>
            <a:pPr lvl="1" algn="just">
              <a:buClr>
                <a:schemeClr val="tx1"/>
              </a:buClr>
            </a:pPr>
            <a:r>
              <a:rPr lang="en-US" altLang="zh-CN">
                <a:solidFill>
                  <a:srgbClr val="FF00FF"/>
                </a:solidFill>
              </a:rPr>
              <a:t>UNIQUE</a:t>
            </a:r>
            <a:r>
              <a:rPr lang="zh-CN" altLang="en-US">
                <a:solidFill>
                  <a:srgbClr val="FF00FF"/>
                </a:solidFill>
              </a:rPr>
              <a:t>：</a:t>
            </a:r>
            <a:r>
              <a:rPr lang="zh-CN" altLang="en-US"/>
              <a:t>此索引的每一个索引值只对应唯一的数据记录</a:t>
            </a:r>
          </a:p>
          <a:p>
            <a:pPr lvl="1">
              <a:buClr>
                <a:schemeClr val="tx1"/>
              </a:buClr>
            </a:pPr>
            <a:r>
              <a:rPr lang="en-US" altLang="zh-CN">
                <a:solidFill>
                  <a:srgbClr val="FF00FF"/>
                </a:solidFill>
              </a:rPr>
              <a:t>CLUSTER</a:t>
            </a:r>
            <a:r>
              <a:rPr lang="zh-CN" altLang="en-US">
                <a:solidFill>
                  <a:srgbClr val="FF00FF"/>
                </a:solidFill>
              </a:rPr>
              <a:t>：</a:t>
            </a:r>
            <a:r>
              <a:rPr lang="zh-CN" altLang="en-US"/>
              <a:t>表示要建立的索引是聚簇索引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B61006A-A9A7-BD1F-82D2-A714F1FC6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600" kern="0" dirty="0"/>
              <a:t>1.</a:t>
            </a:r>
            <a:r>
              <a:rPr lang="zh-CN" altLang="en-US" sz="3600" kern="0" dirty="0"/>
              <a:t>建立索引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>
            <a:extLst>
              <a:ext uri="{FF2B5EF4-FFF2-40B4-BE49-F238E27FC236}">
                <a16:creationId xmlns:a16="http://schemas.microsoft.com/office/drawing/2014/main" id="{55F5E924-B667-794A-187C-8AA2155042D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51013" y="982663"/>
            <a:ext cx="10440987" cy="5095875"/>
          </a:xfrm>
        </p:spPr>
        <p:txBody>
          <a:bodyPr/>
          <a:lstStyle/>
          <a:p>
            <a:pPr marL="0" lvl="1" indent="0" algn="just" eaLnBrk="1" hangingPunct="1">
              <a:buNone/>
            </a:pPr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3.13]</a:t>
            </a:r>
            <a:r>
              <a:rPr lang="zh-CN" altLang="en-US" dirty="0"/>
              <a:t>为“学生选课”数据库中的</a:t>
            </a:r>
            <a:r>
              <a:rPr lang="en-US" altLang="zh-CN" dirty="0"/>
              <a:t>Student</a:t>
            </a:r>
            <a:r>
              <a:rPr lang="zh-CN" altLang="en-US" dirty="0"/>
              <a:t>、</a:t>
            </a:r>
            <a:r>
              <a:rPr lang="en-US" altLang="zh-CN" dirty="0"/>
              <a:t>Course</a:t>
            </a:r>
            <a:r>
              <a:rPr lang="zh-CN" altLang="en-US" dirty="0"/>
              <a:t>和</a:t>
            </a:r>
            <a:r>
              <a:rPr lang="en-US" altLang="zh-CN" dirty="0"/>
              <a:t>SC</a:t>
            </a:r>
            <a:r>
              <a:rPr lang="zh-CN" altLang="en-US" dirty="0"/>
              <a:t>三个表建立索引。其中</a:t>
            </a:r>
            <a:r>
              <a:rPr lang="en-US" altLang="zh-CN" dirty="0"/>
              <a:t>Student</a:t>
            </a:r>
            <a:r>
              <a:rPr lang="zh-CN" altLang="en-US" dirty="0"/>
              <a:t>表按学生姓名升序建唯一索引，</a:t>
            </a:r>
            <a:r>
              <a:rPr lang="en-US" altLang="zh-CN" dirty="0"/>
              <a:t>Course</a:t>
            </a:r>
            <a:r>
              <a:rPr lang="zh-CN" altLang="en-US" dirty="0"/>
              <a:t>表按课程名升序建唯一索引，</a:t>
            </a:r>
            <a:r>
              <a:rPr lang="en-US" altLang="zh-CN" dirty="0"/>
              <a:t>SC</a:t>
            </a:r>
            <a:r>
              <a:rPr lang="zh-CN" altLang="en-US" dirty="0"/>
              <a:t>表按学号升序和课程号降序建唯一索引（即先按照学号升序，对同一个学号再按课程号降序）</a:t>
            </a:r>
            <a:endParaRPr lang="en-US" altLang="zh-CN" dirty="0"/>
          </a:p>
          <a:p>
            <a:pPr marL="0" lvl="1" indent="0" algn="just" eaLnBrk="1" hangingPunct="1">
              <a:buNone/>
            </a:pPr>
            <a:endParaRPr lang="zh-CN" altLang="en-US" sz="2000" dirty="0"/>
          </a:p>
          <a:p>
            <a:pPr marL="0" lvl="1" indent="0" algn="just" eaLnBrk="1" hangingPunct="1">
              <a:buNone/>
            </a:pPr>
            <a:r>
              <a:rPr lang="en-US" altLang="zh-CN" sz="2200" dirty="0"/>
              <a:t>CREATE UNIQUE INDEX </a:t>
            </a:r>
            <a:r>
              <a:rPr lang="en-US" altLang="zh-CN" sz="2200" dirty="0" err="1"/>
              <a:t>Idx_StuSname</a:t>
            </a:r>
            <a:r>
              <a:rPr lang="en-US" altLang="zh-CN" sz="2200" dirty="0"/>
              <a:t> ON Student(</a:t>
            </a:r>
            <a:r>
              <a:rPr lang="en-US" altLang="zh-CN" sz="2200" dirty="0" err="1"/>
              <a:t>Sname</a:t>
            </a:r>
            <a:r>
              <a:rPr lang="en-US" altLang="zh-CN" sz="2200" dirty="0"/>
              <a:t>);  </a:t>
            </a:r>
          </a:p>
          <a:p>
            <a:pPr marL="0" lvl="1" indent="0" algn="just" eaLnBrk="1" hangingPunct="1">
              <a:buNone/>
            </a:pPr>
            <a:r>
              <a:rPr lang="en-US" altLang="zh-CN" sz="2200" dirty="0"/>
              <a:t> 					</a:t>
            </a:r>
            <a:r>
              <a:rPr lang="en-US" altLang="zh-CN" sz="1800" dirty="0"/>
              <a:t>/*</a:t>
            </a:r>
            <a:r>
              <a:rPr lang="zh-CN" altLang="en-US" sz="1800" dirty="0"/>
              <a:t>保证了</a:t>
            </a:r>
            <a:r>
              <a:rPr lang="en-US" altLang="zh-CN" sz="1800" dirty="0" err="1"/>
              <a:t>Sname</a:t>
            </a:r>
            <a:r>
              <a:rPr lang="zh-CN" altLang="en-US" sz="1800" dirty="0"/>
              <a:t>取唯一值的约束*</a:t>
            </a:r>
            <a:r>
              <a:rPr lang="en-US" altLang="zh-CN" sz="1800" dirty="0"/>
              <a:t>/</a:t>
            </a:r>
          </a:p>
          <a:p>
            <a:pPr marL="0" lvl="1" indent="0" algn="just" eaLnBrk="1" hangingPunct="1">
              <a:buNone/>
            </a:pPr>
            <a:r>
              <a:rPr lang="en-US" altLang="zh-CN" sz="2200" dirty="0"/>
              <a:t>CREATE UNIQUE INDEX </a:t>
            </a:r>
            <a:r>
              <a:rPr lang="en-US" altLang="zh-CN" sz="2200" dirty="0" err="1"/>
              <a:t>Idx_CouCname</a:t>
            </a:r>
            <a:r>
              <a:rPr lang="en-US" altLang="zh-CN" sz="2200" dirty="0"/>
              <a:t> ON Course(</a:t>
            </a:r>
            <a:r>
              <a:rPr lang="en-US" altLang="zh-CN" sz="2200" dirty="0" err="1"/>
              <a:t>Cname</a:t>
            </a:r>
            <a:r>
              <a:rPr lang="en-US" altLang="zh-CN" sz="2200" dirty="0"/>
              <a:t>);</a:t>
            </a:r>
          </a:p>
          <a:p>
            <a:pPr marL="0" lvl="1" indent="0" algn="just" eaLnBrk="1" hangingPunct="1">
              <a:buNone/>
            </a:pPr>
            <a:r>
              <a:rPr lang="en-US" altLang="zh-CN" sz="2200" dirty="0"/>
              <a:t>			  		</a:t>
            </a:r>
            <a:r>
              <a:rPr lang="en-US" altLang="zh-CN" sz="1800" dirty="0"/>
              <a:t>/*</a:t>
            </a:r>
            <a:r>
              <a:rPr lang="zh-CN" altLang="en-US" sz="1800" dirty="0"/>
              <a:t>加上</a:t>
            </a:r>
            <a:r>
              <a:rPr lang="en-US" altLang="zh-CN" sz="1800" dirty="0" err="1"/>
              <a:t>Cname</a:t>
            </a:r>
            <a:r>
              <a:rPr lang="zh-CN" altLang="en-US" sz="1800" dirty="0"/>
              <a:t>取唯一值的约束*</a:t>
            </a:r>
            <a:r>
              <a:rPr lang="en-US" altLang="zh-CN" sz="1800" dirty="0"/>
              <a:t>/</a:t>
            </a:r>
          </a:p>
          <a:p>
            <a:pPr marL="0" lvl="1" indent="0" algn="just" eaLnBrk="1" hangingPunct="1">
              <a:buNone/>
            </a:pPr>
            <a:r>
              <a:rPr lang="en-US" altLang="zh-CN" sz="2200" dirty="0"/>
              <a:t>CREATE UNIQUE INDEX </a:t>
            </a:r>
            <a:r>
              <a:rPr lang="en-US" altLang="zh-CN" sz="2200" dirty="0" err="1"/>
              <a:t>Idx_SCCno</a:t>
            </a:r>
            <a:r>
              <a:rPr lang="en-US" altLang="zh-CN" sz="2200" dirty="0"/>
              <a:t> ON SC(</a:t>
            </a:r>
            <a:r>
              <a:rPr lang="en-US" altLang="zh-CN" sz="2200" dirty="0" err="1"/>
              <a:t>Sno</a:t>
            </a:r>
            <a:r>
              <a:rPr lang="en-US" altLang="zh-CN" sz="2200" dirty="0"/>
              <a:t> </a:t>
            </a:r>
            <a:r>
              <a:rPr lang="en-US" altLang="zh-CN" sz="2200" dirty="0" err="1"/>
              <a:t>ASC,Cno</a:t>
            </a:r>
            <a:r>
              <a:rPr lang="en-US" altLang="zh-CN" sz="2200" dirty="0"/>
              <a:t> DESC);</a:t>
            </a:r>
          </a:p>
          <a:p>
            <a:pPr marL="0" lvl="1" indent="0" eaLnBrk="1" hangingPunct="1">
              <a:buNone/>
            </a:pPr>
            <a:r>
              <a:rPr lang="zh-CN" altLang="en-US" sz="2200" dirty="0"/>
              <a:t>     </a:t>
            </a:r>
          </a:p>
          <a:p>
            <a:pPr marL="0" lvl="1" indent="0" eaLnBrk="1" hangingPunct="1">
              <a:buNone/>
            </a:pPr>
            <a:r>
              <a:rPr lang="zh-CN" altLang="en-US" sz="2000" dirty="0"/>
              <a:t>     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640AA38-FA41-60E5-C531-44A85518A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建立索引（续）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内容占位符 2">
            <a:extLst>
              <a:ext uri="{FF2B5EF4-FFF2-40B4-BE49-F238E27FC236}">
                <a16:creationId xmlns:a16="http://schemas.microsoft.com/office/drawing/2014/main" id="{86867240-A075-2D08-161C-9FB4D21186F5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3613150" y="1098550"/>
            <a:ext cx="8578850" cy="50958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>
                <a:solidFill>
                  <a:srgbClr val="FF00FF"/>
                </a:solidFill>
              </a:rPr>
              <a:t>2.</a:t>
            </a:r>
            <a:r>
              <a:rPr lang="zh-CN" altLang="en-US">
                <a:solidFill>
                  <a:srgbClr val="FF00FF"/>
                </a:solidFill>
              </a:rPr>
              <a:t>修改索引</a:t>
            </a:r>
            <a:endParaRPr lang="en-US" altLang="zh-CN">
              <a:solidFill>
                <a:srgbClr val="FF00FF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2600">
                <a:solidFill>
                  <a:srgbClr val="FF00FF"/>
                </a:solidFill>
              </a:rPr>
              <a:t>ALTER </a:t>
            </a:r>
            <a:r>
              <a:rPr lang="en-US" altLang="zh-CN" sz="2600"/>
              <a:t>INDEX &lt;</a:t>
            </a:r>
            <a:r>
              <a:rPr lang="zh-CN" altLang="en-US" sz="2600"/>
              <a:t>旧索引名</a:t>
            </a:r>
            <a:r>
              <a:rPr lang="en-US" altLang="zh-CN" sz="2600"/>
              <a:t>&gt; RENAME TO &lt;</a:t>
            </a:r>
            <a:r>
              <a:rPr lang="zh-CN" altLang="en-US" sz="2600"/>
              <a:t>新索引名</a:t>
            </a:r>
            <a:r>
              <a:rPr lang="en-US" altLang="zh-CN" sz="2600"/>
              <a:t>&gt;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zh-CN" u="sng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/>
              <a:t>[</a:t>
            </a:r>
            <a:r>
              <a:rPr lang="zh-CN" altLang="en-US" sz="2400"/>
              <a:t>例</a:t>
            </a:r>
            <a:r>
              <a:rPr lang="en-US" altLang="zh-CN" sz="2400"/>
              <a:t>3.14]</a:t>
            </a:r>
            <a:r>
              <a:rPr lang="zh-CN" altLang="en-US" sz="2400"/>
              <a:t> 将</a:t>
            </a:r>
            <a:r>
              <a:rPr lang="en-US" altLang="zh-CN" sz="2400"/>
              <a:t>SC</a:t>
            </a:r>
            <a:r>
              <a:rPr lang="zh-CN" altLang="en-US" sz="2400"/>
              <a:t>表的</a:t>
            </a:r>
            <a:r>
              <a:rPr lang="en-US" altLang="zh-CN" sz="2400"/>
              <a:t>Idx_SCCno</a:t>
            </a:r>
            <a:r>
              <a:rPr lang="zh-CN" altLang="en-US" sz="2400"/>
              <a:t>索引名改为</a:t>
            </a:r>
            <a:r>
              <a:rPr lang="en-US" altLang="zh-CN" sz="2400"/>
              <a:t>Idx_SCSnoCno</a:t>
            </a:r>
            <a:endParaRPr lang="zh-CN" altLang="en-US" sz="240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zh-CN" sz="200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/>
              <a:t>   ALTER INDEX Idx_SCCno RENAME TO Idx_SCSnoCno;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241CBD7-2573-EEC0-3578-DECC299F3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600" kern="0" dirty="0"/>
              <a:t>2.</a:t>
            </a:r>
            <a:r>
              <a:rPr lang="zh-CN" altLang="en-US" sz="3600" kern="0" dirty="0"/>
              <a:t>修改索引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>
            <a:extLst>
              <a:ext uri="{FF2B5EF4-FFF2-40B4-BE49-F238E27FC236}">
                <a16:creationId xmlns:a16="http://schemas.microsoft.com/office/drawing/2014/main" id="{9D9AA484-FF9C-8347-FE88-570B4A3E785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196975"/>
            <a:ext cx="8496300" cy="4114800"/>
          </a:xfrm>
        </p:spPr>
        <p:txBody>
          <a:bodyPr/>
          <a:lstStyle/>
          <a:p>
            <a:pPr algn="just" eaLnBrk="1" hangingPunct="1"/>
            <a:r>
              <a:rPr lang="en-US" altLang="zh-CN">
                <a:solidFill>
                  <a:srgbClr val="FF00FF"/>
                </a:solidFill>
              </a:rPr>
              <a:t>3.</a:t>
            </a:r>
            <a:r>
              <a:rPr lang="zh-CN" altLang="en-US">
                <a:solidFill>
                  <a:srgbClr val="FF00FF"/>
                </a:solidFill>
              </a:rPr>
              <a:t>删除索引</a:t>
            </a:r>
            <a:endParaRPr lang="en-US" altLang="zh-CN">
              <a:solidFill>
                <a:srgbClr val="FF00FF"/>
              </a:solidFill>
            </a:endParaRPr>
          </a:p>
          <a:p>
            <a:pPr algn="just" eaLnBrk="1" hangingPunct="1"/>
            <a:r>
              <a:rPr lang="en-US" altLang="zh-CN">
                <a:solidFill>
                  <a:srgbClr val="FF00FF"/>
                </a:solidFill>
              </a:rPr>
              <a:t>DROP</a:t>
            </a:r>
            <a:r>
              <a:rPr lang="en-US" altLang="zh-CN"/>
              <a:t> INDEX &lt;</a:t>
            </a:r>
            <a:r>
              <a:rPr lang="zh-CN" altLang="en-US"/>
              <a:t>索引名</a:t>
            </a:r>
            <a:r>
              <a:rPr lang="en-US" altLang="zh-CN"/>
              <a:t>&gt;</a:t>
            </a:r>
            <a:r>
              <a:rPr lang="zh-CN" altLang="en-US"/>
              <a:t>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/>
              <a:t>删除索引时，系统会从数据字典中删去有关该索引的描述</a:t>
            </a:r>
            <a:endParaRPr lang="en-US" altLang="zh-CN"/>
          </a:p>
          <a:p>
            <a:pPr lvl="1" eaLnBrk="1" hangingPunct="1">
              <a:buFont typeface="Wingdings" pitchFamily="2" charset="2"/>
              <a:buNone/>
            </a:pPr>
            <a:endParaRPr lang="zh-CN" altLang="en-US"/>
          </a:p>
          <a:p>
            <a:pPr lvl="1" eaLnBrk="1" hangingPunct="1">
              <a:lnSpc>
                <a:spcPct val="170000"/>
              </a:lnSpc>
              <a:buFont typeface="Wingdings" pitchFamily="2" charset="2"/>
              <a:buNone/>
            </a:pPr>
            <a:r>
              <a:rPr lang="en-US" altLang="zh-CN"/>
              <a:t>[</a:t>
            </a:r>
            <a:r>
              <a:rPr lang="zh-CN" altLang="en-US"/>
              <a:t>例</a:t>
            </a:r>
            <a:r>
              <a:rPr lang="en-US" altLang="zh-CN"/>
              <a:t>3.15]</a:t>
            </a:r>
            <a:r>
              <a:rPr lang="zh-CN" altLang="en-US"/>
              <a:t>  删除</a:t>
            </a:r>
            <a:r>
              <a:rPr lang="en-US" altLang="zh-CN"/>
              <a:t>Student</a:t>
            </a:r>
            <a:r>
              <a:rPr lang="zh-CN" altLang="en-US"/>
              <a:t>表的</a:t>
            </a:r>
            <a:r>
              <a:rPr lang="en-US" altLang="zh-CN"/>
              <a:t>Idx_StuSname</a:t>
            </a:r>
            <a:r>
              <a:rPr lang="zh-CN" altLang="en-US"/>
              <a:t>索引</a:t>
            </a:r>
          </a:p>
          <a:p>
            <a:pPr lvl="1" eaLnBrk="1" hangingPunct="1">
              <a:lnSpc>
                <a:spcPct val="170000"/>
              </a:lnSpc>
              <a:buFont typeface="Wingdings" pitchFamily="2" charset="2"/>
              <a:buNone/>
            </a:pPr>
            <a:r>
              <a:rPr lang="en-US" altLang="zh-CN"/>
              <a:t>               DROP INDEX Idx_StuSname;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4C05F33-DC8F-4138-D87F-E65E3DDE5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3600">
                <a:solidFill>
                  <a:schemeClr val="bg1"/>
                </a:solidFill>
              </a:rPr>
              <a:t>3.</a:t>
            </a:r>
            <a:r>
              <a:rPr lang="zh-CN" altLang="en-US" sz="3600">
                <a:solidFill>
                  <a:schemeClr val="bg1"/>
                </a:solidFill>
              </a:rPr>
              <a:t>删除索引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0EB6265D-7720-716E-92D6-330C3B54E8A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en-US" altLang="zh-CN" sz="3600"/>
              <a:t>3.2 </a:t>
            </a:r>
            <a:r>
              <a:rPr lang="zh-CN" altLang="en-US" sz="3600"/>
              <a:t>数据定义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0C1A9333-B90E-3370-B7E9-EE08BF41A96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116388" y="1339850"/>
            <a:ext cx="8075612" cy="4854575"/>
          </a:xfrm>
        </p:spPr>
        <p:txBody>
          <a:bodyPr/>
          <a:lstStyle/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/>
              <a:t>3.2.1 </a:t>
            </a:r>
            <a:r>
              <a:rPr lang="zh-CN" altLang="en-US"/>
              <a:t>模式的定义与删除</a:t>
            </a: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/>
              <a:t>3.2.2 </a:t>
            </a:r>
            <a:r>
              <a:rPr lang="zh-CN" altLang="en-US"/>
              <a:t>基本表的定义、删除与修改</a:t>
            </a: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/>
              <a:t>3.2.3 </a:t>
            </a:r>
            <a:r>
              <a:rPr lang="zh-CN" altLang="en-US"/>
              <a:t>索引的建立与删除</a:t>
            </a:r>
            <a:endParaRPr lang="en-US" altLang="zh-CN"/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>
                <a:solidFill>
                  <a:srgbClr val="00B050"/>
                </a:solidFill>
              </a:rPr>
              <a:t>3.2.4 </a:t>
            </a:r>
            <a:r>
              <a:rPr lang="zh-CN" altLang="en-US">
                <a:solidFill>
                  <a:srgbClr val="00B050"/>
                </a:solidFill>
              </a:rPr>
              <a:t>数据字典</a:t>
            </a:r>
          </a:p>
          <a:p>
            <a:pPr marL="0" indent="0" eaLnBrk="1" hangingPunct="1"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>
            <a:extLst>
              <a:ext uri="{FF2B5EF4-FFF2-40B4-BE49-F238E27FC236}">
                <a16:creationId xmlns:a16="http://schemas.microsoft.com/office/drawing/2014/main" id="{FF903FD9-B042-4FFD-D74E-BCFA0AEC340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3338"/>
            <a:ext cx="10972800" cy="1131888"/>
          </a:xfrm>
        </p:spPr>
        <p:txBody>
          <a:bodyPr/>
          <a:lstStyle/>
          <a:p>
            <a:pPr eaLnBrk="1" hangingPunct="1"/>
            <a:r>
              <a:rPr lang="en-US" altLang="zh-CN" sz="3600"/>
              <a:t>3.2.4 </a:t>
            </a:r>
            <a:r>
              <a:rPr lang="zh-CN" altLang="en-US" sz="3600"/>
              <a:t>数据字典</a:t>
            </a:r>
          </a:p>
        </p:txBody>
      </p:sp>
      <p:sp>
        <p:nvSpPr>
          <p:cNvPr id="64515" name="内容占位符 2">
            <a:extLst>
              <a:ext uri="{FF2B5EF4-FFF2-40B4-BE49-F238E27FC236}">
                <a16:creationId xmlns:a16="http://schemas.microsoft.com/office/drawing/2014/main" id="{BFE737D6-FBD9-25E8-062E-938D1E3EC483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2038350" y="981075"/>
            <a:ext cx="10153650" cy="5256213"/>
          </a:xfrm>
        </p:spPr>
        <p:txBody>
          <a:bodyPr/>
          <a:lstStyle/>
          <a:p>
            <a:pPr eaLnBrk="1" hangingPunct="1"/>
            <a:r>
              <a:rPr lang="zh-CN" altLang="en-US" sz="2600" dirty="0"/>
              <a:t>数据字典是关系数据库管理系统内部的一组系统表，它记录了数据库中所有定义信息：</a:t>
            </a:r>
            <a:endParaRPr lang="en-US" altLang="zh-CN" sz="2600" dirty="0"/>
          </a:p>
          <a:p>
            <a:pPr lvl="1"/>
            <a:r>
              <a:rPr lang="zh-CN" altLang="en-US" dirty="0"/>
              <a:t>关系模式定义</a:t>
            </a:r>
            <a:endParaRPr lang="en-US" altLang="zh-CN" dirty="0"/>
          </a:p>
          <a:p>
            <a:pPr lvl="1"/>
            <a:r>
              <a:rPr lang="zh-CN" altLang="en-US" dirty="0"/>
              <a:t>视图定义</a:t>
            </a:r>
            <a:endParaRPr lang="en-US" altLang="zh-CN" dirty="0"/>
          </a:p>
          <a:p>
            <a:pPr lvl="1"/>
            <a:r>
              <a:rPr lang="zh-CN" altLang="en-US" dirty="0"/>
              <a:t>索引定义</a:t>
            </a:r>
            <a:endParaRPr lang="en-US" altLang="zh-CN" dirty="0"/>
          </a:p>
          <a:p>
            <a:pPr lvl="1"/>
            <a:r>
              <a:rPr lang="zh-CN" altLang="en-US" dirty="0"/>
              <a:t>完整性约束定义</a:t>
            </a:r>
            <a:endParaRPr lang="en-US" altLang="zh-CN" dirty="0"/>
          </a:p>
          <a:p>
            <a:pPr lvl="1"/>
            <a:r>
              <a:rPr lang="zh-CN" altLang="en-US" dirty="0"/>
              <a:t>各类用户对数据库的操作权限</a:t>
            </a:r>
            <a:endParaRPr lang="en-US" altLang="zh-CN" dirty="0"/>
          </a:p>
          <a:p>
            <a:pPr lvl="1"/>
            <a:r>
              <a:rPr lang="zh-CN" altLang="en-US" dirty="0"/>
              <a:t>统计信息等</a:t>
            </a:r>
          </a:p>
          <a:p>
            <a:pPr eaLnBrk="1" hangingPunct="1"/>
            <a:r>
              <a:rPr lang="zh-CN" altLang="en-US" sz="2600" dirty="0"/>
              <a:t>关系数据库管理系统在执行</a:t>
            </a:r>
            <a:r>
              <a:rPr lang="en-US" altLang="zh-CN" sz="2600" dirty="0"/>
              <a:t>SQL</a:t>
            </a:r>
            <a:r>
              <a:rPr lang="zh-CN" altLang="en-US" sz="2600" dirty="0"/>
              <a:t>的数据定义语句时，就是在更新数据字典表中的相应信息</a:t>
            </a:r>
            <a:endParaRPr lang="en-US" altLang="zh-CN" sz="2600" dirty="0"/>
          </a:p>
          <a:p>
            <a:pPr eaLnBrk="1" hangingPunct="1"/>
            <a:r>
              <a:rPr lang="zh-CN" altLang="zh-CN" sz="2600" dirty="0"/>
              <a:t>查询优化和查询处理时，</a:t>
            </a:r>
            <a:r>
              <a:rPr lang="zh-CN" altLang="en-US" sz="2600" dirty="0"/>
              <a:t>关系数据库管理系统</a:t>
            </a:r>
            <a:r>
              <a:rPr lang="zh-CN" altLang="zh-CN" sz="2600" dirty="0"/>
              <a:t>要根据数据字典中的信息执行处理算法和优化算法</a:t>
            </a:r>
            <a:endParaRPr lang="zh-CN" alt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数据库系统概论">
  <a:themeElements>
    <a:clrScheme name="数据库系统概论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数据库系统概论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1691</TotalTime>
  <Pages>0</Pages>
  <Words>3671</Words>
  <Characters>0</Characters>
  <Application>Microsoft Office PowerPoint</Application>
  <DocSecurity>0</DocSecurity>
  <PresentationFormat>宽屏</PresentationFormat>
  <Lines>0</Lines>
  <Paragraphs>480</Paragraphs>
  <Slides>57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66" baseType="lpstr">
      <vt:lpstr>Times-Roman</vt:lpstr>
      <vt:lpstr>黑体</vt:lpstr>
      <vt:lpstr>宋体</vt:lpstr>
      <vt:lpstr>Arial</vt:lpstr>
      <vt:lpstr>Calibri</vt:lpstr>
      <vt:lpstr>Courier New</vt:lpstr>
      <vt:lpstr>Times New Roman</vt:lpstr>
      <vt:lpstr>Wingdings</vt:lpstr>
      <vt:lpstr>数据库系统概论</vt:lpstr>
      <vt:lpstr>PowerPoint 演示文稿</vt:lpstr>
      <vt:lpstr>第三章  关系数据库标准语言SQL</vt:lpstr>
      <vt:lpstr>3.1 SQL概述</vt:lpstr>
      <vt:lpstr>SQL概述（续）</vt:lpstr>
      <vt:lpstr>3.1.1 SQL的产生与发展</vt:lpstr>
      <vt:lpstr>SQL的产生与发展（续）</vt:lpstr>
      <vt:lpstr>3.1 SQL概述</vt:lpstr>
      <vt:lpstr>3.1.2 SQL的特点</vt:lpstr>
      <vt:lpstr>SQL的特点（续）</vt:lpstr>
      <vt:lpstr>SQL的特点（续）</vt:lpstr>
      <vt:lpstr>SQL的特点（续）</vt:lpstr>
      <vt:lpstr>SQL的特点（续）</vt:lpstr>
      <vt:lpstr>3.1 SQL概述</vt:lpstr>
      <vt:lpstr>3.1.3 SQL的基本概念</vt:lpstr>
      <vt:lpstr>SQL的基本概念（续）</vt:lpstr>
      <vt:lpstr>SQL的基本概念（续）</vt:lpstr>
      <vt:lpstr>SQL的基本概念（续）</vt:lpstr>
      <vt:lpstr>第三章  关系数据库标准语言SQL</vt:lpstr>
      <vt:lpstr>3.2  数据定义 </vt:lpstr>
      <vt:lpstr>模式</vt:lpstr>
      <vt:lpstr>3.2 数据定义</vt:lpstr>
      <vt:lpstr>1. 定义模式</vt:lpstr>
      <vt:lpstr>定义模式（续）</vt:lpstr>
      <vt:lpstr>定义模式（续）</vt:lpstr>
      <vt:lpstr>2. 删除模式</vt:lpstr>
      <vt:lpstr>删除模式（续）</vt:lpstr>
      <vt:lpstr>3.2 数据定义</vt:lpstr>
      <vt:lpstr>定义基本表</vt:lpstr>
      <vt:lpstr>定义基本表（续）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3.2 数据定义</vt:lpstr>
      <vt:lpstr>3.2.3 索引的建立与删除</vt:lpstr>
      <vt:lpstr>索 引</vt:lpstr>
      <vt:lpstr>PowerPoint 演示文稿</vt:lpstr>
      <vt:lpstr>PowerPoint 演示文稿</vt:lpstr>
      <vt:lpstr>PowerPoint 演示文稿</vt:lpstr>
      <vt:lpstr>PowerPoint 演示文稿</vt:lpstr>
      <vt:lpstr>3.2 数据定义</vt:lpstr>
      <vt:lpstr>3.2.4 数据字典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subject/>
  <dc:creator>hp</dc:creator>
  <cp:keywords/>
  <dc:description/>
  <cp:lastModifiedBy>chen huahui</cp:lastModifiedBy>
  <cp:revision>261</cp:revision>
  <dcterms:created xsi:type="dcterms:W3CDTF">2014-10-22T07:43:12Z</dcterms:created>
  <dcterms:modified xsi:type="dcterms:W3CDTF">2023-08-19T09:30:30Z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2052-9.1.0.4855</vt:lpwstr>
  </property>
</Properties>
</file>