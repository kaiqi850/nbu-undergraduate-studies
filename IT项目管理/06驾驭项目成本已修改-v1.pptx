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p:sldMasterIdLst>
    <p:sldMasterId id="2147483648" r:id="rId1"/>
  </p:sldMasterIdLst>
  <p:notesMasterIdLst>
    <p:notesMasterId r:id="rId4"/>
  </p:notesMasterIdLst>
  <p:handoutMasterIdLst>
    <p:handoutMasterId r:id="rId55"/>
  </p:handoutMasterIdLst>
  <p:sldIdLst>
    <p:sldId id="325" r:id="rId3"/>
    <p:sldId id="578" r:id="rId5"/>
    <p:sldId id="834" r:id="rId6"/>
    <p:sldId id="828" r:id="rId7"/>
    <p:sldId id="785" r:id="rId8"/>
    <p:sldId id="786" r:id="rId9"/>
    <p:sldId id="781" r:id="rId10"/>
    <p:sldId id="823" r:id="rId11"/>
    <p:sldId id="787" r:id="rId12"/>
    <p:sldId id="790" r:id="rId13"/>
    <p:sldId id="837" r:id="rId14"/>
    <p:sldId id="836" r:id="rId15"/>
    <p:sldId id="793" r:id="rId16"/>
    <p:sldId id="794" r:id="rId17"/>
    <p:sldId id="825" r:id="rId18"/>
    <p:sldId id="839" r:id="rId19"/>
    <p:sldId id="840" r:id="rId20"/>
    <p:sldId id="843" r:id="rId21"/>
    <p:sldId id="841" r:id="rId22"/>
    <p:sldId id="797" r:id="rId23"/>
    <p:sldId id="795" r:id="rId24"/>
    <p:sldId id="798" r:id="rId25"/>
    <p:sldId id="800" r:id="rId26"/>
    <p:sldId id="844" r:id="rId27"/>
    <p:sldId id="801" r:id="rId28"/>
    <p:sldId id="802" r:id="rId29"/>
    <p:sldId id="803" r:id="rId30"/>
    <p:sldId id="845" r:id="rId31"/>
    <p:sldId id="805" r:id="rId32"/>
    <p:sldId id="826" r:id="rId33"/>
    <p:sldId id="804" r:id="rId34"/>
    <p:sldId id="850" r:id="rId35"/>
    <p:sldId id="808" r:id="rId36"/>
    <p:sldId id="807" r:id="rId37"/>
    <p:sldId id="806" r:id="rId38"/>
    <p:sldId id="809" r:id="rId39"/>
    <p:sldId id="812" r:id="rId40"/>
    <p:sldId id="851" r:id="rId41"/>
    <p:sldId id="813" r:id="rId42"/>
    <p:sldId id="852" r:id="rId43"/>
    <p:sldId id="853" r:id="rId44"/>
    <p:sldId id="854" r:id="rId45"/>
    <p:sldId id="811" r:id="rId46"/>
    <p:sldId id="814" r:id="rId47"/>
    <p:sldId id="855" r:id="rId48"/>
    <p:sldId id="856" r:id="rId49"/>
    <p:sldId id="817" r:id="rId50"/>
    <p:sldId id="815" r:id="rId51"/>
    <p:sldId id="857" r:id="rId52"/>
    <p:sldId id="818" r:id="rId53"/>
    <p:sldId id="575" r:id="rId54"/>
  </p:sldIdLst>
  <p:sldSz cx="9144000" cy="6858000" type="screen4x3"/>
  <p:notesSz cx="6858000" cy="9144000"/>
  <p:custDataLst>
    <p:tags r:id="rId59"/>
  </p:custDataLst>
  <p:defaultTextStyle>
    <a:defPPr>
      <a:defRPr lang="en-US"/>
    </a:defPPr>
    <a:lvl1pPr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26" userDrawn="1">
          <p15:clr>
            <a:srgbClr val="A4A3A4"/>
          </p15:clr>
        </p15:guide>
        <p15:guide id="2" pos="30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0000"/>
    <a:srgbClr val="339966"/>
    <a:srgbClr val="333333"/>
    <a:srgbClr val="FF99FF"/>
    <a:srgbClr val="FF33CC"/>
    <a:srgbClr val="990000"/>
    <a:srgbClr val="00CC00"/>
    <a:srgbClr val="009900"/>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24176" autoAdjust="0"/>
    <p:restoredTop sz="78793" autoAdjust="0"/>
  </p:normalViewPr>
  <p:slideViewPr>
    <p:cSldViewPr showGuides="1">
      <p:cViewPr varScale="1">
        <p:scale>
          <a:sx n="51" d="100"/>
          <a:sy n="51" d="100"/>
        </p:scale>
        <p:origin x="-740" y="-72"/>
      </p:cViewPr>
      <p:guideLst>
        <p:guide orient="horz" pos="2226"/>
        <p:guide pos="301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572"/>
    </p:cViewPr>
  </p:sorterViewPr>
  <p:notesViewPr>
    <p:cSldViewPr>
      <p:cViewPr>
        <p:scale>
          <a:sx n="75" d="100"/>
          <a:sy n="75" d="100"/>
        </p:scale>
        <p:origin x="-1320" y="-66"/>
      </p:cViewPr>
      <p:guideLst>
        <p:guide orient="horz" pos="2880"/>
        <p:guide pos="2168"/>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9" Type="http://schemas.openxmlformats.org/officeDocument/2006/relationships/tags" Target="tags/tag1.xml"/><Relationship Id="rId58" Type="http://schemas.openxmlformats.org/officeDocument/2006/relationships/tableStyles" Target="tableStyles.xml"/><Relationship Id="rId57" Type="http://schemas.openxmlformats.org/officeDocument/2006/relationships/viewProps" Target="viewProps.xml"/><Relationship Id="rId56" Type="http://schemas.openxmlformats.org/officeDocument/2006/relationships/presProps" Target="presProps.xml"/><Relationship Id="rId55" Type="http://schemas.openxmlformats.org/officeDocument/2006/relationships/handoutMaster" Target="handoutMasters/handoutMaster1.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305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spcBef>
                <a:spcPct val="0"/>
              </a:spcBef>
              <a:defRPr sz="1200" b="1">
                <a:solidFill>
                  <a:schemeClr val="bg2"/>
                </a:solidFill>
                <a:ea typeface="楷体_GB2312" pitchFamily="49" charset="-122"/>
              </a:defRPr>
            </a:lvl1pPr>
          </a:lstStyle>
          <a:p>
            <a:pPr>
              <a:defRPr/>
            </a:pPr>
            <a:endParaRPr lang="zh-CN" altLang="en-US"/>
          </a:p>
        </p:txBody>
      </p:sp>
      <p:sp>
        <p:nvSpPr>
          <p:cNvPr id="173059"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spcBef>
                <a:spcPct val="0"/>
              </a:spcBef>
              <a:defRPr sz="1200" b="1">
                <a:solidFill>
                  <a:schemeClr val="bg2"/>
                </a:solidFill>
                <a:ea typeface="楷体_GB2312" pitchFamily="49" charset="-122"/>
              </a:defRPr>
            </a:lvl1pPr>
          </a:lstStyle>
          <a:p>
            <a:pPr>
              <a:defRPr/>
            </a:pPr>
            <a:fld id="{41B922E5-4125-40F8-A040-E3C3BD949351}" type="datetime1">
              <a:rPr lang="zh-CN" altLang="en-US"/>
            </a:fld>
            <a:endParaRPr lang="en-US" altLang="zh-CN"/>
          </a:p>
        </p:txBody>
      </p:sp>
      <p:sp>
        <p:nvSpPr>
          <p:cNvPr id="173060"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l">
              <a:spcBef>
                <a:spcPct val="0"/>
              </a:spcBef>
              <a:defRPr sz="1200" b="1">
                <a:solidFill>
                  <a:schemeClr val="bg2"/>
                </a:solidFill>
                <a:ea typeface="楷体_GB2312" pitchFamily="49" charset="-122"/>
              </a:defRPr>
            </a:lvl1pPr>
          </a:lstStyle>
          <a:p>
            <a:pPr>
              <a:defRPr/>
            </a:pPr>
            <a:endParaRPr lang="en-US" altLang="zh-CN"/>
          </a:p>
        </p:txBody>
      </p:sp>
      <p:sp>
        <p:nvSpPr>
          <p:cNvPr id="173061"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a:spcBef>
                <a:spcPct val="0"/>
              </a:spcBef>
              <a:defRPr sz="1200" b="1">
                <a:solidFill>
                  <a:schemeClr val="bg2"/>
                </a:solidFill>
                <a:ea typeface="楷体_GB2312" pitchFamily="49" charset="-122"/>
              </a:defRPr>
            </a:lvl1pPr>
          </a:lstStyle>
          <a:p>
            <a:pPr>
              <a:defRPr/>
            </a:pPr>
            <a:fld id="{F0DD0A91-5032-46EB-97C4-D69FA8C3D6A4}" type="slidenum">
              <a:rPr lang="zh-CN" altLang="en-US"/>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101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spcBef>
                <a:spcPct val="0"/>
              </a:spcBef>
              <a:defRPr sz="1200" b="1">
                <a:solidFill>
                  <a:schemeClr val="bg2"/>
                </a:solidFill>
                <a:ea typeface="楷体_GB2312" pitchFamily="49" charset="-122"/>
              </a:defRPr>
            </a:lvl1pPr>
          </a:lstStyle>
          <a:p>
            <a:pPr>
              <a:defRPr/>
            </a:pPr>
            <a:endParaRPr lang="zh-CN" altLang="en-US"/>
          </a:p>
        </p:txBody>
      </p:sp>
      <p:sp>
        <p:nvSpPr>
          <p:cNvPr id="171011"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spcBef>
                <a:spcPct val="0"/>
              </a:spcBef>
              <a:defRPr sz="1200" b="1">
                <a:solidFill>
                  <a:schemeClr val="bg2"/>
                </a:solidFill>
                <a:ea typeface="楷体_GB2312" pitchFamily="49" charset="-122"/>
              </a:defRPr>
            </a:lvl1pPr>
          </a:lstStyle>
          <a:p>
            <a:pPr>
              <a:defRPr/>
            </a:pPr>
            <a:fld id="{4C3EDFA4-098C-4852-9B32-2AEDD7771B5A}" type="datetime1">
              <a:rPr lang="zh-CN" altLang="en-US"/>
            </a:fld>
            <a:endParaRPr lang="en-US" altLang="zh-CN"/>
          </a:p>
        </p:txBody>
      </p:sp>
      <p:sp>
        <p:nvSpPr>
          <p:cNvPr id="5734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p:spPr>
      </p:sp>
      <p:sp>
        <p:nvSpPr>
          <p:cNvPr id="171013"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171014"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l">
              <a:spcBef>
                <a:spcPct val="0"/>
              </a:spcBef>
              <a:defRPr sz="1200" b="1">
                <a:solidFill>
                  <a:schemeClr val="bg2"/>
                </a:solidFill>
                <a:ea typeface="楷体_GB2312" pitchFamily="49" charset="-122"/>
              </a:defRPr>
            </a:lvl1pPr>
          </a:lstStyle>
          <a:p>
            <a:pPr>
              <a:defRPr/>
            </a:pPr>
            <a:endParaRPr lang="en-US" altLang="zh-CN"/>
          </a:p>
        </p:txBody>
      </p:sp>
      <p:sp>
        <p:nvSpPr>
          <p:cNvPr id="171015"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a:spcBef>
                <a:spcPct val="0"/>
              </a:spcBef>
              <a:defRPr sz="1200" b="1">
                <a:solidFill>
                  <a:schemeClr val="bg2"/>
                </a:solidFill>
                <a:ea typeface="楷体_GB2312" pitchFamily="49" charset="-122"/>
              </a:defRPr>
            </a:lvl1pPr>
          </a:lstStyle>
          <a:p>
            <a:pPr>
              <a:defRPr/>
            </a:pPr>
            <a:fld id="{45AC940A-B8E0-4333-ADAE-D6A0ED954999}"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p>
            <a:fld id="{8E78B040-5F85-4624-8D65-7221B02BAFB3}" type="slidenum">
              <a:rPr lang="zh-CN" altLang="en-US" smtClean="0"/>
            </a:fld>
            <a:endParaRPr lang="en-US" altLang="zh-CN" smtClean="0"/>
          </a:p>
        </p:txBody>
      </p:sp>
      <p:sp>
        <p:nvSpPr>
          <p:cNvPr id="58371" name="Rectangle 2"/>
          <p:cNvSpPr>
            <a:spLocks noGrp="1" noRot="1" noChangeAspect="1" noChangeArrowheads="1" noTextEdit="1"/>
          </p:cNvSpPr>
          <p:nvPr>
            <p:ph type="sldImg"/>
          </p:nvPr>
        </p:nvSpPr>
        <p:spPr/>
      </p:sp>
      <p:sp>
        <p:nvSpPr>
          <p:cNvPr id="2" name="备注占位符 1"/>
          <p:cNvSpPr>
            <a:spLocks noGrp="1"/>
          </p:cNvSpPr>
          <p:nvPr>
            <p:ph type="body" idx="1"/>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BD989EB9-7801-4DC0-BCD3-F5539EB767BB}" type="slidenum">
              <a:rPr lang="zh-CN" altLang="en-US" smtClean="0"/>
            </a:fld>
            <a:endParaRPr lang="en-US" altLang="zh-CN" smtClean="0"/>
          </a:p>
        </p:txBody>
      </p:sp>
      <p:sp>
        <p:nvSpPr>
          <p:cNvPr id="59395" name="Rectangle 2"/>
          <p:cNvSpPr>
            <a:spLocks noGrp="1" noRot="1" noChangeAspect="1" noChangeArrowheads="1" noTextEdit="1"/>
          </p:cNvSpPr>
          <p:nvPr>
            <p:ph type="sldImg"/>
          </p:nvPr>
        </p:nvSpPr>
        <p:spPr/>
      </p:sp>
      <p:sp>
        <p:nvSpPr>
          <p:cNvPr id="59396"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5F42C42D-1EFC-42F9-AD05-1AAEB3B44009}" type="slidenum">
              <a:rPr lang="zh-CN" altLang="en-US" smtClean="0"/>
            </a:fld>
            <a:endParaRPr lang="en-US" altLang="zh-CN" smtClean="0"/>
          </a:p>
        </p:txBody>
      </p:sp>
      <p:sp>
        <p:nvSpPr>
          <p:cNvPr id="61443" name="Rectangle 2"/>
          <p:cNvSpPr>
            <a:spLocks noGrp="1" noRot="1" noChangeAspect="1" noChangeArrowheads="1" noTextEdit="1"/>
          </p:cNvSpPr>
          <p:nvPr>
            <p:ph type="sldImg"/>
          </p:nvPr>
        </p:nvSpPr>
        <p:spPr/>
      </p:sp>
      <p:sp>
        <p:nvSpPr>
          <p:cNvPr id="61444" name="Rectangle 3"/>
          <p:cNvSpPr>
            <a:spLocks noGrp="1" noChangeArrowheads="1"/>
          </p:cNvSpPr>
          <p:nvPr>
            <p:ph type="body" idx="1"/>
          </p:nvPr>
        </p:nvSpPr>
        <p:spPr>
          <a:noFill/>
        </p:spPr>
        <p:txBody>
          <a:bodyPr/>
          <a:lstStyle/>
          <a:p>
            <a:pPr algn="just" eaLnBrk="1" hangingPunct="1"/>
            <a:r>
              <a:rPr lang="zh-CN" altLang="en-US" b="1"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eaLnBrk="1" hangingPunct="1"/>
            <a:endParaRPr lang="en-US" altLang="zh-CN"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8364DFD8-D1C3-44DB-B901-BC325E9ABB68}" type="slidenum">
              <a:rPr lang="zh-CN" altLang="en-US" smtClean="0"/>
            </a:fld>
            <a:endParaRPr lang="en-US" altLang="zh-CN" smtClean="0"/>
          </a:p>
        </p:txBody>
      </p:sp>
      <p:sp>
        <p:nvSpPr>
          <p:cNvPr id="61443" name="Rectangle 2"/>
          <p:cNvSpPr>
            <a:spLocks noGrp="1" noRot="1" noChangeAspect="1" noChangeArrowheads="1" noTextEdit="1"/>
          </p:cNvSpPr>
          <p:nvPr>
            <p:ph type="sldImg"/>
          </p:nvPr>
        </p:nvSpPr>
        <p:spPr/>
      </p:sp>
      <p:sp>
        <p:nvSpPr>
          <p:cNvPr id="61444" name="Rectangle 3"/>
          <p:cNvSpPr>
            <a:spLocks noGrp="1" noChangeArrowheads="1"/>
          </p:cNvSpPr>
          <p:nvPr>
            <p:ph type="body" idx="1"/>
          </p:nvPr>
        </p:nvSpPr>
        <p:spPr>
          <a:xfrm>
            <a:off x="685800" y="4343400"/>
            <a:ext cx="5486400" cy="4114800"/>
          </a:xfrm>
          <a:noFill/>
        </p:spPr>
        <p:txBody>
          <a:bodyPr/>
          <a:lstStyle/>
          <a:p>
            <a:pPr eaLnBrk="1" hangingPunct="1"/>
            <a:endParaRPr lang="en-US" altLang="zh-CN"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B3F3C5C4-3025-49D8-A76B-8A1D45FACE0A}" type="slidenum">
              <a:rPr lang="zh-CN" altLang="en-US" smtClean="0"/>
            </a:fld>
            <a:endParaRPr lang="en-US" altLang="zh-CN" smtClean="0"/>
          </a:p>
        </p:txBody>
      </p:sp>
      <p:sp>
        <p:nvSpPr>
          <p:cNvPr id="64515" name="Rectangle 2"/>
          <p:cNvSpPr>
            <a:spLocks noGrp="1" noRot="1" noChangeAspect="1" noChangeArrowheads="1" noTextEdit="1"/>
          </p:cNvSpPr>
          <p:nvPr>
            <p:ph type="sldImg"/>
          </p:nvPr>
        </p:nvSpPr>
        <p:spPr/>
      </p:sp>
      <p:sp>
        <p:nvSpPr>
          <p:cNvPr id="64516"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p>
            <a:fld id="{8E55CBEE-7A6F-4774-BD68-2557D442F633}" type="slidenum">
              <a:rPr lang="zh-CN" altLang="en-US" smtClean="0"/>
            </a:fld>
            <a:endParaRPr lang="en-US" altLang="zh-CN" smtClean="0"/>
          </a:p>
        </p:txBody>
      </p:sp>
      <p:sp>
        <p:nvSpPr>
          <p:cNvPr id="65539" name="Rectangle 2"/>
          <p:cNvSpPr>
            <a:spLocks noGrp="1" noRot="1" noChangeAspect="1" noChangeArrowheads="1" noTextEdit="1"/>
          </p:cNvSpPr>
          <p:nvPr>
            <p:ph type="sldImg"/>
          </p:nvPr>
        </p:nvSpPr>
        <p:spPr/>
      </p:sp>
      <p:sp>
        <p:nvSpPr>
          <p:cNvPr id="65540"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7BA92C3B-36A1-4B21-9282-6519479AA42E}" type="slidenum">
              <a:rPr lang="zh-CN" altLang="en-US" smtClean="0"/>
            </a:fld>
            <a:endParaRPr lang="en-US" altLang="zh-CN" smtClean="0"/>
          </a:p>
        </p:txBody>
      </p:sp>
      <p:sp>
        <p:nvSpPr>
          <p:cNvPr id="66563" name="Rectangle 2"/>
          <p:cNvSpPr>
            <a:spLocks noGrp="1" noRot="1" noChangeAspect="1" noChangeArrowheads="1" noTextEdit="1"/>
          </p:cNvSpPr>
          <p:nvPr>
            <p:ph type="sldImg"/>
          </p:nvPr>
        </p:nvSpPr>
        <p:spPr/>
      </p:sp>
      <p:sp>
        <p:nvSpPr>
          <p:cNvPr id="66564"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7B1321EC-840E-4D95-A2A7-126CB2624915}" type="slidenum">
              <a:rPr lang="zh-CN" altLang="en-US" smtClean="0"/>
            </a:fld>
            <a:endParaRPr lang="en-US" altLang="zh-CN" smtClean="0"/>
          </a:p>
        </p:txBody>
      </p:sp>
      <p:sp>
        <p:nvSpPr>
          <p:cNvPr id="67587" name="Rectangle 2"/>
          <p:cNvSpPr>
            <a:spLocks noGrp="1" noRot="1" noChangeAspect="1" noChangeArrowheads="1" noTextEdit="1"/>
          </p:cNvSpPr>
          <p:nvPr>
            <p:ph type="sldImg"/>
          </p:nvPr>
        </p:nvSpPr>
        <p:spPr/>
      </p:sp>
      <p:sp>
        <p:nvSpPr>
          <p:cNvPr id="67588"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p>
            <a:fld id="{359E1C96-06D6-46E9-B11F-D7A39551C83A}" type="slidenum">
              <a:rPr lang="zh-CN" altLang="en-US" smtClean="0"/>
            </a:fld>
            <a:endParaRPr lang="en-US" altLang="zh-CN" smtClean="0"/>
          </a:p>
        </p:txBody>
      </p:sp>
      <p:sp>
        <p:nvSpPr>
          <p:cNvPr id="69635" name="Rectangle 2"/>
          <p:cNvSpPr>
            <a:spLocks noGrp="1" noRot="1" noChangeAspect="1" noChangeArrowheads="1" noTextEdit="1"/>
          </p:cNvSpPr>
          <p:nvPr>
            <p:ph type="sldImg"/>
          </p:nvPr>
        </p:nvSpPr>
        <p:spPr/>
      </p:sp>
      <p:sp>
        <p:nvSpPr>
          <p:cNvPr id="69636"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53455924-9D09-492D-B168-5E11896ABDCC}" type="slidenum">
              <a:rPr lang="zh-CN" altLang="en-US" smtClean="0"/>
            </a:fld>
            <a:endParaRPr lang="en-US" altLang="zh-CN" smtClean="0"/>
          </a:p>
        </p:txBody>
      </p:sp>
      <p:sp>
        <p:nvSpPr>
          <p:cNvPr id="70659" name="Rectangle 2"/>
          <p:cNvSpPr>
            <a:spLocks noGrp="1" noRot="1" noChangeAspect="1" noChangeArrowheads="1" noTextEdit="1"/>
          </p:cNvSpPr>
          <p:nvPr>
            <p:ph type="sldImg"/>
          </p:nvPr>
        </p:nvSpPr>
        <p:spPr/>
      </p:sp>
      <p:sp>
        <p:nvSpPr>
          <p:cNvPr id="70660"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53455924-9D09-492D-B168-5E11896ABDCC}" type="slidenum">
              <a:rPr lang="zh-CN" altLang="en-US" smtClean="0"/>
            </a:fld>
            <a:endParaRPr lang="en-US" altLang="zh-CN" smtClean="0"/>
          </a:p>
        </p:txBody>
      </p:sp>
      <p:sp>
        <p:nvSpPr>
          <p:cNvPr id="70659" name="Rectangle 2"/>
          <p:cNvSpPr>
            <a:spLocks noGrp="1" noRot="1" noChangeAspect="1" noChangeArrowheads="1" noTextEdit="1"/>
          </p:cNvSpPr>
          <p:nvPr>
            <p:ph type="sldImg"/>
          </p:nvPr>
        </p:nvSpPr>
        <p:spPr/>
      </p:sp>
      <p:sp>
        <p:nvSpPr>
          <p:cNvPr id="70660"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53455924-9D09-492D-B168-5E11896ABDCC}" type="slidenum">
              <a:rPr lang="zh-CN" altLang="en-US" smtClean="0"/>
            </a:fld>
            <a:endParaRPr lang="en-US" altLang="zh-CN" smtClean="0"/>
          </a:p>
        </p:txBody>
      </p:sp>
      <p:sp>
        <p:nvSpPr>
          <p:cNvPr id="70659" name="Rectangle 2"/>
          <p:cNvSpPr>
            <a:spLocks noGrp="1" noRot="1" noChangeAspect="1" noChangeArrowheads="1" noTextEdit="1"/>
          </p:cNvSpPr>
          <p:nvPr>
            <p:ph type="sldImg"/>
          </p:nvPr>
        </p:nvSpPr>
        <p:spPr/>
      </p:sp>
      <p:sp>
        <p:nvSpPr>
          <p:cNvPr id="70660"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787643BA-EC8B-495E-8908-B76596F2E6CD}" type="slidenum">
              <a:rPr lang="zh-CN" altLang="en-US" smtClean="0"/>
            </a:fld>
            <a:endParaRPr lang="en-US" altLang="zh-CN" smtClean="0"/>
          </a:p>
        </p:txBody>
      </p:sp>
      <p:sp>
        <p:nvSpPr>
          <p:cNvPr id="73731" name="Rectangle 2"/>
          <p:cNvSpPr>
            <a:spLocks noGrp="1" noRot="1" noChangeAspect="1" noChangeArrowheads="1" noTextEdit="1"/>
          </p:cNvSpPr>
          <p:nvPr>
            <p:ph type="sldImg"/>
          </p:nvPr>
        </p:nvSpPr>
        <p:spPr/>
      </p:sp>
      <p:sp>
        <p:nvSpPr>
          <p:cNvPr id="73732"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07E693AF-4025-470E-8089-40FE6EF3019C}" type="slidenum">
              <a:rPr lang="zh-CN" altLang="en-US" smtClean="0"/>
            </a:fld>
            <a:endParaRPr lang="en-US" altLang="zh-CN" smtClean="0"/>
          </a:p>
        </p:txBody>
      </p:sp>
      <p:sp>
        <p:nvSpPr>
          <p:cNvPr id="74755" name="Rectangle 2"/>
          <p:cNvSpPr>
            <a:spLocks noGrp="1" noRot="1" noChangeAspect="1" noChangeArrowheads="1" noTextEdit="1"/>
          </p:cNvSpPr>
          <p:nvPr>
            <p:ph type="sldImg"/>
          </p:nvPr>
        </p:nvSpPr>
        <p:spPr/>
      </p:sp>
      <p:sp>
        <p:nvSpPr>
          <p:cNvPr id="74756"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3F8DA63C-AD15-4A25-9B39-0A8CE66151D6}" type="slidenum">
              <a:rPr lang="zh-CN" altLang="en-US" smtClean="0"/>
            </a:fld>
            <a:endParaRPr lang="en-US" altLang="zh-CN" smtClean="0"/>
          </a:p>
        </p:txBody>
      </p:sp>
      <p:sp>
        <p:nvSpPr>
          <p:cNvPr id="75779" name="Rectangle 2"/>
          <p:cNvSpPr>
            <a:spLocks noGrp="1" noRot="1" noChangeAspect="1" noChangeArrowheads="1" noTextEdit="1"/>
          </p:cNvSpPr>
          <p:nvPr>
            <p:ph type="sldImg"/>
          </p:nvPr>
        </p:nvSpPr>
        <p:spPr/>
      </p:sp>
      <p:sp>
        <p:nvSpPr>
          <p:cNvPr id="75780"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8364DFD8-D1C3-44DB-B901-BC325E9ABB68}" type="slidenum">
              <a:rPr lang="zh-CN" altLang="en-US" smtClean="0"/>
            </a:fld>
            <a:endParaRPr lang="en-US" altLang="zh-CN" smtClean="0"/>
          </a:p>
        </p:txBody>
      </p:sp>
      <p:sp>
        <p:nvSpPr>
          <p:cNvPr id="61443" name="Rectangle 2"/>
          <p:cNvSpPr>
            <a:spLocks noGrp="1" noRot="1" noChangeAspect="1" noChangeArrowheads="1" noTextEdit="1"/>
          </p:cNvSpPr>
          <p:nvPr>
            <p:ph type="sldImg"/>
          </p:nvPr>
        </p:nvSpPr>
        <p:spPr/>
      </p:sp>
      <p:sp>
        <p:nvSpPr>
          <p:cNvPr id="61444" name="Rectangle 3"/>
          <p:cNvSpPr>
            <a:spLocks noGrp="1" noChangeArrowheads="1"/>
          </p:cNvSpPr>
          <p:nvPr>
            <p:ph type="body" idx="1"/>
          </p:nvPr>
        </p:nvSpPr>
        <p:spPr>
          <a:xfrm>
            <a:off x="685800" y="4343400"/>
            <a:ext cx="5486400" cy="4114800"/>
          </a:xfrm>
          <a:noFill/>
        </p:spPr>
        <p:txBody>
          <a:bodyPr/>
          <a:lstStyle/>
          <a:p>
            <a:pPr eaLnBrk="1" hangingPunct="1"/>
            <a:endParaRPr lang="en-US" altLang="zh-CN"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p>
            <a:fld id="{A454259B-EEC2-4411-AEAE-A3B7AA483482}" type="slidenum">
              <a:rPr lang="zh-CN" altLang="en-US" smtClean="0"/>
            </a:fld>
            <a:endParaRPr lang="en-US" altLang="zh-CN" smtClean="0"/>
          </a:p>
        </p:txBody>
      </p:sp>
      <p:sp>
        <p:nvSpPr>
          <p:cNvPr id="77827" name="Rectangle 2"/>
          <p:cNvSpPr>
            <a:spLocks noGrp="1" noRot="1" noChangeAspect="1" noChangeArrowheads="1" noTextEdit="1"/>
          </p:cNvSpPr>
          <p:nvPr>
            <p:ph type="sldImg"/>
          </p:nvPr>
        </p:nvSpPr>
        <p:spPr/>
      </p:sp>
      <p:sp>
        <p:nvSpPr>
          <p:cNvPr id="77828"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p>
            <a:fld id="{A454259B-EEC2-4411-AEAE-A3B7AA483482}" type="slidenum">
              <a:rPr lang="zh-CN" altLang="en-US" smtClean="0"/>
            </a:fld>
            <a:endParaRPr lang="en-US" altLang="zh-CN" smtClean="0"/>
          </a:p>
        </p:txBody>
      </p:sp>
      <p:sp>
        <p:nvSpPr>
          <p:cNvPr id="77827" name="Rectangle 2"/>
          <p:cNvSpPr>
            <a:spLocks noGrp="1" noRot="1" noChangeAspect="1" noChangeArrowheads="1" noTextEdit="1"/>
          </p:cNvSpPr>
          <p:nvPr>
            <p:ph type="sldImg"/>
          </p:nvPr>
        </p:nvSpPr>
        <p:spPr/>
      </p:sp>
      <p:sp>
        <p:nvSpPr>
          <p:cNvPr id="77828"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8364DFD8-D1C3-44DB-B901-BC325E9ABB68}" type="slidenum">
              <a:rPr lang="zh-CN" altLang="en-US" smtClean="0"/>
            </a:fld>
            <a:endParaRPr lang="en-US" altLang="zh-CN" smtClean="0"/>
          </a:p>
        </p:txBody>
      </p:sp>
      <p:sp>
        <p:nvSpPr>
          <p:cNvPr id="61443" name="Rectangle 2"/>
          <p:cNvSpPr>
            <a:spLocks noGrp="1" noRot="1" noChangeAspect="1" noChangeArrowheads="1" noTextEdit="1"/>
          </p:cNvSpPr>
          <p:nvPr>
            <p:ph type="sldImg"/>
          </p:nvPr>
        </p:nvSpPr>
        <p:spPr/>
      </p:sp>
      <p:sp>
        <p:nvSpPr>
          <p:cNvPr id="61444" name="Rectangle 3"/>
          <p:cNvSpPr>
            <a:spLocks noGrp="1" noChangeArrowheads="1"/>
          </p:cNvSpPr>
          <p:nvPr>
            <p:ph type="body" idx="1"/>
          </p:nvPr>
        </p:nvSpPr>
        <p:spPr>
          <a:xfrm>
            <a:off x="685800" y="4343400"/>
            <a:ext cx="5486400" cy="4114800"/>
          </a:xfrm>
          <a:noFill/>
        </p:spPr>
        <p:txBody>
          <a:bodyPr/>
          <a:lstStyle/>
          <a:p>
            <a:pPr eaLnBrk="1" hangingPunct="1"/>
            <a:endParaRPr lang="en-US" altLang="zh-CN"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p>
            <a:fld id="{A454259B-EEC2-4411-AEAE-A3B7AA483482}" type="slidenum">
              <a:rPr lang="zh-CN" altLang="en-US" smtClean="0"/>
            </a:fld>
            <a:endParaRPr lang="en-US" altLang="zh-CN" smtClean="0"/>
          </a:p>
        </p:txBody>
      </p:sp>
      <p:sp>
        <p:nvSpPr>
          <p:cNvPr id="77827" name="Rectangle 2"/>
          <p:cNvSpPr>
            <a:spLocks noGrp="1" noRot="1" noChangeAspect="1" noChangeArrowheads="1" noTextEdit="1"/>
          </p:cNvSpPr>
          <p:nvPr>
            <p:ph type="sldImg"/>
          </p:nvPr>
        </p:nvSpPr>
        <p:spPr/>
      </p:sp>
      <p:sp>
        <p:nvSpPr>
          <p:cNvPr id="77828"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063D678F-5C9A-4B93-8003-F97979D3EBA0}" type="slidenum">
              <a:rPr lang="zh-CN" altLang="en-US" smtClean="0"/>
            </a:fld>
            <a:endParaRPr lang="en-US" altLang="zh-CN" smtClean="0"/>
          </a:p>
        </p:txBody>
      </p:sp>
      <p:sp>
        <p:nvSpPr>
          <p:cNvPr id="78851" name="Rectangle 2"/>
          <p:cNvSpPr>
            <a:spLocks noGrp="1" noRot="1" noChangeAspect="1" noChangeArrowheads="1" noTextEdit="1"/>
          </p:cNvSpPr>
          <p:nvPr>
            <p:ph type="sldImg"/>
          </p:nvPr>
        </p:nvSpPr>
        <p:spPr/>
      </p:sp>
      <p:sp>
        <p:nvSpPr>
          <p:cNvPr id="78852"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p>
            <a:fld id="{CA328462-8DA5-4D3D-B03F-CF0E73DCBA8D}" type="slidenum">
              <a:rPr lang="zh-CN" altLang="en-US" smtClean="0"/>
            </a:fld>
            <a:endParaRPr lang="en-US" altLang="zh-CN" smtClean="0"/>
          </a:p>
        </p:txBody>
      </p:sp>
      <p:sp>
        <p:nvSpPr>
          <p:cNvPr id="79875" name="Rectangle 2"/>
          <p:cNvSpPr>
            <a:spLocks noGrp="1" noRot="1" noChangeAspect="1" noChangeArrowheads="1" noTextEdit="1"/>
          </p:cNvSpPr>
          <p:nvPr>
            <p:ph type="sldImg"/>
          </p:nvPr>
        </p:nvSpPr>
        <p:spPr/>
      </p:sp>
      <p:sp>
        <p:nvSpPr>
          <p:cNvPr id="79876"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fld id="{B978BC58-5871-4E04-A99A-59705F436B2B}" type="slidenum">
              <a:rPr lang="zh-CN" altLang="en-US" smtClean="0"/>
            </a:fld>
            <a:endParaRPr lang="en-US" altLang="zh-CN" smtClean="0"/>
          </a:p>
        </p:txBody>
      </p:sp>
      <p:sp>
        <p:nvSpPr>
          <p:cNvPr id="80899" name="Rectangle 2"/>
          <p:cNvSpPr>
            <a:spLocks noGrp="1" noRot="1" noChangeAspect="1" noChangeArrowheads="1" noTextEdit="1"/>
          </p:cNvSpPr>
          <p:nvPr>
            <p:ph type="sldImg"/>
          </p:nvPr>
        </p:nvSpPr>
        <p:spPr/>
      </p:sp>
      <p:sp>
        <p:nvSpPr>
          <p:cNvPr id="80900"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8364DFD8-D1C3-44DB-B901-BC325E9ABB68}" type="slidenum">
              <a:rPr lang="zh-CN" altLang="en-US" smtClean="0"/>
            </a:fld>
            <a:endParaRPr lang="en-US" altLang="zh-CN" smtClean="0"/>
          </a:p>
        </p:txBody>
      </p:sp>
      <p:sp>
        <p:nvSpPr>
          <p:cNvPr id="61443" name="Rectangle 2"/>
          <p:cNvSpPr>
            <a:spLocks noGrp="1" noRot="1" noChangeAspect="1" noChangeArrowheads="1" noTextEdit="1"/>
          </p:cNvSpPr>
          <p:nvPr>
            <p:ph type="sldImg"/>
          </p:nvPr>
        </p:nvSpPr>
        <p:spPr/>
      </p:sp>
      <p:sp>
        <p:nvSpPr>
          <p:cNvPr id="61444" name="Rectangle 3"/>
          <p:cNvSpPr>
            <a:spLocks noGrp="1" noChangeArrowheads="1"/>
          </p:cNvSpPr>
          <p:nvPr>
            <p:ph type="body" idx="1"/>
          </p:nvPr>
        </p:nvSpPr>
        <p:spPr>
          <a:xfrm>
            <a:off x="685800" y="4343400"/>
            <a:ext cx="5486400" cy="4114800"/>
          </a:xfrm>
          <a:noFill/>
        </p:spPr>
        <p:txBody>
          <a:bodyPr/>
          <a:lstStyle/>
          <a:p>
            <a:pPr eaLnBrk="1" hangingPunct="1"/>
            <a:endParaRPr lang="en-US" altLang="zh-CN"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p>
            <a:fld id="{5FF1B91C-2D26-4D21-B614-93A9F401E814}" type="slidenum">
              <a:rPr lang="zh-CN" altLang="en-US" smtClean="0"/>
            </a:fld>
            <a:endParaRPr lang="en-US" altLang="zh-CN" smtClean="0"/>
          </a:p>
        </p:txBody>
      </p:sp>
      <p:sp>
        <p:nvSpPr>
          <p:cNvPr id="83971" name="Rectangle 2"/>
          <p:cNvSpPr>
            <a:spLocks noGrp="1" noRot="1" noChangeAspect="1" noChangeArrowheads="1" noTextEdit="1"/>
          </p:cNvSpPr>
          <p:nvPr>
            <p:ph type="sldImg"/>
          </p:nvPr>
        </p:nvSpPr>
        <p:spPr/>
      </p:sp>
      <p:sp>
        <p:nvSpPr>
          <p:cNvPr id="83972"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p>
            <a:fld id="{2E353A0C-E3E6-4244-AAC8-20A418569FAC}" type="slidenum">
              <a:rPr lang="zh-CN" altLang="en-US" smtClean="0"/>
            </a:fld>
            <a:endParaRPr lang="en-US" altLang="zh-CN" smtClean="0"/>
          </a:p>
        </p:txBody>
      </p:sp>
      <p:sp>
        <p:nvSpPr>
          <p:cNvPr id="84995" name="Rectangle 2"/>
          <p:cNvSpPr>
            <a:spLocks noGrp="1" noRot="1" noChangeAspect="1" noChangeArrowheads="1" noTextEdit="1"/>
          </p:cNvSpPr>
          <p:nvPr>
            <p:ph type="sldImg"/>
          </p:nvPr>
        </p:nvSpPr>
        <p:spPr/>
      </p:sp>
      <p:sp>
        <p:nvSpPr>
          <p:cNvPr id="84996"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p>
            <a:fld id="{1AE398E5-15BD-4E83-B509-6A08EA78628B}" type="slidenum">
              <a:rPr lang="zh-CN" altLang="en-US" smtClean="0"/>
            </a:fld>
            <a:endParaRPr lang="en-US" altLang="zh-CN" smtClean="0"/>
          </a:p>
        </p:txBody>
      </p:sp>
      <p:sp>
        <p:nvSpPr>
          <p:cNvPr id="86019" name="Rectangle 2"/>
          <p:cNvSpPr>
            <a:spLocks noGrp="1" noRot="1" noChangeAspect="1" noChangeArrowheads="1" noTextEdit="1"/>
          </p:cNvSpPr>
          <p:nvPr>
            <p:ph type="sldImg"/>
          </p:nvPr>
        </p:nvSpPr>
        <p:spPr/>
      </p:sp>
      <p:sp>
        <p:nvSpPr>
          <p:cNvPr id="86020"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p>
            <a:fld id="{3C188B36-A808-4990-B974-2B57AA462CDD}" type="slidenum">
              <a:rPr lang="zh-CN" altLang="en-US" smtClean="0"/>
            </a:fld>
            <a:endParaRPr lang="en-US" altLang="zh-CN" smtClean="0"/>
          </a:p>
        </p:txBody>
      </p:sp>
      <p:sp>
        <p:nvSpPr>
          <p:cNvPr id="87043" name="Rectangle 2"/>
          <p:cNvSpPr>
            <a:spLocks noGrp="1" noRot="1" noChangeAspect="1" noChangeArrowheads="1" noTextEdit="1"/>
          </p:cNvSpPr>
          <p:nvPr>
            <p:ph type="sldImg"/>
          </p:nvPr>
        </p:nvSpPr>
        <p:spPr/>
      </p:sp>
      <p:sp>
        <p:nvSpPr>
          <p:cNvPr id="87044"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p>
            <a:fld id="{3C188B36-A808-4990-B974-2B57AA462CDD}" type="slidenum">
              <a:rPr lang="zh-CN" altLang="en-US" smtClean="0"/>
            </a:fld>
            <a:endParaRPr lang="en-US" altLang="zh-CN" smtClean="0"/>
          </a:p>
        </p:txBody>
      </p:sp>
      <p:sp>
        <p:nvSpPr>
          <p:cNvPr id="87043" name="Rectangle 2"/>
          <p:cNvSpPr>
            <a:spLocks noGrp="1" noRot="1" noChangeAspect="1" noChangeArrowheads="1" noTextEdit="1"/>
          </p:cNvSpPr>
          <p:nvPr>
            <p:ph type="sldImg"/>
          </p:nvPr>
        </p:nvSpPr>
        <p:spPr/>
      </p:sp>
      <p:sp>
        <p:nvSpPr>
          <p:cNvPr id="87044"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p:spPr>
        <p:txBody>
          <a:bodyPr/>
          <a:lstStyle/>
          <a:p>
            <a:fld id="{B8F53823-5795-43E5-833E-F84DA46D1F2A}" type="slidenum">
              <a:rPr lang="zh-CN" altLang="en-US" smtClean="0"/>
            </a:fld>
            <a:endParaRPr lang="en-US" altLang="zh-CN" smtClean="0"/>
          </a:p>
        </p:txBody>
      </p:sp>
      <p:sp>
        <p:nvSpPr>
          <p:cNvPr id="88067" name="Rectangle 2"/>
          <p:cNvSpPr>
            <a:spLocks noGrp="1" noRot="1" noChangeAspect="1" noChangeArrowheads="1" noTextEdit="1"/>
          </p:cNvSpPr>
          <p:nvPr>
            <p:ph type="sldImg"/>
          </p:nvPr>
        </p:nvSpPr>
        <p:spPr/>
      </p:sp>
      <p:sp>
        <p:nvSpPr>
          <p:cNvPr id="88068"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p:spPr>
        <p:txBody>
          <a:bodyPr/>
          <a:lstStyle/>
          <a:p>
            <a:fld id="{DA20A4D6-19A2-4FE5-B640-C24528AA9C30}" type="slidenum">
              <a:rPr lang="zh-CN" altLang="en-US" smtClean="0"/>
            </a:fld>
            <a:endParaRPr lang="en-US" altLang="zh-CN" smtClean="0"/>
          </a:p>
        </p:txBody>
      </p:sp>
      <p:sp>
        <p:nvSpPr>
          <p:cNvPr id="89091" name="Rectangle 2"/>
          <p:cNvSpPr>
            <a:spLocks noGrp="1" noRot="1" noChangeAspect="1" noChangeArrowheads="1" noTextEdit="1"/>
          </p:cNvSpPr>
          <p:nvPr>
            <p:ph type="sldImg"/>
          </p:nvPr>
        </p:nvSpPr>
        <p:spPr/>
      </p:sp>
      <p:sp>
        <p:nvSpPr>
          <p:cNvPr id="89092"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8364DFD8-D1C3-44DB-B901-BC325E9ABB68}" type="slidenum">
              <a:rPr lang="zh-CN" altLang="en-US" smtClean="0"/>
            </a:fld>
            <a:endParaRPr lang="en-US" altLang="zh-CN" smtClean="0"/>
          </a:p>
        </p:txBody>
      </p:sp>
      <p:sp>
        <p:nvSpPr>
          <p:cNvPr id="61443" name="Rectangle 2"/>
          <p:cNvSpPr>
            <a:spLocks noGrp="1" noRot="1" noChangeAspect="1" noChangeArrowheads="1" noTextEdit="1"/>
          </p:cNvSpPr>
          <p:nvPr>
            <p:ph type="sldImg"/>
          </p:nvPr>
        </p:nvSpPr>
        <p:spPr/>
      </p:sp>
      <p:sp>
        <p:nvSpPr>
          <p:cNvPr id="61444" name="Rectangle 3"/>
          <p:cNvSpPr>
            <a:spLocks noGrp="1" noChangeArrowheads="1"/>
          </p:cNvSpPr>
          <p:nvPr>
            <p:ph type="body" idx="1"/>
          </p:nvPr>
        </p:nvSpPr>
        <p:spPr>
          <a:xfrm>
            <a:off x="685800" y="4343400"/>
            <a:ext cx="5486400" cy="4114800"/>
          </a:xfrm>
          <a:noFill/>
        </p:spPr>
        <p:txBody>
          <a:bodyPr/>
          <a:lstStyle/>
          <a:p>
            <a:pPr eaLnBrk="1" hangingPunct="1"/>
            <a:endParaRPr lang="en-US" altLang="zh-CN"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p:spPr>
        <p:txBody>
          <a:bodyPr/>
          <a:lstStyle/>
          <a:p>
            <a:fld id="{42F773C0-9D5B-4252-91BE-D6E4C5DDF18D}" type="slidenum">
              <a:rPr lang="zh-CN" altLang="en-US" smtClean="0"/>
            </a:fld>
            <a:endParaRPr lang="en-US" altLang="zh-CN" smtClean="0"/>
          </a:p>
        </p:txBody>
      </p:sp>
      <p:sp>
        <p:nvSpPr>
          <p:cNvPr id="91139" name="Rectangle 2"/>
          <p:cNvSpPr>
            <a:spLocks noGrp="1" noRot="1" noChangeAspect="1" noChangeArrowheads="1" noTextEdit="1"/>
          </p:cNvSpPr>
          <p:nvPr>
            <p:ph type="sldImg"/>
          </p:nvPr>
        </p:nvSpPr>
        <p:spPr/>
      </p:sp>
      <p:sp>
        <p:nvSpPr>
          <p:cNvPr id="91140"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p:spPr>
        <p:txBody>
          <a:bodyPr/>
          <a:lstStyle/>
          <a:p>
            <a:fld id="{AD8EC904-F9B2-4ED2-B279-981A0DA99EDD}" type="slidenum">
              <a:rPr lang="zh-CN" altLang="en-US" smtClean="0"/>
            </a:fld>
            <a:endParaRPr lang="en-US" altLang="zh-CN" smtClean="0"/>
          </a:p>
        </p:txBody>
      </p:sp>
      <p:sp>
        <p:nvSpPr>
          <p:cNvPr id="92163" name="Rectangle 2"/>
          <p:cNvSpPr>
            <a:spLocks noGrp="1" noRot="1" noChangeAspect="1" noChangeArrowheads="1" noTextEdit="1"/>
          </p:cNvSpPr>
          <p:nvPr>
            <p:ph type="sldImg"/>
          </p:nvPr>
        </p:nvSpPr>
        <p:spPr/>
      </p:sp>
      <p:sp>
        <p:nvSpPr>
          <p:cNvPr id="92164"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p>
            <a:fld id="{05F5F865-D907-48EC-AE35-B20980C97323}" type="slidenum">
              <a:rPr lang="zh-CN" altLang="en-US" smtClean="0"/>
            </a:fld>
            <a:endParaRPr lang="en-US" altLang="zh-CN" smtClean="0"/>
          </a:p>
        </p:txBody>
      </p:sp>
      <p:sp>
        <p:nvSpPr>
          <p:cNvPr id="93187" name="Rectangle 2"/>
          <p:cNvSpPr>
            <a:spLocks noGrp="1" noRot="1" noChangeAspect="1" noChangeArrowheads="1" noTextEdit="1"/>
          </p:cNvSpPr>
          <p:nvPr>
            <p:ph type="sldImg"/>
          </p:nvPr>
        </p:nvSpPr>
        <p:spPr/>
      </p:sp>
      <p:sp>
        <p:nvSpPr>
          <p:cNvPr id="93188"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p>
            <a:fld id="{9AD937CC-AB02-46BF-8B26-CD62D8F46984}" type="slidenum">
              <a:rPr lang="zh-CN" altLang="en-US" smtClean="0"/>
            </a:fld>
            <a:endParaRPr lang="en-US" altLang="zh-CN" smtClean="0"/>
          </a:p>
        </p:txBody>
      </p:sp>
      <p:sp>
        <p:nvSpPr>
          <p:cNvPr id="94211" name="Rectangle 2"/>
          <p:cNvSpPr>
            <a:spLocks noGrp="1" noRot="1" noChangeAspect="1" noChangeArrowheads="1" noTextEdit="1"/>
          </p:cNvSpPr>
          <p:nvPr>
            <p:ph type="sldImg"/>
          </p:nvPr>
        </p:nvSpPr>
        <p:spPr/>
      </p:sp>
      <p:sp>
        <p:nvSpPr>
          <p:cNvPr id="94212"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p:spPr>
        <p:txBody>
          <a:bodyPr/>
          <a:lstStyle/>
          <a:p>
            <a:fld id="{7A193247-7235-4F90-81B6-7FCAF9984981}" type="slidenum">
              <a:rPr lang="zh-CN" altLang="en-US" smtClean="0"/>
            </a:fld>
            <a:endParaRPr lang="en-US" altLang="zh-CN" smtClean="0"/>
          </a:p>
        </p:txBody>
      </p:sp>
      <p:sp>
        <p:nvSpPr>
          <p:cNvPr id="95235" name="Rectangle 2"/>
          <p:cNvSpPr>
            <a:spLocks noGrp="1" noRot="1" noChangeAspect="1" noChangeArrowheads="1" noTextEdit="1"/>
          </p:cNvSpPr>
          <p:nvPr>
            <p:ph type="sldImg"/>
          </p:nvPr>
        </p:nvSpPr>
        <p:spPr/>
      </p:sp>
      <p:sp>
        <p:nvSpPr>
          <p:cNvPr id="95236"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p:spPr>
        <p:txBody>
          <a:bodyPr/>
          <a:lstStyle/>
          <a:p>
            <a:fld id="{AD787111-0817-4654-99A3-36A153E584F5}" type="slidenum">
              <a:rPr lang="zh-CN" altLang="en-US" smtClean="0"/>
            </a:fld>
            <a:endParaRPr lang="en-US" altLang="zh-CN" smtClean="0"/>
          </a:p>
        </p:txBody>
      </p:sp>
      <p:sp>
        <p:nvSpPr>
          <p:cNvPr id="96259" name="Rectangle 2"/>
          <p:cNvSpPr>
            <a:spLocks noGrp="1" noRot="1" noChangeAspect="1" noChangeArrowheads="1" noTextEdit="1"/>
          </p:cNvSpPr>
          <p:nvPr>
            <p:ph type="sldImg"/>
          </p:nvPr>
        </p:nvSpPr>
        <p:spPr/>
      </p:sp>
      <p:sp>
        <p:nvSpPr>
          <p:cNvPr id="96260"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p:spPr>
        <p:txBody>
          <a:bodyPr/>
          <a:lstStyle/>
          <a:p>
            <a:fld id="{AD787111-0817-4654-99A3-36A153E584F5}" type="slidenum">
              <a:rPr lang="zh-CN" altLang="en-US" smtClean="0"/>
            </a:fld>
            <a:endParaRPr lang="en-US" altLang="zh-CN" smtClean="0"/>
          </a:p>
        </p:txBody>
      </p:sp>
      <p:sp>
        <p:nvSpPr>
          <p:cNvPr id="96259" name="Rectangle 2"/>
          <p:cNvSpPr>
            <a:spLocks noGrp="1" noRot="1" noChangeAspect="1" noChangeArrowheads="1" noTextEdit="1"/>
          </p:cNvSpPr>
          <p:nvPr>
            <p:ph type="sldImg"/>
          </p:nvPr>
        </p:nvSpPr>
        <p:spPr/>
      </p:sp>
      <p:sp>
        <p:nvSpPr>
          <p:cNvPr id="96260" name="Rectangle 3"/>
          <p:cNvSpPr>
            <a:spLocks noGrp="1" noChangeArrowheads="1"/>
          </p:cNvSpPr>
          <p:nvPr>
            <p:ph type="body" idx="1"/>
          </p:nvPr>
        </p:nvSpPr>
        <p:spPr>
          <a:noFill/>
        </p:spPr>
        <p:txBody>
          <a:bodyPr/>
          <a:lstStyle/>
          <a:p>
            <a:pPr algn="just" eaLnBrk="1" hangingPunct="1"/>
            <a:endParaRPr lang="zh-CN" altLang="en-US" dirty="0" smtClean="0"/>
          </a:p>
          <a:p>
            <a:pPr algn="just" eaLnBrk="1" hangingPunct="1"/>
            <a:endParaRPr lang="zh-CN" altLang="en-US" dirty="0" smtClean="0"/>
          </a:p>
          <a:p>
            <a:pPr algn="just" eaLnBrk="1" hangingPunct="1"/>
            <a:endParaRPr lang="zh-CN" altLang="en-US" dirty="0" smtClean="0"/>
          </a:p>
          <a:p>
            <a:pPr algn="just" eaLnBrk="1" hangingPunct="1"/>
            <a:endParaRPr lang="zh-CN" altLang="en-US" dirty="0" smtClean="0"/>
          </a:p>
          <a:p>
            <a:pPr algn="just" eaLnBrk="1" hangingPunct="1"/>
            <a:endParaRPr lang="zh-CN" altLang="en-US" dirty="0" smtClean="0"/>
          </a:p>
          <a:p>
            <a:pPr eaLnBrk="1" hangingPunct="1"/>
            <a:endParaRPr lang="en-US" altLang="zh-CN" dirty="0"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p:spPr>
        <p:txBody>
          <a:bodyPr/>
          <a:lstStyle/>
          <a:p>
            <a:fld id="{AD787111-0817-4654-99A3-36A153E584F5}" type="slidenum">
              <a:rPr lang="zh-CN" altLang="en-US" smtClean="0"/>
            </a:fld>
            <a:endParaRPr lang="en-US" altLang="zh-CN" smtClean="0"/>
          </a:p>
        </p:txBody>
      </p:sp>
      <p:sp>
        <p:nvSpPr>
          <p:cNvPr id="96259" name="Rectangle 2"/>
          <p:cNvSpPr>
            <a:spLocks noGrp="1" noRot="1" noChangeAspect="1" noChangeArrowheads="1" noTextEdit="1"/>
          </p:cNvSpPr>
          <p:nvPr>
            <p:ph type="sldImg"/>
          </p:nvPr>
        </p:nvSpPr>
        <p:spPr/>
      </p:sp>
      <p:sp>
        <p:nvSpPr>
          <p:cNvPr id="96260"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p:spPr>
        <p:txBody>
          <a:bodyPr/>
          <a:lstStyle/>
          <a:p>
            <a:fld id="{AD787111-0817-4654-99A3-36A153E584F5}" type="slidenum">
              <a:rPr lang="zh-CN" altLang="en-US" smtClean="0"/>
            </a:fld>
            <a:endParaRPr lang="en-US" altLang="zh-CN" smtClean="0"/>
          </a:p>
        </p:txBody>
      </p:sp>
      <p:sp>
        <p:nvSpPr>
          <p:cNvPr id="96259" name="Rectangle 2"/>
          <p:cNvSpPr>
            <a:spLocks noGrp="1" noRot="1" noChangeAspect="1" noChangeArrowheads="1" noTextEdit="1"/>
          </p:cNvSpPr>
          <p:nvPr>
            <p:ph type="sldImg"/>
          </p:nvPr>
        </p:nvSpPr>
        <p:spPr/>
      </p:sp>
      <p:sp>
        <p:nvSpPr>
          <p:cNvPr id="96260"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p:spPr>
        <p:txBody>
          <a:bodyPr/>
          <a:lstStyle/>
          <a:p>
            <a:fld id="{AD787111-0817-4654-99A3-36A153E584F5}" type="slidenum">
              <a:rPr lang="zh-CN" altLang="en-US" smtClean="0"/>
            </a:fld>
            <a:endParaRPr lang="en-US" altLang="zh-CN" smtClean="0"/>
          </a:p>
        </p:txBody>
      </p:sp>
      <p:sp>
        <p:nvSpPr>
          <p:cNvPr id="96259" name="Rectangle 2"/>
          <p:cNvSpPr>
            <a:spLocks noGrp="1" noRot="1" noChangeAspect="1" noChangeArrowheads="1" noTextEdit="1"/>
          </p:cNvSpPr>
          <p:nvPr>
            <p:ph type="sldImg"/>
          </p:nvPr>
        </p:nvSpPr>
        <p:spPr/>
      </p:sp>
      <p:sp>
        <p:nvSpPr>
          <p:cNvPr id="96260"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p:spPr>
        <p:txBody>
          <a:bodyPr/>
          <a:lstStyle/>
          <a:p>
            <a:fld id="{713C3704-3488-4C26-AB1C-06DFD17783DE}" type="slidenum">
              <a:rPr lang="zh-CN" altLang="en-US" smtClean="0"/>
            </a:fld>
            <a:endParaRPr lang="en-US" altLang="zh-CN" smtClean="0"/>
          </a:p>
        </p:txBody>
      </p:sp>
      <p:sp>
        <p:nvSpPr>
          <p:cNvPr id="97283" name="Rectangle 2"/>
          <p:cNvSpPr>
            <a:spLocks noGrp="1" noRot="1" noChangeAspect="1" noChangeArrowheads="1" noTextEdit="1"/>
          </p:cNvSpPr>
          <p:nvPr>
            <p:ph type="sldImg"/>
          </p:nvPr>
        </p:nvSpPr>
        <p:spPr/>
      </p:sp>
      <p:sp>
        <p:nvSpPr>
          <p:cNvPr id="97284"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p:spPr>
        <p:txBody>
          <a:bodyPr/>
          <a:lstStyle/>
          <a:p>
            <a:fld id="{02D61313-E667-40A9-951B-07EAE68DD6C3}" type="slidenum">
              <a:rPr lang="zh-CN" altLang="en-US" smtClean="0"/>
            </a:fld>
            <a:endParaRPr lang="en-US" altLang="zh-CN" smtClean="0"/>
          </a:p>
        </p:txBody>
      </p:sp>
      <p:sp>
        <p:nvSpPr>
          <p:cNvPr id="98307" name="Rectangle 2"/>
          <p:cNvSpPr>
            <a:spLocks noGrp="1" noRot="1" noChangeAspect="1" noChangeArrowheads="1" noTextEdit="1"/>
          </p:cNvSpPr>
          <p:nvPr>
            <p:ph type="sldImg"/>
          </p:nvPr>
        </p:nvSpPr>
        <p:spPr/>
      </p:sp>
      <p:sp>
        <p:nvSpPr>
          <p:cNvPr id="98308"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8364DFD8-D1C3-44DB-B901-BC325E9ABB68}" type="slidenum">
              <a:rPr lang="zh-CN" altLang="en-US" smtClean="0"/>
            </a:fld>
            <a:endParaRPr lang="en-US" altLang="zh-CN" smtClean="0"/>
          </a:p>
        </p:txBody>
      </p:sp>
      <p:sp>
        <p:nvSpPr>
          <p:cNvPr id="61443" name="Rectangle 2"/>
          <p:cNvSpPr>
            <a:spLocks noGrp="1" noRot="1" noChangeAspect="1" noChangeArrowheads="1" noTextEdit="1"/>
          </p:cNvSpPr>
          <p:nvPr>
            <p:ph type="sldImg"/>
          </p:nvPr>
        </p:nvSpPr>
        <p:spPr/>
      </p:sp>
      <p:sp>
        <p:nvSpPr>
          <p:cNvPr id="61444" name="Rectangle 3"/>
          <p:cNvSpPr>
            <a:spLocks noGrp="1" noChangeArrowheads="1"/>
          </p:cNvSpPr>
          <p:nvPr>
            <p:ph type="body" idx="1"/>
          </p:nvPr>
        </p:nvSpPr>
        <p:spPr>
          <a:xfrm>
            <a:off x="685800" y="4343400"/>
            <a:ext cx="5486400" cy="4114800"/>
          </a:xfrm>
          <a:noFill/>
        </p:spPr>
        <p:txBody>
          <a:bodyPr/>
          <a:lstStyle/>
          <a:p>
            <a:pPr eaLnBrk="1" hangingPunct="1"/>
            <a:endParaRPr lang="en-US" altLang="zh-CN" smtClean="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p:spPr>
        <p:txBody>
          <a:bodyPr/>
          <a:lstStyle/>
          <a:p>
            <a:fld id="{EC6252D8-BC82-4506-9BBE-44744D617AC2}" type="slidenum">
              <a:rPr lang="zh-CN" altLang="en-US" smtClean="0"/>
            </a:fld>
            <a:endParaRPr lang="en-US" altLang="zh-CN" smtClean="0"/>
          </a:p>
        </p:txBody>
      </p:sp>
      <p:sp>
        <p:nvSpPr>
          <p:cNvPr id="100355" name="Rectangle 2"/>
          <p:cNvSpPr>
            <a:spLocks noGrp="1" noRot="1" noChangeAspect="1" noChangeArrowheads="1" noTextEdit="1"/>
          </p:cNvSpPr>
          <p:nvPr>
            <p:ph type="sldImg"/>
          </p:nvPr>
        </p:nvSpPr>
        <p:spPr/>
      </p:sp>
      <p:sp>
        <p:nvSpPr>
          <p:cNvPr id="100356"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p:spPr>
        <p:txBody>
          <a:bodyPr/>
          <a:lstStyle/>
          <a:p>
            <a:fld id="{EC6252D8-BC82-4506-9BBE-44744D617AC2}" type="slidenum">
              <a:rPr lang="zh-CN" altLang="en-US" smtClean="0"/>
            </a:fld>
            <a:endParaRPr lang="en-US" altLang="zh-CN" smtClean="0"/>
          </a:p>
        </p:txBody>
      </p:sp>
      <p:sp>
        <p:nvSpPr>
          <p:cNvPr id="100355" name="Rectangle 2"/>
          <p:cNvSpPr>
            <a:spLocks noGrp="1" noRot="1" noChangeAspect="1" noChangeArrowheads="1" noTextEdit="1"/>
          </p:cNvSpPr>
          <p:nvPr>
            <p:ph type="sldImg"/>
          </p:nvPr>
        </p:nvSpPr>
        <p:spPr/>
      </p:sp>
      <p:sp>
        <p:nvSpPr>
          <p:cNvPr id="100356"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p:spPr>
        <p:txBody>
          <a:bodyPr/>
          <a:lstStyle/>
          <a:p>
            <a:fld id="{6763EA1C-C7F9-42F3-98FE-B108AB9086B5}" type="slidenum">
              <a:rPr lang="zh-CN" altLang="en-US" smtClean="0"/>
            </a:fld>
            <a:endParaRPr lang="en-US" altLang="zh-CN" smtClean="0"/>
          </a:p>
        </p:txBody>
      </p:sp>
      <p:sp>
        <p:nvSpPr>
          <p:cNvPr id="101379" name="Rectangle 2"/>
          <p:cNvSpPr>
            <a:spLocks noGrp="1" noRot="1" noChangeAspect="1" noChangeArrowheads="1" noTextEdit="1"/>
          </p:cNvSpPr>
          <p:nvPr>
            <p:ph type="sldImg"/>
          </p:nvPr>
        </p:nvSpPr>
        <p:spPr/>
      </p:sp>
      <p:sp>
        <p:nvSpPr>
          <p:cNvPr id="101380"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32732535-3244-4968-84D8-C28635895343}" type="slidenum">
              <a:rPr lang="zh-CN" altLang="en-US" smtClean="0"/>
            </a:fld>
            <a:endParaRPr lang="en-US" altLang="zh-CN" smtClean="0"/>
          </a:p>
        </p:txBody>
      </p:sp>
      <p:sp>
        <p:nvSpPr>
          <p:cNvPr id="102403" name="Rectangle 2"/>
          <p:cNvSpPr>
            <a:spLocks noGrp="1" noRot="1" noChangeAspect="1" noChangeArrowheads="1" noTextEdit="1"/>
          </p:cNvSpPr>
          <p:nvPr>
            <p:ph type="sldImg"/>
          </p:nvPr>
        </p:nvSpPr>
        <p:spPr/>
      </p:sp>
      <p:sp>
        <p:nvSpPr>
          <p:cNvPr id="102404"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32732535-3244-4968-84D8-C28635895343}" type="slidenum">
              <a:rPr lang="zh-CN" altLang="en-US" smtClean="0"/>
            </a:fld>
            <a:endParaRPr lang="en-US" altLang="zh-CN" smtClean="0"/>
          </a:p>
        </p:txBody>
      </p:sp>
      <p:sp>
        <p:nvSpPr>
          <p:cNvPr id="102403" name="Rectangle 2"/>
          <p:cNvSpPr>
            <a:spLocks noGrp="1" noRot="1" noChangeAspect="1" noChangeArrowheads="1" noTextEdit="1"/>
          </p:cNvSpPr>
          <p:nvPr>
            <p:ph type="sldImg"/>
          </p:nvPr>
        </p:nvSpPr>
        <p:spPr/>
      </p:sp>
      <p:sp>
        <p:nvSpPr>
          <p:cNvPr id="102404"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p:spPr>
        <p:txBody>
          <a:bodyPr/>
          <a:lstStyle/>
          <a:p>
            <a:fld id="{39245CD1-828F-4C82-A76E-6490FA423CB2}" type="slidenum">
              <a:rPr lang="zh-CN" altLang="en-US" smtClean="0"/>
            </a:fld>
            <a:endParaRPr lang="en-US" altLang="zh-CN" smtClean="0"/>
          </a:p>
        </p:txBody>
      </p:sp>
      <p:sp>
        <p:nvSpPr>
          <p:cNvPr id="110595" name="Rectangle 2"/>
          <p:cNvSpPr>
            <a:spLocks noGrp="1" noRot="1" noChangeAspect="1" noChangeArrowheads="1" noTextEdit="1"/>
          </p:cNvSpPr>
          <p:nvPr>
            <p:ph type="sldImg"/>
          </p:nvPr>
        </p:nvSpPr>
        <p:spPr/>
      </p:sp>
      <p:sp>
        <p:nvSpPr>
          <p:cNvPr id="110596"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ext Box 13"/>
          <p:cNvSpPr txBox="1">
            <a:spLocks noChangeArrowheads="1"/>
          </p:cNvSpPr>
          <p:nvPr userDrawn="1"/>
        </p:nvSpPr>
        <p:spPr bwMode="auto">
          <a:xfrm>
            <a:off x="0" y="0"/>
            <a:ext cx="5580063" cy="579438"/>
          </a:xfrm>
          <a:prstGeom prst="rect">
            <a:avLst/>
          </a:prstGeom>
          <a:noFill/>
          <a:ln w="9525">
            <a:noFill/>
            <a:miter lim="800000"/>
          </a:ln>
          <a:effectLst/>
        </p:spPr>
        <p:txBody>
          <a:bodyPr>
            <a:spAutoFit/>
          </a:bodyPr>
          <a:lstStyle/>
          <a:p>
            <a:pPr>
              <a:spcBef>
                <a:spcPct val="50000"/>
              </a:spcBef>
              <a:defRPr/>
            </a:pPr>
            <a:r>
              <a:rPr lang="zh-CN" altLang="en-US" sz="3200" b="1">
                <a:solidFill>
                  <a:srgbClr val="FF0000"/>
                </a:solidFill>
                <a:ea typeface="隶书" panose="02010509060101010101" pitchFamily="49" charset="-122"/>
              </a:rPr>
              <a:t>第</a:t>
            </a:r>
            <a:r>
              <a:rPr lang="en-GB" altLang="zh-CN" sz="3200" b="1">
                <a:solidFill>
                  <a:srgbClr val="FF0000"/>
                </a:solidFill>
                <a:ea typeface="隶书" panose="02010509060101010101" pitchFamily="49" charset="-122"/>
              </a:rPr>
              <a:t>6</a:t>
            </a:r>
            <a:r>
              <a:rPr lang="zh-CN" altLang="en-US" sz="3200" b="1">
                <a:solidFill>
                  <a:srgbClr val="FF0000"/>
                </a:solidFill>
                <a:ea typeface="隶书" panose="02010509060101010101" pitchFamily="49" charset="-122"/>
              </a:rPr>
              <a:t>章 驾驭项目成本</a:t>
            </a:r>
            <a:endParaRPr lang="zh-CN" altLang="en-US" sz="3200" b="1">
              <a:solidFill>
                <a:srgbClr val="FF0000"/>
              </a:solidFill>
              <a:ea typeface="隶书" panose="02010509060101010101" pitchFamily="49" charset="-122"/>
            </a:endParaRPr>
          </a:p>
        </p:txBody>
      </p:sp>
      <p:sp>
        <p:nvSpPr>
          <p:cNvPr id="3" name="Line 14"/>
          <p:cNvSpPr>
            <a:spLocks noChangeShapeType="1"/>
          </p:cNvSpPr>
          <p:nvPr userDrawn="1"/>
        </p:nvSpPr>
        <p:spPr bwMode="auto">
          <a:xfrm>
            <a:off x="0" y="6453188"/>
            <a:ext cx="9144000" cy="0"/>
          </a:xfrm>
          <a:prstGeom prst="line">
            <a:avLst/>
          </a:prstGeom>
          <a:noFill/>
          <a:ln w="127000" cmpd="thinThick">
            <a:solidFill>
              <a:srgbClr val="CC9900"/>
            </a:solidFill>
            <a:round/>
          </a:ln>
          <a:effectLst/>
        </p:spPr>
        <p:txBody>
          <a:bodyPr wrap="none" anchor="ctr"/>
          <a:lstStyle/>
          <a:p>
            <a:pPr algn="r">
              <a:spcBef>
                <a:spcPct val="50000"/>
              </a:spcBef>
              <a:defRPr/>
            </a:pPr>
            <a:endParaRPr lang="zh-CN" altLang="en-US"/>
          </a:p>
        </p:txBody>
      </p:sp>
      <p:sp>
        <p:nvSpPr>
          <p:cNvPr id="4" name="Rectangle 17"/>
          <p:cNvSpPr>
            <a:spLocks noChangeArrowheads="1"/>
          </p:cNvSpPr>
          <p:nvPr/>
        </p:nvSpPr>
        <p:spPr bwMode="auto">
          <a:xfrm>
            <a:off x="250825" y="1484313"/>
            <a:ext cx="8497888" cy="4392612"/>
          </a:xfrm>
          <a:prstGeom prst="rect">
            <a:avLst/>
          </a:prstGeom>
          <a:noFill/>
          <a:ln w="9525">
            <a:noFill/>
            <a:miter lim="800000"/>
          </a:ln>
          <a:effectLst/>
        </p:spPr>
        <p:txBody>
          <a:bodyPr/>
          <a:lstStyle/>
          <a:p>
            <a:pPr algn="ctr">
              <a:spcBef>
                <a:spcPct val="20000"/>
              </a:spcBef>
              <a:buClr>
                <a:schemeClr val="accent2"/>
              </a:buClr>
              <a:buSzPct val="80000"/>
              <a:buFont typeface="Wingdings" panose="05000000000000000000" pitchFamily="2" charset="2"/>
              <a:buNone/>
              <a:defRPr/>
            </a:pPr>
            <a:r>
              <a:rPr lang="zh-CN" altLang="en-US" sz="3200"/>
              <a:t>单击此处编辑母版文本样式</a:t>
            </a:r>
            <a:endParaRPr lang="zh-CN" altLang="en-US" sz="3200"/>
          </a:p>
          <a:p>
            <a:pPr algn="ctr">
              <a:spcBef>
                <a:spcPct val="20000"/>
              </a:spcBef>
              <a:buClr>
                <a:schemeClr val="accent2"/>
              </a:buClr>
              <a:buSzPct val="80000"/>
              <a:buFont typeface="Wingdings" panose="05000000000000000000" pitchFamily="2" charset="2"/>
              <a:buNone/>
              <a:defRPr/>
            </a:pPr>
            <a:r>
              <a:rPr lang="zh-CN" altLang="en-US" sz="3200"/>
              <a:t>第二级</a:t>
            </a:r>
            <a:endParaRPr lang="zh-CN" altLang="en-US" sz="3200"/>
          </a:p>
          <a:p>
            <a:pPr algn="ctr">
              <a:spcBef>
                <a:spcPct val="20000"/>
              </a:spcBef>
              <a:buClr>
                <a:schemeClr val="accent2"/>
              </a:buClr>
              <a:buSzPct val="80000"/>
              <a:buFont typeface="Wingdings" panose="05000000000000000000" pitchFamily="2" charset="2"/>
              <a:buNone/>
              <a:defRPr/>
            </a:pPr>
            <a:r>
              <a:rPr lang="zh-CN" altLang="en-US" sz="3200"/>
              <a:t>第三级</a:t>
            </a:r>
            <a:endParaRPr lang="zh-CN" altLang="en-US" sz="3200"/>
          </a:p>
          <a:p>
            <a:pPr algn="ctr">
              <a:spcBef>
                <a:spcPct val="20000"/>
              </a:spcBef>
              <a:buClr>
                <a:schemeClr val="accent2"/>
              </a:buClr>
              <a:buSzPct val="80000"/>
              <a:buFont typeface="Wingdings" panose="05000000000000000000" pitchFamily="2" charset="2"/>
              <a:buNone/>
              <a:defRPr/>
            </a:pPr>
            <a:r>
              <a:rPr lang="zh-CN" altLang="en-US" sz="3200"/>
              <a:t>第四级</a:t>
            </a:r>
            <a:endParaRPr lang="zh-CN" altLang="en-US" sz="3200"/>
          </a:p>
          <a:p>
            <a:pPr algn="ctr">
              <a:spcBef>
                <a:spcPct val="20000"/>
              </a:spcBef>
              <a:buClr>
                <a:schemeClr val="accent2"/>
              </a:buClr>
              <a:buSzPct val="80000"/>
              <a:buFont typeface="Wingdings" panose="05000000000000000000" pitchFamily="2" charset="2"/>
              <a:buNone/>
              <a:defRPr/>
            </a:pPr>
            <a:r>
              <a:rPr lang="zh-CN" altLang="en-US" sz="3200"/>
              <a:t>第五级</a:t>
            </a:r>
            <a:endParaRPr lang="zh-CN" altLang="en-US" sz="3200"/>
          </a:p>
        </p:txBody>
      </p:sp>
      <p:sp>
        <p:nvSpPr>
          <p:cNvPr id="5" name="Rectangle 9"/>
          <p:cNvSpPr txBox="1">
            <a:spLocks noChangeArrowheads="1"/>
          </p:cNvSpPr>
          <p:nvPr userDrawn="1"/>
        </p:nvSpPr>
        <p:spPr bwMode="auto">
          <a:xfrm>
            <a:off x="7848600" y="6597650"/>
            <a:ext cx="1295400" cy="260350"/>
          </a:xfrm>
          <a:prstGeom prst="rect">
            <a:avLst/>
          </a:prstGeom>
          <a:ln>
            <a:miter lim="800000"/>
          </a:ln>
        </p:spPr>
        <p:txBody>
          <a:bodyPr lIns="92075" tIns="46038" rIns="92075" bIns="46038" anchor="ctr"/>
          <a:lstStyle>
            <a:lvl1pPr algn="r">
              <a:spcBef>
                <a:spcPct val="0"/>
              </a:spcBef>
              <a:defRPr kumimoji="0" sz="2000" b="1">
                <a:solidFill>
                  <a:schemeClr val="bg2"/>
                </a:solidFill>
                <a:ea typeface="楷体_GB2312" pitchFamily="49" charset="-122"/>
              </a:defRPr>
            </a:lvl1pPr>
          </a:lstStyle>
          <a:p>
            <a:pPr>
              <a:defRPr/>
            </a:pPr>
            <a:r>
              <a:rPr lang="en-GB" altLang="zh-CN" smtClean="0"/>
              <a:t>/58</a:t>
            </a:r>
            <a:endParaRPr lang="en-US" altLang="zh-CN" dirty="0"/>
          </a:p>
        </p:txBody>
      </p:sp>
      <p:sp>
        <p:nvSpPr>
          <p:cNvPr id="6" name="Rectangle 9"/>
          <p:cNvSpPr>
            <a:spLocks noGrp="1" noChangeArrowheads="1"/>
          </p:cNvSpPr>
          <p:nvPr>
            <p:ph type="sldNum" sz="quarter" idx="10"/>
          </p:nvPr>
        </p:nvSpPr>
        <p:spPr bwMode="auto">
          <a:xfrm>
            <a:off x="7419975" y="6553200"/>
            <a:ext cx="1295400" cy="260350"/>
          </a:xfrm>
          <a:prstGeom prst="rect">
            <a:avLst/>
          </a:prstGeom>
          <a:ln>
            <a:miter lim="800000"/>
          </a:ln>
        </p:spPr>
        <p:txBody>
          <a:bodyPr vert="horz" wrap="square" lIns="92075" tIns="46038" rIns="92075" bIns="46038" numCol="1" anchor="ctr" anchorCtr="0" compatLnSpc="1"/>
          <a:lstStyle>
            <a:lvl1pPr algn="r">
              <a:spcBef>
                <a:spcPct val="0"/>
              </a:spcBef>
              <a:defRPr kumimoji="0" sz="2000" b="1" dirty="0">
                <a:solidFill>
                  <a:schemeClr val="bg2"/>
                </a:solidFill>
                <a:ea typeface="楷体_GB2312" pitchFamily="49" charset="-122"/>
              </a:defRPr>
            </a:lvl1pPr>
          </a:lstStyle>
          <a:p>
            <a:pPr>
              <a:defRPr/>
            </a:pPr>
            <a:r>
              <a:rPr lang="zh-CN" altLang="en-GB"/>
              <a:t>  </a:t>
            </a:r>
            <a:fld id="{95651991-717F-4C87-AC8C-CF55915743E1}" type="slidenum">
              <a:rPr lang="zh-CN" altLang="en-GB" smtClean="0"/>
            </a:fld>
            <a:endParaRPr lang="en-US" altLang="zh-CN"/>
          </a:p>
        </p:txBody>
      </p:sp>
    </p:spTree>
  </p:cSld>
  <p:clrMapOvr>
    <a:masterClrMapping/>
  </p:clrMapOvr>
  <p:transition>
    <p:random/>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6"/>
          <p:cNvSpPr>
            <a:spLocks noGrp="1" noChangeArrowheads="1"/>
          </p:cNvSpPr>
          <p:nvPr>
            <p:ph type="dt" sz="half" idx="10"/>
          </p:nvPr>
        </p:nvSpPr>
        <p:spPr/>
        <p:txBody>
          <a:bodyPr/>
          <a:lstStyle>
            <a:lvl1pPr>
              <a:defRPr/>
            </a:lvl1pPr>
          </a:lstStyle>
          <a:p>
            <a:pPr>
              <a:defRPr/>
            </a:pPr>
            <a:fld id="{D348AABB-5091-40AA-BA80-B6302494B8E0}" type="datetime7">
              <a:rPr lang="zh-CN" altLang="en-US"/>
            </a:fld>
            <a:endParaRPr lang="zh-CN" altLang="zh-CN"/>
          </a:p>
        </p:txBody>
      </p:sp>
    </p:spTree>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Rectangle 6"/>
          <p:cNvSpPr>
            <a:spLocks noGrp="1" noChangeArrowheads="1"/>
          </p:cNvSpPr>
          <p:nvPr>
            <p:ph type="dt" sz="half" idx="10"/>
          </p:nvPr>
        </p:nvSpPr>
        <p:spPr/>
        <p:txBody>
          <a:bodyPr/>
          <a:lstStyle>
            <a:lvl1pPr>
              <a:defRPr/>
            </a:lvl1pPr>
          </a:lstStyle>
          <a:p>
            <a:pPr>
              <a:defRPr/>
            </a:pPr>
            <a:fld id="{3CC0B689-3768-46CF-82F4-CEE0DEF42863}" type="datetime7">
              <a:rPr lang="zh-CN" altLang="en-US"/>
            </a:fld>
            <a:endParaRPr lang="zh-CN" altLang="zh-CN"/>
          </a:p>
        </p:txBody>
      </p:sp>
    </p:spTree>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6"/>
          <p:cNvSpPr>
            <a:spLocks noGrp="1" noChangeArrowheads="1"/>
          </p:cNvSpPr>
          <p:nvPr>
            <p:ph type="dt" sz="half" idx="10"/>
          </p:nvPr>
        </p:nvSpPr>
        <p:spPr/>
        <p:txBody>
          <a:bodyPr/>
          <a:lstStyle>
            <a:lvl1pPr>
              <a:defRPr/>
            </a:lvl1pPr>
          </a:lstStyle>
          <a:p>
            <a:pPr>
              <a:defRPr/>
            </a:pPr>
            <a:fld id="{7F4FBC83-F8C4-49DA-888C-5CBAF353A05D}" type="datetime7">
              <a:rPr lang="zh-CN" altLang="en-US"/>
            </a:fld>
            <a:endParaRPr lang="zh-CN" altLang="zh-CN"/>
          </a:p>
        </p:txBody>
      </p:sp>
    </p:spTree>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Rectangle 6"/>
          <p:cNvSpPr>
            <a:spLocks noGrp="1" noChangeArrowheads="1"/>
          </p:cNvSpPr>
          <p:nvPr>
            <p:ph type="dt" sz="half" idx="10"/>
          </p:nvPr>
        </p:nvSpPr>
        <p:spPr/>
        <p:txBody>
          <a:bodyPr/>
          <a:lstStyle>
            <a:lvl1pPr>
              <a:defRPr/>
            </a:lvl1pPr>
          </a:lstStyle>
          <a:p>
            <a:pPr>
              <a:defRPr/>
            </a:pPr>
            <a:fld id="{20BF57EF-8430-4C14-BCF9-714073A89794}" type="datetime7">
              <a:rPr lang="zh-CN" altLang="en-US"/>
            </a:fld>
            <a:endParaRPr lang="zh-CN" altLang="zh-CN"/>
          </a:p>
        </p:txBody>
      </p:sp>
    </p:spTree>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6"/>
          <p:cNvSpPr>
            <a:spLocks noGrp="1" noChangeArrowheads="1"/>
          </p:cNvSpPr>
          <p:nvPr>
            <p:ph type="dt" sz="half" idx="10"/>
          </p:nvPr>
        </p:nvSpPr>
        <p:spPr/>
        <p:txBody>
          <a:bodyPr/>
          <a:lstStyle>
            <a:lvl1pPr>
              <a:defRPr/>
            </a:lvl1pPr>
          </a:lstStyle>
          <a:p>
            <a:pPr>
              <a:defRPr/>
            </a:pPr>
            <a:fld id="{13353729-5D89-49C2-BA8E-1D6A6DDF1A76}" type="datetime7">
              <a:rPr lang="zh-CN" altLang="en-US"/>
            </a:fld>
            <a:endParaRPr lang="zh-CN" altLang="zh-CN"/>
          </a:p>
        </p:txBody>
      </p:sp>
    </p:spTree>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p:txBody>
          <a:bodyPr/>
          <a:lstStyle>
            <a:lvl1pPr>
              <a:defRPr/>
            </a:lvl1pPr>
          </a:lstStyle>
          <a:p>
            <a:pPr>
              <a:defRPr/>
            </a:pPr>
            <a:fld id="{621B22A3-66C2-4A05-8B5F-267E3F4FB051}" type="datetime7">
              <a:rPr lang="zh-CN" altLang="en-US"/>
            </a:fld>
            <a:endParaRPr lang="zh-CN" altLang="zh-CN"/>
          </a:p>
        </p:txBody>
      </p:sp>
    </p:spTree>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6"/>
          <p:cNvSpPr>
            <a:spLocks noGrp="1" noChangeArrowheads="1"/>
          </p:cNvSpPr>
          <p:nvPr>
            <p:ph type="dt" sz="half" idx="10"/>
          </p:nvPr>
        </p:nvSpPr>
        <p:spPr/>
        <p:txBody>
          <a:bodyPr/>
          <a:lstStyle>
            <a:lvl1pPr>
              <a:defRPr/>
            </a:lvl1pPr>
          </a:lstStyle>
          <a:p>
            <a:pPr>
              <a:defRPr/>
            </a:pPr>
            <a:fld id="{CCDC1A39-2E9A-4266-9454-EB7DBD057596}" type="datetime7">
              <a:rPr lang="zh-CN" altLang="en-US"/>
            </a:fld>
            <a:endParaRPr lang="zh-CN" altLang="zh-CN"/>
          </a:p>
        </p:txBody>
      </p:sp>
    </p:spTree>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6"/>
          <p:cNvSpPr>
            <a:spLocks noGrp="1" noChangeArrowheads="1"/>
          </p:cNvSpPr>
          <p:nvPr>
            <p:ph type="dt" sz="half" idx="10"/>
          </p:nvPr>
        </p:nvSpPr>
        <p:spPr/>
        <p:txBody>
          <a:bodyPr/>
          <a:lstStyle>
            <a:lvl1pPr>
              <a:defRPr/>
            </a:lvl1pPr>
          </a:lstStyle>
          <a:p>
            <a:pPr>
              <a:defRPr/>
            </a:pPr>
            <a:fld id="{6752DE87-61A3-4ACC-8DA1-1E14C0A7F906}" type="datetime7">
              <a:rPr lang="zh-CN" altLang="en-US"/>
            </a:fld>
            <a:endParaRPr lang="zh-CN" altLang="zh-CN"/>
          </a:p>
        </p:txBody>
      </p:sp>
    </p:spTree>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6"/>
          <p:cNvSpPr>
            <a:spLocks noGrp="1" noChangeArrowheads="1"/>
          </p:cNvSpPr>
          <p:nvPr>
            <p:ph type="dt" sz="half" idx="10"/>
          </p:nvPr>
        </p:nvSpPr>
        <p:spPr/>
        <p:txBody>
          <a:bodyPr/>
          <a:lstStyle>
            <a:lvl1pPr>
              <a:defRPr/>
            </a:lvl1pPr>
          </a:lstStyle>
          <a:p>
            <a:pPr>
              <a:defRPr/>
            </a:pPr>
            <a:fld id="{FC295B9A-BDB5-47CF-8815-B14018729EC3}" type="datetime7">
              <a:rPr lang="zh-CN" altLang="en-US"/>
            </a:fld>
            <a:endParaRPr lang="zh-CN" altLang="zh-CN"/>
          </a:p>
        </p:txBody>
      </p:sp>
    </p:spTree>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609600"/>
            <a:ext cx="2057400" cy="5516563"/>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609600"/>
            <a:ext cx="6019800" cy="5516563"/>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6"/>
          <p:cNvSpPr>
            <a:spLocks noGrp="1" noChangeArrowheads="1"/>
          </p:cNvSpPr>
          <p:nvPr>
            <p:ph type="dt" sz="half" idx="10"/>
          </p:nvPr>
        </p:nvSpPr>
        <p:spPr/>
        <p:txBody>
          <a:bodyPr/>
          <a:lstStyle>
            <a:lvl1pPr>
              <a:defRPr/>
            </a:lvl1pPr>
          </a:lstStyle>
          <a:p>
            <a:pPr>
              <a:defRPr/>
            </a:pPr>
            <a:fld id="{82034665-5DAD-4612-A636-3269107B9A80}" type="datetime7">
              <a:rPr lang="zh-CN" altLang="en-US"/>
            </a:fld>
            <a:endParaRPr lang="zh-CN" altLang="zh-CN"/>
          </a:p>
        </p:txBody>
      </p:sp>
    </p:spTree>
  </p:cSld>
  <p:clrMapOvr>
    <a:masterClrMapping/>
  </p:clrMapOvr>
  <p:transition>
    <p:random/>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2" cstate="print"/>
          <a:srcRect/>
          <a:stretch>
            <a:fillRect/>
          </a:stretch>
        </a:blipFill>
        <a:effectLst/>
      </p:bgPr>
    </p:bg>
    <p:spTree>
      <p:nvGrpSpPr>
        <p:cNvPr id="1" name=""/>
        <p:cNvGrpSpPr/>
        <p:nvPr/>
      </p:nvGrpSpPr>
      <p:grpSpPr>
        <a:xfrm>
          <a:off x="0" y="0"/>
          <a:ext cx="0" cy="0"/>
          <a:chOff x="0" y="0"/>
          <a:chExt cx="0" cy="0"/>
        </a:xfrm>
      </p:grpSpPr>
      <p:sp>
        <p:nvSpPr>
          <p:cNvPr id="78853" name="Rectangle 5"/>
          <p:cNvSpPr>
            <a:spLocks noGrp="1" noChangeArrowheads="1"/>
          </p:cNvSpPr>
          <p:nvPr>
            <p:ph type="title"/>
          </p:nvPr>
        </p:nvSpPr>
        <p:spPr bwMode="auto">
          <a:xfrm>
            <a:off x="685800" y="609600"/>
            <a:ext cx="7772400" cy="1143000"/>
          </a:xfrm>
          <a:prstGeom prst="rect">
            <a:avLst/>
          </a:prstGeom>
          <a:noFill/>
          <a:ln w="9525">
            <a:noFill/>
            <a:miter lim="800000"/>
          </a:ln>
          <a:effectLst/>
        </p:spPr>
        <p:txBody>
          <a:bodyPr vert="horz" wrap="square" lIns="92075" tIns="46038" rIns="92075" bIns="46038" numCol="1" anchor="ctr" anchorCtr="0" compatLnSpc="1"/>
          <a:lstStyle/>
          <a:p>
            <a:pPr lvl="0"/>
            <a:r>
              <a:rPr lang="zh-CN" altLang="en-US" smtClean="0"/>
              <a:t>单击此处编辑母版标题样式</a:t>
            </a:r>
            <a:endParaRPr lang="zh-CN" altLang="en-US" smtClean="0"/>
          </a:p>
        </p:txBody>
      </p:sp>
      <p:sp>
        <p:nvSpPr>
          <p:cNvPr id="78854" name="Rectangle 6"/>
          <p:cNvSpPr>
            <a:spLocks noGrp="1" noChangeArrowheads="1"/>
          </p:cNvSpPr>
          <p:nvPr>
            <p:ph type="dt" sz="half" idx="2"/>
          </p:nvPr>
        </p:nvSpPr>
        <p:spPr bwMode="auto">
          <a:xfrm>
            <a:off x="6157913" y="6021388"/>
            <a:ext cx="2662237" cy="720725"/>
          </a:xfrm>
          <a:prstGeom prst="rect">
            <a:avLst/>
          </a:prstGeom>
          <a:noFill/>
          <a:ln w="9525">
            <a:noFill/>
            <a:miter lim="800000"/>
          </a:ln>
          <a:effectLst/>
        </p:spPr>
        <p:txBody>
          <a:bodyPr vert="horz" wrap="square" lIns="92075" tIns="46038" rIns="92075" bIns="46038" numCol="1" anchor="ctr" anchorCtr="0" compatLnSpc="1"/>
          <a:lstStyle>
            <a:lvl1pPr algn="r">
              <a:spcBef>
                <a:spcPct val="0"/>
              </a:spcBef>
              <a:defRPr kumimoji="0" sz="3200" b="1">
                <a:solidFill>
                  <a:schemeClr val="bg2"/>
                </a:solidFill>
                <a:ea typeface="宋体" panose="02010600030101010101" pitchFamily="2" charset="-122"/>
              </a:defRPr>
            </a:lvl1pPr>
          </a:lstStyle>
          <a:p>
            <a:pPr>
              <a:defRPr/>
            </a:pPr>
            <a:fld id="{1657C159-46B8-4C18-988E-BF6D14506CA0}" type="datetime7">
              <a:rPr lang="zh-CN" altLang="en-US"/>
            </a:fld>
            <a:endParaRPr lang="zh-CN" altLang="zh-CN"/>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random/>
  </p:transition>
  <p:timing>
    <p:tnLst>
      <p:par>
        <p:cTn id="1" dur="indefinite" restart="never" nodeType="tmRoot"/>
      </p:par>
    </p:tnLst>
  </p:timing>
  <p:hf sldNum="0" hdr="0" ftr="0"/>
  <p:txStyles>
    <p:titleStyle>
      <a:lvl1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marL="4572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marL="9144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marL="13716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marL="18288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Char char="•"/>
        <a:defRPr kumimoji="1" sz="2000">
          <a:solidFill>
            <a:schemeClr val="tx1"/>
          </a:solidFill>
          <a:latin typeface="+mn-lt"/>
          <a:ea typeface="+mn-ea"/>
        </a:defRPr>
      </a:lvl5pPr>
      <a:lvl6pPr marL="2514600" indent="-228600" algn="l" rtl="0" fontAlgn="base">
        <a:spcBef>
          <a:spcPct val="20000"/>
        </a:spcBef>
        <a:spcAft>
          <a:spcPct val="0"/>
        </a:spcAft>
        <a:buClr>
          <a:schemeClr val="accent1"/>
        </a:buClr>
        <a:buChar char="•"/>
        <a:defRPr kumimoji="1" sz="2000">
          <a:solidFill>
            <a:schemeClr val="tx1"/>
          </a:solidFill>
          <a:latin typeface="+mn-lt"/>
          <a:ea typeface="+mn-ea"/>
        </a:defRPr>
      </a:lvl6pPr>
      <a:lvl7pPr marL="2971800" indent="-228600" algn="l" rtl="0" fontAlgn="base">
        <a:spcBef>
          <a:spcPct val="20000"/>
        </a:spcBef>
        <a:spcAft>
          <a:spcPct val="0"/>
        </a:spcAft>
        <a:buClr>
          <a:schemeClr val="accent1"/>
        </a:buClr>
        <a:buChar char="•"/>
        <a:defRPr kumimoji="1" sz="2000">
          <a:solidFill>
            <a:schemeClr val="tx1"/>
          </a:solidFill>
          <a:latin typeface="+mn-lt"/>
          <a:ea typeface="+mn-ea"/>
        </a:defRPr>
      </a:lvl7pPr>
      <a:lvl8pPr marL="3429000" indent="-228600" algn="l" rtl="0" fontAlgn="base">
        <a:spcBef>
          <a:spcPct val="20000"/>
        </a:spcBef>
        <a:spcAft>
          <a:spcPct val="0"/>
        </a:spcAft>
        <a:buClr>
          <a:schemeClr val="accent1"/>
        </a:buClr>
        <a:buChar char="•"/>
        <a:defRPr kumimoji="1" sz="2000">
          <a:solidFill>
            <a:schemeClr val="tx1"/>
          </a:solidFill>
          <a:latin typeface="+mn-lt"/>
          <a:ea typeface="+mn-ea"/>
        </a:defRPr>
      </a:lvl8pPr>
      <a:lvl9pPr marL="3886200" indent="-228600" algn="l" rtl="0" fontAlgn="base">
        <a:spcBef>
          <a:spcPct val="20000"/>
        </a:spcBef>
        <a:spcAft>
          <a:spcPct val="0"/>
        </a:spcAft>
        <a:buClr>
          <a:schemeClr val="accent1"/>
        </a:buClr>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xml"/><Relationship Id="rId1" Type="http://schemas.openxmlformats.org/officeDocument/2006/relationships/image" Target="../media/image13.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1" cstate="print"/>
          <a:srcRect/>
          <a:stretch>
            <a:fillRect/>
          </a:stretch>
        </a:blipFill>
        <a:effectLst/>
      </p:bgPr>
    </p:bg>
    <p:spTree>
      <p:nvGrpSpPr>
        <p:cNvPr id="1" name=""/>
        <p:cNvGrpSpPr/>
        <p:nvPr/>
      </p:nvGrpSpPr>
      <p:grpSpPr>
        <a:xfrm>
          <a:off x="0" y="0"/>
          <a:ext cx="0" cy="0"/>
          <a:chOff x="0" y="0"/>
          <a:chExt cx="0" cy="0"/>
        </a:xfrm>
      </p:grpSpPr>
      <p:sp>
        <p:nvSpPr>
          <p:cNvPr id="172042" name="Text Box 2058"/>
          <p:cNvSpPr txBox="1">
            <a:spLocks noChangeArrowheads="1"/>
          </p:cNvSpPr>
          <p:nvPr/>
        </p:nvSpPr>
        <p:spPr bwMode="auto">
          <a:xfrm>
            <a:off x="4000500" y="4635500"/>
            <a:ext cx="5040313" cy="583565"/>
          </a:xfrm>
          <a:prstGeom prst="rect">
            <a:avLst/>
          </a:prstGeom>
          <a:noFill/>
          <a:ln w="9525" algn="ctr">
            <a:noFill/>
            <a:miter lim="800000"/>
          </a:ln>
          <a:effectLst/>
        </p:spPr>
        <p:txBody>
          <a:bodyPr>
            <a:spAutoFit/>
          </a:bodyPr>
          <a:lstStyle/>
          <a:p>
            <a:pPr algn="ctr">
              <a:spcBef>
                <a:spcPct val="50000"/>
              </a:spcBef>
              <a:defRPr/>
            </a:pPr>
            <a:r>
              <a:rPr lang="zh-CN" altLang="en-US" sz="3200" b="1" dirty="0">
                <a:solidFill>
                  <a:srgbClr val="FF0000"/>
                </a:solidFill>
                <a:effectLst>
                  <a:outerShdw blurRad="38100" dist="38100" dir="2700000" algn="tl">
                    <a:srgbClr val="000000"/>
                  </a:outerShdw>
                </a:effectLst>
                <a:latin typeface="楷体" panose="02010609060101010101" charset="-122"/>
                <a:ea typeface="楷体" panose="02010609060101010101" charset="-122"/>
                <a:cs typeface="楷体" panose="02010609060101010101" charset="-122"/>
              </a:rPr>
              <a:t>第六章 驾驭项目成本</a:t>
            </a:r>
            <a:endParaRPr lang="zh-CN" altLang="en-US" sz="3200" b="1" dirty="0">
              <a:solidFill>
                <a:srgbClr val="FF0000"/>
              </a:solidFill>
              <a:effectLst>
                <a:outerShdw blurRad="38100" dist="38100" dir="2700000" algn="tl">
                  <a:srgbClr val="000000"/>
                </a:outerShdw>
              </a:effectLst>
              <a:latin typeface="楷体" panose="02010609060101010101" charset="-122"/>
              <a:ea typeface="楷体" panose="02010609060101010101" charset="-122"/>
              <a:cs typeface="楷体" panose="02010609060101010101" charset="-122"/>
            </a:endParaRPr>
          </a:p>
        </p:txBody>
      </p:sp>
      <p:cxnSp>
        <p:nvCxnSpPr>
          <p:cNvPr id="4105" name="直接连接符 13"/>
          <p:cNvCxnSpPr>
            <a:cxnSpLocks noChangeShapeType="1"/>
          </p:cNvCxnSpPr>
          <p:nvPr/>
        </p:nvCxnSpPr>
        <p:spPr bwMode="auto">
          <a:xfrm>
            <a:off x="0" y="712787"/>
            <a:ext cx="9144000" cy="1588"/>
          </a:xfrm>
          <a:prstGeom prst="line">
            <a:avLst/>
          </a:prstGeom>
          <a:noFill/>
          <a:ln w="114300" cmpd="dbl" algn="ctr">
            <a:solidFill>
              <a:srgbClr val="C00000"/>
            </a:solidFill>
            <a:round/>
          </a:ln>
        </p:spPr>
      </p:cxnSp>
      <p:grpSp>
        <p:nvGrpSpPr>
          <p:cNvPr id="10" name="组合 10"/>
          <p:cNvGrpSpPr/>
          <p:nvPr/>
        </p:nvGrpSpPr>
        <p:grpSpPr bwMode="auto">
          <a:xfrm>
            <a:off x="3857625" y="2286000"/>
            <a:ext cx="5072063" cy="1758633"/>
            <a:chOff x="3857620" y="2071678"/>
            <a:chExt cx="5072066" cy="1759374"/>
          </a:xfrm>
        </p:grpSpPr>
        <p:sp>
          <p:nvSpPr>
            <p:cNvPr id="11" name="Rectangle 2055"/>
            <p:cNvSpPr>
              <a:spLocks noChangeArrowheads="1"/>
            </p:cNvSpPr>
            <p:nvPr/>
          </p:nvSpPr>
          <p:spPr bwMode="auto">
            <a:xfrm>
              <a:off x="4358000" y="2071678"/>
              <a:ext cx="4325623" cy="922408"/>
            </a:xfrm>
            <a:prstGeom prst="rect">
              <a:avLst/>
            </a:prstGeom>
            <a:noFill/>
            <a:ln w="9525">
              <a:noFill/>
              <a:miter lim="800000"/>
            </a:ln>
            <a:effectLst>
              <a:outerShdw blurRad="50800" dist="50800" dir="5400000" algn="ctr" rotWithShape="0">
                <a:srgbClr val="EAEAEA"/>
              </a:outerShdw>
            </a:effectLst>
          </p:spPr>
          <p:txBody>
            <a:bodyPr wrap="square">
              <a:spAutoFit/>
            </a:bodyPr>
            <a:lstStyle/>
            <a:p>
              <a:pPr algn="l">
                <a:spcBef>
                  <a:spcPct val="55000"/>
                </a:spcBef>
                <a:defRPr/>
              </a:pPr>
              <a:r>
                <a:rPr lang="en-US" altLang="zh-CN" sz="5400" b="1" spc="800" dirty="0">
                  <a:solidFill>
                    <a:schemeClr val="bg2"/>
                  </a:solidFill>
                  <a:effectLst>
                    <a:outerShdw blurRad="38100" dist="38100" dir="2700000" algn="tl">
                      <a:srgbClr val="000000">
                        <a:alpha val="43137"/>
                      </a:srgbClr>
                    </a:outerShdw>
                  </a:effectLst>
                  <a:latin typeface="+mn-lt"/>
                  <a:ea typeface="微软雅黑" panose="020B0503020204020204" pitchFamily="34" charset="-122"/>
                  <a:cs typeface="+mn-lt"/>
                </a:rPr>
                <a:t>IT</a:t>
              </a:r>
              <a:r>
                <a:rPr lang="zh-CN" altLang="en-US" sz="5400" b="1" spc="800" dirty="0">
                  <a:solidFill>
                    <a:schemeClr val="bg2"/>
                  </a:solidFill>
                  <a:effectLst>
                    <a:outerShdw blurRad="38100" dist="38100" dir="2700000" algn="tl">
                      <a:srgbClr val="000000">
                        <a:alpha val="43137"/>
                      </a:srgbClr>
                    </a:outerShdw>
                  </a:effectLst>
                  <a:latin typeface="楷体" panose="02010609060101010101" charset="-122"/>
                  <a:ea typeface="楷体" panose="02010609060101010101" charset="-122"/>
                </a:rPr>
                <a:t>项目管理</a:t>
              </a:r>
              <a:endParaRPr lang="zh-CN" altLang="en-US" sz="5400" b="1" spc="800" dirty="0">
                <a:solidFill>
                  <a:schemeClr val="bg2"/>
                </a:solidFill>
                <a:effectLst>
                  <a:outerShdw blurRad="38100" dist="38100" dir="2700000" algn="tl">
                    <a:srgbClr val="000000">
                      <a:alpha val="43137"/>
                    </a:srgbClr>
                  </a:outerShdw>
                </a:effectLst>
                <a:latin typeface="楷体" panose="02010609060101010101" charset="-122"/>
                <a:ea typeface="楷体" panose="02010609060101010101" charset="-122"/>
              </a:endParaRPr>
            </a:p>
          </p:txBody>
        </p:sp>
        <p:sp>
          <p:nvSpPr>
            <p:cNvPr id="12" name="矩形 11"/>
            <p:cNvSpPr/>
            <p:nvPr/>
          </p:nvSpPr>
          <p:spPr>
            <a:xfrm>
              <a:off x="3857620" y="3000757"/>
              <a:ext cx="5072066" cy="830295"/>
            </a:xfrm>
            <a:prstGeom prst="rect">
              <a:avLst/>
            </a:prstGeom>
          </p:spPr>
          <p:txBody>
            <a:bodyPr>
              <a:spAutoFit/>
            </a:bodyPr>
            <a:lstStyle/>
            <a:p>
              <a:pPr algn="ctr">
                <a:defRPr/>
              </a:pPr>
              <a:r>
                <a:rPr lang="en-US" altLang="zh-CN" sz="2400" b="1" dirty="0">
                  <a:solidFill>
                    <a:srgbClr val="000000"/>
                  </a:solidFill>
                  <a:effectLst>
                    <a:outerShdw blurRad="38100" dist="38100" dir="2700000" algn="tl">
                      <a:srgbClr val="FFFFFF"/>
                    </a:outerShdw>
                  </a:effectLst>
                  <a:ea typeface="宋体" panose="02010600030101010101" pitchFamily="2" charset="-122"/>
                  <a:cs typeface="Times New Roman" panose="02020603050405020304" pitchFamily="18" charset="0"/>
                </a:rPr>
                <a:t>Information    Technology  </a:t>
              </a:r>
              <a:endParaRPr lang="en-US" altLang="zh-CN" sz="2400" b="1" dirty="0">
                <a:solidFill>
                  <a:srgbClr val="000000"/>
                </a:solidFill>
                <a:effectLst>
                  <a:outerShdw blurRad="38100" dist="38100" dir="2700000" algn="tl">
                    <a:srgbClr val="FFFFFF"/>
                  </a:outerShdw>
                </a:effectLst>
                <a:ea typeface="宋体" panose="02010600030101010101" pitchFamily="2" charset="-122"/>
                <a:cs typeface="Times New Roman" panose="02020603050405020304" pitchFamily="18" charset="0"/>
              </a:endParaRPr>
            </a:p>
            <a:p>
              <a:pPr algn="ctr">
                <a:defRPr/>
              </a:pPr>
              <a:r>
                <a:rPr lang="en-US" altLang="zh-CN" sz="2400" b="1" dirty="0">
                  <a:solidFill>
                    <a:srgbClr val="000000"/>
                  </a:solidFill>
                  <a:effectLst>
                    <a:outerShdw blurRad="38100" dist="38100" dir="2700000" algn="tl">
                      <a:srgbClr val="FFFFFF"/>
                    </a:outerShdw>
                  </a:effectLst>
                  <a:ea typeface="宋体" panose="02010600030101010101" pitchFamily="2" charset="-122"/>
                  <a:cs typeface="Times New Roman" panose="02020603050405020304" pitchFamily="18" charset="0"/>
                </a:rPr>
                <a:t>  Project   Management</a:t>
              </a:r>
              <a:endParaRPr lang="zh-CN" altLang="en-US" sz="2400" b="1" dirty="0">
                <a:solidFill>
                  <a:srgbClr val="000000"/>
                </a:solidFill>
                <a:effectLst>
                  <a:outerShdw blurRad="38100" dist="38100" dir="2700000" algn="tl">
                    <a:srgbClr val="FFFFFF"/>
                  </a:outerShdw>
                </a:effectLst>
                <a:ea typeface="宋体" panose="02010600030101010101" pitchFamily="2" charset="-122"/>
                <a:cs typeface="Times New Roman" panose="02020603050405020304" pitchFamily="18" charset="0"/>
              </a:endParaRPr>
            </a:p>
          </p:txBody>
        </p:sp>
      </p:gr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9"/>
          <p:cNvSpPr>
            <a:spLocks noGrp="1" noChangeArrowheads="1"/>
          </p:cNvSpPr>
          <p:nvPr>
            <p:ph type="sldNum" sz="quarter" idx="10"/>
          </p:nvPr>
        </p:nvSpPr>
        <p:spPr>
          <a:noFill/>
        </p:spPr>
        <p:txBody>
          <a:bodyPr/>
          <a:lstStyle/>
          <a:p>
            <a:r>
              <a:rPr lang="zh-CN" altLang="en-GB" smtClean="0"/>
              <a:t>  </a:t>
            </a:r>
            <a:fld id="{1A821787-88AA-4636-BF35-7EE89D517329}" type="slidenum">
              <a:rPr lang="zh-CN" altLang="en-GB" smtClean="0"/>
            </a:fld>
            <a:endParaRPr lang="en-US" altLang="zh-CN" smtClean="0"/>
          </a:p>
        </p:txBody>
      </p:sp>
      <p:sp>
        <p:nvSpPr>
          <p:cNvPr id="5147" name="Text Box 56"/>
          <p:cNvSpPr txBox="1">
            <a:spLocks noChangeArrowheads="1"/>
          </p:cNvSpPr>
          <p:nvPr/>
        </p:nvSpPr>
        <p:spPr bwMode="auto">
          <a:xfrm>
            <a:off x="7740650" y="-26988"/>
            <a:ext cx="1295400" cy="457201"/>
          </a:xfrm>
          <a:prstGeom prst="rect">
            <a:avLst/>
          </a:prstGeom>
          <a:noFill/>
          <a:ln w="9525">
            <a:noFill/>
            <a:miter lim="800000"/>
          </a:ln>
        </p:spPr>
        <p:txBody>
          <a:bodyPr>
            <a:spAutoFit/>
          </a:bodyPr>
          <a:lstStyle/>
          <a:p>
            <a:pPr algn="r">
              <a:spcBef>
                <a:spcPct val="50000"/>
              </a:spcBef>
            </a:pPr>
            <a:r>
              <a:rPr lang="en-US" altLang="zh-CN" sz="2400" b="1" smtClean="0">
                <a:solidFill>
                  <a:schemeClr val="bg2"/>
                </a:solidFill>
              </a:rPr>
              <a:t>P.129</a:t>
            </a:r>
            <a:endParaRPr lang="en-US" altLang="zh-CN" sz="2400" b="1">
              <a:solidFill>
                <a:schemeClr val="bg2"/>
              </a:solidFill>
            </a:endParaRPr>
          </a:p>
        </p:txBody>
      </p:sp>
      <p:sp>
        <p:nvSpPr>
          <p:cNvPr id="603251" name="Rectangle 115"/>
          <p:cNvSpPr>
            <a:spLocks noChangeArrowheads="1"/>
          </p:cNvSpPr>
          <p:nvPr/>
        </p:nvSpPr>
        <p:spPr bwMode="auto">
          <a:xfrm>
            <a:off x="71406" y="1357298"/>
            <a:ext cx="8713788" cy="2306955"/>
          </a:xfrm>
          <a:prstGeom prst="rect">
            <a:avLst/>
          </a:prstGeom>
          <a:noFill/>
          <a:ln w="9525" algn="ctr">
            <a:noFill/>
            <a:miter lim="800000"/>
          </a:ln>
        </p:spPr>
        <p:txBody>
          <a:bodyPr wrap="square">
            <a:spAutoFit/>
          </a:bodyPr>
          <a:lstStyle/>
          <a:p>
            <a:pPr>
              <a:spcBef>
                <a:spcPts val="0"/>
              </a:spcBef>
              <a:spcAft>
                <a:spcPts val="0"/>
              </a:spcAft>
              <a:buClr>
                <a:schemeClr val="hlink"/>
              </a:buClr>
            </a:pPr>
            <a:r>
              <a:rPr kumimoji="0" lang="zh-CN" altLang="en-US" sz="2400" b="1">
                <a:solidFill>
                  <a:schemeClr val="bg2"/>
                </a:solidFill>
                <a:latin typeface="楷体" panose="02010609060101010101" charset="-122"/>
                <a:ea typeface="楷体" panose="02010609060101010101" charset="-122"/>
              </a:rPr>
              <a:t>不能管理时间，就不能够管理项目的</a:t>
            </a:r>
            <a:r>
              <a:rPr kumimoji="0" lang="zh-CN" altLang="en-US" sz="2400" b="1" smtClean="0">
                <a:solidFill>
                  <a:schemeClr val="bg2"/>
                </a:solidFill>
                <a:latin typeface="楷体" panose="02010609060101010101" charset="-122"/>
                <a:ea typeface="楷体" panose="02010609060101010101" charset="-122"/>
              </a:rPr>
              <a:t>一切。没有时间表的计划都是空谈！</a:t>
            </a:r>
            <a:endParaRPr kumimoji="0" lang="en-US" altLang="zh-CN" sz="2400" b="1" smtClean="0">
              <a:solidFill>
                <a:schemeClr val="bg2"/>
              </a:solidFill>
              <a:latin typeface="楷体" panose="02010609060101010101" charset="-122"/>
              <a:ea typeface="楷体" panose="02010609060101010101" charset="-122"/>
            </a:endParaRPr>
          </a:p>
          <a:p>
            <a:pPr algn="ctr">
              <a:spcBef>
                <a:spcPts val="0"/>
              </a:spcBef>
              <a:spcAft>
                <a:spcPts val="0"/>
              </a:spcAft>
              <a:buClr>
                <a:schemeClr val="hlink"/>
              </a:buClr>
            </a:pPr>
            <a:r>
              <a:rPr lang="zh-CN" altLang="en-US" sz="2400" b="1" smtClean="0">
                <a:solidFill>
                  <a:schemeClr val="bg2"/>
                </a:solidFill>
                <a:latin typeface="楷体" panose="02010609060101010101" charset="-122"/>
                <a:ea typeface="楷体" panose="02010609060101010101" charset="-122"/>
              </a:rPr>
              <a:t>谁负责的工作就应该由谁来做计划是计划</a:t>
            </a:r>
            <a:r>
              <a:rPr lang="zh-CN" altLang="en-US" sz="2400" b="1" smtClean="0">
                <a:solidFill>
                  <a:srgbClr val="FF0000"/>
                </a:solidFill>
                <a:latin typeface="楷体" panose="02010609060101010101" charset="-122"/>
                <a:ea typeface="楷体" panose="02010609060101010101" charset="-122"/>
              </a:rPr>
              <a:t>可用的基础</a:t>
            </a:r>
            <a:r>
              <a:rPr lang="zh-CN" altLang="en-US" sz="2400" b="1" smtClean="0">
                <a:solidFill>
                  <a:schemeClr val="bg2"/>
                </a:solidFill>
                <a:latin typeface="楷体" panose="02010609060101010101" charset="-122"/>
                <a:ea typeface="楷体" panose="02010609060101010101" charset="-122"/>
              </a:rPr>
              <a:t>。</a:t>
            </a:r>
            <a:endParaRPr lang="en-US" altLang="zh-CN" sz="2400" b="1" smtClean="0">
              <a:solidFill>
                <a:srgbClr val="990000"/>
              </a:solidFill>
              <a:latin typeface="楷体" panose="02010609060101010101" charset="-122"/>
              <a:ea typeface="楷体" panose="02010609060101010101" charset="-122"/>
            </a:endParaRPr>
          </a:p>
          <a:p>
            <a:pPr algn="ctr">
              <a:spcBef>
                <a:spcPts val="0"/>
              </a:spcBef>
              <a:spcAft>
                <a:spcPts val="0"/>
              </a:spcAft>
              <a:buClr>
                <a:schemeClr val="hlink"/>
              </a:buClr>
            </a:pPr>
            <a:r>
              <a:rPr lang="zh-CN" altLang="en-US" sz="2400" b="1" smtClean="0">
                <a:solidFill>
                  <a:schemeClr val="bg2"/>
                </a:solidFill>
                <a:latin typeface="楷体" panose="02010609060101010101" charset="-122"/>
                <a:ea typeface="楷体" panose="02010609060101010101" charset="-122"/>
              </a:rPr>
              <a:t>关键干系人对进度计划的一致认可是计划</a:t>
            </a:r>
            <a:r>
              <a:rPr lang="zh-CN" altLang="en-US" sz="2400" b="1" smtClean="0">
                <a:solidFill>
                  <a:srgbClr val="FF0000"/>
                </a:solidFill>
                <a:latin typeface="楷体" panose="02010609060101010101" charset="-122"/>
                <a:ea typeface="楷体" panose="02010609060101010101" charset="-122"/>
              </a:rPr>
              <a:t>可行的基础</a:t>
            </a:r>
            <a:r>
              <a:rPr lang="zh-CN" altLang="en-US" sz="2400" b="1" smtClean="0">
                <a:solidFill>
                  <a:schemeClr val="bg2"/>
                </a:solidFill>
                <a:latin typeface="楷体" panose="02010609060101010101" charset="-122"/>
                <a:ea typeface="楷体" panose="02010609060101010101" charset="-122"/>
              </a:rPr>
              <a:t>。</a:t>
            </a:r>
            <a:endParaRPr lang="zh-CN" altLang="en-US" sz="2400" b="1" smtClean="0">
              <a:solidFill>
                <a:schemeClr val="bg2"/>
              </a:solidFill>
              <a:latin typeface="楷体" panose="02010609060101010101" charset="-122"/>
              <a:ea typeface="楷体" panose="02010609060101010101" charset="-122"/>
            </a:endParaRPr>
          </a:p>
          <a:p>
            <a:pPr algn="ctr">
              <a:spcBef>
                <a:spcPts val="0"/>
              </a:spcBef>
              <a:spcAft>
                <a:spcPts val="0"/>
              </a:spcAft>
              <a:buClr>
                <a:schemeClr val="hlink"/>
              </a:buClr>
            </a:pPr>
            <a:r>
              <a:rPr lang="zh-CN" altLang="en-US" sz="2400" b="1" smtClean="0">
                <a:solidFill>
                  <a:schemeClr val="bg2"/>
                </a:solidFill>
                <a:latin typeface="楷体" panose="02010609060101010101" charset="-122"/>
                <a:ea typeface="楷体" panose="02010609060101010101" charset="-122"/>
              </a:rPr>
              <a:t>项目者清楚而如实的汇报项目状态是计划</a:t>
            </a:r>
            <a:r>
              <a:rPr lang="zh-CN" altLang="en-US" sz="2400" b="1" smtClean="0">
                <a:solidFill>
                  <a:srgbClr val="FF0000"/>
                </a:solidFill>
                <a:latin typeface="楷体" panose="02010609060101010101" charset="-122"/>
                <a:ea typeface="楷体" panose="02010609060101010101" charset="-122"/>
              </a:rPr>
              <a:t>可控的基础</a:t>
            </a:r>
            <a:r>
              <a:rPr lang="zh-CN" altLang="en-US" sz="2400" b="1" smtClean="0">
                <a:solidFill>
                  <a:schemeClr val="bg2"/>
                </a:solidFill>
                <a:latin typeface="楷体" panose="02010609060101010101" charset="-122"/>
                <a:ea typeface="楷体" panose="02010609060101010101" charset="-122"/>
              </a:rPr>
              <a:t>。</a:t>
            </a:r>
            <a:endParaRPr lang="zh-CN" altLang="en-US" sz="2400" b="1" smtClean="0">
              <a:solidFill>
                <a:schemeClr val="bg2"/>
              </a:solidFill>
              <a:latin typeface="楷体" panose="02010609060101010101" charset="-122"/>
              <a:ea typeface="楷体" panose="02010609060101010101" charset="-122"/>
            </a:endParaRPr>
          </a:p>
          <a:p>
            <a:pPr algn="ctr">
              <a:spcBef>
                <a:spcPts val="0"/>
              </a:spcBef>
              <a:spcAft>
                <a:spcPts val="0"/>
              </a:spcAft>
              <a:buClr>
                <a:srgbClr val="990000"/>
              </a:buClr>
            </a:pPr>
            <a:r>
              <a:rPr lang="zh-CN" altLang="en-US" sz="2400" b="1" smtClean="0">
                <a:solidFill>
                  <a:srgbClr val="FF0000"/>
                </a:solidFill>
                <a:latin typeface="楷体" panose="02010609060101010101" charset="-122"/>
                <a:ea typeface="楷体" panose="02010609060101010101" charset="-122"/>
              </a:rPr>
              <a:t>对于</a:t>
            </a:r>
            <a:r>
              <a:rPr lang="zh-CN" altLang="en-US" sz="2400" b="1">
                <a:solidFill>
                  <a:srgbClr val="FF0000"/>
                </a:solidFill>
                <a:latin typeface="楷体" panose="02010609060101010101" charset="-122"/>
                <a:ea typeface="楷体" panose="02010609060101010101" charset="-122"/>
              </a:rPr>
              <a:t>一个人来说，最昂贵的成本是他的时间。</a:t>
            </a:r>
            <a:endParaRPr kumimoji="0" lang="zh-CN" altLang="en-US" sz="2400" b="1">
              <a:solidFill>
                <a:srgbClr val="FF0000"/>
              </a:solidFill>
              <a:latin typeface="楷体" panose="02010609060101010101" charset="-122"/>
              <a:ea typeface="楷体" panose="02010609060101010101" charset="-122"/>
            </a:endParaRPr>
          </a:p>
        </p:txBody>
      </p:sp>
      <p:sp>
        <p:nvSpPr>
          <p:cNvPr id="5172" name="Rectangle 116"/>
          <p:cNvSpPr>
            <a:spLocks noChangeArrowheads="1"/>
          </p:cNvSpPr>
          <p:nvPr/>
        </p:nvSpPr>
        <p:spPr bwMode="auto">
          <a:xfrm>
            <a:off x="103188" y="620713"/>
            <a:ext cx="3532187" cy="553085"/>
          </a:xfrm>
          <a:prstGeom prst="rect">
            <a:avLst/>
          </a:prstGeom>
          <a:noFill/>
          <a:ln w="9525">
            <a:noFill/>
            <a:miter lim="800000"/>
          </a:ln>
        </p:spPr>
        <p:txBody>
          <a:bodyPr>
            <a:spAutoFit/>
          </a:bodyPr>
          <a:lstStyle/>
          <a:p>
            <a:r>
              <a:rPr kumimoji="0" lang="en-US" altLang="zh-CN" sz="3000" b="1">
                <a:latin typeface="Arial" panose="020B0604020202020204" pitchFamily="34" charset="0"/>
              </a:rPr>
              <a:t>【</a:t>
            </a:r>
            <a:r>
              <a:rPr kumimoji="0" lang="zh-CN" altLang="en-US" sz="3000" b="1">
                <a:latin typeface="楷体" panose="02010609060101010101" charset="-122"/>
                <a:ea typeface="楷体" panose="02010609060101010101" charset="-122"/>
              </a:rPr>
              <a:t>课程回顾</a:t>
            </a:r>
            <a:r>
              <a:rPr kumimoji="0" lang="en-US" altLang="zh-CN" sz="3000" b="1">
                <a:latin typeface="Arial" panose="020B0604020202020204" pitchFamily="34" charset="0"/>
              </a:rPr>
              <a:t>】</a:t>
            </a:r>
            <a:endParaRPr kumimoji="0" lang="en-US" altLang="zh-CN" sz="3000" b="1">
              <a:latin typeface="Arial" panose="020B0604020202020204" pitchFamily="34" charset="0"/>
            </a:endParaRPr>
          </a:p>
        </p:txBody>
      </p:sp>
      <p:pic>
        <p:nvPicPr>
          <p:cNvPr id="6" name="Picture 2"/>
          <p:cNvPicPr>
            <a:picLocks noChangeAspect="1" noChangeArrowheads="1"/>
          </p:cNvPicPr>
          <p:nvPr/>
        </p:nvPicPr>
        <p:blipFill>
          <a:blip r:embed="rId1"/>
          <a:srcRect/>
          <a:stretch>
            <a:fillRect/>
          </a:stretch>
        </p:blipFill>
        <p:spPr bwMode="auto">
          <a:xfrm>
            <a:off x="0" y="3714752"/>
            <a:ext cx="9144000" cy="3143248"/>
          </a:xfrm>
          <a:prstGeom prst="rect">
            <a:avLst/>
          </a:prstGeom>
          <a:noFill/>
          <a:ln w="9525">
            <a:noFill/>
            <a:miter lim="800000"/>
            <a:headEnd/>
            <a:tailEnd/>
          </a:ln>
          <a:effec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t>  </a:t>
            </a:r>
            <a:endParaRPr lang="en-US" altLang="zh-CN" dirty="0"/>
          </a:p>
        </p:txBody>
      </p:sp>
      <p:sp>
        <p:nvSpPr>
          <p:cNvPr id="10243"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endParaRPr lang="zh-CN" altLang="en-US" sz="2400"/>
          </a:p>
        </p:txBody>
      </p:sp>
      <p:sp>
        <p:nvSpPr>
          <p:cNvPr id="10244"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spcBef>
                <a:spcPct val="0"/>
              </a:spcBef>
            </a:pPr>
            <a:endParaRPr lang="en-US" altLang="zh-CN" sz="4000">
              <a:solidFill>
                <a:schemeClr val="bg2"/>
              </a:solidFill>
            </a:endParaRPr>
          </a:p>
        </p:txBody>
      </p:sp>
      <p:sp>
        <p:nvSpPr>
          <p:cNvPr id="10245" name="Text Box 4"/>
          <p:cNvSpPr txBox="1">
            <a:spLocks noChangeArrowheads="1"/>
          </p:cNvSpPr>
          <p:nvPr/>
        </p:nvSpPr>
        <p:spPr bwMode="auto">
          <a:xfrm>
            <a:off x="250825" y="1403350"/>
            <a:ext cx="8677275" cy="3784600"/>
          </a:xfrm>
          <a:prstGeom prst="rect">
            <a:avLst/>
          </a:prstGeom>
          <a:noFill/>
          <a:ln w="28575">
            <a:noFill/>
            <a:miter lim="800000"/>
          </a:ln>
        </p:spPr>
        <p:txBody>
          <a:bodyPr>
            <a:spAutoFit/>
          </a:bodyPr>
          <a:lstStyle/>
          <a:p>
            <a:pPr algn="l">
              <a:spcBef>
                <a:spcPts val="1200"/>
              </a:spcBef>
              <a:spcAft>
                <a:spcPts val="600"/>
              </a:spcAft>
              <a:buClr>
                <a:schemeClr val="hlink"/>
              </a:buClr>
            </a:pPr>
            <a:r>
              <a:rPr kumimoji="0" lang="zh-CN" altLang="en-US" sz="3600" b="1" smtClean="0">
                <a:solidFill>
                  <a:schemeClr val="bg2"/>
                </a:solidFill>
                <a:latin typeface="楷体" panose="02010609060101010101" charset="-122"/>
                <a:ea typeface="楷体" panose="02010609060101010101" charset="-122"/>
                <a:cs typeface="楷体" panose="02010609060101010101" charset="-122"/>
              </a:rPr>
              <a:t>学习完本章后，应当掌握如下知识：</a:t>
            </a:r>
            <a:endParaRPr kumimoji="0" lang="zh-CN" altLang="en-US" sz="3600" b="1" smtClean="0">
              <a:solidFill>
                <a:schemeClr val="bg2"/>
              </a:solidFill>
              <a:latin typeface="楷体" panose="02010609060101010101" charset="-122"/>
              <a:ea typeface="楷体" panose="02010609060101010101" charset="-122"/>
              <a:cs typeface="楷体" panose="02010609060101010101" charset="-122"/>
            </a:endParaRPr>
          </a:p>
          <a:p>
            <a:pPr>
              <a:spcBef>
                <a:spcPts val="1200"/>
              </a:spcBef>
              <a:spcAft>
                <a:spcPts val="600"/>
              </a:spcAft>
            </a:pPr>
            <a:r>
              <a:rPr lang="zh-CN" altLang="en-US" sz="3600" b="1" smtClean="0">
                <a:solidFill>
                  <a:schemeClr val="bg2"/>
                </a:solidFill>
                <a:latin typeface="楷体" panose="02010609060101010101" charset="-122"/>
                <a:ea typeface="楷体" panose="02010609060101010101" charset="-122"/>
                <a:cs typeface="楷体" panose="02010609060101010101" charset="-122"/>
              </a:rPr>
              <a:t>（</a:t>
            </a:r>
            <a:r>
              <a:rPr lang="en-US" altLang="en-US" sz="3600" b="1" smtClean="0">
                <a:solidFill>
                  <a:schemeClr val="bg2"/>
                </a:solidFill>
                <a:latin typeface="楷体" panose="02010609060101010101" charset="-122"/>
                <a:ea typeface="楷体" panose="02010609060101010101" charset="-122"/>
                <a:cs typeface="楷体" panose="02010609060101010101" charset="-122"/>
              </a:rPr>
              <a:t>1</a:t>
            </a:r>
            <a:r>
              <a:rPr lang="zh-CN" altLang="en-US" sz="3600" b="1" smtClean="0">
                <a:solidFill>
                  <a:schemeClr val="bg2"/>
                </a:solidFill>
                <a:latin typeface="楷体" panose="02010609060101010101" charset="-122"/>
                <a:ea typeface="楷体" panose="02010609060101010101" charset="-122"/>
                <a:cs typeface="楷体" panose="02010609060101010101" charset="-122"/>
              </a:rPr>
              <a:t>）项目成本与项目成本管理的概念。</a:t>
            </a:r>
            <a:endParaRPr lang="zh-CN" altLang="en-US" sz="3600" b="1" smtClean="0">
              <a:solidFill>
                <a:schemeClr val="bg2"/>
              </a:solidFill>
              <a:latin typeface="楷体" panose="02010609060101010101" charset="-122"/>
              <a:ea typeface="楷体" panose="02010609060101010101" charset="-122"/>
              <a:cs typeface="楷体" panose="02010609060101010101" charset="-122"/>
            </a:endParaRPr>
          </a:p>
          <a:p>
            <a:pPr>
              <a:spcBef>
                <a:spcPts val="1200"/>
              </a:spcBef>
              <a:spcAft>
                <a:spcPts val="600"/>
              </a:spcAft>
            </a:pPr>
            <a:r>
              <a:rPr lang="zh-CN" altLang="en-US" sz="3600" b="1" smtClean="0">
                <a:solidFill>
                  <a:schemeClr val="bg2"/>
                </a:solidFill>
                <a:latin typeface="楷体" panose="02010609060101010101" charset="-122"/>
                <a:ea typeface="楷体" panose="02010609060101010101" charset="-122"/>
                <a:cs typeface="楷体" panose="02010609060101010101" charset="-122"/>
              </a:rPr>
              <a:t>（</a:t>
            </a:r>
            <a:r>
              <a:rPr lang="en-US" altLang="en-US" sz="3600" b="1" smtClean="0">
                <a:solidFill>
                  <a:schemeClr val="bg2"/>
                </a:solidFill>
                <a:latin typeface="楷体" panose="02010609060101010101" charset="-122"/>
                <a:ea typeface="楷体" panose="02010609060101010101" charset="-122"/>
                <a:cs typeface="楷体" panose="02010609060101010101" charset="-122"/>
              </a:rPr>
              <a:t>2</a:t>
            </a:r>
            <a:r>
              <a:rPr lang="zh-CN" altLang="en-US" sz="3600" b="1" smtClean="0">
                <a:solidFill>
                  <a:schemeClr val="bg2"/>
                </a:solidFill>
                <a:latin typeface="楷体" panose="02010609060101010101" charset="-122"/>
                <a:ea typeface="楷体" panose="02010609060101010101" charset="-122"/>
                <a:cs typeface="楷体" panose="02010609060101010101" charset="-122"/>
              </a:rPr>
              <a:t>）影响</a:t>
            </a:r>
            <a:r>
              <a:rPr lang="en-US" altLang="en-US" sz="3600" b="1" smtClean="0">
                <a:solidFill>
                  <a:schemeClr val="bg2"/>
                </a:solidFill>
                <a:ea typeface="楷体" panose="02010609060101010101" charset="-122"/>
                <a:cs typeface="Times New Roman" panose="02020603050405020304" pitchFamily="18" charset="0"/>
              </a:rPr>
              <a:t>IT</a:t>
            </a:r>
            <a:r>
              <a:rPr lang="zh-CN" altLang="en-US" sz="3600" b="1" smtClean="0">
                <a:solidFill>
                  <a:schemeClr val="bg2"/>
                </a:solidFill>
                <a:latin typeface="楷体" panose="02010609060101010101" charset="-122"/>
                <a:ea typeface="楷体" panose="02010609060101010101" charset="-122"/>
                <a:cs typeface="楷体" panose="02010609060101010101" charset="-122"/>
              </a:rPr>
              <a:t>项目成本的因素。</a:t>
            </a:r>
            <a:endParaRPr lang="zh-CN" altLang="en-US" sz="3600" b="1" smtClean="0">
              <a:solidFill>
                <a:schemeClr val="bg2"/>
              </a:solidFill>
              <a:latin typeface="楷体" panose="02010609060101010101" charset="-122"/>
              <a:ea typeface="楷体" panose="02010609060101010101" charset="-122"/>
              <a:cs typeface="楷体" panose="02010609060101010101" charset="-122"/>
            </a:endParaRPr>
          </a:p>
          <a:p>
            <a:pPr>
              <a:spcBef>
                <a:spcPts val="1200"/>
              </a:spcBef>
              <a:spcAft>
                <a:spcPts val="600"/>
              </a:spcAft>
            </a:pPr>
            <a:r>
              <a:rPr lang="zh-CN" altLang="en-US" sz="3600" b="1" smtClean="0">
                <a:solidFill>
                  <a:schemeClr val="bg2"/>
                </a:solidFill>
                <a:latin typeface="楷体" panose="02010609060101010101" charset="-122"/>
                <a:ea typeface="楷体" panose="02010609060101010101" charset="-122"/>
                <a:cs typeface="楷体" panose="02010609060101010101" charset="-122"/>
              </a:rPr>
              <a:t>（</a:t>
            </a:r>
            <a:r>
              <a:rPr lang="en-US" altLang="en-US" sz="3600" b="1" smtClean="0">
                <a:solidFill>
                  <a:schemeClr val="bg2"/>
                </a:solidFill>
                <a:latin typeface="楷体" panose="02010609060101010101" charset="-122"/>
                <a:ea typeface="楷体" panose="02010609060101010101" charset="-122"/>
                <a:cs typeface="楷体" panose="02010609060101010101" charset="-122"/>
              </a:rPr>
              <a:t>3</a:t>
            </a:r>
            <a:r>
              <a:rPr lang="zh-CN" altLang="en-US" sz="3600" b="1" smtClean="0">
                <a:solidFill>
                  <a:schemeClr val="bg2"/>
                </a:solidFill>
                <a:latin typeface="楷体" panose="02010609060101010101" charset="-122"/>
                <a:ea typeface="楷体" panose="02010609060101010101" charset="-122"/>
                <a:cs typeface="楷体" panose="02010609060101010101" charset="-122"/>
              </a:rPr>
              <a:t>）</a:t>
            </a:r>
            <a:r>
              <a:rPr lang="en-US" altLang="en-US" sz="3600" b="1" smtClean="0">
                <a:solidFill>
                  <a:schemeClr val="bg2"/>
                </a:solidFill>
                <a:ea typeface="楷体" panose="02010609060101010101" charset="-122"/>
                <a:cs typeface="Times New Roman" panose="02020603050405020304" pitchFamily="18" charset="0"/>
              </a:rPr>
              <a:t>IT</a:t>
            </a:r>
            <a:r>
              <a:rPr lang="zh-CN" altLang="en-US" sz="3600" b="1" smtClean="0">
                <a:solidFill>
                  <a:schemeClr val="bg2"/>
                </a:solidFill>
                <a:latin typeface="楷体" panose="02010609060101010101" charset="-122"/>
                <a:ea typeface="楷体" panose="02010609060101010101" charset="-122"/>
                <a:cs typeface="楷体" panose="02010609060101010101" charset="-122"/>
              </a:rPr>
              <a:t>项目成本管理过程与方法。</a:t>
            </a:r>
            <a:endParaRPr lang="zh-CN" altLang="en-US" sz="3600" b="1" smtClean="0">
              <a:solidFill>
                <a:schemeClr val="bg2"/>
              </a:solidFill>
              <a:latin typeface="楷体" panose="02010609060101010101" charset="-122"/>
              <a:ea typeface="楷体" panose="02010609060101010101" charset="-122"/>
              <a:cs typeface="楷体" panose="02010609060101010101" charset="-122"/>
            </a:endParaRPr>
          </a:p>
          <a:p>
            <a:pPr>
              <a:spcBef>
                <a:spcPts val="1200"/>
              </a:spcBef>
              <a:spcAft>
                <a:spcPts val="600"/>
              </a:spcAft>
            </a:pPr>
            <a:r>
              <a:rPr lang="zh-CN" altLang="en-US" sz="3600" b="1" smtClean="0">
                <a:solidFill>
                  <a:schemeClr val="bg2"/>
                </a:solidFill>
                <a:latin typeface="楷体" panose="02010609060101010101" charset="-122"/>
                <a:ea typeface="楷体" panose="02010609060101010101" charset="-122"/>
                <a:cs typeface="楷体" panose="02010609060101010101" charset="-122"/>
              </a:rPr>
              <a:t>（</a:t>
            </a:r>
            <a:r>
              <a:rPr lang="en-US" altLang="en-US" sz="3600" b="1" smtClean="0">
                <a:solidFill>
                  <a:schemeClr val="bg2"/>
                </a:solidFill>
                <a:latin typeface="楷体" panose="02010609060101010101" charset="-122"/>
                <a:ea typeface="楷体" panose="02010609060101010101" charset="-122"/>
                <a:cs typeface="楷体" panose="02010609060101010101" charset="-122"/>
              </a:rPr>
              <a:t>4</a:t>
            </a:r>
            <a:r>
              <a:rPr lang="zh-CN" altLang="en-US" sz="3600" b="1" smtClean="0">
                <a:solidFill>
                  <a:schemeClr val="bg2"/>
                </a:solidFill>
                <a:latin typeface="楷体" panose="02010609060101010101" charset="-122"/>
                <a:ea typeface="楷体" panose="02010609060101010101" charset="-122"/>
                <a:cs typeface="楷体" panose="02010609060101010101" charset="-122"/>
              </a:rPr>
              <a:t>）挣值分析法与成本效益分析方法。</a:t>
            </a:r>
            <a:endParaRPr lang="zh-CN" altLang="en-US" sz="3200" b="1" smtClean="0">
              <a:solidFill>
                <a:schemeClr val="bg2"/>
              </a:solidFill>
              <a:latin typeface="楷体" panose="02010609060101010101" charset="-122"/>
              <a:ea typeface="楷体" panose="02010609060101010101" charset="-122"/>
              <a:cs typeface="楷体" panose="02010609060101010101" charset="-122"/>
            </a:endParaRPr>
          </a:p>
        </p:txBody>
      </p:sp>
      <p:sp>
        <p:nvSpPr>
          <p:cNvPr id="10246" name="Text Box 6"/>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r>
              <a:rPr lang="en-US" altLang="zh-CN" sz="2400" b="1" smtClean="0">
                <a:solidFill>
                  <a:schemeClr val="bg2"/>
                </a:solidFill>
              </a:rPr>
              <a:t>P.130</a:t>
            </a:r>
            <a:endParaRPr lang="en-US" altLang="zh-CN" sz="2400" b="1">
              <a:solidFill>
                <a:schemeClr val="bg2"/>
              </a:solidFill>
            </a:endParaRPr>
          </a:p>
        </p:txBody>
      </p:sp>
      <p:sp>
        <p:nvSpPr>
          <p:cNvPr id="10247" name="Rectangle 7"/>
          <p:cNvSpPr>
            <a:spLocks noChangeArrowheads="1"/>
          </p:cNvSpPr>
          <p:nvPr/>
        </p:nvSpPr>
        <p:spPr bwMode="auto">
          <a:xfrm>
            <a:off x="103188" y="620713"/>
            <a:ext cx="3532187" cy="549275"/>
          </a:xfrm>
          <a:prstGeom prst="rect">
            <a:avLst/>
          </a:prstGeom>
          <a:noFill/>
          <a:ln w="9525">
            <a:noFill/>
            <a:miter lim="800000"/>
          </a:ln>
        </p:spPr>
        <p:txBody>
          <a:bodyPr>
            <a:spAutoFit/>
          </a:bodyPr>
          <a:lstStyle/>
          <a:p>
            <a:pPr algn="l">
              <a:spcBef>
                <a:spcPct val="0"/>
              </a:spcBef>
            </a:pPr>
            <a:r>
              <a:rPr kumimoji="0" lang="en-US" altLang="zh-CN" sz="3000" b="1">
                <a:latin typeface="Arial" panose="020B0604020202020204" pitchFamily="34" charset="0"/>
              </a:rPr>
              <a:t>【</a:t>
            </a:r>
            <a:r>
              <a:rPr kumimoji="0" lang="zh-CN" altLang="en-US" sz="3000" b="1">
                <a:latin typeface="Arial" panose="020B0604020202020204" pitchFamily="34" charset="0"/>
              </a:rPr>
              <a:t>本章知识要点</a:t>
            </a:r>
            <a:r>
              <a:rPr kumimoji="0" lang="en-US" altLang="zh-CN" sz="3000" b="1">
                <a:latin typeface="Arial" panose="020B0604020202020204" pitchFamily="34" charset="0"/>
              </a:rPr>
              <a:t>】</a:t>
            </a:r>
            <a:endParaRPr kumimoji="0" lang="en-US" altLang="zh-CN" sz="3000" b="1">
              <a:latin typeface="Arial" panose="020B0604020202020204" pitchFamily="34" charset="0"/>
            </a:endParaRP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9"/>
          <p:cNvSpPr>
            <a:spLocks noGrp="1" noChangeArrowheads="1"/>
          </p:cNvSpPr>
          <p:nvPr>
            <p:ph type="sldNum" sz="quarter" idx="10"/>
          </p:nvPr>
        </p:nvSpPr>
        <p:spPr>
          <a:noFill/>
        </p:spPr>
        <p:txBody>
          <a:bodyPr/>
          <a:lstStyle/>
          <a:p>
            <a:r>
              <a:rPr lang="zh-CN" altLang="en-GB" smtClean="0"/>
              <a:t>  </a:t>
            </a:r>
            <a:fld id="{22F2FAF7-CA2C-4F59-AE69-D795F0C1C522}" type="slidenum">
              <a:rPr lang="zh-CN" altLang="en-GB" smtClean="0"/>
            </a:fld>
            <a:endParaRPr lang="en-US" altLang="zh-CN" smtClean="0"/>
          </a:p>
        </p:txBody>
      </p:sp>
      <p:sp>
        <p:nvSpPr>
          <p:cNvPr id="7171"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spcBef>
                <a:spcPct val="50000"/>
              </a:spcBef>
            </a:pPr>
            <a:endParaRPr lang="zh-CN" altLang="en-US" sz="2400"/>
          </a:p>
        </p:txBody>
      </p:sp>
      <p:sp>
        <p:nvSpPr>
          <p:cNvPr id="7172" name="Rectangle 6"/>
          <p:cNvSpPr>
            <a:spLocks noGrp="1" noChangeArrowheads="1"/>
          </p:cNvSpPr>
          <p:nvPr>
            <p:ph type="subTitle" idx="4294967295"/>
          </p:nvPr>
        </p:nvSpPr>
        <p:spPr bwMode="auto">
          <a:xfrm>
            <a:off x="2143125" y="500063"/>
            <a:ext cx="3929063" cy="714375"/>
          </a:xfrm>
          <a:prstGeom prst="rect">
            <a:avLst/>
          </a:prstGeom>
          <a:noFill/>
          <a:ln>
            <a:miter lim="800000"/>
          </a:ln>
        </p:spPr>
        <p:txBody>
          <a:bodyPr/>
          <a:lstStyle/>
          <a:p>
            <a:pPr marL="0" indent="0" algn="ctr" eaLnBrk="1" hangingPunct="1">
              <a:buClr>
                <a:schemeClr val="tx1"/>
              </a:buClr>
              <a:buSzTx/>
              <a:buFont typeface="Wingdings" panose="05000000000000000000" pitchFamily="2" charset="2"/>
              <a:buNone/>
            </a:pPr>
            <a:r>
              <a:rPr lang="zh-CN" altLang="en-US" sz="4800" b="1" smtClean="0">
                <a:latin typeface="楷体" panose="02010609060101010101" charset="-122"/>
                <a:ea typeface="楷体" panose="02010609060101010101" charset="-122"/>
                <a:cs typeface="楷体" panose="02010609060101010101" charset="-122"/>
              </a:rPr>
              <a:t>提   纲</a:t>
            </a:r>
            <a:endParaRPr lang="zh-CN" altLang="en-US" sz="4800" b="1" smtClean="0">
              <a:latin typeface="楷体" panose="02010609060101010101" charset="-122"/>
              <a:ea typeface="楷体" panose="02010609060101010101" charset="-122"/>
              <a:cs typeface="楷体" panose="02010609060101010101" charset="-122"/>
            </a:endParaRPr>
          </a:p>
        </p:txBody>
      </p:sp>
      <p:sp>
        <p:nvSpPr>
          <p:cNvPr id="7" name="TextBox 6"/>
          <p:cNvSpPr txBox="1">
            <a:spLocks noChangeArrowheads="1"/>
          </p:cNvSpPr>
          <p:nvPr/>
        </p:nvSpPr>
        <p:spPr bwMode="auto">
          <a:xfrm>
            <a:off x="928722" y="1357298"/>
            <a:ext cx="7000864" cy="4615815"/>
          </a:xfrm>
          <a:prstGeom prst="rect">
            <a:avLst/>
          </a:prstGeom>
          <a:noFill/>
          <a:ln w="9525">
            <a:noFill/>
            <a:miter lim="800000"/>
          </a:ln>
        </p:spPr>
        <p:txBody>
          <a:bodyPr wrap="square">
            <a:spAutoFit/>
          </a:bodyPr>
          <a:lstStyle/>
          <a:p>
            <a:pPr>
              <a:spcBef>
                <a:spcPts val="0"/>
              </a:spcBef>
              <a:spcAft>
                <a:spcPts val="0"/>
              </a:spcAft>
              <a:buClr>
                <a:srgbClr val="C00000"/>
              </a:buClr>
              <a:buSzPct val="100000"/>
              <a:buFont typeface="Arial" panose="020B0604020202020204" pitchFamily="34" charset="0"/>
              <a:buChar char="◙"/>
              <a:defRPr/>
            </a:pPr>
            <a:r>
              <a:rPr lang="en-US" altLang="en-US" sz="5400" b="1" dirty="0" err="1">
                <a:solidFill>
                  <a:srgbClr val="FF0000"/>
                </a:solidFill>
                <a:latin typeface="楷体" panose="02010609060101010101" charset="-122"/>
                <a:ea typeface="楷体" panose="02010609060101010101" charset="-122"/>
                <a:cs typeface="楷体" panose="02010609060101010101" charset="-122"/>
              </a:rPr>
              <a:t>项目成本管理概述</a:t>
            </a:r>
            <a:r>
              <a:rPr lang="en-US" altLang="en-US" sz="4800" b="1" dirty="0" err="1">
                <a:solidFill>
                  <a:schemeClr val="bg1">
                    <a:lumMod val="50000"/>
                  </a:schemeClr>
                </a:solidFill>
                <a:latin typeface="楷体" panose="02010609060101010101" charset="-122"/>
                <a:ea typeface="楷体" panose="02010609060101010101" charset="-122"/>
                <a:cs typeface="楷体" panose="02010609060101010101" charset="-122"/>
              </a:rPr>
              <a:t> </a:t>
            </a:r>
            <a:endParaRPr lang="en-US" altLang="en-US" sz="4800" b="1" dirty="0" err="1">
              <a:solidFill>
                <a:schemeClr val="bg1">
                  <a:lumMod val="50000"/>
                </a:schemeClr>
              </a:solidFill>
              <a:latin typeface="楷体" panose="02010609060101010101" charset="-122"/>
              <a:ea typeface="楷体" panose="02010609060101010101" charset="-122"/>
              <a:cs typeface="楷体" panose="02010609060101010101" charset="-122"/>
            </a:endParaRPr>
          </a:p>
          <a:p>
            <a:pPr>
              <a:spcBef>
                <a:spcPts val="0"/>
              </a:spcBef>
              <a:spcAft>
                <a:spcPts val="0"/>
              </a:spcAft>
              <a:buClr>
                <a:srgbClr val="C00000"/>
              </a:buClr>
              <a:buSzPct val="100000"/>
              <a:buFont typeface="Arial" panose="020B0604020202020204" pitchFamily="34" charset="0"/>
              <a:buChar char="◙"/>
              <a:defRPr/>
            </a:pPr>
            <a:r>
              <a:rPr lang="zh-CN" altLang="en-US" sz="4800" b="1" smtClean="0">
                <a:solidFill>
                  <a:srgbClr val="0000FF"/>
                </a:solidFill>
                <a:latin typeface="楷体" panose="02010609060101010101" charset="-122"/>
                <a:ea typeface="楷体" panose="02010609060101010101" charset="-122"/>
                <a:cs typeface="楷体" panose="02010609060101010101" charset="-122"/>
              </a:rPr>
              <a:t>规划</a:t>
            </a:r>
            <a:r>
              <a:rPr lang="en-US" altLang="en-US" sz="4800" b="1" smtClean="0">
                <a:solidFill>
                  <a:srgbClr val="0000FF"/>
                </a:solidFill>
                <a:latin typeface="楷体" panose="02010609060101010101" charset="-122"/>
                <a:ea typeface="楷体" panose="02010609060101010101" charset="-122"/>
                <a:cs typeface="楷体" panose="02010609060101010101" charset="-122"/>
              </a:rPr>
              <a:t>成本</a:t>
            </a:r>
            <a:r>
              <a:rPr lang="zh-CN" altLang="en-US" sz="4800" b="1" smtClean="0">
                <a:solidFill>
                  <a:srgbClr val="0000FF"/>
                </a:solidFill>
                <a:latin typeface="楷体" panose="02010609060101010101" charset="-122"/>
                <a:ea typeface="楷体" panose="02010609060101010101" charset="-122"/>
                <a:cs typeface="楷体" panose="02010609060101010101" charset="-122"/>
              </a:rPr>
              <a:t>管理</a:t>
            </a:r>
            <a:r>
              <a:rPr lang="en-US" altLang="en-US" sz="4800" b="1" smtClean="0">
                <a:solidFill>
                  <a:srgbClr val="0000FF"/>
                </a:solidFill>
                <a:latin typeface="楷体" panose="02010609060101010101" charset="-122"/>
                <a:ea typeface="楷体" panose="02010609060101010101" charset="-122"/>
                <a:cs typeface="楷体" panose="02010609060101010101" charset="-122"/>
              </a:rPr>
              <a:t> </a:t>
            </a:r>
            <a:endParaRPr lang="en-US" altLang="en-US" sz="4800" b="1" smtClean="0">
              <a:solidFill>
                <a:srgbClr val="0000FF"/>
              </a:solidFill>
              <a:latin typeface="楷体" panose="02010609060101010101" charset="-122"/>
              <a:ea typeface="楷体" panose="02010609060101010101" charset="-122"/>
              <a:cs typeface="楷体" panose="02010609060101010101" charset="-122"/>
            </a:endParaRPr>
          </a:p>
          <a:p>
            <a:pPr>
              <a:spcBef>
                <a:spcPts val="0"/>
              </a:spcBef>
              <a:spcAft>
                <a:spcPts val="0"/>
              </a:spcAft>
              <a:buClr>
                <a:srgbClr val="C00000"/>
              </a:buClr>
              <a:buSzPct val="100000"/>
              <a:buFont typeface="Arial" panose="020B0604020202020204" pitchFamily="34" charset="0"/>
              <a:buChar char="◙"/>
              <a:defRPr/>
            </a:pPr>
            <a:r>
              <a:rPr lang="en-US" altLang="en-US" sz="4800" b="1" smtClean="0">
                <a:solidFill>
                  <a:srgbClr val="0000FF"/>
                </a:solidFill>
                <a:latin typeface="楷体" panose="02010609060101010101" charset="-122"/>
                <a:ea typeface="楷体" panose="02010609060101010101" charset="-122"/>
                <a:cs typeface="楷体" panose="02010609060101010101" charset="-122"/>
              </a:rPr>
              <a:t>项目成本估算 </a:t>
            </a:r>
            <a:endParaRPr lang="en-US" altLang="en-US" sz="4800" b="1" dirty="0" err="1">
              <a:solidFill>
                <a:srgbClr val="0000FF"/>
              </a:solidFill>
              <a:latin typeface="楷体" panose="02010609060101010101" charset="-122"/>
              <a:ea typeface="楷体" panose="02010609060101010101" charset="-122"/>
              <a:cs typeface="楷体" panose="02010609060101010101" charset="-122"/>
            </a:endParaRPr>
          </a:p>
          <a:p>
            <a:pPr>
              <a:spcBef>
                <a:spcPts val="0"/>
              </a:spcBef>
              <a:spcAft>
                <a:spcPts val="0"/>
              </a:spcAft>
              <a:buClr>
                <a:srgbClr val="C00000"/>
              </a:buClr>
              <a:buSzPct val="100000"/>
              <a:buFont typeface="Arial" panose="020B0604020202020204" pitchFamily="34" charset="0"/>
              <a:buChar char="◙"/>
              <a:defRPr/>
            </a:pPr>
            <a:r>
              <a:rPr lang="en-US" altLang="en-US" sz="4800" b="1" dirty="0" err="1">
                <a:solidFill>
                  <a:srgbClr val="0000FF"/>
                </a:solidFill>
                <a:latin typeface="楷体" panose="02010609060101010101" charset="-122"/>
                <a:ea typeface="楷体" panose="02010609060101010101" charset="-122"/>
                <a:cs typeface="楷体" panose="02010609060101010101" charset="-122"/>
              </a:rPr>
              <a:t>项目成本预算</a:t>
            </a:r>
            <a:endParaRPr lang="en-US" altLang="en-US" sz="4800" b="1" dirty="0" err="1">
              <a:solidFill>
                <a:srgbClr val="0000FF"/>
              </a:solidFill>
              <a:latin typeface="楷体" panose="02010609060101010101" charset="-122"/>
              <a:ea typeface="楷体" panose="02010609060101010101" charset="-122"/>
              <a:cs typeface="楷体" panose="02010609060101010101" charset="-122"/>
            </a:endParaRPr>
          </a:p>
          <a:p>
            <a:pPr>
              <a:spcBef>
                <a:spcPts val="0"/>
              </a:spcBef>
              <a:spcAft>
                <a:spcPts val="0"/>
              </a:spcAft>
              <a:buClr>
                <a:srgbClr val="C00000"/>
              </a:buClr>
              <a:buSzPct val="100000"/>
              <a:buFont typeface="Arial" panose="020B0604020202020204" pitchFamily="34" charset="0"/>
              <a:buChar char="◙"/>
              <a:defRPr/>
            </a:pPr>
            <a:r>
              <a:rPr lang="en-US" altLang="en-US" sz="4800" b="1" dirty="0" err="1">
                <a:solidFill>
                  <a:srgbClr val="0000FF"/>
                </a:solidFill>
                <a:latin typeface="楷体" panose="02010609060101010101" charset="-122"/>
                <a:ea typeface="楷体" panose="02010609060101010101" charset="-122"/>
                <a:cs typeface="楷体" panose="02010609060101010101" charset="-122"/>
              </a:rPr>
              <a:t>项目成本控制</a:t>
            </a:r>
            <a:endParaRPr lang="en-US" altLang="en-US" sz="4800" b="1" dirty="0" err="1">
              <a:solidFill>
                <a:srgbClr val="0000FF"/>
              </a:solidFill>
              <a:latin typeface="楷体" panose="02010609060101010101" charset="-122"/>
              <a:ea typeface="楷体" panose="02010609060101010101" charset="-122"/>
              <a:cs typeface="楷体" panose="02010609060101010101" charset="-122"/>
            </a:endParaRPr>
          </a:p>
          <a:p>
            <a:pPr>
              <a:spcBef>
                <a:spcPts val="0"/>
              </a:spcBef>
              <a:spcAft>
                <a:spcPts val="0"/>
              </a:spcAft>
              <a:buClr>
                <a:srgbClr val="C00000"/>
              </a:buClr>
              <a:buSzPct val="100000"/>
              <a:buFont typeface="Arial" panose="020B0604020202020204" pitchFamily="34" charset="0"/>
              <a:buChar char="◙"/>
              <a:defRPr/>
            </a:pPr>
            <a:r>
              <a:rPr lang="en-US" altLang="en-US" sz="4800" b="1" smtClean="0">
                <a:solidFill>
                  <a:srgbClr val="0000FF"/>
                </a:solidFill>
                <a:latin typeface="楷体" panose="02010609060101010101" charset="-122"/>
                <a:ea typeface="楷体" panose="02010609060101010101" charset="-122"/>
                <a:cs typeface="楷体" panose="02010609060101010101" charset="-122"/>
              </a:rPr>
              <a:t>项目成本效益分析</a:t>
            </a:r>
            <a:endParaRPr lang="en-US" altLang="en-US" sz="4800" b="1" dirty="0" err="1" smtClean="0">
              <a:solidFill>
                <a:srgbClr val="0000FF"/>
              </a:solidFill>
              <a:latin typeface="楷体" panose="02010609060101010101" charset="-122"/>
              <a:ea typeface="楷体" panose="02010609060101010101" charset="-122"/>
              <a:cs typeface="楷体" panose="02010609060101010101" charset="-122"/>
            </a:endParaRPr>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9"/>
          <p:cNvSpPr>
            <a:spLocks noGrp="1" noChangeArrowheads="1"/>
          </p:cNvSpPr>
          <p:nvPr>
            <p:ph type="sldNum" sz="quarter" idx="10"/>
          </p:nvPr>
        </p:nvSpPr>
        <p:spPr>
          <a:noFill/>
        </p:spPr>
        <p:txBody>
          <a:bodyPr/>
          <a:lstStyle/>
          <a:p>
            <a:r>
              <a:rPr lang="zh-CN" altLang="en-GB" smtClean="0"/>
              <a:t>  </a:t>
            </a:r>
            <a:fld id="{A8C2B20C-11C9-47CE-9673-D1DF83472B51}" type="slidenum">
              <a:rPr lang="zh-CN" altLang="en-GB" smtClean="0"/>
            </a:fld>
            <a:endParaRPr lang="en-US" altLang="zh-CN" smtClean="0"/>
          </a:p>
        </p:txBody>
      </p:sp>
      <p:sp>
        <p:nvSpPr>
          <p:cNvPr id="10243" name="Text Box 2"/>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endParaRPr lang="en-US" altLang="zh-CN" sz="4000">
              <a:solidFill>
                <a:schemeClr val="bg2"/>
              </a:solidFill>
            </a:endParaRPr>
          </a:p>
        </p:txBody>
      </p:sp>
      <p:sp>
        <p:nvSpPr>
          <p:cNvPr id="1133571" name="Text Box 3"/>
          <p:cNvSpPr txBox="1">
            <a:spLocks noChangeArrowheads="1"/>
          </p:cNvSpPr>
          <p:nvPr/>
        </p:nvSpPr>
        <p:spPr bwMode="auto">
          <a:xfrm>
            <a:off x="107950" y="1643050"/>
            <a:ext cx="9036050" cy="3599815"/>
          </a:xfrm>
          <a:prstGeom prst="rect">
            <a:avLst/>
          </a:prstGeom>
          <a:noFill/>
          <a:ln w="28575">
            <a:noFill/>
            <a:miter lim="800000"/>
          </a:ln>
        </p:spPr>
        <p:txBody>
          <a:bodyPr wrap="square">
            <a:spAutoFit/>
          </a:bodyPr>
          <a:lstStyle/>
          <a:p>
            <a:pPr>
              <a:spcBef>
                <a:spcPts val="1200"/>
              </a:spcBef>
              <a:spcAft>
                <a:spcPts val="600"/>
              </a:spcAft>
              <a:buClr>
                <a:schemeClr val="hlink"/>
              </a:buClr>
            </a:pPr>
            <a:r>
              <a:rPr lang="zh-CN" altLang="en-US" sz="4000" b="1">
                <a:solidFill>
                  <a:srgbClr val="FF0000"/>
                </a:solidFill>
                <a:latin typeface="楷体" panose="02010609060101010101" charset="-122"/>
                <a:ea typeface="楷体" panose="02010609060101010101" charset="-122"/>
                <a:cs typeface="楷体" panose="02010609060101010101" charset="-122"/>
              </a:rPr>
              <a:t>成本管理存在</a:t>
            </a:r>
            <a:r>
              <a:rPr lang="zh-CN" altLang="en-US" sz="4000" b="1" smtClean="0">
                <a:solidFill>
                  <a:srgbClr val="FF0000"/>
                </a:solidFill>
                <a:latin typeface="楷体" panose="02010609060101010101" charset="-122"/>
                <a:ea typeface="楷体" panose="02010609060101010101" charset="-122"/>
                <a:cs typeface="楷体" panose="02010609060101010101" charset="-122"/>
              </a:rPr>
              <a:t>的普遍问题</a:t>
            </a:r>
            <a:endParaRPr lang="zh-CN" altLang="en-US" sz="4000" b="1">
              <a:solidFill>
                <a:srgbClr val="FF0000"/>
              </a:solidFill>
              <a:latin typeface="楷体" panose="02010609060101010101" charset="-122"/>
              <a:ea typeface="楷体" panose="02010609060101010101" charset="-122"/>
              <a:cs typeface="楷体" panose="02010609060101010101" charset="-122"/>
            </a:endParaRPr>
          </a:p>
          <a:p>
            <a:pPr marL="171450" indent="5080">
              <a:spcBef>
                <a:spcPts val="1200"/>
              </a:spcBef>
              <a:spcAft>
                <a:spcPts val="600"/>
              </a:spcAft>
              <a:buClr>
                <a:schemeClr val="bg1"/>
              </a:buClr>
              <a:buFont typeface="Wingdings" panose="05000000000000000000" pitchFamily="2" charset="2"/>
              <a:buChar char="n"/>
            </a:pPr>
            <a:r>
              <a:rPr lang="zh-CN" altLang="en-GB" sz="3200" b="1">
                <a:solidFill>
                  <a:schemeClr val="bg2"/>
                </a:solidFill>
                <a:latin typeface="楷体" panose="02010609060101010101" charset="-122"/>
                <a:ea typeface="楷体" panose="02010609060101010101" charset="-122"/>
                <a:cs typeface="楷体" panose="02010609060101010101" charset="-122"/>
              </a:rPr>
              <a:t>从小开始的教育就没有注意灌输</a:t>
            </a:r>
            <a:r>
              <a:rPr lang="zh-CN" altLang="en-GB" sz="3200" b="1">
                <a:solidFill>
                  <a:schemeClr val="bg1"/>
                </a:solidFill>
                <a:latin typeface="楷体" panose="02010609060101010101" charset="-122"/>
                <a:ea typeface="楷体" panose="02010609060101010101" charset="-122"/>
                <a:cs typeface="楷体" panose="02010609060101010101" charset="-122"/>
              </a:rPr>
              <a:t>成本的概念</a:t>
            </a:r>
            <a:r>
              <a:rPr lang="zh-CN" altLang="en-GB" sz="3200" b="1">
                <a:solidFill>
                  <a:schemeClr val="bg2"/>
                </a:solidFill>
                <a:latin typeface="楷体" panose="02010609060101010101" charset="-122"/>
                <a:ea typeface="楷体" panose="02010609060101010101" charset="-122"/>
                <a:cs typeface="楷体" panose="02010609060101010101" charset="-122"/>
              </a:rPr>
              <a:t>。</a:t>
            </a:r>
            <a:endParaRPr lang="zh-CN" altLang="en-GB" sz="3200" b="1">
              <a:solidFill>
                <a:schemeClr val="bg2"/>
              </a:solidFill>
              <a:latin typeface="楷体" panose="02010609060101010101" charset="-122"/>
              <a:ea typeface="楷体" panose="02010609060101010101" charset="-122"/>
              <a:cs typeface="楷体" panose="02010609060101010101" charset="-122"/>
            </a:endParaRPr>
          </a:p>
          <a:p>
            <a:pPr marL="171450" indent="5080">
              <a:spcBef>
                <a:spcPts val="1200"/>
              </a:spcBef>
              <a:spcAft>
                <a:spcPts val="600"/>
              </a:spcAft>
              <a:buClr>
                <a:schemeClr val="bg1"/>
              </a:buClr>
              <a:buFont typeface="Wingdings" panose="05000000000000000000" pitchFamily="2" charset="2"/>
              <a:buChar char="n"/>
            </a:pPr>
            <a:r>
              <a:rPr lang="zh-CN" altLang="en-US" sz="3200" b="1" smtClean="0">
                <a:solidFill>
                  <a:schemeClr val="bg2"/>
                </a:solidFill>
                <a:latin typeface="楷体" panose="02010609060101010101" charset="-122"/>
                <a:ea typeface="楷体" panose="02010609060101010101" charset="-122"/>
                <a:cs typeface="楷体" panose="02010609060101010101" charset="-122"/>
              </a:rPr>
              <a:t>对项目成本</a:t>
            </a:r>
            <a:r>
              <a:rPr lang="zh-CN" altLang="en-US" sz="3200" b="1">
                <a:solidFill>
                  <a:schemeClr val="bg2"/>
                </a:solidFill>
                <a:latin typeface="楷体" panose="02010609060101010101" charset="-122"/>
                <a:ea typeface="楷体" panose="02010609060101010101" charset="-122"/>
                <a:cs typeface="楷体" panose="02010609060101010101" charset="-122"/>
              </a:rPr>
              <a:t>的理解和把握不准确。</a:t>
            </a:r>
            <a:endParaRPr lang="zh-CN" altLang="en-US" sz="3200" b="1">
              <a:solidFill>
                <a:schemeClr val="bg2"/>
              </a:solidFill>
              <a:latin typeface="楷体" panose="02010609060101010101" charset="-122"/>
              <a:ea typeface="楷体" panose="02010609060101010101" charset="-122"/>
              <a:cs typeface="楷体" panose="02010609060101010101" charset="-122"/>
            </a:endParaRPr>
          </a:p>
          <a:p>
            <a:pPr marL="171450" indent="5080">
              <a:spcBef>
                <a:spcPts val="1200"/>
              </a:spcBef>
              <a:spcAft>
                <a:spcPts val="600"/>
              </a:spcAft>
              <a:buClr>
                <a:schemeClr val="bg1"/>
              </a:buClr>
              <a:buFont typeface="Wingdings" panose="05000000000000000000" pitchFamily="2" charset="2"/>
              <a:buChar char="n"/>
            </a:pPr>
            <a:r>
              <a:rPr lang="zh-CN" altLang="en-US" sz="3200" b="1" smtClean="0">
                <a:solidFill>
                  <a:schemeClr val="bg2"/>
                </a:solidFill>
                <a:latin typeface="楷体" panose="02010609060101010101" charset="-122"/>
                <a:ea typeface="楷体" panose="02010609060101010101" charset="-122"/>
                <a:cs typeface="楷体" panose="02010609060101010101" charset="-122"/>
              </a:rPr>
              <a:t>对项目成本</a:t>
            </a:r>
            <a:r>
              <a:rPr lang="zh-CN" altLang="en-US" sz="3200" b="1">
                <a:solidFill>
                  <a:schemeClr val="bg2"/>
                </a:solidFill>
                <a:latin typeface="楷体" panose="02010609060101010101" charset="-122"/>
                <a:ea typeface="楷体" panose="02010609060101010101" charset="-122"/>
                <a:cs typeface="楷体" panose="02010609060101010101" charset="-122"/>
              </a:rPr>
              <a:t>估算和控制不相关。</a:t>
            </a:r>
            <a:endParaRPr lang="zh-CN" altLang="en-US" sz="3200" b="1">
              <a:solidFill>
                <a:schemeClr val="bg2"/>
              </a:solidFill>
              <a:latin typeface="楷体" panose="02010609060101010101" charset="-122"/>
              <a:ea typeface="楷体" panose="02010609060101010101" charset="-122"/>
              <a:cs typeface="楷体" panose="02010609060101010101" charset="-122"/>
            </a:endParaRPr>
          </a:p>
          <a:p>
            <a:pPr marL="171450" indent="5080">
              <a:spcBef>
                <a:spcPts val="1200"/>
              </a:spcBef>
              <a:spcAft>
                <a:spcPts val="600"/>
              </a:spcAft>
              <a:buClr>
                <a:schemeClr val="bg1"/>
              </a:buClr>
              <a:buFont typeface="Wingdings" panose="05000000000000000000" pitchFamily="2" charset="2"/>
              <a:buChar char="n"/>
            </a:pPr>
            <a:r>
              <a:rPr lang="zh-CN" altLang="en-US" sz="3200" b="1">
                <a:solidFill>
                  <a:schemeClr val="bg2"/>
                </a:solidFill>
                <a:latin typeface="楷体" panose="02010609060101010101" charset="-122"/>
                <a:ea typeface="楷体" panose="02010609060101010101" charset="-122"/>
                <a:cs typeface="楷体" panose="02010609060101010101" charset="-122"/>
              </a:rPr>
              <a:t>认为项目成本增长和失控将不可避免的。</a:t>
            </a:r>
            <a:r>
              <a:rPr lang="zh-CN" altLang="en-US">
                <a:solidFill>
                  <a:schemeClr val="bg2"/>
                </a:solidFill>
                <a:latin typeface="楷体" panose="02010609060101010101" charset="-122"/>
                <a:ea typeface="楷体" panose="02010609060101010101" charset="-122"/>
                <a:cs typeface="楷体" panose="02010609060101010101" charset="-122"/>
              </a:rPr>
              <a:t> </a:t>
            </a:r>
            <a:endParaRPr lang="zh-CN" altLang="en-US">
              <a:solidFill>
                <a:schemeClr val="bg2"/>
              </a:solidFill>
              <a:latin typeface="楷体" panose="02010609060101010101" charset="-122"/>
              <a:ea typeface="楷体" panose="02010609060101010101" charset="-122"/>
              <a:cs typeface="楷体" panose="02010609060101010101" charset="-122"/>
            </a:endParaRPr>
          </a:p>
        </p:txBody>
      </p:sp>
      <p:sp>
        <p:nvSpPr>
          <p:cNvPr id="10247" name="Rectangle 7"/>
          <p:cNvSpPr>
            <a:spLocks noChangeArrowheads="1"/>
          </p:cNvSpPr>
          <p:nvPr/>
        </p:nvSpPr>
        <p:spPr bwMode="auto">
          <a:xfrm>
            <a:off x="103188" y="620713"/>
            <a:ext cx="5405437" cy="553085"/>
          </a:xfrm>
          <a:prstGeom prst="rect">
            <a:avLst/>
          </a:prstGeom>
          <a:noFill/>
          <a:ln w="9525">
            <a:noFill/>
            <a:miter lim="800000"/>
          </a:ln>
        </p:spPr>
        <p:txBody>
          <a:bodyPr>
            <a:spAutoFit/>
          </a:bodyPr>
          <a:lstStyle/>
          <a:p>
            <a:r>
              <a:rPr kumimoji="0" lang="en-US" altLang="en-US" sz="3000" b="1"/>
              <a:t>6.1 </a:t>
            </a:r>
            <a:r>
              <a:rPr kumimoji="0" lang="en-US" altLang="en-US" sz="3000" b="1">
                <a:latin typeface="楷体" panose="02010609060101010101" charset="-122"/>
                <a:ea typeface="楷体" panose="02010609060101010101" charset="-122"/>
              </a:rPr>
              <a:t>项目成本管理概述</a:t>
            </a:r>
            <a:endParaRPr kumimoji="0" lang="en-US" altLang="en-US" sz="3000" b="1">
              <a:latin typeface="楷体" panose="02010609060101010101" charset="-122"/>
              <a:ea typeface="楷体" panose="0201060906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3357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3357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3357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3357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9"/>
          <p:cNvSpPr>
            <a:spLocks noGrp="1" noChangeArrowheads="1"/>
          </p:cNvSpPr>
          <p:nvPr>
            <p:ph type="sldNum" sz="quarter" idx="10"/>
          </p:nvPr>
        </p:nvSpPr>
        <p:spPr>
          <a:noFill/>
        </p:spPr>
        <p:txBody>
          <a:bodyPr/>
          <a:lstStyle/>
          <a:p>
            <a:r>
              <a:rPr lang="zh-CN" altLang="en-GB" smtClean="0"/>
              <a:t>  </a:t>
            </a:r>
            <a:fld id="{C9EA43E9-8A0E-44C7-8B13-213E9A97C0ED}" type="slidenum">
              <a:rPr lang="zh-CN" altLang="en-GB" smtClean="0"/>
            </a:fld>
            <a:endParaRPr lang="en-US" altLang="zh-CN" smtClean="0"/>
          </a:p>
        </p:txBody>
      </p:sp>
      <p:sp>
        <p:nvSpPr>
          <p:cNvPr id="11267"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b="1" smtClean="0">
                <a:solidFill>
                  <a:schemeClr val="bg2"/>
                </a:solidFill>
              </a:rPr>
              <a:t>P.131</a:t>
            </a:r>
            <a:endParaRPr lang="en-US" altLang="zh-CN" sz="2400" b="1">
              <a:solidFill>
                <a:schemeClr val="bg2"/>
              </a:solidFill>
            </a:endParaRPr>
          </a:p>
        </p:txBody>
      </p:sp>
      <p:sp>
        <p:nvSpPr>
          <p:cNvPr id="11268" name="Rectangle 4"/>
          <p:cNvSpPr>
            <a:spLocks noChangeArrowheads="1"/>
          </p:cNvSpPr>
          <p:nvPr/>
        </p:nvSpPr>
        <p:spPr bwMode="auto">
          <a:xfrm>
            <a:off x="0" y="2316163"/>
            <a:ext cx="9144000" cy="0"/>
          </a:xfrm>
          <a:prstGeom prst="rect">
            <a:avLst/>
          </a:prstGeom>
          <a:noFill/>
          <a:ln w="9525">
            <a:noFill/>
            <a:miter lim="800000"/>
          </a:ln>
        </p:spPr>
        <p:txBody>
          <a:bodyPr wrap="none" anchor="ctr">
            <a:spAutoFit/>
          </a:bodyPr>
          <a:lstStyle/>
          <a:p>
            <a:pPr algn="r">
              <a:spcBef>
                <a:spcPct val="50000"/>
              </a:spcBef>
            </a:pPr>
            <a:endParaRPr lang="zh-CN" altLang="en-US"/>
          </a:p>
        </p:txBody>
      </p:sp>
      <p:sp>
        <p:nvSpPr>
          <p:cNvPr id="11269" name="Text Box 5"/>
          <p:cNvSpPr txBox="1">
            <a:spLocks noChangeArrowheads="1"/>
          </p:cNvSpPr>
          <p:nvPr/>
        </p:nvSpPr>
        <p:spPr bwMode="auto">
          <a:xfrm>
            <a:off x="0" y="2428868"/>
            <a:ext cx="9144000" cy="3969385"/>
          </a:xfrm>
          <a:prstGeom prst="rect">
            <a:avLst/>
          </a:prstGeom>
          <a:noFill/>
          <a:ln w="9525" algn="ctr">
            <a:noFill/>
            <a:miter lim="800000"/>
          </a:ln>
        </p:spPr>
        <p:txBody>
          <a:bodyPr wrap="square">
            <a:spAutoFit/>
          </a:bodyPr>
          <a:lstStyle/>
          <a:p>
            <a:pPr>
              <a:spcBef>
                <a:spcPts val="600"/>
              </a:spcBef>
              <a:spcAft>
                <a:spcPts val="600"/>
              </a:spcAft>
            </a:pPr>
            <a:r>
              <a:rPr lang="zh-CN" altLang="en-US" b="1" dirty="0" smtClean="0">
                <a:solidFill>
                  <a:schemeClr val="bg2"/>
                </a:solidFill>
                <a:latin typeface="楷体" panose="02010609060101010101" charset="-122"/>
                <a:ea typeface="楷体" panose="02010609060101010101" charset="-122"/>
              </a:rPr>
              <a:t>在管理学教科中，</a:t>
            </a:r>
            <a:r>
              <a:rPr lang="zh-CN" altLang="en-US" b="1" dirty="0" smtClean="0">
                <a:solidFill>
                  <a:schemeClr val="bg1"/>
                </a:solidFill>
                <a:latin typeface="楷体" panose="02010609060101010101" charset="-122"/>
                <a:ea typeface="楷体" panose="02010609060101010101" charset="-122"/>
              </a:rPr>
              <a:t>成本</a:t>
            </a:r>
            <a:r>
              <a:rPr lang="zh-CN" altLang="en-US" b="1" dirty="0" smtClean="0">
                <a:solidFill>
                  <a:schemeClr val="bg2"/>
                </a:solidFill>
                <a:latin typeface="楷体" panose="02010609060101010101" charset="-122"/>
                <a:ea typeface="楷体" panose="02010609060101010101" charset="-122"/>
              </a:rPr>
              <a:t>是指为取得为组织带来当前或未来利益的某种产品和服务而</a:t>
            </a:r>
            <a:r>
              <a:rPr lang="zh-CN" altLang="en-US" b="1" dirty="0" smtClean="0">
                <a:solidFill>
                  <a:schemeClr val="bg1"/>
                </a:solidFill>
                <a:latin typeface="楷体" panose="02010609060101010101" charset="-122"/>
                <a:ea typeface="楷体" panose="02010609060101010101" charset="-122"/>
              </a:rPr>
              <a:t>付出的现金或现金等价物</a:t>
            </a:r>
            <a:r>
              <a:rPr lang="zh-CN" altLang="en-US" b="1" dirty="0" smtClean="0">
                <a:solidFill>
                  <a:schemeClr val="bg2"/>
                </a:solidFill>
                <a:latin typeface="楷体" panose="02010609060101010101" charset="-122"/>
                <a:ea typeface="楷体" panose="02010609060101010101" charset="-122"/>
              </a:rPr>
              <a:t>。</a:t>
            </a:r>
            <a:endParaRPr lang="en-US" altLang="zh-CN" b="1" dirty="0" smtClean="0">
              <a:solidFill>
                <a:schemeClr val="bg2"/>
              </a:solidFill>
              <a:latin typeface="楷体" panose="02010609060101010101" charset="-122"/>
              <a:ea typeface="楷体" panose="02010609060101010101" charset="-122"/>
            </a:endParaRPr>
          </a:p>
          <a:p>
            <a:pPr>
              <a:spcBef>
                <a:spcPts val="600"/>
              </a:spcBef>
              <a:spcAft>
                <a:spcPts val="600"/>
              </a:spcAft>
            </a:pPr>
            <a:r>
              <a:rPr lang="zh-CN" altLang="en-US" b="1" dirty="0" smtClean="0">
                <a:solidFill>
                  <a:schemeClr val="bg2"/>
                </a:solidFill>
                <a:latin typeface="楷体" panose="02010609060101010101" charset="-122"/>
                <a:ea typeface="楷体" panose="02010609060101010101" charset="-122"/>
              </a:rPr>
              <a:t>在会计学教科书中，</a:t>
            </a:r>
            <a:r>
              <a:rPr lang="zh-CN" altLang="en-US" b="1" dirty="0" smtClean="0">
                <a:solidFill>
                  <a:schemeClr val="bg1"/>
                </a:solidFill>
                <a:latin typeface="楷体" panose="02010609060101010101" charset="-122"/>
                <a:ea typeface="楷体" panose="02010609060101010101" charset="-122"/>
              </a:rPr>
              <a:t>成本</a:t>
            </a:r>
            <a:r>
              <a:rPr lang="zh-CN" altLang="en-US" b="1" dirty="0" smtClean="0">
                <a:solidFill>
                  <a:schemeClr val="bg2"/>
                </a:solidFill>
                <a:latin typeface="楷体" panose="02010609060101010101" charset="-122"/>
                <a:ea typeface="楷体" panose="02010609060101010101" charset="-122"/>
              </a:rPr>
              <a:t>是指是为达到一个特定的目标而</a:t>
            </a:r>
            <a:r>
              <a:rPr lang="zh-CN" altLang="en-US" b="1" dirty="0" smtClean="0">
                <a:solidFill>
                  <a:schemeClr val="bg1"/>
                </a:solidFill>
                <a:latin typeface="楷体" panose="02010609060101010101" charset="-122"/>
                <a:ea typeface="楷体" panose="02010609060101010101" charset="-122"/>
              </a:rPr>
              <a:t>牺牲或放弃的资源</a:t>
            </a:r>
            <a:r>
              <a:rPr lang="zh-CN" altLang="en-US" b="1" dirty="0" smtClean="0">
                <a:solidFill>
                  <a:schemeClr val="bg2"/>
                </a:solidFill>
                <a:latin typeface="楷体" panose="02010609060101010101" charset="-122"/>
                <a:ea typeface="楷体" panose="02010609060101010101" charset="-122"/>
              </a:rPr>
              <a:t>。</a:t>
            </a:r>
            <a:endParaRPr lang="en-US" altLang="zh-CN" b="1" dirty="0" smtClean="0">
              <a:solidFill>
                <a:schemeClr val="bg2"/>
              </a:solidFill>
              <a:latin typeface="楷体" panose="02010609060101010101" charset="-122"/>
              <a:ea typeface="楷体" panose="02010609060101010101" charset="-122"/>
            </a:endParaRPr>
          </a:p>
          <a:p>
            <a:pPr>
              <a:spcBef>
                <a:spcPts val="600"/>
              </a:spcBef>
              <a:spcAft>
                <a:spcPts val="600"/>
              </a:spcAft>
            </a:pPr>
            <a:r>
              <a:rPr lang="zh-CN" altLang="en-US" b="1" dirty="0" smtClean="0">
                <a:solidFill>
                  <a:schemeClr val="bg2"/>
                </a:solidFill>
                <a:latin typeface="楷体" panose="02010609060101010101" charset="-122"/>
                <a:ea typeface="楷体" panose="02010609060101010101" charset="-122"/>
              </a:rPr>
              <a:t>韦伯斯特字典中成本是为交换所放弃的东西。</a:t>
            </a:r>
            <a:endParaRPr lang="en-US" altLang="zh-CN" b="1" dirty="0" smtClean="0">
              <a:solidFill>
                <a:schemeClr val="bg2"/>
              </a:solidFill>
              <a:latin typeface="楷体" panose="02010609060101010101" charset="-122"/>
              <a:ea typeface="楷体" panose="02010609060101010101" charset="-122"/>
            </a:endParaRPr>
          </a:p>
          <a:p>
            <a:pPr algn="ctr">
              <a:spcBef>
                <a:spcPts val="1800"/>
              </a:spcBef>
              <a:spcAft>
                <a:spcPts val="600"/>
              </a:spcAft>
            </a:pPr>
            <a:r>
              <a:rPr lang="zh-CN" altLang="en-US" sz="3600" b="1" dirty="0" smtClean="0">
                <a:solidFill>
                  <a:srgbClr val="FF0000"/>
                </a:solidFill>
                <a:latin typeface="楷体" panose="02010609060101010101" charset="-122"/>
                <a:ea typeface="楷体" panose="02010609060101010101" charset="-122"/>
              </a:rPr>
              <a:t>项目成本</a:t>
            </a:r>
            <a:r>
              <a:rPr lang="zh-CN" altLang="en-US" sz="3600" b="1" dirty="0" smtClean="0">
                <a:solidFill>
                  <a:schemeClr val="bg2"/>
                </a:solidFill>
                <a:latin typeface="楷体" panose="02010609060101010101" charset="-122"/>
                <a:ea typeface="楷体" panose="02010609060101010101" charset="-122"/>
              </a:rPr>
              <a:t>：</a:t>
            </a:r>
            <a:r>
              <a:rPr lang="zh-CN" altLang="en-US" sz="3600" b="1" dirty="0" smtClean="0">
                <a:solidFill>
                  <a:srgbClr val="0000FF"/>
                </a:solidFill>
                <a:latin typeface="楷体" panose="02010609060101010101" charset="-122"/>
                <a:ea typeface="楷体" panose="02010609060101010101" charset="-122"/>
              </a:rPr>
              <a:t>为完成项目目标</a:t>
            </a:r>
            <a:r>
              <a:rPr lang="zh-CN" altLang="en-US" sz="3600" b="1" dirty="0" smtClean="0">
                <a:solidFill>
                  <a:schemeClr val="bg2"/>
                </a:solidFill>
                <a:latin typeface="楷体" panose="02010609060101010101" charset="-122"/>
                <a:ea typeface="楷体" panose="02010609060101010101" charset="-122"/>
              </a:rPr>
              <a:t>而付出的</a:t>
            </a:r>
            <a:r>
              <a:rPr lang="zh-CN" altLang="en-US" sz="3600" b="1" dirty="0" smtClean="0">
                <a:solidFill>
                  <a:srgbClr val="0000FF"/>
                </a:solidFill>
                <a:latin typeface="楷体" panose="02010609060101010101" charset="-122"/>
                <a:ea typeface="楷体" panose="02010609060101010101" charset="-122"/>
              </a:rPr>
              <a:t>费用和耗费的资源。</a:t>
            </a:r>
            <a:endParaRPr lang="zh-CN" altLang="en-US" sz="3600" b="1" dirty="0" smtClean="0">
              <a:solidFill>
                <a:srgbClr val="0000FF"/>
              </a:solidFill>
              <a:latin typeface="楷体" panose="02010609060101010101" charset="-122"/>
              <a:ea typeface="楷体" panose="02010609060101010101" charset="-122"/>
            </a:endParaRPr>
          </a:p>
        </p:txBody>
      </p:sp>
      <p:sp>
        <p:nvSpPr>
          <p:cNvPr id="11270" name="Rectangle 7"/>
          <p:cNvSpPr>
            <a:spLocks noChangeArrowheads="1"/>
          </p:cNvSpPr>
          <p:nvPr/>
        </p:nvSpPr>
        <p:spPr bwMode="auto">
          <a:xfrm>
            <a:off x="103188" y="620713"/>
            <a:ext cx="5405437" cy="553085"/>
          </a:xfrm>
          <a:prstGeom prst="rect">
            <a:avLst/>
          </a:prstGeom>
          <a:noFill/>
          <a:ln w="9525">
            <a:noFill/>
            <a:miter lim="800000"/>
          </a:ln>
        </p:spPr>
        <p:txBody>
          <a:bodyPr>
            <a:spAutoFit/>
          </a:bodyPr>
          <a:lstStyle/>
          <a:p>
            <a:r>
              <a:rPr kumimoji="0" lang="en-US" altLang="en-US" sz="3000" b="1"/>
              <a:t>6.1 </a:t>
            </a:r>
            <a:r>
              <a:rPr kumimoji="0" lang="en-US" altLang="en-US" sz="3000" b="1">
                <a:latin typeface="楷体" panose="02010609060101010101" charset="-122"/>
                <a:ea typeface="楷体" panose="02010609060101010101" charset="-122"/>
              </a:rPr>
              <a:t>项目成本管理概述</a:t>
            </a:r>
            <a:endParaRPr kumimoji="0" lang="en-US" altLang="en-US" sz="3000" b="1">
              <a:latin typeface="楷体" panose="02010609060101010101" charset="-122"/>
              <a:ea typeface="楷体" panose="02010609060101010101" charset="-122"/>
            </a:endParaRPr>
          </a:p>
        </p:txBody>
      </p:sp>
      <p:sp>
        <p:nvSpPr>
          <p:cNvPr id="11271" name="Rectangle 8"/>
          <p:cNvSpPr>
            <a:spLocks noChangeArrowheads="1"/>
          </p:cNvSpPr>
          <p:nvPr/>
        </p:nvSpPr>
        <p:spPr bwMode="auto">
          <a:xfrm>
            <a:off x="71406" y="1338252"/>
            <a:ext cx="4915535" cy="521970"/>
          </a:xfrm>
          <a:prstGeom prst="rect">
            <a:avLst/>
          </a:prstGeom>
          <a:noFill/>
          <a:ln w="9525">
            <a:noFill/>
            <a:miter lim="800000"/>
          </a:ln>
        </p:spPr>
        <p:txBody>
          <a:bodyPr wrap="none">
            <a:spAutoFit/>
          </a:bodyPr>
          <a:lstStyle/>
          <a:p>
            <a:r>
              <a:rPr kumimoji="0" lang="en-US" altLang="en-US" b="1">
                <a:solidFill>
                  <a:srgbClr val="FF0000"/>
                </a:solidFill>
                <a:ea typeface="楷体_GB2312" pitchFamily="49" charset="-122"/>
              </a:rPr>
              <a:t>6.1.1 </a:t>
            </a:r>
            <a:r>
              <a:rPr kumimoji="0" lang="en-US" altLang="en-US" b="1">
                <a:solidFill>
                  <a:srgbClr val="FF0000"/>
                </a:solidFill>
                <a:latin typeface="楷体" panose="02010609060101010101" charset="-122"/>
                <a:ea typeface="楷体" panose="02010609060101010101" charset="-122"/>
              </a:rPr>
              <a:t>项目成本与项目成本管理</a:t>
            </a:r>
            <a:endParaRPr kumimoji="0" lang="en-US" altLang="en-US" b="1">
              <a:solidFill>
                <a:srgbClr val="FF0000"/>
              </a:solidFill>
              <a:latin typeface="楷体" panose="02010609060101010101" charset="-122"/>
              <a:ea typeface="楷体" panose="02010609060101010101" charset="-122"/>
            </a:endParaRPr>
          </a:p>
        </p:txBody>
      </p:sp>
      <p:sp>
        <p:nvSpPr>
          <p:cNvPr id="11272" name="Text Box 9"/>
          <p:cNvSpPr txBox="1">
            <a:spLocks noChangeArrowheads="1"/>
          </p:cNvSpPr>
          <p:nvPr/>
        </p:nvSpPr>
        <p:spPr bwMode="auto">
          <a:xfrm>
            <a:off x="285720" y="1844668"/>
            <a:ext cx="4610100" cy="586105"/>
          </a:xfrm>
          <a:prstGeom prst="rect">
            <a:avLst/>
          </a:prstGeom>
          <a:noFill/>
          <a:ln w="28575">
            <a:noFill/>
            <a:miter lim="800000"/>
          </a:ln>
        </p:spPr>
        <p:txBody>
          <a:bodyPr>
            <a:spAutoFit/>
          </a:bodyPr>
          <a:lstStyle/>
          <a:p>
            <a:pPr marL="457200" indent="-457200">
              <a:lnSpc>
                <a:spcPct val="115000"/>
              </a:lnSpc>
              <a:spcBef>
                <a:spcPct val="50000"/>
              </a:spcBef>
              <a:buClr>
                <a:schemeClr val="hlink"/>
              </a:buClr>
              <a:buFont typeface="Wingdings" panose="05000000000000000000" pitchFamily="2" charset="2"/>
              <a:buNone/>
            </a:pPr>
            <a:r>
              <a:rPr kumimoji="0" lang="en-US" altLang="en-US" b="1">
                <a:solidFill>
                  <a:schemeClr val="bg1"/>
                </a:solidFill>
                <a:ea typeface="黑体" panose="02010609060101010101" pitchFamily="2" charset="-122"/>
                <a:cs typeface="Times New Roman" panose="02020603050405020304" pitchFamily="18" charset="0"/>
              </a:rPr>
              <a:t>1</a:t>
            </a:r>
            <a:r>
              <a:rPr kumimoji="0" lang="en-US" altLang="en-US" b="1" smtClean="0">
                <a:solidFill>
                  <a:schemeClr val="bg1"/>
                </a:solidFill>
                <a:ea typeface="黑体" panose="02010609060101010101" pitchFamily="2" charset="-122"/>
                <a:cs typeface="Times New Roman" panose="02020603050405020304" pitchFamily="18" charset="0"/>
              </a:rPr>
              <a:t>）</a:t>
            </a:r>
            <a:r>
              <a:rPr kumimoji="0" lang="zh-CN" altLang="en-US" b="1" smtClean="0">
                <a:solidFill>
                  <a:srgbClr val="0000FF"/>
                </a:solidFill>
                <a:latin typeface="楷体" panose="02010609060101010101" charset="-122"/>
                <a:ea typeface="楷体" panose="02010609060101010101" charset="-122"/>
              </a:rPr>
              <a:t>成本与</a:t>
            </a:r>
            <a:r>
              <a:rPr kumimoji="0" lang="en-US" altLang="en-US" b="1" smtClean="0">
                <a:solidFill>
                  <a:srgbClr val="0000FF"/>
                </a:solidFill>
                <a:latin typeface="楷体" panose="02010609060101010101" charset="-122"/>
                <a:ea typeface="楷体" panose="02010609060101010101" charset="-122"/>
              </a:rPr>
              <a:t>项目成本的定义</a:t>
            </a:r>
            <a:endParaRPr kumimoji="0" lang="en-US" altLang="en-US" b="1" smtClean="0">
              <a:solidFill>
                <a:srgbClr val="0000FF"/>
              </a:solidFill>
              <a:latin typeface="楷体" panose="02010609060101010101" charset="-122"/>
              <a:ea typeface="楷体" panose="0201060906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26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26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9"/>
          <p:cNvSpPr>
            <a:spLocks noGrp="1" noChangeArrowheads="1"/>
          </p:cNvSpPr>
          <p:nvPr>
            <p:ph type="sldNum" sz="quarter" idx="10"/>
          </p:nvPr>
        </p:nvSpPr>
        <p:spPr>
          <a:noFill/>
        </p:spPr>
        <p:txBody>
          <a:bodyPr/>
          <a:lstStyle/>
          <a:p>
            <a:r>
              <a:rPr lang="zh-CN" altLang="en-GB" smtClean="0"/>
              <a:t>  </a:t>
            </a:r>
            <a:fld id="{322E7061-47BF-40B1-A1CE-FC4B525BE08D}" type="slidenum">
              <a:rPr lang="zh-CN" altLang="en-GB" smtClean="0"/>
            </a:fld>
            <a:endParaRPr lang="en-US" altLang="zh-CN" smtClean="0"/>
          </a:p>
        </p:txBody>
      </p:sp>
      <p:sp>
        <p:nvSpPr>
          <p:cNvPr id="12291"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b="1" smtClean="0">
                <a:solidFill>
                  <a:schemeClr val="bg2"/>
                </a:solidFill>
              </a:rPr>
              <a:t>P.131</a:t>
            </a:r>
            <a:endParaRPr lang="en-US" altLang="zh-CN" sz="2400" b="1">
              <a:solidFill>
                <a:schemeClr val="bg2"/>
              </a:solidFill>
            </a:endParaRPr>
          </a:p>
        </p:txBody>
      </p:sp>
      <p:sp>
        <p:nvSpPr>
          <p:cNvPr id="12292" name="Rectangle 4"/>
          <p:cNvSpPr>
            <a:spLocks noChangeArrowheads="1"/>
          </p:cNvSpPr>
          <p:nvPr/>
        </p:nvSpPr>
        <p:spPr bwMode="auto">
          <a:xfrm>
            <a:off x="0" y="2316163"/>
            <a:ext cx="9144000" cy="0"/>
          </a:xfrm>
          <a:prstGeom prst="rect">
            <a:avLst/>
          </a:prstGeom>
          <a:noFill/>
          <a:ln w="9525">
            <a:noFill/>
            <a:miter lim="800000"/>
          </a:ln>
        </p:spPr>
        <p:txBody>
          <a:bodyPr wrap="none" anchor="ctr">
            <a:spAutoFit/>
          </a:bodyPr>
          <a:lstStyle/>
          <a:p>
            <a:pPr algn="r">
              <a:spcBef>
                <a:spcPct val="50000"/>
              </a:spcBef>
            </a:pPr>
            <a:endParaRPr lang="zh-CN" altLang="en-US"/>
          </a:p>
        </p:txBody>
      </p:sp>
      <p:sp>
        <p:nvSpPr>
          <p:cNvPr id="1045509" name="Text Box 5"/>
          <p:cNvSpPr txBox="1">
            <a:spLocks noChangeArrowheads="1"/>
          </p:cNvSpPr>
          <p:nvPr/>
        </p:nvSpPr>
        <p:spPr bwMode="auto">
          <a:xfrm>
            <a:off x="-635" y="2204720"/>
            <a:ext cx="9154795" cy="3846195"/>
          </a:xfrm>
          <a:prstGeom prst="rect">
            <a:avLst/>
          </a:prstGeom>
          <a:noFill/>
          <a:ln w="9525" algn="ctr">
            <a:noFill/>
            <a:miter lim="800000"/>
          </a:ln>
        </p:spPr>
        <p:txBody>
          <a:bodyPr wrap="square">
            <a:spAutoFit/>
          </a:bodyPr>
          <a:lstStyle/>
          <a:p>
            <a:pPr marL="914400" lvl="1" indent="-457200">
              <a:spcBef>
                <a:spcPts val="600"/>
              </a:spcBef>
              <a:spcAft>
                <a:spcPts val="600"/>
              </a:spcAft>
              <a:buClr>
                <a:srgbClr val="000000"/>
              </a:buClr>
              <a:buFont typeface="Wingdings" panose="05000000000000000000" charset="0"/>
              <a:buChar char="Ø"/>
            </a:pPr>
            <a:r>
              <a:rPr lang="zh-CN" altLang="en-US" b="1" dirty="0">
                <a:solidFill>
                  <a:srgbClr val="0000FF"/>
                </a:solidFill>
                <a:latin typeface="楷体" panose="02010609060101010101" charset="-122"/>
                <a:ea typeface="楷体" panose="02010609060101010101" charset="-122"/>
                <a:cs typeface="楷体" panose="02010609060101010101" charset="-122"/>
              </a:rPr>
              <a:t>项目成本：</a:t>
            </a:r>
            <a:r>
              <a:rPr lang="zh-CN" altLang="en-US" sz="2400" b="1" dirty="0">
                <a:solidFill>
                  <a:schemeClr val="bg2"/>
                </a:solidFill>
                <a:latin typeface="楷体" panose="02010609060101010101" charset="-122"/>
                <a:ea typeface="楷体" panose="02010609060101010101" charset="-122"/>
                <a:cs typeface="楷体" panose="02010609060101010101" charset="-122"/>
              </a:rPr>
              <a:t>完成项目所需要的全部费用的总和。</a:t>
            </a:r>
            <a:endParaRPr lang="zh-CN" altLang="en-US" sz="2400" b="1" dirty="0">
              <a:solidFill>
                <a:schemeClr val="bg2"/>
              </a:solidFill>
              <a:latin typeface="楷体" panose="02010609060101010101" charset="-122"/>
              <a:ea typeface="楷体" panose="02010609060101010101" charset="-122"/>
              <a:cs typeface="楷体" panose="02010609060101010101" charset="-122"/>
            </a:endParaRPr>
          </a:p>
          <a:p>
            <a:pPr marL="1257300" lvl="2" indent="-342900">
              <a:spcBef>
                <a:spcPts val="600"/>
              </a:spcBef>
              <a:spcAft>
                <a:spcPts val="600"/>
              </a:spcAft>
              <a:buClr>
                <a:srgbClr val="000000"/>
              </a:buClr>
              <a:buFont typeface="Wingdings" panose="05000000000000000000" charset="0"/>
              <a:buChar char="ü"/>
            </a:pPr>
            <a:r>
              <a:rPr lang="zh-CN" altLang="en-US" sz="2400" b="1" dirty="0">
                <a:solidFill>
                  <a:schemeClr val="bg2"/>
                </a:solidFill>
                <a:latin typeface="楷体" panose="02010609060101010101" charset="-122"/>
                <a:ea typeface="楷体" panose="02010609060101010101" charset="-122"/>
                <a:cs typeface="楷体" panose="02010609060101010101" charset="-122"/>
              </a:rPr>
              <a:t>包括</a:t>
            </a:r>
            <a:r>
              <a:rPr lang="zh-CN" altLang="en-US" sz="2400" b="1" dirty="0">
                <a:solidFill>
                  <a:schemeClr val="bg1"/>
                </a:solidFill>
                <a:latin typeface="楷体" panose="02010609060101010101" charset="-122"/>
                <a:ea typeface="楷体" panose="02010609060101010101" charset="-122"/>
                <a:cs typeface="楷体" panose="02010609060101010101" charset="-122"/>
              </a:rPr>
              <a:t>决策与定义成本</a:t>
            </a:r>
            <a:r>
              <a:rPr lang="zh-CN" altLang="en-US" sz="2400" b="1" dirty="0">
                <a:solidFill>
                  <a:schemeClr val="bg2"/>
                </a:solidFill>
                <a:latin typeface="楷体" panose="02010609060101010101" charset="-122"/>
                <a:ea typeface="楷体" panose="02010609060101010101" charset="-122"/>
                <a:cs typeface="楷体" panose="02010609060101010101" charset="-122"/>
              </a:rPr>
              <a:t>、</a:t>
            </a:r>
            <a:r>
              <a:rPr lang="zh-CN" altLang="en-US" sz="2400" b="1" dirty="0">
                <a:solidFill>
                  <a:schemeClr val="bg1"/>
                </a:solidFill>
                <a:latin typeface="楷体" panose="02010609060101010101" charset="-122"/>
                <a:ea typeface="楷体" panose="02010609060101010101" charset="-122"/>
                <a:cs typeface="楷体" panose="02010609060101010101" charset="-122"/>
              </a:rPr>
              <a:t>获取成本</a:t>
            </a:r>
            <a:r>
              <a:rPr lang="zh-CN" altLang="en-US" sz="2400" b="1" dirty="0">
                <a:solidFill>
                  <a:schemeClr val="bg2"/>
                </a:solidFill>
                <a:latin typeface="楷体" panose="02010609060101010101" charset="-122"/>
                <a:ea typeface="楷体" panose="02010609060101010101" charset="-122"/>
                <a:cs typeface="楷体" panose="02010609060101010101" charset="-122"/>
              </a:rPr>
              <a:t>、</a:t>
            </a:r>
            <a:r>
              <a:rPr lang="zh-CN" altLang="en-US" sz="2400" b="1" dirty="0">
                <a:solidFill>
                  <a:schemeClr val="bg1"/>
                </a:solidFill>
                <a:latin typeface="楷体" panose="02010609060101010101" charset="-122"/>
                <a:ea typeface="楷体" panose="02010609060101010101" charset="-122"/>
                <a:cs typeface="楷体" panose="02010609060101010101" charset="-122"/>
              </a:rPr>
              <a:t>设计成本</a:t>
            </a:r>
            <a:r>
              <a:rPr lang="zh-CN" altLang="en-US" sz="2400" b="1" dirty="0">
                <a:solidFill>
                  <a:schemeClr val="bg2"/>
                </a:solidFill>
                <a:latin typeface="楷体" panose="02010609060101010101" charset="-122"/>
                <a:ea typeface="楷体" panose="02010609060101010101" charset="-122"/>
                <a:cs typeface="楷体" panose="02010609060101010101" charset="-122"/>
              </a:rPr>
              <a:t>和</a:t>
            </a:r>
            <a:r>
              <a:rPr lang="zh-CN" altLang="en-US" sz="2400" b="1" dirty="0">
                <a:solidFill>
                  <a:schemeClr val="bg1"/>
                </a:solidFill>
                <a:latin typeface="楷体" panose="02010609060101010101" charset="-122"/>
                <a:ea typeface="楷体" panose="02010609060101010101" charset="-122"/>
                <a:cs typeface="楷体" panose="02010609060101010101" charset="-122"/>
              </a:rPr>
              <a:t>实施成本</a:t>
            </a:r>
            <a:r>
              <a:rPr lang="zh-CN" altLang="en-US" sz="2400" b="1" dirty="0">
                <a:solidFill>
                  <a:schemeClr val="bg2"/>
                </a:solidFill>
                <a:latin typeface="楷体" panose="02010609060101010101" charset="-122"/>
                <a:ea typeface="楷体" panose="02010609060101010101" charset="-122"/>
                <a:cs typeface="楷体" panose="02010609060101010101" charset="-122"/>
              </a:rPr>
              <a:t>等</a:t>
            </a:r>
            <a:r>
              <a:rPr lang="zh-CN" altLang="en-US" sz="2400" b="1" dirty="0" smtClean="0">
                <a:solidFill>
                  <a:schemeClr val="bg2"/>
                </a:solidFill>
                <a:latin typeface="楷体" panose="02010609060101010101" charset="-122"/>
                <a:ea typeface="楷体" panose="02010609060101010101" charset="-122"/>
                <a:cs typeface="楷体" panose="02010609060101010101" charset="-122"/>
              </a:rPr>
              <a:t>。</a:t>
            </a:r>
            <a:endParaRPr lang="zh-CN" altLang="en-US" sz="2400" b="1" dirty="0" smtClean="0">
              <a:solidFill>
                <a:schemeClr val="bg2"/>
              </a:solidFill>
              <a:latin typeface="楷体" panose="02010609060101010101" charset="-122"/>
              <a:ea typeface="楷体" panose="02010609060101010101" charset="-122"/>
              <a:cs typeface="楷体" panose="02010609060101010101" charset="-122"/>
            </a:endParaRPr>
          </a:p>
          <a:p>
            <a:pPr marL="1257300" lvl="2" indent="-342900">
              <a:spcBef>
                <a:spcPts val="600"/>
              </a:spcBef>
              <a:spcAft>
                <a:spcPts val="600"/>
              </a:spcAft>
              <a:buClr>
                <a:srgbClr val="000000"/>
              </a:buClr>
              <a:buFont typeface="Wingdings" panose="05000000000000000000" charset="0"/>
              <a:buChar char="ü"/>
            </a:pPr>
            <a:r>
              <a:rPr lang="zh-CN" altLang="en-US" sz="2400" b="1" dirty="0">
                <a:solidFill>
                  <a:schemeClr val="bg1"/>
                </a:solidFill>
                <a:latin typeface="楷体" panose="02010609060101010101" charset="-122"/>
                <a:ea typeface="楷体" panose="02010609060101010101" charset="-122"/>
                <a:cs typeface="楷体" panose="02010609060101010101" charset="-122"/>
              </a:rPr>
              <a:t>项目实施成本</a:t>
            </a:r>
            <a:r>
              <a:rPr lang="zh-CN" altLang="en-US" sz="2400" b="1" dirty="0" smtClean="0">
                <a:solidFill>
                  <a:schemeClr val="bg2"/>
                </a:solidFill>
                <a:latin typeface="楷体" panose="02010609060101010101" charset="-122"/>
                <a:ea typeface="楷体" panose="02010609060101010101" charset="-122"/>
                <a:cs typeface="楷体" panose="02010609060101010101" charset="-122"/>
              </a:rPr>
              <a:t>是项目总成本的</a:t>
            </a:r>
            <a:r>
              <a:rPr lang="zh-CN" altLang="en-US" sz="2400" b="1" dirty="0">
                <a:solidFill>
                  <a:schemeClr val="bg1"/>
                </a:solidFill>
                <a:latin typeface="楷体" panose="02010609060101010101" charset="-122"/>
                <a:ea typeface="楷体" panose="02010609060101010101" charset="-122"/>
                <a:cs typeface="楷体" panose="02010609060101010101" charset="-122"/>
              </a:rPr>
              <a:t>主要组成部分</a:t>
            </a:r>
            <a:r>
              <a:rPr lang="zh-CN" altLang="en-US" sz="2400" b="1" dirty="0" smtClean="0">
                <a:solidFill>
                  <a:schemeClr val="bg2"/>
                </a:solidFill>
                <a:latin typeface="楷体" panose="02010609060101010101" charset="-122"/>
                <a:ea typeface="楷体" panose="02010609060101010101" charset="-122"/>
                <a:cs typeface="楷体" panose="02010609060101010101" charset="-122"/>
              </a:rPr>
              <a:t>。</a:t>
            </a:r>
            <a:endParaRPr lang="zh-CN" altLang="en-US" sz="2400" b="1" dirty="0">
              <a:solidFill>
                <a:srgbClr val="0000FF"/>
              </a:solidFill>
              <a:latin typeface="楷体" panose="02010609060101010101" charset="-122"/>
              <a:ea typeface="楷体" panose="02010609060101010101" charset="-122"/>
              <a:cs typeface="楷体" panose="02010609060101010101" charset="-122"/>
            </a:endParaRPr>
          </a:p>
          <a:p>
            <a:pPr marL="914400" lvl="1" indent="-457200">
              <a:spcBef>
                <a:spcPts val="600"/>
              </a:spcBef>
              <a:spcAft>
                <a:spcPts val="600"/>
              </a:spcAft>
              <a:buClr>
                <a:srgbClr val="000000"/>
              </a:buClr>
              <a:buFont typeface="Wingdings" panose="05000000000000000000" charset="0"/>
              <a:buChar char="Ø"/>
            </a:pPr>
            <a:r>
              <a:rPr lang="en-US" altLang="zh-CN" b="1" dirty="0">
                <a:solidFill>
                  <a:srgbClr val="0000FF"/>
                </a:solidFill>
                <a:ea typeface="楷体" panose="02010609060101010101" charset="-122"/>
                <a:cs typeface="Times New Roman" panose="02020603050405020304" pitchFamily="18" charset="0"/>
              </a:rPr>
              <a:t>IT</a:t>
            </a:r>
            <a:r>
              <a:rPr lang="zh-CN" altLang="en-US" b="1" dirty="0">
                <a:solidFill>
                  <a:srgbClr val="0000FF"/>
                </a:solidFill>
                <a:latin typeface="楷体" panose="02010609060101010101" charset="-122"/>
                <a:ea typeface="楷体" panose="02010609060101010101" charset="-122"/>
                <a:cs typeface="楷体" panose="02010609060101010101" charset="-122"/>
              </a:rPr>
              <a:t>项目成本</a:t>
            </a:r>
            <a:r>
              <a:rPr lang="zh-CN" altLang="en-US" b="1" dirty="0">
                <a:solidFill>
                  <a:schemeClr val="bg1"/>
                </a:solidFill>
                <a:latin typeface="楷体" panose="02010609060101010101" charset="-122"/>
                <a:ea typeface="楷体" panose="02010609060101010101" charset="-122"/>
                <a:cs typeface="楷体" panose="02010609060101010101" charset="-122"/>
              </a:rPr>
              <a:t> </a:t>
            </a:r>
            <a:r>
              <a:rPr lang="zh-CN" altLang="en-US" sz="2400" b="1" dirty="0">
                <a:solidFill>
                  <a:schemeClr val="bg2"/>
                </a:solidFill>
                <a:latin typeface="楷体" panose="02010609060101010101" charset="-122"/>
                <a:ea typeface="楷体" panose="02010609060101010101" charset="-122"/>
                <a:cs typeface="楷体" panose="02010609060101010101" charset="-122"/>
              </a:rPr>
              <a:t>包括硬件成本、软件成本、集成成本、人力资源成本、场所成本、外包服务成本等。</a:t>
            </a:r>
            <a:endParaRPr lang="zh-CN" altLang="en-US" sz="2400" b="1" dirty="0">
              <a:solidFill>
                <a:schemeClr val="bg2"/>
              </a:solidFill>
              <a:latin typeface="楷体" panose="02010609060101010101" charset="-122"/>
              <a:ea typeface="楷体" panose="02010609060101010101" charset="-122"/>
              <a:cs typeface="楷体" panose="02010609060101010101" charset="-122"/>
            </a:endParaRPr>
          </a:p>
          <a:p>
            <a:pPr marL="914400" lvl="1" indent="-457200">
              <a:spcBef>
                <a:spcPts val="600"/>
              </a:spcBef>
              <a:spcAft>
                <a:spcPts val="600"/>
              </a:spcAft>
              <a:buClr>
                <a:srgbClr val="000000"/>
              </a:buClr>
              <a:buFont typeface="Wingdings" panose="05000000000000000000" charset="0"/>
              <a:buChar char="Ø"/>
            </a:pPr>
            <a:r>
              <a:rPr lang="zh-CN" altLang="en-US" b="1" dirty="0">
                <a:solidFill>
                  <a:srgbClr val="0000FF"/>
                </a:solidFill>
                <a:latin typeface="楷体" panose="02010609060101010101" charset="-122"/>
                <a:ea typeface="楷体" panose="02010609060101010101" charset="-122"/>
                <a:cs typeface="楷体" panose="02010609060101010101" charset="-122"/>
              </a:rPr>
              <a:t>软件项目成本</a:t>
            </a:r>
            <a:r>
              <a:rPr lang="zh-CN" altLang="en-US" b="1" dirty="0">
                <a:solidFill>
                  <a:schemeClr val="bg1"/>
                </a:solidFill>
                <a:latin typeface="楷体" panose="02010609060101010101" charset="-122"/>
                <a:ea typeface="楷体" panose="02010609060101010101" charset="-122"/>
                <a:cs typeface="楷体" panose="02010609060101010101" charset="-122"/>
              </a:rPr>
              <a:t> </a:t>
            </a:r>
            <a:r>
              <a:rPr lang="zh-CN" altLang="en-US" sz="2400" b="1" dirty="0">
                <a:solidFill>
                  <a:schemeClr val="bg2"/>
                </a:solidFill>
                <a:latin typeface="楷体" panose="02010609060101010101" charset="-122"/>
                <a:ea typeface="楷体" panose="02010609060101010101" charset="-122"/>
                <a:cs typeface="楷体" panose="02010609060101010101" charset="-122"/>
              </a:rPr>
              <a:t>包括开发生产成本（分析设计成本、系统实施成本）和运行维护成本（专业培训成本、系统运行成本、维护改进成本和行政管理成本）等。</a:t>
            </a:r>
            <a:endParaRPr lang="zh-CN" altLang="en-US" sz="2400" b="1" dirty="0">
              <a:solidFill>
                <a:schemeClr val="bg2"/>
              </a:solidFill>
              <a:latin typeface="楷体" panose="02010609060101010101" charset="-122"/>
              <a:ea typeface="楷体" panose="02010609060101010101" charset="-122"/>
              <a:cs typeface="楷体" panose="02010609060101010101" charset="-122"/>
            </a:endParaRPr>
          </a:p>
        </p:txBody>
      </p:sp>
      <p:sp>
        <p:nvSpPr>
          <p:cNvPr id="12294" name="Rectangle 8"/>
          <p:cNvSpPr>
            <a:spLocks noChangeArrowheads="1"/>
          </p:cNvSpPr>
          <p:nvPr/>
        </p:nvSpPr>
        <p:spPr bwMode="auto">
          <a:xfrm>
            <a:off x="103188" y="620713"/>
            <a:ext cx="5405437" cy="553085"/>
          </a:xfrm>
          <a:prstGeom prst="rect">
            <a:avLst/>
          </a:prstGeom>
          <a:noFill/>
          <a:ln w="9525">
            <a:noFill/>
            <a:miter lim="800000"/>
          </a:ln>
        </p:spPr>
        <p:txBody>
          <a:bodyPr>
            <a:spAutoFit/>
          </a:bodyPr>
          <a:lstStyle/>
          <a:p>
            <a:r>
              <a:rPr kumimoji="0" lang="en-US" altLang="en-US" sz="3000" b="1"/>
              <a:t>6.1 </a:t>
            </a:r>
            <a:r>
              <a:rPr kumimoji="0" lang="en-US" altLang="en-US" sz="3000" b="1">
                <a:latin typeface="楷体" panose="02010609060101010101" charset="-122"/>
                <a:ea typeface="楷体" panose="02010609060101010101" charset="-122"/>
              </a:rPr>
              <a:t>项目成本管理概述</a:t>
            </a:r>
            <a:endParaRPr kumimoji="0" lang="en-US" altLang="en-US" sz="3000" b="1">
              <a:latin typeface="楷体" panose="02010609060101010101" charset="-122"/>
              <a:ea typeface="楷体" panose="02010609060101010101" charset="-122"/>
            </a:endParaRPr>
          </a:p>
        </p:txBody>
      </p:sp>
      <p:sp>
        <p:nvSpPr>
          <p:cNvPr id="12295" name="Rectangle 9"/>
          <p:cNvSpPr>
            <a:spLocks noChangeArrowheads="1"/>
          </p:cNvSpPr>
          <p:nvPr/>
        </p:nvSpPr>
        <p:spPr bwMode="auto">
          <a:xfrm>
            <a:off x="142844" y="1285860"/>
            <a:ext cx="4915535" cy="521970"/>
          </a:xfrm>
          <a:prstGeom prst="rect">
            <a:avLst/>
          </a:prstGeom>
          <a:noFill/>
          <a:ln w="9525">
            <a:noFill/>
            <a:miter lim="800000"/>
          </a:ln>
        </p:spPr>
        <p:txBody>
          <a:bodyPr wrap="none">
            <a:spAutoFit/>
          </a:bodyPr>
          <a:lstStyle/>
          <a:p>
            <a:r>
              <a:rPr kumimoji="0" lang="en-US" altLang="en-US" b="1">
                <a:solidFill>
                  <a:srgbClr val="FF0000"/>
                </a:solidFill>
                <a:ea typeface="楷体_GB2312" pitchFamily="49" charset="-122"/>
              </a:rPr>
              <a:t>6.1.1 </a:t>
            </a:r>
            <a:r>
              <a:rPr kumimoji="0" lang="en-US" altLang="en-US" b="1">
                <a:solidFill>
                  <a:srgbClr val="FF0000"/>
                </a:solidFill>
                <a:latin typeface="楷体" panose="02010609060101010101" charset="-122"/>
                <a:ea typeface="楷体" panose="02010609060101010101" charset="-122"/>
              </a:rPr>
              <a:t>项目成本与项目成本管理</a:t>
            </a:r>
            <a:endParaRPr kumimoji="0" lang="en-US" altLang="en-US" b="1">
              <a:solidFill>
                <a:srgbClr val="FF0000"/>
              </a:solidFill>
              <a:latin typeface="楷体" panose="02010609060101010101" charset="-122"/>
              <a:ea typeface="楷体" panose="02010609060101010101" charset="-122"/>
            </a:endParaRPr>
          </a:p>
        </p:txBody>
      </p:sp>
      <p:sp>
        <p:nvSpPr>
          <p:cNvPr id="12296" name="Text Box 10"/>
          <p:cNvSpPr txBox="1">
            <a:spLocks noChangeArrowheads="1"/>
          </p:cNvSpPr>
          <p:nvPr/>
        </p:nvSpPr>
        <p:spPr bwMode="auto">
          <a:xfrm>
            <a:off x="285720" y="1689987"/>
            <a:ext cx="4610100" cy="586105"/>
          </a:xfrm>
          <a:prstGeom prst="rect">
            <a:avLst/>
          </a:prstGeom>
          <a:noFill/>
          <a:ln w="28575">
            <a:noFill/>
            <a:miter lim="800000"/>
          </a:ln>
        </p:spPr>
        <p:txBody>
          <a:bodyPr>
            <a:spAutoFit/>
          </a:bodyPr>
          <a:lstStyle/>
          <a:p>
            <a:pPr marL="457200" indent="-457200">
              <a:lnSpc>
                <a:spcPct val="115000"/>
              </a:lnSpc>
              <a:spcBef>
                <a:spcPct val="50000"/>
              </a:spcBef>
              <a:buClr>
                <a:schemeClr val="hlink"/>
              </a:buClr>
              <a:buFont typeface="Wingdings" panose="05000000000000000000" pitchFamily="2" charset="2"/>
              <a:buNone/>
            </a:pPr>
            <a:r>
              <a:rPr kumimoji="0" lang="en-US" altLang="en-US" b="1">
                <a:solidFill>
                  <a:schemeClr val="bg1"/>
                </a:solidFill>
                <a:latin typeface="楷体" panose="02010609060101010101" charset="-122"/>
                <a:ea typeface="楷体" panose="02010609060101010101" charset="-122"/>
              </a:rPr>
              <a:t>项目成本的</a:t>
            </a:r>
            <a:r>
              <a:rPr kumimoji="0" lang="en-US" altLang="en-US" b="1">
                <a:solidFill>
                  <a:schemeClr val="bg1"/>
                </a:solidFill>
                <a:latin typeface="楷体" panose="02010609060101010101" charset="-122"/>
                <a:ea typeface="楷体" panose="02010609060101010101" charset="-122"/>
                <a:sym typeface="+mn-ea"/>
              </a:rPr>
              <a:t>特征</a:t>
            </a:r>
            <a:endParaRPr kumimoji="0" lang="en-US" altLang="en-US" b="1">
              <a:solidFill>
                <a:schemeClr val="bg1"/>
              </a:solidFill>
              <a:latin typeface="楷体" panose="02010609060101010101" charset="-122"/>
              <a:ea typeface="楷体" panose="0201060906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4550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4550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4550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4550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4550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9"/>
          <p:cNvSpPr>
            <a:spLocks noGrp="1" noChangeArrowheads="1"/>
          </p:cNvSpPr>
          <p:nvPr>
            <p:ph type="sldNum" sz="quarter" idx="10"/>
          </p:nvPr>
        </p:nvSpPr>
        <p:spPr>
          <a:noFill/>
        </p:spPr>
        <p:txBody>
          <a:bodyPr/>
          <a:lstStyle/>
          <a:p>
            <a:r>
              <a:rPr lang="zh-CN" altLang="en-GB" smtClean="0"/>
              <a:t>  </a:t>
            </a:r>
            <a:fld id="{411682D1-5A64-45A6-8A90-CAB7762CA4A2}" type="slidenum">
              <a:rPr lang="zh-CN" altLang="en-GB" smtClean="0"/>
            </a:fld>
            <a:endParaRPr lang="en-US" altLang="zh-CN" smtClean="0"/>
          </a:p>
        </p:txBody>
      </p:sp>
      <p:sp>
        <p:nvSpPr>
          <p:cNvPr id="13315"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b="1" smtClean="0">
                <a:solidFill>
                  <a:schemeClr val="bg2"/>
                </a:solidFill>
              </a:rPr>
              <a:t>P.132</a:t>
            </a:r>
            <a:endParaRPr lang="en-US" altLang="zh-CN" sz="2400" b="1">
              <a:solidFill>
                <a:schemeClr val="bg2"/>
              </a:solidFill>
            </a:endParaRPr>
          </a:p>
        </p:txBody>
      </p:sp>
      <p:sp>
        <p:nvSpPr>
          <p:cNvPr id="13316" name="Rectangle 4"/>
          <p:cNvSpPr>
            <a:spLocks noChangeArrowheads="1"/>
          </p:cNvSpPr>
          <p:nvPr/>
        </p:nvSpPr>
        <p:spPr bwMode="auto">
          <a:xfrm>
            <a:off x="0" y="2316163"/>
            <a:ext cx="9144000" cy="0"/>
          </a:xfrm>
          <a:prstGeom prst="rect">
            <a:avLst/>
          </a:prstGeom>
          <a:noFill/>
          <a:ln w="9525">
            <a:noFill/>
            <a:miter lim="800000"/>
          </a:ln>
        </p:spPr>
        <p:txBody>
          <a:bodyPr wrap="none" anchor="ctr">
            <a:spAutoFit/>
          </a:bodyPr>
          <a:lstStyle/>
          <a:p>
            <a:pPr algn="r">
              <a:spcBef>
                <a:spcPct val="50000"/>
              </a:spcBef>
            </a:pPr>
            <a:endParaRPr lang="zh-CN" altLang="en-US"/>
          </a:p>
        </p:txBody>
      </p:sp>
      <p:sp>
        <p:nvSpPr>
          <p:cNvPr id="1213445" name="Text Box 5"/>
          <p:cNvSpPr txBox="1">
            <a:spLocks noChangeArrowheads="1"/>
          </p:cNvSpPr>
          <p:nvPr/>
        </p:nvSpPr>
        <p:spPr bwMode="auto">
          <a:xfrm>
            <a:off x="461645" y="2286000"/>
            <a:ext cx="8611235" cy="1814830"/>
          </a:xfrm>
          <a:prstGeom prst="rect">
            <a:avLst/>
          </a:prstGeom>
          <a:noFill/>
          <a:ln w="9525" algn="ctr">
            <a:noFill/>
            <a:miter lim="800000"/>
          </a:ln>
        </p:spPr>
        <p:txBody>
          <a:bodyPr wrap="square">
            <a:spAutoFit/>
          </a:bodyPr>
          <a:lstStyle/>
          <a:p>
            <a:pPr>
              <a:spcBef>
                <a:spcPts val="600"/>
              </a:spcBef>
              <a:spcAft>
                <a:spcPts val="600"/>
              </a:spcAft>
              <a:buClr>
                <a:schemeClr val="hlink"/>
              </a:buClr>
            </a:pPr>
            <a:r>
              <a:rPr lang="zh-CN" altLang="en-US" b="1" smtClean="0">
                <a:solidFill>
                  <a:schemeClr val="bg1"/>
                </a:solidFill>
                <a:latin typeface="楷体" panose="02010609060101010101" charset="-122"/>
                <a:ea typeface="楷体" panose="02010609060101010101" charset="-122"/>
              </a:rPr>
              <a:t>项目成本管理</a:t>
            </a:r>
            <a:r>
              <a:rPr lang="zh-CN" altLang="en-US" b="1" smtClean="0">
                <a:solidFill>
                  <a:schemeClr val="bg2"/>
                </a:solidFill>
                <a:latin typeface="楷体" panose="02010609060101010101" charset="-122"/>
                <a:ea typeface="楷体" panose="02010609060101010101" charset="-122"/>
              </a:rPr>
              <a:t>包含为使项目在批准的预算内完成，而对成本进行</a:t>
            </a:r>
            <a:r>
              <a:rPr lang="zh-CN" altLang="en-US" b="1" smtClean="0">
                <a:solidFill>
                  <a:schemeClr val="bg1"/>
                </a:solidFill>
                <a:latin typeface="楷体" panose="02010609060101010101" charset="-122"/>
                <a:ea typeface="楷体" panose="02010609060101010101" charset="-122"/>
              </a:rPr>
              <a:t>规划、估算、预算、融资、筹资管理与控制</a:t>
            </a:r>
            <a:r>
              <a:rPr lang="zh-CN" altLang="en-US" b="1" smtClean="0">
                <a:solidFill>
                  <a:schemeClr val="bg2"/>
                </a:solidFill>
                <a:latin typeface="楷体" panose="02010609060101010101" charset="-122"/>
                <a:ea typeface="楷体" panose="02010609060101010101" charset="-122"/>
              </a:rPr>
              <a:t>的各个过程，</a:t>
            </a:r>
            <a:r>
              <a:rPr lang="zh-CN" altLang="en-US" b="1" smtClean="0">
                <a:solidFill>
                  <a:schemeClr val="bg1"/>
                </a:solidFill>
                <a:latin typeface="楷体" panose="02010609060101010101" charset="-122"/>
                <a:ea typeface="楷体" panose="02010609060101010101" charset="-122"/>
              </a:rPr>
              <a:t>其主要目标是确保项目在批准的预算范围内完成</a:t>
            </a:r>
            <a:r>
              <a:rPr lang="zh-CN" altLang="en-US" b="1" smtClean="0">
                <a:solidFill>
                  <a:schemeClr val="bg2"/>
                </a:solidFill>
                <a:latin typeface="楷体" panose="02010609060101010101" charset="-122"/>
                <a:ea typeface="楷体" panose="02010609060101010101" charset="-122"/>
              </a:rPr>
              <a:t>。</a:t>
            </a:r>
            <a:endParaRPr lang="zh-CN" altLang="en-US" dirty="0">
              <a:solidFill>
                <a:schemeClr val="bg2"/>
              </a:solidFill>
              <a:latin typeface="楷体" panose="02010609060101010101" charset="-122"/>
              <a:ea typeface="楷体" panose="02010609060101010101" charset="-122"/>
            </a:endParaRPr>
          </a:p>
        </p:txBody>
      </p:sp>
      <p:sp>
        <p:nvSpPr>
          <p:cNvPr id="13318" name="Rectangle 7"/>
          <p:cNvSpPr>
            <a:spLocks noChangeArrowheads="1"/>
          </p:cNvSpPr>
          <p:nvPr/>
        </p:nvSpPr>
        <p:spPr bwMode="auto">
          <a:xfrm>
            <a:off x="103188" y="620713"/>
            <a:ext cx="5405437" cy="553085"/>
          </a:xfrm>
          <a:prstGeom prst="rect">
            <a:avLst/>
          </a:prstGeom>
          <a:noFill/>
          <a:ln w="9525">
            <a:noFill/>
            <a:miter lim="800000"/>
          </a:ln>
        </p:spPr>
        <p:txBody>
          <a:bodyPr>
            <a:spAutoFit/>
          </a:bodyPr>
          <a:lstStyle/>
          <a:p>
            <a:r>
              <a:rPr kumimoji="0" lang="en-US" altLang="en-US" sz="3000" b="1"/>
              <a:t>6.1 </a:t>
            </a:r>
            <a:r>
              <a:rPr kumimoji="0" lang="en-US" altLang="en-US" sz="3000" b="1">
                <a:latin typeface="楷体" panose="02010609060101010101" charset="-122"/>
                <a:ea typeface="楷体" panose="02010609060101010101" charset="-122"/>
              </a:rPr>
              <a:t>项目成本管理概述</a:t>
            </a:r>
            <a:endParaRPr kumimoji="0" lang="en-US" altLang="en-US" sz="3000" b="1">
              <a:latin typeface="楷体" panose="02010609060101010101" charset="-122"/>
              <a:ea typeface="楷体" panose="02010609060101010101" charset="-122"/>
            </a:endParaRPr>
          </a:p>
        </p:txBody>
      </p:sp>
      <p:sp>
        <p:nvSpPr>
          <p:cNvPr id="13319" name="Rectangle 8"/>
          <p:cNvSpPr>
            <a:spLocks noChangeArrowheads="1"/>
          </p:cNvSpPr>
          <p:nvPr/>
        </p:nvSpPr>
        <p:spPr bwMode="auto">
          <a:xfrm>
            <a:off x="214282" y="1285860"/>
            <a:ext cx="4915535" cy="521970"/>
          </a:xfrm>
          <a:prstGeom prst="rect">
            <a:avLst/>
          </a:prstGeom>
          <a:noFill/>
          <a:ln w="9525">
            <a:noFill/>
            <a:miter lim="800000"/>
          </a:ln>
        </p:spPr>
        <p:txBody>
          <a:bodyPr wrap="none">
            <a:spAutoFit/>
          </a:bodyPr>
          <a:lstStyle/>
          <a:p>
            <a:r>
              <a:rPr kumimoji="0" lang="en-US" altLang="en-US" b="1">
                <a:solidFill>
                  <a:srgbClr val="FF0000"/>
                </a:solidFill>
                <a:ea typeface="楷体_GB2312" pitchFamily="49" charset="-122"/>
              </a:rPr>
              <a:t>6.1.1 </a:t>
            </a:r>
            <a:r>
              <a:rPr kumimoji="0" lang="en-US" altLang="en-US" b="1">
                <a:solidFill>
                  <a:srgbClr val="FF0000"/>
                </a:solidFill>
                <a:latin typeface="楷体" panose="02010609060101010101" charset="-122"/>
                <a:ea typeface="楷体" panose="02010609060101010101" charset="-122"/>
              </a:rPr>
              <a:t>项目成本与项目成本管理</a:t>
            </a:r>
            <a:endParaRPr kumimoji="0" lang="en-US" altLang="en-US" b="1">
              <a:solidFill>
                <a:srgbClr val="FF0000"/>
              </a:solidFill>
              <a:latin typeface="楷体" panose="02010609060101010101" charset="-122"/>
              <a:ea typeface="楷体" panose="02010609060101010101" charset="-122"/>
            </a:endParaRPr>
          </a:p>
        </p:txBody>
      </p:sp>
      <p:sp>
        <p:nvSpPr>
          <p:cNvPr id="13320" name="Text Box 9"/>
          <p:cNvSpPr txBox="1">
            <a:spLocks noChangeArrowheads="1"/>
          </p:cNvSpPr>
          <p:nvPr/>
        </p:nvSpPr>
        <p:spPr bwMode="auto">
          <a:xfrm>
            <a:off x="428596" y="1714488"/>
            <a:ext cx="5143536" cy="586105"/>
          </a:xfrm>
          <a:prstGeom prst="rect">
            <a:avLst/>
          </a:prstGeom>
          <a:noFill/>
          <a:ln w="28575">
            <a:noFill/>
            <a:miter lim="800000"/>
          </a:ln>
        </p:spPr>
        <p:txBody>
          <a:bodyPr wrap="square">
            <a:spAutoFit/>
          </a:bodyPr>
          <a:lstStyle/>
          <a:p>
            <a:pPr marL="457200" indent="-457200">
              <a:lnSpc>
                <a:spcPct val="115000"/>
              </a:lnSpc>
              <a:spcBef>
                <a:spcPct val="50000"/>
              </a:spcBef>
              <a:buClr>
                <a:schemeClr val="hlink"/>
              </a:buClr>
              <a:buFont typeface="Wingdings" panose="05000000000000000000" pitchFamily="2" charset="2"/>
              <a:buNone/>
            </a:pPr>
            <a:r>
              <a:rPr kumimoji="0" lang="en-US" altLang="en-US" b="1">
                <a:solidFill>
                  <a:schemeClr val="bg1"/>
                </a:solidFill>
                <a:ea typeface="黑体" panose="02010609060101010101" pitchFamily="2" charset="-122"/>
                <a:cs typeface="Times New Roman" panose="02020603050405020304" pitchFamily="18" charset="0"/>
              </a:rPr>
              <a:t>2</a:t>
            </a:r>
            <a:r>
              <a:rPr kumimoji="0" lang="en-US" altLang="en-US" b="1" smtClean="0">
                <a:solidFill>
                  <a:schemeClr val="bg1"/>
                </a:solidFill>
                <a:ea typeface="黑体" panose="02010609060101010101" pitchFamily="2" charset="-122"/>
                <a:cs typeface="Times New Roman" panose="02020603050405020304" pitchFamily="18" charset="0"/>
              </a:rPr>
              <a:t>）</a:t>
            </a:r>
            <a:r>
              <a:rPr kumimoji="0" lang="zh-CN" altLang="en-US" b="1" smtClean="0">
                <a:solidFill>
                  <a:schemeClr val="bg1"/>
                </a:solidFill>
                <a:latin typeface="楷体" panose="02010609060101010101" charset="-122"/>
                <a:ea typeface="楷体" panose="02010609060101010101" charset="-122"/>
              </a:rPr>
              <a:t>项目</a:t>
            </a:r>
            <a:r>
              <a:rPr kumimoji="0" lang="en-US" altLang="en-US" b="1" smtClean="0">
                <a:solidFill>
                  <a:schemeClr val="bg1"/>
                </a:solidFill>
                <a:latin typeface="楷体" panose="02010609060101010101" charset="-122"/>
                <a:ea typeface="楷体" panose="02010609060101010101" charset="-122"/>
              </a:rPr>
              <a:t>成本管理定义</a:t>
            </a:r>
            <a:r>
              <a:rPr kumimoji="0" lang="zh-CN" altLang="en-US" b="1" smtClean="0">
                <a:solidFill>
                  <a:schemeClr val="bg1"/>
                </a:solidFill>
                <a:latin typeface="楷体" panose="02010609060101010101" charset="-122"/>
                <a:ea typeface="楷体" panose="02010609060101010101" charset="-122"/>
              </a:rPr>
              <a:t>与过程</a:t>
            </a:r>
            <a:endParaRPr kumimoji="0" lang="en-US" altLang="en-US" b="1">
              <a:solidFill>
                <a:schemeClr val="bg1"/>
              </a:solidFill>
              <a:latin typeface="楷体" panose="02010609060101010101" charset="-122"/>
              <a:ea typeface="楷体" panose="02010609060101010101" charset="-122"/>
            </a:endParaRPr>
          </a:p>
        </p:txBody>
      </p:sp>
      <p:pic>
        <p:nvPicPr>
          <p:cNvPr id="9" name="图片 8"/>
          <p:cNvPicPr/>
          <p:nvPr/>
        </p:nvPicPr>
        <p:blipFill>
          <a:blip r:embed="rId1"/>
          <a:srcRect/>
          <a:stretch>
            <a:fillRect/>
          </a:stretch>
        </p:blipFill>
        <p:spPr bwMode="auto">
          <a:xfrm>
            <a:off x="714348" y="4143380"/>
            <a:ext cx="7643866" cy="2214579"/>
          </a:xfrm>
          <a:prstGeom prst="rect">
            <a:avLst/>
          </a:prstGeom>
          <a:noFill/>
          <a:ln w="9525">
            <a:noFill/>
            <a:miter lim="800000"/>
            <a:headEnd/>
            <a:tailEnd/>
          </a:ln>
        </p:spPr>
      </p:pic>
      <p:sp>
        <p:nvSpPr>
          <p:cNvPr id="10" name="Rectangle 7"/>
          <p:cNvSpPr>
            <a:spLocks noChangeArrowheads="1"/>
          </p:cNvSpPr>
          <p:nvPr/>
        </p:nvSpPr>
        <p:spPr bwMode="auto">
          <a:xfrm>
            <a:off x="2786050" y="6501350"/>
            <a:ext cx="4152920" cy="368300"/>
          </a:xfrm>
          <a:prstGeom prst="rect">
            <a:avLst/>
          </a:prstGeom>
          <a:noFill/>
          <a:ln w="9525">
            <a:noFill/>
            <a:miter lim="800000"/>
          </a:ln>
        </p:spPr>
        <p:txBody>
          <a:bodyPr wrap="square" anchor="ctr">
            <a:spAutoFit/>
          </a:bodyPr>
          <a:lstStyle/>
          <a:p>
            <a:pPr algn="ctr"/>
            <a:r>
              <a:rPr kumimoji="0" lang="zh-CN" altLang="en-US" sz="1800" b="1" smtClean="0">
                <a:solidFill>
                  <a:srgbClr val="FF0000"/>
                </a:solidFill>
                <a:latin typeface="楷体" panose="02010609060101010101" charset="-122"/>
                <a:ea typeface="楷体" panose="02010609060101010101" charset="-122"/>
              </a:rPr>
              <a:t>图</a:t>
            </a:r>
            <a:r>
              <a:rPr kumimoji="0" lang="en-US" altLang="en-US" sz="1800" b="1" smtClean="0">
                <a:solidFill>
                  <a:srgbClr val="FF0000"/>
                </a:solidFill>
                <a:latin typeface="楷体" panose="02010609060101010101" charset="-122"/>
                <a:ea typeface="楷体" panose="02010609060101010101" charset="-122"/>
              </a:rPr>
              <a:t>6-1</a:t>
            </a:r>
            <a:r>
              <a:rPr kumimoji="0" lang="en-US" altLang="en-US" sz="1800" b="1" smtClean="0">
                <a:solidFill>
                  <a:srgbClr val="FF0000"/>
                </a:solidFill>
                <a:latin typeface="Arial" panose="020B0604020202020204" pitchFamily="34" charset="0"/>
              </a:rPr>
              <a:t> </a:t>
            </a:r>
            <a:r>
              <a:rPr kumimoji="0" lang="zh-CN" altLang="en-US" sz="1800" b="1" smtClean="0">
                <a:solidFill>
                  <a:srgbClr val="FF0000"/>
                </a:solidFill>
                <a:latin typeface="楷体" panose="02010609060101010101" charset="-122"/>
                <a:ea typeface="楷体" panose="02010609060101010101" charset="-122"/>
              </a:rPr>
              <a:t>项目成本管理主要过程</a:t>
            </a:r>
            <a:endParaRPr kumimoji="0" lang="zh-CN" altLang="en-US" sz="1800" b="1" smtClean="0">
              <a:solidFill>
                <a:srgbClr val="FF0000"/>
              </a:solidFill>
              <a:latin typeface="楷体" panose="02010609060101010101" charset="-122"/>
              <a:ea typeface="楷体" panose="0201060906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9"/>
          <p:cNvSpPr>
            <a:spLocks noGrp="1" noChangeArrowheads="1"/>
          </p:cNvSpPr>
          <p:nvPr>
            <p:ph type="sldNum" sz="quarter" idx="10"/>
          </p:nvPr>
        </p:nvSpPr>
        <p:spPr>
          <a:noFill/>
        </p:spPr>
        <p:txBody>
          <a:bodyPr/>
          <a:lstStyle/>
          <a:p>
            <a:r>
              <a:rPr lang="zh-CN" altLang="en-GB" smtClean="0"/>
              <a:t>  </a:t>
            </a:r>
            <a:fld id="{A703FC60-B95E-45BC-A783-225EF42A76F3}" type="slidenum">
              <a:rPr lang="zh-CN" altLang="en-GB" smtClean="0"/>
            </a:fld>
            <a:endParaRPr lang="en-US" altLang="zh-CN" smtClean="0"/>
          </a:p>
        </p:txBody>
      </p:sp>
      <p:sp>
        <p:nvSpPr>
          <p:cNvPr id="14339"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b="1" smtClean="0">
                <a:solidFill>
                  <a:schemeClr val="bg2"/>
                </a:solidFill>
              </a:rPr>
              <a:t>P.13</a:t>
            </a:r>
            <a:endParaRPr lang="en-US" altLang="zh-CN" sz="2400" b="1">
              <a:solidFill>
                <a:schemeClr val="bg2"/>
              </a:solidFill>
            </a:endParaRPr>
          </a:p>
        </p:txBody>
      </p:sp>
      <p:sp>
        <p:nvSpPr>
          <p:cNvPr id="14340" name="Rectangle 4"/>
          <p:cNvSpPr>
            <a:spLocks noChangeArrowheads="1"/>
          </p:cNvSpPr>
          <p:nvPr/>
        </p:nvSpPr>
        <p:spPr bwMode="auto">
          <a:xfrm>
            <a:off x="0" y="2316163"/>
            <a:ext cx="9144000" cy="0"/>
          </a:xfrm>
          <a:prstGeom prst="rect">
            <a:avLst/>
          </a:prstGeom>
          <a:noFill/>
          <a:ln w="9525">
            <a:noFill/>
            <a:miter lim="800000"/>
          </a:ln>
        </p:spPr>
        <p:txBody>
          <a:bodyPr wrap="none" anchor="ctr">
            <a:spAutoFit/>
          </a:bodyPr>
          <a:lstStyle/>
          <a:p>
            <a:pPr algn="r">
              <a:spcBef>
                <a:spcPct val="50000"/>
              </a:spcBef>
            </a:pPr>
            <a:endParaRPr lang="zh-CN" altLang="en-US"/>
          </a:p>
        </p:txBody>
      </p:sp>
      <p:sp>
        <p:nvSpPr>
          <p:cNvPr id="14342" name="Rectangle 10"/>
          <p:cNvSpPr>
            <a:spLocks noChangeArrowheads="1"/>
          </p:cNvSpPr>
          <p:nvPr/>
        </p:nvSpPr>
        <p:spPr bwMode="auto">
          <a:xfrm>
            <a:off x="103188" y="620713"/>
            <a:ext cx="5405437" cy="553085"/>
          </a:xfrm>
          <a:prstGeom prst="rect">
            <a:avLst/>
          </a:prstGeom>
          <a:noFill/>
          <a:ln w="9525">
            <a:noFill/>
            <a:miter lim="800000"/>
          </a:ln>
        </p:spPr>
        <p:txBody>
          <a:bodyPr>
            <a:spAutoFit/>
          </a:bodyPr>
          <a:lstStyle/>
          <a:p>
            <a:r>
              <a:rPr kumimoji="0" lang="en-US" altLang="en-US" sz="3000" b="1"/>
              <a:t>6.1 </a:t>
            </a:r>
            <a:r>
              <a:rPr kumimoji="0" lang="en-US" altLang="en-US" sz="3000" b="1">
                <a:latin typeface="楷体" panose="02010609060101010101" charset="-122"/>
                <a:ea typeface="楷体" panose="02010609060101010101" charset="-122"/>
              </a:rPr>
              <a:t>项目成本管理概述</a:t>
            </a:r>
            <a:endParaRPr kumimoji="0" lang="en-US" altLang="en-US" sz="3000" b="1">
              <a:latin typeface="楷体" panose="02010609060101010101" charset="-122"/>
              <a:ea typeface="楷体" panose="02010609060101010101" charset="-122"/>
            </a:endParaRPr>
          </a:p>
        </p:txBody>
      </p:sp>
      <p:pic>
        <p:nvPicPr>
          <p:cNvPr id="35842" name="Picture 2"/>
          <p:cNvPicPr>
            <a:picLocks noChangeAspect="1" noChangeArrowheads="1"/>
          </p:cNvPicPr>
          <p:nvPr/>
        </p:nvPicPr>
        <p:blipFill>
          <a:blip r:embed="rId1"/>
          <a:srcRect/>
          <a:stretch>
            <a:fillRect/>
          </a:stretch>
        </p:blipFill>
        <p:spPr bwMode="auto">
          <a:xfrm>
            <a:off x="0" y="1357298"/>
            <a:ext cx="9144000" cy="5500702"/>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9"/>
          <p:cNvSpPr>
            <a:spLocks noGrp="1" noChangeArrowheads="1"/>
          </p:cNvSpPr>
          <p:nvPr>
            <p:ph type="sldNum" sz="quarter" idx="10"/>
          </p:nvPr>
        </p:nvSpPr>
        <p:spPr>
          <a:noFill/>
        </p:spPr>
        <p:txBody>
          <a:bodyPr/>
          <a:lstStyle/>
          <a:p>
            <a:r>
              <a:rPr lang="zh-CN" altLang="en-GB" smtClean="0"/>
              <a:t>  </a:t>
            </a:r>
            <a:fld id="{9EF4B615-B977-4819-B5B8-4687C2766EB7}" type="slidenum">
              <a:rPr lang="zh-CN" altLang="en-GB" smtClean="0"/>
            </a:fld>
            <a:endParaRPr lang="en-US" altLang="zh-CN" smtClean="0"/>
          </a:p>
        </p:txBody>
      </p:sp>
      <p:sp>
        <p:nvSpPr>
          <p:cNvPr id="15363"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b="1" smtClean="0">
                <a:solidFill>
                  <a:schemeClr val="bg2"/>
                </a:solidFill>
              </a:rPr>
              <a:t>P.132</a:t>
            </a:r>
            <a:endParaRPr lang="en-US" altLang="zh-CN" sz="2400" b="1">
              <a:solidFill>
                <a:schemeClr val="bg2"/>
              </a:solidFill>
            </a:endParaRPr>
          </a:p>
        </p:txBody>
      </p:sp>
      <p:sp>
        <p:nvSpPr>
          <p:cNvPr id="15364" name="Rectangle 4"/>
          <p:cNvSpPr>
            <a:spLocks noChangeArrowheads="1"/>
          </p:cNvSpPr>
          <p:nvPr/>
        </p:nvSpPr>
        <p:spPr bwMode="auto">
          <a:xfrm>
            <a:off x="0" y="2316163"/>
            <a:ext cx="9144000" cy="0"/>
          </a:xfrm>
          <a:prstGeom prst="rect">
            <a:avLst/>
          </a:prstGeom>
          <a:noFill/>
          <a:ln w="9525">
            <a:noFill/>
            <a:miter lim="800000"/>
          </a:ln>
        </p:spPr>
        <p:txBody>
          <a:bodyPr wrap="none" anchor="ctr">
            <a:spAutoFit/>
          </a:bodyPr>
          <a:lstStyle/>
          <a:p>
            <a:pPr algn="r">
              <a:spcBef>
                <a:spcPct val="50000"/>
              </a:spcBef>
            </a:pPr>
            <a:endParaRPr lang="zh-CN" altLang="en-US"/>
          </a:p>
        </p:txBody>
      </p:sp>
      <p:sp>
        <p:nvSpPr>
          <p:cNvPr id="15365" name="Text Box 5"/>
          <p:cNvSpPr txBox="1">
            <a:spLocks noChangeArrowheads="1"/>
          </p:cNvSpPr>
          <p:nvPr/>
        </p:nvSpPr>
        <p:spPr bwMode="auto">
          <a:xfrm>
            <a:off x="527685" y="1925320"/>
            <a:ext cx="8184515" cy="2553335"/>
          </a:xfrm>
          <a:prstGeom prst="rect">
            <a:avLst/>
          </a:prstGeom>
          <a:noFill/>
          <a:ln w="9525" algn="ctr">
            <a:noFill/>
            <a:miter lim="800000"/>
          </a:ln>
        </p:spPr>
        <p:txBody>
          <a:bodyPr wrap="square">
            <a:spAutoFit/>
          </a:bodyPr>
          <a:lstStyle/>
          <a:p>
            <a:pPr>
              <a:spcBef>
                <a:spcPts val="600"/>
              </a:spcBef>
              <a:spcAft>
                <a:spcPts val="600"/>
              </a:spcAft>
              <a:buClr>
                <a:schemeClr val="hlink"/>
              </a:buClr>
            </a:pPr>
            <a:r>
              <a:rPr lang="zh-CN" altLang="en-US" b="1" smtClean="0">
                <a:solidFill>
                  <a:schemeClr val="bg2"/>
                </a:solidFill>
                <a:latin typeface="楷体" panose="02010609060101010101" charset="-122"/>
                <a:ea typeface="楷体" panose="02010609060101010101" charset="-122"/>
                <a:cs typeface="楷体" panose="02010609060101010101" charset="-122"/>
              </a:rPr>
              <a:t>由于</a:t>
            </a:r>
            <a:r>
              <a:rPr lang="en-US" altLang="zh-CN" b="1" smtClean="0">
                <a:solidFill>
                  <a:schemeClr val="bg2"/>
                </a:solidFill>
                <a:ea typeface="楷体" panose="02010609060101010101" charset="-122"/>
                <a:cs typeface="Times New Roman" panose="02020603050405020304" pitchFamily="18" charset="0"/>
              </a:rPr>
              <a:t>IT</a:t>
            </a:r>
            <a:r>
              <a:rPr lang="zh-CN" altLang="en-US" b="1" smtClean="0">
                <a:solidFill>
                  <a:schemeClr val="bg2"/>
                </a:solidFill>
                <a:latin typeface="楷体" panose="02010609060101010101" charset="-122"/>
                <a:ea typeface="楷体" panose="02010609060101010101" charset="-122"/>
                <a:cs typeface="楷体" panose="02010609060101010101" charset="-122"/>
              </a:rPr>
              <a:t>项目的复杂性</a:t>
            </a:r>
            <a:r>
              <a:rPr lang="zh-CN" altLang="en-US" b="1">
                <a:solidFill>
                  <a:schemeClr val="bg2"/>
                </a:solidFill>
                <a:latin typeface="楷体" panose="02010609060101010101" charset="-122"/>
                <a:ea typeface="楷体" panose="02010609060101010101" charset="-122"/>
                <a:cs typeface="楷体" panose="02010609060101010101" charset="-122"/>
              </a:rPr>
              <a:t>特点，使得影响项目成本的因素非常多，而且变化大</a:t>
            </a:r>
            <a:r>
              <a:rPr lang="zh-CN" altLang="en-US" b="1" smtClean="0">
                <a:solidFill>
                  <a:schemeClr val="bg2"/>
                </a:solidFill>
                <a:latin typeface="楷体" panose="02010609060101010101" charset="-122"/>
                <a:ea typeface="楷体" panose="02010609060101010101" charset="-122"/>
                <a:cs typeface="楷体" panose="02010609060101010101" charset="-122"/>
              </a:rPr>
              <a:t>。</a:t>
            </a:r>
            <a:endParaRPr lang="en-US" altLang="zh-CN" b="1" smtClean="0">
              <a:solidFill>
                <a:schemeClr val="bg2"/>
              </a:solidFill>
              <a:latin typeface="楷体" panose="02010609060101010101" charset="-122"/>
              <a:ea typeface="楷体" panose="02010609060101010101" charset="-122"/>
              <a:cs typeface="楷体" panose="02010609060101010101" charset="-122"/>
            </a:endParaRPr>
          </a:p>
          <a:p>
            <a:pPr>
              <a:spcBef>
                <a:spcPts val="600"/>
              </a:spcBef>
              <a:spcAft>
                <a:spcPts val="600"/>
              </a:spcAft>
              <a:buClr>
                <a:schemeClr val="hlink"/>
              </a:buClr>
            </a:pPr>
            <a:r>
              <a:rPr lang="zh-CN" altLang="en-US" b="1" smtClean="0">
                <a:solidFill>
                  <a:schemeClr val="bg2"/>
                </a:solidFill>
                <a:latin typeface="楷体" panose="02010609060101010101" charset="-122"/>
                <a:ea typeface="楷体" panose="02010609060101010101" charset="-122"/>
                <a:cs typeface="楷体" panose="02010609060101010101" charset="-122"/>
              </a:rPr>
              <a:t>在</a:t>
            </a:r>
            <a:r>
              <a:rPr lang="zh-CN" altLang="en-US" b="1">
                <a:solidFill>
                  <a:schemeClr val="bg2"/>
                </a:solidFill>
                <a:latin typeface="楷体" panose="02010609060101010101" charset="-122"/>
                <a:ea typeface="楷体" panose="02010609060101010101" charset="-122"/>
                <a:cs typeface="楷体" panose="02010609060101010101" charset="-122"/>
              </a:rPr>
              <a:t>这些因素中，</a:t>
            </a:r>
            <a:r>
              <a:rPr lang="zh-CN" altLang="en-US" b="1">
                <a:solidFill>
                  <a:schemeClr val="bg1"/>
                </a:solidFill>
                <a:latin typeface="楷体" panose="02010609060101010101" charset="-122"/>
                <a:ea typeface="楷体" panose="02010609060101010101" charset="-122"/>
                <a:cs typeface="楷体" panose="02010609060101010101" charset="-122"/>
              </a:rPr>
              <a:t>质量</a:t>
            </a:r>
            <a:r>
              <a:rPr lang="zh-CN" altLang="en-US" b="1">
                <a:solidFill>
                  <a:schemeClr val="bg2"/>
                </a:solidFill>
                <a:latin typeface="楷体" panose="02010609060101010101" charset="-122"/>
                <a:ea typeface="楷体" panose="02010609060101010101" charset="-122"/>
                <a:cs typeface="楷体" panose="02010609060101010101" charset="-122"/>
              </a:rPr>
              <a:t>、</a:t>
            </a:r>
            <a:r>
              <a:rPr lang="zh-CN" altLang="en-US" b="1">
                <a:solidFill>
                  <a:schemeClr val="bg1"/>
                </a:solidFill>
                <a:latin typeface="楷体" panose="02010609060101010101" charset="-122"/>
                <a:ea typeface="楷体" panose="02010609060101010101" charset="-122"/>
                <a:cs typeface="楷体" panose="02010609060101010101" charset="-122"/>
              </a:rPr>
              <a:t>进度</a:t>
            </a:r>
            <a:r>
              <a:rPr lang="zh-CN" altLang="en-US" b="1">
                <a:solidFill>
                  <a:schemeClr val="bg2"/>
                </a:solidFill>
                <a:latin typeface="楷体" panose="02010609060101010101" charset="-122"/>
                <a:ea typeface="楷体" panose="02010609060101010101" charset="-122"/>
                <a:cs typeface="楷体" panose="02010609060101010101" charset="-122"/>
              </a:rPr>
              <a:t>和</a:t>
            </a:r>
            <a:r>
              <a:rPr lang="zh-CN" altLang="en-US" b="1">
                <a:solidFill>
                  <a:schemeClr val="bg1"/>
                </a:solidFill>
                <a:latin typeface="楷体" panose="02010609060101010101" charset="-122"/>
                <a:ea typeface="楷体" panose="02010609060101010101" charset="-122"/>
                <a:cs typeface="楷体" panose="02010609060101010101" charset="-122"/>
              </a:rPr>
              <a:t>范围</a:t>
            </a:r>
            <a:r>
              <a:rPr lang="zh-CN" altLang="en-US" b="1">
                <a:solidFill>
                  <a:schemeClr val="bg2"/>
                </a:solidFill>
                <a:latin typeface="楷体" panose="02010609060101010101" charset="-122"/>
                <a:ea typeface="楷体" panose="02010609060101010101" charset="-122"/>
                <a:cs typeface="楷体" panose="02010609060101010101" charset="-122"/>
              </a:rPr>
              <a:t>对项目成本的影响非常突出，而且关联性很强</a:t>
            </a:r>
            <a:r>
              <a:rPr lang="zh-CN" altLang="en-US" b="1" smtClean="0">
                <a:solidFill>
                  <a:schemeClr val="bg2"/>
                </a:solidFill>
                <a:latin typeface="楷体" panose="02010609060101010101" charset="-122"/>
                <a:ea typeface="楷体" panose="02010609060101010101" charset="-122"/>
                <a:cs typeface="楷体" panose="02010609060101010101" charset="-122"/>
              </a:rPr>
              <a:t>。</a:t>
            </a:r>
            <a:endParaRPr lang="en-US" altLang="zh-CN" b="1" smtClean="0">
              <a:solidFill>
                <a:schemeClr val="bg2"/>
              </a:solidFill>
              <a:latin typeface="楷体" panose="02010609060101010101" charset="-122"/>
              <a:ea typeface="楷体" panose="02010609060101010101" charset="-122"/>
              <a:cs typeface="楷体" panose="02010609060101010101" charset="-122"/>
            </a:endParaRPr>
          </a:p>
          <a:p>
            <a:pPr lvl="1" indent="0">
              <a:spcBef>
                <a:spcPts val="600"/>
              </a:spcBef>
              <a:spcAft>
                <a:spcPts val="600"/>
              </a:spcAft>
              <a:buClr>
                <a:schemeClr val="bg1">
                  <a:lumMod val="50000"/>
                </a:schemeClr>
              </a:buClr>
              <a:buFont typeface="+mj-ea"/>
              <a:buNone/>
            </a:pPr>
            <a:endParaRPr lang="zh-CN" altLang="en-US" b="1" smtClean="0">
              <a:solidFill>
                <a:srgbClr val="0000FF"/>
              </a:solidFill>
              <a:latin typeface="楷体" panose="02010609060101010101" charset="-122"/>
              <a:ea typeface="楷体" panose="02010609060101010101" charset="-122"/>
              <a:cs typeface="楷体" panose="02010609060101010101" charset="-122"/>
            </a:endParaRPr>
          </a:p>
        </p:txBody>
      </p:sp>
      <p:sp>
        <p:nvSpPr>
          <p:cNvPr id="15369" name="Rectangle 10"/>
          <p:cNvSpPr>
            <a:spLocks noChangeArrowheads="1"/>
          </p:cNvSpPr>
          <p:nvPr/>
        </p:nvSpPr>
        <p:spPr bwMode="auto">
          <a:xfrm>
            <a:off x="103188" y="620713"/>
            <a:ext cx="5405437" cy="553085"/>
          </a:xfrm>
          <a:prstGeom prst="rect">
            <a:avLst/>
          </a:prstGeom>
          <a:noFill/>
          <a:ln w="9525">
            <a:noFill/>
            <a:miter lim="800000"/>
          </a:ln>
        </p:spPr>
        <p:txBody>
          <a:bodyPr>
            <a:spAutoFit/>
          </a:bodyPr>
          <a:lstStyle/>
          <a:p>
            <a:r>
              <a:rPr kumimoji="0" lang="en-US" altLang="en-US" sz="3000" b="1"/>
              <a:t>6.1 </a:t>
            </a:r>
            <a:r>
              <a:rPr kumimoji="0" lang="en-US" altLang="en-US" sz="3000" b="1">
                <a:latin typeface="楷体" panose="02010609060101010101" charset="-122"/>
                <a:ea typeface="楷体" panose="02010609060101010101" charset="-122"/>
              </a:rPr>
              <a:t>项目成本管理概述</a:t>
            </a:r>
            <a:endParaRPr kumimoji="0" lang="en-US" altLang="en-US" sz="3000" b="1">
              <a:latin typeface="楷体" panose="02010609060101010101" charset="-122"/>
              <a:ea typeface="楷体" panose="02010609060101010101" charset="-122"/>
            </a:endParaRPr>
          </a:p>
        </p:txBody>
      </p:sp>
      <p:sp>
        <p:nvSpPr>
          <p:cNvPr id="15370" name="Rectangle 11"/>
          <p:cNvSpPr>
            <a:spLocks noChangeArrowheads="1"/>
          </p:cNvSpPr>
          <p:nvPr/>
        </p:nvSpPr>
        <p:spPr bwMode="auto">
          <a:xfrm>
            <a:off x="214282" y="1341438"/>
            <a:ext cx="4576445" cy="521970"/>
          </a:xfrm>
          <a:prstGeom prst="rect">
            <a:avLst/>
          </a:prstGeom>
          <a:noFill/>
          <a:ln w="9525">
            <a:noFill/>
            <a:miter lim="800000"/>
          </a:ln>
        </p:spPr>
        <p:txBody>
          <a:bodyPr wrap="none">
            <a:spAutoFit/>
          </a:bodyPr>
          <a:lstStyle/>
          <a:p>
            <a:r>
              <a:rPr kumimoji="0" lang="en-US" altLang="en-US" b="1">
                <a:solidFill>
                  <a:srgbClr val="FF0000"/>
                </a:solidFill>
                <a:ea typeface="楷体_GB2312" pitchFamily="49" charset="-122"/>
              </a:rPr>
              <a:t>6.1.2 </a:t>
            </a:r>
            <a:r>
              <a:rPr kumimoji="0" lang="en-US" altLang="en-US" b="1">
                <a:solidFill>
                  <a:srgbClr val="FF0000"/>
                </a:solidFill>
                <a:latin typeface="楷体" panose="02010609060101010101" charset="-122"/>
                <a:ea typeface="楷体" panose="02010609060101010101" charset="-122"/>
                <a:cs typeface="楷体" panose="02010609060101010101" charset="-122"/>
              </a:rPr>
              <a:t>影响</a:t>
            </a:r>
            <a:r>
              <a:rPr kumimoji="0" lang="en-US" altLang="en-US" b="1">
                <a:solidFill>
                  <a:srgbClr val="FF0000"/>
                </a:solidFill>
                <a:ea typeface="楷体" panose="02010609060101010101" charset="-122"/>
                <a:cs typeface="Times New Roman" panose="02020603050405020304" pitchFamily="18" charset="0"/>
              </a:rPr>
              <a:t>IT</a:t>
            </a:r>
            <a:r>
              <a:rPr kumimoji="0" lang="en-US" altLang="en-US" b="1">
                <a:solidFill>
                  <a:srgbClr val="FF0000"/>
                </a:solidFill>
                <a:latin typeface="楷体" panose="02010609060101010101" charset="-122"/>
                <a:ea typeface="楷体" panose="02010609060101010101" charset="-122"/>
                <a:cs typeface="楷体" panose="02010609060101010101" charset="-122"/>
              </a:rPr>
              <a:t>项目成本的因素</a:t>
            </a:r>
            <a:endParaRPr kumimoji="0" lang="en-US" altLang="en-US" b="1">
              <a:solidFill>
                <a:srgbClr val="FF0000"/>
              </a:solidFill>
              <a:latin typeface="楷体" panose="02010609060101010101" charset="-122"/>
              <a:ea typeface="楷体" panose="02010609060101010101" charset="-122"/>
              <a:cs typeface="楷体" panose="02010609060101010101" charset="-122"/>
            </a:endParaRPr>
          </a:p>
        </p:txBody>
      </p:sp>
      <p:pic>
        <p:nvPicPr>
          <p:cNvPr id="12" name="Picture 8" descr="图6-2 质量、进度、范围和成本综合关系图"/>
          <p:cNvPicPr>
            <a:picLocks noChangeAspect="1" noChangeArrowheads="1"/>
          </p:cNvPicPr>
          <p:nvPr/>
        </p:nvPicPr>
        <p:blipFill>
          <a:blip r:embed="rId1" cstate="print"/>
          <a:srcRect/>
          <a:stretch>
            <a:fillRect/>
          </a:stretch>
        </p:blipFill>
        <p:spPr bwMode="auto">
          <a:xfrm>
            <a:off x="4929190" y="4264051"/>
            <a:ext cx="3857652" cy="2093907"/>
          </a:xfrm>
          <a:prstGeom prst="rect">
            <a:avLst/>
          </a:prstGeom>
          <a:noFill/>
          <a:ln w="9525">
            <a:noFill/>
            <a:miter lim="800000"/>
            <a:headEnd/>
            <a:tailEnd/>
          </a:ln>
        </p:spPr>
      </p:pic>
      <p:sp>
        <p:nvSpPr>
          <p:cNvPr id="13" name="Rectangle 9"/>
          <p:cNvSpPr>
            <a:spLocks noChangeArrowheads="1"/>
          </p:cNvSpPr>
          <p:nvPr/>
        </p:nvSpPr>
        <p:spPr bwMode="auto">
          <a:xfrm>
            <a:off x="5286380" y="6501350"/>
            <a:ext cx="3071834" cy="368300"/>
          </a:xfrm>
          <a:prstGeom prst="rect">
            <a:avLst/>
          </a:prstGeom>
          <a:noFill/>
          <a:ln w="9525">
            <a:noFill/>
            <a:miter lim="800000"/>
          </a:ln>
        </p:spPr>
        <p:txBody>
          <a:bodyPr wrap="square" anchor="ctr">
            <a:spAutoFit/>
          </a:bodyPr>
          <a:lstStyle/>
          <a:p>
            <a:pPr algn="ctr"/>
            <a:r>
              <a:rPr kumimoji="0" lang="zh-CN" altLang="en-US" sz="1800" b="1" smtClean="0">
                <a:solidFill>
                  <a:srgbClr val="FF0000"/>
                </a:solidFill>
                <a:latin typeface="楷体" panose="02010609060101010101" charset="-122"/>
                <a:ea typeface="楷体" panose="02010609060101010101" charset="-122"/>
                <a:cs typeface="楷体" panose="02010609060101010101" charset="-122"/>
              </a:rPr>
              <a:t>图</a:t>
            </a:r>
            <a:r>
              <a:rPr kumimoji="0" lang="en-US" altLang="zh-CN" sz="1800" b="1" smtClean="0">
                <a:solidFill>
                  <a:srgbClr val="FF0000"/>
                </a:solidFill>
                <a:ea typeface="楷体" panose="02010609060101010101" charset="-122"/>
                <a:cs typeface="Times New Roman" panose="02020603050405020304" pitchFamily="18" charset="0"/>
              </a:rPr>
              <a:t>6-2</a:t>
            </a:r>
            <a:r>
              <a:rPr kumimoji="0" lang="en-US" altLang="zh-CN" sz="1800" b="1" smtClean="0">
                <a:solidFill>
                  <a:srgbClr val="FF0000"/>
                </a:solidFill>
                <a:latin typeface="楷体" panose="02010609060101010101" charset="-122"/>
                <a:ea typeface="楷体" panose="02010609060101010101" charset="-122"/>
                <a:cs typeface="楷体" panose="02010609060101010101" charset="-122"/>
              </a:rPr>
              <a:t> </a:t>
            </a:r>
            <a:r>
              <a:rPr kumimoji="0" lang="zh-CN" altLang="en-US" sz="1800" b="1" smtClean="0">
                <a:solidFill>
                  <a:srgbClr val="FF0000"/>
                </a:solidFill>
                <a:latin typeface="楷体" panose="02010609060101010101" charset="-122"/>
                <a:ea typeface="楷体" panose="02010609060101010101" charset="-122"/>
                <a:cs typeface="楷体" panose="02010609060101010101" charset="-122"/>
              </a:rPr>
              <a:t>综合</a:t>
            </a:r>
            <a:r>
              <a:rPr kumimoji="0" lang="zh-CN" altLang="en-US" sz="1800" b="1">
                <a:solidFill>
                  <a:srgbClr val="FF0000"/>
                </a:solidFill>
                <a:latin typeface="楷体" panose="02010609060101010101" charset="-122"/>
                <a:ea typeface="楷体" panose="02010609060101010101" charset="-122"/>
                <a:cs typeface="楷体" panose="02010609060101010101" charset="-122"/>
              </a:rPr>
              <a:t>关系图</a:t>
            </a:r>
            <a:endParaRPr kumimoji="0" lang="zh-CN" altLang="en-US" sz="1800" b="1">
              <a:solidFill>
                <a:srgbClr val="FF0000"/>
              </a:solidFill>
              <a:latin typeface="楷体" panose="02010609060101010101" charset="-122"/>
              <a:ea typeface="楷体" panose="02010609060101010101" charset="-122"/>
              <a:cs typeface="楷体" panose="0201060906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5365">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9"/>
          <p:cNvSpPr>
            <a:spLocks noGrp="1" noChangeArrowheads="1"/>
          </p:cNvSpPr>
          <p:nvPr>
            <p:ph type="sldNum" sz="quarter" idx="10"/>
          </p:nvPr>
        </p:nvSpPr>
        <p:spPr>
          <a:noFill/>
        </p:spPr>
        <p:txBody>
          <a:bodyPr/>
          <a:lstStyle/>
          <a:p>
            <a:r>
              <a:rPr lang="zh-CN" altLang="en-GB" smtClean="0"/>
              <a:t>  </a:t>
            </a:r>
            <a:fld id="{9EF4B615-B977-4819-B5B8-4687C2766EB7}" type="slidenum">
              <a:rPr lang="zh-CN" altLang="en-GB" smtClean="0"/>
            </a:fld>
            <a:endParaRPr lang="en-US" altLang="zh-CN" smtClean="0"/>
          </a:p>
        </p:txBody>
      </p:sp>
      <p:sp>
        <p:nvSpPr>
          <p:cNvPr id="15363"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b="1" smtClean="0">
                <a:solidFill>
                  <a:schemeClr val="bg2"/>
                </a:solidFill>
              </a:rPr>
              <a:t>P.133</a:t>
            </a:r>
            <a:endParaRPr lang="en-US" altLang="zh-CN" sz="2400" b="1">
              <a:solidFill>
                <a:schemeClr val="bg2"/>
              </a:solidFill>
            </a:endParaRPr>
          </a:p>
        </p:txBody>
      </p:sp>
      <p:sp>
        <p:nvSpPr>
          <p:cNvPr id="15364" name="Rectangle 4"/>
          <p:cNvSpPr>
            <a:spLocks noChangeArrowheads="1"/>
          </p:cNvSpPr>
          <p:nvPr/>
        </p:nvSpPr>
        <p:spPr bwMode="auto">
          <a:xfrm>
            <a:off x="0" y="2316163"/>
            <a:ext cx="9144000" cy="0"/>
          </a:xfrm>
          <a:prstGeom prst="rect">
            <a:avLst/>
          </a:prstGeom>
          <a:noFill/>
          <a:ln w="9525">
            <a:noFill/>
            <a:miter lim="800000"/>
          </a:ln>
        </p:spPr>
        <p:txBody>
          <a:bodyPr wrap="none" anchor="ctr">
            <a:spAutoFit/>
          </a:bodyPr>
          <a:lstStyle/>
          <a:p>
            <a:pPr algn="r">
              <a:spcBef>
                <a:spcPct val="50000"/>
              </a:spcBef>
            </a:pPr>
            <a:endParaRPr lang="zh-CN" altLang="en-US"/>
          </a:p>
        </p:txBody>
      </p:sp>
      <p:sp>
        <p:nvSpPr>
          <p:cNvPr id="1143815" name="Text Box 7"/>
          <p:cNvSpPr txBox="1">
            <a:spLocks noChangeArrowheads="1"/>
          </p:cNvSpPr>
          <p:nvPr/>
        </p:nvSpPr>
        <p:spPr bwMode="auto">
          <a:xfrm>
            <a:off x="428596" y="1833547"/>
            <a:ext cx="8321703" cy="4707890"/>
          </a:xfrm>
          <a:prstGeom prst="rect">
            <a:avLst/>
          </a:prstGeom>
          <a:noFill/>
          <a:ln w="9525" algn="ctr">
            <a:noFill/>
            <a:miter lim="800000"/>
          </a:ln>
        </p:spPr>
        <p:txBody>
          <a:bodyPr wrap="square">
            <a:spAutoFit/>
          </a:bodyPr>
          <a:lstStyle/>
          <a:p>
            <a:pPr>
              <a:spcBef>
                <a:spcPts val="600"/>
              </a:spcBef>
              <a:spcAft>
                <a:spcPts val="600"/>
              </a:spcAft>
            </a:pPr>
            <a:r>
              <a:rPr lang="zh-CN" altLang="en-US" b="1" smtClean="0">
                <a:solidFill>
                  <a:srgbClr val="0000FF"/>
                </a:solidFill>
                <a:latin typeface="楷体" panose="02010609060101010101" charset="-122"/>
                <a:ea typeface="楷体" panose="02010609060101010101" charset="-122"/>
                <a:cs typeface="楷体" panose="02010609060101010101" charset="-122"/>
              </a:rPr>
              <a:t>项目成本管理需要注意以下几点：</a:t>
            </a:r>
            <a:endParaRPr lang="zh-CN" altLang="en-US" b="1" smtClean="0">
              <a:solidFill>
                <a:schemeClr val="bg1">
                  <a:lumMod val="50000"/>
                </a:schemeClr>
              </a:solidFill>
              <a:latin typeface="楷体" panose="02010609060101010101" charset="-122"/>
              <a:ea typeface="楷体" panose="02010609060101010101" charset="-122"/>
              <a:cs typeface="楷体" panose="02010609060101010101" charset="-122"/>
            </a:endParaRPr>
          </a:p>
          <a:p>
            <a:pPr>
              <a:spcBef>
                <a:spcPts val="600"/>
              </a:spcBef>
              <a:spcAft>
                <a:spcPts val="600"/>
              </a:spcAft>
            </a:pPr>
            <a:r>
              <a:rPr lang="zh-CN" altLang="en-US" b="1" smtClean="0">
                <a:solidFill>
                  <a:schemeClr val="bg2"/>
                </a:solidFill>
                <a:uFillTx/>
                <a:ea typeface="楷体" panose="02010609060101010101" charset="-122"/>
                <a:cs typeface="楷体" panose="02010609060101010101" charset="-122"/>
              </a:rPr>
              <a:t>（</a:t>
            </a:r>
            <a:r>
              <a:rPr lang="en-US" b="1" smtClean="0">
                <a:solidFill>
                  <a:schemeClr val="bg2"/>
                </a:solidFill>
                <a:uFillTx/>
                <a:ea typeface="楷体" panose="02010609060101010101" charset="-122"/>
                <a:cs typeface="楷体" panose="02010609060101010101" charset="-122"/>
              </a:rPr>
              <a:t>1</a:t>
            </a:r>
            <a:r>
              <a:rPr lang="zh-CN" altLang="en-US" b="1" smtClean="0">
                <a:solidFill>
                  <a:schemeClr val="bg2"/>
                </a:solidFill>
                <a:uFillTx/>
                <a:ea typeface="楷体" panose="02010609060101010101" charset="-122"/>
                <a:cs typeface="楷体" panose="02010609060101010101" charset="-122"/>
              </a:rPr>
              <a:t>）成本管理过程不仅</a:t>
            </a:r>
            <a:r>
              <a:rPr lang="zh-CN" altLang="en-US" b="1" smtClean="0">
                <a:solidFill>
                  <a:schemeClr val="bg1"/>
                </a:solidFill>
                <a:uFillTx/>
                <a:ea typeface="楷体" panose="02010609060101010101" charset="-122"/>
                <a:cs typeface="楷体" panose="02010609060101010101" charset="-122"/>
              </a:rPr>
              <a:t>彼此交互作用</a:t>
            </a:r>
            <a:r>
              <a:rPr lang="zh-CN" altLang="en-US" b="1" smtClean="0">
                <a:solidFill>
                  <a:schemeClr val="bg2"/>
                </a:solidFill>
                <a:uFillTx/>
                <a:ea typeface="楷体" panose="02010609060101010101" charset="-122"/>
                <a:cs typeface="楷体" panose="02010609060101010101" charset="-122"/>
              </a:rPr>
              <a:t>，而且还与项目管理其他知识领域的过程之间交互作用。尽管它们在理论上彼此独立，相互之间有明显的界限，但在项目管理实践中，它们却可能交迭并相互影响。</a:t>
            </a:r>
            <a:endParaRPr lang="zh-CN" altLang="en-US" b="1" smtClean="0">
              <a:solidFill>
                <a:schemeClr val="bg2"/>
              </a:solidFill>
              <a:uFillTx/>
              <a:ea typeface="楷体" panose="02010609060101010101" charset="-122"/>
              <a:cs typeface="楷体" panose="02010609060101010101" charset="-122"/>
            </a:endParaRPr>
          </a:p>
          <a:p>
            <a:pPr>
              <a:spcBef>
                <a:spcPts val="600"/>
              </a:spcBef>
              <a:spcAft>
                <a:spcPts val="600"/>
              </a:spcAft>
            </a:pPr>
            <a:r>
              <a:rPr lang="zh-CN" altLang="en-US" b="1" smtClean="0">
                <a:solidFill>
                  <a:schemeClr val="bg2"/>
                </a:solidFill>
                <a:uFillTx/>
                <a:ea typeface="楷体" panose="02010609060101010101" charset="-122"/>
                <a:cs typeface="楷体" panose="02010609060101010101" charset="-122"/>
              </a:rPr>
              <a:t>（</a:t>
            </a:r>
            <a:r>
              <a:rPr lang="en-US" b="1" smtClean="0">
                <a:solidFill>
                  <a:schemeClr val="bg2"/>
                </a:solidFill>
                <a:uFillTx/>
                <a:ea typeface="楷体" panose="02010609060101010101" charset="-122"/>
                <a:cs typeface="楷体" panose="02010609060101010101" charset="-122"/>
              </a:rPr>
              <a:t>2</a:t>
            </a:r>
            <a:r>
              <a:rPr lang="zh-CN" altLang="en-US" b="1" smtClean="0">
                <a:solidFill>
                  <a:schemeClr val="bg2"/>
                </a:solidFill>
                <a:uFillTx/>
                <a:ea typeface="楷体" panose="02010609060101010101" charset="-122"/>
                <a:cs typeface="楷体" panose="02010609060101010101" charset="-122"/>
              </a:rPr>
              <a:t>）成</a:t>
            </a:r>
            <a:r>
              <a:rPr lang="zh-CN" altLang="en-US" b="1" smtClean="0">
                <a:solidFill>
                  <a:schemeClr val="bg2"/>
                </a:solidFill>
                <a:latin typeface="楷体" panose="02010609060101010101" charset="-122"/>
                <a:ea typeface="楷体" panose="02010609060101010101" charset="-122"/>
                <a:cs typeface="楷体" panose="02010609060101010101" charset="-122"/>
              </a:rPr>
              <a:t>本管理</a:t>
            </a:r>
            <a:r>
              <a:rPr lang="zh-CN" altLang="en-US" b="1" smtClean="0">
                <a:solidFill>
                  <a:schemeClr val="bg2"/>
                </a:solidFill>
                <a:latin typeface="楷体" panose="02010609060101010101" charset="-122"/>
                <a:ea typeface="楷体" panose="02010609060101010101" charset="-122"/>
                <a:cs typeface="楷体" panose="02010609060101010101" charset="-122"/>
              </a:rPr>
              <a:t>主要关心的是完成项目活动所需资源的成本，但也必须考虑到项目决策对项目产品、服务和成果的使用费用、维护费用和支持费用的影响。例如，软件项目减少开发过程中的测试，则可能增加运行维护费用。</a:t>
            </a:r>
            <a:endParaRPr lang="zh-CN" altLang="en-US">
              <a:latin typeface="楷体" panose="02010609060101010101" charset="-122"/>
              <a:ea typeface="楷体" panose="02010609060101010101" charset="-122"/>
              <a:cs typeface="楷体" panose="02010609060101010101" charset="-122"/>
            </a:endParaRPr>
          </a:p>
        </p:txBody>
      </p:sp>
      <p:sp>
        <p:nvSpPr>
          <p:cNvPr id="15369" name="Rectangle 10"/>
          <p:cNvSpPr>
            <a:spLocks noChangeArrowheads="1"/>
          </p:cNvSpPr>
          <p:nvPr/>
        </p:nvSpPr>
        <p:spPr bwMode="auto">
          <a:xfrm>
            <a:off x="103188" y="620713"/>
            <a:ext cx="5405437" cy="553085"/>
          </a:xfrm>
          <a:prstGeom prst="rect">
            <a:avLst/>
          </a:prstGeom>
          <a:noFill/>
          <a:ln w="9525">
            <a:noFill/>
            <a:miter lim="800000"/>
          </a:ln>
        </p:spPr>
        <p:txBody>
          <a:bodyPr>
            <a:spAutoFit/>
          </a:bodyPr>
          <a:lstStyle/>
          <a:p>
            <a:r>
              <a:rPr kumimoji="0" lang="en-US" altLang="en-US" sz="3000" b="1"/>
              <a:t>6.1 </a:t>
            </a:r>
            <a:r>
              <a:rPr kumimoji="0" lang="en-US" altLang="en-US" sz="3000" b="1">
                <a:latin typeface="楷体" panose="02010609060101010101" charset="-122"/>
                <a:ea typeface="楷体" panose="02010609060101010101" charset="-122"/>
              </a:rPr>
              <a:t>项目成本管理概述</a:t>
            </a:r>
            <a:endParaRPr kumimoji="0" lang="en-US" altLang="en-US" sz="3000" b="1">
              <a:latin typeface="楷体" panose="02010609060101010101" charset="-122"/>
              <a:ea typeface="楷体" panose="02010609060101010101" charset="-122"/>
            </a:endParaRPr>
          </a:p>
        </p:txBody>
      </p:sp>
      <p:sp>
        <p:nvSpPr>
          <p:cNvPr id="15370" name="Rectangle 11"/>
          <p:cNvSpPr>
            <a:spLocks noChangeArrowheads="1"/>
          </p:cNvSpPr>
          <p:nvPr/>
        </p:nvSpPr>
        <p:spPr bwMode="auto">
          <a:xfrm>
            <a:off x="214282" y="1341438"/>
            <a:ext cx="4573588" cy="519112"/>
          </a:xfrm>
          <a:prstGeom prst="rect">
            <a:avLst/>
          </a:prstGeom>
          <a:noFill/>
          <a:ln w="9525">
            <a:noFill/>
            <a:miter lim="800000"/>
          </a:ln>
        </p:spPr>
        <p:txBody>
          <a:bodyPr wrap="none">
            <a:spAutoFit/>
          </a:bodyPr>
          <a:lstStyle/>
          <a:p>
            <a:r>
              <a:rPr kumimoji="0" lang="en-US" altLang="en-US" b="1">
                <a:solidFill>
                  <a:srgbClr val="FF0000"/>
                </a:solidFill>
                <a:ea typeface="楷体_GB2312" pitchFamily="49" charset="-122"/>
              </a:rPr>
              <a:t>6.1.2 影响IT项目成本的因素</a:t>
            </a:r>
            <a:endParaRPr kumimoji="0" lang="en-US" altLang="en-US" b="1">
              <a:solidFill>
                <a:srgbClr val="FF0000"/>
              </a:solidFill>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4381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4381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9"/>
          <p:cNvSpPr>
            <a:spLocks noGrp="1" noChangeArrowheads="1"/>
          </p:cNvSpPr>
          <p:nvPr>
            <p:ph type="sldNum" sz="quarter" idx="10"/>
          </p:nvPr>
        </p:nvSpPr>
        <p:spPr>
          <a:noFill/>
        </p:spPr>
        <p:txBody>
          <a:bodyPr/>
          <a:lstStyle/>
          <a:p>
            <a:r>
              <a:rPr lang="zh-CN" altLang="en-GB" smtClean="0"/>
              <a:t>  </a:t>
            </a:r>
            <a:fld id="{9EF4B615-B977-4819-B5B8-4687C2766EB7}" type="slidenum">
              <a:rPr lang="zh-CN" altLang="en-GB" smtClean="0"/>
            </a:fld>
            <a:endParaRPr lang="en-US" altLang="zh-CN" smtClean="0"/>
          </a:p>
        </p:txBody>
      </p:sp>
      <p:sp>
        <p:nvSpPr>
          <p:cNvPr id="15363"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b="1" smtClean="0">
                <a:solidFill>
                  <a:schemeClr val="bg2"/>
                </a:solidFill>
              </a:rPr>
              <a:t>P.133</a:t>
            </a:r>
            <a:endParaRPr lang="en-US" altLang="zh-CN" sz="2400" b="1">
              <a:solidFill>
                <a:schemeClr val="bg2"/>
              </a:solidFill>
            </a:endParaRPr>
          </a:p>
        </p:txBody>
      </p:sp>
      <p:sp>
        <p:nvSpPr>
          <p:cNvPr id="15364" name="Rectangle 4"/>
          <p:cNvSpPr>
            <a:spLocks noChangeArrowheads="1"/>
          </p:cNvSpPr>
          <p:nvPr/>
        </p:nvSpPr>
        <p:spPr bwMode="auto">
          <a:xfrm>
            <a:off x="0" y="2316163"/>
            <a:ext cx="9144000" cy="0"/>
          </a:xfrm>
          <a:prstGeom prst="rect">
            <a:avLst/>
          </a:prstGeom>
          <a:noFill/>
          <a:ln w="9525">
            <a:noFill/>
            <a:miter lim="800000"/>
          </a:ln>
        </p:spPr>
        <p:txBody>
          <a:bodyPr wrap="none" anchor="ctr">
            <a:spAutoFit/>
          </a:bodyPr>
          <a:lstStyle/>
          <a:p>
            <a:pPr algn="r">
              <a:spcBef>
                <a:spcPct val="50000"/>
              </a:spcBef>
            </a:pPr>
            <a:endParaRPr lang="zh-CN" altLang="en-US"/>
          </a:p>
        </p:txBody>
      </p:sp>
      <p:sp>
        <p:nvSpPr>
          <p:cNvPr id="1143815" name="Text Box 7"/>
          <p:cNvSpPr txBox="1">
            <a:spLocks noChangeArrowheads="1"/>
          </p:cNvSpPr>
          <p:nvPr/>
        </p:nvSpPr>
        <p:spPr bwMode="auto">
          <a:xfrm>
            <a:off x="428596" y="1833547"/>
            <a:ext cx="8501122" cy="4707890"/>
          </a:xfrm>
          <a:prstGeom prst="rect">
            <a:avLst/>
          </a:prstGeom>
          <a:noFill/>
          <a:ln w="9525" algn="ctr">
            <a:noFill/>
            <a:miter lim="800000"/>
          </a:ln>
        </p:spPr>
        <p:txBody>
          <a:bodyPr wrap="square">
            <a:spAutoFit/>
          </a:bodyPr>
          <a:lstStyle/>
          <a:p>
            <a:pPr>
              <a:spcBef>
                <a:spcPts val="600"/>
              </a:spcBef>
              <a:spcAft>
                <a:spcPts val="600"/>
              </a:spcAft>
            </a:pPr>
            <a:r>
              <a:rPr lang="zh-CN" altLang="en-US" b="1" dirty="0" smtClean="0">
                <a:solidFill>
                  <a:srgbClr val="0000FF"/>
                </a:solidFill>
                <a:latin typeface="楷体" panose="02010609060101010101" charset="-122"/>
                <a:ea typeface="楷体" panose="02010609060101010101" charset="-122"/>
                <a:cs typeface="楷体" panose="02010609060101010101" charset="-122"/>
              </a:rPr>
              <a:t>项目成本管理需要注意以下几点：</a:t>
            </a:r>
            <a:endParaRPr lang="zh-CN" altLang="en-US" b="1" dirty="0" smtClean="0">
              <a:solidFill>
                <a:schemeClr val="bg1">
                  <a:lumMod val="50000"/>
                </a:schemeClr>
              </a:solidFill>
              <a:latin typeface="楷体" panose="02010609060101010101" charset="-122"/>
              <a:ea typeface="楷体" panose="02010609060101010101" charset="-122"/>
              <a:cs typeface="楷体" panose="02010609060101010101" charset="-122"/>
            </a:endParaRPr>
          </a:p>
          <a:p>
            <a:pPr>
              <a:spcBef>
                <a:spcPts val="600"/>
              </a:spcBef>
              <a:spcAft>
                <a:spcPts val="600"/>
              </a:spcAft>
            </a:pPr>
            <a:r>
              <a:rPr lang="zh-CN" altLang="en-US" b="1" smtClean="0">
                <a:solidFill>
                  <a:schemeClr val="bg2"/>
                </a:solidFill>
                <a:uFillTx/>
                <a:ea typeface="楷体" panose="02010609060101010101" charset="-122"/>
                <a:cs typeface="楷体" panose="02010609060101010101" charset="-122"/>
              </a:rPr>
              <a:t>（3）</a:t>
            </a:r>
            <a:r>
              <a:rPr lang="zh-CN" altLang="en-US" b="1" dirty="0" smtClean="0">
                <a:solidFill>
                  <a:schemeClr val="bg2"/>
                </a:solidFill>
                <a:latin typeface="楷体" panose="02010609060101010101" charset="-122"/>
                <a:ea typeface="楷体" panose="02010609060101010101" charset="-122"/>
                <a:cs typeface="楷体" panose="02010609060101010101" charset="-122"/>
              </a:rPr>
              <a:t>项目成本管理有时也</a:t>
            </a:r>
            <a:r>
              <a:rPr lang="zh-CN" altLang="en-US" b="1" dirty="0" smtClean="0">
                <a:solidFill>
                  <a:schemeClr val="bg1"/>
                </a:solidFill>
                <a:latin typeface="楷体" panose="02010609060101010101" charset="-122"/>
                <a:ea typeface="楷体" panose="02010609060101010101" charset="-122"/>
                <a:cs typeface="楷体" panose="02010609060101010101" charset="-122"/>
              </a:rPr>
              <a:t>包括对项目产品未来的预测与分析</a:t>
            </a:r>
            <a:r>
              <a:rPr lang="zh-CN" altLang="en-US" b="1" dirty="0" smtClean="0">
                <a:solidFill>
                  <a:schemeClr val="bg2"/>
                </a:solidFill>
                <a:latin typeface="楷体" panose="02010609060101010101" charset="-122"/>
                <a:ea typeface="楷体" panose="02010609060101010101" charset="-122"/>
                <a:cs typeface="楷体" panose="02010609060101010101" charset="-122"/>
              </a:rPr>
              <a:t>，这种预测与分析就会增加一些过程和许多通用管理技术，如投资回报率、折现现金流、投资回收分析等。这样，势必对成本会产生一定的影响。</a:t>
            </a:r>
            <a:endParaRPr lang="zh-CN" altLang="en-US" b="1" dirty="0" smtClean="0">
              <a:solidFill>
                <a:schemeClr val="bg2"/>
              </a:solidFill>
              <a:latin typeface="楷体" panose="02010609060101010101" charset="-122"/>
              <a:ea typeface="楷体" panose="02010609060101010101" charset="-122"/>
              <a:cs typeface="楷体" panose="02010609060101010101" charset="-122"/>
            </a:endParaRPr>
          </a:p>
          <a:p>
            <a:pPr>
              <a:spcBef>
                <a:spcPts val="600"/>
              </a:spcBef>
              <a:spcAft>
                <a:spcPts val="600"/>
              </a:spcAft>
            </a:pPr>
            <a:r>
              <a:rPr lang="zh-CN" altLang="en-US" b="1" smtClean="0">
                <a:solidFill>
                  <a:schemeClr val="bg2"/>
                </a:solidFill>
                <a:uFillTx/>
                <a:ea typeface="楷体" panose="02010609060101010101" charset="-122"/>
                <a:cs typeface="楷体" panose="02010609060101010101" charset="-122"/>
              </a:rPr>
              <a:t>（4）</a:t>
            </a:r>
            <a:r>
              <a:rPr lang="zh-CN" altLang="en-US" b="1" dirty="0" smtClean="0">
                <a:solidFill>
                  <a:schemeClr val="bg2"/>
                </a:solidFill>
                <a:latin typeface="楷体" panose="02010609060101010101" charset="-122"/>
                <a:ea typeface="楷体" panose="02010609060101010101" charset="-122"/>
                <a:cs typeface="楷体" panose="02010609060101010101" charset="-122"/>
              </a:rPr>
              <a:t>项目成本管理应当考虑项目干系人的信息需求，不同的项目干系人可能在不同的时间、以不同的方式测算项目的成本。例如，</a:t>
            </a:r>
            <a:r>
              <a:rPr lang="en-US" b="1" dirty="0" smtClean="0">
                <a:solidFill>
                  <a:schemeClr val="bg2"/>
                </a:solidFill>
                <a:ea typeface="楷体" panose="02010609060101010101" charset="-122"/>
                <a:cs typeface="Times New Roman" panose="02020603050405020304" pitchFamily="18" charset="0"/>
              </a:rPr>
              <a:t>IT</a:t>
            </a:r>
            <a:r>
              <a:rPr lang="zh-CN" altLang="en-US" b="1" dirty="0" smtClean="0">
                <a:solidFill>
                  <a:schemeClr val="bg2"/>
                </a:solidFill>
                <a:latin typeface="楷体" panose="02010609060101010101" charset="-122"/>
                <a:ea typeface="楷体" panose="02010609060101010101" charset="-122"/>
                <a:cs typeface="楷体" panose="02010609060101010101" charset="-122"/>
              </a:rPr>
              <a:t>项目中对于硬件设备的采购成本可能会在承诺、订购、发货、收货或会计记账的不同时期发生。</a:t>
            </a:r>
            <a:endParaRPr lang="zh-CN" altLang="en-US" b="1" dirty="0" smtClean="0">
              <a:solidFill>
                <a:schemeClr val="bg2"/>
              </a:solidFill>
              <a:latin typeface="楷体" panose="02010609060101010101" charset="-122"/>
              <a:ea typeface="楷体" panose="02010609060101010101" charset="-122"/>
              <a:cs typeface="楷体" panose="02010609060101010101" charset="-122"/>
            </a:endParaRPr>
          </a:p>
        </p:txBody>
      </p:sp>
      <p:sp>
        <p:nvSpPr>
          <p:cNvPr id="15369" name="Rectangle 10"/>
          <p:cNvSpPr>
            <a:spLocks noChangeArrowheads="1"/>
          </p:cNvSpPr>
          <p:nvPr/>
        </p:nvSpPr>
        <p:spPr bwMode="auto">
          <a:xfrm>
            <a:off x="103188" y="620713"/>
            <a:ext cx="5405437" cy="553085"/>
          </a:xfrm>
          <a:prstGeom prst="rect">
            <a:avLst/>
          </a:prstGeom>
          <a:noFill/>
          <a:ln w="9525">
            <a:noFill/>
            <a:miter lim="800000"/>
          </a:ln>
        </p:spPr>
        <p:txBody>
          <a:bodyPr>
            <a:spAutoFit/>
          </a:bodyPr>
          <a:lstStyle/>
          <a:p>
            <a:r>
              <a:rPr kumimoji="0" lang="en-US" altLang="en-US" sz="3000" b="1"/>
              <a:t>6.1 </a:t>
            </a:r>
            <a:r>
              <a:rPr kumimoji="0" lang="en-US" altLang="en-US" sz="3000" b="1">
                <a:latin typeface="楷体" panose="02010609060101010101" charset="-122"/>
                <a:ea typeface="楷体" panose="02010609060101010101" charset="-122"/>
              </a:rPr>
              <a:t>项目成本管理概述</a:t>
            </a:r>
            <a:endParaRPr kumimoji="0" lang="en-US" altLang="en-US" sz="3000" b="1">
              <a:latin typeface="楷体" panose="02010609060101010101" charset="-122"/>
              <a:ea typeface="楷体" panose="02010609060101010101" charset="-122"/>
            </a:endParaRPr>
          </a:p>
        </p:txBody>
      </p:sp>
      <p:sp>
        <p:nvSpPr>
          <p:cNvPr id="15370" name="Rectangle 11"/>
          <p:cNvSpPr>
            <a:spLocks noChangeArrowheads="1"/>
          </p:cNvSpPr>
          <p:nvPr/>
        </p:nvSpPr>
        <p:spPr bwMode="auto">
          <a:xfrm>
            <a:off x="214282" y="1341438"/>
            <a:ext cx="4576445" cy="521970"/>
          </a:xfrm>
          <a:prstGeom prst="rect">
            <a:avLst/>
          </a:prstGeom>
          <a:noFill/>
          <a:ln w="9525">
            <a:noFill/>
            <a:miter lim="800000"/>
          </a:ln>
        </p:spPr>
        <p:txBody>
          <a:bodyPr wrap="none">
            <a:spAutoFit/>
          </a:bodyPr>
          <a:lstStyle/>
          <a:p>
            <a:r>
              <a:rPr kumimoji="0" lang="en-US" altLang="en-US" b="1">
                <a:solidFill>
                  <a:srgbClr val="FF0000"/>
                </a:solidFill>
                <a:ea typeface="楷体_GB2312" pitchFamily="49" charset="-122"/>
              </a:rPr>
              <a:t>6.1.2 </a:t>
            </a:r>
            <a:r>
              <a:rPr kumimoji="0" lang="en-US" altLang="en-US" b="1">
                <a:solidFill>
                  <a:srgbClr val="FF0000"/>
                </a:solidFill>
                <a:latin typeface="楷体" panose="02010609060101010101" charset="-122"/>
                <a:ea typeface="楷体" panose="02010609060101010101" charset="-122"/>
                <a:cs typeface="楷体" panose="02010609060101010101" charset="-122"/>
              </a:rPr>
              <a:t>影响</a:t>
            </a:r>
            <a:r>
              <a:rPr kumimoji="0" lang="en-US" altLang="en-US" b="1">
                <a:solidFill>
                  <a:srgbClr val="FF0000"/>
                </a:solidFill>
                <a:latin typeface="+mn-lt"/>
                <a:ea typeface="楷体" panose="02010609060101010101" charset="-122"/>
                <a:cs typeface="+mn-lt"/>
              </a:rPr>
              <a:t>IT</a:t>
            </a:r>
            <a:r>
              <a:rPr kumimoji="0" lang="en-US" altLang="en-US" b="1">
                <a:solidFill>
                  <a:srgbClr val="FF0000"/>
                </a:solidFill>
                <a:latin typeface="楷体" panose="02010609060101010101" charset="-122"/>
                <a:ea typeface="楷体" panose="02010609060101010101" charset="-122"/>
                <a:cs typeface="楷体" panose="02010609060101010101" charset="-122"/>
              </a:rPr>
              <a:t>项目成本的因素</a:t>
            </a:r>
            <a:endParaRPr kumimoji="0" lang="en-US" altLang="en-US" b="1">
              <a:solidFill>
                <a:srgbClr val="FF0000"/>
              </a:solidFill>
              <a:latin typeface="楷体" panose="02010609060101010101" charset="-122"/>
              <a:ea typeface="楷体" panose="02010609060101010101" charset="-122"/>
              <a:cs typeface="楷体" panose="0201060906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4381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4381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9"/>
          <p:cNvSpPr>
            <a:spLocks noGrp="1" noChangeArrowheads="1"/>
          </p:cNvSpPr>
          <p:nvPr>
            <p:ph type="sldNum" sz="quarter" idx="10"/>
          </p:nvPr>
        </p:nvSpPr>
        <p:spPr>
          <a:noFill/>
        </p:spPr>
        <p:txBody>
          <a:bodyPr/>
          <a:lstStyle/>
          <a:p>
            <a:r>
              <a:rPr lang="zh-CN" altLang="en-GB" smtClean="0"/>
              <a:t>  </a:t>
            </a:r>
            <a:fld id="{DD2C84F4-8632-4471-9283-274419CAB9D7}" type="slidenum">
              <a:rPr lang="zh-CN" altLang="en-GB" smtClean="0"/>
            </a:fld>
            <a:endParaRPr lang="en-US" altLang="zh-CN" smtClean="0"/>
          </a:p>
        </p:txBody>
      </p:sp>
      <p:sp>
        <p:nvSpPr>
          <p:cNvPr id="18435"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b="1" smtClean="0">
                <a:solidFill>
                  <a:schemeClr val="bg2"/>
                </a:solidFill>
              </a:rPr>
              <a:t>P.133</a:t>
            </a:r>
            <a:endParaRPr lang="en-US" altLang="zh-CN" sz="2400" b="1">
              <a:solidFill>
                <a:schemeClr val="bg2"/>
              </a:solidFill>
            </a:endParaRPr>
          </a:p>
        </p:txBody>
      </p:sp>
      <p:sp>
        <p:nvSpPr>
          <p:cNvPr id="18436" name="Rectangle 4"/>
          <p:cNvSpPr>
            <a:spLocks noChangeArrowheads="1"/>
          </p:cNvSpPr>
          <p:nvPr/>
        </p:nvSpPr>
        <p:spPr bwMode="auto">
          <a:xfrm>
            <a:off x="0" y="2316163"/>
            <a:ext cx="9144000" cy="0"/>
          </a:xfrm>
          <a:prstGeom prst="rect">
            <a:avLst/>
          </a:prstGeom>
          <a:noFill/>
          <a:ln w="9525">
            <a:noFill/>
            <a:miter lim="800000"/>
          </a:ln>
        </p:spPr>
        <p:txBody>
          <a:bodyPr wrap="none" anchor="ctr">
            <a:spAutoFit/>
          </a:bodyPr>
          <a:lstStyle/>
          <a:p>
            <a:pPr algn="r">
              <a:spcBef>
                <a:spcPct val="50000"/>
              </a:spcBef>
            </a:pPr>
            <a:endParaRPr lang="zh-CN" altLang="en-US"/>
          </a:p>
        </p:txBody>
      </p:sp>
      <p:sp>
        <p:nvSpPr>
          <p:cNvPr id="18437" name="Text Box 5"/>
          <p:cNvSpPr txBox="1">
            <a:spLocks noChangeArrowheads="1"/>
          </p:cNvSpPr>
          <p:nvPr/>
        </p:nvSpPr>
        <p:spPr bwMode="auto">
          <a:xfrm>
            <a:off x="323850" y="1785926"/>
            <a:ext cx="8496300" cy="4538345"/>
          </a:xfrm>
          <a:prstGeom prst="rect">
            <a:avLst/>
          </a:prstGeom>
          <a:noFill/>
          <a:ln w="9525" algn="ctr">
            <a:noFill/>
            <a:miter lim="800000"/>
          </a:ln>
        </p:spPr>
        <p:txBody>
          <a:bodyPr>
            <a:spAutoFit/>
          </a:bodyPr>
          <a:lstStyle/>
          <a:p>
            <a:pPr>
              <a:spcBef>
                <a:spcPts val="600"/>
              </a:spcBef>
              <a:spcAft>
                <a:spcPts val="600"/>
              </a:spcAft>
              <a:buClr>
                <a:schemeClr val="hlink"/>
              </a:buClr>
            </a:pPr>
            <a:r>
              <a:rPr lang="zh-CN" altLang="en-US" b="1" dirty="0">
                <a:solidFill>
                  <a:schemeClr val="bg2"/>
                </a:solidFill>
                <a:latin typeface="楷体" panose="02010609060101010101" charset="-122"/>
                <a:ea typeface="楷体" panose="02010609060101010101" charset="-122"/>
                <a:cs typeface="楷体" panose="02010609060101010101" charset="-122"/>
              </a:rPr>
              <a:t>从财务管理和会计学的角度来讨论成本管理的基本原理，了解基本概念和术语很有必要。</a:t>
            </a:r>
            <a:endParaRPr lang="zh-CN" altLang="en-US" b="1" dirty="0">
              <a:solidFill>
                <a:schemeClr val="bg2"/>
              </a:solidFill>
              <a:latin typeface="楷体" panose="02010609060101010101" charset="-122"/>
              <a:ea typeface="楷体" panose="02010609060101010101" charset="-122"/>
              <a:cs typeface="楷体" panose="02010609060101010101" charset="-122"/>
            </a:endParaRPr>
          </a:p>
          <a:p>
            <a:pPr marL="1094105" lvl="1" indent="-457200">
              <a:spcBef>
                <a:spcPts val="1200"/>
              </a:spcBef>
              <a:spcAft>
                <a:spcPts val="600"/>
              </a:spcAft>
              <a:buClr>
                <a:schemeClr val="bg1"/>
              </a:buClr>
            </a:pPr>
            <a:r>
              <a:rPr lang="zh-CN" altLang="en-US" b="1" dirty="0">
                <a:solidFill>
                  <a:schemeClr val="bg2"/>
                </a:solidFill>
                <a:ea typeface="楷体" panose="02010609060101010101" charset="-122"/>
                <a:cs typeface="Times New Roman" panose="02020603050405020304" pitchFamily="18" charset="0"/>
              </a:rPr>
              <a:t>（</a:t>
            </a:r>
            <a:r>
              <a:rPr lang="en-US" altLang="zh-CN" b="1" dirty="0">
                <a:solidFill>
                  <a:schemeClr val="bg2"/>
                </a:solidFill>
                <a:ea typeface="楷体" panose="02010609060101010101" charset="-122"/>
                <a:cs typeface="Times New Roman" panose="02020603050405020304" pitchFamily="18" charset="0"/>
              </a:rPr>
              <a:t>1</a:t>
            </a:r>
            <a:r>
              <a:rPr lang="zh-CN" altLang="en-US" b="1" dirty="0">
                <a:solidFill>
                  <a:schemeClr val="bg2"/>
                </a:solidFill>
                <a:ea typeface="楷体" panose="02010609060101010101" charset="-122"/>
                <a:cs typeface="Times New Roman" panose="02020603050405020304" pitchFamily="18" charset="0"/>
              </a:rPr>
              <a:t>）</a:t>
            </a:r>
            <a:r>
              <a:rPr lang="zh-CN" altLang="en-US" b="1" dirty="0" smtClean="0">
                <a:solidFill>
                  <a:schemeClr val="bg2"/>
                </a:solidFill>
                <a:latin typeface="楷体" panose="02010609060101010101" charset="-122"/>
                <a:ea typeface="楷体" panose="02010609060101010101" charset="-122"/>
                <a:cs typeface="楷体" panose="02010609060101010101" charset="-122"/>
              </a:rPr>
              <a:t>利润与利润率</a:t>
            </a:r>
            <a:endParaRPr lang="zh-CN" altLang="en-US" b="1" dirty="0">
              <a:solidFill>
                <a:schemeClr val="bg2"/>
              </a:solidFill>
              <a:latin typeface="楷体" panose="02010609060101010101" charset="-122"/>
              <a:ea typeface="楷体" panose="02010609060101010101" charset="-122"/>
              <a:cs typeface="楷体" panose="02010609060101010101" charset="-122"/>
            </a:endParaRPr>
          </a:p>
          <a:p>
            <a:pPr marL="1094105" lvl="1" indent="-457200">
              <a:spcBef>
                <a:spcPts val="600"/>
              </a:spcBef>
              <a:spcAft>
                <a:spcPts val="600"/>
              </a:spcAft>
              <a:buClr>
                <a:schemeClr val="bg1"/>
              </a:buClr>
            </a:pPr>
            <a:r>
              <a:rPr lang="zh-CN" altLang="en-US" b="1" dirty="0">
                <a:solidFill>
                  <a:schemeClr val="bg2"/>
                </a:solidFill>
                <a:ea typeface="楷体" panose="02010609060101010101" charset="-122"/>
                <a:cs typeface="Times New Roman" panose="02020603050405020304" pitchFamily="18" charset="0"/>
              </a:rPr>
              <a:t>（</a:t>
            </a:r>
            <a:r>
              <a:rPr lang="en-US" altLang="zh-CN" b="1" dirty="0">
                <a:solidFill>
                  <a:schemeClr val="bg2"/>
                </a:solidFill>
                <a:ea typeface="楷体" panose="02010609060101010101" charset="-122"/>
                <a:cs typeface="Times New Roman" panose="02020603050405020304" pitchFamily="18" charset="0"/>
              </a:rPr>
              <a:t>2</a:t>
            </a:r>
            <a:r>
              <a:rPr lang="zh-CN" altLang="en-US" b="1" dirty="0">
                <a:solidFill>
                  <a:schemeClr val="bg2"/>
                </a:solidFill>
                <a:ea typeface="楷体" panose="02010609060101010101" charset="-122"/>
                <a:cs typeface="Times New Roman" panose="02020603050405020304" pitchFamily="18" charset="0"/>
              </a:rPr>
              <a:t>）</a:t>
            </a:r>
            <a:r>
              <a:rPr lang="zh-CN" altLang="en-US" b="1" dirty="0">
                <a:solidFill>
                  <a:schemeClr val="bg2"/>
                </a:solidFill>
                <a:latin typeface="楷体" panose="02010609060101010101" charset="-122"/>
                <a:ea typeface="楷体" panose="02010609060101010101" charset="-122"/>
                <a:cs typeface="楷体" panose="02010609060101010101" charset="-122"/>
              </a:rPr>
              <a:t>资金的时间价值</a:t>
            </a:r>
            <a:endParaRPr lang="zh-CN" altLang="en-US" b="1" dirty="0">
              <a:solidFill>
                <a:schemeClr val="bg2"/>
              </a:solidFill>
              <a:latin typeface="楷体" panose="02010609060101010101" charset="-122"/>
              <a:ea typeface="楷体" panose="02010609060101010101" charset="-122"/>
              <a:cs typeface="楷体" panose="02010609060101010101" charset="-122"/>
            </a:endParaRPr>
          </a:p>
          <a:p>
            <a:pPr marL="1094105" lvl="1" indent="-457200">
              <a:spcBef>
                <a:spcPts val="600"/>
              </a:spcBef>
              <a:spcAft>
                <a:spcPts val="600"/>
              </a:spcAft>
              <a:buClr>
                <a:schemeClr val="bg1"/>
              </a:buClr>
            </a:pPr>
            <a:r>
              <a:rPr lang="zh-CN" altLang="en-US" b="1" dirty="0">
                <a:solidFill>
                  <a:schemeClr val="bg2"/>
                </a:solidFill>
                <a:ea typeface="楷体" panose="02010609060101010101" charset="-122"/>
                <a:cs typeface="Times New Roman" panose="02020603050405020304" pitchFamily="18" charset="0"/>
              </a:rPr>
              <a:t>（</a:t>
            </a:r>
            <a:r>
              <a:rPr lang="en-US" altLang="zh-CN" b="1" dirty="0">
                <a:solidFill>
                  <a:schemeClr val="bg2"/>
                </a:solidFill>
                <a:ea typeface="楷体" panose="02010609060101010101" charset="-122"/>
                <a:cs typeface="Times New Roman" panose="02020603050405020304" pitchFamily="18" charset="0"/>
              </a:rPr>
              <a:t>3</a:t>
            </a:r>
            <a:r>
              <a:rPr lang="zh-CN" altLang="en-US" b="1" dirty="0">
                <a:solidFill>
                  <a:schemeClr val="bg2"/>
                </a:solidFill>
                <a:ea typeface="楷体" panose="02010609060101010101" charset="-122"/>
                <a:cs typeface="Times New Roman" panose="02020603050405020304" pitchFamily="18" charset="0"/>
              </a:rPr>
              <a:t>）</a:t>
            </a:r>
            <a:r>
              <a:rPr lang="zh-CN" altLang="en-US" b="1" dirty="0">
                <a:solidFill>
                  <a:schemeClr val="bg2"/>
                </a:solidFill>
                <a:latin typeface="楷体" panose="02010609060101010101" charset="-122"/>
                <a:ea typeface="楷体" panose="02010609060101010101" charset="-122"/>
                <a:cs typeface="楷体" panose="02010609060101010101" charset="-122"/>
              </a:rPr>
              <a:t>净现值（</a:t>
            </a:r>
            <a:r>
              <a:rPr lang="en-US" altLang="zh-CN" b="1" dirty="0">
                <a:solidFill>
                  <a:schemeClr val="bg2"/>
                </a:solidFill>
                <a:ea typeface="楷体" panose="02010609060101010101" charset="-122"/>
                <a:cs typeface="Times New Roman" panose="02020603050405020304" pitchFamily="18" charset="0"/>
              </a:rPr>
              <a:t>NPV</a:t>
            </a:r>
            <a:r>
              <a:rPr lang="zh-CN" altLang="en-US" b="1" dirty="0">
                <a:solidFill>
                  <a:schemeClr val="bg2"/>
                </a:solidFill>
                <a:latin typeface="楷体" panose="02010609060101010101" charset="-122"/>
                <a:ea typeface="楷体" panose="02010609060101010101" charset="-122"/>
                <a:cs typeface="楷体" panose="02010609060101010101" charset="-122"/>
              </a:rPr>
              <a:t>）</a:t>
            </a:r>
            <a:endParaRPr lang="zh-CN" altLang="en-US" b="1" dirty="0">
              <a:solidFill>
                <a:schemeClr val="bg2"/>
              </a:solidFill>
              <a:latin typeface="楷体" panose="02010609060101010101" charset="-122"/>
              <a:ea typeface="楷体" panose="02010609060101010101" charset="-122"/>
              <a:cs typeface="楷体" panose="02010609060101010101" charset="-122"/>
            </a:endParaRPr>
          </a:p>
          <a:p>
            <a:pPr marL="1094105" lvl="1" indent="-457200">
              <a:spcBef>
                <a:spcPts val="600"/>
              </a:spcBef>
              <a:spcAft>
                <a:spcPts val="600"/>
              </a:spcAft>
              <a:buClr>
                <a:schemeClr val="bg1"/>
              </a:buClr>
            </a:pPr>
            <a:r>
              <a:rPr lang="zh-CN" altLang="en-US" b="1" dirty="0">
                <a:solidFill>
                  <a:schemeClr val="bg2"/>
                </a:solidFill>
                <a:ea typeface="楷体" panose="02010609060101010101" charset="-122"/>
                <a:cs typeface="Times New Roman" panose="02020603050405020304" pitchFamily="18" charset="0"/>
              </a:rPr>
              <a:t>（</a:t>
            </a:r>
            <a:r>
              <a:rPr lang="en-US" altLang="zh-CN" b="1" dirty="0">
                <a:solidFill>
                  <a:schemeClr val="bg2"/>
                </a:solidFill>
                <a:ea typeface="楷体" panose="02010609060101010101" charset="-122"/>
                <a:cs typeface="Times New Roman" panose="02020603050405020304" pitchFamily="18" charset="0"/>
              </a:rPr>
              <a:t>4</a:t>
            </a:r>
            <a:r>
              <a:rPr lang="zh-CN" altLang="en-US" b="1" dirty="0">
                <a:solidFill>
                  <a:schemeClr val="bg2"/>
                </a:solidFill>
                <a:ea typeface="楷体" panose="02010609060101010101" charset="-122"/>
                <a:cs typeface="Times New Roman" panose="02020603050405020304" pitchFamily="18" charset="0"/>
              </a:rPr>
              <a:t>）</a:t>
            </a:r>
            <a:r>
              <a:rPr lang="zh-CN" altLang="en-US" b="1" dirty="0">
                <a:solidFill>
                  <a:schemeClr val="bg2"/>
                </a:solidFill>
                <a:latin typeface="楷体" panose="02010609060101010101" charset="-122"/>
                <a:ea typeface="楷体" panose="02010609060101010101" charset="-122"/>
                <a:cs typeface="楷体" panose="02010609060101010101" charset="-122"/>
              </a:rPr>
              <a:t>投资收益率（</a:t>
            </a:r>
            <a:r>
              <a:rPr lang="en-US" altLang="zh-CN" b="1" dirty="0">
                <a:solidFill>
                  <a:schemeClr val="bg2"/>
                </a:solidFill>
                <a:ea typeface="楷体" panose="02010609060101010101" charset="-122"/>
                <a:cs typeface="Times New Roman" panose="02020603050405020304" pitchFamily="18" charset="0"/>
              </a:rPr>
              <a:t>ROI</a:t>
            </a:r>
            <a:r>
              <a:rPr lang="zh-CN" altLang="en-US" b="1" dirty="0">
                <a:solidFill>
                  <a:schemeClr val="bg2"/>
                </a:solidFill>
                <a:latin typeface="楷体" panose="02010609060101010101" charset="-122"/>
                <a:ea typeface="楷体" panose="02010609060101010101" charset="-122"/>
                <a:cs typeface="楷体" panose="02010609060101010101" charset="-122"/>
              </a:rPr>
              <a:t>）</a:t>
            </a:r>
            <a:endParaRPr lang="zh-CN" altLang="en-US" b="1" dirty="0">
              <a:solidFill>
                <a:schemeClr val="bg2"/>
              </a:solidFill>
              <a:latin typeface="楷体" panose="02010609060101010101" charset="-122"/>
              <a:ea typeface="楷体" panose="02010609060101010101" charset="-122"/>
              <a:cs typeface="楷体" panose="02010609060101010101" charset="-122"/>
            </a:endParaRPr>
          </a:p>
          <a:p>
            <a:pPr marL="1094105" lvl="1" indent="-457200">
              <a:spcBef>
                <a:spcPts val="600"/>
              </a:spcBef>
              <a:spcAft>
                <a:spcPts val="600"/>
              </a:spcAft>
              <a:buClr>
                <a:schemeClr val="bg1"/>
              </a:buClr>
            </a:pPr>
            <a:r>
              <a:rPr lang="zh-CN" altLang="en-US" b="1" dirty="0">
                <a:solidFill>
                  <a:schemeClr val="bg2"/>
                </a:solidFill>
                <a:ea typeface="楷体" panose="02010609060101010101" charset="-122"/>
                <a:cs typeface="Times New Roman" panose="02020603050405020304" pitchFamily="18" charset="0"/>
              </a:rPr>
              <a:t>（</a:t>
            </a:r>
            <a:r>
              <a:rPr lang="en-US" altLang="zh-CN" b="1" dirty="0">
                <a:solidFill>
                  <a:schemeClr val="bg2"/>
                </a:solidFill>
                <a:ea typeface="楷体" panose="02010609060101010101" charset="-122"/>
                <a:cs typeface="Times New Roman" panose="02020603050405020304" pitchFamily="18" charset="0"/>
              </a:rPr>
              <a:t>5</a:t>
            </a:r>
            <a:r>
              <a:rPr lang="zh-CN" altLang="en-US" b="1" dirty="0">
                <a:solidFill>
                  <a:schemeClr val="bg2"/>
                </a:solidFill>
                <a:ea typeface="楷体" panose="02010609060101010101" charset="-122"/>
                <a:cs typeface="Times New Roman" panose="02020603050405020304" pitchFamily="18" charset="0"/>
              </a:rPr>
              <a:t>）</a:t>
            </a:r>
            <a:r>
              <a:rPr lang="zh-CN" altLang="en-US" b="1" dirty="0">
                <a:solidFill>
                  <a:schemeClr val="bg2"/>
                </a:solidFill>
                <a:latin typeface="楷体" panose="02010609060101010101" charset="-122"/>
                <a:ea typeface="楷体" panose="02010609060101010101" charset="-122"/>
                <a:cs typeface="楷体" panose="02010609060101010101" charset="-122"/>
              </a:rPr>
              <a:t>投资回收率 </a:t>
            </a:r>
            <a:endParaRPr lang="zh-CN" altLang="en-US" b="1" dirty="0">
              <a:solidFill>
                <a:schemeClr val="bg2"/>
              </a:solidFill>
              <a:latin typeface="楷体" panose="02010609060101010101" charset="-122"/>
              <a:ea typeface="楷体" panose="02010609060101010101" charset="-122"/>
              <a:cs typeface="楷体" panose="02010609060101010101" charset="-122"/>
            </a:endParaRPr>
          </a:p>
          <a:p>
            <a:pPr marL="1094105" lvl="1" indent="-457200">
              <a:spcBef>
                <a:spcPts val="600"/>
              </a:spcBef>
              <a:spcAft>
                <a:spcPts val="600"/>
              </a:spcAft>
              <a:buClr>
                <a:schemeClr val="bg1"/>
              </a:buClr>
            </a:pPr>
            <a:r>
              <a:rPr lang="zh-CN" altLang="en-US" b="1" dirty="0">
                <a:solidFill>
                  <a:schemeClr val="bg2"/>
                </a:solidFill>
                <a:ea typeface="楷体" panose="02010609060101010101" charset="-122"/>
                <a:cs typeface="Times New Roman" panose="02020603050405020304" pitchFamily="18" charset="0"/>
              </a:rPr>
              <a:t>（</a:t>
            </a:r>
            <a:r>
              <a:rPr lang="en-US" altLang="zh-CN" b="1" dirty="0">
                <a:solidFill>
                  <a:schemeClr val="bg2"/>
                </a:solidFill>
                <a:ea typeface="楷体" panose="02010609060101010101" charset="-122"/>
                <a:cs typeface="Times New Roman" panose="02020603050405020304" pitchFamily="18" charset="0"/>
              </a:rPr>
              <a:t>6</a:t>
            </a:r>
            <a:r>
              <a:rPr lang="zh-CN" altLang="en-US" b="1" dirty="0">
                <a:solidFill>
                  <a:schemeClr val="bg2"/>
                </a:solidFill>
                <a:ea typeface="楷体" panose="02010609060101010101" charset="-122"/>
                <a:cs typeface="Times New Roman" panose="02020603050405020304" pitchFamily="18" charset="0"/>
              </a:rPr>
              <a:t>）</a:t>
            </a:r>
            <a:r>
              <a:rPr lang="zh-CN" altLang="en-US" b="1" dirty="0">
                <a:solidFill>
                  <a:schemeClr val="bg2"/>
                </a:solidFill>
                <a:latin typeface="楷体" panose="02010609060101010101" charset="-122"/>
                <a:ea typeface="楷体" panose="02010609060101010101" charset="-122"/>
                <a:cs typeface="楷体" panose="02010609060101010101" charset="-122"/>
              </a:rPr>
              <a:t>现金流量 </a:t>
            </a:r>
            <a:endParaRPr lang="zh-CN" altLang="en-US" b="1" dirty="0">
              <a:solidFill>
                <a:schemeClr val="bg2"/>
              </a:solidFill>
              <a:latin typeface="楷体" panose="02010609060101010101" charset="-122"/>
              <a:ea typeface="楷体" panose="02010609060101010101" charset="-122"/>
              <a:cs typeface="楷体" panose="02010609060101010101" charset="-122"/>
            </a:endParaRPr>
          </a:p>
        </p:txBody>
      </p:sp>
      <p:sp>
        <p:nvSpPr>
          <p:cNvPr id="18438" name="Rectangle 8"/>
          <p:cNvSpPr>
            <a:spLocks noChangeArrowheads="1"/>
          </p:cNvSpPr>
          <p:nvPr/>
        </p:nvSpPr>
        <p:spPr bwMode="auto">
          <a:xfrm>
            <a:off x="103188" y="620713"/>
            <a:ext cx="5405437" cy="553085"/>
          </a:xfrm>
          <a:prstGeom prst="rect">
            <a:avLst/>
          </a:prstGeom>
          <a:noFill/>
          <a:ln w="9525">
            <a:noFill/>
            <a:miter lim="800000"/>
          </a:ln>
        </p:spPr>
        <p:txBody>
          <a:bodyPr>
            <a:spAutoFit/>
          </a:bodyPr>
          <a:lstStyle/>
          <a:p>
            <a:r>
              <a:rPr kumimoji="0" lang="en-US" altLang="en-US" sz="3000" b="1"/>
              <a:t>6.1 </a:t>
            </a:r>
            <a:r>
              <a:rPr kumimoji="0" lang="en-US" altLang="en-US" sz="3000" b="1">
                <a:latin typeface="楷体" panose="02010609060101010101" charset="-122"/>
                <a:ea typeface="楷体" panose="02010609060101010101" charset="-122"/>
              </a:rPr>
              <a:t>项目成本管理概述</a:t>
            </a:r>
            <a:endParaRPr kumimoji="0" lang="en-US" altLang="en-US" sz="3000" b="1">
              <a:latin typeface="楷体" panose="02010609060101010101" charset="-122"/>
              <a:ea typeface="楷体" panose="02010609060101010101" charset="-122"/>
            </a:endParaRPr>
          </a:p>
        </p:txBody>
      </p:sp>
      <p:sp>
        <p:nvSpPr>
          <p:cNvPr id="18439" name="Rectangle 9"/>
          <p:cNvSpPr>
            <a:spLocks noChangeArrowheads="1"/>
          </p:cNvSpPr>
          <p:nvPr/>
        </p:nvSpPr>
        <p:spPr bwMode="auto">
          <a:xfrm>
            <a:off x="323850" y="1341438"/>
            <a:ext cx="4200525" cy="521970"/>
          </a:xfrm>
          <a:prstGeom prst="rect">
            <a:avLst/>
          </a:prstGeom>
          <a:noFill/>
          <a:ln w="9525">
            <a:noFill/>
            <a:miter lim="800000"/>
          </a:ln>
        </p:spPr>
        <p:txBody>
          <a:bodyPr wrap="none">
            <a:spAutoFit/>
          </a:bodyPr>
          <a:lstStyle/>
          <a:p>
            <a:r>
              <a:rPr kumimoji="0" lang="en-US" altLang="en-US" b="1">
                <a:solidFill>
                  <a:srgbClr val="FF0000"/>
                </a:solidFill>
                <a:ea typeface="楷体_GB2312" pitchFamily="49" charset="-122"/>
              </a:rPr>
              <a:t>6.1.3 </a:t>
            </a:r>
            <a:r>
              <a:rPr kumimoji="0" lang="en-US" altLang="en-US" b="1">
                <a:solidFill>
                  <a:srgbClr val="FF0000"/>
                </a:solidFill>
                <a:latin typeface="楷体" panose="02010609060101010101" charset="-122"/>
                <a:ea typeface="楷体" panose="02010609060101010101" charset="-122"/>
              </a:rPr>
              <a:t>成本管理的基本原理</a:t>
            </a:r>
            <a:endParaRPr kumimoji="0" lang="en-US" altLang="en-US" b="1">
              <a:solidFill>
                <a:srgbClr val="FF0000"/>
              </a:solidFill>
              <a:latin typeface="楷体" panose="02010609060101010101" charset="-122"/>
              <a:ea typeface="楷体" panose="0201060906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43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43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43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43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43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43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9"/>
          <p:cNvSpPr>
            <a:spLocks noGrp="1" noChangeArrowheads="1"/>
          </p:cNvSpPr>
          <p:nvPr>
            <p:ph type="sldNum" sz="quarter" idx="10"/>
          </p:nvPr>
        </p:nvSpPr>
        <p:spPr>
          <a:noFill/>
        </p:spPr>
        <p:txBody>
          <a:bodyPr/>
          <a:lstStyle/>
          <a:p>
            <a:r>
              <a:rPr lang="zh-CN" altLang="en-GB" smtClean="0"/>
              <a:t>  </a:t>
            </a:r>
            <a:fld id="{10E3D061-787E-48F0-86B8-1E85CDC1BC88}" type="slidenum">
              <a:rPr lang="zh-CN" altLang="en-GB" smtClean="0"/>
            </a:fld>
            <a:endParaRPr lang="en-US" altLang="zh-CN" smtClean="0"/>
          </a:p>
        </p:txBody>
      </p:sp>
      <p:sp>
        <p:nvSpPr>
          <p:cNvPr id="19459"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b="1" smtClean="0">
                <a:solidFill>
                  <a:schemeClr val="bg2"/>
                </a:solidFill>
              </a:rPr>
              <a:t>P.134</a:t>
            </a:r>
            <a:endParaRPr lang="en-US" altLang="zh-CN" sz="2400" b="1">
              <a:solidFill>
                <a:schemeClr val="bg2"/>
              </a:solidFill>
            </a:endParaRPr>
          </a:p>
        </p:txBody>
      </p:sp>
      <p:sp>
        <p:nvSpPr>
          <p:cNvPr id="19460" name="Rectangle 4"/>
          <p:cNvSpPr>
            <a:spLocks noChangeArrowheads="1"/>
          </p:cNvSpPr>
          <p:nvPr/>
        </p:nvSpPr>
        <p:spPr bwMode="auto">
          <a:xfrm>
            <a:off x="0" y="2316163"/>
            <a:ext cx="9144000" cy="0"/>
          </a:xfrm>
          <a:prstGeom prst="rect">
            <a:avLst/>
          </a:prstGeom>
          <a:noFill/>
          <a:ln w="9525">
            <a:noFill/>
            <a:miter lim="800000"/>
          </a:ln>
        </p:spPr>
        <p:txBody>
          <a:bodyPr wrap="none" anchor="ctr">
            <a:spAutoFit/>
          </a:bodyPr>
          <a:lstStyle/>
          <a:p>
            <a:pPr algn="r">
              <a:spcBef>
                <a:spcPct val="50000"/>
              </a:spcBef>
            </a:pPr>
            <a:endParaRPr lang="zh-CN" altLang="en-US"/>
          </a:p>
        </p:txBody>
      </p:sp>
      <p:sp>
        <p:nvSpPr>
          <p:cNvPr id="19461" name="Text Box 5"/>
          <p:cNvSpPr txBox="1">
            <a:spLocks noChangeArrowheads="1"/>
          </p:cNvSpPr>
          <p:nvPr/>
        </p:nvSpPr>
        <p:spPr bwMode="auto">
          <a:xfrm>
            <a:off x="323850" y="1843525"/>
            <a:ext cx="8640763" cy="4523105"/>
          </a:xfrm>
          <a:prstGeom prst="rect">
            <a:avLst/>
          </a:prstGeom>
          <a:noFill/>
          <a:ln w="9525" algn="ctr">
            <a:noFill/>
            <a:miter lim="800000"/>
          </a:ln>
        </p:spPr>
        <p:txBody>
          <a:bodyPr>
            <a:spAutoFit/>
          </a:bodyPr>
          <a:lstStyle/>
          <a:p>
            <a:pPr marL="361950" lvl="1" indent="278130">
              <a:spcBef>
                <a:spcPts val="600"/>
              </a:spcBef>
              <a:buClr>
                <a:schemeClr val="bg1"/>
              </a:buClr>
            </a:pPr>
            <a:r>
              <a:rPr lang="zh-CN" altLang="en-US" b="1" dirty="0" smtClean="0">
                <a:solidFill>
                  <a:schemeClr val="bg2"/>
                </a:solidFill>
                <a:ea typeface="楷体" panose="02010609060101010101" charset="-122"/>
                <a:cs typeface="Times New Roman" panose="02020603050405020304" pitchFamily="18" charset="0"/>
              </a:rPr>
              <a:t>（</a:t>
            </a:r>
            <a:r>
              <a:rPr lang="en-US" altLang="zh-CN" b="1" dirty="0" smtClean="0">
                <a:solidFill>
                  <a:schemeClr val="bg2"/>
                </a:solidFill>
                <a:ea typeface="楷体" panose="02010609060101010101" charset="-122"/>
                <a:cs typeface="Times New Roman" panose="02020603050405020304" pitchFamily="18" charset="0"/>
              </a:rPr>
              <a:t>7</a:t>
            </a:r>
            <a:r>
              <a:rPr lang="zh-CN" altLang="en-US" b="1" dirty="0" smtClean="0">
                <a:solidFill>
                  <a:schemeClr val="bg2"/>
                </a:solidFill>
                <a:ea typeface="楷体" panose="02010609060101010101" charset="-122"/>
                <a:cs typeface="Times New Roman" panose="02020603050405020304" pitchFamily="18" charset="0"/>
              </a:rPr>
              <a:t>）</a:t>
            </a:r>
            <a:r>
              <a:rPr lang="zh-CN" altLang="en-US" b="1" dirty="0" smtClean="0">
                <a:solidFill>
                  <a:schemeClr val="bg2"/>
                </a:solidFill>
                <a:latin typeface="楷体" panose="02010609060101010101" charset="-122"/>
                <a:ea typeface="楷体" panose="02010609060101010101" charset="-122"/>
                <a:cs typeface="楷体" panose="02010609060101010101" charset="-122"/>
              </a:rPr>
              <a:t>内部收益率</a:t>
            </a:r>
            <a:r>
              <a:rPr lang="zh-CN" altLang="en-US" b="1" dirty="0" smtClean="0">
                <a:solidFill>
                  <a:schemeClr val="bg2"/>
                </a:solidFill>
                <a:ea typeface="楷体" panose="02010609060101010101" charset="-122"/>
                <a:cs typeface="Times New Roman" panose="02020603050405020304" pitchFamily="18" charset="0"/>
              </a:rPr>
              <a:t>（</a:t>
            </a:r>
            <a:r>
              <a:rPr lang="en-US" altLang="zh-CN" b="1" dirty="0" smtClean="0">
                <a:solidFill>
                  <a:schemeClr val="bg2"/>
                </a:solidFill>
                <a:ea typeface="楷体" panose="02010609060101010101" charset="-122"/>
                <a:cs typeface="Times New Roman" panose="02020603050405020304" pitchFamily="18" charset="0"/>
              </a:rPr>
              <a:t>IRR</a:t>
            </a:r>
            <a:r>
              <a:rPr lang="zh-CN" altLang="en-US" b="1" dirty="0" smtClean="0">
                <a:solidFill>
                  <a:schemeClr val="bg2"/>
                </a:solidFill>
                <a:ea typeface="楷体" panose="02010609060101010101" charset="-122"/>
                <a:cs typeface="Times New Roman" panose="02020603050405020304" pitchFamily="18" charset="0"/>
              </a:rPr>
              <a:t>） </a:t>
            </a:r>
            <a:endParaRPr lang="zh-CN" altLang="en-US" b="1" dirty="0" smtClean="0">
              <a:solidFill>
                <a:schemeClr val="bg2"/>
              </a:solidFill>
              <a:ea typeface="楷体" panose="02010609060101010101" charset="-122"/>
              <a:cs typeface="Times New Roman" panose="02020603050405020304" pitchFamily="18" charset="0"/>
            </a:endParaRPr>
          </a:p>
          <a:p>
            <a:pPr marL="361950" lvl="1" indent="278130">
              <a:spcBef>
                <a:spcPts val="600"/>
              </a:spcBef>
              <a:buClr>
                <a:schemeClr val="bg1"/>
              </a:buClr>
            </a:pPr>
            <a:r>
              <a:rPr lang="zh-CN" altLang="en-US" b="1" dirty="0" smtClean="0">
                <a:solidFill>
                  <a:schemeClr val="bg2"/>
                </a:solidFill>
                <a:ea typeface="楷体" panose="02010609060101010101" charset="-122"/>
                <a:cs typeface="Times New Roman" panose="02020603050405020304" pitchFamily="18" charset="0"/>
              </a:rPr>
              <a:t>（</a:t>
            </a:r>
            <a:r>
              <a:rPr lang="en-US" altLang="zh-CN" b="1" dirty="0">
                <a:solidFill>
                  <a:schemeClr val="bg2"/>
                </a:solidFill>
                <a:ea typeface="楷体" panose="02010609060101010101" charset="-122"/>
                <a:cs typeface="Times New Roman" panose="02020603050405020304" pitchFamily="18" charset="0"/>
              </a:rPr>
              <a:t>8</a:t>
            </a:r>
            <a:r>
              <a:rPr lang="zh-CN" altLang="en-US" b="1" dirty="0">
                <a:solidFill>
                  <a:schemeClr val="bg2"/>
                </a:solidFill>
                <a:ea typeface="楷体" panose="02010609060101010101" charset="-122"/>
                <a:cs typeface="Times New Roman" panose="02020603050405020304" pitchFamily="18" charset="0"/>
              </a:rPr>
              <a:t>）</a:t>
            </a:r>
            <a:r>
              <a:rPr lang="zh-CN" altLang="en-US" b="1" dirty="0">
                <a:solidFill>
                  <a:schemeClr val="bg2"/>
                </a:solidFill>
                <a:latin typeface="楷体" panose="02010609060101010101" charset="-122"/>
                <a:ea typeface="楷体" panose="02010609060101010101" charset="-122"/>
                <a:cs typeface="楷体" panose="02010609060101010101" charset="-122"/>
              </a:rPr>
              <a:t>有形成本或收益</a:t>
            </a:r>
            <a:endParaRPr lang="zh-CN" altLang="en-US" b="1" dirty="0">
              <a:solidFill>
                <a:schemeClr val="bg2"/>
              </a:solidFill>
              <a:latin typeface="楷体" panose="02010609060101010101" charset="-122"/>
              <a:ea typeface="楷体" panose="02010609060101010101" charset="-122"/>
              <a:cs typeface="楷体" panose="02010609060101010101" charset="-122"/>
            </a:endParaRPr>
          </a:p>
          <a:p>
            <a:pPr marL="361950" lvl="1" indent="278130">
              <a:spcBef>
                <a:spcPts val="600"/>
              </a:spcBef>
              <a:buClr>
                <a:schemeClr val="bg1"/>
              </a:buClr>
            </a:pPr>
            <a:r>
              <a:rPr lang="zh-CN" altLang="en-US" b="1" dirty="0">
                <a:solidFill>
                  <a:schemeClr val="bg2"/>
                </a:solidFill>
                <a:ea typeface="楷体" panose="02010609060101010101" charset="-122"/>
                <a:cs typeface="Times New Roman" panose="02020603050405020304" pitchFamily="18" charset="0"/>
              </a:rPr>
              <a:t>（</a:t>
            </a:r>
            <a:r>
              <a:rPr lang="en-US" altLang="zh-CN" b="1" dirty="0">
                <a:solidFill>
                  <a:schemeClr val="bg2"/>
                </a:solidFill>
                <a:ea typeface="楷体" panose="02010609060101010101" charset="-122"/>
                <a:cs typeface="Times New Roman" panose="02020603050405020304" pitchFamily="18" charset="0"/>
              </a:rPr>
              <a:t>9</a:t>
            </a:r>
            <a:r>
              <a:rPr lang="zh-CN" altLang="en-US" b="1" dirty="0">
                <a:solidFill>
                  <a:schemeClr val="bg2"/>
                </a:solidFill>
                <a:ea typeface="楷体" panose="02010609060101010101" charset="-122"/>
                <a:cs typeface="Times New Roman" panose="02020603050405020304" pitchFamily="18" charset="0"/>
              </a:rPr>
              <a:t>）</a:t>
            </a:r>
            <a:r>
              <a:rPr lang="zh-CN" altLang="en-US" b="1" dirty="0">
                <a:solidFill>
                  <a:schemeClr val="bg2"/>
                </a:solidFill>
                <a:latin typeface="楷体" panose="02010609060101010101" charset="-122"/>
                <a:ea typeface="楷体" panose="02010609060101010101" charset="-122"/>
                <a:cs typeface="楷体" panose="02010609060101010101" charset="-122"/>
              </a:rPr>
              <a:t>直接成本</a:t>
            </a:r>
            <a:r>
              <a:rPr lang="zh-CN" altLang="en-US" b="1" dirty="0">
                <a:solidFill>
                  <a:schemeClr val="bg2"/>
                </a:solidFill>
                <a:ea typeface="楷体" panose="02010609060101010101" charset="-122"/>
                <a:cs typeface="Times New Roman" panose="02020603050405020304" pitchFamily="18" charset="0"/>
              </a:rPr>
              <a:t>（</a:t>
            </a:r>
            <a:r>
              <a:rPr lang="en-US" altLang="zh-CN" b="1" dirty="0">
                <a:solidFill>
                  <a:schemeClr val="bg2"/>
                </a:solidFill>
                <a:ea typeface="楷体" panose="02010609060101010101" charset="-122"/>
                <a:cs typeface="Times New Roman" panose="02020603050405020304" pitchFamily="18" charset="0"/>
              </a:rPr>
              <a:t>Direct Cost</a:t>
            </a:r>
            <a:r>
              <a:rPr lang="zh-CN" altLang="en-US" b="1" dirty="0">
                <a:solidFill>
                  <a:schemeClr val="bg2"/>
                </a:solidFill>
                <a:ea typeface="楷体" panose="02010609060101010101" charset="-122"/>
                <a:cs typeface="Times New Roman" panose="02020603050405020304" pitchFamily="18" charset="0"/>
              </a:rPr>
              <a:t>）</a:t>
            </a:r>
            <a:endParaRPr lang="zh-CN" altLang="en-US" b="1" dirty="0">
              <a:solidFill>
                <a:schemeClr val="bg2"/>
              </a:solidFill>
              <a:ea typeface="楷体" panose="02010609060101010101" charset="-122"/>
              <a:cs typeface="Times New Roman" panose="02020603050405020304" pitchFamily="18" charset="0"/>
            </a:endParaRPr>
          </a:p>
          <a:p>
            <a:pPr marL="361950" lvl="1" indent="278130">
              <a:spcBef>
                <a:spcPts val="600"/>
              </a:spcBef>
              <a:buClr>
                <a:schemeClr val="bg1"/>
              </a:buClr>
            </a:pPr>
            <a:r>
              <a:rPr lang="zh-CN" altLang="en-US" b="1" dirty="0">
                <a:solidFill>
                  <a:schemeClr val="bg2"/>
                </a:solidFill>
                <a:ea typeface="楷体" panose="02010609060101010101" charset="-122"/>
                <a:cs typeface="Times New Roman" panose="02020603050405020304" pitchFamily="18" charset="0"/>
              </a:rPr>
              <a:t>（</a:t>
            </a:r>
            <a:r>
              <a:rPr lang="en-US" altLang="zh-CN" b="1" dirty="0">
                <a:solidFill>
                  <a:schemeClr val="bg2"/>
                </a:solidFill>
                <a:ea typeface="楷体" panose="02010609060101010101" charset="-122"/>
                <a:cs typeface="Times New Roman" panose="02020603050405020304" pitchFamily="18" charset="0"/>
              </a:rPr>
              <a:t>10</a:t>
            </a:r>
            <a:r>
              <a:rPr lang="zh-CN" altLang="en-US" b="1" dirty="0">
                <a:solidFill>
                  <a:schemeClr val="bg2"/>
                </a:solidFill>
                <a:ea typeface="楷体" panose="02010609060101010101" charset="-122"/>
                <a:cs typeface="Times New Roman" panose="02020603050405020304" pitchFamily="18" charset="0"/>
              </a:rPr>
              <a:t>）</a:t>
            </a:r>
            <a:r>
              <a:rPr lang="zh-CN" altLang="en-US" b="1" dirty="0">
                <a:solidFill>
                  <a:schemeClr val="bg2"/>
                </a:solidFill>
                <a:latin typeface="楷体" panose="02010609060101010101" charset="-122"/>
                <a:ea typeface="楷体" panose="02010609060101010101" charset="-122"/>
                <a:cs typeface="楷体" panose="02010609060101010101" charset="-122"/>
              </a:rPr>
              <a:t>间接成本</a:t>
            </a:r>
            <a:r>
              <a:rPr lang="zh-CN" altLang="en-US" b="1" dirty="0">
                <a:solidFill>
                  <a:schemeClr val="bg2"/>
                </a:solidFill>
                <a:ea typeface="楷体" panose="02010609060101010101" charset="-122"/>
                <a:cs typeface="Times New Roman" panose="02020603050405020304" pitchFamily="18" charset="0"/>
              </a:rPr>
              <a:t>（</a:t>
            </a:r>
            <a:r>
              <a:rPr lang="en-US" altLang="zh-CN" b="1" dirty="0">
                <a:solidFill>
                  <a:schemeClr val="bg2"/>
                </a:solidFill>
                <a:ea typeface="楷体" panose="02010609060101010101" charset="-122"/>
                <a:cs typeface="Times New Roman" panose="02020603050405020304" pitchFamily="18" charset="0"/>
              </a:rPr>
              <a:t>Indirect Cost</a:t>
            </a:r>
            <a:r>
              <a:rPr lang="zh-CN" altLang="en-US" b="1" dirty="0">
                <a:solidFill>
                  <a:schemeClr val="bg2"/>
                </a:solidFill>
                <a:ea typeface="楷体" panose="02010609060101010101" charset="-122"/>
                <a:cs typeface="Times New Roman" panose="02020603050405020304" pitchFamily="18" charset="0"/>
              </a:rPr>
              <a:t>）</a:t>
            </a:r>
            <a:endParaRPr lang="zh-CN" altLang="en-US" b="1" dirty="0">
              <a:solidFill>
                <a:schemeClr val="bg2"/>
              </a:solidFill>
              <a:latin typeface="楷体" panose="02010609060101010101" charset="-122"/>
              <a:ea typeface="楷体" panose="02010609060101010101" charset="-122"/>
              <a:cs typeface="楷体" panose="02010609060101010101" charset="-122"/>
            </a:endParaRPr>
          </a:p>
          <a:p>
            <a:pPr marL="361950" lvl="1" indent="278130">
              <a:spcBef>
                <a:spcPts val="600"/>
              </a:spcBef>
              <a:buClr>
                <a:schemeClr val="bg1"/>
              </a:buClr>
            </a:pPr>
            <a:r>
              <a:rPr lang="zh-CN" altLang="en-US" b="1" dirty="0">
                <a:solidFill>
                  <a:schemeClr val="bg2"/>
                </a:solidFill>
                <a:ea typeface="楷体" panose="02010609060101010101" charset="-122"/>
                <a:cs typeface="Times New Roman" panose="02020603050405020304" pitchFamily="18" charset="0"/>
              </a:rPr>
              <a:t>（</a:t>
            </a:r>
            <a:r>
              <a:rPr lang="en-US" altLang="zh-CN" b="1" dirty="0">
                <a:solidFill>
                  <a:schemeClr val="bg2"/>
                </a:solidFill>
                <a:ea typeface="楷体" panose="02010609060101010101" charset="-122"/>
                <a:cs typeface="Times New Roman" panose="02020603050405020304" pitchFamily="18" charset="0"/>
              </a:rPr>
              <a:t>11</a:t>
            </a:r>
            <a:r>
              <a:rPr lang="zh-CN" altLang="en-US" b="1" dirty="0">
                <a:solidFill>
                  <a:schemeClr val="bg2"/>
                </a:solidFill>
                <a:ea typeface="楷体" panose="02010609060101010101" charset="-122"/>
                <a:cs typeface="Times New Roman" panose="02020603050405020304" pitchFamily="18" charset="0"/>
              </a:rPr>
              <a:t>）</a:t>
            </a:r>
            <a:r>
              <a:rPr lang="zh-CN" altLang="en-US" b="1" dirty="0">
                <a:solidFill>
                  <a:schemeClr val="bg2"/>
                </a:solidFill>
                <a:latin typeface="楷体" panose="02010609060101010101" charset="-122"/>
                <a:ea typeface="楷体" panose="02010609060101010101" charset="-122"/>
                <a:cs typeface="楷体" panose="02010609060101010101" charset="-122"/>
              </a:rPr>
              <a:t>沉没成本</a:t>
            </a:r>
            <a:r>
              <a:rPr lang="zh-CN" altLang="en-US" b="1" dirty="0">
                <a:solidFill>
                  <a:schemeClr val="bg2"/>
                </a:solidFill>
                <a:ea typeface="楷体" panose="02010609060101010101" charset="-122"/>
                <a:cs typeface="Times New Roman" panose="02020603050405020304" pitchFamily="18" charset="0"/>
              </a:rPr>
              <a:t>（</a:t>
            </a:r>
            <a:r>
              <a:rPr lang="en-US" altLang="zh-CN" b="1" dirty="0">
                <a:solidFill>
                  <a:schemeClr val="bg2"/>
                </a:solidFill>
                <a:ea typeface="楷体" panose="02010609060101010101" charset="-122"/>
                <a:cs typeface="Times New Roman" panose="02020603050405020304" pitchFamily="18" charset="0"/>
              </a:rPr>
              <a:t>Sunk cost</a:t>
            </a:r>
            <a:r>
              <a:rPr lang="zh-CN" altLang="en-US" b="1" dirty="0">
                <a:solidFill>
                  <a:schemeClr val="bg2"/>
                </a:solidFill>
                <a:ea typeface="楷体" panose="02010609060101010101" charset="-122"/>
                <a:cs typeface="Times New Roman" panose="02020603050405020304" pitchFamily="18" charset="0"/>
              </a:rPr>
              <a:t>）</a:t>
            </a:r>
            <a:endParaRPr lang="zh-CN" altLang="en-US" b="1" dirty="0">
              <a:solidFill>
                <a:schemeClr val="bg2"/>
              </a:solidFill>
              <a:latin typeface="楷体" panose="02010609060101010101" charset="-122"/>
              <a:ea typeface="楷体" panose="02010609060101010101" charset="-122"/>
              <a:cs typeface="楷体" panose="02010609060101010101" charset="-122"/>
            </a:endParaRPr>
          </a:p>
          <a:p>
            <a:pPr marL="361950" lvl="1" indent="278130">
              <a:spcBef>
                <a:spcPts val="600"/>
              </a:spcBef>
              <a:buClr>
                <a:schemeClr val="bg1"/>
              </a:buClr>
            </a:pPr>
            <a:r>
              <a:rPr lang="zh-CN" altLang="en-US" b="1" dirty="0">
                <a:solidFill>
                  <a:schemeClr val="bg2"/>
                </a:solidFill>
                <a:ea typeface="楷体" panose="02010609060101010101" charset="-122"/>
                <a:cs typeface="Times New Roman" panose="02020603050405020304" pitchFamily="18" charset="0"/>
              </a:rPr>
              <a:t>（</a:t>
            </a:r>
            <a:r>
              <a:rPr lang="en-US" altLang="zh-CN" b="1" dirty="0">
                <a:solidFill>
                  <a:schemeClr val="bg2"/>
                </a:solidFill>
                <a:ea typeface="楷体" panose="02010609060101010101" charset="-122"/>
                <a:cs typeface="Times New Roman" panose="02020603050405020304" pitchFamily="18" charset="0"/>
              </a:rPr>
              <a:t>12</a:t>
            </a:r>
            <a:r>
              <a:rPr lang="zh-CN" altLang="en-US" b="1" dirty="0">
                <a:solidFill>
                  <a:schemeClr val="bg2"/>
                </a:solidFill>
                <a:ea typeface="楷体" panose="02010609060101010101" charset="-122"/>
                <a:cs typeface="Times New Roman" panose="02020603050405020304" pitchFamily="18" charset="0"/>
              </a:rPr>
              <a:t>）</a:t>
            </a:r>
            <a:r>
              <a:rPr lang="zh-CN" altLang="en-US" b="1" dirty="0">
                <a:solidFill>
                  <a:schemeClr val="bg2"/>
                </a:solidFill>
                <a:latin typeface="楷体" panose="02010609060101010101" charset="-122"/>
                <a:ea typeface="楷体" panose="02010609060101010101" charset="-122"/>
                <a:cs typeface="楷体" panose="02010609060101010101" charset="-122"/>
              </a:rPr>
              <a:t>学习曲线理论</a:t>
            </a:r>
            <a:endParaRPr lang="zh-CN" altLang="en-US" b="1" dirty="0">
              <a:solidFill>
                <a:schemeClr val="bg2"/>
              </a:solidFill>
              <a:latin typeface="楷体" panose="02010609060101010101" charset="-122"/>
              <a:ea typeface="楷体" panose="02010609060101010101" charset="-122"/>
              <a:cs typeface="楷体" panose="02010609060101010101" charset="-122"/>
            </a:endParaRPr>
          </a:p>
          <a:p>
            <a:pPr marL="361950" lvl="1" indent="278130">
              <a:spcBef>
                <a:spcPts val="600"/>
              </a:spcBef>
              <a:buClr>
                <a:schemeClr val="bg1"/>
              </a:buClr>
            </a:pPr>
            <a:r>
              <a:rPr lang="zh-CN" altLang="en-US" b="1" dirty="0">
                <a:solidFill>
                  <a:schemeClr val="bg2"/>
                </a:solidFill>
                <a:ea typeface="楷体" panose="02010609060101010101" charset="-122"/>
                <a:cs typeface="Times New Roman" panose="02020603050405020304" pitchFamily="18" charset="0"/>
              </a:rPr>
              <a:t>（</a:t>
            </a:r>
            <a:r>
              <a:rPr lang="en-US" altLang="zh-CN" b="1" dirty="0">
                <a:solidFill>
                  <a:schemeClr val="bg2"/>
                </a:solidFill>
                <a:ea typeface="楷体" panose="02010609060101010101" charset="-122"/>
                <a:cs typeface="Times New Roman" panose="02020603050405020304" pitchFamily="18" charset="0"/>
              </a:rPr>
              <a:t>13</a:t>
            </a:r>
            <a:r>
              <a:rPr lang="zh-CN" altLang="en-US" b="1" dirty="0">
                <a:solidFill>
                  <a:schemeClr val="bg2"/>
                </a:solidFill>
                <a:ea typeface="楷体" panose="02010609060101010101" charset="-122"/>
                <a:cs typeface="Times New Roman" panose="02020603050405020304" pitchFamily="18" charset="0"/>
              </a:rPr>
              <a:t>）</a:t>
            </a:r>
            <a:r>
              <a:rPr lang="zh-CN" altLang="en-US" b="1" dirty="0">
                <a:solidFill>
                  <a:schemeClr val="bg2"/>
                </a:solidFill>
                <a:latin typeface="楷体" panose="02010609060101010101" charset="-122"/>
                <a:ea typeface="楷体" panose="02010609060101010101" charset="-122"/>
                <a:cs typeface="楷体" panose="02010609060101010101" charset="-122"/>
              </a:rPr>
              <a:t>储备金</a:t>
            </a:r>
            <a:endParaRPr lang="zh-CN" altLang="en-US" b="1" dirty="0">
              <a:solidFill>
                <a:schemeClr val="bg2"/>
              </a:solidFill>
              <a:latin typeface="楷体" panose="02010609060101010101" charset="-122"/>
              <a:ea typeface="楷体" panose="02010609060101010101" charset="-122"/>
              <a:cs typeface="楷体" panose="02010609060101010101" charset="-122"/>
            </a:endParaRPr>
          </a:p>
          <a:p>
            <a:pPr marL="361950" lvl="1" indent="278130">
              <a:spcBef>
                <a:spcPts val="600"/>
              </a:spcBef>
              <a:buClr>
                <a:schemeClr val="bg1"/>
              </a:buClr>
            </a:pPr>
            <a:r>
              <a:rPr lang="zh-CN" altLang="en-US" b="1" dirty="0">
                <a:solidFill>
                  <a:schemeClr val="bg2"/>
                </a:solidFill>
                <a:ea typeface="楷体" panose="02010609060101010101" charset="-122"/>
                <a:cs typeface="Times New Roman" panose="02020603050405020304" pitchFamily="18" charset="0"/>
              </a:rPr>
              <a:t>（</a:t>
            </a:r>
            <a:r>
              <a:rPr lang="en-US" altLang="zh-CN" b="1" dirty="0">
                <a:solidFill>
                  <a:schemeClr val="bg2"/>
                </a:solidFill>
                <a:ea typeface="楷体" panose="02010609060101010101" charset="-122"/>
                <a:cs typeface="Times New Roman" panose="02020603050405020304" pitchFamily="18" charset="0"/>
              </a:rPr>
              <a:t>14</a:t>
            </a:r>
            <a:r>
              <a:rPr lang="zh-CN" altLang="en-US" b="1" dirty="0">
                <a:solidFill>
                  <a:schemeClr val="bg2"/>
                </a:solidFill>
                <a:ea typeface="楷体" panose="02010609060101010101" charset="-122"/>
                <a:cs typeface="Times New Roman" panose="02020603050405020304" pitchFamily="18" charset="0"/>
              </a:rPr>
              <a:t>）</a:t>
            </a:r>
            <a:r>
              <a:rPr lang="zh-CN" altLang="en-US" b="1" dirty="0">
                <a:solidFill>
                  <a:schemeClr val="bg2"/>
                </a:solidFill>
                <a:latin typeface="楷体" panose="02010609060101010101" charset="-122"/>
                <a:ea typeface="楷体" panose="02010609060101010101" charset="-122"/>
                <a:cs typeface="楷体" panose="02010609060101010101" charset="-122"/>
              </a:rPr>
              <a:t>全生命期</a:t>
            </a:r>
            <a:r>
              <a:rPr lang="zh-CN" altLang="en-US" b="1" dirty="0" smtClean="0">
                <a:solidFill>
                  <a:schemeClr val="bg2"/>
                </a:solidFill>
                <a:latin typeface="楷体" panose="02010609060101010101" charset="-122"/>
                <a:ea typeface="楷体" panose="02010609060101010101" charset="-122"/>
                <a:cs typeface="楷体" panose="02010609060101010101" charset="-122"/>
              </a:rPr>
              <a:t>成本</a:t>
            </a:r>
            <a:endParaRPr lang="en-US" altLang="zh-CN" b="1" dirty="0" smtClean="0">
              <a:solidFill>
                <a:schemeClr val="bg2"/>
              </a:solidFill>
              <a:latin typeface="楷体" panose="02010609060101010101" charset="-122"/>
              <a:ea typeface="楷体" panose="02010609060101010101" charset="-122"/>
              <a:cs typeface="楷体" panose="02010609060101010101" charset="-122"/>
            </a:endParaRPr>
          </a:p>
          <a:p>
            <a:pPr marL="361950" lvl="1" indent="278130" algn="r">
              <a:spcBef>
                <a:spcPts val="600"/>
              </a:spcBef>
              <a:buClr>
                <a:schemeClr val="bg1"/>
              </a:buClr>
            </a:pPr>
            <a:r>
              <a:rPr lang="zh-CN" altLang="en-US" sz="2400" b="1" dirty="0" smtClean="0">
                <a:solidFill>
                  <a:schemeClr val="bg2"/>
                </a:solidFill>
                <a:latin typeface="楷体" panose="02010609060101010101" charset="-122"/>
                <a:ea typeface="楷体" panose="02010609060101010101" charset="-122"/>
                <a:cs typeface="楷体" panose="02010609060101010101" charset="-122"/>
              </a:rPr>
              <a:t>全生命期成本＝开发成本＋维护成本  </a:t>
            </a:r>
            <a:endParaRPr lang="zh-CN" altLang="en-US" sz="2400" b="1" dirty="0" smtClean="0">
              <a:solidFill>
                <a:schemeClr val="bg2"/>
              </a:solidFill>
              <a:latin typeface="楷体" panose="02010609060101010101" charset="-122"/>
              <a:ea typeface="楷体" panose="02010609060101010101" charset="-122"/>
              <a:cs typeface="楷体" panose="02010609060101010101" charset="-122"/>
            </a:endParaRPr>
          </a:p>
        </p:txBody>
      </p:sp>
      <p:sp>
        <p:nvSpPr>
          <p:cNvPr id="19462" name="Rectangle 8"/>
          <p:cNvSpPr>
            <a:spLocks noChangeArrowheads="1"/>
          </p:cNvSpPr>
          <p:nvPr/>
        </p:nvSpPr>
        <p:spPr bwMode="auto">
          <a:xfrm>
            <a:off x="103188" y="620713"/>
            <a:ext cx="5405437" cy="553085"/>
          </a:xfrm>
          <a:prstGeom prst="rect">
            <a:avLst/>
          </a:prstGeom>
          <a:noFill/>
          <a:ln w="9525">
            <a:noFill/>
            <a:miter lim="800000"/>
          </a:ln>
        </p:spPr>
        <p:txBody>
          <a:bodyPr>
            <a:spAutoFit/>
          </a:bodyPr>
          <a:lstStyle/>
          <a:p>
            <a:r>
              <a:rPr kumimoji="0" lang="en-US" altLang="en-US" sz="3000" b="1"/>
              <a:t>6.1 </a:t>
            </a:r>
            <a:r>
              <a:rPr kumimoji="0" lang="en-US" altLang="en-US" sz="3000" b="1">
                <a:latin typeface="楷体" panose="02010609060101010101" charset="-122"/>
                <a:ea typeface="楷体" panose="02010609060101010101" charset="-122"/>
              </a:rPr>
              <a:t>项目成本管理概述</a:t>
            </a:r>
            <a:endParaRPr kumimoji="0" lang="en-US" altLang="en-US" sz="3000" b="1">
              <a:latin typeface="楷体" panose="02010609060101010101" charset="-122"/>
              <a:ea typeface="楷体" panose="02010609060101010101" charset="-122"/>
            </a:endParaRPr>
          </a:p>
        </p:txBody>
      </p:sp>
      <p:sp>
        <p:nvSpPr>
          <p:cNvPr id="19463" name="Rectangle 9"/>
          <p:cNvSpPr>
            <a:spLocks noChangeArrowheads="1"/>
          </p:cNvSpPr>
          <p:nvPr/>
        </p:nvSpPr>
        <p:spPr bwMode="auto">
          <a:xfrm>
            <a:off x="323850" y="1341438"/>
            <a:ext cx="4200525" cy="521970"/>
          </a:xfrm>
          <a:prstGeom prst="rect">
            <a:avLst/>
          </a:prstGeom>
          <a:noFill/>
          <a:ln w="9525">
            <a:noFill/>
            <a:miter lim="800000"/>
          </a:ln>
        </p:spPr>
        <p:txBody>
          <a:bodyPr wrap="none">
            <a:spAutoFit/>
          </a:bodyPr>
          <a:lstStyle/>
          <a:p>
            <a:r>
              <a:rPr kumimoji="0" lang="en-US" altLang="en-US" b="1">
                <a:solidFill>
                  <a:srgbClr val="FF0000"/>
                </a:solidFill>
                <a:ea typeface="楷体_GB2312" pitchFamily="49" charset="-122"/>
              </a:rPr>
              <a:t>6.1.3 </a:t>
            </a:r>
            <a:r>
              <a:rPr kumimoji="0" lang="en-US" altLang="en-US" b="1">
                <a:solidFill>
                  <a:srgbClr val="FF0000"/>
                </a:solidFill>
                <a:latin typeface="楷体" panose="02010609060101010101" charset="-122"/>
                <a:ea typeface="楷体" panose="02010609060101010101" charset="-122"/>
              </a:rPr>
              <a:t>成本管理的基本原理</a:t>
            </a:r>
            <a:endParaRPr kumimoji="0" lang="en-US" altLang="en-US" b="1">
              <a:solidFill>
                <a:srgbClr val="FF0000"/>
              </a:solidFill>
              <a:latin typeface="楷体" panose="02010609060101010101" charset="-122"/>
              <a:ea typeface="楷体" panose="0201060906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6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482" name="Rectangle 9"/>
          <p:cNvSpPr>
            <a:spLocks noGrp="1" noChangeArrowheads="1"/>
          </p:cNvSpPr>
          <p:nvPr>
            <p:ph type="sldNum" sz="quarter" idx="10"/>
          </p:nvPr>
        </p:nvSpPr>
        <p:spPr>
          <a:noFill/>
        </p:spPr>
        <p:txBody>
          <a:bodyPr/>
          <a:lstStyle/>
          <a:p>
            <a:r>
              <a:rPr lang="zh-CN" altLang="en-GB" smtClean="0"/>
              <a:t>  </a:t>
            </a:r>
            <a:fld id="{78DEC504-DCD7-46A8-82BF-77487726B653}" type="slidenum">
              <a:rPr lang="zh-CN" altLang="en-GB" smtClean="0"/>
            </a:fld>
            <a:endParaRPr lang="en-US" altLang="zh-CN" smtClean="0"/>
          </a:p>
        </p:txBody>
      </p:sp>
      <p:sp>
        <p:nvSpPr>
          <p:cNvPr id="20483"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b="1" smtClean="0">
                <a:solidFill>
                  <a:schemeClr val="bg2"/>
                </a:solidFill>
              </a:rPr>
              <a:t>P.135</a:t>
            </a:r>
            <a:endParaRPr lang="en-US" altLang="zh-CN" sz="2400" b="1">
              <a:solidFill>
                <a:schemeClr val="bg2"/>
              </a:solidFill>
            </a:endParaRPr>
          </a:p>
        </p:txBody>
      </p:sp>
      <p:sp>
        <p:nvSpPr>
          <p:cNvPr id="20484" name="Rectangle 4"/>
          <p:cNvSpPr>
            <a:spLocks noChangeArrowheads="1"/>
          </p:cNvSpPr>
          <p:nvPr/>
        </p:nvSpPr>
        <p:spPr bwMode="auto">
          <a:xfrm>
            <a:off x="0" y="2316163"/>
            <a:ext cx="9144000" cy="0"/>
          </a:xfrm>
          <a:prstGeom prst="rect">
            <a:avLst/>
          </a:prstGeom>
          <a:noFill/>
          <a:ln w="9525">
            <a:noFill/>
            <a:miter lim="800000"/>
          </a:ln>
        </p:spPr>
        <p:txBody>
          <a:bodyPr wrap="none" anchor="ctr">
            <a:spAutoFit/>
          </a:bodyPr>
          <a:lstStyle/>
          <a:p>
            <a:pPr algn="r">
              <a:spcBef>
                <a:spcPct val="50000"/>
              </a:spcBef>
            </a:pPr>
            <a:endParaRPr lang="zh-CN" altLang="en-US"/>
          </a:p>
        </p:txBody>
      </p:sp>
      <p:grpSp>
        <p:nvGrpSpPr>
          <p:cNvPr id="13" name="组合 12"/>
          <p:cNvGrpSpPr/>
          <p:nvPr/>
        </p:nvGrpSpPr>
        <p:grpSpPr>
          <a:xfrm>
            <a:off x="214282" y="2000885"/>
            <a:ext cx="8456583" cy="4379279"/>
            <a:chOff x="395288" y="1858009"/>
            <a:chExt cx="8456583" cy="4379279"/>
          </a:xfrm>
        </p:grpSpPr>
        <p:pic>
          <p:nvPicPr>
            <p:cNvPr id="20485" name="Picture 6" descr="表6-1软件缺陷成本"/>
            <p:cNvPicPr>
              <a:picLocks noChangeAspect="1" noChangeArrowheads="1"/>
            </p:cNvPicPr>
            <p:nvPr/>
          </p:nvPicPr>
          <p:blipFill>
            <a:blip r:embed="rId1" cstate="print"/>
            <a:srcRect/>
            <a:stretch>
              <a:fillRect/>
            </a:stretch>
          </p:blipFill>
          <p:spPr bwMode="auto">
            <a:xfrm>
              <a:off x="395288" y="2285992"/>
              <a:ext cx="8353425" cy="3951296"/>
            </a:xfrm>
            <a:prstGeom prst="rect">
              <a:avLst/>
            </a:prstGeom>
            <a:noFill/>
            <a:ln w="9525">
              <a:noFill/>
              <a:miter lim="800000"/>
              <a:headEnd/>
              <a:tailEnd/>
            </a:ln>
          </p:spPr>
        </p:pic>
        <p:sp>
          <p:nvSpPr>
            <p:cNvPr id="20486" name="Rectangle 7"/>
            <p:cNvSpPr>
              <a:spLocks noChangeArrowheads="1"/>
            </p:cNvSpPr>
            <p:nvPr/>
          </p:nvSpPr>
          <p:spPr bwMode="auto">
            <a:xfrm>
              <a:off x="2285984" y="1858009"/>
              <a:ext cx="4143404" cy="460375"/>
            </a:xfrm>
            <a:prstGeom prst="rect">
              <a:avLst/>
            </a:prstGeom>
            <a:noFill/>
            <a:ln w="9525">
              <a:noFill/>
              <a:miter lim="800000"/>
            </a:ln>
          </p:spPr>
          <p:txBody>
            <a:bodyPr wrap="square" anchor="ctr">
              <a:spAutoFit/>
            </a:bodyPr>
            <a:lstStyle/>
            <a:p>
              <a:pPr algn="dist"/>
              <a:r>
                <a:rPr kumimoji="0" lang="zh-CN" altLang="en-US" sz="2400" b="1">
                  <a:solidFill>
                    <a:schemeClr val="bg1">
                      <a:lumMod val="50000"/>
                    </a:schemeClr>
                  </a:solidFill>
                  <a:latin typeface="楷体" panose="02010609060101010101" charset="-122"/>
                  <a:ea typeface="楷体" panose="02010609060101010101" charset="-122"/>
                  <a:cs typeface="楷体" panose="02010609060101010101" charset="-122"/>
                </a:rPr>
                <a:t>表</a:t>
              </a:r>
              <a:r>
                <a:rPr kumimoji="0" lang="en-US" altLang="zh-CN" sz="2400" b="1">
                  <a:solidFill>
                    <a:schemeClr val="bg1">
                      <a:lumMod val="50000"/>
                    </a:schemeClr>
                  </a:solidFill>
                  <a:latin typeface="+mn-lt"/>
                  <a:ea typeface="楷体" panose="02010609060101010101" charset="-122"/>
                  <a:cs typeface="+mn-lt"/>
                </a:rPr>
                <a:t>6-1</a:t>
              </a:r>
              <a:r>
                <a:rPr kumimoji="0" lang="zh-CN" altLang="en-US" sz="2400" b="1">
                  <a:solidFill>
                    <a:schemeClr val="bg1">
                      <a:lumMod val="50000"/>
                    </a:schemeClr>
                  </a:solidFill>
                  <a:latin typeface="楷体" panose="02010609060101010101" charset="-122"/>
                  <a:ea typeface="楷体" panose="02010609060101010101" charset="-122"/>
                  <a:cs typeface="楷体" panose="02010609060101010101" charset="-122"/>
                </a:rPr>
                <a:t>软件缺陷成本</a:t>
              </a:r>
              <a:endParaRPr kumimoji="0" lang="zh-CN" altLang="en-US" sz="2400" b="1">
                <a:solidFill>
                  <a:schemeClr val="bg1">
                    <a:lumMod val="50000"/>
                  </a:schemeClr>
                </a:solidFill>
                <a:latin typeface="楷体" panose="02010609060101010101" charset="-122"/>
                <a:ea typeface="楷体" panose="02010609060101010101" charset="-122"/>
                <a:cs typeface="楷体" panose="02010609060101010101" charset="-122"/>
              </a:endParaRPr>
            </a:p>
          </p:txBody>
        </p:sp>
        <p:sp>
          <p:nvSpPr>
            <p:cNvPr id="20487" name="Line 8"/>
            <p:cNvSpPr>
              <a:spLocks noChangeShapeType="1"/>
            </p:cNvSpPr>
            <p:nvPr/>
          </p:nvSpPr>
          <p:spPr bwMode="auto">
            <a:xfrm>
              <a:off x="500034" y="3571876"/>
              <a:ext cx="8351837" cy="0"/>
            </a:xfrm>
            <a:prstGeom prst="line">
              <a:avLst/>
            </a:prstGeom>
            <a:noFill/>
            <a:ln w="28575">
              <a:solidFill>
                <a:srgbClr val="800000"/>
              </a:solidFill>
              <a:round/>
            </a:ln>
          </p:spPr>
          <p:txBody>
            <a:bodyPr>
              <a:spAutoFit/>
            </a:bodyPr>
            <a:lstStyle/>
            <a:p>
              <a:endParaRPr lang="zh-CN" altLang="en-US"/>
            </a:p>
          </p:txBody>
        </p:sp>
        <p:sp>
          <p:nvSpPr>
            <p:cNvPr id="20488" name="Line 10"/>
            <p:cNvSpPr>
              <a:spLocks noChangeShapeType="1"/>
            </p:cNvSpPr>
            <p:nvPr/>
          </p:nvSpPr>
          <p:spPr bwMode="auto">
            <a:xfrm>
              <a:off x="500034" y="4286256"/>
              <a:ext cx="8351837" cy="0"/>
            </a:xfrm>
            <a:prstGeom prst="line">
              <a:avLst/>
            </a:prstGeom>
            <a:noFill/>
            <a:ln w="28575">
              <a:solidFill>
                <a:srgbClr val="800000"/>
              </a:solidFill>
              <a:round/>
            </a:ln>
          </p:spPr>
          <p:txBody>
            <a:bodyPr>
              <a:spAutoFit/>
            </a:bodyPr>
            <a:lstStyle/>
            <a:p>
              <a:endParaRPr lang="zh-CN" altLang="en-US"/>
            </a:p>
          </p:txBody>
        </p:sp>
        <p:sp>
          <p:nvSpPr>
            <p:cNvPr id="20489" name="Line 11"/>
            <p:cNvSpPr>
              <a:spLocks noChangeShapeType="1"/>
            </p:cNvSpPr>
            <p:nvPr/>
          </p:nvSpPr>
          <p:spPr bwMode="auto">
            <a:xfrm>
              <a:off x="428596" y="4929198"/>
              <a:ext cx="8351837" cy="0"/>
            </a:xfrm>
            <a:prstGeom prst="line">
              <a:avLst/>
            </a:prstGeom>
            <a:noFill/>
            <a:ln w="28575">
              <a:solidFill>
                <a:srgbClr val="800000"/>
              </a:solidFill>
              <a:round/>
            </a:ln>
          </p:spPr>
          <p:txBody>
            <a:bodyPr>
              <a:spAutoFit/>
            </a:bodyPr>
            <a:lstStyle/>
            <a:p>
              <a:endParaRPr lang="zh-CN" altLang="en-US"/>
            </a:p>
          </p:txBody>
        </p:sp>
        <p:sp>
          <p:nvSpPr>
            <p:cNvPr id="20490" name="Line 12"/>
            <p:cNvSpPr>
              <a:spLocks noChangeShapeType="1"/>
            </p:cNvSpPr>
            <p:nvPr/>
          </p:nvSpPr>
          <p:spPr bwMode="auto">
            <a:xfrm>
              <a:off x="395288" y="5516563"/>
              <a:ext cx="8351837" cy="0"/>
            </a:xfrm>
            <a:prstGeom prst="line">
              <a:avLst/>
            </a:prstGeom>
            <a:noFill/>
            <a:ln w="28575">
              <a:solidFill>
                <a:srgbClr val="800000"/>
              </a:solidFill>
              <a:round/>
            </a:ln>
          </p:spPr>
          <p:txBody>
            <a:bodyPr>
              <a:spAutoFit/>
            </a:bodyPr>
            <a:lstStyle/>
            <a:p>
              <a:endParaRPr lang="zh-CN" altLang="en-US"/>
            </a:p>
          </p:txBody>
        </p:sp>
      </p:grpSp>
      <p:sp>
        <p:nvSpPr>
          <p:cNvPr id="20491" name="Rectangle 13"/>
          <p:cNvSpPr>
            <a:spLocks noChangeArrowheads="1"/>
          </p:cNvSpPr>
          <p:nvPr/>
        </p:nvSpPr>
        <p:spPr bwMode="auto">
          <a:xfrm>
            <a:off x="103188" y="620713"/>
            <a:ext cx="5405437" cy="553085"/>
          </a:xfrm>
          <a:prstGeom prst="rect">
            <a:avLst/>
          </a:prstGeom>
          <a:noFill/>
          <a:ln w="9525">
            <a:noFill/>
            <a:miter lim="800000"/>
          </a:ln>
        </p:spPr>
        <p:txBody>
          <a:bodyPr>
            <a:spAutoFit/>
          </a:bodyPr>
          <a:lstStyle/>
          <a:p>
            <a:r>
              <a:rPr kumimoji="0" lang="en-US" altLang="en-US" sz="3000" b="1"/>
              <a:t>6.1 </a:t>
            </a:r>
            <a:r>
              <a:rPr kumimoji="0" lang="en-US" altLang="en-US" sz="3000" b="1">
                <a:latin typeface="楷体" panose="02010609060101010101" charset="-122"/>
                <a:ea typeface="楷体" panose="02010609060101010101" charset="-122"/>
              </a:rPr>
              <a:t>项目成本管理概述</a:t>
            </a:r>
            <a:endParaRPr kumimoji="0" lang="en-US" altLang="en-US" sz="3000" b="1">
              <a:latin typeface="楷体" panose="02010609060101010101" charset="-122"/>
              <a:ea typeface="楷体" panose="02010609060101010101" charset="-122"/>
            </a:endParaRPr>
          </a:p>
        </p:txBody>
      </p:sp>
      <p:sp>
        <p:nvSpPr>
          <p:cNvPr id="20492" name="Rectangle 14"/>
          <p:cNvSpPr>
            <a:spLocks noChangeArrowheads="1"/>
          </p:cNvSpPr>
          <p:nvPr/>
        </p:nvSpPr>
        <p:spPr bwMode="auto">
          <a:xfrm>
            <a:off x="323850" y="1341438"/>
            <a:ext cx="4200525" cy="521970"/>
          </a:xfrm>
          <a:prstGeom prst="rect">
            <a:avLst/>
          </a:prstGeom>
          <a:noFill/>
          <a:ln w="9525">
            <a:noFill/>
            <a:miter lim="800000"/>
          </a:ln>
        </p:spPr>
        <p:txBody>
          <a:bodyPr wrap="none">
            <a:spAutoFit/>
          </a:bodyPr>
          <a:lstStyle/>
          <a:p>
            <a:r>
              <a:rPr kumimoji="0" lang="en-US" altLang="en-US" b="1">
                <a:solidFill>
                  <a:schemeClr val="hlink"/>
                </a:solidFill>
                <a:ea typeface="楷体_GB2312" pitchFamily="49" charset="-122"/>
              </a:rPr>
              <a:t>6.1.3 </a:t>
            </a:r>
            <a:r>
              <a:rPr kumimoji="0" lang="en-US" altLang="en-US" b="1">
                <a:solidFill>
                  <a:schemeClr val="hlink"/>
                </a:solidFill>
                <a:latin typeface="楷体" panose="02010609060101010101" charset="-122"/>
                <a:ea typeface="楷体" panose="02010609060101010101" charset="-122"/>
              </a:rPr>
              <a:t>成本管理的基本原理</a:t>
            </a:r>
            <a:endParaRPr kumimoji="0" lang="en-US" altLang="en-US" b="1">
              <a:solidFill>
                <a:schemeClr val="hlink"/>
              </a:solidFill>
              <a:latin typeface="楷体" panose="02010609060101010101" charset="-122"/>
              <a:ea typeface="楷体" panose="02010609060101010101" charset="-122"/>
            </a:endParaRPr>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9"/>
          <p:cNvSpPr>
            <a:spLocks noGrp="1" noChangeArrowheads="1"/>
          </p:cNvSpPr>
          <p:nvPr>
            <p:ph type="sldNum" sz="quarter" idx="10"/>
          </p:nvPr>
        </p:nvSpPr>
        <p:spPr>
          <a:noFill/>
        </p:spPr>
        <p:txBody>
          <a:bodyPr/>
          <a:lstStyle/>
          <a:p>
            <a:r>
              <a:rPr lang="zh-CN" altLang="en-GB" smtClean="0"/>
              <a:t>  </a:t>
            </a:r>
            <a:fld id="{22F2FAF7-CA2C-4F59-AE69-D795F0C1C522}" type="slidenum">
              <a:rPr lang="zh-CN" altLang="en-GB" smtClean="0"/>
            </a:fld>
            <a:endParaRPr lang="en-US" altLang="zh-CN" smtClean="0"/>
          </a:p>
        </p:txBody>
      </p:sp>
      <p:sp>
        <p:nvSpPr>
          <p:cNvPr id="7171"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spcBef>
                <a:spcPct val="50000"/>
              </a:spcBef>
            </a:pPr>
            <a:endParaRPr lang="zh-CN" altLang="en-US" sz="2400"/>
          </a:p>
        </p:txBody>
      </p:sp>
      <p:sp>
        <p:nvSpPr>
          <p:cNvPr id="7172" name="Rectangle 6"/>
          <p:cNvSpPr>
            <a:spLocks noGrp="1" noChangeArrowheads="1"/>
          </p:cNvSpPr>
          <p:nvPr>
            <p:ph type="subTitle" idx="4294967295"/>
          </p:nvPr>
        </p:nvSpPr>
        <p:spPr bwMode="auto">
          <a:xfrm>
            <a:off x="2143125" y="500063"/>
            <a:ext cx="3929063" cy="714375"/>
          </a:xfrm>
          <a:prstGeom prst="rect">
            <a:avLst/>
          </a:prstGeom>
          <a:noFill/>
          <a:ln>
            <a:miter lim="800000"/>
          </a:ln>
        </p:spPr>
        <p:txBody>
          <a:bodyPr/>
          <a:lstStyle/>
          <a:p>
            <a:pPr marL="0" indent="0" algn="ctr" eaLnBrk="1" hangingPunct="1">
              <a:buClr>
                <a:schemeClr val="tx1"/>
              </a:buClr>
              <a:buSzTx/>
              <a:buFont typeface="Wingdings" panose="05000000000000000000" pitchFamily="2" charset="2"/>
              <a:buNone/>
            </a:pPr>
            <a:r>
              <a:rPr lang="zh-CN" altLang="en-US" sz="4800" b="1" smtClean="0">
                <a:latin typeface="楷体" panose="02010609060101010101" charset="-122"/>
                <a:ea typeface="楷体" panose="02010609060101010101" charset="-122"/>
                <a:cs typeface="楷体" panose="02010609060101010101" charset="-122"/>
              </a:rPr>
              <a:t>提   纲</a:t>
            </a:r>
            <a:endParaRPr lang="zh-CN" altLang="en-US" sz="4800" b="1" smtClean="0">
              <a:latin typeface="楷体" panose="02010609060101010101" charset="-122"/>
              <a:ea typeface="楷体" panose="02010609060101010101" charset="-122"/>
              <a:cs typeface="楷体" panose="02010609060101010101" charset="-122"/>
            </a:endParaRPr>
          </a:p>
        </p:txBody>
      </p:sp>
      <p:sp>
        <p:nvSpPr>
          <p:cNvPr id="7" name="TextBox 6"/>
          <p:cNvSpPr txBox="1">
            <a:spLocks noChangeArrowheads="1"/>
          </p:cNvSpPr>
          <p:nvPr/>
        </p:nvSpPr>
        <p:spPr bwMode="auto">
          <a:xfrm>
            <a:off x="357188" y="1455558"/>
            <a:ext cx="8501062" cy="4615815"/>
          </a:xfrm>
          <a:prstGeom prst="rect">
            <a:avLst/>
          </a:prstGeom>
          <a:noFill/>
          <a:ln w="9525">
            <a:noFill/>
            <a:miter lim="800000"/>
          </a:ln>
        </p:spPr>
        <p:txBody>
          <a:bodyPr>
            <a:spAutoFit/>
          </a:bodyPr>
          <a:lstStyle/>
          <a:p>
            <a:pPr>
              <a:spcBef>
                <a:spcPts val="0"/>
              </a:spcBef>
              <a:spcAft>
                <a:spcPts val="0"/>
              </a:spcAft>
              <a:buClr>
                <a:srgbClr val="C00000"/>
              </a:buClr>
              <a:buSzPct val="100000"/>
              <a:buFont typeface="Arial" panose="020B0604020202020204" pitchFamily="34" charset="0"/>
              <a:buChar char="◙"/>
              <a:defRPr/>
            </a:pPr>
            <a:r>
              <a:rPr lang="en-US" altLang="en-US" sz="4800" b="1" dirty="0" err="1">
                <a:solidFill>
                  <a:srgbClr val="0000FF"/>
                </a:solidFill>
                <a:latin typeface="楷体" panose="02010609060101010101" charset="-122"/>
                <a:ea typeface="楷体" panose="02010609060101010101" charset="-122"/>
                <a:cs typeface="楷体" panose="02010609060101010101" charset="-122"/>
              </a:rPr>
              <a:t>项目成本管理概述 </a:t>
            </a:r>
            <a:endParaRPr lang="en-US" altLang="en-US" sz="4800" b="1" dirty="0" err="1">
              <a:solidFill>
                <a:schemeClr val="bg1">
                  <a:lumMod val="50000"/>
                </a:schemeClr>
              </a:solidFill>
              <a:latin typeface="楷体" panose="02010609060101010101" charset="-122"/>
              <a:ea typeface="楷体" panose="02010609060101010101" charset="-122"/>
              <a:cs typeface="楷体" panose="02010609060101010101" charset="-122"/>
            </a:endParaRPr>
          </a:p>
          <a:p>
            <a:pPr>
              <a:spcBef>
                <a:spcPts val="0"/>
              </a:spcBef>
              <a:spcAft>
                <a:spcPts val="0"/>
              </a:spcAft>
              <a:buClr>
                <a:srgbClr val="C00000"/>
              </a:buClr>
              <a:buSzPct val="100000"/>
              <a:buFont typeface="Arial" panose="020B0604020202020204" pitchFamily="34" charset="0"/>
              <a:buChar char="◙"/>
              <a:defRPr/>
            </a:pPr>
            <a:r>
              <a:rPr lang="zh-CN" altLang="en-US" sz="5400" b="1" smtClean="0">
                <a:solidFill>
                  <a:srgbClr val="FF0000"/>
                </a:solidFill>
                <a:latin typeface="楷体" panose="02010609060101010101" charset="-122"/>
                <a:ea typeface="楷体" panose="02010609060101010101" charset="-122"/>
                <a:cs typeface="楷体" panose="02010609060101010101" charset="-122"/>
              </a:rPr>
              <a:t>规划</a:t>
            </a:r>
            <a:r>
              <a:rPr lang="en-US" altLang="en-US" sz="5400" b="1" smtClean="0">
                <a:solidFill>
                  <a:srgbClr val="FF0000"/>
                </a:solidFill>
                <a:latin typeface="楷体" panose="02010609060101010101" charset="-122"/>
                <a:ea typeface="楷体" panose="02010609060101010101" charset="-122"/>
                <a:cs typeface="楷体" panose="02010609060101010101" charset="-122"/>
              </a:rPr>
              <a:t>成本</a:t>
            </a:r>
            <a:r>
              <a:rPr lang="zh-CN" altLang="en-US" sz="5400" b="1" smtClean="0">
                <a:solidFill>
                  <a:srgbClr val="FF0000"/>
                </a:solidFill>
                <a:latin typeface="楷体" panose="02010609060101010101" charset="-122"/>
                <a:ea typeface="楷体" panose="02010609060101010101" charset="-122"/>
                <a:cs typeface="楷体" panose="02010609060101010101" charset="-122"/>
              </a:rPr>
              <a:t>管理</a:t>
            </a:r>
            <a:r>
              <a:rPr lang="en-US" altLang="en-US" sz="5400" b="1" smtClean="0">
                <a:solidFill>
                  <a:srgbClr val="C00000"/>
                </a:solidFill>
                <a:latin typeface="楷体" panose="02010609060101010101" charset="-122"/>
                <a:ea typeface="楷体" panose="02010609060101010101" charset="-122"/>
                <a:cs typeface="楷体" panose="02010609060101010101" charset="-122"/>
              </a:rPr>
              <a:t> </a:t>
            </a:r>
            <a:endParaRPr lang="en-US" altLang="en-US" sz="5400" b="1" smtClean="0">
              <a:solidFill>
                <a:srgbClr val="C00000"/>
              </a:solidFill>
              <a:latin typeface="楷体" panose="02010609060101010101" charset="-122"/>
              <a:ea typeface="楷体" panose="02010609060101010101" charset="-122"/>
              <a:cs typeface="楷体" panose="02010609060101010101" charset="-122"/>
            </a:endParaRPr>
          </a:p>
          <a:p>
            <a:pPr>
              <a:spcBef>
                <a:spcPts val="0"/>
              </a:spcBef>
              <a:spcAft>
                <a:spcPts val="0"/>
              </a:spcAft>
              <a:buClr>
                <a:srgbClr val="C00000"/>
              </a:buClr>
              <a:buSzPct val="100000"/>
              <a:buFont typeface="Arial" panose="020B0604020202020204" pitchFamily="34" charset="0"/>
              <a:buChar char="◙"/>
              <a:defRPr/>
            </a:pPr>
            <a:r>
              <a:rPr lang="en-US" altLang="en-US" sz="4800" b="1" smtClean="0">
                <a:solidFill>
                  <a:srgbClr val="0000FF"/>
                </a:solidFill>
                <a:latin typeface="楷体" panose="02010609060101010101" charset="-122"/>
                <a:ea typeface="楷体" panose="02010609060101010101" charset="-122"/>
                <a:cs typeface="楷体" panose="02010609060101010101" charset="-122"/>
              </a:rPr>
              <a:t>项目成本估算 </a:t>
            </a:r>
            <a:endParaRPr lang="en-US" altLang="en-US" sz="4800" b="1" dirty="0" err="1">
              <a:solidFill>
                <a:srgbClr val="0000FF"/>
              </a:solidFill>
              <a:latin typeface="楷体" panose="02010609060101010101" charset="-122"/>
              <a:ea typeface="楷体" panose="02010609060101010101" charset="-122"/>
              <a:cs typeface="楷体" panose="02010609060101010101" charset="-122"/>
            </a:endParaRPr>
          </a:p>
          <a:p>
            <a:pPr>
              <a:spcBef>
                <a:spcPts val="0"/>
              </a:spcBef>
              <a:spcAft>
                <a:spcPts val="0"/>
              </a:spcAft>
              <a:buClr>
                <a:srgbClr val="C00000"/>
              </a:buClr>
              <a:buSzPct val="100000"/>
              <a:buFont typeface="Arial" panose="020B0604020202020204" pitchFamily="34" charset="0"/>
              <a:buChar char="◙"/>
              <a:defRPr/>
            </a:pPr>
            <a:r>
              <a:rPr lang="en-US" altLang="en-US" sz="4800" b="1" dirty="0" err="1">
                <a:solidFill>
                  <a:srgbClr val="0000FF"/>
                </a:solidFill>
                <a:latin typeface="楷体" panose="02010609060101010101" charset="-122"/>
                <a:ea typeface="楷体" panose="02010609060101010101" charset="-122"/>
                <a:cs typeface="楷体" panose="02010609060101010101" charset="-122"/>
              </a:rPr>
              <a:t>项目成本预算</a:t>
            </a:r>
            <a:endParaRPr lang="en-US" altLang="en-US" sz="4800" b="1" dirty="0" err="1">
              <a:solidFill>
                <a:srgbClr val="0000FF"/>
              </a:solidFill>
              <a:latin typeface="楷体" panose="02010609060101010101" charset="-122"/>
              <a:ea typeface="楷体" panose="02010609060101010101" charset="-122"/>
              <a:cs typeface="楷体" panose="02010609060101010101" charset="-122"/>
            </a:endParaRPr>
          </a:p>
          <a:p>
            <a:pPr>
              <a:spcBef>
                <a:spcPts val="0"/>
              </a:spcBef>
              <a:spcAft>
                <a:spcPts val="0"/>
              </a:spcAft>
              <a:buClr>
                <a:srgbClr val="C00000"/>
              </a:buClr>
              <a:buSzPct val="100000"/>
              <a:buFont typeface="Arial" panose="020B0604020202020204" pitchFamily="34" charset="0"/>
              <a:buChar char="◙"/>
              <a:defRPr/>
            </a:pPr>
            <a:r>
              <a:rPr lang="en-US" altLang="en-US" sz="4800" b="1" dirty="0" err="1">
                <a:solidFill>
                  <a:srgbClr val="0000FF"/>
                </a:solidFill>
                <a:latin typeface="楷体" panose="02010609060101010101" charset="-122"/>
                <a:ea typeface="楷体" panose="02010609060101010101" charset="-122"/>
                <a:cs typeface="楷体" panose="02010609060101010101" charset="-122"/>
              </a:rPr>
              <a:t>项目成本控制</a:t>
            </a:r>
            <a:endParaRPr lang="en-US" altLang="en-US" sz="4800" b="1" dirty="0" err="1">
              <a:solidFill>
                <a:srgbClr val="0000FF"/>
              </a:solidFill>
              <a:latin typeface="楷体" panose="02010609060101010101" charset="-122"/>
              <a:ea typeface="楷体" panose="02010609060101010101" charset="-122"/>
              <a:cs typeface="楷体" panose="02010609060101010101" charset="-122"/>
            </a:endParaRPr>
          </a:p>
          <a:p>
            <a:pPr>
              <a:spcBef>
                <a:spcPts val="0"/>
              </a:spcBef>
              <a:spcAft>
                <a:spcPts val="0"/>
              </a:spcAft>
              <a:buClr>
                <a:srgbClr val="C00000"/>
              </a:buClr>
              <a:buSzPct val="100000"/>
              <a:buFont typeface="Arial" panose="020B0604020202020204" pitchFamily="34" charset="0"/>
              <a:buChar char="◙"/>
              <a:defRPr/>
            </a:pPr>
            <a:r>
              <a:rPr lang="en-US" altLang="en-US" sz="4800" b="1" smtClean="0">
                <a:solidFill>
                  <a:srgbClr val="0000FF"/>
                </a:solidFill>
                <a:latin typeface="楷体" panose="02010609060101010101" charset="-122"/>
                <a:ea typeface="楷体" panose="02010609060101010101" charset="-122"/>
                <a:cs typeface="楷体" panose="02010609060101010101" charset="-122"/>
              </a:rPr>
              <a:t>项目成本效益分析</a:t>
            </a:r>
            <a:endParaRPr lang="en-US" altLang="en-US" sz="4800" b="1" dirty="0" err="1" smtClean="0">
              <a:solidFill>
                <a:srgbClr val="0000FF"/>
              </a:solidFill>
              <a:latin typeface="楷体" panose="02010609060101010101" charset="-122"/>
              <a:ea typeface="楷体" panose="02010609060101010101" charset="-122"/>
              <a:cs typeface="楷体" panose="02010609060101010101" charset="-122"/>
            </a:endParaRPr>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9"/>
          <p:cNvSpPr>
            <a:spLocks noGrp="1" noChangeArrowheads="1"/>
          </p:cNvSpPr>
          <p:nvPr>
            <p:ph type="sldNum" sz="quarter" idx="10"/>
          </p:nvPr>
        </p:nvSpPr>
        <p:spPr>
          <a:noFill/>
        </p:spPr>
        <p:txBody>
          <a:bodyPr/>
          <a:lstStyle/>
          <a:p>
            <a:r>
              <a:rPr lang="zh-CN" altLang="en-GB" smtClean="0"/>
              <a:t>  </a:t>
            </a:r>
            <a:fld id="{356107A3-F954-4059-B40B-4DC387271D0E}" type="slidenum">
              <a:rPr lang="zh-CN" altLang="en-GB" smtClean="0"/>
            </a:fld>
            <a:endParaRPr lang="en-US" altLang="zh-CN" smtClean="0"/>
          </a:p>
        </p:txBody>
      </p:sp>
      <p:sp>
        <p:nvSpPr>
          <p:cNvPr id="22531"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b="1" smtClean="0">
                <a:solidFill>
                  <a:schemeClr val="bg2"/>
                </a:solidFill>
              </a:rPr>
              <a:t>P.135</a:t>
            </a:r>
            <a:endParaRPr lang="en-US" altLang="zh-CN" sz="2400" b="1">
              <a:solidFill>
                <a:schemeClr val="bg2"/>
              </a:solidFill>
            </a:endParaRPr>
          </a:p>
        </p:txBody>
      </p:sp>
      <p:sp>
        <p:nvSpPr>
          <p:cNvPr id="22532" name="Rectangle 4"/>
          <p:cNvSpPr>
            <a:spLocks noChangeArrowheads="1"/>
          </p:cNvSpPr>
          <p:nvPr/>
        </p:nvSpPr>
        <p:spPr bwMode="auto">
          <a:xfrm>
            <a:off x="0" y="2316163"/>
            <a:ext cx="9144000" cy="0"/>
          </a:xfrm>
          <a:prstGeom prst="rect">
            <a:avLst/>
          </a:prstGeom>
          <a:noFill/>
          <a:ln w="9525">
            <a:noFill/>
            <a:miter lim="800000"/>
          </a:ln>
        </p:spPr>
        <p:txBody>
          <a:bodyPr wrap="none" anchor="ctr">
            <a:spAutoFit/>
          </a:bodyPr>
          <a:lstStyle/>
          <a:p>
            <a:pPr algn="r">
              <a:spcBef>
                <a:spcPct val="50000"/>
              </a:spcBef>
            </a:pPr>
            <a:endParaRPr lang="zh-CN" altLang="en-US"/>
          </a:p>
        </p:txBody>
      </p:sp>
      <p:sp>
        <p:nvSpPr>
          <p:cNvPr id="22533" name="Text Box 5"/>
          <p:cNvSpPr txBox="1">
            <a:spLocks noChangeArrowheads="1"/>
          </p:cNvSpPr>
          <p:nvPr/>
        </p:nvSpPr>
        <p:spPr bwMode="auto">
          <a:xfrm>
            <a:off x="71406" y="1285860"/>
            <a:ext cx="9072594" cy="5107940"/>
          </a:xfrm>
          <a:prstGeom prst="rect">
            <a:avLst/>
          </a:prstGeom>
          <a:noFill/>
          <a:ln w="9525" algn="ctr">
            <a:noFill/>
            <a:miter lim="800000"/>
          </a:ln>
        </p:spPr>
        <p:txBody>
          <a:bodyPr wrap="square">
            <a:spAutoFit/>
          </a:bodyPr>
          <a:lstStyle/>
          <a:p>
            <a:pPr>
              <a:spcBef>
                <a:spcPts val="600"/>
              </a:spcBef>
              <a:spcAft>
                <a:spcPts val="600"/>
              </a:spcAft>
            </a:pPr>
            <a:r>
              <a:rPr lang="zh-CN" altLang="en-US" sz="3200" b="1" smtClean="0">
                <a:solidFill>
                  <a:schemeClr val="bg2"/>
                </a:solidFill>
                <a:latin typeface="楷体" panose="02010609060101010101" charset="-122"/>
                <a:ea typeface="楷体" panose="02010609060101010101" charset="-122"/>
                <a:cs typeface="楷体" panose="02010609060101010101" charset="-122"/>
              </a:rPr>
              <a:t>规划成本管理是为规划、管理、花费和控制项目成本而制定政策、程序和文档的过程。</a:t>
            </a:r>
            <a:endParaRPr lang="en-US" altLang="zh-CN" sz="3200" b="1" smtClean="0">
              <a:solidFill>
                <a:schemeClr val="bg2"/>
              </a:solidFill>
              <a:latin typeface="楷体" panose="02010609060101010101" charset="-122"/>
              <a:ea typeface="楷体" panose="02010609060101010101" charset="-122"/>
              <a:cs typeface="楷体" panose="02010609060101010101" charset="-122"/>
            </a:endParaRPr>
          </a:p>
          <a:p>
            <a:pPr>
              <a:spcBef>
                <a:spcPts val="600"/>
              </a:spcBef>
              <a:spcAft>
                <a:spcPts val="600"/>
              </a:spcAft>
            </a:pPr>
            <a:r>
              <a:rPr lang="zh-CN" altLang="en-US" sz="3200" b="1" smtClean="0">
                <a:solidFill>
                  <a:schemeClr val="bg2"/>
                </a:solidFill>
                <a:latin typeface="楷体" panose="02010609060101010101" charset="-122"/>
                <a:ea typeface="楷体" panose="02010609060101010101" charset="-122"/>
                <a:cs typeface="楷体" panose="02010609060101010101" charset="-122"/>
              </a:rPr>
              <a:t>在建筑行业有一条非常成功的经验，</a:t>
            </a:r>
            <a:r>
              <a:rPr lang="zh-CN" altLang="en-US" sz="3200" b="1" smtClean="0">
                <a:solidFill>
                  <a:schemeClr val="bg1"/>
                </a:solidFill>
                <a:latin typeface="楷体" panose="02010609060101010101" charset="-122"/>
                <a:ea typeface="楷体" panose="02010609060101010101" charset="-122"/>
                <a:cs typeface="楷体" panose="02010609060101010101" charset="-122"/>
              </a:rPr>
              <a:t>最差的建筑往往是那些预算远远超过起始目标的项目</a:t>
            </a:r>
            <a:r>
              <a:rPr lang="zh-CN" altLang="en-US" sz="3200" b="1" smtClean="0">
                <a:solidFill>
                  <a:schemeClr val="bg2"/>
                </a:solidFill>
                <a:latin typeface="楷体" panose="02010609060101010101" charset="-122"/>
                <a:ea typeface="楷体" panose="02010609060101010101" charset="-122"/>
                <a:cs typeface="楷体" panose="02010609060101010101" charset="-122"/>
              </a:rPr>
              <a:t>。这一经验，在</a:t>
            </a:r>
            <a:r>
              <a:rPr lang="en-US" sz="3200" b="1" smtClean="0">
                <a:solidFill>
                  <a:schemeClr val="bg2"/>
                </a:solidFill>
                <a:latin typeface="+mn-lt"/>
                <a:ea typeface="楷体" panose="02010609060101010101" charset="-122"/>
                <a:cs typeface="+mn-lt"/>
              </a:rPr>
              <a:t>IT</a:t>
            </a:r>
            <a:r>
              <a:rPr lang="zh-CN" altLang="en-US" sz="3200" b="1" smtClean="0">
                <a:solidFill>
                  <a:schemeClr val="bg2"/>
                </a:solidFill>
                <a:latin typeface="楷体" panose="02010609060101010101" charset="-122"/>
                <a:ea typeface="楷体" panose="02010609060101010101" charset="-122"/>
                <a:cs typeface="楷体" panose="02010609060101010101" charset="-122"/>
              </a:rPr>
              <a:t>项目中同样得到了很好的验证。</a:t>
            </a:r>
            <a:endParaRPr lang="en-US" altLang="zh-CN" sz="3200" b="1" smtClean="0">
              <a:solidFill>
                <a:schemeClr val="bg2"/>
              </a:solidFill>
              <a:latin typeface="楷体" panose="02010609060101010101" charset="-122"/>
              <a:ea typeface="楷体" panose="02010609060101010101" charset="-122"/>
              <a:cs typeface="楷体" panose="02010609060101010101" charset="-122"/>
            </a:endParaRPr>
          </a:p>
          <a:p>
            <a:pPr>
              <a:spcBef>
                <a:spcPts val="600"/>
              </a:spcBef>
              <a:spcAft>
                <a:spcPts val="600"/>
              </a:spcAft>
            </a:pPr>
            <a:r>
              <a:rPr lang="zh-CN" altLang="en-US" sz="3200" b="1" smtClean="0">
                <a:solidFill>
                  <a:schemeClr val="bg2"/>
                </a:solidFill>
                <a:latin typeface="楷体" panose="02010609060101010101" charset="-122"/>
                <a:ea typeface="楷体" panose="02010609060101010101" charset="-122"/>
                <a:cs typeface="楷体" panose="02010609060101010101" charset="-122"/>
              </a:rPr>
              <a:t>实践证明，在众多的</a:t>
            </a:r>
            <a:r>
              <a:rPr lang="en-US" sz="3200" b="1" smtClean="0">
                <a:solidFill>
                  <a:schemeClr val="bg2"/>
                </a:solidFill>
                <a:latin typeface="+mn-lt"/>
                <a:ea typeface="楷体" panose="02010609060101010101" charset="-122"/>
                <a:cs typeface="+mn-lt"/>
              </a:rPr>
              <a:t>IT</a:t>
            </a:r>
            <a:r>
              <a:rPr lang="zh-CN" altLang="en-US" sz="3200" b="1" smtClean="0">
                <a:solidFill>
                  <a:schemeClr val="bg2"/>
                </a:solidFill>
                <a:latin typeface="楷体" panose="02010609060101010101" charset="-122"/>
                <a:ea typeface="楷体" panose="02010609060101010101" charset="-122"/>
                <a:cs typeface="楷体" panose="02010609060101010101" charset="-122"/>
              </a:rPr>
              <a:t>项目中，</a:t>
            </a:r>
            <a:r>
              <a:rPr lang="zh-CN" altLang="en-US" sz="3200" b="1" smtClean="0">
                <a:solidFill>
                  <a:schemeClr val="bg1"/>
                </a:solidFill>
                <a:latin typeface="楷体" panose="02010609060101010101" charset="-122"/>
                <a:ea typeface="楷体" panose="02010609060101010101" charset="-122"/>
                <a:cs typeface="楷体" panose="02010609060101010101" charset="-122"/>
              </a:rPr>
              <a:t>最不好、最不成功的项目往往是那些大大超出预算的项目</a:t>
            </a:r>
            <a:r>
              <a:rPr lang="zh-CN" altLang="en-US" sz="3200" b="1" smtClean="0">
                <a:solidFill>
                  <a:schemeClr val="bg2"/>
                </a:solidFill>
                <a:latin typeface="楷体" panose="02010609060101010101" charset="-122"/>
                <a:ea typeface="楷体" panose="02010609060101010101" charset="-122"/>
                <a:cs typeface="楷体" panose="02010609060101010101" charset="-122"/>
              </a:rPr>
              <a:t>。</a:t>
            </a:r>
            <a:endParaRPr lang="en-US" altLang="zh-CN" sz="3200" b="1" smtClean="0">
              <a:solidFill>
                <a:schemeClr val="bg2"/>
              </a:solidFill>
              <a:latin typeface="楷体" panose="02010609060101010101" charset="-122"/>
              <a:ea typeface="楷体" panose="02010609060101010101" charset="-122"/>
              <a:cs typeface="楷体" panose="02010609060101010101" charset="-122"/>
            </a:endParaRPr>
          </a:p>
          <a:p>
            <a:pPr>
              <a:spcBef>
                <a:spcPts val="600"/>
              </a:spcBef>
              <a:spcAft>
                <a:spcPts val="600"/>
              </a:spcAft>
            </a:pPr>
            <a:r>
              <a:rPr lang="zh-CN" altLang="en-US" sz="3600" b="1" smtClean="0">
                <a:solidFill>
                  <a:srgbClr val="0000FF"/>
                </a:solidFill>
                <a:latin typeface="楷体" panose="02010609060101010101" charset="-122"/>
                <a:ea typeface="楷体" panose="02010609060101010101" charset="-122"/>
                <a:cs typeface="楷体" panose="02010609060101010101" charset="-122"/>
              </a:rPr>
              <a:t>没有好的规划来指导项目成本的管理和控制是成本管理不到位的关键原因。</a:t>
            </a:r>
            <a:endParaRPr lang="zh-CN" altLang="en-US" sz="3600" b="1" smtClean="0">
              <a:solidFill>
                <a:srgbClr val="0000FF"/>
              </a:solidFill>
              <a:latin typeface="楷体" panose="02010609060101010101" charset="-122"/>
              <a:ea typeface="楷体" panose="02010609060101010101" charset="-122"/>
              <a:cs typeface="楷体" panose="02010609060101010101" charset="-122"/>
            </a:endParaRPr>
          </a:p>
        </p:txBody>
      </p:sp>
      <p:sp>
        <p:nvSpPr>
          <p:cNvPr id="22534" name="Rectangle 6"/>
          <p:cNvSpPr>
            <a:spLocks noChangeArrowheads="1"/>
          </p:cNvSpPr>
          <p:nvPr/>
        </p:nvSpPr>
        <p:spPr bwMode="auto">
          <a:xfrm>
            <a:off x="103188" y="620713"/>
            <a:ext cx="5405437" cy="553085"/>
          </a:xfrm>
          <a:prstGeom prst="rect">
            <a:avLst/>
          </a:prstGeom>
          <a:noFill/>
          <a:ln w="9525">
            <a:noFill/>
            <a:miter lim="800000"/>
          </a:ln>
        </p:spPr>
        <p:txBody>
          <a:bodyPr>
            <a:spAutoFit/>
          </a:bodyPr>
          <a:lstStyle/>
          <a:p>
            <a:r>
              <a:rPr kumimoji="0" lang="en-US" altLang="en-US" sz="3000" b="1" smtClean="0"/>
              <a:t>6.2 </a:t>
            </a:r>
            <a:r>
              <a:rPr kumimoji="0" lang="zh-CN" altLang="en-US" sz="3000" b="1" smtClean="0">
                <a:latin typeface="楷体" panose="02010609060101010101" charset="-122"/>
                <a:ea typeface="楷体" panose="02010609060101010101" charset="-122"/>
              </a:rPr>
              <a:t>规划</a:t>
            </a:r>
            <a:r>
              <a:rPr kumimoji="0" lang="en-US" altLang="en-US" sz="3000" b="1" smtClean="0">
                <a:latin typeface="楷体" panose="02010609060101010101" charset="-122"/>
                <a:ea typeface="楷体" panose="02010609060101010101" charset="-122"/>
              </a:rPr>
              <a:t>成本</a:t>
            </a:r>
            <a:r>
              <a:rPr kumimoji="0" lang="zh-CN" altLang="en-US" sz="3000" b="1" smtClean="0">
                <a:latin typeface="楷体" panose="02010609060101010101" charset="-122"/>
                <a:ea typeface="楷体" panose="02010609060101010101" charset="-122"/>
              </a:rPr>
              <a:t>管理</a:t>
            </a:r>
            <a:endParaRPr kumimoji="0" lang="en-US" altLang="en-US" sz="3000" b="1">
              <a:latin typeface="楷体" panose="02010609060101010101" charset="-122"/>
              <a:ea typeface="楷体" panose="0201060906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53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53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9"/>
          <p:cNvSpPr>
            <a:spLocks noGrp="1" noChangeArrowheads="1"/>
          </p:cNvSpPr>
          <p:nvPr>
            <p:ph type="sldNum" sz="quarter" idx="10"/>
          </p:nvPr>
        </p:nvSpPr>
        <p:spPr>
          <a:noFill/>
        </p:spPr>
        <p:txBody>
          <a:bodyPr/>
          <a:lstStyle/>
          <a:p>
            <a:r>
              <a:rPr lang="zh-CN" altLang="en-GB" smtClean="0"/>
              <a:t>  </a:t>
            </a:r>
            <a:fld id="{356107A3-F954-4059-B40B-4DC387271D0E}" type="slidenum">
              <a:rPr lang="zh-CN" altLang="en-GB" smtClean="0"/>
            </a:fld>
            <a:endParaRPr lang="en-US" altLang="zh-CN" smtClean="0"/>
          </a:p>
        </p:txBody>
      </p:sp>
      <p:sp>
        <p:nvSpPr>
          <p:cNvPr id="22531"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b="1" smtClean="0">
                <a:solidFill>
                  <a:schemeClr val="bg2"/>
                </a:solidFill>
              </a:rPr>
              <a:t>P.135</a:t>
            </a:r>
            <a:endParaRPr lang="en-US" altLang="zh-CN" sz="2400" b="1">
              <a:solidFill>
                <a:schemeClr val="bg2"/>
              </a:solidFill>
            </a:endParaRPr>
          </a:p>
        </p:txBody>
      </p:sp>
      <p:sp>
        <p:nvSpPr>
          <p:cNvPr id="22532" name="Rectangle 4"/>
          <p:cNvSpPr>
            <a:spLocks noChangeArrowheads="1"/>
          </p:cNvSpPr>
          <p:nvPr/>
        </p:nvSpPr>
        <p:spPr bwMode="auto">
          <a:xfrm>
            <a:off x="0" y="2316163"/>
            <a:ext cx="9144000" cy="0"/>
          </a:xfrm>
          <a:prstGeom prst="rect">
            <a:avLst/>
          </a:prstGeom>
          <a:noFill/>
          <a:ln w="9525">
            <a:noFill/>
            <a:miter lim="800000"/>
          </a:ln>
        </p:spPr>
        <p:txBody>
          <a:bodyPr wrap="none" anchor="ctr">
            <a:spAutoFit/>
          </a:bodyPr>
          <a:lstStyle/>
          <a:p>
            <a:pPr algn="r">
              <a:spcBef>
                <a:spcPct val="50000"/>
              </a:spcBef>
            </a:pPr>
            <a:endParaRPr lang="zh-CN" altLang="en-US"/>
          </a:p>
        </p:txBody>
      </p:sp>
      <p:sp>
        <p:nvSpPr>
          <p:cNvPr id="22533" name="Text Box 5"/>
          <p:cNvSpPr txBox="1">
            <a:spLocks noChangeArrowheads="1"/>
          </p:cNvSpPr>
          <p:nvPr/>
        </p:nvSpPr>
        <p:spPr bwMode="auto">
          <a:xfrm>
            <a:off x="71406" y="1403323"/>
            <a:ext cx="9072594" cy="1076325"/>
          </a:xfrm>
          <a:prstGeom prst="rect">
            <a:avLst/>
          </a:prstGeom>
          <a:noFill/>
          <a:ln w="9525" algn="ctr">
            <a:noFill/>
            <a:miter lim="800000"/>
          </a:ln>
        </p:spPr>
        <p:txBody>
          <a:bodyPr wrap="square">
            <a:spAutoFit/>
          </a:bodyPr>
          <a:lstStyle/>
          <a:p>
            <a:pPr>
              <a:spcBef>
                <a:spcPts val="600"/>
              </a:spcBef>
              <a:spcAft>
                <a:spcPts val="600"/>
              </a:spcAft>
            </a:pPr>
            <a:r>
              <a:rPr lang="zh-CN" altLang="en-US" sz="3200" b="1" smtClean="0">
                <a:solidFill>
                  <a:schemeClr val="bg2"/>
                </a:solidFill>
                <a:latin typeface="楷体" panose="02010609060101010101" charset="-122"/>
                <a:ea typeface="楷体" panose="02010609060101010101" charset="-122"/>
              </a:rPr>
              <a:t>应该很好地执行规划成本管理过程，为如何在整个项目过程中管理项目的成本提供指南和方向。</a:t>
            </a:r>
            <a:endParaRPr lang="zh-CN" altLang="en-US" sz="3200" b="1">
              <a:solidFill>
                <a:schemeClr val="bg2"/>
              </a:solidFill>
              <a:latin typeface="楷体" panose="02010609060101010101" charset="-122"/>
              <a:ea typeface="楷体" panose="02010609060101010101" charset="-122"/>
            </a:endParaRPr>
          </a:p>
        </p:txBody>
      </p:sp>
      <p:sp>
        <p:nvSpPr>
          <p:cNvPr id="22534" name="Rectangle 6"/>
          <p:cNvSpPr>
            <a:spLocks noChangeArrowheads="1"/>
          </p:cNvSpPr>
          <p:nvPr/>
        </p:nvSpPr>
        <p:spPr bwMode="auto">
          <a:xfrm>
            <a:off x="103188" y="620713"/>
            <a:ext cx="5405437" cy="549275"/>
          </a:xfrm>
          <a:prstGeom prst="rect">
            <a:avLst/>
          </a:prstGeom>
          <a:noFill/>
          <a:ln w="9525">
            <a:noFill/>
            <a:miter lim="800000"/>
          </a:ln>
        </p:spPr>
        <p:txBody>
          <a:bodyPr>
            <a:spAutoFit/>
          </a:bodyPr>
          <a:lstStyle/>
          <a:p>
            <a:r>
              <a:rPr kumimoji="0" lang="en-US" altLang="en-US" sz="3000" b="1" smtClean="0"/>
              <a:t>6.2 </a:t>
            </a:r>
            <a:r>
              <a:rPr kumimoji="0" lang="zh-CN" altLang="en-US" sz="3000" b="1" smtClean="0"/>
              <a:t>规划</a:t>
            </a:r>
            <a:r>
              <a:rPr kumimoji="0" lang="en-US" altLang="en-US" sz="3000" b="1" smtClean="0"/>
              <a:t>成本</a:t>
            </a:r>
            <a:r>
              <a:rPr kumimoji="0" lang="zh-CN" altLang="en-US" sz="3000" b="1" smtClean="0"/>
              <a:t>管理</a:t>
            </a:r>
            <a:endParaRPr kumimoji="0" lang="en-US" altLang="en-US" sz="3000" b="1"/>
          </a:p>
        </p:txBody>
      </p:sp>
      <p:pic>
        <p:nvPicPr>
          <p:cNvPr id="7" name="图片 6"/>
          <p:cNvPicPr/>
          <p:nvPr/>
        </p:nvPicPr>
        <p:blipFill>
          <a:blip r:embed="rId1"/>
          <a:srcRect/>
          <a:stretch>
            <a:fillRect/>
          </a:stretch>
        </p:blipFill>
        <p:spPr bwMode="auto">
          <a:xfrm>
            <a:off x="142877" y="2786058"/>
            <a:ext cx="8643965" cy="3000391"/>
          </a:xfrm>
          <a:prstGeom prst="rect">
            <a:avLst/>
          </a:prstGeom>
          <a:noFill/>
          <a:ln w="9525">
            <a:noFill/>
            <a:miter lim="800000"/>
            <a:headEnd/>
            <a:tailEnd/>
          </a:ln>
        </p:spPr>
      </p:pic>
      <p:sp>
        <p:nvSpPr>
          <p:cNvPr id="8" name="Rectangle 9"/>
          <p:cNvSpPr>
            <a:spLocks noChangeArrowheads="1"/>
          </p:cNvSpPr>
          <p:nvPr/>
        </p:nvSpPr>
        <p:spPr bwMode="auto">
          <a:xfrm>
            <a:off x="2643174" y="6489208"/>
            <a:ext cx="3429024" cy="368300"/>
          </a:xfrm>
          <a:prstGeom prst="rect">
            <a:avLst/>
          </a:prstGeom>
          <a:noFill/>
          <a:ln w="9525">
            <a:noFill/>
            <a:miter lim="800000"/>
          </a:ln>
        </p:spPr>
        <p:txBody>
          <a:bodyPr wrap="square" anchor="ctr">
            <a:spAutoFit/>
          </a:bodyPr>
          <a:lstStyle/>
          <a:p>
            <a:pPr algn="dist"/>
            <a:r>
              <a:rPr kumimoji="0" lang="zh-CN" altLang="en-US" sz="1800" b="1" smtClean="0">
                <a:solidFill>
                  <a:srgbClr val="FF0000"/>
                </a:solidFill>
                <a:latin typeface="楷体" panose="02010609060101010101" charset="-122"/>
                <a:ea typeface="楷体" panose="02010609060101010101" charset="-122"/>
                <a:cs typeface="楷体" panose="02010609060101010101" charset="-122"/>
              </a:rPr>
              <a:t>图</a:t>
            </a:r>
            <a:r>
              <a:rPr kumimoji="0" lang="en-US" altLang="zh-CN" sz="1800" b="1" smtClean="0">
                <a:solidFill>
                  <a:srgbClr val="FF0000"/>
                </a:solidFill>
                <a:ea typeface="楷体" panose="02010609060101010101" charset="-122"/>
                <a:cs typeface="Times New Roman" panose="02020603050405020304" pitchFamily="18" charset="0"/>
              </a:rPr>
              <a:t>6-4</a:t>
            </a:r>
            <a:r>
              <a:rPr kumimoji="0" lang="zh-CN" altLang="en-US" sz="1800" b="1" smtClean="0">
                <a:solidFill>
                  <a:srgbClr val="FF0000"/>
                </a:solidFill>
                <a:latin typeface="楷体" panose="02010609060101010101" charset="-122"/>
                <a:ea typeface="楷体" panose="02010609060101010101" charset="-122"/>
                <a:cs typeface="楷体" panose="02010609060101010101" charset="-122"/>
              </a:rPr>
              <a:t>规划成本管理过程</a:t>
            </a:r>
            <a:endParaRPr kumimoji="0" lang="zh-CN" altLang="en-US" sz="1800" b="1" smtClean="0">
              <a:solidFill>
                <a:srgbClr val="FF0000"/>
              </a:solidFill>
              <a:latin typeface="楷体" panose="02010609060101010101" charset="-122"/>
              <a:ea typeface="楷体" panose="02010609060101010101" charset="-122"/>
              <a:cs typeface="楷体" panose="0201060906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9"/>
          <p:cNvSpPr>
            <a:spLocks noGrp="1" noChangeArrowheads="1"/>
          </p:cNvSpPr>
          <p:nvPr>
            <p:ph type="sldNum" sz="quarter" idx="10"/>
          </p:nvPr>
        </p:nvSpPr>
        <p:spPr>
          <a:noFill/>
        </p:spPr>
        <p:txBody>
          <a:bodyPr/>
          <a:lstStyle/>
          <a:p>
            <a:r>
              <a:rPr lang="zh-CN" altLang="en-GB" smtClean="0"/>
              <a:t>  </a:t>
            </a:r>
            <a:fld id="{22F2FAF7-CA2C-4F59-AE69-D795F0C1C522}" type="slidenum">
              <a:rPr lang="zh-CN" altLang="en-GB" smtClean="0"/>
            </a:fld>
            <a:endParaRPr lang="en-US" altLang="zh-CN" smtClean="0"/>
          </a:p>
        </p:txBody>
      </p:sp>
      <p:sp>
        <p:nvSpPr>
          <p:cNvPr id="7171"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spcBef>
                <a:spcPct val="50000"/>
              </a:spcBef>
            </a:pPr>
            <a:endParaRPr lang="zh-CN" altLang="en-US" sz="2400"/>
          </a:p>
        </p:txBody>
      </p:sp>
      <p:sp>
        <p:nvSpPr>
          <p:cNvPr id="7172" name="Rectangle 6"/>
          <p:cNvSpPr>
            <a:spLocks noGrp="1" noChangeArrowheads="1"/>
          </p:cNvSpPr>
          <p:nvPr>
            <p:ph type="subTitle" idx="4294967295"/>
          </p:nvPr>
        </p:nvSpPr>
        <p:spPr bwMode="auto">
          <a:xfrm>
            <a:off x="2143125" y="500063"/>
            <a:ext cx="3929063" cy="714375"/>
          </a:xfrm>
          <a:prstGeom prst="rect">
            <a:avLst/>
          </a:prstGeom>
          <a:noFill/>
          <a:ln>
            <a:miter lim="800000"/>
          </a:ln>
        </p:spPr>
        <p:txBody>
          <a:bodyPr/>
          <a:lstStyle/>
          <a:p>
            <a:pPr marL="0" indent="0" algn="ctr" eaLnBrk="1" hangingPunct="1">
              <a:buClr>
                <a:schemeClr val="tx1"/>
              </a:buClr>
              <a:buSzTx/>
              <a:buFont typeface="Wingdings" panose="05000000000000000000" pitchFamily="2" charset="2"/>
              <a:buNone/>
            </a:pPr>
            <a:r>
              <a:rPr lang="zh-CN" altLang="en-US" sz="4800" b="1" smtClean="0">
                <a:latin typeface="楷体" panose="02010609060101010101" charset="-122"/>
                <a:ea typeface="楷体" panose="02010609060101010101" charset="-122"/>
                <a:cs typeface="楷体" panose="02010609060101010101" charset="-122"/>
              </a:rPr>
              <a:t>提   纲</a:t>
            </a:r>
            <a:endParaRPr lang="zh-CN" altLang="en-US" sz="4800" b="1" smtClean="0">
              <a:latin typeface="楷体" panose="02010609060101010101" charset="-122"/>
              <a:ea typeface="楷体" panose="02010609060101010101" charset="-122"/>
              <a:cs typeface="楷体" panose="02010609060101010101" charset="-122"/>
            </a:endParaRPr>
          </a:p>
        </p:txBody>
      </p:sp>
      <p:sp>
        <p:nvSpPr>
          <p:cNvPr id="7" name="TextBox 6"/>
          <p:cNvSpPr txBox="1">
            <a:spLocks noChangeArrowheads="1"/>
          </p:cNvSpPr>
          <p:nvPr/>
        </p:nvSpPr>
        <p:spPr bwMode="auto">
          <a:xfrm>
            <a:off x="357188" y="1455558"/>
            <a:ext cx="8501062" cy="4615815"/>
          </a:xfrm>
          <a:prstGeom prst="rect">
            <a:avLst/>
          </a:prstGeom>
          <a:noFill/>
          <a:ln w="9525">
            <a:noFill/>
            <a:miter lim="800000"/>
          </a:ln>
        </p:spPr>
        <p:txBody>
          <a:bodyPr>
            <a:spAutoFit/>
          </a:bodyPr>
          <a:lstStyle/>
          <a:p>
            <a:pPr>
              <a:spcBef>
                <a:spcPts val="0"/>
              </a:spcBef>
              <a:spcAft>
                <a:spcPts val="0"/>
              </a:spcAft>
              <a:buClr>
                <a:srgbClr val="C00000"/>
              </a:buClr>
              <a:buSzPct val="100000"/>
              <a:buFont typeface="Arial" panose="020B0604020202020204" pitchFamily="34" charset="0"/>
              <a:buChar char="◙"/>
              <a:defRPr/>
            </a:pPr>
            <a:r>
              <a:rPr lang="en-US" altLang="en-US" sz="4800" b="1" dirty="0" err="1">
                <a:solidFill>
                  <a:srgbClr val="0000FF"/>
                </a:solidFill>
                <a:latin typeface="楷体" panose="02010609060101010101" charset="-122"/>
                <a:ea typeface="楷体" panose="02010609060101010101" charset="-122"/>
                <a:cs typeface="楷体" panose="02010609060101010101" charset="-122"/>
              </a:rPr>
              <a:t>项目成本管理概述 </a:t>
            </a:r>
            <a:endParaRPr lang="en-US" altLang="en-US" sz="4800" b="1" dirty="0" err="1">
              <a:solidFill>
                <a:srgbClr val="0000FF"/>
              </a:solidFill>
              <a:latin typeface="楷体" panose="02010609060101010101" charset="-122"/>
              <a:ea typeface="楷体" panose="02010609060101010101" charset="-122"/>
              <a:cs typeface="楷体" panose="02010609060101010101" charset="-122"/>
            </a:endParaRPr>
          </a:p>
          <a:p>
            <a:pPr>
              <a:spcBef>
                <a:spcPts val="0"/>
              </a:spcBef>
              <a:spcAft>
                <a:spcPts val="0"/>
              </a:spcAft>
              <a:buClr>
                <a:srgbClr val="C00000"/>
              </a:buClr>
              <a:buSzPct val="100000"/>
              <a:buFont typeface="Arial" panose="020B0604020202020204" pitchFamily="34" charset="0"/>
              <a:buChar char="◙"/>
              <a:defRPr/>
            </a:pPr>
            <a:r>
              <a:rPr lang="zh-CN" altLang="en-US" sz="4800" b="1" smtClean="0">
                <a:solidFill>
                  <a:srgbClr val="0000FF"/>
                </a:solidFill>
                <a:latin typeface="楷体" panose="02010609060101010101" charset="-122"/>
                <a:ea typeface="楷体" panose="02010609060101010101" charset="-122"/>
                <a:cs typeface="楷体" panose="02010609060101010101" charset="-122"/>
              </a:rPr>
              <a:t>规划</a:t>
            </a:r>
            <a:r>
              <a:rPr lang="en-US" altLang="en-US" sz="4800" b="1" smtClean="0">
                <a:solidFill>
                  <a:srgbClr val="0000FF"/>
                </a:solidFill>
                <a:latin typeface="楷体" panose="02010609060101010101" charset="-122"/>
                <a:ea typeface="楷体" panose="02010609060101010101" charset="-122"/>
                <a:cs typeface="楷体" panose="02010609060101010101" charset="-122"/>
              </a:rPr>
              <a:t>成本</a:t>
            </a:r>
            <a:r>
              <a:rPr lang="zh-CN" altLang="en-US" sz="4800" b="1" smtClean="0">
                <a:solidFill>
                  <a:srgbClr val="0000FF"/>
                </a:solidFill>
                <a:latin typeface="楷体" panose="02010609060101010101" charset="-122"/>
                <a:ea typeface="楷体" panose="02010609060101010101" charset="-122"/>
                <a:cs typeface="楷体" panose="02010609060101010101" charset="-122"/>
              </a:rPr>
              <a:t>管理</a:t>
            </a:r>
            <a:r>
              <a:rPr lang="en-US" altLang="en-US" sz="4800" b="1" smtClean="0">
                <a:solidFill>
                  <a:schemeClr val="bg1">
                    <a:lumMod val="50000"/>
                  </a:schemeClr>
                </a:solidFill>
                <a:latin typeface="楷体" panose="02010609060101010101" charset="-122"/>
                <a:ea typeface="楷体" panose="02010609060101010101" charset="-122"/>
                <a:cs typeface="楷体" panose="02010609060101010101" charset="-122"/>
              </a:rPr>
              <a:t> </a:t>
            </a:r>
            <a:endParaRPr lang="en-US" altLang="en-US" sz="4800" b="1" smtClean="0">
              <a:solidFill>
                <a:schemeClr val="bg1">
                  <a:lumMod val="50000"/>
                </a:schemeClr>
              </a:solidFill>
              <a:latin typeface="楷体" panose="02010609060101010101" charset="-122"/>
              <a:ea typeface="楷体" panose="02010609060101010101" charset="-122"/>
              <a:cs typeface="楷体" panose="02010609060101010101" charset="-122"/>
            </a:endParaRPr>
          </a:p>
          <a:p>
            <a:pPr>
              <a:spcBef>
                <a:spcPts val="0"/>
              </a:spcBef>
              <a:spcAft>
                <a:spcPts val="0"/>
              </a:spcAft>
              <a:buClr>
                <a:srgbClr val="C00000"/>
              </a:buClr>
              <a:buSzPct val="100000"/>
              <a:buFont typeface="Arial" panose="020B0604020202020204" pitchFamily="34" charset="0"/>
              <a:buChar char="◙"/>
              <a:defRPr/>
            </a:pPr>
            <a:r>
              <a:rPr lang="en-US" altLang="en-US" sz="5400" b="1" smtClean="0">
                <a:solidFill>
                  <a:srgbClr val="FF0000"/>
                </a:solidFill>
                <a:latin typeface="楷体" panose="02010609060101010101" charset="-122"/>
                <a:ea typeface="楷体" panose="02010609060101010101" charset="-122"/>
                <a:cs typeface="楷体" panose="02010609060101010101" charset="-122"/>
              </a:rPr>
              <a:t>项目成本估算</a:t>
            </a:r>
            <a:r>
              <a:rPr lang="en-US" altLang="en-US" sz="5400" b="1" smtClean="0">
                <a:solidFill>
                  <a:srgbClr val="C00000"/>
                </a:solidFill>
                <a:latin typeface="楷体" panose="02010609060101010101" charset="-122"/>
                <a:ea typeface="楷体" panose="02010609060101010101" charset="-122"/>
                <a:cs typeface="楷体" panose="02010609060101010101" charset="-122"/>
              </a:rPr>
              <a:t> </a:t>
            </a:r>
            <a:endParaRPr lang="en-US" altLang="en-US" sz="5400" b="1" dirty="0" err="1">
              <a:solidFill>
                <a:srgbClr val="C00000"/>
              </a:solidFill>
              <a:latin typeface="楷体" panose="02010609060101010101" charset="-122"/>
              <a:ea typeface="楷体" panose="02010609060101010101" charset="-122"/>
              <a:cs typeface="楷体" panose="02010609060101010101" charset="-122"/>
            </a:endParaRPr>
          </a:p>
          <a:p>
            <a:pPr>
              <a:spcBef>
                <a:spcPts val="0"/>
              </a:spcBef>
              <a:spcAft>
                <a:spcPts val="0"/>
              </a:spcAft>
              <a:buClr>
                <a:srgbClr val="C00000"/>
              </a:buClr>
              <a:buSzPct val="100000"/>
              <a:buFont typeface="Arial" panose="020B0604020202020204" pitchFamily="34" charset="0"/>
              <a:buChar char="◙"/>
              <a:defRPr/>
            </a:pPr>
            <a:r>
              <a:rPr lang="en-US" altLang="en-US" sz="4800" b="1" dirty="0" err="1">
                <a:solidFill>
                  <a:srgbClr val="0000FF"/>
                </a:solidFill>
                <a:latin typeface="楷体" panose="02010609060101010101" charset="-122"/>
                <a:ea typeface="楷体" panose="02010609060101010101" charset="-122"/>
                <a:cs typeface="楷体" panose="02010609060101010101" charset="-122"/>
              </a:rPr>
              <a:t>项目成本预算</a:t>
            </a:r>
            <a:endParaRPr lang="en-US" altLang="en-US" sz="4800" b="1" dirty="0" err="1">
              <a:solidFill>
                <a:srgbClr val="0000FF"/>
              </a:solidFill>
              <a:latin typeface="楷体" panose="02010609060101010101" charset="-122"/>
              <a:ea typeface="楷体" panose="02010609060101010101" charset="-122"/>
              <a:cs typeface="楷体" panose="02010609060101010101" charset="-122"/>
            </a:endParaRPr>
          </a:p>
          <a:p>
            <a:pPr>
              <a:spcBef>
                <a:spcPts val="0"/>
              </a:spcBef>
              <a:spcAft>
                <a:spcPts val="0"/>
              </a:spcAft>
              <a:buClr>
                <a:srgbClr val="C00000"/>
              </a:buClr>
              <a:buSzPct val="100000"/>
              <a:buFont typeface="Arial" panose="020B0604020202020204" pitchFamily="34" charset="0"/>
              <a:buChar char="◙"/>
              <a:defRPr/>
            </a:pPr>
            <a:r>
              <a:rPr lang="en-US" altLang="en-US" sz="4800" b="1" dirty="0" err="1">
                <a:solidFill>
                  <a:srgbClr val="0000FF"/>
                </a:solidFill>
                <a:latin typeface="楷体" panose="02010609060101010101" charset="-122"/>
                <a:ea typeface="楷体" panose="02010609060101010101" charset="-122"/>
                <a:cs typeface="楷体" panose="02010609060101010101" charset="-122"/>
              </a:rPr>
              <a:t>项目成本控制</a:t>
            </a:r>
            <a:endParaRPr lang="en-US" altLang="en-US" sz="4800" b="1" dirty="0" err="1">
              <a:solidFill>
                <a:srgbClr val="0000FF"/>
              </a:solidFill>
              <a:latin typeface="楷体" panose="02010609060101010101" charset="-122"/>
              <a:ea typeface="楷体" panose="02010609060101010101" charset="-122"/>
              <a:cs typeface="楷体" panose="02010609060101010101" charset="-122"/>
            </a:endParaRPr>
          </a:p>
          <a:p>
            <a:pPr>
              <a:spcBef>
                <a:spcPts val="0"/>
              </a:spcBef>
              <a:spcAft>
                <a:spcPts val="0"/>
              </a:spcAft>
              <a:buClr>
                <a:srgbClr val="C00000"/>
              </a:buClr>
              <a:buSzPct val="100000"/>
              <a:buFont typeface="Arial" panose="020B0604020202020204" pitchFamily="34" charset="0"/>
              <a:buChar char="◙"/>
              <a:defRPr/>
            </a:pPr>
            <a:r>
              <a:rPr lang="en-US" altLang="en-US" sz="4800" b="1" smtClean="0">
                <a:solidFill>
                  <a:srgbClr val="0000FF"/>
                </a:solidFill>
                <a:latin typeface="楷体" panose="02010609060101010101" charset="-122"/>
                <a:ea typeface="楷体" panose="02010609060101010101" charset="-122"/>
                <a:cs typeface="楷体" panose="02010609060101010101" charset="-122"/>
              </a:rPr>
              <a:t>项目成本效益分析</a:t>
            </a:r>
            <a:endParaRPr lang="en-US" altLang="en-US" sz="4800" b="1" dirty="0" err="1" smtClean="0">
              <a:solidFill>
                <a:srgbClr val="0000FF"/>
              </a:solidFill>
              <a:latin typeface="楷体" panose="02010609060101010101" charset="-122"/>
              <a:ea typeface="楷体" panose="02010609060101010101" charset="-122"/>
              <a:cs typeface="楷体" panose="02010609060101010101" charset="-122"/>
            </a:endParaRPr>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9"/>
          <p:cNvSpPr>
            <a:spLocks noGrp="1" noChangeArrowheads="1"/>
          </p:cNvSpPr>
          <p:nvPr>
            <p:ph type="sldNum" sz="quarter" idx="10"/>
          </p:nvPr>
        </p:nvSpPr>
        <p:spPr>
          <a:noFill/>
        </p:spPr>
        <p:txBody>
          <a:bodyPr/>
          <a:lstStyle/>
          <a:p>
            <a:r>
              <a:rPr lang="zh-CN" altLang="en-GB" smtClean="0"/>
              <a:t>  </a:t>
            </a:r>
            <a:fld id="{356107A3-F954-4059-B40B-4DC387271D0E}" type="slidenum">
              <a:rPr lang="zh-CN" altLang="en-GB" smtClean="0"/>
            </a:fld>
            <a:endParaRPr lang="en-US" altLang="zh-CN" smtClean="0"/>
          </a:p>
        </p:txBody>
      </p:sp>
      <p:sp>
        <p:nvSpPr>
          <p:cNvPr id="22531"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b="1" smtClean="0">
                <a:solidFill>
                  <a:schemeClr val="bg2"/>
                </a:solidFill>
              </a:rPr>
              <a:t>P.136</a:t>
            </a:r>
            <a:endParaRPr lang="en-US" altLang="zh-CN" sz="2400" b="1">
              <a:solidFill>
                <a:schemeClr val="bg2"/>
              </a:solidFill>
            </a:endParaRPr>
          </a:p>
        </p:txBody>
      </p:sp>
      <p:sp>
        <p:nvSpPr>
          <p:cNvPr id="22532" name="Rectangle 4"/>
          <p:cNvSpPr>
            <a:spLocks noChangeArrowheads="1"/>
          </p:cNvSpPr>
          <p:nvPr/>
        </p:nvSpPr>
        <p:spPr bwMode="auto">
          <a:xfrm>
            <a:off x="0" y="2316163"/>
            <a:ext cx="9144000" cy="0"/>
          </a:xfrm>
          <a:prstGeom prst="rect">
            <a:avLst/>
          </a:prstGeom>
          <a:noFill/>
          <a:ln w="9525">
            <a:noFill/>
            <a:miter lim="800000"/>
          </a:ln>
        </p:spPr>
        <p:txBody>
          <a:bodyPr wrap="none" anchor="ctr">
            <a:spAutoFit/>
          </a:bodyPr>
          <a:lstStyle/>
          <a:p>
            <a:pPr algn="r">
              <a:spcBef>
                <a:spcPct val="50000"/>
              </a:spcBef>
            </a:pPr>
            <a:endParaRPr lang="zh-CN" altLang="en-US"/>
          </a:p>
        </p:txBody>
      </p:sp>
      <p:sp>
        <p:nvSpPr>
          <p:cNvPr id="22533" name="Text Box 5"/>
          <p:cNvSpPr txBox="1">
            <a:spLocks noChangeArrowheads="1"/>
          </p:cNvSpPr>
          <p:nvPr/>
        </p:nvSpPr>
        <p:spPr bwMode="auto">
          <a:xfrm>
            <a:off x="252413" y="1301750"/>
            <a:ext cx="8640762" cy="4123055"/>
          </a:xfrm>
          <a:prstGeom prst="rect">
            <a:avLst/>
          </a:prstGeom>
          <a:noFill/>
          <a:ln w="9525" algn="ctr">
            <a:noFill/>
            <a:miter lim="800000"/>
          </a:ln>
        </p:spPr>
        <p:txBody>
          <a:bodyPr>
            <a:spAutoFit/>
          </a:bodyPr>
          <a:lstStyle/>
          <a:p>
            <a:pPr algn="just">
              <a:spcBef>
                <a:spcPct val="50000"/>
              </a:spcBef>
              <a:buClr>
                <a:schemeClr val="hlink"/>
              </a:buClr>
            </a:pPr>
            <a:r>
              <a:rPr lang="zh-CN" altLang="zh-CN" b="1" dirty="0">
                <a:solidFill>
                  <a:schemeClr val="bg1"/>
                </a:solidFill>
                <a:latin typeface="楷体" panose="02010609060101010101" charset="-122"/>
                <a:ea typeface="楷体" panose="02010609060101010101" charset="-122"/>
                <a:cs typeface="楷体" panose="02010609060101010101" charset="-122"/>
              </a:rPr>
              <a:t>成本估算</a:t>
            </a:r>
            <a:r>
              <a:rPr lang="zh-CN" altLang="zh-CN" b="1" dirty="0">
                <a:solidFill>
                  <a:schemeClr val="bg2"/>
                </a:solidFill>
                <a:latin typeface="楷体" panose="02010609060101010101" charset="-122"/>
                <a:ea typeface="楷体" panose="02010609060101010101" charset="-122"/>
                <a:cs typeface="楷体" panose="02010609060101010101" charset="-122"/>
              </a:rPr>
              <a:t>是对完成项目所需费用的估计和计划，是</a:t>
            </a:r>
            <a:r>
              <a:rPr lang="en-US" altLang="zh-CN" b="1" dirty="0">
                <a:solidFill>
                  <a:schemeClr val="bg2"/>
                </a:solidFill>
                <a:latin typeface="楷体" panose="02010609060101010101" charset="-122"/>
                <a:ea typeface="楷体" panose="02010609060101010101" charset="-122"/>
                <a:cs typeface="楷体" panose="02010609060101010101" charset="-122"/>
              </a:rPr>
              <a:t>IT</a:t>
            </a:r>
            <a:r>
              <a:rPr lang="zh-CN" altLang="en-US" b="1" dirty="0">
                <a:solidFill>
                  <a:schemeClr val="bg2"/>
                </a:solidFill>
                <a:latin typeface="楷体" panose="02010609060101010101" charset="-122"/>
                <a:ea typeface="楷体" panose="02010609060101010101" charset="-122"/>
                <a:cs typeface="楷体" panose="02010609060101010101" charset="-122"/>
              </a:rPr>
              <a:t>项目计划中的一个重要的、关键的、敏感的部分，是项目成本管理的</a:t>
            </a:r>
            <a:r>
              <a:rPr lang="zh-CN" altLang="en-US" b="1" dirty="0">
                <a:solidFill>
                  <a:schemeClr val="bg1"/>
                </a:solidFill>
                <a:latin typeface="楷体" panose="02010609060101010101" charset="-122"/>
                <a:ea typeface="楷体" panose="02010609060101010101" charset="-122"/>
                <a:cs typeface="楷体" panose="02010609060101010101" charset="-122"/>
              </a:rPr>
              <a:t>核心工作</a:t>
            </a:r>
            <a:r>
              <a:rPr lang="zh-CN" altLang="en-US" b="1" dirty="0">
                <a:solidFill>
                  <a:schemeClr val="bg2"/>
                </a:solidFill>
                <a:latin typeface="楷体" panose="02010609060101010101" charset="-122"/>
                <a:ea typeface="楷体" panose="02010609060101010101" charset="-122"/>
                <a:cs typeface="楷体" panose="02010609060101010101" charset="-122"/>
              </a:rPr>
              <a:t>。</a:t>
            </a:r>
            <a:endParaRPr lang="zh-CN" altLang="en-US" b="1" dirty="0">
              <a:solidFill>
                <a:schemeClr val="bg2"/>
              </a:solidFill>
              <a:latin typeface="楷体" panose="02010609060101010101" charset="-122"/>
              <a:ea typeface="楷体" panose="02010609060101010101" charset="-122"/>
              <a:cs typeface="楷体" panose="02010609060101010101" charset="-122"/>
            </a:endParaRPr>
          </a:p>
          <a:p>
            <a:pPr algn="just">
              <a:spcBef>
                <a:spcPct val="50000"/>
              </a:spcBef>
              <a:buClr>
                <a:schemeClr val="hlink"/>
              </a:buClr>
            </a:pPr>
            <a:r>
              <a:rPr lang="zh-CN" altLang="zh-CN" b="1" dirty="0">
                <a:solidFill>
                  <a:schemeClr val="bg2"/>
                </a:solidFill>
                <a:latin typeface="楷体" panose="02010609060101010101" charset="-122"/>
                <a:ea typeface="楷体" panose="02010609060101010101" charset="-122"/>
                <a:cs typeface="楷体" panose="02010609060101010101" charset="-122"/>
              </a:rPr>
              <a:t>成本估算</a:t>
            </a:r>
            <a:r>
              <a:rPr lang="zh-CN" altLang="en-US" b="1" dirty="0">
                <a:solidFill>
                  <a:schemeClr val="bg2"/>
                </a:solidFill>
                <a:latin typeface="楷体" panose="02010609060101010101" charset="-122"/>
                <a:ea typeface="楷体" panose="02010609060101010101" charset="-122"/>
                <a:cs typeface="楷体" panose="02010609060101010101" charset="-122"/>
              </a:rPr>
              <a:t>是项目决策、资金筹集和评标定标的依据，是承包商报价的基础，是项目进度计划编制、项目资源安排和绩效考评的依据。</a:t>
            </a:r>
            <a:endParaRPr lang="zh-CN" altLang="en-US" b="1" dirty="0">
              <a:solidFill>
                <a:schemeClr val="bg2"/>
              </a:solidFill>
              <a:latin typeface="楷体" panose="02010609060101010101" charset="-122"/>
              <a:ea typeface="楷体" panose="02010609060101010101" charset="-122"/>
              <a:cs typeface="楷体" panose="02010609060101010101" charset="-122"/>
            </a:endParaRPr>
          </a:p>
          <a:p>
            <a:pPr algn="just">
              <a:spcBef>
                <a:spcPct val="50000"/>
              </a:spcBef>
              <a:buClr>
                <a:schemeClr val="hlink"/>
              </a:buClr>
            </a:pPr>
            <a:r>
              <a:rPr lang="zh-CN" altLang="en-US" sz="3200" b="1" dirty="0">
                <a:solidFill>
                  <a:schemeClr val="bg2"/>
                </a:solidFill>
                <a:latin typeface="楷体" panose="02010609060101010101" charset="-122"/>
                <a:ea typeface="楷体" panose="02010609060101010101" charset="-122"/>
                <a:cs typeface="楷体" panose="02010609060101010101" charset="-122"/>
              </a:rPr>
              <a:t>项目成本估算是项目成本管理的起点。估算的准确度直接关系到项目成本管理的有效性。</a:t>
            </a:r>
            <a:endParaRPr lang="zh-CN" altLang="en-US" sz="3200" b="1" dirty="0">
              <a:solidFill>
                <a:schemeClr val="bg2"/>
              </a:solidFill>
              <a:latin typeface="楷体" panose="02010609060101010101" charset="-122"/>
              <a:ea typeface="楷体" panose="02010609060101010101" charset="-122"/>
              <a:cs typeface="楷体" panose="02010609060101010101" charset="-122"/>
            </a:endParaRPr>
          </a:p>
        </p:txBody>
      </p:sp>
      <p:sp>
        <p:nvSpPr>
          <p:cNvPr id="22534" name="Rectangle 6"/>
          <p:cNvSpPr>
            <a:spLocks noChangeArrowheads="1"/>
          </p:cNvSpPr>
          <p:nvPr/>
        </p:nvSpPr>
        <p:spPr bwMode="auto">
          <a:xfrm>
            <a:off x="103188" y="620713"/>
            <a:ext cx="5405437" cy="553085"/>
          </a:xfrm>
          <a:prstGeom prst="rect">
            <a:avLst/>
          </a:prstGeom>
          <a:noFill/>
          <a:ln w="9525">
            <a:noFill/>
            <a:miter lim="800000"/>
          </a:ln>
        </p:spPr>
        <p:txBody>
          <a:bodyPr>
            <a:spAutoFit/>
          </a:bodyPr>
          <a:lstStyle/>
          <a:p>
            <a:r>
              <a:rPr kumimoji="0" lang="en-US" altLang="en-US" sz="3000" b="1" smtClean="0"/>
              <a:t>6.2 </a:t>
            </a:r>
            <a:r>
              <a:rPr kumimoji="0" lang="en-US" altLang="en-US" sz="3000" b="1">
                <a:latin typeface="楷体" panose="02010609060101010101" charset="-122"/>
                <a:ea typeface="楷体" panose="02010609060101010101" charset="-122"/>
              </a:rPr>
              <a:t>项目成本估算</a:t>
            </a:r>
            <a:endParaRPr kumimoji="0" lang="en-US" altLang="en-US" sz="3000" b="1">
              <a:latin typeface="楷体" panose="02010609060101010101" charset="-122"/>
              <a:ea typeface="楷体" panose="0201060906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53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9"/>
          <p:cNvSpPr>
            <a:spLocks noGrp="1" noChangeArrowheads="1"/>
          </p:cNvSpPr>
          <p:nvPr>
            <p:ph type="sldNum" sz="quarter" idx="10"/>
          </p:nvPr>
        </p:nvSpPr>
        <p:spPr>
          <a:noFill/>
        </p:spPr>
        <p:txBody>
          <a:bodyPr/>
          <a:lstStyle/>
          <a:p>
            <a:r>
              <a:rPr lang="zh-CN" altLang="en-GB" smtClean="0"/>
              <a:t>  </a:t>
            </a:r>
            <a:fld id="{DFD361D3-0052-4FBA-84C4-A82733162D21}" type="slidenum">
              <a:rPr lang="zh-CN" altLang="en-GB" smtClean="0"/>
            </a:fld>
            <a:endParaRPr lang="en-US" altLang="zh-CN" smtClean="0"/>
          </a:p>
        </p:txBody>
      </p:sp>
      <p:sp>
        <p:nvSpPr>
          <p:cNvPr id="23555"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b="1" smtClean="0">
                <a:solidFill>
                  <a:schemeClr val="bg2"/>
                </a:solidFill>
              </a:rPr>
              <a:t>P.137</a:t>
            </a:r>
            <a:endParaRPr lang="en-US" altLang="zh-CN" sz="2400" b="1">
              <a:solidFill>
                <a:schemeClr val="bg2"/>
              </a:solidFill>
            </a:endParaRPr>
          </a:p>
        </p:txBody>
      </p:sp>
      <p:sp>
        <p:nvSpPr>
          <p:cNvPr id="23556" name="Rectangle 4"/>
          <p:cNvSpPr>
            <a:spLocks noChangeArrowheads="1"/>
          </p:cNvSpPr>
          <p:nvPr/>
        </p:nvSpPr>
        <p:spPr bwMode="auto">
          <a:xfrm>
            <a:off x="0" y="2316163"/>
            <a:ext cx="9144000" cy="0"/>
          </a:xfrm>
          <a:prstGeom prst="rect">
            <a:avLst/>
          </a:prstGeom>
          <a:noFill/>
          <a:ln w="9525">
            <a:noFill/>
            <a:miter lim="800000"/>
          </a:ln>
        </p:spPr>
        <p:txBody>
          <a:bodyPr wrap="none" anchor="ctr">
            <a:spAutoFit/>
          </a:bodyPr>
          <a:lstStyle/>
          <a:p>
            <a:pPr algn="r">
              <a:spcBef>
                <a:spcPct val="50000"/>
              </a:spcBef>
            </a:pPr>
            <a:endParaRPr lang="zh-CN" altLang="en-US"/>
          </a:p>
        </p:txBody>
      </p:sp>
      <p:graphicFrame>
        <p:nvGraphicFramePr>
          <p:cNvPr id="1154095" name="Group 47"/>
          <p:cNvGraphicFramePr>
            <a:graphicFrameLocks noGrp="1"/>
          </p:cNvGraphicFramePr>
          <p:nvPr/>
        </p:nvGraphicFramePr>
        <p:xfrm>
          <a:off x="296863" y="1773238"/>
          <a:ext cx="8667750" cy="4392614"/>
        </p:xfrm>
        <a:graphic>
          <a:graphicData uri="http://schemas.openxmlformats.org/drawingml/2006/table">
            <a:tbl>
              <a:tblPr/>
              <a:tblGrid>
                <a:gridCol w="1701800"/>
                <a:gridCol w="2357437"/>
                <a:gridCol w="2349500"/>
                <a:gridCol w="2259013"/>
              </a:tblGrid>
              <a:tr h="611188">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800" b="1" i="0" u="none" strike="noStrike" cap="none" normalizeH="0" baseline="0" smtClean="0">
                          <a:ln>
                            <a:noFill/>
                          </a:ln>
                          <a:solidFill>
                            <a:schemeClr val="bg2"/>
                          </a:solidFill>
                          <a:effectLst/>
                          <a:latin typeface="宋体" panose="02010600030101010101" pitchFamily="2" charset="-122"/>
                          <a:ea typeface="宋体" panose="02010600030101010101" pitchFamily="2" charset="-122"/>
                        </a:rPr>
                        <a:t>估算类型 </a:t>
                      </a:r>
                      <a:endParaRPr kumimoji="1" lang="zh-CN" altLang="en-US" sz="2800" b="1" i="0" u="none" strike="noStrike" cap="none" normalizeH="0" baseline="0" smtClean="0">
                        <a:ln>
                          <a:noFill/>
                        </a:ln>
                        <a:solidFill>
                          <a:schemeClr val="bg2"/>
                        </a:solidFill>
                        <a:effectLst/>
                        <a:latin typeface="宋体" panose="02010600030101010101" pitchFamily="2" charset="-122"/>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9900"/>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800" b="1" i="0" u="none" strike="noStrike" cap="none" normalizeH="0" baseline="0" smtClean="0">
                          <a:ln>
                            <a:noFill/>
                          </a:ln>
                          <a:solidFill>
                            <a:schemeClr val="bg2"/>
                          </a:solidFill>
                          <a:effectLst/>
                          <a:latin typeface="宋体" panose="02010600030101010101" pitchFamily="2" charset="-122"/>
                          <a:ea typeface="宋体" panose="02010600030101010101" pitchFamily="2" charset="-122"/>
                        </a:rPr>
                        <a:t>何时做 </a:t>
                      </a:r>
                      <a:endParaRPr kumimoji="1" lang="zh-CN" altLang="en-US" sz="2800" b="1" i="0" u="none" strike="noStrike" cap="none" normalizeH="0" baseline="0" smtClean="0">
                        <a:ln>
                          <a:noFill/>
                        </a:ln>
                        <a:solidFill>
                          <a:schemeClr val="bg2"/>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9900"/>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800" b="1" i="0" u="none" strike="noStrike" cap="none" normalizeH="0" baseline="0" smtClean="0">
                          <a:ln>
                            <a:noFill/>
                          </a:ln>
                          <a:solidFill>
                            <a:schemeClr val="bg2"/>
                          </a:solidFill>
                          <a:effectLst/>
                          <a:latin typeface="宋体" panose="02010600030101010101" pitchFamily="2" charset="-122"/>
                          <a:ea typeface="宋体" panose="02010600030101010101" pitchFamily="2" charset="-122"/>
                        </a:rPr>
                        <a:t>为什么做 </a:t>
                      </a:r>
                      <a:endParaRPr kumimoji="1" lang="zh-CN" altLang="en-US" sz="2800" b="1" i="0" u="none" strike="noStrike" cap="none" normalizeH="0" baseline="0" smtClean="0">
                        <a:ln>
                          <a:noFill/>
                        </a:ln>
                        <a:solidFill>
                          <a:schemeClr val="bg2"/>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9900"/>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800" b="1" i="0" u="none" strike="noStrike" cap="none" normalizeH="0" baseline="0" smtClean="0">
                          <a:ln>
                            <a:noFill/>
                          </a:ln>
                          <a:solidFill>
                            <a:schemeClr val="bg2"/>
                          </a:solidFill>
                          <a:effectLst/>
                          <a:latin typeface="宋体" panose="02010600030101010101" pitchFamily="2" charset="-122"/>
                          <a:ea typeface="宋体" panose="02010600030101010101" pitchFamily="2" charset="-122"/>
                        </a:rPr>
                        <a:t>精确度如何</a:t>
                      </a:r>
                      <a:endParaRPr kumimoji="1" lang="zh-CN" altLang="en-US" sz="2800" b="1" i="0" u="none" strike="noStrike" cap="none" normalizeH="0" baseline="0" smtClean="0">
                        <a:ln>
                          <a:noFill/>
                        </a:ln>
                        <a:solidFill>
                          <a:schemeClr val="bg2"/>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9900"/>
                    </a:solidFill>
                  </a:tcPr>
                </a:tc>
              </a:tr>
              <a:tr h="1346200">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400" b="1" i="0" u="none" strike="noStrike" cap="none" normalizeH="0" baseline="0" smtClean="0">
                          <a:ln>
                            <a:noFill/>
                          </a:ln>
                          <a:solidFill>
                            <a:schemeClr val="bg2"/>
                          </a:solidFill>
                          <a:effectLst/>
                          <a:latin typeface="Times New Roman" panose="02020603050405020304" pitchFamily="18" charset="0"/>
                          <a:ea typeface="楷体_GB2312" pitchFamily="49" charset="-122"/>
                        </a:rPr>
                        <a:t>量级估算 </a:t>
                      </a:r>
                      <a:endParaRPr kumimoji="1" lang="zh-CN" altLang="en-US" sz="2400" b="1" i="0" u="none" strike="noStrike" cap="none" normalizeH="0" baseline="0" smtClean="0">
                        <a:ln>
                          <a:noFill/>
                        </a:ln>
                        <a:solidFill>
                          <a:schemeClr val="bg2"/>
                        </a:solidFill>
                        <a:effectLst/>
                        <a:latin typeface="Times New Roman" panose="02020603050405020304" pitchFamily="18" charset="0"/>
                        <a:ea typeface="楷体_GB2312"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9900"/>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000" b="1" i="0" u="none" strike="noStrike" cap="none" normalizeH="0" baseline="0" smtClean="0">
                          <a:ln>
                            <a:noFill/>
                          </a:ln>
                          <a:solidFill>
                            <a:schemeClr val="bg2"/>
                          </a:solidFill>
                          <a:effectLst/>
                          <a:latin typeface="Times New Roman" panose="02020603050405020304" pitchFamily="18" charset="0"/>
                          <a:ea typeface="楷体_GB2312" pitchFamily="49" charset="-122"/>
                        </a:rPr>
                        <a:t>在项目生命周期中非常早，通常是在项目完成前3～ 5年   </a:t>
                      </a:r>
                      <a:endParaRPr kumimoji="1" lang="zh-CN" altLang="en-US" sz="2000" b="1" i="0" u="none" strike="noStrike" cap="none" normalizeH="0" baseline="0" smtClean="0">
                        <a:ln>
                          <a:noFill/>
                        </a:ln>
                        <a:solidFill>
                          <a:schemeClr val="bg2"/>
                        </a:solidFill>
                        <a:effectLst/>
                        <a:latin typeface="Times New Roman" panose="02020603050405020304" pitchFamily="18"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9900"/>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000" b="1" i="0" u="none" strike="noStrike" cap="none" normalizeH="0" baseline="0" smtClean="0">
                          <a:ln>
                            <a:noFill/>
                          </a:ln>
                          <a:solidFill>
                            <a:schemeClr val="bg2"/>
                          </a:solidFill>
                          <a:effectLst/>
                          <a:latin typeface="Times New Roman" panose="02020603050405020304" pitchFamily="18" charset="0"/>
                          <a:ea typeface="楷体_GB2312" pitchFamily="49" charset="-122"/>
                        </a:rPr>
                        <a:t>为项目选择决策提供成本估算</a:t>
                      </a:r>
                      <a:r>
                        <a:rPr kumimoji="1" lang="zh-CN" altLang="en-US" sz="2400" b="1" i="0" u="none" strike="noStrike" cap="none" normalizeH="0" baseline="0" smtClean="0">
                          <a:ln>
                            <a:noFill/>
                          </a:ln>
                          <a:solidFill>
                            <a:schemeClr val="bg2"/>
                          </a:solidFill>
                          <a:effectLst/>
                          <a:latin typeface="Times New Roman" panose="02020603050405020304" pitchFamily="18" charset="0"/>
                          <a:ea typeface="楷体_GB2312" pitchFamily="49" charset="-122"/>
                        </a:rPr>
                        <a:t> 。</a:t>
                      </a:r>
                      <a:endParaRPr kumimoji="1" lang="zh-CN" altLang="en-US" sz="2400" b="1" i="0" u="none" strike="noStrike" cap="none" normalizeH="0" baseline="0" smtClean="0">
                        <a:ln>
                          <a:noFill/>
                        </a:ln>
                        <a:solidFill>
                          <a:schemeClr val="bg2"/>
                        </a:solidFill>
                        <a:effectLst/>
                        <a:latin typeface="Times New Roman" panose="02020603050405020304" pitchFamily="18"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9900"/>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400" b="1" i="0" u="none" strike="noStrike" cap="none" normalizeH="0" baseline="0" smtClean="0">
                          <a:ln>
                            <a:noFill/>
                          </a:ln>
                          <a:solidFill>
                            <a:schemeClr val="bg2"/>
                          </a:solidFill>
                          <a:effectLst/>
                          <a:latin typeface="Times New Roman" panose="02020603050405020304" pitchFamily="18" charset="0"/>
                          <a:ea typeface="楷体_GB2312" pitchFamily="49" charset="-122"/>
                        </a:rPr>
                        <a:t>-25％～ +75％ </a:t>
                      </a:r>
                      <a:endParaRPr kumimoji="1" lang="zh-CN" altLang="en-US" sz="2400" b="1" i="0" u="none" strike="noStrike" cap="none" normalizeH="0" baseline="0" smtClean="0">
                        <a:ln>
                          <a:noFill/>
                        </a:ln>
                        <a:solidFill>
                          <a:schemeClr val="bg2"/>
                        </a:solidFill>
                        <a:effectLst/>
                        <a:latin typeface="Times New Roman" panose="02020603050405020304" pitchFamily="18"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9900"/>
                    </a:solidFill>
                  </a:tcPr>
                </a:tc>
              </a:tr>
              <a:tr h="1217613">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400" b="1" i="0" u="none" strike="noStrike" cap="none" normalizeH="0" baseline="0" smtClean="0">
                          <a:ln>
                            <a:noFill/>
                          </a:ln>
                          <a:solidFill>
                            <a:schemeClr val="bg2"/>
                          </a:solidFill>
                          <a:effectLst/>
                          <a:latin typeface="Times New Roman" panose="02020603050405020304" pitchFamily="18" charset="0"/>
                          <a:ea typeface="楷体_GB2312" pitchFamily="49" charset="-122"/>
                        </a:rPr>
                        <a:t>预算估算 </a:t>
                      </a:r>
                      <a:endParaRPr kumimoji="1" lang="zh-CN" altLang="en-US" sz="2400" b="1" i="0" u="none" strike="noStrike" cap="none" normalizeH="0" baseline="0" smtClean="0">
                        <a:ln>
                          <a:noFill/>
                        </a:ln>
                        <a:solidFill>
                          <a:schemeClr val="bg2"/>
                        </a:solidFill>
                        <a:effectLst/>
                        <a:latin typeface="Times New Roman" panose="02020603050405020304" pitchFamily="18" charset="0"/>
                        <a:ea typeface="楷体_GB2312"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9900"/>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000" b="1" i="0" u="none" strike="noStrike" cap="none" normalizeH="0" baseline="0" smtClean="0">
                          <a:ln>
                            <a:noFill/>
                          </a:ln>
                          <a:solidFill>
                            <a:schemeClr val="bg2"/>
                          </a:solidFill>
                          <a:effectLst/>
                          <a:latin typeface="Times New Roman" panose="02020603050405020304" pitchFamily="18" charset="0"/>
                          <a:ea typeface="楷体_GB2312" pitchFamily="49" charset="-122"/>
                        </a:rPr>
                        <a:t>项目完成前 </a:t>
                      </a:r>
                      <a:endParaRPr kumimoji="1" lang="zh-CN" altLang="en-US" sz="2000" b="1" i="0" u="none" strike="noStrike" cap="none" normalizeH="0" baseline="0" smtClean="0">
                        <a:ln>
                          <a:noFill/>
                        </a:ln>
                        <a:solidFill>
                          <a:schemeClr val="bg2"/>
                        </a:solidFill>
                        <a:effectLst/>
                        <a:latin typeface="Times New Roman" panose="02020603050405020304" pitchFamily="18" charset="0"/>
                        <a:ea typeface="楷体_GB2312" pitchFamily="49" charset="-122"/>
                      </a:endParaRP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000" b="1" i="0" u="none" strike="noStrike" cap="none" normalizeH="0" baseline="0" smtClean="0">
                          <a:ln>
                            <a:noFill/>
                          </a:ln>
                          <a:solidFill>
                            <a:schemeClr val="bg2"/>
                          </a:solidFill>
                          <a:effectLst/>
                          <a:latin typeface="Times New Roman" panose="02020603050405020304" pitchFamily="18" charset="0"/>
                          <a:ea typeface="楷体_GB2312" pitchFamily="49" charset="-122"/>
                        </a:rPr>
                        <a:t>1 ～ 2年</a:t>
                      </a:r>
                      <a:r>
                        <a:rPr kumimoji="1" lang="zh-CN" altLang="en-US" sz="2400" b="1" i="0" u="none" strike="noStrike" cap="none" normalizeH="0" baseline="0" smtClean="0">
                          <a:ln>
                            <a:noFill/>
                          </a:ln>
                          <a:solidFill>
                            <a:schemeClr val="bg2"/>
                          </a:solidFill>
                          <a:effectLst/>
                          <a:latin typeface="Times New Roman" panose="02020603050405020304" pitchFamily="18" charset="0"/>
                          <a:ea typeface="楷体_GB2312" pitchFamily="49" charset="-122"/>
                        </a:rPr>
                        <a:t> </a:t>
                      </a:r>
                      <a:endParaRPr kumimoji="1" lang="zh-CN" altLang="en-US" sz="2400" b="1" i="0" u="none" strike="noStrike" cap="none" normalizeH="0" baseline="0" smtClean="0">
                        <a:ln>
                          <a:noFill/>
                        </a:ln>
                        <a:solidFill>
                          <a:schemeClr val="bg2"/>
                        </a:solidFill>
                        <a:effectLst/>
                        <a:latin typeface="Times New Roman" panose="02020603050405020304" pitchFamily="18"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9900"/>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000" b="1" i="0" u="none" strike="noStrike" cap="none" normalizeH="0" baseline="0" smtClean="0">
                          <a:ln>
                            <a:noFill/>
                          </a:ln>
                          <a:solidFill>
                            <a:schemeClr val="bg2"/>
                          </a:solidFill>
                          <a:effectLst/>
                          <a:latin typeface="Times New Roman" panose="02020603050405020304" pitchFamily="18" charset="0"/>
                          <a:ea typeface="楷体_GB2312" pitchFamily="49" charset="-122"/>
                        </a:rPr>
                        <a:t>将资金拨入</a:t>
                      </a:r>
                      <a:endParaRPr kumimoji="1" lang="zh-CN" altLang="en-US" sz="2000" b="1" i="0" u="none" strike="noStrike" cap="none" normalizeH="0" baseline="0" smtClean="0">
                        <a:ln>
                          <a:noFill/>
                        </a:ln>
                        <a:solidFill>
                          <a:schemeClr val="bg2"/>
                        </a:solidFill>
                        <a:effectLst/>
                        <a:latin typeface="Times New Roman" panose="02020603050405020304" pitchFamily="18" charset="0"/>
                        <a:ea typeface="楷体_GB2312" pitchFamily="49" charset="-122"/>
                      </a:endParaRP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000" b="1" i="0" u="none" strike="noStrike" cap="none" normalizeH="0" baseline="0" smtClean="0">
                          <a:ln>
                            <a:noFill/>
                          </a:ln>
                          <a:solidFill>
                            <a:schemeClr val="bg2"/>
                          </a:solidFill>
                          <a:effectLst/>
                          <a:latin typeface="Times New Roman" panose="02020603050405020304" pitchFamily="18" charset="0"/>
                          <a:ea typeface="楷体_GB2312" pitchFamily="49" charset="-122"/>
                        </a:rPr>
                        <a:t>预算计划</a:t>
                      </a:r>
                      <a:endParaRPr kumimoji="1" lang="zh-CN" altLang="en-US" sz="2000" b="1" i="0" u="none" strike="noStrike" cap="none" normalizeH="0" baseline="0" smtClean="0">
                        <a:ln>
                          <a:noFill/>
                        </a:ln>
                        <a:solidFill>
                          <a:schemeClr val="bg2"/>
                        </a:solidFill>
                        <a:effectLst/>
                        <a:latin typeface="Times New Roman" panose="02020603050405020304" pitchFamily="18"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9900"/>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400" b="1" i="0" u="none" strike="noStrike" cap="none" normalizeH="0" baseline="0" smtClean="0">
                          <a:ln>
                            <a:noFill/>
                          </a:ln>
                          <a:solidFill>
                            <a:schemeClr val="bg2"/>
                          </a:solidFill>
                          <a:effectLst/>
                          <a:latin typeface="Times New Roman" panose="02020603050405020304" pitchFamily="18" charset="0"/>
                          <a:ea typeface="楷体_GB2312" pitchFamily="49" charset="-122"/>
                        </a:rPr>
                        <a:t>-10％～+25％</a:t>
                      </a:r>
                      <a:endParaRPr kumimoji="1" lang="zh-CN" altLang="en-US" sz="2400" b="1" i="0" u="none" strike="noStrike" cap="none" normalizeH="0" baseline="0" smtClean="0">
                        <a:ln>
                          <a:noFill/>
                        </a:ln>
                        <a:solidFill>
                          <a:schemeClr val="bg2"/>
                        </a:solidFill>
                        <a:effectLst/>
                        <a:latin typeface="Times New Roman" panose="02020603050405020304" pitchFamily="18" charset="0"/>
                        <a:ea typeface="楷体_GB2312" pitchFamily="49" charset="-122"/>
                      </a:endParaRP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endParaRPr kumimoji="1" lang="zh-CN" altLang="en-US" sz="2400" b="1" i="0" u="none" strike="noStrike" cap="none" normalizeH="0" baseline="0" smtClean="0">
                        <a:ln>
                          <a:noFill/>
                        </a:ln>
                        <a:solidFill>
                          <a:schemeClr val="bg2"/>
                        </a:solidFill>
                        <a:effectLst/>
                        <a:latin typeface="Times New Roman" panose="02020603050405020304" pitchFamily="18"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9900"/>
                    </a:solidFill>
                  </a:tcPr>
                </a:tc>
              </a:tr>
              <a:tr h="1217613">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400" b="1" i="0" u="none" strike="noStrike" cap="none" normalizeH="0" baseline="0" smtClean="0">
                          <a:ln>
                            <a:noFill/>
                          </a:ln>
                          <a:solidFill>
                            <a:schemeClr val="bg2"/>
                          </a:solidFill>
                          <a:effectLst/>
                          <a:latin typeface="Times New Roman" panose="02020603050405020304" pitchFamily="18" charset="0"/>
                          <a:ea typeface="楷体_GB2312" pitchFamily="49" charset="-122"/>
                        </a:rPr>
                        <a:t>最终估算 </a:t>
                      </a:r>
                      <a:endParaRPr kumimoji="1" lang="zh-CN" altLang="en-US" sz="2400" b="1" i="0" u="none" strike="noStrike" cap="none" normalizeH="0" baseline="0" smtClean="0">
                        <a:ln>
                          <a:noFill/>
                        </a:ln>
                        <a:solidFill>
                          <a:schemeClr val="bg2"/>
                        </a:solidFill>
                        <a:effectLst/>
                        <a:latin typeface="Times New Roman" panose="02020603050405020304" pitchFamily="18" charset="0"/>
                        <a:ea typeface="楷体_GB2312"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9900"/>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000" b="1" i="0" u="none" strike="noStrike" cap="none" normalizeH="0" baseline="0" smtClean="0">
                          <a:ln>
                            <a:noFill/>
                          </a:ln>
                          <a:solidFill>
                            <a:schemeClr val="bg2"/>
                          </a:solidFill>
                          <a:effectLst/>
                          <a:latin typeface="Times New Roman" panose="02020603050405020304" pitchFamily="18" charset="0"/>
                          <a:ea typeface="楷体_GB2312" pitchFamily="49" charset="-122"/>
                        </a:rPr>
                        <a:t>项目的后期，在项目完成前不足1年  </a:t>
                      </a:r>
                      <a:endParaRPr kumimoji="1" lang="zh-CN" altLang="en-US" sz="2000" b="1" i="0" u="none" strike="noStrike" cap="none" normalizeH="0" baseline="0" smtClean="0">
                        <a:ln>
                          <a:noFill/>
                        </a:ln>
                        <a:solidFill>
                          <a:schemeClr val="bg2"/>
                        </a:solidFill>
                        <a:effectLst/>
                        <a:latin typeface="Times New Roman" panose="02020603050405020304" pitchFamily="18"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9900"/>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000" b="1" i="0" u="none" strike="noStrike" cap="none" normalizeH="0" baseline="0" smtClean="0">
                          <a:ln>
                            <a:noFill/>
                          </a:ln>
                          <a:solidFill>
                            <a:schemeClr val="bg2"/>
                          </a:solidFill>
                          <a:effectLst/>
                          <a:latin typeface="Times New Roman" panose="02020603050405020304" pitchFamily="18" charset="0"/>
                          <a:ea typeface="楷体_GB2312" pitchFamily="49" charset="-122"/>
                        </a:rPr>
                        <a:t>为采购提供详情,</a:t>
                      </a:r>
                      <a:endParaRPr kumimoji="1" lang="zh-CN" altLang="en-US" sz="2000" b="1" i="0" u="none" strike="noStrike" cap="none" normalizeH="0" baseline="0" smtClean="0">
                        <a:ln>
                          <a:noFill/>
                        </a:ln>
                        <a:solidFill>
                          <a:schemeClr val="bg2"/>
                        </a:solidFill>
                        <a:effectLst/>
                        <a:latin typeface="Times New Roman" panose="02020603050405020304" pitchFamily="18" charset="0"/>
                        <a:ea typeface="楷体_GB2312" pitchFamily="49" charset="-122"/>
                      </a:endParaRP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000" b="1" i="0" u="none" strike="noStrike" cap="none" normalizeH="0" baseline="0" smtClean="0">
                          <a:ln>
                            <a:noFill/>
                          </a:ln>
                          <a:solidFill>
                            <a:schemeClr val="bg2"/>
                          </a:solidFill>
                          <a:effectLst/>
                          <a:latin typeface="Times New Roman" panose="02020603050405020304" pitchFamily="18" charset="0"/>
                          <a:ea typeface="楷体_GB2312" pitchFamily="49" charset="-122"/>
                        </a:rPr>
                        <a:t>估算实际成本。  </a:t>
                      </a:r>
                      <a:endParaRPr kumimoji="1" lang="zh-CN" altLang="en-US" sz="2000" b="1" i="0" u="none" strike="noStrike" cap="none" normalizeH="0" baseline="0" smtClean="0">
                        <a:ln>
                          <a:noFill/>
                        </a:ln>
                        <a:solidFill>
                          <a:schemeClr val="bg2"/>
                        </a:solidFill>
                        <a:effectLst/>
                        <a:latin typeface="Times New Roman" panose="02020603050405020304" pitchFamily="18"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9900"/>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400" b="1" i="0" u="none" strike="noStrike" cap="none" normalizeH="0" baseline="0" smtClean="0">
                          <a:ln>
                            <a:noFill/>
                          </a:ln>
                          <a:solidFill>
                            <a:schemeClr val="bg2"/>
                          </a:solidFill>
                          <a:effectLst/>
                          <a:latin typeface="Times New Roman" panose="02020603050405020304" pitchFamily="18" charset="0"/>
                          <a:ea typeface="楷体_GB2312" pitchFamily="49" charset="-122"/>
                        </a:rPr>
                        <a:t>-5％～ +10％</a:t>
                      </a:r>
                      <a:endParaRPr kumimoji="1" lang="zh-CN" altLang="en-US" sz="2400" b="1" i="0" u="none" strike="noStrike" cap="none" normalizeH="0" baseline="0" smtClean="0">
                        <a:ln>
                          <a:noFill/>
                        </a:ln>
                        <a:solidFill>
                          <a:schemeClr val="bg2"/>
                        </a:solidFill>
                        <a:effectLst/>
                        <a:latin typeface="Times New Roman" panose="02020603050405020304" pitchFamily="18" charset="0"/>
                        <a:ea typeface="楷体_GB2312" pitchFamily="49" charset="-122"/>
                      </a:endParaRP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endParaRPr kumimoji="1" lang="zh-CN" altLang="en-US" sz="2400" b="1" i="0" u="none" strike="noStrike" cap="none" normalizeH="0" baseline="0" smtClean="0">
                        <a:ln>
                          <a:noFill/>
                        </a:ln>
                        <a:solidFill>
                          <a:schemeClr val="bg2"/>
                        </a:solidFill>
                        <a:effectLst/>
                        <a:latin typeface="Times New Roman" panose="02020603050405020304" pitchFamily="18"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9900"/>
                    </a:solidFill>
                  </a:tcPr>
                </a:tc>
              </a:tr>
            </a:tbl>
          </a:graphicData>
        </a:graphic>
      </p:graphicFrame>
      <p:sp>
        <p:nvSpPr>
          <p:cNvPr id="23585" name="Rectangle 45"/>
          <p:cNvSpPr>
            <a:spLocks noChangeArrowheads="1"/>
          </p:cNvSpPr>
          <p:nvPr/>
        </p:nvSpPr>
        <p:spPr bwMode="auto">
          <a:xfrm>
            <a:off x="103188" y="620713"/>
            <a:ext cx="5405437" cy="553085"/>
          </a:xfrm>
          <a:prstGeom prst="rect">
            <a:avLst/>
          </a:prstGeom>
          <a:noFill/>
          <a:ln w="9525">
            <a:noFill/>
            <a:miter lim="800000"/>
          </a:ln>
        </p:spPr>
        <p:txBody>
          <a:bodyPr>
            <a:spAutoFit/>
          </a:bodyPr>
          <a:lstStyle/>
          <a:p>
            <a:r>
              <a:rPr kumimoji="0" lang="en-US" altLang="en-US" sz="3000" b="1" smtClean="0"/>
              <a:t>6.3 </a:t>
            </a:r>
            <a:r>
              <a:rPr kumimoji="0" lang="en-US" altLang="en-US" sz="3000" b="1">
                <a:latin typeface="楷体" panose="02010609060101010101" charset="-122"/>
                <a:ea typeface="楷体" panose="02010609060101010101" charset="-122"/>
              </a:rPr>
              <a:t>项目成本估算</a:t>
            </a:r>
            <a:endParaRPr kumimoji="0" lang="en-US" altLang="en-US" sz="3000" b="1">
              <a:latin typeface="楷体" panose="02010609060101010101" charset="-122"/>
              <a:ea typeface="楷体" panose="02010609060101010101" charset="-122"/>
            </a:endParaRPr>
          </a:p>
        </p:txBody>
      </p:sp>
      <p:sp>
        <p:nvSpPr>
          <p:cNvPr id="23586" name="Rectangle 46"/>
          <p:cNvSpPr>
            <a:spLocks noChangeArrowheads="1"/>
          </p:cNvSpPr>
          <p:nvPr/>
        </p:nvSpPr>
        <p:spPr bwMode="auto">
          <a:xfrm>
            <a:off x="323850" y="1341438"/>
            <a:ext cx="3485515" cy="521970"/>
          </a:xfrm>
          <a:prstGeom prst="rect">
            <a:avLst/>
          </a:prstGeom>
          <a:noFill/>
          <a:ln w="9525">
            <a:noFill/>
            <a:miter lim="800000"/>
          </a:ln>
        </p:spPr>
        <p:txBody>
          <a:bodyPr wrap="none">
            <a:spAutoFit/>
          </a:bodyPr>
          <a:lstStyle/>
          <a:p>
            <a:r>
              <a:rPr kumimoji="0" lang="en-US" altLang="en-US" b="1" smtClean="0">
                <a:solidFill>
                  <a:srgbClr val="FF0000"/>
                </a:solidFill>
                <a:ea typeface="楷体_GB2312" pitchFamily="49" charset="-122"/>
              </a:rPr>
              <a:t>6.3.1 </a:t>
            </a:r>
            <a:r>
              <a:rPr kumimoji="0" lang="en-US" altLang="en-US" b="1">
                <a:solidFill>
                  <a:srgbClr val="FF0000"/>
                </a:solidFill>
                <a:latin typeface="楷体" panose="02010609060101010101" charset="-122"/>
                <a:ea typeface="楷体" panose="02010609060101010101" charset="-122"/>
              </a:rPr>
              <a:t>成本估算的类型</a:t>
            </a:r>
            <a:endParaRPr kumimoji="0" lang="en-US" altLang="en-US" b="1">
              <a:solidFill>
                <a:srgbClr val="FF0000"/>
              </a:solidFill>
              <a:latin typeface="楷体" panose="02010609060101010101" charset="-122"/>
              <a:ea typeface="楷体" panose="02010609060101010101" charset="-122"/>
            </a:endParaRPr>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9"/>
          <p:cNvSpPr>
            <a:spLocks noGrp="1" noChangeArrowheads="1"/>
          </p:cNvSpPr>
          <p:nvPr>
            <p:ph type="sldNum" sz="quarter" idx="10"/>
          </p:nvPr>
        </p:nvSpPr>
        <p:spPr>
          <a:noFill/>
        </p:spPr>
        <p:txBody>
          <a:bodyPr/>
          <a:lstStyle/>
          <a:p>
            <a:r>
              <a:rPr lang="zh-CN" altLang="en-GB" smtClean="0"/>
              <a:t>  </a:t>
            </a:r>
            <a:fld id="{8B499EBF-F0F0-4ED9-80D4-4210FA4B440E}" type="slidenum">
              <a:rPr lang="zh-CN" altLang="en-GB" smtClean="0"/>
            </a:fld>
            <a:endParaRPr lang="en-US" altLang="zh-CN" smtClean="0"/>
          </a:p>
        </p:txBody>
      </p:sp>
      <p:sp>
        <p:nvSpPr>
          <p:cNvPr id="24579"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b="1" smtClean="0">
                <a:solidFill>
                  <a:schemeClr val="bg2"/>
                </a:solidFill>
              </a:rPr>
              <a:t>P.137</a:t>
            </a:r>
            <a:endParaRPr lang="en-US" altLang="zh-CN" sz="2400" b="1">
              <a:solidFill>
                <a:schemeClr val="bg2"/>
              </a:solidFill>
            </a:endParaRPr>
          </a:p>
        </p:txBody>
      </p:sp>
      <p:sp>
        <p:nvSpPr>
          <p:cNvPr id="24580" name="Rectangle 4"/>
          <p:cNvSpPr>
            <a:spLocks noChangeArrowheads="1"/>
          </p:cNvSpPr>
          <p:nvPr/>
        </p:nvSpPr>
        <p:spPr bwMode="auto">
          <a:xfrm>
            <a:off x="0" y="2316163"/>
            <a:ext cx="9144000" cy="0"/>
          </a:xfrm>
          <a:prstGeom prst="rect">
            <a:avLst/>
          </a:prstGeom>
          <a:noFill/>
          <a:ln w="9525">
            <a:noFill/>
            <a:miter lim="800000"/>
          </a:ln>
        </p:spPr>
        <p:txBody>
          <a:bodyPr wrap="none" anchor="ctr">
            <a:spAutoFit/>
          </a:bodyPr>
          <a:lstStyle/>
          <a:p>
            <a:pPr algn="r">
              <a:spcBef>
                <a:spcPct val="50000"/>
              </a:spcBef>
            </a:pPr>
            <a:endParaRPr lang="zh-CN" altLang="en-US"/>
          </a:p>
        </p:txBody>
      </p:sp>
      <p:sp>
        <p:nvSpPr>
          <p:cNvPr id="24581" name="Text Box 41"/>
          <p:cNvSpPr txBox="1">
            <a:spLocks noChangeArrowheads="1"/>
          </p:cNvSpPr>
          <p:nvPr/>
        </p:nvSpPr>
        <p:spPr bwMode="auto">
          <a:xfrm>
            <a:off x="611188" y="1863725"/>
            <a:ext cx="7704137" cy="3815080"/>
          </a:xfrm>
          <a:prstGeom prst="rect">
            <a:avLst/>
          </a:prstGeom>
          <a:noFill/>
          <a:ln w="9525" algn="ctr">
            <a:noFill/>
            <a:miter lim="800000"/>
          </a:ln>
        </p:spPr>
        <p:txBody>
          <a:bodyPr>
            <a:spAutoFit/>
          </a:bodyPr>
          <a:lstStyle/>
          <a:p>
            <a:pPr marL="971550" lvl="1" indent="-514350">
              <a:spcBef>
                <a:spcPts val="600"/>
              </a:spcBef>
              <a:spcAft>
                <a:spcPts val="600"/>
              </a:spcAft>
              <a:buClr>
                <a:srgbClr val="0000FF"/>
              </a:buClr>
              <a:buFont typeface="+mj-lt"/>
              <a:buAutoNum type="arabicPeriod"/>
            </a:pPr>
            <a:r>
              <a:rPr kumimoji="0" lang="zh-CN" altLang="en-US" sz="3200" b="1">
                <a:solidFill>
                  <a:srgbClr val="0000FF"/>
                </a:solidFill>
                <a:uFillTx/>
                <a:ea typeface="楷体" panose="02010609060101010101" charset="-122"/>
                <a:cs typeface="楷体" panose="02010609060101010101" charset="-122"/>
              </a:rPr>
              <a:t>项目资源需求计划 </a:t>
            </a:r>
            <a:endParaRPr kumimoji="0" lang="zh-CN" altLang="en-US" sz="3200" b="1">
              <a:solidFill>
                <a:srgbClr val="0000FF"/>
              </a:solidFill>
              <a:uFillTx/>
              <a:ea typeface="楷体" panose="02010609060101010101" charset="-122"/>
              <a:cs typeface="楷体" panose="02010609060101010101" charset="-122"/>
            </a:endParaRPr>
          </a:p>
          <a:p>
            <a:pPr marL="971550" lvl="1" indent="-514350">
              <a:spcBef>
                <a:spcPts val="600"/>
              </a:spcBef>
              <a:spcAft>
                <a:spcPts val="600"/>
              </a:spcAft>
              <a:buClr>
                <a:srgbClr val="0000FF"/>
              </a:buClr>
              <a:buFont typeface="+mj-lt"/>
              <a:buAutoNum type="arabicPeriod"/>
            </a:pPr>
            <a:r>
              <a:rPr kumimoji="0" lang="zh-CN" altLang="en-US" sz="3200" b="1">
                <a:solidFill>
                  <a:srgbClr val="0000FF"/>
                </a:solidFill>
                <a:uFillTx/>
                <a:ea typeface="楷体" panose="02010609060101010101" charset="-122"/>
                <a:cs typeface="楷体" panose="02010609060101010101" charset="-122"/>
              </a:rPr>
              <a:t>项目范围说明书</a:t>
            </a:r>
            <a:endParaRPr kumimoji="0" lang="zh-CN" altLang="en-US" sz="3200" b="1">
              <a:solidFill>
                <a:srgbClr val="0000FF"/>
              </a:solidFill>
              <a:uFillTx/>
              <a:ea typeface="楷体" panose="02010609060101010101" charset="-122"/>
              <a:cs typeface="楷体" panose="02010609060101010101" charset="-122"/>
            </a:endParaRPr>
          </a:p>
          <a:p>
            <a:pPr marL="971550" lvl="1" indent="-514350">
              <a:spcBef>
                <a:spcPts val="600"/>
              </a:spcBef>
              <a:spcAft>
                <a:spcPts val="600"/>
              </a:spcAft>
              <a:buClr>
                <a:srgbClr val="0000FF"/>
              </a:buClr>
              <a:buFont typeface="+mj-lt"/>
              <a:buAutoNum type="arabicPeriod"/>
            </a:pPr>
            <a:r>
              <a:rPr kumimoji="0" lang="zh-CN" altLang="en-US" sz="3200" b="1">
                <a:solidFill>
                  <a:srgbClr val="0000FF"/>
                </a:solidFill>
                <a:uFillTx/>
                <a:ea typeface="楷体" panose="02010609060101010101" charset="-122"/>
                <a:cs typeface="楷体" panose="02010609060101010101" charset="-122"/>
              </a:rPr>
              <a:t>项目进度计划</a:t>
            </a:r>
            <a:endParaRPr kumimoji="0" lang="zh-CN" altLang="en-US" sz="3200" b="1">
              <a:solidFill>
                <a:srgbClr val="0000FF"/>
              </a:solidFill>
              <a:uFillTx/>
              <a:ea typeface="楷体" panose="02010609060101010101" charset="-122"/>
              <a:cs typeface="楷体" panose="02010609060101010101" charset="-122"/>
            </a:endParaRPr>
          </a:p>
          <a:p>
            <a:pPr marL="971550" lvl="1" indent="-514350">
              <a:spcBef>
                <a:spcPts val="600"/>
              </a:spcBef>
              <a:spcAft>
                <a:spcPts val="600"/>
              </a:spcAft>
              <a:buClr>
                <a:srgbClr val="0000FF"/>
              </a:buClr>
              <a:buFont typeface="+mj-lt"/>
              <a:buAutoNum type="arabicPeriod"/>
            </a:pPr>
            <a:r>
              <a:rPr kumimoji="0" lang="zh-CN" altLang="en-US" sz="3200" b="1">
                <a:solidFill>
                  <a:srgbClr val="0000FF"/>
                </a:solidFill>
                <a:uFillTx/>
                <a:ea typeface="楷体" panose="02010609060101010101" charset="-122"/>
                <a:cs typeface="楷体" panose="02010609060101010101" charset="-122"/>
              </a:rPr>
              <a:t>工作分解结构</a:t>
            </a:r>
            <a:endParaRPr kumimoji="0" lang="zh-CN" altLang="en-US" sz="3200" b="1">
              <a:solidFill>
                <a:srgbClr val="0000FF"/>
              </a:solidFill>
              <a:uFillTx/>
              <a:ea typeface="楷体" panose="02010609060101010101" charset="-122"/>
              <a:cs typeface="楷体" panose="02010609060101010101" charset="-122"/>
            </a:endParaRPr>
          </a:p>
          <a:p>
            <a:pPr marL="971550" lvl="1" indent="-514350">
              <a:spcBef>
                <a:spcPts val="600"/>
              </a:spcBef>
              <a:spcAft>
                <a:spcPts val="600"/>
              </a:spcAft>
              <a:buClr>
                <a:srgbClr val="0000FF"/>
              </a:buClr>
              <a:buFont typeface="+mj-lt"/>
              <a:buAutoNum type="arabicPeriod"/>
            </a:pPr>
            <a:r>
              <a:rPr kumimoji="0" lang="zh-CN" altLang="en-US" sz="3200" b="1">
                <a:solidFill>
                  <a:srgbClr val="0000FF"/>
                </a:solidFill>
                <a:uFillTx/>
                <a:ea typeface="楷体" panose="02010609060101010101" charset="-122"/>
                <a:cs typeface="楷体" panose="02010609060101010101" charset="-122"/>
              </a:rPr>
              <a:t>风险管理计划</a:t>
            </a:r>
            <a:endParaRPr kumimoji="0" lang="zh-CN" altLang="en-US" sz="3200" b="1">
              <a:solidFill>
                <a:srgbClr val="0000FF"/>
              </a:solidFill>
              <a:uFillTx/>
              <a:ea typeface="楷体" panose="02010609060101010101" charset="-122"/>
              <a:cs typeface="楷体" panose="02010609060101010101" charset="-122"/>
            </a:endParaRPr>
          </a:p>
          <a:p>
            <a:pPr marL="971550" lvl="1" indent="-514350">
              <a:spcBef>
                <a:spcPts val="600"/>
              </a:spcBef>
              <a:spcAft>
                <a:spcPts val="600"/>
              </a:spcAft>
              <a:buClr>
                <a:srgbClr val="0000FF"/>
              </a:buClr>
              <a:buFont typeface="+mj-lt"/>
              <a:buAutoNum type="arabicPeriod"/>
            </a:pPr>
            <a:r>
              <a:rPr kumimoji="0" lang="zh-CN" altLang="en-US" sz="3200" b="1">
                <a:solidFill>
                  <a:srgbClr val="0000FF"/>
                </a:solidFill>
                <a:uFillTx/>
                <a:ea typeface="楷体" panose="02010609060101010101" charset="-122"/>
                <a:cs typeface="楷体" panose="02010609060101010101" charset="-122"/>
              </a:rPr>
              <a:t>相关历史资料和经验教训</a:t>
            </a:r>
            <a:endParaRPr kumimoji="0" lang="zh-CN" altLang="en-US" sz="3200" b="1">
              <a:solidFill>
                <a:srgbClr val="0000FF"/>
              </a:solidFill>
              <a:uFillTx/>
              <a:ea typeface="楷体" panose="02010609060101010101" charset="-122"/>
              <a:cs typeface="楷体" panose="02010609060101010101" charset="-122"/>
            </a:endParaRPr>
          </a:p>
        </p:txBody>
      </p:sp>
      <p:sp>
        <p:nvSpPr>
          <p:cNvPr id="24582" name="Rectangle 42"/>
          <p:cNvSpPr>
            <a:spLocks noChangeArrowheads="1"/>
          </p:cNvSpPr>
          <p:nvPr/>
        </p:nvSpPr>
        <p:spPr bwMode="auto">
          <a:xfrm>
            <a:off x="103188" y="620713"/>
            <a:ext cx="5405437" cy="553085"/>
          </a:xfrm>
          <a:prstGeom prst="rect">
            <a:avLst/>
          </a:prstGeom>
          <a:noFill/>
          <a:ln w="9525">
            <a:noFill/>
            <a:miter lim="800000"/>
          </a:ln>
        </p:spPr>
        <p:txBody>
          <a:bodyPr>
            <a:spAutoFit/>
          </a:bodyPr>
          <a:lstStyle/>
          <a:p>
            <a:r>
              <a:rPr kumimoji="0" lang="en-US" altLang="en-US" sz="3000" b="1" smtClean="0"/>
              <a:t>6.3 </a:t>
            </a:r>
            <a:r>
              <a:rPr kumimoji="0" lang="en-US" altLang="en-US" sz="3000" b="1">
                <a:latin typeface="楷体" panose="02010609060101010101" charset="-122"/>
                <a:ea typeface="楷体" panose="02010609060101010101" charset="-122"/>
              </a:rPr>
              <a:t>项目成本估算</a:t>
            </a:r>
            <a:endParaRPr kumimoji="0" lang="en-US" altLang="en-US" sz="3000" b="1">
              <a:latin typeface="楷体" panose="02010609060101010101" charset="-122"/>
              <a:ea typeface="楷体" panose="02010609060101010101" charset="-122"/>
            </a:endParaRPr>
          </a:p>
        </p:txBody>
      </p:sp>
      <p:sp>
        <p:nvSpPr>
          <p:cNvPr id="24583" name="Rectangle 43"/>
          <p:cNvSpPr>
            <a:spLocks noChangeArrowheads="1"/>
          </p:cNvSpPr>
          <p:nvPr/>
        </p:nvSpPr>
        <p:spPr bwMode="auto">
          <a:xfrm>
            <a:off x="323850" y="1341438"/>
            <a:ext cx="3484563" cy="519112"/>
          </a:xfrm>
          <a:prstGeom prst="rect">
            <a:avLst/>
          </a:prstGeom>
          <a:noFill/>
          <a:ln w="9525">
            <a:noFill/>
            <a:miter lim="800000"/>
          </a:ln>
        </p:spPr>
        <p:txBody>
          <a:bodyPr wrap="none">
            <a:spAutoFit/>
          </a:bodyPr>
          <a:lstStyle/>
          <a:p>
            <a:r>
              <a:rPr kumimoji="0" lang="en-US" altLang="en-US" b="1" smtClean="0">
                <a:solidFill>
                  <a:srgbClr val="FF0000"/>
                </a:solidFill>
                <a:ea typeface="楷体_GB2312" pitchFamily="49" charset="-122"/>
              </a:rPr>
              <a:t>6.3.2 </a:t>
            </a:r>
            <a:r>
              <a:rPr kumimoji="0" lang="en-US" altLang="en-US" b="1">
                <a:solidFill>
                  <a:srgbClr val="FF0000"/>
                </a:solidFill>
                <a:ea typeface="楷体_GB2312" pitchFamily="49" charset="-122"/>
              </a:rPr>
              <a:t>成本估算的依据</a:t>
            </a:r>
            <a:endParaRPr kumimoji="0" lang="en-US" altLang="en-US" b="1">
              <a:solidFill>
                <a:srgbClr val="FF0000"/>
              </a:solidFill>
              <a:ea typeface="楷体_GB2312" pitchFamily="49" charset="-122"/>
            </a:endParaRPr>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9"/>
          <p:cNvSpPr>
            <a:spLocks noGrp="1" noChangeArrowheads="1"/>
          </p:cNvSpPr>
          <p:nvPr>
            <p:ph type="sldNum" sz="quarter" idx="10"/>
          </p:nvPr>
        </p:nvSpPr>
        <p:spPr>
          <a:noFill/>
        </p:spPr>
        <p:txBody>
          <a:bodyPr/>
          <a:lstStyle/>
          <a:p>
            <a:r>
              <a:rPr lang="zh-CN" altLang="en-GB" smtClean="0"/>
              <a:t>  </a:t>
            </a:r>
            <a:fld id="{BF9AC460-9C22-4CD8-ABEA-ACA31EC670E4}" type="slidenum">
              <a:rPr lang="zh-CN" altLang="en-GB" smtClean="0"/>
            </a:fld>
            <a:endParaRPr lang="en-US" altLang="zh-CN" smtClean="0"/>
          </a:p>
        </p:txBody>
      </p:sp>
      <p:sp>
        <p:nvSpPr>
          <p:cNvPr id="25603"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b="1" smtClean="0">
                <a:solidFill>
                  <a:schemeClr val="bg2"/>
                </a:solidFill>
              </a:rPr>
              <a:t>P.138</a:t>
            </a:r>
            <a:endParaRPr lang="en-US" altLang="zh-CN" sz="2400" b="1">
              <a:solidFill>
                <a:schemeClr val="bg2"/>
              </a:solidFill>
            </a:endParaRPr>
          </a:p>
        </p:txBody>
      </p:sp>
      <p:sp>
        <p:nvSpPr>
          <p:cNvPr id="25604" name="Rectangle 4"/>
          <p:cNvSpPr>
            <a:spLocks noChangeArrowheads="1"/>
          </p:cNvSpPr>
          <p:nvPr/>
        </p:nvSpPr>
        <p:spPr bwMode="auto">
          <a:xfrm>
            <a:off x="0" y="2316163"/>
            <a:ext cx="9144000" cy="0"/>
          </a:xfrm>
          <a:prstGeom prst="rect">
            <a:avLst/>
          </a:prstGeom>
          <a:noFill/>
          <a:ln w="9525">
            <a:noFill/>
            <a:miter lim="800000"/>
          </a:ln>
        </p:spPr>
        <p:txBody>
          <a:bodyPr wrap="none" anchor="ctr">
            <a:spAutoFit/>
          </a:bodyPr>
          <a:lstStyle/>
          <a:p>
            <a:pPr algn="r">
              <a:spcBef>
                <a:spcPct val="50000"/>
              </a:spcBef>
            </a:pPr>
            <a:endParaRPr lang="zh-CN" altLang="en-US"/>
          </a:p>
        </p:txBody>
      </p:sp>
      <p:sp>
        <p:nvSpPr>
          <p:cNvPr id="25605" name="Text Box 5"/>
          <p:cNvSpPr txBox="1">
            <a:spLocks noChangeArrowheads="1"/>
          </p:cNvSpPr>
          <p:nvPr/>
        </p:nvSpPr>
        <p:spPr bwMode="auto">
          <a:xfrm>
            <a:off x="179419" y="1981221"/>
            <a:ext cx="8893175" cy="4417695"/>
          </a:xfrm>
          <a:prstGeom prst="rect">
            <a:avLst/>
          </a:prstGeom>
          <a:noFill/>
          <a:ln w="9525" algn="ctr">
            <a:noFill/>
            <a:miter lim="800000"/>
          </a:ln>
        </p:spPr>
        <p:txBody>
          <a:bodyPr>
            <a:spAutoFit/>
          </a:bodyPr>
          <a:lstStyle/>
          <a:p>
            <a:pPr>
              <a:spcBef>
                <a:spcPct val="30000"/>
              </a:spcBef>
              <a:buClr>
                <a:schemeClr val="bg1"/>
              </a:buClr>
              <a:buFont typeface="Wingdings" panose="05000000000000000000" pitchFamily="2" charset="2"/>
              <a:buAutoNum type="circleNumDbPlain"/>
            </a:pPr>
            <a:r>
              <a:rPr kumimoji="0" lang="zh-CN" altLang="en-US" b="1">
                <a:solidFill>
                  <a:srgbClr val="0000FF"/>
                </a:solidFill>
                <a:latin typeface="楷体" panose="02010609060101010101" charset="-122"/>
                <a:ea typeface="楷体" panose="02010609060101010101" charset="-122"/>
              </a:rPr>
              <a:t>类比估算法：</a:t>
            </a:r>
            <a:r>
              <a:rPr kumimoji="0" lang="zh-CN" altLang="en-US" sz="2400" b="1">
                <a:solidFill>
                  <a:schemeClr val="bg2"/>
                </a:solidFill>
                <a:latin typeface="楷体" panose="02010609060101010101" charset="-122"/>
                <a:ea typeface="楷体" panose="02010609060101010101" charset="-122"/>
              </a:rPr>
              <a:t>也叫专家判断法，是一种在成本估算精确程度要求不高的情况下使用的方法。它比照以前的、相似项目的实际成本作为目前项目成本估算的根据，来估算出当前项目的成本。</a:t>
            </a:r>
            <a:endParaRPr kumimoji="0" lang="zh-CN" altLang="en-US" sz="2400" b="1">
              <a:solidFill>
                <a:schemeClr val="bg2"/>
              </a:solidFill>
              <a:latin typeface="楷体" panose="02010609060101010101" charset="-122"/>
              <a:ea typeface="楷体" panose="02010609060101010101" charset="-122"/>
            </a:endParaRPr>
          </a:p>
          <a:p>
            <a:pPr>
              <a:spcBef>
                <a:spcPct val="30000"/>
              </a:spcBef>
              <a:buClr>
                <a:schemeClr val="bg1"/>
              </a:buClr>
              <a:buFont typeface="Wingdings" panose="05000000000000000000" pitchFamily="2" charset="2"/>
              <a:buAutoNum type="circleNumDbPlain"/>
            </a:pPr>
            <a:r>
              <a:rPr kumimoji="0" lang="zh-CN" altLang="en-US" b="1">
                <a:solidFill>
                  <a:srgbClr val="0000FF"/>
                </a:solidFill>
                <a:latin typeface="楷体" panose="02010609060101010101" charset="-122"/>
                <a:ea typeface="楷体" panose="02010609060101010101" charset="-122"/>
              </a:rPr>
              <a:t>自上而下估算法</a:t>
            </a:r>
            <a:r>
              <a:rPr kumimoji="0" lang="zh-CN" altLang="en-US" b="1">
                <a:solidFill>
                  <a:schemeClr val="bg1"/>
                </a:solidFill>
                <a:latin typeface="楷体" panose="02010609060101010101" charset="-122"/>
                <a:ea typeface="楷体" panose="02010609060101010101" charset="-122"/>
              </a:rPr>
              <a:t>：</a:t>
            </a:r>
            <a:r>
              <a:rPr kumimoji="0" lang="zh-CN" altLang="en-US" sz="2400" b="1">
                <a:solidFill>
                  <a:schemeClr val="bg2"/>
                </a:solidFill>
                <a:latin typeface="楷体" panose="02010609060101010101" charset="-122"/>
                <a:ea typeface="楷体" panose="02010609060101010101" charset="-122"/>
              </a:rPr>
              <a:t>基于中上层管理人员的经验和判断、以及可以获得的关于以往类似项目的历史数据来进行项目成本估算的方法。</a:t>
            </a:r>
            <a:endParaRPr kumimoji="0" lang="zh-CN" altLang="en-US" sz="2400" b="1">
              <a:solidFill>
                <a:schemeClr val="bg2"/>
              </a:solidFill>
              <a:latin typeface="楷体" panose="02010609060101010101" charset="-122"/>
              <a:ea typeface="楷体" panose="02010609060101010101" charset="-122"/>
            </a:endParaRPr>
          </a:p>
          <a:p>
            <a:pPr>
              <a:spcBef>
                <a:spcPct val="30000"/>
              </a:spcBef>
              <a:buClr>
                <a:schemeClr val="bg1"/>
              </a:buClr>
              <a:buFont typeface="Wingdings" panose="05000000000000000000" pitchFamily="2" charset="2"/>
              <a:buAutoNum type="circleNumDbPlain"/>
            </a:pPr>
            <a:r>
              <a:rPr kumimoji="0" lang="zh-CN" altLang="en-US" b="1">
                <a:solidFill>
                  <a:srgbClr val="0000FF"/>
                </a:solidFill>
                <a:latin typeface="楷体" panose="02010609060101010101" charset="-122"/>
                <a:ea typeface="楷体" panose="02010609060101010101" charset="-122"/>
              </a:rPr>
              <a:t>自下而上估算法：</a:t>
            </a:r>
            <a:r>
              <a:rPr kumimoji="0" lang="zh-CN" altLang="en-US" sz="2400" b="1">
                <a:solidFill>
                  <a:schemeClr val="bg2"/>
                </a:solidFill>
                <a:latin typeface="楷体" panose="02010609060101010101" charset="-122"/>
                <a:ea typeface="楷体" panose="02010609060101010101" charset="-122"/>
              </a:rPr>
              <a:t>先估算单个工作项成本，然后从下往上汇总成整体项目成本。</a:t>
            </a:r>
            <a:endParaRPr kumimoji="0" lang="zh-CN" altLang="en-US" sz="2400" b="1">
              <a:solidFill>
                <a:schemeClr val="bg2"/>
              </a:solidFill>
              <a:latin typeface="楷体" panose="02010609060101010101" charset="-122"/>
              <a:ea typeface="楷体" panose="02010609060101010101" charset="-122"/>
            </a:endParaRPr>
          </a:p>
          <a:p>
            <a:pPr>
              <a:spcBef>
                <a:spcPct val="30000"/>
              </a:spcBef>
              <a:buClr>
                <a:schemeClr val="bg1"/>
              </a:buClr>
              <a:buFont typeface="Wingdings" panose="05000000000000000000" pitchFamily="2" charset="2"/>
              <a:buAutoNum type="circleNumDbPlain"/>
            </a:pPr>
            <a:r>
              <a:rPr kumimoji="0" lang="zh-CN" altLang="en-US" b="1">
                <a:solidFill>
                  <a:srgbClr val="0000FF"/>
                </a:solidFill>
                <a:latin typeface="楷体" panose="02010609060101010101" charset="-122"/>
                <a:ea typeface="楷体" panose="02010609060101010101" charset="-122"/>
              </a:rPr>
              <a:t>参数模型估算法：</a:t>
            </a:r>
            <a:r>
              <a:rPr kumimoji="0" lang="zh-CN" altLang="en-US" sz="2400" b="1">
                <a:solidFill>
                  <a:schemeClr val="bg2"/>
                </a:solidFill>
                <a:latin typeface="楷体" panose="02010609060101010101" charset="-122"/>
                <a:ea typeface="楷体" panose="02010609060101010101" charset="-122"/>
              </a:rPr>
              <a:t>在数学模型中应用项目特征参数来估算项目成本的方法。</a:t>
            </a:r>
            <a:endParaRPr kumimoji="0" lang="zh-CN" altLang="en-US" sz="2400" b="1">
              <a:solidFill>
                <a:schemeClr val="bg2"/>
              </a:solidFill>
              <a:latin typeface="楷体" panose="02010609060101010101" charset="-122"/>
              <a:ea typeface="楷体" panose="02010609060101010101" charset="-122"/>
            </a:endParaRPr>
          </a:p>
        </p:txBody>
      </p:sp>
      <p:sp>
        <p:nvSpPr>
          <p:cNvPr id="25606" name="Rectangle 6"/>
          <p:cNvSpPr>
            <a:spLocks noChangeArrowheads="1"/>
          </p:cNvSpPr>
          <p:nvPr/>
        </p:nvSpPr>
        <p:spPr bwMode="auto">
          <a:xfrm>
            <a:off x="103188" y="620713"/>
            <a:ext cx="5405437" cy="553085"/>
          </a:xfrm>
          <a:prstGeom prst="rect">
            <a:avLst/>
          </a:prstGeom>
          <a:noFill/>
          <a:ln w="9525">
            <a:noFill/>
            <a:miter lim="800000"/>
          </a:ln>
        </p:spPr>
        <p:txBody>
          <a:bodyPr>
            <a:spAutoFit/>
          </a:bodyPr>
          <a:lstStyle/>
          <a:p>
            <a:r>
              <a:rPr kumimoji="0" lang="en-US" altLang="en-US" sz="3000" b="1" smtClean="0"/>
              <a:t>6.3 </a:t>
            </a:r>
            <a:r>
              <a:rPr kumimoji="0" lang="en-US" altLang="en-US" sz="3000" b="1">
                <a:latin typeface="楷体" panose="02010609060101010101" charset="-122"/>
                <a:ea typeface="楷体" panose="02010609060101010101" charset="-122"/>
              </a:rPr>
              <a:t>项目成本估算</a:t>
            </a:r>
            <a:endParaRPr kumimoji="0" lang="en-US" altLang="en-US" sz="3000" b="1">
              <a:latin typeface="楷体" panose="02010609060101010101" charset="-122"/>
              <a:ea typeface="楷体" panose="02010609060101010101" charset="-122"/>
            </a:endParaRPr>
          </a:p>
        </p:txBody>
      </p:sp>
      <p:sp>
        <p:nvSpPr>
          <p:cNvPr id="25607" name="Rectangle 7"/>
          <p:cNvSpPr>
            <a:spLocks noChangeArrowheads="1"/>
          </p:cNvSpPr>
          <p:nvPr/>
        </p:nvSpPr>
        <p:spPr bwMode="auto">
          <a:xfrm>
            <a:off x="323850" y="1341438"/>
            <a:ext cx="3843020" cy="521970"/>
          </a:xfrm>
          <a:prstGeom prst="rect">
            <a:avLst/>
          </a:prstGeom>
          <a:noFill/>
          <a:ln w="9525">
            <a:noFill/>
            <a:miter lim="800000"/>
          </a:ln>
        </p:spPr>
        <p:txBody>
          <a:bodyPr wrap="none">
            <a:spAutoFit/>
          </a:bodyPr>
          <a:lstStyle/>
          <a:p>
            <a:r>
              <a:rPr kumimoji="0" lang="en-US" altLang="en-US" b="1" smtClean="0">
                <a:solidFill>
                  <a:srgbClr val="FF0000"/>
                </a:solidFill>
                <a:ea typeface="楷体_GB2312" pitchFamily="49" charset="-122"/>
              </a:rPr>
              <a:t>6.3.3 </a:t>
            </a:r>
            <a:r>
              <a:rPr kumimoji="0" lang="en-US" altLang="en-US" b="1">
                <a:solidFill>
                  <a:srgbClr val="FF0000"/>
                </a:solidFill>
                <a:latin typeface="楷体" panose="02010609060101010101" charset="-122"/>
                <a:ea typeface="楷体" panose="02010609060101010101" charset="-122"/>
              </a:rPr>
              <a:t>项目成本估算方法</a:t>
            </a:r>
            <a:endParaRPr kumimoji="0" lang="en-US" altLang="en-US" b="1">
              <a:solidFill>
                <a:srgbClr val="FF0000"/>
              </a:solidFill>
              <a:latin typeface="楷体" panose="02010609060101010101" charset="-122"/>
              <a:ea typeface="楷体" panose="02010609060101010101" charset="-122"/>
            </a:endParaRPr>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9"/>
          <p:cNvSpPr>
            <a:spLocks noGrp="1" noChangeArrowheads="1"/>
          </p:cNvSpPr>
          <p:nvPr>
            <p:ph type="sldNum" sz="quarter" idx="10"/>
          </p:nvPr>
        </p:nvSpPr>
        <p:spPr>
          <a:noFill/>
        </p:spPr>
        <p:txBody>
          <a:bodyPr/>
          <a:lstStyle/>
          <a:p>
            <a:r>
              <a:rPr lang="zh-CN" altLang="en-GB" smtClean="0"/>
              <a:t>  </a:t>
            </a:r>
            <a:fld id="{22F2FAF7-CA2C-4F59-AE69-D795F0C1C522}" type="slidenum">
              <a:rPr lang="zh-CN" altLang="en-GB" smtClean="0"/>
            </a:fld>
            <a:endParaRPr lang="en-US" altLang="zh-CN" smtClean="0"/>
          </a:p>
        </p:txBody>
      </p:sp>
      <p:sp>
        <p:nvSpPr>
          <p:cNvPr id="7171"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spcBef>
                <a:spcPct val="50000"/>
              </a:spcBef>
            </a:pPr>
            <a:endParaRPr lang="zh-CN" altLang="en-US" sz="2400"/>
          </a:p>
        </p:txBody>
      </p:sp>
      <p:sp>
        <p:nvSpPr>
          <p:cNvPr id="7172" name="Rectangle 6"/>
          <p:cNvSpPr>
            <a:spLocks noGrp="1" noChangeArrowheads="1"/>
          </p:cNvSpPr>
          <p:nvPr>
            <p:ph type="subTitle" idx="4294967295"/>
          </p:nvPr>
        </p:nvSpPr>
        <p:spPr bwMode="auto">
          <a:xfrm>
            <a:off x="2143125" y="500063"/>
            <a:ext cx="3929063" cy="714375"/>
          </a:xfrm>
          <a:prstGeom prst="rect">
            <a:avLst/>
          </a:prstGeom>
          <a:noFill/>
          <a:ln>
            <a:miter lim="800000"/>
          </a:ln>
        </p:spPr>
        <p:txBody>
          <a:bodyPr/>
          <a:lstStyle/>
          <a:p>
            <a:pPr marL="0" indent="0" algn="ctr" eaLnBrk="1" hangingPunct="1">
              <a:buClr>
                <a:schemeClr val="tx1"/>
              </a:buClr>
              <a:buSzTx/>
              <a:buFont typeface="Wingdings" panose="05000000000000000000" pitchFamily="2" charset="2"/>
              <a:buNone/>
            </a:pPr>
            <a:r>
              <a:rPr lang="zh-CN" altLang="en-US" sz="4800" b="1" smtClean="0">
                <a:latin typeface="楷体" panose="02010609060101010101" charset="-122"/>
                <a:ea typeface="楷体" panose="02010609060101010101" charset="-122"/>
                <a:cs typeface="楷体" panose="02010609060101010101" charset="-122"/>
              </a:rPr>
              <a:t>提   纲</a:t>
            </a:r>
            <a:endParaRPr lang="en-US" altLang="zh-CN" sz="4800" b="1" smtClean="0">
              <a:latin typeface="楷体" panose="02010609060101010101" charset="-122"/>
              <a:ea typeface="楷体" panose="02010609060101010101" charset="-122"/>
              <a:cs typeface="楷体" panose="02010609060101010101" charset="-122"/>
            </a:endParaRPr>
          </a:p>
        </p:txBody>
      </p:sp>
      <p:sp>
        <p:nvSpPr>
          <p:cNvPr id="7" name="TextBox 6"/>
          <p:cNvSpPr txBox="1">
            <a:spLocks noChangeArrowheads="1"/>
          </p:cNvSpPr>
          <p:nvPr/>
        </p:nvSpPr>
        <p:spPr bwMode="auto">
          <a:xfrm>
            <a:off x="357188" y="1455558"/>
            <a:ext cx="8501062" cy="4707890"/>
          </a:xfrm>
          <a:prstGeom prst="rect">
            <a:avLst/>
          </a:prstGeom>
          <a:noFill/>
          <a:ln w="9525">
            <a:noFill/>
            <a:miter lim="800000"/>
          </a:ln>
        </p:spPr>
        <p:txBody>
          <a:bodyPr>
            <a:spAutoFit/>
          </a:bodyPr>
          <a:lstStyle/>
          <a:p>
            <a:pPr>
              <a:spcBef>
                <a:spcPts val="0"/>
              </a:spcBef>
              <a:spcAft>
                <a:spcPts val="0"/>
              </a:spcAft>
              <a:buClr>
                <a:srgbClr val="C00000"/>
              </a:buClr>
              <a:buSzPct val="100000"/>
              <a:buFont typeface="Arial" panose="020B0604020202020204" pitchFamily="34" charset="0"/>
              <a:buChar char="◙"/>
              <a:defRPr/>
            </a:pPr>
            <a:r>
              <a:rPr lang="en-US" altLang="en-US" sz="4800" b="1" dirty="0" err="1">
                <a:solidFill>
                  <a:srgbClr val="0000FF"/>
                </a:solidFill>
                <a:latin typeface="楷体" panose="02010609060101010101" charset="-122"/>
                <a:ea typeface="楷体" panose="02010609060101010101" charset="-122"/>
                <a:cs typeface="楷体" panose="02010609060101010101" charset="-122"/>
              </a:rPr>
              <a:t>项目成本管理概述 </a:t>
            </a:r>
            <a:endParaRPr lang="en-US" altLang="en-US" sz="4800" b="1" dirty="0" err="1">
              <a:solidFill>
                <a:srgbClr val="0000FF"/>
              </a:solidFill>
              <a:latin typeface="楷体" panose="02010609060101010101" charset="-122"/>
              <a:ea typeface="楷体" panose="02010609060101010101" charset="-122"/>
              <a:cs typeface="楷体" panose="02010609060101010101" charset="-122"/>
            </a:endParaRPr>
          </a:p>
          <a:p>
            <a:pPr>
              <a:spcBef>
                <a:spcPts val="0"/>
              </a:spcBef>
              <a:spcAft>
                <a:spcPts val="0"/>
              </a:spcAft>
              <a:buClr>
                <a:srgbClr val="C00000"/>
              </a:buClr>
              <a:buSzPct val="100000"/>
              <a:buFont typeface="Arial" panose="020B0604020202020204" pitchFamily="34" charset="0"/>
              <a:buChar char="◙"/>
              <a:defRPr/>
            </a:pPr>
            <a:r>
              <a:rPr lang="zh-CN" altLang="en-US" sz="4800" b="1" smtClean="0">
                <a:solidFill>
                  <a:srgbClr val="0000FF"/>
                </a:solidFill>
                <a:latin typeface="楷体" panose="02010609060101010101" charset="-122"/>
                <a:ea typeface="楷体" panose="02010609060101010101" charset="-122"/>
                <a:cs typeface="楷体" panose="02010609060101010101" charset="-122"/>
              </a:rPr>
              <a:t>规划</a:t>
            </a:r>
            <a:r>
              <a:rPr lang="en-US" altLang="en-US" sz="4800" b="1" smtClean="0">
                <a:solidFill>
                  <a:srgbClr val="0000FF"/>
                </a:solidFill>
                <a:latin typeface="楷体" panose="02010609060101010101" charset="-122"/>
                <a:ea typeface="楷体" panose="02010609060101010101" charset="-122"/>
                <a:cs typeface="楷体" panose="02010609060101010101" charset="-122"/>
              </a:rPr>
              <a:t>成本</a:t>
            </a:r>
            <a:r>
              <a:rPr lang="zh-CN" altLang="en-US" sz="4800" b="1" smtClean="0">
                <a:solidFill>
                  <a:srgbClr val="0000FF"/>
                </a:solidFill>
                <a:latin typeface="楷体" panose="02010609060101010101" charset="-122"/>
                <a:ea typeface="楷体" panose="02010609060101010101" charset="-122"/>
                <a:cs typeface="楷体" panose="02010609060101010101" charset="-122"/>
              </a:rPr>
              <a:t>管理</a:t>
            </a:r>
            <a:r>
              <a:rPr lang="en-US" altLang="en-US" sz="4800" b="1" smtClean="0">
                <a:solidFill>
                  <a:srgbClr val="0000FF"/>
                </a:solidFill>
                <a:latin typeface="楷体" panose="02010609060101010101" charset="-122"/>
                <a:ea typeface="楷体" panose="02010609060101010101" charset="-122"/>
                <a:cs typeface="楷体" panose="02010609060101010101" charset="-122"/>
              </a:rPr>
              <a:t> </a:t>
            </a:r>
            <a:endParaRPr lang="en-US" altLang="en-US" sz="4800" b="1" smtClean="0">
              <a:solidFill>
                <a:srgbClr val="0000FF"/>
              </a:solidFill>
              <a:latin typeface="楷体" panose="02010609060101010101" charset="-122"/>
              <a:ea typeface="楷体" panose="02010609060101010101" charset="-122"/>
              <a:cs typeface="楷体" panose="02010609060101010101" charset="-122"/>
            </a:endParaRPr>
          </a:p>
          <a:p>
            <a:pPr>
              <a:spcBef>
                <a:spcPts val="0"/>
              </a:spcBef>
              <a:spcAft>
                <a:spcPts val="0"/>
              </a:spcAft>
              <a:buClr>
                <a:srgbClr val="C00000"/>
              </a:buClr>
              <a:buSzPct val="100000"/>
              <a:buFont typeface="Arial" panose="020B0604020202020204" pitchFamily="34" charset="0"/>
              <a:buChar char="◙"/>
              <a:defRPr/>
            </a:pPr>
            <a:r>
              <a:rPr lang="en-US" altLang="en-US" sz="4800" b="1" dirty="0" err="1" smtClean="0">
                <a:solidFill>
                  <a:srgbClr val="0000FF"/>
                </a:solidFill>
                <a:latin typeface="楷体" panose="02010609060101010101" charset="-122"/>
                <a:ea typeface="楷体" panose="02010609060101010101" charset="-122"/>
                <a:cs typeface="楷体" panose="02010609060101010101" charset="-122"/>
              </a:rPr>
              <a:t>项目成本估算</a:t>
            </a:r>
            <a:r>
              <a:rPr lang="en-US" altLang="en-US" sz="5400" b="1" smtClean="0">
                <a:solidFill>
                  <a:srgbClr val="C00000"/>
                </a:solidFill>
                <a:latin typeface="楷体" panose="02010609060101010101" charset="-122"/>
                <a:ea typeface="楷体" panose="02010609060101010101" charset="-122"/>
                <a:cs typeface="楷体" panose="02010609060101010101" charset="-122"/>
              </a:rPr>
              <a:t> </a:t>
            </a:r>
            <a:endParaRPr lang="en-US" altLang="en-US" sz="5400" b="1" dirty="0" err="1">
              <a:solidFill>
                <a:srgbClr val="C00000"/>
              </a:solidFill>
              <a:latin typeface="楷体" panose="02010609060101010101" charset="-122"/>
              <a:ea typeface="楷体" panose="02010609060101010101" charset="-122"/>
              <a:cs typeface="楷体" panose="02010609060101010101" charset="-122"/>
            </a:endParaRPr>
          </a:p>
          <a:p>
            <a:pPr>
              <a:spcBef>
                <a:spcPts val="0"/>
              </a:spcBef>
              <a:spcAft>
                <a:spcPts val="0"/>
              </a:spcAft>
              <a:buClr>
                <a:srgbClr val="C00000"/>
              </a:buClr>
              <a:buSzPct val="100000"/>
              <a:buFont typeface="Arial" panose="020B0604020202020204" pitchFamily="34" charset="0"/>
              <a:buChar char="◙"/>
              <a:defRPr/>
            </a:pPr>
            <a:r>
              <a:rPr lang="en-US" altLang="en-US" sz="5400" b="1" dirty="0" err="1">
                <a:solidFill>
                  <a:srgbClr val="FF0000"/>
                </a:solidFill>
                <a:latin typeface="楷体" panose="02010609060101010101" charset="-122"/>
                <a:ea typeface="楷体" panose="02010609060101010101" charset="-122"/>
                <a:cs typeface="楷体" panose="02010609060101010101" charset="-122"/>
              </a:rPr>
              <a:t>项目成本预算</a:t>
            </a:r>
            <a:endParaRPr lang="en-US" altLang="en-US" sz="5400" b="1" dirty="0" err="1">
              <a:solidFill>
                <a:srgbClr val="C00000"/>
              </a:solidFill>
              <a:latin typeface="楷体" panose="02010609060101010101" charset="-122"/>
              <a:ea typeface="楷体" panose="02010609060101010101" charset="-122"/>
              <a:cs typeface="楷体" panose="02010609060101010101" charset="-122"/>
            </a:endParaRPr>
          </a:p>
          <a:p>
            <a:pPr>
              <a:spcBef>
                <a:spcPts val="0"/>
              </a:spcBef>
              <a:spcAft>
                <a:spcPts val="0"/>
              </a:spcAft>
              <a:buClr>
                <a:srgbClr val="C00000"/>
              </a:buClr>
              <a:buSzPct val="100000"/>
              <a:buFont typeface="Arial" panose="020B0604020202020204" pitchFamily="34" charset="0"/>
              <a:buChar char="◙"/>
              <a:defRPr/>
            </a:pPr>
            <a:r>
              <a:rPr lang="en-US" altLang="en-US" sz="4800" b="1" dirty="0" err="1">
                <a:solidFill>
                  <a:srgbClr val="0000FF"/>
                </a:solidFill>
                <a:latin typeface="楷体" panose="02010609060101010101" charset="-122"/>
                <a:ea typeface="楷体" panose="02010609060101010101" charset="-122"/>
                <a:cs typeface="楷体" panose="02010609060101010101" charset="-122"/>
              </a:rPr>
              <a:t>项目成本控制</a:t>
            </a:r>
            <a:endParaRPr lang="en-US" altLang="en-US" sz="4800" b="1" dirty="0" err="1">
              <a:solidFill>
                <a:srgbClr val="0000FF"/>
              </a:solidFill>
              <a:latin typeface="楷体" panose="02010609060101010101" charset="-122"/>
              <a:ea typeface="楷体" panose="02010609060101010101" charset="-122"/>
              <a:cs typeface="楷体" panose="02010609060101010101" charset="-122"/>
            </a:endParaRPr>
          </a:p>
          <a:p>
            <a:pPr>
              <a:spcBef>
                <a:spcPts val="0"/>
              </a:spcBef>
              <a:spcAft>
                <a:spcPts val="0"/>
              </a:spcAft>
              <a:buClr>
                <a:srgbClr val="C00000"/>
              </a:buClr>
              <a:buSzPct val="100000"/>
              <a:buFont typeface="Arial" panose="020B0604020202020204" pitchFamily="34" charset="0"/>
              <a:buChar char="◙"/>
              <a:defRPr/>
            </a:pPr>
            <a:r>
              <a:rPr lang="en-US" altLang="en-US" sz="4800" b="1" smtClean="0">
                <a:solidFill>
                  <a:srgbClr val="0000FF"/>
                </a:solidFill>
                <a:latin typeface="楷体" panose="02010609060101010101" charset="-122"/>
                <a:ea typeface="楷体" panose="02010609060101010101" charset="-122"/>
                <a:cs typeface="楷体" panose="02010609060101010101" charset="-122"/>
              </a:rPr>
              <a:t>项目成本效益分析</a:t>
            </a:r>
            <a:endParaRPr lang="en-US" altLang="en-US" sz="4800" b="1" dirty="0" err="1" smtClean="0">
              <a:solidFill>
                <a:srgbClr val="0000FF"/>
              </a:solidFill>
              <a:latin typeface="楷体" panose="02010609060101010101" charset="-122"/>
              <a:ea typeface="楷体" panose="02010609060101010101" charset="-122"/>
              <a:cs typeface="楷体" panose="02010609060101010101" charset="-122"/>
            </a:endParaRPr>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9"/>
          <p:cNvSpPr>
            <a:spLocks noGrp="1" noChangeArrowheads="1"/>
          </p:cNvSpPr>
          <p:nvPr>
            <p:ph type="sldNum" sz="quarter" idx="10"/>
          </p:nvPr>
        </p:nvSpPr>
        <p:spPr>
          <a:noFill/>
        </p:spPr>
        <p:txBody>
          <a:bodyPr/>
          <a:lstStyle/>
          <a:p>
            <a:r>
              <a:rPr lang="zh-CN" altLang="en-GB" smtClean="0"/>
              <a:t>  </a:t>
            </a:r>
            <a:fld id="{C16D88AD-AC1F-4A0B-94D9-5AD287402124}" type="slidenum">
              <a:rPr lang="zh-CN" altLang="en-GB" smtClean="0"/>
            </a:fld>
            <a:endParaRPr lang="en-US" altLang="zh-CN" smtClean="0"/>
          </a:p>
        </p:txBody>
      </p:sp>
      <p:sp>
        <p:nvSpPr>
          <p:cNvPr id="28675"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b="1" smtClean="0">
                <a:solidFill>
                  <a:schemeClr val="bg2"/>
                </a:solidFill>
              </a:rPr>
              <a:t>P.141</a:t>
            </a:r>
            <a:endParaRPr lang="en-US" altLang="zh-CN" sz="2400" b="1">
              <a:solidFill>
                <a:schemeClr val="bg2"/>
              </a:solidFill>
            </a:endParaRPr>
          </a:p>
        </p:txBody>
      </p:sp>
      <p:sp>
        <p:nvSpPr>
          <p:cNvPr id="28676" name="Text Box 13"/>
          <p:cNvSpPr txBox="1">
            <a:spLocks noChangeArrowheads="1"/>
          </p:cNvSpPr>
          <p:nvPr/>
        </p:nvSpPr>
        <p:spPr bwMode="auto">
          <a:xfrm>
            <a:off x="323850" y="1251903"/>
            <a:ext cx="8569325" cy="5785485"/>
          </a:xfrm>
          <a:prstGeom prst="rect">
            <a:avLst/>
          </a:prstGeom>
          <a:noFill/>
          <a:ln w="9525" algn="ctr">
            <a:noFill/>
            <a:miter lim="800000"/>
          </a:ln>
        </p:spPr>
        <p:txBody>
          <a:bodyPr>
            <a:spAutoFit/>
          </a:bodyPr>
          <a:lstStyle/>
          <a:p>
            <a:pPr>
              <a:spcBef>
                <a:spcPts val="600"/>
              </a:spcBef>
              <a:spcAft>
                <a:spcPts val="600"/>
              </a:spcAft>
              <a:buClr>
                <a:schemeClr val="hlink"/>
              </a:buClr>
            </a:pPr>
            <a:r>
              <a:rPr lang="zh-CN" altLang="en-US" b="1">
                <a:solidFill>
                  <a:schemeClr val="bg2"/>
                </a:solidFill>
                <a:latin typeface="楷体" panose="02010609060101010101" charset="-122"/>
                <a:ea typeface="楷体" panose="02010609060101010101" charset="-122"/>
              </a:rPr>
              <a:t>项目成本预算是进行项目成本控制的基础，它负责为项目活动分配预算。</a:t>
            </a:r>
            <a:endParaRPr lang="zh-CN" altLang="en-US" b="1">
              <a:solidFill>
                <a:schemeClr val="bg2"/>
              </a:solidFill>
              <a:latin typeface="楷体" panose="02010609060101010101" charset="-122"/>
              <a:ea typeface="楷体" panose="02010609060101010101" charset="-122"/>
            </a:endParaRPr>
          </a:p>
          <a:p>
            <a:pPr>
              <a:spcBef>
                <a:spcPts val="600"/>
              </a:spcBef>
              <a:spcAft>
                <a:spcPts val="600"/>
              </a:spcAft>
              <a:buClr>
                <a:schemeClr val="hlink"/>
              </a:buClr>
            </a:pPr>
            <a:r>
              <a:rPr lang="zh-CN" altLang="en-US" b="1" smtClean="0">
                <a:solidFill>
                  <a:schemeClr val="bg2"/>
                </a:solidFill>
                <a:latin typeface="楷体" panose="02010609060101010101" charset="-122"/>
                <a:ea typeface="楷体" panose="02010609060101010101" charset="-122"/>
              </a:rPr>
              <a:t>项目成本预算主要</a:t>
            </a:r>
            <a:r>
              <a:rPr lang="zh-CN" altLang="en-US" b="1">
                <a:solidFill>
                  <a:schemeClr val="bg2"/>
                </a:solidFill>
                <a:latin typeface="楷体" panose="02010609060101010101" charset="-122"/>
                <a:ea typeface="楷体" panose="02010609060101010101" charset="-122"/>
              </a:rPr>
              <a:t>包括：</a:t>
            </a:r>
            <a:endParaRPr lang="zh-CN" altLang="en-US" b="1">
              <a:solidFill>
                <a:schemeClr val="bg2"/>
              </a:solidFill>
              <a:latin typeface="楷体" panose="02010609060101010101" charset="-122"/>
              <a:ea typeface="楷体" panose="02010609060101010101" charset="-122"/>
            </a:endParaRPr>
          </a:p>
          <a:p>
            <a:pPr marL="800100" lvl="1" indent="-342900">
              <a:spcBef>
                <a:spcPts val="600"/>
              </a:spcBef>
              <a:spcAft>
                <a:spcPts val="600"/>
              </a:spcAft>
              <a:buClr>
                <a:srgbClr val="000000"/>
              </a:buClr>
              <a:buFont typeface="Wingdings" panose="05000000000000000000" charset="0"/>
              <a:buChar char="ü"/>
            </a:pPr>
            <a:r>
              <a:rPr lang="zh-CN" altLang="en-US" sz="2400" b="1">
                <a:solidFill>
                  <a:schemeClr val="bg1"/>
                </a:solidFill>
                <a:latin typeface="楷体" panose="02010609060101010101" charset="-122"/>
                <a:ea typeface="楷体" panose="02010609060101010101" charset="-122"/>
              </a:rPr>
              <a:t>直接人工费用预算</a:t>
            </a:r>
            <a:endParaRPr lang="zh-CN" altLang="en-US" sz="2400" b="1">
              <a:solidFill>
                <a:schemeClr val="bg1"/>
              </a:solidFill>
              <a:latin typeface="楷体" panose="02010609060101010101" charset="-122"/>
              <a:ea typeface="楷体" panose="02010609060101010101" charset="-122"/>
            </a:endParaRPr>
          </a:p>
          <a:p>
            <a:pPr marL="800100" lvl="1" indent="-342900">
              <a:spcBef>
                <a:spcPts val="600"/>
              </a:spcBef>
              <a:spcAft>
                <a:spcPts val="600"/>
              </a:spcAft>
              <a:buClr>
                <a:srgbClr val="000000"/>
              </a:buClr>
              <a:buFont typeface="Wingdings" panose="05000000000000000000" charset="0"/>
              <a:buChar char="ü"/>
            </a:pPr>
            <a:r>
              <a:rPr lang="zh-CN" altLang="en-US" sz="2400" b="1">
                <a:solidFill>
                  <a:schemeClr val="bg1"/>
                </a:solidFill>
                <a:latin typeface="楷体" panose="02010609060101010101" charset="-122"/>
                <a:ea typeface="楷体" panose="02010609060101010101" charset="-122"/>
              </a:rPr>
              <a:t>咨询服务费用预算</a:t>
            </a:r>
            <a:endParaRPr lang="zh-CN" altLang="en-US" sz="2400" b="1">
              <a:solidFill>
                <a:schemeClr val="bg1"/>
              </a:solidFill>
              <a:latin typeface="楷体" panose="02010609060101010101" charset="-122"/>
              <a:ea typeface="楷体" panose="02010609060101010101" charset="-122"/>
            </a:endParaRPr>
          </a:p>
          <a:p>
            <a:pPr marL="800100" lvl="1" indent="-342900">
              <a:spcBef>
                <a:spcPts val="600"/>
              </a:spcBef>
              <a:spcAft>
                <a:spcPts val="600"/>
              </a:spcAft>
              <a:buClr>
                <a:srgbClr val="000000"/>
              </a:buClr>
              <a:buFont typeface="Wingdings" panose="05000000000000000000" charset="0"/>
              <a:buChar char="ü"/>
            </a:pPr>
            <a:r>
              <a:rPr lang="zh-CN" altLang="en-US" sz="2400" b="1">
                <a:solidFill>
                  <a:schemeClr val="bg1"/>
                </a:solidFill>
                <a:latin typeface="楷体" panose="02010609060101010101" charset="-122"/>
                <a:ea typeface="楷体" panose="02010609060101010101" charset="-122"/>
              </a:rPr>
              <a:t>资源采购费用预算</a:t>
            </a:r>
            <a:endParaRPr lang="zh-CN" altLang="en-US" sz="2400" b="1">
              <a:solidFill>
                <a:schemeClr val="bg1"/>
              </a:solidFill>
              <a:latin typeface="楷体" panose="02010609060101010101" charset="-122"/>
              <a:ea typeface="楷体" panose="02010609060101010101" charset="-122"/>
            </a:endParaRPr>
          </a:p>
          <a:p>
            <a:pPr marL="800100" lvl="1" indent="-342900">
              <a:spcBef>
                <a:spcPts val="600"/>
              </a:spcBef>
              <a:spcAft>
                <a:spcPts val="600"/>
              </a:spcAft>
              <a:buClr>
                <a:srgbClr val="000000"/>
              </a:buClr>
              <a:buFont typeface="Wingdings" panose="05000000000000000000" charset="0"/>
              <a:buChar char="ü"/>
            </a:pPr>
            <a:r>
              <a:rPr lang="zh-CN" altLang="en-US" sz="2400" b="1">
                <a:solidFill>
                  <a:schemeClr val="bg1"/>
                </a:solidFill>
                <a:latin typeface="楷体" panose="02010609060101010101" charset="-122"/>
                <a:ea typeface="楷体" panose="02010609060101010101" charset="-122"/>
              </a:rPr>
              <a:t>不可预见费用预算</a:t>
            </a:r>
            <a:endParaRPr lang="zh-CN" altLang="en-US" sz="2400" b="1">
              <a:solidFill>
                <a:schemeClr val="bg1"/>
              </a:solidFill>
              <a:latin typeface="楷体" panose="02010609060101010101" charset="-122"/>
              <a:ea typeface="楷体" panose="02010609060101010101" charset="-122"/>
            </a:endParaRPr>
          </a:p>
          <a:p>
            <a:pPr marL="457200" indent="-457200">
              <a:spcBef>
                <a:spcPts val="600"/>
              </a:spcBef>
              <a:spcAft>
                <a:spcPts val="600"/>
              </a:spcAft>
              <a:buClr>
                <a:schemeClr val="hlink"/>
              </a:buClr>
            </a:pPr>
            <a:r>
              <a:rPr lang="zh-CN" altLang="en-US" b="1">
                <a:solidFill>
                  <a:schemeClr val="bg2"/>
                </a:solidFill>
                <a:latin typeface="楷体" panose="02010609060101010101" charset="-122"/>
                <a:ea typeface="楷体" panose="02010609060101010101" charset="-122"/>
              </a:rPr>
              <a:t>预算的主要依据包括：</a:t>
            </a:r>
            <a:endParaRPr lang="zh-CN" altLang="en-US" b="1">
              <a:solidFill>
                <a:schemeClr val="bg2"/>
              </a:solidFill>
              <a:latin typeface="楷体" panose="02010609060101010101" charset="-122"/>
              <a:ea typeface="楷体" panose="02010609060101010101" charset="-122"/>
            </a:endParaRPr>
          </a:p>
          <a:p>
            <a:pPr marL="914400" lvl="1" indent="-457200">
              <a:spcBef>
                <a:spcPts val="600"/>
              </a:spcBef>
              <a:spcAft>
                <a:spcPts val="600"/>
              </a:spcAft>
              <a:buClr>
                <a:srgbClr val="000000"/>
              </a:buClr>
              <a:buFont typeface="Wingdings" panose="05000000000000000000" charset="0"/>
              <a:buChar char="ü"/>
            </a:pPr>
            <a:r>
              <a:rPr lang="zh-CN" altLang="en-US" sz="2400" b="1">
                <a:solidFill>
                  <a:schemeClr val="bg2"/>
                </a:solidFill>
                <a:latin typeface="楷体" panose="02010609060101010101" charset="-122"/>
                <a:ea typeface="楷体" panose="02010609060101010101" charset="-122"/>
              </a:rPr>
              <a:t>项目成本估算</a:t>
            </a:r>
            <a:endParaRPr lang="zh-CN" altLang="en-US" sz="2400" b="1">
              <a:solidFill>
                <a:schemeClr val="bg2"/>
              </a:solidFill>
              <a:latin typeface="楷体" panose="02010609060101010101" charset="-122"/>
              <a:ea typeface="楷体" panose="02010609060101010101" charset="-122"/>
            </a:endParaRPr>
          </a:p>
          <a:p>
            <a:pPr marL="914400" lvl="1" indent="-457200">
              <a:spcBef>
                <a:spcPts val="600"/>
              </a:spcBef>
              <a:spcAft>
                <a:spcPts val="600"/>
              </a:spcAft>
              <a:buClr>
                <a:srgbClr val="000000"/>
              </a:buClr>
              <a:buFont typeface="Wingdings" panose="05000000000000000000" charset="0"/>
              <a:buChar char="ü"/>
            </a:pPr>
            <a:r>
              <a:rPr lang="zh-CN" altLang="en-US" sz="2400" b="1">
                <a:solidFill>
                  <a:schemeClr val="bg2"/>
                </a:solidFill>
                <a:latin typeface="楷体" panose="02010609060101010101" charset="-122"/>
                <a:ea typeface="楷体" panose="02010609060101010101" charset="-122"/>
              </a:rPr>
              <a:t>工作分解结构</a:t>
            </a:r>
            <a:endParaRPr lang="zh-CN" altLang="en-US" sz="2400" b="1">
              <a:solidFill>
                <a:schemeClr val="bg2"/>
              </a:solidFill>
              <a:latin typeface="楷体" panose="02010609060101010101" charset="-122"/>
              <a:ea typeface="楷体" panose="02010609060101010101" charset="-122"/>
            </a:endParaRPr>
          </a:p>
          <a:p>
            <a:pPr marL="914400" lvl="1" indent="-457200">
              <a:spcBef>
                <a:spcPts val="600"/>
              </a:spcBef>
              <a:spcAft>
                <a:spcPts val="600"/>
              </a:spcAft>
              <a:buClr>
                <a:srgbClr val="000000"/>
              </a:buClr>
              <a:buFont typeface="Wingdings" panose="05000000000000000000" charset="0"/>
              <a:buChar char="ü"/>
            </a:pPr>
            <a:r>
              <a:rPr lang="zh-CN" altLang="en-US" sz="2400" b="1">
                <a:solidFill>
                  <a:schemeClr val="bg2"/>
                </a:solidFill>
                <a:latin typeface="楷体" panose="02010609060101010101" charset="-122"/>
                <a:ea typeface="楷体" panose="02010609060101010101" charset="-122"/>
              </a:rPr>
              <a:t>项目进度计划</a:t>
            </a:r>
            <a:endParaRPr lang="zh-CN" altLang="en-US" sz="2400" b="1">
              <a:solidFill>
                <a:schemeClr val="bg2"/>
              </a:solidFill>
              <a:latin typeface="楷体" panose="02010609060101010101" charset="-122"/>
              <a:ea typeface="楷体" panose="02010609060101010101" charset="-122"/>
            </a:endParaRPr>
          </a:p>
        </p:txBody>
      </p:sp>
      <p:sp>
        <p:nvSpPr>
          <p:cNvPr id="28677" name="Rectangle 14"/>
          <p:cNvSpPr>
            <a:spLocks noChangeArrowheads="1"/>
          </p:cNvSpPr>
          <p:nvPr/>
        </p:nvSpPr>
        <p:spPr bwMode="auto">
          <a:xfrm>
            <a:off x="103188" y="620713"/>
            <a:ext cx="5405437" cy="553085"/>
          </a:xfrm>
          <a:prstGeom prst="rect">
            <a:avLst/>
          </a:prstGeom>
          <a:noFill/>
          <a:ln w="9525">
            <a:noFill/>
            <a:miter lim="800000"/>
          </a:ln>
        </p:spPr>
        <p:txBody>
          <a:bodyPr>
            <a:spAutoFit/>
          </a:bodyPr>
          <a:lstStyle/>
          <a:p>
            <a:r>
              <a:rPr kumimoji="0" lang="en-US" altLang="en-US" sz="3000" b="1" smtClean="0"/>
              <a:t>6.4 </a:t>
            </a:r>
            <a:r>
              <a:rPr kumimoji="0" lang="en-US" altLang="en-US" sz="3000" b="1">
                <a:latin typeface="楷体" panose="02010609060101010101" charset="-122"/>
                <a:ea typeface="楷体" panose="02010609060101010101" charset="-122"/>
              </a:rPr>
              <a:t>项目成本预算</a:t>
            </a:r>
            <a:endParaRPr kumimoji="0" lang="en-US" altLang="en-US" sz="3000" b="1">
              <a:latin typeface="楷体" panose="02010609060101010101" charset="-122"/>
              <a:ea typeface="楷体" panose="0201060906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67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67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67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67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676">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676">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8676">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867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9"/>
          <p:cNvSpPr>
            <a:spLocks noGrp="1" noChangeArrowheads="1"/>
          </p:cNvSpPr>
          <p:nvPr>
            <p:ph type="sldNum" sz="quarter" idx="10"/>
          </p:nvPr>
        </p:nvSpPr>
        <p:spPr>
          <a:noFill/>
        </p:spPr>
        <p:txBody>
          <a:bodyPr/>
          <a:lstStyle/>
          <a:p>
            <a:r>
              <a:rPr lang="zh-CN" altLang="en-GB" smtClean="0"/>
              <a:t>  </a:t>
            </a:r>
            <a:fld id="{3EA371C5-CDE5-4F70-95B9-189A08398DB0}" type="slidenum">
              <a:rPr lang="zh-CN" altLang="en-GB" smtClean="0"/>
            </a:fld>
            <a:endParaRPr lang="en-US" altLang="zh-CN" smtClean="0"/>
          </a:p>
        </p:txBody>
      </p:sp>
      <p:sp>
        <p:nvSpPr>
          <p:cNvPr id="29699"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b="1" smtClean="0">
                <a:solidFill>
                  <a:schemeClr val="bg2"/>
                </a:solidFill>
              </a:rPr>
              <a:t>P.140</a:t>
            </a:r>
            <a:endParaRPr lang="en-US" altLang="zh-CN" sz="2400" b="1">
              <a:solidFill>
                <a:schemeClr val="bg2"/>
              </a:solidFill>
            </a:endParaRPr>
          </a:p>
        </p:txBody>
      </p:sp>
      <p:sp>
        <p:nvSpPr>
          <p:cNvPr id="29700" name="Text Box 12"/>
          <p:cNvSpPr txBox="1">
            <a:spLocks noChangeArrowheads="1"/>
          </p:cNvSpPr>
          <p:nvPr/>
        </p:nvSpPr>
        <p:spPr bwMode="auto">
          <a:xfrm>
            <a:off x="323850" y="2065359"/>
            <a:ext cx="8640763" cy="4399915"/>
          </a:xfrm>
          <a:prstGeom prst="rect">
            <a:avLst/>
          </a:prstGeom>
          <a:noFill/>
          <a:ln w="9525" algn="ctr">
            <a:noFill/>
            <a:miter lim="800000"/>
          </a:ln>
        </p:spPr>
        <p:txBody>
          <a:bodyPr>
            <a:spAutoFit/>
          </a:bodyPr>
          <a:lstStyle/>
          <a:p>
            <a:pPr>
              <a:spcBef>
                <a:spcPct val="50000"/>
              </a:spcBef>
              <a:buClr>
                <a:schemeClr val="bg1"/>
              </a:buClr>
              <a:buFont typeface="Wingdings" panose="05000000000000000000" pitchFamily="2" charset="2"/>
              <a:buAutoNum type="circleNumDbPlain"/>
            </a:pPr>
            <a:r>
              <a:rPr lang="zh-CN" altLang="en-US" b="1">
                <a:solidFill>
                  <a:schemeClr val="bg1"/>
                </a:solidFill>
                <a:latin typeface="楷体" panose="02010609060101010101" charset="-122"/>
                <a:ea typeface="楷体" panose="02010609060101010101" charset="-122"/>
                <a:cs typeface="楷体" panose="02010609060101010101" charset="-122"/>
              </a:rPr>
              <a:t>计划性：</a:t>
            </a:r>
            <a:r>
              <a:rPr lang="zh-CN" altLang="en-US" b="1">
                <a:solidFill>
                  <a:schemeClr val="bg2"/>
                </a:solidFill>
                <a:latin typeface="楷体" panose="02010609060101010101" charset="-122"/>
                <a:ea typeface="楷体" panose="02010609060101010101" charset="-122"/>
                <a:cs typeface="楷体" panose="02010609060101010101" charset="-122"/>
              </a:rPr>
              <a:t>对</a:t>
            </a:r>
            <a:r>
              <a:rPr lang="en-US" altLang="zh-CN" b="1">
                <a:solidFill>
                  <a:schemeClr val="bg2"/>
                </a:solidFill>
                <a:ea typeface="楷体" panose="02010609060101010101" charset="-122"/>
                <a:cs typeface="Times New Roman" panose="02020603050405020304" pitchFamily="18" charset="0"/>
              </a:rPr>
              <a:t>WBS</a:t>
            </a:r>
            <a:r>
              <a:rPr lang="zh-CN" altLang="en-US" b="1">
                <a:solidFill>
                  <a:schemeClr val="bg2"/>
                </a:solidFill>
                <a:latin typeface="楷体" panose="02010609060101010101" charset="-122"/>
                <a:ea typeface="楷体" panose="02010609060101010101" charset="-122"/>
                <a:cs typeface="楷体" panose="02010609060101010101" charset="-122"/>
              </a:rPr>
              <a:t>的每一种组成部分估算相应的成本形成预算。预算是另一种形式的项目计划。</a:t>
            </a:r>
            <a:endParaRPr lang="zh-CN" altLang="en-US" b="1">
              <a:solidFill>
                <a:schemeClr val="bg2"/>
              </a:solidFill>
              <a:latin typeface="楷体" panose="02010609060101010101" charset="-122"/>
              <a:ea typeface="楷体" panose="02010609060101010101" charset="-122"/>
              <a:cs typeface="楷体" panose="02010609060101010101" charset="-122"/>
            </a:endParaRPr>
          </a:p>
          <a:p>
            <a:pPr>
              <a:spcBef>
                <a:spcPct val="50000"/>
              </a:spcBef>
              <a:buClr>
                <a:schemeClr val="bg1"/>
              </a:buClr>
              <a:buFont typeface="Wingdings" panose="05000000000000000000" pitchFamily="2" charset="2"/>
              <a:buAutoNum type="circleNumDbPlain"/>
            </a:pPr>
            <a:r>
              <a:rPr lang="zh-CN" altLang="en-US" b="1">
                <a:solidFill>
                  <a:schemeClr val="bg1"/>
                </a:solidFill>
                <a:latin typeface="楷体" panose="02010609060101010101" charset="-122"/>
                <a:ea typeface="楷体" panose="02010609060101010101" charset="-122"/>
                <a:cs typeface="楷体" panose="02010609060101010101" charset="-122"/>
              </a:rPr>
              <a:t>约束性：</a:t>
            </a:r>
            <a:r>
              <a:rPr lang="zh-CN" altLang="en-US" b="1">
                <a:solidFill>
                  <a:schemeClr val="bg2"/>
                </a:solidFill>
                <a:latin typeface="楷体" panose="02010609060101010101" charset="-122"/>
                <a:ea typeface="楷体" panose="02010609060101010101" charset="-122"/>
                <a:cs typeface="楷体" panose="02010609060101010101" charset="-122"/>
              </a:rPr>
              <a:t>预算是一种分配资源的计划，预算分配的结果可能并不能满足所涉及的管理人员的利益要求，而表现为一种约束，所涉及人员只能在这种约束的范围内行动。</a:t>
            </a:r>
            <a:endParaRPr lang="zh-CN" altLang="en-US" b="1">
              <a:solidFill>
                <a:schemeClr val="bg2"/>
              </a:solidFill>
              <a:latin typeface="楷体" panose="02010609060101010101" charset="-122"/>
              <a:ea typeface="楷体" panose="02010609060101010101" charset="-122"/>
              <a:cs typeface="楷体" panose="02010609060101010101" charset="-122"/>
            </a:endParaRPr>
          </a:p>
          <a:p>
            <a:pPr>
              <a:spcBef>
                <a:spcPct val="50000"/>
              </a:spcBef>
              <a:buClr>
                <a:schemeClr val="bg1"/>
              </a:buClr>
              <a:buFont typeface="Wingdings" panose="05000000000000000000" pitchFamily="2" charset="2"/>
              <a:buAutoNum type="circleNumDbPlain"/>
            </a:pPr>
            <a:r>
              <a:rPr lang="zh-CN" altLang="en-US" b="1">
                <a:solidFill>
                  <a:schemeClr val="bg1"/>
                </a:solidFill>
                <a:latin typeface="楷体" panose="02010609060101010101" charset="-122"/>
                <a:ea typeface="楷体" panose="02010609060101010101" charset="-122"/>
                <a:cs typeface="楷体" panose="02010609060101010101" charset="-122"/>
              </a:rPr>
              <a:t>控制性：</a:t>
            </a:r>
            <a:r>
              <a:rPr lang="zh-CN" altLang="en-US" b="1">
                <a:solidFill>
                  <a:schemeClr val="bg2"/>
                </a:solidFill>
                <a:latin typeface="楷体" panose="02010609060101010101" charset="-122"/>
                <a:ea typeface="楷体" panose="02010609060101010101" charset="-122"/>
                <a:cs typeface="楷体" panose="02010609060101010101" charset="-122"/>
              </a:rPr>
              <a:t>项目预算是一种控制机制。预算可以作为一种比较标准而使用，一种度量资源实际使用量和计划量之间差异的基线标准。</a:t>
            </a:r>
            <a:endParaRPr lang="zh-CN" altLang="en-US" b="1">
              <a:solidFill>
                <a:schemeClr val="bg2"/>
              </a:solidFill>
              <a:latin typeface="楷体" panose="02010609060101010101" charset="-122"/>
              <a:ea typeface="楷体" panose="02010609060101010101" charset="-122"/>
              <a:cs typeface="楷体" panose="02010609060101010101" charset="-122"/>
            </a:endParaRPr>
          </a:p>
        </p:txBody>
      </p:sp>
      <p:sp>
        <p:nvSpPr>
          <p:cNvPr id="29701" name="Rectangle 13"/>
          <p:cNvSpPr>
            <a:spLocks noChangeArrowheads="1"/>
          </p:cNvSpPr>
          <p:nvPr/>
        </p:nvSpPr>
        <p:spPr bwMode="auto">
          <a:xfrm>
            <a:off x="103188" y="620713"/>
            <a:ext cx="5405437" cy="553085"/>
          </a:xfrm>
          <a:prstGeom prst="rect">
            <a:avLst/>
          </a:prstGeom>
          <a:noFill/>
          <a:ln w="9525">
            <a:noFill/>
            <a:miter lim="800000"/>
          </a:ln>
        </p:spPr>
        <p:txBody>
          <a:bodyPr>
            <a:spAutoFit/>
          </a:bodyPr>
          <a:lstStyle/>
          <a:p>
            <a:r>
              <a:rPr kumimoji="0" lang="en-US" altLang="en-US" sz="3000" b="1" smtClean="0"/>
              <a:t>6.4 </a:t>
            </a:r>
            <a:r>
              <a:rPr kumimoji="0" lang="en-US" altLang="en-US" sz="3000" b="1">
                <a:latin typeface="楷体" panose="02010609060101010101" charset="-122"/>
                <a:ea typeface="楷体" panose="02010609060101010101" charset="-122"/>
              </a:rPr>
              <a:t>项目成本预算</a:t>
            </a:r>
            <a:endParaRPr kumimoji="0" lang="en-US" altLang="en-US" sz="3000" b="1">
              <a:latin typeface="楷体" panose="02010609060101010101" charset="-122"/>
              <a:ea typeface="楷体" panose="02010609060101010101" charset="-122"/>
            </a:endParaRPr>
          </a:p>
        </p:txBody>
      </p:sp>
      <p:sp>
        <p:nvSpPr>
          <p:cNvPr id="29702" name="Rectangle 14"/>
          <p:cNvSpPr>
            <a:spLocks noChangeArrowheads="1"/>
          </p:cNvSpPr>
          <p:nvPr/>
        </p:nvSpPr>
        <p:spPr bwMode="auto">
          <a:xfrm>
            <a:off x="323850" y="1341438"/>
            <a:ext cx="3485515" cy="521970"/>
          </a:xfrm>
          <a:prstGeom prst="rect">
            <a:avLst/>
          </a:prstGeom>
          <a:noFill/>
          <a:ln w="9525">
            <a:noFill/>
            <a:miter lim="800000"/>
          </a:ln>
        </p:spPr>
        <p:txBody>
          <a:bodyPr wrap="none">
            <a:spAutoFit/>
          </a:bodyPr>
          <a:lstStyle/>
          <a:p>
            <a:r>
              <a:rPr kumimoji="0" lang="en-US" altLang="en-US" b="1" smtClean="0">
                <a:solidFill>
                  <a:srgbClr val="FF0000"/>
                </a:solidFill>
                <a:ea typeface="楷体_GB2312" pitchFamily="49" charset="-122"/>
              </a:rPr>
              <a:t>6.4.1 </a:t>
            </a:r>
            <a:r>
              <a:rPr kumimoji="0" lang="en-US" altLang="en-US" b="1">
                <a:solidFill>
                  <a:srgbClr val="FF0000"/>
                </a:solidFill>
                <a:latin typeface="楷体" panose="02010609060101010101" charset="-122"/>
                <a:ea typeface="楷体" panose="02010609060101010101" charset="-122"/>
              </a:rPr>
              <a:t>成本预算的特征</a:t>
            </a:r>
            <a:endParaRPr kumimoji="0" lang="en-US" altLang="en-US" b="1">
              <a:solidFill>
                <a:srgbClr val="FF0000"/>
              </a:solidFill>
              <a:latin typeface="楷体" panose="02010609060101010101" charset="-122"/>
              <a:ea typeface="楷体" panose="02010609060101010101" charset="-122"/>
            </a:endParaRPr>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9"/>
          <p:cNvSpPr>
            <a:spLocks noGrp="1" noChangeArrowheads="1"/>
          </p:cNvSpPr>
          <p:nvPr>
            <p:ph type="sldNum" sz="quarter" idx="10"/>
          </p:nvPr>
        </p:nvSpPr>
        <p:spPr>
          <a:noFill/>
        </p:spPr>
        <p:txBody>
          <a:bodyPr/>
          <a:lstStyle/>
          <a:p>
            <a:r>
              <a:rPr lang="zh-CN" altLang="en-GB" smtClean="0"/>
              <a:t>  </a:t>
            </a:r>
            <a:fld id="{26FD1F7A-C06E-40E6-8793-54A808893B0B}" type="slidenum">
              <a:rPr lang="zh-CN" altLang="en-GB" smtClean="0"/>
            </a:fld>
            <a:endParaRPr lang="en-US" altLang="zh-CN" smtClean="0"/>
          </a:p>
        </p:txBody>
      </p:sp>
      <p:sp>
        <p:nvSpPr>
          <p:cNvPr id="30723"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b="1" smtClean="0">
                <a:solidFill>
                  <a:schemeClr val="bg2"/>
                </a:solidFill>
              </a:rPr>
              <a:t>P.141</a:t>
            </a:r>
            <a:endParaRPr lang="en-US" altLang="zh-CN" sz="2400" b="1">
              <a:solidFill>
                <a:schemeClr val="bg2"/>
              </a:solidFill>
            </a:endParaRPr>
          </a:p>
        </p:txBody>
      </p:sp>
      <p:sp>
        <p:nvSpPr>
          <p:cNvPr id="1170436" name="Text Box 4"/>
          <p:cNvSpPr txBox="1">
            <a:spLocks noChangeArrowheads="1"/>
          </p:cNvSpPr>
          <p:nvPr/>
        </p:nvSpPr>
        <p:spPr bwMode="auto">
          <a:xfrm>
            <a:off x="107950" y="1966913"/>
            <a:ext cx="8891588" cy="2553335"/>
          </a:xfrm>
          <a:prstGeom prst="rect">
            <a:avLst/>
          </a:prstGeom>
          <a:noFill/>
          <a:ln w="9525" algn="ctr">
            <a:noFill/>
            <a:miter lim="800000"/>
          </a:ln>
        </p:spPr>
        <p:txBody>
          <a:bodyPr>
            <a:spAutoFit/>
          </a:bodyPr>
          <a:lstStyle/>
          <a:p>
            <a:pPr marL="1287145" lvl="1" indent="-742950">
              <a:spcBef>
                <a:spcPct val="50000"/>
              </a:spcBef>
              <a:buClr>
                <a:srgbClr val="0000FF"/>
              </a:buClr>
              <a:buFont typeface="Wingdings" panose="05000000000000000000" charset="0"/>
              <a:buChar char="ü"/>
            </a:pPr>
            <a:r>
              <a:rPr lang="zh-CN" altLang="en-US" sz="4000" b="1" smtClean="0">
                <a:solidFill>
                  <a:srgbClr val="0000FF"/>
                </a:solidFill>
                <a:latin typeface="楷体" panose="02010609060101010101" charset="-122"/>
                <a:ea typeface="楷体" panose="02010609060101010101" charset="-122"/>
              </a:rPr>
              <a:t>确定</a:t>
            </a:r>
            <a:r>
              <a:rPr lang="zh-CN" altLang="en-US" sz="4000" b="1">
                <a:solidFill>
                  <a:srgbClr val="0000FF"/>
                </a:solidFill>
                <a:latin typeface="楷体" panose="02010609060101010101" charset="-122"/>
                <a:ea typeface="楷体" panose="02010609060101010101" charset="-122"/>
              </a:rPr>
              <a:t>项目的总预算</a:t>
            </a:r>
            <a:endParaRPr kumimoji="0" lang="zh-CN" altLang="en-US" sz="3600" b="1">
              <a:solidFill>
                <a:srgbClr val="0000FF"/>
              </a:solidFill>
              <a:latin typeface="楷体" panose="02010609060101010101" charset="-122"/>
              <a:ea typeface="楷体" panose="02010609060101010101" charset="-122"/>
            </a:endParaRPr>
          </a:p>
          <a:p>
            <a:pPr marL="1287145" lvl="1" indent="-742950">
              <a:spcBef>
                <a:spcPct val="50000"/>
              </a:spcBef>
              <a:buClr>
                <a:srgbClr val="0000FF"/>
              </a:buClr>
              <a:buFont typeface="Wingdings" panose="05000000000000000000" charset="0"/>
              <a:buChar char="ü"/>
            </a:pPr>
            <a:r>
              <a:rPr lang="zh-CN" altLang="en-US" sz="4000" b="1" smtClean="0">
                <a:solidFill>
                  <a:srgbClr val="0000FF"/>
                </a:solidFill>
                <a:latin typeface="楷体" panose="02010609060101010101" charset="-122"/>
                <a:ea typeface="楷体" panose="02010609060101010101" charset="-122"/>
              </a:rPr>
              <a:t>确定</a:t>
            </a:r>
            <a:r>
              <a:rPr lang="zh-CN" altLang="en-US" sz="4000" b="1">
                <a:solidFill>
                  <a:srgbClr val="0000FF"/>
                </a:solidFill>
                <a:latin typeface="楷体" panose="02010609060101010101" charset="-122"/>
                <a:ea typeface="楷体" panose="02010609060101010101" charset="-122"/>
              </a:rPr>
              <a:t>项目各项活动的预算</a:t>
            </a:r>
            <a:endParaRPr lang="zh-CN" altLang="en-US" sz="4400" b="1">
              <a:solidFill>
                <a:srgbClr val="0000FF"/>
              </a:solidFill>
              <a:latin typeface="楷体" panose="02010609060101010101" charset="-122"/>
              <a:ea typeface="楷体" panose="02010609060101010101" charset="-122"/>
            </a:endParaRPr>
          </a:p>
          <a:p>
            <a:pPr marL="1287145" lvl="1" indent="-742950">
              <a:spcBef>
                <a:spcPct val="50000"/>
              </a:spcBef>
              <a:buClr>
                <a:srgbClr val="0000FF"/>
              </a:buClr>
              <a:buFont typeface="Wingdings" panose="05000000000000000000" charset="0"/>
              <a:buChar char="ü"/>
            </a:pPr>
            <a:r>
              <a:rPr lang="zh-CN" altLang="en-US" sz="4000" b="1" smtClean="0">
                <a:solidFill>
                  <a:srgbClr val="0000FF"/>
                </a:solidFill>
                <a:latin typeface="楷体" panose="02010609060101010101" charset="-122"/>
                <a:ea typeface="楷体" panose="02010609060101010101" charset="-122"/>
              </a:rPr>
              <a:t>确定</a:t>
            </a:r>
            <a:r>
              <a:rPr lang="zh-CN" altLang="en-US" sz="4000" b="1">
                <a:solidFill>
                  <a:srgbClr val="0000FF"/>
                </a:solidFill>
                <a:latin typeface="楷体" panose="02010609060101010101" charset="-122"/>
                <a:ea typeface="楷体" panose="02010609060101010101" charset="-122"/>
              </a:rPr>
              <a:t>项目各项活动预算投入</a:t>
            </a:r>
            <a:r>
              <a:rPr lang="zh-CN" altLang="en-US" sz="4000" b="1" smtClean="0">
                <a:solidFill>
                  <a:srgbClr val="0000FF"/>
                </a:solidFill>
                <a:latin typeface="楷体" panose="02010609060101010101" charset="-122"/>
                <a:ea typeface="楷体" panose="02010609060101010101" charset="-122"/>
              </a:rPr>
              <a:t>时间</a:t>
            </a:r>
            <a:endParaRPr lang="zh-CN" altLang="en-US" sz="4000" b="1" smtClean="0">
              <a:solidFill>
                <a:srgbClr val="0000FF"/>
              </a:solidFill>
              <a:latin typeface="楷体" panose="02010609060101010101" charset="-122"/>
              <a:ea typeface="楷体" panose="02010609060101010101" charset="-122"/>
            </a:endParaRPr>
          </a:p>
        </p:txBody>
      </p:sp>
      <p:sp>
        <p:nvSpPr>
          <p:cNvPr id="30725" name="Rectangle 5"/>
          <p:cNvSpPr>
            <a:spLocks noChangeArrowheads="1"/>
          </p:cNvSpPr>
          <p:nvPr/>
        </p:nvSpPr>
        <p:spPr bwMode="auto">
          <a:xfrm>
            <a:off x="103188" y="620713"/>
            <a:ext cx="5405437" cy="553085"/>
          </a:xfrm>
          <a:prstGeom prst="rect">
            <a:avLst/>
          </a:prstGeom>
          <a:noFill/>
          <a:ln w="9525">
            <a:noFill/>
            <a:miter lim="800000"/>
          </a:ln>
        </p:spPr>
        <p:txBody>
          <a:bodyPr>
            <a:spAutoFit/>
          </a:bodyPr>
          <a:lstStyle/>
          <a:p>
            <a:r>
              <a:rPr kumimoji="0" lang="en-US" altLang="en-US" sz="3000" b="1" smtClean="0"/>
              <a:t>6.4 </a:t>
            </a:r>
            <a:r>
              <a:rPr kumimoji="0" lang="en-US" altLang="en-US" sz="3000" b="1">
                <a:latin typeface="楷体" panose="02010609060101010101" charset="-122"/>
                <a:ea typeface="楷体" panose="02010609060101010101" charset="-122"/>
              </a:rPr>
              <a:t>项目成本预算</a:t>
            </a:r>
            <a:endParaRPr kumimoji="0" lang="en-US" altLang="en-US" sz="3000" b="1">
              <a:latin typeface="楷体" panose="02010609060101010101" charset="-122"/>
              <a:ea typeface="楷体" panose="02010609060101010101" charset="-122"/>
            </a:endParaRPr>
          </a:p>
        </p:txBody>
      </p:sp>
      <p:sp>
        <p:nvSpPr>
          <p:cNvPr id="30726" name="Rectangle 6"/>
          <p:cNvSpPr>
            <a:spLocks noChangeArrowheads="1"/>
          </p:cNvSpPr>
          <p:nvPr/>
        </p:nvSpPr>
        <p:spPr bwMode="auto">
          <a:xfrm>
            <a:off x="323850" y="1341438"/>
            <a:ext cx="3485515" cy="521970"/>
          </a:xfrm>
          <a:prstGeom prst="rect">
            <a:avLst/>
          </a:prstGeom>
          <a:noFill/>
          <a:ln w="9525">
            <a:noFill/>
            <a:miter lim="800000"/>
          </a:ln>
        </p:spPr>
        <p:txBody>
          <a:bodyPr wrap="none">
            <a:spAutoFit/>
          </a:bodyPr>
          <a:lstStyle/>
          <a:p>
            <a:r>
              <a:rPr kumimoji="0" lang="en-US" altLang="en-US" b="1" smtClean="0">
                <a:solidFill>
                  <a:srgbClr val="FF0000"/>
                </a:solidFill>
                <a:ea typeface="楷体_GB2312" pitchFamily="49" charset="-122"/>
              </a:rPr>
              <a:t>6.4.2 </a:t>
            </a:r>
            <a:r>
              <a:rPr kumimoji="0" lang="en-US" altLang="en-US" b="1">
                <a:solidFill>
                  <a:srgbClr val="FF0000"/>
                </a:solidFill>
                <a:latin typeface="楷体" panose="02010609060101010101" charset="-122"/>
                <a:ea typeface="楷体" panose="02010609060101010101" charset="-122"/>
              </a:rPr>
              <a:t>成本预算的编制</a:t>
            </a:r>
            <a:endParaRPr kumimoji="0" lang="en-US" altLang="en-US" b="1">
              <a:solidFill>
                <a:srgbClr val="FF0000"/>
              </a:solidFill>
              <a:latin typeface="楷体" panose="02010609060101010101" charset="-122"/>
              <a:ea typeface="楷体" panose="0201060906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7043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7043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7043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bwMode="auto">
          <a:xfrm>
            <a:off x="8643966" y="6572272"/>
            <a:ext cx="500034" cy="285728"/>
          </a:xfrm>
          <a:prstGeom prst="rect">
            <a:avLst/>
          </a:prstGeom>
          <a:solidFill>
            <a:schemeClr val="tx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r" defTabSz="914400" rtl="0" eaLnBrk="1" fontAlgn="base" latinLnBrk="0" hangingPunct="1">
              <a:lnSpc>
                <a:spcPct val="100000"/>
              </a:lnSpc>
              <a:spcBef>
                <a:spcPct val="50000"/>
              </a:spcBef>
              <a:spcAft>
                <a:spcPct val="0"/>
              </a:spcAft>
              <a:buClrTx/>
              <a:buSzTx/>
              <a:buFontTx/>
              <a:buNone/>
            </a:pPr>
            <a:endPara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sp>
        <p:nvSpPr>
          <p:cNvPr id="31747"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b="1" smtClean="0">
                <a:solidFill>
                  <a:schemeClr val="bg2"/>
                </a:solidFill>
              </a:rPr>
              <a:t>P.141</a:t>
            </a:r>
            <a:endParaRPr lang="en-US" altLang="zh-CN" sz="2400" b="1">
              <a:solidFill>
                <a:schemeClr val="bg2"/>
              </a:solidFill>
            </a:endParaRPr>
          </a:p>
        </p:txBody>
      </p:sp>
      <p:sp>
        <p:nvSpPr>
          <p:cNvPr id="31748" name="Text Box 4"/>
          <p:cNvSpPr txBox="1">
            <a:spLocks noChangeArrowheads="1"/>
          </p:cNvSpPr>
          <p:nvPr/>
        </p:nvSpPr>
        <p:spPr bwMode="auto">
          <a:xfrm>
            <a:off x="71406" y="1995946"/>
            <a:ext cx="3606794" cy="3928745"/>
          </a:xfrm>
          <a:prstGeom prst="rect">
            <a:avLst/>
          </a:prstGeom>
          <a:noFill/>
          <a:ln w="9525" algn="ctr">
            <a:noFill/>
            <a:miter lim="800000"/>
          </a:ln>
        </p:spPr>
        <p:txBody>
          <a:bodyPr wrap="square">
            <a:spAutoFit/>
          </a:bodyPr>
          <a:lstStyle/>
          <a:p>
            <a:pPr>
              <a:lnSpc>
                <a:spcPct val="110000"/>
              </a:lnSpc>
              <a:spcBef>
                <a:spcPct val="50000"/>
              </a:spcBef>
              <a:buClr>
                <a:schemeClr val="hlink"/>
              </a:buClr>
            </a:pPr>
            <a:r>
              <a:rPr kumimoji="0" lang="zh-CN" altLang="en-US" sz="2400" b="1">
                <a:solidFill>
                  <a:schemeClr val="bg1"/>
                </a:solidFill>
                <a:latin typeface="楷体" panose="02010609060101010101" charset="-122"/>
                <a:ea typeface="楷体" panose="02010609060101010101" charset="-122"/>
                <a:cs typeface="楷体" panose="02010609060101010101" charset="-122"/>
              </a:rPr>
              <a:t>项目成本基准计划</a:t>
            </a:r>
            <a:r>
              <a:rPr kumimoji="0" lang="zh-CN" altLang="en-US" sz="2400" b="1">
                <a:solidFill>
                  <a:schemeClr val="bg2"/>
                </a:solidFill>
                <a:latin typeface="楷体" panose="02010609060101010101" charset="-122"/>
                <a:ea typeface="楷体" panose="02010609060101010101" charset="-122"/>
                <a:cs typeface="楷体" panose="02010609060101010101" charset="-122"/>
              </a:rPr>
              <a:t>是一个</a:t>
            </a:r>
            <a:r>
              <a:rPr kumimoji="0" lang="zh-CN" altLang="en-US" sz="2400" b="1">
                <a:solidFill>
                  <a:schemeClr val="bg1"/>
                </a:solidFill>
                <a:latin typeface="楷体" panose="02010609060101010101" charset="-122"/>
                <a:ea typeface="楷体" panose="02010609060101010101" charset="-122"/>
                <a:cs typeface="楷体" panose="02010609060101010101" charset="-122"/>
              </a:rPr>
              <a:t>按时间分布的、用于测量和监控成本实施情况的预算</a:t>
            </a:r>
            <a:r>
              <a:rPr kumimoji="0" lang="zh-CN" altLang="en-US" sz="2400" b="1">
                <a:solidFill>
                  <a:schemeClr val="bg2"/>
                </a:solidFill>
                <a:latin typeface="楷体" panose="02010609060101010101" charset="-122"/>
                <a:ea typeface="楷体" panose="02010609060101010101" charset="-122"/>
                <a:cs typeface="楷体" panose="02010609060101010101" charset="-122"/>
              </a:rPr>
              <a:t>，是项目成本控制的基础，它为成本控制过程提供有效的依据。</a:t>
            </a:r>
            <a:endParaRPr kumimoji="0" lang="zh-CN" altLang="en-US" sz="2400" b="1">
              <a:solidFill>
                <a:schemeClr val="bg2"/>
              </a:solidFill>
              <a:latin typeface="楷体" panose="02010609060101010101" charset="-122"/>
              <a:ea typeface="楷体" panose="02010609060101010101" charset="-122"/>
              <a:cs typeface="楷体" panose="02010609060101010101" charset="-122"/>
            </a:endParaRPr>
          </a:p>
          <a:p>
            <a:pPr>
              <a:lnSpc>
                <a:spcPct val="110000"/>
              </a:lnSpc>
              <a:spcBef>
                <a:spcPct val="50000"/>
              </a:spcBef>
              <a:buClr>
                <a:schemeClr val="hlink"/>
              </a:buClr>
            </a:pPr>
            <a:r>
              <a:rPr kumimoji="0" lang="zh-CN" altLang="en-US" sz="2400" b="1">
                <a:solidFill>
                  <a:schemeClr val="bg2"/>
                </a:solidFill>
                <a:latin typeface="楷体" panose="02010609060101010101" charset="-122"/>
                <a:ea typeface="楷体" panose="02010609060101010101" charset="-122"/>
                <a:cs typeface="楷体" panose="02010609060101010101" charset="-122"/>
              </a:rPr>
              <a:t>通常，成本基准计划随时间的关系是一个</a:t>
            </a:r>
            <a:r>
              <a:rPr kumimoji="0" lang="en-US" altLang="zh-CN" sz="2400" b="1">
                <a:solidFill>
                  <a:schemeClr val="bg1"/>
                </a:solidFill>
                <a:latin typeface="楷体" panose="02010609060101010101" charset="-122"/>
                <a:ea typeface="楷体" panose="02010609060101010101" charset="-122"/>
                <a:cs typeface="楷体" panose="02010609060101010101" charset="-122"/>
              </a:rPr>
              <a:t>S</a:t>
            </a:r>
            <a:r>
              <a:rPr kumimoji="0" lang="zh-CN" altLang="en-US" sz="2400" b="1">
                <a:solidFill>
                  <a:schemeClr val="bg1"/>
                </a:solidFill>
                <a:latin typeface="楷体" panose="02010609060101010101" charset="-122"/>
                <a:ea typeface="楷体" panose="02010609060101010101" charset="-122"/>
                <a:cs typeface="楷体" panose="02010609060101010101" charset="-122"/>
              </a:rPr>
              <a:t>型曲线</a:t>
            </a:r>
            <a:r>
              <a:rPr kumimoji="0" lang="zh-CN" altLang="en-US" sz="2400" b="1">
                <a:solidFill>
                  <a:schemeClr val="bg2"/>
                </a:solidFill>
                <a:latin typeface="楷体" panose="02010609060101010101" charset="-122"/>
                <a:ea typeface="楷体" panose="02010609060101010101" charset="-122"/>
                <a:cs typeface="楷体" panose="02010609060101010101" charset="-122"/>
              </a:rPr>
              <a:t>，如图所示。</a:t>
            </a:r>
            <a:endParaRPr kumimoji="0" lang="zh-CN" altLang="en-US" sz="2400" b="1">
              <a:solidFill>
                <a:schemeClr val="bg2"/>
              </a:solidFill>
              <a:latin typeface="楷体" panose="02010609060101010101" charset="-122"/>
              <a:ea typeface="楷体" panose="02010609060101010101" charset="-122"/>
              <a:cs typeface="楷体" panose="02010609060101010101" charset="-122"/>
            </a:endParaRPr>
          </a:p>
        </p:txBody>
      </p:sp>
      <p:pic>
        <p:nvPicPr>
          <p:cNvPr id="31749" name="Picture 5" descr="图6- 4现金流、成本基准和出资金额的S曲线图"/>
          <p:cNvPicPr>
            <a:picLocks noChangeAspect="1" noChangeArrowheads="1"/>
          </p:cNvPicPr>
          <p:nvPr/>
        </p:nvPicPr>
        <p:blipFill>
          <a:blip r:embed="rId1" cstate="print"/>
          <a:srcRect/>
          <a:stretch>
            <a:fillRect/>
          </a:stretch>
        </p:blipFill>
        <p:spPr bwMode="auto">
          <a:xfrm>
            <a:off x="3779838" y="1357298"/>
            <a:ext cx="5364162" cy="5143536"/>
          </a:xfrm>
          <a:prstGeom prst="rect">
            <a:avLst/>
          </a:prstGeom>
          <a:noFill/>
          <a:ln w="9525">
            <a:noFill/>
            <a:miter lim="800000"/>
            <a:headEnd/>
            <a:tailEnd/>
          </a:ln>
        </p:spPr>
      </p:pic>
      <p:sp>
        <p:nvSpPr>
          <p:cNvPr id="31750" name="Text Box 6"/>
          <p:cNvSpPr txBox="1">
            <a:spLocks noChangeArrowheads="1"/>
          </p:cNvSpPr>
          <p:nvPr/>
        </p:nvSpPr>
        <p:spPr bwMode="auto">
          <a:xfrm>
            <a:off x="7812088" y="4437063"/>
            <a:ext cx="576262" cy="519112"/>
          </a:xfrm>
          <a:prstGeom prst="rect">
            <a:avLst/>
          </a:prstGeom>
          <a:solidFill>
            <a:srgbClr val="FFFFFF"/>
          </a:solidFill>
          <a:ln w="9525" algn="ctr">
            <a:noFill/>
            <a:miter lim="800000"/>
          </a:ln>
        </p:spPr>
        <p:txBody>
          <a:bodyPr>
            <a:spAutoFit/>
          </a:bodyPr>
          <a:lstStyle/>
          <a:p>
            <a:pPr algn="r">
              <a:spcBef>
                <a:spcPct val="50000"/>
              </a:spcBef>
            </a:pPr>
            <a:endParaRPr lang="zh-CN" altLang="en-US"/>
          </a:p>
        </p:txBody>
      </p:sp>
      <p:sp>
        <p:nvSpPr>
          <p:cNvPr id="1174536" name="Rectangle 8"/>
          <p:cNvSpPr>
            <a:spLocks noChangeArrowheads="1"/>
          </p:cNvSpPr>
          <p:nvPr/>
        </p:nvSpPr>
        <p:spPr bwMode="auto">
          <a:xfrm>
            <a:off x="3948144" y="6500040"/>
            <a:ext cx="5195856" cy="368300"/>
          </a:xfrm>
          <a:prstGeom prst="rect">
            <a:avLst/>
          </a:prstGeom>
          <a:noFill/>
          <a:ln w="9525">
            <a:noFill/>
            <a:miter lim="800000"/>
          </a:ln>
        </p:spPr>
        <p:txBody>
          <a:bodyPr wrap="square" anchor="ctr">
            <a:spAutoFit/>
          </a:bodyPr>
          <a:lstStyle/>
          <a:p>
            <a:pPr algn="dist"/>
            <a:r>
              <a:rPr kumimoji="0" lang="zh-CN" altLang="en-US" sz="1800" b="1">
                <a:solidFill>
                  <a:srgbClr val="FF0000"/>
                </a:solidFill>
                <a:latin typeface="楷体" panose="02010609060101010101" charset="-122"/>
                <a:ea typeface="楷体" panose="02010609060101010101" charset="-122"/>
              </a:rPr>
              <a:t>图</a:t>
            </a:r>
            <a:r>
              <a:rPr kumimoji="0" lang="en-US" altLang="zh-CN" sz="1800" b="1">
                <a:solidFill>
                  <a:srgbClr val="FF0000"/>
                </a:solidFill>
                <a:latin typeface="+mn-lt"/>
                <a:cs typeface="+mn-lt"/>
              </a:rPr>
              <a:t>6- </a:t>
            </a:r>
            <a:r>
              <a:rPr kumimoji="0" lang="en-US" altLang="zh-CN" sz="1800" b="1" smtClean="0">
                <a:solidFill>
                  <a:srgbClr val="FF0000"/>
                </a:solidFill>
                <a:latin typeface="+mn-lt"/>
                <a:cs typeface="+mn-lt"/>
              </a:rPr>
              <a:t>5 </a:t>
            </a:r>
            <a:r>
              <a:rPr kumimoji="0" lang="zh-CN" altLang="en-US" sz="1800" b="1">
                <a:solidFill>
                  <a:srgbClr val="FF0000"/>
                </a:solidFill>
                <a:latin typeface="楷体" panose="02010609060101010101" charset="-122"/>
                <a:ea typeface="楷体" panose="02010609060101010101" charset="-122"/>
                <a:cs typeface="楷体" panose="02010609060101010101" charset="-122"/>
              </a:rPr>
              <a:t>现金流、成本基准和出资金额的</a:t>
            </a:r>
            <a:r>
              <a:rPr kumimoji="0" lang="en-US" altLang="zh-CN" sz="1800" b="1">
                <a:solidFill>
                  <a:srgbClr val="FF0000"/>
                </a:solidFill>
                <a:latin typeface="楷体" panose="02010609060101010101" charset="-122"/>
                <a:ea typeface="楷体" panose="02010609060101010101" charset="-122"/>
                <a:cs typeface="楷体" panose="02010609060101010101" charset="-122"/>
              </a:rPr>
              <a:t>S</a:t>
            </a:r>
            <a:r>
              <a:rPr kumimoji="0" lang="zh-CN" altLang="en-US" sz="1800" b="1">
                <a:solidFill>
                  <a:srgbClr val="FF0000"/>
                </a:solidFill>
                <a:latin typeface="楷体" panose="02010609060101010101" charset="-122"/>
                <a:ea typeface="楷体" panose="02010609060101010101" charset="-122"/>
                <a:cs typeface="楷体" panose="02010609060101010101" charset="-122"/>
              </a:rPr>
              <a:t>曲线图</a:t>
            </a:r>
            <a:endParaRPr kumimoji="0" lang="zh-CN" altLang="en-US" sz="1800" b="1">
              <a:solidFill>
                <a:srgbClr val="FF0000"/>
              </a:solidFill>
              <a:latin typeface="楷体" panose="02010609060101010101" charset="-122"/>
              <a:ea typeface="楷体" panose="02010609060101010101" charset="-122"/>
              <a:cs typeface="楷体" panose="02010609060101010101" charset="-122"/>
            </a:endParaRPr>
          </a:p>
        </p:txBody>
      </p:sp>
      <p:sp>
        <p:nvSpPr>
          <p:cNvPr id="31752" name="Rectangle 9"/>
          <p:cNvSpPr>
            <a:spLocks noChangeArrowheads="1"/>
          </p:cNvSpPr>
          <p:nvPr/>
        </p:nvSpPr>
        <p:spPr bwMode="auto">
          <a:xfrm>
            <a:off x="103188" y="620713"/>
            <a:ext cx="5405437" cy="553085"/>
          </a:xfrm>
          <a:prstGeom prst="rect">
            <a:avLst/>
          </a:prstGeom>
          <a:noFill/>
          <a:ln w="9525">
            <a:noFill/>
            <a:miter lim="800000"/>
          </a:ln>
        </p:spPr>
        <p:txBody>
          <a:bodyPr>
            <a:spAutoFit/>
          </a:bodyPr>
          <a:lstStyle/>
          <a:p>
            <a:r>
              <a:rPr kumimoji="0" lang="en-US" altLang="en-US" sz="3000" b="1" smtClean="0"/>
              <a:t>6.4 </a:t>
            </a:r>
            <a:r>
              <a:rPr kumimoji="0" lang="en-US" altLang="en-US" sz="3000" b="1">
                <a:latin typeface="楷体" panose="02010609060101010101" charset="-122"/>
                <a:ea typeface="楷体" panose="02010609060101010101" charset="-122"/>
              </a:rPr>
              <a:t>项目成本预算</a:t>
            </a:r>
            <a:endParaRPr kumimoji="0" lang="en-US" altLang="en-US" sz="3000" b="1">
              <a:latin typeface="楷体" panose="02010609060101010101" charset="-122"/>
              <a:ea typeface="楷体" panose="02010609060101010101" charset="-122"/>
            </a:endParaRPr>
          </a:p>
        </p:txBody>
      </p:sp>
      <p:sp>
        <p:nvSpPr>
          <p:cNvPr id="31753" name="Rectangle 10"/>
          <p:cNvSpPr>
            <a:spLocks noChangeArrowheads="1"/>
          </p:cNvSpPr>
          <p:nvPr/>
        </p:nvSpPr>
        <p:spPr bwMode="auto">
          <a:xfrm>
            <a:off x="323850" y="1341438"/>
            <a:ext cx="3128010" cy="521970"/>
          </a:xfrm>
          <a:prstGeom prst="rect">
            <a:avLst/>
          </a:prstGeom>
          <a:noFill/>
          <a:ln w="9525">
            <a:noFill/>
            <a:miter lim="800000"/>
          </a:ln>
        </p:spPr>
        <p:txBody>
          <a:bodyPr wrap="none">
            <a:spAutoFit/>
          </a:bodyPr>
          <a:lstStyle/>
          <a:p>
            <a:r>
              <a:rPr kumimoji="0" lang="en-US" altLang="en-US" b="1" smtClean="0">
                <a:solidFill>
                  <a:srgbClr val="FF0000"/>
                </a:solidFill>
                <a:ea typeface="楷体_GB2312" pitchFamily="49" charset="-122"/>
              </a:rPr>
              <a:t>6.4.3 </a:t>
            </a:r>
            <a:r>
              <a:rPr kumimoji="0" lang="en-US" altLang="en-US" b="1">
                <a:solidFill>
                  <a:srgbClr val="FF0000"/>
                </a:solidFill>
                <a:latin typeface="楷体" panose="02010609060101010101" charset="-122"/>
                <a:ea typeface="楷体" panose="02010609060101010101" charset="-122"/>
              </a:rPr>
              <a:t>成本基准计划</a:t>
            </a:r>
            <a:endParaRPr kumimoji="0" lang="en-US" altLang="en-US" b="1">
              <a:solidFill>
                <a:srgbClr val="FF0000"/>
              </a:solidFill>
              <a:latin typeface="楷体" panose="02010609060101010101" charset="-122"/>
              <a:ea typeface="楷体" panose="0201060906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174536"/>
                                        </p:tgtEl>
                                        <p:attrNameLst>
                                          <p:attrName>style.visibility</p:attrName>
                                        </p:attrNameLst>
                                      </p:cBhvr>
                                      <p:to>
                                        <p:strVal val="visible"/>
                                      </p:to>
                                    </p:set>
                                    <p:anim calcmode="lin" valueType="num">
                                      <p:cBhvr additive="base">
                                        <p:cTn id="7" dur="500" fill="hold"/>
                                        <p:tgtEl>
                                          <p:spTgt spid="1174536"/>
                                        </p:tgtEl>
                                        <p:attrNameLst>
                                          <p:attrName>ppt_x</p:attrName>
                                        </p:attrNameLst>
                                      </p:cBhvr>
                                      <p:tavLst>
                                        <p:tav tm="0">
                                          <p:val>
                                            <p:strVal val="#ppt_x"/>
                                          </p:val>
                                        </p:tav>
                                        <p:tav tm="100000">
                                          <p:val>
                                            <p:strVal val="#ppt_x"/>
                                          </p:val>
                                        </p:tav>
                                      </p:tavLst>
                                    </p:anim>
                                    <p:anim calcmode="lin" valueType="num">
                                      <p:cBhvr additive="base">
                                        <p:cTn id="8" dur="500" fill="hold"/>
                                        <p:tgtEl>
                                          <p:spTgt spid="117453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7453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453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b="1" smtClean="0">
                <a:solidFill>
                  <a:schemeClr val="bg2"/>
                </a:solidFill>
              </a:rPr>
              <a:t>P.142</a:t>
            </a:r>
            <a:endParaRPr lang="en-US" altLang="zh-CN" sz="2400" b="1">
              <a:solidFill>
                <a:schemeClr val="bg2"/>
              </a:solidFill>
            </a:endParaRPr>
          </a:p>
        </p:txBody>
      </p:sp>
      <p:sp>
        <p:nvSpPr>
          <p:cNvPr id="31750" name="Text Box 6"/>
          <p:cNvSpPr txBox="1">
            <a:spLocks noChangeArrowheads="1"/>
          </p:cNvSpPr>
          <p:nvPr/>
        </p:nvSpPr>
        <p:spPr bwMode="auto">
          <a:xfrm>
            <a:off x="7812088" y="4437063"/>
            <a:ext cx="576262" cy="519112"/>
          </a:xfrm>
          <a:prstGeom prst="rect">
            <a:avLst/>
          </a:prstGeom>
          <a:solidFill>
            <a:srgbClr val="FFFFFF"/>
          </a:solidFill>
          <a:ln w="9525" algn="ctr">
            <a:noFill/>
            <a:miter lim="800000"/>
          </a:ln>
        </p:spPr>
        <p:txBody>
          <a:bodyPr>
            <a:spAutoFit/>
          </a:bodyPr>
          <a:lstStyle/>
          <a:p>
            <a:pPr algn="r">
              <a:spcBef>
                <a:spcPct val="50000"/>
              </a:spcBef>
            </a:pPr>
            <a:endParaRPr lang="zh-CN" altLang="en-US"/>
          </a:p>
        </p:txBody>
      </p:sp>
      <p:sp>
        <p:nvSpPr>
          <p:cNvPr id="31752" name="Rectangle 9"/>
          <p:cNvSpPr>
            <a:spLocks noChangeArrowheads="1"/>
          </p:cNvSpPr>
          <p:nvPr/>
        </p:nvSpPr>
        <p:spPr bwMode="auto">
          <a:xfrm>
            <a:off x="103188" y="620713"/>
            <a:ext cx="5405437" cy="553085"/>
          </a:xfrm>
          <a:prstGeom prst="rect">
            <a:avLst/>
          </a:prstGeom>
          <a:noFill/>
          <a:ln w="9525">
            <a:noFill/>
            <a:miter lim="800000"/>
          </a:ln>
        </p:spPr>
        <p:txBody>
          <a:bodyPr>
            <a:spAutoFit/>
          </a:bodyPr>
          <a:lstStyle/>
          <a:p>
            <a:r>
              <a:rPr kumimoji="0" lang="en-US" altLang="en-US" sz="3000" b="1" smtClean="0"/>
              <a:t>6.4 </a:t>
            </a:r>
            <a:r>
              <a:rPr kumimoji="0" lang="en-US" altLang="en-US" sz="3000" b="1">
                <a:latin typeface="楷体" panose="02010609060101010101" charset="-122"/>
                <a:ea typeface="楷体" panose="02010609060101010101" charset="-122"/>
              </a:rPr>
              <a:t>项目成本预算</a:t>
            </a:r>
            <a:endParaRPr kumimoji="0" lang="en-US" altLang="en-US" sz="3000" b="1">
              <a:latin typeface="楷体" panose="02010609060101010101" charset="-122"/>
              <a:ea typeface="楷体" panose="02010609060101010101" charset="-122"/>
            </a:endParaRPr>
          </a:p>
        </p:txBody>
      </p:sp>
      <p:sp>
        <p:nvSpPr>
          <p:cNvPr id="31753" name="Rectangle 10"/>
          <p:cNvSpPr>
            <a:spLocks noChangeArrowheads="1"/>
          </p:cNvSpPr>
          <p:nvPr/>
        </p:nvSpPr>
        <p:spPr bwMode="auto">
          <a:xfrm>
            <a:off x="323850" y="1341438"/>
            <a:ext cx="3128010" cy="521970"/>
          </a:xfrm>
          <a:prstGeom prst="rect">
            <a:avLst/>
          </a:prstGeom>
          <a:noFill/>
          <a:ln w="9525">
            <a:noFill/>
            <a:miter lim="800000"/>
          </a:ln>
        </p:spPr>
        <p:txBody>
          <a:bodyPr wrap="none">
            <a:spAutoFit/>
          </a:bodyPr>
          <a:lstStyle/>
          <a:p>
            <a:r>
              <a:rPr kumimoji="0" lang="en-US" altLang="en-US" b="1" smtClean="0">
                <a:solidFill>
                  <a:srgbClr val="FF0000"/>
                </a:solidFill>
                <a:ea typeface="楷体_GB2312" pitchFamily="49" charset="-122"/>
              </a:rPr>
              <a:t>6.4.3 </a:t>
            </a:r>
            <a:r>
              <a:rPr kumimoji="0" lang="en-US" altLang="en-US" b="1">
                <a:solidFill>
                  <a:srgbClr val="FF0000"/>
                </a:solidFill>
                <a:latin typeface="楷体" panose="02010609060101010101" charset="-122"/>
                <a:ea typeface="楷体" panose="02010609060101010101" charset="-122"/>
              </a:rPr>
              <a:t>成本基准计划</a:t>
            </a:r>
            <a:endParaRPr kumimoji="0" lang="en-US" altLang="en-US" b="1">
              <a:solidFill>
                <a:srgbClr val="FF0000"/>
              </a:solidFill>
              <a:latin typeface="楷体" panose="02010609060101010101" charset="-122"/>
              <a:ea typeface="楷体" panose="02010609060101010101" charset="-122"/>
            </a:endParaRPr>
          </a:p>
        </p:txBody>
      </p:sp>
      <p:pic>
        <p:nvPicPr>
          <p:cNvPr id="1026" name="Picture 2"/>
          <p:cNvPicPr>
            <a:picLocks noChangeAspect="1" noChangeArrowheads="1"/>
          </p:cNvPicPr>
          <p:nvPr/>
        </p:nvPicPr>
        <p:blipFill>
          <a:blip r:embed="rId1"/>
          <a:srcRect/>
          <a:stretch>
            <a:fillRect/>
          </a:stretch>
        </p:blipFill>
        <p:spPr bwMode="auto">
          <a:xfrm>
            <a:off x="0" y="1857364"/>
            <a:ext cx="9144000" cy="5000636"/>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9"/>
          <p:cNvSpPr>
            <a:spLocks noGrp="1" noChangeArrowheads="1"/>
          </p:cNvSpPr>
          <p:nvPr>
            <p:ph type="sldNum" sz="quarter" idx="10"/>
          </p:nvPr>
        </p:nvSpPr>
        <p:spPr>
          <a:noFill/>
        </p:spPr>
        <p:txBody>
          <a:bodyPr/>
          <a:lstStyle/>
          <a:p>
            <a:r>
              <a:rPr lang="zh-CN" altLang="en-GB" smtClean="0"/>
              <a:t>  </a:t>
            </a:r>
            <a:fld id="{C82B2372-FE2C-4DDC-ADC4-F8D2887126A2}" type="slidenum">
              <a:rPr lang="zh-CN" altLang="en-GB" smtClean="0"/>
            </a:fld>
            <a:endParaRPr lang="en-US" altLang="zh-CN" smtClean="0"/>
          </a:p>
        </p:txBody>
      </p:sp>
      <p:sp>
        <p:nvSpPr>
          <p:cNvPr id="32771"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b="1" smtClean="0">
                <a:solidFill>
                  <a:schemeClr val="bg2"/>
                </a:solidFill>
              </a:rPr>
              <a:t>P.142</a:t>
            </a:r>
            <a:endParaRPr lang="en-US" altLang="zh-CN" sz="2400" b="1">
              <a:solidFill>
                <a:schemeClr val="bg2"/>
              </a:solidFill>
            </a:endParaRPr>
          </a:p>
        </p:txBody>
      </p:sp>
      <p:sp>
        <p:nvSpPr>
          <p:cNvPr id="32772" name="Text Box 4"/>
          <p:cNvSpPr txBox="1">
            <a:spLocks noChangeArrowheads="1"/>
          </p:cNvSpPr>
          <p:nvPr/>
        </p:nvSpPr>
        <p:spPr bwMode="auto">
          <a:xfrm>
            <a:off x="285720" y="2000240"/>
            <a:ext cx="8572560" cy="4030980"/>
          </a:xfrm>
          <a:prstGeom prst="rect">
            <a:avLst/>
          </a:prstGeom>
          <a:noFill/>
          <a:ln w="9525" algn="ctr">
            <a:noFill/>
            <a:miter lim="800000"/>
          </a:ln>
        </p:spPr>
        <p:txBody>
          <a:bodyPr wrap="square">
            <a:spAutoFit/>
          </a:bodyPr>
          <a:lstStyle/>
          <a:p>
            <a:pPr>
              <a:spcBef>
                <a:spcPts val="1800"/>
              </a:spcBef>
              <a:spcAft>
                <a:spcPts val="600"/>
              </a:spcAft>
              <a:buClr>
                <a:schemeClr val="hlink"/>
              </a:buClr>
            </a:pPr>
            <a:r>
              <a:rPr kumimoji="0" lang="zh-CN" altLang="en-US" sz="3600" b="1" smtClean="0">
                <a:solidFill>
                  <a:schemeClr val="bg2"/>
                </a:solidFill>
                <a:latin typeface="楷体" panose="02010609060101010101" charset="-122"/>
                <a:ea typeface="楷体" panose="02010609060101010101" charset="-122"/>
                <a:cs typeface="楷体" panose="02010609060101010101" charset="-122"/>
              </a:rPr>
              <a:t>不可以预见费用主要有两种类型：</a:t>
            </a:r>
            <a:endParaRPr kumimoji="0" lang="zh-CN" altLang="en-US" sz="3600" b="1" smtClean="0">
              <a:solidFill>
                <a:schemeClr val="bg2"/>
              </a:solidFill>
              <a:latin typeface="楷体" panose="02010609060101010101" charset="-122"/>
              <a:ea typeface="楷体" panose="02010609060101010101" charset="-122"/>
              <a:cs typeface="楷体" panose="02010609060101010101" charset="-122"/>
            </a:endParaRPr>
          </a:p>
          <a:p>
            <a:pPr lvl="1">
              <a:spcBef>
                <a:spcPts val="1800"/>
              </a:spcBef>
              <a:spcAft>
                <a:spcPts val="600"/>
              </a:spcAft>
            </a:pPr>
            <a:r>
              <a:rPr kumimoji="0" lang="zh-CN" altLang="en-US" sz="3600" b="1" smtClean="0">
                <a:solidFill>
                  <a:schemeClr val="bg2"/>
                </a:solidFill>
                <a:ea typeface="楷体" panose="02010609060101010101" charset="-122"/>
                <a:cs typeface="Times New Roman" panose="02020603050405020304" pitchFamily="18" charset="0"/>
              </a:rPr>
              <a:t>（</a:t>
            </a:r>
            <a:r>
              <a:rPr kumimoji="0" lang="en-US" altLang="en-US" sz="3600" b="1" smtClean="0">
                <a:solidFill>
                  <a:schemeClr val="bg2"/>
                </a:solidFill>
                <a:ea typeface="楷体" panose="02010609060101010101" charset="-122"/>
                <a:cs typeface="Times New Roman" panose="02020603050405020304" pitchFamily="18" charset="0"/>
              </a:rPr>
              <a:t>1</a:t>
            </a:r>
            <a:r>
              <a:rPr kumimoji="0" lang="zh-CN" altLang="en-US" sz="3600" b="1" smtClean="0">
                <a:solidFill>
                  <a:schemeClr val="bg2"/>
                </a:solidFill>
                <a:ea typeface="楷体" panose="02010609060101010101" charset="-122"/>
                <a:cs typeface="Times New Roman" panose="02020603050405020304" pitchFamily="18" charset="0"/>
              </a:rPr>
              <a:t>）</a:t>
            </a:r>
            <a:r>
              <a:rPr kumimoji="0" lang="zh-CN" altLang="en-US" sz="3600" b="1" smtClean="0">
                <a:solidFill>
                  <a:schemeClr val="bg2"/>
                </a:solidFill>
                <a:latin typeface="楷体" panose="02010609060101010101" charset="-122"/>
                <a:ea typeface="楷体" panose="02010609060101010101" charset="-122"/>
                <a:cs typeface="楷体" panose="02010609060101010101" charset="-122"/>
              </a:rPr>
              <a:t>显在的不可预见费用，通常在项目文件中明确标明。</a:t>
            </a:r>
            <a:endParaRPr kumimoji="0" lang="zh-CN" altLang="en-US" sz="3600" b="1" smtClean="0">
              <a:solidFill>
                <a:schemeClr val="bg2"/>
              </a:solidFill>
              <a:latin typeface="楷体" panose="02010609060101010101" charset="-122"/>
              <a:ea typeface="楷体" panose="02010609060101010101" charset="-122"/>
              <a:cs typeface="楷体" panose="02010609060101010101" charset="-122"/>
            </a:endParaRPr>
          </a:p>
          <a:p>
            <a:pPr lvl="1">
              <a:spcBef>
                <a:spcPts val="1800"/>
              </a:spcBef>
              <a:spcAft>
                <a:spcPts val="600"/>
              </a:spcAft>
            </a:pPr>
            <a:r>
              <a:rPr kumimoji="0" lang="zh-CN" altLang="en-US" sz="3600" b="1" smtClean="0">
                <a:solidFill>
                  <a:schemeClr val="bg2"/>
                </a:solidFill>
                <a:ea typeface="楷体" panose="02010609060101010101" charset="-122"/>
                <a:cs typeface="Times New Roman" panose="02020603050405020304" pitchFamily="18" charset="0"/>
              </a:rPr>
              <a:t>（</a:t>
            </a:r>
            <a:r>
              <a:rPr kumimoji="0" lang="en-US" altLang="en-US" sz="3600" b="1" smtClean="0">
                <a:solidFill>
                  <a:schemeClr val="bg2"/>
                </a:solidFill>
                <a:ea typeface="楷体" panose="02010609060101010101" charset="-122"/>
                <a:cs typeface="Times New Roman" panose="02020603050405020304" pitchFamily="18" charset="0"/>
              </a:rPr>
              <a:t>2</a:t>
            </a:r>
            <a:r>
              <a:rPr kumimoji="0" lang="zh-CN" altLang="en-US" sz="3600" b="1" smtClean="0">
                <a:solidFill>
                  <a:schemeClr val="bg2"/>
                </a:solidFill>
                <a:ea typeface="楷体" panose="02010609060101010101" charset="-122"/>
                <a:cs typeface="Times New Roman" panose="02020603050405020304" pitchFamily="18" charset="0"/>
              </a:rPr>
              <a:t>）</a:t>
            </a:r>
            <a:r>
              <a:rPr kumimoji="0" lang="zh-CN" altLang="en-US" sz="3600" b="1" smtClean="0">
                <a:solidFill>
                  <a:schemeClr val="bg2"/>
                </a:solidFill>
                <a:latin typeface="楷体" panose="02010609060101010101" charset="-122"/>
                <a:ea typeface="楷体" panose="02010609060101010101" charset="-122"/>
                <a:cs typeface="楷体" panose="02010609060101010101" charset="-122"/>
              </a:rPr>
              <a:t>潜在的不可预见费用，通常在项目文件中没有标明。对应成本管理原理中提到的应急储备金和管理储备金。</a:t>
            </a:r>
            <a:endParaRPr kumimoji="0" lang="zh-CN" altLang="en-US" b="1">
              <a:solidFill>
                <a:schemeClr val="bg2"/>
              </a:solidFill>
              <a:latin typeface="楷体" panose="02010609060101010101" charset="-122"/>
              <a:ea typeface="楷体" panose="02010609060101010101" charset="-122"/>
              <a:cs typeface="楷体" panose="02010609060101010101" charset="-122"/>
            </a:endParaRPr>
          </a:p>
        </p:txBody>
      </p:sp>
      <p:sp>
        <p:nvSpPr>
          <p:cNvPr id="32773" name="Rectangle 5"/>
          <p:cNvSpPr>
            <a:spLocks noChangeArrowheads="1"/>
          </p:cNvSpPr>
          <p:nvPr/>
        </p:nvSpPr>
        <p:spPr bwMode="auto">
          <a:xfrm>
            <a:off x="103188" y="620713"/>
            <a:ext cx="5405437" cy="553085"/>
          </a:xfrm>
          <a:prstGeom prst="rect">
            <a:avLst/>
          </a:prstGeom>
          <a:noFill/>
          <a:ln w="9525">
            <a:noFill/>
            <a:miter lim="800000"/>
          </a:ln>
        </p:spPr>
        <p:txBody>
          <a:bodyPr>
            <a:spAutoFit/>
          </a:bodyPr>
          <a:lstStyle/>
          <a:p>
            <a:r>
              <a:rPr kumimoji="0" lang="en-US" altLang="en-US" sz="3000" b="1" smtClean="0"/>
              <a:t>6.4 </a:t>
            </a:r>
            <a:r>
              <a:rPr kumimoji="0" lang="en-US" altLang="en-US" sz="3000" b="1">
                <a:latin typeface="楷体" panose="02010609060101010101" charset="-122"/>
                <a:ea typeface="楷体" panose="02010609060101010101" charset="-122"/>
              </a:rPr>
              <a:t>项目成本预算</a:t>
            </a:r>
            <a:endParaRPr kumimoji="0" lang="en-US" altLang="en-US" sz="3000" b="1">
              <a:latin typeface="楷体" panose="02010609060101010101" charset="-122"/>
              <a:ea typeface="楷体" panose="02010609060101010101" charset="-122"/>
            </a:endParaRPr>
          </a:p>
        </p:txBody>
      </p:sp>
      <p:sp>
        <p:nvSpPr>
          <p:cNvPr id="32774" name="Rectangle 6"/>
          <p:cNvSpPr>
            <a:spLocks noChangeArrowheads="1"/>
          </p:cNvSpPr>
          <p:nvPr/>
        </p:nvSpPr>
        <p:spPr bwMode="auto">
          <a:xfrm>
            <a:off x="323850" y="1341438"/>
            <a:ext cx="3843020" cy="521970"/>
          </a:xfrm>
          <a:prstGeom prst="rect">
            <a:avLst/>
          </a:prstGeom>
          <a:noFill/>
          <a:ln w="9525">
            <a:noFill/>
            <a:miter lim="800000"/>
          </a:ln>
        </p:spPr>
        <p:txBody>
          <a:bodyPr wrap="none">
            <a:spAutoFit/>
          </a:bodyPr>
          <a:lstStyle/>
          <a:p>
            <a:r>
              <a:rPr kumimoji="0" lang="en-US" altLang="en-US" b="1" smtClean="0">
                <a:solidFill>
                  <a:srgbClr val="FF0000"/>
                </a:solidFill>
                <a:ea typeface="楷体_GB2312" pitchFamily="49" charset="-122"/>
              </a:rPr>
              <a:t>6.4.4 </a:t>
            </a:r>
            <a:r>
              <a:rPr kumimoji="0" lang="en-US" altLang="en-US" b="1">
                <a:solidFill>
                  <a:srgbClr val="FF0000"/>
                </a:solidFill>
                <a:latin typeface="楷体" panose="02010609060101010101" charset="-122"/>
                <a:ea typeface="楷体" panose="02010609060101010101" charset="-122"/>
              </a:rPr>
              <a:t>不可预见费用分析</a:t>
            </a:r>
            <a:endParaRPr kumimoji="0" lang="en-US" altLang="en-US" b="1">
              <a:solidFill>
                <a:srgbClr val="FF0000"/>
              </a:solidFill>
              <a:latin typeface="楷体" panose="02010609060101010101" charset="-122"/>
              <a:ea typeface="楷体" panose="02010609060101010101" charset="-122"/>
            </a:endParaRPr>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9"/>
          <p:cNvSpPr>
            <a:spLocks noGrp="1" noChangeArrowheads="1"/>
          </p:cNvSpPr>
          <p:nvPr>
            <p:ph type="sldNum" sz="quarter" idx="10"/>
          </p:nvPr>
        </p:nvSpPr>
        <p:spPr>
          <a:noFill/>
        </p:spPr>
        <p:txBody>
          <a:bodyPr/>
          <a:lstStyle/>
          <a:p>
            <a:r>
              <a:rPr lang="zh-CN" altLang="en-GB" smtClean="0"/>
              <a:t>  </a:t>
            </a:r>
            <a:fld id="{48BFB1C7-23C4-457B-90ED-D88098C5BE2D}" type="slidenum">
              <a:rPr lang="zh-CN" altLang="en-GB" smtClean="0"/>
            </a:fld>
            <a:endParaRPr lang="en-US" altLang="zh-CN" smtClean="0"/>
          </a:p>
        </p:txBody>
      </p:sp>
      <p:sp>
        <p:nvSpPr>
          <p:cNvPr id="33795" name="Text Box 3"/>
          <p:cNvSpPr txBox="1">
            <a:spLocks noChangeArrowheads="1"/>
          </p:cNvSpPr>
          <p:nvPr/>
        </p:nvSpPr>
        <p:spPr bwMode="auto">
          <a:xfrm>
            <a:off x="7740650" y="-24"/>
            <a:ext cx="1295400" cy="457200"/>
          </a:xfrm>
          <a:prstGeom prst="rect">
            <a:avLst/>
          </a:prstGeom>
          <a:noFill/>
          <a:ln w="9525">
            <a:noFill/>
            <a:miter lim="800000"/>
          </a:ln>
        </p:spPr>
        <p:txBody>
          <a:bodyPr>
            <a:spAutoFit/>
          </a:bodyPr>
          <a:lstStyle/>
          <a:p>
            <a:pPr algn="r">
              <a:spcBef>
                <a:spcPct val="50000"/>
              </a:spcBef>
            </a:pPr>
            <a:r>
              <a:rPr lang="en-US" altLang="zh-CN" sz="2400" b="1" smtClean="0">
                <a:solidFill>
                  <a:schemeClr val="bg2"/>
                </a:solidFill>
              </a:rPr>
              <a:t>P.142</a:t>
            </a:r>
            <a:endParaRPr lang="en-US" altLang="zh-CN" sz="2400" b="1">
              <a:solidFill>
                <a:schemeClr val="bg2"/>
              </a:solidFill>
            </a:endParaRPr>
          </a:p>
        </p:txBody>
      </p:sp>
      <p:sp>
        <p:nvSpPr>
          <p:cNvPr id="33796" name="Text Box 4"/>
          <p:cNvSpPr txBox="1">
            <a:spLocks noChangeArrowheads="1"/>
          </p:cNvSpPr>
          <p:nvPr/>
        </p:nvSpPr>
        <p:spPr bwMode="auto">
          <a:xfrm>
            <a:off x="323850" y="1971675"/>
            <a:ext cx="8496300" cy="4276725"/>
          </a:xfrm>
          <a:prstGeom prst="rect">
            <a:avLst/>
          </a:prstGeom>
          <a:noFill/>
          <a:ln w="9525" algn="ctr">
            <a:noFill/>
            <a:miter lim="800000"/>
          </a:ln>
        </p:spPr>
        <p:txBody>
          <a:bodyPr>
            <a:spAutoFit/>
          </a:bodyPr>
          <a:lstStyle/>
          <a:p>
            <a:pPr>
              <a:spcBef>
                <a:spcPts val="600"/>
              </a:spcBef>
              <a:spcAft>
                <a:spcPts val="600"/>
              </a:spcAft>
              <a:buClr>
                <a:schemeClr val="hlink"/>
              </a:buClr>
            </a:pPr>
            <a:r>
              <a:rPr kumimoji="0" lang="zh-CN" altLang="en-US" b="1" smtClean="0">
                <a:solidFill>
                  <a:schemeClr val="bg2"/>
                </a:solidFill>
                <a:latin typeface="楷体" panose="02010609060101010101" charset="-122"/>
                <a:ea typeface="楷体" panose="02010609060101010101" charset="-122"/>
              </a:rPr>
              <a:t>由于把成本预算中的不确定性所产生的风险作为确定不可预见费用水平的基础，所以不可预见费用也经常充当成本预算的底线。</a:t>
            </a:r>
            <a:endParaRPr kumimoji="0" lang="en-US" altLang="zh-CN" b="1" smtClean="0">
              <a:solidFill>
                <a:schemeClr val="bg2"/>
              </a:solidFill>
              <a:latin typeface="楷体" panose="02010609060101010101" charset="-122"/>
              <a:ea typeface="楷体" panose="02010609060101010101" charset="-122"/>
            </a:endParaRPr>
          </a:p>
          <a:p>
            <a:pPr>
              <a:spcBef>
                <a:spcPts val="600"/>
              </a:spcBef>
              <a:spcAft>
                <a:spcPts val="600"/>
              </a:spcAft>
              <a:buClr>
                <a:schemeClr val="hlink"/>
              </a:buClr>
            </a:pPr>
            <a:r>
              <a:rPr kumimoji="0" lang="zh-CN" altLang="en-US" b="1" smtClean="0">
                <a:solidFill>
                  <a:schemeClr val="bg2"/>
                </a:solidFill>
                <a:latin typeface="楷体" panose="02010609060101010101" charset="-122"/>
                <a:ea typeface="楷体" panose="02010609060101010101" charset="-122"/>
              </a:rPr>
              <a:t>对于</a:t>
            </a:r>
            <a:r>
              <a:rPr kumimoji="0" lang="zh-CN" altLang="en-US" b="1">
                <a:solidFill>
                  <a:schemeClr val="bg2"/>
                </a:solidFill>
                <a:latin typeface="楷体" panose="02010609060101010101" charset="-122"/>
                <a:ea typeface="楷体" panose="02010609060101010101" charset="-122"/>
              </a:rPr>
              <a:t>软件项目来讲，不可预见费用对于一个项目的成功至关重要</a:t>
            </a:r>
            <a:r>
              <a:rPr kumimoji="0" lang="zh-CN" altLang="en-US" b="1" smtClean="0">
                <a:solidFill>
                  <a:schemeClr val="bg2"/>
                </a:solidFill>
                <a:latin typeface="楷体" panose="02010609060101010101" charset="-122"/>
                <a:ea typeface="楷体" panose="02010609060101010101" charset="-122"/>
              </a:rPr>
              <a:t>。如果</a:t>
            </a:r>
            <a:r>
              <a:rPr kumimoji="0" lang="zh-CN" altLang="en-US" b="1">
                <a:solidFill>
                  <a:schemeClr val="bg2"/>
                </a:solidFill>
                <a:latin typeface="楷体" panose="02010609060101010101" charset="-122"/>
                <a:ea typeface="楷体" panose="02010609060101010101" charset="-122"/>
              </a:rPr>
              <a:t>没有它，当项目固有的风险周期性发生时，就会影响项目基线。</a:t>
            </a:r>
            <a:endParaRPr kumimoji="0" lang="zh-CN" altLang="en-US" b="1">
              <a:solidFill>
                <a:schemeClr val="bg2"/>
              </a:solidFill>
              <a:latin typeface="楷体" panose="02010609060101010101" charset="-122"/>
              <a:ea typeface="楷体" panose="02010609060101010101" charset="-122"/>
            </a:endParaRPr>
          </a:p>
          <a:p>
            <a:pPr>
              <a:spcBef>
                <a:spcPts val="600"/>
              </a:spcBef>
              <a:spcAft>
                <a:spcPts val="600"/>
              </a:spcAft>
              <a:buClr>
                <a:schemeClr val="hlink"/>
              </a:buClr>
            </a:pPr>
            <a:r>
              <a:rPr kumimoji="0" lang="zh-CN" altLang="en-US" b="1">
                <a:solidFill>
                  <a:schemeClr val="bg2"/>
                </a:solidFill>
                <a:latin typeface="楷体" panose="02010609060101010101" charset="-122"/>
                <a:ea typeface="楷体" panose="02010609060101010101" charset="-122"/>
              </a:rPr>
              <a:t>考虑的风险主要包括开发团队经验不足、应用技术不熟练、计划时间不足、标准组件的数量、项目依赖的数据或者第三方软件等。</a:t>
            </a:r>
            <a:endParaRPr kumimoji="0" lang="zh-CN" altLang="en-US" b="1">
              <a:solidFill>
                <a:schemeClr val="bg2"/>
              </a:solidFill>
              <a:latin typeface="楷体" panose="02010609060101010101" charset="-122"/>
              <a:ea typeface="楷体" panose="02010609060101010101" charset="-122"/>
            </a:endParaRPr>
          </a:p>
        </p:txBody>
      </p:sp>
      <p:sp>
        <p:nvSpPr>
          <p:cNvPr id="33797" name="Rectangle 10"/>
          <p:cNvSpPr>
            <a:spLocks noChangeArrowheads="1"/>
          </p:cNvSpPr>
          <p:nvPr/>
        </p:nvSpPr>
        <p:spPr bwMode="auto">
          <a:xfrm>
            <a:off x="103188" y="620713"/>
            <a:ext cx="5405437" cy="553085"/>
          </a:xfrm>
          <a:prstGeom prst="rect">
            <a:avLst/>
          </a:prstGeom>
          <a:noFill/>
          <a:ln w="9525">
            <a:noFill/>
            <a:miter lim="800000"/>
          </a:ln>
        </p:spPr>
        <p:txBody>
          <a:bodyPr>
            <a:spAutoFit/>
          </a:bodyPr>
          <a:lstStyle/>
          <a:p>
            <a:r>
              <a:rPr kumimoji="0" lang="en-US" altLang="en-US" sz="3000" b="1" dirty="0" smtClean="0"/>
              <a:t>6.</a:t>
            </a:r>
            <a:r>
              <a:rPr kumimoji="0" lang="en-US" altLang="zh-CN" sz="3000" b="1" dirty="0" smtClean="0"/>
              <a:t>4</a:t>
            </a:r>
            <a:r>
              <a:rPr kumimoji="0" lang="en-US" altLang="en-US" sz="3000" b="1" dirty="0" smtClean="0"/>
              <a:t> </a:t>
            </a:r>
            <a:r>
              <a:rPr kumimoji="0" lang="en-US" altLang="en-US" sz="3000" b="1" dirty="0" err="1">
                <a:latin typeface="楷体" panose="02010609060101010101" charset="-122"/>
                <a:ea typeface="楷体" panose="02010609060101010101" charset="-122"/>
              </a:rPr>
              <a:t>项目成本预算</a:t>
            </a:r>
            <a:endParaRPr kumimoji="0" lang="en-US" altLang="en-US" sz="3000" b="1" dirty="0">
              <a:latin typeface="楷体" panose="02010609060101010101" charset="-122"/>
              <a:ea typeface="楷体" panose="02010609060101010101" charset="-122"/>
            </a:endParaRPr>
          </a:p>
        </p:txBody>
      </p:sp>
      <p:sp>
        <p:nvSpPr>
          <p:cNvPr id="33798" name="Rectangle 11"/>
          <p:cNvSpPr>
            <a:spLocks noChangeArrowheads="1"/>
          </p:cNvSpPr>
          <p:nvPr/>
        </p:nvSpPr>
        <p:spPr bwMode="auto">
          <a:xfrm>
            <a:off x="323850" y="1341438"/>
            <a:ext cx="3843020" cy="521970"/>
          </a:xfrm>
          <a:prstGeom prst="rect">
            <a:avLst/>
          </a:prstGeom>
          <a:noFill/>
          <a:ln w="9525">
            <a:noFill/>
            <a:miter lim="800000"/>
          </a:ln>
        </p:spPr>
        <p:txBody>
          <a:bodyPr wrap="none">
            <a:spAutoFit/>
          </a:bodyPr>
          <a:lstStyle/>
          <a:p>
            <a:r>
              <a:rPr kumimoji="0" lang="en-US" altLang="en-US" b="1" dirty="0" smtClean="0">
                <a:solidFill>
                  <a:srgbClr val="FF0000"/>
                </a:solidFill>
                <a:ea typeface="楷体_GB2312" pitchFamily="49" charset="-122"/>
              </a:rPr>
              <a:t>6.</a:t>
            </a:r>
            <a:r>
              <a:rPr kumimoji="0" lang="en-US" altLang="zh-CN" b="1" dirty="0" smtClean="0">
                <a:solidFill>
                  <a:srgbClr val="FF0000"/>
                </a:solidFill>
                <a:ea typeface="楷体_GB2312" pitchFamily="49" charset="-122"/>
              </a:rPr>
              <a:t>4</a:t>
            </a:r>
            <a:r>
              <a:rPr kumimoji="0" lang="en-US" altLang="en-US" b="1" dirty="0" smtClean="0">
                <a:solidFill>
                  <a:srgbClr val="FF0000"/>
                </a:solidFill>
                <a:ea typeface="楷体_GB2312" pitchFamily="49" charset="-122"/>
              </a:rPr>
              <a:t>.4 </a:t>
            </a:r>
            <a:r>
              <a:rPr kumimoji="0" lang="en-US" altLang="en-US" b="1" dirty="0" err="1">
                <a:solidFill>
                  <a:srgbClr val="FF0000"/>
                </a:solidFill>
                <a:latin typeface="楷体" panose="02010609060101010101" charset="-122"/>
                <a:ea typeface="楷体" panose="02010609060101010101" charset="-122"/>
              </a:rPr>
              <a:t>不可预见费用分析</a:t>
            </a:r>
            <a:endParaRPr kumimoji="0" lang="en-US" altLang="en-US" b="1" dirty="0" err="1">
              <a:solidFill>
                <a:srgbClr val="FF0000"/>
              </a:solidFill>
              <a:latin typeface="楷体" panose="02010609060101010101" charset="-122"/>
              <a:ea typeface="楷体" panose="0201060906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79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79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9"/>
          <p:cNvSpPr>
            <a:spLocks noGrp="1" noChangeArrowheads="1"/>
          </p:cNvSpPr>
          <p:nvPr>
            <p:ph type="sldNum" sz="quarter" idx="10"/>
          </p:nvPr>
        </p:nvSpPr>
        <p:spPr>
          <a:noFill/>
        </p:spPr>
        <p:txBody>
          <a:bodyPr/>
          <a:lstStyle/>
          <a:p>
            <a:r>
              <a:rPr lang="zh-CN" altLang="en-GB" smtClean="0"/>
              <a:t>  </a:t>
            </a:r>
            <a:fld id="{22F2FAF7-CA2C-4F59-AE69-D795F0C1C522}" type="slidenum">
              <a:rPr lang="zh-CN" altLang="en-GB" smtClean="0"/>
            </a:fld>
            <a:endParaRPr lang="en-US" altLang="zh-CN" smtClean="0"/>
          </a:p>
        </p:txBody>
      </p:sp>
      <p:sp>
        <p:nvSpPr>
          <p:cNvPr id="7171"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spcBef>
                <a:spcPct val="50000"/>
              </a:spcBef>
            </a:pPr>
            <a:endParaRPr lang="zh-CN" altLang="en-US" sz="2400"/>
          </a:p>
        </p:txBody>
      </p:sp>
      <p:sp>
        <p:nvSpPr>
          <p:cNvPr id="7172" name="Rectangle 6"/>
          <p:cNvSpPr>
            <a:spLocks noGrp="1" noChangeArrowheads="1"/>
          </p:cNvSpPr>
          <p:nvPr>
            <p:ph type="subTitle" idx="4294967295"/>
          </p:nvPr>
        </p:nvSpPr>
        <p:spPr bwMode="auto">
          <a:xfrm>
            <a:off x="2143125" y="500063"/>
            <a:ext cx="3929063" cy="714375"/>
          </a:xfrm>
          <a:prstGeom prst="rect">
            <a:avLst/>
          </a:prstGeom>
          <a:noFill/>
          <a:ln>
            <a:miter lim="800000"/>
          </a:ln>
        </p:spPr>
        <p:txBody>
          <a:bodyPr/>
          <a:lstStyle/>
          <a:p>
            <a:pPr marL="0" indent="0" algn="ctr" eaLnBrk="1" hangingPunct="1">
              <a:buClr>
                <a:schemeClr val="tx1"/>
              </a:buClr>
              <a:buSzTx/>
              <a:buFont typeface="Wingdings" panose="05000000000000000000" pitchFamily="2" charset="2"/>
              <a:buNone/>
            </a:pPr>
            <a:r>
              <a:rPr lang="zh-CN" altLang="en-US" sz="4800" b="1" smtClean="0">
                <a:latin typeface="楷体" panose="02010609060101010101" charset="-122"/>
                <a:ea typeface="楷体" panose="02010609060101010101" charset="-122"/>
                <a:cs typeface="楷体" panose="02010609060101010101" charset="-122"/>
              </a:rPr>
              <a:t>提   纲</a:t>
            </a:r>
            <a:endParaRPr lang="zh-CN" altLang="en-US" sz="4800" b="1" smtClean="0">
              <a:latin typeface="楷体" panose="02010609060101010101" charset="-122"/>
              <a:ea typeface="楷体" panose="02010609060101010101" charset="-122"/>
              <a:cs typeface="楷体" panose="02010609060101010101" charset="-122"/>
            </a:endParaRPr>
          </a:p>
        </p:txBody>
      </p:sp>
      <p:sp>
        <p:nvSpPr>
          <p:cNvPr id="7" name="TextBox 6"/>
          <p:cNvSpPr txBox="1">
            <a:spLocks noChangeArrowheads="1"/>
          </p:cNvSpPr>
          <p:nvPr/>
        </p:nvSpPr>
        <p:spPr bwMode="auto">
          <a:xfrm>
            <a:off x="357188" y="1455558"/>
            <a:ext cx="8501062" cy="4707890"/>
          </a:xfrm>
          <a:prstGeom prst="rect">
            <a:avLst/>
          </a:prstGeom>
          <a:noFill/>
          <a:ln w="9525">
            <a:noFill/>
            <a:miter lim="800000"/>
          </a:ln>
        </p:spPr>
        <p:txBody>
          <a:bodyPr>
            <a:spAutoFit/>
          </a:bodyPr>
          <a:lstStyle/>
          <a:p>
            <a:pPr>
              <a:spcBef>
                <a:spcPts val="0"/>
              </a:spcBef>
              <a:spcAft>
                <a:spcPts val="0"/>
              </a:spcAft>
              <a:buClr>
                <a:srgbClr val="C00000"/>
              </a:buClr>
              <a:buSzPct val="100000"/>
              <a:buFont typeface="Arial" panose="020B0604020202020204" pitchFamily="34" charset="0"/>
              <a:buChar char="◙"/>
              <a:defRPr/>
            </a:pPr>
            <a:r>
              <a:rPr lang="en-US" altLang="en-US" sz="4800" b="1" dirty="0" err="1">
                <a:solidFill>
                  <a:srgbClr val="0000FF"/>
                </a:solidFill>
                <a:latin typeface="楷体" panose="02010609060101010101" charset="-122"/>
                <a:ea typeface="楷体" panose="02010609060101010101" charset="-122"/>
                <a:cs typeface="楷体" panose="02010609060101010101" charset="-122"/>
              </a:rPr>
              <a:t>项目成本管理概述 </a:t>
            </a:r>
            <a:endParaRPr lang="en-US" altLang="en-US" sz="4800" b="1" dirty="0" err="1">
              <a:solidFill>
                <a:srgbClr val="0000FF"/>
              </a:solidFill>
              <a:latin typeface="楷体" panose="02010609060101010101" charset="-122"/>
              <a:ea typeface="楷体" panose="02010609060101010101" charset="-122"/>
              <a:cs typeface="楷体" panose="02010609060101010101" charset="-122"/>
            </a:endParaRPr>
          </a:p>
          <a:p>
            <a:pPr>
              <a:spcBef>
                <a:spcPts val="0"/>
              </a:spcBef>
              <a:spcAft>
                <a:spcPts val="0"/>
              </a:spcAft>
              <a:buClr>
                <a:srgbClr val="C00000"/>
              </a:buClr>
              <a:buSzPct val="100000"/>
              <a:buFont typeface="Arial" panose="020B0604020202020204" pitchFamily="34" charset="0"/>
              <a:buChar char="◙"/>
              <a:defRPr/>
            </a:pPr>
            <a:r>
              <a:rPr lang="zh-CN" altLang="en-US" sz="4800" b="1" smtClean="0">
                <a:solidFill>
                  <a:srgbClr val="0000FF"/>
                </a:solidFill>
                <a:latin typeface="楷体" panose="02010609060101010101" charset="-122"/>
                <a:ea typeface="楷体" panose="02010609060101010101" charset="-122"/>
                <a:cs typeface="楷体" panose="02010609060101010101" charset="-122"/>
              </a:rPr>
              <a:t>规划</a:t>
            </a:r>
            <a:r>
              <a:rPr lang="en-US" altLang="en-US" sz="4800" b="1" smtClean="0">
                <a:solidFill>
                  <a:srgbClr val="0000FF"/>
                </a:solidFill>
                <a:latin typeface="楷体" panose="02010609060101010101" charset="-122"/>
                <a:ea typeface="楷体" panose="02010609060101010101" charset="-122"/>
                <a:cs typeface="楷体" panose="02010609060101010101" charset="-122"/>
              </a:rPr>
              <a:t>成本</a:t>
            </a:r>
            <a:r>
              <a:rPr lang="zh-CN" altLang="en-US" sz="4800" b="1" smtClean="0">
                <a:solidFill>
                  <a:srgbClr val="0000FF"/>
                </a:solidFill>
                <a:latin typeface="楷体" panose="02010609060101010101" charset="-122"/>
                <a:ea typeface="楷体" panose="02010609060101010101" charset="-122"/>
                <a:cs typeface="楷体" panose="02010609060101010101" charset="-122"/>
              </a:rPr>
              <a:t>管理</a:t>
            </a:r>
            <a:r>
              <a:rPr lang="en-US" altLang="en-US" sz="4800" b="1" smtClean="0">
                <a:solidFill>
                  <a:srgbClr val="0000FF"/>
                </a:solidFill>
                <a:latin typeface="楷体" panose="02010609060101010101" charset="-122"/>
                <a:ea typeface="楷体" panose="02010609060101010101" charset="-122"/>
                <a:cs typeface="楷体" panose="02010609060101010101" charset="-122"/>
              </a:rPr>
              <a:t> </a:t>
            </a:r>
            <a:endParaRPr lang="en-US" altLang="en-US" sz="4800" b="1" smtClean="0">
              <a:solidFill>
                <a:srgbClr val="0000FF"/>
              </a:solidFill>
              <a:latin typeface="楷体" panose="02010609060101010101" charset="-122"/>
              <a:ea typeface="楷体" panose="02010609060101010101" charset="-122"/>
              <a:cs typeface="楷体" panose="02010609060101010101" charset="-122"/>
            </a:endParaRPr>
          </a:p>
          <a:p>
            <a:pPr>
              <a:spcBef>
                <a:spcPts val="0"/>
              </a:spcBef>
              <a:spcAft>
                <a:spcPts val="0"/>
              </a:spcAft>
              <a:buClr>
                <a:srgbClr val="C00000"/>
              </a:buClr>
              <a:buSzPct val="100000"/>
              <a:buFont typeface="Arial" panose="020B0604020202020204" pitchFamily="34" charset="0"/>
              <a:buChar char="◙"/>
              <a:defRPr/>
            </a:pPr>
            <a:r>
              <a:rPr lang="en-US" altLang="en-US" sz="4800" b="1" dirty="0" err="1" smtClean="0">
                <a:solidFill>
                  <a:srgbClr val="0000FF"/>
                </a:solidFill>
                <a:latin typeface="楷体" panose="02010609060101010101" charset="-122"/>
                <a:ea typeface="楷体" panose="02010609060101010101" charset="-122"/>
                <a:cs typeface="楷体" panose="02010609060101010101" charset="-122"/>
              </a:rPr>
              <a:t>项目成本估算</a:t>
            </a:r>
            <a:r>
              <a:rPr lang="en-US" altLang="en-US" sz="5400" b="1" smtClean="0">
                <a:solidFill>
                  <a:srgbClr val="0000FF"/>
                </a:solidFill>
                <a:latin typeface="楷体" panose="02010609060101010101" charset="-122"/>
                <a:ea typeface="楷体" panose="02010609060101010101" charset="-122"/>
                <a:cs typeface="楷体" panose="02010609060101010101" charset="-122"/>
              </a:rPr>
              <a:t> </a:t>
            </a:r>
            <a:endParaRPr lang="en-US" altLang="en-US" sz="5400" b="1" dirty="0" err="1">
              <a:solidFill>
                <a:srgbClr val="0000FF"/>
              </a:solidFill>
              <a:latin typeface="楷体" panose="02010609060101010101" charset="-122"/>
              <a:ea typeface="楷体" panose="02010609060101010101" charset="-122"/>
              <a:cs typeface="楷体" panose="02010609060101010101" charset="-122"/>
            </a:endParaRPr>
          </a:p>
          <a:p>
            <a:pPr>
              <a:spcBef>
                <a:spcPts val="0"/>
              </a:spcBef>
              <a:spcAft>
                <a:spcPts val="0"/>
              </a:spcAft>
              <a:buClr>
                <a:srgbClr val="C00000"/>
              </a:buClr>
              <a:buSzPct val="100000"/>
              <a:buFont typeface="Arial" panose="020B0604020202020204" pitchFamily="34" charset="0"/>
              <a:buChar char="◙"/>
              <a:defRPr/>
            </a:pPr>
            <a:r>
              <a:rPr lang="en-US" altLang="en-US" sz="4800" b="1" dirty="0" err="1" smtClean="0">
                <a:solidFill>
                  <a:srgbClr val="0000FF"/>
                </a:solidFill>
                <a:latin typeface="楷体" panose="02010609060101010101" charset="-122"/>
                <a:ea typeface="楷体" panose="02010609060101010101" charset="-122"/>
                <a:cs typeface="楷体" panose="02010609060101010101" charset="-122"/>
              </a:rPr>
              <a:t>项目成本预算</a:t>
            </a:r>
            <a:endParaRPr lang="en-US" altLang="en-US" sz="4800" b="1" dirty="0" err="1" smtClean="0">
              <a:solidFill>
                <a:schemeClr val="bg1">
                  <a:lumMod val="50000"/>
                </a:schemeClr>
              </a:solidFill>
              <a:latin typeface="楷体" panose="02010609060101010101" charset="-122"/>
              <a:ea typeface="楷体" panose="02010609060101010101" charset="-122"/>
              <a:cs typeface="楷体" panose="02010609060101010101" charset="-122"/>
            </a:endParaRPr>
          </a:p>
          <a:p>
            <a:pPr>
              <a:spcBef>
                <a:spcPts val="0"/>
              </a:spcBef>
              <a:spcAft>
                <a:spcPts val="0"/>
              </a:spcAft>
              <a:buClr>
                <a:srgbClr val="C00000"/>
              </a:buClr>
              <a:buSzPct val="100000"/>
              <a:buFont typeface="Arial" panose="020B0604020202020204" pitchFamily="34" charset="0"/>
              <a:buChar char="◙"/>
              <a:defRPr/>
            </a:pPr>
            <a:r>
              <a:rPr lang="en-US" altLang="en-US" sz="5400" b="1" dirty="0" err="1">
                <a:solidFill>
                  <a:srgbClr val="FF0000"/>
                </a:solidFill>
                <a:latin typeface="楷体" panose="02010609060101010101" charset="-122"/>
                <a:ea typeface="楷体" panose="02010609060101010101" charset="-122"/>
                <a:cs typeface="楷体" panose="02010609060101010101" charset="-122"/>
              </a:rPr>
              <a:t>项目成本控制</a:t>
            </a:r>
            <a:endParaRPr lang="en-US" altLang="en-US" sz="5400" b="1" dirty="0" err="1">
              <a:solidFill>
                <a:srgbClr val="C00000"/>
              </a:solidFill>
              <a:latin typeface="楷体" panose="02010609060101010101" charset="-122"/>
              <a:ea typeface="楷体" panose="02010609060101010101" charset="-122"/>
              <a:cs typeface="楷体" panose="02010609060101010101" charset="-122"/>
            </a:endParaRPr>
          </a:p>
          <a:p>
            <a:pPr>
              <a:spcBef>
                <a:spcPts val="0"/>
              </a:spcBef>
              <a:spcAft>
                <a:spcPts val="0"/>
              </a:spcAft>
              <a:buClr>
                <a:srgbClr val="C00000"/>
              </a:buClr>
              <a:buSzPct val="100000"/>
              <a:buFont typeface="Arial" panose="020B0604020202020204" pitchFamily="34" charset="0"/>
              <a:buChar char="◙"/>
              <a:defRPr/>
            </a:pPr>
            <a:r>
              <a:rPr lang="en-US" altLang="en-US" sz="4800" b="1" smtClean="0">
                <a:solidFill>
                  <a:srgbClr val="0000FF"/>
                </a:solidFill>
                <a:latin typeface="楷体" panose="02010609060101010101" charset="-122"/>
                <a:ea typeface="楷体" panose="02010609060101010101" charset="-122"/>
                <a:cs typeface="楷体" panose="02010609060101010101" charset="-122"/>
              </a:rPr>
              <a:t>项目成本效益分析</a:t>
            </a:r>
            <a:endParaRPr lang="en-US" altLang="en-US" sz="4800" b="1" dirty="0" err="1" smtClean="0">
              <a:solidFill>
                <a:srgbClr val="0000FF"/>
              </a:solidFill>
              <a:latin typeface="楷体" panose="02010609060101010101" charset="-122"/>
              <a:ea typeface="楷体" panose="02010609060101010101" charset="-122"/>
              <a:cs typeface="楷体" panose="02010609060101010101" charset="-122"/>
            </a:endParaRPr>
          </a:p>
        </p:txBody>
      </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9"/>
          <p:cNvSpPr>
            <a:spLocks noGrp="1" noChangeArrowheads="1"/>
          </p:cNvSpPr>
          <p:nvPr>
            <p:ph type="sldNum" sz="quarter" idx="10"/>
          </p:nvPr>
        </p:nvSpPr>
        <p:spPr>
          <a:noFill/>
        </p:spPr>
        <p:txBody>
          <a:bodyPr/>
          <a:lstStyle/>
          <a:p>
            <a:r>
              <a:rPr lang="zh-CN" altLang="en-GB" smtClean="0"/>
              <a:t>  </a:t>
            </a:r>
            <a:fld id="{A9086639-605E-41AE-BEB0-76D1A611AB7A}" type="slidenum">
              <a:rPr lang="zh-CN" altLang="en-GB" smtClean="0"/>
            </a:fld>
            <a:endParaRPr lang="en-US" altLang="zh-CN" smtClean="0"/>
          </a:p>
        </p:txBody>
      </p:sp>
      <p:sp>
        <p:nvSpPr>
          <p:cNvPr id="35843"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b="1" smtClean="0">
                <a:solidFill>
                  <a:schemeClr val="bg2"/>
                </a:solidFill>
              </a:rPr>
              <a:t>P.143</a:t>
            </a:r>
            <a:endParaRPr lang="en-US" altLang="zh-CN" sz="2400" b="1">
              <a:solidFill>
                <a:schemeClr val="bg2"/>
              </a:solidFill>
            </a:endParaRPr>
          </a:p>
        </p:txBody>
      </p:sp>
      <p:sp>
        <p:nvSpPr>
          <p:cNvPr id="35844" name="Text Box 4"/>
          <p:cNvSpPr txBox="1">
            <a:spLocks noChangeArrowheads="1"/>
          </p:cNvSpPr>
          <p:nvPr/>
        </p:nvSpPr>
        <p:spPr bwMode="auto">
          <a:xfrm>
            <a:off x="71406" y="1454428"/>
            <a:ext cx="8893176" cy="4492625"/>
          </a:xfrm>
          <a:prstGeom prst="rect">
            <a:avLst/>
          </a:prstGeom>
          <a:noFill/>
          <a:ln w="9525" algn="ctr">
            <a:noFill/>
            <a:miter lim="800000"/>
          </a:ln>
        </p:spPr>
        <p:txBody>
          <a:bodyPr wrap="square">
            <a:spAutoFit/>
          </a:bodyPr>
          <a:lstStyle/>
          <a:p>
            <a:pPr>
              <a:spcBef>
                <a:spcPts val="1200"/>
              </a:spcBef>
              <a:spcAft>
                <a:spcPts val="600"/>
              </a:spcAft>
              <a:buClr>
                <a:schemeClr val="hlink"/>
              </a:buClr>
            </a:pPr>
            <a:r>
              <a:rPr kumimoji="0" lang="zh-CN" altLang="zh-CN" sz="3200" b="1">
                <a:solidFill>
                  <a:schemeClr val="bg2"/>
                </a:solidFill>
                <a:latin typeface="楷体" panose="02010609060101010101" charset="-122"/>
                <a:ea typeface="楷体" panose="02010609060101010101" charset="-122"/>
              </a:rPr>
              <a:t>项目成本控制实现的是对项目成本的管理，其主要目的是</a:t>
            </a:r>
            <a:r>
              <a:rPr kumimoji="0" lang="zh-CN" altLang="zh-CN" sz="3200" b="1">
                <a:solidFill>
                  <a:schemeClr val="bg1"/>
                </a:solidFill>
                <a:latin typeface="楷体" panose="02010609060101010101" charset="-122"/>
                <a:ea typeface="楷体" panose="02010609060101010101" charset="-122"/>
              </a:rPr>
              <a:t>对造成实际成本与成本基准计划发生偏差的因素施加影响</a:t>
            </a:r>
            <a:r>
              <a:rPr kumimoji="0" lang="zh-CN" altLang="zh-CN" sz="3200" b="1">
                <a:solidFill>
                  <a:schemeClr val="bg2"/>
                </a:solidFill>
                <a:latin typeface="楷体" panose="02010609060101010101" charset="-122"/>
                <a:ea typeface="楷体" panose="02010609060101010101" charset="-122"/>
              </a:rPr>
              <a:t>，确保其向有利的方向发展</a:t>
            </a:r>
            <a:r>
              <a:rPr kumimoji="0" lang="zh-CN" altLang="en-US" sz="3200" b="1">
                <a:solidFill>
                  <a:schemeClr val="bg2"/>
                </a:solidFill>
                <a:latin typeface="楷体" panose="02010609060101010101" charset="-122"/>
                <a:ea typeface="楷体" panose="02010609060101010101" charset="-122"/>
              </a:rPr>
              <a:t>；</a:t>
            </a:r>
            <a:endParaRPr kumimoji="0" lang="zh-CN" altLang="en-US" sz="3200" b="1">
              <a:solidFill>
                <a:schemeClr val="bg2"/>
              </a:solidFill>
              <a:latin typeface="楷体" panose="02010609060101010101" charset="-122"/>
              <a:ea typeface="楷体" panose="02010609060101010101" charset="-122"/>
            </a:endParaRPr>
          </a:p>
          <a:p>
            <a:pPr>
              <a:spcBef>
                <a:spcPts val="1200"/>
              </a:spcBef>
              <a:spcAft>
                <a:spcPts val="600"/>
              </a:spcAft>
              <a:buClr>
                <a:schemeClr val="hlink"/>
              </a:buClr>
            </a:pPr>
            <a:r>
              <a:rPr kumimoji="0" lang="zh-CN" altLang="zh-CN" sz="3200" b="1">
                <a:solidFill>
                  <a:schemeClr val="bg2"/>
                </a:solidFill>
                <a:latin typeface="楷体" panose="02010609060101010101" charset="-122"/>
                <a:ea typeface="楷体" panose="02010609060101010101" charset="-122"/>
              </a:rPr>
              <a:t>同时对与成本基准计划已经发生</a:t>
            </a:r>
            <a:r>
              <a:rPr kumimoji="0" lang="zh-CN" altLang="zh-CN" sz="3200" b="1" smtClean="0">
                <a:solidFill>
                  <a:schemeClr val="bg2"/>
                </a:solidFill>
                <a:latin typeface="楷体" panose="02010609060101010101" charset="-122"/>
                <a:ea typeface="楷体" panose="02010609060101010101" charset="-122"/>
              </a:rPr>
              <a:t>偏差和正在发生偏差的各项成本进行管理</a:t>
            </a:r>
            <a:r>
              <a:rPr kumimoji="0" lang="zh-CN" altLang="zh-CN" sz="3200" b="1">
                <a:solidFill>
                  <a:schemeClr val="bg2"/>
                </a:solidFill>
                <a:latin typeface="楷体" panose="02010609060101010101" charset="-122"/>
                <a:ea typeface="楷体" panose="02010609060101010101" charset="-122"/>
              </a:rPr>
              <a:t>，以保证</a:t>
            </a:r>
            <a:r>
              <a:rPr kumimoji="0" lang="zh-CN" altLang="zh-CN" sz="3200" b="1" smtClean="0">
                <a:solidFill>
                  <a:schemeClr val="bg2"/>
                </a:solidFill>
                <a:latin typeface="楷体" panose="02010609060101010101" charset="-122"/>
                <a:ea typeface="楷体" panose="02010609060101010101" charset="-122"/>
              </a:rPr>
              <a:t>项目顺利</a:t>
            </a:r>
            <a:r>
              <a:rPr kumimoji="0" lang="zh-CN" altLang="zh-CN" sz="3200" b="1">
                <a:solidFill>
                  <a:schemeClr val="bg2"/>
                </a:solidFill>
                <a:latin typeface="楷体" panose="02010609060101010101" charset="-122"/>
                <a:ea typeface="楷体" panose="02010609060101010101" charset="-122"/>
              </a:rPr>
              <a:t>进行。</a:t>
            </a:r>
            <a:endParaRPr kumimoji="0" lang="zh-CN" altLang="zh-CN" sz="3200" b="1">
              <a:solidFill>
                <a:schemeClr val="bg2"/>
              </a:solidFill>
              <a:latin typeface="楷体" panose="02010609060101010101" charset="-122"/>
              <a:ea typeface="楷体" panose="02010609060101010101" charset="-122"/>
            </a:endParaRPr>
          </a:p>
          <a:p>
            <a:pPr>
              <a:spcBef>
                <a:spcPts val="1200"/>
              </a:spcBef>
              <a:spcAft>
                <a:spcPts val="600"/>
              </a:spcAft>
              <a:buClr>
                <a:schemeClr val="hlink"/>
              </a:buClr>
            </a:pPr>
            <a:r>
              <a:rPr kumimoji="0" lang="zh-CN" altLang="zh-CN" sz="3200" b="1">
                <a:solidFill>
                  <a:schemeClr val="bg2"/>
                </a:solidFill>
                <a:latin typeface="楷体" panose="02010609060101010101" charset="-122"/>
                <a:ea typeface="楷体" panose="02010609060101010101" charset="-122"/>
              </a:rPr>
              <a:t>有效的成本控制的关键在于</a:t>
            </a:r>
            <a:r>
              <a:rPr kumimoji="0" lang="zh-CN" altLang="zh-CN" sz="3200" b="1">
                <a:solidFill>
                  <a:srgbClr val="FF0000"/>
                </a:solidFill>
                <a:latin typeface="楷体" panose="02010609060101010101" charset="-122"/>
                <a:ea typeface="楷体" panose="02010609060101010101" charset="-122"/>
              </a:rPr>
              <a:t>及时分析成本的绩效</a:t>
            </a:r>
            <a:r>
              <a:rPr kumimoji="0" lang="zh-CN" altLang="zh-CN" sz="3200" b="1">
                <a:solidFill>
                  <a:schemeClr val="bg2"/>
                </a:solidFill>
                <a:latin typeface="楷体" panose="02010609060101010101" charset="-122"/>
                <a:ea typeface="楷体" panose="02010609060101010101" charset="-122"/>
              </a:rPr>
              <a:t>，</a:t>
            </a:r>
            <a:r>
              <a:rPr kumimoji="0" lang="zh-CN" altLang="zh-CN" sz="3200" b="1">
                <a:solidFill>
                  <a:srgbClr val="FF0000"/>
                </a:solidFill>
                <a:latin typeface="楷体" panose="02010609060101010101" charset="-122"/>
                <a:ea typeface="楷体" panose="02010609060101010101" charset="-122"/>
              </a:rPr>
              <a:t>尽早发现</a:t>
            </a:r>
            <a:r>
              <a:rPr kumimoji="0" lang="zh-CN" altLang="zh-CN" sz="3200" b="1">
                <a:solidFill>
                  <a:schemeClr val="bg2"/>
                </a:solidFill>
                <a:latin typeface="楷体" panose="02010609060101010101" charset="-122"/>
                <a:ea typeface="楷体" panose="02010609060101010101" charset="-122"/>
              </a:rPr>
              <a:t>成本无效和出现偏差的</a:t>
            </a:r>
            <a:r>
              <a:rPr kumimoji="0" lang="zh-CN" altLang="zh-CN" sz="3200" b="1">
                <a:solidFill>
                  <a:srgbClr val="FF0000"/>
                </a:solidFill>
                <a:latin typeface="楷体" panose="02010609060101010101" charset="-122"/>
                <a:ea typeface="楷体" panose="02010609060101010101" charset="-122"/>
              </a:rPr>
              <a:t>原因</a:t>
            </a:r>
            <a:r>
              <a:rPr kumimoji="0" lang="zh-CN" altLang="zh-CN" sz="3200" b="1">
                <a:solidFill>
                  <a:schemeClr val="bg2"/>
                </a:solidFill>
                <a:latin typeface="楷体" panose="02010609060101010101" charset="-122"/>
                <a:ea typeface="楷体" panose="02010609060101010101" charset="-122"/>
              </a:rPr>
              <a:t>，以便在项目</a:t>
            </a:r>
            <a:r>
              <a:rPr kumimoji="0" lang="zh-CN" altLang="zh-CN" sz="3200" b="1">
                <a:solidFill>
                  <a:srgbClr val="FF0000"/>
                </a:solidFill>
                <a:latin typeface="楷体" panose="02010609060101010101" charset="-122"/>
                <a:ea typeface="楷体" panose="02010609060101010101" charset="-122"/>
              </a:rPr>
              <a:t>成本失控之前</a:t>
            </a:r>
            <a:r>
              <a:rPr kumimoji="0" lang="zh-CN" altLang="zh-CN" sz="3200" b="1">
                <a:solidFill>
                  <a:schemeClr val="bg2"/>
                </a:solidFill>
                <a:latin typeface="楷体" panose="02010609060101010101" charset="-122"/>
                <a:ea typeface="楷体" panose="02010609060101010101" charset="-122"/>
              </a:rPr>
              <a:t>能够</a:t>
            </a:r>
            <a:r>
              <a:rPr kumimoji="0" lang="zh-CN" altLang="zh-CN" sz="3200" b="1">
                <a:solidFill>
                  <a:srgbClr val="FF0000"/>
                </a:solidFill>
                <a:latin typeface="楷体" panose="02010609060101010101" charset="-122"/>
                <a:ea typeface="楷体" panose="02010609060101010101" charset="-122"/>
              </a:rPr>
              <a:t>及时采取纠正措施</a:t>
            </a:r>
            <a:r>
              <a:rPr kumimoji="0" lang="zh-CN" altLang="zh-CN" sz="3200" b="1">
                <a:solidFill>
                  <a:schemeClr val="bg2"/>
                </a:solidFill>
                <a:latin typeface="楷体" panose="02010609060101010101" charset="-122"/>
                <a:ea typeface="楷体" panose="02010609060101010101" charset="-122"/>
              </a:rPr>
              <a:t>。</a:t>
            </a:r>
            <a:endParaRPr kumimoji="0" lang="zh-CN" altLang="en-US" sz="3200" b="1">
              <a:solidFill>
                <a:schemeClr val="bg2"/>
              </a:solidFill>
              <a:latin typeface="楷体" panose="02010609060101010101" charset="-122"/>
              <a:ea typeface="楷体" panose="02010609060101010101" charset="-122"/>
            </a:endParaRPr>
          </a:p>
        </p:txBody>
      </p:sp>
      <p:sp>
        <p:nvSpPr>
          <p:cNvPr id="35845" name="Rectangle 5"/>
          <p:cNvSpPr>
            <a:spLocks noChangeArrowheads="1"/>
          </p:cNvSpPr>
          <p:nvPr/>
        </p:nvSpPr>
        <p:spPr bwMode="auto">
          <a:xfrm>
            <a:off x="103188" y="620713"/>
            <a:ext cx="5405437" cy="553085"/>
          </a:xfrm>
          <a:prstGeom prst="rect">
            <a:avLst/>
          </a:prstGeom>
          <a:noFill/>
          <a:ln w="9525">
            <a:noFill/>
            <a:miter lim="800000"/>
          </a:ln>
        </p:spPr>
        <p:txBody>
          <a:bodyPr>
            <a:spAutoFit/>
          </a:bodyPr>
          <a:lstStyle/>
          <a:p>
            <a:r>
              <a:rPr kumimoji="0" lang="en-US" altLang="en-US" sz="3000" b="1" smtClean="0"/>
              <a:t>6.5 </a:t>
            </a:r>
            <a:r>
              <a:rPr kumimoji="0" lang="en-US" altLang="en-US" sz="3000" b="1">
                <a:latin typeface="楷体" panose="02010609060101010101" charset="-122"/>
                <a:ea typeface="楷体" panose="02010609060101010101" charset="-122"/>
              </a:rPr>
              <a:t>项目成本控制</a:t>
            </a:r>
            <a:endParaRPr kumimoji="0" lang="en-US" altLang="en-US" sz="3000" b="1">
              <a:latin typeface="楷体" panose="02010609060101010101" charset="-122"/>
              <a:ea typeface="楷体" panose="0201060906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84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84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9"/>
          <p:cNvSpPr>
            <a:spLocks noGrp="1" noChangeArrowheads="1"/>
          </p:cNvSpPr>
          <p:nvPr>
            <p:ph type="sldNum" sz="quarter" idx="10"/>
          </p:nvPr>
        </p:nvSpPr>
        <p:spPr>
          <a:noFill/>
        </p:spPr>
        <p:txBody>
          <a:bodyPr/>
          <a:lstStyle/>
          <a:p>
            <a:r>
              <a:rPr lang="zh-CN" altLang="en-GB" smtClean="0"/>
              <a:t>  </a:t>
            </a:r>
            <a:fld id="{E8952D74-DA84-40A9-85D9-4746325645B3}" type="slidenum">
              <a:rPr lang="zh-CN" altLang="en-GB" smtClean="0"/>
            </a:fld>
            <a:endParaRPr lang="en-US" altLang="zh-CN" smtClean="0"/>
          </a:p>
        </p:txBody>
      </p:sp>
      <p:sp>
        <p:nvSpPr>
          <p:cNvPr id="36867"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b="1" smtClean="0">
                <a:solidFill>
                  <a:schemeClr val="bg2"/>
                </a:solidFill>
              </a:rPr>
              <a:t>P.143</a:t>
            </a:r>
            <a:endParaRPr lang="en-US" altLang="zh-CN" sz="2400" b="1">
              <a:solidFill>
                <a:schemeClr val="bg2"/>
              </a:solidFill>
            </a:endParaRPr>
          </a:p>
        </p:txBody>
      </p:sp>
      <p:sp>
        <p:nvSpPr>
          <p:cNvPr id="36868" name="Text Box 4"/>
          <p:cNvSpPr txBox="1">
            <a:spLocks noChangeArrowheads="1"/>
          </p:cNvSpPr>
          <p:nvPr/>
        </p:nvSpPr>
        <p:spPr bwMode="auto">
          <a:xfrm>
            <a:off x="179388" y="1462088"/>
            <a:ext cx="8750330" cy="4984750"/>
          </a:xfrm>
          <a:prstGeom prst="rect">
            <a:avLst/>
          </a:prstGeom>
          <a:noFill/>
          <a:ln w="9525" algn="ctr">
            <a:noFill/>
            <a:miter lim="800000"/>
          </a:ln>
        </p:spPr>
        <p:txBody>
          <a:bodyPr wrap="square">
            <a:spAutoFit/>
          </a:bodyPr>
          <a:lstStyle/>
          <a:p>
            <a:pPr>
              <a:spcBef>
                <a:spcPts val="600"/>
              </a:spcBef>
              <a:spcAft>
                <a:spcPts val="600"/>
              </a:spcAft>
              <a:buClr>
                <a:schemeClr val="hlink"/>
              </a:buClr>
            </a:pPr>
            <a:r>
              <a:rPr kumimoji="0" lang="zh-CN" altLang="zh-CN" sz="3200" b="1">
                <a:solidFill>
                  <a:schemeClr val="bg2"/>
                </a:solidFill>
                <a:latin typeface="楷体" panose="02010609060101010101" charset="-122"/>
                <a:ea typeface="楷体" panose="02010609060101010101" charset="-122"/>
              </a:rPr>
              <a:t>项目成本控制必须与项目的其他控制过程紧密</a:t>
            </a:r>
            <a:r>
              <a:rPr kumimoji="0" lang="zh-CN" altLang="zh-CN" sz="3200" b="1" smtClean="0">
                <a:solidFill>
                  <a:schemeClr val="bg2"/>
                </a:solidFill>
                <a:latin typeface="楷体" panose="02010609060101010101" charset="-122"/>
                <a:ea typeface="楷体" panose="02010609060101010101" charset="-122"/>
              </a:rPr>
              <a:t>结合</a:t>
            </a:r>
            <a:r>
              <a:rPr kumimoji="0" lang="zh-CN" altLang="en-US" sz="3200" b="1" smtClean="0">
                <a:solidFill>
                  <a:schemeClr val="bg2"/>
                </a:solidFill>
                <a:latin typeface="楷体" panose="02010609060101010101" charset="-122"/>
                <a:ea typeface="楷体" panose="02010609060101010101" charset="-122"/>
              </a:rPr>
              <a:t>，</a:t>
            </a:r>
            <a:r>
              <a:rPr kumimoji="0" lang="zh-CN" altLang="zh-CN" sz="3200" b="1" smtClean="0">
                <a:solidFill>
                  <a:schemeClr val="bg2"/>
                </a:solidFill>
                <a:latin typeface="楷体" panose="02010609060101010101" charset="-122"/>
                <a:ea typeface="楷体" panose="02010609060101010101" charset="-122"/>
              </a:rPr>
              <a:t>防止</a:t>
            </a:r>
            <a:r>
              <a:rPr kumimoji="0" lang="zh-CN" altLang="zh-CN" sz="3200" b="1">
                <a:solidFill>
                  <a:schemeClr val="bg2"/>
                </a:solidFill>
                <a:latin typeface="楷体" panose="02010609060101010101" charset="-122"/>
                <a:ea typeface="楷体" panose="02010609060101010101" charset="-122"/>
              </a:rPr>
              <a:t>单纯的控制项目成本而出现项目范围、进度、质量等方面的问题。</a:t>
            </a:r>
            <a:endParaRPr kumimoji="0" lang="zh-CN" altLang="en-US" sz="3200" b="1">
              <a:solidFill>
                <a:schemeClr val="bg2"/>
              </a:solidFill>
              <a:latin typeface="楷体" panose="02010609060101010101" charset="-122"/>
              <a:ea typeface="楷体" panose="02010609060101010101" charset="-122"/>
            </a:endParaRPr>
          </a:p>
          <a:p>
            <a:pPr>
              <a:spcBef>
                <a:spcPts val="600"/>
              </a:spcBef>
              <a:spcAft>
                <a:spcPts val="600"/>
              </a:spcAft>
              <a:buClr>
                <a:schemeClr val="hlink"/>
              </a:buClr>
            </a:pPr>
            <a:r>
              <a:rPr kumimoji="0" lang="zh-CN" altLang="zh-CN" sz="3200" b="1">
                <a:solidFill>
                  <a:schemeClr val="bg2"/>
                </a:solidFill>
                <a:latin typeface="楷体" panose="02010609060101010101" charset="-122"/>
                <a:ea typeface="楷体" panose="02010609060101010101" charset="-122"/>
              </a:rPr>
              <a:t>项目成本控制的主要内容包括：</a:t>
            </a:r>
            <a:endParaRPr kumimoji="0" lang="zh-CN" altLang="zh-CN" sz="3200" b="1">
              <a:solidFill>
                <a:schemeClr val="bg2"/>
              </a:solidFill>
              <a:latin typeface="楷体" panose="02010609060101010101" charset="-122"/>
              <a:ea typeface="楷体" panose="02010609060101010101" charset="-122"/>
            </a:endParaRPr>
          </a:p>
          <a:p>
            <a:pPr marL="914400" lvl="1" indent="-457200">
              <a:spcBef>
                <a:spcPts val="600"/>
              </a:spcBef>
              <a:spcAft>
                <a:spcPts val="600"/>
              </a:spcAft>
              <a:buClr>
                <a:srgbClr val="000000"/>
              </a:buClr>
              <a:buFont typeface="Wingdings" panose="05000000000000000000" charset="0"/>
              <a:buChar char="ü"/>
            </a:pPr>
            <a:r>
              <a:rPr kumimoji="0" lang="zh-CN" altLang="en-US" b="1">
                <a:solidFill>
                  <a:schemeClr val="bg2"/>
                </a:solidFill>
                <a:latin typeface="楷体" panose="02010609060101010101" charset="-122"/>
                <a:ea typeface="楷体" panose="02010609060101010101" charset="-122"/>
              </a:rPr>
              <a:t>监控实际成本与计划成本的偏差；</a:t>
            </a:r>
            <a:endParaRPr kumimoji="0" lang="zh-CN" altLang="en-US" b="1">
              <a:solidFill>
                <a:schemeClr val="bg2"/>
              </a:solidFill>
              <a:latin typeface="楷体" panose="02010609060101010101" charset="-122"/>
              <a:ea typeface="楷体" panose="02010609060101010101" charset="-122"/>
            </a:endParaRPr>
          </a:p>
          <a:p>
            <a:pPr marL="914400" lvl="1" indent="-457200">
              <a:spcBef>
                <a:spcPts val="600"/>
              </a:spcBef>
              <a:spcAft>
                <a:spcPts val="600"/>
              </a:spcAft>
              <a:buClr>
                <a:srgbClr val="000000"/>
              </a:buClr>
              <a:buFont typeface="Wingdings" panose="05000000000000000000" charset="0"/>
              <a:buChar char="ü"/>
            </a:pPr>
            <a:r>
              <a:rPr kumimoji="0" lang="zh-CN" altLang="en-US" b="1">
                <a:solidFill>
                  <a:schemeClr val="bg2"/>
                </a:solidFill>
                <a:latin typeface="楷体" panose="02010609060101010101" charset="-122"/>
                <a:ea typeface="楷体" panose="02010609060101010101" charset="-122"/>
              </a:rPr>
              <a:t>确认费用偏差都被记录；</a:t>
            </a:r>
            <a:endParaRPr kumimoji="0" lang="zh-CN" altLang="en-US" b="1">
              <a:solidFill>
                <a:schemeClr val="bg2"/>
              </a:solidFill>
              <a:latin typeface="楷体" panose="02010609060101010101" charset="-122"/>
              <a:ea typeface="楷体" panose="02010609060101010101" charset="-122"/>
            </a:endParaRPr>
          </a:p>
          <a:p>
            <a:pPr marL="914400" lvl="1" indent="-457200">
              <a:spcBef>
                <a:spcPts val="600"/>
              </a:spcBef>
              <a:spcAft>
                <a:spcPts val="600"/>
              </a:spcAft>
              <a:buClr>
                <a:srgbClr val="000000"/>
              </a:buClr>
              <a:buFont typeface="Wingdings" panose="05000000000000000000" charset="0"/>
              <a:buChar char="ü"/>
            </a:pPr>
            <a:r>
              <a:rPr kumimoji="0" lang="zh-CN" altLang="en-US" b="1">
                <a:solidFill>
                  <a:schemeClr val="bg2"/>
                </a:solidFill>
                <a:latin typeface="楷体" panose="02010609060101010101" charset="-122"/>
                <a:ea typeface="楷体" panose="02010609060101010101" charset="-122"/>
              </a:rPr>
              <a:t>避免不正确、不合适的或者无效的费用变更发生；</a:t>
            </a:r>
            <a:endParaRPr kumimoji="0" lang="zh-CN" altLang="en-US" b="1">
              <a:solidFill>
                <a:schemeClr val="bg2"/>
              </a:solidFill>
              <a:latin typeface="楷体" panose="02010609060101010101" charset="-122"/>
              <a:ea typeface="楷体" panose="02010609060101010101" charset="-122"/>
            </a:endParaRPr>
          </a:p>
          <a:p>
            <a:pPr marL="914400" lvl="1" indent="-457200">
              <a:spcBef>
                <a:spcPts val="600"/>
              </a:spcBef>
              <a:spcAft>
                <a:spcPts val="600"/>
              </a:spcAft>
              <a:buClr>
                <a:srgbClr val="000000"/>
              </a:buClr>
              <a:buFont typeface="Wingdings" panose="05000000000000000000" charset="0"/>
              <a:buChar char="ü"/>
            </a:pPr>
            <a:r>
              <a:rPr kumimoji="0" lang="zh-CN" altLang="en-US" b="1">
                <a:solidFill>
                  <a:schemeClr val="bg2"/>
                </a:solidFill>
                <a:latin typeface="楷体" panose="02010609060101010101" charset="-122"/>
                <a:ea typeface="楷体" panose="02010609060101010101" charset="-122"/>
              </a:rPr>
              <a:t>获取项目变更的各种信息，特别关注影响对成本变更的消息。</a:t>
            </a:r>
            <a:endParaRPr kumimoji="0" lang="zh-CN" altLang="en-US" b="1">
              <a:solidFill>
                <a:schemeClr val="bg2"/>
              </a:solidFill>
              <a:latin typeface="楷体" panose="02010609060101010101" charset="-122"/>
              <a:ea typeface="楷体" panose="02010609060101010101" charset="-122"/>
            </a:endParaRPr>
          </a:p>
        </p:txBody>
      </p:sp>
      <p:sp>
        <p:nvSpPr>
          <p:cNvPr id="36869" name="Rectangle 5"/>
          <p:cNvSpPr>
            <a:spLocks noChangeArrowheads="1"/>
          </p:cNvSpPr>
          <p:nvPr/>
        </p:nvSpPr>
        <p:spPr bwMode="auto">
          <a:xfrm>
            <a:off x="103188" y="620713"/>
            <a:ext cx="5405437" cy="553085"/>
          </a:xfrm>
          <a:prstGeom prst="rect">
            <a:avLst/>
          </a:prstGeom>
          <a:noFill/>
          <a:ln w="9525">
            <a:noFill/>
            <a:miter lim="800000"/>
          </a:ln>
        </p:spPr>
        <p:txBody>
          <a:bodyPr>
            <a:spAutoFit/>
          </a:bodyPr>
          <a:lstStyle/>
          <a:p>
            <a:r>
              <a:rPr kumimoji="0" lang="en-US" altLang="en-US" sz="3000" b="1" smtClean="0"/>
              <a:t>6.5 </a:t>
            </a:r>
            <a:r>
              <a:rPr kumimoji="0" lang="en-US" altLang="en-US" sz="3000" b="1">
                <a:latin typeface="楷体" panose="02010609060101010101" charset="-122"/>
                <a:ea typeface="楷体" panose="02010609060101010101" charset="-122"/>
              </a:rPr>
              <a:t>项目成本控制</a:t>
            </a:r>
            <a:endParaRPr kumimoji="0" lang="en-US" altLang="en-US" sz="3000" b="1">
              <a:latin typeface="楷体" panose="02010609060101010101" charset="-122"/>
              <a:ea typeface="楷体" panose="02010609060101010101" charset="-122"/>
            </a:endParaRPr>
          </a:p>
        </p:txBody>
      </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9"/>
          <p:cNvSpPr>
            <a:spLocks noGrp="1" noChangeArrowheads="1"/>
          </p:cNvSpPr>
          <p:nvPr>
            <p:ph type="sldNum" sz="quarter" idx="10"/>
          </p:nvPr>
        </p:nvSpPr>
        <p:spPr>
          <a:noFill/>
        </p:spPr>
        <p:txBody>
          <a:bodyPr/>
          <a:lstStyle/>
          <a:p>
            <a:r>
              <a:rPr lang="zh-CN" altLang="en-GB" smtClean="0"/>
              <a:t>  </a:t>
            </a:r>
            <a:fld id="{9038D27D-0494-4506-A581-0589D14D53EA}" type="slidenum">
              <a:rPr lang="zh-CN" altLang="en-GB" smtClean="0"/>
            </a:fld>
            <a:endParaRPr lang="en-US" altLang="zh-CN" smtClean="0"/>
          </a:p>
        </p:txBody>
      </p:sp>
      <p:sp>
        <p:nvSpPr>
          <p:cNvPr id="37891"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b="1" smtClean="0">
                <a:solidFill>
                  <a:schemeClr val="bg2"/>
                </a:solidFill>
              </a:rPr>
              <a:t>P.143</a:t>
            </a:r>
            <a:endParaRPr lang="en-US" altLang="zh-CN" sz="2400" b="1">
              <a:solidFill>
                <a:schemeClr val="bg2"/>
              </a:solidFill>
            </a:endParaRPr>
          </a:p>
        </p:txBody>
      </p:sp>
      <p:sp>
        <p:nvSpPr>
          <p:cNvPr id="37892" name="Text Box 4"/>
          <p:cNvSpPr txBox="1">
            <a:spLocks noChangeArrowheads="1"/>
          </p:cNvSpPr>
          <p:nvPr/>
        </p:nvSpPr>
        <p:spPr bwMode="auto">
          <a:xfrm>
            <a:off x="71406" y="1800246"/>
            <a:ext cx="9072594" cy="4123055"/>
          </a:xfrm>
          <a:prstGeom prst="rect">
            <a:avLst/>
          </a:prstGeom>
          <a:noFill/>
          <a:ln w="9525" algn="ctr">
            <a:noFill/>
            <a:miter lim="800000"/>
          </a:ln>
        </p:spPr>
        <p:txBody>
          <a:bodyPr wrap="square">
            <a:spAutoFit/>
          </a:bodyPr>
          <a:lstStyle/>
          <a:p>
            <a:pPr>
              <a:spcBef>
                <a:spcPts val="600"/>
              </a:spcBef>
              <a:spcAft>
                <a:spcPts val="600"/>
              </a:spcAft>
              <a:buClr>
                <a:schemeClr val="bg1"/>
              </a:buClr>
              <a:buFont typeface="Wingdings" panose="05000000000000000000" pitchFamily="2" charset="2"/>
              <a:buAutoNum type="circleNumDbPlain"/>
            </a:pPr>
            <a:r>
              <a:rPr kumimoji="0" lang="zh-CN" altLang="en-US" b="1">
                <a:solidFill>
                  <a:schemeClr val="bg1"/>
                </a:solidFill>
                <a:latin typeface="楷体" panose="02010609060101010101" charset="-122"/>
                <a:ea typeface="楷体" panose="02010609060101010101" charset="-122"/>
              </a:rPr>
              <a:t>成本基准：</a:t>
            </a:r>
            <a:r>
              <a:rPr kumimoji="0" lang="zh-CN" altLang="en-US" sz="2400" b="1">
                <a:solidFill>
                  <a:schemeClr val="bg2"/>
                </a:solidFill>
                <a:latin typeface="楷体" panose="02010609060101010101" charset="-122"/>
                <a:ea typeface="楷体" panose="02010609060101010101" charset="-122"/>
              </a:rPr>
              <a:t>成本基准是按时间分段的预算，用做度量和监控项目整体成本的基准。</a:t>
            </a:r>
            <a:endParaRPr kumimoji="0" lang="zh-CN" altLang="en-US" sz="2400" b="1">
              <a:solidFill>
                <a:schemeClr val="bg2"/>
              </a:solidFill>
              <a:latin typeface="楷体" panose="02010609060101010101" charset="-122"/>
              <a:ea typeface="楷体" panose="02010609060101010101" charset="-122"/>
            </a:endParaRPr>
          </a:p>
          <a:p>
            <a:pPr>
              <a:spcBef>
                <a:spcPts val="600"/>
              </a:spcBef>
              <a:spcAft>
                <a:spcPts val="600"/>
              </a:spcAft>
              <a:buClr>
                <a:schemeClr val="bg1"/>
              </a:buClr>
              <a:buFont typeface="Wingdings" panose="05000000000000000000" pitchFamily="2" charset="2"/>
              <a:buAutoNum type="circleNumDbPlain"/>
            </a:pPr>
            <a:r>
              <a:rPr kumimoji="0" lang="zh-CN" altLang="en-US" b="1">
                <a:solidFill>
                  <a:schemeClr val="bg1"/>
                </a:solidFill>
                <a:latin typeface="楷体" panose="02010609060101010101" charset="-122"/>
                <a:ea typeface="楷体" panose="02010609060101010101" charset="-122"/>
              </a:rPr>
              <a:t>绩效报告</a:t>
            </a:r>
            <a:r>
              <a:rPr kumimoji="0" lang="zh-CN" altLang="en-US" b="1" smtClean="0">
                <a:solidFill>
                  <a:schemeClr val="bg1"/>
                </a:solidFill>
                <a:latin typeface="楷体" panose="02010609060101010101" charset="-122"/>
                <a:ea typeface="楷体" panose="02010609060101010101" charset="-122"/>
              </a:rPr>
              <a:t>：</a:t>
            </a:r>
            <a:r>
              <a:rPr kumimoji="0" lang="zh-CN" altLang="en-US" sz="2400" b="1" smtClean="0">
                <a:solidFill>
                  <a:schemeClr val="bg2"/>
                </a:solidFill>
                <a:latin typeface="楷体" panose="02010609060101010101" charset="-122"/>
                <a:ea typeface="楷体" panose="02010609060101010101" charset="-122"/>
              </a:rPr>
              <a:t>提供</a:t>
            </a:r>
            <a:r>
              <a:rPr kumimoji="0" lang="zh-CN" altLang="en-US" sz="2400" b="1">
                <a:solidFill>
                  <a:schemeClr val="bg2"/>
                </a:solidFill>
                <a:latin typeface="楷体" panose="02010609060101010101" charset="-122"/>
                <a:ea typeface="楷体" panose="02010609060101010101" charset="-122"/>
              </a:rPr>
              <a:t>实际工作中项目成本和资源绩效的信息。</a:t>
            </a:r>
            <a:endParaRPr kumimoji="0" lang="zh-CN" altLang="en-US" sz="2400" b="1">
              <a:solidFill>
                <a:schemeClr val="bg2"/>
              </a:solidFill>
              <a:latin typeface="楷体" panose="02010609060101010101" charset="-122"/>
              <a:ea typeface="楷体" panose="02010609060101010101" charset="-122"/>
            </a:endParaRPr>
          </a:p>
          <a:p>
            <a:pPr>
              <a:spcBef>
                <a:spcPts val="600"/>
              </a:spcBef>
              <a:spcAft>
                <a:spcPts val="600"/>
              </a:spcAft>
              <a:buClr>
                <a:schemeClr val="bg1"/>
              </a:buClr>
              <a:buFont typeface="Wingdings" panose="05000000000000000000" pitchFamily="2" charset="2"/>
              <a:buAutoNum type="circleNumDbPlain"/>
            </a:pPr>
            <a:r>
              <a:rPr kumimoji="0" lang="zh-CN" altLang="en-US" b="1">
                <a:solidFill>
                  <a:schemeClr val="bg1"/>
                </a:solidFill>
                <a:latin typeface="楷体" panose="02010609060101010101" charset="-122"/>
                <a:ea typeface="楷体" panose="02010609060101010101" charset="-122"/>
              </a:rPr>
              <a:t>请求变更：</a:t>
            </a:r>
            <a:r>
              <a:rPr kumimoji="0" lang="zh-CN" altLang="en-US" sz="2400" b="1">
                <a:solidFill>
                  <a:schemeClr val="bg2"/>
                </a:solidFill>
                <a:latin typeface="楷体" panose="02010609060101010101" charset="-122"/>
                <a:ea typeface="楷体" panose="02010609060101010101" charset="-122"/>
              </a:rPr>
              <a:t>对项目的某些方面提出修改的要求，这些变更申请对成本的使用方向以及对成本的预算产生影响，可能增加成本，也可能减少成本。</a:t>
            </a:r>
            <a:endParaRPr kumimoji="0" lang="zh-CN" altLang="en-US" b="1">
              <a:solidFill>
                <a:schemeClr val="bg2"/>
              </a:solidFill>
              <a:latin typeface="楷体" panose="02010609060101010101" charset="-122"/>
              <a:ea typeface="楷体" panose="02010609060101010101" charset="-122"/>
            </a:endParaRPr>
          </a:p>
          <a:p>
            <a:pPr>
              <a:spcBef>
                <a:spcPts val="600"/>
              </a:spcBef>
              <a:spcAft>
                <a:spcPts val="600"/>
              </a:spcAft>
              <a:buClr>
                <a:schemeClr val="bg1"/>
              </a:buClr>
              <a:buFont typeface="Wingdings" panose="05000000000000000000" pitchFamily="2" charset="2"/>
              <a:buAutoNum type="circleNumDbPlain"/>
            </a:pPr>
            <a:r>
              <a:rPr kumimoji="0" lang="zh-CN" altLang="en-US" b="1">
                <a:solidFill>
                  <a:schemeClr val="bg1"/>
                </a:solidFill>
                <a:latin typeface="楷体" panose="02010609060101010101" charset="-122"/>
                <a:ea typeface="楷体" panose="02010609060101010101" charset="-122"/>
              </a:rPr>
              <a:t>成本管理计划：</a:t>
            </a:r>
            <a:r>
              <a:rPr kumimoji="0" lang="zh-CN" altLang="en-US" sz="2400" b="1">
                <a:solidFill>
                  <a:schemeClr val="bg2"/>
                </a:solidFill>
                <a:latin typeface="楷体" panose="02010609060101010101" charset="-122"/>
                <a:ea typeface="楷体" panose="02010609060101010101" charset="-122"/>
              </a:rPr>
              <a:t>描述当项目实际成本和计划成本发生差异时如何进行管理，对整个成本控制过程进行有序的安排，可以实现对成本合理安排与使用。</a:t>
            </a:r>
            <a:endParaRPr kumimoji="0" lang="zh-CN" altLang="en-US" sz="2400" b="1">
              <a:solidFill>
                <a:schemeClr val="bg2"/>
              </a:solidFill>
              <a:latin typeface="楷体" panose="02010609060101010101" charset="-122"/>
              <a:ea typeface="楷体" panose="02010609060101010101" charset="-122"/>
            </a:endParaRPr>
          </a:p>
        </p:txBody>
      </p:sp>
      <p:sp>
        <p:nvSpPr>
          <p:cNvPr id="37893" name="Rectangle 5"/>
          <p:cNvSpPr>
            <a:spLocks noChangeArrowheads="1"/>
          </p:cNvSpPr>
          <p:nvPr/>
        </p:nvSpPr>
        <p:spPr bwMode="auto">
          <a:xfrm>
            <a:off x="103188" y="620713"/>
            <a:ext cx="5405437" cy="549275"/>
          </a:xfrm>
          <a:prstGeom prst="rect">
            <a:avLst/>
          </a:prstGeom>
          <a:noFill/>
          <a:ln w="9525">
            <a:noFill/>
            <a:miter lim="800000"/>
          </a:ln>
        </p:spPr>
        <p:txBody>
          <a:bodyPr>
            <a:spAutoFit/>
          </a:bodyPr>
          <a:lstStyle/>
          <a:p>
            <a:r>
              <a:rPr kumimoji="0" lang="en-US" altLang="en-US" sz="3000" b="1" smtClean="0"/>
              <a:t>6.5 </a:t>
            </a:r>
            <a:r>
              <a:rPr kumimoji="0" lang="en-US" altLang="en-US" sz="3000" b="1"/>
              <a:t>项目成本控制</a:t>
            </a:r>
            <a:endParaRPr kumimoji="0" lang="en-US" altLang="en-US" sz="3000" b="1"/>
          </a:p>
        </p:txBody>
      </p:sp>
      <p:sp>
        <p:nvSpPr>
          <p:cNvPr id="37894" name="Rectangle 6"/>
          <p:cNvSpPr>
            <a:spLocks noChangeArrowheads="1"/>
          </p:cNvSpPr>
          <p:nvPr/>
        </p:nvSpPr>
        <p:spPr bwMode="auto">
          <a:xfrm>
            <a:off x="323850" y="1341438"/>
            <a:ext cx="3484563" cy="519112"/>
          </a:xfrm>
          <a:prstGeom prst="rect">
            <a:avLst/>
          </a:prstGeom>
          <a:noFill/>
          <a:ln w="9525">
            <a:noFill/>
            <a:miter lim="800000"/>
          </a:ln>
        </p:spPr>
        <p:txBody>
          <a:bodyPr wrap="none">
            <a:spAutoFit/>
          </a:bodyPr>
          <a:lstStyle/>
          <a:p>
            <a:r>
              <a:rPr kumimoji="0" lang="en-US" altLang="en-US" b="1" smtClean="0">
                <a:solidFill>
                  <a:srgbClr val="FF0000"/>
                </a:solidFill>
                <a:ea typeface="楷体_GB2312" pitchFamily="49" charset="-122"/>
              </a:rPr>
              <a:t>6.5.1 </a:t>
            </a:r>
            <a:r>
              <a:rPr kumimoji="0" lang="en-US" altLang="en-US" b="1">
                <a:solidFill>
                  <a:srgbClr val="FF0000"/>
                </a:solidFill>
                <a:ea typeface="楷体_GB2312" pitchFamily="49" charset="-122"/>
              </a:rPr>
              <a:t>成本控制的依据</a:t>
            </a:r>
            <a:endParaRPr kumimoji="0" lang="en-US" altLang="en-US" b="1">
              <a:solidFill>
                <a:srgbClr val="FF0000"/>
              </a:solidFill>
              <a:ea typeface="楷体_GB2312" pitchFamily="49" charset="-122"/>
            </a:endParaRPr>
          </a:p>
        </p:txBody>
      </p: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9"/>
          <p:cNvSpPr>
            <a:spLocks noGrp="1" noChangeArrowheads="1"/>
          </p:cNvSpPr>
          <p:nvPr>
            <p:ph type="sldNum" sz="quarter" idx="10"/>
          </p:nvPr>
        </p:nvSpPr>
        <p:spPr>
          <a:noFill/>
        </p:spPr>
        <p:txBody>
          <a:bodyPr/>
          <a:lstStyle/>
          <a:p>
            <a:r>
              <a:rPr lang="zh-CN" altLang="en-GB" smtClean="0"/>
              <a:t>  </a:t>
            </a:r>
            <a:fld id="{DFF5C880-BBD5-4A98-96C0-D24FD80B6A82}" type="slidenum">
              <a:rPr lang="zh-CN" altLang="en-GB" smtClean="0"/>
            </a:fld>
            <a:endParaRPr lang="en-US" altLang="zh-CN" smtClean="0"/>
          </a:p>
        </p:txBody>
      </p:sp>
      <p:sp>
        <p:nvSpPr>
          <p:cNvPr id="38915"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b="1" smtClean="0">
                <a:solidFill>
                  <a:schemeClr val="bg2"/>
                </a:solidFill>
              </a:rPr>
              <a:t>P.144</a:t>
            </a:r>
            <a:endParaRPr lang="en-US" altLang="zh-CN" sz="2400" b="1">
              <a:solidFill>
                <a:schemeClr val="bg2"/>
              </a:solidFill>
            </a:endParaRPr>
          </a:p>
        </p:txBody>
      </p:sp>
      <p:sp>
        <p:nvSpPr>
          <p:cNvPr id="38916" name="Text Box 4"/>
          <p:cNvSpPr txBox="1">
            <a:spLocks noChangeArrowheads="1"/>
          </p:cNvSpPr>
          <p:nvPr/>
        </p:nvSpPr>
        <p:spPr bwMode="auto">
          <a:xfrm>
            <a:off x="250825" y="1876425"/>
            <a:ext cx="8569325" cy="4608195"/>
          </a:xfrm>
          <a:prstGeom prst="rect">
            <a:avLst/>
          </a:prstGeom>
          <a:noFill/>
          <a:ln w="9525" algn="ctr">
            <a:noFill/>
            <a:miter lim="800000"/>
          </a:ln>
        </p:spPr>
        <p:txBody>
          <a:bodyPr>
            <a:spAutoFit/>
          </a:bodyPr>
          <a:lstStyle/>
          <a:p>
            <a:pPr>
              <a:spcBef>
                <a:spcPct val="40000"/>
              </a:spcBef>
              <a:buClr>
                <a:schemeClr val="bg1"/>
              </a:buClr>
              <a:buFont typeface="Wingdings" panose="05000000000000000000" pitchFamily="2" charset="2"/>
              <a:buAutoNum type="circleNumDbPlain"/>
            </a:pPr>
            <a:r>
              <a:rPr kumimoji="0" lang="zh-CN" altLang="en-US" b="1">
                <a:solidFill>
                  <a:srgbClr val="0000FF"/>
                </a:solidFill>
                <a:latin typeface="楷体" panose="02010609060101010101" charset="-122"/>
                <a:ea typeface="楷体" panose="02010609060101010101" charset="-122"/>
              </a:rPr>
              <a:t>成本变更控制系统：</a:t>
            </a:r>
            <a:r>
              <a:rPr kumimoji="0" lang="zh-CN" altLang="en-US" sz="2400" b="1">
                <a:solidFill>
                  <a:schemeClr val="bg2"/>
                </a:solidFill>
                <a:latin typeface="楷体" panose="02010609060101010101" charset="-122"/>
                <a:ea typeface="楷体" panose="02010609060101010101" charset="-122"/>
              </a:rPr>
              <a:t>项目成本变更控制系统就是通过建立项目变动控制体系，对项目成本进行控制。</a:t>
            </a:r>
            <a:endParaRPr kumimoji="0" lang="zh-CN" altLang="en-US" sz="2400" b="1">
              <a:solidFill>
                <a:schemeClr val="bg2"/>
              </a:solidFill>
              <a:latin typeface="楷体" panose="02010609060101010101" charset="-122"/>
              <a:ea typeface="楷体" panose="02010609060101010101" charset="-122"/>
            </a:endParaRPr>
          </a:p>
          <a:p>
            <a:pPr>
              <a:spcBef>
                <a:spcPct val="40000"/>
              </a:spcBef>
              <a:buClr>
                <a:schemeClr val="bg1"/>
              </a:buClr>
              <a:buFont typeface="Wingdings" panose="05000000000000000000" pitchFamily="2" charset="2"/>
              <a:buAutoNum type="circleNumDbPlain"/>
            </a:pPr>
            <a:r>
              <a:rPr kumimoji="0" lang="zh-CN" altLang="en-US" b="1">
                <a:solidFill>
                  <a:srgbClr val="0000FF"/>
                </a:solidFill>
                <a:latin typeface="楷体" panose="02010609060101010101" charset="-122"/>
                <a:ea typeface="楷体" panose="02010609060101010101" charset="-122"/>
              </a:rPr>
              <a:t>成本绩效测量法</a:t>
            </a:r>
            <a:r>
              <a:rPr kumimoji="0" lang="zh-CN" altLang="en-US" b="1">
                <a:solidFill>
                  <a:schemeClr val="bg1"/>
                </a:solidFill>
                <a:latin typeface="楷体" panose="02010609060101010101" charset="-122"/>
                <a:ea typeface="楷体" panose="02010609060101010101" charset="-122"/>
              </a:rPr>
              <a:t>：</a:t>
            </a:r>
            <a:r>
              <a:rPr kumimoji="0" lang="zh-CN" altLang="en-US" sz="2400" b="1">
                <a:solidFill>
                  <a:schemeClr val="bg2"/>
                </a:solidFill>
                <a:latin typeface="楷体" panose="02010609060101010101" charset="-122"/>
                <a:ea typeface="楷体" panose="02010609060101010101" charset="-122"/>
              </a:rPr>
              <a:t>帮助项目管理者及时分析项目成本状况，尽早发现项目成本差异，争取在情况变坏之前采取措施予以纠正。</a:t>
            </a:r>
            <a:r>
              <a:rPr kumimoji="0" lang="zh-CN" altLang="en-US" b="1">
                <a:solidFill>
                  <a:srgbClr val="FF0000"/>
                </a:solidFill>
                <a:latin typeface="楷体" panose="02010609060101010101" charset="-122"/>
                <a:ea typeface="楷体" panose="02010609060101010101" charset="-122"/>
              </a:rPr>
              <a:t>挣值分析法</a:t>
            </a:r>
            <a:r>
              <a:rPr kumimoji="0" lang="zh-CN" altLang="en-US" sz="2400" b="1">
                <a:solidFill>
                  <a:schemeClr val="bg2"/>
                </a:solidFill>
                <a:latin typeface="楷体" panose="02010609060101010101" charset="-122"/>
                <a:ea typeface="楷体" panose="02010609060101010101" charset="-122"/>
              </a:rPr>
              <a:t>就是一种有效的分析方法，可用于进行项目成本偏差分析和控制。</a:t>
            </a:r>
            <a:endParaRPr kumimoji="0" lang="zh-CN" altLang="en-US" sz="2400" b="1">
              <a:solidFill>
                <a:schemeClr val="bg2"/>
              </a:solidFill>
              <a:latin typeface="楷体" panose="02010609060101010101" charset="-122"/>
              <a:ea typeface="楷体" panose="02010609060101010101" charset="-122"/>
            </a:endParaRPr>
          </a:p>
          <a:p>
            <a:pPr>
              <a:spcBef>
                <a:spcPct val="40000"/>
              </a:spcBef>
              <a:buClr>
                <a:schemeClr val="bg1"/>
              </a:buClr>
              <a:buFont typeface="Wingdings" panose="05000000000000000000" pitchFamily="2" charset="2"/>
              <a:buAutoNum type="circleNumDbPlain"/>
            </a:pPr>
            <a:r>
              <a:rPr kumimoji="0" lang="zh-CN" altLang="en-US" b="1">
                <a:solidFill>
                  <a:srgbClr val="0000FF"/>
                </a:solidFill>
                <a:latin typeface="楷体" panose="02010609060101010101" charset="-122"/>
                <a:ea typeface="楷体" panose="02010609060101010101" charset="-122"/>
              </a:rPr>
              <a:t>附加计划法：</a:t>
            </a:r>
            <a:r>
              <a:rPr kumimoji="0" lang="zh-CN" altLang="en-US" sz="2400" b="1">
                <a:solidFill>
                  <a:schemeClr val="bg2"/>
                </a:solidFill>
                <a:latin typeface="楷体" panose="02010609060101010101" charset="-122"/>
                <a:ea typeface="楷体" panose="02010609060101010101" charset="-122"/>
              </a:rPr>
              <a:t>通过新增或修订原有计划来对项目成本进行有效的控制。</a:t>
            </a:r>
            <a:endParaRPr kumimoji="0" lang="zh-CN" altLang="en-US" sz="2400" b="1">
              <a:solidFill>
                <a:schemeClr val="bg2"/>
              </a:solidFill>
              <a:latin typeface="楷体" panose="02010609060101010101" charset="-122"/>
              <a:ea typeface="楷体" panose="02010609060101010101" charset="-122"/>
            </a:endParaRPr>
          </a:p>
          <a:p>
            <a:pPr>
              <a:spcBef>
                <a:spcPct val="40000"/>
              </a:spcBef>
              <a:buClr>
                <a:schemeClr val="bg1"/>
              </a:buClr>
              <a:buFont typeface="Wingdings" panose="05000000000000000000" pitchFamily="2" charset="2"/>
              <a:buAutoNum type="circleNumDbPlain"/>
            </a:pPr>
            <a:r>
              <a:rPr kumimoji="0" lang="zh-CN" altLang="en-US" b="1">
                <a:solidFill>
                  <a:srgbClr val="0000FF"/>
                </a:solidFill>
                <a:latin typeface="楷体" panose="02010609060101010101" charset="-122"/>
                <a:ea typeface="楷体" panose="02010609060101010101" charset="-122"/>
              </a:rPr>
              <a:t>计算机辅助法</a:t>
            </a:r>
            <a:r>
              <a:rPr kumimoji="0" lang="zh-CN" altLang="en-US" b="1">
                <a:solidFill>
                  <a:schemeClr val="bg1"/>
                </a:solidFill>
                <a:latin typeface="楷体" panose="02010609060101010101" charset="-122"/>
                <a:ea typeface="楷体" panose="02010609060101010101" charset="-122"/>
              </a:rPr>
              <a:t>：</a:t>
            </a:r>
            <a:r>
              <a:rPr kumimoji="0" lang="zh-CN" altLang="en-US" sz="2400" b="1">
                <a:solidFill>
                  <a:schemeClr val="bg2"/>
                </a:solidFill>
                <a:latin typeface="楷体" panose="02010609060101010101" charset="-122"/>
                <a:ea typeface="楷体" panose="02010609060101010101" charset="-122"/>
              </a:rPr>
              <a:t>借助相关的项目管理软件，跟踪项目的计划成本、实际成本和预测成本改变的影响。</a:t>
            </a:r>
            <a:endParaRPr kumimoji="0" lang="zh-CN" altLang="en-US" sz="2400" b="1">
              <a:solidFill>
                <a:schemeClr val="bg2"/>
              </a:solidFill>
              <a:latin typeface="楷体" panose="02010609060101010101" charset="-122"/>
              <a:ea typeface="楷体" panose="02010609060101010101" charset="-122"/>
            </a:endParaRPr>
          </a:p>
        </p:txBody>
      </p:sp>
      <p:sp>
        <p:nvSpPr>
          <p:cNvPr id="38917" name="Rectangle 5"/>
          <p:cNvSpPr>
            <a:spLocks noChangeArrowheads="1"/>
          </p:cNvSpPr>
          <p:nvPr/>
        </p:nvSpPr>
        <p:spPr bwMode="auto">
          <a:xfrm>
            <a:off x="103188" y="620713"/>
            <a:ext cx="5405437" cy="553085"/>
          </a:xfrm>
          <a:prstGeom prst="rect">
            <a:avLst/>
          </a:prstGeom>
          <a:noFill/>
          <a:ln w="9525">
            <a:noFill/>
            <a:miter lim="800000"/>
          </a:ln>
        </p:spPr>
        <p:txBody>
          <a:bodyPr>
            <a:spAutoFit/>
          </a:bodyPr>
          <a:lstStyle/>
          <a:p>
            <a:r>
              <a:rPr kumimoji="0" lang="en-US" altLang="en-US" sz="3000" b="1" smtClean="0"/>
              <a:t>6.5 </a:t>
            </a:r>
            <a:r>
              <a:rPr kumimoji="0" lang="en-US" altLang="en-US" sz="3000" b="1">
                <a:latin typeface="楷体" panose="02010609060101010101" charset="-122"/>
                <a:ea typeface="楷体" panose="02010609060101010101" charset="-122"/>
              </a:rPr>
              <a:t>项目成本控制</a:t>
            </a:r>
            <a:endParaRPr kumimoji="0" lang="en-US" altLang="en-US" sz="3000" b="1">
              <a:latin typeface="楷体" panose="02010609060101010101" charset="-122"/>
              <a:ea typeface="楷体" panose="02010609060101010101" charset="-122"/>
            </a:endParaRPr>
          </a:p>
        </p:txBody>
      </p:sp>
      <p:sp>
        <p:nvSpPr>
          <p:cNvPr id="38918" name="Rectangle 6"/>
          <p:cNvSpPr>
            <a:spLocks noChangeArrowheads="1"/>
          </p:cNvSpPr>
          <p:nvPr/>
        </p:nvSpPr>
        <p:spPr bwMode="auto">
          <a:xfrm>
            <a:off x="323850" y="1341438"/>
            <a:ext cx="3485515" cy="521970"/>
          </a:xfrm>
          <a:prstGeom prst="rect">
            <a:avLst/>
          </a:prstGeom>
          <a:noFill/>
          <a:ln w="9525">
            <a:noFill/>
            <a:miter lim="800000"/>
          </a:ln>
        </p:spPr>
        <p:txBody>
          <a:bodyPr wrap="none">
            <a:spAutoFit/>
          </a:bodyPr>
          <a:lstStyle/>
          <a:p>
            <a:r>
              <a:rPr kumimoji="0" lang="en-US" altLang="en-US" b="1" smtClean="0">
                <a:solidFill>
                  <a:srgbClr val="FF0000"/>
                </a:solidFill>
                <a:ea typeface="楷体_GB2312" pitchFamily="49" charset="-122"/>
              </a:rPr>
              <a:t>6.5.2 </a:t>
            </a:r>
            <a:r>
              <a:rPr kumimoji="0" lang="en-US" altLang="en-US" b="1">
                <a:solidFill>
                  <a:srgbClr val="FF0000"/>
                </a:solidFill>
                <a:latin typeface="楷体" panose="02010609060101010101" charset="-122"/>
                <a:ea typeface="楷体" panose="02010609060101010101" charset="-122"/>
              </a:rPr>
              <a:t>成本控制的方法</a:t>
            </a:r>
            <a:endParaRPr kumimoji="0" lang="en-US" altLang="en-US" b="1">
              <a:solidFill>
                <a:srgbClr val="FF0000"/>
              </a:solidFill>
              <a:latin typeface="楷体" panose="02010609060101010101" charset="-122"/>
              <a:ea typeface="楷体" panose="02010609060101010101" charset="-122"/>
            </a:endParaRPr>
          </a:p>
        </p:txBody>
      </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9"/>
          <p:cNvSpPr>
            <a:spLocks noGrp="1" noChangeArrowheads="1"/>
          </p:cNvSpPr>
          <p:nvPr>
            <p:ph type="sldNum" sz="quarter" idx="10"/>
          </p:nvPr>
        </p:nvSpPr>
        <p:spPr>
          <a:noFill/>
        </p:spPr>
        <p:txBody>
          <a:bodyPr/>
          <a:lstStyle/>
          <a:p>
            <a:r>
              <a:rPr lang="zh-CN" altLang="en-GB" smtClean="0"/>
              <a:t>  </a:t>
            </a:r>
            <a:fld id="{108E4690-EB6C-4570-8CF2-33E147C19E19}" type="slidenum">
              <a:rPr lang="zh-CN" altLang="en-GB" smtClean="0"/>
            </a:fld>
            <a:endParaRPr lang="en-US" altLang="zh-CN" smtClean="0"/>
          </a:p>
        </p:txBody>
      </p:sp>
      <p:sp>
        <p:nvSpPr>
          <p:cNvPr id="39939"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b="1" smtClean="0">
                <a:solidFill>
                  <a:schemeClr val="bg2"/>
                </a:solidFill>
              </a:rPr>
              <a:t>P.144</a:t>
            </a:r>
            <a:endParaRPr lang="en-US" altLang="zh-CN" sz="2400" b="1">
              <a:solidFill>
                <a:schemeClr val="bg2"/>
              </a:solidFill>
            </a:endParaRPr>
          </a:p>
        </p:txBody>
      </p:sp>
      <p:sp>
        <p:nvSpPr>
          <p:cNvPr id="39940" name="Text Box 4"/>
          <p:cNvSpPr txBox="1">
            <a:spLocks noChangeArrowheads="1"/>
          </p:cNvSpPr>
          <p:nvPr/>
        </p:nvSpPr>
        <p:spPr bwMode="auto">
          <a:xfrm>
            <a:off x="-32" y="1857364"/>
            <a:ext cx="9001156" cy="4677410"/>
          </a:xfrm>
          <a:prstGeom prst="rect">
            <a:avLst/>
          </a:prstGeom>
          <a:noFill/>
          <a:ln w="9525" algn="ctr">
            <a:noFill/>
            <a:miter lim="800000"/>
          </a:ln>
        </p:spPr>
        <p:txBody>
          <a:bodyPr wrap="square">
            <a:spAutoFit/>
          </a:bodyPr>
          <a:lstStyle/>
          <a:p>
            <a:pPr>
              <a:spcBef>
                <a:spcPts val="600"/>
              </a:spcBef>
              <a:spcAft>
                <a:spcPts val="600"/>
              </a:spcAft>
              <a:buClr>
                <a:schemeClr val="hlink"/>
              </a:buClr>
            </a:pPr>
            <a:r>
              <a:rPr lang="zh-CN" altLang="en-US" sz="3600" b="1">
                <a:solidFill>
                  <a:schemeClr val="bg2"/>
                </a:solidFill>
                <a:latin typeface="楷体" panose="02010609060101010101" charset="-122"/>
                <a:ea typeface="楷体" panose="02010609060101010101" charset="-122"/>
              </a:rPr>
              <a:t>挣值分析法是一种项目绩效衡量方法，它综合了范围、时间和成本数据，主要用于实际成本的绩效测量。</a:t>
            </a:r>
            <a:endParaRPr lang="zh-CN" altLang="en-US" sz="3600" b="1">
              <a:solidFill>
                <a:schemeClr val="bg2"/>
              </a:solidFill>
              <a:latin typeface="楷体" panose="02010609060101010101" charset="-122"/>
              <a:ea typeface="楷体" panose="02010609060101010101" charset="-122"/>
            </a:endParaRPr>
          </a:p>
          <a:p>
            <a:pPr>
              <a:spcBef>
                <a:spcPts val="600"/>
              </a:spcBef>
              <a:spcAft>
                <a:spcPts val="600"/>
              </a:spcAft>
              <a:buClr>
                <a:schemeClr val="hlink"/>
              </a:buClr>
            </a:pPr>
            <a:r>
              <a:rPr lang="zh-CN" altLang="en-US" sz="3600" b="1" smtClean="0">
                <a:solidFill>
                  <a:schemeClr val="bg2"/>
                </a:solidFill>
                <a:latin typeface="楷体" panose="02010609060101010101" charset="-122"/>
                <a:ea typeface="楷体" panose="02010609060101010101" charset="-122"/>
              </a:rPr>
              <a:t>其基本</a:t>
            </a:r>
            <a:r>
              <a:rPr lang="zh-CN" altLang="en-US" sz="3600" b="1">
                <a:solidFill>
                  <a:schemeClr val="bg2"/>
                </a:solidFill>
                <a:latin typeface="楷体" panose="02010609060101010101" charset="-122"/>
                <a:ea typeface="楷体" panose="02010609060101010101" charset="-122"/>
              </a:rPr>
              <a:t>思想是，通过测量和计算已完成的工作的预算费用和实际费用以及计划工作的预算费用得到计划实施的进度和费用的偏差，达到判断项目预算和进度计划执行情况的目的。</a:t>
            </a:r>
            <a:endParaRPr lang="zh-CN" altLang="en-US" sz="3600" b="1">
              <a:solidFill>
                <a:schemeClr val="bg2"/>
              </a:solidFill>
              <a:latin typeface="楷体" panose="02010609060101010101" charset="-122"/>
              <a:ea typeface="楷体" panose="02010609060101010101" charset="-122"/>
            </a:endParaRPr>
          </a:p>
        </p:txBody>
      </p:sp>
      <p:sp>
        <p:nvSpPr>
          <p:cNvPr id="39941" name="Rectangle 5"/>
          <p:cNvSpPr>
            <a:spLocks noChangeArrowheads="1"/>
          </p:cNvSpPr>
          <p:nvPr/>
        </p:nvSpPr>
        <p:spPr bwMode="auto">
          <a:xfrm>
            <a:off x="103188" y="620713"/>
            <a:ext cx="5405437" cy="553085"/>
          </a:xfrm>
          <a:prstGeom prst="rect">
            <a:avLst/>
          </a:prstGeom>
          <a:noFill/>
          <a:ln w="9525">
            <a:noFill/>
            <a:miter lim="800000"/>
          </a:ln>
        </p:spPr>
        <p:txBody>
          <a:bodyPr>
            <a:spAutoFit/>
          </a:bodyPr>
          <a:lstStyle/>
          <a:p>
            <a:r>
              <a:rPr kumimoji="0" lang="en-US" altLang="en-US" sz="3000" b="1" smtClean="0"/>
              <a:t>6.5 </a:t>
            </a:r>
            <a:r>
              <a:rPr kumimoji="0" lang="en-US" altLang="en-US" sz="3000" b="1">
                <a:latin typeface="楷体" panose="02010609060101010101" charset="-122"/>
                <a:ea typeface="楷体" panose="02010609060101010101" charset="-122"/>
              </a:rPr>
              <a:t>项目成本控制</a:t>
            </a:r>
            <a:endParaRPr kumimoji="0" lang="en-US" altLang="en-US" sz="3000" b="1">
              <a:latin typeface="楷体" panose="02010609060101010101" charset="-122"/>
              <a:ea typeface="楷体" panose="02010609060101010101" charset="-122"/>
            </a:endParaRPr>
          </a:p>
        </p:txBody>
      </p:sp>
      <p:sp>
        <p:nvSpPr>
          <p:cNvPr id="39942" name="Rectangle 6"/>
          <p:cNvSpPr>
            <a:spLocks noChangeArrowheads="1"/>
          </p:cNvSpPr>
          <p:nvPr/>
        </p:nvSpPr>
        <p:spPr bwMode="auto">
          <a:xfrm>
            <a:off x="323850" y="1341438"/>
            <a:ext cx="2770505" cy="521970"/>
          </a:xfrm>
          <a:prstGeom prst="rect">
            <a:avLst/>
          </a:prstGeom>
          <a:noFill/>
          <a:ln w="9525">
            <a:noFill/>
            <a:miter lim="800000"/>
          </a:ln>
        </p:spPr>
        <p:txBody>
          <a:bodyPr wrap="none">
            <a:spAutoFit/>
          </a:bodyPr>
          <a:lstStyle/>
          <a:p>
            <a:r>
              <a:rPr kumimoji="0" lang="en-US" altLang="en-US" b="1" smtClean="0">
                <a:solidFill>
                  <a:srgbClr val="FF0000"/>
                </a:solidFill>
                <a:ea typeface="楷体_GB2312" pitchFamily="49" charset="-122"/>
              </a:rPr>
              <a:t>6.5.3 </a:t>
            </a:r>
            <a:r>
              <a:rPr kumimoji="0" lang="en-US" altLang="en-US" b="1">
                <a:solidFill>
                  <a:srgbClr val="FF0000"/>
                </a:solidFill>
                <a:latin typeface="楷体" panose="02010609060101010101" charset="-122"/>
                <a:ea typeface="楷体" panose="02010609060101010101" charset="-122"/>
              </a:rPr>
              <a:t>挣值分析法</a:t>
            </a:r>
            <a:endParaRPr kumimoji="0" lang="en-US" altLang="en-US" b="1">
              <a:solidFill>
                <a:srgbClr val="FF0000"/>
              </a:solidFill>
              <a:latin typeface="楷体" panose="02010609060101010101" charset="-122"/>
              <a:ea typeface="楷体" panose="02010609060101010101" charset="-122"/>
            </a:endParaRPr>
          </a:p>
        </p:txBody>
      </p:sp>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9"/>
          <p:cNvSpPr>
            <a:spLocks noGrp="1" noChangeArrowheads="1"/>
          </p:cNvSpPr>
          <p:nvPr>
            <p:ph type="sldNum" sz="quarter" idx="10"/>
          </p:nvPr>
        </p:nvSpPr>
        <p:spPr>
          <a:noFill/>
        </p:spPr>
        <p:txBody>
          <a:bodyPr/>
          <a:lstStyle/>
          <a:p>
            <a:r>
              <a:rPr lang="zh-CN" altLang="en-GB" smtClean="0"/>
              <a:t>  </a:t>
            </a:r>
            <a:fld id="{AE53ADB2-66C4-4A49-B86B-6ADE707C9758}" type="slidenum">
              <a:rPr lang="zh-CN" altLang="en-GB" smtClean="0"/>
            </a:fld>
            <a:endParaRPr lang="en-US" altLang="zh-CN" smtClean="0"/>
          </a:p>
        </p:txBody>
      </p:sp>
      <p:sp>
        <p:nvSpPr>
          <p:cNvPr id="40963"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b="1" smtClean="0">
                <a:solidFill>
                  <a:schemeClr val="bg2"/>
                </a:solidFill>
              </a:rPr>
              <a:t>P.144</a:t>
            </a:r>
            <a:endParaRPr lang="en-US" altLang="zh-CN" sz="2400" b="1">
              <a:solidFill>
                <a:schemeClr val="bg2"/>
              </a:solidFill>
            </a:endParaRPr>
          </a:p>
        </p:txBody>
      </p:sp>
      <p:sp>
        <p:nvSpPr>
          <p:cNvPr id="40964" name="Text Box 4"/>
          <p:cNvSpPr txBox="1">
            <a:spLocks noChangeArrowheads="1"/>
          </p:cNvSpPr>
          <p:nvPr/>
        </p:nvSpPr>
        <p:spPr bwMode="auto">
          <a:xfrm>
            <a:off x="71438" y="1714488"/>
            <a:ext cx="9072594" cy="4799965"/>
          </a:xfrm>
          <a:prstGeom prst="rect">
            <a:avLst/>
          </a:prstGeom>
          <a:noFill/>
          <a:ln w="9525" algn="ctr">
            <a:noFill/>
            <a:miter lim="800000"/>
          </a:ln>
        </p:spPr>
        <p:txBody>
          <a:bodyPr wrap="square">
            <a:spAutoFit/>
          </a:bodyPr>
          <a:lstStyle/>
          <a:p>
            <a:pPr>
              <a:spcBef>
                <a:spcPts val="600"/>
              </a:spcBef>
              <a:buClr>
                <a:schemeClr val="hlink"/>
              </a:buClr>
            </a:pPr>
            <a:r>
              <a:rPr lang="zh-CN" altLang="en-US" b="1">
                <a:solidFill>
                  <a:schemeClr val="bg2"/>
                </a:solidFill>
                <a:latin typeface="楷体" panose="02010609060101010101" charset="-122"/>
                <a:ea typeface="楷体" panose="02010609060101010101" charset="-122"/>
                <a:cs typeface="楷体" panose="02010609060101010101" charset="-122"/>
              </a:rPr>
              <a:t>挣值法的三个基本参数：</a:t>
            </a:r>
            <a:endParaRPr lang="zh-CN" altLang="en-US" b="1">
              <a:solidFill>
                <a:schemeClr val="bg2"/>
              </a:solidFill>
              <a:latin typeface="楷体" panose="02010609060101010101" charset="-122"/>
              <a:ea typeface="楷体" panose="02010609060101010101" charset="-122"/>
              <a:cs typeface="楷体" panose="02010609060101010101" charset="-122"/>
            </a:endParaRPr>
          </a:p>
          <a:p>
            <a:pPr lvl="1">
              <a:spcBef>
                <a:spcPts val="600"/>
              </a:spcBef>
              <a:buClr>
                <a:schemeClr val="bg1"/>
              </a:buClr>
              <a:buFont typeface="Wingdings" panose="05000000000000000000" pitchFamily="2" charset="2"/>
              <a:buChar char="n"/>
            </a:pPr>
            <a:r>
              <a:rPr lang="zh-CN" altLang="en-US" sz="2400" b="1">
                <a:solidFill>
                  <a:schemeClr val="bg2"/>
                </a:solidFill>
                <a:latin typeface="楷体" panose="02010609060101010101" charset="-122"/>
                <a:ea typeface="楷体" panose="02010609060101010101" charset="-122"/>
                <a:cs typeface="楷体" panose="02010609060101010101" charset="-122"/>
              </a:rPr>
              <a:t>计划工作量的预算成本</a:t>
            </a:r>
            <a:r>
              <a:rPr lang="zh-CN" altLang="en-US" sz="2400" b="1">
                <a:solidFill>
                  <a:schemeClr val="bg2"/>
                </a:solidFill>
                <a:ea typeface="楷体" panose="02010609060101010101" charset="-122"/>
                <a:cs typeface="Times New Roman" panose="02020603050405020304" pitchFamily="18" charset="0"/>
              </a:rPr>
              <a:t>(</a:t>
            </a:r>
            <a:r>
              <a:rPr lang="en-US" altLang="zh-CN" sz="2400" b="1">
                <a:solidFill>
                  <a:srgbClr val="FF0000"/>
                </a:solidFill>
                <a:ea typeface="楷体" panose="02010609060101010101" charset="-122"/>
                <a:cs typeface="Times New Roman" panose="02020603050405020304" pitchFamily="18" charset="0"/>
              </a:rPr>
              <a:t>BCWS</a:t>
            </a:r>
            <a:r>
              <a:rPr lang="en-US" altLang="zh-CN" sz="2400" b="1">
                <a:solidFill>
                  <a:schemeClr val="bg2"/>
                </a:solidFill>
                <a:ea typeface="楷体" panose="02010609060101010101" charset="-122"/>
                <a:cs typeface="Times New Roman" panose="02020603050405020304" pitchFamily="18" charset="0"/>
              </a:rPr>
              <a:t>)</a:t>
            </a:r>
            <a:r>
              <a:rPr lang="zh-CN" altLang="en-US" sz="2400" b="1">
                <a:solidFill>
                  <a:schemeClr val="bg2"/>
                </a:solidFill>
                <a:latin typeface="楷体" panose="02010609060101010101" charset="-122"/>
                <a:ea typeface="楷体" panose="02010609060101010101" charset="-122"/>
                <a:cs typeface="楷体" panose="02010609060101010101" charset="-122"/>
              </a:rPr>
              <a:t> ：</a:t>
            </a:r>
            <a:r>
              <a:rPr lang="en-US" altLang="zh-CN" sz="2400" b="1">
                <a:solidFill>
                  <a:schemeClr val="bg2"/>
                </a:solidFill>
                <a:ea typeface="楷体" panose="02010609060101010101" charset="-122"/>
                <a:cs typeface="Times New Roman" panose="02020603050405020304" pitchFamily="18" charset="0"/>
              </a:rPr>
              <a:t>BCWS</a:t>
            </a:r>
            <a:r>
              <a:rPr lang="zh-CN" altLang="en-US" sz="2400" b="1">
                <a:solidFill>
                  <a:schemeClr val="bg2"/>
                </a:solidFill>
                <a:latin typeface="楷体" panose="02010609060101010101" charset="-122"/>
                <a:ea typeface="楷体" panose="02010609060101010101" charset="-122"/>
                <a:cs typeface="楷体" panose="02010609060101010101" charset="-122"/>
              </a:rPr>
              <a:t>是指计划要求完成的工作量所需的预算工时/费用。 </a:t>
            </a:r>
            <a:endParaRPr lang="zh-CN" altLang="en-US" sz="2400" b="1">
              <a:solidFill>
                <a:schemeClr val="bg2"/>
              </a:solidFill>
              <a:latin typeface="楷体" panose="02010609060101010101" charset="-122"/>
              <a:ea typeface="楷体" panose="02010609060101010101" charset="-122"/>
              <a:cs typeface="楷体" panose="02010609060101010101" charset="-122"/>
            </a:endParaRPr>
          </a:p>
          <a:p>
            <a:pPr lvl="3">
              <a:spcBef>
                <a:spcPts val="600"/>
              </a:spcBef>
              <a:buClr>
                <a:schemeClr val="hlink"/>
              </a:buClr>
              <a:buFont typeface="Wingdings" panose="05000000000000000000" pitchFamily="2" charset="2"/>
              <a:buNone/>
            </a:pPr>
            <a:r>
              <a:rPr lang="en-US" altLang="zh-CN" sz="2400" b="1">
                <a:solidFill>
                  <a:schemeClr val="bg2"/>
                </a:solidFill>
                <a:ea typeface="楷体" panose="02010609060101010101" charset="-122"/>
                <a:cs typeface="Times New Roman" panose="02020603050405020304" pitchFamily="18" charset="0"/>
              </a:rPr>
              <a:t>BCWS </a:t>
            </a:r>
            <a:r>
              <a:rPr lang="en-US" altLang="zh-CN" sz="2400" b="1">
                <a:solidFill>
                  <a:schemeClr val="bg2"/>
                </a:solidFill>
                <a:latin typeface="楷体" panose="02010609060101010101" charset="-122"/>
                <a:ea typeface="楷体" panose="02010609060101010101" charset="-122"/>
                <a:cs typeface="Times New Roman" panose="02020603050405020304" pitchFamily="18" charset="0"/>
              </a:rPr>
              <a:t>= </a:t>
            </a:r>
            <a:r>
              <a:rPr lang="zh-CN" altLang="en-US" sz="2400" b="1">
                <a:solidFill>
                  <a:schemeClr val="bg2"/>
                </a:solidFill>
                <a:latin typeface="楷体" panose="02010609060101010101" charset="-122"/>
                <a:ea typeface="楷体" panose="02010609060101010101" charset="-122"/>
                <a:cs typeface="楷体" panose="02010609060101010101" charset="-122"/>
              </a:rPr>
              <a:t>计划工作量 </a:t>
            </a:r>
            <a:r>
              <a:rPr lang="zh-CN" altLang="en-US" sz="2400" b="1" smtClean="0">
                <a:solidFill>
                  <a:schemeClr val="bg2"/>
                </a:solidFill>
                <a:latin typeface="楷体" panose="02010609060101010101" charset="-122"/>
                <a:ea typeface="楷体" panose="02010609060101010101" charset="-122"/>
                <a:cs typeface="楷体" panose="02010609060101010101" charset="-122"/>
              </a:rPr>
              <a:t> *  预算定额</a:t>
            </a:r>
            <a:endParaRPr lang="zh-CN" altLang="en-US" sz="2400" b="1">
              <a:solidFill>
                <a:schemeClr val="bg2"/>
              </a:solidFill>
              <a:latin typeface="楷体" panose="02010609060101010101" charset="-122"/>
              <a:ea typeface="楷体" panose="02010609060101010101" charset="-122"/>
              <a:cs typeface="楷体" panose="02010609060101010101" charset="-122"/>
            </a:endParaRPr>
          </a:p>
          <a:p>
            <a:pPr lvl="1">
              <a:spcBef>
                <a:spcPts val="600"/>
              </a:spcBef>
              <a:buClr>
                <a:schemeClr val="bg1"/>
              </a:buClr>
              <a:buFont typeface="Wingdings" panose="05000000000000000000" pitchFamily="2" charset="2"/>
              <a:buChar char="n"/>
            </a:pPr>
            <a:r>
              <a:rPr lang="zh-CN" altLang="en-US" sz="2400" b="1">
                <a:solidFill>
                  <a:schemeClr val="bg2"/>
                </a:solidFill>
                <a:latin typeface="楷体" panose="02010609060101010101" charset="-122"/>
                <a:ea typeface="楷体" panose="02010609060101010101" charset="-122"/>
                <a:cs typeface="楷体" panose="02010609060101010101" charset="-122"/>
              </a:rPr>
              <a:t>已完成工作的实际成本</a:t>
            </a:r>
            <a:r>
              <a:rPr lang="zh-CN" altLang="en-US" sz="2400" b="1">
                <a:solidFill>
                  <a:schemeClr val="bg2"/>
                </a:solidFill>
                <a:ea typeface="楷体" panose="02010609060101010101" charset="-122"/>
                <a:cs typeface="Times New Roman" panose="02020603050405020304" pitchFamily="18" charset="0"/>
              </a:rPr>
              <a:t>(</a:t>
            </a:r>
            <a:r>
              <a:rPr lang="en-US" altLang="zh-CN" sz="2400" b="1">
                <a:solidFill>
                  <a:srgbClr val="FF0000"/>
                </a:solidFill>
                <a:ea typeface="楷体" panose="02010609060101010101" charset="-122"/>
                <a:cs typeface="Times New Roman" panose="02020603050405020304" pitchFamily="18" charset="0"/>
              </a:rPr>
              <a:t>ACWP</a:t>
            </a:r>
            <a:r>
              <a:rPr lang="en-US" altLang="zh-CN" sz="2400" b="1">
                <a:solidFill>
                  <a:schemeClr val="bg2"/>
                </a:solidFill>
                <a:ea typeface="楷体" panose="02010609060101010101" charset="-122"/>
                <a:cs typeface="Times New Roman" panose="02020603050405020304" pitchFamily="18" charset="0"/>
              </a:rPr>
              <a:t>)</a:t>
            </a:r>
            <a:r>
              <a:rPr lang="zh-CN" altLang="en-US" sz="2400" b="1">
                <a:solidFill>
                  <a:schemeClr val="bg2"/>
                </a:solidFill>
                <a:latin typeface="楷体" panose="02010609060101010101" charset="-122"/>
                <a:ea typeface="楷体" panose="02010609060101010101" charset="-122"/>
                <a:cs typeface="楷体" panose="02010609060101010101" charset="-122"/>
              </a:rPr>
              <a:t> ：</a:t>
            </a:r>
            <a:r>
              <a:rPr lang="en-US" altLang="zh-CN" sz="2400" b="1">
                <a:solidFill>
                  <a:schemeClr val="bg2"/>
                </a:solidFill>
                <a:ea typeface="楷体" panose="02010609060101010101" charset="-122"/>
                <a:cs typeface="Times New Roman" panose="02020603050405020304" pitchFamily="18" charset="0"/>
              </a:rPr>
              <a:t>ACWP</a:t>
            </a:r>
            <a:r>
              <a:rPr lang="zh-CN" altLang="en-US" sz="2400" b="1">
                <a:solidFill>
                  <a:schemeClr val="bg2"/>
                </a:solidFill>
                <a:latin typeface="楷体" panose="02010609060101010101" charset="-122"/>
                <a:ea typeface="楷体" panose="02010609060101010101" charset="-122"/>
                <a:cs typeface="楷体" panose="02010609060101010101" charset="-122"/>
              </a:rPr>
              <a:t>是指实际完成的工作量所消耗的工时/费用。</a:t>
            </a:r>
            <a:endParaRPr lang="zh-CN" altLang="en-US" sz="2400" b="1">
              <a:solidFill>
                <a:schemeClr val="bg2"/>
              </a:solidFill>
              <a:latin typeface="楷体" panose="02010609060101010101" charset="-122"/>
              <a:ea typeface="楷体" panose="02010609060101010101" charset="-122"/>
              <a:cs typeface="楷体" panose="02010609060101010101" charset="-122"/>
            </a:endParaRPr>
          </a:p>
          <a:p>
            <a:pPr lvl="1">
              <a:spcBef>
                <a:spcPts val="600"/>
              </a:spcBef>
              <a:buClr>
                <a:schemeClr val="bg1"/>
              </a:buClr>
              <a:buFont typeface="Wingdings" panose="05000000000000000000" pitchFamily="2" charset="2"/>
              <a:buChar char="n"/>
            </a:pPr>
            <a:r>
              <a:rPr lang="zh-CN" altLang="en-US" sz="2400" b="1">
                <a:solidFill>
                  <a:schemeClr val="bg2"/>
                </a:solidFill>
                <a:latin typeface="楷体" panose="02010609060101010101" charset="-122"/>
                <a:ea typeface="楷体" panose="02010609060101010101" charset="-122"/>
                <a:cs typeface="楷体" panose="02010609060101010101" charset="-122"/>
              </a:rPr>
              <a:t>已完成工作量的预算成本</a:t>
            </a:r>
            <a:r>
              <a:rPr lang="zh-CN" altLang="en-US" sz="2400" b="1">
                <a:solidFill>
                  <a:schemeClr val="bg2"/>
                </a:solidFill>
                <a:ea typeface="楷体" panose="02010609060101010101" charset="-122"/>
                <a:cs typeface="Times New Roman" panose="02020603050405020304" pitchFamily="18" charset="0"/>
              </a:rPr>
              <a:t>(</a:t>
            </a:r>
            <a:r>
              <a:rPr lang="en-US" altLang="zh-CN" sz="2400" b="1">
                <a:solidFill>
                  <a:srgbClr val="FF0000"/>
                </a:solidFill>
                <a:ea typeface="楷体" panose="02010609060101010101" charset="-122"/>
                <a:cs typeface="Times New Roman" panose="02020603050405020304" pitchFamily="18" charset="0"/>
              </a:rPr>
              <a:t>BCWP</a:t>
            </a:r>
            <a:r>
              <a:rPr lang="en-US" altLang="zh-CN" sz="2400" b="1">
                <a:solidFill>
                  <a:schemeClr val="bg2"/>
                </a:solidFill>
                <a:ea typeface="楷体" panose="02010609060101010101" charset="-122"/>
                <a:cs typeface="Times New Roman" panose="02020603050405020304" pitchFamily="18" charset="0"/>
              </a:rPr>
              <a:t>)</a:t>
            </a:r>
            <a:r>
              <a:rPr lang="zh-CN" altLang="en-US" sz="2400" b="1">
                <a:solidFill>
                  <a:schemeClr val="bg2"/>
                </a:solidFill>
                <a:latin typeface="楷体" panose="02010609060101010101" charset="-122"/>
                <a:ea typeface="楷体" panose="02010609060101010101" charset="-122"/>
                <a:cs typeface="楷体" panose="02010609060101010101" charset="-122"/>
              </a:rPr>
              <a:t> ：</a:t>
            </a:r>
            <a:r>
              <a:rPr lang="en-US" altLang="zh-CN" sz="2400" b="1">
                <a:solidFill>
                  <a:schemeClr val="bg2"/>
                </a:solidFill>
                <a:ea typeface="楷体" panose="02010609060101010101" charset="-122"/>
                <a:cs typeface="Times New Roman" panose="02020603050405020304" pitchFamily="18" charset="0"/>
              </a:rPr>
              <a:t>BCWP</a:t>
            </a:r>
            <a:r>
              <a:rPr lang="zh-CN" altLang="en-US" sz="2400" b="1">
                <a:solidFill>
                  <a:schemeClr val="bg2"/>
                </a:solidFill>
                <a:latin typeface="楷体" panose="02010609060101010101" charset="-122"/>
                <a:ea typeface="楷体" panose="02010609060101010101" charset="-122"/>
                <a:cs typeface="楷体" panose="02010609060101010101" charset="-122"/>
              </a:rPr>
              <a:t>是指实际完成的工作量按预算定额计算的工时/费用。 </a:t>
            </a:r>
            <a:endParaRPr lang="zh-CN" altLang="en-US" sz="2400" b="1">
              <a:solidFill>
                <a:schemeClr val="bg2"/>
              </a:solidFill>
              <a:latin typeface="楷体" panose="02010609060101010101" charset="-122"/>
              <a:ea typeface="楷体" panose="02010609060101010101" charset="-122"/>
              <a:cs typeface="楷体" panose="02010609060101010101" charset="-122"/>
            </a:endParaRPr>
          </a:p>
          <a:p>
            <a:pPr lvl="3">
              <a:spcBef>
                <a:spcPts val="600"/>
              </a:spcBef>
              <a:buClr>
                <a:schemeClr val="hlink"/>
              </a:buClr>
            </a:pPr>
            <a:r>
              <a:rPr lang="zh-CN" altLang="en-US" sz="2400" b="1">
                <a:solidFill>
                  <a:schemeClr val="bg2"/>
                </a:solidFill>
                <a:latin typeface="楷体" panose="02010609060101010101" charset="-122"/>
                <a:ea typeface="楷体" panose="02010609060101010101" charset="-122"/>
                <a:cs typeface="楷体" panose="02010609060101010101" charset="-122"/>
              </a:rPr>
              <a:t>  </a:t>
            </a:r>
            <a:r>
              <a:rPr lang="en-US" altLang="zh-CN" sz="2400" b="1">
                <a:solidFill>
                  <a:schemeClr val="bg2"/>
                </a:solidFill>
                <a:ea typeface="楷体" panose="02010609060101010101" charset="-122"/>
                <a:cs typeface="Times New Roman" panose="02020603050405020304" pitchFamily="18" charset="0"/>
              </a:rPr>
              <a:t>BCWP </a:t>
            </a:r>
            <a:r>
              <a:rPr lang="en-US" altLang="zh-CN" sz="2400" b="1" smtClean="0">
                <a:solidFill>
                  <a:schemeClr val="bg2"/>
                </a:solidFill>
                <a:latin typeface="楷体" panose="02010609060101010101" charset="-122"/>
                <a:ea typeface="楷体" panose="02010609060101010101" charset="-122"/>
                <a:cs typeface="楷体" panose="02010609060101010101" charset="-122"/>
              </a:rPr>
              <a:t>= </a:t>
            </a:r>
            <a:r>
              <a:rPr lang="zh-CN" altLang="en-US" sz="2400" b="1" smtClean="0">
                <a:solidFill>
                  <a:schemeClr val="bg2"/>
                </a:solidFill>
                <a:latin typeface="楷体" panose="02010609060101010101" charset="-122"/>
                <a:ea typeface="楷体" panose="02010609060101010101" charset="-122"/>
                <a:cs typeface="楷体" panose="02010609060101010101" charset="-122"/>
              </a:rPr>
              <a:t>实际</a:t>
            </a:r>
            <a:r>
              <a:rPr lang="zh-CN" altLang="en-US" sz="2400" b="1">
                <a:solidFill>
                  <a:schemeClr val="bg2"/>
                </a:solidFill>
                <a:latin typeface="楷体" panose="02010609060101010101" charset="-122"/>
                <a:ea typeface="楷体" panose="02010609060101010101" charset="-122"/>
                <a:cs typeface="楷体" panose="02010609060101010101" charset="-122"/>
              </a:rPr>
              <a:t>工作量 </a:t>
            </a:r>
            <a:r>
              <a:rPr lang="zh-CN" altLang="en-US" sz="2400" b="1" smtClean="0">
                <a:solidFill>
                  <a:schemeClr val="bg2"/>
                </a:solidFill>
                <a:latin typeface="楷体" panose="02010609060101010101" charset="-122"/>
                <a:ea typeface="楷体" panose="02010609060101010101" charset="-122"/>
                <a:cs typeface="楷体" panose="02010609060101010101" charset="-122"/>
              </a:rPr>
              <a:t>* 预算定额</a:t>
            </a:r>
            <a:endParaRPr lang="zh-CN" altLang="en-US" sz="2400" b="1">
              <a:solidFill>
                <a:schemeClr val="bg2"/>
              </a:solidFill>
              <a:latin typeface="楷体" panose="02010609060101010101" charset="-122"/>
              <a:ea typeface="楷体" panose="02010609060101010101" charset="-122"/>
              <a:cs typeface="楷体" panose="02010609060101010101" charset="-122"/>
            </a:endParaRPr>
          </a:p>
          <a:p>
            <a:pPr>
              <a:spcBef>
                <a:spcPts val="600"/>
              </a:spcBef>
              <a:buClr>
                <a:schemeClr val="hlink"/>
              </a:buClr>
            </a:pPr>
            <a:r>
              <a:rPr lang="zh-CN" altLang="en-US" b="1">
                <a:solidFill>
                  <a:srgbClr val="0000FF"/>
                </a:solidFill>
                <a:latin typeface="楷体" panose="02010609060101010101" charset="-122"/>
                <a:ea typeface="楷体" panose="02010609060101010101" charset="-122"/>
                <a:cs typeface="楷体" panose="02010609060101010101" charset="-122"/>
              </a:rPr>
              <a:t>挣值法正是因为这种分析方法中用到了</a:t>
            </a:r>
            <a:r>
              <a:rPr lang="en-US" altLang="zh-CN" b="1">
                <a:solidFill>
                  <a:srgbClr val="0000FF"/>
                </a:solidFill>
                <a:latin typeface="楷体" panose="02010609060101010101" charset="-122"/>
                <a:ea typeface="楷体" panose="02010609060101010101" charset="-122"/>
                <a:cs typeface="楷体" panose="02010609060101010101" charset="-122"/>
              </a:rPr>
              <a:t>BCWP</a:t>
            </a:r>
            <a:r>
              <a:rPr lang="zh-CN" altLang="en-US" b="1">
                <a:solidFill>
                  <a:srgbClr val="0000FF"/>
                </a:solidFill>
                <a:latin typeface="楷体" panose="02010609060101010101" charset="-122"/>
                <a:ea typeface="楷体" panose="02010609060101010101" charset="-122"/>
                <a:cs typeface="楷体" panose="02010609060101010101" charset="-122"/>
              </a:rPr>
              <a:t>这个关键数值，而以其来命名的。</a:t>
            </a:r>
            <a:endParaRPr lang="zh-CN" altLang="en-US" b="1">
              <a:solidFill>
                <a:srgbClr val="0000FF"/>
              </a:solidFill>
              <a:latin typeface="楷体" panose="02010609060101010101" charset="-122"/>
              <a:ea typeface="楷体" panose="02010609060101010101" charset="-122"/>
              <a:cs typeface="楷体" panose="02010609060101010101" charset="-122"/>
            </a:endParaRPr>
          </a:p>
        </p:txBody>
      </p:sp>
      <p:sp>
        <p:nvSpPr>
          <p:cNvPr id="40965" name="Rectangle 5"/>
          <p:cNvSpPr>
            <a:spLocks noChangeArrowheads="1"/>
          </p:cNvSpPr>
          <p:nvPr/>
        </p:nvSpPr>
        <p:spPr bwMode="auto">
          <a:xfrm>
            <a:off x="103188" y="620713"/>
            <a:ext cx="5405437" cy="553085"/>
          </a:xfrm>
          <a:prstGeom prst="rect">
            <a:avLst/>
          </a:prstGeom>
          <a:noFill/>
          <a:ln w="9525">
            <a:noFill/>
            <a:miter lim="800000"/>
          </a:ln>
        </p:spPr>
        <p:txBody>
          <a:bodyPr>
            <a:spAutoFit/>
          </a:bodyPr>
          <a:lstStyle/>
          <a:p>
            <a:r>
              <a:rPr kumimoji="0" lang="en-US" altLang="en-US" sz="3000" b="1" smtClean="0"/>
              <a:t>6.5 </a:t>
            </a:r>
            <a:r>
              <a:rPr kumimoji="0" lang="en-US" altLang="en-US" sz="3000" b="1">
                <a:latin typeface="楷体" panose="02010609060101010101" charset="-122"/>
                <a:ea typeface="楷体" panose="02010609060101010101" charset="-122"/>
              </a:rPr>
              <a:t>项目成本控制</a:t>
            </a:r>
            <a:endParaRPr kumimoji="0" lang="en-US" altLang="en-US" sz="3000" b="1">
              <a:latin typeface="楷体" panose="02010609060101010101" charset="-122"/>
              <a:ea typeface="楷体" panose="02010609060101010101" charset="-122"/>
            </a:endParaRPr>
          </a:p>
        </p:txBody>
      </p:sp>
      <p:sp>
        <p:nvSpPr>
          <p:cNvPr id="40966" name="Rectangle 6"/>
          <p:cNvSpPr>
            <a:spLocks noChangeArrowheads="1"/>
          </p:cNvSpPr>
          <p:nvPr/>
        </p:nvSpPr>
        <p:spPr bwMode="auto">
          <a:xfrm>
            <a:off x="71406" y="1285860"/>
            <a:ext cx="2770505" cy="521970"/>
          </a:xfrm>
          <a:prstGeom prst="rect">
            <a:avLst/>
          </a:prstGeom>
          <a:noFill/>
          <a:ln w="9525">
            <a:noFill/>
            <a:miter lim="800000"/>
          </a:ln>
        </p:spPr>
        <p:txBody>
          <a:bodyPr wrap="none">
            <a:spAutoFit/>
          </a:bodyPr>
          <a:lstStyle/>
          <a:p>
            <a:r>
              <a:rPr kumimoji="0" lang="en-US" altLang="en-US" b="1" smtClean="0">
                <a:solidFill>
                  <a:srgbClr val="FF0000"/>
                </a:solidFill>
                <a:ea typeface="楷体_GB2312" pitchFamily="49" charset="-122"/>
              </a:rPr>
              <a:t>6.5.3 </a:t>
            </a:r>
            <a:r>
              <a:rPr kumimoji="0" lang="en-US" altLang="en-US" b="1">
                <a:solidFill>
                  <a:srgbClr val="FF0000"/>
                </a:solidFill>
                <a:latin typeface="楷体" panose="02010609060101010101" charset="-122"/>
                <a:ea typeface="楷体" panose="02010609060101010101" charset="-122"/>
              </a:rPr>
              <a:t>挣值分析法</a:t>
            </a:r>
            <a:endParaRPr kumimoji="0" lang="en-US" altLang="en-US" b="1">
              <a:solidFill>
                <a:srgbClr val="FF0000"/>
              </a:solidFill>
              <a:latin typeface="楷体" panose="02010609060101010101" charset="-122"/>
              <a:ea typeface="楷体" panose="02010609060101010101" charset="-122"/>
            </a:endParaRPr>
          </a:p>
        </p:txBody>
      </p:sp>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9"/>
          <p:cNvSpPr>
            <a:spLocks noGrp="1" noChangeArrowheads="1"/>
          </p:cNvSpPr>
          <p:nvPr>
            <p:ph type="sldNum" sz="quarter" idx="10"/>
          </p:nvPr>
        </p:nvSpPr>
        <p:spPr>
          <a:noFill/>
        </p:spPr>
        <p:txBody>
          <a:bodyPr/>
          <a:lstStyle/>
          <a:p>
            <a:r>
              <a:rPr lang="zh-CN" altLang="en-GB" smtClean="0"/>
              <a:t>  </a:t>
            </a:r>
            <a:fld id="{AE53ADB2-66C4-4A49-B86B-6ADE707C9758}" type="slidenum">
              <a:rPr lang="zh-CN" altLang="en-GB" smtClean="0"/>
            </a:fld>
            <a:endParaRPr lang="en-US" altLang="zh-CN" smtClean="0"/>
          </a:p>
        </p:txBody>
      </p:sp>
      <p:sp>
        <p:nvSpPr>
          <p:cNvPr id="40963"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b="1" smtClean="0">
                <a:solidFill>
                  <a:schemeClr val="bg2"/>
                </a:solidFill>
              </a:rPr>
              <a:t>P.145</a:t>
            </a:r>
            <a:endParaRPr lang="en-US" altLang="zh-CN" sz="2400" b="1">
              <a:solidFill>
                <a:schemeClr val="bg2"/>
              </a:solidFill>
            </a:endParaRPr>
          </a:p>
        </p:txBody>
      </p:sp>
      <p:sp>
        <p:nvSpPr>
          <p:cNvPr id="40964" name="Text Box 4"/>
          <p:cNvSpPr txBox="1">
            <a:spLocks noChangeArrowheads="1"/>
          </p:cNvSpPr>
          <p:nvPr/>
        </p:nvSpPr>
        <p:spPr bwMode="auto">
          <a:xfrm>
            <a:off x="71438" y="1714488"/>
            <a:ext cx="9072594" cy="5154295"/>
          </a:xfrm>
          <a:prstGeom prst="rect">
            <a:avLst/>
          </a:prstGeom>
          <a:noFill/>
          <a:ln w="9525" algn="ctr">
            <a:noFill/>
            <a:miter lim="800000"/>
          </a:ln>
        </p:spPr>
        <p:txBody>
          <a:bodyPr wrap="square">
            <a:spAutoFit/>
          </a:bodyPr>
          <a:lstStyle/>
          <a:p>
            <a:pPr>
              <a:spcBef>
                <a:spcPts val="600"/>
              </a:spcBef>
              <a:spcAft>
                <a:spcPts val="600"/>
              </a:spcAft>
            </a:pPr>
            <a:r>
              <a:rPr lang="en-US" b="1" smtClean="0">
                <a:solidFill>
                  <a:schemeClr val="bg2"/>
                </a:solidFill>
                <a:ea typeface="楷体" panose="02010609060101010101" charset="-122"/>
                <a:cs typeface="Times New Roman" panose="02020603050405020304" pitchFamily="18" charset="0"/>
              </a:rPr>
              <a:t>4</a:t>
            </a:r>
            <a:r>
              <a:rPr lang="zh-CN" altLang="en-US" b="1" smtClean="0">
                <a:solidFill>
                  <a:schemeClr val="bg2"/>
                </a:solidFill>
                <a:latin typeface="楷体" panose="02010609060101010101" charset="-122"/>
                <a:ea typeface="楷体" panose="02010609060101010101" charset="-122"/>
                <a:cs typeface="楷体" panose="02010609060101010101" charset="-122"/>
              </a:rPr>
              <a:t>个指标是成本偏差、进度偏差、成本执行指数、进度执行指数。通过这</a:t>
            </a:r>
            <a:r>
              <a:rPr lang="en-US" b="1" smtClean="0">
                <a:solidFill>
                  <a:schemeClr val="bg2"/>
                </a:solidFill>
                <a:ea typeface="楷体" panose="02010609060101010101" charset="-122"/>
                <a:cs typeface="Times New Roman" panose="02020603050405020304" pitchFamily="18" charset="0"/>
              </a:rPr>
              <a:t>4</a:t>
            </a:r>
            <a:r>
              <a:rPr lang="zh-CN" altLang="en-US" b="1" smtClean="0">
                <a:solidFill>
                  <a:schemeClr val="bg2"/>
                </a:solidFill>
                <a:latin typeface="楷体" panose="02010609060101010101" charset="-122"/>
                <a:ea typeface="楷体" panose="02010609060101010101" charset="-122"/>
                <a:cs typeface="楷体" panose="02010609060101010101" charset="-122"/>
              </a:rPr>
              <a:t>个指标，可以分析项目执行过程中成本的使用情况和进度的进展情况。</a:t>
            </a:r>
            <a:endParaRPr lang="en-US" altLang="zh-CN" b="1" smtClean="0">
              <a:solidFill>
                <a:schemeClr val="bg2"/>
              </a:solidFill>
              <a:latin typeface="楷体" panose="02010609060101010101" charset="-122"/>
              <a:ea typeface="楷体" panose="02010609060101010101" charset="-122"/>
              <a:cs typeface="楷体" panose="02010609060101010101" charset="-122"/>
            </a:endParaRPr>
          </a:p>
          <a:p>
            <a:pPr>
              <a:spcBef>
                <a:spcPts val="600"/>
              </a:spcBef>
              <a:spcAft>
                <a:spcPts val="600"/>
              </a:spcAft>
            </a:pPr>
            <a:r>
              <a:rPr lang="zh-CN" altLang="en-US" sz="2400" b="1" smtClean="0">
                <a:solidFill>
                  <a:srgbClr val="0000FF"/>
                </a:solidFill>
                <a:latin typeface="楷体" panose="02010609060101010101" charset="-122"/>
                <a:ea typeface="楷体" panose="02010609060101010101" charset="-122"/>
                <a:cs typeface="楷体" panose="02010609060101010101" charset="-122"/>
              </a:rPr>
              <a:t>（</a:t>
            </a:r>
            <a:r>
              <a:rPr lang="en-US" sz="2400" b="1" smtClean="0">
                <a:solidFill>
                  <a:srgbClr val="0000FF"/>
                </a:solidFill>
                <a:latin typeface="楷体" panose="02010609060101010101" charset="-122"/>
                <a:ea typeface="楷体" panose="02010609060101010101" charset="-122"/>
                <a:cs typeface="楷体" panose="02010609060101010101" charset="-122"/>
              </a:rPr>
              <a:t>1</a:t>
            </a:r>
            <a:r>
              <a:rPr lang="zh-CN" altLang="en-US" sz="2400" b="1" smtClean="0">
                <a:solidFill>
                  <a:srgbClr val="0000FF"/>
                </a:solidFill>
                <a:latin typeface="楷体" panose="02010609060101010101" charset="-122"/>
                <a:ea typeface="楷体" panose="02010609060101010101" charset="-122"/>
                <a:cs typeface="楷体" panose="02010609060101010101" charset="-122"/>
              </a:rPr>
              <a:t>）成本偏差（</a:t>
            </a:r>
            <a:r>
              <a:rPr lang="en-US" sz="2400" b="1" smtClean="0">
                <a:solidFill>
                  <a:srgbClr val="0000FF"/>
                </a:solidFill>
                <a:ea typeface="楷体" panose="02010609060101010101" charset="-122"/>
                <a:cs typeface="Times New Roman" panose="02020603050405020304" pitchFamily="18" charset="0"/>
              </a:rPr>
              <a:t>CV</a:t>
            </a:r>
            <a:r>
              <a:rPr lang="zh-CN" altLang="en-US" sz="2400" b="1" smtClean="0">
                <a:solidFill>
                  <a:srgbClr val="0000FF"/>
                </a:solidFill>
                <a:ea typeface="楷体" panose="02010609060101010101" charset="-122"/>
                <a:cs typeface="Times New Roman" panose="02020603050405020304" pitchFamily="18" charset="0"/>
              </a:rPr>
              <a:t>，</a:t>
            </a:r>
            <a:r>
              <a:rPr lang="en-US" sz="2400" b="1" smtClean="0">
                <a:solidFill>
                  <a:srgbClr val="0000FF"/>
                </a:solidFill>
                <a:ea typeface="楷体" panose="02010609060101010101" charset="-122"/>
                <a:cs typeface="Times New Roman" panose="02020603050405020304" pitchFamily="18" charset="0"/>
              </a:rPr>
              <a:t>Cost Variance</a:t>
            </a:r>
            <a:r>
              <a:rPr lang="zh-CN" altLang="en-US" sz="2400" b="1" smtClean="0">
                <a:solidFill>
                  <a:srgbClr val="0000FF"/>
                </a:solidFill>
                <a:latin typeface="楷体" panose="02010609060101010101" charset="-122"/>
                <a:ea typeface="楷体" panose="02010609060101010101" charset="-122"/>
                <a:cs typeface="楷体" panose="02010609060101010101" charset="-122"/>
              </a:rPr>
              <a:t>）</a:t>
            </a:r>
            <a:r>
              <a:rPr lang="zh-CN" altLang="en-US" sz="2400" b="1" smtClean="0">
                <a:solidFill>
                  <a:schemeClr val="bg1">
                    <a:lumMod val="50000"/>
                  </a:schemeClr>
                </a:solidFill>
                <a:latin typeface="楷体" panose="02010609060101010101" charset="-122"/>
                <a:ea typeface="楷体" panose="02010609060101010101" charset="-122"/>
                <a:cs typeface="楷体" panose="02010609060101010101" charset="-122"/>
              </a:rPr>
              <a:t>。</a:t>
            </a:r>
            <a:r>
              <a:rPr lang="en-US" sz="2400" b="1" smtClean="0">
                <a:solidFill>
                  <a:schemeClr val="bg2"/>
                </a:solidFill>
                <a:ea typeface="楷体" panose="02010609060101010101" charset="-122"/>
                <a:cs typeface="Times New Roman" panose="02020603050405020304" pitchFamily="18" charset="0"/>
              </a:rPr>
              <a:t>CV</a:t>
            </a:r>
            <a:r>
              <a:rPr lang="zh-CN" altLang="en-US" sz="2400" b="1" smtClean="0">
                <a:solidFill>
                  <a:schemeClr val="bg2"/>
                </a:solidFill>
                <a:latin typeface="楷体" panose="02010609060101010101" charset="-122"/>
                <a:ea typeface="楷体" panose="02010609060101010101" charset="-122"/>
                <a:cs typeface="楷体" panose="02010609060101010101" charset="-122"/>
              </a:rPr>
              <a:t>是指检查期间</a:t>
            </a:r>
            <a:r>
              <a:rPr lang="en-US" sz="2400" b="1" smtClean="0">
                <a:solidFill>
                  <a:schemeClr val="bg2"/>
                </a:solidFill>
                <a:ea typeface="楷体" panose="02010609060101010101" charset="-122"/>
                <a:cs typeface="Times New Roman" panose="02020603050405020304" pitchFamily="18" charset="0"/>
              </a:rPr>
              <a:t>BCWP</a:t>
            </a:r>
            <a:r>
              <a:rPr lang="zh-CN" altLang="en-US" sz="2400" b="1" smtClean="0">
                <a:solidFill>
                  <a:schemeClr val="bg2"/>
                </a:solidFill>
                <a:latin typeface="楷体" panose="02010609060101010101" charset="-122"/>
                <a:ea typeface="楷体" panose="02010609060101010101" charset="-122"/>
                <a:cs typeface="楷体" panose="02010609060101010101" charset="-122"/>
              </a:rPr>
              <a:t>与</a:t>
            </a:r>
            <a:r>
              <a:rPr lang="en-US" sz="2400" b="1" smtClean="0">
                <a:solidFill>
                  <a:schemeClr val="bg2"/>
                </a:solidFill>
                <a:latin typeface="楷体" panose="02010609060101010101" charset="-122"/>
                <a:ea typeface="楷体" panose="02010609060101010101" charset="-122"/>
                <a:cs typeface="楷体" panose="02010609060101010101" charset="-122"/>
              </a:rPr>
              <a:t>ACWP</a:t>
            </a:r>
            <a:r>
              <a:rPr lang="zh-CN" altLang="en-US" sz="2400" b="1" smtClean="0">
                <a:solidFill>
                  <a:schemeClr val="bg2"/>
                </a:solidFill>
                <a:latin typeface="楷体" panose="02010609060101010101" charset="-122"/>
                <a:ea typeface="楷体" panose="02010609060101010101" charset="-122"/>
                <a:cs typeface="楷体" panose="02010609060101010101" charset="-122"/>
              </a:rPr>
              <a:t>之间的差异。</a:t>
            </a:r>
            <a:endParaRPr lang="en-US" altLang="zh-CN" sz="2400" b="1" smtClean="0">
              <a:solidFill>
                <a:schemeClr val="bg2"/>
              </a:solidFill>
              <a:latin typeface="楷体" panose="02010609060101010101" charset="-122"/>
              <a:ea typeface="楷体" panose="02010609060101010101" charset="-122"/>
              <a:cs typeface="楷体" panose="02010609060101010101" charset="-122"/>
            </a:endParaRPr>
          </a:p>
          <a:p>
            <a:pPr algn="ctr">
              <a:spcBef>
                <a:spcPts val="600"/>
              </a:spcBef>
              <a:spcAft>
                <a:spcPts val="600"/>
              </a:spcAft>
            </a:pPr>
            <a:r>
              <a:rPr lang="zh-CN" altLang="en-US" sz="2400" b="1" smtClean="0">
                <a:solidFill>
                  <a:srgbClr val="0000FF"/>
                </a:solidFill>
                <a:latin typeface="楷体" panose="02010609060101010101" charset="-122"/>
                <a:ea typeface="楷体" panose="02010609060101010101" charset="-122"/>
                <a:cs typeface="楷体" panose="02010609060101010101" charset="-122"/>
              </a:rPr>
              <a:t>计算公式为：</a:t>
            </a:r>
            <a:r>
              <a:rPr lang="en-US" sz="2400" b="1" smtClean="0">
                <a:solidFill>
                  <a:srgbClr val="0000FF"/>
                </a:solidFill>
                <a:ea typeface="楷体" panose="02010609060101010101" charset="-122"/>
                <a:cs typeface="Times New Roman" panose="02020603050405020304" pitchFamily="18" charset="0"/>
              </a:rPr>
              <a:t>CV </a:t>
            </a:r>
            <a:r>
              <a:rPr lang="en-US" sz="2400" b="1" smtClean="0">
                <a:solidFill>
                  <a:srgbClr val="0000FF"/>
                </a:solidFill>
                <a:ea typeface="楷体" panose="02010609060101010101" charset="-122"/>
                <a:cs typeface="Times New Roman" panose="02020603050405020304" pitchFamily="18" charset="0"/>
              </a:rPr>
              <a:t>= BCWP – ACWP</a:t>
            </a:r>
            <a:endParaRPr lang="zh-CN" altLang="en-US" sz="2400" b="1" smtClean="0">
              <a:solidFill>
                <a:srgbClr val="0000FF"/>
              </a:solidFill>
              <a:latin typeface="楷体" panose="02010609060101010101" charset="-122"/>
              <a:ea typeface="楷体" panose="02010609060101010101" charset="-122"/>
              <a:cs typeface="楷体" panose="02010609060101010101" charset="-122"/>
            </a:endParaRPr>
          </a:p>
          <a:p>
            <a:pPr lvl="1">
              <a:spcBef>
                <a:spcPts val="600"/>
              </a:spcBef>
              <a:spcAft>
                <a:spcPts val="0"/>
              </a:spcAft>
            </a:pPr>
            <a:r>
              <a:rPr lang="zh-CN" altLang="en-US" sz="2000" b="1" smtClean="0">
                <a:solidFill>
                  <a:schemeClr val="bg2"/>
                </a:solidFill>
                <a:latin typeface="楷体" panose="02010609060101010101" charset="-122"/>
                <a:ea typeface="楷体" panose="02010609060101010101" charset="-122"/>
                <a:cs typeface="楷体" panose="02010609060101010101" charset="-122"/>
              </a:rPr>
              <a:t>当</a:t>
            </a:r>
            <a:r>
              <a:rPr lang="en-US" sz="2000" b="1" smtClean="0">
                <a:solidFill>
                  <a:schemeClr val="bg2"/>
                </a:solidFill>
                <a:ea typeface="楷体" panose="02010609060101010101" charset="-122"/>
                <a:cs typeface="Times New Roman" panose="02020603050405020304" pitchFamily="18" charset="0"/>
              </a:rPr>
              <a:t>CV </a:t>
            </a:r>
            <a:r>
              <a:rPr lang="zh-CN" altLang="en-US" sz="2000" b="1" smtClean="0">
                <a:solidFill>
                  <a:schemeClr val="bg2"/>
                </a:solidFill>
                <a:ea typeface="楷体" panose="02010609060101010101" charset="-122"/>
                <a:cs typeface="Times New Roman" panose="02020603050405020304" pitchFamily="18" charset="0"/>
              </a:rPr>
              <a:t>＜</a:t>
            </a:r>
            <a:r>
              <a:rPr lang="en-US" sz="2000" b="1" smtClean="0">
                <a:solidFill>
                  <a:schemeClr val="bg2"/>
                </a:solidFill>
                <a:ea typeface="楷体" panose="02010609060101010101" charset="-122"/>
                <a:cs typeface="Times New Roman" panose="02020603050405020304" pitchFamily="18" charset="0"/>
              </a:rPr>
              <a:t> 0</a:t>
            </a:r>
            <a:r>
              <a:rPr lang="zh-CN" altLang="en-US" sz="2000" b="1" smtClean="0">
                <a:solidFill>
                  <a:schemeClr val="bg2"/>
                </a:solidFill>
                <a:latin typeface="楷体" panose="02010609060101010101" charset="-122"/>
                <a:ea typeface="楷体" panose="02010609060101010101" charset="-122"/>
                <a:cs typeface="楷体" panose="02010609060101010101" charset="-122"/>
              </a:rPr>
              <a:t>时，表示已完成工作量的实际成本超过了预算成本，即出现了超支的现象，说明执行效果不佳。如图</a:t>
            </a:r>
            <a:r>
              <a:rPr lang="en-US" sz="2000" b="1" smtClean="0">
                <a:solidFill>
                  <a:schemeClr val="bg2"/>
                </a:solidFill>
                <a:ea typeface="楷体" panose="02010609060101010101" charset="-122"/>
                <a:cs typeface="Times New Roman" panose="02020603050405020304" pitchFamily="18" charset="0"/>
              </a:rPr>
              <a:t>6-7(a)</a:t>
            </a:r>
            <a:r>
              <a:rPr lang="zh-CN" altLang="en-US" sz="2000" b="1" smtClean="0">
                <a:solidFill>
                  <a:schemeClr val="bg2"/>
                </a:solidFill>
                <a:latin typeface="楷体" panose="02010609060101010101" charset="-122"/>
                <a:ea typeface="楷体" panose="02010609060101010101" charset="-122"/>
                <a:cs typeface="楷体" panose="02010609060101010101" charset="-122"/>
              </a:rPr>
              <a:t>所示。</a:t>
            </a:r>
            <a:endParaRPr lang="zh-CN" altLang="en-US" sz="2000" b="1" smtClean="0">
              <a:solidFill>
                <a:schemeClr val="bg2"/>
              </a:solidFill>
              <a:latin typeface="楷体" panose="02010609060101010101" charset="-122"/>
              <a:ea typeface="楷体" panose="02010609060101010101" charset="-122"/>
              <a:cs typeface="楷体" panose="02010609060101010101" charset="-122"/>
            </a:endParaRPr>
          </a:p>
          <a:p>
            <a:pPr lvl="1">
              <a:spcBef>
                <a:spcPts val="600"/>
              </a:spcBef>
              <a:spcAft>
                <a:spcPts val="0"/>
              </a:spcAft>
            </a:pPr>
            <a:r>
              <a:rPr lang="zh-CN" altLang="en-US" sz="2000" b="1" smtClean="0">
                <a:solidFill>
                  <a:schemeClr val="bg2"/>
                </a:solidFill>
                <a:latin typeface="楷体" panose="02010609060101010101" charset="-122"/>
                <a:ea typeface="楷体" panose="02010609060101010101" charset="-122"/>
                <a:cs typeface="楷体" panose="02010609060101010101" charset="-122"/>
              </a:rPr>
              <a:t>当</a:t>
            </a:r>
            <a:r>
              <a:rPr lang="en-US" sz="2000" b="1" smtClean="0">
                <a:solidFill>
                  <a:schemeClr val="bg2"/>
                </a:solidFill>
                <a:ea typeface="楷体" panose="02010609060101010101" charset="-122"/>
                <a:cs typeface="Times New Roman" panose="02020603050405020304" pitchFamily="18" charset="0"/>
              </a:rPr>
              <a:t>CV </a:t>
            </a:r>
            <a:r>
              <a:rPr lang="zh-CN" altLang="en-US" sz="2000" b="1" smtClean="0">
                <a:solidFill>
                  <a:schemeClr val="bg2"/>
                </a:solidFill>
                <a:ea typeface="楷体" panose="02010609060101010101" charset="-122"/>
                <a:cs typeface="Times New Roman" panose="02020603050405020304" pitchFamily="18" charset="0"/>
              </a:rPr>
              <a:t>＞</a:t>
            </a:r>
            <a:r>
              <a:rPr lang="en-US" sz="2000" b="1" smtClean="0">
                <a:solidFill>
                  <a:schemeClr val="bg2"/>
                </a:solidFill>
                <a:ea typeface="楷体" panose="02010609060101010101" charset="-122"/>
                <a:cs typeface="Times New Roman" panose="02020603050405020304" pitchFamily="18" charset="0"/>
              </a:rPr>
              <a:t> 0</a:t>
            </a:r>
            <a:r>
              <a:rPr lang="zh-CN" altLang="en-US" sz="2000" b="1" smtClean="0">
                <a:solidFill>
                  <a:schemeClr val="bg2"/>
                </a:solidFill>
                <a:latin typeface="楷体" panose="02010609060101010101" charset="-122"/>
                <a:ea typeface="楷体" panose="02010609060101010101" charset="-122"/>
                <a:cs typeface="楷体" panose="02010609060101010101" charset="-122"/>
              </a:rPr>
              <a:t>时，表示已完成工作量的实际成本低于预算成本，即有所结余，说明工作效率高，执行效果好。如图</a:t>
            </a:r>
            <a:r>
              <a:rPr lang="en-US" sz="2000" b="1" smtClean="0">
                <a:solidFill>
                  <a:schemeClr val="bg2"/>
                </a:solidFill>
                <a:ea typeface="楷体" panose="02010609060101010101" charset="-122"/>
                <a:cs typeface="Times New Roman" panose="02020603050405020304" pitchFamily="18" charset="0"/>
              </a:rPr>
              <a:t>6-7(b)</a:t>
            </a:r>
            <a:r>
              <a:rPr lang="zh-CN" altLang="en-US" sz="2000" b="1" smtClean="0">
                <a:solidFill>
                  <a:schemeClr val="bg2"/>
                </a:solidFill>
                <a:latin typeface="楷体" panose="02010609060101010101" charset="-122"/>
                <a:ea typeface="楷体" panose="02010609060101010101" charset="-122"/>
                <a:cs typeface="楷体" panose="02010609060101010101" charset="-122"/>
              </a:rPr>
              <a:t>所示。</a:t>
            </a:r>
            <a:endParaRPr lang="zh-CN" altLang="en-US" sz="2000" b="1" smtClean="0">
              <a:solidFill>
                <a:schemeClr val="bg2"/>
              </a:solidFill>
              <a:latin typeface="楷体" panose="02010609060101010101" charset="-122"/>
              <a:ea typeface="楷体" panose="02010609060101010101" charset="-122"/>
              <a:cs typeface="楷体" panose="02010609060101010101" charset="-122"/>
            </a:endParaRPr>
          </a:p>
          <a:p>
            <a:pPr lvl="1">
              <a:spcBef>
                <a:spcPts val="600"/>
              </a:spcBef>
              <a:spcAft>
                <a:spcPts val="0"/>
              </a:spcAft>
            </a:pPr>
            <a:r>
              <a:rPr lang="zh-CN" altLang="en-US" sz="2000" b="1" smtClean="0">
                <a:solidFill>
                  <a:schemeClr val="bg2"/>
                </a:solidFill>
                <a:latin typeface="楷体" panose="02010609060101010101" charset="-122"/>
                <a:ea typeface="楷体" panose="02010609060101010101" charset="-122"/>
                <a:cs typeface="楷体" panose="02010609060101010101" charset="-122"/>
              </a:rPr>
              <a:t>当</a:t>
            </a:r>
            <a:r>
              <a:rPr lang="en-US" sz="2000" b="1" smtClean="0">
                <a:solidFill>
                  <a:schemeClr val="bg2"/>
                </a:solidFill>
                <a:ea typeface="楷体" panose="02010609060101010101" charset="-122"/>
                <a:cs typeface="Times New Roman" panose="02020603050405020304" pitchFamily="18" charset="0"/>
              </a:rPr>
              <a:t>CV </a:t>
            </a:r>
            <a:r>
              <a:rPr lang="zh-CN" altLang="en-US" sz="2000" b="1" smtClean="0">
                <a:solidFill>
                  <a:schemeClr val="bg2"/>
                </a:solidFill>
                <a:ea typeface="楷体" panose="02010609060101010101" charset="-122"/>
                <a:cs typeface="Times New Roman" panose="02020603050405020304" pitchFamily="18" charset="0"/>
              </a:rPr>
              <a:t>＝</a:t>
            </a:r>
            <a:r>
              <a:rPr lang="en-US" sz="2000" b="1" smtClean="0">
                <a:solidFill>
                  <a:schemeClr val="bg2"/>
                </a:solidFill>
                <a:ea typeface="楷体" panose="02010609060101010101" charset="-122"/>
                <a:cs typeface="Times New Roman" panose="02020603050405020304" pitchFamily="18" charset="0"/>
              </a:rPr>
              <a:t> 0</a:t>
            </a:r>
            <a:r>
              <a:rPr lang="zh-CN" altLang="en-US" sz="2000" b="1" smtClean="0">
                <a:solidFill>
                  <a:schemeClr val="bg2"/>
                </a:solidFill>
                <a:latin typeface="楷体" panose="02010609060101010101" charset="-122"/>
                <a:ea typeface="楷体" panose="02010609060101010101" charset="-122"/>
                <a:cs typeface="楷体" panose="02010609060101010101" charset="-122"/>
              </a:rPr>
              <a:t>时，表示已完成工作量的实际成本等于预算成本。</a:t>
            </a:r>
            <a:endParaRPr lang="zh-CN" altLang="en-US" sz="2400" b="1" smtClean="0">
              <a:solidFill>
                <a:schemeClr val="bg2"/>
              </a:solidFill>
              <a:latin typeface="楷体" panose="02010609060101010101" charset="-122"/>
              <a:ea typeface="楷体" panose="02010609060101010101" charset="-122"/>
              <a:cs typeface="楷体" panose="02010609060101010101" charset="-122"/>
            </a:endParaRPr>
          </a:p>
          <a:p>
            <a:pPr>
              <a:spcBef>
                <a:spcPts val="600"/>
              </a:spcBef>
              <a:spcAft>
                <a:spcPts val="600"/>
              </a:spcAft>
            </a:pPr>
            <a:endParaRPr lang="zh-CN" altLang="en-US" b="1">
              <a:solidFill>
                <a:schemeClr val="bg2"/>
              </a:solidFill>
              <a:latin typeface="楷体" panose="02010609060101010101" charset="-122"/>
              <a:ea typeface="楷体" panose="02010609060101010101" charset="-122"/>
              <a:cs typeface="楷体" panose="02010609060101010101" charset="-122"/>
            </a:endParaRPr>
          </a:p>
        </p:txBody>
      </p:sp>
      <p:sp>
        <p:nvSpPr>
          <p:cNvPr id="40965" name="Rectangle 5"/>
          <p:cNvSpPr>
            <a:spLocks noChangeArrowheads="1"/>
          </p:cNvSpPr>
          <p:nvPr/>
        </p:nvSpPr>
        <p:spPr bwMode="auto">
          <a:xfrm>
            <a:off x="103188" y="620713"/>
            <a:ext cx="5405437" cy="549275"/>
          </a:xfrm>
          <a:prstGeom prst="rect">
            <a:avLst/>
          </a:prstGeom>
          <a:noFill/>
          <a:ln w="9525">
            <a:noFill/>
            <a:miter lim="800000"/>
          </a:ln>
        </p:spPr>
        <p:txBody>
          <a:bodyPr>
            <a:spAutoFit/>
          </a:bodyPr>
          <a:lstStyle/>
          <a:p>
            <a:r>
              <a:rPr kumimoji="0" lang="en-US" altLang="en-US" sz="3000" b="1" smtClean="0"/>
              <a:t>6.5 </a:t>
            </a:r>
            <a:r>
              <a:rPr kumimoji="0" lang="en-US" altLang="en-US" sz="3000" b="1"/>
              <a:t>项目成本控制</a:t>
            </a:r>
            <a:endParaRPr kumimoji="0" lang="en-US" altLang="en-US" sz="3000" b="1"/>
          </a:p>
        </p:txBody>
      </p:sp>
      <p:sp>
        <p:nvSpPr>
          <p:cNvPr id="40966" name="Rectangle 6"/>
          <p:cNvSpPr>
            <a:spLocks noChangeArrowheads="1"/>
          </p:cNvSpPr>
          <p:nvPr/>
        </p:nvSpPr>
        <p:spPr bwMode="auto">
          <a:xfrm>
            <a:off x="71406" y="1285860"/>
            <a:ext cx="2770188" cy="519112"/>
          </a:xfrm>
          <a:prstGeom prst="rect">
            <a:avLst/>
          </a:prstGeom>
          <a:noFill/>
          <a:ln w="9525">
            <a:noFill/>
            <a:miter lim="800000"/>
          </a:ln>
        </p:spPr>
        <p:txBody>
          <a:bodyPr wrap="none">
            <a:spAutoFit/>
          </a:bodyPr>
          <a:lstStyle/>
          <a:p>
            <a:r>
              <a:rPr kumimoji="0" lang="en-US" altLang="en-US" b="1" smtClean="0">
                <a:solidFill>
                  <a:schemeClr val="hlink"/>
                </a:solidFill>
                <a:ea typeface="楷体_GB2312" pitchFamily="49" charset="-122"/>
              </a:rPr>
              <a:t>6.5.3 </a:t>
            </a:r>
            <a:r>
              <a:rPr kumimoji="0" lang="en-US" altLang="en-US" b="1">
                <a:solidFill>
                  <a:schemeClr val="hlink"/>
                </a:solidFill>
                <a:ea typeface="楷体_GB2312" pitchFamily="49" charset="-122"/>
              </a:rPr>
              <a:t>挣值分析法</a:t>
            </a:r>
            <a:endParaRPr kumimoji="0" lang="en-US" altLang="en-US" b="1">
              <a:solidFill>
                <a:schemeClr val="hlink"/>
              </a:solidFill>
              <a:ea typeface="楷体_GB2312" pitchFamily="49" charset="-122"/>
            </a:endParaRPr>
          </a:p>
        </p:txBody>
      </p:sp>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9"/>
          <p:cNvSpPr>
            <a:spLocks noGrp="1" noChangeArrowheads="1"/>
          </p:cNvSpPr>
          <p:nvPr>
            <p:ph type="sldNum" sz="quarter" idx="10"/>
          </p:nvPr>
        </p:nvSpPr>
        <p:spPr>
          <a:noFill/>
        </p:spPr>
        <p:txBody>
          <a:bodyPr/>
          <a:lstStyle/>
          <a:p>
            <a:r>
              <a:rPr lang="zh-CN" altLang="en-GB" smtClean="0"/>
              <a:t>  </a:t>
            </a:r>
            <a:fld id="{AE53ADB2-66C4-4A49-B86B-6ADE707C9758}" type="slidenum">
              <a:rPr lang="zh-CN" altLang="en-GB" smtClean="0"/>
            </a:fld>
            <a:endParaRPr lang="en-US" altLang="zh-CN" smtClean="0"/>
          </a:p>
        </p:txBody>
      </p:sp>
      <p:sp>
        <p:nvSpPr>
          <p:cNvPr id="40963"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b="1" smtClean="0">
                <a:solidFill>
                  <a:schemeClr val="bg2"/>
                </a:solidFill>
              </a:rPr>
              <a:t>P.145</a:t>
            </a:r>
            <a:endParaRPr lang="en-US" altLang="zh-CN" sz="2400" b="1">
              <a:solidFill>
                <a:schemeClr val="bg2"/>
              </a:solidFill>
            </a:endParaRPr>
          </a:p>
        </p:txBody>
      </p:sp>
      <p:sp>
        <p:nvSpPr>
          <p:cNvPr id="40964" name="Text Box 4"/>
          <p:cNvSpPr txBox="1">
            <a:spLocks noChangeArrowheads="1"/>
          </p:cNvSpPr>
          <p:nvPr/>
        </p:nvSpPr>
        <p:spPr bwMode="auto">
          <a:xfrm>
            <a:off x="71438" y="1714488"/>
            <a:ext cx="9072594" cy="5354320"/>
          </a:xfrm>
          <a:prstGeom prst="rect">
            <a:avLst/>
          </a:prstGeom>
          <a:noFill/>
          <a:ln w="9525" algn="ctr">
            <a:noFill/>
            <a:miter lim="800000"/>
          </a:ln>
        </p:spPr>
        <p:txBody>
          <a:bodyPr wrap="square">
            <a:spAutoFit/>
          </a:bodyPr>
          <a:lstStyle/>
          <a:p>
            <a:pPr>
              <a:spcBef>
                <a:spcPts val="600"/>
              </a:spcBef>
              <a:spcAft>
                <a:spcPts val="600"/>
              </a:spcAft>
            </a:pPr>
            <a:r>
              <a:rPr lang="zh-CN" altLang="en-US" b="1" smtClean="0">
                <a:solidFill>
                  <a:srgbClr val="0000FF"/>
                </a:solidFill>
                <a:ea typeface="楷体" panose="02010609060101010101" charset="-122"/>
                <a:cs typeface="Times New Roman" panose="02020603050405020304" pitchFamily="18" charset="0"/>
              </a:rPr>
              <a:t>（</a:t>
            </a:r>
            <a:r>
              <a:rPr lang="en-US" altLang="en-US" b="1" smtClean="0">
                <a:solidFill>
                  <a:srgbClr val="0000FF"/>
                </a:solidFill>
                <a:ea typeface="楷体" panose="02010609060101010101" charset="-122"/>
                <a:cs typeface="Times New Roman" panose="02020603050405020304" pitchFamily="18" charset="0"/>
              </a:rPr>
              <a:t>2</a:t>
            </a:r>
            <a:r>
              <a:rPr lang="zh-CN" altLang="en-US" b="1" smtClean="0">
                <a:solidFill>
                  <a:srgbClr val="0000FF"/>
                </a:solidFill>
                <a:ea typeface="楷体" panose="02010609060101010101" charset="-122"/>
                <a:cs typeface="Times New Roman" panose="02020603050405020304" pitchFamily="18" charset="0"/>
              </a:rPr>
              <a:t>）</a:t>
            </a:r>
            <a:r>
              <a:rPr lang="zh-CN" altLang="en-US" sz="3200" b="1" smtClean="0">
                <a:solidFill>
                  <a:srgbClr val="0000FF"/>
                </a:solidFill>
                <a:latin typeface="楷体" panose="02010609060101010101" charset="-122"/>
                <a:ea typeface="楷体" panose="02010609060101010101" charset="-122"/>
                <a:cs typeface="楷体" panose="02010609060101010101" charset="-122"/>
              </a:rPr>
              <a:t>进度偏差</a:t>
            </a:r>
            <a:r>
              <a:rPr lang="zh-CN" altLang="en-US" sz="3200" b="1" smtClean="0">
                <a:solidFill>
                  <a:srgbClr val="0000FF"/>
                </a:solidFill>
                <a:ea typeface="楷体" panose="02010609060101010101" charset="-122"/>
                <a:cs typeface="Times New Roman" panose="02020603050405020304" pitchFamily="18" charset="0"/>
              </a:rPr>
              <a:t>（</a:t>
            </a:r>
            <a:r>
              <a:rPr lang="en-US" altLang="en-US" sz="3200" b="1" smtClean="0">
                <a:solidFill>
                  <a:srgbClr val="0000FF"/>
                </a:solidFill>
                <a:ea typeface="楷体" panose="02010609060101010101" charset="-122"/>
                <a:cs typeface="Times New Roman" panose="02020603050405020304" pitchFamily="18" charset="0"/>
              </a:rPr>
              <a:t>SV</a:t>
            </a:r>
            <a:r>
              <a:rPr lang="zh-CN" altLang="en-US" sz="3200" b="1" smtClean="0">
                <a:solidFill>
                  <a:srgbClr val="0000FF"/>
                </a:solidFill>
                <a:ea typeface="楷体" panose="02010609060101010101" charset="-122"/>
                <a:cs typeface="Times New Roman" panose="02020603050405020304" pitchFamily="18" charset="0"/>
              </a:rPr>
              <a:t>，</a:t>
            </a:r>
            <a:r>
              <a:rPr lang="en-US" altLang="en-US" sz="3200" b="1" smtClean="0">
                <a:solidFill>
                  <a:srgbClr val="0000FF"/>
                </a:solidFill>
                <a:ea typeface="楷体" panose="02010609060101010101" charset="-122"/>
                <a:cs typeface="Times New Roman" panose="02020603050405020304" pitchFamily="18" charset="0"/>
              </a:rPr>
              <a:t>Schedule Variance</a:t>
            </a:r>
            <a:r>
              <a:rPr lang="zh-CN" altLang="en-US" sz="3200" b="1" smtClean="0">
                <a:solidFill>
                  <a:srgbClr val="0000FF"/>
                </a:solidFill>
                <a:ea typeface="楷体" panose="02010609060101010101" charset="-122"/>
                <a:cs typeface="Times New Roman" panose="02020603050405020304" pitchFamily="18" charset="0"/>
              </a:rPr>
              <a:t>）</a:t>
            </a:r>
            <a:r>
              <a:rPr lang="zh-CN" altLang="en-US" sz="3200" b="1" smtClean="0">
                <a:solidFill>
                  <a:schemeClr val="bg1">
                    <a:lumMod val="50000"/>
                  </a:schemeClr>
                </a:solidFill>
                <a:latin typeface="楷体" panose="02010609060101010101" charset="-122"/>
                <a:ea typeface="楷体" panose="02010609060101010101" charset="-122"/>
                <a:cs typeface="楷体" panose="02010609060101010101" charset="-122"/>
              </a:rPr>
              <a:t>。</a:t>
            </a:r>
            <a:r>
              <a:rPr lang="en-US" altLang="en-US" b="1" smtClean="0">
                <a:solidFill>
                  <a:schemeClr val="bg2"/>
                </a:solidFill>
                <a:ea typeface="楷体" panose="02010609060101010101" charset="-122"/>
                <a:cs typeface="Times New Roman" panose="02020603050405020304" pitchFamily="18" charset="0"/>
              </a:rPr>
              <a:t>SV</a:t>
            </a:r>
            <a:r>
              <a:rPr lang="zh-CN" altLang="en-US" b="1" smtClean="0">
                <a:solidFill>
                  <a:schemeClr val="bg2"/>
                </a:solidFill>
                <a:latin typeface="楷体" panose="02010609060101010101" charset="-122"/>
                <a:ea typeface="楷体" panose="02010609060101010101" charset="-122"/>
                <a:cs typeface="楷体" panose="02010609060101010101" charset="-122"/>
              </a:rPr>
              <a:t>是指检查期间</a:t>
            </a:r>
            <a:r>
              <a:rPr lang="en-US" altLang="en-US" b="1" smtClean="0">
                <a:solidFill>
                  <a:schemeClr val="bg2"/>
                </a:solidFill>
                <a:ea typeface="楷体" panose="02010609060101010101" charset="-122"/>
                <a:cs typeface="Times New Roman" panose="02020603050405020304" pitchFamily="18" charset="0"/>
              </a:rPr>
              <a:t>BCWP</a:t>
            </a:r>
            <a:r>
              <a:rPr lang="zh-CN" altLang="en-US" sz="2400" b="1" smtClean="0">
                <a:solidFill>
                  <a:schemeClr val="bg2"/>
                </a:solidFill>
                <a:latin typeface="楷体" panose="02010609060101010101" charset="-122"/>
                <a:ea typeface="楷体" panose="02010609060101010101" charset="-122"/>
                <a:cs typeface="楷体" panose="02010609060101010101" charset="-122"/>
              </a:rPr>
              <a:t>（已完成工作量的预算成本）</a:t>
            </a:r>
            <a:r>
              <a:rPr lang="zh-CN" altLang="en-US" sz="3200" b="1" smtClean="0">
                <a:solidFill>
                  <a:schemeClr val="bg2"/>
                </a:solidFill>
                <a:latin typeface="楷体" panose="02010609060101010101" charset="-122"/>
                <a:ea typeface="楷体" panose="02010609060101010101" charset="-122"/>
                <a:cs typeface="楷体" panose="02010609060101010101" charset="-122"/>
              </a:rPr>
              <a:t>与</a:t>
            </a:r>
            <a:r>
              <a:rPr lang="en-US" altLang="en-US" b="1" smtClean="0">
                <a:solidFill>
                  <a:schemeClr val="bg2"/>
                </a:solidFill>
                <a:latin typeface="楷体" panose="02010609060101010101" charset="-122"/>
                <a:ea typeface="楷体" panose="02010609060101010101" charset="-122"/>
                <a:cs typeface="楷体" panose="02010609060101010101" charset="-122"/>
              </a:rPr>
              <a:t>BCWS</a:t>
            </a:r>
            <a:r>
              <a:rPr lang="zh-CN" altLang="en-US" sz="2000" b="1" smtClean="0">
                <a:solidFill>
                  <a:schemeClr val="bg2"/>
                </a:solidFill>
                <a:latin typeface="楷体" panose="02010609060101010101" charset="-122"/>
                <a:ea typeface="楷体" panose="02010609060101010101" charset="-122"/>
                <a:cs typeface="楷体" panose="02010609060101010101" charset="-122"/>
              </a:rPr>
              <a:t>（</a:t>
            </a:r>
            <a:r>
              <a:rPr lang="zh-CN" altLang="en-US" b="1" smtClean="0">
                <a:solidFill>
                  <a:schemeClr val="bg2"/>
                </a:solidFill>
                <a:latin typeface="楷体" panose="02010609060101010101" charset="-122"/>
                <a:ea typeface="楷体" panose="02010609060101010101" charset="-122"/>
                <a:cs typeface="楷体" panose="02010609060101010101" charset="-122"/>
              </a:rPr>
              <a:t>计划工作量的预算成本</a:t>
            </a:r>
            <a:r>
              <a:rPr lang="zh-CN" altLang="en-US" sz="2000" b="1" smtClean="0">
                <a:solidFill>
                  <a:schemeClr val="bg2"/>
                </a:solidFill>
                <a:latin typeface="楷体" panose="02010609060101010101" charset="-122"/>
                <a:ea typeface="楷体" panose="02010609060101010101" charset="-122"/>
                <a:cs typeface="楷体" panose="02010609060101010101" charset="-122"/>
              </a:rPr>
              <a:t>）</a:t>
            </a:r>
            <a:r>
              <a:rPr lang="zh-CN" altLang="en-US" b="1" smtClean="0">
                <a:solidFill>
                  <a:schemeClr val="bg2"/>
                </a:solidFill>
                <a:latin typeface="楷体" panose="02010609060101010101" charset="-122"/>
                <a:ea typeface="楷体" panose="02010609060101010101" charset="-122"/>
                <a:cs typeface="楷体" panose="02010609060101010101" charset="-122"/>
              </a:rPr>
              <a:t>之间的差异。</a:t>
            </a:r>
            <a:endParaRPr lang="en-US" altLang="zh-CN" b="1" smtClean="0">
              <a:solidFill>
                <a:schemeClr val="bg2"/>
              </a:solidFill>
              <a:latin typeface="楷体" panose="02010609060101010101" charset="-122"/>
              <a:ea typeface="楷体" panose="02010609060101010101" charset="-122"/>
              <a:cs typeface="楷体" panose="02010609060101010101" charset="-122"/>
            </a:endParaRPr>
          </a:p>
          <a:p>
            <a:pPr algn="ctr">
              <a:spcBef>
                <a:spcPts val="600"/>
              </a:spcBef>
              <a:spcAft>
                <a:spcPts val="600"/>
              </a:spcAft>
            </a:pPr>
            <a:r>
              <a:rPr lang="zh-CN" altLang="en-US" sz="3200" b="1" smtClean="0">
                <a:solidFill>
                  <a:srgbClr val="0000FF"/>
                </a:solidFill>
                <a:latin typeface="楷体" panose="02010609060101010101" charset="-122"/>
                <a:ea typeface="楷体" panose="02010609060101010101" charset="-122"/>
                <a:cs typeface="楷体" panose="02010609060101010101" charset="-122"/>
              </a:rPr>
              <a:t>计算公式为：    </a:t>
            </a:r>
            <a:r>
              <a:rPr lang="en-US" altLang="en-US" sz="3200" b="1" smtClean="0">
                <a:solidFill>
                  <a:srgbClr val="0000FF"/>
                </a:solidFill>
                <a:ea typeface="楷体" panose="02010609060101010101" charset="-122"/>
                <a:cs typeface="Times New Roman" panose="02020603050405020304" pitchFamily="18" charset="0"/>
              </a:rPr>
              <a:t>SV = BCWP – BCWS</a:t>
            </a:r>
            <a:endParaRPr lang="zh-CN" altLang="en-US" sz="3200" b="1" smtClean="0">
              <a:solidFill>
                <a:srgbClr val="0000FF"/>
              </a:solidFill>
              <a:latin typeface="楷体" panose="02010609060101010101" charset="-122"/>
              <a:ea typeface="楷体" panose="02010609060101010101" charset="-122"/>
              <a:cs typeface="楷体" panose="02010609060101010101" charset="-122"/>
            </a:endParaRPr>
          </a:p>
          <a:p>
            <a:pPr lvl="1">
              <a:spcBef>
                <a:spcPts val="600"/>
              </a:spcBef>
              <a:spcAft>
                <a:spcPts val="600"/>
              </a:spcAft>
            </a:pPr>
            <a:r>
              <a:rPr lang="zh-CN" altLang="en-US" b="1" smtClean="0">
                <a:solidFill>
                  <a:schemeClr val="bg2"/>
                </a:solidFill>
                <a:latin typeface="楷体" panose="02010609060101010101" charset="-122"/>
                <a:ea typeface="楷体" panose="02010609060101010101" charset="-122"/>
                <a:cs typeface="楷体" panose="02010609060101010101" charset="-122"/>
              </a:rPr>
              <a:t>当</a:t>
            </a:r>
            <a:r>
              <a:rPr lang="en-US" altLang="en-US" b="1" smtClean="0">
                <a:solidFill>
                  <a:schemeClr val="bg2"/>
                </a:solidFill>
                <a:ea typeface="楷体" panose="02010609060101010101" charset="-122"/>
                <a:cs typeface="Times New Roman" panose="02020603050405020304" pitchFamily="18" charset="0"/>
              </a:rPr>
              <a:t>SV </a:t>
            </a:r>
            <a:r>
              <a:rPr lang="zh-CN" altLang="en-US" b="1" smtClean="0">
                <a:solidFill>
                  <a:schemeClr val="bg2"/>
                </a:solidFill>
                <a:ea typeface="楷体" panose="02010609060101010101" charset="-122"/>
                <a:cs typeface="Times New Roman" panose="02020603050405020304" pitchFamily="18" charset="0"/>
              </a:rPr>
              <a:t>＞</a:t>
            </a:r>
            <a:r>
              <a:rPr lang="en-US" altLang="en-US" b="1" smtClean="0">
                <a:solidFill>
                  <a:schemeClr val="bg2"/>
                </a:solidFill>
                <a:ea typeface="楷体" panose="02010609060101010101" charset="-122"/>
                <a:cs typeface="Times New Roman" panose="02020603050405020304" pitchFamily="18" charset="0"/>
              </a:rPr>
              <a:t> 0</a:t>
            </a:r>
            <a:r>
              <a:rPr lang="zh-CN" altLang="en-US" b="1" smtClean="0">
                <a:solidFill>
                  <a:schemeClr val="bg2"/>
                </a:solidFill>
                <a:latin typeface="楷体" panose="02010609060101010101" charset="-122"/>
                <a:ea typeface="楷体" panose="02010609060101010101" charset="-122"/>
                <a:cs typeface="楷体" panose="02010609060101010101" charset="-122"/>
              </a:rPr>
              <a:t>时，表示进度提前，实际执行工作比计划花费的时间更少。</a:t>
            </a:r>
            <a:endParaRPr lang="zh-CN" altLang="en-US" b="1" smtClean="0">
              <a:solidFill>
                <a:schemeClr val="bg2"/>
              </a:solidFill>
              <a:latin typeface="楷体" panose="02010609060101010101" charset="-122"/>
              <a:ea typeface="楷体" panose="02010609060101010101" charset="-122"/>
              <a:cs typeface="楷体" panose="02010609060101010101" charset="-122"/>
            </a:endParaRPr>
          </a:p>
          <a:p>
            <a:pPr lvl="1">
              <a:spcBef>
                <a:spcPts val="600"/>
              </a:spcBef>
              <a:spcAft>
                <a:spcPts val="600"/>
              </a:spcAft>
            </a:pPr>
            <a:r>
              <a:rPr lang="zh-CN" altLang="en-US" b="1" smtClean="0">
                <a:solidFill>
                  <a:schemeClr val="bg2"/>
                </a:solidFill>
                <a:latin typeface="楷体" panose="02010609060101010101" charset="-122"/>
                <a:ea typeface="楷体" panose="02010609060101010101" charset="-122"/>
                <a:cs typeface="楷体" panose="02010609060101010101" charset="-122"/>
              </a:rPr>
              <a:t>当</a:t>
            </a:r>
            <a:r>
              <a:rPr lang="en-US" altLang="en-US" b="1" smtClean="0">
                <a:solidFill>
                  <a:schemeClr val="bg2"/>
                </a:solidFill>
                <a:ea typeface="楷体" panose="02010609060101010101" charset="-122"/>
                <a:cs typeface="Times New Roman" panose="02020603050405020304" pitchFamily="18" charset="0"/>
              </a:rPr>
              <a:t>SV </a:t>
            </a:r>
            <a:r>
              <a:rPr lang="zh-CN" altLang="en-US" b="1" smtClean="0">
                <a:solidFill>
                  <a:schemeClr val="bg2"/>
                </a:solidFill>
                <a:ea typeface="楷体" panose="02010609060101010101" charset="-122"/>
                <a:cs typeface="Times New Roman" panose="02020603050405020304" pitchFamily="18" charset="0"/>
              </a:rPr>
              <a:t>＜</a:t>
            </a:r>
            <a:r>
              <a:rPr lang="en-US" altLang="en-US" b="1" smtClean="0">
                <a:solidFill>
                  <a:schemeClr val="bg2"/>
                </a:solidFill>
                <a:ea typeface="楷体" panose="02010609060101010101" charset="-122"/>
                <a:cs typeface="Times New Roman" panose="02020603050405020304" pitchFamily="18" charset="0"/>
              </a:rPr>
              <a:t> 0</a:t>
            </a:r>
            <a:r>
              <a:rPr lang="zh-CN" altLang="en-US" b="1" smtClean="0">
                <a:solidFill>
                  <a:schemeClr val="bg2"/>
                </a:solidFill>
                <a:latin typeface="楷体" panose="02010609060101010101" charset="-122"/>
                <a:ea typeface="楷体" panose="02010609060101010101" charset="-122"/>
                <a:cs typeface="楷体" panose="02010609060101010101" charset="-122"/>
              </a:rPr>
              <a:t>时，表示进度延误，实际执行工作比计划花费更多的时间。</a:t>
            </a:r>
            <a:endParaRPr lang="zh-CN" altLang="en-US" b="1" smtClean="0">
              <a:solidFill>
                <a:schemeClr val="bg2"/>
              </a:solidFill>
              <a:latin typeface="楷体" panose="02010609060101010101" charset="-122"/>
              <a:ea typeface="楷体" panose="02010609060101010101" charset="-122"/>
              <a:cs typeface="楷体" panose="02010609060101010101" charset="-122"/>
            </a:endParaRPr>
          </a:p>
          <a:p>
            <a:pPr lvl="1">
              <a:spcBef>
                <a:spcPts val="600"/>
              </a:spcBef>
              <a:spcAft>
                <a:spcPts val="600"/>
              </a:spcAft>
            </a:pPr>
            <a:r>
              <a:rPr lang="zh-CN" altLang="en-US" b="1" smtClean="0">
                <a:solidFill>
                  <a:schemeClr val="bg2"/>
                </a:solidFill>
                <a:latin typeface="楷体" panose="02010609060101010101" charset="-122"/>
                <a:ea typeface="楷体" panose="02010609060101010101" charset="-122"/>
                <a:cs typeface="楷体" panose="02010609060101010101" charset="-122"/>
              </a:rPr>
              <a:t>当</a:t>
            </a:r>
            <a:r>
              <a:rPr lang="en-US" altLang="en-US" b="1" smtClean="0">
                <a:solidFill>
                  <a:schemeClr val="bg2"/>
                </a:solidFill>
                <a:ea typeface="楷体" panose="02010609060101010101" charset="-122"/>
                <a:cs typeface="Times New Roman" panose="02020603050405020304" pitchFamily="18" charset="0"/>
              </a:rPr>
              <a:t>SV </a:t>
            </a:r>
            <a:r>
              <a:rPr lang="zh-CN" altLang="en-US" b="1" smtClean="0">
                <a:solidFill>
                  <a:schemeClr val="bg2"/>
                </a:solidFill>
                <a:ea typeface="楷体" panose="02010609060101010101" charset="-122"/>
                <a:cs typeface="Times New Roman" panose="02020603050405020304" pitchFamily="18" charset="0"/>
              </a:rPr>
              <a:t>＝</a:t>
            </a:r>
            <a:r>
              <a:rPr lang="en-US" altLang="en-US" b="1" smtClean="0">
                <a:solidFill>
                  <a:schemeClr val="bg2"/>
                </a:solidFill>
                <a:ea typeface="楷体" panose="02010609060101010101" charset="-122"/>
                <a:cs typeface="Times New Roman" panose="02020603050405020304" pitchFamily="18" charset="0"/>
              </a:rPr>
              <a:t> 0</a:t>
            </a:r>
            <a:r>
              <a:rPr lang="zh-CN" altLang="en-US" b="1" smtClean="0">
                <a:solidFill>
                  <a:schemeClr val="bg2"/>
                </a:solidFill>
                <a:latin typeface="楷体" panose="02010609060101010101" charset="-122"/>
                <a:ea typeface="楷体" panose="02010609060101010101" charset="-122"/>
                <a:cs typeface="楷体" panose="02010609060101010101" charset="-122"/>
              </a:rPr>
              <a:t>时，表示实际进度与计划进度一致。</a:t>
            </a:r>
            <a:endParaRPr lang="zh-CN" altLang="en-US" b="1" smtClean="0">
              <a:solidFill>
                <a:schemeClr val="bg2"/>
              </a:solidFill>
              <a:latin typeface="楷体" panose="02010609060101010101" charset="-122"/>
              <a:ea typeface="楷体" panose="02010609060101010101" charset="-122"/>
              <a:cs typeface="楷体" panose="02010609060101010101" charset="-122"/>
            </a:endParaRPr>
          </a:p>
          <a:p>
            <a:pPr>
              <a:spcBef>
                <a:spcPts val="600"/>
              </a:spcBef>
              <a:spcAft>
                <a:spcPts val="600"/>
              </a:spcAft>
            </a:pPr>
            <a:endParaRPr lang="zh-CN" altLang="en-US" b="1">
              <a:solidFill>
                <a:schemeClr val="bg2"/>
              </a:solidFill>
              <a:latin typeface="楷体" panose="02010609060101010101" charset="-122"/>
              <a:ea typeface="楷体" panose="02010609060101010101" charset="-122"/>
              <a:cs typeface="楷体" panose="02010609060101010101" charset="-122"/>
            </a:endParaRPr>
          </a:p>
        </p:txBody>
      </p:sp>
      <p:sp>
        <p:nvSpPr>
          <p:cNvPr id="40965" name="Rectangle 5"/>
          <p:cNvSpPr>
            <a:spLocks noChangeArrowheads="1"/>
          </p:cNvSpPr>
          <p:nvPr/>
        </p:nvSpPr>
        <p:spPr bwMode="auto">
          <a:xfrm>
            <a:off x="103188" y="620713"/>
            <a:ext cx="5405437" cy="553085"/>
          </a:xfrm>
          <a:prstGeom prst="rect">
            <a:avLst/>
          </a:prstGeom>
          <a:noFill/>
          <a:ln w="9525">
            <a:noFill/>
            <a:miter lim="800000"/>
          </a:ln>
        </p:spPr>
        <p:txBody>
          <a:bodyPr>
            <a:spAutoFit/>
          </a:bodyPr>
          <a:lstStyle/>
          <a:p>
            <a:r>
              <a:rPr kumimoji="0" lang="en-US" altLang="en-US" sz="3000" b="1" smtClean="0"/>
              <a:t>6.5 </a:t>
            </a:r>
            <a:r>
              <a:rPr kumimoji="0" lang="en-US" altLang="en-US" sz="3000" b="1">
                <a:latin typeface="楷体" panose="02010609060101010101" charset="-122"/>
                <a:ea typeface="楷体" panose="02010609060101010101" charset="-122"/>
              </a:rPr>
              <a:t>项目成本控制</a:t>
            </a:r>
            <a:endParaRPr kumimoji="0" lang="en-US" altLang="en-US" sz="3000" b="1">
              <a:latin typeface="楷体" panose="02010609060101010101" charset="-122"/>
              <a:ea typeface="楷体" panose="02010609060101010101" charset="-122"/>
            </a:endParaRPr>
          </a:p>
        </p:txBody>
      </p:sp>
      <p:sp>
        <p:nvSpPr>
          <p:cNvPr id="40966" name="Rectangle 6"/>
          <p:cNvSpPr>
            <a:spLocks noChangeArrowheads="1"/>
          </p:cNvSpPr>
          <p:nvPr/>
        </p:nvSpPr>
        <p:spPr bwMode="auto">
          <a:xfrm>
            <a:off x="71406" y="1285860"/>
            <a:ext cx="2770505" cy="521970"/>
          </a:xfrm>
          <a:prstGeom prst="rect">
            <a:avLst/>
          </a:prstGeom>
          <a:noFill/>
          <a:ln w="9525">
            <a:noFill/>
            <a:miter lim="800000"/>
          </a:ln>
        </p:spPr>
        <p:txBody>
          <a:bodyPr wrap="none">
            <a:spAutoFit/>
          </a:bodyPr>
          <a:lstStyle/>
          <a:p>
            <a:r>
              <a:rPr kumimoji="0" lang="en-US" altLang="en-US" b="1" smtClean="0">
                <a:solidFill>
                  <a:srgbClr val="FF0000"/>
                </a:solidFill>
                <a:ea typeface="楷体_GB2312" pitchFamily="49" charset="-122"/>
              </a:rPr>
              <a:t>6.5.3 </a:t>
            </a:r>
            <a:r>
              <a:rPr kumimoji="0" lang="en-US" altLang="en-US" b="1">
                <a:solidFill>
                  <a:srgbClr val="FF0000"/>
                </a:solidFill>
                <a:latin typeface="楷体" panose="02010609060101010101" charset="-122"/>
                <a:ea typeface="楷体" panose="02010609060101010101" charset="-122"/>
              </a:rPr>
              <a:t>挣值分析法</a:t>
            </a:r>
            <a:endParaRPr kumimoji="0" lang="en-US" altLang="en-US" b="1">
              <a:solidFill>
                <a:srgbClr val="FF0000"/>
              </a:solidFill>
              <a:latin typeface="楷体" panose="02010609060101010101" charset="-122"/>
              <a:ea typeface="楷体" panose="02010609060101010101" charset="-122"/>
            </a:endParaRPr>
          </a:p>
        </p:txBody>
      </p:sp>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9"/>
          <p:cNvSpPr>
            <a:spLocks noGrp="1" noChangeArrowheads="1"/>
          </p:cNvSpPr>
          <p:nvPr>
            <p:ph type="sldNum" sz="quarter" idx="10"/>
          </p:nvPr>
        </p:nvSpPr>
        <p:spPr>
          <a:noFill/>
        </p:spPr>
        <p:txBody>
          <a:bodyPr/>
          <a:lstStyle/>
          <a:p>
            <a:r>
              <a:rPr lang="zh-CN" altLang="en-GB" smtClean="0"/>
              <a:t>  </a:t>
            </a:r>
            <a:fld id="{AE53ADB2-66C4-4A49-B86B-6ADE707C9758}" type="slidenum">
              <a:rPr lang="zh-CN" altLang="en-GB" smtClean="0"/>
            </a:fld>
            <a:endParaRPr lang="en-US" altLang="zh-CN" smtClean="0"/>
          </a:p>
        </p:txBody>
      </p:sp>
      <p:sp>
        <p:nvSpPr>
          <p:cNvPr id="40963"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b="1" smtClean="0">
                <a:solidFill>
                  <a:schemeClr val="bg2"/>
                </a:solidFill>
              </a:rPr>
              <a:t>P.146</a:t>
            </a:r>
            <a:endParaRPr lang="en-US" altLang="zh-CN" sz="2400" b="1">
              <a:solidFill>
                <a:schemeClr val="bg2"/>
              </a:solidFill>
            </a:endParaRPr>
          </a:p>
        </p:txBody>
      </p:sp>
      <p:sp>
        <p:nvSpPr>
          <p:cNvPr id="40964" name="Text Box 4"/>
          <p:cNvSpPr txBox="1">
            <a:spLocks noChangeArrowheads="1"/>
          </p:cNvSpPr>
          <p:nvPr/>
        </p:nvSpPr>
        <p:spPr bwMode="auto">
          <a:xfrm>
            <a:off x="214314" y="1791853"/>
            <a:ext cx="8786842" cy="4631055"/>
          </a:xfrm>
          <a:prstGeom prst="rect">
            <a:avLst/>
          </a:prstGeom>
          <a:noFill/>
          <a:ln w="9525" algn="ctr">
            <a:noFill/>
            <a:miter lim="800000"/>
          </a:ln>
        </p:spPr>
        <p:txBody>
          <a:bodyPr wrap="square">
            <a:spAutoFit/>
          </a:bodyPr>
          <a:lstStyle/>
          <a:p>
            <a:pPr>
              <a:spcBef>
                <a:spcPts val="600"/>
              </a:spcBef>
              <a:spcAft>
                <a:spcPts val="600"/>
              </a:spcAft>
            </a:pPr>
            <a:r>
              <a:rPr lang="zh-CN" altLang="en-US" sz="3200" b="1" smtClean="0">
                <a:solidFill>
                  <a:srgbClr val="0000FF"/>
                </a:solidFill>
                <a:latin typeface="楷体" panose="02010609060101010101" charset="-122"/>
                <a:ea typeface="楷体" panose="02010609060101010101" charset="-122"/>
                <a:cs typeface="楷体" panose="02010609060101010101" charset="-122"/>
              </a:rPr>
              <a:t>（</a:t>
            </a:r>
            <a:r>
              <a:rPr lang="en-US" altLang="en-US" sz="3200" b="1" smtClean="0">
                <a:solidFill>
                  <a:srgbClr val="0000FF"/>
                </a:solidFill>
                <a:latin typeface="楷体" panose="02010609060101010101" charset="-122"/>
                <a:ea typeface="楷体" panose="02010609060101010101" charset="-122"/>
                <a:cs typeface="楷体" panose="02010609060101010101" charset="-122"/>
              </a:rPr>
              <a:t>3</a:t>
            </a:r>
            <a:r>
              <a:rPr lang="zh-CN" altLang="en-US" sz="3200" b="1" smtClean="0">
                <a:solidFill>
                  <a:srgbClr val="0000FF"/>
                </a:solidFill>
                <a:latin typeface="楷体" panose="02010609060101010101" charset="-122"/>
                <a:ea typeface="楷体" panose="02010609060101010101" charset="-122"/>
                <a:cs typeface="楷体" panose="02010609060101010101" charset="-122"/>
              </a:rPr>
              <a:t>）成本执行指数</a:t>
            </a:r>
            <a:r>
              <a:rPr lang="zh-CN" altLang="en-US" b="1" smtClean="0">
                <a:solidFill>
                  <a:srgbClr val="0000FF"/>
                </a:solidFill>
                <a:ea typeface="楷体" panose="02010609060101010101" charset="-122"/>
                <a:cs typeface="Times New Roman" panose="02020603050405020304" pitchFamily="18" charset="0"/>
              </a:rPr>
              <a:t>（</a:t>
            </a:r>
            <a:r>
              <a:rPr lang="en-US" altLang="en-US" b="1" smtClean="0">
                <a:solidFill>
                  <a:srgbClr val="0000FF"/>
                </a:solidFill>
                <a:ea typeface="楷体" panose="02010609060101010101" charset="-122"/>
                <a:cs typeface="Times New Roman" panose="02020603050405020304" pitchFamily="18" charset="0"/>
              </a:rPr>
              <a:t>CPI</a:t>
            </a:r>
            <a:r>
              <a:rPr lang="zh-CN" altLang="en-US" b="1" smtClean="0">
                <a:solidFill>
                  <a:srgbClr val="0000FF"/>
                </a:solidFill>
                <a:ea typeface="楷体" panose="02010609060101010101" charset="-122"/>
                <a:cs typeface="Times New Roman" panose="02020603050405020304" pitchFamily="18" charset="0"/>
              </a:rPr>
              <a:t>，</a:t>
            </a:r>
            <a:r>
              <a:rPr lang="en-US" altLang="en-US" b="1" smtClean="0">
                <a:solidFill>
                  <a:srgbClr val="0000FF"/>
                </a:solidFill>
                <a:ea typeface="楷体" panose="02010609060101010101" charset="-122"/>
                <a:cs typeface="Times New Roman" panose="02020603050405020304" pitchFamily="18" charset="0"/>
              </a:rPr>
              <a:t>Cost PerformedIndex</a:t>
            </a:r>
            <a:r>
              <a:rPr lang="zh-CN" altLang="en-US" b="1" smtClean="0">
                <a:solidFill>
                  <a:srgbClr val="0000FF"/>
                </a:solidFill>
                <a:ea typeface="楷体" panose="02010609060101010101" charset="-122"/>
                <a:cs typeface="Times New Roman" panose="02020603050405020304" pitchFamily="18" charset="0"/>
              </a:rPr>
              <a:t>）</a:t>
            </a:r>
            <a:r>
              <a:rPr lang="zh-CN" altLang="en-US" sz="3200" b="1" smtClean="0">
                <a:solidFill>
                  <a:schemeClr val="bg1">
                    <a:lumMod val="50000"/>
                  </a:schemeClr>
                </a:solidFill>
                <a:latin typeface="楷体" panose="02010609060101010101" charset="-122"/>
                <a:ea typeface="楷体" panose="02010609060101010101" charset="-122"/>
                <a:cs typeface="楷体" panose="02010609060101010101" charset="-122"/>
              </a:rPr>
              <a:t>。</a:t>
            </a:r>
            <a:r>
              <a:rPr lang="en-US" altLang="en-US" b="1" smtClean="0">
                <a:solidFill>
                  <a:schemeClr val="bg2"/>
                </a:solidFill>
                <a:latin typeface="楷体" panose="02010609060101010101" charset="-122"/>
                <a:ea typeface="楷体" panose="02010609060101010101" charset="-122"/>
                <a:cs typeface="楷体" panose="02010609060101010101" charset="-122"/>
              </a:rPr>
              <a:t>CPI</a:t>
            </a:r>
            <a:r>
              <a:rPr lang="zh-CN" altLang="en-US" b="1" smtClean="0">
                <a:solidFill>
                  <a:schemeClr val="bg2"/>
                </a:solidFill>
                <a:latin typeface="楷体" panose="02010609060101010101" charset="-122"/>
                <a:ea typeface="楷体" panose="02010609060101010101" charset="-122"/>
                <a:cs typeface="楷体" panose="02010609060101010101" charset="-122"/>
              </a:rPr>
              <a:t>是指预算成本与实际成本之比（或工时值之比）。</a:t>
            </a:r>
            <a:endParaRPr lang="en-US" altLang="zh-CN" b="1" smtClean="0">
              <a:solidFill>
                <a:schemeClr val="bg2"/>
              </a:solidFill>
              <a:latin typeface="楷体" panose="02010609060101010101" charset="-122"/>
              <a:ea typeface="楷体" panose="02010609060101010101" charset="-122"/>
              <a:cs typeface="楷体" panose="02010609060101010101" charset="-122"/>
            </a:endParaRPr>
          </a:p>
          <a:p>
            <a:pPr algn="ctr">
              <a:spcBef>
                <a:spcPts val="600"/>
              </a:spcBef>
              <a:spcAft>
                <a:spcPts val="600"/>
              </a:spcAft>
            </a:pPr>
            <a:r>
              <a:rPr lang="zh-CN" altLang="en-US" sz="3200" b="1" smtClean="0">
                <a:solidFill>
                  <a:srgbClr val="0000FF"/>
                </a:solidFill>
                <a:latin typeface="楷体" panose="02010609060101010101" charset="-122"/>
                <a:ea typeface="楷体" panose="02010609060101010101" charset="-122"/>
                <a:cs typeface="楷体" panose="02010609060101010101" charset="-122"/>
              </a:rPr>
              <a:t>计算公式为：</a:t>
            </a:r>
            <a:r>
              <a:rPr lang="en-US" altLang="en-US" sz="3200" b="1" smtClean="0">
                <a:solidFill>
                  <a:srgbClr val="0000FF"/>
                </a:solidFill>
                <a:ea typeface="楷体" panose="02010609060101010101" charset="-122"/>
                <a:cs typeface="Times New Roman" panose="02020603050405020304" pitchFamily="18" charset="0"/>
              </a:rPr>
              <a:t>CPI = BCWP / ACWP</a:t>
            </a:r>
            <a:endParaRPr lang="zh-CN" altLang="en-US" sz="3200" b="1" smtClean="0">
              <a:solidFill>
                <a:srgbClr val="0000FF"/>
              </a:solidFill>
              <a:latin typeface="楷体" panose="02010609060101010101" charset="-122"/>
              <a:ea typeface="楷体" panose="02010609060101010101" charset="-122"/>
              <a:cs typeface="楷体" panose="02010609060101010101" charset="-122"/>
            </a:endParaRPr>
          </a:p>
          <a:p>
            <a:pPr lvl="1">
              <a:spcBef>
                <a:spcPts val="1200"/>
              </a:spcBef>
              <a:spcAft>
                <a:spcPts val="0"/>
              </a:spcAft>
            </a:pPr>
            <a:r>
              <a:rPr lang="zh-CN" altLang="en-US" b="1" smtClean="0">
                <a:solidFill>
                  <a:schemeClr val="bg2"/>
                </a:solidFill>
                <a:latin typeface="楷体" panose="02010609060101010101" charset="-122"/>
                <a:ea typeface="楷体" panose="02010609060101010101" charset="-122"/>
                <a:cs typeface="楷体" panose="02010609060101010101" charset="-122"/>
              </a:rPr>
              <a:t>当</a:t>
            </a:r>
            <a:r>
              <a:rPr lang="en-US" altLang="en-US" b="1" smtClean="0">
                <a:solidFill>
                  <a:schemeClr val="bg2"/>
                </a:solidFill>
                <a:ea typeface="楷体" panose="02010609060101010101" charset="-122"/>
                <a:cs typeface="Times New Roman" panose="02020603050405020304" pitchFamily="18" charset="0"/>
              </a:rPr>
              <a:t>CPI </a:t>
            </a:r>
            <a:r>
              <a:rPr lang="zh-CN" altLang="en-US" b="1" smtClean="0">
                <a:solidFill>
                  <a:schemeClr val="bg2"/>
                </a:solidFill>
                <a:ea typeface="楷体" panose="02010609060101010101" charset="-122"/>
                <a:cs typeface="Times New Roman" panose="02020603050405020304" pitchFamily="18" charset="0"/>
              </a:rPr>
              <a:t>＜ </a:t>
            </a:r>
            <a:r>
              <a:rPr lang="en-US" altLang="en-US" b="1" smtClean="0">
                <a:solidFill>
                  <a:schemeClr val="bg2"/>
                </a:solidFill>
                <a:ea typeface="楷体" panose="02010609060101010101" charset="-122"/>
                <a:cs typeface="Times New Roman" panose="02020603050405020304" pitchFamily="18" charset="0"/>
              </a:rPr>
              <a:t>1</a:t>
            </a:r>
            <a:r>
              <a:rPr lang="zh-CN" altLang="en-US" b="1" smtClean="0">
                <a:solidFill>
                  <a:schemeClr val="bg2"/>
                </a:solidFill>
                <a:latin typeface="楷体" panose="02010609060101010101" charset="-122"/>
                <a:ea typeface="楷体" panose="02010609060101010101" charset="-122"/>
                <a:cs typeface="楷体" panose="02010609060101010101" charset="-122"/>
              </a:rPr>
              <a:t>时，表示已完成工作的实际成本高于预算成本。</a:t>
            </a:r>
            <a:endParaRPr lang="zh-CN" altLang="en-US" b="1" smtClean="0">
              <a:solidFill>
                <a:schemeClr val="bg2"/>
              </a:solidFill>
              <a:latin typeface="楷体" panose="02010609060101010101" charset="-122"/>
              <a:ea typeface="楷体" panose="02010609060101010101" charset="-122"/>
              <a:cs typeface="楷体" panose="02010609060101010101" charset="-122"/>
            </a:endParaRPr>
          </a:p>
          <a:p>
            <a:pPr lvl="1">
              <a:spcBef>
                <a:spcPts val="600"/>
              </a:spcBef>
              <a:spcAft>
                <a:spcPts val="0"/>
              </a:spcAft>
            </a:pPr>
            <a:r>
              <a:rPr lang="zh-CN" altLang="en-US" b="1" smtClean="0">
                <a:solidFill>
                  <a:schemeClr val="bg2"/>
                </a:solidFill>
                <a:latin typeface="楷体" panose="02010609060101010101" charset="-122"/>
                <a:ea typeface="楷体" panose="02010609060101010101" charset="-122"/>
                <a:cs typeface="楷体" panose="02010609060101010101" charset="-122"/>
              </a:rPr>
              <a:t>当</a:t>
            </a:r>
            <a:r>
              <a:rPr lang="en-US" altLang="en-US" b="1" smtClean="0">
                <a:solidFill>
                  <a:schemeClr val="bg2"/>
                </a:solidFill>
                <a:ea typeface="楷体" panose="02010609060101010101" charset="-122"/>
                <a:cs typeface="Times New Roman" panose="02020603050405020304" pitchFamily="18" charset="0"/>
              </a:rPr>
              <a:t>CPI </a:t>
            </a:r>
            <a:r>
              <a:rPr lang="zh-CN" altLang="en-US" b="1" smtClean="0">
                <a:solidFill>
                  <a:schemeClr val="bg2"/>
                </a:solidFill>
                <a:ea typeface="楷体" panose="02010609060101010101" charset="-122"/>
                <a:cs typeface="Times New Roman" panose="02020603050405020304" pitchFamily="18" charset="0"/>
              </a:rPr>
              <a:t>＞ </a:t>
            </a:r>
            <a:r>
              <a:rPr lang="en-US" altLang="en-US" b="1" smtClean="0">
                <a:solidFill>
                  <a:schemeClr val="bg2"/>
                </a:solidFill>
                <a:ea typeface="楷体" panose="02010609060101010101" charset="-122"/>
                <a:cs typeface="Times New Roman" panose="02020603050405020304" pitchFamily="18" charset="0"/>
              </a:rPr>
              <a:t>1</a:t>
            </a:r>
            <a:r>
              <a:rPr lang="zh-CN" altLang="en-US" b="1" smtClean="0">
                <a:solidFill>
                  <a:schemeClr val="bg2"/>
                </a:solidFill>
                <a:latin typeface="楷体" panose="02010609060101010101" charset="-122"/>
                <a:ea typeface="楷体" panose="02010609060101010101" charset="-122"/>
                <a:cs typeface="楷体" panose="02010609060101010101" charset="-122"/>
              </a:rPr>
              <a:t>时，表示已完成工作的实际成本低于预算成本。</a:t>
            </a:r>
            <a:endParaRPr lang="zh-CN" altLang="en-US" b="1" smtClean="0">
              <a:solidFill>
                <a:schemeClr val="bg2"/>
              </a:solidFill>
              <a:latin typeface="楷体" panose="02010609060101010101" charset="-122"/>
              <a:ea typeface="楷体" panose="02010609060101010101" charset="-122"/>
              <a:cs typeface="楷体" panose="02010609060101010101" charset="-122"/>
            </a:endParaRPr>
          </a:p>
          <a:p>
            <a:pPr lvl="1">
              <a:spcBef>
                <a:spcPts val="600"/>
              </a:spcBef>
              <a:spcAft>
                <a:spcPts val="0"/>
              </a:spcAft>
            </a:pPr>
            <a:r>
              <a:rPr lang="zh-CN" altLang="en-US" b="1" smtClean="0">
                <a:solidFill>
                  <a:schemeClr val="bg2"/>
                </a:solidFill>
                <a:latin typeface="楷体" panose="02010609060101010101" charset="-122"/>
                <a:ea typeface="楷体" panose="02010609060101010101" charset="-122"/>
                <a:cs typeface="楷体" panose="02010609060101010101" charset="-122"/>
              </a:rPr>
              <a:t>当</a:t>
            </a:r>
            <a:r>
              <a:rPr lang="en-US" altLang="en-US" b="1" smtClean="0">
                <a:solidFill>
                  <a:schemeClr val="bg2"/>
                </a:solidFill>
                <a:ea typeface="楷体" panose="02010609060101010101" charset="-122"/>
                <a:cs typeface="Times New Roman" panose="02020603050405020304" pitchFamily="18" charset="0"/>
              </a:rPr>
              <a:t>CPI </a:t>
            </a:r>
            <a:r>
              <a:rPr lang="zh-CN" altLang="en-US" b="1" smtClean="0">
                <a:solidFill>
                  <a:schemeClr val="bg2"/>
                </a:solidFill>
                <a:ea typeface="楷体" panose="02010609060101010101" charset="-122"/>
                <a:cs typeface="Times New Roman" panose="02020603050405020304" pitchFamily="18" charset="0"/>
              </a:rPr>
              <a:t>＝ </a:t>
            </a:r>
            <a:r>
              <a:rPr lang="en-US" altLang="en-US" b="1" smtClean="0">
                <a:solidFill>
                  <a:schemeClr val="bg2"/>
                </a:solidFill>
                <a:ea typeface="楷体" panose="02010609060101010101" charset="-122"/>
                <a:cs typeface="Times New Roman" panose="02020603050405020304" pitchFamily="18" charset="0"/>
              </a:rPr>
              <a:t>1</a:t>
            </a:r>
            <a:r>
              <a:rPr lang="zh-CN" altLang="en-US" b="1" smtClean="0">
                <a:solidFill>
                  <a:schemeClr val="bg2"/>
                </a:solidFill>
                <a:latin typeface="楷体" panose="02010609060101010101" charset="-122"/>
                <a:ea typeface="楷体" panose="02010609060101010101" charset="-122"/>
                <a:cs typeface="楷体" panose="02010609060101010101" charset="-122"/>
              </a:rPr>
              <a:t>时，表示已完成工作的实际成本等于预算成本。</a:t>
            </a:r>
            <a:endParaRPr lang="zh-CN" altLang="en-US" sz="3200" b="1" smtClean="0">
              <a:solidFill>
                <a:schemeClr val="bg1">
                  <a:lumMod val="50000"/>
                </a:schemeClr>
              </a:solidFill>
              <a:latin typeface="楷体" panose="02010609060101010101" charset="-122"/>
              <a:ea typeface="楷体" panose="02010609060101010101" charset="-122"/>
              <a:cs typeface="楷体" panose="02010609060101010101" charset="-122"/>
            </a:endParaRPr>
          </a:p>
        </p:txBody>
      </p:sp>
      <p:sp>
        <p:nvSpPr>
          <p:cNvPr id="40965" name="Rectangle 5"/>
          <p:cNvSpPr>
            <a:spLocks noChangeArrowheads="1"/>
          </p:cNvSpPr>
          <p:nvPr/>
        </p:nvSpPr>
        <p:spPr bwMode="auto">
          <a:xfrm>
            <a:off x="103188" y="620713"/>
            <a:ext cx="5405437" cy="553085"/>
          </a:xfrm>
          <a:prstGeom prst="rect">
            <a:avLst/>
          </a:prstGeom>
          <a:noFill/>
          <a:ln w="9525">
            <a:noFill/>
            <a:miter lim="800000"/>
          </a:ln>
        </p:spPr>
        <p:txBody>
          <a:bodyPr>
            <a:spAutoFit/>
          </a:bodyPr>
          <a:lstStyle/>
          <a:p>
            <a:r>
              <a:rPr kumimoji="0" lang="en-US" altLang="en-US" sz="3000" b="1" smtClean="0"/>
              <a:t>6.5 </a:t>
            </a:r>
            <a:r>
              <a:rPr kumimoji="0" lang="en-US" altLang="en-US" sz="3000" b="1">
                <a:latin typeface="楷体" panose="02010609060101010101" charset="-122"/>
                <a:ea typeface="楷体" panose="02010609060101010101" charset="-122"/>
              </a:rPr>
              <a:t>项目成本控制</a:t>
            </a:r>
            <a:endParaRPr kumimoji="0" lang="en-US" altLang="en-US" sz="3000" b="1">
              <a:latin typeface="楷体" panose="02010609060101010101" charset="-122"/>
              <a:ea typeface="楷体" panose="02010609060101010101" charset="-122"/>
            </a:endParaRPr>
          </a:p>
        </p:txBody>
      </p:sp>
      <p:sp>
        <p:nvSpPr>
          <p:cNvPr id="40966" name="Rectangle 6"/>
          <p:cNvSpPr>
            <a:spLocks noChangeArrowheads="1"/>
          </p:cNvSpPr>
          <p:nvPr/>
        </p:nvSpPr>
        <p:spPr bwMode="auto">
          <a:xfrm>
            <a:off x="71406" y="1285860"/>
            <a:ext cx="2770505" cy="521970"/>
          </a:xfrm>
          <a:prstGeom prst="rect">
            <a:avLst/>
          </a:prstGeom>
          <a:noFill/>
          <a:ln w="9525">
            <a:noFill/>
            <a:miter lim="800000"/>
          </a:ln>
        </p:spPr>
        <p:txBody>
          <a:bodyPr wrap="none">
            <a:spAutoFit/>
          </a:bodyPr>
          <a:lstStyle/>
          <a:p>
            <a:r>
              <a:rPr kumimoji="0" lang="en-US" altLang="en-US" b="1" smtClean="0">
                <a:solidFill>
                  <a:schemeClr val="hlink"/>
                </a:solidFill>
                <a:ea typeface="楷体_GB2312" pitchFamily="49" charset="-122"/>
              </a:rPr>
              <a:t>6.5.3 </a:t>
            </a:r>
            <a:r>
              <a:rPr kumimoji="0" lang="en-US" altLang="en-US" b="1">
                <a:solidFill>
                  <a:schemeClr val="hlink"/>
                </a:solidFill>
                <a:latin typeface="楷体" panose="02010609060101010101" charset="-122"/>
                <a:ea typeface="楷体" panose="02010609060101010101" charset="-122"/>
              </a:rPr>
              <a:t>挣值分析法</a:t>
            </a:r>
            <a:endParaRPr kumimoji="0" lang="en-US" altLang="en-US" b="1">
              <a:solidFill>
                <a:schemeClr val="hlink"/>
              </a:solidFill>
              <a:latin typeface="楷体" panose="02010609060101010101" charset="-122"/>
              <a:ea typeface="楷体" panose="02010609060101010101" charset="-122"/>
            </a:endParaRPr>
          </a:p>
        </p:txBody>
      </p:sp>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9"/>
          <p:cNvSpPr>
            <a:spLocks noGrp="1" noChangeArrowheads="1"/>
          </p:cNvSpPr>
          <p:nvPr>
            <p:ph type="sldNum" sz="quarter" idx="10"/>
          </p:nvPr>
        </p:nvSpPr>
        <p:spPr>
          <a:noFill/>
        </p:spPr>
        <p:txBody>
          <a:bodyPr/>
          <a:lstStyle/>
          <a:p>
            <a:r>
              <a:rPr lang="zh-CN" altLang="en-GB" smtClean="0"/>
              <a:t>  </a:t>
            </a:r>
            <a:fld id="{AE53ADB2-66C4-4A49-B86B-6ADE707C9758}" type="slidenum">
              <a:rPr lang="zh-CN" altLang="en-GB" smtClean="0"/>
            </a:fld>
            <a:endParaRPr lang="en-US" altLang="zh-CN" smtClean="0"/>
          </a:p>
        </p:txBody>
      </p:sp>
      <p:sp>
        <p:nvSpPr>
          <p:cNvPr id="40963"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b="1" smtClean="0">
                <a:solidFill>
                  <a:schemeClr val="bg2"/>
                </a:solidFill>
              </a:rPr>
              <a:t>P.146</a:t>
            </a:r>
            <a:endParaRPr lang="en-US" altLang="zh-CN" sz="2400" b="1">
              <a:solidFill>
                <a:schemeClr val="bg2"/>
              </a:solidFill>
            </a:endParaRPr>
          </a:p>
        </p:txBody>
      </p:sp>
      <p:sp>
        <p:nvSpPr>
          <p:cNvPr id="40964" name="Text Box 4"/>
          <p:cNvSpPr txBox="1">
            <a:spLocks noChangeArrowheads="1"/>
          </p:cNvSpPr>
          <p:nvPr/>
        </p:nvSpPr>
        <p:spPr bwMode="auto">
          <a:xfrm>
            <a:off x="214314" y="1826019"/>
            <a:ext cx="8786842" cy="4276725"/>
          </a:xfrm>
          <a:prstGeom prst="rect">
            <a:avLst/>
          </a:prstGeom>
          <a:noFill/>
          <a:ln w="9525" algn="ctr">
            <a:noFill/>
            <a:miter lim="800000"/>
          </a:ln>
        </p:spPr>
        <p:txBody>
          <a:bodyPr wrap="square">
            <a:spAutoFit/>
          </a:bodyPr>
          <a:lstStyle/>
          <a:p>
            <a:pPr>
              <a:spcBef>
                <a:spcPts val="600"/>
              </a:spcBef>
              <a:spcAft>
                <a:spcPts val="600"/>
              </a:spcAft>
            </a:pPr>
            <a:r>
              <a:rPr lang="zh-CN" altLang="en-US" sz="3200" b="1" smtClean="0">
                <a:solidFill>
                  <a:srgbClr val="0000FF"/>
                </a:solidFill>
                <a:latin typeface="楷体" panose="02010609060101010101" charset="-122"/>
                <a:ea typeface="楷体" panose="02010609060101010101" charset="-122"/>
                <a:cs typeface="楷体" panose="02010609060101010101" charset="-122"/>
              </a:rPr>
              <a:t>（</a:t>
            </a:r>
            <a:r>
              <a:rPr lang="en-US" altLang="en-US" sz="3200" b="1" smtClean="0">
                <a:solidFill>
                  <a:srgbClr val="0000FF"/>
                </a:solidFill>
                <a:latin typeface="楷体" panose="02010609060101010101" charset="-122"/>
                <a:ea typeface="楷体" panose="02010609060101010101" charset="-122"/>
                <a:cs typeface="楷体" panose="02010609060101010101" charset="-122"/>
              </a:rPr>
              <a:t>4</a:t>
            </a:r>
            <a:r>
              <a:rPr lang="zh-CN" altLang="en-US" sz="3200" b="1" smtClean="0">
                <a:solidFill>
                  <a:srgbClr val="0000FF"/>
                </a:solidFill>
                <a:latin typeface="楷体" panose="02010609060101010101" charset="-122"/>
                <a:ea typeface="楷体" panose="02010609060101010101" charset="-122"/>
                <a:cs typeface="楷体" panose="02010609060101010101" charset="-122"/>
              </a:rPr>
              <a:t>）进度执行指数</a:t>
            </a:r>
            <a:r>
              <a:rPr lang="zh-CN" altLang="en-US" b="1" smtClean="0">
                <a:solidFill>
                  <a:srgbClr val="0000FF"/>
                </a:solidFill>
                <a:ea typeface="楷体" panose="02010609060101010101" charset="-122"/>
                <a:cs typeface="Times New Roman" panose="02020603050405020304" pitchFamily="18" charset="0"/>
              </a:rPr>
              <a:t>（</a:t>
            </a:r>
            <a:r>
              <a:rPr lang="en-US" altLang="en-US" b="1" smtClean="0">
                <a:solidFill>
                  <a:srgbClr val="0000FF"/>
                </a:solidFill>
                <a:ea typeface="楷体" panose="02010609060101010101" charset="-122"/>
                <a:cs typeface="Times New Roman" panose="02020603050405020304" pitchFamily="18" charset="0"/>
              </a:rPr>
              <a:t>SPI</a:t>
            </a:r>
            <a:r>
              <a:rPr lang="zh-CN" altLang="en-US" b="1" smtClean="0">
                <a:solidFill>
                  <a:srgbClr val="0000FF"/>
                </a:solidFill>
                <a:ea typeface="楷体" panose="02010609060101010101" charset="-122"/>
                <a:cs typeface="Times New Roman" panose="02020603050405020304" pitchFamily="18" charset="0"/>
              </a:rPr>
              <a:t>，</a:t>
            </a:r>
            <a:r>
              <a:rPr lang="en-US" altLang="en-US" sz="2400" b="1" smtClean="0">
                <a:solidFill>
                  <a:srgbClr val="0000FF"/>
                </a:solidFill>
                <a:ea typeface="楷体" panose="02010609060101010101" charset="-122"/>
                <a:cs typeface="Times New Roman" panose="02020603050405020304" pitchFamily="18" charset="0"/>
              </a:rPr>
              <a:t>Schedule Performed Index</a:t>
            </a:r>
            <a:r>
              <a:rPr lang="zh-CN" altLang="en-US" sz="2400" b="1" smtClean="0">
                <a:solidFill>
                  <a:srgbClr val="0000FF"/>
                </a:solidFill>
                <a:ea typeface="楷体" panose="02010609060101010101" charset="-122"/>
                <a:cs typeface="Times New Roman" panose="02020603050405020304" pitchFamily="18" charset="0"/>
              </a:rPr>
              <a:t>）</a:t>
            </a:r>
            <a:r>
              <a:rPr lang="zh-CN" altLang="en-US" sz="2400" b="1" smtClean="0">
                <a:solidFill>
                  <a:schemeClr val="bg1">
                    <a:lumMod val="50000"/>
                  </a:schemeClr>
                </a:solidFill>
                <a:latin typeface="楷体" panose="02010609060101010101" charset="-122"/>
                <a:ea typeface="楷体" panose="02010609060101010101" charset="-122"/>
                <a:cs typeface="楷体" panose="02010609060101010101" charset="-122"/>
              </a:rPr>
              <a:t>。</a:t>
            </a:r>
            <a:r>
              <a:rPr lang="en-US" altLang="en-US" b="1" smtClean="0">
                <a:solidFill>
                  <a:schemeClr val="bg2"/>
                </a:solidFill>
                <a:ea typeface="楷体" panose="02010609060101010101" charset="-122"/>
                <a:cs typeface="Times New Roman" panose="02020603050405020304" pitchFamily="18" charset="0"/>
              </a:rPr>
              <a:t>SPI</a:t>
            </a:r>
            <a:r>
              <a:rPr lang="zh-CN" altLang="en-US" b="1" smtClean="0">
                <a:solidFill>
                  <a:schemeClr val="bg2"/>
                </a:solidFill>
                <a:latin typeface="楷体" panose="02010609060101010101" charset="-122"/>
                <a:ea typeface="楷体" panose="02010609060101010101" charset="-122"/>
                <a:cs typeface="楷体" panose="02010609060101010101" charset="-122"/>
              </a:rPr>
              <a:t>是指项目挣值与计划值之比。</a:t>
            </a:r>
            <a:endParaRPr lang="en-US" altLang="zh-CN" b="1" smtClean="0">
              <a:solidFill>
                <a:schemeClr val="bg2"/>
              </a:solidFill>
              <a:latin typeface="楷体" panose="02010609060101010101" charset="-122"/>
              <a:ea typeface="楷体" panose="02010609060101010101" charset="-122"/>
              <a:cs typeface="楷体" panose="02010609060101010101" charset="-122"/>
            </a:endParaRPr>
          </a:p>
          <a:p>
            <a:pPr algn="ctr">
              <a:spcBef>
                <a:spcPts val="600"/>
              </a:spcBef>
              <a:spcAft>
                <a:spcPts val="600"/>
              </a:spcAft>
            </a:pPr>
            <a:r>
              <a:rPr lang="zh-CN" altLang="en-US" sz="3200" b="1" smtClean="0">
                <a:solidFill>
                  <a:srgbClr val="0000FF"/>
                </a:solidFill>
                <a:latin typeface="楷体" panose="02010609060101010101" charset="-122"/>
                <a:ea typeface="楷体" panose="02010609060101010101" charset="-122"/>
                <a:cs typeface="楷体" panose="02010609060101010101" charset="-122"/>
              </a:rPr>
              <a:t>计算公式为：</a:t>
            </a:r>
            <a:r>
              <a:rPr lang="en-US" altLang="en-US" sz="3200" b="1" smtClean="0">
                <a:solidFill>
                  <a:srgbClr val="0000FF"/>
                </a:solidFill>
                <a:ea typeface="楷体" panose="02010609060101010101" charset="-122"/>
                <a:cs typeface="Times New Roman" panose="02020603050405020304" pitchFamily="18" charset="0"/>
              </a:rPr>
              <a:t>SPI = BCWP / BCWS</a:t>
            </a:r>
            <a:endParaRPr lang="zh-CN" altLang="en-US" sz="3200" b="1" smtClean="0">
              <a:solidFill>
                <a:srgbClr val="0000FF"/>
              </a:solidFill>
              <a:ea typeface="楷体" panose="02010609060101010101" charset="-122"/>
              <a:cs typeface="Times New Roman" panose="02020603050405020304" pitchFamily="18" charset="0"/>
            </a:endParaRPr>
          </a:p>
          <a:p>
            <a:pPr lvl="1">
              <a:spcBef>
                <a:spcPts val="600"/>
              </a:spcBef>
              <a:spcAft>
                <a:spcPts val="600"/>
              </a:spcAft>
            </a:pPr>
            <a:r>
              <a:rPr lang="zh-CN" altLang="en-US" b="1" smtClean="0">
                <a:solidFill>
                  <a:schemeClr val="bg2"/>
                </a:solidFill>
                <a:latin typeface="楷体" panose="02010609060101010101" charset="-122"/>
                <a:ea typeface="楷体" panose="02010609060101010101" charset="-122"/>
                <a:cs typeface="楷体" panose="02010609060101010101" charset="-122"/>
              </a:rPr>
              <a:t>当</a:t>
            </a:r>
            <a:r>
              <a:rPr lang="en-US" altLang="en-US" b="1" smtClean="0">
                <a:solidFill>
                  <a:schemeClr val="bg2"/>
                </a:solidFill>
                <a:ea typeface="楷体" panose="02010609060101010101" charset="-122"/>
                <a:cs typeface="Times New Roman" panose="02020603050405020304" pitchFamily="18" charset="0"/>
              </a:rPr>
              <a:t>SPI </a:t>
            </a:r>
            <a:r>
              <a:rPr lang="zh-CN" altLang="en-US" b="1" smtClean="0">
                <a:solidFill>
                  <a:schemeClr val="bg2"/>
                </a:solidFill>
                <a:ea typeface="楷体" panose="02010609060101010101" charset="-122"/>
                <a:cs typeface="Times New Roman" panose="02020603050405020304" pitchFamily="18" charset="0"/>
              </a:rPr>
              <a:t>＜ </a:t>
            </a:r>
            <a:r>
              <a:rPr lang="en-US" altLang="en-US" b="1" smtClean="0">
                <a:solidFill>
                  <a:schemeClr val="bg2"/>
                </a:solidFill>
                <a:ea typeface="楷体" panose="02010609060101010101" charset="-122"/>
                <a:cs typeface="Times New Roman" panose="02020603050405020304" pitchFamily="18" charset="0"/>
              </a:rPr>
              <a:t>1</a:t>
            </a:r>
            <a:r>
              <a:rPr lang="zh-CN" altLang="en-US" b="1" smtClean="0">
                <a:solidFill>
                  <a:schemeClr val="bg2"/>
                </a:solidFill>
                <a:latin typeface="楷体" panose="02010609060101010101" charset="-122"/>
                <a:ea typeface="楷体" panose="02010609060101010101" charset="-122"/>
                <a:cs typeface="楷体" panose="02010609060101010101" charset="-122"/>
              </a:rPr>
              <a:t>时，表示进度延误，即实际进度比计划进度慢。</a:t>
            </a:r>
            <a:endParaRPr lang="zh-CN" altLang="en-US" b="1" smtClean="0">
              <a:solidFill>
                <a:schemeClr val="bg2"/>
              </a:solidFill>
              <a:latin typeface="楷体" panose="02010609060101010101" charset="-122"/>
              <a:ea typeface="楷体" panose="02010609060101010101" charset="-122"/>
              <a:cs typeface="楷体" panose="02010609060101010101" charset="-122"/>
            </a:endParaRPr>
          </a:p>
          <a:p>
            <a:pPr lvl="1">
              <a:spcBef>
                <a:spcPts val="600"/>
              </a:spcBef>
              <a:spcAft>
                <a:spcPts val="600"/>
              </a:spcAft>
            </a:pPr>
            <a:r>
              <a:rPr lang="zh-CN" altLang="en-US" b="1" smtClean="0">
                <a:solidFill>
                  <a:schemeClr val="bg2"/>
                </a:solidFill>
                <a:latin typeface="楷体" panose="02010609060101010101" charset="-122"/>
                <a:ea typeface="楷体" panose="02010609060101010101" charset="-122"/>
                <a:cs typeface="楷体" panose="02010609060101010101" charset="-122"/>
              </a:rPr>
              <a:t>当</a:t>
            </a:r>
            <a:r>
              <a:rPr lang="en-US" altLang="en-US" b="1" smtClean="0">
                <a:solidFill>
                  <a:schemeClr val="bg2"/>
                </a:solidFill>
                <a:ea typeface="楷体" panose="02010609060101010101" charset="-122"/>
                <a:cs typeface="Times New Roman" panose="02020603050405020304" pitchFamily="18" charset="0"/>
              </a:rPr>
              <a:t>SPI </a:t>
            </a:r>
            <a:r>
              <a:rPr lang="zh-CN" altLang="en-US" b="1" smtClean="0">
                <a:solidFill>
                  <a:schemeClr val="bg2"/>
                </a:solidFill>
                <a:ea typeface="楷体" panose="02010609060101010101" charset="-122"/>
                <a:cs typeface="Times New Roman" panose="02020603050405020304" pitchFamily="18" charset="0"/>
              </a:rPr>
              <a:t>＞ </a:t>
            </a:r>
            <a:r>
              <a:rPr lang="en-US" altLang="en-US" b="1" smtClean="0">
                <a:solidFill>
                  <a:schemeClr val="bg2"/>
                </a:solidFill>
                <a:ea typeface="楷体" panose="02010609060101010101" charset="-122"/>
                <a:cs typeface="Times New Roman" panose="02020603050405020304" pitchFamily="18" charset="0"/>
              </a:rPr>
              <a:t>1</a:t>
            </a:r>
            <a:r>
              <a:rPr lang="zh-CN" altLang="en-US" b="1" smtClean="0">
                <a:solidFill>
                  <a:schemeClr val="bg2"/>
                </a:solidFill>
                <a:latin typeface="楷体" panose="02010609060101010101" charset="-122"/>
                <a:ea typeface="楷体" panose="02010609060101010101" charset="-122"/>
                <a:cs typeface="楷体" panose="02010609060101010101" charset="-122"/>
              </a:rPr>
              <a:t>时，表示进度提前，即实际进度比计划进度快。</a:t>
            </a:r>
            <a:endParaRPr lang="zh-CN" altLang="en-US" b="1" smtClean="0">
              <a:solidFill>
                <a:schemeClr val="bg2"/>
              </a:solidFill>
              <a:latin typeface="楷体" panose="02010609060101010101" charset="-122"/>
              <a:ea typeface="楷体" panose="02010609060101010101" charset="-122"/>
              <a:cs typeface="楷体" panose="02010609060101010101" charset="-122"/>
            </a:endParaRPr>
          </a:p>
          <a:p>
            <a:pPr lvl="1">
              <a:spcBef>
                <a:spcPts val="600"/>
              </a:spcBef>
              <a:spcAft>
                <a:spcPts val="600"/>
              </a:spcAft>
            </a:pPr>
            <a:r>
              <a:rPr lang="zh-CN" altLang="en-US" b="1" smtClean="0">
                <a:solidFill>
                  <a:schemeClr val="bg2"/>
                </a:solidFill>
                <a:latin typeface="楷体" panose="02010609060101010101" charset="-122"/>
                <a:ea typeface="楷体" panose="02010609060101010101" charset="-122"/>
                <a:cs typeface="楷体" panose="02010609060101010101" charset="-122"/>
              </a:rPr>
              <a:t>当</a:t>
            </a:r>
            <a:r>
              <a:rPr lang="en-US" altLang="en-US" b="1" smtClean="0">
                <a:solidFill>
                  <a:schemeClr val="bg2"/>
                </a:solidFill>
                <a:ea typeface="楷体" panose="02010609060101010101" charset="-122"/>
                <a:cs typeface="Times New Roman" panose="02020603050405020304" pitchFamily="18" charset="0"/>
              </a:rPr>
              <a:t>SPI </a:t>
            </a:r>
            <a:r>
              <a:rPr lang="zh-CN" altLang="en-US" b="1" smtClean="0">
                <a:solidFill>
                  <a:schemeClr val="bg2"/>
                </a:solidFill>
                <a:ea typeface="楷体" panose="02010609060101010101" charset="-122"/>
                <a:cs typeface="Times New Roman" panose="02020603050405020304" pitchFamily="18" charset="0"/>
              </a:rPr>
              <a:t>＝ </a:t>
            </a:r>
            <a:r>
              <a:rPr lang="en-US" altLang="en-US" b="1" smtClean="0">
                <a:solidFill>
                  <a:schemeClr val="bg2"/>
                </a:solidFill>
                <a:ea typeface="楷体" panose="02010609060101010101" charset="-122"/>
                <a:cs typeface="Times New Roman" panose="02020603050405020304" pitchFamily="18" charset="0"/>
              </a:rPr>
              <a:t>1</a:t>
            </a:r>
            <a:r>
              <a:rPr lang="zh-CN" altLang="en-US" b="1" smtClean="0">
                <a:solidFill>
                  <a:schemeClr val="bg2"/>
                </a:solidFill>
                <a:latin typeface="楷体" panose="02010609060101010101" charset="-122"/>
                <a:ea typeface="楷体" panose="02010609060101010101" charset="-122"/>
                <a:cs typeface="楷体" panose="02010609060101010101" charset="-122"/>
              </a:rPr>
              <a:t>时，表示实际进度与计划进度一致。</a:t>
            </a:r>
            <a:endParaRPr lang="zh-CN" altLang="en-US" b="1" smtClean="0">
              <a:solidFill>
                <a:schemeClr val="bg2"/>
              </a:solidFill>
              <a:latin typeface="楷体" panose="02010609060101010101" charset="-122"/>
              <a:ea typeface="楷体" panose="02010609060101010101" charset="-122"/>
              <a:cs typeface="楷体" panose="02010609060101010101" charset="-122"/>
            </a:endParaRPr>
          </a:p>
        </p:txBody>
      </p:sp>
      <p:sp>
        <p:nvSpPr>
          <p:cNvPr id="40965" name="Rectangle 5"/>
          <p:cNvSpPr>
            <a:spLocks noChangeArrowheads="1"/>
          </p:cNvSpPr>
          <p:nvPr/>
        </p:nvSpPr>
        <p:spPr bwMode="auto">
          <a:xfrm>
            <a:off x="103188" y="620713"/>
            <a:ext cx="5405437" cy="553085"/>
          </a:xfrm>
          <a:prstGeom prst="rect">
            <a:avLst/>
          </a:prstGeom>
          <a:noFill/>
          <a:ln w="9525">
            <a:noFill/>
            <a:miter lim="800000"/>
          </a:ln>
        </p:spPr>
        <p:txBody>
          <a:bodyPr>
            <a:spAutoFit/>
          </a:bodyPr>
          <a:lstStyle/>
          <a:p>
            <a:r>
              <a:rPr kumimoji="0" lang="en-US" altLang="en-US" sz="3000" b="1" smtClean="0"/>
              <a:t>6.5 </a:t>
            </a:r>
            <a:r>
              <a:rPr kumimoji="0" lang="en-US" altLang="en-US" sz="3000" b="1">
                <a:latin typeface="楷体" panose="02010609060101010101" charset="-122"/>
                <a:ea typeface="楷体" panose="02010609060101010101" charset="-122"/>
              </a:rPr>
              <a:t>项目成本控制</a:t>
            </a:r>
            <a:endParaRPr kumimoji="0" lang="en-US" altLang="en-US" sz="3000" b="1">
              <a:latin typeface="楷体" panose="02010609060101010101" charset="-122"/>
              <a:ea typeface="楷体" panose="02010609060101010101" charset="-122"/>
            </a:endParaRPr>
          </a:p>
        </p:txBody>
      </p:sp>
      <p:sp>
        <p:nvSpPr>
          <p:cNvPr id="40966" name="Rectangle 6"/>
          <p:cNvSpPr>
            <a:spLocks noChangeArrowheads="1"/>
          </p:cNvSpPr>
          <p:nvPr/>
        </p:nvSpPr>
        <p:spPr bwMode="auto">
          <a:xfrm>
            <a:off x="71406" y="1285860"/>
            <a:ext cx="2770505" cy="521970"/>
          </a:xfrm>
          <a:prstGeom prst="rect">
            <a:avLst/>
          </a:prstGeom>
          <a:noFill/>
          <a:ln w="9525">
            <a:noFill/>
            <a:miter lim="800000"/>
          </a:ln>
        </p:spPr>
        <p:txBody>
          <a:bodyPr wrap="none">
            <a:spAutoFit/>
          </a:bodyPr>
          <a:lstStyle/>
          <a:p>
            <a:r>
              <a:rPr kumimoji="0" lang="en-US" altLang="en-US" b="1" smtClean="0">
                <a:solidFill>
                  <a:srgbClr val="FF0000"/>
                </a:solidFill>
                <a:ea typeface="楷体_GB2312" pitchFamily="49" charset="-122"/>
              </a:rPr>
              <a:t>6.5.3 </a:t>
            </a:r>
            <a:r>
              <a:rPr kumimoji="0" lang="en-US" altLang="en-US" b="1">
                <a:solidFill>
                  <a:srgbClr val="FF0000"/>
                </a:solidFill>
                <a:latin typeface="楷体" panose="02010609060101010101" charset="-122"/>
                <a:ea typeface="楷体" panose="02010609060101010101" charset="-122"/>
              </a:rPr>
              <a:t>挣值分析法</a:t>
            </a:r>
            <a:endParaRPr kumimoji="0" lang="en-US" altLang="en-US" b="1">
              <a:solidFill>
                <a:srgbClr val="FF0000"/>
              </a:solidFill>
              <a:latin typeface="楷体" panose="02010609060101010101" charset="-122"/>
              <a:ea typeface="楷体" panose="02010609060101010101" charset="-122"/>
            </a:endParaRPr>
          </a:p>
        </p:txBody>
      </p:sp>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9"/>
          <p:cNvSpPr>
            <a:spLocks noGrp="1" noChangeArrowheads="1"/>
          </p:cNvSpPr>
          <p:nvPr>
            <p:ph type="sldNum" sz="quarter" idx="10"/>
          </p:nvPr>
        </p:nvSpPr>
        <p:spPr>
          <a:noFill/>
        </p:spPr>
        <p:txBody>
          <a:bodyPr/>
          <a:lstStyle/>
          <a:p>
            <a:r>
              <a:rPr lang="zh-CN" altLang="en-GB" smtClean="0"/>
              <a:t>  </a:t>
            </a:r>
            <a:fld id="{B06EAC0D-1337-4F32-95FD-A27ABF4CD51B}" type="slidenum">
              <a:rPr lang="zh-CN" altLang="en-GB" smtClean="0"/>
            </a:fld>
            <a:endParaRPr lang="en-US" altLang="zh-CN" smtClean="0"/>
          </a:p>
        </p:txBody>
      </p:sp>
      <p:sp>
        <p:nvSpPr>
          <p:cNvPr id="41987"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b="1" smtClean="0">
                <a:solidFill>
                  <a:schemeClr val="bg2"/>
                </a:solidFill>
              </a:rPr>
              <a:t>P.146</a:t>
            </a:r>
            <a:endParaRPr lang="en-US" altLang="zh-CN" sz="2400" b="1">
              <a:solidFill>
                <a:schemeClr val="bg2"/>
              </a:solidFill>
            </a:endParaRPr>
          </a:p>
        </p:txBody>
      </p:sp>
      <p:pic>
        <p:nvPicPr>
          <p:cNvPr id="41988" name="Picture 5" descr="表6-5 挣值分析法参数分析与应对措施"/>
          <p:cNvPicPr>
            <a:picLocks noChangeAspect="1" noChangeArrowheads="1"/>
          </p:cNvPicPr>
          <p:nvPr/>
        </p:nvPicPr>
        <p:blipFill>
          <a:blip r:embed="rId1" cstate="print"/>
          <a:srcRect/>
          <a:stretch>
            <a:fillRect/>
          </a:stretch>
        </p:blipFill>
        <p:spPr bwMode="auto">
          <a:xfrm>
            <a:off x="539750" y="1773238"/>
            <a:ext cx="8064500" cy="4679950"/>
          </a:xfrm>
          <a:prstGeom prst="rect">
            <a:avLst/>
          </a:prstGeom>
          <a:noFill/>
          <a:ln w="9525">
            <a:noFill/>
            <a:miter lim="800000"/>
            <a:headEnd/>
            <a:tailEnd/>
          </a:ln>
        </p:spPr>
      </p:pic>
      <p:sp>
        <p:nvSpPr>
          <p:cNvPr id="41989" name="Line 6"/>
          <p:cNvSpPr>
            <a:spLocks noChangeShapeType="1"/>
          </p:cNvSpPr>
          <p:nvPr/>
        </p:nvSpPr>
        <p:spPr bwMode="auto">
          <a:xfrm>
            <a:off x="539750" y="2924175"/>
            <a:ext cx="8064500" cy="0"/>
          </a:xfrm>
          <a:prstGeom prst="line">
            <a:avLst/>
          </a:prstGeom>
          <a:noFill/>
          <a:ln w="12700">
            <a:solidFill>
              <a:schemeClr val="bg2"/>
            </a:solidFill>
            <a:round/>
          </a:ln>
        </p:spPr>
        <p:txBody>
          <a:bodyPr>
            <a:spAutoFit/>
          </a:bodyPr>
          <a:lstStyle/>
          <a:p>
            <a:endParaRPr lang="zh-CN" altLang="en-US"/>
          </a:p>
        </p:txBody>
      </p:sp>
      <p:sp>
        <p:nvSpPr>
          <p:cNvPr id="41990" name="Line 7"/>
          <p:cNvSpPr>
            <a:spLocks noChangeShapeType="1"/>
          </p:cNvSpPr>
          <p:nvPr/>
        </p:nvSpPr>
        <p:spPr bwMode="auto">
          <a:xfrm>
            <a:off x="539750" y="4292600"/>
            <a:ext cx="8064500" cy="0"/>
          </a:xfrm>
          <a:prstGeom prst="line">
            <a:avLst/>
          </a:prstGeom>
          <a:noFill/>
          <a:ln w="12700">
            <a:solidFill>
              <a:schemeClr val="bg2"/>
            </a:solidFill>
            <a:round/>
          </a:ln>
        </p:spPr>
        <p:txBody>
          <a:bodyPr>
            <a:spAutoFit/>
          </a:bodyPr>
          <a:lstStyle/>
          <a:p>
            <a:endParaRPr lang="zh-CN" altLang="en-US"/>
          </a:p>
        </p:txBody>
      </p:sp>
      <p:sp>
        <p:nvSpPr>
          <p:cNvPr id="41991" name="Line 8"/>
          <p:cNvSpPr>
            <a:spLocks noChangeShapeType="1"/>
          </p:cNvSpPr>
          <p:nvPr/>
        </p:nvSpPr>
        <p:spPr bwMode="auto">
          <a:xfrm>
            <a:off x="539750" y="4941888"/>
            <a:ext cx="8064500" cy="0"/>
          </a:xfrm>
          <a:prstGeom prst="line">
            <a:avLst/>
          </a:prstGeom>
          <a:noFill/>
          <a:ln w="12700">
            <a:solidFill>
              <a:schemeClr val="bg2"/>
            </a:solidFill>
            <a:round/>
          </a:ln>
        </p:spPr>
        <p:txBody>
          <a:bodyPr>
            <a:spAutoFit/>
          </a:bodyPr>
          <a:lstStyle/>
          <a:p>
            <a:endParaRPr lang="zh-CN" altLang="en-US"/>
          </a:p>
        </p:txBody>
      </p:sp>
      <p:sp>
        <p:nvSpPr>
          <p:cNvPr id="41992" name="Line 9"/>
          <p:cNvSpPr>
            <a:spLocks noChangeShapeType="1"/>
          </p:cNvSpPr>
          <p:nvPr/>
        </p:nvSpPr>
        <p:spPr bwMode="auto">
          <a:xfrm>
            <a:off x="539750" y="5564188"/>
            <a:ext cx="8064500" cy="0"/>
          </a:xfrm>
          <a:prstGeom prst="line">
            <a:avLst/>
          </a:prstGeom>
          <a:noFill/>
          <a:ln w="12700">
            <a:solidFill>
              <a:schemeClr val="bg2"/>
            </a:solidFill>
            <a:round/>
          </a:ln>
        </p:spPr>
        <p:txBody>
          <a:bodyPr>
            <a:spAutoFit/>
          </a:bodyPr>
          <a:lstStyle/>
          <a:p>
            <a:endParaRPr lang="zh-CN" altLang="en-US"/>
          </a:p>
        </p:txBody>
      </p:sp>
      <p:sp>
        <p:nvSpPr>
          <p:cNvPr id="41993" name="Line 10"/>
          <p:cNvSpPr>
            <a:spLocks noChangeShapeType="1"/>
          </p:cNvSpPr>
          <p:nvPr/>
        </p:nvSpPr>
        <p:spPr bwMode="auto">
          <a:xfrm>
            <a:off x="539750" y="3644900"/>
            <a:ext cx="8064500" cy="0"/>
          </a:xfrm>
          <a:prstGeom prst="line">
            <a:avLst/>
          </a:prstGeom>
          <a:noFill/>
          <a:ln w="12700">
            <a:solidFill>
              <a:schemeClr val="bg2"/>
            </a:solidFill>
            <a:round/>
          </a:ln>
        </p:spPr>
        <p:txBody>
          <a:bodyPr>
            <a:spAutoFit/>
          </a:bodyPr>
          <a:lstStyle/>
          <a:p>
            <a:endParaRPr lang="zh-CN" altLang="en-US"/>
          </a:p>
        </p:txBody>
      </p:sp>
      <p:sp>
        <p:nvSpPr>
          <p:cNvPr id="1186828" name="Rectangle 12"/>
          <p:cNvSpPr>
            <a:spLocks noChangeArrowheads="1"/>
          </p:cNvSpPr>
          <p:nvPr/>
        </p:nvSpPr>
        <p:spPr bwMode="auto">
          <a:xfrm>
            <a:off x="2339975" y="6490518"/>
            <a:ext cx="5124450" cy="368300"/>
          </a:xfrm>
          <a:prstGeom prst="rect">
            <a:avLst/>
          </a:prstGeom>
          <a:noFill/>
          <a:ln w="9525">
            <a:noFill/>
            <a:miter lim="800000"/>
          </a:ln>
        </p:spPr>
        <p:txBody>
          <a:bodyPr anchor="ctr">
            <a:spAutoFit/>
          </a:bodyPr>
          <a:lstStyle/>
          <a:p>
            <a:pPr algn="dist"/>
            <a:r>
              <a:rPr kumimoji="0" lang="zh-CN" altLang="en-US" sz="1800" b="1">
                <a:solidFill>
                  <a:srgbClr val="FF0000"/>
                </a:solidFill>
                <a:latin typeface="楷体" panose="02010609060101010101" charset="-122"/>
                <a:ea typeface="楷体" panose="02010609060101010101" charset="-122"/>
                <a:cs typeface="楷体" panose="02010609060101010101" charset="-122"/>
              </a:rPr>
              <a:t>图</a:t>
            </a:r>
            <a:r>
              <a:rPr kumimoji="0" lang="en-US" altLang="zh-CN" sz="1800" b="1">
                <a:solidFill>
                  <a:srgbClr val="FF0000"/>
                </a:solidFill>
                <a:ea typeface="楷体" panose="02010609060101010101" charset="-122"/>
                <a:cs typeface="Times New Roman" panose="02020603050405020304" pitchFamily="18" charset="0"/>
              </a:rPr>
              <a:t>6- </a:t>
            </a:r>
            <a:r>
              <a:rPr kumimoji="0" lang="en-US" altLang="zh-CN" sz="1800" b="1" smtClean="0">
                <a:solidFill>
                  <a:srgbClr val="FF0000"/>
                </a:solidFill>
                <a:ea typeface="楷体" panose="02010609060101010101" charset="-122"/>
                <a:cs typeface="Times New Roman" panose="02020603050405020304" pitchFamily="18" charset="0"/>
              </a:rPr>
              <a:t>3</a:t>
            </a:r>
            <a:r>
              <a:rPr kumimoji="0" lang="zh-CN" altLang="en-US" sz="1800" b="1" smtClean="0">
                <a:solidFill>
                  <a:srgbClr val="FF0000"/>
                </a:solidFill>
                <a:latin typeface="楷体" panose="02010609060101010101" charset="-122"/>
                <a:ea typeface="楷体" panose="02010609060101010101" charset="-122"/>
                <a:cs typeface="楷体" panose="02010609060101010101" charset="-122"/>
              </a:rPr>
              <a:t>挣</a:t>
            </a:r>
            <a:r>
              <a:rPr kumimoji="0" lang="zh-CN" altLang="en-US" sz="1800" b="1">
                <a:solidFill>
                  <a:srgbClr val="FF0000"/>
                </a:solidFill>
                <a:latin typeface="楷体" panose="02010609060101010101" charset="-122"/>
                <a:ea typeface="楷体" panose="02010609060101010101" charset="-122"/>
                <a:cs typeface="楷体" panose="02010609060101010101" charset="-122"/>
              </a:rPr>
              <a:t>值分析法的参数分析与应对措施 </a:t>
            </a:r>
            <a:endParaRPr kumimoji="0" lang="zh-CN" altLang="en-US" sz="1800" b="1">
              <a:solidFill>
                <a:srgbClr val="FF0000"/>
              </a:solidFill>
              <a:latin typeface="楷体" panose="02010609060101010101" charset="-122"/>
              <a:ea typeface="楷体" panose="02010609060101010101" charset="-122"/>
              <a:cs typeface="楷体" panose="02010609060101010101" charset="-122"/>
            </a:endParaRPr>
          </a:p>
        </p:txBody>
      </p:sp>
      <p:sp>
        <p:nvSpPr>
          <p:cNvPr id="41995" name="Rectangle 13"/>
          <p:cNvSpPr>
            <a:spLocks noChangeArrowheads="1"/>
          </p:cNvSpPr>
          <p:nvPr/>
        </p:nvSpPr>
        <p:spPr bwMode="auto">
          <a:xfrm>
            <a:off x="103188" y="620713"/>
            <a:ext cx="5405437" cy="553085"/>
          </a:xfrm>
          <a:prstGeom prst="rect">
            <a:avLst/>
          </a:prstGeom>
          <a:noFill/>
          <a:ln w="9525">
            <a:noFill/>
            <a:miter lim="800000"/>
          </a:ln>
        </p:spPr>
        <p:txBody>
          <a:bodyPr>
            <a:spAutoFit/>
          </a:bodyPr>
          <a:lstStyle/>
          <a:p>
            <a:r>
              <a:rPr kumimoji="0" lang="en-US" altLang="en-US" sz="3000" b="1"/>
              <a:t>6.4 </a:t>
            </a:r>
            <a:r>
              <a:rPr kumimoji="0" lang="en-US" altLang="en-US" sz="3000" b="1">
                <a:latin typeface="楷体" panose="02010609060101010101" charset="-122"/>
                <a:ea typeface="楷体" panose="02010609060101010101" charset="-122"/>
              </a:rPr>
              <a:t>项目成本控制</a:t>
            </a:r>
            <a:endParaRPr kumimoji="0" lang="en-US" altLang="en-US" sz="3000" b="1">
              <a:latin typeface="楷体" panose="02010609060101010101" charset="-122"/>
              <a:ea typeface="楷体" panose="02010609060101010101" charset="-122"/>
            </a:endParaRPr>
          </a:p>
        </p:txBody>
      </p:sp>
      <p:sp>
        <p:nvSpPr>
          <p:cNvPr id="41996" name="Rectangle 14"/>
          <p:cNvSpPr>
            <a:spLocks noChangeArrowheads="1"/>
          </p:cNvSpPr>
          <p:nvPr/>
        </p:nvSpPr>
        <p:spPr bwMode="auto">
          <a:xfrm>
            <a:off x="323850" y="1341438"/>
            <a:ext cx="2770505" cy="521970"/>
          </a:xfrm>
          <a:prstGeom prst="rect">
            <a:avLst/>
          </a:prstGeom>
          <a:noFill/>
          <a:ln w="9525">
            <a:noFill/>
            <a:miter lim="800000"/>
          </a:ln>
        </p:spPr>
        <p:txBody>
          <a:bodyPr wrap="none">
            <a:spAutoFit/>
          </a:bodyPr>
          <a:lstStyle/>
          <a:p>
            <a:r>
              <a:rPr kumimoji="0" lang="en-US" altLang="en-US" b="1" smtClean="0">
                <a:solidFill>
                  <a:srgbClr val="FF0000"/>
                </a:solidFill>
                <a:ea typeface="楷体_GB2312" pitchFamily="49" charset="-122"/>
              </a:rPr>
              <a:t>6.5.3 </a:t>
            </a:r>
            <a:r>
              <a:rPr kumimoji="0" lang="en-US" altLang="en-US" b="1">
                <a:solidFill>
                  <a:srgbClr val="FF0000"/>
                </a:solidFill>
                <a:latin typeface="楷体" panose="02010609060101010101" charset="-122"/>
                <a:ea typeface="楷体" panose="02010609060101010101" charset="-122"/>
              </a:rPr>
              <a:t>挣值分析法</a:t>
            </a:r>
            <a:endParaRPr kumimoji="0" lang="en-US" altLang="en-US" b="1">
              <a:solidFill>
                <a:srgbClr val="FF0000"/>
              </a:solidFill>
              <a:latin typeface="楷体" panose="02010609060101010101" charset="-122"/>
              <a:ea typeface="楷体" panose="0201060906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186828"/>
                                        </p:tgtEl>
                                        <p:attrNameLst>
                                          <p:attrName>style.visibility</p:attrName>
                                        </p:attrNameLst>
                                      </p:cBhvr>
                                      <p:to>
                                        <p:strVal val="visible"/>
                                      </p:to>
                                    </p:set>
                                    <p:anim calcmode="lin" valueType="num">
                                      <p:cBhvr additive="base">
                                        <p:cTn id="7" dur="500" fill="hold"/>
                                        <p:tgtEl>
                                          <p:spTgt spid="1186828"/>
                                        </p:tgtEl>
                                        <p:attrNameLst>
                                          <p:attrName>ppt_x</p:attrName>
                                        </p:attrNameLst>
                                      </p:cBhvr>
                                      <p:tavLst>
                                        <p:tav tm="0">
                                          <p:val>
                                            <p:strVal val="#ppt_x"/>
                                          </p:val>
                                        </p:tav>
                                        <p:tav tm="100000">
                                          <p:val>
                                            <p:strVal val="#ppt_x"/>
                                          </p:val>
                                        </p:tav>
                                      </p:tavLst>
                                    </p:anim>
                                    <p:anim calcmode="lin" valueType="num">
                                      <p:cBhvr additive="base">
                                        <p:cTn id="8" dur="500" fill="hold"/>
                                        <p:tgtEl>
                                          <p:spTgt spid="118682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8682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6828"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9"/>
          <p:cNvSpPr>
            <a:spLocks noGrp="1" noChangeArrowheads="1"/>
          </p:cNvSpPr>
          <p:nvPr>
            <p:ph type="sldNum" sz="quarter" idx="10"/>
          </p:nvPr>
        </p:nvSpPr>
        <p:spPr>
          <a:noFill/>
        </p:spPr>
        <p:txBody>
          <a:bodyPr/>
          <a:lstStyle/>
          <a:p>
            <a:r>
              <a:rPr lang="zh-CN" altLang="en-GB" smtClean="0"/>
              <a:t>  </a:t>
            </a:r>
            <a:fld id="{C5728E54-0CED-4A2B-B90D-F0DA94259FA5}" type="slidenum">
              <a:rPr lang="zh-CN" altLang="en-GB" smtClean="0"/>
            </a:fld>
            <a:endParaRPr lang="en-US" altLang="zh-CN" smtClean="0"/>
          </a:p>
        </p:txBody>
      </p:sp>
      <p:sp>
        <p:nvSpPr>
          <p:cNvPr id="43011"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b="1" smtClean="0">
                <a:solidFill>
                  <a:schemeClr val="bg2"/>
                </a:solidFill>
              </a:rPr>
              <a:t>P.147</a:t>
            </a:r>
            <a:endParaRPr lang="en-US" altLang="zh-CN" sz="2400" b="1">
              <a:solidFill>
                <a:schemeClr val="bg2"/>
              </a:solidFill>
            </a:endParaRPr>
          </a:p>
        </p:txBody>
      </p:sp>
      <p:sp>
        <p:nvSpPr>
          <p:cNvPr id="43012" name="Text Box 4"/>
          <p:cNvSpPr txBox="1">
            <a:spLocks noChangeArrowheads="1"/>
          </p:cNvSpPr>
          <p:nvPr/>
        </p:nvSpPr>
        <p:spPr bwMode="auto">
          <a:xfrm>
            <a:off x="179419" y="1928802"/>
            <a:ext cx="8893175" cy="4184650"/>
          </a:xfrm>
          <a:prstGeom prst="rect">
            <a:avLst/>
          </a:prstGeom>
          <a:noFill/>
          <a:ln w="9525" algn="ctr">
            <a:noFill/>
            <a:miter lim="800000"/>
          </a:ln>
        </p:spPr>
        <p:txBody>
          <a:bodyPr>
            <a:spAutoFit/>
          </a:bodyPr>
          <a:lstStyle/>
          <a:p>
            <a:pPr>
              <a:spcBef>
                <a:spcPts val="600"/>
              </a:spcBef>
              <a:spcAft>
                <a:spcPts val="600"/>
              </a:spcAft>
              <a:buClr>
                <a:schemeClr val="bg1"/>
              </a:buClr>
              <a:buFont typeface="Wingdings" panose="05000000000000000000" pitchFamily="2" charset="2"/>
              <a:buAutoNum type="circleNumDbPlain"/>
            </a:pPr>
            <a:r>
              <a:rPr lang="zh-CN" altLang="en-US" sz="2400" b="1">
                <a:solidFill>
                  <a:srgbClr val="0000FF"/>
                </a:solidFill>
                <a:latin typeface="楷体" panose="02010609060101010101" charset="-122"/>
                <a:ea typeface="楷体" panose="02010609060101010101" charset="-122"/>
              </a:rPr>
              <a:t>修正的成本估算：</a:t>
            </a:r>
            <a:r>
              <a:rPr lang="zh-CN" altLang="en-US" sz="2400" b="1">
                <a:solidFill>
                  <a:schemeClr val="bg2"/>
                </a:solidFill>
                <a:latin typeface="楷体" panose="02010609060101010101" charset="-122"/>
                <a:ea typeface="楷体" panose="02010609060101010101" charset="-122"/>
              </a:rPr>
              <a:t>为了项目的需要而修正项目的成本信息。</a:t>
            </a:r>
            <a:endParaRPr lang="zh-CN" altLang="en-US" sz="2400" b="1">
              <a:solidFill>
                <a:schemeClr val="bg2"/>
              </a:solidFill>
              <a:latin typeface="楷体" panose="02010609060101010101" charset="-122"/>
              <a:ea typeface="楷体" panose="02010609060101010101" charset="-122"/>
            </a:endParaRPr>
          </a:p>
          <a:p>
            <a:pPr>
              <a:spcBef>
                <a:spcPts val="600"/>
              </a:spcBef>
              <a:spcAft>
                <a:spcPts val="600"/>
              </a:spcAft>
              <a:buClr>
                <a:schemeClr val="bg1"/>
              </a:buClr>
              <a:buFont typeface="Wingdings" panose="05000000000000000000" pitchFamily="2" charset="2"/>
              <a:buAutoNum type="circleNumDbPlain"/>
            </a:pPr>
            <a:r>
              <a:rPr lang="zh-CN" altLang="en-US" sz="2400" b="1">
                <a:solidFill>
                  <a:srgbClr val="0000FF"/>
                </a:solidFill>
                <a:latin typeface="楷体" panose="02010609060101010101" charset="-122"/>
                <a:ea typeface="楷体" panose="02010609060101010101" charset="-122"/>
              </a:rPr>
              <a:t>预算更新：</a:t>
            </a:r>
            <a:r>
              <a:rPr lang="zh-CN" altLang="en-US" sz="2400" b="1">
                <a:solidFill>
                  <a:schemeClr val="bg2"/>
                </a:solidFill>
                <a:latin typeface="楷体" panose="02010609060101010101" charset="-122"/>
                <a:ea typeface="楷体" panose="02010609060101010101" charset="-122"/>
              </a:rPr>
              <a:t>对批准的成本基准所做的更新。</a:t>
            </a:r>
            <a:endParaRPr lang="zh-CN" altLang="en-US" sz="2400" b="1">
              <a:solidFill>
                <a:schemeClr val="bg2"/>
              </a:solidFill>
              <a:latin typeface="楷体" panose="02010609060101010101" charset="-122"/>
              <a:ea typeface="楷体" panose="02010609060101010101" charset="-122"/>
            </a:endParaRPr>
          </a:p>
          <a:p>
            <a:pPr>
              <a:spcBef>
                <a:spcPts val="600"/>
              </a:spcBef>
              <a:spcAft>
                <a:spcPts val="600"/>
              </a:spcAft>
              <a:buClr>
                <a:schemeClr val="bg1"/>
              </a:buClr>
              <a:buFont typeface="Wingdings" panose="05000000000000000000" pitchFamily="2" charset="2"/>
              <a:buAutoNum type="circleNumDbPlain"/>
            </a:pPr>
            <a:r>
              <a:rPr lang="zh-CN" altLang="en-US" sz="2400" b="1">
                <a:solidFill>
                  <a:srgbClr val="0000FF"/>
                </a:solidFill>
                <a:latin typeface="楷体" panose="02010609060101010101" charset="-122"/>
                <a:ea typeface="楷体" panose="02010609060101010101" charset="-122"/>
              </a:rPr>
              <a:t>纠正措施：</a:t>
            </a:r>
            <a:r>
              <a:rPr lang="zh-CN" altLang="en-US" sz="2400" b="1">
                <a:solidFill>
                  <a:schemeClr val="bg2"/>
                </a:solidFill>
                <a:latin typeface="楷体" panose="02010609060101010101" charset="-122"/>
                <a:ea typeface="楷体" panose="02010609060101010101" charset="-122"/>
              </a:rPr>
              <a:t>使项目将来的预期绩效与项目管理计划一致所采取的行动。</a:t>
            </a:r>
            <a:endParaRPr lang="zh-CN" altLang="en-US" sz="2400" b="1">
              <a:solidFill>
                <a:schemeClr val="bg2"/>
              </a:solidFill>
              <a:latin typeface="楷体" panose="02010609060101010101" charset="-122"/>
              <a:ea typeface="楷体" panose="02010609060101010101" charset="-122"/>
            </a:endParaRPr>
          </a:p>
          <a:p>
            <a:pPr>
              <a:spcBef>
                <a:spcPts val="600"/>
              </a:spcBef>
              <a:spcAft>
                <a:spcPts val="600"/>
              </a:spcAft>
              <a:buClr>
                <a:schemeClr val="bg1"/>
              </a:buClr>
              <a:buFont typeface="Wingdings" panose="05000000000000000000" pitchFamily="2" charset="2"/>
              <a:buAutoNum type="circleNumDbPlain"/>
            </a:pPr>
            <a:r>
              <a:rPr lang="zh-CN" altLang="en-US" sz="2400" b="1">
                <a:solidFill>
                  <a:srgbClr val="0000FF"/>
                </a:solidFill>
                <a:latin typeface="楷体" panose="02010609060101010101" charset="-122"/>
                <a:ea typeface="楷体" panose="02010609060101010101" charset="-122"/>
              </a:rPr>
              <a:t>按完成情况估算：</a:t>
            </a:r>
            <a:r>
              <a:rPr lang="zh-CN" altLang="en-US" sz="2400" b="1">
                <a:solidFill>
                  <a:schemeClr val="bg2"/>
                </a:solidFill>
                <a:latin typeface="楷体" panose="02010609060101010101" charset="-122"/>
                <a:ea typeface="楷体" panose="02010609060101010101" charset="-122"/>
              </a:rPr>
              <a:t>根据项目执行情况对项目总成本的预测。</a:t>
            </a:r>
            <a:endParaRPr lang="zh-CN" altLang="en-US" sz="2400" b="1">
              <a:solidFill>
                <a:schemeClr val="bg2"/>
              </a:solidFill>
              <a:latin typeface="楷体" panose="02010609060101010101" charset="-122"/>
              <a:ea typeface="楷体" panose="02010609060101010101" charset="-122"/>
            </a:endParaRPr>
          </a:p>
          <a:p>
            <a:pPr>
              <a:spcBef>
                <a:spcPts val="600"/>
              </a:spcBef>
              <a:spcAft>
                <a:spcPts val="600"/>
              </a:spcAft>
              <a:buClr>
                <a:schemeClr val="bg1"/>
              </a:buClr>
              <a:buFont typeface="Wingdings" panose="05000000000000000000" pitchFamily="2" charset="2"/>
              <a:buAutoNum type="circleNumDbPlain"/>
            </a:pPr>
            <a:r>
              <a:rPr lang="zh-CN" altLang="en-US" sz="2400" b="1">
                <a:solidFill>
                  <a:srgbClr val="0000FF"/>
                </a:solidFill>
                <a:latin typeface="楷体" panose="02010609060101010101" charset="-122"/>
                <a:ea typeface="楷体" panose="02010609060101010101" charset="-122"/>
              </a:rPr>
              <a:t>项目计划的变更：</a:t>
            </a:r>
            <a:r>
              <a:rPr lang="zh-CN" altLang="en-US" sz="2400" b="1">
                <a:solidFill>
                  <a:schemeClr val="bg2"/>
                </a:solidFill>
                <a:latin typeface="楷体" panose="02010609060101010101" charset="-122"/>
                <a:ea typeface="楷体" panose="02010609060101010101" charset="-122"/>
              </a:rPr>
              <a:t>当变化幅度很大时，需要产生更合适的实际成本管理计划。</a:t>
            </a:r>
            <a:endParaRPr lang="zh-CN" altLang="en-US" sz="2400" b="1">
              <a:solidFill>
                <a:schemeClr val="bg2"/>
              </a:solidFill>
              <a:latin typeface="楷体" panose="02010609060101010101" charset="-122"/>
              <a:ea typeface="楷体" panose="02010609060101010101" charset="-122"/>
            </a:endParaRPr>
          </a:p>
          <a:p>
            <a:pPr>
              <a:spcBef>
                <a:spcPts val="600"/>
              </a:spcBef>
              <a:spcAft>
                <a:spcPts val="600"/>
              </a:spcAft>
              <a:buClr>
                <a:schemeClr val="bg1"/>
              </a:buClr>
              <a:buFont typeface="Wingdings" panose="05000000000000000000" pitchFamily="2" charset="2"/>
              <a:buAutoNum type="circleNumDbPlain"/>
            </a:pPr>
            <a:r>
              <a:rPr lang="zh-CN" altLang="en-US" sz="2400" b="1">
                <a:solidFill>
                  <a:srgbClr val="0000FF"/>
                </a:solidFill>
                <a:latin typeface="楷体" panose="02010609060101010101" charset="-122"/>
                <a:ea typeface="楷体" panose="02010609060101010101" charset="-122"/>
              </a:rPr>
              <a:t>经验教训</a:t>
            </a:r>
            <a:r>
              <a:rPr lang="zh-CN" altLang="en-US" sz="2400" b="1">
                <a:solidFill>
                  <a:schemeClr val="bg1"/>
                </a:solidFill>
                <a:latin typeface="楷体" panose="02010609060101010101" charset="-122"/>
                <a:ea typeface="楷体" panose="02010609060101010101" charset="-122"/>
              </a:rPr>
              <a:t>：</a:t>
            </a:r>
            <a:r>
              <a:rPr lang="zh-CN" altLang="en-US" sz="2400" b="1">
                <a:solidFill>
                  <a:schemeClr val="bg2"/>
                </a:solidFill>
                <a:latin typeface="楷体" panose="02010609060101010101" charset="-122"/>
                <a:ea typeface="楷体" panose="02010609060101010101" charset="-122"/>
              </a:rPr>
              <a:t>记录产生偏差的原因、采取纠正措施的理由和其他的成本控制方面类似的经验教训。</a:t>
            </a:r>
            <a:endParaRPr lang="zh-CN" altLang="en-US" sz="2400" b="1">
              <a:solidFill>
                <a:schemeClr val="bg2"/>
              </a:solidFill>
              <a:latin typeface="楷体" panose="02010609060101010101" charset="-122"/>
              <a:ea typeface="楷体" panose="02010609060101010101" charset="-122"/>
            </a:endParaRPr>
          </a:p>
        </p:txBody>
      </p:sp>
      <p:sp>
        <p:nvSpPr>
          <p:cNvPr id="43013" name="Rectangle 5"/>
          <p:cNvSpPr>
            <a:spLocks noChangeArrowheads="1"/>
          </p:cNvSpPr>
          <p:nvPr/>
        </p:nvSpPr>
        <p:spPr bwMode="auto">
          <a:xfrm>
            <a:off x="103188" y="620713"/>
            <a:ext cx="5405437" cy="553085"/>
          </a:xfrm>
          <a:prstGeom prst="rect">
            <a:avLst/>
          </a:prstGeom>
          <a:noFill/>
          <a:ln w="9525">
            <a:noFill/>
            <a:miter lim="800000"/>
          </a:ln>
        </p:spPr>
        <p:txBody>
          <a:bodyPr>
            <a:spAutoFit/>
          </a:bodyPr>
          <a:lstStyle/>
          <a:p>
            <a:r>
              <a:rPr kumimoji="0" lang="en-US" altLang="en-US" sz="3000" b="1" smtClean="0"/>
              <a:t>6.5 </a:t>
            </a:r>
            <a:r>
              <a:rPr kumimoji="0" lang="en-US" altLang="en-US" sz="3000" b="1">
                <a:latin typeface="楷体" panose="02010609060101010101" charset="-122"/>
                <a:ea typeface="楷体" panose="02010609060101010101" charset="-122"/>
              </a:rPr>
              <a:t>项目成本控制</a:t>
            </a:r>
            <a:endParaRPr kumimoji="0" lang="en-US" altLang="en-US" sz="3000" b="1">
              <a:latin typeface="楷体" panose="02010609060101010101" charset="-122"/>
              <a:ea typeface="楷体" panose="02010609060101010101" charset="-122"/>
            </a:endParaRPr>
          </a:p>
        </p:txBody>
      </p:sp>
      <p:sp>
        <p:nvSpPr>
          <p:cNvPr id="43014" name="Rectangle 6"/>
          <p:cNvSpPr>
            <a:spLocks noChangeArrowheads="1"/>
          </p:cNvSpPr>
          <p:nvPr/>
        </p:nvSpPr>
        <p:spPr bwMode="auto">
          <a:xfrm>
            <a:off x="323850" y="1341438"/>
            <a:ext cx="3396615" cy="521970"/>
          </a:xfrm>
          <a:prstGeom prst="rect">
            <a:avLst/>
          </a:prstGeom>
          <a:noFill/>
          <a:ln w="9525">
            <a:noFill/>
            <a:miter lim="800000"/>
          </a:ln>
        </p:spPr>
        <p:txBody>
          <a:bodyPr wrap="none">
            <a:spAutoFit/>
          </a:bodyPr>
          <a:lstStyle/>
          <a:p>
            <a:r>
              <a:rPr kumimoji="0" lang="en-US" altLang="en-US" b="1" smtClean="0">
                <a:solidFill>
                  <a:srgbClr val="FF0000"/>
                </a:solidFill>
                <a:ea typeface="楷体_GB2312" pitchFamily="49" charset="-122"/>
              </a:rPr>
              <a:t>6.5.4</a:t>
            </a:r>
            <a:r>
              <a:rPr kumimoji="0" lang="en-US" altLang="en-US" b="1">
                <a:solidFill>
                  <a:srgbClr val="FF0000"/>
                </a:solidFill>
                <a:latin typeface="楷体" panose="02010609060101010101" charset="-122"/>
                <a:ea typeface="楷体" panose="02010609060101010101" charset="-122"/>
              </a:rPr>
              <a:t>成本控制的结果</a:t>
            </a:r>
            <a:endParaRPr kumimoji="0" lang="en-US" altLang="en-US" b="1">
              <a:solidFill>
                <a:srgbClr val="FF0000"/>
              </a:solidFill>
              <a:latin typeface="楷体" panose="02010609060101010101" charset="-122"/>
              <a:ea typeface="楷体" panose="02010609060101010101" charset="-122"/>
            </a:endParaRPr>
          </a:p>
        </p:txBody>
      </p:sp>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9"/>
          <p:cNvSpPr>
            <a:spLocks noGrp="1" noChangeArrowheads="1"/>
          </p:cNvSpPr>
          <p:nvPr>
            <p:ph type="sldNum" sz="quarter" idx="10"/>
          </p:nvPr>
        </p:nvSpPr>
        <p:spPr>
          <a:noFill/>
        </p:spPr>
        <p:txBody>
          <a:bodyPr/>
          <a:lstStyle/>
          <a:p>
            <a:r>
              <a:rPr lang="zh-CN" altLang="en-GB" smtClean="0"/>
              <a:t>  </a:t>
            </a:r>
            <a:fld id="{22F2FAF7-CA2C-4F59-AE69-D795F0C1C522}" type="slidenum">
              <a:rPr lang="zh-CN" altLang="en-GB" smtClean="0"/>
            </a:fld>
            <a:endParaRPr lang="en-US" altLang="zh-CN" smtClean="0"/>
          </a:p>
        </p:txBody>
      </p:sp>
      <p:sp>
        <p:nvSpPr>
          <p:cNvPr id="7171"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spcBef>
                <a:spcPct val="50000"/>
              </a:spcBef>
            </a:pPr>
            <a:endParaRPr lang="zh-CN" altLang="en-US" sz="2400"/>
          </a:p>
        </p:txBody>
      </p:sp>
      <p:sp>
        <p:nvSpPr>
          <p:cNvPr id="7172" name="Rectangle 6"/>
          <p:cNvSpPr>
            <a:spLocks noGrp="1" noChangeArrowheads="1"/>
          </p:cNvSpPr>
          <p:nvPr>
            <p:ph type="subTitle" idx="4294967295"/>
          </p:nvPr>
        </p:nvSpPr>
        <p:spPr bwMode="auto">
          <a:xfrm>
            <a:off x="2143125" y="500063"/>
            <a:ext cx="3929063" cy="714375"/>
          </a:xfrm>
          <a:prstGeom prst="rect">
            <a:avLst/>
          </a:prstGeom>
          <a:noFill/>
          <a:ln>
            <a:miter lim="800000"/>
          </a:ln>
        </p:spPr>
        <p:txBody>
          <a:bodyPr/>
          <a:lstStyle/>
          <a:p>
            <a:pPr marL="0" indent="0" algn="ctr" eaLnBrk="1" hangingPunct="1">
              <a:buClr>
                <a:schemeClr val="tx1"/>
              </a:buClr>
              <a:buSzTx/>
              <a:buFont typeface="Wingdings" panose="05000000000000000000" pitchFamily="2" charset="2"/>
              <a:buNone/>
            </a:pPr>
            <a:r>
              <a:rPr lang="zh-CN" altLang="en-US" sz="4800" b="1" smtClean="0">
                <a:latin typeface="楷体" panose="02010609060101010101" charset="-122"/>
                <a:ea typeface="楷体" panose="02010609060101010101" charset="-122"/>
                <a:cs typeface="楷体" panose="02010609060101010101" charset="-122"/>
              </a:rPr>
              <a:t>提   纲</a:t>
            </a:r>
            <a:endParaRPr lang="en-US" altLang="zh-CN" sz="4800" b="1" smtClean="0">
              <a:latin typeface="楷体" panose="02010609060101010101" charset="-122"/>
              <a:ea typeface="楷体" panose="02010609060101010101" charset="-122"/>
              <a:cs typeface="楷体" panose="02010609060101010101" charset="-122"/>
            </a:endParaRPr>
          </a:p>
        </p:txBody>
      </p:sp>
      <p:sp>
        <p:nvSpPr>
          <p:cNvPr id="7" name="TextBox 6"/>
          <p:cNvSpPr txBox="1">
            <a:spLocks noChangeArrowheads="1"/>
          </p:cNvSpPr>
          <p:nvPr/>
        </p:nvSpPr>
        <p:spPr bwMode="auto">
          <a:xfrm>
            <a:off x="322898" y="1455558"/>
            <a:ext cx="8501062" cy="4707890"/>
          </a:xfrm>
          <a:prstGeom prst="rect">
            <a:avLst/>
          </a:prstGeom>
          <a:noFill/>
          <a:ln w="9525">
            <a:noFill/>
            <a:miter lim="800000"/>
          </a:ln>
        </p:spPr>
        <p:txBody>
          <a:bodyPr>
            <a:spAutoFit/>
          </a:bodyPr>
          <a:lstStyle/>
          <a:p>
            <a:pPr>
              <a:spcBef>
                <a:spcPts val="0"/>
              </a:spcBef>
              <a:spcAft>
                <a:spcPts val="0"/>
              </a:spcAft>
              <a:buClr>
                <a:srgbClr val="C00000"/>
              </a:buClr>
              <a:buSzPct val="100000"/>
              <a:buFont typeface="Arial" panose="020B0604020202020204" pitchFamily="34" charset="0"/>
              <a:buChar char="◙"/>
              <a:defRPr/>
            </a:pPr>
            <a:r>
              <a:rPr lang="en-US" altLang="en-US" sz="4800" b="1" dirty="0" err="1">
                <a:solidFill>
                  <a:srgbClr val="0000FF"/>
                </a:solidFill>
                <a:latin typeface="楷体" panose="02010609060101010101" charset="-122"/>
                <a:ea typeface="楷体" panose="02010609060101010101" charset="-122"/>
                <a:cs typeface="楷体" panose="02010609060101010101" charset="-122"/>
              </a:rPr>
              <a:t>项目成本管理概述 </a:t>
            </a:r>
            <a:endParaRPr lang="en-US" altLang="en-US" sz="4800" b="1" dirty="0" err="1">
              <a:solidFill>
                <a:srgbClr val="0000FF"/>
              </a:solidFill>
              <a:latin typeface="楷体" panose="02010609060101010101" charset="-122"/>
              <a:ea typeface="楷体" panose="02010609060101010101" charset="-122"/>
              <a:cs typeface="楷体" panose="02010609060101010101" charset="-122"/>
            </a:endParaRPr>
          </a:p>
          <a:p>
            <a:pPr>
              <a:spcBef>
                <a:spcPts val="0"/>
              </a:spcBef>
              <a:spcAft>
                <a:spcPts val="0"/>
              </a:spcAft>
              <a:buClr>
                <a:srgbClr val="C00000"/>
              </a:buClr>
              <a:buSzPct val="100000"/>
              <a:buFont typeface="Arial" panose="020B0604020202020204" pitchFamily="34" charset="0"/>
              <a:buChar char="◙"/>
              <a:defRPr/>
            </a:pPr>
            <a:r>
              <a:rPr lang="zh-CN" altLang="en-US" sz="4800" b="1" smtClean="0">
                <a:solidFill>
                  <a:srgbClr val="0000FF"/>
                </a:solidFill>
                <a:latin typeface="楷体" panose="02010609060101010101" charset="-122"/>
                <a:ea typeface="楷体" panose="02010609060101010101" charset="-122"/>
                <a:cs typeface="楷体" panose="02010609060101010101" charset="-122"/>
              </a:rPr>
              <a:t>规划</a:t>
            </a:r>
            <a:r>
              <a:rPr lang="en-US" altLang="en-US" sz="4800" b="1" smtClean="0">
                <a:solidFill>
                  <a:srgbClr val="0000FF"/>
                </a:solidFill>
                <a:latin typeface="楷体" panose="02010609060101010101" charset="-122"/>
                <a:ea typeface="楷体" panose="02010609060101010101" charset="-122"/>
                <a:cs typeface="楷体" panose="02010609060101010101" charset="-122"/>
              </a:rPr>
              <a:t>成本</a:t>
            </a:r>
            <a:r>
              <a:rPr lang="zh-CN" altLang="en-US" sz="4800" b="1" smtClean="0">
                <a:solidFill>
                  <a:srgbClr val="0000FF"/>
                </a:solidFill>
                <a:latin typeface="楷体" panose="02010609060101010101" charset="-122"/>
                <a:ea typeface="楷体" panose="02010609060101010101" charset="-122"/>
                <a:cs typeface="楷体" panose="02010609060101010101" charset="-122"/>
              </a:rPr>
              <a:t>管理</a:t>
            </a:r>
            <a:r>
              <a:rPr lang="en-US" altLang="en-US" sz="4800" b="1" smtClean="0">
                <a:solidFill>
                  <a:srgbClr val="0000FF"/>
                </a:solidFill>
                <a:latin typeface="楷体" panose="02010609060101010101" charset="-122"/>
                <a:ea typeface="楷体" panose="02010609060101010101" charset="-122"/>
                <a:cs typeface="楷体" panose="02010609060101010101" charset="-122"/>
              </a:rPr>
              <a:t> </a:t>
            </a:r>
            <a:endParaRPr lang="en-US" altLang="en-US" sz="4800" b="1" smtClean="0">
              <a:solidFill>
                <a:srgbClr val="0000FF"/>
              </a:solidFill>
              <a:latin typeface="楷体" panose="02010609060101010101" charset="-122"/>
              <a:ea typeface="楷体" panose="02010609060101010101" charset="-122"/>
              <a:cs typeface="楷体" panose="02010609060101010101" charset="-122"/>
            </a:endParaRPr>
          </a:p>
          <a:p>
            <a:pPr>
              <a:spcBef>
                <a:spcPts val="0"/>
              </a:spcBef>
              <a:spcAft>
                <a:spcPts val="0"/>
              </a:spcAft>
              <a:buClr>
                <a:srgbClr val="C00000"/>
              </a:buClr>
              <a:buSzPct val="100000"/>
              <a:buFont typeface="Arial" panose="020B0604020202020204" pitchFamily="34" charset="0"/>
              <a:buChar char="◙"/>
              <a:defRPr/>
            </a:pPr>
            <a:r>
              <a:rPr lang="en-US" altLang="en-US" sz="4800" b="1" dirty="0" err="1" smtClean="0">
                <a:solidFill>
                  <a:srgbClr val="0000FF"/>
                </a:solidFill>
                <a:latin typeface="楷体" panose="02010609060101010101" charset="-122"/>
                <a:ea typeface="楷体" panose="02010609060101010101" charset="-122"/>
                <a:cs typeface="楷体" panose="02010609060101010101" charset="-122"/>
              </a:rPr>
              <a:t>项目成本估算</a:t>
            </a:r>
            <a:r>
              <a:rPr lang="en-US" altLang="en-US" sz="5400" b="1" smtClean="0">
                <a:solidFill>
                  <a:srgbClr val="0000FF"/>
                </a:solidFill>
                <a:latin typeface="楷体" panose="02010609060101010101" charset="-122"/>
                <a:ea typeface="楷体" panose="02010609060101010101" charset="-122"/>
                <a:cs typeface="楷体" panose="02010609060101010101" charset="-122"/>
              </a:rPr>
              <a:t> </a:t>
            </a:r>
            <a:endParaRPr lang="en-US" altLang="en-US" sz="5400" b="1" dirty="0" err="1">
              <a:solidFill>
                <a:srgbClr val="0000FF"/>
              </a:solidFill>
              <a:latin typeface="楷体" panose="02010609060101010101" charset="-122"/>
              <a:ea typeface="楷体" panose="02010609060101010101" charset="-122"/>
              <a:cs typeface="楷体" panose="02010609060101010101" charset="-122"/>
            </a:endParaRPr>
          </a:p>
          <a:p>
            <a:pPr>
              <a:spcBef>
                <a:spcPts val="0"/>
              </a:spcBef>
              <a:spcAft>
                <a:spcPts val="0"/>
              </a:spcAft>
              <a:buClr>
                <a:srgbClr val="C00000"/>
              </a:buClr>
              <a:buSzPct val="100000"/>
              <a:buFont typeface="Arial" panose="020B0604020202020204" pitchFamily="34" charset="0"/>
              <a:buChar char="◙"/>
              <a:defRPr/>
            </a:pPr>
            <a:r>
              <a:rPr lang="en-US" altLang="en-US" sz="4800" b="1" dirty="0" err="1" smtClean="0">
                <a:solidFill>
                  <a:srgbClr val="0000FF"/>
                </a:solidFill>
                <a:latin typeface="楷体" panose="02010609060101010101" charset="-122"/>
                <a:ea typeface="楷体" panose="02010609060101010101" charset="-122"/>
                <a:cs typeface="楷体" panose="02010609060101010101" charset="-122"/>
              </a:rPr>
              <a:t>项目成本预算</a:t>
            </a:r>
            <a:endParaRPr lang="en-US" altLang="en-US" sz="4800" b="1" dirty="0" err="1" smtClean="0">
              <a:solidFill>
                <a:srgbClr val="0000FF"/>
              </a:solidFill>
              <a:latin typeface="楷体" panose="02010609060101010101" charset="-122"/>
              <a:ea typeface="楷体" panose="02010609060101010101" charset="-122"/>
              <a:cs typeface="楷体" panose="02010609060101010101" charset="-122"/>
            </a:endParaRPr>
          </a:p>
          <a:p>
            <a:pPr>
              <a:spcBef>
                <a:spcPts val="0"/>
              </a:spcBef>
              <a:spcAft>
                <a:spcPts val="0"/>
              </a:spcAft>
              <a:buClr>
                <a:srgbClr val="C00000"/>
              </a:buClr>
              <a:buSzPct val="100000"/>
              <a:buFont typeface="Arial" panose="020B0604020202020204" pitchFamily="34" charset="0"/>
              <a:buChar char="◙"/>
              <a:defRPr/>
            </a:pPr>
            <a:r>
              <a:rPr lang="en-US" altLang="en-US" sz="4800" b="1" dirty="0" err="1" smtClean="0">
                <a:solidFill>
                  <a:srgbClr val="0000FF"/>
                </a:solidFill>
                <a:latin typeface="楷体" panose="02010609060101010101" charset="-122"/>
                <a:ea typeface="楷体" panose="02010609060101010101" charset="-122"/>
                <a:cs typeface="楷体" panose="02010609060101010101" charset="-122"/>
              </a:rPr>
              <a:t>项目成本控制</a:t>
            </a:r>
            <a:endParaRPr lang="en-US" altLang="en-US" sz="4800" b="1" dirty="0" err="1" smtClean="0">
              <a:solidFill>
                <a:schemeClr val="bg1">
                  <a:lumMod val="50000"/>
                </a:schemeClr>
              </a:solidFill>
              <a:latin typeface="楷体" panose="02010609060101010101" charset="-122"/>
              <a:ea typeface="楷体" panose="02010609060101010101" charset="-122"/>
              <a:cs typeface="楷体" panose="02010609060101010101" charset="-122"/>
            </a:endParaRPr>
          </a:p>
          <a:p>
            <a:pPr>
              <a:spcBef>
                <a:spcPts val="0"/>
              </a:spcBef>
              <a:spcAft>
                <a:spcPts val="0"/>
              </a:spcAft>
              <a:buClr>
                <a:srgbClr val="C00000"/>
              </a:buClr>
              <a:buSzPct val="100000"/>
              <a:buFont typeface="Arial" panose="020B0604020202020204" pitchFamily="34" charset="0"/>
              <a:buChar char="◙"/>
              <a:defRPr/>
            </a:pPr>
            <a:r>
              <a:rPr lang="en-US" altLang="en-US" sz="5400" b="1" smtClean="0">
                <a:solidFill>
                  <a:srgbClr val="FF0000"/>
                </a:solidFill>
                <a:latin typeface="楷体" panose="02010609060101010101" charset="-122"/>
                <a:ea typeface="楷体" panose="02010609060101010101" charset="-122"/>
                <a:cs typeface="楷体" panose="02010609060101010101" charset="-122"/>
              </a:rPr>
              <a:t>项目成本效益分析</a:t>
            </a:r>
            <a:endParaRPr lang="en-US" altLang="en-US" sz="5400" b="1" dirty="0" err="1" smtClean="0">
              <a:solidFill>
                <a:srgbClr val="FF0000"/>
              </a:solidFill>
              <a:latin typeface="楷体" panose="02010609060101010101" charset="-122"/>
              <a:ea typeface="楷体" panose="02010609060101010101" charset="-122"/>
              <a:cs typeface="楷体" panose="02010609060101010101" charset="-122"/>
            </a:endParaRPr>
          </a:p>
        </p:txBody>
      </p:sp>
    </p:spTree>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9"/>
          <p:cNvSpPr>
            <a:spLocks noGrp="1" noChangeArrowheads="1"/>
          </p:cNvSpPr>
          <p:nvPr>
            <p:ph type="sldNum" sz="quarter" idx="10"/>
          </p:nvPr>
        </p:nvSpPr>
        <p:spPr>
          <a:noFill/>
        </p:spPr>
        <p:txBody>
          <a:bodyPr/>
          <a:lstStyle/>
          <a:p>
            <a:r>
              <a:rPr lang="zh-CN" altLang="en-GB" smtClean="0"/>
              <a:t>  </a:t>
            </a:r>
            <a:fld id="{599C8774-28AC-415C-AEE3-CCE6DB95FB51}" type="slidenum">
              <a:rPr lang="zh-CN" altLang="en-GB" smtClean="0"/>
            </a:fld>
            <a:endParaRPr lang="en-US" altLang="zh-CN" smtClean="0"/>
          </a:p>
        </p:txBody>
      </p:sp>
      <p:sp>
        <p:nvSpPr>
          <p:cNvPr id="45059"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b="1" smtClean="0">
                <a:solidFill>
                  <a:schemeClr val="bg2"/>
                </a:solidFill>
              </a:rPr>
              <a:t>P.148</a:t>
            </a:r>
            <a:endParaRPr lang="en-US" altLang="zh-CN" sz="2400" b="1">
              <a:solidFill>
                <a:schemeClr val="bg2"/>
              </a:solidFill>
            </a:endParaRPr>
          </a:p>
        </p:txBody>
      </p:sp>
      <p:sp>
        <p:nvSpPr>
          <p:cNvPr id="45060" name="Text Box 4"/>
          <p:cNvSpPr txBox="1">
            <a:spLocks noChangeArrowheads="1"/>
          </p:cNvSpPr>
          <p:nvPr/>
        </p:nvSpPr>
        <p:spPr bwMode="auto">
          <a:xfrm>
            <a:off x="107950" y="1412875"/>
            <a:ext cx="8893175" cy="4677410"/>
          </a:xfrm>
          <a:prstGeom prst="rect">
            <a:avLst/>
          </a:prstGeom>
          <a:noFill/>
          <a:ln w="9525" algn="ctr">
            <a:noFill/>
            <a:miter lim="800000"/>
          </a:ln>
        </p:spPr>
        <p:txBody>
          <a:bodyPr>
            <a:spAutoFit/>
          </a:bodyPr>
          <a:lstStyle/>
          <a:p>
            <a:pPr>
              <a:spcBef>
                <a:spcPts val="1200"/>
              </a:spcBef>
              <a:spcAft>
                <a:spcPts val="600"/>
              </a:spcAft>
              <a:buClr>
                <a:schemeClr val="hlink"/>
              </a:buClr>
            </a:pPr>
            <a:r>
              <a:rPr lang="zh-CN" altLang="en-US" sz="3200" b="1">
                <a:solidFill>
                  <a:schemeClr val="bg2"/>
                </a:solidFill>
                <a:latin typeface="楷体" panose="02010609060101010101" charset="-122"/>
                <a:ea typeface="楷体" panose="02010609060101010101" charset="-122"/>
                <a:cs typeface="楷体" panose="02010609060101010101" charset="-122"/>
              </a:rPr>
              <a:t>成本效益分析是通过比较项目的全部成本和效益来评估项目价值的一种方法。</a:t>
            </a:r>
            <a:endParaRPr lang="zh-CN" altLang="en-US" sz="3200" b="1">
              <a:solidFill>
                <a:schemeClr val="bg2"/>
              </a:solidFill>
              <a:latin typeface="楷体" panose="02010609060101010101" charset="-122"/>
              <a:ea typeface="楷体" panose="02010609060101010101" charset="-122"/>
              <a:cs typeface="楷体" panose="02010609060101010101" charset="-122"/>
            </a:endParaRPr>
          </a:p>
          <a:p>
            <a:pPr>
              <a:spcBef>
                <a:spcPts val="1200"/>
              </a:spcBef>
              <a:spcAft>
                <a:spcPts val="600"/>
              </a:spcAft>
              <a:buClr>
                <a:schemeClr val="hlink"/>
              </a:buClr>
            </a:pPr>
            <a:r>
              <a:rPr lang="zh-CN" altLang="en-US" sz="3200" b="1">
                <a:solidFill>
                  <a:schemeClr val="bg2"/>
                </a:solidFill>
                <a:latin typeface="楷体" panose="02010609060101010101" charset="-122"/>
                <a:ea typeface="楷体" panose="02010609060101010101" charset="-122"/>
                <a:cs typeface="楷体" panose="02010609060101010101" charset="-122"/>
              </a:rPr>
              <a:t>对于</a:t>
            </a:r>
            <a:r>
              <a:rPr lang="en-US" altLang="zh-CN" sz="3200" b="1">
                <a:solidFill>
                  <a:schemeClr val="bg2"/>
                </a:solidFill>
                <a:ea typeface="楷体" panose="02010609060101010101" charset="-122"/>
                <a:cs typeface="Times New Roman" panose="02020603050405020304" pitchFamily="18" charset="0"/>
              </a:rPr>
              <a:t>IT</a:t>
            </a:r>
            <a:r>
              <a:rPr lang="zh-CN" altLang="en-US" sz="3200" b="1">
                <a:solidFill>
                  <a:schemeClr val="bg2"/>
                </a:solidFill>
                <a:latin typeface="楷体" panose="02010609060101010101" charset="-122"/>
                <a:ea typeface="楷体" panose="02010609060101010101" charset="-122"/>
                <a:cs typeface="楷体" panose="02010609060101010101" charset="-122"/>
              </a:rPr>
              <a:t>项目来说，如何以低成本换得高效益，如何评价项目投资的必要性和有效性，这既是一个技术问题，也是一个经济问题。</a:t>
            </a:r>
            <a:endParaRPr lang="zh-CN" altLang="en-US" sz="3200" b="1">
              <a:solidFill>
                <a:schemeClr val="bg2"/>
              </a:solidFill>
              <a:latin typeface="楷体" panose="02010609060101010101" charset="-122"/>
              <a:ea typeface="楷体" panose="02010609060101010101" charset="-122"/>
              <a:cs typeface="楷体" panose="02010609060101010101" charset="-122"/>
            </a:endParaRPr>
          </a:p>
          <a:p>
            <a:pPr>
              <a:spcBef>
                <a:spcPts val="1200"/>
              </a:spcBef>
              <a:spcAft>
                <a:spcPts val="600"/>
              </a:spcAft>
              <a:buClr>
                <a:schemeClr val="hlink"/>
              </a:buClr>
            </a:pPr>
            <a:r>
              <a:rPr lang="zh-CN" altLang="en-US" sz="3600" b="1">
                <a:solidFill>
                  <a:srgbClr val="0000FF"/>
                </a:solidFill>
                <a:latin typeface="楷体" panose="02010609060101010101" charset="-122"/>
                <a:ea typeface="楷体" panose="02010609060101010101" charset="-122"/>
                <a:cs typeface="楷体" panose="02010609060101010101" charset="-122"/>
              </a:rPr>
              <a:t>对于</a:t>
            </a:r>
            <a:r>
              <a:rPr lang="en-US" altLang="zh-CN" sz="3600" b="1">
                <a:solidFill>
                  <a:srgbClr val="0000FF"/>
                </a:solidFill>
                <a:ea typeface="楷体" panose="02010609060101010101" charset="-122"/>
                <a:cs typeface="Times New Roman" panose="02020603050405020304" pitchFamily="18" charset="0"/>
              </a:rPr>
              <a:t>IT</a:t>
            </a:r>
            <a:r>
              <a:rPr lang="zh-CN" altLang="en-US" sz="3600" b="1">
                <a:solidFill>
                  <a:srgbClr val="0000FF"/>
                </a:solidFill>
                <a:latin typeface="楷体" panose="02010609060101010101" charset="-122"/>
                <a:ea typeface="楷体" panose="02010609060101010101" charset="-122"/>
                <a:cs typeface="楷体" panose="02010609060101010101" charset="-122"/>
              </a:rPr>
              <a:t>项目的成本效益分析，不仅要关注对技术的评价和实施，而且要重视对其经济评价的探讨。</a:t>
            </a:r>
            <a:endParaRPr lang="zh-CN" altLang="en-US" sz="3600" b="1">
              <a:solidFill>
                <a:srgbClr val="0000FF"/>
              </a:solidFill>
              <a:latin typeface="楷体" panose="02010609060101010101" charset="-122"/>
              <a:ea typeface="楷体" panose="02010609060101010101" charset="-122"/>
              <a:cs typeface="楷体" panose="02010609060101010101" charset="-122"/>
            </a:endParaRPr>
          </a:p>
        </p:txBody>
      </p:sp>
      <p:sp>
        <p:nvSpPr>
          <p:cNvPr id="45061" name="Rectangle 5"/>
          <p:cNvSpPr>
            <a:spLocks noChangeArrowheads="1"/>
          </p:cNvSpPr>
          <p:nvPr/>
        </p:nvSpPr>
        <p:spPr bwMode="auto">
          <a:xfrm>
            <a:off x="103188" y="620713"/>
            <a:ext cx="5405437" cy="553085"/>
          </a:xfrm>
          <a:prstGeom prst="rect">
            <a:avLst/>
          </a:prstGeom>
          <a:noFill/>
          <a:ln w="9525">
            <a:noFill/>
            <a:miter lim="800000"/>
          </a:ln>
        </p:spPr>
        <p:txBody>
          <a:bodyPr>
            <a:spAutoFit/>
          </a:bodyPr>
          <a:lstStyle/>
          <a:p>
            <a:r>
              <a:rPr kumimoji="0" lang="en-US" altLang="en-US" sz="3000" b="1" smtClean="0"/>
              <a:t>6.6</a:t>
            </a:r>
            <a:r>
              <a:rPr kumimoji="0" lang="en-US" altLang="en-US" sz="3000" b="1" smtClean="0">
                <a:latin typeface="楷体" panose="02010609060101010101" charset="-122"/>
                <a:ea typeface="楷体" panose="02010609060101010101" charset="-122"/>
              </a:rPr>
              <a:t>项目成本效益分析</a:t>
            </a:r>
            <a:endParaRPr kumimoji="0" lang="en-US" altLang="en-US" sz="3000" b="1" smtClean="0">
              <a:latin typeface="楷体" panose="02010609060101010101" charset="-122"/>
              <a:ea typeface="楷体" panose="0201060906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06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06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9"/>
          <p:cNvSpPr>
            <a:spLocks noGrp="1" noChangeArrowheads="1"/>
          </p:cNvSpPr>
          <p:nvPr>
            <p:ph type="sldNum" sz="quarter" idx="10"/>
          </p:nvPr>
        </p:nvSpPr>
        <p:spPr>
          <a:noFill/>
        </p:spPr>
        <p:txBody>
          <a:bodyPr/>
          <a:lstStyle/>
          <a:p>
            <a:r>
              <a:rPr lang="zh-CN" altLang="en-GB" smtClean="0"/>
              <a:t>  </a:t>
            </a:r>
            <a:fld id="{599C8774-28AC-415C-AEE3-CCE6DB95FB51}" type="slidenum">
              <a:rPr lang="zh-CN" altLang="en-GB" smtClean="0"/>
            </a:fld>
            <a:endParaRPr lang="en-US" altLang="zh-CN" smtClean="0"/>
          </a:p>
        </p:txBody>
      </p:sp>
      <p:sp>
        <p:nvSpPr>
          <p:cNvPr id="45059"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b="1" smtClean="0">
                <a:solidFill>
                  <a:schemeClr val="bg2"/>
                </a:solidFill>
              </a:rPr>
              <a:t>P.148</a:t>
            </a:r>
            <a:endParaRPr lang="en-US" altLang="zh-CN" sz="2400" b="1">
              <a:solidFill>
                <a:schemeClr val="bg2"/>
              </a:solidFill>
            </a:endParaRPr>
          </a:p>
        </p:txBody>
      </p:sp>
      <p:sp>
        <p:nvSpPr>
          <p:cNvPr id="45060" name="Text Box 4"/>
          <p:cNvSpPr txBox="1">
            <a:spLocks noChangeArrowheads="1"/>
          </p:cNvSpPr>
          <p:nvPr/>
        </p:nvSpPr>
        <p:spPr bwMode="auto">
          <a:xfrm>
            <a:off x="107950" y="1412875"/>
            <a:ext cx="8893175" cy="4861560"/>
          </a:xfrm>
          <a:prstGeom prst="rect">
            <a:avLst/>
          </a:prstGeom>
          <a:noFill/>
          <a:ln w="9525" algn="ctr">
            <a:noFill/>
            <a:miter lim="800000"/>
          </a:ln>
        </p:spPr>
        <p:txBody>
          <a:bodyPr>
            <a:spAutoFit/>
          </a:bodyPr>
          <a:lstStyle/>
          <a:p>
            <a:pPr>
              <a:spcBef>
                <a:spcPts val="600"/>
              </a:spcBef>
              <a:spcAft>
                <a:spcPts val="600"/>
              </a:spcAft>
            </a:pPr>
            <a:r>
              <a:rPr lang="zh-CN" altLang="en-US" sz="4000" b="1" smtClean="0">
                <a:solidFill>
                  <a:schemeClr val="bg2"/>
                </a:solidFill>
                <a:latin typeface="楷体" panose="02010609060101010101" charset="-122"/>
                <a:ea typeface="楷体" panose="02010609060101010101" charset="-122"/>
              </a:rPr>
              <a:t>软件系统的经济效益等于因使用新软件而增加的收益加上使用新软件可以节省的运行费用。</a:t>
            </a:r>
            <a:endParaRPr lang="en-US" altLang="zh-CN" sz="4000" b="1" smtClean="0">
              <a:solidFill>
                <a:schemeClr val="bg2"/>
              </a:solidFill>
              <a:latin typeface="楷体" panose="02010609060101010101" charset="-122"/>
              <a:ea typeface="楷体" panose="02010609060101010101" charset="-122"/>
            </a:endParaRPr>
          </a:p>
          <a:p>
            <a:pPr>
              <a:spcBef>
                <a:spcPts val="600"/>
              </a:spcBef>
              <a:spcAft>
                <a:spcPts val="600"/>
              </a:spcAft>
            </a:pPr>
            <a:r>
              <a:rPr lang="zh-CN" altLang="en-US" sz="3600" b="1" smtClean="0">
                <a:solidFill>
                  <a:schemeClr val="bg2"/>
                </a:solidFill>
                <a:latin typeface="楷体" panose="02010609060101010101" charset="-122"/>
                <a:ea typeface="楷体" panose="02010609060101010101" charset="-122"/>
              </a:rPr>
              <a:t>针对成本效益的分析是先将软件项目投资中可能发生的所有成本与效益归纳起来，再利用数量分析方法来计算成本和效益的比值，</a:t>
            </a:r>
            <a:r>
              <a:rPr lang="zh-CN" altLang="en-US" sz="3600" b="1" smtClean="0">
                <a:solidFill>
                  <a:srgbClr val="0000FF"/>
                </a:solidFill>
                <a:latin typeface="楷体" panose="02010609060101010101" charset="-122"/>
                <a:ea typeface="楷体" panose="02010609060101010101" charset="-122"/>
              </a:rPr>
              <a:t>从经济角度去评价开发一个新的软件项目是否可行、是否盈利。</a:t>
            </a:r>
            <a:endParaRPr lang="zh-CN" altLang="en-US" sz="3600" b="1" smtClean="0">
              <a:solidFill>
                <a:srgbClr val="0000FF"/>
              </a:solidFill>
              <a:latin typeface="楷体" panose="02010609060101010101" charset="-122"/>
              <a:ea typeface="楷体" panose="02010609060101010101" charset="-122"/>
            </a:endParaRPr>
          </a:p>
        </p:txBody>
      </p:sp>
      <p:sp>
        <p:nvSpPr>
          <p:cNvPr id="45061" name="Rectangle 5"/>
          <p:cNvSpPr>
            <a:spLocks noChangeArrowheads="1"/>
          </p:cNvSpPr>
          <p:nvPr/>
        </p:nvSpPr>
        <p:spPr bwMode="auto">
          <a:xfrm>
            <a:off x="103188" y="620713"/>
            <a:ext cx="5405437" cy="549275"/>
          </a:xfrm>
          <a:prstGeom prst="rect">
            <a:avLst/>
          </a:prstGeom>
          <a:noFill/>
          <a:ln w="9525">
            <a:noFill/>
            <a:miter lim="800000"/>
          </a:ln>
        </p:spPr>
        <p:txBody>
          <a:bodyPr>
            <a:spAutoFit/>
          </a:bodyPr>
          <a:lstStyle/>
          <a:p>
            <a:r>
              <a:rPr kumimoji="0" lang="en-US" altLang="en-US" sz="3000" b="1" smtClean="0"/>
              <a:t>6.6项目成本效益分析</a:t>
            </a:r>
            <a:endParaRPr kumimoji="0" lang="en-US" altLang="en-US" sz="3000" b="1"/>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06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06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9"/>
          <p:cNvSpPr>
            <a:spLocks noGrp="1" noChangeArrowheads="1"/>
          </p:cNvSpPr>
          <p:nvPr>
            <p:ph type="sldNum" sz="quarter" idx="10"/>
          </p:nvPr>
        </p:nvSpPr>
        <p:spPr>
          <a:noFill/>
        </p:spPr>
        <p:txBody>
          <a:bodyPr/>
          <a:lstStyle/>
          <a:p>
            <a:r>
              <a:rPr lang="zh-CN" altLang="en-GB" smtClean="0"/>
              <a:t>  </a:t>
            </a:r>
            <a:fld id="{4C85BA7A-8C84-4FE5-B9D0-AC9A970421F6}" type="slidenum">
              <a:rPr lang="zh-CN" altLang="en-GB" smtClean="0"/>
            </a:fld>
            <a:endParaRPr lang="en-US" altLang="zh-CN" smtClean="0"/>
          </a:p>
        </p:txBody>
      </p:sp>
      <p:sp>
        <p:nvSpPr>
          <p:cNvPr id="46083"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b="1" smtClean="0">
                <a:solidFill>
                  <a:schemeClr val="bg2"/>
                </a:solidFill>
              </a:rPr>
              <a:t>P.148</a:t>
            </a:r>
            <a:endParaRPr lang="en-US" altLang="zh-CN" sz="2400" b="1">
              <a:solidFill>
                <a:schemeClr val="bg2"/>
              </a:solidFill>
            </a:endParaRPr>
          </a:p>
        </p:txBody>
      </p:sp>
      <p:sp>
        <p:nvSpPr>
          <p:cNvPr id="46084" name="Text Box 4"/>
          <p:cNvSpPr txBox="1">
            <a:spLocks noChangeArrowheads="1"/>
          </p:cNvSpPr>
          <p:nvPr/>
        </p:nvSpPr>
        <p:spPr bwMode="auto">
          <a:xfrm>
            <a:off x="107981" y="1857364"/>
            <a:ext cx="8893175" cy="4707890"/>
          </a:xfrm>
          <a:prstGeom prst="rect">
            <a:avLst/>
          </a:prstGeom>
          <a:noFill/>
          <a:ln w="9525" algn="ctr">
            <a:noFill/>
            <a:miter lim="800000"/>
          </a:ln>
        </p:spPr>
        <p:txBody>
          <a:bodyPr>
            <a:spAutoFit/>
          </a:bodyPr>
          <a:lstStyle/>
          <a:p>
            <a:pPr>
              <a:spcBef>
                <a:spcPts val="600"/>
              </a:spcBef>
              <a:spcAft>
                <a:spcPts val="600"/>
              </a:spcAft>
              <a:buClr>
                <a:schemeClr val="hlink"/>
              </a:buClr>
            </a:pPr>
            <a:r>
              <a:rPr lang="zh-CN" altLang="en-US" b="1">
                <a:solidFill>
                  <a:schemeClr val="bg2"/>
                </a:solidFill>
                <a:latin typeface="楷体" panose="02010609060101010101" charset="-122"/>
                <a:ea typeface="楷体" panose="02010609060101010101" charset="-122"/>
                <a:cs typeface="楷体" panose="02010609060101010101" charset="-122"/>
              </a:rPr>
              <a:t>成本效益分析是投资</a:t>
            </a:r>
            <a:r>
              <a:rPr lang="en-US" altLang="zh-CN" b="1">
                <a:solidFill>
                  <a:schemeClr val="bg2"/>
                </a:solidFill>
                <a:ea typeface="楷体" panose="02010609060101010101" charset="-122"/>
                <a:cs typeface="Times New Roman" panose="02020603050405020304" pitchFamily="18" charset="0"/>
              </a:rPr>
              <a:t>IT</a:t>
            </a:r>
            <a:r>
              <a:rPr lang="zh-CN" altLang="en-US" b="1">
                <a:solidFill>
                  <a:schemeClr val="bg2"/>
                </a:solidFill>
                <a:latin typeface="楷体" panose="02010609060101010101" charset="-122"/>
                <a:ea typeface="楷体" panose="02010609060101010101" charset="-122"/>
                <a:cs typeface="楷体" panose="02010609060101010101" charset="-122"/>
              </a:rPr>
              <a:t>项目可行性研究的重点内容，效益分析将直接决定项目的可行性。</a:t>
            </a:r>
            <a:endParaRPr lang="zh-CN" altLang="en-US" b="1">
              <a:solidFill>
                <a:schemeClr val="bg2"/>
              </a:solidFill>
              <a:latin typeface="楷体" panose="02010609060101010101" charset="-122"/>
              <a:ea typeface="楷体" panose="02010609060101010101" charset="-122"/>
              <a:cs typeface="楷体" panose="02010609060101010101" charset="-122"/>
            </a:endParaRPr>
          </a:p>
          <a:p>
            <a:pPr>
              <a:spcBef>
                <a:spcPts val="600"/>
              </a:spcBef>
              <a:spcAft>
                <a:spcPts val="600"/>
              </a:spcAft>
              <a:buClr>
                <a:schemeClr val="hlink"/>
              </a:buClr>
            </a:pPr>
            <a:r>
              <a:rPr lang="zh-CN" altLang="en-US" b="1">
                <a:solidFill>
                  <a:schemeClr val="bg2"/>
                </a:solidFill>
                <a:latin typeface="楷体" panose="02010609060101010101" charset="-122"/>
                <a:ea typeface="楷体" panose="02010609060101010101" charset="-122"/>
                <a:cs typeface="楷体" panose="02010609060101010101" charset="-122"/>
              </a:rPr>
              <a:t>对</a:t>
            </a:r>
            <a:r>
              <a:rPr lang="en-US" altLang="zh-CN" b="1">
                <a:solidFill>
                  <a:schemeClr val="bg2"/>
                </a:solidFill>
                <a:ea typeface="楷体" panose="02010609060101010101" charset="-122"/>
                <a:cs typeface="Times New Roman" panose="02020603050405020304" pitchFamily="18" charset="0"/>
              </a:rPr>
              <a:t>IT</a:t>
            </a:r>
            <a:r>
              <a:rPr lang="zh-CN" altLang="en-US" b="1">
                <a:solidFill>
                  <a:schemeClr val="bg2"/>
                </a:solidFill>
                <a:latin typeface="楷体" panose="02010609060101010101" charset="-122"/>
                <a:ea typeface="楷体" panose="02010609060101010101" charset="-122"/>
                <a:cs typeface="楷体" panose="02010609060101010101" charset="-122"/>
              </a:rPr>
              <a:t>项目进行成本效益分析，相当于在项目建设前进行投资预算和收益估算，这样使组织的投资有准备、有目标、有信心，使组织的决策更及时、更准确，内部合作更协调，不仅有利于项目的顺利建设，也有利于组织的稳步发展。</a:t>
            </a:r>
            <a:endParaRPr lang="zh-CN" altLang="en-US" b="1">
              <a:solidFill>
                <a:schemeClr val="bg2"/>
              </a:solidFill>
              <a:latin typeface="楷体" panose="02010609060101010101" charset="-122"/>
              <a:ea typeface="楷体" panose="02010609060101010101" charset="-122"/>
              <a:cs typeface="楷体" panose="02010609060101010101" charset="-122"/>
            </a:endParaRPr>
          </a:p>
          <a:p>
            <a:pPr>
              <a:spcBef>
                <a:spcPts val="600"/>
              </a:spcBef>
              <a:spcAft>
                <a:spcPts val="600"/>
              </a:spcAft>
              <a:buClr>
                <a:schemeClr val="hlink"/>
              </a:buClr>
            </a:pPr>
            <a:r>
              <a:rPr lang="zh-CN" altLang="en-US" b="1">
                <a:solidFill>
                  <a:schemeClr val="bg2"/>
                </a:solidFill>
                <a:latin typeface="楷体" panose="02010609060101010101" charset="-122"/>
                <a:ea typeface="楷体" panose="02010609060101010101" charset="-122"/>
                <a:cs typeface="楷体" panose="02010609060101010101" charset="-122"/>
              </a:rPr>
              <a:t>对组织已建立的</a:t>
            </a:r>
            <a:r>
              <a:rPr lang="en-US" altLang="zh-CN" b="1">
                <a:solidFill>
                  <a:schemeClr val="bg2"/>
                </a:solidFill>
                <a:ea typeface="楷体" panose="02010609060101010101" charset="-122"/>
                <a:cs typeface="Times New Roman" panose="02020603050405020304" pitchFamily="18" charset="0"/>
              </a:rPr>
              <a:t>IT</a:t>
            </a:r>
            <a:r>
              <a:rPr lang="zh-CN" altLang="en-US" b="1">
                <a:solidFill>
                  <a:schemeClr val="bg2"/>
                </a:solidFill>
                <a:latin typeface="楷体" panose="02010609060101010101" charset="-122"/>
                <a:ea typeface="楷体" panose="02010609060101010101" charset="-122"/>
                <a:cs typeface="楷体" panose="02010609060101010101" charset="-122"/>
              </a:rPr>
              <a:t>项目进行成本效益分析，相当于做一个后评价，可以帮助组织理清开支，弄清收益，从而发现与解决问题，使</a:t>
            </a:r>
            <a:r>
              <a:rPr lang="en-US" altLang="zh-CN" b="1">
                <a:solidFill>
                  <a:schemeClr val="bg2"/>
                </a:solidFill>
                <a:ea typeface="楷体" panose="02010609060101010101" charset="-122"/>
                <a:cs typeface="Times New Roman" panose="02020603050405020304" pitchFamily="18" charset="0"/>
              </a:rPr>
              <a:t>IT</a:t>
            </a:r>
            <a:r>
              <a:rPr lang="zh-CN" altLang="en-US" b="1">
                <a:solidFill>
                  <a:schemeClr val="bg2"/>
                </a:solidFill>
                <a:latin typeface="楷体" panose="02010609060101010101" charset="-122"/>
                <a:ea typeface="楷体" panose="02010609060101010101" charset="-122"/>
                <a:cs typeface="楷体" panose="02010609060101010101" charset="-122"/>
              </a:rPr>
              <a:t>项目的运作更加有效。</a:t>
            </a:r>
            <a:endParaRPr lang="zh-CN" altLang="en-US" b="1">
              <a:solidFill>
                <a:schemeClr val="bg2"/>
              </a:solidFill>
              <a:latin typeface="楷体" panose="02010609060101010101" charset="-122"/>
              <a:ea typeface="楷体" panose="02010609060101010101" charset="-122"/>
              <a:cs typeface="楷体" panose="02010609060101010101" charset="-122"/>
            </a:endParaRPr>
          </a:p>
        </p:txBody>
      </p:sp>
      <p:sp>
        <p:nvSpPr>
          <p:cNvPr id="46085" name="Rectangle 5"/>
          <p:cNvSpPr>
            <a:spLocks noChangeArrowheads="1"/>
          </p:cNvSpPr>
          <p:nvPr/>
        </p:nvSpPr>
        <p:spPr bwMode="auto">
          <a:xfrm>
            <a:off x="103188" y="620713"/>
            <a:ext cx="5405437" cy="553085"/>
          </a:xfrm>
          <a:prstGeom prst="rect">
            <a:avLst/>
          </a:prstGeom>
          <a:noFill/>
          <a:ln w="9525">
            <a:noFill/>
            <a:miter lim="800000"/>
          </a:ln>
        </p:spPr>
        <p:txBody>
          <a:bodyPr>
            <a:spAutoFit/>
          </a:bodyPr>
          <a:lstStyle/>
          <a:p>
            <a:r>
              <a:rPr kumimoji="0" lang="en-US" altLang="en-US" sz="3000" b="1" smtClean="0"/>
              <a:t>6.6</a:t>
            </a:r>
            <a:r>
              <a:rPr kumimoji="0" lang="en-US" altLang="en-US" sz="3000" b="1" smtClean="0">
                <a:latin typeface="楷体" panose="02010609060101010101" charset="-122"/>
                <a:ea typeface="楷体" panose="02010609060101010101" charset="-122"/>
              </a:rPr>
              <a:t>项目成本效益分析</a:t>
            </a:r>
            <a:endParaRPr kumimoji="0" lang="en-US" altLang="en-US" sz="3000" b="1" smtClean="0">
              <a:latin typeface="楷体" panose="02010609060101010101" charset="-122"/>
              <a:ea typeface="楷体" panose="02010609060101010101" charset="-122"/>
            </a:endParaRPr>
          </a:p>
        </p:txBody>
      </p:sp>
      <p:sp>
        <p:nvSpPr>
          <p:cNvPr id="46086" name="Rectangle 6"/>
          <p:cNvSpPr>
            <a:spLocks noChangeArrowheads="1"/>
          </p:cNvSpPr>
          <p:nvPr/>
        </p:nvSpPr>
        <p:spPr bwMode="auto">
          <a:xfrm>
            <a:off x="323850" y="1341438"/>
            <a:ext cx="4558030" cy="521970"/>
          </a:xfrm>
          <a:prstGeom prst="rect">
            <a:avLst/>
          </a:prstGeom>
          <a:noFill/>
          <a:ln w="9525">
            <a:noFill/>
            <a:miter lim="800000"/>
          </a:ln>
        </p:spPr>
        <p:txBody>
          <a:bodyPr wrap="none">
            <a:spAutoFit/>
          </a:bodyPr>
          <a:lstStyle/>
          <a:p>
            <a:r>
              <a:rPr kumimoji="0" lang="en-US" altLang="en-US" b="1" smtClean="0">
                <a:solidFill>
                  <a:srgbClr val="FF0000"/>
                </a:solidFill>
                <a:ea typeface="楷体_GB2312" pitchFamily="49" charset="-122"/>
              </a:rPr>
              <a:t>6.6.1 </a:t>
            </a:r>
            <a:r>
              <a:rPr kumimoji="0" lang="en-US" altLang="en-US" b="1">
                <a:solidFill>
                  <a:srgbClr val="FF0000"/>
                </a:solidFill>
                <a:latin typeface="楷体" panose="02010609060101010101" charset="-122"/>
                <a:ea typeface="楷体" panose="02010609060101010101" charset="-122"/>
              </a:rPr>
              <a:t>成本效益分析的必要性</a:t>
            </a:r>
            <a:endParaRPr kumimoji="0" lang="en-US" altLang="en-US" b="1">
              <a:solidFill>
                <a:srgbClr val="FF0000"/>
              </a:solidFill>
              <a:latin typeface="楷体" panose="02010609060101010101" charset="-122"/>
              <a:ea typeface="楷体" panose="0201060906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08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08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9"/>
          <p:cNvSpPr>
            <a:spLocks noGrp="1" noChangeArrowheads="1"/>
          </p:cNvSpPr>
          <p:nvPr>
            <p:ph type="sldNum" sz="quarter" idx="10"/>
          </p:nvPr>
        </p:nvSpPr>
        <p:spPr>
          <a:noFill/>
        </p:spPr>
        <p:txBody>
          <a:bodyPr/>
          <a:lstStyle/>
          <a:p>
            <a:r>
              <a:rPr lang="zh-CN" altLang="en-GB" smtClean="0"/>
              <a:t>  </a:t>
            </a:r>
            <a:fld id="{D47A5027-02D1-4A87-8EDC-4B2D40DED619}" type="slidenum">
              <a:rPr lang="zh-CN" altLang="en-GB" smtClean="0"/>
            </a:fld>
            <a:endParaRPr lang="en-US" altLang="zh-CN" smtClean="0"/>
          </a:p>
        </p:txBody>
      </p:sp>
      <p:sp>
        <p:nvSpPr>
          <p:cNvPr id="47107"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b="1" smtClean="0">
                <a:solidFill>
                  <a:schemeClr val="bg2"/>
                </a:solidFill>
              </a:rPr>
              <a:t>P.148</a:t>
            </a:r>
            <a:endParaRPr lang="en-US" altLang="zh-CN" sz="2400" b="1">
              <a:solidFill>
                <a:schemeClr val="bg2"/>
              </a:solidFill>
            </a:endParaRPr>
          </a:p>
        </p:txBody>
      </p:sp>
      <p:sp>
        <p:nvSpPr>
          <p:cNvPr id="47108" name="Text Box 4"/>
          <p:cNvSpPr txBox="1">
            <a:spLocks noChangeArrowheads="1"/>
          </p:cNvSpPr>
          <p:nvPr/>
        </p:nvSpPr>
        <p:spPr bwMode="auto">
          <a:xfrm>
            <a:off x="-32" y="2044033"/>
            <a:ext cx="9001156" cy="3014980"/>
          </a:xfrm>
          <a:prstGeom prst="rect">
            <a:avLst/>
          </a:prstGeom>
          <a:noFill/>
          <a:ln w="9525" algn="ctr">
            <a:noFill/>
            <a:miter lim="800000"/>
          </a:ln>
        </p:spPr>
        <p:txBody>
          <a:bodyPr wrap="square">
            <a:spAutoFit/>
          </a:bodyPr>
          <a:lstStyle/>
          <a:p>
            <a:pPr>
              <a:spcBef>
                <a:spcPts val="600"/>
              </a:spcBef>
              <a:spcAft>
                <a:spcPts val="600"/>
              </a:spcAft>
              <a:buClr>
                <a:srgbClr val="FF0000"/>
              </a:buClr>
            </a:pPr>
            <a:r>
              <a:rPr kumimoji="0" lang="zh-CN" altLang="en-US" sz="3200" b="1">
                <a:solidFill>
                  <a:schemeClr val="bg2"/>
                </a:solidFill>
                <a:latin typeface="楷体" panose="02010609060101010101" charset="-122"/>
                <a:ea typeface="楷体" panose="02010609060101010101" charset="-122"/>
                <a:cs typeface="楷体" panose="02010609060101010101" charset="-122"/>
              </a:rPr>
              <a:t>成本效益分析方法主要有净现值法、现值指数法和内含报酬率</a:t>
            </a:r>
            <a:r>
              <a:rPr kumimoji="0" lang="zh-CN" altLang="en-US" sz="3200" b="1" smtClean="0">
                <a:solidFill>
                  <a:schemeClr val="bg2"/>
                </a:solidFill>
                <a:latin typeface="楷体" panose="02010609060101010101" charset="-122"/>
                <a:ea typeface="楷体" panose="02010609060101010101" charset="-122"/>
                <a:cs typeface="楷体" panose="02010609060101010101" charset="-122"/>
              </a:rPr>
              <a:t>法。</a:t>
            </a:r>
            <a:endParaRPr kumimoji="0" lang="en-US" altLang="zh-CN" sz="3200" b="1" smtClean="0">
              <a:solidFill>
                <a:schemeClr val="bg2"/>
              </a:solidFill>
              <a:latin typeface="楷体" panose="02010609060101010101" charset="-122"/>
              <a:ea typeface="楷体" panose="02010609060101010101" charset="-122"/>
              <a:cs typeface="楷体" panose="02010609060101010101" charset="-122"/>
            </a:endParaRPr>
          </a:p>
          <a:p>
            <a:pPr marL="971550" lvl="1" indent="-514350">
              <a:spcBef>
                <a:spcPts val="600"/>
              </a:spcBef>
              <a:spcAft>
                <a:spcPts val="600"/>
              </a:spcAft>
              <a:buClr>
                <a:srgbClr val="0000FF"/>
              </a:buClr>
              <a:buFont typeface="+mj-lt"/>
              <a:buAutoNum type="arabicPeriod"/>
            </a:pPr>
            <a:r>
              <a:rPr lang="zh-CN" altLang="en-US" sz="3200" b="1" smtClean="0">
                <a:solidFill>
                  <a:srgbClr val="0000FF"/>
                </a:solidFill>
                <a:latin typeface="楷体" panose="02010609060101010101" charset="-122"/>
                <a:ea typeface="楷体" panose="02010609060101010101" charset="-122"/>
                <a:cs typeface="楷体" panose="02010609060101010101" charset="-122"/>
              </a:rPr>
              <a:t>净现值法</a:t>
            </a:r>
            <a:r>
              <a:rPr lang="zh-CN" altLang="en-US" b="1" smtClean="0">
                <a:solidFill>
                  <a:srgbClr val="0000FF"/>
                </a:solidFill>
                <a:latin typeface="楷体" panose="02010609060101010101" charset="-122"/>
                <a:ea typeface="楷体" panose="02010609060101010101" charset="-122"/>
                <a:cs typeface="楷体" panose="02010609060101010101" charset="-122"/>
              </a:rPr>
              <a:t>（</a:t>
            </a:r>
            <a:r>
              <a:rPr lang="en-US" altLang="en-US" b="1" smtClean="0">
                <a:solidFill>
                  <a:srgbClr val="0000FF"/>
                </a:solidFill>
                <a:latin typeface="楷体" panose="02010609060101010101" charset="-122"/>
                <a:ea typeface="楷体" panose="02010609060101010101" charset="-122"/>
                <a:cs typeface="楷体" panose="02010609060101010101" charset="-122"/>
              </a:rPr>
              <a:t>NPV </a:t>
            </a:r>
            <a:r>
              <a:rPr lang="zh-CN" altLang="en-US" b="1" smtClean="0">
                <a:solidFill>
                  <a:srgbClr val="0000FF"/>
                </a:solidFill>
                <a:latin typeface="楷体" panose="02010609060101010101" charset="-122"/>
                <a:ea typeface="楷体" panose="02010609060101010101" charset="-122"/>
                <a:cs typeface="楷体" panose="02010609060101010101" charset="-122"/>
              </a:rPr>
              <a:t>，</a:t>
            </a:r>
            <a:r>
              <a:rPr lang="en-US" altLang="en-US" b="1" smtClean="0">
                <a:solidFill>
                  <a:srgbClr val="0000FF"/>
                </a:solidFill>
                <a:latin typeface="楷体" panose="02010609060101010101" charset="-122"/>
                <a:ea typeface="楷体" panose="02010609060101010101" charset="-122"/>
                <a:cs typeface="楷体" panose="02010609060101010101" charset="-122"/>
              </a:rPr>
              <a:t>Net Present Value</a:t>
            </a:r>
            <a:r>
              <a:rPr lang="zh-CN" altLang="en-US" b="1" smtClean="0">
                <a:solidFill>
                  <a:srgbClr val="0000FF"/>
                </a:solidFill>
                <a:latin typeface="楷体" panose="02010609060101010101" charset="-122"/>
                <a:ea typeface="楷体" panose="02010609060101010101" charset="-122"/>
                <a:cs typeface="楷体" panose="02010609060101010101" charset="-122"/>
              </a:rPr>
              <a:t>）</a:t>
            </a:r>
            <a:endParaRPr lang="en-US" altLang="zh-CN" b="1" smtClean="0">
              <a:solidFill>
                <a:srgbClr val="0000FF"/>
              </a:solidFill>
              <a:latin typeface="楷体" panose="02010609060101010101" charset="-122"/>
              <a:ea typeface="楷体" panose="02010609060101010101" charset="-122"/>
              <a:cs typeface="楷体" panose="02010609060101010101" charset="-122"/>
            </a:endParaRPr>
          </a:p>
          <a:p>
            <a:pPr marL="971550" lvl="1" indent="-514350">
              <a:spcBef>
                <a:spcPts val="600"/>
              </a:spcBef>
              <a:spcAft>
                <a:spcPts val="600"/>
              </a:spcAft>
              <a:buClr>
                <a:srgbClr val="0000FF"/>
              </a:buClr>
              <a:buFont typeface="+mj-lt"/>
              <a:buAutoNum type="arabicPeriod"/>
            </a:pPr>
            <a:r>
              <a:rPr lang="zh-CN" altLang="en-US" sz="3200" b="1" smtClean="0">
                <a:solidFill>
                  <a:srgbClr val="0000FF"/>
                </a:solidFill>
                <a:latin typeface="楷体" panose="02010609060101010101" charset="-122"/>
                <a:ea typeface="楷体" panose="02010609060101010101" charset="-122"/>
                <a:cs typeface="楷体" panose="02010609060101010101" charset="-122"/>
              </a:rPr>
              <a:t>现值指数法</a:t>
            </a:r>
            <a:r>
              <a:rPr lang="en-US" altLang="en-US" sz="3200" b="1" smtClean="0">
                <a:solidFill>
                  <a:srgbClr val="0000FF"/>
                </a:solidFill>
                <a:latin typeface="楷体" panose="02010609060101010101" charset="-122"/>
                <a:ea typeface="楷体" panose="02010609060101010101" charset="-122"/>
                <a:cs typeface="楷体" panose="02010609060101010101" charset="-122"/>
              </a:rPr>
              <a:t>(</a:t>
            </a:r>
            <a:r>
              <a:rPr lang="en-US" altLang="en-US" b="1" smtClean="0">
                <a:solidFill>
                  <a:srgbClr val="0000FF"/>
                </a:solidFill>
                <a:latin typeface="楷体" panose="02010609060101010101" charset="-122"/>
                <a:ea typeface="楷体" panose="02010609060101010101" charset="-122"/>
                <a:cs typeface="楷体" panose="02010609060101010101" charset="-122"/>
              </a:rPr>
              <a:t>Profitability Index)</a:t>
            </a:r>
            <a:endParaRPr lang="en-US" altLang="zh-CN" b="1" smtClean="0">
              <a:solidFill>
                <a:srgbClr val="0000FF"/>
              </a:solidFill>
              <a:latin typeface="楷体" panose="02010609060101010101" charset="-122"/>
              <a:ea typeface="楷体" panose="02010609060101010101" charset="-122"/>
              <a:cs typeface="楷体" panose="02010609060101010101" charset="-122"/>
            </a:endParaRPr>
          </a:p>
          <a:p>
            <a:pPr marL="971550" lvl="1" indent="-514350">
              <a:spcBef>
                <a:spcPts val="600"/>
              </a:spcBef>
              <a:spcAft>
                <a:spcPts val="600"/>
              </a:spcAft>
              <a:buClr>
                <a:srgbClr val="0000FF"/>
              </a:buClr>
              <a:buFont typeface="+mj-lt"/>
              <a:buAutoNum type="arabicPeriod"/>
            </a:pPr>
            <a:r>
              <a:rPr lang="zh-CN" altLang="en-US" sz="3200" b="1" smtClean="0">
                <a:solidFill>
                  <a:srgbClr val="0000FF"/>
                </a:solidFill>
                <a:latin typeface="楷体" panose="02010609060101010101" charset="-122"/>
                <a:ea typeface="楷体" panose="02010609060101010101" charset="-122"/>
                <a:cs typeface="楷体" panose="02010609060101010101" charset="-122"/>
              </a:rPr>
              <a:t>内含报酬率法</a:t>
            </a:r>
            <a:r>
              <a:rPr lang="zh-CN" altLang="en-US" b="1" smtClean="0">
                <a:solidFill>
                  <a:srgbClr val="0000FF"/>
                </a:solidFill>
                <a:latin typeface="楷体" panose="02010609060101010101" charset="-122"/>
                <a:ea typeface="楷体" panose="02010609060101010101" charset="-122"/>
                <a:cs typeface="楷体" panose="02010609060101010101" charset="-122"/>
              </a:rPr>
              <a:t>（</a:t>
            </a:r>
            <a:r>
              <a:rPr lang="en-US" altLang="en-US" b="1" smtClean="0">
                <a:solidFill>
                  <a:srgbClr val="0000FF"/>
                </a:solidFill>
                <a:latin typeface="楷体" panose="02010609060101010101" charset="-122"/>
                <a:ea typeface="楷体" panose="02010609060101010101" charset="-122"/>
                <a:cs typeface="楷体" panose="02010609060101010101" charset="-122"/>
              </a:rPr>
              <a:t>RInternal Rate of Return</a:t>
            </a:r>
            <a:r>
              <a:rPr lang="zh-CN" altLang="en-US" b="1" smtClean="0">
                <a:solidFill>
                  <a:srgbClr val="0000FF"/>
                </a:solidFill>
                <a:latin typeface="楷体" panose="02010609060101010101" charset="-122"/>
                <a:ea typeface="楷体" panose="02010609060101010101" charset="-122"/>
                <a:cs typeface="楷体" panose="02010609060101010101" charset="-122"/>
              </a:rPr>
              <a:t>，</a:t>
            </a:r>
            <a:r>
              <a:rPr lang="en-US" altLang="en-US" b="1" smtClean="0">
                <a:solidFill>
                  <a:srgbClr val="0000FF"/>
                </a:solidFill>
                <a:latin typeface="楷体" panose="02010609060101010101" charset="-122"/>
                <a:ea typeface="楷体" panose="02010609060101010101" charset="-122"/>
                <a:cs typeface="楷体" panose="02010609060101010101" charset="-122"/>
              </a:rPr>
              <a:t>IR</a:t>
            </a:r>
            <a:r>
              <a:rPr lang="zh-CN" altLang="en-US" b="1" smtClean="0">
                <a:solidFill>
                  <a:srgbClr val="0000FF"/>
                </a:solidFill>
                <a:latin typeface="楷体" panose="02010609060101010101" charset="-122"/>
                <a:ea typeface="楷体" panose="02010609060101010101" charset="-122"/>
                <a:cs typeface="楷体" panose="02010609060101010101" charset="-122"/>
              </a:rPr>
              <a:t>）</a:t>
            </a:r>
            <a:endParaRPr lang="zh-CN" altLang="en-US" b="1" smtClean="0">
              <a:solidFill>
                <a:srgbClr val="0000FF"/>
              </a:solidFill>
              <a:latin typeface="楷体" panose="02010609060101010101" charset="-122"/>
              <a:ea typeface="楷体" panose="02010609060101010101" charset="-122"/>
              <a:cs typeface="楷体" panose="02010609060101010101" charset="-122"/>
            </a:endParaRPr>
          </a:p>
        </p:txBody>
      </p:sp>
      <p:sp>
        <p:nvSpPr>
          <p:cNvPr id="47114" name="Rectangle 10"/>
          <p:cNvSpPr>
            <a:spLocks noChangeArrowheads="1"/>
          </p:cNvSpPr>
          <p:nvPr/>
        </p:nvSpPr>
        <p:spPr bwMode="auto">
          <a:xfrm>
            <a:off x="103188" y="620713"/>
            <a:ext cx="5405437" cy="553085"/>
          </a:xfrm>
          <a:prstGeom prst="rect">
            <a:avLst/>
          </a:prstGeom>
          <a:noFill/>
          <a:ln w="9525">
            <a:noFill/>
            <a:miter lim="800000"/>
          </a:ln>
        </p:spPr>
        <p:txBody>
          <a:bodyPr>
            <a:spAutoFit/>
          </a:bodyPr>
          <a:lstStyle/>
          <a:p>
            <a:r>
              <a:rPr kumimoji="0" lang="en-US" altLang="en-US" sz="3000" b="1" smtClean="0"/>
              <a:t>6.6</a:t>
            </a:r>
            <a:r>
              <a:rPr kumimoji="0" lang="en-US" altLang="en-US" sz="3000" b="1" smtClean="0">
                <a:latin typeface="楷体" panose="02010609060101010101" charset="-122"/>
                <a:ea typeface="楷体" panose="02010609060101010101" charset="-122"/>
              </a:rPr>
              <a:t>项目成本效益分析</a:t>
            </a:r>
            <a:endParaRPr kumimoji="0" lang="en-US" altLang="en-US" sz="3000" b="1">
              <a:latin typeface="楷体" panose="02010609060101010101" charset="-122"/>
              <a:ea typeface="楷体" panose="02010609060101010101" charset="-122"/>
            </a:endParaRPr>
          </a:p>
        </p:txBody>
      </p:sp>
      <p:sp>
        <p:nvSpPr>
          <p:cNvPr id="47115" name="Rectangle 11"/>
          <p:cNvSpPr>
            <a:spLocks noChangeArrowheads="1"/>
          </p:cNvSpPr>
          <p:nvPr/>
        </p:nvSpPr>
        <p:spPr bwMode="auto">
          <a:xfrm>
            <a:off x="323850" y="1341438"/>
            <a:ext cx="4200525" cy="521970"/>
          </a:xfrm>
          <a:prstGeom prst="rect">
            <a:avLst/>
          </a:prstGeom>
          <a:noFill/>
          <a:ln w="9525">
            <a:noFill/>
            <a:miter lim="800000"/>
          </a:ln>
        </p:spPr>
        <p:txBody>
          <a:bodyPr wrap="none">
            <a:spAutoFit/>
          </a:bodyPr>
          <a:lstStyle/>
          <a:p>
            <a:r>
              <a:rPr kumimoji="0" lang="en-US" altLang="en-US" b="1" smtClean="0">
                <a:solidFill>
                  <a:srgbClr val="FF0000"/>
                </a:solidFill>
                <a:ea typeface="楷体_GB2312" pitchFamily="49" charset="-122"/>
              </a:rPr>
              <a:t>6.6.2 </a:t>
            </a:r>
            <a:r>
              <a:rPr kumimoji="0" lang="en-US" altLang="en-US" b="1" smtClean="0">
                <a:solidFill>
                  <a:srgbClr val="FF0000"/>
                </a:solidFill>
                <a:latin typeface="楷体" panose="02010609060101010101" charset="-122"/>
                <a:ea typeface="楷体" panose="02010609060101010101" charset="-122"/>
              </a:rPr>
              <a:t>成本效益分析的</a:t>
            </a:r>
            <a:r>
              <a:rPr kumimoji="0" lang="zh-CN" altLang="en-US" b="1" smtClean="0">
                <a:solidFill>
                  <a:srgbClr val="FF0000"/>
                </a:solidFill>
                <a:latin typeface="楷体" panose="02010609060101010101" charset="-122"/>
                <a:ea typeface="楷体" panose="02010609060101010101" charset="-122"/>
              </a:rPr>
              <a:t>方法</a:t>
            </a:r>
            <a:endParaRPr kumimoji="0" lang="zh-CN" altLang="en-US" b="1" smtClean="0">
              <a:solidFill>
                <a:srgbClr val="FF0000"/>
              </a:solidFill>
              <a:latin typeface="楷体" panose="02010609060101010101" charset="-122"/>
              <a:ea typeface="楷体" panose="0201060906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0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10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10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9"/>
          <p:cNvSpPr>
            <a:spLocks noGrp="1" noChangeArrowheads="1"/>
          </p:cNvSpPr>
          <p:nvPr>
            <p:ph type="sldNum" sz="quarter" idx="10"/>
          </p:nvPr>
        </p:nvSpPr>
        <p:spPr>
          <a:noFill/>
        </p:spPr>
        <p:txBody>
          <a:bodyPr/>
          <a:lstStyle/>
          <a:p>
            <a:r>
              <a:rPr lang="zh-CN" altLang="en-GB" smtClean="0"/>
              <a:t>  </a:t>
            </a:r>
            <a:fld id="{D47A5027-02D1-4A87-8EDC-4B2D40DED619}" type="slidenum">
              <a:rPr lang="zh-CN" altLang="en-GB" smtClean="0"/>
            </a:fld>
            <a:endParaRPr lang="en-US" altLang="zh-CN" smtClean="0"/>
          </a:p>
        </p:txBody>
      </p:sp>
      <p:sp>
        <p:nvSpPr>
          <p:cNvPr id="47107"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lgn="r">
              <a:spcBef>
                <a:spcPct val="50000"/>
              </a:spcBef>
            </a:pPr>
            <a:r>
              <a:rPr lang="en-US" altLang="zh-CN" sz="2400" b="1" smtClean="0">
                <a:solidFill>
                  <a:schemeClr val="bg2"/>
                </a:solidFill>
              </a:rPr>
              <a:t>P.151</a:t>
            </a:r>
            <a:endParaRPr lang="en-US" altLang="zh-CN" sz="2400" b="1">
              <a:solidFill>
                <a:schemeClr val="bg2"/>
              </a:solidFill>
            </a:endParaRPr>
          </a:p>
        </p:txBody>
      </p:sp>
      <p:sp>
        <p:nvSpPr>
          <p:cNvPr id="47108" name="Text Box 4"/>
          <p:cNvSpPr txBox="1">
            <a:spLocks noChangeArrowheads="1"/>
          </p:cNvSpPr>
          <p:nvPr/>
        </p:nvSpPr>
        <p:spPr bwMode="auto">
          <a:xfrm>
            <a:off x="1" y="1812925"/>
            <a:ext cx="9144000" cy="609398"/>
          </a:xfrm>
          <a:prstGeom prst="rect">
            <a:avLst/>
          </a:prstGeom>
          <a:noFill/>
          <a:ln w="9525" algn="ctr">
            <a:noFill/>
            <a:miter lim="800000"/>
          </a:ln>
        </p:spPr>
        <p:txBody>
          <a:bodyPr wrap="square">
            <a:spAutoFit/>
          </a:bodyPr>
          <a:lstStyle/>
          <a:p>
            <a:pPr>
              <a:lnSpc>
                <a:spcPct val="120000"/>
              </a:lnSpc>
              <a:spcBef>
                <a:spcPct val="5000"/>
              </a:spcBef>
              <a:buClr>
                <a:srgbClr val="FF0000"/>
              </a:buClr>
            </a:pPr>
            <a:r>
              <a:rPr kumimoji="0" lang="zh-CN" altLang="en-US" b="1" smtClean="0">
                <a:solidFill>
                  <a:srgbClr val="339966"/>
                </a:solidFill>
                <a:latin typeface="黑体" panose="02010609060101010101" pitchFamily="2" charset="-122"/>
                <a:ea typeface="黑体" panose="02010609060101010101" pitchFamily="2" charset="-122"/>
              </a:rPr>
              <a:t>净现值</a:t>
            </a:r>
            <a:r>
              <a:rPr kumimoji="0" lang="zh-CN" altLang="en-US" b="1">
                <a:solidFill>
                  <a:srgbClr val="339966"/>
                </a:solidFill>
                <a:latin typeface="黑体" panose="02010609060101010101" pitchFamily="2" charset="-122"/>
                <a:ea typeface="黑体" panose="02010609060101010101" pitchFamily="2" charset="-122"/>
              </a:rPr>
              <a:t>法、现值指数法和内含报酬率</a:t>
            </a:r>
            <a:r>
              <a:rPr kumimoji="0" lang="zh-CN" altLang="en-US" b="1" smtClean="0">
                <a:solidFill>
                  <a:srgbClr val="339966"/>
                </a:solidFill>
                <a:latin typeface="黑体" panose="02010609060101010101" pitchFamily="2" charset="-122"/>
                <a:ea typeface="黑体" panose="02010609060101010101" pitchFamily="2" charset="-122"/>
              </a:rPr>
              <a:t>法的</a:t>
            </a:r>
            <a:r>
              <a:rPr kumimoji="0" lang="zh-CN" altLang="en-US" b="1">
                <a:solidFill>
                  <a:srgbClr val="339966"/>
                </a:solidFill>
                <a:latin typeface="黑体" panose="02010609060101010101" pitchFamily="2" charset="-122"/>
                <a:ea typeface="黑体" panose="02010609060101010101" pitchFamily="2" charset="-122"/>
              </a:rPr>
              <a:t>差异</a:t>
            </a:r>
            <a:r>
              <a:rPr kumimoji="0" lang="zh-CN" altLang="en-US" b="1" smtClean="0">
                <a:solidFill>
                  <a:srgbClr val="339966"/>
                </a:solidFill>
                <a:latin typeface="黑体" panose="02010609060101010101" pitchFamily="2" charset="-122"/>
                <a:ea typeface="黑体" panose="02010609060101010101" pitchFamily="2" charset="-122"/>
              </a:rPr>
              <a:t>如表所示：</a:t>
            </a:r>
            <a:endParaRPr kumimoji="0" lang="zh-CN" altLang="en-US" b="1">
              <a:solidFill>
                <a:srgbClr val="339966"/>
              </a:solidFill>
              <a:latin typeface="黑体" panose="02010609060101010101" pitchFamily="2" charset="-122"/>
              <a:ea typeface="黑体" panose="02010609060101010101" pitchFamily="2" charset="-122"/>
            </a:endParaRPr>
          </a:p>
        </p:txBody>
      </p:sp>
      <p:grpSp>
        <p:nvGrpSpPr>
          <p:cNvPr id="12" name="组合 11"/>
          <p:cNvGrpSpPr/>
          <p:nvPr/>
        </p:nvGrpSpPr>
        <p:grpSpPr>
          <a:xfrm>
            <a:off x="539750" y="2500306"/>
            <a:ext cx="8353425" cy="3881444"/>
            <a:chOff x="539750" y="2852738"/>
            <a:chExt cx="8353425" cy="3529012"/>
          </a:xfrm>
        </p:grpSpPr>
        <p:pic>
          <p:nvPicPr>
            <p:cNvPr id="47109" name="Picture 5" descr="表6-6 净现值法、现值指数法和内含报酬率法的异同"/>
            <p:cNvPicPr>
              <a:picLocks noChangeAspect="1" noChangeArrowheads="1"/>
            </p:cNvPicPr>
            <p:nvPr/>
          </p:nvPicPr>
          <p:blipFill>
            <a:blip r:embed="rId1" cstate="print"/>
            <a:srcRect/>
            <a:stretch>
              <a:fillRect/>
            </a:stretch>
          </p:blipFill>
          <p:spPr bwMode="auto">
            <a:xfrm>
              <a:off x="539750" y="2852738"/>
              <a:ext cx="8353425" cy="3529012"/>
            </a:xfrm>
            <a:prstGeom prst="rect">
              <a:avLst/>
            </a:prstGeom>
            <a:noFill/>
            <a:ln w="9525">
              <a:noFill/>
              <a:miter lim="800000"/>
              <a:headEnd/>
              <a:tailEnd/>
            </a:ln>
          </p:spPr>
        </p:pic>
        <p:sp>
          <p:nvSpPr>
            <p:cNvPr id="47110" name="Line 6"/>
            <p:cNvSpPr>
              <a:spLocks noChangeShapeType="1"/>
            </p:cNvSpPr>
            <p:nvPr/>
          </p:nvSpPr>
          <p:spPr bwMode="auto">
            <a:xfrm>
              <a:off x="1547813" y="2852738"/>
              <a:ext cx="0" cy="2735262"/>
            </a:xfrm>
            <a:prstGeom prst="line">
              <a:avLst/>
            </a:prstGeom>
            <a:noFill/>
            <a:ln w="19050">
              <a:solidFill>
                <a:srgbClr val="FF00FF"/>
              </a:solidFill>
              <a:round/>
            </a:ln>
          </p:spPr>
          <p:txBody>
            <a:bodyPr>
              <a:spAutoFit/>
            </a:bodyPr>
            <a:lstStyle/>
            <a:p>
              <a:endParaRPr lang="zh-CN" altLang="en-US"/>
            </a:p>
          </p:txBody>
        </p:sp>
        <p:sp>
          <p:nvSpPr>
            <p:cNvPr id="47111" name="Line 7"/>
            <p:cNvSpPr>
              <a:spLocks noChangeShapeType="1"/>
            </p:cNvSpPr>
            <p:nvPr/>
          </p:nvSpPr>
          <p:spPr bwMode="auto">
            <a:xfrm>
              <a:off x="3924300" y="2852738"/>
              <a:ext cx="0" cy="2735262"/>
            </a:xfrm>
            <a:prstGeom prst="line">
              <a:avLst/>
            </a:prstGeom>
            <a:noFill/>
            <a:ln w="19050">
              <a:solidFill>
                <a:srgbClr val="FF00FF"/>
              </a:solidFill>
              <a:round/>
            </a:ln>
          </p:spPr>
          <p:txBody>
            <a:bodyPr>
              <a:spAutoFit/>
            </a:bodyPr>
            <a:lstStyle/>
            <a:p>
              <a:endParaRPr lang="zh-CN" altLang="en-US"/>
            </a:p>
          </p:txBody>
        </p:sp>
        <p:sp>
          <p:nvSpPr>
            <p:cNvPr id="47112" name="Line 8"/>
            <p:cNvSpPr>
              <a:spLocks noChangeShapeType="1"/>
            </p:cNvSpPr>
            <p:nvPr/>
          </p:nvSpPr>
          <p:spPr bwMode="auto">
            <a:xfrm>
              <a:off x="6300788" y="2852738"/>
              <a:ext cx="0" cy="2735262"/>
            </a:xfrm>
            <a:prstGeom prst="line">
              <a:avLst/>
            </a:prstGeom>
            <a:noFill/>
            <a:ln w="19050">
              <a:solidFill>
                <a:srgbClr val="FF00FF"/>
              </a:solidFill>
              <a:round/>
            </a:ln>
          </p:spPr>
          <p:txBody>
            <a:bodyPr>
              <a:spAutoFit/>
            </a:bodyPr>
            <a:lstStyle/>
            <a:p>
              <a:endParaRPr lang="zh-CN" altLang="en-US"/>
            </a:p>
          </p:txBody>
        </p:sp>
      </p:grpSp>
      <p:sp>
        <p:nvSpPr>
          <p:cNvPr id="47114" name="Rectangle 10"/>
          <p:cNvSpPr>
            <a:spLocks noChangeArrowheads="1"/>
          </p:cNvSpPr>
          <p:nvPr/>
        </p:nvSpPr>
        <p:spPr bwMode="auto">
          <a:xfrm>
            <a:off x="103188" y="620713"/>
            <a:ext cx="5405437" cy="553085"/>
          </a:xfrm>
          <a:prstGeom prst="rect">
            <a:avLst/>
          </a:prstGeom>
          <a:noFill/>
          <a:ln w="9525">
            <a:noFill/>
            <a:miter lim="800000"/>
          </a:ln>
        </p:spPr>
        <p:txBody>
          <a:bodyPr>
            <a:spAutoFit/>
          </a:bodyPr>
          <a:lstStyle/>
          <a:p>
            <a:r>
              <a:rPr kumimoji="0" lang="en-US" altLang="en-US" sz="3000" b="1"/>
              <a:t>6.5</a:t>
            </a:r>
            <a:r>
              <a:rPr kumimoji="0" lang="en-US" altLang="en-US" sz="3000" b="1">
                <a:latin typeface="楷体" panose="02010609060101010101" charset="-122"/>
                <a:ea typeface="楷体" panose="02010609060101010101" charset="-122"/>
              </a:rPr>
              <a:t>项目成本效益分析</a:t>
            </a:r>
            <a:endParaRPr kumimoji="0" lang="en-US" altLang="en-US" sz="3000" b="1">
              <a:latin typeface="楷体" panose="02010609060101010101" charset="-122"/>
              <a:ea typeface="楷体" panose="02010609060101010101" charset="-122"/>
            </a:endParaRPr>
          </a:p>
        </p:txBody>
      </p:sp>
      <p:sp>
        <p:nvSpPr>
          <p:cNvPr id="47115" name="Rectangle 11"/>
          <p:cNvSpPr>
            <a:spLocks noChangeArrowheads="1"/>
          </p:cNvSpPr>
          <p:nvPr/>
        </p:nvSpPr>
        <p:spPr bwMode="auto">
          <a:xfrm>
            <a:off x="323850" y="1341438"/>
            <a:ext cx="4558030" cy="521970"/>
          </a:xfrm>
          <a:prstGeom prst="rect">
            <a:avLst/>
          </a:prstGeom>
          <a:noFill/>
          <a:ln w="9525">
            <a:noFill/>
            <a:miter lim="800000"/>
          </a:ln>
        </p:spPr>
        <p:txBody>
          <a:bodyPr wrap="none">
            <a:spAutoFit/>
          </a:bodyPr>
          <a:lstStyle/>
          <a:p>
            <a:r>
              <a:rPr kumimoji="0" lang="en-US" altLang="en-US" b="1">
                <a:solidFill>
                  <a:srgbClr val="FF0000"/>
                </a:solidFill>
                <a:ea typeface="楷体_GB2312" pitchFamily="49" charset="-122"/>
              </a:rPr>
              <a:t>6.5.1 </a:t>
            </a:r>
            <a:r>
              <a:rPr kumimoji="0" lang="en-US" altLang="en-US" b="1">
                <a:solidFill>
                  <a:srgbClr val="FF0000"/>
                </a:solidFill>
                <a:latin typeface="楷体" panose="02010609060101010101" charset="-122"/>
                <a:ea typeface="楷体" panose="02010609060101010101" charset="-122"/>
              </a:rPr>
              <a:t>成本效益分析的必要性</a:t>
            </a:r>
            <a:endParaRPr kumimoji="0" lang="en-US" altLang="en-US" b="1">
              <a:solidFill>
                <a:srgbClr val="FF0000"/>
              </a:solidFill>
              <a:latin typeface="楷体" panose="02010609060101010101" charset="-122"/>
              <a:ea typeface="楷体" panose="02010609060101010101" charset="-122"/>
            </a:endParaRPr>
          </a:p>
        </p:txBody>
      </p:sp>
    </p:spTree>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9"/>
          <p:cNvSpPr>
            <a:spLocks noGrp="1" noChangeArrowheads="1"/>
          </p:cNvSpPr>
          <p:nvPr>
            <p:ph type="sldNum" sz="quarter" idx="10"/>
          </p:nvPr>
        </p:nvSpPr>
        <p:spPr>
          <a:noFill/>
        </p:spPr>
        <p:txBody>
          <a:bodyPr/>
          <a:lstStyle/>
          <a:p>
            <a:r>
              <a:rPr lang="zh-CN" altLang="en-GB" smtClean="0"/>
              <a:t>  </a:t>
            </a:r>
            <a:fld id="{690684F6-8CDA-4575-AE54-9D9354A10F99}" type="slidenum">
              <a:rPr lang="zh-CN" altLang="en-GB" smtClean="0"/>
            </a:fld>
            <a:endParaRPr lang="en-US" altLang="zh-CN" smtClean="0"/>
          </a:p>
        </p:txBody>
      </p:sp>
      <p:sp>
        <p:nvSpPr>
          <p:cNvPr id="55300" name="Text Box 3"/>
          <p:cNvSpPr txBox="1">
            <a:spLocks noChangeArrowheads="1"/>
          </p:cNvSpPr>
          <p:nvPr/>
        </p:nvSpPr>
        <p:spPr bwMode="auto">
          <a:xfrm>
            <a:off x="2700338" y="1285860"/>
            <a:ext cx="6192837" cy="2055813"/>
          </a:xfrm>
          <a:prstGeom prst="rect">
            <a:avLst/>
          </a:prstGeom>
          <a:noFill/>
          <a:ln w="9525">
            <a:noFill/>
            <a:miter lim="800000"/>
          </a:ln>
        </p:spPr>
        <p:txBody>
          <a:bodyPr>
            <a:spAutoFit/>
          </a:bodyPr>
          <a:lstStyle/>
          <a:p>
            <a:pPr algn="r">
              <a:spcBef>
                <a:spcPct val="40000"/>
              </a:spcBef>
            </a:pPr>
            <a:r>
              <a:rPr kumimoji="0" lang="zh-CN" altLang="en-US" b="1">
                <a:solidFill>
                  <a:srgbClr val="000066"/>
                </a:solidFill>
              </a:rPr>
              <a:t>软件成本估算</a:t>
            </a:r>
            <a:r>
              <a:rPr kumimoji="0" lang="en-US" altLang="zh-CN" b="1">
                <a:solidFill>
                  <a:srgbClr val="000066"/>
                </a:solidFill>
              </a:rPr>
              <a:t>COCOMOⅡ</a:t>
            </a:r>
            <a:r>
              <a:rPr kumimoji="0" lang="zh-CN" altLang="en-US" b="1">
                <a:solidFill>
                  <a:srgbClr val="000066"/>
                </a:solidFill>
              </a:rPr>
              <a:t>模型方法</a:t>
            </a:r>
            <a:endParaRPr kumimoji="0" lang="zh-CN" altLang="en-US" b="1">
              <a:solidFill>
                <a:srgbClr val="000066"/>
              </a:solidFill>
            </a:endParaRPr>
          </a:p>
          <a:p>
            <a:pPr algn="r">
              <a:spcBef>
                <a:spcPct val="5000"/>
              </a:spcBef>
            </a:pPr>
            <a:endParaRPr kumimoji="0" lang="zh-CN" altLang="en-US" sz="2000" b="1">
              <a:solidFill>
                <a:schemeClr val="bg2"/>
              </a:solidFill>
            </a:endParaRPr>
          </a:p>
          <a:p>
            <a:pPr algn="r">
              <a:spcBef>
                <a:spcPct val="5000"/>
              </a:spcBef>
            </a:pPr>
            <a:r>
              <a:rPr kumimoji="0" lang="zh-CN" altLang="en-US" sz="2000" b="1">
                <a:solidFill>
                  <a:schemeClr val="bg2"/>
                </a:solidFill>
              </a:rPr>
              <a:t>作者</a:t>
            </a:r>
            <a:r>
              <a:rPr kumimoji="0" lang="en-US" altLang="zh-CN" sz="2000" b="1">
                <a:solidFill>
                  <a:schemeClr val="bg2"/>
                </a:solidFill>
              </a:rPr>
              <a:t>:(</a:t>
            </a:r>
            <a:r>
              <a:rPr kumimoji="0" lang="zh-CN" altLang="en-US" sz="2000" b="1">
                <a:solidFill>
                  <a:schemeClr val="bg2"/>
                </a:solidFill>
              </a:rPr>
              <a:t>美</a:t>
            </a:r>
            <a:r>
              <a:rPr kumimoji="0" lang="en-US" altLang="zh-CN" sz="2000" b="1" smtClean="0">
                <a:solidFill>
                  <a:schemeClr val="bg2"/>
                </a:solidFill>
              </a:rPr>
              <a:t>)</a:t>
            </a:r>
            <a:r>
              <a:rPr kumimoji="0" lang="zh-CN" altLang="en-US" sz="2000" b="1" smtClean="0">
                <a:solidFill>
                  <a:schemeClr val="bg2"/>
                </a:solidFill>
              </a:rPr>
              <a:t>　勃姆　</a:t>
            </a:r>
            <a:r>
              <a:rPr kumimoji="0" lang="en-US" altLang="zh-CN" sz="2000" b="1" smtClean="0">
                <a:solidFill>
                  <a:schemeClr val="bg2"/>
                </a:solidFill>
              </a:rPr>
              <a:t>(</a:t>
            </a:r>
            <a:r>
              <a:rPr kumimoji="0" lang="en-US" altLang="zh-CN" sz="2000" b="1">
                <a:solidFill>
                  <a:schemeClr val="bg2"/>
                </a:solidFill>
              </a:rPr>
              <a:t>Boehm B.W</a:t>
            </a:r>
            <a:r>
              <a:rPr kumimoji="0" lang="en-US" altLang="zh-CN" sz="2000" b="1" smtClean="0">
                <a:solidFill>
                  <a:schemeClr val="bg2"/>
                </a:solidFill>
              </a:rPr>
              <a:t>.)</a:t>
            </a:r>
            <a:r>
              <a:rPr kumimoji="0" lang="zh-CN" altLang="en-US" sz="2000" b="1" smtClean="0">
                <a:solidFill>
                  <a:schemeClr val="bg2"/>
                </a:solidFill>
              </a:rPr>
              <a:t>　</a:t>
            </a:r>
            <a:r>
              <a:rPr kumimoji="0" lang="en-US" altLang="zh-CN" sz="2000" b="1" smtClean="0">
                <a:solidFill>
                  <a:schemeClr val="bg2"/>
                </a:solidFill>
              </a:rPr>
              <a:t> </a:t>
            </a:r>
            <a:r>
              <a:rPr kumimoji="0" lang="zh-CN" altLang="en-US" sz="2000" b="1">
                <a:solidFill>
                  <a:schemeClr val="bg2"/>
                </a:solidFill>
              </a:rPr>
              <a:t>等  </a:t>
            </a:r>
            <a:endParaRPr kumimoji="0" lang="zh-CN" altLang="en-US" sz="2000" b="1">
              <a:solidFill>
                <a:schemeClr val="bg2"/>
              </a:solidFill>
            </a:endParaRPr>
          </a:p>
          <a:p>
            <a:pPr algn="r">
              <a:spcBef>
                <a:spcPct val="5000"/>
              </a:spcBef>
            </a:pPr>
            <a:r>
              <a:rPr kumimoji="0" lang="zh-CN" altLang="en-US" sz="2000" b="1">
                <a:solidFill>
                  <a:schemeClr val="bg2"/>
                </a:solidFill>
              </a:rPr>
              <a:t>译者</a:t>
            </a:r>
            <a:r>
              <a:rPr kumimoji="0" lang="en-US" altLang="zh-CN" sz="2000" b="1" smtClean="0">
                <a:solidFill>
                  <a:schemeClr val="bg2"/>
                </a:solidFill>
              </a:rPr>
              <a:t>:</a:t>
            </a:r>
            <a:r>
              <a:rPr kumimoji="0" lang="zh-CN" altLang="en-US" sz="2000" b="1" smtClean="0">
                <a:solidFill>
                  <a:schemeClr val="bg2"/>
                </a:solidFill>
              </a:rPr>
              <a:t>　李</a:t>
            </a:r>
            <a:r>
              <a:rPr kumimoji="0" lang="zh-CN" altLang="en-US" sz="2000" b="1">
                <a:solidFill>
                  <a:schemeClr val="bg2"/>
                </a:solidFill>
              </a:rPr>
              <a:t>师</a:t>
            </a:r>
            <a:r>
              <a:rPr kumimoji="0" lang="zh-CN" altLang="en-US" sz="2000" b="1" smtClean="0">
                <a:solidFill>
                  <a:schemeClr val="bg2"/>
                </a:solidFill>
              </a:rPr>
              <a:t>贤　 </a:t>
            </a:r>
            <a:r>
              <a:rPr kumimoji="0" lang="zh-CN" altLang="en-US" sz="2000" b="1">
                <a:solidFill>
                  <a:schemeClr val="bg2"/>
                </a:solidFill>
              </a:rPr>
              <a:t>杜云</a:t>
            </a:r>
            <a:r>
              <a:rPr kumimoji="0" lang="zh-CN" altLang="en-US" sz="2000" b="1" smtClean="0">
                <a:solidFill>
                  <a:schemeClr val="bg2"/>
                </a:solidFill>
              </a:rPr>
              <a:t>梅　 </a:t>
            </a:r>
            <a:r>
              <a:rPr kumimoji="0" lang="zh-CN" altLang="en-US" sz="2000" b="1">
                <a:solidFill>
                  <a:schemeClr val="bg2"/>
                </a:solidFill>
              </a:rPr>
              <a:t>等</a:t>
            </a:r>
            <a:r>
              <a:rPr kumimoji="0" lang="zh-CN" altLang="en-US"/>
              <a:t> </a:t>
            </a:r>
            <a:endParaRPr kumimoji="0" lang="zh-CN" altLang="en-US" b="1">
              <a:solidFill>
                <a:schemeClr val="bg2"/>
              </a:solidFill>
              <a:ea typeface="幼圆" panose="02010509060101010101" pitchFamily="49" charset="-122"/>
            </a:endParaRPr>
          </a:p>
          <a:p>
            <a:pPr algn="r">
              <a:spcBef>
                <a:spcPct val="5000"/>
              </a:spcBef>
            </a:pPr>
            <a:r>
              <a:rPr kumimoji="0" lang="zh-CN" altLang="en-US" b="1">
                <a:solidFill>
                  <a:schemeClr val="bg2"/>
                </a:solidFill>
              </a:rPr>
              <a:t>                         </a:t>
            </a:r>
            <a:r>
              <a:rPr kumimoji="0" lang="zh-CN" altLang="en-US" sz="2000" b="1">
                <a:solidFill>
                  <a:schemeClr val="bg2"/>
                </a:solidFill>
              </a:rPr>
              <a:t>机械工业出版社 ，</a:t>
            </a:r>
            <a:r>
              <a:rPr kumimoji="0" lang="en-US" altLang="zh-CN" sz="2000" b="1" smtClean="0">
                <a:solidFill>
                  <a:schemeClr val="bg2"/>
                </a:solidFill>
              </a:rPr>
              <a:t>2005</a:t>
            </a:r>
            <a:r>
              <a:rPr kumimoji="0" lang="zh-CN" altLang="en-US" sz="2000" b="1" smtClean="0">
                <a:solidFill>
                  <a:schemeClr val="bg2"/>
                </a:solidFill>
              </a:rPr>
              <a:t>　出版</a:t>
            </a:r>
            <a:endParaRPr kumimoji="0" lang="zh-CN" altLang="en-US" sz="2000" b="1">
              <a:solidFill>
                <a:schemeClr val="bg2"/>
              </a:solidFill>
            </a:endParaRPr>
          </a:p>
        </p:txBody>
      </p:sp>
      <p:sp>
        <p:nvSpPr>
          <p:cNvPr id="55301" name="Line 12"/>
          <p:cNvSpPr>
            <a:spLocks noChangeShapeType="1"/>
          </p:cNvSpPr>
          <p:nvPr/>
        </p:nvSpPr>
        <p:spPr bwMode="auto">
          <a:xfrm>
            <a:off x="0" y="3500438"/>
            <a:ext cx="9144000" cy="0"/>
          </a:xfrm>
          <a:prstGeom prst="line">
            <a:avLst/>
          </a:prstGeom>
          <a:noFill/>
          <a:ln w="57150" cmpd="thinThick">
            <a:solidFill>
              <a:srgbClr val="FF0000"/>
            </a:solidFill>
            <a:round/>
          </a:ln>
        </p:spPr>
        <p:txBody>
          <a:bodyPr/>
          <a:lstStyle/>
          <a:p>
            <a:endParaRPr lang="zh-CN" altLang="en-US"/>
          </a:p>
        </p:txBody>
      </p:sp>
      <p:sp>
        <p:nvSpPr>
          <p:cNvPr id="55302" name="Text Box 14"/>
          <p:cNvSpPr txBox="1">
            <a:spLocks noChangeArrowheads="1"/>
          </p:cNvSpPr>
          <p:nvPr/>
        </p:nvSpPr>
        <p:spPr bwMode="auto">
          <a:xfrm>
            <a:off x="107950" y="3617913"/>
            <a:ext cx="8964613" cy="2861310"/>
          </a:xfrm>
          <a:prstGeom prst="rect">
            <a:avLst/>
          </a:prstGeom>
          <a:noFill/>
          <a:ln w="9525" algn="ctr">
            <a:noFill/>
            <a:miter lim="800000"/>
          </a:ln>
        </p:spPr>
        <p:txBody>
          <a:bodyPr>
            <a:spAutoFit/>
          </a:bodyPr>
          <a:lstStyle/>
          <a:p>
            <a:pPr>
              <a:spcBef>
                <a:spcPts val="600"/>
              </a:spcBef>
              <a:spcAft>
                <a:spcPts val="600"/>
              </a:spcAft>
              <a:buClr>
                <a:srgbClr val="990000"/>
              </a:buClr>
              <a:buFont typeface="Wingdings" panose="05000000000000000000" pitchFamily="2" charset="2"/>
              <a:buChar char="l"/>
            </a:pPr>
            <a:r>
              <a:rPr lang="en-US" altLang="zh-CN" sz="2000" b="1">
                <a:solidFill>
                  <a:schemeClr val="bg2"/>
                </a:solidFill>
                <a:ea typeface="楷体" panose="02010609060101010101" charset="-122"/>
                <a:cs typeface="Times New Roman" panose="02020603050405020304" pitchFamily="18" charset="0"/>
              </a:rPr>
              <a:t>COCOMO</a:t>
            </a:r>
            <a:r>
              <a:rPr lang="zh-CN" altLang="en-US" sz="2000" b="1">
                <a:solidFill>
                  <a:schemeClr val="bg2"/>
                </a:solidFill>
                <a:ea typeface="楷体" panose="02010609060101010101" charset="-122"/>
                <a:cs typeface="Times New Roman" panose="02020603050405020304" pitchFamily="18" charset="0"/>
              </a:rPr>
              <a:t>（</a:t>
            </a:r>
            <a:r>
              <a:rPr lang="en-US" altLang="zh-CN" sz="2000" b="1">
                <a:solidFill>
                  <a:schemeClr val="bg2"/>
                </a:solidFill>
                <a:ea typeface="楷体" panose="02010609060101010101" charset="-122"/>
                <a:cs typeface="Times New Roman" panose="02020603050405020304" pitchFamily="18" charset="0"/>
              </a:rPr>
              <a:t>COnstructive COst MOdel</a:t>
            </a:r>
            <a:r>
              <a:rPr lang="zh-CN" altLang="en-US" sz="2000" b="1">
                <a:solidFill>
                  <a:schemeClr val="bg2"/>
                </a:solidFill>
                <a:latin typeface="楷体" panose="02010609060101010101" charset="-122"/>
                <a:ea typeface="楷体" panose="02010609060101010101" charset="-122"/>
                <a:cs typeface="楷体" panose="02010609060101010101" charset="-122"/>
              </a:rPr>
              <a:t>，构造性成本模型</a:t>
            </a:r>
            <a:r>
              <a:rPr lang="zh-CN" altLang="en-US" sz="2000" b="1">
                <a:solidFill>
                  <a:schemeClr val="bg2"/>
                </a:solidFill>
                <a:ea typeface="楷体" panose="02010609060101010101" charset="-122"/>
                <a:cs typeface="楷体" panose="02010609060101010101" charset="-122"/>
              </a:rPr>
              <a:t>）</a:t>
            </a:r>
            <a:r>
              <a:rPr lang="zh-CN" altLang="en-US" sz="2000" b="1">
                <a:solidFill>
                  <a:schemeClr val="bg2"/>
                </a:solidFill>
                <a:latin typeface="楷体" panose="02010609060101010101" charset="-122"/>
                <a:ea typeface="楷体" panose="02010609060101010101" charset="-122"/>
                <a:cs typeface="楷体" panose="02010609060101010101" charset="-122"/>
              </a:rPr>
              <a:t>是一种精确的、易于使用的基于模型的成本估算方法。</a:t>
            </a:r>
            <a:endParaRPr lang="zh-CN" altLang="en-US" sz="2000" b="1">
              <a:solidFill>
                <a:schemeClr val="bg2"/>
              </a:solidFill>
              <a:latin typeface="楷体" panose="02010609060101010101" charset="-122"/>
              <a:ea typeface="楷体" panose="02010609060101010101" charset="-122"/>
              <a:cs typeface="楷体" panose="02010609060101010101" charset="-122"/>
            </a:endParaRPr>
          </a:p>
          <a:p>
            <a:pPr>
              <a:spcBef>
                <a:spcPts val="600"/>
              </a:spcBef>
              <a:spcAft>
                <a:spcPts val="600"/>
              </a:spcAft>
              <a:buClr>
                <a:srgbClr val="990000"/>
              </a:buClr>
              <a:buFont typeface="Wingdings" panose="05000000000000000000" pitchFamily="2" charset="2"/>
              <a:buChar char="l"/>
            </a:pPr>
            <a:r>
              <a:rPr lang="en-US" altLang="zh-CN" sz="2000" b="1">
                <a:solidFill>
                  <a:schemeClr val="bg2"/>
                </a:solidFill>
                <a:ea typeface="楷体" panose="02010609060101010101" charset="-122"/>
                <a:cs typeface="Times New Roman" panose="02020603050405020304" pitchFamily="18" charset="0"/>
              </a:rPr>
              <a:t>COCOMO II</a:t>
            </a:r>
            <a:r>
              <a:rPr lang="zh-CN" altLang="en-US" sz="2000" b="1">
                <a:solidFill>
                  <a:schemeClr val="bg2"/>
                </a:solidFill>
                <a:latin typeface="楷体" panose="02010609060101010101" charset="-122"/>
                <a:ea typeface="楷体" panose="02010609060101010101" charset="-122"/>
                <a:cs typeface="楷体" panose="02010609060101010101" charset="-122"/>
              </a:rPr>
              <a:t>是对经典</a:t>
            </a:r>
            <a:r>
              <a:rPr lang="en-US" altLang="zh-CN" sz="2000" b="1">
                <a:solidFill>
                  <a:schemeClr val="bg2"/>
                </a:solidFill>
                <a:ea typeface="楷体" panose="02010609060101010101" charset="-122"/>
                <a:cs typeface="Times New Roman" panose="02020603050405020304" pitchFamily="18" charset="0"/>
              </a:rPr>
              <a:t>COCOM</a:t>
            </a:r>
            <a:r>
              <a:rPr lang="en-US" altLang="zh-CN" sz="2000" b="1">
                <a:solidFill>
                  <a:schemeClr val="bg2"/>
                </a:solidFill>
                <a:latin typeface="楷体" panose="02010609060101010101" charset="-122"/>
                <a:ea typeface="楷体" panose="02010609060101010101" charset="-122"/>
                <a:cs typeface="楷体" panose="02010609060101010101" charset="-122"/>
              </a:rPr>
              <a:t>O</a:t>
            </a:r>
            <a:r>
              <a:rPr lang="zh-CN" altLang="en-US" sz="2000" b="1">
                <a:solidFill>
                  <a:schemeClr val="bg2"/>
                </a:solidFill>
                <a:latin typeface="楷体" panose="02010609060101010101" charset="-122"/>
                <a:ea typeface="楷体" panose="02010609060101010101" charset="-122"/>
                <a:cs typeface="楷体" panose="02010609060101010101" charset="-122"/>
              </a:rPr>
              <a:t>模型的彻底更新，反映了现代软件过程与构造方法。本书由软件业中常常被人提及的、最有影响力的专家勃姆所著，他开创并发展了</a:t>
            </a:r>
            <a:r>
              <a:rPr lang="en-US" altLang="zh-CN" sz="2000" b="1">
                <a:solidFill>
                  <a:schemeClr val="bg2"/>
                </a:solidFill>
                <a:ea typeface="楷体" panose="02010609060101010101" charset="-122"/>
                <a:cs typeface="Times New Roman" panose="02020603050405020304" pitchFamily="18" charset="0"/>
              </a:rPr>
              <a:t>COCOMOⅡ</a:t>
            </a:r>
            <a:r>
              <a:rPr lang="zh-CN" altLang="en-US" sz="2000" b="1">
                <a:solidFill>
                  <a:schemeClr val="bg2"/>
                </a:solidFill>
                <a:latin typeface="楷体" panose="02010609060101010101" charset="-122"/>
                <a:ea typeface="楷体" panose="02010609060101010101" charset="-122"/>
                <a:cs typeface="楷体" panose="02010609060101010101" charset="-122"/>
              </a:rPr>
              <a:t>。</a:t>
            </a:r>
            <a:endParaRPr lang="zh-CN" altLang="en-US" sz="2000" b="1">
              <a:solidFill>
                <a:schemeClr val="bg2"/>
              </a:solidFill>
              <a:latin typeface="楷体" panose="02010609060101010101" charset="-122"/>
              <a:ea typeface="楷体" panose="02010609060101010101" charset="-122"/>
              <a:cs typeface="楷体" panose="02010609060101010101" charset="-122"/>
            </a:endParaRPr>
          </a:p>
          <a:p>
            <a:pPr>
              <a:spcBef>
                <a:spcPts val="600"/>
              </a:spcBef>
              <a:spcAft>
                <a:spcPts val="600"/>
              </a:spcAft>
              <a:buClr>
                <a:srgbClr val="990000"/>
              </a:buClr>
              <a:buFont typeface="Wingdings" panose="05000000000000000000" pitchFamily="2" charset="2"/>
              <a:buChar char="l"/>
            </a:pPr>
            <a:r>
              <a:rPr lang="zh-CN" altLang="en-US" sz="2000" b="1">
                <a:solidFill>
                  <a:schemeClr val="bg2"/>
                </a:solidFill>
                <a:latin typeface="楷体" panose="02010609060101010101" charset="-122"/>
                <a:ea typeface="楷体" panose="02010609060101010101" charset="-122"/>
                <a:cs typeface="楷体" panose="02010609060101010101" charset="-122"/>
              </a:rPr>
              <a:t>本书详细讲解如何利用</a:t>
            </a:r>
            <a:r>
              <a:rPr lang="en-US" altLang="zh-CN" sz="2000" b="1">
                <a:solidFill>
                  <a:schemeClr val="bg2"/>
                </a:solidFill>
                <a:ea typeface="楷体" panose="02010609060101010101" charset="-122"/>
                <a:cs typeface="Times New Roman" panose="02020603050405020304" pitchFamily="18" charset="0"/>
              </a:rPr>
              <a:t>COCOMO II</a:t>
            </a:r>
            <a:r>
              <a:rPr lang="zh-CN" altLang="en-US" sz="2000" b="1">
                <a:solidFill>
                  <a:schemeClr val="bg2"/>
                </a:solidFill>
                <a:latin typeface="楷体" panose="02010609060101010101" charset="-122"/>
                <a:ea typeface="楷体" panose="02010609060101010101" charset="-122"/>
                <a:cs typeface="楷体" panose="02010609060101010101" charset="-122"/>
              </a:rPr>
              <a:t>进行软件开发项目管理中的有效估算。书中用大量实例说明</a:t>
            </a:r>
            <a:r>
              <a:rPr lang="en-US" altLang="zh-CN" sz="2000" b="1">
                <a:solidFill>
                  <a:schemeClr val="bg2"/>
                </a:solidFill>
                <a:ea typeface="楷体" panose="02010609060101010101" charset="-122"/>
                <a:cs typeface="Times New Roman" panose="02020603050405020304" pitchFamily="18" charset="0"/>
              </a:rPr>
              <a:t>COCOMO II</a:t>
            </a:r>
            <a:r>
              <a:rPr lang="zh-CN" altLang="en-US" sz="2000" b="1">
                <a:solidFill>
                  <a:schemeClr val="bg2"/>
                </a:solidFill>
                <a:latin typeface="楷体" panose="02010609060101010101" charset="-122"/>
                <a:ea typeface="楷体" panose="02010609060101010101" charset="-122"/>
                <a:cs typeface="楷体" panose="02010609060101010101" charset="-122"/>
              </a:rPr>
              <a:t>的使用方法，涉及软件成本估算的各个方面，对我们很有帮助和启发。  </a:t>
            </a:r>
            <a:endParaRPr lang="zh-CN" altLang="en-US" sz="2000" b="1">
              <a:solidFill>
                <a:schemeClr val="bg2"/>
              </a:solidFill>
              <a:latin typeface="楷体" panose="02010609060101010101" charset="-122"/>
              <a:ea typeface="楷体" panose="02010609060101010101" charset="-122"/>
              <a:cs typeface="楷体" panose="02010609060101010101" charset="-122"/>
            </a:endParaRPr>
          </a:p>
        </p:txBody>
      </p:sp>
      <p:pic>
        <p:nvPicPr>
          <p:cNvPr id="55303" name="Picture 15" descr="2008216212730250621382438"/>
          <p:cNvPicPr>
            <a:picLocks noChangeAspect="1" noChangeArrowheads="1"/>
          </p:cNvPicPr>
          <p:nvPr/>
        </p:nvPicPr>
        <p:blipFill>
          <a:blip r:embed="rId1" cstate="print"/>
          <a:srcRect/>
          <a:stretch>
            <a:fillRect/>
          </a:stretch>
        </p:blipFill>
        <p:spPr bwMode="auto">
          <a:xfrm>
            <a:off x="539750" y="1341438"/>
            <a:ext cx="1800225" cy="2087562"/>
          </a:xfrm>
          <a:prstGeom prst="rect">
            <a:avLst/>
          </a:prstGeom>
          <a:noFill/>
          <a:ln w="19050">
            <a:solidFill>
              <a:srgbClr val="008000"/>
            </a:solidFill>
            <a:miter lim="800000"/>
            <a:headEnd/>
            <a:tailEnd/>
          </a:ln>
        </p:spPr>
      </p:pic>
      <p:sp>
        <p:nvSpPr>
          <p:cNvPr id="55304" name="Rectangle 16"/>
          <p:cNvSpPr>
            <a:spLocks noChangeArrowheads="1"/>
          </p:cNvSpPr>
          <p:nvPr/>
        </p:nvSpPr>
        <p:spPr bwMode="auto">
          <a:xfrm>
            <a:off x="103188" y="620713"/>
            <a:ext cx="5908675" cy="549275"/>
          </a:xfrm>
          <a:prstGeom prst="rect">
            <a:avLst/>
          </a:prstGeom>
          <a:noFill/>
          <a:ln w="9525">
            <a:noFill/>
            <a:miter lim="800000"/>
          </a:ln>
        </p:spPr>
        <p:txBody>
          <a:bodyPr>
            <a:spAutoFit/>
          </a:bodyPr>
          <a:lstStyle/>
          <a:p>
            <a:r>
              <a:rPr kumimoji="0" lang="en-US" altLang="en-US" sz="3000" b="1"/>
              <a:t>【推荐读物】</a:t>
            </a:r>
            <a:endParaRPr kumimoji="0" lang="en-US" altLang="en-US" sz="3000" b="1"/>
          </a:p>
        </p:txBody>
      </p:sp>
    </p:spTree>
  </p:cSld>
  <p:clrMapOvr>
    <a:masterClrMapping/>
  </p:clrMapOvr>
  <p:transition/>
  <p:timing>
    <p:tnLst>
      <p:par>
        <p:cTn id="1" dur="indefinite" restart="never" nodeType="tmRoot"/>
      </p:par>
    </p:tnLst>
  </p:timing>
</p:sld>
</file>

<file path=ppt/tags/tag1.xml><?xml version="1.0" encoding="utf-8"?>
<p:tagLst xmlns:p="http://schemas.openxmlformats.org/presentationml/2006/main">
  <p:tag name="commondata" val="eyJoZGlkIjoiZjc1YmY5ZjUyMDZkNDU5MDRiMDc3NWY5MmFkODIzZDgifQ=="/>
</p:tagLst>
</file>

<file path=ppt/theme/theme1.xml><?xml version="1.0" encoding="utf-8"?>
<a:theme xmlns:a="http://schemas.openxmlformats.org/drawingml/2006/main" name="Soaring">
  <a:themeElements>
    <a:clrScheme name="Soaring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fontScheme name="Soaring">
      <a:majorFont>
        <a:latin typeface="Arial"/>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r" defTabSz="914400" rtl="0" eaLnBrk="1" fontAlgn="base" latinLnBrk="0" hangingPunct="1">
          <a:lnSpc>
            <a:spcPct val="100000"/>
          </a:lnSpc>
          <a:spcBef>
            <a:spcPct val="50000"/>
          </a:spcBef>
          <a:spcAft>
            <a:spcPct val="0"/>
          </a:spcAft>
          <a:buClrTx/>
          <a:buSzTx/>
          <a:buFontTx/>
          <a:buNone/>
          <a:defRPr kumimoji="1" 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r" defTabSz="914400" rtl="0" eaLnBrk="1" fontAlgn="base" latinLnBrk="0" hangingPunct="1">
          <a:lnSpc>
            <a:spcPct val="100000"/>
          </a:lnSpc>
          <a:spcBef>
            <a:spcPct val="50000"/>
          </a:spcBef>
          <a:spcAft>
            <a:spcPct val="0"/>
          </a:spcAft>
          <a:buClrTx/>
          <a:buSzTx/>
          <a:buFontTx/>
          <a:buNone/>
          <a:defRPr kumimoji="1" 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Soaring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clrMap bg1="dk2" tx1="lt1" bg2="dk1" tx2="lt2" accent1="accent1" accent2="accent2" accent3="accent3" accent4="accent4" accent5="accent5" accent6="accent6" hlink="hlink" folHlink="folHlink"/>
    </a:extraClrScheme>
    <a:extraClrScheme>
      <a:clrScheme name="Soaring 2">
        <a:dk1>
          <a:srgbClr val="000000"/>
        </a:dk1>
        <a:lt1>
          <a:srgbClr val="FFFFFF"/>
        </a:lt1>
        <a:dk2>
          <a:srgbClr val="000000"/>
        </a:dk2>
        <a:lt2>
          <a:srgbClr val="CCECFF"/>
        </a:lt2>
        <a:accent1>
          <a:srgbClr val="6699FF"/>
        </a:accent1>
        <a:accent2>
          <a:srgbClr val="66CCFF"/>
        </a:accent2>
        <a:accent3>
          <a:srgbClr val="FFFFFF"/>
        </a:accent3>
        <a:accent4>
          <a:srgbClr val="000000"/>
        </a:accent4>
        <a:accent5>
          <a:srgbClr val="B8CAFF"/>
        </a:accent5>
        <a:accent6>
          <a:srgbClr val="5CB9E7"/>
        </a:accent6>
        <a:hlink>
          <a:srgbClr val="CC99FF"/>
        </a:hlink>
        <a:folHlink>
          <a:srgbClr val="00CCCC"/>
        </a:folHlink>
      </a:clrScheme>
      <a:clrMap bg1="lt1" tx1="dk1" bg2="lt2" tx2="dk2" accent1="accent1" accent2="accent2" accent3="accent3" accent4="accent4" accent5="accent5" accent6="accent6" hlink="hlink" folHlink="folHlink"/>
    </a:extraClrScheme>
    <a:extraClrScheme>
      <a:clrScheme name="Soaring 3">
        <a:dk1>
          <a:srgbClr val="000000"/>
        </a:dk1>
        <a:lt1>
          <a:srgbClr val="FFFFFF"/>
        </a:lt1>
        <a:dk2>
          <a:srgbClr val="000000"/>
        </a:dk2>
        <a:lt2>
          <a:srgbClr val="FFFFFF"/>
        </a:lt2>
        <a:accent1>
          <a:srgbClr val="CBCBCB"/>
        </a:accent1>
        <a:accent2>
          <a:srgbClr val="EAEAEA"/>
        </a:accent2>
        <a:accent3>
          <a:srgbClr val="FFFFFF"/>
        </a:accent3>
        <a:accent4>
          <a:srgbClr val="000000"/>
        </a:accent4>
        <a:accent5>
          <a:srgbClr val="E2E2E2"/>
        </a:accent5>
        <a:accent6>
          <a:srgbClr val="D4D4D4"/>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Soaring 4">
        <a:dk1>
          <a:srgbClr val="000000"/>
        </a:dk1>
        <a:lt1>
          <a:srgbClr val="FFFFFF"/>
        </a:lt1>
        <a:dk2>
          <a:srgbClr val="008080"/>
        </a:dk2>
        <a:lt2>
          <a:srgbClr val="FFCC66"/>
        </a:lt2>
        <a:accent1>
          <a:srgbClr val="0099CC"/>
        </a:accent1>
        <a:accent2>
          <a:srgbClr val="009999"/>
        </a:accent2>
        <a:accent3>
          <a:srgbClr val="AAC0C0"/>
        </a:accent3>
        <a:accent4>
          <a:srgbClr val="DADADA"/>
        </a:accent4>
        <a:accent5>
          <a:srgbClr val="AACAE2"/>
        </a:accent5>
        <a:accent6>
          <a:srgbClr val="008A8A"/>
        </a:accent6>
        <a:hlink>
          <a:srgbClr val="6600CC"/>
        </a:hlink>
        <a:folHlink>
          <a:srgbClr val="FFFF00"/>
        </a:folHlink>
      </a:clrScheme>
      <a:clrMap bg1="dk2" tx1="lt1" bg2="dk1" tx2="lt2" accent1="accent1" accent2="accent2" accent3="accent3" accent4="accent4" accent5="accent5" accent6="accent6" hlink="hlink" folHlink="folHlink"/>
    </a:extraClrScheme>
    <a:extraClrScheme>
      <a:clrScheme name="Soaring 5">
        <a:dk1>
          <a:srgbClr val="000000"/>
        </a:dk1>
        <a:lt1>
          <a:srgbClr val="FFFFFF"/>
        </a:lt1>
        <a:dk2>
          <a:srgbClr val="993300"/>
        </a:dk2>
        <a:lt2>
          <a:srgbClr val="FFCC66"/>
        </a:lt2>
        <a:accent1>
          <a:srgbClr val="FF6633"/>
        </a:accent1>
        <a:accent2>
          <a:srgbClr val="CC6600"/>
        </a:accent2>
        <a:accent3>
          <a:srgbClr val="CAADAA"/>
        </a:accent3>
        <a:accent4>
          <a:srgbClr val="DADADA"/>
        </a:accent4>
        <a:accent5>
          <a:srgbClr val="FFB8AD"/>
        </a:accent5>
        <a:accent6>
          <a:srgbClr val="B95C00"/>
        </a:accent6>
        <a:hlink>
          <a:srgbClr val="CC0000"/>
        </a:hlink>
        <a:folHlink>
          <a:srgbClr val="FFFF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Designs\Soaring.pot</Template>
  <TotalTime>0</TotalTime>
  <Words>7532</Words>
  <Application>WPS 演示</Application>
  <PresentationFormat>全屏显示(4:3)</PresentationFormat>
  <Paragraphs>654</Paragraphs>
  <Slides>51</Slides>
  <Notes>51</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51</vt:i4>
      </vt:variant>
    </vt:vector>
  </HeadingPairs>
  <TitlesOfParts>
    <vt:vector size="65" baseType="lpstr">
      <vt:lpstr>Arial</vt:lpstr>
      <vt:lpstr>宋体</vt:lpstr>
      <vt:lpstr>Wingdings</vt:lpstr>
      <vt:lpstr>Times New Roman</vt:lpstr>
      <vt:lpstr>隶书</vt:lpstr>
      <vt:lpstr>楷体_GB2312</vt:lpstr>
      <vt:lpstr>新宋体</vt:lpstr>
      <vt:lpstr>楷体</vt:lpstr>
      <vt:lpstr>微软雅黑</vt:lpstr>
      <vt:lpstr>黑体</vt:lpstr>
      <vt:lpstr>Wingdings</vt:lpstr>
      <vt:lpstr>Arial Unicode MS</vt:lpstr>
      <vt:lpstr>幼圆</vt:lpstr>
      <vt:lpstr>Soaring</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wrl@hnu.cn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IT项目管理</dc:title>
  <dc:creator>王如龙</dc:creator>
  <cp:keywords>驾驭 IT 项目 成本 效益  </cp:keywords>
  <dc:description>第2版  20141209于福州开始20141218长沙结束</dc:description>
  <dc:subject>第6章 驾驭IT项目成本</dc:subject>
  <cp:category>课件</cp:category>
  <cp:lastModifiedBy>newbq1haoytj</cp:lastModifiedBy>
  <cp:revision>804</cp:revision>
  <dcterms:created xsi:type="dcterms:W3CDTF">2113-01-01T00:00:00Z</dcterms:created>
  <dcterms:modified xsi:type="dcterms:W3CDTF">2024-05-05T23:56:17Z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C2C7614618B147CCA948DBCC95C49265_13</vt:lpwstr>
  </property>
  <property fmtid="{D5CDD505-2E9C-101B-9397-08002B2CF9AE}" pid="3" name="KSOProductBuildVer">
    <vt:lpwstr>2052-12.1.0.16417</vt:lpwstr>
  </property>
</Properties>
</file>