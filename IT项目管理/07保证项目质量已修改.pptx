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63"/>
  </p:handoutMasterIdLst>
  <p:sldIdLst>
    <p:sldId id="325" r:id="rId3"/>
    <p:sldId id="578" r:id="rId5"/>
    <p:sldId id="875" r:id="rId6"/>
    <p:sldId id="696" r:id="rId7"/>
    <p:sldId id="910" r:id="rId8"/>
    <p:sldId id="911" r:id="rId9"/>
    <p:sldId id="876" r:id="rId10"/>
    <p:sldId id="824" r:id="rId11"/>
    <p:sldId id="909" r:id="rId12"/>
    <p:sldId id="827" r:id="rId13"/>
    <p:sldId id="904" r:id="rId14"/>
    <p:sldId id="905" r:id="rId15"/>
    <p:sldId id="906" r:id="rId16"/>
    <p:sldId id="907" r:id="rId17"/>
    <p:sldId id="908" r:id="rId18"/>
    <p:sldId id="832" r:id="rId19"/>
    <p:sldId id="833" r:id="rId20"/>
    <p:sldId id="885" r:id="rId21"/>
    <p:sldId id="837" r:id="rId22"/>
    <p:sldId id="836" r:id="rId23"/>
    <p:sldId id="838" r:id="rId24"/>
    <p:sldId id="840" r:id="rId25"/>
    <p:sldId id="841" r:id="rId26"/>
    <p:sldId id="842" r:id="rId27"/>
    <p:sldId id="843" r:id="rId28"/>
    <p:sldId id="845" r:id="rId29"/>
    <p:sldId id="844" r:id="rId30"/>
    <p:sldId id="847" r:id="rId31"/>
    <p:sldId id="903" r:id="rId32"/>
    <p:sldId id="846" r:id="rId33"/>
    <p:sldId id="849" r:id="rId34"/>
    <p:sldId id="886" r:id="rId35"/>
    <p:sldId id="887" r:id="rId36"/>
    <p:sldId id="850" r:id="rId37"/>
    <p:sldId id="888" r:id="rId38"/>
    <p:sldId id="852" r:id="rId39"/>
    <p:sldId id="856" r:id="rId40"/>
    <p:sldId id="854" r:id="rId41"/>
    <p:sldId id="889" r:id="rId42"/>
    <p:sldId id="857" r:id="rId43"/>
    <p:sldId id="859" r:id="rId44"/>
    <p:sldId id="891" r:id="rId45"/>
    <p:sldId id="895" r:id="rId46"/>
    <p:sldId id="863" r:id="rId47"/>
    <p:sldId id="864" r:id="rId48"/>
    <p:sldId id="866" r:id="rId49"/>
    <p:sldId id="896" r:id="rId50"/>
    <p:sldId id="897" r:id="rId51"/>
    <p:sldId id="867" r:id="rId52"/>
    <p:sldId id="869" r:id="rId53"/>
    <p:sldId id="870" r:id="rId54"/>
    <p:sldId id="898" r:id="rId55"/>
    <p:sldId id="871" r:id="rId56"/>
    <p:sldId id="899" r:id="rId57"/>
    <p:sldId id="900" r:id="rId58"/>
    <p:sldId id="902" r:id="rId59"/>
    <p:sldId id="901" r:id="rId60"/>
    <p:sldId id="872" r:id="rId61"/>
    <p:sldId id="575" r:id="rId62"/>
  </p:sldIdLst>
  <p:sldSz cx="9144000" cy="6858000" type="screen4x3"/>
  <p:notesSz cx="6858000" cy="9144000"/>
  <p:custDataLst>
    <p:tags r:id="rId67"/>
  </p:custDataLst>
  <p:defaultTextStyle>
    <a:defPPr>
      <a:defRPr lang="en-US"/>
    </a:defPPr>
    <a:lvl1pPr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339966"/>
    <a:srgbClr val="FF99FF"/>
    <a:srgbClr val="FF33CC"/>
    <a:srgbClr val="990000"/>
    <a:srgbClr val="00CC00"/>
    <a:srgbClr val="333333"/>
    <a:srgbClr val="0080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9089" autoAdjust="0"/>
    <p:restoredTop sz="92985" autoAdjust="0"/>
  </p:normalViewPr>
  <p:slideViewPr>
    <p:cSldViewPr showGuides="1">
      <p:cViewPr>
        <p:scale>
          <a:sx n="53" d="100"/>
          <a:sy n="53" d="100"/>
        </p:scale>
        <p:origin x="-680" y="-140"/>
      </p:cViewPr>
      <p:guideLst>
        <p:guide orient="horz" pos="2191"/>
        <p:guide pos="29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72"/>
    </p:cViewPr>
  </p:sorterViewPr>
  <p:notesViewPr>
    <p:cSldViewPr>
      <p:cViewPr>
        <p:scale>
          <a:sx n="75" d="100"/>
          <a:sy n="75" d="100"/>
        </p:scale>
        <p:origin x="-1460" y="-48"/>
      </p:cViewPr>
      <p:guideLst>
        <p:guide orient="horz" pos="2922"/>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gs" Target="tags/tag1.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1">
                <a:solidFill>
                  <a:schemeClr val="bg2"/>
                </a:solidFill>
                <a:ea typeface="楷体_GB2312" pitchFamily="49" charset="-122"/>
              </a:defRPr>
            </a:lvl1pPr>
          </a:lstStyle>
          <a:p>
            <a:pPr>
              <a:defRPr/>
            </a:pPr>
            <a:endParaRPr lang="zh-CN" altLang="en-US"/>
          </a:p>
        </p:txBody>
      </p:sp>
      <p:sp>
        <p:nvSpPr>
          <p:cNvPr id="17305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200" b="1">
                <a:solidFill>
                  <a:schemeClr val="bg2"/>
                </a:solidFill>
                <a:ea typeface="楷体_GB2312" pitchFamily="49" charset="-122"/>
              </a:defRPr>
            </a:lvl1pPr>
          </a:lstStyle>
          <a:p>
            <a:pPr>
              <a:defRPr/>
            </a:pPr>
            <a:fld id="{302623AE-2D1B-42B5-9282-44776DA90C02}" type="datetime1">
              <a:rPr lang="zh-CN" altLang="en-US"/>
            </a:fld>
            <a:endParaRPr lang="en-US" altLang="zh-CN"/>
          </a:p>
        </p:txBody>
      </p:sp>
      <p:sp>
        <p:nvSpPr>
          <p:cNvPr id="17306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1">
                <a:solidFill>
                  <a:schemeClr val="bg2"/>
                </a:solidFill>
                <a:ea typeface="楷体_GB2312" pitchFamily="49" charset="-122"/>
              </a:defRPr>
            </a:lvl1pPr>
          </a:lstStyle>
          <a:p>
            <a:pPr>
              <a:defRPr/>
            </a:pPr>
            <a:endParaRPr lang="en-US" altLang="zh-CN"/>
          </a:p>
        </p:txBody>
      </p:sp>
      <p:sp>
        <p:nvSpPr>
          <p:cNvPr id="17306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sz="1200" b="1">
                <a:solidFill>
                  <a:schemeClr val="bg2"/>
                </a:solidFill>
                <a:ea typeface="楷体_GB2312" pitchFamily="49" charset="-122"/>
              </a:defRPr>
            </a:lvl1pPr>
          </a:lstStyle>
          <a:p>
            <a:pPr>
              <a:defRPr/>
            </a:pPr>
            <a:fld id="{A1F709DE-33A3-4334-8D96-C225ABBC9F3F}"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1">
                <a:solidFill>
                  <a:schemeClr val="bg2"/>
                </a:solidFill>
                <a:ea typeface="楷体_GB2312" pitchFamily="49" charset="-122"/>
              </a:defRPr>
            </a:lvl1pPr>
          </a:lstStyle>
          <a:p>
            <a:pPr>
              <a:defRPr/>
            </a:pPr>
            <a:endParaRPr lang="zh-CN" altLang="en-US"/>
          </a:p>
        </p:txBody>
      </p:sp>
      <p:sp>
        <p:nvSpPr>
          <p:cNvPr id="17101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200" b="1">
                <a:solidFill>
                  <a:schemeClr val="bg2"/>
                </a:solidFill>
                <a:ea typeface="楷体_GB2312" pitchFamily="49" charset="-122"/>
              </a:defRPr>
            </a:lvl1pPr>
          </a:lstStyle>
          <a:p>
            <a:pPr>
              <a:defRPr/>
            </a:pPr>
            <a:fld id="{8758489B-9B4F-4B8A-8C54-1878BD8D2310}" type="datetime1">
              <a:rPr lang="zh-CN" altLang="en-US"/>
            </a:fld>
            <a:endParaRPr lang="en-US" altLang="zh-CN"/>
          </a:p>
        </p:txBody>
      </p:sp>
      <p:sp>
        <p:nvSpPr>
          <p:cNvPr id="634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7101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7101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1">
                <a:solidFill>
                  <a:schemeClr val="bg2"/>
                </a:solidFill>
                <a:ea typeface="楷体_GB2312" pitchFamily="49" charset="-122"/>
              </a:defRPr>
            </a:lvl1pPr>
          </a:lstStyle>
          <a:p>
            <a:pPr>
              <a:defRPr/>
            </a:pPr>
            <a:endParaRPr lang="en-US" altLang="zh-CN"/>
          </a:p>
        </p:txBody>
      </p:sp>
      <p:sp>
        <p:nvSpPr>
          <p:cNvPr id="17101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sz="1200" b="1">
                <a:solidFill>
                  <a:schemeClr val="bg2"/>
                </a:solidFill>
                <a:ea typeface="楷体_GB2312" pitchFamily="49" charset="-122"/>
              </a:defRPr>
            </a:lvl1pPr>
          </a:lstStyle>
          <a:p>
            <a:pPr>
              <a:defRPr/>
            </a:pPr>
            <a:fld id="{E1F40C0E-194C-4B94-8F77-EC8237023613}"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9" Type="http://schemas.openxmlformats.org/officeDocument/2006/relationships/hyperlink" Target="https://baike.baidu.com/item/%E8%83%BD%E5%8A%9B%E6%88%90%E7%86%9F%E5%BA%A6%E6%A8%A1%E5%9E%8B%E9%9B%86%E6%88%90" TargetMode="External"/><Relationship Id="rId8" Type="http://schemas.openxmlformats.org/officeDocument/2006/relationships/hyperlink" Target="https://baike.baidu.com/item/%E8%BF%87%E7%A8%8B%E5%9F%9F" TargetMode="External"/><Relationship Id="rId7" Type="http://schemas.openxmlformats.org/officeDocument/2006/relationships/hyperlink" Target="https://baike.baidu.com/item/%E8%BD%AF%E4%BB%B6%E5%B7%A5%E7%A8%8B" TargetMode="External"/><Relationship Id="rId6" Type="http://schemas.openxmlformats.org/officeDocument/2006/relationships/hyperlink" Target="https://baike.baidu.com/item/%E8%BD%AF%E4%BB%B6%E8%B4%A8%E9%87%8F" TargetMode="External"/><Relationship Id="rId5" Type="http://schemas.openxmlformats.org/officeDocument/2006/relationships/hyperlink" Target="https://baike.baidu.com/item/%E8%BD%AF%E4%BB%B6%E8%BF%87%E7%A8%8B" TargetMode="External"/><Relationship Id="rId4" Type="http://schemas.openxmlformats.org/officeDocument/2006/relationships/hyperlink" Target="https://baike.baidu.com/item/%E5%BA%A6%E9%87%8F" TargetMode="External"/><Relationship Id="rId3" Type="http://schemas.openxmlformats.org/officeDocument/2006/relationships/hyperlink" Target="https://baike.baidu.com/item/%E8%83%BD%E5%8A%9B%E6%88%90%E7%86%9F%E5%BA%A6%E6%A8%A1%E5%9E%8B" TargetMode="External"/><Relationship Id="rId2" Type="http://schemas.openxmlformats.org/officeDocument/2006/relationships/notesMaster" Target="../notesMasters/notesMaster1.xml"/><Relationship Id="rId18" Type="http://schemas.openxmlformats.org/officeDocument/2006/relationships/hyperlink" Target="https://baike.baidu.com/item/%E9%A3%8E%E9%99%A9%E8%AF%86%E5%88%AB" TargetMode="External"/><Relationship Id="rId17" Type="http://schemas.openxmlformats.org/officeDocument/2006/relationships/hyperlink" Target="https://baike.baidu.com/item/%E7%AE%A1%E7%90%86%E8%83%BD%E5%8A%9B" TargetMode="External"/><Relationship Id="rId16" Type="http://schemas.openxmlformats.org/officeDocument/2006/relationships/hyperlink" Target="https://baike.baidu.com/item/ISO9000" TargetMode="External"/><Relationship Id="rId15" Type="http://schemas.openxmlformats.org/officeDocument/2006/relationships/hyperlink" Target="https://baike.baidu.com/item/%E6%A0%87%E5%87%86%E5%8C%96" TargetMode="External"/><Relationship Id="rId14" Type="http://schemas.openxmlformats.org/officeDocument/2006/relationships/hyperlink" Target="https://baike.baidu.com/item/%E5%85%A8%E9%9D%A2%E8%B4%A8%E9%87%8F%E7%AE%A1%E7%90%86" TargetMode="External"/><Relationship Id="rId13" Type="http://schemas.openxmlformats.org/officeDocument/2006/relationships/hyperlink" Target="https://baike.baidu.com/item/%E7%B3%BB%E7%BB%9F%E9%9B%86%E6%88%90" TargetMode="External"/><Relationship Id="rId12" Type="http://schemas.openxmlformats.org/officeDocument/2006/relationships/hyperlink" Target="https://baike.baidu.com/item/%E7%BE%8E%E5%9B%BD%E5%9B%BD%E9%98%B2%E9%83%A8" TargetMode="External"/><Relationship Id="rId11" Type="http://schemas.openxmlformats.org/officeDocument/2006/relationships/hyperlink" Target="https://baike.baidu.com/item/%E5%85%B3%E9%94%AE%E8%BF%87%E7%A8%8B%E5%9F%9F" TargetMode="External"/><Relationship Id="rId10" Type="http://schemas.openxmlformats.org/officeDocument/2006/relationships/hyperlink" Target="https://baike.baidu.com/item/%E8%BD%AF%E4%BB%B6%E8%83%BD%E5%8A%9B%E6%88%90%E7%86%9F%E5%BA%A6%E6%A8%A1%E5%9E%8B" TargetMode="Externa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9C2CCB97-2706-4EB0-BF34-57880F567C73}" type="slidenum">
              <a:rPr lang="zh-CN" altLang="en-US" smtClean="0"/>
            </a:fld>
            <a:endParaRPr lang="en-US" altLang="zh-CN" smtClean="0"/>
          </a:p>
        </p:txBody>
      </p:sp>
      <p:sp>
        <p:nvSpPr>
          <p:cNvPr id="64515" name="Rectangle 2"/>
          <p:cNvSpPr>
            <a:spLocks noGrp="1" noRot="1" noChangeAspect="1" noChangeArrowheads="1" noTextEdit="1"/>
          </p:cNvSpPr>
          <p:nvPr>
            <p:ph type="sldImg"/>
          </p:nvPr>
        </p:nvSpPr>
        <p:spPr/>
      </p:sp>
      <p:sp>
        <p:nvSpPr>
          <p:cNvPr id="4" name="备注占位符 3"/>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87CA46D8-486B-45F7-BF15-9157C590B4BD}" type="slidenum">
              <a:rPr lang="zh-CN" altLang="en-US" smtClean="0"/>
            </a:fld>
            <a:endParaRPr lang="en-US" altLang="zh-CN" smtClean="0"/>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A91D14B1-E815-4FAE-A9F8-78A531379CE0}" type="slidenum">
              <a:rPr lang="zh-CN" altLang="en-US" smtClean="0"/>
            </a:fld>
            <a:endParaRPr lang="en-US" altLang="zh-CN" smtClean="0"/>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bwMode="auto">
          <a:xfrm>
            <a:off x="685800" y="4343400"/>
            <a:ext cx="54864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4EE76A58-307C-45A4-854D-833AB9245A5D}" type="slidenum">
              <a:rPr lang="zh-CN" altLang="en-US" smtClean="0"/>
            </a:fld>
            <a:endParaRPr lang="en-US" altLang="zh-CN" smtClean="0"/>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FB3F587C-48F3-43CB-BF8B-628BD1107951}" type="slidenum">
              <a:rPr lang="zh-CN" altLang="en-US" smtClean="0"/>
            </a:fld>
            <a:endParaRPr lang="en-US" altLang="zh-CN" smtClean="0"/>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p:spPr>
        <p:txBody>
          <a:bodyPr/>
          <a:lstStyle/>
          <a:p>
            <a:pPr eaLnBrk="1" hangingPunct="1"/>
            <a:endParaRPr lang="en-US" altLang="zh-CN"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B5747A2C-F8E9-4599-9EFF-5BF293A7C59E}" type="slidenum">
              <a:rPr lang="zh-CN" altLang="en-US" smtClean="0"/>
            </a:fld>
            <a:endParaRPr lang="en-US" altLang="zh-CN" smtClean="0"/>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8D35CBEF-DF39-40A8-9456-7DAE67169FF4}" type="slidenum">
              <a:rPr lang="zh-CN" altLang="en-US" smtClean="0"/>
            </a:fld>
            <a:endParaRPr lang="en-US" altLang="zh-CN" smtClean="0"/>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8D35CBEF-DF39-40A8-9456-7DAE67169FF4}" type="slidenum">
              <a:rPr lang="zh-CN" altLang="en-US" smtClean="0"/>
            </a:fld>
            <a:endParaRPr lang="en-US" altLang="zh-CN" smtClean="0"/>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F7D0D296-E926-4607-B4A1-817F0D33BC89}" type="slidenum">
              <a:rPr lang="zh-CN" altLang="en-US" smtClean="0"/>
            </a:fld>
            <a:endParaRPr lang="en-US" altLang="zh-CN" smtClean="0"/>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1D894F98-1DD3-47AB-A3AB-6A76F3176DA0}" type="slidenum">
              <a:rPr lang="zh-CN" altLang="en-US" smtClean="0"/>
            </a:fld>
            <a:endParaRPr lang="en-US" altLang="zh-CN" smtClean="0"/>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A91D14B1-E815-4FAE-A9F8-78A531379CE0}" type="slidenum">
              <a:rPr lang="zh-CN" altLang="en-US" smtClean="0"/>
            </a:fld>
            <a:endParaRPr lang="en-US" altLang="zh-CN" smtClean="0"/>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bwMode="auto">
          <a:xfrm>
            <a:off x="685800" y="4343400"/>
            <a:ext cx="54864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F961D41B-36FD-47B8-9B8C-5E261A34656E}" type="slidenum">
              <a:rPr lang="zh-CN" altLang="en-US" smtClean="0"/>
            </a:fld>
            <a:endParaRPr lang="en-US" altLang="zh-CN" smtClean="0"/>
          </a:p>
        </p:txBody>
      </p:sp>
      <p:sp>
        <p:nvSpPr>
          <p:cNvPr id="86019" name="Rectangle 2"/>
          <p:cNvSpPr>
            <a:spLocks noGrp="1" noRot="1" noChangeAspect="1" noChangeArrowheads="1" noTextEdit="1"/>
          </p:cNvSpPr>
          <p:nvPr>
            <p:ph type="sldImg"/>
          </p:nvPr>
        </p:nvSpPr>
        <p:spPr/>
      </p:sp>
      <p:sp>
        <p:nvSpPr>
          <p:cNvPr id="8602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F1362286-8872-42CF-A75A-C8B572BEBA92}" type="slidenum">
              <a:rPr lang="zh-CN" altLang="en-US" smtClean="0"/>
            </a:fld>
            <a:endParaRPr lang="en-US" altLang="zh-CN" smtClean="0"/>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5AD36A0C-8819-4E11-9355-002D73324B81}" type="slidenum">
              <a:rPr lang="zh-CN" altLang="en-US" smtClean="0"/>
            </a:fld>
            <a:endParaRPr lang="en-US" altLang="zh-CN" smtClean="0"/>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B49C7E0D-9648-43B2-B45C-3BA05EDC0FCA}" type="slidenum">
              <a:rPr lang="zh-CN" altLang="en-US" smtClean="0"/>
            </a:fld>
            <a:endParaRPr lang="en-US" altLang="zh-CN" smtClean="0"/>
          </a:p>
        </p:txBody>
      </p:sp>
      <p:sp>
        <p:nvSpPr>
          <p:cNvPr id="90115" name="Rectangle 2"/>
          <p:cNvSpPr>
            <a:spLocks noGrp="1" noRot="1" noChangeAspect="1" noChangeArrowheads="1" noTextEdit="1"/>
          </p:cNvSpPr>
          <p:nvPr>
            <p:ph type="sldImg"/>
          </p:nvPr>
        </p:nvSpPr>
        <p:spPr/>
      </p:sp>
      <p:sp>
        <p:nvSpPr>
          <p:cNvPr id="9011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1C8E8F3E-CC85-4B49-B2D4-A1E22BCFB6A3}" type="slidenum">
              <a:rPr lang="zh-CN" altLang="en-US" smtClean="0"/>
            </a:fld>
            <a:endParaRPr lang="en-US" altLang="zh-CN" smtClean="0"/>
          </a:p>
        </p:txBody>
      </p:sp>
      <p:sp>
        <p:nvSpPr>
          <p:cNvPr id="92163" name="Rectangle 2"/>
          <p:cNvSpPr>
            <a:spLocks noGrp="1" noRot="1" noChangeAspect="1" noChangeArrowheads="1" noTextEdit="1"/>
          </p:cNvSpPr>
          <p:nvPr>
            <p:ph type="sldImg"/>
          </p:nvPr>
        </p:nvSpPr>
        <p:spPr/>
      </p:sp>
      <p:sp>
        <p:nvSpPr>
          <p:cNvPr id="9216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58FFBC13-BB83-4765-8C84-9BE6A1625236}" type="slidenum">
              <a:rPr lang="zh-CN" altLang="en-US" smtClean="0"/>
            </a:fld>
            <a:endParaRPr lang="en-US" altLang="zh-CN" smtClean="0"/>
          </a:p>
        </p:txBody>
      </p:sp>
      <p:sp>
        <p:nvSpPr>
          <p:cNvPr id="93187" name="Rectangle 2"/>
          <p:cNvSpPr>
            <a:spLocks noGrp="1" noRot="1" noChangeAspect="1" noChangeArrowheads="1" noTextEdit="1"/>
          </p:cNvSpPr>
          <p:nvPr>
            <p:ph type="sldImg"/>
          </p:nvPr>
        </p:nvSpPr>
        <p:spPr/>
      </p:sp>
      <p:sp>
        <p:nvSpPr>
          <p:cNvPr id="9318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A59A3DA5-2356-4FD2-AAE1-D5741060475C}" type="slidenum">
              <a:rPr lang="zh-CN" altLang="en-US" smtClean="0"/>
            </a:fld>
            <a:endParaRPr lang="en-US" altLang="zh-CN" smtClean="0"/>
          </a:p>
        </p:txBody>
      </p:sp>
      <p:sp>
        <p:nvSpPr>
          <p:cNvPr id="94211" name="Rectangle 2"/>
          <p:cNvSpPr>
            <a:spLocks noGrp="1" noRot="1" noChangeAspect="1" noChangeArrowheads="1" noTextEdit="1"/>
          </p:cNvSpPr>
          <p:nvPr>
            <p:ph type="sldImg"/>
          </p:nvPr>
        </p:nvSpPr>
        <p:spPr/>
      </p:sp>
      <p:sp>
        <p:nvSpPr>
          <p:cNvPr id="94212"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6002F97A-0C81-41CB-8927-83E22A7B5437}" type="slidenum">
              <a:rPr lang="zh-CN" altLang="en-US" smtClean="0"/>
            </a:fld>
            <a:endParaRPr lang="en-US" altLang="zh-CN" smtClean="0"/>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A3644A90-48F1-43BF-AB4C-35EE229E22E3}" type="slidenum">
              <a:rPr lang="zh-CN" altLang="en-US" smtClean="0"/>
            </a:fld>
            <a:endParaRPr lang="en-US" altLang="zh-CN" smtClean="0"/>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1E7B2316-12A6-4D7E-BBE8-7A979BC9F10C}" type="slidenum">
              <a:rPr lang="zh-CN" altLang="en-US" smtClean="0"/>
            </a:fld>
            <a:endParaRPr lang="en-US" altLang="zh-CN" smtClean="0"/>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1E7B2316-12A6-4D7E-BBE8-7A979BC9F10C}" type="slidenum">
              <a:rPr lang="zh-CN" altLang="en-US" smtClean="0"/>
            </a:fld>
            <a:endParaRPr lang="en-US" altLang="zh-CN" smtClean="0"/>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7F37EA58-404C-49B3-9C19-19FB9F0FBF82}" type="slidenum">
              <a:rPr lang="zh-CN" altLang="en-US" smtClean="0"/>
            </a:fld>
            <a:endParaRPr lang="en-US" altLang="zh-CN" smtClean="0"/>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7F37C62E-4605-4704-A326-A9C99898EC1D}" type="slidenum">
              <a:rPr lang="zh-CN" altLang="en-US" smtClean="0"/>
            </a:fld>
            <a:endParaRPr lang="en-US" altLang="zh-CN" smtClean="0"/>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1BA54F3F-3C43-4759-8535-F4AA8BAF4735}" type="slidenum">
              <a:rPr lang="zh-CN" altLang="en-US" smtClean="0"/>
            </a:fld>
            <a:endParaRPr lang="en-US" altLang="zh-CN" smtClean="0"/>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1BA54F3F-3C43-4759-8535-F4AA8BAF4735}" type="slidenum">
              <a:rPr lang="zh-CN" altLang="en-US" smtClean="0"/>
            </a:fld>
            <a:endParaRPr lang="en-US" altLang="zh-CN" smtClean="0"/>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1BA54F3F-3C43-4759-8535-F4AA8BAF4735}" type="slidenum">
              <a:rPr lang="zh-CN" altLang="en-US" smtClean="0"/>
            </a:fld>
            <a:endParaRPr lang="en-US" altLang="zh-CN" smtClean="0"/>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a:noFill/>
        </p:spPr>
        <p:txBody>
          <a:bodyPr/>
          <a:lstStyle/>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3"/>
              </a:rPr>
              <a:t>能力成熟度模型</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Capability Maturity Model</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，英文缩写为</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baseline="30000" dirty="0" smtClean="0">
                <a:solidFill>
                  <a:schemeClr val="tx1"/>
                </a:solidFill>
                <a:effectLst/>
                <a:latin typeface="Times New Roman" panose="02020603050405020304" pitchFamily="18" charset="0"/>
                <a:ea typeface="宋体" panose="02010600030101010101" pitchFamily="2" charset="-122"/>
                <a:cs typeface="+mn-cs"/>
              </a:rPr>
              <a:t> </a:t>
            </a:r>
            <a:r>
              <a:rPr kumimoji="1" lang="en-US" altLang="zh-CN" sz="1200" b="0" i="0" u="none" strike="noStrike" kern="1200" baseline="30000" dirty="0" smtClean="0">
                <a:solidFill>
                  <a:schemeClr val="tx1"/>
                </a:solidFill>
                <a:effectLst/>
                <a:latin typeface="Times New Roman" panose="02020603050405020304" pitchFamily="18" charset="0"/>
                <a:ea typeface="宋体" panose="02010600030101010101" pitchFamily="2" charset="-122"/>
                <a:cs typeface="+mn-cs"/>
              </a:rPr>
              <a:t>[1]</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  是一种开发模型。</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Carnegie Mellon</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大学的研究人员从美国国防部合同承包方那里收集数据并加以研究，提出了</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。美国国防部资助了这项研究。</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Carnegie Mellon</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以该模型为基础，创办了软件工程研究所（</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的目标是改善现有软件开发过程，也可用于其它过程。</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它是对于软件组织在定义、实施、</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4"/>
              </a:rPr>
              <a:t>度量</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、控制和改善其</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5"/>
              </a:rPr>
              <a:t>软件过程</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的实践中各个发展阶段的描述。</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的核心是把软件开发视为一个过程，并根据这一原则对软件开发和维护过程进行监控和研究。</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是一种用于评价软件承包能力以改善</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6"/>
              </a:rPr>
              <a:t>软件质量</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的方法，侧重于软件开发过程的管理及工程能力的提高与评估。分为五个等级：一级为初始级，二级为可重复级，三级为已定义级，四级为已管理级，五级为优化级。</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其假设是：只要集中精力持续努力去建立有效的</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7"/>
              </a:rPr>
              <a:t>软件工程</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过程的基础结构，不断进行管理的实践和过程的改进，就可以克服软件生产中的困难。</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历史</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1984</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年，美国国防部资助建立了卡内基</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梅隆大学软件研究所（</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1987</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发布第一份技术报告介绍软件能力成熟度模型（</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）及作为评价国防合同承包方过程成熟度的方法论；</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1991</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发表</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版软件</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CMM(SW-CMM)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自</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1987</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年开始实施认证，现已成为软件业权威的评估认证体系。</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包括</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5</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个等级，共计</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18</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个</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8"/>
              </a:rPr>
              <a:t>过程域</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52</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个目标，</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300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多个关键实践。</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基本概念</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Capability Maturity Model Integration</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9"/>
              </a:rPr>
              <a:t>能力成熟度模型集成</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将各种能力成熟度模型（即：</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Software 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Systems </a:t>
            </a:r>
            <a:r>
              <a:rPr kumimoji="1" lang="en-US" altLang="zh-CN" sz="1200" b="0" i="0" u="none" strike="noStrike" kern="1200" dirty="0" err="1" smtClean="0">
                <a:solidFill>
                  <a:schemeClr val="tx1"/>
                </a:solidFill>
                <a:effectLst/>
                <a:latin typeface="Times New Roman" panose="02020603050405020304" pitchFamily="18" charset="0"/>
                <a:ea typeface="宋体" panose="02010600030101010101" pitchFamily="2" charset="-122"/>
                <a:cs typeface="+mn-cs"/>
              </a:rPr>
              <a:t>Eng</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People 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和</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Acquisition 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）整合到同一架构中去，由此建立起包括软件工程、系统工程和软件采购等在内的诸模型的集成，以解决除软件开发以外的软件系统工程和软件采购工作中的迫切需求。</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框架包括</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10"/>
              </a:rPr>
              <a:t>软件能力成熟度模型</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 2.0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草案，系统工程能力成熟度模型，软件采购能力成熟度模型，继承产品和过程开发等。</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11"/>
              </a:rPr>
              <a:t>关键过程域</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25</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个，“目标”</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105</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个， “关键实践”</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485</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条。</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的评估方式：</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自我评估：用于本企业领导层评价公司自身的软件能力。</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主任评估：使本企业领导层评价公司自身的软件能力，向外宣布自己企业的软件能力。</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的评估类型：</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软件组织的关于具体的软件过程能力的评估。</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软件组织整体软件能力的评估（软件能力成熟度等级评估）。</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的基本思想</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、解决软件项目过程改进难度增大问题</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2</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、实现软件工程的并行与多学科组合</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3</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、实现过程改进的最佳效益</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背景介绍： </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是“软件能力成熟度模型”的英文简写，该模型由美国卡内基</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梅隆大学的软件工程研究所（简称</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）受</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12"/>
              </a:rPr>
              <a:t>美国国防部</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委托，于</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1991</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年研究制定，初始的主要目的是为了评价美国国防部的软件合同承包组织的能力，后因为在软件企业应用</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模型实施过程改进取得较大的成功，所以在全世界范围内被广泛使用，</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同时建立了主任评估师评估制度，</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的评估方法为</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CBA</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IPI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是</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于</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2000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年发布的</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的新版本。</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不但包括了软件开发过程改进，还包含</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13"/>
              </a:rPr>
              <a:t>系统集成</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、软硬件采购等方面的过程改进内容。</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纠正了</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存在的一些缺点，使其更加适用企业的过程改进实施。</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适用</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SCAMPI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评估方法。需要注意的是，</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没有废除</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模型，只是停止了</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评估方法：</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CBA</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IPI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。但</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模型最终代替</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模型的趋势不可避免。</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标准特点： </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CMM/CMMI/SPCA</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的思想来源于已有多年历史的产品质量管理和</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14"/>
              </a:rPr>
              <a:t>全面质量管理</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Watts Humphrey</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和</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Ron </a:t>
            </a:r>
            <a:r>
              <a:rPr kumimoji="1" lang="en-US" altLang="zh-CN" sz="1200" b="0" i="0" u="none" strike="noStrike" kern="1200" dirty="0" err="1" smtClean="0">
                <a:solidFill>
                  <a:schemeClr val="tx1"/>
                </a:solidFill>
                <a:effectLst/>
                <a:latin typeface="Times New Roman" panose="02020603050405020304" pitchFamily="18" charset="0"/>
                <a:ea typeface="宋体" panose="02010600030101010101" pitchFamily="2" charset="-122"/>
                <a:cs typeface="+mn-cs"/>
              </a:rPr>
              <a:t>Radice</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在</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IBM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公司将全面质量管理的思想应用于软件工程过程，收到了很大的成效。</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的软件能力成熟度框架就是在以</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Humphrey</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为主的软件专家实践经验的基础上发展而来的。软件能力成熟度模型中融合了全面质量管理的思想，以</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5</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个不断进化的层次反映了软件过程定量控制中项目管理和项目工程的基本原则。</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CMM/CMMI/SPCA</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所依据的想法是只要不断地对企业的工程过程的基础结构和实践进行管理和改进，就可以克服软硬件生产中的困难，增强开发制造能力，从而能按时地、不超预算地制造出高质量的软件产品。</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简介</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CMM(Capability Maturity Model)</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是能力成熟度模型的缩写</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是国际公认的对软件公司进行成熟度等级认证的重要标准。</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的工作最早开始于</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86</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11</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月</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当时为满足美国政府评估软件供应商能力并帮助其改善软件质量的要求</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由美国国防部资助的卡内基</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梅隆大学的软件工作研究所</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牵头</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在</a:t>
            </a:r>
            <a:r>
              <a:rPr kumimoji="1" lang="en-US" altLang="zh-CN" sz="1200" b="0" i="0" u="none" strike="noStrike" kern="1200" dirty="0" err="1" smtClean="0">
                <a:solidFill>
                  <a:schemeClr val="tx1"/>
                </a:solidFill>
                <a:effectLst/>
                <a:latin typeface="Times New Roman" panose="02020603050405020304" pitchFamily="18" charset="0"/>
                <a:ea typeface="宋体" panose="02010600030101010101" pitchFamily="2" charset="-122"/>
                <a:cs typeface="+mn-cs"/>
              </a:rPr>
              <a:t>Mitre</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公司协助下</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于</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87</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9</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月发布了一份能力成熟度框架</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(Capability Maturity Framework)</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以及一套成熟度问卷</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(Maturity Questionnaire)</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。四年后，</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在总结自</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87</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年以来对成熟度框架和初版成熟度问卷的经验基础上，推出了</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CMM1.0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版。</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CMM1.0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版在成熟度框架的基础上建立了一个可用的模型，该模型可以更加有效地帮助软件公司建立和实施过程改进计划。两年后，</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于</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93</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年推出了</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CMM1.1</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版。近几年，</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SEI</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又推出了</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CMM2.0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版，同时进入了</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ISO</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体系，称为</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ISO/IEC15504(</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软件过程评估</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共分五级。在每一级中，定义了达到该级过程管理水平所应解决的关键问题和关键过程。每一较低级别是达到较高级别的基础。其中五级是最高级，即优化级，达到该级的软件公司过程可自发地不断改进，防止同类问题二次出现；四级称为已管理级，达到该级的软件公司已实现过程的定量化；三级为已定义级，即过程实现</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15"/>
              </a:rPr>
              <a:t>标准化</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；二级为可重复级，达到该级的软件公司过程已制度化，有纪律，可重复；一级为初始级，过程无序，进度、预算、功能和质量等方面不可预测。</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致力于软件开发过程的管理和工程能力的提高与评估。该模型在美国和北美地区已得到广泛应用，同时越来越多的欧洲和亚洲等国家的软件公司正积极采纳</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实际上已成为软件开发过程改进与评估事实上的工业标准。如今，全球通过</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五级评估的软件公司大约有十几家，三级以上的大约有</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100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余家，通过二级评估的有</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300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家左右。软件大国印度在这方面工作开展的比较广泛，受益匪浅。，该公司表示将争取早日通过</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三级评估。</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与</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16"/>
              </a:rPr>
              <a:t>ISO9000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的主要区别：</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是专门针对软件产品开发和服务的，而</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ISO9000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涉及的范围则相当宽。</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2.CMM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强调软件开发过程的成熟度，即过程的不断改进和提高。而</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ISO9000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则强调可接收的质量体系的最低标准。</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引进</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的主要意义</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一</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对软件公司</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提高软件公司软件开发的</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17"/>
              </a:rPr>
              <a:t>管理能力</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，因为</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可提供软件公司自我评估的方法和自我提高的手段。</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2.</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提高软件生产率。</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3.</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提高软件质量。</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4.</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提高软件公司的国内和国际竞争力。</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二</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对软件项目发包单位和软件用户</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提供了对软件开发商开发管理水平的评估手段，有助于软件开发项目的</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18"/>
              </a:rPr>
              <a:t>风险识别</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a:t>
            </a:r>
            <a:endPar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我国</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工作的开展相对滞后，全面正式开展</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评估工作还需一定时间，但只是迟早的问题。业内有识之士呼吁我国应结合国情，及早开展</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CMM</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有关工作。</a:t>
            </a:r>
            <a:endParaRPr lang="zh-CN" altLang="en-US" dirty="0" smtClean="0"/>
          </a:p>
          <a:p>
            <a:pPr algn="just" eaLnBrk="1" hangingPunct="1"/>
            <a:endParaRPr lang="zh-CN" altLang="en-US" dirty="0" smtClean="0"/>
          </a:p>
          <a:p>
            <a:pPr algn="just" eaLnBrk="1" hangingPunct="1"/>
            <a:endParaRPr lang="zh-CN" altLang="en-US" dirty="0" smtClean="0"/>
          </a:p>
          <a:p>
            <a:pPr algn="just" eaLnBrk="1" hangingPunct="1"/>
            <a:endParaRPr lang="zh-CN" altLang="en-US" dirty="0" smtClean="0"/>
          </a:p>
          <a:p>
            <a:pPr algn="just" eaLnBrk="1" hangingPunct="1"/>
            <a:endParaRPr lang="zh-CN" altLang="en-US" dirty="0" smtClean="0"/>
          </a:p>
          <a:p>
            <a:pPr eaLnBrk="1" hangingPunct="1"/>
            <a:endParaRPr lang="en-US" altLang="zh-CN"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A91D14B1-E815-4FAE-A9F8-78A531379CE0}" type="slidenum">
              <a:rPr lang="zh-CN" altLang="en-US" smtClean="0"/>
            </a:fld>
            <a:endParaRPr lang="en-US" altLang="zh-CN" smtClean="0"/>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bwMode="auto">
          <a:xfrm>
            <a:off x="685800" y="4343400"/>
            <a:ext cx="54864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056C6EBE-9109-4218-AADD-2C7B526A7D2A}" type="slidenum">
              <a:rPr lang="zh-CN" altLang="en-US" smtClean="0"/>
            </a:fld>
            <a:endParaRPr lang="en-US" altLang="zh-CN" smtClean="0"/>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BC0E730F-4A04-49B3-BC9D-B193F49B624B}" type="slidenum">
              <a:rPr lang="zh-CN" altLang="en-US" smtClean="0"/>
            </a:fld>
            <a:endParaRPr lang="en-US" altLang="zh-CN" smtClean="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D48E136A-8059-4638-BA03-A47CA03764E2}" type="slidenum">
              <a:rPr lang="zh-CN" altLang="en-US" smtClean="0"/>
            </a:fld>
            <a:endParaRPr lang="en-US" altLang="zh-CN" smtClean="0"/>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A91D14B1-E815-4FAE-A9F8-78A531379CE0}" type="slidenum">
              <a:rPr lang="zh-CN" altLang="en-US" smtClean="0"/>
            </a:fld>
            <a:endParaRPr lang="en-US" altLang="zh-CN" smtClean="0"/>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bwMode="auto">
          <a:xfrm>
            <a:off x="685800" y="4343400"/>
            <a:ext cx="54864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34242B4A-505E-40C4-AB21-5DE74DAA9AE8}" type="slidenum">
              <a:rPr lang="zh-CN" altLang="en-US" smtClean="0"/>
            </a:fld>
            <a:endParaRPr lang="en-US" altLang="zh-CN" smtClean="0"/>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0DE193B2-7A3B-439D-BB68-2A9E8F6B085D}" type="slidenum">
              <a:rPr lang="zh-CN" altLang="en-US" smtClean="0"/>
            </a:fld>
            <a:endParaRPr lang="en-US" altLang="zh-CN" smtClean="0"/>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0DE193B2-7A3B-439D-BB68-2A9E8F6B085D}" type="slidenum">
              <a:rPr lang="zh-CN" altLang="en-US" smtClean="0"/>
            </a:fld>
            <a:endParaRPr lang="en-US" altLang="zh-CN" smtClean="0"/>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B7C91261-A6A3-4901-AC06-5C68DED61DD1}" type="slidenum">
              <a:rPr lang="zh-CN" altLang="en-US" smtClean="0"/>
            </a:fld>
            <a:endParaRPr lang="en-US" altLang="zh-CN" smtClean="0"/>
          </a:p>
        </p:txBody>
      </p:sp>
      <p:sp>
        <p:nvSpPr>
          <p:cNvPr id="111619" name="Rectangle 2"/>
          <p:cNvSpPr>
            <a:spLocks noGrp="1" noRot="1" noChangeAspect="1" noChangeArrowheads="1" noTextEdit="1"/>
          </p:cNvSpPr>
          <p:nvPr>
            <p:ph type="sldImg"/>
          </p:nvPr>
        </p:nvSpPr>
        <p:spPr/>
      </p:sp>
      <p:sp>
        <p:nvSpPr>
          <p:cNvPr id="11162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B7C91261-A6A3-4901-AC06-5C68DED61DD1}" type="slidenum">
              <a:rPr lang="zh-CN" altLang="en-US" smtClean="0"/>
            </a:fld>
            <a:endParaRPr lang="en-US" altLang="zh-CN" smtClean="0"/>
          </a:p>
        </p:txBody>
      </p:sp>
      <p:sp>
        <p:nvSpPr>
          <p:cNvPr id="111619" name="Rectangle 2"/>
          <p:cNvSpPr>
            <a:spLocks noGrp="1" noRot="1" noChangeAspect="1" noChangeArrowheads="1" noTextEdit="1"/>
          </p:cNvSpPr>
          <p:nvPr>
            <p:ph type="sldImg"/>
          </p:nvPr>
        </p:nvSpPr>
        <p:spPr/>
      </p:sp>
      <p:sp>
        <p:nvSpPr>
          <p:cNvPr id="11162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206AFC31-1566-40C2-A2E8-5EAA5BE2093C}" type="slidenum">
              <a:rPr lang="zh-CN" altLang="en-US" smtClean="0"/>
            </a:fld>
            <a:endParaRPr lang="en-US" altLang="zh-CN" smtClean="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E658C9C4-82AE-4735-B884-158AC2D7AF22}" type="slidenum">
              <a:rPr lang="zh-CN" altLang="en-US" smtClean="0"/>
            </a:fld>
            <a:endParaRPr lang="en-US" altLang="zh-CN" smtClean="0"/>
          </a:p>
        </p:txBody>
      </p:sp>
      <p:sp>
        <p:nvSpPr>
          <p:cNvPr id="113667" name="Rectangle 2"/>
          <p:cNvSpPr>
            <a:spLocks noGrp="1" noRot="1" noChangeAspect="1" noChangeArrowheads="1" noTextEdit="1"/>
          </p:cNvSpPr>
          <p:nvPr>
            <p:ph type="sldImg"/>
          </p:nvPr>
        </p:nvSpPr>
        <p:spPr/>
      </p:sp>
      <p:sp>
        <p:nvSpPr>
          <p:cNvPr id="11366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A91D14B1-E815-4FAE-A9F8-78A531379CE0}" type="slidenum">
              <a:rPr lang="zh-CN" altLang="en-US" smtClean="0"/>
            </a:fld>
            <a:endParaRPr lang="en-US" altLang="zh-CN" smtClean="0"/>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bwMode="auto">
          <a:xfrm>
            <a:off x="685800" y="4343400"/>
            <a:ext cx="54864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AE094AEB-49B3-41D2-9B88-54AECB5F2349}" type="slidenum">
              <a:rPr lang="zh-CN" altLang="en-US" smtClean="0"/>
            </a:fld>
            <a:endParaRPr lang="en-US" altLang="zh-CN" smtClean="0"/>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AE094AEB-49B3-41D2-9B88-54AECB5F2349}" type="slidenum">
              <a:rPr lang="zh-CN" altLang="en-US" smtClean="0"/>
            </a:fld>
            <a:endParaRPr lang="en-US" altLang="zh-CN" smtClean="0"/>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FC66E236-E6EA-4713-B7CA-113630685A8B}" type="slidenum">
              <a:rPr lang="zh-CN" altLang="en-US" smtClean="0"/>
            </a:fld>
            <a:endParaRPr lang="en-US" altLang="zh-CN" smtClean="0"/>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1D65929E-E533-425C-A69C-46BDCAD97F7F}" type="slidenum">
              <a:rPr lang="zh-CN" altLang="en-US" smtClean="0"/>
            </a:fld>
            <a:endParaRPr lang="en-US" altLang="zh-CN" smtClean="0"/>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52AC8B8A-6E94-4CDD-9627-D6842D1FAE2E}" type="slidenum">
              <a:rPr lang="zh-CN" altLang="en-US" smtClean="0"/>
            </a:fld>
            <a:endParaRPr lang="en-US" altLang="zh-CN" smtClean="0"/>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52AC8B8A-6E94-4CDD-9627-D6842D1FAE2E}" type="slidenum">
              <a:rPr lang="zh-CN" altLang="en-US" smtClean="0"/>
            </a:fld>
            <a:endParaRPr lang="en-US" altLang="zh-CN" smtClean="0"/>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52AC8B8A-6E94-4CDD-9627-D6842D1FAE2E}" type="slidenum">
              <a:rPr lang="zh-CN" altLang="en-US" smtClean="0"/>
            </a:fld>
            <a:endParaRPr lang="en-US" altLang="zh-CN" smtClean="0"/>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52AC8B8A-6E94-4CDD-9627-D6842D1FAE2E}" type="slidenum">
              <a:rPr lang="zh-CN" altLang="en-US" smtClean="0"/>
            </a:fld>
            <a:endParaRPr lang="en-US" altLang="zh-CN" smtClean="0"/>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52AC8B8A-6E94-4CDD-9627-D6842D1FAE2E}" type="slidenum">
              <a:rPr lang="zh-CN" altLang="en-US" smtClean="0"/>
            </a:fld>
            <a:endParaRPr lang="en-US" altLang="zh-CN" smtClean="0"/>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52AC8B8A-6E94-4CDD-9627-D6842D1FAE2E}" type="slidenum">
              <a:rPr lang="zh-CN" altLang="en-US" smtClean="0"/>
            </a:fld>
            <a:endParaRPr lang="en-US" altLang="zh-CN" smtClean="0"/>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FD5F7DF4-D26D-45EC-A7EB-09059969DEE2}" type="slidenum">
              <a:rPr lang="zh-CN" altLang="en-US" smtClean="0"/>
            </a:fld>
            <a:endParaRPr lang="en-US" altLang="zh-CN" smtClean="0"/>
          </a:p>
        </p:txBody>
      </p:sp>
      <p:sp>
        <p:nvSpPr>
          <p:cNvPr id="119811" name="Rectangle 2"/>
          <p:cNvSpPr>
            <a:spLocks noGrp="1" noRot="1" noChangeAspect="1" noChangeArrowheads="1" noTextEdit="1"/>
          </p:cNvSpPr>
          <p:nvPr>
            <p:ph type="sldImg"/>
          </p:nvPr>
        </p:nvSpPr>
        <p:spPr/>
      </p:sp>
      <p:sp>
        <p:nvSpPr>
          <p:cNvPr id="119812"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0A0AB245-0ECF-4E52-AECB-EBA40F09A2BC}" type="slidenum">
              <a:rPr lang="zh-CN" altLang="en-US" smtClean="0"/>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13"/>
          <p:cNvSpPr txBox="1">
            <a:spLocks noChangeArrowheads="1"/>
          </p:cNvSpPr>
          <p:nvPr userDrawn="1"/>
        </p:nvSpPr>
        <p:spPr bwMode="auto">
          <a:xfrm>
            <a:off x="0" y="0"/>
            <a:ext cx="5580063" cy="583565"/>
          </a:xfrm>
          <a:prstGeom prst="rect">
            <a:avLst/>
          </a:prstGeom>
          <a:noFill/>
          <a:ln w="9525">
            <a:noFill/>
            <a:miter lim="800000"/>
          </a:ln>
          <a:effectLst/>
        </p:spPr>
        <p:txBody>
          <a:bodyPr>
            <a:spAutoFit/>
          </a:bodyPr>
          <a:lstStyle/>
          <a:p>
            <a:pPr algn="l">
              <a:defRPr/>
            </a:pPr>
            <a:r>
              <a:rPr lang="zh-CN" altLang="en-US" sz="3200" b="1">
                <a:solidFill>
                  <a:srgbClr val="FF0000"/>
                </a:solidFill>
                <a:latin typeface="楷体" panose="02010609060101010101" pitchFamily="49" charset="-122"/>
                <a:ea typeface="楷体" panose="02010609060101010101" pitchFamily="49" charset="-122"/>
                <a:cs typeface="楷体" panose="02010609060101010101" pitchFamily="49" charset="-122"/>
              </a:rPr>
              <a:t>第</a:t>
            </a:r>
            <a:r>
              <a:rPr lang="en-GB" altLang="zh-CN" sz="3200" b="1">
                <a:solidFill>
                  <a:srgbClr val="FF0000"/>
                </a:solidFill>
                <a:latin typeface="楷体" panose="02010609060101010101" pitchFamily="49" charset="-122"/>
                <a:ea typeface="楷体" panose="02010609060101010101" pitchFamily="49" charset="-122"/>
                <a:cs typeface="楷体" panose="02010609060101010101" pitchFamily="49" charset="-122"/>
              </a:rPr>
              <a:t>7</a:t>
            </a:r>
            <a:r>
              <a:rPr lang="zh-CN" altLang="en-US" sz="3200" b="1">
                <a:solidFill>
                  <a:srgbClr val="FF0000"/>
                </a:solidFill>
                <a:latin typeface="楷体" panose="02010609060101010101" pitchFamily="49" charset="-122"/>
                <a:ea typeface="楷体" panose="02010609060101010101" pitchFamily="49" charset="-122"/>
                <a:cs typeface="楷体" panose="02010609060101010101" pitchFamily="49" charset="-122"/>
              </a:rPr>
              <a:t>章 保证项目质量</a:t>
            </a:r>
            <a:endParaRPr lang="zh-CN" altLang="en-US" sz="3200"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3" name="Line 14"/>
          <p:cNvSpPr>
            <a:spLocks noChangeShapeType="1"/>
          </p:cNvSpPr>
          <p:nvPr userDrawn="1"/>
        </p:nvSpPr>
        <p:spPr bwMode="auto">
          <a:xfrm>
            <a:off x="0" y="6453188"/>
            <a:ext cx="9144000" cy="0"/>
          </a:xfrm>
          <a:prstGeom prst="line">
            <a:avLst/>
          </a:prstGeom>
          <a:noFill/>
          <a:ln w="127000" cmpd="thinThick">
            <a:solidFill>
              <a:srgbClr val="CC9900"/>
            </a:solidFill>
            <a:round/>
          </a:ln>
          <a:effectLst/>
        </p:spPr>
        <p:txBody>
          <a:bodyPr wrap="none" anchor="ctr"/>
          <a:lstStyle/>
          <a:p>
            <a:pPr>
              <a:defRPr/>
            </a:pPr>
            <a:endParaRPr lang="zh-CN" altLang="en-US"/>
          </a:p>
        </p:txBody>
      </p:sp>
      <p:sp>
        <p:nvSpPr>
          <p:cNvPr id="4" name="Rectangle 17"/>
          <p:cNvSpPr>
            <a:spLocks noChangeArrowheads="1"/>
          </p:cNvSpPr>
          <p:nvPr/>
        </p:nvSpPr>
        <p:spPr bwMode="auto">
          <a:xfrm>
            <a:off x="250825" y="1484313"/>
            <a:ext cx="8497888" cy="4392612"/>
          </a:xfrm>
          <a:prstGeom prst="rect">
            <a:avLst/>
          </a:prstGeom>
          <a:noFill/>
          <a:ln w="9525">
            <a:noFill/>
            <a:miter lim="800000"/>
          </a:ln>
          <a:effectLst/>
        </p:spPr>
        <p:txBody>
          <a:bodyPr/>
          <a:lstStyle/>
          <a:p>
            <a:pPr algn="ctr">
              <a:spcBef>
                <a:spcPct val="20000"/>
              </a:spcBef>
              <a:buClr>
                <a:schemeClr val="accent2"/>
              </a:buClr>
              <a:buSzPct val="80000"/>
              <a:buFont typeface="Wingdings" panose="05000000000000000000" pitchFamily="2" charset="2"/>
              <a:buNone/>
              <a:defRPr/>
            </a:pPr>
            <a:r>
              <a:rPr lang="zh-CN" altLang="en-US" sz="3200"/>
              <a:t>单击此处编辑母版文本样式</a:t>
            </a:r>
            <a:endParaRPr lang="zh-CN" altLang="en-US" sz="3200"/>
          </a:p>
          <a:p>
            <a:pPr algn="ctr">
              <a:spcBef>
                <a:spcPct val="20000"/>
              </a:spcBef>
              <a:buClr>
                <a:schemeClr val="accent2"/>
              </a:buClr>
              <a:buSzPct val="80000"/>
              <a:buFont typeface="Wingdings" panose="05000000000000000000" pitchFamily="2" charset="2"/>
              <a:buNone/>
              <a:defRPr/>
            </a:pPr>
            <a:r>
              <a:rPr lang="zh-CN" altLang="en-US" sz="3200"/>
              <a:t>第二级</a:t>
            </a:r>
            <a:endParaRPr lang="zh-CN" altLang="en-US" sz="3200"/>
          </a:p>
          <a:p>
            <a:pPr algn="ctr">
              <a:spcBef>
                <a:spcPct val="20000"/>
              </a:spcBef>
              <a:buClr>
                <a:schemeClr val="accent2"/>
              </a:buClr>
              <a:buSzPct val="80000"/>
              <a:buFont typeface="Wingdings" panose="05000000000000000000" pitchFamily="2" charset="2"/>
              <a:buNone/>
              <a:defRPr/>
            </a:pPr>
            <a:r>
              <a:rPr lang="zh-CN" altLang="en-US" sz="3200"/>
              <a:t>第三级</a:t>
            </a:r>
            <a:endParaRPr lang="zh-CN" altLang="en-US" sz="3200"/>
          </a:p>
          <a:p>
            <a:pPr algn="ctr">
              <a:spcBef>
                <a:spcPct val="20000"/>
              </a:spcBef>
              <a:buClr>
                <a:schemeClr val="accent2"/>
              </a:buClr>
              <a:buSzPct val="80000"/>
              <a:buFont typeface="Wingdings" panose="05000000000000000000" pitchFamily="2" charset="2"/>
              <a:buNone/>
              <a:defRPr/>
            </a:pPr>
            <a:r>
              <a:rPr lang="zh-CN" altLang="en-US" sz="3200"/>
              <a:t>第四级</a:t>
            </a:r>
            <a:endParaRPr lang="zh-CN" altLang="en-US" sz="3200"/>
          </a:p>
          <a:p>
            <a:pPr algn="ctr">
              <a:spcBef>
                <a:spcPct val="20000"/>
              </a:spcBef>
              <a:buClr>
                <a:schemeClr val="accent2"/>
              </a:buClr>
              <a:buSzPct val="80000"/>
              <a:buFont typeface="Wingdings" panose="05000000000000000000" pitchFamily="2" charset="2"/>
              <a:buNone/>
              <a:defRPr/>
            </a:pPr>
            <a:r>
              <a:rPr lang="zh-CN" altLang="en-US" sz="3200"/>
              <a:t>第五级</a:t>
            </a:r>
            <a:endParaRPr lang="zh-CN" altLang="en-US" sz="3200"/>
          </a:p>
        </p:txBody>
      </p:sp>
      <p:sp>
        <p:nvSpPr>
          <p:cNvPr id="5" name="Rectangle 9"/>
          <p:cNvSpPr>
            <a:spLocks noGrp="1" noChangeArrowheads="1"/>
          </p:cNvSpPr>
          <p:nvPr>
            <p:ph type="sldNum" sz="quarter" idx="10"/>
          </p:nvPr>
        </p:nvSpPr>
        <p:spPr bwMode="auto">
          <a:xfrm>
            <a:off x="7491442" y="6526236"/>
            <a:ext cx="1295400" cy="260350"/>
          </a:xfrm>
          <a:prstGeom prst="rect">
            <a:avLst/>
          </a:prstGeom>
          <a:ln>
            <a:miter lim="800000"/>
          </a:ln>
        </p:spPr>
        <p:txBody>
          <a:bodyPr vert="horz" wrap="square" lIns="92075" tIns="46038" rIns="92075" bIns="46038" numCol="1" anchor="ctr" anchorCtr="0" compatLnSpc="1"/>
          <a:lstStyle>
            <a:lvl1pPr>
              <a:spcBef>
                <a:spcPct val="0"/>
              </a:spcBef>
              <a:defRPr kumimoji="0" sz="2000" b="1">
                <a:solidFill>
                  <a:schemeClr val="bg2"/>
                </a:solidFill>
                <a:ea typeface="楷体_GB2312" pitchFamily="49" charset="-122"/>
              </a:defRPr>
            </a:lvl1pPr>
          </a:lstStyle>
          <a:p>
            <a:pPr>
              <a:defRPr/>
            </a:pPr>
            <a:r>
              <a:rPr lang="zh-CN" altLang="en-GB" dirty="0"/>
              <a:t>  </a:t>
            </a:r>
            <a:fld id="{A44D2DD6-1D0C-48F3-BDAC-C5568321E485}" type="slidenum">
              <a:rPr lang="zh-CN" altLang="en-GB" smtClean="0"/>
            </a:fld>
            <a:endParaRPr lang="en-US" altLang="zh-CN" dirty="0"/>
          </a:p>
        </p:txBody>
      </p:sp>
      <p:sp>
        <p:nvSpPr>
          <p:cNvPr id="6" name="Rectangle 9"/>
          <p:cNvSpPr txBox="1">
            <a:spLocks noChangeArrowheads="1"/>
          </p:cNvSpPr>
          <p:nvPr userDrawn="1"/>
        </p:nvSpPr>
        <p:spPr bwMode="auto">
          <a:xfrm>
            <a:off x="7858148" y="6597674"/>
            <a:ext cx="1295400" cy="260350"/>
          </a:xfrm>
          <a:prstGeom prst="rect">
            <a:avLst/>
          </a:prstGeom>
          <a:ln>
            <a:miter lim="800000"/>
          </a:ln>
        </p:spPr>
        <p:txBody>
          <a:bodyPr vert="horz" wrap="square" lIns="92075" tIns="46038" rIns="92075" bIns="46038" numCol="1" anchor="ctr" anchorCtr="0" compatLnSpc="1"/>
          <a:lstStyle>
            <a:lvl1pPr>
              <a:spcBef>
                <a:spcPct val="0"/>
              </a:spcBef>
              <a:defRPr kumimoji="0" sz="2000" b="1">
                <a:solidFill>
                  <a:schemeClr val="bg2"/>
                </a:solidFill>
                <a:ea typeface="楷体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GB" altLang="zh-CN" sz="2000" b="1" i="0" u="none" strike="noStrike" kern="1200" cap="none" spc="0" normalizeH="0" baseline="0" noProof="0" dirty="0" smtClean="0">
                <a:ln>
                  <a:noFill/>
                </a:ln>
                <a:solidFill>
                  <a:schemeClr val="bg2"/>
                </a:solidFill>
                <a:effectLst/>
                <a:uLnTx/>
                <a:uFillTx/>
                <a:latin typeface="Times New Roman" panose="02020603050405020304" pitchFamily="18" charset="0"/>
                <a:ea typeface="楷体_GB2312" pitchFamily="49" charset="-122"/>
                <a:cs typeface="+mn-cs"/>
              </a:rPr>
              <a:t>/</a:t>
            </a:r>
            <a:r>
              <a:rPr kumimoji="0" lang="en-US" altLang="zh-CN" sz="2000" b="1" i="0" u="none" strike="noStrike" kern="1200" cap="none" spc="0" normalizeH="0" baseline="0" noProof="0" dirty="0" smtClean="0">
                <a:ln>
                  <a:noFill/>
                </a:ln>
                <a:solidFill>
                  <a:schemeClr val="bg2"/>
                </a:solidFill>
                <a:effectLst/>
                <a:uLnTx/>
                <a:uFillTx/>
                <a:latin typeface="Times New Roman" panose="02020603050405020304" pitchFamily="18" charset="0"/>
                <a:ea typeface="楷体_GB2312" pitchFamily="49" charset="-122"/>
                <a:cs typeface="+mn-cs"/>
              </a:rPr>
              <a:t>5</a:t>
            </a:r>
            <a:r>
              <a:rPr kumimoji="0" lang="en-GB" altLang="zh-CN" sz="2000" b="1" i="0" u="none" strike="noStrike" kern="1200" cap="none" spc="0" normalizeH="0" baseline="0" noProof="0" dirty="0" smtClean="0">
                <a:ln>
                  <a:noFill/>
                </a:ln>
                <a:solidFill>
                  <a:schemeClr val="bg2"/>
                </a:solidFill>
                <a:effectLst/>
                <a:uLnTx/>
                <a:uFillTx/>
                <a:latin typeface="Times New Roman" panose="02020603050405020304" pitchFamily="18" charset="0"/>
                <a:ea typeface="楷体_GB2312" pitchFamily="49" charset="-122"/>
                <a:cs typeface="+mn-cs"/>
              </a:rPr>
              <a:t>2</a:t>
            </a:r>
            <a:endParaRPr kumimoji="0" lang="en-US" altLang="zh-CN" sz="2000" b="1" i="0" u="none" strike="noStrike" kern="1200" cap="none" spc="0" normalizeH="0" baseline="0" noProof="0" dirty="0">
              <a:ln>
                <a:noFill/>
              </a:ln>
              <a:solidFill>
                <a:schemeClr val="bg2"/>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p:rand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fld id="{595758D5-EC9D-4052-8E75-AABFA27E5229}" type="datetime7">
              <a:rPr lang="zh-CN" altLang="en-US"/>
            </a:fld>
            <a:endParaRPr lang="zh-CN" altLang="zh-CN"/>
          </a:p>
        </p:txBody>
      </p:sp>
    </p:spTree>
  </p:cSld>
  <p:clrMapOvr>
    <a:masterClrMapping/>
  </p:clrMapOvr>
  <p:transition>
    <p:rand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2648" y="228600"/>
            <a:ext cx="8153400" cy="990600"/>
          </a:xfrm>
        </p:spPr>
        <p:txBody>
          <a:bodyPr/>
          <a:lstStyle/>
          <a:p>
            <a:r>
              <a:rPr lang="zh-CN" altLang="en-US" smtClean="0"/>
              <a:t>单击此处编辑母版标题样式</a:t>
            </a:r>
            <a:endParaRPr lang="en-US"/>
          </a:p>
        </p:txBody>
      </p:sp>
      <p:sp>
        <p:nvSpPr>
          <p:cNvPr id="8" name="内容占位符 7"/>
          <p:cNvSpPr>
            <a:spLocks noGrp="1"/>
          </p:cNvSpPr>
          <p:nvPr>
            <p:ph sz="quarter" idx="1"/>
          </p:nvPr>
        </p:nvSpPr>
        <p:spPr>
          <a:xfrm>
            <a:off x="612648" y="1600200"/>
            <a:ext cx="8153400" cy="44958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lstStyle>
            <a:lvl1pPr algn="l">
              <a:defRPr/>
            </a:lvl1pPr>
          </a:lstStyle>
          <a:p>
            <a:pPr>
              <a:defRPr/>
            </a:pPr>
            <a:fld id="{4BA255B7-3A55-406D-92A9-F81CC2B8C18D}" type="datetimeFigureOut">
              <a:rPr lang="en-US"/>
            </a:fld>
            <a:endParaRPr lang="en-US"/>
          </a:p>
        </p:txBody>
      </p:sp>
      <p:sp>
        <p:nvSpPr>
          <p:cNvPr id="5" name="页脚占位符 4"/>
          <p:cNvSpPr>
            <a:spLocks noGrp="1"/>
          </p:cNvSpPr>
          <p:nvPr>
            <p:ph type="ftr" sz="quarter" idx="11"/>
          </p:nvPr>
        </p:nvSpPr>
        <p:spPr>
          <a:xfrm>
            <a:off x="609601" y="6248400"/>
            <a:ext cx="5421313" cy="364067"/>
          </a:xfrm>
          <a:prstGeom prst="rect">
            <a:avLst/>
          </a:prstGeom>
        </p:spPr>
        <p:txBody>
          <a:bodyPr/>
          <a:lstStyle>
            <a:lvl1pPr>
              <a:defRPr/>
            </a:lvl1pPr>
          </a:lstStyle>
          <a:p>
            <a:pPr>
              <a:defRPr/>
            </a:pPr>
            <a:r>
              <a:rPr lang="en-US" altLang="zh-CN"/>
              <a:t> chapter__5</a:t>
            </a:r>
            <a:endParaRPr lang="en-US" altLang="zh-CN"/>
          </a:p>
        </p:txBody>
      </p:sp>
      <p:sp>
        <p:nvSpPr>
          <p:cNvPr id="6" name="灯片编号占位符 5"/>
          <p:cNvSpPr>
            <a:spLocks noGrp="1"/>
          </p:cNvSpPr>
          <p:nvPr>
            <p:ph type="sldNum" sz="quarter" idx="12"/>
          </p:nvPr>
        </p:nvSpPr>
        <p:spPr>
          <a:xfrm>
            <a:off x="0" y="1272118"/>
            <a:ext cx="533400" cy="245533"/>
          </a:xfrm>
          <a:prstGeom prst="rect">
            <a:avLst/>
          </a:prstGeom>
        </p:spPr>
        <p:txBody>
          <a:bodyPr/>
          <a:lstStyle>
            <a:lvl1pPr>
              <a:defRPr>
                <a:solidFill>
                  <a:srgbClr val="FFFFFF"/>
                </a:solidFill>
              </a:defRPr>
            </a:lvl1pPr>
          </a:lstStyle>
          <a:p>
            <a:pPr>
              <a:defRPr/>
            </a:pPr>
            <a:fld id="{8F4B70B3-15A3-4B7F-B263-23E1ED736D9B}" type="slidenum">
              <a:rPr lang="en-US" altLang="zh-CN"/>
            </a:fld>
            <a:endParaRPr lang="en-US" altLang="zh-CN"/>
          </a:p>
        </p:txBody>
      </p:sp>
    </p:spTree>
  </p:cSld>
  <p:clrMapOvr>
    <a:masterClrMapping/>
  </p:clrMapOvr>
  <p:transition spd="med">
    <p:zoom dir="in"/>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78853" name="Rectangle 5"/>
          <p:cNvSpPr>
            <a:spLocks noGrp="1" noChangeArrowheads="1"/>
          </p:cNvSpPr>
          <p:nvPr>
            <p:ph type="title"/>
          </p:nvPr>
        </p:nvSpPr>
        <p:spPr bwMode="auto">
          <a:xfrm>
            <a:off x="685800" y="609600"/>
            <a:ext cx="7772400" cy="1143000"/>
          </a:xfrm>
          <a:prstGeom prst="rect">
            <a:avLst/>
          </a:prstGeom>
          <a:noFill/>
          <a:ln w="9525">
            <a:noFill/>
            <a:miter lim="800000"/>
          </a:ln>
          <a:effectLst/>
        </p:spPr>
        <p:txBody>
          <a:bodyPr vert="horz" wrap="square" lIns="92075" tIns="46038" rIns="92075" bIns="46038" numCol="1" anchor="ctr" anchorCtr="0" compatLnSpc="1"/>
          <a:lstStyle/>
          <a:p>
            <a:pPr lvl="0"/>
            <a:r>
              <a:rPr lang="zh-CN" altLang="en-US" smtClean="0"/>
              <a:t>单击此处编辑母版标题样式</a:t>
            </a:r>
            <a:endParaRPr lang="zh-CN" altLang="en-US" smtClean="0"/>
          </a:p>
        </p:txBody>
      </p:sp>
      <p:sp>
        <p:nvSpPr>
          <p:cNvPr id="78854" name="Rectangle 6"/>
          <p:cNvSpPr>
            <a:spLocks noGrp="1" noChangeArrowheads="1"/>
          </p:cNvSpPr>
          <p:nvPr>
            <p:ph type="dt" sz="half" idx="2"/>
          </p:nvPr>
        </p:nvSpPr>
        <p:spPr bwMode="auto">
          <a:xfrm>
            <a:off x="5940425" y="6021388"/>
            <a:ext cx="2662238" cy="720725"/>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kumimoji="0" sz="2400" b="1">
                <a:solidFill>
                  <a:schemeClr val="bg2"/>
                </a:solidFill>
              </a:defRPr>
            </a:lvl1pPr>
          </a:lstStyle>
          <a:p>
            <a:pPr>
              <a:defRPr/>
            </a:pPr>
            <a:fld id="{286B085C-0D02-464F-8BE2-FF83AD5D927C}" type="datetime7">
              <a:rPr lang="zh-CN" altLang="en-US"/>
            </a:fld>
            <a:endParaRPr lang="zh-CN"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Lst>
  <p:transition>
    <p:random/>
  </p:transition>
  <p:timing>
    <p:tnLst>
      <p:par>
        <p:cTn id="1" dur="indefinite" restart="never" nodeType="tmRoot"/>
      </p:par>
    </p:tnLst>
  </p:timing>
  <p:hf sldNum="0" hdr="0" ftr="0"/>
  <p:txStyles>
    <p:titleStyle>
      <a:lvl1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oleObject" Target="../embeddings/oleObject1.bin"/><Relationship Id="rId1"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1" cstate="print"/>
          <a:srcRect/>
          <a:stretch>
            <a:fillRect/>
          </a:stretch>
        </a:blipFill>
        <a:effectLst/>
      </p:bgPr>
    </p:bg>
    <p:spTree>
      <p:nvGrpSpPr>
        <p:cNvPr id="1" name=""/>
        <p:cNvGrpSpPr/>
        <p:nvPr/>
      </p:nvGrpSpPr>
      <p:grpSpPr>
        <a:xfrm>
          <a:off x="0" y="0"/>
          <a:ext cx="0" cy="0"/>
          <a:chOff x="0" y="0"/>
          <a:chExt cx="0" cy="0"/>
        </a:xfrm>
      </p:grpSpPr>
      <p:sp>
        <p:nvSpPr>
          <p:cNvPr id="172042" name="Text Box 2058"/>
          <p:cNvSpPr txBox="1">
            <a:spLocks noChangeArrowheads="1"/>
          </p:cNvSpPr>
          <p:nvPr/>
        </p:nvSpPr>
        <p:spPr bwMode="auto">
          <a:xfrm>
            <a:off x="4357688" y="4635500"/>
            <a:ext cx="4752975" cy="583565"/>
          </a:xfrm>
          <a:prstGeom prst="rect">
            <a:avLst/>
          </a:prstGeom>
          <a:noFill/>
          <a:ln w="9525" algn="ctr">
            <a:noFill/>
            <a:miter lim="800000"/>
          </a:ln>
          <a:effectLst/>
        </p:spPr>
        <p:txBody>
          <a:bodyPr>
            <a:spAutoFit/>
          </a:bodyPr>
          <a:lstStyle/>
          <a:p>
            <a:pPr>
              <a:defRPr/>
            </a:pPr>
            <a:r>
              <a:rPr lang="zh-CN" altLang="en-US" sz="3200" b="1"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rPr>
              <a:t>第七章 保证项目质量</a:t>
            </a:r>
            <a:endParaRPr lang="zh-CN" altLang="en-US" sz="3200" b="1"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endParaRPr>
          </a:p>
        </p:txBody>
      </p:sp>
      <p:cxnSp>
        <p:nvCxnSpPr>
          <p:cNvPr id="14" name="直接连接符 13"/>
          <p:cNvCxnSpPr/>
          <p:nvPr/>
        </p:nvCxnSpPr>
        <p:spPr bwMode="auto">
          <a:xfrm>
            <a:off x="0" y="712768"/>
            <a:ext cx="9144000" cy="1588"/>
          </a:xfrm>
          <a:prstGeom prst="line">
            <a:avLst/>
          </a:prstGeom>
          <a:solidFill>
            <a:schemeClr val="accent1"/>
          </a:solidFill>
          <a:ln w="114300" cap="flat" cmpd="dbl" algn="ctr">
            <a:solidFill>
              <a:srgbClr val="C00000"/>
            </a:solidFill>
            <a:prstDash val="solid"/>
            <a:round/>
            <a:headEnd type="none" w="med" len="med"/>
            <a:tailEnd type="none" w="med" len="med"/>
          </a:ln>
          <a:effectLst/>
        </p:spPr>
      </p:cxnSp>
      <p:grpSp>
        <p:nvGrpSpPr>
          <p:cNvPr id="16" name="组合 10"/>
          <p:cNvGrpSpPr/>
          <p:nvPr/>
        </p:nvGrpSpPr>
        <p:grpSpPr bwMode="auto">
          <a:xfrm>
            <a:off x="3857625" y="2286000"/>
            <a:ext cx="5072063" cy="1943417"/>
            <a:chOff x="3857620" y="2071678"/>
            <a:chExt cx="5072066" cy="1944236"/>
          </a:xfrm>
        </p:grpSpPr>
        <p:sp>
          <p:nvSpPr>
            <p:cNvPr id="17" name="Rectangle 2055"/>
            <p:cNvSpPr>
              <a:spLocks noChangeArrowheads="1"/>
            </p:cNvSpPr>
            <p:nvPr/>
          </p:nvSpPr>
          <p:spPr bwMode="auto">
            <a:xfrm>
              <a:off x="4358000" y="2071678"/>
              <a:ext cx="4313558" cy="922408"/>
            </a:xfrm>
            <a:prstGeom prst="rect">
              <a:avLst/>
            </a:prstGeom>
            <a:noFill/>
            <a:ln w="9525">
              <a:noFill/>
              <a:miter lim="800000"/>
            </a:ln>
            <a:effectLst>
              <a:outerShdw blurRad="50800" dist="50800" dir="5400000" algn="ctr" rotWithShape="0">
                <a:srgbClr val="EAEAEA"/>
              </a:outerShdw>
            </a:effectLst>
          </p:spPr>
          <p:txBody>
            <a:bodyPr wrap="square">
              <a:spAutoFit/>
            </a:bodyPr>
            <a:lstStyle/>
            <a:p>
              <a:pPr algn="l">
                <a:spcBef>
                  <a:spcPct val="55000"/>
                </a:spcBef>
                <a:defRPr/>
              </a:pPr>
              <a:r>
                <a:rPr lang="en-US" altLang="zh-CN" sz="5400" b="1" spc="800" dirty="0">
                  <a:solidFill>
                    <a:schemeClr val="bg2"/>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IT</a:t>
              </a:r>
              <a:r>
                <a:rPr lang="zh-CN" altLang="en-US" sz="5400" b="1" spc="8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项目管理</a:t>
              </a:r>
              <a:endParaRPr lang="zh-CN" altLang="en-US" sz="5400" b="1" spc="8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8" name="矩形 17"/>
            <p:cNvSpPr/>
            <p:nvPr/>
          </p:nvSpPr>
          <p:spPr>
            <a:xfrm>
              <a:off x="3857620" y="3000757"/>
              <a:ext cx="5072066" cy="1015157"/>
            </a:xfrm>
            <a:prstGeom prst="rect">
              <a:avLst/>
            </a:prstGeom>
          </p:spPr>
          <p:txBody>
            <a:bodyPr>
              <a:spAutoFit/>
            </a:bodyPr>
            <a:lstStyle/>
            <a:p>
              <a:pPr algn="ctr">
                <a:defRPr/>
              </a:pPr>
              <a:r>
                <a:rPr lang="en-US" altLang="zh-CN"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Information    Technology  </a:t>
              </a:r>
              <a:endParaRPr lang="en-US" altLang="zh-CN"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a:p>
              <a:pPr algn="ctr">
                <a:defRPr/>
              </a:pPr>
              <a:r>
                <a:rPr lang="en-US" altLang="zh-CN"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  Project   Management</a:t>
              </a:r>
              <a:endPar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9"/>
          <p:cNvSpPr>
            <a:spLocks noGrp="1" noChangeArrowheads="1"/>
          </p:cNvSpPr>
          <p:nvPr>
            <p:ph type="sldNum" sz="quarter" idx="10"/>
          </p:nvPr>
        </p:nvSpPr>
        <p:spPr>
          <a:noFill/>
        </p:spPr>
        <p:txBody>
          <a:bodyPr/>
          <a:lstStyle/>
          <a:p>
            <a:r>
              <a:rPr lang="zh-CN" altLang="en-GB" dirty="0" smtClean="0"/>
              <a:t>  </a:t>
            </a:r>
            <a:fld id="{C0C8F759-49C4-4481-8D86-693037699128}" type="slidenum">
              <a:rPr lang="zh-CN" altLang="en-GB" smtClean="0"/>
            </a:fld>
            <a:endParaRPr lang="en-US" altLang="zh-CN" dirty="0" smtClean="0"/>
          </a:p>
        </p:txBody>
      </p:sp>
      <p:sp>
        <p:nvSpPr>
          <p:cNvPr id="5148" name="Text Box 5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P.130</a:t>
            </a:r>
            <a:endParaRPr lang="en-US" altLang="zh-CN" sz="2400" b="1">
              <a:solidFill>
                <a:schemeClr val="bg2"/>
              </a:solidFill>
            </a:endParaRPr>
          </a:p>
        </p:txBody>
      </p:sp>
      <p:sp>
        <p:nvSpPr>
          <p:cNvPr id="5177" name="Rectangle 122"/>
          <p:cNvSpPr>
            <a:spLocks noChangeArrowheads="1"/>
          </p:cNvSpPr>
          <p:nvPr/>
        </p:nvSpPr>
        <p:spPr bwMode="auto">
          <a:xfrm>
            <a:off x="103189" y="620713"/>
            <a:ext cx="2682862" cy="553085"/>
          </a:xfrm>
          <a:prstGeom prst="rect">
            <a:avLst/>
          </a:prstGeom>
          <a:noFill/>
          <a:ln w="9525">
            <a:noFill/>
            <a:miter lim="800000"/>
          </a:ln>
        </p:spPr>
        <p:txBody>
          <a:bodyPr wrap="square">
            <a:spAutoFit/>
          </a:bodyPr>
          <a:lstStyle/>
          <a:p>
            <a:pPr algn="l">
              <a:spcBef>
                <a:spcPct val="0"/>
              </a:spcBef>
            </a:pPr>
            <a:r>
              <a:rPr kumimoji="0" lang="en-US" altLang="zh-CN" sz="3000" b="1">
                <a:latin typeface="Arial" panose="020B0604020202020204" pitchFamily="34" charset="0"/>
              </a:rPr>
              <a:t>【</a:t>
            </a:r>
            <a:r>
              <a:rPr kumimoji="0" lang="zh-CN" altLang="en-US" sz="3000" b="1">
                <a:latin typeface="楷体" panose="02010609060101010101" pitchFamily="49" charset="-122"/>
                <a:ea typeface="楷体" panose="02010609060101010101" pitchFamily="49" charset="-122"/>
              </a:rPr>
              <a:t>课程回顾</a:t>
            </a:r>
            <a:r>
              <a:rPr kumimoji="0" lang="en-US" altLang="zh-CN" sz="3000" b="1">
                <a:latin typeface="Arial" panose="020B0604020202020204" pitchFamily="34" charset="0"/>
              </a:rPr>
              <a:t>】</a:t>
            </a:r>
            <a:endParaRPr kumimoji="0" lang="en-US" altLang="zh-CN" sz="3000" b="1">
              <a:latin typeface="Arial" panose="020B0604020202020204" pitchFamily="34" charset="0"/>
            </a:endParaRPr>
          </a:p>
        </p:txBody>
      </p:sp>
      <p:pic>
        <p:nvPicPr>
          <p:cNvPr id="6" name="Picture 2"/>
          <p:cNvPicPr>
            <a:picLocks noChangeAspect="1" noChangeArrowheads="1"/>
          </p:cNvPicPr>
          <p:nvPr/>
        </p:nvPicPr>
        <p:blipFill>
          <a:blip r:embed="rId1"/>
          <a:srcRect/>
          <a:stretch>
            <a:fillRect/>
          </a:stretch>
        </p:blipFill>
        <p:spPr bwMode="auto">
          <a:xfrm>
            <a:off x="0" y="1484784"/>
            <a:ext cx="9144000" cy="5373216"/>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1126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1126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smtClean="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642941" y="1550150"/>
            <a:ext cx="6429389" cy="4092575"/>
          </a:xfrm>
          <a:prstGeom prst="rect">
            <a:avLst/>
          </a:prstGeom>
          <a:noFill/>
          <a:ln w="9525">
            <a:noFill/>
            <a:miter lim="800000"/>
          </a:ln>
        </p:spPr>
        <p:txBody>
          <a:bodyPr wrap="square">
            <a:spAutoFit/>
          </a:bodyPr>
          <a:lstStyle/>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FF0000"/>
                </a:solidFill>
                <a:latin typeface="楷体" panose="02010609060101010101" pitchFamily="49" charset="-122"/>
                <a:ea typeface="楷体" panose="02010609060101010101" pitchFamily="49" charset="-122"/>
              </a:rPr>
              <a:t>质量管理概述</a:t>
            </a:r>
            <a:endParaRPr lang="en-US" altLang="en-US" sz="4800" b="1" dirty="0" err="1">
              <a:solidFill>
                <a:srgbClr val="C00000"/>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质量管理方法与体系</a:t>
            </a:r>
            <a:endParaRPr lang="en-US" altLang="en-US" sz="4800" b="1" dirty="0" err="1">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规划质量</a:t>
            </a:r>
            <a:r>
              <a:rPr lang="zh-CN" altLang="en-US" sz="4800" b="1" smtClean="0">
                <a:solidFill>
                  <a:srgbClr val="0000FF"/>
                </a:solidFill>
                <a:latin typeface="楷体" panose="02010609060101010101" pitchFamily="49" charset="-122"/>
                <a:ea typeface="楷体" panose="02010609060101010101" pitchFamily="49" charset="-122"/>
              </a:rPr>
              <a:t>管理</a:t>
            </a:r>
            <a:endParaRPr lang="en-US" altLang="en-US" sz="4800" b="1" dirty="0">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zh-CN" altLang="en-US" sz="4800" b="1" smtClean="0">
                <a:solidFill>
                  <a:srgbClr val="0000FF"/>
                </a:solidFill>
                <a:latin typeface="楷体" panose="02010609060101010101" pitchFamily="49" charset="-122"/>
                <a:ea typeface="楷体" panose="02010609060101010101" pitchFamily="49" charset="-122"/>
              </a:rPr>
              <a:t>实施</a:t>
            </a:r>
            <a:r>
              <a:rPr lang="en-US" altLang="en-US" sz="4800" b="1" smtClean="0">
                <a:solidFill>
                  <a:srgbClr val="0000FF"/>
                </a:solidFill>
                <a:latin typeface="楷体" panose="02010609060101010101" pitchFamily="49" charset="-122"/>
                <a:ea typeface="楷体" panose="02010609060101010101" pitchFamily="49" charset="-122"/>
              </a:rPr>
              <a:t>质量保证</a:t>
            </a:r>
            <a:endParaRPr lang="en-US" altLang="en-US" sz="4800" b="1" dirty="0" smtClean="0">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控制项目质量</a:t>
            </a:r>
            <a:endParaRPr lang="en-US" altLang="en-US" sz="4800" b="1" dirty="0" smtClean="0">
              <a:solidFill>
                <a:srgbClr val="0000FF"/>
              </a:solidFill>
              <a:latin typeface="楷体" panose="02010609060101010101" pitchFamily="49" charset="-122"/>
              <a:ea typeface="楷体" panose="02010609060101010101" pitchFamily="49" charset="-122"/>
            </a:endParaRPr>
          </a:p>
        </p:txBody>
      </p:sp>
      <p:sp>
        <p:nvSpPr>
          <p:cNvPr id="8" name="Rectangle 9"/>
          <p:cNvSpPr>
            <a:spLocks noGrp="1" noChangeArrowheads="1"/>
          </p:cNvSpPr>
          <p:nvPr>
            <p:ph type="sldNum" sz="quarter" idx="10"/>
          </p:nvPr>
        </p:nvSpPr>
        <p:spPr>
          <a:xfrm>
            <a:off x="7813675" y="6553200"/>
            <a:ext cx="1295400" cy="260350"/>
          </a:xfrm>
          <a:noFill/>
        </p:spPr>
        <p:txBody>
          <a:bodyPr/>
          <a:lstStyle/>
          <a:p>
            <a:r>
              <a:rPr lang="zh-CN" altLang="en-GB" dirty="0" smtClean="0"/>
              <a:t>  </a:t>
            </a:r>
            <a:fld id="{31A84629-0BF0-41BE-B0BE-8D9C0EDC15A0}" type="slidenum">
              <a:rPr lang="zh-CN" altLang="en-GB" smtClean="0"/>
            </a:fld>
            <a:endParaRPr lang="en-US" altLang="zh-CN" dirty="0" smtClean="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dirty="0" smtClean="0"/>
              <a:t>  </a:t>
            </a:r>
            <a:fld id="{0E2E78C6-CDD7-4D79-9DC6-D6F39D85935B}" type="slidenum">
              <a:rPr lang="zh-CN" altLang="en-GB" smtClean="0"/>
            </a:fld>
            <a:endParaRPr lang="en-US" altLang="zh-CN" dirty="0" smtClean="0"/>
          </a:p>
        </p:txBody>
      </p:sp>
      <p:sp>
        <p:nvSpPr>
          <p:cNvPr id="8195"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spcBef>
                <a:spcPct val="0"/>
              </a:spcBef>
            </a:pPr>
            <a:endParaRPr lang="en-US" altLang="zh-CN" sz="4000">
              <a:solidFill>
                <a:schemeClr val="bg2"/>
              </a:solidFill>
            </a:endParaRPr>
          </a:p>
        </p:txBody>
      </p:sp>
      <p:sp>
        <p:nvSpPr>
          <p:cNvPr id="855044" name="Text Box 4"/>
          <p:cNvSpPr txBox="1">
            <a:spLocks noChangeArrowheads="1"/>
          </p:cNvSpPr>
          <p:nvPr/>
        </p:nvSpPr>
        <p:spPr bwMode="auto">
          <a:xfrm>
            <a:off x="-32" y="1357298"/>
            <a:ext cx="9144032" cy="5648960"/>
          </a:xfrm>
          <a:prstGeom prst="rect">
            <a:avLst/>
          </a:prstGeom>
          <a:noFill/>
          <a:ln w="28575">
            <a:noFill/>
            <a:miter lim="800000"/>
          </a:ln>
        </p:spPr>
        <p:txBody>
          <a:bodyPr wrap="square">
            <a:spAutoFit/>
          </a:bodyPr>
          <a:lstStyle/>
          <a:p>
            <a:pPr marL="171450" indent="5080" algn="l">
              <a:spcBef>
                <a:spcPct val="30000"/>
              </a:spcBef>
              <a:buClr>
                <a:schemeClr val="bg1"/>
              </a:buClr>
            </a:pP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许多关于</a:t>
            </a:r>
            <a:r>
              <a:rPr lang="en-US" sz="2400" b="1" smtClean="0">
                <a:solidFill>
                  <a:schemeClr val="bg1"/>
                </a:solidFill>
                <a:ea typeface="楷体" panose="02010609060101010101" pitchFamily="49" charset="-122"/>
                <a:cs typeface="Times New Roman" panose="02020603050405020304" pitchFamily="18" charset="0"/>
              </a:rPr>
              <a:t>IT</a:t>
            </a: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项目质量低劣</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的新闻标题表明，在</a:t>
            </a:r>
            <a:r>
              <a:rPr lang="en-US" sz="2400" b="1" smtClean="0">
                <a:solidFill>
                  <a:schemeClr val="bg2"/>
                </a:solidFill>
                <a:ea typeface="楷体" panose="02010609060101010101" pitchFamily="49" charset="-122"/>
                <a:cs typeface="Times New Roman" panose="02020603050405020304" pitchFamily="18" charset="0"/>
              </a:rPr>
              <a:t>IT</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项目中质量是个非常严重的问题。</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71450" indent="5080" algn="l">
              <a:spcBef>
                <a:spcPct val="30000"/>
              </a:spcBef>
              <a:buClr>
                <a:schemeClr val="bg1"/>
              </a:buClr>
            </a:pP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许多</a:t>
            </a:r>
            <a:r>
              <a:rPr lang="en-US" sz="2400" b="1" smtClean="0">
                <a:solidFill>
                  <a:schemeClr val="bg2"/>
                </a:solidFill>
                <a:ea typeface="楷体" panose="02010609060101010101" pitchFamily="49" charset="-122"/>
                <a:cs typeface="Times New Roman" panose="02020603050405020304" pitchFamily="18" charset="0"/>
              </a:rPr>
              <a:t>IT</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项目开发的系统应用在</a:t>
            </a: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生死攸关的场合</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，有一些关键的</a:t>
            </a:r>
            <a:r>
              <a:rPr lang="en-US" sz="2400" b="1" smtClean="0">
                <a:solidFill>
                  <a:schemeClr val="bg2"/>
                </a:solidFill>
                <a:ea typeface="楷体" panose="02010609060101010101" pitchFamily="49" charset="-122"/>
                <a:cs typeface="Times New Roman" panose="02020603050405020304" pitchFamily="18" charset="0"/>
              </a:rPr>
              <a:t>IT</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系统甚至导致了</a:t>
            </a: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人员伤亡</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，许多商务系统中的质量问题导致了</a:t>
            </a: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重大财政损失</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28650" lvl="1" indent="5080" algn="l">
              <a:spcBef>
                <a:spcPts val="1200"/>
              </a:spcBef>
              <a:buClr>
                <a:srgbClr val="0000FF"/>
              </a:buClr>
              <a:buFont typeface="Wingdings" panose="05000000000000000000" pitchFamily="2" charset="2"/>
              <a:buChar char="n"/>
            </a:pPr>
            <a:r>
              <a:rPr kumimoji="0" lang="en-US" altLang="zh-CN" b="1" smtClean="0">
                <a:solidFill>
                  <a:schemeClr val="bg2"/>
                </a:solidFill>
                <a:ea typeface="楷体" panose="02010609060101010101" pitchFamily="49" charset="-122"/>
                <a:cs typeface="Times New Roman" panose="02020603050405020304" pitchFamily="18" charset="0"/>
              </a:rPr>
              <a:t>1963</a:t>
            </a:r>
            <a:r>
              <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年美国探测火箭的</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爆炸</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kumimoji="0" lang="en-US" altLang="zh-CN"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28650" lvl="1" indent="5080" algn="l">
              <a:spcBef>
                <a:spcPts val="0"/>
              </a:spcBef>
              <a:buClr>
                <a:srgbClr val="0000FF"/>
              </a:buClr>
              <a:buFont typeface="Wingdings" panose="05000000000000000000" pitchFamily="2" charset="2"/>
              <a:buChar char="n"/>
            </a:pPr>
            <a:r>
              <a:rPr kumimoji="0" lang="en-US" altLang="en-US" b="1" smtClean="0">
                <a:solidFill>
                  <a:schemeClr val="bg2"/>
                </a:solidFill>
                <a:ea typeface="楷体" panose="02010609060101010101" pitchFamily="49" charset="-122"/>
                <a:cs typeface="Times New Roman" panose="02020603050405020304" pitchFamily="18" charset="0"/>
              </a:rPr>
              <a:t>1981</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年美国航天飞机</a:t>
            </a:r>
            <a:r>
              <a:rPr kumimoji="0" lang="zh-CN" altLang="en-US" b="1"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发射失败。</a:t>
            </a:r>
            <a:endParaRPr kumimoji="0" lang="zh-CN" altLang="en-US" b="1"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28650" lvl="1" indent="5080" algn="l">
              <a:spcBef>
                <a:spcPts val="0"/>
              </a:spcBef>
              <a:buClr>
                <a:srgbClr val="0000FF"/>
              </a:buClr>
              <a:buFont typeface="Wingdings" panose="05000000000000000000" pitchFamily="2" charset="2"/>
              <a:buChar char="n"/>
            </a:pPr>
            <a:r>
              <a:rPr kumimoji="0" lang="en-US" altLang="zh-CN" b="1" smtClean="0">
                <a:solidFill>
                  <a:schemeClr val="bg2"/>
                </a:solidFill>
                <a:ea typeface="楷体" panose="02010609060101010101" pitchFamily="49" charset="-122"/>
                <a:cs typeface="Times New Roman" panose="02020603050405020304" pitchFamily="18" charset="0"/>
              </a:rPr>
              <a:t>1986</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年</a:t>
            </a:r>
            <a:r>
              <a:rPr kumimoji="0" lang="en-US" altLang="zh-CN" b="1" smtClean="0">
                <a:solidFill>
                  <a:schemeClr val="bg2"/>
                </a:solidFill>
                <a:ea typeface="楷体" panose="02010609060101010101" pitchFamily="49" charset="-122"/>
                <a:cs typeface="Times New Roman" panose="02020603050405020304" pitchFamily="18" charset="0"/>
              </a:rPr>
              <a:t>Therac25</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放射治疗仪泄露致命剂量的辐射。</a:t>
            </a:r>
            <a:endPar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28650" lvl="1" indent="5080" algn="l">
              <a:spcBef>
                <a:spcPts val="0"/>
              </a:spcBef>
              <a:buClr>
                <a:srgbClr val="0000FF"/>
              </a:buClr>
              <a:buFont typeface="Wingdings" panose="05000000000000000000" pitchFamily="2" charset="2"/>
              <a:buChar char="n"/>
            </a:pPr>
            <a:r>
              <a:rPr kumimoji="0" lang="en-US" altLang="zh-CN" b="1" dirty="0">
                <a:solidFill>
                  <a:schemeClr val="bg2"/>
                </a:solidFill>
                <a:ea typeface="楷体" panose="02010609060101010101" pitchFamily="49" charset="-122"/>
                <a:cs typeface="Times New Roman" panose="02020603050405020304" pitchFamily="18" charset="0"/>
              </a:rPr>
              <a:t>1993</a:t>
            </a:r>
            <a:r>
              <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年伦敦附近核电站的反应堆温度控制失灵。  </a:t>
            </a:r>
            <a:endPar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28650" lvl="1" indent="5080" algn="l">
              <a:spcBef>
                <a:spcPts val="0"/>
              </a:spcBef>
              <a:buClr>
                <a:srgbClr val="0000FF"/>
              </a:buClr>
              <a:buFont typeface="Wingdings" panose="05000000000000000000" pitchFamily="2" charset="2"/>
              <a:buChar char="n"/>
            </a:pPr>
            <a:r>
              <a:rPr kumimoji="0" lang="en-US" altLang="zh-CN" b="1" dirty="0">
                <a:solidFill>
                  <a:schemeClr val="bg2"/>
                </a:solidFill>
                <a:ea typeface="楷体" panose="02010609060101010101" pitchFamily="49" charset="-122"/>
                <a:cs typeface="Times New Roman" panose="02020603050405020304" pitchFamily="18" charset="0"/>
              </a:rPr>
              <a:t>1997</a:t>
            </a:r>
            <a:r>
              <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年香港新建机场第一天出现严重</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混乱</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kumimoji="0" lang="en-US" altLang="zh-CN"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28650" lvl="1" indent="5080" algn="l">
              <a:spcBef>
                <a:spcPts val="0"/>
              </a:spcBef>
              <a:buClr>
                <a:srgbClr val="0000FF"/>
              </a:buClr>
              <a:buFont typeface="Wingdings" panose="05000000000000000000" pitchFamily="2" charset="2"/>
              <a:buChar char="n"/>
            </a:pPr>
            <a:r>
              <a:rPr kumimoji="0" lang="en-US" altLang="en-US" b="1" smtClean="0">
                <a:solidFill>
                  <a:schemeClr val="bg2"/>
                </a:solidFill>
                <a:ea typeface="楷体" panose="02010609060101010101" pitchFamily="49" charset="-122"/>
                <a:cs typeface="Times New Roman" panose="02020603050405020304" pitchFamily="18" charset="0"/>
              </a:rPr>
              <a:t>1997</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年信息</a:t>
            </a:r>
            <a:r>
              <a:rPr kumimoji="0" lang="zh-CN" altLang="en-US" b="1"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界开始拉起了</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“千年虫”警钟。</a:t>
            </a:r>
            <a:endPar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28650" lvl="1" indent="5080" algn="l">
              <a:spcBef>
                <a:spcPts val="0"/>
              </a:spcBef>
              <a:buClr>
                <a:srgbClr val="0000FF"/>
              </a:buClr>
              <a:buFont typeface="Wingdings" panose="05000000000000000000" pitchFamily="2" charset="2"/>
              <a:buChar char="n"/>
            </a:pPr>
            <a:r>
              <a:rPr kumimoji="0" lang="en-US" altLang="zh-CN" b="1">
                <a:solidFill>
                  <a:schemeClr val="bg2"/>
                </a:solidFill>
                <a:ea typeface="楷体" panose="02010609060101010101" pitchFamily="49" charset="-122"/>
                <a:cs typeface="Times New Roman" panose="02020603050405020304" pitchFamily="18" charset="0"/>
              </a:rPr>
              <a:t>2005</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年股票</a:t>
            </a:r>
            <a:r>
              <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交易系统发生大规模</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系统故障</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kumimoji="0" lang="en-US" altLang="zh-CN"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28650" lvl="1" indent="5080" algn="l">
              <a:spcBef>
                <a:spcPts val="0"/>
              </a:spcBef>
              <a:buClr>
                <a:srgbClr val="0000FF"/>
              </a:buClr>
              <a:buFont typeface="Wingdings" panose="05000000000000000000" pitchFamily="2" charset="2"/>
              <a:buChar char="n"/>
            </a:pPr>
            <a:r>
              <a:rPr kumimoji="0" lang="en-US" altLang="zh-CN" b="1" smtClean="0">
                <a:solidFill>
                  <a:schemeClr val="bg2"/>
                </a:solidFill>
                <a:ea typeface="楷体" panose="02010609060101010101" pitchFamily="49" charset="-122"/>
                <a:cs typeface="Times New Roman" panose="02020603050405020304" pitchFamily="18" charset="0"/>
              </a:rPr>
              <a:t>2011</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年</a:t>
            </a:r>
            <a:r>
              <a:rPr kumimoji="0" lang="en-US" altLang="zh-CN" b="1" smtClean="0">
                <a:solidFill>
                  <a:schemeClr val="bg2"/>
                </a:solidFill>
                <a:ea typeface="楷体" panose="02010609060101010101" pitchFamily="49" charset="-122"/>
                <a:cs typeface="Times New Roman" panose="02020603050405020304" pitchFamily="18" charset="0"/>
              </a:rPr>
              <a:t>D301</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动车与</a:t>
            </a:r>
            <a:r>
              <a:rPr kumimoji="0" lang="en-US" altLang="zh-CN" b="1" smtClean="0">
                <a:solidFill>
                  <a:schemeClr val="bg2"/>
                </a:solidFill>
                <a:ea typeface="楷体" panose="02010609060101010101" pitchFamily="49" charset="-122"/>
                <a:cs typeface="Times New Roman" panose="02020603050405020304" pitchFamily="18" charset="0"/>
              </a:rPr>
              <a:t>D3115</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动车的追尾。</a:t>
            </a:r>
            <a:endParaRPr kumimoji="0" lang="zh-CN" altLang="en-US" b="1" dirty="0"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8197" name="Text Box 27"/>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P.153</a:t>
            </a:r>
            <a:endParaRPr lang="en-US" altLang="zh-CN" sz="2400" b="1">
              <a:solidFill>
                <a:schemeClr val="bg2"/>
              </a:solidFill>
            </a:endParaRPr>
          </a:p>
        </p:txBody>
      </p:sp>
      <p:sp>
        <p:nvSpPr>
          <p:cNvPr id="8198" name="Rectangle 29"/>
          <p:cNvSpPr>
            <a:spLocks noChangeArrowheads="1"/>
          </p:cNvSpPr>
          <p:nvPr/>
        </p:nvSpPr>
        <p:spPr bwMode="auto">
          <a:xfrm>
            <a:off x="103188" y="620713"/>
            <a:ext cx="5405437" cy="553998"/>
          </a:xfrm>
          <a:prstGeom prst="rect">
            <a:avLst/>
          </a:prstGeom>
          <a:noFill/>
          <a:ln w="9525">
            <a:noFill/>
            <a:miter lim="800000"/>
          </a:ln>
        </p:spPr>
        <p:txBody>
          <a:bodyPr>
            <a:spAutoFit/>
          </a:bodyPr>
          <a:lstStyle/>
          <a:p>
            <a:pPr algn="l">
              <a:spcBef>
                <a:spcPct val="0"/>
              </a:spcBef>
            </a:pPr>
            <a:r>
              <a:rPr kumimoji="0" lang="en-US" altLang="en-US" sz="3000" b="1" dirty="0"/>
              <a:t>【案例7-1</a:t>
            </a:r>
            <a:r>
              <a:rPr kumimoji="0" lang="en-US" altLang="en-US" sz="3000" b="1" dirty="0" smtClean="0"/>
              <a:t>】</a:t>
            </a:r>
            <a:r>
              <a:rPr kumimoji="0" lang="zh-CN" altLang="en-US" sz="3000" b="1" dirty="0" smtClean="0"/>
              <a:t>软件质量问题</a:t>
            </a:r>
            <a:endParaRPr kumimoji="0" lang="en-US" altLang="en-US" sz="30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504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5504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5504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5504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504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5504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55044">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5504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标题 1"/>
          <p:cNvSpPr>
            <a:spLocks noGrp="1"/>
          </p:cNvSpPr>
          <p:nvPr>
            <p:ph type="title"/>
          </p:nvPr>
        </p:nvSpPr>
        <p:spPr>
          <a:xfrm>
            <a:off x="179389" y="494184"/>
            <a:ext cx="8586787" cy="990600"/>
          </a:xfrm>
        </p:spPr>
        <p:txBody>
          <a:bodyPr anchor="t">
            <a:normAutofit/>
          </a:bodyPr>
          <a:lstStyle/>
          <a:p>
            <a:pPr eaLnBrk="1" fontAlgn="auto" hangingPunct="1">
              <a:spcAft>
                <a:spcPts val="0"/>
              </a:spcAft>
              <a:defRPr/>
            </a:pPr>
            <a:r>
              <a:rPr lang="zh-CN" altLang="en-US" dirty="0" smtClean="0">
                <a:latin typeface="楷体" panose="02010609060101010101" pitchFamily="49" charset="-122"/>
                <a:ea typeface="楷体" panose="02010609060101010101" pitchFamily="49" charset="-122"/>
                <a:cs typeface="楷体" panose="02010609060101010101" pitchFamily="49" charset="-122"/>
              </a:rPr>
              <a:t>案例</a:t>
            </a:r>
            <a:r>
              <a:rPr lang="en-US" altLang="zh-CN" dirty="0" smtClean="0">
                <a:latin typeface="楷体" panose="02010609060101010101" pitchFamily="49" charset="-122"/>
                <a:ea typeface="楷体" panose="02010609060101010101" pitchFamily="49" charset="-122"/>
                <a:cs typeface="楷体" panose="02010609060101010101" pitchFamily="49" charset="-122"/>
              </a:rPr>
              <a:t>:</a:t>
            </a:r>
            <a:r>
              <a:rPr lang="zh-CN" altLang="en-US" dirty="0" smtClean="0">
                <a:latin typeface="楷体" panose="02010609060101010101" pitchFamily="49" charset="-122"/>
                <a:ea typeface="楷体" panose="02010609060101010101" pitchFamily="49" charset="-122"/>
                <a:cs typeface="楷体" panose="02010609060101010101" pitchFamily="49" charset="-122"/>
              </a:rPr>
              <a:t>证券最大乌龙指</a:t>
            </a:r>
            <a:r>
              <a:rPr lang="en-US" altLang="zh-CN" dirty="0" smtClean="0">
                <a:latin typeface="楷体" panose="02010609060101010101" pitchFamily="49" charset="-122"/>
                <a:ea typeface="楷体" panose="02010609060101010101" pitchFamily="49" charset="-122"/>
                <a:cs typeface="楷体" panose="02010609060101010101" pitchFamily="49" charset="-122"/>
              </a:rPr>
              <a: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2013.8.16</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411" name="页脚占位符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r>
              <a:rPr lang="en-US" altLang="zh-CN" sz="1400" smtClean="0"/>
              <a:t> chapter__0</a:t>
            </a:r>
            <a:endParaRPr lang="en-US" altLang="zh-CN" sz="1400" smtClean="0"/>
          </a:p>
        </p:txBody>
      </p:sp>
      <p:sp>
        <p:nvSpPr>
          <p:cNvPr id="17412" name="灯片编号占位符 4"/>
          <p:cNvSpPr>
            <a:spLocks noGrp="1"/>
          </p:cNvSpPr>
          <p:nvPr>
            <p:ph type="sldNum" sz="quarter" idx="12"/>
          </p:nvPr>
        </p:nvSpPr>
        <p:spPr/>
        <p:txBody>
          <a:bodyPr>
            <a:normAutofit fontScale="85000" lnSpcReduction="20000"/>
          </a:bodyPr>
          <a:lstStyle>
            <a:lvl1pPr eaLnBrk="0" hangingPunct="0">
              <a:spcBef>
                <a:spcPct val="20000"/>
              </a:spcBef>
              <a:buClr>
                <a:srgbClr val="FF0000"/>
              </a:buClr>
              <a:buSzPct val="55000"/>
              <a:buFont typeface="Monotype Sorts" charset="0"/>
              <a:buChar char="n"/>
              <a:defRPr kumimoji="1" sz="2800">
                <a:solidFill>
                  <a:schemeClr val="bg2"/>
                </a:solidFill>
                <a:latin typeface="Arial Narrow" panose="020B0606020202030204" pitchFamily="34" charset="0"/>
                <a:ea typeface="宋体" panose="02010600030101010101" pitchFamily="2" charset="-122"/>
              </a:defRPr>
            </a:lvl1pPr>
            <a:lvl2pPr marL="742950" indent="-285750" eaLnBrk="0" hangingPunct="0">
              <a:spcBef>
                <a:spcPct val="20000"/>
              </a:spcBef>
              <a:buClr>
                <a:srgbClr val="FFAF39"/>
              </a:buClr>
              <a:buSzPct val="55000"/>
              <a:buFont typeface="Monotype Sorts" charset="0"/>
              <a:buChar char="l"/>
              <a:defRPr kumimoji="1" sz="2600">
                <a:solidFill>
                  <a:schemeClr val="bg2"/>
                </a:solidFill>
                <a:latin typeface="Arial Narrow" panose="020B0606020202030204" pitchFamily="34" charset="0"/>
                <a:ea typeface="宋体" panose="02010600030101010101" pitchFamily="2" charset="-122"/>
              </a:defRPr>
            </a:lvl2pPr>
            <a:lvl3pPr marL="1143000" indent="-228600" eaLnBrk="0" hangingPunct="0">
              <a:spcBef>
                <a:spcPct val="20000"/>
              </a:spcBef>
              <a:buClr>
                <a:srgbClr val="9933FF"/>
              </a:buClr>
              <a:buSzPct val="59000"/>
              <a:buFont typeface="Monotype Sorts" charset="0"/>
              <a:buChar char="s"/>
              <a:defRPr kumimoji="1" sz="2400">
                <a:solidFill>
                  <a:schemeClr val="tx1"/>
                </a:solidFill>
                <a:latin typeface="Arial Narrow" panose="020B0606020202030204" pitchFamily="34" charset="0"/>
                <a:ea typeface="宋体" panose="02010600030101010101" pitchFamily="2" charset="-122"/>
              </a:defRPr>
            </a:lvl3pPr>
            <a:lvl4pPr marL="1600200" indent="-228600" eaLnBrk="0" hangingPunct="0">
              <a:spcBef>
                <a:spcPct val="20000"/>
              </a:spcBef>
              <a:buClr>
                <a:srgbClr val="009999"/>
              </a:buClr>
              <a:buSzPct val="64000"/>
              <a:buFont typeface="Monotype Sorts" charset="0"/>
              <a:buChar char="u"/>
              <a:defRPr kumimoji="1" sz="2200">
                <a:solidFill>
                  <a:srgbClr val="000000"/>
                </a:solidFill>
                <a:latin typeface="Arial Narrow" panose="020B0606020202030204" pitchFamily="34" charset="0"/>
                <a:ea typeface="宋体" panose="02010600030101010101" pitchFamily="2" charset="-122"/>
              </a:defRPr>
            </a:lvl4pPr>
            <a:lvl5pPr marL="2057400" indent="-228600" eaLnBrk="0" hangingPunct="0">
              <a:spcBef>
                <a:spcPct val="20000"/>
              </a:spcBef>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5pPr>
            <a:lvl6pPr marL="25146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6pPr>
            <a:lvl7pPr marL="29718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7pPr>
            <a:lvl8pPr marL="34290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8pPr>
            <a:lvl9pPr marL="38862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9pPr>
          </a:lstStyle>
          <a:p>
            <a:pPr eaLnBrk="1" hangingPunct="1">
              <a:spcBef>
                <a:spcPct val="0"/>
              </a:spcBef>
              <a:buClrTx/>
              <a:buSzTx/>
              <a:buFontTx/>
              <a:buNone/>
              <a:defRPr/>
            </a:pPr>
            <a:fld id="{C5079460-7DA5-4117-84FF-80CC1D65B4F6}" type="slidenum">
              <a:rPr lang="en-US" altLang="zh-CN" sz="1400" smtClean="0">
                <a:solidFill>
                  <a:schemeClr val="tx1"/>
                </a:solidFill>
              </a:rPr>
            </a:fld>
            <a:endParaRPr lang="en-US" altLang="zh-CN" sz="1400" smtClean="0">
              <a:solidFill>
                <a:schemeClr val="tx1"/>
              </a:solidFill>
            </a:endParaRPr>
          </a:p>
        </p:txBody>
      </p:sp>
      <p:pic>
        <p:nvPicPr>
          <p:cNvPr id="17413"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187450" y="1492251"/>
            <a:ext cx="6737350"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6" descr="G:\SPM-2\图片\乌龙指.png"/>
          <p:cNvPicPr>
            <a:picLocks noChangeAspect="1" noChangeArrowheads="1"/>
          </p:cNvPicPr>
          <p:nvPr/>
        </p:nvPicPr>
        <p:blipFill>
          <a:blip r:embed="rId2">
            <a:extLst>
              <a:ext uri="{28A0092B-C50C-407E-A947-70E740481C1C}">
                <a14:useLocalDpi xmlns:a14="http://schemas.microsoft.com/office/drawing/2010/main" val="0"/>
              </a:ext>
            </a:extLst>
          </a:blip>
          <a:srcRect l="13486" r="12431"/>
          <a:stretch>
            <a:fillRect/>
          </a:stretch>
        </p:blipFill>
        <p:spPr bwMode="auto">
          <a:xfrm>
            <a:off x="1187134" y="1517652"/>
            <a:ext cx="7108825" cy="5378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250825" y="494184"/>
            <a:ext cx="8153400" cy="990600"/>
          </a:xfrm>
        </p:spPr>
        <p:txBody>
          <a:bodyPr anchor="t">
            <a:normAutofit/>
          </a:bodyPr>
          <a:lstStyle/>
          <a:p>
            <a:pPr eaLnBrk="1" fontAlgn="auto" hangingPunct="1">
              <a:spcAft>
                <a:spcPts val="0"/>
              </a:spcAft>
              <a:defRPr/>
            </a:pPr>
            <a:r>
              <a:rPr lang="zh-CN" altLang="en-US" dirty="0" smtClean="0">
                <a:latin typeface="楷体" panose="02010609060101010101" pitchFamily="49" charset="-122"/>
                <a:ea typeface="楷体" panose="02010609060101010101" pitchFamily="49" charset="-122"/>
                <a:cs typeface="楷体" panose="02010609060101010101" pitchFamily="49" charset="-122"/>
              </a:rPr>
              <a:t>案例</a:t>
            </a:r>
            <a:r>
              <a:rPr lang="en-US" altLang="zh-CN" dirty="0" smtClean="0">
                <a:latin typeface="楷体" panose="02010609060101010101" pitchFamily="49" charset="-122"/>
                <a:ea typeface="楷体" panose="02010609060101010101" pitchFamily="49" charset="-122"/>
                <a:cs typeface="楷体" panose="02010609060101010101" pitchFamily="49" charset="-122"/>
              </a:rPr>
              <a:t>:</a:t>
            </a:r>
            <a:r>
              <a:rPr lang="zh-CN" altLang="zh-CN" dirty="0" smtClean="0">
                <a:latin typeface="楷体" panose="02010609060101010101" pitchFamily="49" charset="-122"/>
                <a:ea typeface="楷体" panose="02010609060101010101" pitchFamily="49" charset="-122"/>
                <a:cs typeface="楷体" panose="02010609060101010101" pitchFamily="49" charset="-122"/>
              </a:rPr>
              <a:t>英空管系统故障</a:t>
            </a:r>
            <a:endParaRPr lang="zh-CN" altLang="en-US" dirty="0" smtClean="0">
              <a:latin typeface="楷体" panose="02010609060101010101" pitchFamily="49" charset="-122"/>
              <a:ea typeface="楷体" panose="02010609060101010101" pitchFamily="49" charset="-122"/>
              <a:cs typeface="楷体" panose="02010609060101010101" pitchFamily="49" charset="-122"/>
            </a:endParaRPr>
          </a:p>
        </p:txBody>
      </p:sp>
      <p:sp>
        <p:nvSpPr>
          <p:cNvPr id="18436" name="灯片编号占位符 4"/>
          <p:cNvSpPr>
            <a:spLocks noGrp="1"/>
          </p:cNvSpPr>
          <p:nvPr>
            <p:ph type="sldNum" sz="quarter" idx="12"/>
          </p:nvPr>
        </p:nvSpPr>
        <p:spPr/>
        <p:txBody>
          <a:bodyPr>
            <a:normAutofit fontScale="85000" lnSpcReduction="20000"/>
          </a:bodyPr>
          <a:lstStyle>
            <a:lvl1pPr eaLnBrk="0" hangingPunct="0">
              <a:spcBef>
                <a:spcPct val="20000"/>
              </a:spcBef>
              <a:buClr>
                <a:srgbClr val="FF0000"/>
              </a:buClr>
              <a:buSzPct val="55000"/>
              <a:buFont typeface="Monotype Sorts" charset="0"/>
              <a:buChar char="n"/>
              <a:defRPr kumimoji="1" sz="2800">
                <a:solidFill>
                  <a:schemeClr val="bg2"/>
                </a:solidFill>
                <a:latin typeface="Arial Narrow" panose="020B0606020202030204" pitchFamily="34" charset="0"/>
                <a:ea typeface="宋体" panose="02010600030101010101" pitchFamily="2" charset="-122"/>
              </a:defRPr>
            </a:lvl1pPr>
            <a:lvl2pPr marL="742950" indent="-285750" eaLnBrk="0" hangingPunct="0">
              <a:spcBef>
                <a:spcPct val="20000"/>
              </a:spcBef>
              <a:buClr>
                <a:srgbClr val="FFAF39"/>
              </a:buClr>
              <a:buSzPct val="55000"/>
              <a:buFont typeface="Monotype Sorts" charset="0"/>
              <a:buChar char="l"/>
              <a:defRPr kumimoji="1" sz="2600">
                <a:solidFill>
                  <a:schemeClr val="bg2"/>
                </a:solidFill>
                <a:latin typeface="Arial Narrow" panose="020B0606020202030204" pitchFamily="34" charset="0"/>
                <a:ea typeface="宋体" panose="02010600030101010101" pitchFamily="2" charset="-122"/>
              </a:defRPr>
            </a:lvl2pPr>
            <a:lvl3pPr marL="1143000" indent="-228600" eaLnBrk="0" hangingPunct="0">
              <a:spcBef>
                <a:spcPct val="20000"/>
              </a:spcBef>
              <a:buClr>
                <a:srgbClr val="9933FF"/>
              </a:buClr>
              <a:buSzPct val="59000"/>
              <a:buFont typeface="Monotype Sorts" charset="0"/>
              <a:buChar char="s"/>
              <a:defRPr kumimoji="1" sz="2400">
                <a:solidFill>
                  <a:schemeClr val="tx1"/>
                </a:solidFill>
                <a:latin typeface="Arial Narrow" panose="020B0606020202030204" pitchFamily="34" charset="0"/>
                <a:ea typeface="宋体" panose="02010600030101010101" pitchFamily="2" charset="-122"/>
              </a:defRPr>
            </a:lvl3pPr>
            <a:lvl4pPr marL="1600200" indent="-228600" eaLnBrk="0" hangingPunct="0">
              <a:spcBef>
                <a:spcPct val="20000"/>
              </a:spcBef>
              <a:buClr>
                <a:srgbClr val="009999"/>
              </a:buClr>
              <a:buSzPct val="64000"/>
              <a:buFont typeface="Monotype Sorts" charset="0"/>
              <a:buChar char="u"/>
              <a:defRPr kumimoji="1" sz="2200">
                <a:solidFill>
                  <a:srgbClr val="000000"/>
                </a:solidFill>
                <a:latin typeface="Arial Narrow" panose="020B0606020202030204" pitchFamily="34" charset="0"/>
                <a:ea typeface="宋体" panose="02010600030101010101" pitchFamily="2" charset="-122"/>
              </a:defRPr>
            </a:lvl4pPr>
            <a:lvl5pPr marL="2057400" indent="-228600" eaLnBrk="0" hangingPunct="0">
              <a:spcBef>
                <a:spcPct val="20000"/>
              </a:spcBef>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5pPr>
            <a:lvl6pPr marL="25146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6pPr>
            <a:lvl7pPr marL="29718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7pPr>
            <a:lvl8pPr marL="34290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8pPr>
            <a:lvl9pPr marL="38862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9pPr>
          </a:lstStyle>
          <a:p>
            <a:pPr eaLnBrk="1" hangingPunct="1">
              <a:spcBef>
                <a:spcPct val="0"/>
              </a:spcBef>
              <a:buClrTx/>
              <a:buSzTx/>
              <a:buFontTx/>
              <a:buNone/>
              <a:defRPr/>
            </a:pPr>
            <a:fld id="{B652C949-DF39-4086-9B9A-B241E22393A3}" type="slidenum">
              <a:rPr lang="en-US" altLang="zh-CN" sz="1400" smtClean="0">
                <a:solidFill>
                  <a:schemeClr val="tx1"/>
                </a:solidFill>
              </a:rPr>
            </a:fld>
            <a:endParaRPr lang="en-US" altLang="zh-CN" sz="1400" smtClean="0">
              <a:solidFill>
                <a:schemeClr val="tx1"/>
              </a:solidFill>
            </a:endParaRPr>
          </a:p>
        </p:txBody>
      </p:sp>
      <p:pic>
        <p:nvPicPr>
          <p:cNvPr id="2" name="Picture 2"/>
          <p:cNvPicPr>
            <a:picLocks noGrp="1" noChangeAspect="1" noChangeArrowheads="1"/>
          </p:cNvPicPr>
          <p:nvPr>
            <p:ph sz="quarter" idx="1"/>
          </p:nvPr>
        </p:nvPicPr>
        <p:blipFill>
          <a:blip r:embed="rId1">
            <a:extLst>
              <a:ext uri="{28A0092B-C50C-407E-A947-70E740481C1C}">
                <a14:useLocalDpi xmlns:a14="http://schemas.microsoft.com/office/drawing/2010/main" val="0"/>
              </a:ext>
            </a:extLst>
          </a:blip>
          <a:srcRect l="27380" t="17786" r="25291" b="16678"/>
          <a:stretch>
            <a:fillRect/>
          </a:stretch>
        </p:blipFill>
        <p:spPr>
          <a:xfrm>
            <a:off x="1476376" y="1684867"/>
            <a:ext cx="6696075" cy="5173133"/>
          </a:xfrm>
          <a:noFill/>
          <a:extLst>
            <a:ext uri="{91240B29-F687-4F45-9708-019B960494DF}">
              <a14:hiddenLine xmlns:a14="http://schemas.microsoft.com/office/drawing/2010/main" w="25400">
                <a:solidFill>
                  <a:schemeClr val="tx1"/>
                </a:solidFill>
                <a:prstDash val="solid"/>
                <a:miter lim="800000"/>
                <a:headEnd type="none" w="sm" len="sm"/>
                <a:tailEnd type="none" w="med" len="lg"/>
              </a14:hiddenLine>
            </a:ext>
          </a:extLst>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9"/>
          <p:cNvSpPr>
            <a:spLocks noGrp="1" noChangeArrowheads="1"/>
          </p:cNvSpPr>
          <p:nvPr>
            <p:ph type="sldNum" sz="quarter" idx="10"/>
          </p:nvPr>
        </p:nvSpPr>
        <p:spPr>
          <a:noFill/>
        </p:spPr>
        <p:txBody>
          <a:bodyPr/>
          <a:lstStyle/>
          <a:p>
            <a:r>
              <a:rPr lang="zh-CN" altLang="en-GB" smtClean="0"/>
              <a:t>  </a:t>
            </a:r>
            <a:fld id="{FFF403E3-222B-4329-A630-FE98BCA01465}" type="slidenum">
              <a:rPr lang="zh-CN" altLang="en-GB" smtClean="0"/>
            </a:fld>
            <a:endParaRPr lang="en-US" altLang="zh-CN" smtClean="0"/>
          </a:p>
        </p:txBody>
      </p:sp>
      <p:sp>
        <p:nvSpPr>
          <p:cNvPr id="9219"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spcBef>
                <a:spcPct val="0"/>
              </a:spcBef>
            </a:pPr>
            <a:endParaRPr lang="en-US" altLang="zh-CN" sz="4000">
              <a:solidFill>
                <a:schemeClr val="bg2"/>
              </a:solidFill>
            </a:endParaRPr>
          </a:p>
        </p:txBody>
      </p:sp>
      <p:sp>
        <p:nvSpPr>
          <p:cNvPr id="855044" name="Text Box 4"/>
          <p:cNvSpPr txBox="1">
            <a:spLocks noChangeArrowheads="1"/>
          </p:cNvSpPr>
          <p:nvPr/>
        </p:nvSpPr>
        <p:spPr bwMode="auto">
          <a:xfrm>
            <a:off x="287338" y="1358920"/>
            <a:ext cx="8748712" cy="5061585"/>
          </a:xfrm>
          <a:prstGeom prst="rect">
            <a:avLst/>
          </a:prstGeom>
          <a:noFill/>
          <a:ln w="28575">
            <a:noFill/>
            <a:miter lim="800000"/>
          </a:ln>
        </p:spPr>
        <p:txBody>
          <a:bodyPr>
            <a:spAutoFit/>
          </a:bodyPr>
          <a:lstStyle/>
          <a:p>
            <a:pPr algn="ctr">
              <a:spcBef>
                <a:spcPct val="35000"/>
              </a:spcBef>
              <a:buClr>
                <a:srgbClr val="990000"/>
              </a:buClr>
            </a:pPr>
            <a:r>
              <a:rPr lang="zh-CN" altLang="en-US" sz="3200" b="1" dirty="0">
                <a:solidFill>
                  <a:srgbClr val="C00000"/>
                </a:solidFill>
                <a:latin typeface="楷体" panose="02010609060101010101" pitchFamily="49" charset="-122"/>
                <a:ea typeface="楷体" panose="02010609060101010101" pitchFamily="49" charset="-122"/>
                <a:cs typeface="楷体" panose="02010609060101010101" pitchFamily="49" charset="-122"/>
              </a:rPr>
              <a:t>  </a:t>
            </a:r>
            <a:r>
              <a:rPr lang="zh-CN" altLang="en-US" b="1" dirty="0">
                <a:solidFill>
                  <a:srgbClr val="FF0000"/>
                </a:solidFill>
                <a:latin typeface="楷体" panose="02010609060101010101" pitchFamily="49" charset="-122"/>
                <a:ea typeface="楷体" panose="02010609060101010101" pitchFamily="49" charset="-122"/>
                <a:cs typeface="楷体" panose="02010609060101010101" pitchFamily="49" charset="-122"/>
              </a:rPr>
              <a:t>列车运行控制系统</a:t>
            </a:r>
            <a:r>
              <a:rPr lang="en-US" altLang="zh-CN" b="1" dirty="0">
                <a:solidFill>
                  <a:srgbClr val="FF0000"/>
                </a:solidFill>
                <a:latin typeface="楷体" panose="02010609060101010101" pitchFamily="49" charset="-122"/>
                <a:ea typeface="楷体" panose="02010609060101010101" pitchFamily="49" charset="-122"/>
                <a:cs typeface="楷体" panose="02010609060101010101" pitchFamily="49" charset="-122"/>
              </a:rPr>
              <a:t>(</a:t>
            </a:r>
            <a:r>
              <a:rPr lang="en-US" altLang="zh-CN" b="1" dirty="0">
                <a:solidFill>
                  <a:srgbClr val="FF0000"/>
                </a:solidFill>
                <a:ea typeface="楷体" panose="02010609060101010101" pitchFamily="49" charset="-122"/>
                <a:cs typeface="Times New Roman" panose="02020603050405020304" pitchFamily="18" charset="0"/>
              </a:rPr>
              <a:t>CTCS</a:t>
            </a:r>
            <a:r>
              <a:rPr lang="en-US" altLang="zh-CN" b="1" dirty="0">
                <a:solidFill>
                  <a:srgbClr val="FF0000"/>
                </a:solidFill>
                <a:latin typeface="楷体" panose="02010609060101010101" pitchFamily="49" charset="-122"/>
                <a:ea typeface="楷体" panose="02010609060101010101" pitchFamily="49" charset="-122"/>
                <a:cs typeface="楷体" panose="02010609060101010101" pitchFamily="49" charset="-122"/>
              </a:rPr>
              <a:t>)</a:t>
            </a:r>
            <a:r>
              <a:rPr lang="zh-CN" altLang="en-US" b="1" dirty="0">
                <a:solidFill>
                  <a:srgbClr val="FF0000"/>
                </a:solidFill>
                <a:latin typeface="楷体" panose="02010609060101010101" pitchFamily="49" charset="-122"/>
                <a:ea typeface="楷体" panose="02010609060101010101" pitchFamily="49" charset="-122"/>
                <a:cs typeface="楷体" panose="02010609060101010101" pitchFamily="49" charset="-122"/>
              </a:rPr>
              <a:t>失效</a:t>
            </a:r>
            <a:endParaRPr lang="en-US" altLang="zh-CN" sz="3200" b="1" dirty="0">
              <a:solidFill>
                <a:srgbClr val="C00000"/>
              </a:solidFill>
              <a:latin typeface="楷体" panose="02010609060101010101" pitchFamily="49" charset="-122"/>
              <a:ea typeface="楷体" panose="02010609060101010101" pitchFamily="49" charset="-122"/>
              <a:cs typeface="楷体" panose="02010609060101010101" pitchFamily="49" charset="-122"/>
            </a:endParaRPr>
          </a:p>
          <a:p>
            <a:pPr marL="0" lvl="1" indent="457200" algn="l">
              <a:spcBef>
                <a:spcPts val="600"/>
              </a:spcBef>
              <a:spcAft>
                <a:spcPts val="600"/>
              </a:spcAft>
              <a:buClr>
                <a:srgbClr val="990000"/>
              </a:buClr>
            </a:pPr>
            <a:r>
              <a:rPr lang="en-US" altLang="zh-CN" sz="2400" b="1" dirty="0" smtClean="0">
                <a:solidFill>
                  <a:schemeClr val="bg2"/>
                </a:solidFill>
                <a:ea typeface="楷体" panose="02010609060101010101" pitchFamily="49" charset="-122"/>
                <a:cs typeface="Times New Roman" panose="02020603050405020304" pitchFamily="18" charset="0"/>
              </a:rPr>
              <a:t>CTCS</a:t>
            </a:r>
            <a:r>
              <a:rPr lang="zh-CN" altLang="en-US" sz="2400" b="1"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能够有效</a:t>
            </a:r>
            <a:r>
              <a:rPr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测定列车运行速度、运行间距和位置，以自动防止列车追尾、相撞。</a:t>
            </a:r>
            <a:endParaRPr lang="en-US" altLang="zh-CN"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0" lvl="1" indent="457200" algn="l">
              <a:spcBef>
                <a:spcPts val="600"/>
              </a:spcBef>
              <a:spcAft>
                <a:spcPts val="600"/>
              </a:spcAft>
              <a:buClr>
                <a:srgbClr val="990000"/>
              </a:buClr>
            </a:pPr>
            <a:r>
              <a:rPr lang="en-US" altLang="zh-CN" sz="2400" b="1" dirty="0">
                <a:solidFill>
                  <a:schemeClr val="bg2"/>
                </a:solidFill>
                <a:ea typeface="楷体" panose="02010609060101010101" pitchFamily="49" charset="-122"/>
                <a:cs typeface="Times New Roman" panose="02020603050405020304" pitchFamily="18" charset="0"/>
              </a:rPr>
              <a:t>CTCS</a:t>
            </a:r>
            <a:r>
              <a:rPr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的运行</a:t>
            </a:r>
            <a:r>
              <a:rPr lang="zh-CN" altLang="en-US" sz="2400" b="1"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原理：</a:t>
            </a:r>
            <a:r>
              <a:rPr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铁轨上的“传感器”能将“前方有列车占用轨道”的信息传递给后车和调度中心，以保证两车之间的安全距离。由于</a:t>
            </a:r>
            <a:r>
              <a:rPr lang="en-US" altLang="zh-CN" sz="2400" b="1" dirty="0">
                <a:solidFill>
                  <a:schemeClr val="bg2"/>
                </a:solidFill>
                <a:ea typeface="楷体" panose="02010609060101010101" pitchFamily="49" charset="-122"/>
                <a:cs typeface="Times New Roman" panose="02020603050405020304" pitchFamily="18" charset="0"/>
              </a:rPr>
              <a:t>CTCS</a:t>
            </a:r>
            <a:r>
              <a:rPr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能有效测定列车运行速度、运行间距和位置，以自动防止列车追尾、相撞，被称为动车组安全运行的第一层智能保护。</a:t>
            </a:r>
            <a:endParaRPr lang="en-US" altLang="zh-CN"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0" lvl="1" indent="457200" algn="l">
              <a:spcBef>
                <a:spcPts val="600"/>
              </a:spcBef>
              <a:spcAft>
                <a:spcPts val="600"/>
              </a:spcAft>
              <a:buClr>
                <a:srgbClr val="990000"/>
              </a:buClr>
            </a:pPr>
            <a:r>
              <a:rPr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可是，这样一个先进的控制系统，在这次事故中却失效了。</a:t>
            </a:r>
            <a:endParaRPr lang="en-US" altLang="zh-CN"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buClr>
                <a:srgbClr val="990000"/>
              </a:buClr>
            </a:pPr>
            <a:r>
              <a:rPr lang="zh-CN" altLang="en-US" sz="3200" b="1" dirty="0">
                <a:solidFill>
                  <a:srgbClr val="FF0000"/>
                </a:solidFill>
                <a:latin typeface="楷体" panose="02010609060101010101" pitchFamily="49" charset="-122"/>
                <a:ea typeface="楷体" panose="02010609060101010101" pitchFamily="49" charset="-122"/>
                <a:cs typeface="楷体" panose="02010609060101010101" pitchFamily="49" charset="-122"/>
              </a:rPr>
              <a:t>软件质量问题引发的事故已直接伤害到生命和社会安全。</a:t>
            </a:r>
            <a:endParaRPr lang="zh-CN" altLang="en-US" sz="32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9221" name="Rectangle 29"/>
          <p:cNvSpPr>
            <a:spLocks noChangeArrowheads="1"/>
          </p:cNvSpPr>
          <p:nvPr/>
        </p:nvSpPr>
        <p:spPr bwMode="auto">
          <a:xfrm>
            <a:off x="103188" y="620713"/>
            <a:ext cx="8683654" cy="768350"/>
          </a:xfrm>
          <a:prstGeom prst="rect">
            <a:avLst/>
          </a:prstGeom>
          <a:noFill/>
          <a:ln w="9525">
            <a:noFill/>
            <a:miter lim="800000"/>
          </a:ln>
        </p:spPr>
        <p:txBody>
          <a:bodyPr wrap="square">
            <a:spAutoFit/>
          </a:bodyPr>
          <a:lstStyle/>
          <a:p>
            <a:pPr algn="ctr" fontAlgn="auto">
              <a:spcBef>
                <a:spcPct val="0"/>
              </a:spcBef>
              <a:spcAft>
                <a:spcPts val="0"/>
              </a:spcAft>
              <a:defRPr/>
            </a:pPr>
            <a:r>
              <a:rPr lang="en-US" altLang="en-US" sz="4400" dirty="0" err="1" smtClean="0">
                <a:solidFill>
                  <a:schemeClr val="tx2"/>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rPr>
              <a:t>案例</a:t>
            </a:r>
            <a:r>
              <a:rPr lang="zh-CN" altLang="en-US" sz="4400" dirty="0">
                <a:solidFill>
                  <a:schemeClr val="tx2"/>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rPr>
              <a:t>：甬温</a:t>
            </a:r>
            <a:r>
              <a:rPr lang="zh-CN" altLang="en-US" sz="4400" dirty="0" smtClean="0">
                <a:solidFill>
                  <a:schemeClr val="tx2"/>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rPr>
              <a:t>线</a:t>
            </a:r>
            <a:r>
              <a:rPr lang="en-US" altLang="en-US" sz="4400" dirty="0" smtClean="0">
                <a:solidFill>
                  <a:schemeClr val="tx2"/>
                </a:solidFill>
                <a:effectLst>
                  <a:outerShdw blurRad="38100" dist="38100" dir="2700000" algn="tl">
                    <a:srgbClr val="000000"/>
                  </a:outerShdw>
                </a:effectLst>
                <a:ea typeface="楷体" panose="02010609060101010101" pitchFamily="49" charset="-122"/>
                <a:cs typeface="Times New Roman" panose="02020603050405020304" pitchFamily="18" charset="0"/>
              </a:rPr>
              <a:t>7·23</a:t>
            </a:r>
            <a:r>
              <a:rPr lang="zh-CN" altLang="en-US" sz="4400" dirty="0" smtClean="0">
                <a:solidFill>
                  <a:schemeClr val="tx2"/>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rPr>
              <a:t>动车追尾</a:t>
            </a:r>
            <a:endParaRPr lang="en-US" altLang="en-US" sz="4400" dirty="0">
              <a:solidFill>
                <a:schemeClr val="tx2"/>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endParaRPr>
          </a:p>
        </p:txBody>
      </p:sp>
      <p:sp>
        <p:nvSpPr>
          <p:cNvPr id="6" name="Text Box 27"/>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P.154</a:t>
            </a:r>
            <a:endParaRPr lang="en-US" altLang="zh-CN" sz="2400" b="1">
              <a:solidFill>
                <a:schemeClr val="bg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50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50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50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504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504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9"/>
          <p:cNvSpPr>
            <a:spLocks noGrp="1" noChangeArrowheads="1"/>
          </p:cNvSpPr>
          <p:nvPr>
            <p:ph type="sldNum" sz="quarter" idx="10"/>
          </p:nvPr>
        </p:nvSpPr>
        <p:spPr>
          <a:noFill/>
        </p:spPr>
        <p:txBody>
          <a:bodyPr/>
          <a:lstStyle/>
          <a:p>
            <a:r>
              <a:rPr lang="zh-CN" altLang="en-GB" dirty="0" smtClean="0"/>
              <a:t>  </a:t>
            </a:r>
            <a:fld id="{8ADB17C5-9A48-445E-AFC6-B704DD2871B5}" type="slidenum">
              <a:rPr lang="zh-CN" altLang="en-GB" smtClean="0"/>
            </a:fld>
            <a:endParaRPr lang="en-US" altLang="zh-CN" dirty="0" smtClean="0"/>
          </a:p>
        </p:txBody>
      </p:sp>
      <p:sp>
        <p:nvSpPr>
          <p:cNvPr id="9219" name="Text Box 2"/>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spcBef>
                <a:spcPct val="0"/>
              </a:spcBef>
            </a:pPr>
            <a:endParaRPr lang="en-US" altLang="zh-CN" sz="4000">
              <a:solidFill>
                <a:schemeClr val="bg2"/>
              </a:solidFill>
            </a:endParaRPr>
          </a:p>
        </p:txBody>
      </p:sp>
      <p:sp>
        <p:nvSpPr>
          <p:cNvPr id="9220" name="Text Box 3"/>
          <p:cNvSpPr txBox="1">
            <a:spLocks noChangeArrowheads="1"/>
          </p:cNvSpPr>
          <p:nvPr/>
        </p:nvSpPr>
        <p:spPr bwMode="auto">
          <a:xfrm>
            <a:off x="179388" y="1357298"/>
            <a:ext cx="8464578" cy="5061585"/>
          </a:xfrm>
          <a:prstGeom prst="rect">
            <a:avLst/>
          </a:prstGeom>
          <a:noFill/>
          <a:ln w="28575">
            <a:noFill/>
            <a:miter lim="800000"/>
          </a:ln>
        </p:spPr>
        <p:txBody>
          <a:bodyPr wrap="square">
            <a:spAutoFit/>
          </a:bodyPr>
          <a:lstStyle/>
          <a:p>
            <a:pPr algn="l">
              <a:buClr>
                <a:schemeClr val="hlink"/>
              </a:buClr>
            </a:pPr>
            <a:r>
              <a:rPr kumimoji="0" lang="zh-CN" altLang="en-US" b="1" dirty="0">
                <a:solidFill>
                  <a:srgbClr val="0000FF"/>
                </a:solidFill>
                <a:latin typeface="楷体" panose="02010609060101010101" pitchFamily="49" charset="-122"/>
                <a:ea typeface="楷体" panose="02010609060101010101" pitchFamily="49" charset="-122"/>
                <a:cs typeface="楷体" panose="02010609060101010101" pitchFamily="49" charset="-122"/>
              </a:rPr>
              <a:t>产生软件质量问题的</a:t>
            </a:r>
            <a:r>
              <a:rPr kumimoji="0" lang="zh-CN" altLang="en-GB" b="1" dirty="0">
                <a:solidFill>
                  <a:srgbClr val="0000FF"/>
                </a:solidFill>
                <a:ea typeface="楷体" panose="02010609060101010101" pitchFamily="49" charset="-122"/>
                <a:cs typeface="Times New Roman" panose="02020603050405020304" pitchFamily="18" charset="0"/>
              </a:rPr>
              <a:t>13</a:t>
            </a:r>
            <a:r>
              <a:rPr kumimoji="0" lang="zh-CN" altLang="en-GB" b="1" dirty="0">
                <a:solidFill>
                  <a:srgbClr val="0000FF"/>
                </a:solidFill>
                <a:latin typeface="楷体" panose="02010609060101010101" pitchFamily="49" charset="-122"/>
                <a:ea typeface="楷体" panose="02010609060101010101" pitchFamily="49" charset="-122"/>
                <a:cs typeface="楷体" panose="02010609060101010101" pitchFamily="49" charset="-122"/>
              </a:rPr>
              <a:t>个</a:t>
            </a:r>
            <a:r>
              <a:rPr kumimoji="0" lang="zh-CN" altLang="en-US" b="1" dirty="0">
                <a:solidFill>
                  <a:srgbClr val="0000FF"/>
                </a:solidFill>
                <a:latin typeface="楷体" panose="02010609060101010101" pitchFamily="49" charset="-122"/>
                <a:ea typeface="楷体" panose="02010609060101010101" pitchFamily="49" charset="-122"/>
                <a:cs typeface="楷体" panose="02010609060101010101" pitchFamily="49" charset="-122"/>
              </a:rPr>
              <a:t>原因 ：</a:t>
            </a:r>
            <a:endParaRPr kumimoji="0" lang="zh-CN" altLang="en-US" b="1" dirty="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buClr>
                <a:schemeClr val="bg1"/>
              </a:buClr>
              <a:buFont typeface="Wingdings" panose="05000000000000000000" pitchFamily="2" charset="2"/>
              <a:buNone/>
            </a:pP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1</a:t>
            </a: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）管理者缺乏质量观念，未从一开始就强调质量。</a:t>
            </a:r>
            <a:endPar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300"/>
              </a:spcBef>
              <a:buClr>
                <a:schemeClr val="bg1"/>
              </a:buClr>
              <a:buFont typeface="Wingdings" panose="05000000000000000000" pitchFamily="2" charset="2"/>
              <a:buNone/>
            </a:pP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2</a:t>
            </a: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）开发者未将保证质量作为自己重要而且是必须完成的任务。          </a:t>
            </a:r>
            <a:endPar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300"/>
              </a:spcBef>
              <a:buClr>
                <a:schemeClr val="bg1"/>
              </a:buClr>
              <a:buFont typeface="Wingdings" panose="05000000000000000000" pitchFamily="2" charset="2"/>
              <a:buNone/>
            </a:pP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3</a:t>
            </a: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）没有真正执行 “决不把不合格的中间产品带到下一 阶段” 。</a:t>
            </a:r>
            <a:endPar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300"/>
              </a:spcBef>
              <a:buClr>
                <a:schemeClr val="bg1"/>
              </a:buClr>
              <a:buFont typeface="Wingdings" panose="05000000000000000000" pitchFamily="2" charset="2"/>
              <a:buNone/>
            </a:pP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4</a:t>
            </a: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）没有良好的激励机制。 </a:t>
            </a:r>
            <a:endPar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300"/>
              </a:spcBef>
              <a:buClr>
                <a:schemeClr val="bg1"/>
              </a:buClr>
              <a:buFont typeface="Wingdings" panose="05000000000000000000" pitchFamily="2" charset="2"/>
              <a:buNone/>
            </a:pP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a:solidFill>
                  <a:schemeClr val="bg2"/>
                </a:solidFill>
                <a:latin typeface="楷体" panose="02010609060101010101" pitchFamily="49" charset="-122"/>
                <a:ea typeface="楷体" panose="02010609060101010101" pitchFamily="49" charset="-122"/>
                <a:cs typeface="楷体" panose="02010609060101010101" pitchFamily="49" charset="-122"/>
              </a:rPr>
              <a:t>5</a:t>
            </a: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）缺乏</a:t>
            </a: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主人翁责任感。 </a:t>
            </a:r>
            <a:endPar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300"/>
              </a:spcBef>
              <a:buClr>
                <a:schemeClr val="bg1"/>
              </a:buClr>
              <a:buFont typeface="Wingdings" panose="05000000000000000000" pitchFamily="2" charset="2"/>
              <a:buNone/>
            </a:pP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6</a:t>
            </a:r>
            <a:r>
              <a:rPr lang="zh-CN" altLang="en-US" sz="2000" b="1" dirty="0">
                <a:solidFill>
                  <a:schemeClr val="bg2"/>
                </a:solidFill>
                <a:latin typeface="楷体" panose="02010609060101010101" pitchFamily="49" charset="-122"/>
                <a:ea typeface="楷体" panose="02010609060101010101" pitchFamily="49" charset="-122"/>
                <a:cs typeface="楷体" panose="02010609060101010101" pitchFamily="49" charset="-122"/>
              </a:rPr>
              <a:t>）没有解决好质量管理者和开发者的</a:t>
            </a:r>
            <a:r>
              <a:rPr lang="zh-CN" altLang="en-US" sz="2000" b="1">
                <a:solidFill>
                  <a:schemeClr val="bg2"/>
                </a:solidFill>
                <a:latin typeface="楷体" panose="02010609060101010101" pitchFamily="49" charset="-122"/>
                <a:ea typeface="楷体" panose="02010609060101010101" pitchFamily="49" charset="-122"/>
                <a:cs typeface="楷体" panose="02010609060101010101" pitchFamily="49" charset="-122"/>
              </a:rPr>
              <a:t>关系</a:t>
            </a: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sz="20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300"/>
              </a:spcBef>
            </a:pP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7</a:t>
            </a: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）对用户的质量要求不了解，缺乏使用户满意的思想。</a:t>
            </a:r>
            <a:endPar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300"/>
              </a:spcBef>
            </a:pP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8</a:t>
            </a: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）用户对软件需求不清晰、存在二义性。</a:t>
            </a:r>
            <a:endPar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300"/>
              </a:spcBef>
            </a:pP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9</a:t>
            </a: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）开发人员对用户的需求理解有偏差甚至错误。</a:t>
            </a:r>
            <a:endPar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300"/>
              </a:spcBef>
            </a:pP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10</a:t>
            </a: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）开发与管理文档对质量控制作用小。 </a:t>
            </a:r>
            <a:endPar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300"/>
              </a:spcBef>
            </a:pP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11</a:t>
            </a: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）软件开发工具引发质量控制困难。</a:t>
            </a:r>
            <a:endPar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300"/>
              </a:spcBef>
            </a:pP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12</a:t>
            </a: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）不遵守软件开发标准和规范。</a:t>
            </a:r>
            <a:endPar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300"/>
              </a:spcBef>
            </a:pP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altLang="zh-CN"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13</a:t>
            </a:r>
            <a:r>
              <a:rPr lang="zh-CN" altLang="en-US" sz="20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）缺乏有效的质量控制和管理。</a:t>
            </a:r>
            <a:endParaRPr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9221"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P.175</a:t>
            </a:r>
            <a:endParaRPr lang="en-US" altLang="zh-CN" sz="2400" b="1">
              <a:solidFill>
                <a:schemeClr val="bg2"/>
              </a:solidFill>
            </a:endParaRPr>
          </a:p>
        </p:txBody>
      </p:sp>
      <p:sp>
        <p:nvSpPr>
          <p:cNvPr id="9222"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latin typeface="楷体" panose="02010609060101010101" pitchFamily="49" charset="-122"/>
                <a:ea typeface="楷体" panose="02010609060101010101" pitchFamily="49" charset="-122"/>
                <a:cs typeface="楷体" panose="02010609060101010101" pitchFamily="49" charset="-122"/>
              </a:rPr>
              <a:t>【案例</a:t>
            </a:r>
            <a:r>
              <a:rPr kumimoji="0" lang="en-US" altLang="en-US" sz="3000" b="1" smtClean="0">
                <a:ea typeface="楷体" panose="02010609060101010101" pitchFamily="49" charset="-122"/>
                <a:cs typeface="Times New Roman" panose="02020603050405020304" pitchFamily="18" charset="0"/>
              </a:rPr>
              <a:t>7-1</a:t>
            </a:r>
            <a:r>
              <a:rPr kumimoji="0" lang="zh-CN" altLang="en-US" sz="3000" b="1" smtClean="0">
                <a:latin typeface="楷体" panose="02010609060101010101" pitchFamily="49" charset="-122"/>
                <a:ea typeface="楷体" panose="02010609060101010101" pitchFamily="49" charset="-122"/>
                <a:cs typeface="楷体" panose="02010609060101010101" pitchFamily="49" charset="-122"/>
              </a:rPr>
              <a:t>的</a:t>
            </a:r>
            <a:r>
              <a:rPr kumimoji="0" lang="en-US" altLang="en-US" sz="3000" b="1" smtClean="0">
                <a:latin typeface="楷体" panose="02010609060101010101" pitchFamily="49" charset="-122"/>
                <a:ea typeface="楷体" panose="02010609060101010101" pitchFamily="49" charset="-122"/>
                <a:cs typeface="楷体" panose="02010609060101010101" pitchFamily="49" charset="-122"/>
              </a:rPr>
              <a:t>分析</a:t>
            </a:r>
            <a:r>
              <a:rPr kumimoji="0" lang="en-US" altLang="en-US" sz="3000" b="1">
                <a:latin typeface="楷体" panose="02010609060101010101" pitchFamily="49" charset="-122"/>
                <a:ea typeface="楷体" panose="02010609060101010101" pitchFamily="49" charset="-122"/>
                <a:cs typeface="楷体" panose="02010609060101010101" pitchFamily="49" charset="-122"/>
              </a:rPr>
              <a:t>】</a:t>
            </a:r>
            <a:endParaRPr kumimoji="0" lang="en-US" altLang="en-US" sz="3000" b="1">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dirty="0" smtClean="0"/>
              <a:t>  </a:t>
            </a:r>
            <a:fld id="{1EDD7D86-1D6F-4134-85BC-40FF9E22D7D7}" type="slidenum">
              <a:rPr lang="zh-CN" altLang="en-GB" smtClean="0"/>
            </a:fld>
            <a:endParaRPr lang="en-US" altLang="zh-CN" dirty="0" smtClean="0"/>
          </a:p>
        </p:txBody>
      </p:sp>
      <p:sp>
        <p:nvSpPr>
          <p:cNvPr id="153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P.155</a:t>
            </a:r>
            <a:endParaRPr lang="en-US" altLang="zh-CN" sz="2400" b="1">
              <a:solidFill>
                <a:schemeClr val="bg2"/>
              </a:solidFill>
            </a:endParaRPr>
          </a:p>
        </p:txBody>
      </p:sp>
      <p:sp>
        <p:nvSpPr>
          <p:cNvPr id="1536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15366" name="Rectangle 7"/>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a:t>7.1 质量管理概述</a:t>
            </a:r>
            <a:endParaRPr kumimoji="0" lang="en-US" altLang="en-US" sz="3000" b="1"/>
          </a:p>
        </p:txBody>
      </p:sp>
      <p:sp>
        <p:nvSpPr>
          <p:cNvPr id="15367" name="Rectangle 8"/>
          <p:cNvSpPr>
            <a:spLocks noChangeArrowheads="1"/>
          </p:cNvSpPr>
          <p:nvPr/>
        </p:nvSpPr>
        <p:spPr bwMode="auto">
          <a:xfrm>
            <a:off x="323850" y="1341438"/>
            <a:ext cx="3485515" cy="52197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7.1.1 </a:t>
            </a:r>
            <a:r>
              <a:rPr kumimoji="0" lang="en-US" altLang="en-US" b="1" dirty="0" err="1">
                <a:solidFill>
                  <a:srgbClr val="FF0000"/>
                </a:solidFill>
                <a:latin typeface="楷体" panose="02010609060101010101" pitchFamily="49" charset="-122"/>
                <a:ea typeface="楷体" panose="02010609060101010101" pitchFamily="49" charset="-122"/>
              </a:rPr>
              <a:t>质量和质量管理</a:t>
            </a:r>
            <a:endParaRPr kumimoji="0" lang="en-US" altLang="en-US" b="1" dirty="0" err="1">
              <a:solidFill>
                <a:srgbClr val="FF0000"/>
              </a:solidFill>
              <a:latin typeface="楷体" panose="02010609060101010101" pitchFamily="49" charset="-122"/>
              <a:ea typeface="楷体" panose="02010609060101010101" pitchFamily="49" charset="-122"/>
            </a:endParaRPr>
          </a:p>
        </p:txBody>
      </p:sp>
      <p:sp>
        <p:nvSpPr>
          <p:cNvPr id="15368" name="Text Box 9"/>
          <p:cNvSpPr txBox="1">
            <a:spLocks noChangeArrowheads="1"/>
          </p:cNvSpPr>
          <p:nvPr/>
        </p:nvSpPr>
        <p:spPr bwMode="auto">
          <a:xfrm>
            <a:off x="682625" y="1693863"/>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zh-CN" altLang="en-US" sz="2400" b="1" dirty="0" smtClean="0">
                <a:solidFill>
                  <a:schemeClr val="bg1"/>
                </a:solidFill>
                <a:latin typeface="楷体" panose="02010609060101010101" pitchFamily="49" charset="-122"/>
                <a:ea typeface="楷体" panose="02010609060101010101" pitchFamily="49" charset="-122"/>
              </a:rPr>
              <a:t>软件</a:t>
            </a:r>
            <a:r>
              <a:rPr kumimoji="0" lang="en-US" altLang="en-US" sz="2400" b="1" dirty="0" err="1" smtClean="0">
                <a:solidFill>
                  <a:schemeClr val="bg1"/>
                </a:solidFill>
                <a:latin typeface="楷体" panose="02010609060101010101" pitchFamily="49" charset="-122"/>
                <a:ea typeface="楷体" panose="02010609060101010101" pitchFamily="49" charset="-122"/>
              </a:rPr>
              <a:t>质量的定义</a:t>
            </a:r>
            <a:endParaRPr kumimoji="0" lang="en-US" altLang="en-US" sz="2400" b="1" dirty="0">
              <a:solidFill>
                <a:schemeClr val="bg1"/>
              </a:solidFill>
              <a:latin typeface="楷体" panose="02010609060101010101" pitchFamily="49" charset="-122"/>
              <a:ea typeface="楷体" panose="02010609060101010101" pitchFamily="49" charset="-122"/>
            </a:endParaRPr>
          </a:p>
        </p:txBody>
      </p:sp>
      <p:pic>
        <p:nvPicPr>
          <p:cNvPr id="9" name="Picture 6" descr="http://pic004.cnblogs.com/news/201203/20120327_085220_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1143" y="2716212"/>
            <a:ext cx="4646785" cy="272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dirty="0" smtClean="0"/>
              <a:t>  </a:t>
            </a:r>
            <a:fld id="{1EDD7D86-1D6F-4134-85BC-40FF9E22D7D7}" type="slidenum">
              <a:rPr lang="zh-CN" altLang="en-GB" smtClean="0"/>
            </a:fld>
            <a:endParaRPr lang="en-US" altLang="zh-CN" dirty="0" smtClean="0"/>
          </a:p>
        </p:txBody>
      </p:sp>
      <p:sp>
        <p:nvSpPr>
          <p:cNvPr id="153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P.155</a:t>
            </a:r>
            <a:endParaRPr lang="en-US" altLang="zh-CN" sz="2400" b="1">
              <a:solidFill>
                <a:schemeClr val="bg2"/>
              </a:solidFill>
            </a:endParaRPr>
          </a:p>
        </p:txBody>
      </p:sp>
      <p:sp>
        <p:nvSpPr>
          <p:cNvPr id="1536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15366" name="Rectangle 7"/>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7.1 </a:t>
            </a:r>
            <a:r>
              <a:rPr kumimoji="0" lang="en-US" altLang="en-US" sz="3000" b="1">
                <a:latin typeface="楷体" panose="02010609060101010101" pitchFamily="49" charset="-122"/>
                <a:ea typeface="楷体" panose="02010609060101010101" pitchFamily="49" charset="-122"/>
              </a:rPr>
              <a:t>质量管理概述</a:t>
            </a:r>
            <a:endParaRPr kumimoji="0" lang="en-US" altLang="en-US" sz="3000" b="1">
              <a:latin typeface="楷体" panose="02010609060101010101" pitchFamily="49" charset="-122"/>
              <a:ea typeface="楷体" panose="02010609060101010101" pitchFamily="49" charset="-122"/>
            </a:endParaRPr>
          </a:p>
        </p:txBody>
      </p:sp>
      <p:sp>
        <p:nvSpPr>
          <p:cNvPr id="15367" name="Rectangle 8"/>
          <p:cNvSpPr>
            <a:spLocks noChangeArrowheads="1"/>
          </p:cNvSpPr>
          <p:nvPr/>
        </p:nvSpPr>
        <p:spPr bwMode="auto">
          <a:xfrm>
            <a:off x="323850" y="1341438"/>
            <a:ext cx="3485515" cy="52197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_GB2312" pitchFamily="49" charset="-122"/>
              </a:rPr>
              <a:t>7.1.1 </a:t>
            </a:r>
            <a:r>
              <a:rPr kumimoji="0" lang="en-US" altLang="en-US" b="1" dirty="0" err="1">
                <a:solidFill>
                  <a:srgbClr val="FF0000"/>
                </a:solidFill>
                <a:latin typeface="楷体" panose="02010609060101010101" pitchFamily="49" charset="-122"/>
                <a:ea typeface="楷体" panose="02010609060101010101" pitchFamily="49" charset="-122"/>
              </a:rPr>
              <a:t>质量和质量管理</a:t>
            </a:r>
            <a:endParaRPr kumimoji="0" lang="en-US" altLang="en-US" b="1" dirty="0" err="1">
              <a:solidFill>
                <a:srgbClr val="FF0000"/>
              </a:solidFill>
              <a:latin typeface="楷体" panose="02010609060101010101" pitchFamily="49" charset="-122"/>
              <a:ea typeface="楷体" panose="02010609060101010101" pitchFamily="49" charset="-122"/>
            </a:endParaRPr>
          </a:p>
        </p:txBody>
      </p:sp>
      <p:sp>
        <p:nvSpPr>
          <p:cNvPr id="15368" name="Text Box 9"/>
          <p:cNvSpPr txBox="1">
            <a:spLocks noChangeArrowheads="1"/>
          </p:cNvSpPr>
          <p:nvPr/>
        </p:nvSpPr>
        <p:spPr bwMode="auto">
          <a:xfrm>
            <a:off x="682625" y="1693863"/>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zh-CN" altLang="en-US" sz="2400" b="1" dirty="0" smtClean="0">
                <a:solidFill>
                  <a:srgbClr val="0000FF"/>
                </a:solidFill>
                <a:latin typeface="楷体" panose="02010609060101010101" pitchFamily="49" charset="-122"/>
                <a:ea typeface="楷体" panose="02010609060101010101" pitchFamily="49" charset="-122"/>
              </a:rPr>
              <a:t>软件</a:t>
            </a:r>
            <a:r>
              <a:rPr kumimoji="0" lang="en-US" altLang="en-US" sz="2400" b="1" dirty="0" err="1" smtClean="0">
                <a:solidFill>
                  <a:srgbClr val="0000FF"/>
                </a:solidFill>
                <a:latin typeface="楷体" panose="02010609060101010101" pitchFamily="49" charset="-122"/>
                <a:ea typeface="楷体" panose="02010609060101010101" pitchFamily="49" charset="-122"/>
              </a:rPr>
              <a:t>质量的定义</a:t>
            </a:r>
            <a:endParaRPr kumimoji="0" lang="en-US" altLang="en-US" sz="2400" b="1" dirty="0" err="1" smtClean="0">
              <a:solidFill>
                <a:srgbClr val="0000FF"/>
              </a:solidFill>
              <a:latin typeface="楷体" panose="02010609060101010101" pitchFamily="49" charset="-122"/>
              <a:ea typeface="楷体" panose="02010609060101010101" pitchFamily="49" charset="-122"/>
            </a:endParaRPr>
          </a:p>
        </p:txBody>
      </p:sp>
      <p:sp>
        <p:nvSpPr>
          <p:cNvPr id="11" name="Text Box 5"/>
          <p:cNvSpPr txBox="1">
            <a:spLocks noChangeArrowheads="1"/>
          </p:cNvSpPr>
          <p:nvPr/>
        </p:nvSpPr>
        <p:spPr bwMode="auto">
          <a:xfrm>
            <a:off x="71406" y="2143847"/>
            <a:ext cx="8893175" cy="4086225"/>
          </a:xfrm>
          <a:prstGeom prst="rect">
            <a:avLst/>
          </a:prstGeom>
          <a:noFill/>
          <a:ln w="9525" algn="ctr">
            <a:noFill/>
            <a:miter lim="800000"/>
          </a:ln>
        </p:spPr>
        <p:txBody>
          <a:bodyPr wrap="square">
            <a:spAutoFit/>
          </a:bodyPr>
          <a:lstStyle/>
          <a:p>
            <a:pPr algn="l">
              <a:lnSpc>
                <a:spcPct val="110000"/>
              </a:lnSpc>
              <a:spcBef>
                <a:spcPct val="60000"/>
              </a:spcBef>
              <a:buClr>
                <a:schemeClr val="hlink"/>
              </a:buClr>
            </a:pPr>
            <a:r>
              <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软件质量除了具有一般产品的质量</a:t>
            </a:r>
            <a:r>
              <a:rPr kumimoji="0" lang="zh-CN" altLang="en-US" b="1"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特征</a:t>
            </a:r>
            <a:r>
              <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以外，还具有</a:t>
            </a:r>
            <a:r>
              <a:rPr kumimoji="0" lang="en-US" altLang="zh-CN" b="1" dirty="0">
                <a:solidFill>
                  <a:schemeClr val="bg2"/>
                </a:solidFill>
                <a:latin typeface="楷体" panose="02010609060101010101" pitchFamily="49" charset="-122"/>
                <a:ea typeface="楷体" panose="02010609060101010101" pitchFamily="49" charset="-122"/>
                <a:cs typeface="楷体" panose="02010609060101010101" pitchFamily="49" charset="-122"/>
              </a:rPr>
              <a:t>6</a:t>
            </a:r>
            <a:r>
              <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个方面的质量特性，每个方面包含若干个子特性：</a:t>
            </a:r>
            <a:endPar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36905" lvl="2" indent="278130" algn="l">
              <a:spcBef>
                <a:spcPts val="600"/>
              </a:spcBef>
              <a:buClr>
                <a:schemeClr val="bg1"/>
              </a:buClr>
              <a:buFont typeface="Wingdings" panose="05000000000000000000" pitchFamily="2" charset="2"/>
              <a:buChar char="n"/>
            </a:pPr>
            <a:r>
              <a:rPr kumimoji="0" lang="zh-CN" altLang="en-US" b="1" dirty="0">
                <a:solidFill>
                  <a:schemeClr val="bg1"/>
                </a:solidFill>
                <a:latin typeface="楷体" panose="02010609060101010101" pitchFamily="49" charset="-122"/>
                <a:ea typeface="楷体" panose="02010609060101010101" pitchFamily="49" charset="-122"/>
                <a:cs typeface="楷体" panose="02010609060101010101" pitchFamily="49" charset="-122"/>
              </a:rPr>
              <a:t>功能性：</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适合性、准确性、互操作性、依从性、安全性；</a:t>
            </a:r>
            <a:endPar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36905" lvl="2" indent="278130" algn="l">
              <a:spcBef>
                <a:spcPts val="600"/>
              </a:spcBef>
              <a:buClr>
                <a:schemeClr val="bg1"/>
              </a:buClr>
              <a:buFont typeface="Wingdings" panose="05000000000000000000" pitchFamily="2" charset="2"/>
              <a:buChar char="n"/>
            </a:pPr>
            <a:r>
              <a:rPr kumimoji="0" lang="zh-CN" altLang="en-US" b="1" dirty="0">
                <a:solidFill>
                  <a:schemeClr val="bg1"/>
                </a:solidFill>
                <a:latin typeface="楷体" panose="02010609060101010101" pitchFamily="49" charset="-122"/>
                <a:ea typeface="楷体" panose="02010609060101010101" pitchFamily="49" charset="-122"/>
                <a:cs typeface="楷体" panose="02010609060101010101" pitchFamily="49" charset="-122"/>
              </a:rPr>
              <a:t>可靠性：</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成熟性、容错性、易恢复性；</a:t>
            </a:r>
            <a:endPar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36905" lvl="2" indent="278130" algn="l">
              <a:spcBef>
                <a:spcPts val="600"/>
              </a:spcBef>
              <a:buClr>
                <a:schemeClr val="bg1"/>
              </a:buClr>
              <a:buFont typeface="Wingdings" panose="05000000000000000000" pitchFamily="2" charset="2"/>
              <a:buChar char="n"/>
            </a:pPr>
            <a:r>
              <a:rPr kumimoji="0" lang="zh-CN" altLang="en-US" b="1" dirty="0">
                <a:solidFill>
                  <a:schemeClr val="bg1"/>
                </a:solidFill>
                <a:latin typeface="楷体" panose="02010609060101010101" pitchFamily="49" charset="-122"/>
                <a:ea typeface="楷体" panose="02010609060101010101" pitchFamily="49" charset="-122"/>
                <a:cs typeface="楷体" panose="02010609060101010101" pitchFamily="49" charset="-122"/>
              </a:rPr>
              <a:t>易用性：</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易理解性、易学性、易操作性；</a:t>
            </a:r>
            <a:endPar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36905" lvl="2" indent="278130" algn="l">
              <a:spcBef>
                <a:spcPts val="600"/>
              </a:spcBef>
              <a:buClr>
                <a:schemeClr val="bg1"/>
              </a:buClr>
              <a:buFont typeface="Wingdings" panose="05000000000000000000" pitchFamily="2" charset="2"/>
              <a:buChar char="n"/>
            </a:pPr>
            <a:r>
              <a:rPr kumimoji="0" lang="zh-CN" altLang="en-US" b="1" dirty="0">
                <a:solidFill>
                  <a:schemeClr val="bg1"/>
                </a:solidFill>
                <a:latin typeface="楷体" panose="02010609060101010101" pitchFamily="49" charset="-122"/>
                <a:ea typeface="楷体" panose="02010609060101010101" pitchFamily="49" charset="-122"/>
                <a:cs typeface="楷体" panose="02010609060101010101" pitchFamily="49" charset="-122"/>
              </a:rPr>
              <a:t>效  率：</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时间特性、资源特性；</a:t>
            </a:r>
            <a:endPar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36905" lvl="2" indent="278130" algn="l">
              <a:spcBef>
                <a:spcPts val="600"/>
              </a:spcBef>
              <a:buClr>
                <a:schemeClr val="bg1"/>
              </a:buClr>
              <a:buFont typeface="Wingdings" panose="05000000000000000000" pitchFamily="2" charset="2"/>
              <a:buChar char="n"/>
            </a:pPr>
            <a:r>
              <a:rPr kumimoji="0" lang="zh-CN" altLang="en-US" b="1" dirty="0">
                <a:solidFill>
                  <a:schemeClr val="bg1"/>
                </a:solidFill>
                <a:latin typeface="楷体" panose="02010609060101010101" pitchFamily="49" charset="-122"/>
                <a:ea typeface="楷体" panose="02010609060101010101" pitchFamily="49" charset="-122"/>
                <a:cs typeface="楷体" panose="02010609060101010101" pitchFamily="49" charset="-122"/>
              </a:rPr>
              <a:t>可维护性：</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易分析性、易改变性、稳定性、易测试性；</a:t>
            </a:r>
            <a:endPar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636905" lvl="2" indent="278130" algn="l">
              <a:spcBef>
                <a:spcPts val="600"/>
              </a:spcBef>
              <a:buClr>
                <a:schemeClr val="bg1"/>
              </a:buClr>
              <a:buFont typeface="Wingdings" panose="05000000000000000000" pitchFamily="2" charset="2"/>
              <a:buChar char="n"/>
            </a:pPr>
            <a:r>
              <a:rPr kumimoji="0" lang="zh-CN" altLang="en-US" b="1" dirty="0">
                <a:solidFill>
                  <a:schemeClr val="bg1"/>
                </a:solidFill>
                <a:latin typeface="楷体" panose="02010609060101010101" pitchFamily="49" charset="-122"/>
                <a:ea typeface="楷体" panose="02010609060101010101" pitchFamily="49" charset="-122"/>
                <a:cs typeface="楷体" panose="02010609060101010101" pitchFamily="49" charset="-122"/>
              </a:rPr>
              <a:t>可移植性：</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适应性、易安装性、遵循性、易替换性。</a:t>
            </a:r>
            <a:endPar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323850" y="260351"/>
            <a:ext cx="4419600" cy="762000"/>
          </a:xfrm>
        </p:spPr>
        <p:txBody>
          <a:bodyPr anchor="t">
            <a:normAutofit fontScale="90000"/>
          </a:bodyPr>
          <a:lstStyle/>
          <a:p>
            <a:pPr eaLnBrk="1" fontAlgn="auto" hangingPunct="1">
              <a:spcAft>
                <a:spcPts val="0"/>
              </a:spcAft>
              <a:defRPr/>
            </a:pPr>
            <a:r>
              <a:rPr lang="zh-CN" altLang="en-US" dirty="0" smtClean="0">
                <a:effectLst>
                  <a:outerShdw blurRad="38100" dist="38100" dir="2700000" algn="tl">
                    <a:srgbClr val="FFFFFF"/>
                  </a:outerShdw>
                </a:effectLst>
                <a:latin typeface="华文隶书" panose="02010800040101010101" pitchFamily="2" charset="-122"/>
                <a:ea typeface="华文隶书" panose="02010800040101010101" pitchFamily="2" charset="-122"/>
              </a:rPr>
              <a:t>软件质量模型</a:t>
            </a:r>
            <a:endParaRPr lang="zh-CN" altLang="en-US" dirty="0" smtClean="0">
              <a:latin typeface="华文隶书" panose="02010800040101010101" pitchFamily="2" charset="-122"/>
              <a:ea typeface="华文隶书" panose="02010800040101010101" pitchFamily="2" charset="-122"/>
            </a:endParaRPr>
          </a:p>
        </p:txBody>
      </p:sp>
      <p:sp>
        <p:nvSpPr>
          <p:cNvPr id="24579" name="页脚占位符 3"/>
          <p:cNvSpPr>
            <a:spLocks noGrp="1"/>
          </p:cNvSpPr>
          <p:nvPr>
            <p:ph type="ftr" sz="quarter" idx="11"/>
          </p:nvPr>
        </p:nvSpPr>
        <p:spPr bwMode="auto">
          <a:xfrm>
            <a:off x="1603376" y="6309784"/>
            <a:ext cx="5421313" cy="36406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ctr" eaLnBrk="1" hangingPunct="1"/>
            <a:r>
              <a:rPr lang="en-US" altLang="zh-CN" sz="1400" smtClean="0"/>
              <a:t> chapter__8</a:t>
            </a:r>
            <a:endParaRPr lang="en-US" altLang="zh-CN" sz="1400" smtClean="0"/>
          </a:p>
        </p:txBody>
      </p:sp>
      <p:sp>
        <p:nvSpPr>
          <p:cNvPr id="2" name="灯片编号占位符 4"/>
          <p:cNvSpPr>
            <a:spLocks noGrp="1"/>
          </p:cNvSpPr>
          <p:nvPr>
            <p:ph type="sldNum" sz="quarter" idx="12"/>
          </p:nvPr>
        </p:nvSpPr>
        <p:spPr/>
        <p:txBody>
          <a:bodyPr>
            <a:normAutofit fontScale="85000" lnSpcReduction="20000"/>
          </a:bodyPr>
          <a:lstStyle>
            <a:lvl1pPr eaLnBrk="0" hangingPunct="0">
              <a:spcBef>
                <a:spcPct val="20000"/>
              </a:spcBef>
              <a:buClr>
                <a:srgbClr val="FF0000"/>
              </a:buClr>
              <a:buSzPct val="55000"/>
              <a:buFont typeface="Monotype Sorts" charset="0"/>
              <a:buChar char="n"/>
              <a:defRPr kumimoji="1" sz="2800">
                <a:solidFill>
                  <a:schemeClr val="bg2"/>
                </a:solidFill>
                <a:latin typeface="Arial Narrow" panose="020B0606020202030204" pitchFamily="34" charset="0"/>
                <a:ea typeface="宋体" panose="02010600030101010101" pitchFamily="2" charset="-122"/>
              </a:defRPr>
            </a:lvl1pPr>
            <a:lvl2pPr marL="742950" indent="-285750" eaLnBrk="0" hangingPunct="0">
              <a:spcBef>
                <a:spcPct val="20000"/>
              </a:spcBef>
              <a:buClr>
                <a:srgbClr val="FFAF39"/>
              </a:buClr>
              <a:buSzPct val="55000"/>
              <a:buFont typeface="Monotype Sorts" charset="0"/>
              <a:buChar char="l"/>
              <a:defRPr kumimoji="1" sz="2600">
                <a:solidFill>
                  <a:schemeClr val="bg2"/>
                </a:solidFill>
                <a:latin typeface="Arial Narrow" panose="020B0606020202030204" pitchFamily="34" charset="0"/>
                <a:ea typeface="宋体" panose="02010600030101010101" pitchFamily="2" charset="-122"/>
              </a:defRPr>
            </a:lvl2pPr>
            <a:lvl3pPr marL="1143000" indent="-228600" eaLnBrk="0" hangingPunct="0">
              <a:spcBef>
                <a:spcPct val="20000"/>
              </a:spcBef>
              <a:buClr>
                <a:srgbClr val="9933FF"/>
              </a:buClr>
              <a:buSzPct val="59000"/>
              <a:buFont typeface="Monotype Sorts" charset="0"/>
              <a:buChar char="s"/>
              <a:defRPr kumimoji="1" sz="2400">
                <a:solidFill>
                  <a:schemeClr val="tx1"/>
                </a:solidFill>
                <a:latin typeface="Arial Narrow" panose="020B0606020202030204" pitchFamily="34" charset="0"/>
                <a:ea typeface="宋体" panose="02010600030101010101" pitchFamily="2" charset="-122"/>
              </a:defRPr>
            </a:lvl3pPr>
            <a:lvl4pPr marL="1600200" indent="-228600" eaLnBrk="0" hangingPunct="0">
              <a:spcBef>
                <a:spcPct val="20000"/>
              </a:spcBef>
              <a:buClr>
                <a:srgbClr val="009999"/>
              </a:buClr>
              <a:buSzPct val="64000"/>
              <a:buFont typeface="Monotype Sorts" charset="0"/>
              <a:buChar char="u"/>
              <a:defRPr kumimoji="1" sz="2200">
                <a:solidFill>
                  <a:srgbClr val="000000"/>
                </a:solidFill>
                <a:latin typeface="Arial Narrow" panose="020B0606020202030204" pitchFamily="34" charset="0"/>
                <a:ea typeface="宋体" panose="02010600030101010101" pitchFamily="2" charset="-122"/>
              </a:defRPr>
            </a:lvl4pPr>
            <a:lvl5pPr marL="2057400" indent="-228600" eaLnBrk="0" hangingPunct="0">
              <a:spcBef>
                <a:spcPct val="20000"/>
              </a:spcBef>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5pPr>
            <a:lvl6pPr marL="25146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6pPr>
            <a:lvl7pPr marL="29718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7pPr>
            <a:lvl8pPr marL="34290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8pPr>
            <a:lvl9pPr marL="38862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9pPr>
          </a:lstStyle>
          <a:p>
            <a:pPr eaLnBrk="1" hangingPunct="1">
              <a:spcBef>
                <a:spcPct val="0"/>
              </a:spcBef>
              <a:buClrTx/>
              <a:buSzTx/>
              <a:buFontTx/>
              <a:buNone/>
              <a:defRPr/>
            </a:pPr>
            <a:fld id="{7F1341DA-5F21-4857-AAF5-753822137BF1}" type="slidenum">
              <a:rPr lang="en-US" altLang="zh-CN" sz="1400" smtClean="0">
                <a:solidFill>
                  <a:schemeClr val="tx1"/>
                </a:solidFill>
              </a:rPr>
            </a:fld>
            <a:endParaRPr lang="en-US" altLang="zh-CN" sz="1400" smtClean="0">
              <a:solidFill>
                <a:schemeClr val="tx1"/>
              </a:solidFill>
            </a:endParaRPr>
          </a:p>
        </p:txBody>
      </p:sp>
      <p:sp>
        <p:nvSpPr>
          <p:cNvPr id="516099" name="Rectangle 3"/>
          <p:cNvSpPr>
            <a:spLocks noGrp="1" noChangeArrowheads="1"/>
          </p:cNvSpPr>
          <p:nvPr>
            <p:ph sz="quarter" idx="1"/>
          </p:nvPr>
        </p:nvSpPr>
        <p:spPr>
          <a:xfrm>
            <a:off x="323851" y="1917659"/>
            <a:ext cx="7980363" cy="1439333"/>
          </a:xfrm>
          <a:ln>
            <a:solidFill>
              <a:schemeClr val="accent1">
                <a:lumMod val="75000"/>
              </a:schemeClr>
            </a:solidFill>
          </a:ln>
        </p:spPr>
        <p:txBody>
          <a:bodyPr>
            <a:noAutofit/>
          </a:bodyPr>
          <a:lstStyle/>
          <a:p>
            <a:pPr marL="320040" indent="-320040" eaLnBrk="1" fontAlgn="auto" hangingPunct="1">
              <a:lnSpc>
                <a:spcPct val="110000"/>
              </a:lnSpc>
              <a:spcAft>
                <a:spcPts val="0"/>
              </a:spcAft>
              <a:buFont typeface="Wingdings" panose="05000000000000000000" pitchFamily="2" charset="2"/>
              <a:buNone/>
              <a:defRPr/>
            </a:pPr>
            <a:r>
              <a:rPr kumimoji="0" lang="zh-CN" altLang="en-US" sz="2800" b="1" kern="1200" dirty="0">
                <a:solidFill>
                  <a:schemeClr val="bg2"/>
                </a:solidFill>
                <a:latin typeface="楷体" panose="02010609060101010101" pitchFamily="49" charset="-122"/>
                <a:ea typeface="楷体" panose="02010609060101010101" pitchFamily="49" charset="-122"/>
              </a:rPr>
              <a:t>人们通常把影响软件质量的特性用软件质量模型来描述。</a:t>
            </a:r>
            <a:endParaRPr kumimoji="0" lang="zh-CN" altLang="en-US" sz="2800" b="1" kern="1200" dirty="0">
              <a:solidFill>
                <a:schemeClr val="bg2"/>
              </a:solidFill>
              <a:latin typeface="楷体" panose="02010609060101010101" pitchFamily="49" charset="-122"/>
              <a:ea typeface="楷体" panose="02010609060101010101" pitchFamily="49" charset="-122"/>
            </a:endParaRPr>
          </a:p>
        </p:txBody>
      </p:sp>
      <p:sp>
        <p:nvSpPr>
          <p:cNvPr id="6" name="Rectangle 3"/>
          <p:cNvSpPr txBox="1">
            <a:spLocks noChangeArrowheads="1"/>
          </p:cNvSpPr>
          <p:nvPr/>
        </p:nvSpPr>
        <p:spPr bwMode="auto">
          <a:xfrm>
            <a:off x="323851" y="3524251"/>
            <a:ext cx="7980363" cy="2592916"/>
          </a:xfrm>
          <a:prstGeom prst="rect">
            <a:avLst/>
          </a:prstGeom>
          <a:noFill/>
          <a:ln>
            <a:solidFill>
              <a:schemeClr val="accent1">
                <a:lumMod val="75000"/>
              </a:schemeClr>
            </a:solidFill>
          </a:ln>
          <a:extLst>
            <a:ext uri="{909E8E84-426E-40DD-AFC4-6F175D3DCCD1}">
              <a14:hiddenFill xmlns:a14="http://schemas.microsoft.com/office/drawing/2010/main">
                <a:solidFill>
                  <a:srgbClr val="FFFFFF"/>
                </a:solidFill>
              </a14:hiddenFill>
            </a:ext>
          </a:extLst>
        </p:spPr>
        <p:txBody>
          <a:bodyPr>
            <a:normAutofit/>
          </a:bodyPr>
          <a:lstStyle>
            <a:lvl1pPr marL="319405" indent="-319405" algn="l" rtl="0" fontAlgn="base">
              <a:spcBef>
                <a:spcPts val="700"/>
              </a:spcBef>
              <a:spcAft>
                <a:spcPct val="0"/>
              </a:spcAft>
              <a:buClr>
                <a:schemeClr val="accent2"/>
              </a:buClr>
              <a:buSzPct val="60000"/>
              <a:buFont typeface="Wingdings" panose="05000000000000000000" pitchFamily="2" charset="2"/>
              <a:buChar char=""/>
              <a:defRPr sz="2900" kern="1200">
                <a:solidFill>
                  <a:schemeClr val="tx1"/>
                </a:solidFill>
                <a:latin typeface="+mn-lt"/>
                <a:ea typeface="+mn-ea"/>
                <a:cs typeface="+mn-cs"/>
              </a:defRPr>
            </a:lvl1pPr>
            <a:lvl2pPr marL="640080" indent="-273050" algn="l" rtl="0" fontAlgn="base">
              <a:spcBef>
                <a:spcPts val="550"/>
              </a:spcBef>
              <a:spcAft>
                <a:spcPct val="0"/>
              </a:spcAft>
              <a:buClr>
                <a:schemeClr val="accent1"/>
              </a:buClr>
              <a:buSzPct val="70000"/>
              <a:buFont typeface="Wingdings 2" panose="05020102010507070707" pitchFamily="18" charset="2"/>
              <a:buChar char=""/>
              <a:defRPr sz="2600" kern="1200">
                <a:solidFill>
                  <a:schemeClr val="tx1"/>
                </a:solidFill>
                <a:latin typeface="+mn-lt"/>
                <a:ea typeface="+mn-ea"/>
                <a:cs typeface="+mn-cs"/>
              </a:defRPr>
            </a:lvl2pPr>
            <a:lvl3pPr marL="914400" indent="-228600" algn="l" rtl="0" fontAlgn="base">
              <a:spcBef>
                <a:spcPts val="500"/>
              </a:spcBef>
              <a:spcAft>
                <a:spcPct val="0"/>
              </a:spcAft>
              <a:buClr>
                <a:schemeClr val="accent2"/>
              </a:buClr>
              <a:buSzPct val="75000"/>
              <a:buFont typeface="Wingdings" panose="05000000000000000000" pitchFamily="2" charset="2"/>
              <a:buChar char=""/>
              <a:defRPr sz="2300" kern="1200">
                <a:solidFill>
                  <a:schemeClr val="tx1"/>
                </a:solidFill>
                <a:latin typeface="+mn-lt"/>
                <a:ea typeface="+mn-ea"/>
                <a:cs typeface="+mn-cs"/>
              </a:defRPr>
            </a:lvl3pPr>
            <a:lvl4pPr marL="1371600" indent="-228600" algn="l" rtl="0" fontAlgn="base">
              <a:spcBef>
                <a:spcPts val="400"/>
              </a:spcBef>
              <a:spcAft>
                <a:spcPct val="0"/>
              </a:spcAft>
              <a:buClr>
                <a:srgbClr val="A5AB81"/>
              </a:buClr>
              <a:buSzPct val="75000"/>
              <a:buFont typeface="Wingdings" panose="05000000000000000000" pitchFamily="2" charset="2"/>
              <a:buChar char=""/>
              <a:defRPr sz="2000" kern="1200">
                <a:solidFill>
                  <a:schemeClr val="tx1"/>
                </a:solidFill>
                <a:latin typeface="+mn-lt"/>
                <a:ea typeface="+mn-ea"/>
                <a:cs typeface="+mn-cs"/>
              </a:defRPr>
            </a:lvl4pPr>
            <a:lvl5pPr marL="1828800" indent="-228600" algn="l" rtl="0" fontAlgn="base">
              <a:spcBef>
                <a:spcPts val="400"/>
              </a:spcBef>
              <a:spcAft>
                <a:spcPct val="0"/>
              </a:spcAft>
              <a:buClr>
                <a:srgbClr val="D8B25C"/>
              </a:buClr>
              <a:buSzPct val="65000"/>
              <a:buFont typeface="Wingdings" panose="05000000000000000000"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a:lstStyle>
          <a:p>
            <a:pPr marL="320040" indent="-320040" fontAlgn="auto">
              <a:lnSpc>
                <a:spcPct val="95000"/>
              </a:lnSpc>
              <a:spcAft>
                <a:spcPts val="0"/>
              </a:spcAft>
              <a:buFont typeface="Wingdings" panose="05000000000000000000" pitchFamily="2" charset="2"/>
              <a:buChar char="n"/>
              <a:defRPr/>
            </a:pPr>
            <a:endParaRPr kumimoji="0" lang="zh-CN" altLang="en-US" sz="3600" b="1" dirty="0" smtClean="0">
              <a:effectLst>
                <a:outerShdw blurRad="38100" dist="38100" dir="2700000" algn="tl">
                  <a:srgbClr val="FFFFFF"/>
                </a:outerShdw>
              </a:effectLst>
              <a:latin typeface="Times New Roman" panose="02020603050405020304" pitchFamily="18" charset="0"/>
              <a:ea typeface="楷体_GB2312" pitchFamily="49" charset="-122"/>
            </a:endParaRPr>
          </a:p>
          <a:p>
            <a:pPr marL="320040" indent="-320040" fontAlgn="auto">
              <a:lnSpc>
                <a:spcPct val="110000"/>
              </a:lnSpc>
              <a:spcBef>
                <a:spcPct val="20000"/>
              </a:spcBef>
              <a:spcAft>
                <a:spcPts val="0"/>
              </a:spcAft>
              <a:buSzPct val="80000"/>
              <a:buNone/>
              <a:defRPr/>
            </a:pPr>
            <a:r>
              <a:rPr kumimoji="0" lang="en-US" altLang="zh-CN" sz="2800" b="1" dirty="0">
                <a:solidFill>
                  <a:schemeClr val="bg2"/>
                </a:solidFill>
                <a:latin typeface="Times New Roman" panose="02020603050405020304" pitchFamily="18" charset="0"/>
                <a:ea typeface="楷体" panose="02010609060101010101" pitchFamily="49" charset="-122"/>
                <a:cs typeface="Times New Roman" panose="02020603050405020304" pitchFamily="18" charset="0"/>
              </a:rPr>
              <a:t>1976</a:t>
            </a:r>
            <a:r>
              <a:rPr kumimoji="0" lang="zh-CN" altLang="en-US" sz="2800" b="1" dirty="0">
                <a:solidFill>
                  <a:schemeClr val="bg2"/>
                </a:solidFill>
                <a:latin typeface="楷体" panose="02010609060101010101" pitchFamily="49" charset="-122"/>
                <a:ea typeface="楷体" panose="02010609060101010101" pitchFamily="49" charset="-122"/>
              </a:rPr>
              <a:t>年</a:t>
            </a:r>
            <a:r>
              <a:rPr kumimoji="0" lang="zh-CN" altLang="en-US" sz="2800" b="1" dirty="0">
                <a:solidFill>
                  <a:schemeClr val="bg2"/>
                </a:solidFill>
                <a:latin typeface="黑体" panose="02010609060101010101" pitchFamily="2" charset="-122"/>
                <a:ea typeface="黑体" panose="02010609060101010101" pitchFamily="2" charset="-122"/>
              </a:rPr>
              <a:t> </a:t>
            </a:r>
            <a:r>
              <a:rPr kumimoji="0" lang="zh-CN" altLang="en-US" sz="2800" b="1" dirty="0">
                <a:solidFill>
                  <a:schemeClr val="bg2"/>
                </a:solidFill>
                <a:latin typeface="楷体" panose="02010609060101010101" pitchFamily="49" charset="-122"/>
                <a:ea typeface="楷体" panose="02010609060101010101" pitchFamily="49" charset="-122"/>
              </a:rPr>
              <a:t> </a:t>
            </a:r>
            <a:r>
              <a:rPr kumimoji="0" lang="en-US" altLang="zh-CN" sz="2800" b="1" dirty="0">
                <a:solidFill>
                  <a:schemeClr val="bg2"/>
                </a:solidFill>
                <a:latin typeface="Times New Roman" panose="02020603050405020304" pitchFamily="18" charset="0"/>
                <a:ea typeface="楷体" panose="02010609060101010101" pitchFamily="49" charset="-122"/>
                <a:cs typeface="Times New Roman" panose="02020603050405020304" pitchFamily="18" charset="0"/>
              </a:rPr>
              <a:t>Boehm</a:t>
            </a:r>
            <a:r>
              <a:rPr kumimoji="0" lang="zh-CN" altLang="en-US" sz="2800" b="1" dirty="0">
                <a:solidFill>
                  <a:schemeClr val="bg2"/>
                </a:solidFill>
                <a:latin typeface="楷体" panose="02010609060101010101" pitchFamily="49" charset="-122"/>
                <a:ea typeface="楷体" panose="02010609060101010101" pitchFamily="49" charset="-122"/>
              </a:rPr>
              <a:t>质量模型</a:t>
            </a:r>
            <a:endParaRPr kumimoji="0" lang="zh-CN" altLang="en-US" sz="2800" b="1" dirty="0">
              <a:solidFill>
                <a:schemeClr val="bg2"/>
              </a:solidFill>
              <a:latin typeface="黑体" panose="02010609060101010101" pitchFamily="2" charset="-122"/>
              <a:ea typeface="黑体" panose="02010609060101010101" pitchFamily="2" charset="-122"/>
            </a:endParaRPr>
          </a:p>
          <a:p>
            <a:pPr marL="320040" indent="-320040" fontAlgn="auto">
              <a:lnSpc>
                <a:spcPct val="110000"/>
              </a:lnSpc>
              <a:spcBef>
                <a:spcPct val="20000"/>
              </a:spcBef>
              <a:spcAft>
                <a:spcPts val="0"/>
              </a:spcAft>
              <a:buSzPct val="80000"/>
              <a:buNone/>
              <a:defRPr/>
            </a:pPr>
            <a:r>
              <a:rPr kumimoji="0" lang="en-US" altLang="zh-CN" sz="2800" b="1" dirty="0">
                <a:solidFill>
                  <a:schemeClr val="bg2"/>
                </a:solidFill>
                <a:latin typeface="Times New Roman" panose="02020603050405020304" pitchFamily="18" charset="0"/>
                <a:ea typeface="楷体" panose="02010609060101010101" pitchFamily="49" charset="-122"/>
                <a:cs typeface="Times New Roman" panose="02020603050405020304" pitchFamily="18" charset="0"/>
              </a:rPr>
              <a:t>1979</a:t>
            </a:r>
            <a:r>
              <a:rPr kumimoji="0" lang="zh-CN" altLang="en-US" sz="2800" b="1" dirty="0">
                <a:solidFill>
                  <a:schemeClr val="bg2"/>
                </a:solidFill>
                <a:latin typeface="楷体" panose="02010609060101010101" pitchFamily="49" charset="-122"/>
                <a:ea typeface="楷体" panose="02010609060101010101" pitchFamily="49" charset="-122"/>
              </a:rPr>
              <a:t>年</a:t>
            </a:r>
            <a:r>
              <a:rPr kumimoji="0" lang="zh-CN" altLang="en-US" sz="2800" b="1" dirty="0">
                <a:solidFill>
                  <a:schemeClr val="bg2"/>
                </a:solidFill>
                <a:latin typeface="黑体" panose="02010609060101010101" pitchFamily="2" charset="-122"/>
                <a:ea typeface="黑体" panose="02010609060101010101" pitchFamily="2" charset="-122"/>
              </a:rPr>
              <a:t>  </a:t>
            </a:r>
            <a:r>
              <a:rPr kumimoji="0" lang="en-US" altLang="zh-CN" sz="2800" b="1" dirty="0">
                <a:solidFill>
                  <a:schemeClr val="bg2"/>
                </a:solidFill>
                <a:latin typeface="Times New Roman" panose="02020603050405020304" pitchFamily="18" charset="0"/>
                <a:ea typeface="楷体" panose="02010609060101010101" pitchFamily="49" charset="-122"/>
                <a:cs typeface="Times New Roman" panose="02020603050405020304" pitchFamily="18" charset="0"/>
              </a:rPr>
              <a:t>McCall</a:t>
            </a:r>
            <a:r>
              <a:rPr kumimoji="0" lang="zh-CN" altLang="en-US" sz="2800" b="1" dirty="0">
                <a:solidFill>
                  <a:schemeClr val="bg2"/>
                </a:solidFill>
                <a:latin typeface="楷体" panose="02010609060101010101" pitchFamily="49" charset="-122"/>
                <a:ea typeface="楷体" panose="02010609060101010101" pitchFamily="49" charset="-122"/>
              </a:rPr>
              <a:t>质量模型</a:t>
            </a:r>
            <a:endParaRPr kumimoji="0" lang="zh-CN" altLang="en-US" sz="2800" b="1" dirty="0">
              <a:solidFill>
                <a:schemeClr val="bg2"/>
              </a:solidFill>
              <a:latin typeface="黑体" panose="02010609060101010101" pitchFamily="2" charset="-122"/>
              <a:ea typeface="黑体" panose="02010609060101010101" pitchFamily="2" charset="-122"/>
            </a:endParaRPr>
          </a:p>
          <a:p>
            <a:pPr marL="320040" indent="-320040" fontAlgn="auto">
              <a:lnSpc>
                <a:spcPct val="110000"/>
              </a:lnSpc>
              <a:spcBef>
                <a:spcPct val="20000"/>
              </a:spcBef>
              <a:spcAft>
                <a:spcPts val="0"/>
              </a:spcAft>
              <a:buSzPct val="80000"/>
              <a:buNone/>
              <a:defRPr/>
            </a:pPr>
            <a:r>
              <a:rPr kumimoji="0" lang="en-US" altLang="zh-CN" sz="2800" b="1" dirty="0">
                <a:solidFill>
                  <a:schemeClr val="bg2"/>
                </a:solidFill>
                <a:latin typeface="Times New Roman" panose="02020603050405020304" pitchFamily="18" charset="0"/>
                <a:ea typeface="楷体" panose="02010609060101010101" pitchFamily="49" charset="-122"/>
                <a:cs typeface="Times New Roman" panose="02020603050405020304" pitchFamily="18" charset="0"/>
              </a:rPr>
              <a:t>1985</a:t>
            </a:r>
            <a:r>
              <a:rPr kumimoji="0" lang="zh-CN" altLang="en-US" sz="2800" b="1" dirty="0">
                <a:solidFill>
                  <a:schemeClr val="bg2"/>
                </a:solidFill>
                <a:latin typeface="楷体" panose="02010609060101010101" pitchFamily="49" charset="-122"/>
                <a:ea typeface="楷体" panose="02010609060101010101" pitchFamily="49" charset="-122"/>
              </a:rPr>
              <a:t>年</a:t>
            </a:r>
            <a:r>
              <a:rPr kumimoji="0" lang="zh-CN" altLang="en-US" sz="2800" b="1" dirty="0">
                <a:solidFill>
                  <a:schemeClr val="bg2"/>
                </a:solidFill>
                <a:latin typeface="黑体" panose="02010609060101010101" pitchFamily="2" charset="-122"/>
                <a:ea typeface="黑体" panose="02010609060101010101" pitchFamily="2" charset="-122"/>
              </a:rPr>
              <a:t>  </a:t>
            </a:r>
            <a:r>
              <a:rPr kumimoji="0" lang="en-US" altLang="zh-CN" sz="2800" b="1" dirty="0">
                <a:solidFill>
                  <a:schemeClr val="bg2"/>
                </a:solidFill>
                <a:latin typeface="Times New Roman" panose="02020603050405020304" pitchFamily="18" charset="0"/>
                <a:ea typeface="楷体" panose="02010609060101010101" pitchFamily="49" charset="-122"/>
                <a:cs typeface="Times New Roman" panose="02020603050405020304" pitchFamily="18" charset="0"/>
              </a:rPr>
              <a:t>ISO</a:t>
            </a:r>
            <a:r>
              <a:rPr kumimoji="0" lang="zh-CN" altLang="en-US" sz="2800" b="1" dirty="0">
                <a:solidFill>
                  <a:schemeClr val="bg2"/>
                </a:solidFill>
                <a:latin typeface="楷体" panose="02010609060101010101" pitchFamily="49" charset="-122"/>
                <a:ea typeface="楷体" panose="02010609060101010101" pitchFamily="49" charset="-122"/>
              </a:rPr>
              <a:t>质量模型</a:t>
            </a:r>
            <a:endParaRPr kumimoji="0" lang="zh-CN" altLang="en-US" sz="2800" b="1" dirty="0">
              <a:solidFill>
                <a:schemeClr val="bg2"/>
              </a:solidFill>
              <a:latin typeface="楷体" panose="02010609060101010101" pitchFamily="49" charset="-122"/>
              <a:ea typeface="楷体" panose="02010609060101010101" pitchFamily="49" charset="-122"/>
            </a:endParaRPr>
          </a:p>
        </p:txBody>
      </p:sp>
      <p:sp>
        <p:nvSpPr>
          <p:cNvPr id="7" name="Rectangle 8"/>
          <p:cNvSpPr>
            <a:spLocks noChangeArrowheads="1"/>
          </p:cNvSpPr>
          <p:nvPr/>
        </p:nvSpPr>
        <p:spPr bwMode="auto">
          <a:xfrm>
            <a:off x="323850" y="1341438"/>
            <a:ext cx="3128010" cy="521970"/>
          </a:xfrm>
          <a:prstGeom prst="rect">
            <a:avLst/>
          </a:prstGeom>
          <a:noFill/>
          <a:ln w="9525">
            <a:noFill/>
            <a:miter lim="800000"/>
          </a:ln>
        </p:spPr>
        <p:txBody>
          <a:bodyPr wrap="none">
            <a:spAutoFit/>
          </a:bodyPr>
          <a:lstStyle/>
          <a:p>
            <a:pPr algn="l">
              <a:spcBef>
                <a:spcPct val="0"/>
              </a:spcBef>
            </a:pPr>
            <a:r>
              <a:rPr kumimoji="0" lang="en-US" altLang="en-US" b="1" dirty="0" smtClean="0">
                <a:solidFill>
                  <a:srgbClr val="FF0000"/>
                </a:solidFill>
                <a:ea typeface="楷体_GB2312" pitchFamily="49" charset="-122"/>
              </a:rPr>
              <a:t>7.1.</a:t>
            </a:r>
            <a:r>
              <a:rPr kumimoji="0" lang="en-US" altLang="zh-CN" b="1" dirty="0" smtClean="0">
                <a:solidFill>
                  <a:srgbClr val="FF0000"/>
                </a:solidFill>
                <a:ea typeface="楷体_GB2312" pitchFamily="49" charset="-122"/>
              </a:rPr>
              <a:t>2</a:t>
            </a:r>
            <a:r>
              <a:rPr kumimoji="0" lang="en-US" altLang="en-US" b="1" dirty="0" smtClean="0">
                <a:solidFill>
                  <a:srgbClr val="FF0000"/>
                </a:solidFill>
                <a:ea typeface="楷体_GB2312" pitchFamily="49" charset="-122"/>
              </a:rPr>
              <a:t> </a:t>
            </a:r>
            <a:r>
              <a:rPr kumimoji="0" lang="zh-CN" altLang="en-US" b="1" dirty="0" smtClean="0">
                <a:solidFill>
                  <a:srgbClr val="FF0000"/>
                </a:solidFill>
                <a:latin typeface="楷体" panose="02010609060101010101" pitchFamily="49" charset="-122"/>
                <a:ea typeface="楷体" panose="02010609060101010101" pitchFamily="49" charset="-122"/>
              </a:rPr>
              <a:t>软件</a:t>
            </a:r>
            <a:r>
              <a:rPr kumimoji="0" lang="en-US" altLang="en-US" b="1" dirty="0" err="1" smtClean="0">
                <a:solidFill>
                  <a:srgbClr val="FF0000"/>
                </a:solidFill>
                <a:latin typeface="楷体" panose="02010609060101010101" pitchFamily="49" charset="-122"/>
                <a:ea typeface="楷体" panose="02010609060101010101" pitchFamily="49" charset="-122"/>
              </a:rPr>
              <a:t>质量</a:t>
            </a:r>
            <a:r>
              <a:rPr kumimoji="0" lang="zh-CN" altLang="en-US" b="1" dirty="0" smtClean="0">
                <a:solidFill>
                  <a:srgbClr val="FF0000"/>
                </a:solidFill>
                <a:latin typeface="楷体" panose="02010609060101010101" pitchFamily="49" charset="-122"/>
                <a:ea typeface="楷体" panose="02010609060101010101" pitchFamily="49" charset="-122"/>
              </a:rPr>
              <a:t>模型</a:t>
            </a:r>
            <a:endParaRPr kumimoji="0" lang="zh-CN" altLang="en-US" b="1" dirty="0" smtClean="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612775" y="422176"/>
            <a:ext cx="8153400" cy="990600"/>
          </a:xfrm>
        </p:spPr>
        <p:txBody>
          <a:bodyPr/>
          <a:lstStyle/>
          <a:p>
            <a:pPr eaLnBrk="1" hangingPunct="1"/>
            <a:r>
              <a:rPr lang="en-US" altLang="zh-CN" dirty="0" smtClean="0">
                <a:latin typeface="Times New Roman" panose="02020603050405020304" pitchFamily="18" charset="0"/>
                <a:cs typeface="Times New Roman" panose="02020603050405020304" pitchFamily="18" charset="0"/>
              </a:rPr>
              <a:t>Boehm</a:t>
            </a:r>
            <a:r>
              <a:rPr lang="zh-CN" altLang="zh-CN" dirty="0" smtClean="0">
                <a:latin typeface="楷体" panose="02010609060101010101" pitchFamily="49" charset="-122"/>
                <a:ea typeface="楷体" panose="02010609060101010101" pitchFamily="49" charset="-122"/>
              </a:rPr>
              <a:t>模型</a:t>
            </a:r>
            <a:endParaRPr lang="zh-CN" altLang="zh-CN" dirty="0" smtClean="0">
              <a:latin typeface="楷体" panose="02010609060101010101" pitchFamily="49" charset="-122"/>
              <a:ea typeface="楷体" panose="02010609060101010101" pitchFamily="49" charset="-122"/>
            </a:endParaRPr>
          </a:p>
        </p:txBody>
      </p:sp>
      <p:sp>
        <p:nvSpPr>
          <p:cNvPr id="25603" name="页脚占位符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r>
              <a:rPr kumimoji="0" lang="en-US" altLang="zh-CN" sz="1400" smtClean="0">
                <a:solidFill>
                  <a:schemeClr val="tx2"/>
                </a:solidFill>
              </a:rPr>
              <a:t> chapter__5</a:t>
            </a:r>
            <a:endParaRPr kumimoji="0" lang="en-US" altLang="zh-CN" sz="1400" smtClean="0">
              <a:solidFill>
                <a:schemeClr val="tx2"/>
              </a:solidFill>
            </a:endParaRPr>
          </a:p>
        </p:txBody>
      </p:sp>
      <p:sp>
        <p:nvSpPr>
          <p:cNvPr id="5" name="灯片编号占位符 4"/>
          <p:cNvSpPr>
            <a:spLocks noGrp="1"/>
          </p:cNvSpPr>
          <p:nvPr>
            <p:ph type="sldNum" sz="quarter" idx="12"/>
          </p:nvPr>
        </p:nvSpPr>
        <p:spPr/>
        <p:txBody>
          <a:bodyPr>
            <a:normAutofit fontScale="40000" lnSpcReduction="20000"/>
          </a:bodyPr>
          <a:lstStyle/>
          <a:p>
            <a:pPr>
              <a:defRPr/>
            </a:pPr>
            <a:fld id="{02CCF781-8352-4228-BA84-8014D1ED20F2}" type="slidenum">
              <a:rPr lang="en-US" altLang="zh-CN" smtClean="0"/>
            </a:fld>
            <a:endParaRPr lang="en-US" altLang="zh-CN"/>
          </a:p>
        </p:txBody>
      </p:sp>
      <p:pic>
        <p:nvPicPr>
          <p:cNvPr id="2560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638" y="1604433"/>
            <a:ext cx="8996362" cy="5088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79388" y="468032"/>
            <a:ext cx="7772400" cy="80072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pPr eaLnBrk="1" hangingPunct="1"/>
            <a:r>
              <a:rPr lang="en-US" altLang="zh-CN" dirty="0" smtClean="0">
                <a:latin typeface="Times New Roman" panose="02020603050405020304" pitchFamily="18" charset="0"/>
                <a:ea typeface="华文隶书" panose="02010800040101010101" pitchFamily="2" charset="-122"/>
                <a:cs typeface="Times New Roman" panose="02020603050405020304" pitchFamily="18" charset="0"/>
              </a:rPr>
              <a:t>McCall</a:t>
            </a:r>
            <a:r>
              <a:rPr lang="zh-CN" altLang="en-US" dirty="0" smtClean="0">
                <a:latin typeface="楷体" panose="02010609060101010101" pitchFamily="49" charset="-122"/>
                <a:ea typeface="楷体" panose="02010609060101010101" pitchFamily="49" charset="-122"/>
              </a:rPr>
              <a:t>质量模型</a:t>
            </a:r>
            <a:endParaRPr lang="zh-CN" altLang="en-US" dirty="0" smtClean="0">
              <a:latin typeface="楷体" panose="02010609060101010101" pitchFamily="49" charset="-122"/>
              <a:ea typeface="楷体" panose="02010609060101010101" pitchFamily="49" charset="-122"/>
            </a:endParaRPr>
          </a:p>
        </p:txBody>
      </p:sp>
      <p:sp>
        <p:nvSpPr>
          <p:cNvPr id="26627" name="页脚占位符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r>
              <a:rPr lang="en-US" altLang="zh-CN" sz="1400" smtClean="0"/>
              <a:t> chapter__5</a:t>
            </a:r>
            <a:endParaRPr lang="en-US" altLang="zh-CN" sz="1400" smtClean="0"/>
          </a:p>
        </p:txBody>
      </p:sp>
      <p:sp>
        <p:nvSpPr>
          <p:cNvPr id="2" name="灯片编号占位符 4"/>
          <p:cNvSpPr>
            <a:spLocks noGrp="1"/>
          </p:cNvSpPr>
          <p:nvPr>
            <p:ph type="sldNum" sz="quarter" idx="12"/>
          </p:nvPr>
        </p:nvSpPr>
        <p:spPr/>
        <p:txBody>
          <a:bodyPr>
            <a:normAutofit fontScale="85000" lnSpcReduction="20000"/>
          </a:bodyPr>
          <a:lstStyle>
            <a:lvl1pPr eaLnBrk="0" hangingPunct="0">
              <a:spcBef>
                <a:spcPct val="20000"/>
              </a:spcBef>
              <a:buClr>
                <a:srgbClr val="FF0000"/>
              </a:buClr>
              <a:buSzPct val="55000"/>
              <a:buFont typeface="Monotype Sorts" charset="0"/>
              <a:buChar char="n"/>
              <a:defRPr kumimoji="1" sz="2800">
                <a:solidFill>
                  <a:schemeClr val="bg2"/>
                </a:solidFill>
                <a:latin typeface="Arial Narrow" panose="020B0606020202030204" pitchFamily="34" charset="0"/>
                <a:ea typeface="宋体" panose="02010600030101010101" pitchFamily="2" charset="-122"/>
              </a:defRPr>
            </a:lvl1pPr>
            <a:lvl2pPr marL="742950" indent="-285750" eaLnBrk="0" hangingPunct="0">
              <a:spcBef>
                <a:spcPct val="20000"/>
              </a:spcBef>
              <a:buClr>
                <a:srgbClr val="FFAF39"/>
              </a:buClr>
              <a:buSzPct val="55000"/>
              <a:buFont typeface="Monotype Sorts" charset="0"/>
              <a:buChar char="l"/>
              <a:defRPr kumimoji="1" sz="2600">
                <a:solidFill>
                  <a:schemeClr val="bg2"/>
                </a:solidFill>
                <a:latin typeface="Arial Narrow" panose="020B0606020202030204" pitchFamily="34" charset="0"/>
                <a:ea typeface="宋体" panose="02010600030101010101" pitchFamily="2" charset="-122"/>
              </a:defRPr>
            </a:lvl2pPr>
            <a:lvl3pPr marL="1143000" indent="-228600" eaLnBrk="0" hangingPunct="0">
              <a:spcBef>
                <a:spcPct val="20000"/>
              </a:spcBef>
              <a:buClr>
                <a:srgbClr val="9933FF"/>
              </a:buClr>
              <a:buSzPct val="59000"/>
              <a:buFont typeface="Monotype Sorts" charset="0"/>
              <a:buChar char="s"/>
              <a:defRPr kumimoji="1" sz="2400">
                <a:solidFill>
                  <a:schemeClr val="tx1"/>
                </a:solidFill>
                <a:latin typeface="Arial Narrow" panose="020B0606020202030204" pitchFamily="34" charset="0"/>
                <a:ea typeface="宋体" panose="02010600030101010101" pitchFamily="2" charset="-122"/>
              </a:defRPr>
            </a:lvl3pPr>
            <a:lvl4pPr marL="1600200" indent="-228600" eaLnBrk="0" hangingPunct="0">
              <a:spcBef>
                <a:spcPct val="20000"/>
              </a:spcBef>
              <a:buClr>
                <a:srgbClr val="009999"/>
              </a:buClr>
              <a:buSzPct val="64000"/>
              <a:buFont typeface="Monotype Sorts" charset="0"/>
              <a:buChar char="u"/>
              <a:defRPr kumimoji="1" sz="2200">
                <a:solidFill>
                  <a:srgbClr val="000000"/>
                </a:solidFill>
                <a:latin typeface="Arial Narrow" panose="020B0606020202030204" pitchFamily="34" charset="0"/>
                <a:ea typeface="宋体" panose="02010600030101010101" pitchFamily="2" charset="-122"/>
              </a:defRPr>
            </a:lvl4pPr>
            <a:lvl5pPr marL="2057400" indent="-228600" eaLnBrk="0" hangingPunct="0">
              <a:spcBef>
                <a:spcPct val="20000"/>
              </a:spcBef>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5pPr>
            <a:lvl6pPr marL="25146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6pPr>
            <a:lvl7pPr marL="29718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7pPr>
            <a:lvl8pPr marL="34290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8pPr>
            <a:lvl9pPr marL="38862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9pPr>
          </a:lstStyle>
          <a:p>
            <a:pPr eaLnBrk="1" hangingPunct="1">
              <a:spcBef>
                <a:spcPct val="0"/>
              </a:spcBef>
              <a:buClrTx/>
              <a:buSzTx/>
              <a:buFontTx/>
              <a:buNone/>
              <a:defRPr/>
            </a:pPr>
            <a:fld id="{17CE3168-BD66-4978-BF3D-EB488500F303}" type="slidenum">
              <a:rPr lang="en-US" altLang="zh-CN" sz="1400" smtClean="0">
                <a:solidFill>
                  <a:schemeClr val="tx1"/>
                </a:solidFill>
              </a:rPr>
            </a:fld>
            <a:endParaRPr lang="en-US" altLang="zh-CN" sz="1400" smtClean="0">
              <a:solidFill>
                <a:schemeClr val="tx1"/>
              </a:solidFill>
            </a:endParaRPr>
          </a:p>
        </p:txBody>
      </p:sp>
      <p:sp>
        <p:nvSpPr>
          <p:cNvPr id="26629" name="Rectangle 3"/>
          <p:cNvSpPr>
            <a:spLocks noChangeArrowheads="1"/>
          </p:cNvSpPr>
          <p:nvPr/>
        </p:nvSpPr>
        <p:spPr bwMode="auto">
          <a:xfrm>
            <a:off x="2171700" y="1718734"/>
            <a:ext cx="914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pic>
        <p:nvPicPr>
          <p:cNvPr id="26630" name="Picture 4" descr="rj14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 y="1718734"/>
            <a:ext cx="8964613" cy="4974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301625" y="453132"/>
            <a:ext cx="8153400" cy="81562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normAutofit/>
          </a:bodyPr>
          <a:lstStyle/>
          <a:p>
            <a:pPr eaLnBrk="1" fontAlgn="auto" hangingPunct="1">
              <a:spcAft>
                <a:spcPts val="0"/>
              </a:spcAft>
              <a:defRPr/>
            </a:pPr>
            <a:r>
              <a:rPr lang="en-US" altLang="zh-CN" dirty="0" smtClean="0">
                <a:latin typeface="Times New Roman" panose="02020603050405020304" pitchFamily="18" charset="0"/>
                <a:ea typeface="华文隶书" panose="02010800040101010101" pitchFamily="2" charset="-122"/>
                <a:cs typeface="Times New Roman" panose="02020603050405020304" pitchFamily="18" charset="0"/>
              </a:rPr>
              <a:t>ISO/IEC9126</a:t>
            </a:r>
            <a:r>
              <a:rPr lang="zh-CN" altLang="en-US" dirty="0" smtClean="0">
                <a:latin typeface="楷体" panose="02010609060101010101" pitchFamily="49" charset="-122"/>
                <a:ea typeface="楷体" panose="02010609060101010101" pitchFamily="49" charset="-122"/>
              </a:rPr>
              <a:t>模型</a:t>
            </a:r>
            <a:endParaRPr lang="zh-CN" altLang="en-US" dirty="0" smtClean="0">
              <a:latin typeface="楷体" panose="02010609060101010101" pitchFamily="49" charset="-122"/>
              <a:ea typeface="楷体" panose="02010609060101010101" pitchFamily="49" charset="-122"/>
            </a:endParaRPr>
          </a:p>
        </p:txBody>
      </p:sp>
      <p:sp>
        <p:nvSpPr>
          <p:cNvPr id="27651" name="页脚占位符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eaLnBrk="1" hangingPunct="1"/>
            <a:r>
              <a:rPr lang="en-US" altLang="zh-CN" sz="1400" smtClean="0"/>
              <a:t> chapter__5</a:t>
            </a:r>
            <a:endParaRPr lang="en-US" altLang="zh-CN" sz="1400" smtClean="0"/>
          </a:p>
        </p:txBody>
      </p:sp>
      <p:sp>
        <p:nvSpPr>
          <p:cNvPr id="2" name="灯片编号占位符 4"/>
          <p:cNvSpPr>
            <a:spLocks noGrp="1"/>
          </p:cNvSpPr>
          <p:nvPr>
            <p:ph type="sldNum" sz="quarter" idx="12"/>
          </p:nvPr>
        </p:nvSpPr>
        <p:spPr/>
        <p:txBody>
          <a:bodyPr>
            <a:normAutofit fontScale="85000" lnSpcReduction="20000"/>
          </a:bodyPr>
          <a:lstStyle>
            <a:lvl1pPr eaLnBrk="0" hangingPunct="0">
              <a:spcBef>
                <a:spcPct val="20000"/>
              </a:spcBef>
              <a:buClr>
                <a:srgbClr val="FF0000"/>
              </a:buClr>
              <a:buSzPct val="55000"/>
              <a:buFont typeface="Monotype Sorts" charset="0"/>
              <a:buChar char="n"/>
              <a:defRPr kumimoji="1" sz="2800">
                <a:solidFill>
                  <a:schemeClr val="bg2"/>
                </a:solidFill>
                <a:latin typeface="Arial Narrow" panose="020B0606020202030204" pitchFamily="34" charset="0"/>
                <a:ea typeface="宋体" panose="02010600030101010101" pitchFamily="2" charset="-122"/>
              </a:defRPr>
            </a:lvl1pPr>
            <a:lvl2pPr marL="742950" indent="-285750" eaLnBrk="0" hangingPunct="0">
              <a:spcBef>
                <a:spcPct val="20000"/>
              </a:spcBef>
              <a:buClr>
                <a:srgbClr val="FFAF39"/>
              </a:buClr>
              <a:buSzPct val="55000"/>
              <a:buFont typeface="Monotype Sorts" charset="0"/>
              <a:buChar char="l"/>
              <a:defRPr kumimoji="1" sz="2600">
                <a:solidFill>
                  <a:schemeClr val="bg2"/>
                </a:solidFill>
                <a:latin typeface="Arial Narrow" panose="020B0606020202030204" pitchFamily="34" charset="0"/>
                <a:ea typeface="宋体" panose="02010600030101010101" pitchFamily="2" charset="-122"/>
              </a:defRPr>
            </a:lvl2pPr>
            <a:lvl3pPr marL="1143000" indent="-228600" eaLnBrk="0" hangingPunct="0">
              <a:spcBef>
                <a:spcPct val="20000"/>
              </a:spcBef>
              <a:buClr>
                <a:srgbClr val="9933FF"/>
              </a:buClr>
              <a:buSzPct val="59000"/>
              <a:buFont typeface="Monotype Sorts" charset="0"/>
              <a:buChar char="s"/>
              <a:defRPr kumimoji="1" sz="2400">
                <a:solidFill>
                  <a:schemeClr val="tx1"/>
                </a:solidFill>
                <a:latin typeface="Arial Narrow" panose="020B0606020202030204" pitchFamily="34" charset="0"/>
                <a:ea typeface="宋体" panose="02010600030101010101" pitchFamily="2" charset="-122"/>
              </a:defRPr>
            </a:lvl3pPr>
            <a:lvl4pPr marL="1600200" indent="-228600" eaLnBrk="0" hangingPunct="0">
              <a:spcBef>
                <a:spcPct val="20000"/>
              </a:spcBef>
              <a:buClr>
                <a:srgbClr val="009999"/>
              </a:buClr>
              <a:buSzPct val="64000"/>
              <a:buFont typeface="Monotype Sorts" charset="0"/>
              <a:buChar char="u"/>
              <a:defRPr kumimoji="1" sz="2200">
                <a:solidFill>
                  <a:srgbClr val="000000"/>
                </a:solidFill>
                <a:latin typeface="Arial Narrow" panose="020B0606020202030204" pitchFamily="34" charset="0"/>
                <a:ea typeface="宋体" panose="02010600030101010101" pitchFamily="2" charset="-122"/>
              </a:defRPr>
            </a:lvl4pPr>
            <a:lvl5pPr marL="2057400" indent="-228600" eaLnBrk="0" hangingPunct="0">
              <a:spcBef>
                <a:spcPct val="20000"/>
              </a:spcBef>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5pPr>
            <a:lvl6pPr marL="25146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6pPr>
            <a:lvl7pPr marL="29718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7pPr>
            <a:lvl8pPr marL="34290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8pPr>
            <a:lvl9pPr marL="38862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9pPr>
          </a:lstStyle>
          <a:p>
            <a:pPr eaLnBrk="1" hangingPunct="1">
              <a:spcBef>
                <a:spcPct val="0"/>
              </a:spcBef>
              <a:buClrTx/>
              <a:buSzTx/>
              <a:buFontTx/>
              <a:buNone/>
              <a:defRPr/>
            </a:pPr>
            <a:fld id="{5F8B8332-2383-4D10-B121-E9BB03EDBB73}" type="slidenum">
              <a:rPr lang="en-US" altLang="zh-CN" sz="1400" smtClean="0">
                <a:solidFill>
                  <a:schemeClr val="tx1"/>
                </a:solidFill>
              </a:rPr>
            </a:fld>
            <a:endParaRPr lang="en-US" altLang="zh-CN" sz="1400" smtClean="0">
              <a:solidFill>
                <a:schemeClr val="tx1"/>
              </a:solidFill>
            </a:endParaRPr>
          </a:p>
        </p:txBody>
      </p:sp>
      <p:sp>
        <p:nvSpPr>
          <p:cNvPr id="27653" name="Rectangle 3"/>
          <p:cNvSpPr>
            <a:spLocks noGrp="1" noChangeArrowheads="1"/>
          </p:cNvSpPr>
          <p:nvPr>
            <p:ph sz="quarter" idx="1"/>
          </p:nvPr>
        </p:nvSpPr>
        <p:spPr>
          <a:xfrm>
            <a:off x="612775" y="1600200"/>
            <a:ext cx="8153400" cy="4495800"/>
          </a:xfrm>
        </p:spPr>
        <p:txBody>
          <a:bodyPr/>
          <a:lstStyle/>
          <a:p>
            <a:pPr eaLnBrk="1" hangingPunct="1"/>
            <a:endParaRPr lang="zh-CN" altLang="zh-CN" smtClean="0"/>
          </a:p>
        </p:txBody>
      </p:sp>
      <p:pic>
        <p:nvPicPr>
          <p:cNvPr id="27654" name="Picture 5" descr="ISO"/>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693334"/>
            <a:ext cx="9145588" cy="486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灯片编号占位符 2"/>
          <p:cNvSpPr>
            <a:spLocks noGrp="1"/>
          </p:cNvSpPr>
          <p:nvPr>
            <p:ph type="sldNum" sz="quarter" idx="4294967295"/>
          </p:nvPr>
        </p:nvSpPr>
        <p:spPr>
          <a:xfrm>
            <a:off x="0" y="6248400"/>
            <a:ext cx="533400" cy="381000"/>
          </a:xfrm>
          <a:prstGeom prst="rect">
            <a:avLst/>
          </a:prstGeom>
        </p:spPr>
        <p:txBody>
          <a:bodyPr>
            <a:normAutofit/>
          </a:bodyPr>
          <a:lstStyle>
            <a:lvl1pPr eaLnBrk="0" hangingPunct="0">
              <a:spcBef>
                <a:spcPct val="20000"/>
              </a:spcBef>
              <a:buClr>
                <a:srgbClr val="FF0000"/>
              </a:buClr>
              <a:buSzPct val="55000"/>
              <a:buFont typeface="Monotype Sorts" charset="0"/>
              <a:buChar char="n"/>
              <a:defRPr kumimoji="1" sz="2800">
                <a:solidFill>
                  <a:schemeClr val="bg2"/>
                </a:solidFill>
                <a:latin typeface="Arial Narrow" panose="020B0606020202030204" pitchFamily="34" charset="0"/>
                <a:ea typeface="宋体" panose="02010600030101010101" pitchFamily="2" charset="-122"/>
              </a:defRPr>
            </a:lvl1pPr>
            <a:lvl2pPr marL="742950" indent="-285750" eaLnBrk="0" hangingPunct="0">
              <a:spcBef>
                <a:spcPct val="20000"/>
              </a:spcBef>
              <a:buClr>
                <a:srgbClr val="FFAF39"/>
              </a:buClr>
              <a:buSzPct val="55000"/>
              <a:buFont typeface="Monotype Sorts" charset="0"/>
              <a:buChar char="l"/>
              <a:defRPr kumimoji="1" sz="2600">
                <a:solidFill>
                  <a:schemeClr val="bg2"/>
                </a:solidFill>
                <a:latin typeface="Arial Narrow" panose="020B0606020202030204" pitchFamily="34" charset="0"/>
                <a:ea typeface="宋体" panose="02010600030101010101" pitchFamily="2" charset="-122"/>
              </a:defRPr>
            </a:lvl2pPr>
            <a:lvl3pPr marL="1143000" indent="-228600" eaLnBrk="0" hangingPunct="0">
              <a:spcBef>
                <a:spcPct val="20000"/>
              </a:spcBef>
              <a:buClr>
                <a:srgbClr val="9933FF"/>
              </a:buClr>
              <a:buSzPct val="59000"/>
              <a:buFont typeface="Monotype Sorts" charset="0"/>
              <a:buChar char="s"/>
              <a:defRPr kumimoji="1" sz="2400">
                <a:solidFill>
                  <a:schemeClr val="tx1"/>
                </a:solidFill>
                <a:latin typeface="Arial Narrow" panose="020B0606020202030204" pitchFamily="34" charset="0"/>
                <a:ea typeface="宋体" panose="02010600030101010101" pitchFamily="2" charset="-122"/>
              </a:defRPr>
            </a:lvl3pPr>
            <a:lvl4pPr marL="1600200" indent="-228600" eaLnBrk="0" hangingPunct="0">
              <a:spcBef>
                <a:spcPct val="20000"/>
              </a:spcBef>
              <a:buClr>
                <a:srgbClr val="009999"/>
              </a:buClr>
              <a:buSzPct val="64000"/>
              <a:buFont typeface="Monotype Sorts" charset="0"/>
              <a:buChar char="u"/>
              <a:defRPr kumimoji="1" sz="2200">
                <a:solidFill>
                  <a:srgbClr val="000000"/>
                </a:solidFill>
                <a:latin typeface="Arial Narrow" panose="020B0606020202030204" pitchFamily="34" charset="0"/>
                <a:ea typeface="宋体" panose="02010600030101010101" pitchFamily="2" charset="-122"/>
              </a:defRPr>
            </a:lvl4pPr>
            <a:lvl5pPr marL="2057400" indent="-228600" eaLnBrk="0" hangingPunct="0">
              <a:spcBef>
                <a:spcPct val="20000"/>
              </a:spcBef>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5pPr>
            <a:lvl6pPr marL="25146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6pPr>
            <a:lvl7pPr marL="29718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7pPr>
            <a:lvl8pPr marL="34290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8pPr>
            <a:lvl9pPr marL="3886200" indent="-228600" eaLnBrk="0" fontAlgn="base" hangingPunct="0">
              <a:spcBef>
                <a:spcPct val="20000"/>
              </a:spcBef>
              <a:spcAft>
                <a:spcPct val="0"/>
              </a:spcAft>
              <a:buClr>
                <a:srgbClr val="0066FF"/>
              </a:buClr>
              <a:buSzPct val="69000"/>
              <a:buFont typeface="Monotype Sorts" charset="0"/>
              <a:buChar char="w"/>
              <a:defRPr kumimoji="1" sz="2000">
                <a:solidFill>
                  <a:srgbClr val="000000"/>
                </a:solidFill>
                <a:latin typeface="Arial Narrow" panose="020B0606020202030204" pitchFamily="34" charset="0"/>
                <a:ea typeface="宋体" panose="02010600030101010101" pitchFamily="2" charset="-122"/>
              </a:defRPr>
            </a:lvl9pPr>
          </a:lstStyle>
          <a:p>
            <a:pPr eaLnBrk="1" hangingPunct="1">
              <a:spcBef>
                <a:spcPct val="0"/>
              </a:spcBef>
              <a:buClrTx/>
              <a:buSzTx/>
              <a:buFontTx/>
              <a:buNone/>
              <a:defRPr/>
            </a:pPr>
            <a:fld id="{C0D19F80-A5C3-4CDC-A4FA-B05333D6253B}" type="slidenum">
              <a:rPr lang="en-US" altLang="zh-CN" sz="1400" smtClean="0">
                <a:solidFill>
                  <a:schemeClr val="tx1"/>
                </a:solidFill>
              </a:rPr>
            </a:fld>
            <a:endParaRPr lang="en-US" altLang="zh-CN" sz="1400" smtClean="0">
              <a:solidFill>
                <a:schemeClr val="tx1"/>
              </a:solidFill>
            </a:endParaRPr>
          </a:p>
        </p:txBody>
      </p:sp>
      <p:sp>
        <p:nvSpPr>
          <p:cNvPr id="2" name="Rectangle 5"/>
          <p:cNvSpPr>
            <a:spLocks noGrp="1" noChangeArrowheads="1"/>
          </p:cNvSpPr>
          <p:nvPr>
            <p:ph type="title" idx="4294967295"/>
          </p:nvPr>
        </p:nvSpPr>
        <p:spPr>
          <a:xfrm>
            <a:off x="0" y="260351"/>
            <a:ext cx="86868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sz="3600" smtClean="0">
                <a:latin typeface="楷体" panose="02010609060101010101" pitchFamily="49" charset="-122"/>
                <a:ea typeface="楷体" panose="02010609060101010101" pitchFamily="49" charset="-122"/>
                <a:cs typeface="楷体" panose="02010609060101010101" pitchFamily="49" charset="-122"/>
              </a:rPr>
              <a:t>例子</a:t>
            </a:r>
            <a:r>
              <a:rPr lang="en-US" altLang="zh-CN" sz="3600" smtClean="0">
                <a:latin typeface="楷体" panose="02010609060101010101" pitchFamily="49" charset="-122"/>
                <a:ea typeface="楷体" panose="02010609060101010101" pitchFamily="49" charset="-122"/>
                <a:cs typeface="楷体" panose="02010609060101010101" pitchFamily="49" charset="-122"/>
              </a:rPr>
              <a:t>:</a:t>
            </a:r>
            <a:r>
              <a:rPr lang="zh-CN" altLang="en-US" sz="3600" smtClean="0">
                <a:latin typeface="楷体" panose="02010609060101010101" pitchFamily="49" charset="-122"/>
                <a:ea typeface="楷体" panose="02010609060101010101" pitchFamily="49" charset="-122"/>
                <a:cs typeface="楷体" panose="02010609060101010101" pitchFamily="49" charset="-122"/>
              </a:rPr>
              <a:t>调度指挥通信系统外部质量模型设计</a:t>
            </a:r>
            <a:endParaRPr lang="zh-CN" altLang="en-US" sz="3600" smtClean="0">
              <a:latin typeface="楷体" panose="02010609060101010101" pitchFamily="49" charset="-122"/>
              <a:ea typeface="楷体" panose="02010609060101010101" pitchFamily="49" charset="-122"/>
              <a:cs typeface="楷体" panose="02010609060101010101" pitchFamily="49" charset="-122"/>
            </a:endParaRPr>
          </a:p>
        </p:txBody>
      </p:sp>
      <p:pic>
        <p:nvPicPr>
          <p:cNvPr id="28676" name="Picture 2" descr="C:\Users\sony\AppData\Roaming\duowan\yy4.0\cache\image\0f\37682-~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604433"/>
            <a:ext cx="4211638" cy="5088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Rectangle 7"/>
          <p:cNvSpPr>
            <a:spLocks noChangeArrowheads="1"/>
          </p:cNvSpPr>
          <p:nvPr/>
        </p:nvSpPr>
        <p:spPr bwMode="auto">
          <a:xfrm>
            <a:off x="-581" y="-261611"/>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8678" name="图表 100"/>
          <p:cNvGraphicFramePr/>
          <p:nvPr/>
        </p:nvGraphicFramePr>
        <p:xfrm>
          <a:off x="4211638" y="1604433"/>
          <a:ext cx="4608512" cy="5088467"/>
        </p:xfrm>
        <a:graphic>
          <a:graphicData uri="http://schemas.openxmlformats.org/presentationml/2006/ole">
            <mc:AlternateContent xmlns:mc="http://schemas.openxmlformats.org/markup-compatibility/2006">
              <mc:Choice xmlns:v="urn:schemas-microsoft-com:vml" Requires="v">
                <p:oleObj spid="_x0000_s1032" name="图表" r:id="rId2" imgW="5291455" imgH="3084830" progId="Excel.Chart.8">
                  <p:embed/>
                </p:oleObj>
              </mc:Choice>
              <mc:Fallback>
                <p:oleObj name="图表" r:id="rId2" imgW="5291455" imgH="3084830" progId="Excel.Chart.8">
                  <p:embed/>
                  <p:pic>
                    <p:nvPicPr>
                      <p:cNvPr id="0" name="图片 103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1604433"/>
                        <a:ext cx="4608512" cy="5088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9"/>
          <p:cNvSpPr>
            <a:spLocks noGrp="1" noChangeArrowheads="1"/>
          </p:cNvSpPr>
          <p:nvPr>
            <p:ph type="sldNum" sz="quarter" idx="10"/>
          </p:nvPr>
        </p:nvSpPr>
        <p:spPr>
          <a:noFill/>
        </p:spPr>
        <p:txBody>
          <a:bodyPr/>
          <a:lstStyle/>
          <a:p>
            <a:r>
              <a:rPr lang="zh-CN" altLang="en-GB" dirty="0" smtClean="0"/>
              <a:t>  </a:t>
            </a:r>
            <a:fld id="{83DFAB70-1E37-40D1-AA76-0AF6236486F0}" type="slidenum">
              <a:rPr lang="zh-CN" altLang="en-GB" smtClean="0"/>
            </a:fld>
            <a:endParaRPr lang="en-US" altLang="zh-CN" dirty="0" smtClean="0"/>
          </a:p>
        </p:txBody>
      </p:sp>
      <p:sp>
        <p:nvSpPr>
          <p:cNvPr id="1028"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P.156</a:t>
            </a:r>
            <a:endParaRPr lang="en-US" altLang="zh-CN" sz="2400" b="1">
              <a:solidFill>
                <a:schemeClr val="bg2"/>
              </a:solidFill>
            </a:endParaRPr>
          </a:p>
        </p:txBody>
      </p:sp>
      <p:sp>
        <p:nvSpPr>
          <p:cNvPr id="1029"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1030" name="Rectangle 8"/>
          <p:cNvSpPr>
            <a:spLocks noChangeArrowheads="1"/>
          </p:cNvSpPr>
          <p:nvPr/>
        </p:nvSpPr>
        <p:spPr bwMode="auto">
          <a:xfrm>
            <a:off x="0" y="2671763"/>
            <a:ext cx="9144000" cy="0"/>
          </a:xfrm>
          <a:prstGeom prst="rect">
            <a:avLst/>
          </a:prstGeom>
          <a:noFill/>
          <a:ln w="9525" algn="ctr">
            <a:noFill/>
            <a:miter lim="800000"/>
          </a:ln>
        </p:spPr>
        <p:txBody>
          <a:bodyPr wrap="none" anchor="ctr">
            <a:spAutoFit/>
          </a:bodyPr>
          <a:lstStyle/>
          <a:p>
            <a:endParaRPr lang="zh-CN" altLang="en-US"/>
          </a:p>
        </p:txBody>
      </p:sp>
      <p:sp>
        <p:nvSpPr>
          <p:cNvPr id="1031" name="Text Box 9"/>
          <p:cNvSpPr txBox="1">
            <a:spLocks noChangeArrowheads="1"/>
          </p:cNvSpPr>
          <p:nvPr/>
        </p:nvSpPr>
        <p:spPr bwMode="auto">
          <a:xfrm>
            <a:off x="3563938" y="6453188"/>
            <a:ext cx="2722574" cy="368300"/>
          </a:xfrm>
          <a:prstGeom prst="rect">
            <a:avLst/>
          </a:prstGeom>
          <a:noFill/>
          <a:ln w="9525">
            <a:noFill/>
            <a:miter lim="800000"/>
          </a:ln>
        </p:spPr>
        <p:txBody>
          <a:bodyPr wrap="square">
            <a:spAutoFit/>
          </a:bodyPr>
          <a:lstStyle/>
          <a:p>
            <a:pPr algn="l"/>
            <a:r>
              <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rPr>
              <a:t>图</a:t>
            </a:r>
            <a:r>
              <a:rPr kumimoji="0" lang="en-US" altLang="zh-CN" sz="1800" b="1">
                <a:solidFill>
                  <a:srgbClr val="FF0000"/>
                </a:solidFill>
                <a:ea typeface="楷体" panose="02010609060101010101" pitchFamily="49" charset="-122"/>
                <a:cs typeface="Times New Roman" panose="02020603050405020304" pitchFamily="18" charset="0"/>
              </a:rPr>
              <a:t>7-1</a:t>
            </a:r>
            <a:r>
              <a:rPr kumimoji="0" lang="en-US" altLang="zh-CN" sz="1800" b="1">
                <a:solidFill>
                  <a:srgbClr val="FF0000"/>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sz="1800" b="1" smtClean="0">
                <a:solidFill>
                  <a:srgbClr val="FF0000"/>
                </a:solidFill>
                <a:latin typeface="楷体" panose="02010609060101010101" pitchFamily="49" charset="-122"/>
                <a:ea typeface="楷体" panose="02010609060101010101" pitchFamily="49" charset="-122"/>
                <a:cs typeface="楷体" panose="02010609060101010101" pitchFamily="49" charset="-122"/>
              </a:rPr>
              <a:t>项目质量管理</a:t>
            </a:r>
            <a:r>
              <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rPr>
              <a:t>过程</a:t>
            </a:r>
            <a:endPar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1032" name="Rectangle 10"/>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7.1 </a:t>
            </a:r>
            <a:r>
              <a:rPr kumimoji="0" lang="en-US" altLang="en-US" sz="3000" b="1">
                <a:latin typeface="楷体" panose="02010609060101010101" pitchFamily="49" charset="-122"/>
                <a:ea typeface="楷体" panose="02010609060101010101" pitchFamily="49" charset="-122"/>
              </a:rPr>
              <a:t>质量管理概述</a:t>
            </a:r>
            <a:endParaRPr kumimoji="0" lang="en-US" altLang="en-US" sz="3000" b="1">
              <a:latin typeface="楷体" panose="02010609060101010101" pitchFamily="49" charset="-122"/>
              <a:ea typeface="楷体" panose="02010609060101010101" pitchFamily="49" charset="-122"/>
            </a:endParaRPr>
          </a:p>
        </p:txBody>
      </p:sp>
      <p:sp>
        <p:nvSpPr>
          <p:cNvPr id="1033" name="Rectangle 11"/>
          <p:cNvSpPr>
            <a:spLocks noChangeArrowheads="1"/>
          </p:cNvSpPr>
          <p:nvPr/>
        </p:nvSpPr>
        <p:spPr bwMode="auto">
          <a:xfrm>
            <a:off x="323850" y="1341438"/>
            <a:ext cx="321881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 panose="02010609060101010101" pitchFamily="49" charset="-122"/>
                <a:cs typeface="Times New Roman" panose="02020603050405020304" pitchFamily="18" charset="0"/>
              </a:rPr>
              <a:t>7.1.2</a:t>
            </a:r>
            <a:r>
              <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rPr>
              <a:t> 质量管理过程</a:t>
            </a:r>
            <a:endPar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pic>
        <p:nvPicPr>
          <p:cNvPr id="2" name="图片 11"/>
          <p:cNvPicPr>
            <a:picLocks noChangeAspect="1" noChangeArrowheads="1"/>
          </p:cNvPicPr>
          <p:nvPr/>
        </p:nvPicPr>
        <p:blipFill>
          <a:blip r:embed="rId1"/>
          <a:srcRect/>
          <a:stretch>
            <a:fillRect/>
          </a:stretch>
        </p:blipFill>
        <p:spPr bwMode="auto">
          <a:xfrm>
            <a:off x="500034" y="2357430"/>
            <a:ext cx="8358246" cy="3429024"/>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9"/>
          <p:cNvSpPr>
            <a:spLocks noGrp="1" noChangeArrowheads="1"/>
          </p:cNvSpPr>
          <p:nvPr>
            <p:ph type="sldNum" sz="quarter" idx="10"/>
          </p:nvPr>
        </p:nvSpPr>
        <p:spPr>
          <a:noFill/>
        </p:spPr>
        <p:txBody>
          <a:bodyPr/>
          <a:lstStyle/>
          <a:p>
            <a:r>
              <a:rPr lang="zh-CN" altLang="en-GB" dirty="0" smtClean="0"/>
              <a:t>  </a:t>
            </a:r>
            <a:fld id="{DF10E44C-61C8-404D-A05B-A9293A994F6A}" type="slidenum">
              <a:rPr lang="zh-CN" altLang="en-GB" smtClean="0"/>
            </a:fld>
            <a:endParaRPr lang="en-US" altLang="zh-CN" dirty="0" smtClean="0"/>
          </a:p>
        </p:txBody>
      </p:sp>
      <p:sp>
        <p:nvSpPr>
          <p:cNvPr id="2150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P.13</a:t>
            </a:r>
            <a:endParaRPr lang="en-US" altLang="zh-CN" sz="2400" b="1">
              <a:solidFill>
                <a:schemeClr val="bg2"/>
              </a:solidFill>
            </a:endParaRPr>
          </a:p>
        </p:txBody>
      </p:sp>
      <p:sp>
        <p:nvSpPr>
          <p:cNvPr id="2150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21509" name="Rectangle 5"/>
          <p:cNvSpPr>
            <a:spLocks noChangeArrowheads="1"/>
          </p:cNvSpPr>
          <p:nvPr/>
        </p:nvSpPr>
        <p:spPr bwMode="auto">
          <a:xfrm>
            <a:off x="0" y="2671763"/>
            <a:ext cx="9144000" cy="0"/>
          </a:xfrm>
          <a:prstGeom prst="rect">
            <a:avLst/>
          </a:prstGeom>
          <a:noFill/>
          <a:ln w="9525" algn="ctr">
            <a:noFill/>
            <a:miter lim="800000"/>
          </a:ln>
        </p:spPr>
        <p:txBody>
          <a:bodyPr wrap="none" anchor="ctr">
            <a:spAutoFit/>
          </a:bodyPr>
          <a:lstStyle/>
          <a:p>
            <a:endParaRPr lang="zh-CN" altLang="en-US"/>
          </a:p>
        </p:txBody>
      </p:sp>
      <p:sp>
        <p:nvSpPr>
          <p:cNvPr id="21511" name="Rectangle 9"/>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7.1 </a:t>
            </a:r>
            <a:r>
              <a:rPr kumimoji="0" lang="en-US" altLang="en-US" sz="3000" b="1">
                <a:latin typeface="楷体" panose="02010609060101010101" pitchFamily="49" charset="-122"/>
                <a:ea typeface="楷体" panose="02010609060101010101" pitchFamily="49" charset="-122"/>
              </a:rPr>
              <a:t>质量管理概述</a:t>
            </a:r>
            <a:endParaRPr kumimoji="0" lang="en-US" altLang="en-US" sz="3000" b="1">
              <a:latin typeface="楷体" panose="02010609060101010101" pitchFamily="49" charset="-122"/>
              <a:ea typeface="楷体" panose="02010609060101010101" pitchFamily="49" charset="-122"/>
            </a:endParaRPr>
          </a:p>
        </p:txBody>
      </p:sp>
      <p:sp>
        <p:nvSpPr>
          <p:cNvPr id="21512" name="Rectangle 10"/>
          <p:cNvSpPr>
            <a:spLocks noChangeArrowheads="1"/>
          </p:cNvSpPr>
          <p:nvPr/>
        </p:nvSpPr>
        <p:spPr bwMode="auto">
          <a:xfrm>
            <a:off x="323850" y="1341438"/>
            <a:ext cx="3216910"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7.1.2  </a:t>
            </a:r>
            <a:r>
              <a:rPr kumimoji="0" lang="en-US" altLang="en-US" b="1">
                <a:solidFill>
                  <a:srgbClr val="FF0000"/>
                </a:solidFill>
                <a:latin typeface="楷体" panose="02010609060101010101" pitchFamily="49" charset="-122"/>
                <a:ea typeface="楷体" panose="02010609060101010101" pitchFamily="49" charset="-122"/>
              </a:rPr>
              <a:t>质量管理过程</a:t>
            </a:r>
            <a:endParaRPr kumimoji="0" lang="en-US" altLang="en-US" b="1">
              <a:solidFill>
                <a:srgbClr val="FF0000"/>
              </a:solidFill>
              <a:latin typeface="楷体" panose="02010609060101010101" pitchFamily="49" charset="-122"/>
              <a:ea typeface="楷体" panose="02010609060101010101" pitchFamily="49" charset="-122"/>
            </a:endParaRPr>
          </a:p>
        </p:txBody>
      </p:sp>
      <p:pic>
        <p:nvPicPr>
          <p:cNvPr id="45058" name="Picture 2"/>
          <p:cNvPicPr>
            <a:picLocks noChangeAspect="1" noChangeArrowheads="1"/>
          </p:cNvPicPr>
          <p:nvPr/>
        </p:nvPicPr>
        <p:blipFill>
          <a:blip r:embed="rId1"/>
          <a:srcRect/>
          <a:stretch>
            <a:fillRect/>
          </a:stretch>
        </p:blipFill>
        <p:spPr bwMode="auto">
          <a:xfrm>
            <a:off x="142844" y="1916737"/>
            <a:ext cx="8858280" cy="442915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1126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1126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smtClean="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642941" y="1550150"/>
            <a:ext cx="7643835" cy="4184650"/>
          </a:xfrm>
          <a:prstGeom prst="rect">
            <a:avLst/>
          </a:prstGeom>
          <a:noFill/>
          <a:ln w="9525">
            <a:noFill/>
            <a:miter lim="800000"/>
          </a:ln>
        </p:spPr>
        <p:txBody>
          <a:bodyPr wrap="square">
            <a:spAutoFit/>
          </a:bodyPr>
          <a:lstStyle/>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质量管理概述</a:t>
            </a:r>
            <a:endParaRPr lang="en-US" altLang="en-US" sz="4800" b="1" dirty="0" err="1">
              <a:solidFill>
                <a:schemeClr val="bg1">
                  <a:lumMod val="50000"/>
                </a:schemeClr>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5400" b="1" smtClean="0">
                <a:solidFill>
                  <a:srgbClr val="FF0000"/>
                </a:solidFill>
                <a:latin typeface="楷体" panose="02010609060101010101" pitchFamily="49" charset="-122"/>
                <a:ea typeface="楷体" panose="02010609060101010101" pitchFamily="49" charset="-122"/>
              </a:rPr>
              <a:t>质量管理方法与体系</a:t>
            </a:r>
            <a:endParaRPr lang="en-US" altLang="en-US" sz="5400" b="1" dirty="0" err="1">
              <a:solidFill>
                <a:srgbClr val="FF0000"/>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规划质量</a:t>
            </a:r>
            <a:r>
              <a:rPr lang="zh-CN" altLang="en-US" sz="4800" b="1" smtClean="0">
                <a:solidFill>
                  <a:srgbClr val="0000FF"/>
                </a:solidFill>
                <a:latin typeface="楷体" panose="02010609060101010101" pitchFamily="49" charset="-122"/>
                <a:ea typeface="楷体" panose="02010609060101010101" pitchFamily="49" charset="-122"/>
              </a:rPr>
              <a:t>管理</a:t>
            </a:r>
            <a:endParaRPr lang="en-US" altLang="en-US" sz="4800" b="1" dirty="0">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zh-CN" altLang="en-US" sz="4800" b="1" smtClean="0">
                <a:solidFill>
                  <a:srgbClr val="0000FF"/>
                </a:solidFill>
                <a:latin typeface="楷体" panose="02010609060101010101" pitchFamily="49" charset="-122"/>
                <a:ea typeface="楷体" panose="02010609060101010101" pitchFamily="49" charset="-122"/>
              </a:rPr>
              <a:t>实施</a:t>
            </a:r>
            <a:r>
              <a:rPr lang="en-US" altLang="en-US" sz="4800" b="1" smtClean="0">
                <a:solidFill>
                  <a:srgbClr val="0000FF"/>
                </a:solidFill>
                <a:latin typeface="楷体" panose="02010609060101010101" pitchFamily="49" charset="-122"/>
                <a:ea typeface="楷体" panose="02010609060101010101" pitchFamily="49" charset="-122"/>
              </a:rPr>
              <a:t>质量保证</a:t>
            </a:r>
            <a:endParaRPr lang="en-US" altLang="en-US" sz="4800" b="1" dirty="0" smtClean="0">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控制项目质量</a:t>
            </a:r>
            <a:endParaRPr lang="en-US" altLang="en-US" sz="4800" b="1" dirty="0" smtClean="0">
              <a:solidFill>
                <a:srgbClr val="0000FF"/>
              </a:solidFill>
              <a:latin typeface="楷体" panose="02010609060101010101" pitchFamily="49" charset="-122"/>
              <a:ea typeface="楷体" panose="02010609060101010101" pitchFamily="49" charset="-122"/>
            </a:endParaRPr>
          </a:p>
        </p:txBody>
      </p:sp>
      <p:sp>
        <p:nvSpPr>
          <p:cNvPr id="8" name="Rectangle 9"/>
          <p:cNvSpPr>
            <a:spLocks noGrp="1" noChangeArrowheads="1"/>
          </p:cNvSpPr>
          <p:nvPr>
            <p:ph type="sldNum" sz="quarter" idx="10"/>
          </p:nvPr>
        </p:nvSpPr>
        <p:spPr>
          <a:xfrm>
            <a:off x="7454900" y="6553200"/>
            <a:ext cx="1295400" cy="260350"/>
          </a:xfrm>
          <a:noFill/>
        </p:spPr>
        <p:txBody>
          <a:bodyPr/>
          <a:lstStyle/>
          <a:p>
            <a:fld id="{31A84629-0BF0-41BE-B0BE-8D9C0EDC15A0}" type="slidenum">
              <a:rPr lang="zh-CN" altLang="en-GB" smtClean="0"/>
            </a:fld>
            <a:endParaRPr lang="en-US" altLang="zh-CN" dirty="0" smtClean="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9"/>
          <p:cNvSpPr>
            <a:spLocks noGrp="1" noChangeArrowheads="1"/>
          </p:cNvSpPr>
          <p:nvPr>
            <p:ph type="sldNum" sz="quarter" idx="10"/>
          </p:nvPr>
        </p:nvSpPr>
        <p:spPr>
          <a:noFill/>
        </p:spPr>
        <p:txBody>
          <a:bodyPr/>
          <a:lstStyle/>
          <a:p>
            <a:r>
              <a:rPr lang="zh-CN" altLang="en-GB" dirty="0" smtClean="0"/>
              <a:t>  </a:t>
            </a:r>
            <a:fld id="{0F1D16D4-0103-490C-B9CD-1B7BFD26EFB2}" type="slidenum">
              <a:rPr lang="zh-CN" altLang="en-GB" smtClean="0"/>
            </a:fld>
            <a:endParaRPr lang="en-US" altLang="zh-CN" dirty="0" smtClean="0"/>
          </a:p>
        </p:txBody>
      </p:sp>
      <p:sp>
        <p:nvSpPr>
          <p:cNvPr id="2457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P.159</a:t>
            </a:r>
            <a:endParaRPr lang="en-US" altLang="zh-CN" sz="2400" b="1">
              <a:solidFill>
                <a:schemeClr val="bg2"/>
              </a:solidFill>
            </a:endParaRPr>
          </a:p>
        </p:txBody>
      </p:sp>
      <p:sp>
        <p:nvSpPr>
          <p:cNvPr id="24580"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24581" name="Rectangle 5"/>
          <p:cNvSpPr>
            <a:spLocks noChangeArrowheads="1"/>
          </p:cNvSpPr>
          <p:nvPr/>
        </p:nvSpPr>
        <p:spPr bwMode="auto">
          <a:xfrm>
            <a:off x="0" y="2671763"/>
            <a:ext cx="9144000" cy="0"/>
          </a:xfrm>
          <a:prstGeom prst="rect">
            <a:avLst/>
          </a:prstGeom>
          <a:noFill/>
          <a:ln w="9525" algn="ctr">
            <a:noFill/>
            <a:miter lim="800000"/>
          </a:ln>
        </p:spPr>
        <p:txBody>
          <a:bodyPr wrap="none" anchor="ctr">
            <a:spAutoFit/>
          </a:bodyPr>
          <a:lstStyle/>
          <a:p>
            <a:endParaRPr lang="zh-CN" altLang="en-US"/>
          </a:p>
        </p:txBody>
      </p:sp>
      <p:sp>
        <p:nvSpPr>
          <p:cNvPr id="24582" name="Rectangle 6"/>
          <p:cNvSpPr>
            <a:spLocks noChangeArrowheads="1"/>
          </p:cNvSpPr>
          <p:nvPr/>
        </p:nvSpPr>
        <p:spPr bwMode="auto">
          <a:xfrm>
            <a:off x="71406" y="1383496"/>
            <a:ext cx="8820150" cy="4831080"/>
          </a:xfrm>
          <a:prstGeom prst="rect">
            <a:avLst/>
          </a:prstGeom>
          <a:noFill/>
          <a:ln w="9525" algn="ctr">
            <a:noFill/>
            <a:miter lim="800000"/>
          </a:ln>
        </p:spPr>
        <p:txBody>
          <a:bodyPr wrap="square" anchor="ctr">
            <a:spAutoFit/>
          </a:bodyPr>
          <a:lstStyle/>
          <a:p>
            <a:pPr algn="l">
              <a:spcBef>
                <a:spcPts val="600"/>
              </a:spcBef>
              <a:spcAft>
                <a:spcPts val="600"/>
              </a:spcAft>
              <a:buClr>
                <a:schemeClr val="hlink"/>
              </a:buClr>
            </a:pPr>
            <a:r>
              <a:rPr kumimoji="0" lang="zh-CN" altLang="en-US" sz="3200" b="1">
                <a:solidFill>
                  <a:schemeClr val="bg1"/>
                </a:solidFill>
                <a:latin typeface="楷体" panose="02010609060101010101" pitchFamily="49" charset="-122"/>
                <a:ea typeface="楷体" panose="02010609060101010101" pitchFamily="49" charset="-122"/>
                <a:cs typeface="楷体" panose="02010609060101010101" pitchFamily="49" charset="-122"/>
              </a:rPr>
              <a:t>质量管理体系</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是指</a:t>
            </a:r>
            <a:r>
              <a:rPr kumimoji="0" lang="zh-CN" altLang="en-US" sz="3200" b="1">
                <a:solidFill>
                  <a:schemeClr val="bg1"/>
                </a:solidFill>
                <a:latin typeface="楷体" panose="02010609060101010101" pitchFamily="49" charset="-122"/>
                <a:ea typeface="楷体" panose="02010609060101010101" pitchFamily="49" charset="-122"/>
                <a:cs typeface="楷体" panose="02010609060101010101" pitchFamily="49" charset="-122"/>
              </a:rPr>
              <a:t>在质量方面指挥和控制组织</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的管理体系。它由</a:t>
            </a:r>
            <a:r>
              <a:rPr kumimoji="0" lang="zh-CN" altLang="en-US" sz="3200" b="1">
                <a:solidFill>
                  <a:schemeClr val="bg1"/>
                </a:solidFill>
                <a:latin typeface="楷体" panose="02010609060101010101" pitchFamily="49" charset="-122"/>
                <a:ea typeface="楷体" panose="02010609060101010101" pitchFamily="49" charset="-122"/>
                <a:cs typeface="楷体" panose="02010609060101010101" pitchFamily="49" charset="-122"/>
              </a:rPr>
              <a:t>建立质量方针和目标、并实现这些目标</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的</a:t>
            </a:r>
            <a:r>
              <a:rPr kumimoji="0" lang="zh-CN" altLang="en-US" sz="3200" b="1">
                <a:solidFill>
                  <a:schemeClr val="bg1"/>
                </a:solidFill>
                <a:latin typeface="楷体" panose="02010609060101010101" pitchFamily="49" charset="-122"/>
                <a:ea typeface="楷体" panose="02010609060101010101" pitchFamily="49" charset="-122"/>
                <a:cs typeface="楷体" panose="02010609060101010101" pitchFamily="49" charset="-122"/>
              </a:rPr>
              <a:t>相互关联或相互作用</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的一组要素组成。</a:t>
            </a:r>
            <a:endPar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chemeClr val="hlink"/>
              </a:buClr>
            </a:pP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质量管理体系将影响质量的技术、管理、人员和资源等因素都综合在一起，在质量方针的指引下，为达到质量目标相互配合、努力工作。</a:t>
            </a:r>
            <a:endPar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chemeClr val="hlink"/>
              </a:buClr>
            </a:pP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戴明改进循环</a:t>
            </a:r>
            <a:r>
              <a:rPr kumimoji="0" lang="en-US" altLang="zh-CN" sz="3200" b="1">
                <a:solidFill>
                  <a:schemeClr val="bg2"/>
                </a:solidFill>
                <a:ea typeface="楷体" panose="02010609060101010101" pitchFamily="49" charset="-122"/>
                <a:cs typeface="Times New Roman" panose="02020603050405020304" pitchFamily="18" charset="0"/>
              </a:rPr>
              <a:t>PDCA</a:t>
            </a:r>
            <a:r>
              <a:rPr kumimoji="0" lang="zh-CN" altLang="en-US" sz="3200" b="1">
                <a:solidFill>
                  <a:schemeClr val="bg2"/>
                </a:solidFill>
                <a:ea typeface="楷体" panose="02010609060101010101" pitchFamily="49" charset="-122"/>
                <a:cs typeface="Times New Roman" panose="02020603050405020304" pitchFamily="18" charset="0"/>
              </a:rPr>
              <a:t>、</a:t>
            </a:r>
            <a:r>
              <a:rPr kumimoji="0" lang="en-US" altLang="zh-CN" sz="3200" b="1" smtClean="0">
                <a:solidFill>
                  <a:schemeClr val="bg2"/>
                </a:solidFill>
                <a:ea typeface="楷体" panose="02010609060101010101" pitchFamily="49" charset="-122"/>
                <a:cs typeface="Times New Roman" panose="02020603050405020304" pitchFamily="18" charset="0"/>
              </a:rPr>
              <a:t>ISO9000</a:t>
            </a:r>
            <a:r>
              <a:rPr kumimoji="0"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质量认证体系、</a:t>
            </a:r>
            <a:r>
              <a:rPr kumimoji="0" lang="en-US" altLang="zh-CN" sz="3200" b="1">
                <a:solidFill>
                  <a:schemeClr val="bg2"/>
                </a:solidFill>
                <a:ea typeface="楷体" panose="02010609060101010101" pitchFamily="49" charset="-122"/>
                <a:cs typeface="Times New Roman" panose="02020603050405020304" pitchFamily="18" charset="0"/>
              </a:rPr>
              <a:t>CMM/CMMI</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等在</a:t>
            </a:r>
            <a:r>
              <a:rPr kumimoji="0" lang="en-US" altLang="zh-CN" sz="3200" b="1">
                <a:solidFill>
                  <a:schemeClr val="bg2"/>
                </a:solidFill>
                <a:ea typeface="楷体" panose="02010609060101010101" pitchFamily="49" charset="-122"/>
                <a:cs typeface="Times New Roman" panose="02020603050405020304" pitchFamily="18" charset="0"/>
              </a:rPr>
              <a:t>IT</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项目管理中的应用，对</a:t>
            </a:r>
            <a:r>
              <a:rPr kumimoji="0" lang="en-US" altLang="zh-CN" sz="3200" b="1">
                <a:solidFill>
                  <a:schemeClr val="bg2"/>
                </a:solidFill>
                <a:ea typeface="楷体" panose="02010609060101010101" pitchFamily="49" charset="-122"/>
                <a:cs typeface="Times New Roman" panose="02020603050405020304" pitchFamily="18" charset="0"/>
              </a:rPr>
              <a:t>IT</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项目</a:t>
            </a:r>
            <a:r>
              <a:rPr kumimoji="0"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质量管理的提高</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起到了很好的推进作用。</a:t>
            </a:r>
            <a:endPar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24583" name="Rectangle 7"/>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en-US" altLang="en-US" sz="3000" b="1">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8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0087" name="AutoShape 23"/>
          <p:cNvSpPr>
            <a:spLocks noChangeArrowheads="1"/>
          </p:cNvSpPr>
          <p:nvPr/>
        </p:nvSpPr>
        <p:spPr bwMode="auto">
          <a:xfrm>
            <a:off x="4067175" y="692150"/>
            <a:ext cx="5076825" cy="5573713"/>
          </a:xfrm>
          <a:prstGeom prst="wedgeRoundRectCallout">
            <a:avLst>
              <a:gd name="adj1" fmla="val -80583"/>
              <a:gd name="adj2" fmla="val 9190"/>
              <a:gd name="adj3" fmla="val 16667"/>
            </a:avLst>
          </a:prstGeom>
          <a:solidFill>
            <a:srgbClr val="CCFFCC">
              <a:alpha val="50195"/>
            </a:srgbClr>
          </a:solidFill>
          <a:ln w="19050">
            <a:solidFill>
              <a:srgbClr val="FF0000"/>
            </a:solidFill>
            <a:miter lim="800000"/>
          </a:ln>
        </p:spPr>
        <p:txBody>
          <a:bodyPr anchor="ctr"/>
          <a:lstStyle/>
          <a:p>
            <a:pPr algn="l">
              <a:spcBef>
                <a:spcPct val="0"/>
              </a:spcBef>
            </a:pPr>
            <a:r>
              <a:rPr lang="en-US" altLang="zh-CN" sz="2400" b="1">
                <a:solidFill>
                  <a:schemeClr val="bg2"/>
                </a:solidFill>
                <a:ea typeface="楷体" panose="02010609060101010101" pitchFamily="49" charset="-122"/>
                <a:cs typeface="Times New Roman" panose="02020603050405020304" pitchFamily="18" charset="0"/>
              </a:rPr>
              <a:t>W·</a:t>
            </a:r>
            <a:r>
              <a:rPr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爱德华·戴明博士</a:t>
            </a:r>
            <a:r>
              <a:rPr lang="en-US" altLang="zh-CN" sz="2400" b="1">
                <a:solidFill>
                  <a:schemeClr val="bg2"/>
                </a:solidFill>
                <a:ea typeface="楷体" panose="02010609060101010101" pitchFamily="49" charset="-122"/>
                <a:cs typeface="Times New Roman" panose="02020603050405020304" pitchFamily="18" charset="0"/>
              </a:rPr>
              <a:t>（1900-1993） </a:t>
            </a:r>
            <a:r>
              <a:rPr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主要因其对日本有关质量控制方面的研究工作而闻名。</a:t>
            </a:r>
            <a:endParaRPr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0"/>
              </a:spcBef>
            </a:pPr>
            <a:r>
              <a:rPr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“二战”后，戴明应日本政府的邀请，到日本帮助他们提高生产率和质量。戴明告诉日本人，高质量意味着更高的生产率和更低的成本。</a:t>
            </a:r>
            <a:endParaRPr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0"/>
              </a:spcBef>
            </a:pPr>
            <a:r>
              <a:rPr lang="zh-CN" altLang="en-US" sz="2400" b="1">
                <a:solidFill>
                  <a:schemeClr val="bg2"/>
                </a:solidFill>
                <a:ea typeface="楷体" panose="02010609060101010101" pitchFamily="49" charset="-122"/>
                <a:cs typeface="Times New Roman" panose="02020603050405020304" pitchFamily="18" charset="0"/>
              </a:rPr>
              <a:t>20</a:t>
            </a:r>
            <a:r>
              <a:rPr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世纪</a:t>
            </a:r>
            <a:r>
              <a:rPr lang="zh-CN" altLang="en-US" sz="2400" b="1">
                <a:solidFill>
                  <a:schemeClr val="bg2"/>
                </a:solidFill>
                <a:ea typeface="楷体" panose="02010609060101010101" pitchFamily="49" charset="-122"/>
                <a:cs typeface="Times New Roman" panose="02020603050405020304" pitchFamily="18" charset="0"/>
              </a:rPr>
              <a:t>80</a:t>
            </a:r>
            <a:r>
              <a:rPr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年代，看到日本获得的巨大成功，美国企业争先恐后应用戴明技术，以帮助自己的工厂建立质量改进计划。</a:t>
            </a:r>
            <a:endParaRPr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0"/>
              </a:spcBef>
            </a:pPr>
            <a:r>
              <a:rPr lang="zh-CN" altLang="en-US" sz="2400" b="1">
                <a:solidFill>
                  <a:srgbClr val="FF0000"/>
                </a:solidFill>
                <a:latin typeface="楷体" panose="02010609060101010101" pitchFamily="49" charset="-122"/>
                <a:ea typeface="楷体" panose="02010609060101010101" pitchFamily="49" charset="-122"/>
                <a:cs typeface="楷体" panose="02010609060101010101" pitchFamily="49" charset="-122"/>
              </a:rPr>
              <a:t>戴明奖：象征着高质量组织的奖项。</a:t>
            </a:r>
            <a:endParaRPr lang="zh-CN" altLang="en-US" sz="2400"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grpSp>
        <p:nvGrpSpPr>
          <p:cNvPr id="2" name="Group 7"/>
          <p:cNvGrpSpPr/>
          <p:nvPr/>
        </p:nvGrpSpPr>
        <p:grpSpPr bwMode="auto">
          <a:xfrm>
            <a:off x="4500563" y="1428736"/>
            <a:ext cx="3960812" cy="4714908"/>
            <a:chOff x="1474" y="482"/>
            <a:chExt cx="3674" cy="3324"/>
          </a:xfrm>
        </p:grpSpPr>
        <p:grpSp>
          <p:nvGrpSpPr>
            <p:cNvPr id="25611" name="Group 8"/>
            <p:cNvGrpSpPr>
              <a:grpSpLocks noChangeAspect="1"/>
            </p:cNvGrpSpPr>
            <p:nvPr/>
          </p:nvGrpSpPr>
          <p:grpSpPr bwMode="auto">
            <a:xfrm>
              <a:off x="1474" y="482"/>
              <a:ext cx="3583" cy="3324"/>
              <a:chOff x="1838" y="6493"/>
              <a:chExt cx="6942" cy="6440"/>
            </a:xfrm>
          </p:grpSpPr>
          <p:sp>
            <p:nvSpPr>
              <p:cNvPr id="25613" name="AutoShape 9"/>
              <p:cNvSpPr>
                <a:spLocks noChangeAspect="1" noChangeArrowheads="1" noTextEdit="1"/>
              </p:cNvSpPr>
              <p:nvPr/>
            </p:nvSpPr>
            <p:spPr bwMode="auto">
              <a:xfrm>
                <a:off x="1838" y="6493"/>
                <a:ext cx="6942" cy="6440"/>
              </a:xfrm>
              <a:prstGeom prst="rect">
                <a:avLst/>
              </a:prstGeom>
              <a:noFill/>
              <a:ln w="9525">
                <a:noFill/>
                <a:miter lim="800000"/>
              </a:ln>
            </p:spPr>
            <p:txBody>
              <a:bodyPr/>
              <a:lstStyle/>
              <a:p>
                <a:endParaRPr lang="zh-CN" altLang="en-US"/>
              </a:p>
            </p:txBody>
          </p:sp>
          <p:sp>
            <p:nvSpPr>
              <p:cNvPr id="25614" name="Oval 10"/>
              <p:cNvSpPr>
                <a:spLocks noChangeArrowheads="1"/>
              </p:cNvSpPr>
              <p:nvPr/>
            </p:nvSpPr>
            <p:spPr bwMode="auto">
              <a:xfrm>
                <a:off x="2078" y="6713"/>
                <a:ext cx="6702" cy="5993"/>
              </a:xfrm>
              <a:prstGeom prst="ellipse">
                <a:avLst/>
              </a:prstGeom>
              <a:solidFill>
                <a:srgbClr val="C0C0C0"/>
              </a:solidFill>
              <a:ln w="76200">
                <a:solidFill>
                  <a:srgbClr val="000000"/>
                </a:solidFill>
                <a:round/>
              </a:ln>
            </p:spPr>
            <p:txBody>
              <a:bodyPr anchor="ctr"/>
              <a:lstStyle/>
              <a:p>
                <a:endParaRPr lang="zh-CN" altLang="en-US"/>
              </a:p>
            </p:txBody>
          </p:sp>
          <p:sp>
            <p:nvSpPr>
              <p:cNvPr id="25615" name="Text Box 11"/>
              <p:cNvSpPr txBox="1">
                <a:spLocks noChangeArrowheads="1"/>
              </p:cNvSpPr>
              <p:nvPr/>
            </p:nvSpPr>
            <p:spPr bwMode="auto">
              <a:xfrm>
                <a:off x="6145" y="7563"/>
                <a:ext cx="1303" cy="1295"/>
              </a:xfrm>
              <a:prstGeom prst="rect">
                <a:avLst/>
              </a:prstGeom>
              <a:noFill/>
              <a:ln w="12700">
                <a:noFill/>
                <a:miter lim="800000"/>
              </a:ln>
            </p:spPr>
            <p:txBody>
              <a:bodyPr/>
              <a:lstStyle/>
              <a:p>
                <a:pPr algn="l">
                  <a:spcBef>
                    <a:spcPct val="0"/>
                  </a:spcBef>
                </a:pPr>
                <a:r>
                  <a:rPr kumimoji="0" lang="en-US" altLang="zh-CN" sz="1400" b="1">
                    <a:solidFill>
                      <a:srgbClr val="000000"/>
                    </a:solidFill>
                    <a:cs typeface="Arial" panose="020B0604020202020204" pitchFamily="34" charset="0"/>
                  </a:rPr>
                  <a:t>Plan</a:t>
                </a:r>
                <a:endParaRPr kumimoji="0" lang="en-US" altLang="zh-CN" sz="1400">
                  <a:latin typeface="Arial" panose="020B0604020202020204" pitchFamily="34" charset="0"/>
                </a:endParaRPr>
              </a:p>
              <a:p>
                <a:pPr algn="l" eaLnBrk="0" hangingPunct="0">
                  <a:spcBef>
                    <a:spcPct val="0"/>
                  </a:spcBef>
                </a:pPr>
                <a:r>
                  <a:rPr kumimoji="0" lang="zh-CN" altLang="en-US" sz="1400" b="1">
                    <a:solidFill>
                      <a:srgbClr val="000000"/>
                    </a:solidFill>
                    <a:cs typeface="Arial" panose="020B0604020202020204" pitchFamily="34" charset="0"/>
                  </a:rPr>
                  <a:t>计划</a:t>
                </a:r>
                <a:endParaRPr kumimoji="0" lang="zh-CN" altLang="en-US" sz="1400">
                  <a:latin typeface="Arial" panose="020B0604020202020204" pitchFamily="34" charset="0"/>
                </a:endParaRPr>
              </a:p>
            </p:txBody>
          </p:sp>
          <p:sp>
            <p:nvSpPr>
              <p:cNvPr id="25616" name="Line 12"/>
              <p:cNvSpPr>
                <a:spLocks noChangeShapeType="1"/>
              </p:cNvSpPr>
              <p:nvPr/>
            </p:nvSpPr>
            <p:spPr bwMode="auto">
              <a:xfrm>
                <a:off x="2093" y="9705"/>
                <a:ext cx="6470" cy="3"/>
              </a:xfrm>
              <a:prstGeom prst="line">
                <a:avLst/>
              </a:prstGeom>
              <a:noFill/>
              <a:ln w="28575">
                <a:solidFill>
                  <a:srgbClr val="000000"/>
                </a:solidFill>
                <a:round/>
              </a:ln>
            </p:spPr>
            <p:txBody>
              <a:bodyPr anchor="ctr"/>
              <a:lstStyle/>
              <a:p>
                <a:endParaRPr lang="zh-CN" altLang="en-US"/>
              </a:p>
            </p:txBody>
          </p:sp>
          <p:sp>
            <p:nvSpPr>
              <p:cNvPr id="25617" name="Line 13"/>
              <p:cNvSpPr>
                <a:spLocks noChangeShapeType="1"/>
              </p:cNvSpPr>
              <p:nvPr/>
            </p:nvSpPr>
            <p:spPr bwMode="auto">
              <a:xfrm rot="-5400000">
                <a:off x="2369" y="9709"/>
                <a:ext cx="6075" cy="3"/>
              </a:xfrm>
              <a:prstGeom prst="line">
                <a:avLst/>
              </a:prstGeom>
              <a:noFill/>
              <a:ln w="28575">
                <a:solidFill>
                  <a:srgbClr val="000000"/>
                </a:solidFill>
                <a:round/>
              </a:ln>
            </p:spPr>
            <p:txBody>
              <a:bodyPr anchor="ctr"/>
              <a:lstStyle/>
              <a:p>
                <a:endParaRPr lang="zh-CN" altLang="en-US"/>
              </a:p>
            </p:txBody>
          </p:sp>
          <p:sp>
            <p:nvSpPr>
              <p:cNvPr id="25618" name="AutoShape 14"/>
              <p:cNvSpPr>
                <a:spLocks noChangeArrowheads="1"/>
              </p:cNvSpPr>
              <p:nvPr/>
            </p:nvSpPr>
            <p:spPr bwMode="auto">
              <a:xfrm flipV="1">
                <a:off x="1838" y="9360"/>
                <a:ext cx="452" cy="701"/>
              </a:xfrm>
              <a:prstGeom prst="downArrow">
                <a:avLst>
                  <a:gd name="adj1" fmla="val 50000"/>
                  <a:gd name="adj2" fmla="val 38772"/>
                </a:avLst>
              </a:prstGeom>
              <a:solidFill>
                <a:srgbClr val="000000"/>
              </a:solidFill>
              <a:ln w="12700">
                <a:noFill/>
                <a:miter lim="800000"/>
              </a:ln>
            </p:spPr>
            <p:txBody>
              <a:bodyPr anchor="ctr"/>
              <a:lstStyle/>
              <a:p>
                <a:endParaRPr lang="zh-CN" altLang="en-US"/>
              </a:p>
            </p:txBody>
          </p:sp>
          <p:sp>
            <p:nvSpPr>
              <p:cNvPr id="25619" name="Oval 15"/>
              <p:cNvSpPr>
                <a:spLocks noChangeArrowheads="1"/>
              </p:cNvSpPr>
              <p:nvPr/>
            </p:nvSpPr>
            <p:spPr bwMode="auto">
              <a:xfrm>
                <a:off x="3988" y="8543"/>
                <a:ext cx="2792" cy="2468"/>
              </a:xfrm>
              <a:prstGeom prst="ellipse">
                <a:avLst/>
              </a:prstGeom>
              <a:solidFill>
                <a:srgbClr val="FFFFFF"/>
              </a:solidFill>
              <a:ln w="38100">
                <a:solidFill>
                  <a:srgbClr val="000000"/>
                </a:solidFill>
                <a:round/>
              </a:ln>
            </p:spPr>
            <p:txBody>
              <a:bodyPr anchor="ctr"/>
              <a:lstStyle/>
              <a:p>
                <a:pPr algn="ctr">
                  <a:spcBef>
                    <a:spcPct val="0"/>
                  </a:spcBef>
                </a:pPr>
                <a:r>
                  <a:rPr kumimoji="0" lang="zh-CN" altLang="en-US" sz="1400" b="1">
                    <a:solidFill>
                      <a:srgbClr val="000000"/>
                    </a:solidFill>
                    <a:ea typeface="楷体" panose="02010609060101010101" pitchFamily="49" charset="-122"/>
                  </a:rPr>
                  <a:t>持续改进的</a:t>
                </a:r>
                <a:endParaRPr kumimoji="0" lang="zh-CN" altLang="en-US" sz="1400">
                  <a:latin typeface="Arial" panose="020B0604020202020204" pitchFamily="34" charset="0"/>
                </a:endParaRPr>
              </a:p>
              <a:p>
                <a:pPr algn="ctr" eaLnBrk="0" hangingPunct="0">
                  <a:spcBef>
                    <a:spcPct val="0"/>
                  </a:spcBef>
                </a:pPr>
                <a:r>
                  <a:rPr kumimoji="0" lang="zh-CN" altLang="en-US" sz="1400" b="1">
                    <a:solidFill>
                      <a:srgbClr val="000000"/>
                    </a:solidFill>
                    <a:ea typeface="楷体" panose="02010609060101010101" pitchFamily="49" charset="-122"/>
                  </a:rPr>
                  <a:t>过程</a:t>
                </a:r>
                <a:endParaRPr kumimoji="0" lang="zh-CN" altLang="en-US" sz="1400">
                  <a:latin typeface="Arial" panose="020B0604020202020204" pitchFamily="34" charset="0"/>
                </a:endParaRPr>
              </a:p>
            </p:txBody>
          </p:sp>
          <p:sp>
            <p:nvSpPr>
              <p:cNvPr id="25620" name="Text Box 16"/>
              <p:cNvSpPr txBox="1">
                <a:spLocks noChangeArrowheads="1"/>
              </p:cNvSpPr>
              <p:nvPr/>
            </p:nvSpPr>
            <p:spPr bwMode="auto">
              <a:xfrm>
                <a:off x="3320" y="7668"/>
                <a:ext cx="1250" cy="1294"/>
              </a:xfrm>
              <a:prstGeom prst="rect">
                <a:avLst/>
              </a:prstGeom>
              <a:noFill/>
              <a:ln w="12700">
                <a:noFill/>
                <a:miter lim="800000"/>
              </a:ln>
            </p:spPr>
            <p:txBody>
              <a:bodyPr/>
              <a:lstStyle/>
              <a:p>
                <a:pPr algn="l">
                  <a:spcBef>
                    <a:spcPct val="0"/>
                  </a:spcBef>
                </a:pPr>
                <a:r>
                  <a:rPr kumimoji="0" lang="en-US" altLang="zh-CN" sz="1400" b="1">
                    <a:solidFill>
                      <a:srgbClr val="000000"/>
                    </a:solidFill>
                    <a:cs typeface="Arial" panose="020B0604020202020204" pitchFamily="34" charset="0"/>
                  </a:rPr>
                  <a:t>Action</a:t>
                </a:r>
                <a:endParaRPr kumimoji="0" lang="en-US" altLang="zh-CN" sz="1400">
                  <a:latin typeface="Arial" panose="020B0604020202020204" pitchFamily="34" charset="0"/>
                </a:endParaRPr>
              </a:p>
              <a:p>
                <a:pPr algn="l" eaLnBrk="0" hangingPunct="0">
                  <a:spcBef>
                    <a:spcPct val="0"/>
                  </a:spcBef>
                </a:pPr>
                <a:r>
                  <a:rPr kumimoji="0" lang="zh-CN" altLang="en-US" sz="1400" b="1">
                    <a:solidFill>
                      <a:srgbClr val="000000"/>
                    </a:solidFill>
                    <a:cs typeface="Arial" panose="020B0604020202020204" pitchFamily="34" charset="0"/>
                  </a:rPr>
                  <a:t>改进</a:t>
                </a:r>
                <a:endParaRPr kumimoji="0" lang="zh-CN" altLang="en-US" sz="1400">
                  <a:latin typeface="Arial" panose="020B0604020202020204" pitchFamily="34" charset="0"/>
                </a:endParaRPr>
              </a:p>
            </p:txBody>
          </p:sp>
          <p:sp>
            <p:nvSpPr>
              <p:cNvPr id="25621" name="Text Box 17"/>
              <p:cNvSpPr txBox="1">
                <a:spLocks noChangeArrowheads="1"/>
              </p:cNvSpPr>
              <p:nvPr/>
            </p:nvSpPr>
            <p:spPr bwMode="auto">
              <a:xfrm>
                <a:off x="6518" y="10705"/>
                <a:ext cx="1445" cy="767"/>
              </a:xfrm>
              <a:prstGeom prst="rect">
                <a:avLst/>
              </a:prstGeom>
              <a:noFill/>
              <a:ln w="12700">
                <a:noFill/>
                <a:miter lim="800000"/>
              </a:ln>
            </p:spPr>
            <p:txBody>
              <a:bodyPr/>
              <a:lstStyle/>
              <a:p>
                <a:pPr algn="l">
                  <a:spcBef>
                    <a:spcPct val="0"/>
                  </a:spcBef>
                </a:pPr>
                <a:r>
                  <a:rPr kumimoji="0" lang="en-US" altLang="zh-CN" sz="1400" b="1">
                    <a:solidFill>
                      <a:srgbClr val="000000"/>
                    </a:solidFill>
                    <a:cs typeface="Arial" panose="020B0604020202020204" pitchFamily="34" charset="0"/>
                  </a:rPr>
                  <a:t>Do  </a:t>
                </a:r>
                <a:endParaRPr kumimoji="0" lang="en-US" altLang="zh-CN" sz="1400">
                  <a:latin typeface="Arial" panose="020B0604020202020204" pitchFamily="34" charset="0"/>
                </a:endParaRPr>
              </a:p>
              <a:p>
                <a:pPr algn="l" eaLnBrk="0" hangingPunct="0">
                  <a:spcBef>
                    <a:spcPct val="0"/>
                  </a:spcBef>
                </a:pPr>
                <a:r>
                  <a:rPr kumimoji="0" lang="zh-CN" altLang="en-US" sz="1400" b="1">
                    <a:solidFill>
                      <a:srgbClr val="000000"/>
                    </a:solidFill>
                    <a:ea typeface="楷体" panose="02010609060101010101" pitchFamily="49" charset="-122"/>
                  </a:rPr>
                  <a:t>执行</a:t>
                </a:r>
                <a:endParaRPr kumimoji="0" lang="zh-CN" altLang="en-US" sz="1400">
                  <a:latin typeface="Arial" panose="020B0604020202020204" pitchFamily="34" charset="0"/>
                </a:endParaRPr>
              </a:p>
            </p:txBody>
          </p:sp>
          <p:sp>
            <p:nvSpPr>
              <p:cNvPr id="25622" name="Text Box 18"/>
              <p:cNvSpPr txBox="1">
                <a:spLocks noChangeArrowheads="1"/>
              </p:cNvSpPr>
              <p:nvPr/>
            </p:nvSpPr>
            <p:spPr bwMode="auto">
              <a:xfrm>
                <a:off x="3098" y="10549"/>
                <a:ext cx="1732" cy="1295"/>
              </a:xfrm>
              <a:prstGeom prst="rect">
                <a:avLst/>
              </a:prstGeom>
              <a:noFill/>
              <a:ln w="12700">
                <a:noFill/>
                <a:miter lim="800000"/>
              </a:ln>
            </p:spPr>
            <p:txBody>
              <a:bodyPr/>
              <a:lstStyle/>
              <a:p>
                <a:pPr algn="l">
                  <a:spcBef>
                    <a:spcPct val="0"/>
                  </a:spcBef>
                </a:pPr>
                <a:r>
                  <a:rPr kumimoji="0" lang="en-US" altLang="zh-CN" sz="1400" b="1">
                    <a:solidFill>
                      <a:srgbClr val="000000"/>
                    </a:solidFill>
                    <a:cs typeface="Arial" panose="020B0604020202020204" pitchFamily="34" charset="0"/>
                  </a:rPr>
                  <a:t>Check </a:t>
                </a:r>
                <a:endParaRPr kumimoji="0" lang="en-US" altLang="zh-CN" sz="1400">
                  <a:latin typeface="Arial" panose="020B0604020202020204" pitchFamily="34" charset="0"/>
                </a:endParaRPr>
              </a:p>
              <a:p>
                <a:pPr algn="l" eaLnBrk="0" hangingPunct="0">
                  <a:spcBef>
                    <a:spcPct val="0"/>
                  </a:spcBef>
                </a:pPr>
                <a:r>
                  <a:rPr kumimoji="0" lang="en-US" altLang="zh-CN" sz="1400" b="1">
                    <a:solidFill>
                      <a:srgbClr val="000000"/>
                    </a:solidFill>
                    <a:cs typeface="Arial" panose="020B0604020202020204" pitchFamily="34" charset="0"/>
                  </a:rPr>
                  <a:t> </a:t>
                </a:r>
                <a:r>
                  <a:rPr kumimoji="0" lang="zh-CN" altLang="en-US" sz="1400" b="1">
                    <a:solidFill>
                      <a:srgbClr val="000000"/>
                    </a:solidFill>
                    <a:cs typeface="Arial" panose="020B0604020202020204" pitchFamily="34" charset="0"/>
                  </a:rPr>
                  <a:t>检查</a:t>
                </a:r>
                <a:endParaRPr kumimoji="0" lang="zh-CN" altLang="en-US" sz="1400">
                  <a:latin typeface="Arial" panose="020B0604020202020204" pitchFamily="34" charset="0"/>
                </a:endParaRPr>
              </a:p>
            </p:txBody>
          </p:sp>
          <p:sp>
            <p:nvSpPr>
              <p:cNvPr id="25623" name="AutoShape 19"/>
              <p:cNvSpPr>
                <a:spLocks noChangeArrowheads="1"/>
              </p:cNvSpPr>
              <p:nvPr/>
            </p:nvSpPr>
            <p:spPr bwMode="auto">
              <a:xfrm rot="16200000" flipV="1">
                <a:off x="5123" y="12356"/>
                <a:ext cx="442" cy="712"/>
              </a:xfrm>
              <a:prstGeom prst="downArrow">
                <a:avLst>
                  <a:gd name="adj1" fmla="val 50000"/>
                  <a:gd name="adj2" fmla="val 40271"/>
                </a:avLst>
              </a:prstGeom>
              <a:solidFill>
                <a:srgbClr val="000000"/>
              </a:solidFill>
              <a:ln w="12700">
                <a:noFill/>
                <a:miter lim="800000"/>
              </a:ln>
            </p:spPr>
            <p:txBody>
              <a:bodyPr rot="10800000" vert="eaVert" anchor="ctr"/>
              <a:lstStyle/>
              <a:p>
                <a:endParaRPr lang="zh-CN" altLang="en-US"/>
              </a:p>
            </p:txBody>
          </p:sp>
          <p:sp>
            <p:nvSpPr>
              <p:cNvPr id="25624" name="AutoShape 20"/>
              <p:cNvSpPr>
                <a:spLocks noChangeArrowheads="1"/>
              </p:cNvSpPr>
              <p:nvPr/>
            </p:nvSpPr>
            <p:spPr bwMode="auto">
              <a:xfrm rot="5400000" flipV="1">
                <a:off x="5151" y="6355"/>
                <a:ext cx="485" cy="762"/>
              </a:xfrm>
              <a:prstGeom prst="downArrow">
                <a:avLst>
                  <a:gd name="adj1" fmla="val 50000"/>
                  <a:gd name="adj2" fmla="val 39278"/>
                </a:avLst>
              </a:prstGeom>
              <a:solidFill>
                <a:srgbClr val="000000"/>
              </a:solidFill>
              <a:ln w="12700">
                <a:noFill/>
                <a:miter lim="800000"/>
              </a:ln>
            </p:spPr>
            <p:txBody>
              <a:bodyPr vert="eaVert" anchor="ctr"/>
              <a:lstStyle/>
              <a:p>
                <a:endParaRPr lang="zh-CN" altLang="en-US"/>
              </a:p>
            </p:txBody>
          </p:sp>
        </p:grpSp>
        <p:sp>
          <p:nvSpPr>
            <p:cNvPr id="25612" name="AutoShape 21"/>
            <p:cNvSpPr>
              <a:spLocks noChangeArrowheads="1"/>
            </p:cNvSpPr>
            <p:nvPr/>
          </p:nvSpPr>
          <p:spPr bwMode="auto">
            <a:xfrm>
              <a:off x="4916" y="2024"/>
              <a:ext cx="232" cy="324"/>
            </a:xfrm>
            <a:prstGeom prst="downArrow">
              <a:avLst>
                <a:gd name="adj1" fmla="val 50000"/>
                <a:gd name="adj2" fmla="val 34914"/>
              </a:avLst>
            </a:prstGeom>
            <a:solidFill>
              <a:srgbClr val="000000"/>
            </a:solidFill>
            <a:ln w="12700">
              <a:noFill/>
              <a:miter lim="800000"/>
            </a:ln>
          </p:spPr>
          <p:txBody>
            <a:bodyPr anchor="ctr"/>
            <a:lstStyle/>
            <a:p>
              <a:endParaRPr lang="zh-CN" altLang="en-US"/>
            </a:p>
          </p:txBody>
        </p:sp>
      </p:grpSp>
      <p:sp>
        <p:nvSpPr>
          <p:cNvPr id="25602" name="Rectangle 9"/>
          <p:cNvSpPr>
            <a:spLocks noGrp="1" noChangeArrowheads="1"/>
          </p:cNvSpPr>
          <p:nvPr>
            <p:ph type="sldNum" sz="quarter" idx="10"/>
          </p:nvPr>
        </p:nvSpPr>
        <p:spPr>
          <a:noFill/>
        </p:spPr>
        <p:txBody>
          <a:bodyPr/>
          <a:lstStyle/>
          <a:p>
            <a:r>
              <a:rPr lang="zh-CN" altLang="en-GB" dirty="0" smtClean="0"/>
              <a:t>  </a:t>
            </a:r>
            <a:fld id="{5DE86D0C-5B10-4562-B973-3837281483BC}" type="slidenum">
              <a:rPr lang="zh-CN" altLang="en-GB" smtClean="0"/>
            </a:fld>
            <a:endParaRPr lang="en-US" altLang="zh-CN" dirty="0" smtClean="0"/>
          </a:p>
        </p:txBody>
      </p:sp>
      <p:sp>
        <p:nvSpPr>
          <p:cNvPr id="25604"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P.160</a:t>
            </a:r>
            <a:endParaRPr lang="en-US" altLang="zh-CN" sz="2400" b="1">
              <a:solidFill>
                <a:schemeClr val="bg2"/>
              </a:solidFill>
            </a:endParaRPr>
          </a:p>
        </p:txBody>
      </p:sp>
      <p:sp>
        <p:nvSpPr>
          <p:cNvPr id="25605"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25606" name="Rectangle 5"/>
          <p:cNvSpPr>
            <a:spLocks noChangeArrowheads="1"/>
          </p:cNvSpPr>
          <p:nvPr/>
        </p:nvSpPr>
        <p:spPr bwMode="auto">
          <a:xfrm>
            <a:off x="0" y="2671763"/>
            <a:ext cx="9144000" cy="0"/>
          </a:xfrm>
          <a:prstGeom prst="rect">
            <a:avLst/>
          </a:prstGeom>
          <a:noFill/>
          <a:ln w="9525" algn="ctr">
            <a:noFill/>
            <a:miter lim="800000"/>
          </a:ln>
        </p:spPr>
        <p:txBody>
          <a:bodyPr wrap="none" anchor="ctr">
            <a:spAutoFit/>
          </a:bodyPr>
          <a:lstStyle/>
          <a:p>
            <a:endParaRPr lang="zh-CN" altLang="en-US"/>
          </a:p>
        </p:txBody>
      </p:sp>
      <p:sp>
        <p:nvSpPr>
          <p:cNvPr id="25607" name="Rectangle 6"/>
          <p:cNvSpPr>
            <a:spLocks noChangeArrowheads="1"/>
          </p:cNvSpPr>
          <p:nvPr/>
        </p:nvSpPr>
        <p:spPr bwMode="auto">
          <a:xfrm>
            <a:off x="71406" y="1977025"/>
            <a:ext cx="3749671" cy="3451225"/>
          </a:xfrm>
          <a:prstGeom prst="rect">
            <a:avLst/>
          </a:prstGeom>
          <a:noFill/>
          <a:ln w="9525" algn="ctr">
            <a:noFill/>
            <a:miter lim="800000"/>
          </a:ln>
        </p:spPr>
        <p:txBody>
          <a:bodyPr wrap="square" anchor="ctr">
            <a:spAutoFit/>
          </a:bodyPr>
          <a:lstStyle/>
          <a:p>
            <a:pPr indent="266700" algn="l">
              <a:lnSpc>
                <a:spcPct val="130000"/>
              </a:lnSpc>
              <a:buClr>
                <a:srgbClr val="FF0000"/>
              </a:buClr>
            </a:pP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世界著名的统计管理学专家和质量管理专家</a:t>
            </a:r>
            <a:r>
              <a:rPr kumimoji="0" lang="zh-CN" altLang="en-US" sz="4000" b="1">
                <a:solidFill>
                  <a:srgbClr val="FF0000"/>
                </a:solidFill>
                <a:latin typeface="楷体" panose="02010609060101010101" pitchFamily="49" charset="-122"/>
                <a:ea typeface="楷体" panose="02010609060101010101" pitchFamily="49" charset="-122"/>
                <a:cs typeface="楷体" panose="02010609060101010101" pitchFamily="49" charset="-122"/>
              </a:rPr>
              <a:t>戴明</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把质量管理工作过程总结为</a:t>
            </a:r>
            <a:r>
              <a:rPr kumimoji="0" lang="en-US" altLang="zh-CN" sz="3200" b="1">
                <a:solidFill>
                  <a:schemeClr val="bg1"/>
                </a:solidFill>
                <a:latin typeface="楷体" panose="02010609060101010101" pitchFamily="49" charset="-122"/>
                <a:ea typeface="楷体" panose="02010609060101010101" pitchFamily="49" charset="-122"/>
                <a:cs typeface="楷体" panose="02010609060101010101" pitchFamily="49" charset="-122"/>
              </a:rPr>
              <a:t>PDCA</a:t>
            </a:r>
            <a:r>
              <a:rPr kumimoji="0" lang="zh-CN" altLang="en-US" sz="3200" b="1">
                <a:solidFill>
                  <a:schemeClr val="bg1"/>
                </a:solidFill>
                <a:latin typeface="楷体" panose="02010609060101010101" pitchFamily="49" charset="-122"/>
                <a:ea typeface="楷体" panose="02010609060101010101" pitchFamily="49" charset="-122"/>
                <a:cs typeface="楷体" panose="02010609060101010101" pitchFamily="49" charset="-122"/>
              </a:rPr>
              <a:t>四个阶段</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25609" name="Rectangle 24"/>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en-US" altLang="en-US" sz="3000" b="1">
              <a:latin typeface="楷体" panose="02010609060101010101" pitchFamily="49" charset="-122"/>
              <a:ea typeface="楷体" panose="02010609060101010101" pitchFamily="49" charset="-122"/>
            </a:endParaRPr>
          </a:p>
        </p:txBody>
      </p:sp>
      <p:sp>
        <p:nvSpPr>
          <p:cNvPr id="25610" name="Rectangle 25"/>
          <p:cNvSpPr>
            <a:spLocks noChangeArrowheads="1"/>
          </p:cNvSpPr>
          <p:nvPr/>
        </p:nvSpPr>
        <p:spPr bwMode="auto">
          <a:xfrm>
            <a:off x="323850" y="1341438"/>
            <a:ext cx="3128010"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7.2.1 </a:t>
            </a:r>
            <a:r>
              <a:rPr kumimoji="0" lang="en-US" altLang="en-US" b="1">
                <a:solidFill>
                  <a:srgbClr val="FF0000"/>
                </a:solidFill>
                <a:latin typeface="楷体" panose="02010609060101010101" pitchFamily="49" charset="-122"/>
                <a:ea typeface="楷体" panose="02010609060101010101" pitchFamily="49" charset="-122"/>
              </a:rPr>
              <a:t>戴明改进循环</a:t>
            </a:r>
            <a:endParaRPr kumimoji="0" lang="en-US" altLang="en-US" b="1">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400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0087" grpId="0" animBg="1"/>
      <p:bldP spid="1240087"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9"/>
          <p:cNvSpPr>
            <a:spLocks noGrp="1" noChangeArrowheads="1"/>
          </p:cNvSpPr>
          <p:nvPr>
            <p:ph type="sldNum" sz="quarter" idx="10"/>
          </p:nvPr>
        </p:nvSpPr>
        <p:spPr>
          <a:noFill/>
        </p:spPr>
        <p:txBody>
          <a:bodyPr/>
          <a:lstStyle/>
          <a:p>
            <a:r>
              <a:rPr lang="zh-CN" altLang="en-GB" dirty="0" smtClean="0"/>
              <a:t>  </a:t>
            </a:r>
            <a:fld id="{3F314788-F60A-46F2-864C-6BD3901D3818}" type="slidenum">
              <a:rPr lang="zh-CN" altLang="en-GB" smtClean="0"/>
            </a:fld>
            <a:endParaRPr lang="en-US" altLang="zh-CN" dirty="0" smtClean="0"/>
          </a:p>
        </p:txBody>
      </p:sp>
      <p:sp>
        <p:nvSpPr>
          <p:cNvPr id="27651"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P.160</a:t>
            </a:r>
            <a:endParaRPr lang="en-US" altLang="zh-CN" sz="2400" b="1">
              <a:solidFill>
                <a:schemeClr val="bg2"/>
              </a:solidFill>
            </a:endParaRPr>
          </a:p>
        </p:txBody>
      </p:sp>
      <p:sp>
        <p:nvSpPr>
          <p:cNvPr id="27652" name="Rectangle 5"/>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27653" name="Rectangle 6"/>
          <p:cNvSpPr>
            <a:spLocks noChangeArrowheads="1"/>
          </p:cNvSpPr>
          <p:nvPr/>
        </p:nvSpPr>
        <p:spPr bwMode="auto">
          <a:xfrm>
            <a:off x="0" y="2671763"/>
            <a:ext cx="9144000" cy="0"/>
          </a:xfrm>
          <a:prstGeom prst="rect">
            <a:avLst/>
          </a:prstGeom>
          <a:noFill/>
          <a:ln w="9525" algn="ctr">
            <a:noFill/>
            <a:miter lim="800000"/>
          </a:ln>
        </p:spPr>
        <p:txBody>
          <a:bodyPr wrap="none" anchor="ctr">
            <a:spAutoFit/>
          </a:bodyPr>
          <a:lstStyle/>
          <a:p>
            <a:endParaRPr lang="zh-CN" altLang="en-US"/>
          </a:p>
        </p:txBody>
      </p:sp>
      <p:sp>
        <p:nvSpPr>
          <p:cNvPr id="27654" name="Rectangle 7"/>
          <p:cNvSpPr>
            <a:spLocks noChangeArrowheads="1"/>
          </p:cNvSpPr>
          <p:nvPr/>
        </p:nvSpPr>
        <p:spPr bwMode="auto">
          <a:xfrm>
            <a:off x="215900" y="2106137"/>
            <a:ext cx="8893175" cy="4523105"/>
          </a:xfrm>
          <a:prstGeom prst="rect">
            <a:avLst/>
          </a:prstGeom>
          <a:noFill/>
          <a:ln w="9525" algn="ctr">
            <a:noFill/>
            <a:miter lim="800000"/>
          </a:ln>
        </p:spPr>
        <p:txBody>
          <a:bodyPr anchor="ctr">
            <a:spAutoFit/>
          </a:bodyPr>
          <a:lstStyle/>
          <a:p>
            <a:pPr algn="l">
              <a:spcBef>
                <a:spcPts val="600"/>
              </a:spcBef>
              <a:spcAft>
                <a:spcPts val="600"/>
              </a:spcAft>
              <a:buClr>
                <a:srgbClr val="FF0000"/>
              </a:buClr>
            </a:pP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质量认证</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也叫</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合格评定</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，是国际上通行的管理产品质量的有效方法。</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600"/>
              </a:spcBef>
              <a:spcAft>
                <a:spcPts val="600"/>
              </a:spcAft>
              <a:buClr>
                <a:srgbClr val="000000"/>
              </a:buClr>
              <a:buFont typeface="Wingdings" panose="05000000000000000000" charset="0"/>
              <a:buChar char="ü"/>
            </a:pP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按认证的</a:t>
            </a:r>
            <a:r>
              <a:rPr kumimoji="0" lang="zh-CN" altLang="en-US" sz="2400" b="1">
                <a:solidFill>
                  <a:schemeClr val="bg1"/>
                </a:solidFill>
                <a:latin typeface="楷体" panose="02010609060101010101" pitchFamily="49" charset="-122"/>
                <a:ea typeface="楷体" panose="02010609060101010101" pitchFamily="49" charset="-122"/>
                <a:cs typeface="楷体" panose="02010609060101010101" pitchFamily="49" charset="-122"/>
              </a:rPr>
              <a:t>对象</a:t>
            </a: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分为</a:t>
            </a:r>
            <a:r>
              <a:rPr kumimoji="0" lang="zh-CN" altLang="en-US" sz="2400" b="1">
                <a:solidFill>
                  <a:schemeClr val="bg1"/>
                </a:solidFill>
                <a:latin typeface="楷体" panose="02010609060101010101" pitchFamily="49" charset="-122"/>
                <a:ea typeface="楷体" panose="02010609060101010101" pitchFamily="49" charset="-122"/>
                <a:cs typeface="楷体" panose="02010609060101010101" pitchFamily="49" charset="-122"/>
              </a:rPr>
              <a:t>产品质量认证</a:t>
            </a: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和</a:t>
            </a:r>
            <a:r>
              <a:rPr kumimoji="0" lang="zh-CN" altLang="en-US" sz="2400" b="1">
                <a:solidFill>
                  <a:schemeClr val="bg1"/>
                </a:solidFill>
                <a:latin typeface="楷体" panose="02010609060101010101" pitchFamily="49" charset="-122"/>
                <a:ea typeface="楷体" panose="02010609060101010101" pitchFamily="49" charset="-122"/>
                <a:cs typeface="楷体" panose="02010609060101010101" pitchFamily="49" charset="-122"/>
              </a:rPr>
              <a:t>质量体系认证</a:t>
            </a: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两类；</a:t>
            </a:r>
            <a:endPar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600"/>
              </a:spcBef>
              <a:spcAft>
                <a:spcPts val="600"/>
              </a:spcAft>
              <a:buClr>
                <a:srgbClr val="000000"/>
              </a:buClr>
              <a:buFont typeface="Wingdings" panose="05000000000000000000" charset="0"/>
              <a:buChar char="ü"/>
            </a:pP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按</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认证的</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作用</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可分为</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安全认证</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和</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合格认证</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rgbClr val="FF0000"/>
              </a:buClr>
            </a:pP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产品质量认证是指</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依据产品标准和相应技术要求</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，经认证机构确认并通过颁发认证证书和认证标志来证明某一产品符合相应标准和相应技术要求的活动。</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rgbClr val="FF0000"/>
              </a:buClr>
            </a:pP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质量体系认证的对象是</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企业的质量体系</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，或者说是</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企业的质量保证能力</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27655" name="Rectangle 24"/>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en-US" altLang="en-US" sz="3000" b="1">
              <a:latin typeface="楷体" panose="02010609060101010101" pitchFamily="49" charset="-122"/>
              <a:ea typeface="楷体" panose="02010609060101010101" pitchFamily="49" charset="-122"/>
            </a:endParaRPr>
          </a:p>
        </p:txBody>
      </p:sp>
      <p:sp>
        <p:nvSpPr>
          <p:cNvPr id="27656" name="Rectangle 25"/>
          <p:cNvSpPr>
            <a:spLocks noChangeArrowheads="1"/>
          </p:cNvSpPr>
          <p:nvPr/>
        </p:nvSpPr>
        <p:spPr bwMode="auto">
          <a:xfrm>
            <a:off x="323850" y="1341438"/>
            <a:ext cx="445198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7.2.2 ISO9000</a:t>
            </a:r>
            <a:r>
              <a:rPr kumimoji="0" lang="en-US" altLang="en-US" b="1">
                <a:solidFill>
                  <a:srgbClr val="FF0000"/>
                </a:solidFill>
                <a:latin typeface="楷体" panose="02010609060101010101" pitchFamily="49" charset="-122"/>
                <a:ea typeface="楷体" panose="02010609060101010101" pitchFamily="49" charset="-122"/>
              </a:rPr>
              <a:t>质量认证体系</a:t>
            </a:r>
            <a:endParaRPr kumimoji="0" lang="en-US" altLang="en-US" b="1">
              <a:solidFill>
                <a:srgbClr val="FF0000"/>
              </a:solidFill>
              <a:latin typeface="楷体" panose="02010609060101010101" pitchFamily="49" charset="-122"/>
              <a:ea typeface="楷体" panose="02010609060101010101" pitchFamily="49" charset="-122"/>
            </a:endParaRPr>
          </a:p>
        </p:txBody>
      </p:sp>
      <p:sp>
        <p:nvSpPr>
          <p:cNvPr id="27657" name="Text Box 26"/>
          <p:cNvSpPr txBox="1">
            <a:spLocks noChangeArrowheads="1"/>
          </p:cNvSpPr>
          <p:nvPr/>
        </p:nvSpPr>
        <p:spPr bwMode="auto">
          <a:xfrm>
            <a:off x="682625" y="1693863"/>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a:solidFill>
                  <a:schemeClr val="bg1"/>
                </a:solidFill>
              </a:rPr>
              <a:t>1）</a:t>
            </a:r>
            <a:r>
              <a:rPr kumimoji="0" lang="en-US" altLang="en-US" sz="2400" b="1">
                <a:solidFill>
                  <a:schemeClr val="bg1"/>
                </a:solidFill>
                <a:latin typeface="楷体" panose="02010609060101010101" pitchFamily="49" charset="-122"/>
                <a:ea typeface="楷体" panose="02010609060101010101" pitchFamily="49" charset="-122"/>
              </a:rPr>
              <a:t>质量认证</a:t>
            </a:r>
            <a:endParaRPr kumimoji="0" lang="en-US" altLang="en-US" sz="2400" b="1">
              <a:solidFill>
                <a:schemeClr val="bg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5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10"/>
          </p:nvPr>
        </p:nvSpPr>
        <p:spPr>
          <a:noFill/>
        </p:spPr>
        <p:txBody>
          <a:bodyPr/>
          <a:lstStyle/>
          <a:p>
            <a:r>
              <a:rPr lang="zh-CN" altLang="en-GB" dirty="0" smtClean="0"/>
              <a:t>  </a:t>
            </a:r>
            <a:fld id="{6F94B7C8-D633-4EF1-873C-11CDE5EEAC6E}" type="slidenum">
              <a:rPr lang="zh-CN" altLang="en-GB" smtClean="0"/>
            </a:fld>
            <a:endParaRPr lang="en-US" altLang="zh-CN" dirty="0" smtClean="0"/>
          </a:p>
        </p:txBody>
      </p:sp>
      <p:sp>
        <p:nvSpPr>
          <p:cNvPr id="2867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P.161</a:t>
            </a:r>
            <a:endParaRPr lang="en-US" altLang="zh-CN" sz="2400" b="1">
              <a:solidFill>
                <a:schemeClr val="bg2"/>
              </a:solidFill>
            </a:endParaRPr>
          </a:p>
        </p:txBody>
      </p:sp>
      <p:sp>
        <p:nvSpPr>
          <p:cNvPr id="28676"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28677" name="Rectangle 5"/>
          <p:cNvSpPr>
            <a:spLocks noChangeArrowheads="1"/>
          </p:cNvSpPr>
          <p:nvPr/>
        </p:nvSpPr>
        <p:spPr bwMode="auto">
          <a:xfrm>
            <a:off x="0" y="2671763"/>
            <a:ext cx="9144000" cy="0"/>
          </a:xfrm>
          <a:prstGeom prst="rect">
            <a:avLst/>
          </a:prstGeom>
          <a:noFill/>
          <a:ln w="9525" algn="ctr">
            <a:noFill/>
            <a:miter lim="800000"/>
          </a:ln>
        </p:spPr>
        <p:txBody>
          <a:bodyPr wrap="none" anchor="ctr">
            <a:spAutoFit/>
          </a:bodyPr>
          <a:lstStyle/>
          <a:p>
            <a:endParaRPr lang="zh-CN" altLang="en-US"/>
          </a:p>
        </p:txBody>
      </p:sp>
      <p:sp>
        <p:nvSpPr>
          <p:cNvPr id="28678" name="Rectangle 6"/>
          <p:cNvSpPr>
            <a:spLocks noChangeArrowheads="1"/>
          </p:cNvSpPr>
          <p:nvPr/>
        </p:nvSpPr>
        <p:spPr bwMode="auto">
          <a:xfrm>
            <a:off x="323850" y="2164080"/>
            <a:ext cx="8640445" cy="4120515"/>
          </a:xfrm>
          <a:prstGeom prst="rect">
            <a:avLst/>
          </a:prstGeom>
          <a:noFill/>
          <a:ln w="9525" algn="ctr">
            <a:noFill/>
            <a:miter lim="800000"/>
          </a:ln>
        </p:spPr>
        <p:txBody>
          <a:bodyPr wrap="square" anchor="ctr">
            <a:spAutoFit/>
          </a:bodyPr>
          <a:lstStyle/>
          <a:p>
            <a:pPr algn="l">
              <a:lnSpc>
                <a:spcPct val="115000"/>
              </a:lnSpc>
              <a:spcBef>
                <a:spcPts val="600"/>
              </a:spcBef>
              <a:spcAft>
                <a:spcPts val="600"/>
              </a:spcAft>
              <a:buClr>
                <a:srgbClr val="FF0000"/>
              </a:buClr>
            </a:pP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总部设在瑞士日内瓦的国际标准化组织</a:t>
            </a:r>
            <a:r>
              <a:rPr kumimoji="0" lang="zh-CN" altLang="en-US" sz="2400" b="1">
                <a:solidFill>
                  <a:schemeClr val="bg2"/>
                </a:solidFill>
                <a:ea typeface="楷体" panose="02010609060101010101" pitchFamily="49" charset="-122"/>
                <a:cs typeface="Times New Roman" panose="02020603050405020304" pitchFamily="18" charset="0"/>
              </a:rPr>
              <a:t>（</a:t>
            </a:r>
            <a:r>
              <a:rPr kumimoji="0" lang="en-US" altLang="zh-CN" b="1">
                <a:solidFill>
                  <a:srgbClr val="FF0000"/>
                </a:solidFill>
                <a:ea typeface="楷体" panose="02010609060101010101" pitchFamily="49" charset="-122"/>
                <a:cs typeface="Times New Roman" panose="02020603050405020304" pitchFamily="18" charset="0"/>
              </a:rPr>
              <a:t>ISO</a:t>
            </a:r>
            <a:r>
              <a:rPr kumimoji="0" lang="zh-CN" altLang="en-US" sz="2400" b="1">
                <a:solidFill>
                  <a:schemeClr val="bg2"/>
                </a:solidFill>
                <a:ea typeface="楷体" panose="02010609060101010101" pitchFamily="49" charset="-122"/>
                <a:cs typeface="Times New Roman" panose="02020603050405020304" pitchFamily="18" charset="0"/>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是一个由</a:t>
            </a:r>
            <a:r>
              <a:rPr kumimoji="0" lang="en-US" altLang="zh-CN" b="1">
                <a:solidFill>
                  <a:schemeClr val="bg2"/>
                </a:solidFill>
                <a:latin typeface="楷体" panose="02010609060101010101" pitchFamily="49" charset="-122"/>
                <a:ea typeface="楷体" panose="02010609060101010101" pitchFamily="49" charset="-122"/>
                <a:cs typeface="楷体" panose="02010609060101010101" pitchFamily="49" charset="-122"/>
              </a:rPr>
              <a:t>100</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多个国家标准化机构参加的世界性组织</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zh-CN" b="1" smtClean="0">
                <a:solidFill>
                  <a:schemeClr val="bg2"/>
                </a:solidFill>
                <a:ea typeface="楷体" panose="02010609060101010101" pitchFamily="49" charset="-122"/>
                <a:cs typeface="Times New Roman" panose="02020603050405020304" pitchFamily="18" charset="0"/>
              </a:rPr>
              <a:t>1980</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年</a:t>
            </a:r>
            <a:r>
              <a:rPr kumimoji="0" lang="en-US" altLang="zh-CN" b="1" smtClean="0">
                <a:solidFill>
                  <a:schemeClr val="bg2"/>
                </a:solidFill>
                <a:ea typeface="楷体" panose="02010609060101010101" pitchFamily="49" charset="-122"/>
                <a:cs typeface="Times New Roman" panose="02020603050405020304" pitchFamily="18" charset="0"/>
              </a:rPr>
              <a:t>ISO</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成立</a:t>
            </a:r>
            <a:r>
              <a:rPr kumimoji="0" lang="en-US" altLang="zh-CN" b="1" smtClean="0">
                <a:solidFill>
                  <a:schemeClr val="bg2"/>
                </a:solidFill>
                <a:ea typeface="楷体" panose="02010609060101010101" pitchFamily="49" charset="-122"/>
                <a:cs typeface="Times New Roman" panose="02020603050405020304" pitchFamily="18" charset="0"/>
              </a:rPr>
              <a:t>TC176</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着手制订</a:t>
            </a:r>
            <a:r>
              <a:rPr kumimoji="0" lang="zh-CN" altLang="en-US" b="1" smtClean="0">
                <a:solidFill>
                  <a:schemeClr val="bg1"/>
                </a:solidFill>
                <a:latin typeface="楷体" panose="02010609060101010101" pitchFamily="49" charset="-122"/>
                <a:ea typeface="楷体" panose="02010609060101010101" pitchFamily="49" charset="-122"/>
                <a:cs typeface="楷体" panose="02010609060101010101" pitchFamily="49" charset="-122"/>
              </a:rPr>
              <a:t>关于质量保证和质量管理</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的国际通用标准。</a:t>
            </a:r>
            <a:endPar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just">
              <a:lnSpc>
                <a:spcPct val="110000"/>
              </a:lnSpc>
              <a:spcBef>
                <a:spcPts val="600"/>
              </a:spcBef>
              <a:spcAft>
                <a:spcPts val="600"/>
              </a:spcAft>
              <a:buClr>
                <a:srgbClr val="FF0000"/>
              </a:buClr>
            </a:pPr>
            <a:r>
              <a:rPr kumimoji="0" lang="en-US" altLang="zh-CN" b="1" smtClean="0">
                <a:solidFill>
                  <a:schemeClr val="bg2"/>
                </a:solidFill>
                <a:ea typeface="楷体" panose="02010609060101010101" pitchFamily="49" charset="-122"/>
                <a:cs typeface="Times New Roman" panose="02020603050405020304" pitchFamily="18" charset="0"/>
              </a:rPr>
              <a:t>TC176</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即</a:t>
            </a:r>
            <a:r>
              <a:rPr kumimoji="0" lang="en-US" altLang="zh-CN" b="1" smtClean="0">
                <a:solidFill>
                  <a:schemeClr val="bg2"/>
                </a:solidFill>
                <a:ea typeface="楷体" panose="02010609060101010101" pitchFamily="49" charset="-122"/>
                <a:cs typeface="Times New Roman" panose="02020603050405020304" pitchFamily="18" charset="0"/>
              </a:rPr>
              <a:t>ISO</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中第</a:t>
            </a:r>
            <a:r>
              <a:rPr kumimoji="0" lang="en-US" altLang="zh-CN" b="1" smtClean="0">
                <a:solidFill>
                  <a:schemeClr val="bg2"/>
                </a:solidFill>
                <a:ea typeface="楷体" panose="02010609060101010101" pitchFamily="49" charset="-122"/>
                <a:cs typeface="Times New Roman" panose="02020603050405020304" pitchFamily="18" charset="0"/>
              </a:rPr>
              <a:t>176</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个技术委员会，全称是“质量管理和质量保证技术委员会”。</a:t>
            </a:r>
            <a:r>
              <a:rPr kumimoji="0" lang="en-US" altLang="zh-CN" b="1" smtClean="0">
                <a:solidFill>
                  <a:schemeClr val="bg2"/>
                </a:solidFill>
                <a:ea typeface="楷体" panose="02010609060101010101" pitchFamily="49" charset="-122"/>
                <a:cs typeface="Times New Roman" panose="02020603050405020304" pitchFamily="18" charset="0"/>
              </a:rPr>
              <a:t>TC176</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专门负责制定质量管理和质量保证技术的标准，从而促使了</a:t>
            </a:r>
            <a:r>
              <a:rPr kumimoji="0" lang="en-US" altLang="zh-CN" b="1" smtClean="0">
                <a:solidFill>
                  <a:schemeClr val="bg2"/>
                </a:solidFill>
                <a:ea typeface="楷体" panose="02010609060101010101" pitchFamily="49" charset="-122"/>
                <a:cs typeface="Times New Roman" panose="02020603050405020304" pitchFamily="18" charset="0"/>
              </a:rPr>
              <a:t>ISO9000</a:t>
            </a: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簇标准的诞生。</a:t>
            </a:r>
            <a:endParaRPr kumimoji="0" lang="zh-CN" altLang="en-US" sz="36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28679" name="Rectangle 8"/>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zh-CN" altLang="en-US" sz="3000" b="1" smtClean="0">
              <a:latin typeface="楷体" panose="02010609060101010101" pitchFamily="49" charset="-122"/>
              <a:ea typeface="楷体" panose="02010609060101010101" pitchFamily="49" charset="-122"/>
            </a:endParaRPr>
          </a:p>
        </p:txBody>
      </p:sp>
      <p:sp>
        <p:nvSpPr>
          <p:cNvPr id="28680" name="Rectangle 9"/>
          <p:cNvSpPr>
            <a:spLocks noChangeArrowheads="1"/>
          </p:cNvSpPr>
          <p:nvPr/>
        </p:nvSpPr>
        <p:spPr bwMode="auto">
          <a:xfrm>
            <a:off x="323850" y="1341438"/>
            <a:ext cx="445198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7.2.2 ISO9000</a:t>
            </a:r>
            <a:r>
              <a:rPr kumimoji="0" lang="en-US" altLang="en-US" b="1">
                <a:solidFill>
                  <a:srgbClr val="FF0000"/>
                </a:solidFill>
                <a:latin typeface="楷体" panose="02010609060101010101" pitchFamily="49" charset="-122"/>
                <a:ea typeface="楷体" panose="02010609060101010101" pitchFamily="49" charset="-122"/>
              </a:rPr>
              <a:t>质量认证体系</a:t>
            </a:r>
            <a:endParaRPr kumimoji="0" lang="en-US" altLang="en-US" b="1">
              <a:solidFill>
                <a:srgbClr val="FF0000"/>
              </a:solidFill>
              <a:latin typeface="楷体" panose="02010609060101010101" pitchFamily="49" charset="-122"/>
              <a:ea typeface="楷体" panose="02010609060101010101" pitchFamily="49" charset="-122"/>
            </a:endParaRPr>
          </a:p>
        </p:txBody>
      </p:sp>
      <p:sp>
        <p:nvSpPr>
          <p:cNvPr id="28681" name="Text Box 10"/>
          <p:cNvSpPr txBox="1">
            <a:spLocks noChangeArrowheads="1"/>
          </p:cNvSpPr>
          <p:nvPr/>
        </p:nvSpPr>
        <p:spPr bwMode="auto">
          <a:xfrm>
            <a:off x="682625" y="1693863"/>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a:solidFill>
                  <a:schemeClr val="bg1"/>
                </a:solidFill>
              </a:rPr>
              <a:t>2）ISO</a:t>
            </a:r>
            <a:r>
              <a:rPr kumimoji="0" lang="en-US" altLang="en-US" sz="2400" b="1">
                <a:solidFill>
                  <a:schemeClr val="bg1"/>
                </a:solidFill>
                <a:latin typeface="楷体" panose="02010609060101010101" pitchFamily="49" charset="-122"/>
                <a:ea typeface="楷体" panose="02010609060101010101" pitchFamily="49" charset="-122"/>
              </a:rPr>
              <a:t>与</a:t>
            </a:r>
            <a:r>
              <a:rPr kumimoji="0" lang="en-US" altLang="en-US" sz="2400" b="1">
                <a:solidFill>
                  <a:schemeClr val="bg1"/>
                </a:solidFill>
              </a:rPr>
              <a:t>ISO9000 </a:t>
            </a:r>
            <a:endParaRPr kumimoji="0" lang="en-US" altLang="en-US" sz="2400" b="1">
              <a:solidFill>
                <a:schemeClr val="bg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10"/>
          </p:nvPr>
        </p:nvSpPr>
        <p:spPr>
          <a:noFill/>
        </p:spPr>
        <p:txBody>
          <a:bodyPr/>
          <a:lstStyle/>
          <a:p>
            <a:r>
              <a:rPr lang="zh-CN" altLang="en-GB" dirty="0" smtClean="0"/>
              <a:t>  </a:t>
            </a:r>
            <a:fld id="{24FBA78B-9913-4E80-924E-B3C6C1AB720B}" type="slidenum">
              <a:rPr lang="zh-CN" altLang="en-GB" smtClean="0"/>
            </a:fld>
            <a:endParaRPr lang="en-US" altLang="zh-CN" dirty="0" smtClean="0"/>
          </a:p>
        </p:txBody>
      </p:sp>
      <p:sp>
        <p:nvSpPr>
          <p:cNvPr id="3072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P.161</a:t>
            </a:r>
            <a:endParaRPr lang="en-US" altLang="zh-CN" sz="2400" b="1">
              <a:solidFill>
                <a:schemeClr val="bg2"/>
              </a:solidFill>
            </a:endParaRPr>
          </a:p>
        </p:txBody>
      </p:sp>
      <p:sp>
        <p:nvSpPr>
          <p:cNvPr id="3072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30725" name="Rectangle 5"/>
          <p:cNvSpPr>
            <a:spLocks noChangeArrowheads="1"/>
          </p:cNvSpPr>
          <p:nvPr/>
        </p:nvSpPr>
        <p:spPr bwMode="auto">
          <a:xfrm>
            <a:off x="0" y="2671763"/>
            <a:ext cx="9144000" cy="0"/>
          </a:xfrm>
          <a:prstGeom prst="rect">
            <a:avLst/>
          </a:prstGeom>
          <a:noFill/>
          <a:ln w="9525" algn="ctr">
            <a:noFill/>
            <a:miter lim="800000"/>
          </a:ln>
        </p:spPr>
        <p:txBody>
          <a:bodyPr wrap="none" anchor="ctr">
            <a:spAutoFit/>
          </a:bodyPr>
          <a:lstStyle/>
          <a:p>
            <a:endParaRPr lang="zh-CN" altLang="en-US"/>
          </a:p>
        </p:txBody>
      </p:sp>
      <p:sp>
        <p:nvSpPr>
          <p:cNvPr id="30726" name="Rectangle 6"/>
          <p:cNvSpPr>
            <a:spLocks noChangeArrowheads="1"/>
          </p:cNvSpPr>
          <p:nvPr/>
        </p:nvSpPr>
        <p:spPr bwMode="auto">
          <a:xfrm>
            <a:off x="250825" y="2126105"/>
            <a:ext cx="8569325" cy="4292600"/>
          </a:xfrm>
          <a:prstGeom prst="rect">
            <a:avLst/>
          </a:prstGeom>
          <a:noFill/>
          <a:ln w="9525" algn="ctr">
            <a:noFill/>
            <a:miter lim="800000"/>
          </a:ln>
        </p:spPr>
        <p:txBody>
          <a:bodyPr anchor="ctr">
            <a:spAutoFit/>
          </a:bodyPr>
          <a:lstStyle/>
          <a:p>
            <a:pPr algn="l">
              <a:buClr>
                <a:schemeClr val="hlink"/>
              </a:buClr>
            </a:pPr>
            <a:r>
              <a:rPr kumimoji="0" lang="en-US" altLang="zh-CN" b="1">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en-US" altLang="zh-CN" b="1">
                <a:solidFill>
                  <a:schemeClr val="bg2"/>
                </a:solidFill>
                <a:ea typeface="楷体" panose="02010609060101010101" pitchFamily="49" charset="-122"/>
                <a:cs typeface="Times New Roman" panose="02020603050405020304" pitchFamily="18" charset="0"/>
              </a:rPr>
              <a:t>ISO9000</a:t>
            </a:r>
            <a:r>
              <a:rPr kumimoji="0" lang="en-US" altLang="zh-CN" b="1">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是涉及质量保证与质量管理活动的一簇标准的统称。它提供了一个组织满足其质量认证标准的</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最低要求</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，健全了质量保证体系认证制度，它包括：</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ts val="600"/>
              </a:spcBef>
              <a:buClr>
                <a:schemeClr val="bg1"/>
              </a:buClr>
              <a:buFont typeface="Wingdings" panose="05000000000000000000" pitchFamily="2" charset="2"/>
              <a:buChar char="n"/>
            </a:pPr>
            <a:r>
              <a:rPr kumimoji="0" lang="en-US" altLang="zh-CN" b="1">
                <a:solidFill>
                  <a:schemeClr val="bg2"/>
                </a:solidFill>
                <a:ea typeface="楷体" panose="02010609060101010101" pitchFamily="49" charset="-122"/>
                <a:cs typeface="Times New Roman" panose="02020603050405020304" pitchFamily="18" charset="0"/>
              </a:rPr>
              <a:t>ISO9000</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质量管理与质量保证标准</a:t>
            </a:r>
            <a:endPar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ts val="600"/>
              </a:spcBef>
              <a:buClr>
                <a:schemeClr val="bg1"/>
              </a:buClr>
              <a:buFont typeface="Wingdings" panose="05000000000000000000" pitchFamily="2" charset="2"/>
              <a:buChar char="n"/>
            </a:pPr>
            <a:r>
              <a:rPr kumimoji="0" lang="en-US" altLang="zh-CN" b="1">
                <a:solidFill>
                  <a:schemeClr val="bg2"/>
                </a:solidFill>
                <a:ea typeface="楷体" panose="02010609060101010101" pitchFamily="49" charset="-122"/>
                <a:cs typeface="Times New Roman" panose="02020603050405020304" pitchFamily="18" charset="0"/>
              </a:rPr>
              <a:t>ISO9001</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质量体系－设计、开发、生产、安装与服务的质量保证模式</a:t>
            </a:r>
            <a:endPar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ts val="600"/>
              </a:spcBef>
              <a:buClr>
                <a:schemeClr val="bg1"/>
              </a:buClr>
              <a:buFont typeface="Wingdings" panose="05000000000000000000" pitchFamily="2" charset="2"/>
              <a:buChar char="n"/>
            </a:pPr>
            <a:r>
              <a:rPr kumimoji="0" lang="en-US" altLang="zh-CN" b="1">
                <a:solidFill>
                  <a:schemeClr val="bg2"/>
                </a:solidFill>
                <a:ea typeface="楷体" panose="02010609060101010101" pitchFamily="49" charset="-122"/>
                <a:cs typeface="Times New Roman" panose="02020603050405020304" pitchFamily="18" charset="0"/>
              </a:rPr>
              <a:t>ISO9002</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质量体系－生产与安装的质量保证模式</a:t>
            </a:r>
            <a:endPar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ts val="600"/>
              </a:spcBef>
              <a:buClr>
                <a:schemeClr val="bg1"/>
              </a:buClr>
              <a:buFont typeface="Wingdings" panose="05000000000000000000" pitchFamily="2" charset="2"/>
              <a:buChar char="n"/>
            </a:pPr>
            <a:r>
              <a:rPr kumimoji="0" lang="en-US" altLang="zh-CN" b="1">
                <a:solidFill>
                  <a:schemeClr val="bg2"/>
                </a:solidFill>
                <a:ea typeface="楷体" panose="02010609060101010101" pitchFamily="49" charset="-122"/>
                <a:cs typeface="Times New Roman" panose="02020603050405020304" pitchFamily="18" charset="0"/>
              </a:rPr>
              <a:t>ISO9003</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最终检验与实验的质量保证模式</a:t>
            </a:r>
            <a:endPar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ts val="600"/>
              </a:spcBef>
              <a:buClr>
                <a:schemeClr val="bg1"/>
              </a:buClr>
              <a:buFont typeface="Wingdings" panose="05000000000000000000" pitchFamily="2" charset="2"/>
              <a:buChar char="n"/>
            </a:pPr>
            <a:r>
              <a:rPr kumimoji="0" lang="en-US" altLang="zh-CN" b="1">
                <a:solidFill>
                  <a:schemeClr val="bg2"/>
                </a:solidFill>
                <a:ea typeface="楷体" panose="02010609060101010101" pitchFamily="49" charset="-122"/>
                <a:cs typeface="Times New Roman" panose="02020603050405020304" pitchFamily="18" charset="0"/>
              </a:rPr>
              <a:t>ISO9004</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质量管理与质量体系要素</a:t>
            </a:r>
            <a:endPar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0727" name="Rectangle 8"/>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zh-CN" altLang="en-US" sz="3000" b="1" smtClean="0">
              <a:latin typeface="楷体" panose="02010609060101010101" pitchFamily="49" charset="-122"/>
              <a:ea typeface="楷体" panose="02010609060101010101" pitchFamily="49" charset="-122"/>
            </a:endParaRPr>
          </a:p>
        </p:txBody>
      </p:sp>
      <p:sp>
        <p:nvSpPr>
          <p:cNvPr id="30728" name="Rectangle 9"/>
          <p:cNvSpPr>
            <a:spLocks noChangeArrowheads="1"/>
          </p:cNvSpPr>
          <p:nvPr/>
        </p:nvSpPr>
        <p:spPr bwMode="auto">
          <a:xfrm>
            <a:off x="323850" y="1341438"/>
            <a:ext cx="445198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7.2.2 ISO9000</a:t>
            </a:r>
            <a:r>
              <a:rPr kumimoji="0" lang="en-US" altLang="en-US" b="1">
                <a:solidFill>
                  <a:srgbClr val="FF0000"/>
                </a:solidFill>
                <a:latin typeface="楷体" panose="02010609060101010101" pitchFamily="49" charset="-122"/>
                <a:ea typeface="楷体" panose="02010609060101010101" pitchFamily="49" charset="-122"/>
              </a:rPr>
              <a:t>质量认证体系</a:t>
            </a:r>
            <a:endParaRPr kumimoji="0" lang="en-US" altLang="en-US" b="1">
              <a:solidFill>
                <a:srgbClr val="FF0000"/>
              </a:solidFill>
              <a:latin typeface="楷体" panose="02010609060101010101" pitchFamily="49" charset="-122"/>
              <a:ea typeface="楷体" panose="02010609060101010101" pitchFamily="49" charset="-122"/>
            </a:endParaRPr>
          </a:p>
        </p:txBody>
      </p:sp>
      <p:sp>
        <p:nvSpPr>
          <p:cNvPr id="30729" name="Text Box 10"/>
          <p:cNvSpPr txBox="1">
            <a:spLocks noChangeArrowheads="1"/>
          </p:cNvSpPr>
          <p:nvPr/>
        </p:nvSpPr>
        <p:spPr bwMode="auto">
          <a:xfrm>
            <a:off x="682625" y="1693863"/>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a:solidFill>
                  <a:schemeClr val="bg1"/>
                </a:solidFill>
              </a:rPr>
              <a:t>2）ISO</a:t>
            </a:r>
            <a:r>
              <a:rPr kumimoji="0" lang="en-US" altLang="en-US" sz="2400" b="1">
                <a:solidFill>
                  <a:schemeClr val="bg1"/>
                </a:solidFill>
                <a:latin typeface="楷体" panose="02010609060101010101" pitchFamily="49" charset="-122"/>
                <a:ea typeface="楷体" panose="02010609060101010101" pitchFamily="49" charset="-122"/>
              </a:rPr>
              <a:t>与</a:t>
            </a:r>
            <a:r>
              <a:rPr kumimoji="0" lang="en-US" altLang="en-US" sz="2400" b="1">
                <a:solidFill>
                  <a:schemeClr val="bg1"/>
                </a:solidFill>
              </a:rPr>
              <a:t>ISO9000 </a:t>
            </a:r>
            <a:endParaRPr kumimoji="0" lang="en-US" altLang="en-US" sz="2400" b="1">
              <a:solidFill>
                <a:schemeClr val="bg1"/>
              </a:solidFill>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9"/>
          <p:cNvSpPr>
            <a:spLocks noGrp="1" noChangeArrowheads="1"/>
          </p:cNvSpPr>
          <p:nvPr>
            <p:ph type="sldNum" sz="quarter" idx="10"/>
          </p:nvPr>
        </p:nvSpPr>
        <p:spPr>
          <a:noFill/>
        </p:spPr>
        <p:txBody>
          <a:bodyPr/>
          <a:lstStyle/>
          <a:p>
            <a:r>
              <a:rPr lang="zh-CN" altLang="en-GB" dirty="0" smtClean="0"/>
              <a:t>  </a:t>
            </a:r>
            <a:fld id="{18621BD7-90D8-45DD-8573-BA1607E55AFE}" type="slidenum">
              <a:rPr lang="zh-CN" altLang="en-GB" smtClean="0"/>
            </a:fld>
            <a:endParaRPr lang="en-US" altLang="zh-CN" dirty="0" smtClean="0"/>
          </a:p>
        </p:txBody>
      </p:sp>
      <p:sp>
        <p:nvSpPr>
          <p:cNvPr id="3174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P.162</a:t>
            </a:r>
            <a:endParaRPr lang="en-US" altLang="zh-CN" sz="2400" b="1">
              <a:solidFill>
                <a:schemeClr val="bg2"/>
              </a:solidFill>
            </a:endParaRPr>
          </a:p>
        </p:txBody>
      </p:sp>
      <p:sp>
        <p:nvSpPr>
          <p:cNvPr id="3174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31749" name="Rectangle 5"/>
          <p:cNvSpPr>
            <a:spLocks noChangeArrowheads="1"/>
          </p:cNvSpPr>
          <p:nvPr/>
        </p:nvSpPr>
        <p:spPr bwMode="auto">
          <a:xfrm>
            <a:off x="0" y="2671763"/>
            <a:ext cx="9144000" cy="0"/>
          </a:xfrm>
          <a:prstGeom prst="rect">
            <a:avLst/>
          </a:prstGeom>
          <a:noFill/>
          <a:ln w="9525" algn="ctr">
            <a:noFill/>
            <a:miter lim="800000"/>
          </a:ln>
        </p:spPr>
        <p:txBody>
          <a:bodyPr wrap="none" anchor="ctr">
            <a:spAutoFit/>
          </a:bodyPr>
          <a:lstStyle/>
          <a:p>
            <a:endParaRPr lang="zh-CN" altLang="en-US"/>
          </a:p>
        </p:txBody>
      </p:sp>
      <p:graphicFrame>
        <p:nvGraphicFramePr>
          <p:cNvPr id="1252406" name="Group 54"/>
          <p:cNvGraphicFramePr>
            <a:graphicFrameLocks noGrp="1"/>
          </p:cNvGraphicFramePr>
          <p:nvPr/>
        </p:nvGraphicFramePr>
        <p:xfrm>
          <a:off x="214282" y="1357299"/>
          <a:ext cx="8643999" cy="5029200"/>
        </p:xfrm>
        <a:graphic>
          <a:graphicData uri="http://schemas.openxmlformats.org/drawingml/2006/table">
            <a:tbl>
              <a:tblPr/>
              <a:tblGrid>
                <a:gridCol w="1813640"/>
                <a:gridCol w="3763887"/>
                <a:gridCol w="3066472"/>
              </a:tblGrid>
              <a:tr h="353294">
                <a:tc>
                  <a:txBody>
                    <a:bodyPr/>
                    <a:lstStyle/>
                    <a:p>
                      <a:pPr marL="342900" marR="0" lvl="0" indent="-342900" algn="ctr"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cs typeface="Times New Roman" panose="02020603050405020304" pitchFamily="18" charset="0"/>
                        </a:rPr>
                        <a:t>核 心 标 准</a:t>
                      </a:r>
                      <a:endParaRPr kumimoji="1" lang="zh-CN" altLang="en-US" sz="32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名         称</a:t>
                      </a:r>
                      <a:endParaRPr kumimoji="1" lang="zh-CN" altLang="en-US" sz="32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说      明</a:t>
                      </a:r>
                      <a:endParaRPr kumimoji="1" lang="zh-CN" altLang="en-US" sz="18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r>
              <a:tr h="1030439">
                <a:tc>
                  <a:txBody>
                    <a:bodyPr/>
                    <a:lstStyle/>
                    <a:p>
                      <a:pPr marL="342900" marR="0" lvl="0" indent="-342900" algn="ctr"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9000</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9001</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9004</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  ISO 19011</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质量管理体系－基本原则和术语</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质量管理体系－要求</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质量管理体系－业绩改进指南</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质量和环境审核指南</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8402</a:t>
                      </a: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9000-1</a:t>
                      </a: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替代了</a:t>
                      </a: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9002</a:t>
                      </a: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9003</a:t>
                      </a: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质量管理的八项管理原则</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指导内审和外审管理工作</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3294">
                <a:tc>
                  <a:txBody>
                    <a:bodyPr/>
                    <a:lstStyle/>
                    <a:p>
                      <a:pPr marL="342900" marR="0" lvl="0" indent="-342900" algn="ctr"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cs typeface="Times New Roman" panose="02020603050405020304" pitchFamily="18" charset="0"/>
                        </a:rPr>
                        <a:t>其它标准</a:t>
                      </a:r>
                      <a:endParaRPr kumimoji="1" lang="zh-CN" altLang="en-US" sz="1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1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1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r>
              <a:tr h="353294">
                <a:tc>
                  <a:txBody>
                    <a:bodyPr/>
                    <a:lstStyle/>
                    <a:p>
                      <a:pPr marL="342900" marR="0" lvl="0" indent="-342900" algn="ctr"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1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10012</a:t>
                      </a:r>
                      <a:endParaRPr kumimoji="1" lang="en-US" altLang="zh-CN" sz="1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测量控制系统</a:t>
                      </a:r>
                      <a:endPara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10012-1</a:t>
                      </a: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3294">
                <a:tc>
                  <a:txBody>
                    <a:bodyPr/>
                    <a:lstStyle/>
                    <a:p>
                      <a:pPr marL="342900" marR="0" lvl="0" indent="-342900" algn="ctr"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cs typeface="Times New Roman" panose="02020603050405020304" pitchFamily="18" charset="0"/>
                        </a:rPr>
                        <a:t>技术报告</a:t>
                      </a:r>
                      <a:endParaRPr kumimoji="1" lang="zh-CN" altLang="en-US" sz="1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1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1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r>
              <a:tr h="1501497">
                <a:tc>
                  <a:txBody>
                    <a:bodyPr/>
                    <a:lstStyle/>
                    <a:p>
                      <a:pPr marL="342900" marR="0" lvl="0" indent="-342900" algn="ctr"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ISO/TR 10006</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ISO/TR 10007</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ISO/TR 10013</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ISO/TR 10014</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ISO/TR 10015</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ISO/TR 10017</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项目管理指南</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技术状态管理指南</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质量管理体系文件指南</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质量经济性管理指南</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教育和培训指南</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统计技术指南</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10006</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10007</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10013</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10014</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10015</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ISO 10017</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3294">
                <a:tc>
                  <a:txBody>
                    <a:bodyPr/>
                    <a:lstStyle/>
                    <a:p>
                      <a:pPr marL="342900" marR="0" lvl="0" indent="-342900" algn="ctr"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cs typeface="Times New Roman" panose="02020603050405020304" pitchFamily="18" charset="0"/>
                        </a:rPr>
                        <a:t>小册子</a:t>
                      </a:r>
                      <a:endParaRPr kumimoji="1" lang="zh-CN" altLang="en-US" sz="1800" b="1" i="0" u="none" strike="noStrike" cap="none" normalizeH="0" baseline="0" smtClean="0">
                        <a:ln>
                          <a:noFill/>
                        </a:ln>
                        <a:solidFill>
                          <a:schemeClr val="hlink"/>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1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1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E5"/>
                    </a:solidFill>
                  </a:tcPr>
                </a:tc>
              </a:tr>
              <a:tr h="559381">
                <a:tc>
                  <a:txBody>
                    <a:bodyPr/>
                    <a:lstStyle/>
                    <a:p>
                      <a:pPr marL="342900" marR="0" lvl="0" indent="-342900" algn="ctr"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质量管理原理选择和使用指南</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Pct val="80000"/>
                        <a:buFont typeface="Wingdings" panose="05000000000000000000" pitchFamily="2" charset="2"/>
                        <a:buNone/>
                      </a:pPr>
                      <a:r>
                        <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小型企业的应用</a:t>
                      </a:r>
                      <a:endParaRPr kumimoji="1" lang="zh-CN" altLang="en-US" sz="16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14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1788" name="Text Box 50"/>
          <p:cNvSpPr txBox="1">
            <a:spLocks noChangeArrowheads="1"/>
          </p:cNvSpPr>
          <p:nvPr/>
        </p:nvSpPr>
        <p:spPr bwMode="auto">
          <a:xfrm>
            <a:off x="2700338" y="6491312"/>
            <a:ext cx="4751387" cy="368300"/>
          </a:xfrm>
          <a:prstGeom prst="rect">
            <a:avLst/>
          </a:prstGeom>
          <a:noFill/>
          <a:ln w="9525">
            <a:noFill/>
            <a:miter lim="800000"/>
          </a:ln>
        </p:spPr>
        <p:txBody>
          <a:bodyPr>
            <a:spAutoFit/>
          </a:bodyPr>
          <a:lstStyle/>
          <a:p>
            <a:pPr algn="l"/>
            <a:r>
              <a:rPr kumimoji="0" lang="zh-CN" altLang="en-US" sz="1800" b="1">
                <a:solidFill>
                  <a:srgbClr val="FF0000"/>
                </a:solidFill>
                <a:latin typeface="Arial" panose="020B0604020202020204" pitchFamily="34" charset="0"/>
              </a:rPr>
              <a:t>表</a:t>
            </a:r>
            <a:r>
              <a:rPr kumimoji="0" lang="en-US" altLang="zh-CN" sz="1800" b="1">
                <a:solidFill>
                  <a:srgbClr val="FF0000"/>
                </a:solidFill>
                <a:cs typeface="Times New Roman" panose="02020603050405020304" pitchFamily="18" charset="0"/>
              </a:rPr>
              <a:t>7-1   2000</a:t>
            </a:r>
            <a:r>
              <a:rPr kumimoji="0" lang="zh-CN" altLang="en-US" sz="1800" b="1">
                <a:solidFill>
                  <a:srgbClr val="FF0000"/>
                </a:solidFill>
                <a:latin typeface="Arial" panose="020B0604020202020204" pitchFamily="34" charset="0"/>
              </a:rPr>
              <a:t>版</a:t>
            </a:r>
            <a:r>
              <a:rPr kumimoji="0" lang="zh-CN" altLang="en-US" sz="1800" b="1">
                <a:solidFill>
                  <a:srgbClr val="FF0000"/>
                </a:solidFill>
                <a:cs typeface="Times New Roman" panose="02020603050405020304" pitchFamily="18" charset="0"/>
              </a:rPr>
              <a:t> </a:t>
            </a:r>
            <a:r>
              <a:rPr kumimoji="0" lang="en-US" altLang="zh-CN" sz="1800" b="1">
                <a:solidFill>
                  <a:srgbClr val="FF0000"/>
                </a:solidFill>
                <a:cs typeface="Times New Roman" panose="02020603050405020304" pitchFamily="18" charset="0"/>
              </a:rPr>
              <a:t>ISO 9000</a:t>
            </a:r>
            <a:r>
              <a:rPr kumimoji="0" lang="zh-CN" altLang="en-US" sz="1800" b="1">
                <a:solidFill>
                  <a:srgbClr val="FF0000"/>
                </a:solidFill>
                <a:latin typeface="Arial" panose="020B0604020202020204" pitchFamily="34" charset="0"/>
              </a:rPr>
              <a:t>簇标准的总体结构</a:t>
            </a:r>
            <a:endParaRPr kumimoji="0" lang="zh-CN" altLang="en-US" sz="1800" b="1">
              <a:solidFill>
                <a:srgbClr val="FF0000"/>
              </a:solidFill>
              <a:latin typeface="Arial" panose="020B0604020202020204" pitchFamily="34" charset="0"/>
            </a:endParaRPr>
          </a:p>
        </p:txBody>
      </p:sp>
      <p:sp>
        <p:nvSpPr>
          <p:cNvPr id="8" name="Rectangle 8"/>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en-US" altLang="en-US" sz="3000" b="1">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9"/>
          <p:cNvSpPr>
            <a:spLocks noGrp="1" noChangeArrowheads="1"/>
          </p:cNvSpPr>
          <p:nvPr>
            <p:ph type="sldNum" sz="quarter" idx="10"/>
          </p:nvPr>
        </p:nvSpPr>
        <p:spPr>
          <a:noFill/>
        </p:spPr>
        <p:txBody>
          <a:bodyPr/>
          <a:lstStyle/>
          <a:p>
            <a:r>
              <a:rPr lang="zh-CN" altLang="en-GB" dirty="0" smtClean="0"/>
              <a:t>  </a:t>
            </a:r>
            <a:fld id="{A85273C5-30D4-4A55-8074-4B10DA4BCAE2}" type="slidenum">
              <a:rPr lang="zh-CN" altLang="en-GB" smtClean="0"/>
            </a:fld>
            <a:endParaRPr lang="en-US" altLang="zh-CN" dirty="0" smtClean="0"/>
          </a:p>
        </p:txBody>
      </p:sp>
      <p:sp>
        <p:nvSpPr>
          <p:cNvPr id="3277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P.162</a:t>
            </a:r>
            <a:endParaRPr lang="en-US" altLang="zh-CN" sz="2400" b="1">
              <a:solidFill>
                <a:schemeClr val="bg2"/>
              </a:solidFill>
            </a:endParaRPr>
          </a:p>
        </p:txBody>
      </p:sp>
      <p:sp>
        <p:nvSpPr>
          <p:cNvPr id="32772"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32773" name="Rectangle 6"/>
          <p:cNvSpPr>
            <a:spLocks noChangeArrowheads="1"/>
          </p:cNvSpPr>
          <p:nvPr/>
        </p:nvSpPr>
        <p:spPr bwMode="auto">
          <a:xfrm>
            <a:off x="1187450" y="2267268"/>
            <a:ext cx="5545138" cy="3987165"/>
          </a:xfrm>
          <a:prstGeom prst="rect">
            <a:avLst/>
          </a:prstGeom>
          <a:noFill/>
          <a:ln w="9525" algn="ctr">
            <a:noFill/>
            <a:miter lim="800000"/>
          </a:ln>
        </p:spPr>
        <p:txBody>
          <a:bodyPr anchor="ctr">
            <a:spAutoFit/>
          </a:bodyPr>
          <a:lstStyle/>
          <a:p>
            <a:pPr indent="266700" algn="l">
              <a:spcBef>
                <a:spcPct val="15000"/>
              </a:spcBef>
              <a:buFont typeface="Wingdings" panose="05000000000000000000" pitchFamily="2" charset="2"/>
              <a:buChar char="n"/>
            </a:pP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原则</a:t>
            </a:r>
            <a:r>
              <a:rPr kumimoji="0" lang="en-US" altLang="zh-CN" b="1">
                <a:solidFill>
                  <a:schemeClr val="bg1"/>
                </a:solidFill>
                <a:ea typeface="楷体" panose="02010609060101010101" pitchFamily="49" charset="-122"/>
                <a:cs typeface="Times New Roman" panose="02020603050405020304" pitchFamily="18" charset="0"/>
              </a:rPr>
              <a:t>1</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以顾客为中心</a:t>
            </a:r>
            <a:endParaRPr kumimoji="0" lang="zh-CN" altLang="en-US">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ct val="15000"/>
              </a:spcBef>
              <a:buFont typeface="Wingdings" panose="05000000000000000000" pitchFamily="2" charset="2"/>
              <a:buChar char="n"/>
            </a:pP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原则</a:t>
            </a:r>
            <a:r>
              <a:rPr kumimoji="0" lang="en-US" altLang="zh-CN" b="1">
                <a:solidFill>
                  <a:schemeClr val="bg1"/>
                </a:solidFill>
                <a:ea typeface="楷体" panose="02010609060101010101" pitchFamily="49" charset="-122"/>
                <a:cs typeface="Times New Roman" panose="02020603050405020304" pitchFamily="18" charset="0"/>
              </a:rPr>
              <a:t>2</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领导作用</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ct val="15000"/>
              </a:spcBef>
              <a:buFont typeface="Wingdings" panose="05000000000000000000" pitchFamily="2" charset="2"/>
              <a:buChar char="n"/>
            </a:pP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原则</a:t>
            </a:r>
            <a:r>
              <a:rPr kumimoji="0" lang="en-US" altLang="zh-CN" b="1">
                <a:solidFill>
                  <a:schemeClr val="bg1"/>
                </a:solidFill>
                <a:ea typeface="楷体" panose="02010609060101010101" pitchFamily="49" charset="-122"/>
                <a:cs typeface="Times New Roman" panose="02020603050405020304" pitchFamily="18" charset="0"/>
              </a:rPr>
              <a:t>3</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全员参与</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ct val="15000"/>
              </a:spcBef>
              <a:buFont typeface="Wingdings" panose="05000000000000000000" pitchFamily="2" charset="2"/>
              <a:buChar char="n"/>
            </a:pP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原则</a:t>
            </a:r>
            <a:r>
              <a:rPr kumimoji="0" lang="en-US" altLang="zh-CN" b="1">
                <a:solidFill>
                  <a:schemeClr val="bg1"/>
                </a:solidFill>
                <a:ea typeface="楷体" panose="02010609060101010101" pitchFamily="49" charset="-122"/>
                <a:cs typeface="Times New Roman" panose="02020603050405020304" pitchFamily="18" charset="0"/>
              </a:rPr>
              <a:t>4</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过程方法</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ct val="15000"/>
              </a:spcBef>
              <a:buFont typeface="Wingdings" panose="05000000000000000000" pitchFamily="2" charset="2"/>
              <a:buChar char="n"/>
            </a:pP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原则</a:t>
            </a:r>
            <a:r>
              <a:rPr kumimoji="0" lang="en-US" altLang="zh-CN" b="1">
                <a:solidFill>
                  <a:schemeClr val="bg1"/>
                </a:solidFill>
                <a:ea typeface="楷体" panose="02010609060101010101" pitchFamily="49" charset="-122"/>
                <a:cs typeface="Times New Roman" panose="02020603050405020304" pitchFamily="18" charset="0"/>
              </a:rPr>
              <a:t>5</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管理的系统方法</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ct val="15000"/>
              </a:spcBef>
              <a:buFont typeface="Wingdings" panose="05000000000000000000" pitchFamily="2" charset="2"/>
              <a:buChar char="n"/>
            </a:pP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原则</a:t>
            </a:r>
            <a:r>
              <a:rPr kumimoji="0" lang="en-US" altLang="zh-CN" b="1">
                <a:solidFill>
                  <a:schemeClr val="bg1"/>
                </a:solidFill>
                <a:ea typeface="楷体" panose="02010609060101010101" pitchFamily="49" charset="-122"/>
                <a:cs typeface="Times New Roman" panose="02020603050405020304" pitchFamily="18" charset="0"/>
              </a:rPr>
              <a:t>6</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持续改进</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ct val="15000"/>
              </a:spcBef>
              <a:buFont typeface="Wingdings" panose="05000000000000000000" pitchFamily="2" charset="2"/>
              <a:buChar char="n"/>
            </a:pP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原则</a:t>
            </a:r>
            <a:r>
              <a:rPr kumimoji="0" lang="en-US" altLang="zh-CN" b="1">
                <a:solidFill>
                  <a:schemeClr val="bg1"/>
                </a:solidFill>
                <a:ea typeface="楷体" panose="02010609060101010101" pitchFamily="49" charset="-122"/>
                <a:cs typeface="Times New Roman" panose="02020603050405020304" pitchFamily="18" charset="0"/>
              </a:rPr>
              <a:t>7</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基于事实的决策方法</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indent="266700" algn="l">
              <a:spcBef>
                <a:spcPct val="15000"/>
              </a:spcBef>
              <a:buFont typeface="Wingdings" panose="05000000000000000000" pitchFamily="2" charset="2"/>
              <a:buChar char="n"/>
            </a:pP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原则</a:t>
            </a:r>
            <a:r>
              <a:rPr kumimoji="0" lang="en-US" altLang="zh-CN" b="1">
                <a:solidFill>
                  <a:schemeClr val="bg1"/>
                </a:solidFill>
                <a:ea typeface="楷体" panose="02010609060101010101" pitchFamily="49" charset="-122"/>
                <a:cs typeface="Times New Roman" panose="02020603050405020304" pitchFamily="18" charset="0"/>
              </a:rPr>
              <a:t>8</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互利的供方关系</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2774" name="Rectangle 8"/>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en-US" altLang="en-US" sz="3000" b="1">
              <a:latin typeface="楷体" panose="02010609060101010101" pitchFamily="49" charset="-122"/>
              <a:ea typeface="楷体" panose="02010609060101010101" pitchFamily="49" charset="-122"/>
            </a:endParaRPr>
          </a:p>
        </p:txBody>
      </p:sp>
      <p:sp>
        <p:nvSpPr>
          <p:cNvPr id="32775" name="Rectangle 9"/>
          <p:cNvSpPr>
            <a:spLocks noChangeArrowheads="1"/>
          </p:cNvSpPr>
          <p:nvPr/>
        </p:nvSpPr>
        <p:spPr bwMode="auto">
          <a:xfrm>
            <a:off x="323850" y="1341438"/>
            <a:ext cx="4451350" cy="519112"/>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7.2.2 ISO9000质量认证体系</a:t>
            </a:r>
            <a:endParaRPr kumimoji="0" lang="en-US" altLang="en-US" b="1">
              <a:solidFill>
                <a:srgbClr val="FF0000"/>
              </a:solidFill>
              <a:ea typeface="楷体_GB2312" pitchFamily="49" charset="-122"/>
            </a:endParaRPr>
          </a:p>
        </p:txBody>
      </p:sp>
      <p:sp>
        <p:nvSpPr>
          <p:cNvPr id="32776" name="Text Box 10"/>
          <p:cNvSpPr txBox="1">
            <a:spLocks noChangeArrowheads="1"/>
          </p:cNvSpPr>
          <p:nvPr/>
        </p:nvSpPr>
        <p:spPr bwMode="auto">
          <a:xfrm>
            <a:off x="642910" y="1844668"/>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zh-CN" sz="2400" b="1">
                <a:solidFill>
                  <a:schemeClr val="bg1"/>
                </a:solidFill>
              </a:rPr>
              <a:t>3） ISO9000 </a:t>
            </a:r>
            <a:r>
              <a:rPr kumimoji="0" lang="en-US" altLang="zh-CN" sz="2400" b="1">
                <a:solidFill>
                  <a:schemeClr val="bg1"/>
                </a:solidFill>
                <a:latin typeface="楷体" panose="02010609060101010101" pitchFamily="49" charset="-122"/>
                <a:ea typeface="楷体" panose="02010609060101010101" pitchFamily="49" charset="-122"/>
              </a:rPr>
              <a:t>的</a:t>
            </a:r>
            <a:r>
              <a:rPr kumimoji="0" lang="en-US" altLang="zh-CN" sz="2400" b="1">
                <a:solidFill>
                  <a:schemeClr val="bg1"/>
                </a:solidFill>
              </a:rPr>
              <a:t>8</a:t>
            </a:r>
            <a:r>
              <a:rPr kumimoji="0" lang="en-US" altLang="zh-CN" sz="2400" b="1">
                <a:solidFill>
                  <a:schemeClr val="bg1"/>
                </a:solidFill>
                <a:latin typeface="楷体" panose="02010609060101010101" pitchFamily="49" charset="-122"/>
                <a:ea typeface="楷体" panose="02010609060101010101" pitchFamily="49" charset="-122"/>
              </a:rPr>
              <a:t>项质量管理原则</a:t>
            </a:r>
            <a:endParaRPr kumimoji="0" lang="en-US" altLang="zh-CN" sz="2400" b="1">
              <a:solidFill>
                <a:schemeClr val="bg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9"/>
          <p:cNvSpPr>
            <a:spLocks noGrp="1" noChangeArrowheads="1"/>
          </p:cNvSpPr>
          <p:nvPr>
            <p:ph type="sldNum" sz="quarter" idx="10"/>
          </p:nvPr>
        </p:nvSpPr>
        <p:spPr>
          <a:noFill/>
        </p:spPr>
        <p:txBody>
          <a:bodyPr/>
          <a:lstStyle/>
          <a:p>
            <a:r>
              <a:rPr lang="zh-CN" altLang="en-GB" dirty="0" smtClean="0"/>
              <a:t>  </a:t>
            </a:r>
            <a:fld id="{B53DBA12-8A6F-4C91-860E-2208F2AD5CA8}" type="slidenum">
              <a:rPr lang="zh-CN" altLang="en-GB" smtClean="0"/>
            </a:fld>
            <a:endParaRPr lang="en-US" altLang="zh-CN" dirty="0" smtClean="0"/>
          </a:p>
        </p:txBody>
      </p:sp>
      <p:sp>
        <p:nvSpPr>
          <p:cNvPr id="3379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P.163</a:t>
            </a:r>
            <a:endParaRPr lang="en-US" altLang="zh-CN" sz="2400" b="1">
              <a:solidFill>
                <a:schemeClr val="bg2"/>
              </a:solidFill>
            </a:endParaRPr>
          </a:p>
        </p:txBody>
      </p:sp>
      <p:sp>
        <p:nvSpPr>
          <p:cNvPr id="33796"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33797" name="Rectangle 5"/>
          <p:cNvSpPr>
            <a:spLocks noChangeArrowheads="1"/>
          </p:cNvSpPr>
          <p:nvPr/>
        </p:nvSpPr>
        <p:spPr bwMode="auto">
          <a:xfrm>
            <a:off x="322263" y="1878965"/>
            <a:ext cx="8570912" cy="4522470"/>
          </a:xfrm>
          <a:prstGeom prst="rect">
            <a:avLst/>
          </a:prstGeom>
          <a:noFill/>
          <a:ln w="9525" algn="ctr">
            <a:noFill/>
            <a:miter lim="800000"/>
          </a:ln>
        </p:spPr>
        <p:txBody>
          <a:bodyPr anchor="ctr">
            <a:spAutoFit/>
          </a:bodyPr>
          <a:lstStyle/>
          <a:p>
            <a:pPr algn="l">
              <a:spcBef>
                <a:spcPct val="40000"/>
              </a:spcBef>
              <a:buClr>
                <a:schemeClr val="hlink"/>
              </a:buClr>
            </a:pP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改进软件开发项目管理质量的方法有很多，具有代表性的是用于帮助组织</a:t>
            </a:r>
            <a:r>
              <a:rPr kumimoji="0" lang="zh-CN" altLang="en-US" sz="3200" b="1">
                <a:solidFill>
                  <a:schemeClr val="bg1"/>
                </a:solidFill>
                <a:latin typeface="楷体" panose="02010609060101010101" pitchFamily="49" charset="-122"/>
                <a:ea typeface="楷体" panose="02010609060101010101" pitchFamily="49" charset="-122"/>
                <a:cs typeface="楷体" panose="02010609060101010101" pitchFamily="49" charset="-122"/>
              </a:rPr>
              <a:t>改进过程和系统</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的框架模型</a:t>
            </a:r>
            <a:r>
              <a:rPr kumimoji="0" lang="en-US" altLang="zh-CN" b="1">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即</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成熟度模型</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40000"/>
              </a:spcBef>
              <a:buClr>
                <a:schemeClr val="hlink"/>
              </a:buClr>
            </a:pP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目前在软件行业应用最为广泛的软件生产工程标准是</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软件能力成熟度模型</a:t>
            </a:r>
            <a:r>
              <a:rPr kumimoji="0" lang="zh-CN" altLang="en-US" b="1">
                <a:solidFill>
                  <a:schemeClr val="bg2"/>
                </a:solidFill>
                <a:ea typeface="楷体" panose="02010609060101010101" pitchFamily="49" charset="-122"/>
                <a:cs typeface="Times New Roman" panose="02020603050405020304" pitchFamily="18" charset="0"/>
              </a:rPr>
              <a:t>（</a:t>
            </a:r>
            <a:r>
              <a:rPr kumimoji="0" lang="en-US" altLang="zh-CN" sz="3200" b="1">
                <a:solidFill>
                  <a:schemeClr val="bg1"/>
                </a:solidFill>
                <a:ea typeface="楷体" panose="02010609060101010101" pitchFamily="49" charset="-122"/>
                <a:cs typeface="Times New Roman" panose="02020603050405020304" pitchFamily="18" charset="0"/>
              </a:rPr>
              <a:t>CMM</a:t>
            </a:r>
            <a:r>
              <a:rPr kumimoji="0" lang="zh-CN" altLang="en-US" b="1">
                <a:solidFill>
                  <a:schemeClr val="bg2"/>
                </a:solidFill>
                <a:ea typeface="楷体" panose="02010609060101010101" pitchFamily="49" charset="-122"/>
                <a:cs typeface="Times New Roman" panose="02020603050405020304" pitchFamily="18" charset="0"/>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40000"/>
              </a:spcBef>
              <a:buClr>
                <a:schemeClr val="hlink"/>
              </a:buClr>
            </a:pP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美国卡内基</a:t>
            </a:r>
            <a:r>
              <a:rPr kumimoji="0" lang="en-US" altLang="zh-CN" b="1">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梅隆大学软件工程研究所</a:t>
            </a:r>
            <a:r>
              <a:rPr kumimoji="0" lang="en-US" altLang="zh-CN" b="1">
                <a:solidFill>
                  <a:schemeClr val="bg2"/>
                </a:solidFill>
                <a:ea typeface="楷体" panose="02010609060101010101" pitchFamily="49" charset="-122"/>
                <a:cs typeface="Times New Roman" panose="02020603050405020304" pitchFamily="18" charset="0"/>
              </a:rPr>
              <a:t>(</a:t>
            </a:r>
            <a:r>
              <a:rPr kumimoji="0" lang="en-US" altLang="zh-CN" sz="3200" b="1">
                <a:solidFill>
                  <a:schemeClr val="bg2"/>
                </a:solidFill>
                <a:ea typeface="楷体" panose="02010609060101010101" pitchFamily="49" charset="-122"/>
                <a:cs typeface="Times New Roman" panose="02020603050405020304" pitchFamily="18" charset="0"/>
              </a:rPr>
              <a:t>SEI</a:t>
            </a:r>
            <a:r>
              <a:rPr kumimoji="0" lang="en-US" altLang="zh-CN" b="1">
                <a:solidFill>
                  <a:schemeClr val="bg2"/>
                </a:solidFill>
                <a:ea typeface="楷体" panose="02010609060101010101" pitchFamily="49" charset="-122"/>
                <a:cs typeface="Times New Roman" panose="02020603050405020304" pitchFamily="18" charset="0"/>
              </a:rPr>
              <a:t>)</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 于</a:t>
            </a:r>
            <a:r>
              <a:rPr kumimoji="0" lang="en-US" altLang="zh-CN" b="1">
                <a:solidFill>
                  <a:schemeClr val="bg2"/>
                </a:solidFill>
                <a:ea typeface="楷体" panose="02010609060101010101" pitchFamily="49" charset="-122"/>
                <a:cs typeface="Times New Roman" panose="02020603050405020304" pitchFamily="18" charset="0"/>
              </a:rPr>
              <a:t>1987</a:t>
            </a:r>
            <a:r>
              <a:rPr kumimoji="0" lang="zh-CN" altLang="en-US" b="1">
                <a:solidFill>
                  <a:schemeClr val="bg2"/>
                </a:solidFill>
                <a:ea typeface="楷体" panose="02010609060101010101" pitchFamily="49" charset="-122"/>
                <a:cs typeface="Times New Roman" panose="02020603050405020304" pitchFamily="18" charset="0"/>
              </a:rPr>
              <a:t>年</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开发了一套软件能力成熟度框架和软件能力成熟度问卷，用来评估软件供应商的能力。这是最早用于探索软件过程成熟度的一个工具。</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3798"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en-US" altLang="en-US" sz="3000" b="1">
              <a:latin typeface="楷体" panose="02010609060101010101" pitchFamily="49" charset="-122"/>
              <a:ea typeface="楷体" panose="02010609060101010101" pitchFamily="49" charset="-122"/>
            </a:endParaRPr>
          </a:p>
        </p:txBody>
      </p:sp>
      <p:sp>
        <p:nvSpPr>
          <p:cNvPr id="33799" name="Rectangle 7"/>
          <p:cNvSpPr>
            <a:spLocks noChangeArrowheads="1"/>
          </p:cNvSpPr>
          <p:nvPr/>
        </p:nvSpPr>
        <p:spPr bwMode="auto">
          <a:xfrm>
            <a:off x="323850" y="1341438"/>
            <a:ext cx="4380230"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7.2.3 </a:t>
            </a:r>
            <a:r>
              <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rPr>
              <a:t>软件能力成熟度模型 </a:t>
            </a:r>
            <a:endPar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smtClean="0"/>
              <a:t>  </a:t>
            </a:r>
            <a:fld id="{85D65875-CEE0-4EA3-BE40-DC63C2AB9299}" type="slidenum">
              <a:rPr lang="zh-CN" altLang="en-GB" smtClean="0"/>
            </a:fld>
            <a:endParaRPr lang="en-US" altLang="zh-CN" dirty="0" smtClean="0"/>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a:solidFill>
                  <a:schemeClr val="bg2"/>
                </a:solidFill>
              </a:rPr>
              <a:t>P.183</a:t>
            </a:r>
            <a:endParaRPr lang="en-US" altLang="zh-CN" sz="2400" b="1">
              <a:solidFill>
                <a:schemeClr val="bg2"/>
              </a:solidFill>
            </a:endParaRPr>
          </a:p>
        </p:txBody>
      </p:sp>
      <p:sp>
        <p:nvSpPr>
          <p:cNvPr id="34820"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34821" name="Rectangle 5"/>
          <p:cNvSpPr>
            <a:spLocks noChangeArrowheads="1"/>
          </p:cNvSpPr>
          <p:nvPr/>
        </p:nvSpPr>
        <p:spPr bwMode="auto">
          <a:xfrm>
            <a:off x="217488" y="1803837"/>
            <a:ext cx="8675687" cy="4554220"/>
          </a:xfrm>
          <a:prstGeom prst="rect">
            <a:avLst/>
          </a:prstGeom>
          <a:noFill/>
          <a:ln w="9525" algn="ctr">
            <a:noFill/>
            <a:miter lim="800000"/>
          </a:ln>
        </p:spPr>
        <p:txBody>
          <a:bodyPr anchor="ctr">
            <a:spAutoFit/>
          </a:bodyPr>
          <a:lstStyle/>
          <a:p>
            <a:pPr algn="l">
              <a:spcBef>
                <a:spcPts val="600"/>
              </a:spcBef>
              <a:spcAft>
                <a:spcPts val="600"/>
              </a:spcAft>
              <a:buClr>
                <a:schemeClr val="hlink"/>
              </a:buClr>
            </a:pP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最初开发</a:t>
            </a:r>
            <a:r>
              <a:rPr kumimoji="0" lang="en-US" altLang="zh-CN" b="1">
                <a:solidFill>
                  <a:schemeClr val="bg1"/>
                </a:solidFill>
                <a:ea typeface="楷体" panose="02010609060101010101" pitchFamily="49" charset="-122"/>
                <a:cs typeface="Times New Roman" panose="02020603050405020304" pitchFamily="18" charset="0"/>
              </a:rPr>
              <a:t>CMM</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的主要目的</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是为了</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评价美国国防部的软件合同承包组织的能力</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chemeClr val="hlink"/>
              </a:buClr>
            </a:pP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后来因为软件</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企业通过应用</a:t>
            </a:r>
            <a:r>
              <a:rPr kumimoji="0" lang="en-US" altLang="zh-CN" b="1">
                <a:solidFill>
                  <a:schemeClr val="bg2"/>
                </a:solidFill>
                <a:ea typeface="楷体" panose="02010609060101010101" pitchFamily="49" charset="-122"/>
                <a:cs typeface="Times New Roman" panose="02020603050405020304" pitchFamily="18" charset="0"/>
              </a:rPr>
              <a:t>CMM</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实施过程改进取得较大的成功，从而</a:t>
            </a:r>
            <a:r>
              <a:rPr kumimoji="0" lang="en-US" altLang="zh-CN" b="1">
                <a:solidFill>
                  <a:schemeClr val="bg2"/>
                </a:solidFill>
                <a:ea typeface="楷体" panose="02010609060101010101" pitchFamily="49" charset="-122"/>
                <a:cs typeface="Times New Roman" panose="02020603050405020304" pitchFamily="18" charset="0"/>
              </a:rPr>
              <a:t>CMM</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在全世界范围内被广泛使用。</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chemeClr val="hlink"/>
              </a:buClr>
            </a:pPr>
            <a:r>
              <a:rPr kumimoji="0" lang="en-US" altLang="zh-CN" b="1">
                <a:solidFill>
                  <a:schemeClr val="bg2"/>
                </a:solidFill>
                <a:ea typeface="楷体" panose="02010609060101010101" pitchFamily="49" charset="-122"/>
                <a:cs typeface="Times New Roman" panose="02020603050405020304" pitchFamily="18" charset="0"/>
              </a:rPr>
              <a:t>CMM</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是软件企业</a:t>
            </a:r>
            <a:r>
              <a:rPr kumimoji="0" lang="zh-CN" altLang="en-US" b="1">
                <a:solidFill>
                  <a:schemeClr val="bg1"/>
                </a:solidFill>
                <a:latin typeface="楷体" panose="02010609060101010101" pitchFamily="49" charset="-122"/>
                <a:ea typeface="楷体" panose="02010609060101010101" pitchFamily="49" charset="-122"/>
                <a:cs typeface="楷体" panose="02010609060101010101" pitchFamily="49" charset="-122"/>
              </a:rPr>
              <a:t>追求高质量发展的指南</a:t>
            </a:r>
            <a:r>
              <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rPr>
              <a:t>，它以几十年产品质量概念和软件工作的经验及教训为基础，为企业软件能力不断走向成熟提供了有效步骤和框架。</a:t>
            </a:r>
            <a:endParaRPr kumimoji="0"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chemeClr val="hlink"/>
              </a:buClr>
            </a:pPr>
            <a:r>
              <a:rPr kumimoji="0" lang="en-US" altLang="zh-CN" sz="3200" b="1">
                <a:solidFill>
                  <a:srgbClr val="0000FF"/>
                </a:solidFill>
                <a:ea typeface="楷体" panose="02010609060101010101" pitchFamily="49" charset="-122"/>
                <a:cs typeface="Times New Roman" panose="02020603050405020304" pitchFamily="18" charset="0"/>
              </a:rPr>
              <a:t>CMM</a:t>
            </a:r>
            <a:r>
              <a:rPr kumimoji="0" lang="zh-CN" altLang="en-US" sz="3200" b="1">
                <a:solidFill>
                  <a:srgbClr val="0000FF"/>
                </a:solidFill>
                <a:latin typeface="楷体" panose="02010609060101010101" pitchFamily="49" charset="-122"/>
                <a:ea typeface="楷体" panose="02010609060101010101" pitchFamily="49" charset="-122"/>
                <a:cs typeface="楷体" panose="02010609060101010101" pitchFamily="49" charset="-122"/>
              </a:rPr>
              <a:t>致力于软件开发过程的管理和工程能力的提高与评估。</a:t>
            </a:r>
            <a:endParaRPr kumimoji="0" lang="zh-CN" altLang="en-US" sz="3200" b="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34822" name="Rectangle 7"/>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zh-CN" altLang="en-US" sz="3000" b="1" smtClean="0">
              <a:latin typeface="楷体" panose="02010609060101010101" pitchFamily="49" charset="-122"/>
              <a:ea typeface="楷体" panose="02010609060101010101" pitchFamily="49" charset="-122"/>
            </a:endParaRPr>
          </a:p>
        </p:txBody>
      </p:sp>
      <p:sp>
        <p:nvSpPr>
          <p:cNvPr id="34823" name="Rectangle 8"/>
          <p:cNvSpPr>
            <a:spLocks noChangeArrowheads="1"/>
          </p:cNvSpPr>
          <p:nvPr/>
        </p:nvSpPr>
        <p:spPr bwMode="auto">
          <a:xfrm>
            <a:off x="323850" y="1341438"/>
            <a:ext cx="42894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7.2.3 </a:t>
            </a:r>
            <a:r>
              <a:rPr kumimoji="0" lang="en-US" altLang="en-US" b="1">
                <a:solidFill>
                  <a:srgbClr val="FF0000"/>
                </a:solidFill>
                <a:latin typeface="楷体" panose="02010609060101010101" pitchFamily="49" charset="-122"/>
                <a:ea typeface="楷体" panose="02010609060101010101" pitchFamily="49" charset="-122"/>
              </a:rPr>
              <a:t>软件能力成熟度模型</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9"/>
          <p:cNvSpPr>
            <a:spLocks noGrp="1" noChangeArrowheads="1"/>
          </p:cNvSpPr>
          <p:nvPr>
            <p:ph type="sldNum" sz="quarter" idx="10"/>
          </p:nvPr>
        </p:nvSpPr>
        <p:spPr>
          <a:noFill/>
        </p:spPr>
        <p:txBody>
          <a:bodyPr/>
          <a:lstStyle/>
          <a:p>
            <a:r>
              <a:rPr lang="zh-CN" altLang="en-GB" dirty="0" smtClean="0"/>
              <a:t>  </a:t>
            </a:r>
            <a:fld id="{EE54454F-07B8-48D2-B8B8-7FB8302FF95B}" type="slidenum">
              <a:rPr lang="zh-CN" altLang="en-GB" smtClean="0"/>
            </a:fld>
            <a:endParaRPr lang="en-US" altLang="zh-CN" dirty="0" smtClean="0"/>
          </a:p>
        </p:txBody>
      </p:sp>
      <p:sp>
        <p:nvSpPr>
          <p:cNvPr id="3584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a:solidFill>
                  <a:schemeClr val="bg2"/>
                </a:solidFill>
              </a:rPr>
              <a:t>P.183</a:t>
            </a:r>
            <a:endParaRPr lang="en-US" altLang="zh-CN" sz="2400" b="1">
              <a:solidFill>
                <a:schemeClr val="bg2"/>
              </a:solidFill>
            </a:endParaRPr>
          </a:p>
        </p:txBody>
      </p:sp>
      <p:sp>
        <p:nvSpPr>
          <p:cNvPr id="3584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35845" name="Rectangle 5"/>
          <p:cNvSpPr>
            <a:spLocks noChangeArrowheads="1"/>
          </p:cNvSpPr>
          <p:nvPr/>
        </p:nvSpPr>
        <p:spPr bwMode="auto">
          <a:xfrm>
            <a:off x="323850" y="1735297"/>
            <a:ext cx="8570913" cy="4615815"/>
          </a:xfrm>
          <a:prstGeom prst="rect">
            <a:avLst/>
          </a:prstGeom>
          <a:noFill/>
          <a:ln w="9525" algn="ctr">
            <a:noFill/>
            <a:miter lim="800000"/>
          </a:ln>
        </p:spPr>
        <p:txBody>
          <a:bodyPr anchor="ctr">
            <a:spAutoFit/>
          </a:bodyPr>
          <a:lstStyle/>
          <a:p>
            <a:pPr algn="l">
              <a:spcBef>
                <a:spcPct val="20000"/>
              </a:spcBef>
              <a:buClr>
                <a:schemeClr val="hlink"/>
              </a:buClr>
            </a:pPr>
            <a:r>
              <a:rPr kumimoji="0" lang="en-US" altLang="zh-CN" b="1" dirty="0">
                <a:solidFill>
                  <a:schemeClr val="bg2"/>
                </a:solidFill>
                <a:ea typeface="楷体" panose="02010609060101010101" pitchFamily="49" charset="-122"/>
                <a:cs typeface="Times New Roman" panose="02020603050405020304" pitchFamily="18" charset="0"/>
              </a:rPr>
              <a:t>CMM</a:t>
            </a:r>
            <a:r>
              <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分为</a:t>
            </a:r>
            <a:r>
              <a:rPr kumimoji="0" lang="en-US" altLang="zh-CN" b="1" dirty="0">
                <a:solidFill>
                  <a:schemeClr val="bg1"/>
                </a:solidFill>
                <a:ea typeface="楷体" panose="02010609060101010101" pitchFamily="49" charset="-122"/>
                <a:cs typeface="Times New Roman" panose="02020603050405020304" pitchFamily="18" charset="0"/>
              </a:rPr>
              <a:t>5</a:t>
            </a:r>
            <a:r>
              <a:rPr kumimoji="0" lang="zh-CN" altLang="en-US" b="1" dirty="0">
                <a:solidFill>
                  <a:schemeClr val="bg1"/>
                </a:solidFill>
                <a:latin typeface="楷体" panose="02010609060101010101" pitchFamily="49" charset="-122"/>
                <a:ea typeface="楷体" panose="02010609060101010101" pitchFamily="49" charset="-122"/>
                <a:cs typeface="楷体" panose="02010609060101010101" pitchFamily="49" charset="-122"/>
              </a:rPr>
              <a:t>个等级</a:t>
            </a:r>
            <a:r>
              <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，每一较低级别是达到较高级别的基础</a:t>
            </a:r>
            <a:r>
              <a:rPr kumimoji="0" lang="zh-CN" altLang="en-US" b="1"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。除</a:t>
            </a:r>
            <a:r>
              <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初始级外，每个成熟度等级都指明为了改进其软件过程的机构应关注的关键过程域。</a:t>
            </a:r>
            <a:endPar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457200" lvl="2" algn="l">
              <a:spcBef>
                <a:spcPts val="1200"/>
              </a:spcBef>
              <a:buClr>
                <a:srgbClr val="0000FF"/>
              </a:buClr>
              <a:buFont typeface="Wingdings" panose="05000000000000000000" pitchFamily="2" charset="2"/>
              <a:buChar char="n"/>
            </a:pPr>
            <a:r>
              <a:rPr kumimoji="0" lang="zh-CN" altLang="en-US" b="1" dirty="0">
                <a:solidFill>
                  <a:srgbClr val="0000FF"/>
                </a:solidFill>
                <a:latin typeface="楷体" panose="02010609060101010101" pitchFamily="49" charset="-122"/>
                <a:ea typeface="楷体" panose="02010609060101010101" pitchFamily="49" charset="-122"/>
                <a:cs typeface="楷体" panose="02010609060101010101" pitchFamily="49" charset="-122"/>
              </a:rPr>
              <a:t>初始级</a:t>
            </a:r>
            <a:r>
              <a:rPr kumimoji="0" lang="zh-CN" altLang="en-US" b="1"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2400" b="1"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软件工程</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管理制度缺乏，过程缺乏定义、混乱无序。成功依靠的是个人的才能和经验，经常由于缺乏管理和计划导致时间、费用超支。管理方式属于反应式，主要用来应付危机。过程不可预测，难以重复。</a:t>
            </a:r>
            <a:endPar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457200" lvl="2" algn="l">
              <a:spcBef>
                <a:spcPts val="0"/>
              </a:spcBef>
              <a:buClr>
                <a:srgbClr val="0000FF"/>
              </a:buClr>
              <a:buFont typeface="Wingdings" panose="05000000000000000000" pitchFamily="2" charset="2"/>
              <a:buChar char="n"/>
            </a:pPr>
            <a:r>
              <a:rPr kumimoji="0" lang="zh-CN" altLang="en-US" b="1" dirty="0">
                <a:solidFill>
                  <a:srgbClr val="0000FF"/>
                </a:solidFill>
                <a:latin typeface="楷体" panose="02010609060101010101" pitchFamily="49" charset="-122"/>
                <a:ea typeface="楷体" panose="02010609060101010101" pitchFamily="49" charset="-122"/>
                <a:cs typeface="楷体" panose="02010609060101010101" pitchFamily="49" charset="-122"/>
              </a:rPr>
              <a:t>可重复级</a:t>
            </a:r>
            <a:r>
              <a:rPr kumimoji="0" lang="zh-CN" altLang="en-US" b="1" dirty="0" smtClean="0">
                <a:solidFill>
                  <a:srgbClr val="0000FF"/>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基于类似项目中的经验，建立了基本的项目管理制度，采取了一定的措施控制费用和时间。管理人员可及时发现问题，采取措施。一定程度上可重复类似项目的软件开发</a:t>
            </a:r>
            <a:r>
              <a:rPr kumimoji="0" lang="zh-CN" altLang="en-US" sz="2400" b="1"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kumimoji="0" lang="en-US" altLang="zh-CN"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5846"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zh-CN" altLang="en-US" sz="3000" b="1" smtClean="0">
              <a:latin typeface="楷体" panose="02010609060101010101" pitchFamily="49" charset="-122"/>
              <a:ea typeface="楷体" panose="02010609060101010101" pitchFamily="49" charset="-122"/>
            </a:endParaRPr>
          </a:p>
        </p:txBody>
      </p:sp>
      <p:sp>
        <p:nvSpPr>
          <p:cNvPr id="35847" name="Rectangle 7"/>
          <p:cNvSpPr>
            <a:spLocks noChangeArrowheads="1"/>
          </p:cNvSpPr>
          <p:nvPr/>
        </p:nvSpPr>
        <p:spPr bwMode="auto">
          <a:xfrm>
            <a:off x="323850" y="1341438"/>
            <a:ext cx="42894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7.2.3 </a:t>
            </a:r>
            <a:r>
              <a:rPr kumimoji="0" lang="en-US" altLang="en-US" b="1">
                <a:solidFill>
                  <a:srgbClr val="FF0000"/>
                </a:solidFill>
                <a:latin typeface="楷体" panose="02010609060101010101" pitchFamily="49" charset="-122"/>
                <a:ea typeface="楷体" panose="02010609060101010101" pitchFamily="49" charset="-122"/>
              </a:rPr>
              <a:t>软件能力成熟度模型</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9"/>
          <p:cNvSpPr>
            <a:spLocks noGrp="1" noChangeArrowheads="1"/>
          </p:cNvSpPr>
          <p:nvPr>
            <p:ph type="sldNum" sz="quarter" idx="10"/>
          </p:nvPr>
        </p:nvSpPr>
        <p:spPr>
          <a:noFill/>
        </p:spPr>
        <p:txBody>
          <a:bodyPr/>
          <a:lstStyle/>
          <a:p>
            <a:r>
              <a:rPr lang="zh-CN" altLang="en-GB" dirty="0" smtClean="0"/>
              <a:t>  </a:t>
            </a:r>
            <a:fld id="{EE54454F-07B8-48D2-B8B8-7FB8302FF95B}" type="slidenum">
              <a:rPr lang="zh-CN" altLang="en-GB" smtClean="0"/>
            </a:fld>
            <a:endParaRPr lang="en-US" altLang="zh-CN" dirty="0" smtClean="0"/>
          </a:p>
        </p:txBody>
      </p:sp>
      <p:sp>
        <p:nvSpPr>
          <p:cNvPr id="3584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a:solidFill>
                  <a:schemeClr val="bg2"/>
                </a:solidFill>
              </a:rPr>
              <a:t>P.183</a:t>
            </a:r>
            <a:endParaRPr lang="en-US" altLang="zh-CN" sz="2400" b="1">
              <a:solidFill>
                <a:schemeClr val="bg2"/>
              </a:solidFill>
            </a:endParaRPr>
          </a:p>
        </p:txBody>
      </p:sp>
      <p:sp>
        <p:nvSpPr>
          <p:cNvPr id="3584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35845" name="Rectangle 5"/>
          <p:cNvSpPr>
            <a:spLocks noChangeArrowheads="1"/>
          </p:cNvSpPr>
          <p:nvPr/>
        </p:nvSpPr>
        <p:spPr bwMode="auto">
          <a:xfrm>
            <a:off x="323850" y="2212499"/>
            <a:ext cx="8570913" cy="3661410"/>
          </a:xfrm>
          <a:prstGeom prst="rect">
            <a:avLst/>
          </a:prstGeom>
          <a:noFill/>
          <a:ln w="9525" algn="ctr">
            <a:noFill/>
            <a:miter lim="800000"/>
          </a:ln>
        </p:spPr>
        <p:txBody>
          <a:bodyPr anchor="ctr">
            <a:spAutoFit/>
          </a:bodyPr>
          <a:lstStyle/>
          <a:p>
            <a:pPr algn="l">
              <a:spcBef>
                <a:spcPct val="20000"/>
              </a:spcBef>
              <a:buClr>
                <a:schemeClr val="hlink"/>
              </a:buClr>
            </a:pPr>
            <a:r>
              <a:rPr kumimoji="0" lang="en-US" altLang="zh-CN" b="1" dirty="0" smtClean="0">
                <a:solidFill>
                  <a:schemeClr val="bg2"/>
                </a:solidFill>
                <a:ea typeface="楷体" panose="02010609060101010101" pitchFamily="49" charset="-122"/>
                <a:cs typeface="Times New Roman" panose="02020603050405020304" pitchFamily="18" charset="0"/>
              </a:rPr>
              <a:t>CMM</a:t>
            </a:r>
            <a:r>
              <a:rPr kumimoji="0" lang="zh-CN" altLang="en-US" b="1"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的</a:t>
            </a:r>
            <a:r>
              <a:rPr kumimoji="0" lang="en-US" altLang="zh-CN" b="1" dirty="0" smtClean="0">
                <a:solidFill>
                  <a:schemeClr val="bg2"/>
                </a:solidFill>
                <a:ea typeface="楷体" panose="02010609060101010101" pitchFamily="49" charset="-122"/>
                <a:cs typeface="Times New Roman" panose="02020603050405020304" pitchFamily="18" charset="0"/>
              </a:rPr>
              <a:t>5</a:t>
            </a:r>
            <a:r>
              <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个</a:t>
            </a:r>
            <a:r>
              <a:rPr kumimoji="0" lang="zh-CN" altLang="en-US" b="1"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等级：</a:t>
            </a:r>
            <a:endPar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457200" lvl="2" algn="l">
              <a:spcBef>
                <a:spcPts val="0"/>
              </a:spcBef>
              <a:buClr>
                <a:srgbClr val="0000FF"/>
              </a:buClr>
              <a:buFont typeface="Wingdings" panose="05000000000000000000" pitchFamily="2" charset="2"/>
              <a:buChar char="n"/>
            </a:pPr>
            <a:r>
              <a:rPr kumimoji="0" lang="zh-CN" altLang="en-US"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已</a:t>
            </a:r>
            <a:r>
              <a:rPr kumimoji="0" lang="zh-CN" altLang="en-US" b="1" dirty="0">
                <a:solidFill>
                  <a:schemeClr val="bg1"/>
                </a:solidFill>
                <a:latin typeface="楷体" panose="02010609060101010101" pitchFamily="49" charset="-122"/>
                <a:ea typeface="楷体" panose="02010609060101010101" pitchFamily="49" charset="-122"/>
                <a:cs typeface="楷体" panose="02010609060101010101" pitchFamily="49" charset="-122"/>
              </a:rPr>
              <a:t>定义级</a:t>
            </a:r>
            <a:r>
              <a:rPr kumimoji="0" lang="zh-CN" altLang="en-US"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已将软件过程文档化、标准化，可按需要改进开发过程，采用评审方法保证软件质量。可借助</a:t>
            </a:r>
            <a:r>
              <a:rPr kumimoji="0" lang="en-US" altLang="zh-CN"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CASE</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工具提高质量和效率。</a:t>
            </a:r>
            <a:endParaRPr kumimoji="0" lang="en-US" altLang="zh-CN"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457200" lvl="2" algn="l">
              <a:spcBef>
                <a:spcPts val="0"/>
              </a:spcBef>
              <a:buClr>
                <a:srgbClr val="0000FF"/>
              </a:buClr>
              <a:buFont typeface="Wingdings" panose="05000000000000000000" pitchFamily="2" charset="2"/>
              <a:buChar char="n"/>
            </a:pPr>
            <a:r>
              <a:rPr kumimoji="0" lang="zh-CN" altLang="en-US"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已</a:t>
            </a:r>
            <a:r>
              <a:rPr kumimoji="0" lang="zh-CN" altLang="en-US" b="1" dirty="0">
                <a:solidFill>
                  <a:schemeClr val="bg1"/>
                </a:solidFill>
                <a:latin typeface="楷体" panose="02010609060101010101" pitchFamily="49" charset="-122"/>
                <a:ea typeface="楷体" panose="02010609060101010101" pitchFamily="49" charset="-122"/>
                <a:cs typeface="楷体" panose="02010609060101010101" pitchFamily="49" charset="-122"/>
              </a:rPr>
              <a:t>管理</a:t>
            </a:r>
            <a:r>
              <a:rPr kumimoji="0" lang="zh-CN" altLang="en-US"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级。</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针对制定质量、效率目标，并收集、测量相应指标。利用统计工具分析并采取改进措施。对软件过程和产品质量有定量的理解和控制。</a:t>
            </a:r>
            <a:endPar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457200" lvl="2" algn="l">
              <a:spcBef>
                <a:spcPts val="0"/>
              </a:spcBef>
              <a:buClr>
                <a:srgbClr val="0000FF"/>
              </a:buClr>
              <a:buFont typeface="Wingdings" panose="05000000000000000000" pitchFamily="2" charset="2"/>
              <a:buChar char="n"/>
            </a:pPr>
            <a:r>
              <a:rPr kumimoji="0" lang="zh-CN" altLang="en-US" b="1" dirty="0" smtClean="0">
                <a:solidFill>
                  <a:schemeClr val="bg1"/>
                </a:solidFill>
                <a:latin typeface="楷体" panose="02010609060101010101" pitchFamily="49" charset="-122"/>
                <a:ea typeface="楷体" panose="02010609060101010101" pitchFamily="49" charset="-122"/>
                <a:cs typeface="楷体" panose="02010609060101010101" pitchFamily="49" charset="-122"/>
              </a:rPr>
              <a:t>优化级。</a:t>
            </a:r>
            <a:r>
              <a:rPr kumimoji="0" lang="zh-CN" altLang="en-US" sz="2400" b="1" dirty="0" smtClean="0">
                <a:solidFill>
                  <a:schemeClr val="bg2"/>
                </a:solidFill>
                <a:latin typeface="楷体" panose="02010609060101010101" pitchFamily="49" charset="-122"/>
                <a:ea typeface="楷体" panose="02010609060101010101" pitchFamily="49" charset="-122"/>
                <a:cs typeface="楷体" panose="02010609060101010101" pitchFamily="49" charset="-122"/>
              </a:rPr>
              <a:t>基于</a:t>
            </a:r>
            <a:r>
              <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rPr>
              <a:t>统计质量和过程控制工具，持续改进软件过程。质量和效率稳步改进。</a:t>
            </a:r>
            <a:endParaRPr kumimoji="0" lang="zh-CN" altLang="en-US" sz="2400"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5846"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en-US" altLang="en-US" sz="3000" b="1">
              <a:latin typeface="楷体" panose="02010609060101010101" pitchFamily="49" charset="-122"/>
              <a:ea typeface="楷体" panose="02010609060101010101" pitchFamily="49" charset="-122"/>
            </a:endParaRPr>
          </a:p>
        </p:txBody>
      </p:sp>
      <p:sp>
        <p:nvSpPr>
          <p:cNvPr id="35847" name="Rectangle 7"/>
          <p:cNvSpPr>
            <a:spLocks noChangeArrowheads="1"/>
          </p:cNvSpPr>
          <p:nvPr/>
        </p:nvSpPr>
        <p:spPr bwMode="auto">
          <a:xfrm>
            <a:off x="323850" y="1341438"/>
            <a:ext cx="42894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7.2.3 </a:t>
            </a:r>
            <a:r>
              <a:rPr kumimoji="0" lang="en-US" altLang="en-US" b="1">
                <a:solidFill>
                  <a:srgbClr val="FF0000"/>
                </a:solidFill>
                <a:latin typeface="楷体" panose="02010609060101010101" pitchFamily="49" charset="-122"/>
                <a:ea typeface="楷体" panose="02010609060101010101" pitchFamily="49" charset="-122"/>
              </a:rPr>
              <a:t>软件能力成熟度模型</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9"/>
          <p:cNvSpPr>
            <a:spLocks noGrp="1" noChangeArrowheads="1"/>
          </p:cNvSpPr>
          <p:nvPr>
            <p:ph type="sldNum" sz="quarter" idx="10"/>
          </p:nvPr>
        </p:nvSpPr>
        <p:spPr>
          <a:noFill/>
        </p:spPr>
        <p:txBody>
          <a:bodyPr/>
          <a:lstStyle/>
          <a:p>
            <a:r>
              <a:rPr lang="zh-CN" altLang="en-GB" dirty="0" smtClean="0"/>
              <a:t>  </a:t>
            </a:r>
            <a:fld id="{3B2729A1-F11C-436E-A620-DFF493E78B6D}" type="slidenum">
              <a:rPr lang="zh-CN" altLang="en-GB" smtClean="0"/>
            </a:fld>
            <a:endParaRPr lang="en-US" altLang="zh-CN" dirty="0" smtClean="0"/>
          </a:p>
        </p:txBody>
      </p:sp>
      <p:sp>
        <p:nvSpPr>
          <p:cNvPr id="3686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P.164</a:t>
            </a:r>
            <a:endParaRPr lang="en-US" altLang="zh-CN" sz="2400" b="1">
              <a:solidFill>
                <a:schemeClr val="bg2"/>
              </a:solidFill>
            </a:endParaRPr>
          </a:p>
        </p:txBody>
      </p:sp>
      <p:grpSp>
        <p:nvGrpSpPr>
          <p:cNvPr id="9" name="组合 8"/>
          <p:cNvGrpSpPr/>
          <p:nvPr/>
        </p:nvGrpSpPr>
        <p:grpSpPr>
          <a:xfrm>
            <a:off x="0" y="1428736"/>
            <a:ext cx="9144000" cy="4879988"/>
            <a:chOff x="0" y="765175"/>
            <a:chExt cx="9144000" cy="5543550"/>
          </a:xfrm>
        </p:grpSpPr>
        <p:sp>
          <p:nvSpPr>
            <p:cNvPr id="3686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pic>
          <p:nvPicPr>
            <p:cNvPr id="36869" name="Picture 20" descr="图7-5 成熟度等级关键过程域"/>
            <p:cNvPicPr>
              <a:picLocks noChangeAspect="1" noChangeArrowheads="1"/>
            </p:cNvPicPr>
            <p:nvPr/>
          </p:nvPicPr>
          <p:blipFill>
            <a:blip r:embed="rId1" cstate="print"/>
            <a:srcRect/>
            <a:stretch>
              <a:fillRect/>
            </a:stretch>
          </p:blipFill>
          <p:spPr bwMode="auto">
            <a:xfrm>
              <a:off x="179388" y="765175"/>
              <a:ext cx="8713787" cy="5543550"/>
            </a:xfrm>
            <a:prstGeom prst="rect">
              <a:avLst/>
            </a:prstGeom>
            <a:noFill/>
            <a:ln w="9525">
              <a:noFill/>
              <a:miter lim="800000"/>
              <a:headEnd/>
              <a:tailEnd/>
            </a:ln>
          </p:spPr>
        </p:pic>
        <p:sp>
          <p:nvSpPr>
            <p:cNvPr id="1260565" name="Line 21"/>
            <p:cNvSpPr>
              <a:spLocks noChangeShapeType="1"/>
            </p:cNvSpPr>
            <p:nvPr/>
          </p:nvSpPr>
          <p:spPr bwMode="auto">
            <a:xfrm>
              <a:off x="1979613" y="5589588"/>
              <a:ext cx="1223962" cy="0"/>
            </a:xfrm>
            <a:prstGeom prst="line">
              <a:avLst/>
            </a:prstGeom>
            <a:noFill/>
            <a:ln w="38100">
              <a:solidFill>
                <a:schemeClr val="hlink"/>
              </a:solidFill>
              <a:round/>
            </a:ln>
          </p:spPr>
          <p:txBody>
            <a:bodyPr>
              <a:spAutoFit/>
            </a:bodyPr>
            <a:lstStyle/>
            <a:p>
              <a:endParaRPr lang="zh-CN" altLang="en-US"/>
            </a:p>
          </p:txBody>
        </p:sp>
        <p:sp>
          <p:nvSpPr>
            <p:cNvPr id="1260566" name="Line 22"/>
            <p:cNvSpPr>
              <a:spLocks noChangeShapeType="1"/>
            </p:cNvSpPr>
            <p:nvPr/>
          </p:nvSpPr>
          <p:spPr bwMode="auto">
            <a:xfrm>
              <a:off x="4500563" y="2971800"/>
              <a:ext cx="1079500" cy="25400"/>
            </a:xfrm>
            <a:prstGeom prst="line">
              <a:avLst/>
            </a:prstGeom>
            <a:noFill/>
            <a:ln w="38100">
              <a:solidFill>
                <a:schemeClr val="hlink"/>
              </a:solidFill>
              <a:round/>
            </a:ln>
          </p:spPr>
          <p:txBody>
            <a:bodyPr>
              <a:spAutoFit/>
            </a:bodyPr>
            <a:lstStyle/>
            <a:p>
              <a:endParaRPr lang="zh-CN" altLang="en-US"/>
            </a:p>
          </p:txBody>
        </p:sp>
      </p:grpSp>
      <p:sp>
        <p:nvSpPr>
          <p:cNvPr id="36872" name="Text Box 23"/>
          <p:cNvSpPr txBox="1">
            <a:spLocks noChangeArrowheads="1"/>
          </p:cNvSpPr>
          <p:nvPr/>
        </p:nvSpPr>
        <p:spPr bwMode="auto">
          <a:xfrm>
            <a:off x="3133725" y="6518275"/>
            <a:ext cx="3509977" cy="368300"/>
          </a:xfrm>
          <a:prstGeom prst="rect">
            <a:avLst/>
          </a:prstGeom>
          <a:noFill/>
          <a:ln w="9525">
            <a:noFill/>
            <a:miter lim="800000"/>
          </a:ln>
        </p:spPr>
        <p:txBody>
          <a:bodyPr wrap="square">
            <a:spAutoFit/>
          </a:bodyPr>
          <a:lstStyle/>
          <a:p>
            <a:pPr algn="l"/>
            <a:r>
              <a:rPr kumimoji="0" lang="zh-CN" altLang="en-US" sz="1800" b="1">
                <a:solidFill>
                  <a:srgbClr val="FF0000"/>
                </a:solidFill>
                <a:latin typeface="楷体" panose="02010609060101010101" pitchFamily="49" charset="-122"/>
                <a:ea typeface="楷体" panose="02010609060101010101" pitchFamily="49" charset="-122"/>
              </a:rPr>
              <a:t>图</a:t>
            </a:r>
            <a:r>
              <a:rPr kumimoji="0" lang="en-US" altLang="zh-CN" sz="1800" b="1" smtClean="0">
                <a:solidFill>
                  <a:srgbClr val="FF0000"/>
                </a:solidFill>
                <a:cs typeface="Times New Roman" panose="02020603050405020304" pitchFamily="18" charset="0"/>
              </a:rPr>
              <a:t>7- 4 </a:t>
            </a:r>
            <a:r>
              <a:rPr kumimoji="0" lang="zh-CN" altLang="en-US" sz="1800" b="1">
                <a:solidFill>
                  <a:srgbClr val="FF0000"/>
                </a:solidFill>
                <a:latin typeface="楷体" panose="02010609060101010101" pitchFamily="49" charset="-122"/>
                <a:ea typeface="楷体" panose="02010609060101010101" pitchFamily="49" charset="-122"/>
              </a:rPr>
              <a:t>成熟度等级关键过程域</a:t>
            </a:r>
            <a:endParaRPr kumimoji="0" lang="zh-CN" altLang="en-US" sz="1800" b="1">
              <a:solidFill>
                <a:srgbClr val="FF0000"/>
              </a:solidFill>
              <a:latin typeface="楷体" panose="02010609060101010101" pitchFamily="49" charset="-122"/>
              <a:ea typeface="楷体" panose="02010609060101010101" pitchFamily="49" charset="-122"/>
            </a:endParaRPr>
          </a:p>
        </p:txBody>
      </p:sp>
      <p:sp>
        <p:nvSpPr>
          <p:cNvPr id="10" name="Rectangle 8"/>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t>质量管理方法与体系</a:t>
            </a:r>
            <a:endParaRPr kumimoji="0" lang="zh-CN" altLang="en-US" sz="3000" b="1" smtClean="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9"/>
          <p:cNvSpPr>
            <a:spLocks noGrp="1" noChangeArrowheads="1"/>
          </p:cNvSpPr>
          <p:nvPr>
            <p:ph type="sldNum" sz="quarter" idx="10"/>
          </p:nvPr>
        </p:nvSpPr>
        <p:spPr>
          <a:noFill/>
        </p:spPr>
        <p:txBody>
          <a:bodyPr/>
          <a:lstStyle/>
          <a:p>
            <a:r>
              <a:rPr lang="zh-CN" altLang="en-GB" dirty="0" smtClean="0"/>
              <a:t>  </a:t>
            </a:r>
            <a:fld id="{6DCD05BD-CE74-413D-ACA9-CB9BA5356D68}" type="slidenum">
              <a:rPr lang="zh-CN" altLang="en-GB" smtClean="0"/>
            </a:fld>
            <a:endParaRPr lang="en-US" altLang="zh-CN" dirty="0" smtClean="0"/>
          </a:p>
        </p:txBody>
      </p:sp>
      <p:sp>
        <p:nvSpPr>
          <p:cNvPr id="3789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P.164</a:t>
            </a:r>
            <a:endParaRPr lang="en-US" altLang="zh-CN" sz="2400" b="1">
              <a:solidFill>
                <a:schemeClr val="bg2"/>
              </a:solidFill>
            </a:endParaRPr>
          </a:p>
        </p:txBody>
      </p:sp>
      <p:sp>
        <p:nvSpPr>
          <p:cNvPr id="37892"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37893" name="Rectangle 5"/>
          <p:cNvSpPr>
            <a:spLocks noChangeArrowheads="1"/>
          </p:cNvSpPr>
          <p:nvPr/>
        </p:nvSpPr>
        <p:spPr bwMode="auto">
          <a:xfrm>
            <a:off x="179388" y="1857935"/>
            <a:ext cx="8570912" cy="4384675"/>
          </a:xfrm>
          <a:prstGeom prst="rect">
            <a:avLst/>
          </a:prstGeom>
          <a:noFill/>
          <a:ln w="9525" algn="ctr">
            <a:noFill/>
            <a:miter lim="800000"/>
          </a:ln>
        </p:spPr>
        <p:txBody>
          <a:bodyPr anchor="ctr">
            <a:spAutoFit/>
          </a:bodyPr>
          <a:lstStyle/>
          <a:p>
            <a:pPr algn="l">
              <a:buClr>
                <a:schemeClr val="hlink"/>
              </a:buClr>
            </a:pPr>
            <a:r>
              <a:rPr kumimoji="0" lang="zh-CN" altLang="en-US" b="1">
                <a:solidFill>
                  <a:srgbClr val="FF0000"/>
                </a:solidFill>
                <a:latin typeface="楷体" panose="02010609060101010101" pitchFamily="49" charset="-122"/>
                <a:ea typeface="楷体" panose="02010609060101010101" pitchFamily="49" charset="-122"/>
              </a:rPr>
              <a:t>软件质量保证</a:t>
            </a:r>
            <a:r>
              <a:rPr kumimoji="0" lang="zh-CN" altLang="en-US" b="1">
                <a:solidFill>
                  <a:schemeClr val="bg2"/>
                </a:solidFill>
                <a:latin typeface="楷体" panose="02010609060101010101" pitchFamily="49" charset="-122"/>
                <a:ea typeface="楷体" panose="02010609060101010101" pitchFamily="49" charset="-122"/>
              </a:rPr>
              <a:t>要达到的目标是：</a:t>
            </a:r>
            <a:endParaRPr kumimoji="0" lang="zh-CN" altLang="en-US" b="1">
              <a:solidFill>
                <a:schemeClr val="bg2"/>
              </a:solidFill>
              <a:latin typeface="楷体" panose="02010609060101010101" pitchFamily="49" charset="-122"/>
              <a:ea typeface="楷体" panose="02010609060101010101" pitchFamily="49" charset="-122"/>
            </a:endParaRPr>
          </a:p>
          <a:p>
            <a:pPr marL="636905" lvl="2" algn="l">
              <a:spcBef>
                <a:spcPts val="600"/>
              </a:spcBef>
              <a:buClr>
                <a:schemeClr val="bg1"/>
              </a:buClr>
              <a:buFont typeface="Wingdings" panose="05000000000000000000" pitchFamily="2" charset="2"/>
              <a:buChar char="n"/>
            </a:pPr>
            <a:r>
              <a:rPr kumimoji="0" lang="zh-CN" altLang="en-US" sz="2400" b="1">
                <a:solidFill>
                  <a:schemeClr val="bg2"/>
                </a:solidFill>
                <a:latin typeface="楷体" panose="02010609060101010101" pitchFamily="49" charset="-122"/>
                <a:ea typeface="楷体" panose="02010609060101010101" pitchFamily="49" charset="-122"/>
              </a:rPr>
              <a:t>对软件质量保证活动做到有计划；</a:t>
            </a:r>
            <a:endParaRPr kumimoji="0" lang="zh-CN" altLang="en-US" sz="2400" b="1">
              <a:solidFill>
                <a:schemeClr val="bg2"/>
              </a:solidFill>
              <a:latin typeface="楷体" panose="02010609060101010101" pitchFamily="49" charset="-122"/>
              <a:ea typeface="楷体" panose="02010609060101010101" pitchFamily="49" charset="-122"/>
            </a:endParaRPr>
          </a:p>
          <a:p>
            <a:pPr marL="636905" lvl="2" algn="l">
              <a:spcBef>
                <a:spcPts val="600"/>
              </a:spcBef>
              <a:buClr>
                <a:schemeClr val="bg1"/>
              </a:buClr>
              <a:buFont typeface="Wingdings" panose="05000000000000000000" pitchFamily="2" charset="2"/>
              <a:buChar char="n"/>
            </a:pPr>
            <a:r>
              <a:rPr kumimoji="0" lang="zh-CN" altLang="en-US" sz="2400" b="1">
                <a:solidFill>
                  <a:schemeClr val="bg2"/>
                </a:solidFill>
                <a:latin typeface="楷体" panose="02010609060101010101" pitchFamily="49" charset="-122"/>
                <a:ea typeface="楷体" panose="02010609060101010101" pitchFamily="49" charset="-122"/>
              </a:rPr>
              <a:t>客观地验证软件产品及其活动是否遵守应用的标准、规程和需求；</a:t>
            </a:r>
            <a:endParaRPr kumimoji="0" lang="zh-CN" altLang="en-US" sz="2400" b="1">
              <a:solidFill>
                <a:schemeClr val="bg2"/>
              </a:solidFill>
              <a:latin typeface="楷体" panose="02010609060101010101" pitchFamily="49" charset="-122"/>
              <a:ea typeface="楷体" panose="02010609060101010101" pitchFamily="49" charset="-122"/>
            </a:endParaRPr>
          </a:p>
          <a:p>
            <a:pPr marL="636905" lvl="2" algn="l">
              <a:spcBef>
                <a:spcPts val="600"/>
              </a:spcBef>
              <a:buClr>
                <a:schemeClr val="bg1"/>
              </a:buClr>
              <a:buFont typeface="Wingdings" panose="05000000000000000000" pitchFamily="2" charset="2"/>
              <a:buChar char="n"/>
            </a:pPr>
            <a:r>
              <a:rPr kumimoji="0" lang="zh-CN" altLang="en-US" sz="2400" b="1">
                <a:solidFill>
                  <a:schemeClr val="bg2"/>
                </a:solidFill>
                <a:latin typeface="楷体" panose="02010609060101010101" pitchFamily="49" charset="-122"/>
                <a:ea typeface="楷体" panose="02010609060101010101" pitchFamily="49" charset="-122"/>
              </a:rPr>
              <a:t>将软件质量保证活动及其结果及时通知相关小组和个人；</a:t>
            </a:r>
            <a:endParaRPr kumimoji="0" lang="zh-CN" altLang="en-US" sz="2400" b="1">
              <a:solidFill>
                <a:schemeClr val="bg2"/>
              </a:solidFill>
              <a:latin typeface="楷体" panose="02010609060101010101" pitchFamily="49" charset="-122"/>
              <a:ea typeface="楷体" panose="02010609060101010101" pitchFamily="49" charset="-122"/>
            </a:endParaRPr>
          </a:p>
          <a:p>
            <a:pPr marL="636905" lvl="2" algn="l">
              <a:spcBef>
                <a:spcPts val="600"/>
              </a:spcBef>
              <a:buClr>
                <a:schemeClr val="bg1"/>
              </a:buClr>
              <a:buFont typeface="Wingdings" panose="05000000000000000000" pitchFamily="2" charset="2"/>
              <a:buChar char="n"/>
            </a:pPr>
            <a:r>
              <a:rPr kumimoji="0" lang="zh-CN" altLang="en-US" sz="2400" b="1">
                <a:solidFill>
                  <a:schemeClr val="bg2"/>
                </a:solidFill>
                <a:latin typeface="楷体" panose="02010609060101010101" pitchFamily="49" charset="-122"/>
                <a:ea typeface="楷体" panose="02010609060101010101" pitchFamily="49" charset="-122"/>
              </a:rPr>
              <a:t>由上级管理部门及时处理软件项目内部解决不了的不一致性问题</a:t>
            </a:r>
            <a:r>
              <a:rPr kumimoji="0" lang="zh-CN" altLang="en-US" sz="2400" b="1" smtClean="0">
                <a:solidFill>
                  <a:schemeClr val="bg2"/>
                </a:solidFill>
                <a:latin typeface="楷体" panose="02010609060101010101" pitchFamily="49" charset="-122"/>
                <a:ea typeface="楷体" panose="02010609060101010101" pitchFamily="49" charset="-122"/>
              </a:rPr>
              <a:t>。</a:t>
            </a:r>
            <a:endParaRPr kumimoji="0" lang="en-US" altLang="zh-CN" sz="2400" b="1" smtClean="0">
              <a:solidFill>
                <a:schemeClr val="bg2"/>
              </a:solidFill>
              <a:latin typeface="楷体" panose="02010609060101010101" pitchFamily="49" charset="-122"/>
              <a:ea typeface="楷体" panose="02010609060101010101" pitchFamily="49" charset="-122"/>
            </a:endParaRPr>
          </a:p>
          <a:p>
            <a:pPr marL="636905" lvl="2" algn="l">
              <a:spcBef>
                <a:spcPts val="600"/>
              </a:spcBef>
              <a:buClr>
                <a:schemeClr val="bg1"/>
              </a:buClr>
              <a:buFont typeface="Wingdings" panose="05000000000000000000" pitchFamily="2" charset="2"/>
              <a:buChar char="n"/>
            </a:pPr>
            <a:r>
              <a:rPr kumimoji="0" lang="zh-CN" altLang="en-US" sz="2400" b="1" smtClean="0">
                <a:solidFill>
                  <a:schemeClr val="bg2"/>
                </a:solidFill>
                <a:latin typeface="楷体" panose="02010609060101010101" pitchFamily="49" charset="-122"/>
                <a:ea typeface="楷体" panose="02010609060101010101" pitchFamily="49" charset="-122"/>
              </a:rPr>
              <a:t>项目的软件质量管理活动是有计划的；</a:t>
            </a:r>
            <a:endParaRPr kumimoji="0" lang="zh-CN" altLang="en-US" sz="2400" b="1" smtClean="0">
              <a:solidFill>
                <a:schemeClr val="bg2"/>
              </a:solidFill>
              <a:latin typeface="楷体" panose="02010609060101010101" pitchFamily="49" charset="-122"/>
              <a:ea typeface="楷体" panose="02010609060101010101" pitchFamily="49" charset="-122"/>
            </a:endParaRPr>
          </a:p>
          <a:p>
            <a:pPr marL="636905" lvl="2" algn="l">
              <a:spcBef>
                <a:spcPts val="600"/>
              </a:spcBef>
              <a:buClr>
                <a:schemeClr val="bg1"/>
              </a:buClr>
              <a:buFont typeface="Wingdings" panose="05000000000000000000" pitchFamily="2" charset="2"/>
              <a:buChar char="n"/>
            </a:pPr>
            <a:r>
              <a:rPr kumimoji="0" lang="zh-CN" altLang="en-US" sz="2400" b="1" smtClean="0">
                <a:solidFill>
                  <a:schemeClr val="bg2"/>
                </a:solidFill>
                <a:latin typeface="楷体" panose="02010609060101010101" pitchFamily="49" charset="-122"/>
                <a:ea typeface="楷体" panose="02010609060101010101" pitchFamily="49" charset="-122"/>
              </a:rPr>
              <a:t>软件产品质量的可测目标和目标的优先级被定义；</a:t>
            </a:r>
            <a:endParaRPr kumimoji="0" lang="zh-CN" altLang="en-US" sz="2400" b="1" smtClean="0">
              <a:solidFill>
                <a:schemeClr val="bg2"/>
              </a:solidFill>
              <a:latin typeface="楷体" panose="02010609060101010101" pitchFamily="49" charset="-122"/>
              <a:ea typeface="楷体" panose="02010609060101010101" pitchFamily="49" charset="-122"/>
            </a:endParaRPr>
          </a:p>
          <a:p>
            <a:pPr marL="636905" lvl="2" algn="l">
              <a:spcBef>
                <a:spcPts val="600"/>
              </a:spcBef>
              <a:buClr>
                <a:schemeClr val="bg1"/>
              </a:buClr>
              <a:buFont typeface="Wingdings" panose="05000000000000000000" pitchFamily="2" charset="2"/>
              <a:buChar char="n"/>
            </a:pPr>
            <a:r>
              <a:rPr kumimoji="0" lang="zh-CN" altLang="en-US" sz="2400" b="1" smtClean="0">
                <a:solidFill>
                  <a:schemeClr val="bg2"/>
                </a:solidFill>
                <a:latin typeface="楷体" panose="02010609060101010101" pitchFamily="49" charset="-122"/>
                <a:ea typeface="楷体" panose="02010609060101010101" pitchFamily="49" charset="-122"/>
              </a:rPr>
              <a:t>实现软件产品质量的实际进展过程被量化。</a:t>
            </a:r>
            <a:endParaRPr kumimoji="0" lang="zh-CN" altLang="en-US" b="1">
              <a:solidFill>
                <a:schemeClr val="bg2"/>
              </a:solidFill>
              <a:latin typeface="楷体" panose="02010609060101010101" pitchFamily="49" charset="-122"/>
              <a:ea typeface="楷体" panose="02010609060101010101" pitchFamily="49" charset="-122"/>
            </a:endParaRPr>
          </a:p>
        </p:txBody>
      </p:sp>
      <p:sp>
        <p:nvSpPr>
          <p:cNvPr id="37894"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en-US" altLang="en-US" sz="3000" b="1">
              <a:latin typeface="楷体" panose="02010609060101010101" pitchFamily="49" charset="-122"/>
              <a:ea typeface="楷体" panose="02010609060101010101" pitchFamily="49" charset="-122"/>
            </a:endParaRPr>
          </a:p>
        </p:txBody>
      </p:sp>
      <p:sp>
        <p:nvSpPr>
          <p:cNvPr id="37895" name="Rectangle 7"/>
          <p:cNvSpPr>
            <a:spLocks noChangeArrowheads="1"/>
          </p:cNvSpPr>
          <p:nvPr/>
        </p:nvSpPr>
        <p:spPr bwMode="auto">
          <a:xfrm>
            <a:off x="323850" y="1341438"/>
            <a:ext cx="4380230"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7.2.3 </a:t>
            </a:r>
            <a:r>
              <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rPr>
              <a:t>软件能力成熟度模型 </a:t>
            </a:r>
            <a:endPar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9"/>
          <p:cNvSpPr>
            <a:spLocks noGrp="1" noChangeArrowheads="1"/>
          </p:cNvSpPr>
          <p:nvPr>
            <p:ph type="sldNum" sz="quarter" idx="10"/>
          </p:nvPr>
        </p:nvSpPr>
        <p:spPr>
          <a:noFill/>
        </p:spPr>
        <p:txBody>
          <a:bodyPr/>
          <a:lstStyle/>
          <a:p>
            <a:r>
              <a:rPr lang="zh-CN" altLang="en-GB" dirty="0" smtClean="0"/>
              <a:t>  </a:t>
            </a:r>
            <a:fld id="{09174642-0C5B-4766-B232-F4AA1F2AE60D}" type="slidenum">
              <a:rPr lang="zh-CN" altLang="en-GB" smtClean="0"/>
            </a:fld>
            <a:endParaRPr lang="en-US" altLang="zh-CN" dirty="0" smtClean="0"/>
          </a:p>
        </p:txBody>
      </p:sp>
      <p:sp>
        <p:nvSpPr>
          <p:cNvPr id="38915"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38916" name="Rectangle 5"/>
          <p:cNvSpPr>
            <a:spLocks noChangeArrowheads="1"/>
          </p:cNvSpPr>
          <p:nvPr/>
        </p:nvSpPr>
        <p:spPr bwMode="auto">
          <a:xfrm>
            <a:off x="107601" y="1700861"/>
            <a:ext cx="8820150" cy="4969510"/>
          </a:xfrm>
          <a:prstGeom prst="rect">
            <a:avLst/>
          </a:prstGeom>
          <a:noFill/>
          <a:ln w="9525" algn="ctr">
            <a:noFill/>
            <a:miter lim="800000"/>
          </a:ln>
        </p:spPr>
        <p:txBody>
          <a:bodyPr wrap="square" anchor="ctr">
            <a:spAutoFit/>
          </a:bodyPr>
          <a:lstStyle/>
          <a:p>
            <a:pPr algn="l">
              <a:spcBef>
                <a:spcPts val="600"/>
              </a:spcBef>
              <a:spcAft>
                <a:spcPts val="600"/>
              </a:spcAft>
            </a:pPr>
            <a:r>
              <a:rPr kumimoji="0"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为了达到软件质量保证要达到的目标</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en-US" b="1" smtClean="0">
                <a:solidFill>
                  <a:schemeClr val="bg2"/>
                </a:solidFill>
                <a:ea typeface="楷体" panose="02010609060101010101" pitchFamily="49" charset="-122"/>
                <a:cs typeface="Times New Roman" panose="02020603050405020304" pitchFamily="18" charset="0"/>
              </a:rPr>
              <a:t>CMM</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定义了软件质量保证应该进行的</a:t>
            </a:r>
            <a:r>
              <a:rPr lang="en-US" b="1" smtClean="0">
                <a:solidFill>
                  <a:schemeClr val="bg2"/>
                </a:solidFill>
                <a:ea typeface="楷体" panose="02010609060101010101" pitchFamily="49" charset="-122"/>
                <a:cs typeface="Times New Roman" panose="02020603050405020304" pitchFamily="18" charset="0"/>
              </a:rPr>
              <a:t>8</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项活动，它们是：</a:t>
            </a:r>
            <a:endPar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0"/>
              </a:spcAft>
              <a:buClr>
                <a:srgbClr val="0000FF"/>
              </a:buClr>
              <a:buFont typeface="Wingdings" panose="05000000000000000000" pitchFamily="2" charset="2"/>
              <a:buChar char="n"/>
            </a:pP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为软件项目制定软件质量保证（</a:t>
            </a: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）计划；</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0"/>
              </a:spcAft>
              <a:buClr>
                <a:srgbClr val="0000FF"/>
              </a:buClr>
              <a:buFont typeface="Wingdings" panose="05000000000000000000" pitchFamily="2" charset="2"/>
              <a:buChar char="n"/>
            </a:pP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组按</a:t>
            </a: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计划进行活动；</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0"/>
              </a:spcAft>
              <a:buClr>
                <a:srgbClr val="0000FF"/>
              </a:buClr>
              <a:buFont typeface="Wingdings" panose="05000000000000000000" pitchFamily="2" charset="2"/>
              <a:buChar char="n"/>
            </a:pP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组参与制定和评审项目的软件开发计划、标准和规程；</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0"/>
              </a:spcAft>
              <a:buClr>
                <a:srgbClr val="0000FF"/>
              </a:buClr>
              <a:buFont typeface="Wingdings" panose="05000000000000000000" pitchFamily="2" charset="2"/>
              <a:buChar char="n"/>
            </a:pP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组评审软件工程活动，验证其一致性；</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0"/>
              </a:spcAft>
              <a:buClr>
                <a:srgbClr val="0000FF"/>
              </a:buClr>
              <a:buFont typeface="Wingdings" panose="05000000000000000000" pitchFamily="2" charset="2"/>
              <a:buChar char="n"/>
            </a:pP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组审核指定的软件产品，验证其一致性；</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0"/>
              </a:spcAft>
              <a:buClr>
                <a:srgbClr val="0000FF"/>
              </a:buClr>
              <a:buFont typeface="Wingdings" panose="05000000000000000000" pitchFamily="2" charset="2"/>
              <a:buChar char="n"/>
            </a:pP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组定期向软件工程组报告活动的结果；</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0"/>
              </a:spcAft>
              <a:buClr>
                <a:srgbClr val="0000FF"/>
              </a:buClr>
              <a:buFont typeface="Wingdings" panose="05000000000000000000" pitchFamily="2" charset="2"/>
              <a:buChar char="n"/>
            </a:pP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归档和处理软件活动和软件工作产品中的偏差；</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0"/>
              </a:spcAft>
              <a:buClr>
                <a:srgbClr val="0000FF"/>
              </a:buClr>
              <a:buFont typeface="Wingdings" panose="05000000000000000000" pitchFamily="2" charset="2"/>
              <a:buChar char="n"/>
            </a:pP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组与客户的</a:t>
            </a: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人员定期对</a:t>
            </a: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组的活动和结果行评审。</a:t>
            </a:r>
            <a:endParaRPr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8917" name="Rectangle 6"/>
          <p:cNvSpPr>
            <a:spLocks noChangeArrowheads="1"/>
          </p:cNvSpPr>
          <p:nvPr/>
        </p:nvSpPr>
        <p:spPr bwMode="auto">
          <a:xfrm>
            <a:off x="103188" y="620713"/>
            <a:ext cx="5405437" cy="54927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t>质量管理方法与体系</a:t>
            </a:r>
            <a:endParaRPr kumimoji="0" lang="en-US" altLang="en-US" sz="3000" b="1"/>
          </a:p>
        </p:txBody>
      </p:sp>
      <p:sp>
        <p:nvSpPr>
          <p:cNvPr id="38918" name="Rectangle 7"/>
          <p:cNvSpPr>
            <a:spLocks noChangeArrowheads="1"/>
          </p:cNvSpPr>
          <p:nvPr/>
        </p:nvSpPr>
        <p:spPr bwMode="auto">
          <a:xfrm>
            <a:off x="323850" y="1341438"/>
            <a:ext cx="42894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7.2.3 </a:t>
            </a:r>
            <a:r>
              <a:rPr kumimoji="0" lang="en-US" altLang="en-US" b="1">
                <a:solidFill>
                  <a:srgbClr val="FF0000"/>
                </a:solidFill>
                <a:latin typeface="楷体" panose="02010609060101010101" pitchFamily="49" charset="-122"/>
                <a:ea typeface="楷体" panose="02010609060101010101" pitchFamily="49" charset="-122"/>
              </a:rPr>
              <a:t>软件能力成熟度模型</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
        <p:nvSpPr>
          <p:cNvPr id="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P.164</a:t>
            </a:r>
            <a:endParaRPr lang="en-US" altLang="zh-CN" sz="2400" b="1">
              <a:solidFill>
                <a:schemeClr val="bg2"/>
              </a:solidFill>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9"/>
          <p:cNvSpPr>
            <a:spLocks noGrp="1" noChangeArrowheads="1"/>
          </p:cNvSpPr>
          <p:nvPr>
            <p:ph type="sldNum" sz="quarter" idx="10"/>
          </p:nvPr>
        </p:nvSpPr>
        <p:spPr>
          <a:noFill/>
        </p:spPr>
        <p:txBody>
          <a:bodyPr/>
          <a:lstStyle/>
          <a:p>
            <a:r>
              <a:rPr lang="zh-CN" altLang="en-GB" dirty="0" smtClean="0"/>
              <a:t>  </a:t>
            </a:r>
            <a:fld id="{09174642-0C5B-4766-B232-F4AA1F2AE60D}" type="slidenum">
              <a:rPr lang="zh-CN" altLang="en-GB" smtClean="0"/>
            </a:fld>
            <a:endParaRPr lang="en-US" altLang="zh-CN" dirty="0" smtClean="0"/>
          </a:p>
        </p:txBody>
      </p:sp>
      <p:sp>
        <p:nvSpPr>
          <p:cNvPr id="38915"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38916" name="Rectangle 5"/>
          <p:cNvSpPr>
            <a:spLocks noChangeArrowheads="1"/>
          </p:cNvSpPr>
          <p:nvPr/>
        </p:nvSpPr>
        <p:spPr bwMode="auto">
          <a:xfrm>
            <a:off x="71406" y="1786611"/>
            <a:ext cx="8820150" cy="4276725"/>
          </a:xfrm>
          <a:prstGeom prst="rect">
            <a:avLst/>
          </a:prstGeom>
          <a:noFill/>
          <a:ln w="9525" algn="ctr">
            <a:noFill/>
            <a:miter lim="800000"/>
          </a:ln>
        </p:spPr>
        <p:txBody>
          <a:bodyPr wrap="square" anchor="ctr">
            <a:spAutoFit/>
          </a:bodyPr>
          <a:lstStyle/>
          <a:p>
            <a:pPr algn="l">
              <a:spcBef>
                <a:spcPts val="600"/>
              </a:spcBef>
              <a:spcAft>
                <a:spcPts val="600"/>
              </a:spcAft>
            </a:pPr>
            <a:r>
              <a:rPr lang="en-US" b="1" smtClean="0">
                <a:solidFill>
                  <a:schemeClr val="bg2"/>
                </a:solidFill>
                <a:ea typeface="华文行楷" panose="02010800040101010101" pitchFamily="2" charset="-122"/>
                <a:cs typeface="Times New Roman" panose="02020603050405020304" pitchFamily="18" charset="0"/>
              </a:rPr>
              <a:t>CMM</a:t>
            </a:r>
            <a:r>
              <a:rPr lang="zh-CN" altLang="en-US" b="1" smtClean="0">
                <a:solidFill>
                  <a:schemeClr val="bg2"/>
                </a:solidFill>
                <a:latin typeface="楷体" panose="02010609060101010101" pitchFamily="49" charset="-122"/>
                <a:ea typeface="楷体" panose="02010609060101010101" pitchFamily="49" charset="-122"/>
              </a:rPr>
              <a:t>有助于大家都了解机构进行软件过程改进的方法，因为它为讨论软件过程建立了一种公用语言，并定义了为解决问题应做工作的步骤和顺序</a:t>
            </a:r>
            <a:r>
              <a:rPr lang="zh-CN" altLang="en-US" b="1" smtClean="0">
                <a:solidFill>
                  <a:schemeClr val="bg2"/>
                </a:solidFill>
                <a:latin typeface="+mn-lt"/>
                <a:ea typeface="华文行楷" panose="02010800040101010101" pitchFamily="2" charset="-122"/>
              </a:rPr>
              <a:t>。</a:t>
            </a:r>
            <a:endParaRPr lang="en-US" altLang="zh-CN" b="1" smtClean="0">
              <a:solidFill>
                <a:schemeClr val="bg2"/>
              </a:solidFill>
              <a:latin typeface="+mn-lt"/>
              <a:ea typeface="华文行楷" panose="02010800040101010101" pitchFamily="2" charset="-122"/>
            </a:endParaRPr>
          </a:p>
          <a:p>
            <a:pPr algn="l">
              <a:spcBef>
                <a:spcPts val="600"/>
              </a:spcBef>
              <a:spcAft>
                <a:spcPts val="600"/>
              </a:spcAft>
            </a:pPr>
            <a:r>
              <a:rPr lang="en-US" b="1" smtClean="0">
                <a:solidFill>
                  <a:schemeClr val="bg2"/>
                </a:solidFill>
                <a:ea typeface="华文行楷" panose="02010800040101010101" pitchFamily="2" charset="-122"/>
                <a:cs typeface="Times New Roman" panose="02020603050405020304" pitchFamily="18" charset="0"/>
              </a:rPr>
              <a:t>CMM</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通过提供一个框架来执行可靠、一致的估价来支持软件过程测量，它提供了客观公正的基础。</a:t>
            </a:r>
            <a:r>
              <a:rPr lang="en-US" b="1" smtClean="0">
                <a:solidFill>
                  <a:schemeClr val="bg2"/>
                </a:solidFill>
                <a:ea typeface="楷体" panose="02010609060101010101" pitchFamily="49" charset="-122"/>
                <a:cs typeface="Times New Roman" panose="02020603050405020304" pitchFamily="18" charset="0"/>
              </a:rPr>
              <a:t>CMM</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建立了一组有关软件过程和实践的结合</a:t>
            </a:r>
            <a:r>
              <a:rPr lang="zh-CN" altLang="en-US" b="1" smtClean="0">
                <a:solidFill>
                  <a:schemeClr val="bg2"/>
                </a:solidFill>
                <a:latin typeface="+mn-lt"/>
                <a:ea typeface="华文行楷" panose="02010800040101010101" pitchFamily="2" charset="-122"/>
              </a:rPr>
              <a:t>。</a:t>
            </a:r>
            <a:endParaRPr lang="en-US" altLang="zh-CN" b="1" smtClean="0">
              <a:solidFill>
                <a:schemeClr val="bg2"/>
              </a:solidFill>
              <a:latin typeface="+mn-lt"/>
              <a:ea typeface="华文行楷" panose="02010800040101010101" pitchFamily="2" charset="-122"/>
            </a:endParaRPr>
          </a:p>
          <a:p>
            <a:pPr algn="l">
              <a:spcBef>
                <a:spcPts val="600"/>
              </a:spcBef>
              <a:spcAft>
                <a:spcPts val="600"/>
              </a:spcAft>
            </a:pPr>
            <a:r>
              <a:rPr lang="en-US" altLang="zh-CN" b="1" smtClean="0">
                <a:solidFill>
                  <a:srgbClr val="0000FF"/>
                </a:solidFill>
                <a:latin typeface="+mn-lt"/>
                <a:ea typeface="黑体" panose="02010609060101010101" pitchFamily="2" charset="-122"/>
              </a:rPr>
              <a:t>CMM</a:t>
            </a:r>
            <a:r>
              <a:rPr lang="zh-CN" altLang="en-US" b="1" smtClean="0">
                <a:solidFill>
                  <a:srgbClr val="0000FF"/>
                </a:solidFill>
                <a:latin typeface="+mn-lt"/>
                <a:ea typeface="黑体" panose="02010609060101010101" pitchFamily="2" charset="-122"/>
              </a:rPr>
              <a:t>代表了优秀的软件工程和管理工程的广泛、一致的意见。它在许多国家及地区得到了广泛应用，已成为事实上的软件过程改进的工业标准。</a:t>
            </a:r>
            <a:endParaRPr lang="zh-CN" altLang="en-US" b="1" smtClean="0">
              <a:solidFill>
                <a:srgbClr val="0000FF"/>
              </a:solidFill>
              <a:latin typeface="+mn-lt"/>
              <a:ea typeface="黑体" panose="02010609060101010101" pitchFamily="2" charset="-122"/>
            </a:endParaRPr>
          </a:p>
        </p:txBody>
      </p:sp>
      <p:sp>
        <p:nvSpPr>
          <p:cNvPr id="38917"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zh-CN" altLang="en-US" sz="3000" b="1" smtClean="0">
              <a:latin typeface="楷体" panose="02010609060101010101" pitchFamily="49" charset="-122"/>
              <a:ea typeface="楷体" panose="02010609060101010101" pitchFamily="49" charset="-122"/>
            </a:endParaRPr>
          </a:p>
        </p:txBody>
      </p:sp>
      <p:sp>
        <p:nvSpPr>
          <p:cNvPr id="38918" name="Rectangle 7"/>
          <p:cNvSpPr>
            <a:spLocks noChangeArrowheads="1"/>
          </p:cNvSpPr>
          <p:nvPr/>
        </p:nvSpPr>
        <p:spPr bwMode="auto">
          <a:xfrm>
            <a:off x="323850" y="1341438"/>
            <a:ext cx="42894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7.2.3 </a:t>
            </a:r>
            <a:r>
              <a:rPr kumimoji="0" lang="en-US" altLang="en-US" b="1">
                <a:solidFill>
                  <a:srgbClr val="FF0000"/>
                </a:solidFill>
                <a:latin typeface="楷体" panose="02010609060101010101" pitchFamily="49" charset="-122"/>
                <a:ea typeface="楷体" panose="02010609060101010101" pitchFamily="49" charset="-122"/>
              </a:rPr>
              <a:t>软件能力成熟度模型</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
        <p:nvSpPr>
          <p:cNvPr id="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P.165</a:t>
            </a:r>
            <a:endParaRPr lang="en-US" altLang="zh-CN" sz="2400" b="1">
              <a:solidFill>
                <a:schemeClr val="bg2"/>
              </a:solidFill>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9"/>
          <p:cNvSpPr>
            <a:spLocks noGrp="1" noChangeArrowheads="1"/>
          </p:cNvSpPr>
          <p:nvPr>
            <p:ph type="sldNum" sz="quarter" idx="10"/>
          </p:nvPr>
        </p:nvSpPr>
        <p:spPr>
          <a:noFill/>
        </p:spPr>
        <p:txBody>
          <a:bodyPr/>
          <a:lstStyle/>
          <a:p>
            <a:r>
              <a:rPr lang="zh-CN" altLang="en-GB" dirty="0" smtClean="0"/>
              <a:t>  </a:t>
            </a:r>
            <a:fld id="{09174642-0C5B-4766-B232-F4AA1F2AE60D}" type="slidenum">
              <a:rPr lang="zh-CN" altLang="en-GB" smtClean="0"/>
            </a:fld>
            <a:endParaRPr lang="en-US" altLang="zh-CN" dirty="0" smtClean="0"/>
          </a:p>
        </p:txBody>
      </p:sp>
      <p:sp>
        <p:nvSpPr>
          <p:cNvPr id="38915"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38916" name="Rectangle 5"/>
          <p:cNvSpPr>
            <a:spLocks noChangeArrowheads="1"/>
          </p:cNvSpPr>
          <p:nvPr/>
        </p:nvSpPr>
        <p:spPr bwMode="auto">
          <a:xfrm>
            <a:off x="71406" y="1883568"/>
            <a:ext cx="9072594" cy="4292600"/>
          </a:xfrm>
          <a:prstGeom prst="rect">
            <a:avLst/>
          </a:prstGeom>
          <a:noFill/>
          <a:ln w="9525" algn="ctr">
            <a:noFill/>
            <a:miter lim="800000"/>
          </a:ln>
        </p:spPr>
        <p:txBody>
          <a:bodyPr wrap="square" anchor="ctr">
            <a:spAutoFit/>
          </a:bodyPr>
          <a:lstStyle/>
          <a:p>
            <a:pPr algn="l">
              <a:spcBef>
                <a:spcPts val="600"/>
              </a:spcBef>
              <a:spcAft>
                <a:spcPts val="600"/>
              </a:spcAft>
            </a:pPr>
            <a:r>
              <a:rPr lang="en-US" sz="3200" b="1" smtClean="0">
                <a:solidFill>
                  <a:schemeClr val="bg2"/>
                </a:solidFill>
                <a:ea typeface="楷体" panose="02010609060101010101" pitchFamily="49" charset="-122"/>
                <a:cs typeface="Times New Roman" panose="02020603050405020304" pitchFamily="18" charset="0"/>
              </a:rPr>
              <a:t>2000</a:t>
            </a:r>
            <a:r>
              <a:rPr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年，</a:t>
            </a:r>
            <a:r>
              <a:rPr lang="en-US" sz="3200" b="1" smtClean="0">
                <a:solidFill>
                  <a:schemeClr val="bg2"/>
                </a:solidFill>
                <a:ea typeface="楷体" panose="02010609060101010101" pitchFamily="49" charset="-122"/>
                <a:cs typeface="Times New Roman" panose="02020603050405020304" pitchFamily="18" charset="0"/>
              </a:rPr>
              <a:t>SEI</a:t>
            </a:r>
            <a:r>
              <a:rPr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发布能力成熟度集成模型</a:t>
            </a:r>
            <a:r>
              <a:rPr lang="en-US" sz="3200" b="1" smtClean="0">
                <a:solidFill>
                  <a:schemeClr val="bg2"/>
                </a:solidFill>
                <a:ea typeface="楷体" panose="02010609060101010101" pitchFamily="49" charset="-122"/>
                <a:cs typeface="Times New Roman" panose="02020603050405020304" pitchFamily="18" charset="0"/>
              </a:rPr>
              <a:t>CMMI</a:t>
            </a:r>
            <a:endParaRPr 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600"/>
              </a:spcAft>
            </a:pPr>
            <a:r>
              <a:rPr lang="zh-CN" altLang="en-US" sz="3200" b="1" smtClean="0">
                <a:solidFill>
                  <a:schemeClr val="bg2"/>
                </a:solidFill>
                <a:ea typeface="楷体" panose="02010609060101010101" pitchFamily="49" charset="-122"/>
                <a:cs typeface="Times New Roman" panose="02020603050405020304" pitchFamily="18" charset="0"/>
              </a:rPr>
              <a:t>（</a:t>
            </a:r>
            <a:r>
              <a:rPr lang="en-US" b="1" smtClean="0">
                <a:solidFill>
                  <a:schemeClr val="bg2"/>
                </a:solidFill>
                <a:ea typeface="楷体" panose="02010609060101010101" pitchFamily="49" charset="-122"/>
                <a:cs typeface="Times New Roman" panose="02020603050405020304" pitchFamily="18" charset="0"/>
              </a:rPr>
              <a:t>Capability Maturity Model Integration</a:t>
            </a:r>
            <a:r>
              <a:rPr lang="zh-CN" altLang="en-US" sz="3200" b="1" smtClean="0">
                <a:solidFill>
                  <a:schemeClr val="bg2"/>
                </a:solidFill>
                <a:ea typeface="楷体" panose="02010609060101010101" pitchFamily="49" charset="-122"/>
                <a:cs typeface="Times New Roman" panose="02020603050405020304" pitchFamily="18" charset="0"/>
              </a:rPr>
              <a:t>）</a:t>
            </a:r>
            <a:r>
              <a:rPr lang="zh-CN" altLang="en-US" sz="3600" b="1" smtClean="0">
                <a:solidFill>
                  <a:schemeClr val="bg2"/>
                </a:solidFill>
                <a:ea typeface="楷体" panose="02010609060101010101" pitchFamily="49" charset="-122"/>
                <a:cs typeface="Times New Roman" panose="02020603050405020304" pitchFamily="18" charset="0"/>
              </a:rPr>
              <a:t>。</a:t>
            </a:r>
            <a:endParaRPr lang="en-US" altLang="zh-CN" sz="36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en-US" sz="3600" b="1" smtClean="0">
                <a:solidFill>
                  <a:schemeClr val="bg2"/>
                </a:solidFill>
                <a:ea typeface="楷体" panose="02010609060101010101" pitchFamily="49" charset="-122"/>
                <a:cs typeface="Times New Roman" panose="02020603050405020304" pitchFamily="18" charset="0"/>
              </a:rPr>
              <a:t>CMMI</a:t>
            </a:r>
            <a:r>
              <a:rPr lang="zh-CN" altLang="en-US" sz="3600" b="1" smtClean="0">
                <a:solidFill>
                  <a:schemeClr val="bg2"/>
                </a:solidFill>
                <a:latin typeface="楷体" panose="02010609060101010101" pitchFamily="49" charset="-122"/>
                <a:ea typeface="楷体" panose="02010609060101010101" pitchFamily="49" charset="-122"/>
                <a:cs typeface="楷体" panose="02010609060101010101" pitchFamily="49" charset="-122"/>
              </a:rPr>
              <a:t>不但包括了软件开发过程改进，还包含系统集成、软硬件采购等方面的过程改进内容。</a:t>
            </a:r>
            <a:endParaRPr lang="en-US" altLang="zh-CN" sz="36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en-US" sz="3600" b="1" smtClean="0">
                <a:solidFill>
                  <a:schemeClr val="bg2"/>
                </a:solidFill>
                <a:ea typeface="楷体" panose="02010609060101010101" pitchFamily="49" charset="-122"/>
                <a:cs typeface="Times New Roman" panose="02020603050405020304" pitchFamily="18" charset="0"/>
              </a:rPr>
              <a:t>CMMI</a:t>
            </a:r>
            <a:r>
              <a:rPr lang="zh-CN" altLang="en-US" sz="36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纠正了</a:t>
            </a:r>
            <a:r>
              <a:rPr lang="en-US" sz="3600" b="1" smtClean="0">
                <a:solidFill>
                  <a:schemeClr val="bg2"/>
                </a:solidFill>
                <a:ea typeface="楷体" panose="02010609060101010101" pitchFamily="49" charset="-122"/>
                <a:cs typeface="Times New Roman" panose="02020603050405020304" pitchFamily="18" charset="0"/>
              </a:rPr>
              <a:t>CMM</a:t>
            </a:r>
            <a:r>
              <a:rPr lang="zh-CN" altLang="en-US" sz="36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存在的一些缺点，使其更加适用企业的过程改进实施。</a:t>
            </a:r>
            <a:endParaRPr lang="zh-CN" altLang="en-US" sz="36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8917"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7.2 </a:t>
            </a:r>
            <a:r>
              <a:rPr kumimoji="0" lang="zh-CN" altLang="en-US" sz="3000" b="1" smtClean="0">
                <a:latin typeface="楷体" panose="02010609060101010101" pitchFamily="49" charset="-122"/>
                <a:ea typeface="楷体" panose="02010609060101010101" pitchFamily="49" charset="-122"/>
              </a:rPr>
              <a:t>质量管理方法与体系</a:t>
            </a:r>
            <a:endParaRPr kumimoji="0" lang="en-US" altLang="en-US" sz="3000" b="1">
              <a:latin typeface="楷体" panose="02010609060101010101" pitchFamily="49" charset="-122"/>
              <a:ea typeface="楷体" panose="02010609060101010101" pitchFamily="49" charset="-122"/>
            </a:endParaRPr>
          </a:p>
        </p:txBody>
      </p:sp>
      <p:sp>
        <p:nvSpPr>
          <p:cNvPr id="38918" name="Rectangle 7"/>
          <p:cNvSpPr>
            <a:spLocks noChangeArrowheads="1"/>
          </p:cNvSpPr>
          <p:nvPr/>
        </p:nvSpPr>
        <p:spPr bwMode="auto">
          <a:xfrm>
            <a:off x="323850" y="1341438"/>
            <a:ext cx="42894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7.2.3 </a:t>
            </a:r>
            <a:r>
              <a:rPr kumimoji="0" lang="en-US" altLang="en-US" b="1">
                <a:solidFill>
                  <a:srgbClr val="FF0000"/>
                </a:solidFill>
                <a:latin typeface="楷体" panose="02010609060101010101" pitchFamily="49" charset="-122"/>
                <a:ea typeface="楷体" panose="02010609060101010101" pitchFamily="49" charset="-122"/>
              </a:rPr>
              <a:t>软件能力成熟度模型</a:t>
            </a:r>
            <a:r>
              <a:rPr kumimoji="0" lang="en-US" altLang="en-US" b="1">
                <a:solidFill>
                  <a:schemeClr val="hlink"/>
                </a:solidFill>
                <a:ea typeface="楷体_GB2312" pitchFamily="49" charset="-122"/>
              </a:rPr>
              <a:t> </a:t>
            </a:r>
            <a:endParaRPr kumimoji="0" lang="en-US" altLang="en-US" b="1">
              <a:solidFill>
                <a:schemeClr val="hlink"/>
              </a:solidFill>
              <a:ea typeface="楷体_GB2312" pitchFamily="49" charset="-122"/>
            </a:endParaRPr>
          </a:p>
        </p:txBody>
      </p:sp>
      <p:sp>
        <p:nvSpPr>
          <p:cNvPr id="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P.165</a:t>
            </a:r>
            <a:endParaRPr lang="en-US" altLang="zh-CN" sz="2400" b="1">
              <a:solidFill>
                <a:schemeClr val="bg2"/>
              </a:solidFill>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1126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1126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pitchFamily="49" charset="-122"/>
                <a:ea typeface="楷体" panose="02010609060101010101" pitchFamily="49" charset="-122"/>
                <a:cs typeface="楷体" panose="02010609060101010101" pitchFamily="49" charset="-122"/>
              </a:rPr>
              <a:t>提   纲</a:t>
            </a:r>
            <a:endParaRPr lang="en-US" altLang="zh-CN" sz="4800" b="1" smtClean="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642941" y="1550150"/>
            <a:ext cx="7643835" cy="4184650"/>
          </a:xfrm>
          <a:prstGeom prst="rect">
            <a:avLst/>
          </a:prstGeom>
          <a:noFill/>
          <a:ln w="9525">
            <a:noFill/>
            <a:miter lim="800000"/>
          </a:ln>
        </p:spPr>
        <p:txBody>
          <a:bodyPr wrap="square">
            <a:spAutoFit/>
          </a:bodyPr>
          <a:lstStyle/>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质量管理概述</a:t>
            </a:r>
            <a:endParaRPr lang="en-US" altLang="en-US" sz="4800" b="1" dirty="0" err="1">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质量管理方法与体系</a:t>
            </a:r>
            <a:endParaRPr lang="en-US" altLang="en-US" sz="4800" b="1" dirty="0" err="1">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5400" b="1" smtClean="0">
                <a:solidFill>
                  <a:srgbClr val="FF0000"/>
                </a:solidFill>
                <a:latin typeface="楷体" panose="02010609060101010101" pitchFamily="49" charset="-122"/>
                <a:ea typeface="楷体" panose="02010609060101010101" pitchFamily="49" charset="-122"/>
              </a:rPr>
              <a:t>规划质量</a:t>
            </a:r>
            <a:r>
              <a:rPr lang="zh-CN" altLang="en-US" sz="5400" b="1" smtClean="0">
                <a:solidFill>
                  <a:srgbClr val="FF0000"/>
                </a:solidFill>
                <a:latin typeface="楷体" panose="02010609060101010101" pitchFamily="49" charset="-122"/>
                <a:ea typeface="楷体" panose="02010609060101010101" pitchFamily="49" charset="-122"/>
              </a:rPr>
              <a:t>管理</a:t>
            </a:r>
            <a:endParaRPr lang="en-US" altLang="en-US" sz="5400" b="1" dirty="0">
              <a:solidFill>
                <a:srgbClr val="FF0000"/>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zh-CN" altLang="en-US" sz="4800" b="1" smtClean="0">
                <a:solidFill>
                  <a:srgbClr val="0000FF"/>
                </a:solidFill>
                <a:latin typeface="楷体" panose="02010609060101010101" pitchFamily="49" charset="-122"/>
                <a:ea typeface="楷体" panose="02010609060101010101" pitchFamily="49" charset="-122"/>
              </a:rPr>
              <a:t>实施</a:t>
            </a:r>
            <a:r>
              <a:rPr lang="en-US" altLang="en-US" sz="4800" b="1" smtClean="0">
                <a:solidFill>
                  <a:srgbClr val="0000FF"/>
                </a:solidFill>
                <a:latin typeface="楷体" panose="02010609060101010101" pitchFamily="49" charset="-122"/>
                <a:ea typeface="楷体" panose="02010609060101010101" pitchFamily="49" charset="-122"/>
              </a:rPr>
              <a:t>质量保证</a:t>
            </a:r>
            <a:endParaRPr lang="en-US" altLang="en-US" sz="4800" b="1" dirty="0" smtClean="0">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控制项目质量</a:t>
            </a:r>
            <a:endParaRPr lang="en-US" altLang="en-US" sz="4800" b="1" dirty="0" smtClean="0">
              <a:solidFill>
                <a:srgbClr val="0000FF"/>
              </a:solidFill>
              <a:latin typeface="楷体" panose="02010609060101010101" pitchFamily="49" charset="-122"/>
              <a:ea typeface="楷体" panose="02010609060101010101" pitchFamily="49" charset="-122"/>
            </a:endParaRPr>
          </a:p>
        </p:txBody>
      </p:sp>
      <p:sp>
        <p:nvSpPr>
          <p:cNvPr id="8" name="Rectangle 9"/>
          <p:cNvSpPr>
            <a:spLocks noGrp="1" noChangeArrowheads="1"/>
          </p:cNvSpPr>
          <p:nvPr>
            <p:ph type="sldNum" sz="quarter" idx="10"/>
          </p:nvPr>
        </p:nvSpPr>
        <p:spPr>
          <a:xfrm>
            <a:off x="7813675" y="6553200"/>
            <a:ext cx="1295400" cy="260350"/>
          </a:xfrm>
          <a:noFill/>
        </p:spPr>
        <p:txBody>
          <a:bodyPr/>
          <a:lstStyle/>
          <a:p>
            <a:r>
              <a:rPr lang="zh-CN" altLang="en-GB" dirty="0" smtClean="0"/>
              <a:t>  </a:t>
            </a:r>
            <a:fld id="{31A84629-0BF0-41BE-B0BE-8D9C0EDC15A0}" type="slidenum">
              <a:rPr lang="zh-CN" altLang="en-GB" smtClean="0"/>
            </a:fld>
            <a:endParaRPr lang="en-US" altLang="zh-CN" dirty="0" smtClean="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9"/>
          <p:cNvSpPr>
            <a:spLocks noGrp="1" noChangeArrowheads="1"/>
          </p:cNvSpPr>
          <p:nvPr>
            <p:ph type="sldNum" sz="quarter" idx="10"/>
          </p:nvPr>
        </p:nvSpPr>
        <p:spPr>
          <a:noFill/>
        </p:spPr>
        <p:txBody>
          <a:bodyPr/>
          <a:lstStyle/>
          <a:p>
            <a:r>
              <a:rPr lang="zh-CN" altLang="en-GB" dirty="0" smtClean="0"/>
              <a:t>  </a:t>
            </a:r>
            <a:fld id="{7C5F9770-DA3E-44E3-A603-74C72DCBAB8F}" type="slidenum">
              <a:rPr lang="zh-CN" altLang="en-GB" smtClean="0"/>
            </a:fld>
            <a:endParaRPr lang="en-US" altLang="zh-CN" dirty="0" smtClean="0"/>
          </a:p>
        </p:txBody>
      </p:sp>
      <p:sp>
        <p:nvSpPr>
          <p:cNvPr id="4198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P.167</a:t>
            </a:r>
            <a:endParaRPr lang="en-US" altLang="zh-CN" sz="2400" b="1">
              <a:solidFill>
                <a:schemeClr val="bg2"/>
              </a:solidFill>
            </a:endParaRPr>
          </a:p>
        </p:txBody>
      </p:sp>
      <p:sp>
        <p:nvSpPr>
          <p:cNvPr id="4198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41989" name="Rectangle 5"/>
          <p:cNvSpPr>
            <a:spLocks noChangeArrowheads="1"/>
          </p:cNvSpPr>
          <p:nvPr/>
        </p:nvSpPr>
        <p:spPr bwMode="auto">
          <a:xfrm>
            <a:off x="971550" y="1912609"/>
            <a:ext cx="4321175" cy="3969385"/>
          </a:xfrm>
          <a:prstGeom prst="rect">
            <a:avLst/>
          </a:prstGeom>
          <a:noFill/>
          <a:ln w="9525" algn="ctr">
            <a:noFill/>
            <a:miter lim="800000"/>
          </a:ln>
        </p:spPr>
        <p:txBody>
          <a:bodyPr anchor="ctr">
            <a:spAutoFit/>
          </a:bodyPr>
          <a:lstStyle/>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事业环境因素</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组织过程资产</a:t>
            </a:r>
            <a:r>
              <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项目范围说明书</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项目产品说明书</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项目管理计划</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41990"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7.3</a:t>
            </a:r>
            <a:r>
              <a:rPr kumimoji="0" lang="zh-CN" altLang="en-US" sz="3000" b="1" smtClean="0">
                <a:latin typeface="楷体" panose="02010609060101010101" pitchFamily="49" charset="-122"/>
                <a:ea typeface="楷体" panose="02010609060101010101" pitchFamily="49" charset="-122"/>
              </a:rPr>
              <a:t>规划质量管理</a:t>
            </a:r>
            <a:endParaRPr kumimoji="0" lang="zh-CN" altLang="en-US" sz="3000" b="1" smtClean="0">
              <a:latin typeface="楷体" panose="02010609060101010101" pitchFamily="49" charset="-122"/>
              <a:ea typeface="楷体" panose="02010609060101010101" pitchFamily="49" charset="-122"/>
            </a:endParaRPr>
          </a:p>
        </p:txBody>
      </p:sp>
      <p:sp>
        <p:nvSpPr>
          <p:cNvPr id="41991" name="Rectangle 7"/>
          <p:cNvSpPr>
            <a:spLocks noChangeArrowheads="1"/>
          </p:cNvSpPr>
          <p:nvPr/>
        </p:nvSpPr>
        <p:spPr bwMode="auto">
          <a:xfrm>
            <a:off x="323850" y="1341438"/>
            <a:ext cx="330771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7.3.1 </a:t>
            </a:r>
            <a:r>
              <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rPr>
              <a:t>质量规划依据 </a:t>
            </a:r>
            <a:endPar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9"/>
          <p:cNvSpPr>
            <a:spLocks noGrp="1" noChangeArrowheads="1"/>
          </p:cNvSpPr>
          <p:nvPr>
            <p:ph type="sldNum" sz="quarter" idx="10"/>
          </p:nvPr>
        </p:nvSpPr>
        <p:spPr>
          <a:noFill/>
        </p:spPr>
        <p:txBody>
          <a:bodyPr/>
          <a:lstStyle/>
          <a:p>
            <a:r>
              <a:rPr lang="zh-CN" altLang="en-GB" dirty="0" smtClean="0"/>
              <a:t>  </a:t>
            </a:r>
            <a:fld id="{7EC705EF-13D3-47AD-8C63-683FC43500EF}" type="slidenum">
              <a:rPr lang="zh-CN" altLang="en-GB" smtClean="0"/>
            </a:fld>
            <a:endParaRPr lang="en-US" altLang="zh-CN" dirty="0" smtClean="0"/>
          </a:p>
        </p:txBody>
      </p:sp>
      <p:sp>
        <p:nvSpPr>
          <p:cNvPr id="4301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P.167</a:t>
            </a:r>
            <a:endParaRPr lang="en-US" altLang="zh-CN" sz="2400" b="1">
              <a:solidFill>
                <a:schemeClr val="bg2"/>
              </a:solidFill>
            </a:endParaRPr>
          </a:p>
        </p:txBody>
      </p:sp>
      <p:sp>
        <p:nvSpPr>
          <p:cNvPr id="43012"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43013" name="Rectangle 5"/>
          <p:cNvSpPr>
            <a:spLocks noChangeArrowheads="1"/>
          </p:cNvSpPr>
          <p:nvPr/>
        </p:nvSpPr>
        <p:spPr bwMode="auto">
          <a:xfrm>
            <a:off x="1116013" y="1923733"/>
            <a:ext cx="4968875" cy="3969385"/>
          </a:xfrm>
          <a:prstGeom prst="rect">
            <a:avLst/>
          </a:prstGeom>
          <a:noFill/>
          <a:ln w="9525" algn="ctr">
            <a:noFill/>
            <a:miter lim="800000"/>
          </a:ln>
        </p:spPr>
        <p:txBody>
          <a:bodyPr anchor="ctr">
            <a:spAutoFit/>
          </a:bodyPr>
          <a:lstStyle/>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成本效益分析法</a:t>
            </a:r>
            <a:r>
              <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质量标杆法</a:t>
            </a:r>
            <a:r>
              <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流程图法</a:t>
            </a:r>
            <a:r>
              <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实验设计法</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其他质量规划工具</a:t>
            </a:r>
            <a:r>
              <a:rPr kumimoji="0" lang="zh-CN" altLang="en-US">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43014"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7.3</a:t>
            </a:r>
            <a:r>
              <a:rPr kumimoji="0" lang="zh-CN" altLang="en-US" sz="3000" b="1" smtClean="0">
                <a:latin typeface="楷体" panose="02010609060101010101" pitchFamily="49" charset="-122"/>
                <a:ea typeface="楷体" panose="02010609060101010101" pitchFamily="49" charset="-122"/>
              </a:rPr>
              <a:t>规划质量管理</a:t>
            </a:r>
            <a:endParaRPr kumimoji="0" lang="zh-CN" altLang="en-US" sz="3000" b="1" smtClean="0">
              <a:latin typeface="楷体" panose="02010609060101010101" pitchFamily="49" charset="-122"/>
              <a:ea typeface="楷体" panose="02010609060101010101" pitchFamily="49" charset="-122"/>
            </a:endParaRPr>
          </a:p>
        </p:txBody>
      </p:sp>
      <p:sp>
        <p:nvSpPr>
          <p:cNvPr id="43015" name="Rectangle 7"/>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7.3.2 </a:t>
            </a:r>
            <a:r>
              <a:rPr kumimoji="0" lang="en-US" altLang="en-US" b="1">
                <a:solidFill>
                  <a:srgbClr val="FF0000"/>
                </a:solidFill>
                <a:latin typeface="楷体" panose="02010609060101010101" pitchFamily="49" charset="-122"/>
                <a:ea typeface="楷体" panose="02010609060101010101" pitchFamily="49" charset="-122"/>
              </a:rPr>
              <a:t>质量规划工具与技术</a:t>
            </a:r>
            <a:endParaRPr kumimoji="0" lang="en-US" altLang="en-US" b="1">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9"/>
          <p:cNvSpPr>
            <a:spLocks noGrp="1" noChangeArrowheads="1"/>
          </p:cNvSpPr>
          <p:nvPr>
            <p:ph type="sldNum" sz="quarter" idx="10"/>
          </p:nvPr>
        </p:nvSpPr>
        <p:spPr>
          <a:noFill/>
        </p:spPr>
        <p:txBody>
          <a:bodyPr/>
          <a:lstStyle/>
          <a:p>
            <a:r>
              <a:rPr lang="zh-CN" altLang="en-GB" dirty="0" smtClean="0"/>
              <a:t>  </a:t>
            </a:r>
            <a:fld id="{D55CCACB-FA2C-448B-90C0-3C4C52B23003}" type="slidenum">
              <a:rPr lang="zh-CN" altLang="en-GB" smtClean="0"/>
            </a:fld>
            <a:endParaRPr lang="en-US" altLang="zh-CN" dirty="0" smtClean="0"/>
          </a:p>
        </p:txBody>
      </p:sp>
      <p:sp>
        <p:nvSpPr>
          <p:cNvPr id="4403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P.166</a:t>
            </a:r>
            <a:endParaRPr lang="en-US" altLang="zh-CN" sz="2400" b="1">
              <a:solidFill>
                <a:schemeClr val="bg2"/>
              </a:solidFill>
            </a:endParaRPr>
          </a:p>
        </p:txBody>
      </p:sp>
      <p:sp>
        <p:nvSpPr>
          <p:cNvPr id="44036"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44037" name="Rectangle 5"/>
          <p:cNvSpPr>
            <a:spLocks noChangeArrowheads="1"/>
          </p:cNvSpPr>
          <p:nvPr/>
        </p:nvSpPr>
        <p:spPr bwMode="auto">
          <a:xfrm>
            <a:off x="900113" y="1959134"/>
            <a:ext cx="5761037" cy="3138170"/>
          </a:xfrm>
          <a:prstGeom prst="rect">
            <a:avLst/>
          </a:prstGeom>
          <a:noFill/>
          <a:ln w="9525" algn="ctr">
            <a:noFill/>
            <a:miter lim="800000"/>
          </a:ln>
        </p:spPr>
        <p:txBody>
          <a:bodyPr anchor="ctr">
            <a:spAutoFit/>
          </a:bodyPr>
          <a:lstStyle/>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质量管理计划</a:t>
            </a:r>
            <a:r>
              <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质量测试指标</a:t>
            </a:r>
            <a:r>
              <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质量核对表</a:t>
            </a:r>
            <a:r>
              <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742950" indent="-742950" algn="l">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可用于其它管理的信息</a:t>
            </a:r>
            <a:r>
              <a:rPr kumimoji="0" lang="zh-CN" altLang="en-US" sz="360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44038"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7.3</a:t>
            </a:r>
            <a:r>
              <a:rPr kumimoji="0" lang="zh-CN" altLang="en-US" sz="3000" b="1" smtClean="0">
                <a:latin typeface="楷体" panose="02010609060101010101" pitchFamily="49" charset="-122"/>
                <a:ea typeface="楷体" panose="02010609060101010101" pitchFamily="49" charset="-122"/>
              </a:rPr>
              <a:t>规划质量管理</a:t>
            </a:r>
            <a:endParaRPr kumimoji="0" lang="zh-CN" altLang="en-US" sz="3000" b="1" smtClean="0">
              <a:latin typeface="楷体" panose="02010609060101010101" pitchFamily="49" charset="-122"/>
              <a:ea typeface="楷体" panose="02010609060101010101" pitchFamily="49" charset="-122"/>
            </a:endParaRPr>
          </a:p>
        </p:txBody>
      </p:sp>
      <p:sp>
        <p:nvSpPr>
          <p:cNvPr id="44039" name="Rectangle 7"/>
          <p:cNvSpPr>
            <a:spLocks noChangeArrowheads="1"/>
          </p:cNvSpPr>
          <p:nvPr/>
        </p:nvSpPr>
        <p:spPr bwMode="auto">
          <a:xfrm>
            <a:off x="323850" y="1341438"/>
            <a:ext cx="330771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7.3.3 </a:t>
            </a:r>
            <a:r>
              <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rPr>
              <a:t>质量规划成果 </a:t>
            </a:r>
            <a:endPar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1126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1126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smtClean="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642941" y="1550150"/>
            <a:ext cx="7643835" cy="4184650"/>
          </a:xfrm>
          <a:prstGeom prst="rect">
            <a:avLst/>
          </a:prstGeom>
          <a:noFill/>
          <a:ln w="9525">
            <a:noFill/>
            <a:miter lim="800000"/>
          </a:ln>
        </p:spPr>
        <p:txBody>
          <a:bodyPr wrap="square">
            <a:spAutoFit/>
          </a:bodyPr>
          <a:lstStyle/>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chemeClr val="bg1"/>
                </a:solidFill>
                <a:latin typeface="楷体" panose="02010609060101010101" pitchFamily="49" charset="-122"/>
                <a:ea typeface="楷体" panose="02010609060101010101" pitchFamily="49" charset="-122"/>
              </a:rPr>
              <a:t>质量管理概述</a:t>
            </a:r>
            <a:endParaRPr lang="en-US" altLang="en-US" sz="4800" b="1" dirty="0" err="1">
              <a:solidFill>
                <a:schemeClr val="bg1"/>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chemeClr val="bg1"/>
                </a:solidFill>
                <a:latin typeface="楷体" panose="02010609060101010101" pitchFamily="49" charset="-122"/>
                <a:ea typeface="楷体" panose="02010609060101010101" pitchFamily="49" charset="-122"/>
              </a:rPr>
              <a:t>质量管理方法与体系</a:t>
            </a:r>
            <a:endParaRPr lang="en-US" altLang="en-US" sz="4800" b="1" dirty="0" err="1">
              <a:solidFill>
                <a:schemeClr val="bg1"/>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chemeClr val="bg1"/>
                </a:solidFill>
                <a:latin typeface="楷体" panose="02010609060101010101" pitchFamily="49" charset="-122"/>
                <a:ea typeface="楷体" panose="02010609060101010101" pitchFamily="49" charset="-122"/>
              </a:rPr>
              <a:t>规划质量</a:t>
            </a:r>
            <a:r>
              <a:rPr lang="zh-CN" altLang="en-US" sz="4800" b="1" smtClean="0">
                <a:solidFill>
                  <a:schemeClr val="bg1"/>
                </a:solidFill>
                <a:latin typeface="楷体" panose="02010609060101010101" pitchFamily="49" charset="-122"/>
                <a:ea typeface="楷体" panose="02010609060101010101" pitchFamily="49" charset="-122"/>
              </a:rPr>
              <a:t>管理</a:t>
            </a:r>
            <a:endParaRPr lang="en-US" altLang="en-US" sz="4800" b="1" dirty="0">
              <a:solidFill>
                <a:schemeClr val="bg1"/>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zh-CN" altLang="en-US" sz="5400" b="1" smtClean="0">
                <a:solidFill>
                  <a:srgbClr val="FF0000"/>
                </a:solidFill>
                <a:latin typeface="楷体" panose="02010609060101010101" pitchFamily="49" charset="-122"/>
                <a:ea typeface="楷体" panose="02010609060101010101" pitchFamily="49" charset="-122"/>
              </a:rPr>
              <a:t>实施</a:t>
            </a:r>
            <a:r>
              <a:rPr lang="en-US" altLang="en-US" sz="5400" b="1" smtClean="0">
                <a:solidFill>
                  <a:srgbClr val="FF0000"/>
                </a:solidFill>
                <a:latin typeface="楷体" panose="02010609060101010101" pitchFamily="49" charset="-122"/>
                <a:ea typeface="楷体" panose="02010609060101010101" pitchFamily="49" charset="-122"/>
              </a:rPr>
              <a:t>质量保证</a:t>
            </a:r>
            <a:endParaRPr lang="en-US" altLang="en-US" sz="5400" b="1" dirty="0" smtClean="0">
              <a:solidFill>
                <a:srgbClr val="FF0000"/>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控制项目质量</a:t>
            </a:r>
            <a:endParaRPr lang="en-US" altLang="en-US" sz="4800" b="1" dirty="0" smtClean="0">
              <a:solidFill>
                <a:srgbClr val="0000FF"/>
              </a:solidFill>
              <a:latin typeface="楷体" panose="02010609060101010101" pitchFamily="49" charset="-122"/>
              <a:ea typeface="楷体" panose="02010609060101010101" pitchFamily="49" charset="-122"/>
            </a:endParaRPr>
          </a:p>
        </p:txBody>
      </p:sp>
      <p:sp>
        <p:nvSpPr>
          <p:cNvPr id="8" name="Rectangle 9"/>
          <p:cNvSpPr>
            <a:spLocks noGrp="1" noChangeArrowheads="1"/>
          </p:cNvSpPr>
          <p:nvPr>
            <p:ph type="sldNum" sz="quarter" idx="10"/>
          </p:nvPr>
        </p:nvSpPr>
        <p:spPr>
          <a:xfrm>
            <a:off x="7813675" y="6553200"/>
            <a:ext cx="1295400" cy="260350"/>
          </a:xfrm>
          <a:noFill/>
        </p:spPr>
        <p:txBody>
          <a:bodyPr/>
          <a:lstStyle/>
          <a:p>
            <a:r>
              <a:rPr lang="zh-CN" altLang="en-GB" dirty="0" smtClean="0"/>
              <a:t>  </a:t>
            </a:r>
            <a:fld id="{31A84629-0BF0-41BE-B0BE-8D9C0EDC15A0}" type="slidenum">
              <a:rPr lang="zh-CN" altLang="en-GB" smtClean="0"/>
            </a:fld>
            <a:endParaRPr lang="en-US" altLang="zh-CN" dirty="0" smtClean="0"/>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9"/>
          <p:cNvSpPr>
            <a:spLocks noGrp="1" noChangeArrowheads="1"/>
          </p:cNvSpPr>
          <p:nvPr>
            <p:ph type="sldNum" sz="quarter" idx="10"/>
          </p:nvPr>
        </p:nvSpPr>
        <p:spPr>
          <a:noFill/>
        </p:spPr>
        <p:txBody>
          <a:bodyPr/>
          <a:lstStyle/>
          <a:p>
            <a:r>
              <a:rPr lang="zh-CN" altLang="en-GB" dirty="0" smtClean="0"/>
              <a:t>  </a:t>
            </a:r>
            <a:fld id="{4C7171BE-AB15-4154-BFDC-572CCDD0815A}" type="slidenum">
              <a:rPr lang="zh-CN" altLang="en-GB" smtClean="0"/>
            </a:fld>
            <a:endParaRPr lang="en-US" altLang="zh-CN" dirty="0" smtClean="0"/>
          </a:p>
        </p:txBody>
      </p:sp>
      <p:sp>
        <p:nvSpPr>
          <p:cNvPr id="4505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P.167</a:t>
            </a:r>
            <a:endParaRPr lang="en-US" altLang="zh-CN" sz="2400" b="1">
              <a:solidFill>
                <a:schemeClr val="bg2"/>
              </a:solidFill>
            </a:endParaRPr>
          </a:p>
        </p:txBody>
      </p:sp>
      <p:sp>
        <p:nvSpPr>
          <p:cNvPr id="45060"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45061" name="Rectangle 5"/>
          <p:cNvSpPr>
            <a:spLocks noChangeArrowheads="1"/>
          </p:cNvSpPr>
          <p:nvPr/>
        </p:nvSpPr>
        <p:spPr bwMode="auto">
          <a:xfrm>
            <a:off x="214282" y="1357804"/>
            <a:ext cx="8642350" cy="4831080"/>
          </a:xfrm>
          <a:prstGeom prst="rect">
            <a:avLst/>
          </a:prstGeom>
          <a:noFill/>
          <a:ln w="9525" algn="ctr">
            <a:noFill/>
            <a:miter lim="800000"/>
          </a:ln>
        </p:spPr>
        <p:txBody>
          <a:bodyPr anchor="ctr">
            <a:spAutoFit/>
          </a:bodyPr>
          <a:lstStyle/>
          <a:p>
            <a:pPr algn="l">
              <a:spcBef>
                <a:spcPts val="600"/>
              </a:spcBef>
              <a:spcAft>
                <a:spcPts val="600"/>
              </a:spcAft>
              <a:buClr>
                <a:schemeClr val="hlink"/>
              </a:buClr>
            </a:pPr>
            <a:r>
              <a:rPr lang="zh-CN" altLang="en-US" sz="3200" b="1" smtClean="0">
                <a:solidFill>
                  <a:schemeClr val="bg2"/>
                </a:solidFill>
                <a:latin typeface="楷体" panose="02010609060101010101" pitchFamily="49" charset="-122"/>
                <a:ea typeface="楷体" panose="02010609060101010101" pitchFamily="49" charset="-122"/>
              </a:rPr>
              <a:t>实施质量保证是审计质量要求和质量控制测试结果，确保采用合理的质量标准和操作性定义的过程。</a:t>
            </a:r>
            <a:endParaRPr lang="en-US" altLang="zh-CN" sz="3200" b="1"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lang="zh-CN" altLang="en-US" sz="3200" b="1" smtClean="0">
                <a:solidFill>
                  <a:schemeClr val="bg2"/>
                </a:solidFill>
                <a:latin typeface="楷体" panose="02010609060101010101" pitchFamily="49" charset="-122"/>
                <a:ea typeface="楷体" panose="02010609060101010101" pitchFamily="49" charset="-122"/>
              </a:rPr>
              <a:t>质量保证往往由质量保证部或组织中与此名称的单位提供，项目管理团队、项目经理、客户和项目利益相关人员都可以通过项目质量保证获得支持。</a:t>
            </a:r>
            <a:endParaRPr lang="en-US" altLang="zh-CN" sz="3200" b="1"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lang="zh-CN" altLang="en-US" sz="3200" b="1" smtClean="0">
                <a:solidFill>
                  <a:schemeClr val="bg1"/>
                </a:solidFill>
                <a:latin typeface="楷体" panose="02010609060101010101" pitchFamily="49" charset="-122"/>
                <a:ea typeface="楷体" panose="02010609060101010101" pitchFamily="49" charset="-122"/>
              </a:rPr>
              <a:t>质量保证的作用是从外部向质量控制系统施加影响与压力，促使质量管理活动更有效地进行。</a:t>
            </a:r>
            <a:endParaRPr kumimoji="0" lang="zh-CN" altLang="en-US" sz="3200" b="1" u="sng" smtClean="0">
              <a:solidFill>
                <a:schemeClr val="bg1"/>
              </a:solidFill>
              <a:latin typeface="楷体" panose="02010609060101010101" pitchFamily="49" charset="-122"/>
              <a:ea typeface="楷体" panose="02010609060101010101" pitchFamily="49" charset="-122"/>
            </a:endParaRPr>
          </a:p>
        </p:txBody>
      </p:sp>
      <p:sp>
        <p:nvSpPr>
          <p:cNvPr id="45062"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7.4 </a:t>
            </a:r>
            <a:r>
              <a:rPr kumimoji="0" lang="en-US" altLang="en-US" sz="3000" b="1">
                <a:latin typeface="楷体" panose="02010609060101010101" pitchFamily="49" charset="-122"/>
                <a:ea typeface="楷体" panose="02010609060101010101" pitchFamily="49" charset="-122"/>
              </a:rPr>
              <a:t>项目质量保证</a:t>
            </a:r>
            <a:endParaRPr kumimoji="0" lang="en-US" altLang="en-US" sz="3000" b="1">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9"/>
          <p:cNvSpPr>
            <a:spLocks noGrp="1" noChangeArrowheads="1"/>
          </p:cNvSpPr>
          <p:nvPr>
            <p:ph type="sldNum" sz="quarter" idx="10"/>
          </p:nvPr>
        </p:nvSpPr>
        <p:spPr>
          <a:noFill/>
        </p:spPr>
        <p:txBody>
          <a:bodyPr/>
          <a:lstStyle/>
          <a:p>
            <a:r>
              <a:rPr lang="zh-CN" altLang="en-GB" dirty="0" smtClean="0"/>
              <a:t>  </a:t>
            </a:r>
            <a:fld id="{22BDEAB4-3AA9-41AB-BDBB-AB1039F30C96}" type="slidenum">
              <a:rPr lang="zh-CN" altLang="en-GB" smtClean="0"/>
            </a:fld>
            <a:endParaRPr lang="en-US" altLang="zh-CN" dirty="0" smtClean="0"/>
          </a:p>
        </p:txBody>
      </p:sp>
      <p:sp>
        <p:nvSpPr>
          <p:cNvPr id="4608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P.167</a:t>
            </a:r>
            <a:endParaRPr lang="en-US" altLang="zh-CN" sz="2400" b="1">
              <a:solidFill>
                <a:schemeClr val="bg2"/>
              </a:solidFill>
            </a:endParaRPr>
          </a:p>
        </p:txBody>
      </p:sp>
      <p:sp>
        <p:nvSpPr>
          <p:cNvPr id="4608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46085" name="Rectangle 5"/>
          <p:cNvSpPr>
            <a:spLocks noChangeArrowheads="1"/>
          </p:cNvSpPr>
          <p:nvPr/>
        </p:nvSpPr>
        <p:spPr bwMode="auto">
          <a:xfrm>
            <a:off x="250825" y="1886466"/>
            <a:ext cx="8569325" cy="4307840"/>
          </a:xfrm>
          <a:prstGeom prst="rect">
            <a:avLst/>
          </a:prstGeom>
          <a:noFill/>
          <a:ln w="9525" algn="ctr">
            <a:noFill/>
            <a:miter lim="800000"/>
          </a:ln>
        </p:spPr>
        <p:txBody>
          <a:bodyPr anchor="ctr">
            <a:spAutoFit/>
          </a:bodyPr>
          <a:lstStyle/>
          <a:p>
            <a:pPr algn="l">
              <a:spcBef>
                <a:spcPts val="600"/>
              </a:spcBef>
              <a:spcAft>
                <a:spcPts val="600"/>
              </a:spcAft>
              <a:buClr>
                <a:schemeClr val="hlink"/>
              </a:buClr>
            </a:pPr>
            <a:r>
              <a:rPr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“质量保证”与“保证质量”有较大区别，它具有特殊的涵义。质量保证的内涵已不是单纯地为了保证质量，而是以保证质量为基础，达到为用户提供“信任”的基本目的。</a:t>
            </a:r>
            <a:endParaRPr lang="en-US" altLang="zh-CN" sz="32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chemeClr val="hlink"/>
              </a:buClr>
            </a:pPr>
            <a:r>
              <a:rPr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保证满足质量要求是质量控制的任务，就项目而言，</a:t>
            </a:r>
            <a:r>
              <a:rPr lang="zh-CN" altLang="en-US" sz="3600" b="1" smtClean="0">
                <a:solidFill>
                  <a:srgbClr val="FF0000"/>
                </a:solidFill>
                <a:latin typeface="楷体" panose="02010609060101010101" pitchFamily="49" charset="-122"/>
                <a:ea typeface="楷体" panose="02010609060101010101" pitchFamily="49" charset="-122"/>
                <a:cs typeface="楷体" panose="02010609060101010101" pitchFamily="49" charset="-122"/>
              </a:rPr>
              <a:t>即使</a:t>
            </a:r>
            <a:r>
              <a:rPr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用户不提出质量保证的要求，项目实施者</a:t>
            </a:r>
            <a:r>
              <a:rPr lang="zh-CN" altLang="en-US" sz="3600" b="1" smtClean="0">
                <a:solidFill>
                  <a:srgbClr val="FF0000"/>
                </a:solidFill>
                <a:latin typeface="楷体" panose="02010609060101010101" pitchFamily="49" charset="-122"/>
                <a:ea typeface="楷体" panose="02010609060101010101" pitchFamily="49" charset="-122"/>
                <a:cs typeface="楷体" panose="02010609060101010101" pitchFamily="49" charset="-122"/>
              </a:rPr>
              <a:t>仍应</a:t>
            </a:r>
            <a:r>
              <a:rPr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进行质量控制，以保证项目的质量满足用户的要求。</a:t>
            </a:r>
            <a:endPar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46086"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7.4 </a:t>
            </a:r>
            <a:r>
              <a:rPr kumimoji="0" lang="en-US" altLang="en-US" sz="3000" b="1">
                <a:latin typeface="楷体" panose="02010609060101010101" pitchFamily="49" charset="-122"/>
                <a:ea typeface="楷体" panose="02010609060101010101" pitchFamily="49" charset="-122"/>
              </a:rPr>
              <a:t>项目质量保证</a:t>
            </a:r>
            <a:endParaRPr kumimoji="0" lang="en-US" altLang="en-US" sz="3000" b="1">
              <a:latin typeface="楷体" panose="02010609060101010101" pitchFamily="49" charset="-122"/>
              <a:ea typeface="楷体" panose="02010609060101010101" pitchFamily="49" charset="-122"/>
            </a:endParaRPr>
          </a:p>
        </p:txBody>
      </p:sp>
      <p:sp>
        <p:nvSpPr>
          <p:cNvPr id="46087" name="Rectangle 7"/>
          <p:cNvSpPr>
            <a:spLocks noChangeArrowheads="1"/>
          </p:cNvSpPr>
          <p:nvPr/>
        </p:nvSpPr>
        <p:spPr bwMode="auto">
          <a:xfrm>
            <a:off x="323850" y="1341438"/>
            <a:ext cx="357441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7.4.1 </a:t>
            </a:r>
            <a:r>
              <a:rPr kumimoji="0" lang="en-US" altLang="en-US" b="1">
                <a:solidFill>
                  <a:srgbClr val="FF0000"/>
                </a:solidFill>
                <a:latin typeface="楷体" panose="02010609060101010101" pitchFamily="49" charset="-122"/>
                <a:ea typeface="楷体" panose="02010609060101010101" pitchFamily="49" charset="-122"/>
              </a:rPr>
              <a:t>质量保证的意义</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9"/>
          <p:cNvSpPr>
            <a:spLocks noGrp="1" noChangeArrowheads="1"/>
          </p:cNvSpPr>
          <p:nvPr>
            <p:ph type="sldNum" sz="quarter" idx="10"/>
          </p:nvPr>
        </p:nvSpPr>
        <p:spPr>
          <a:noFill/>
        </p:spPr>
        <p:txBody>
          <a:bodyPr/>
          <a:lstStyle/>
          <a:p>
            <a:r>
              <a:rPr lang="zh-CN" altLang="en-GB" dirty="0" smtClean="0"/>
              <a:t>  </a:t>
            </a:r>
            <a:fld id="{22BDEAB4-3AA9-41AB-BDBB-AB1039F30C96}" type="slidenum">
              <a:rPr lang="zh-CN" altLang="en-GB" smtClean="0"/>
            </a:fld>
            <a:endParaRPr lang="en-US" altLang="zh-CN" dirty="0" smtClean="0"/>
          </a:p>
        </p:txBody>
      </p:sp>
      <p:sp>
        <p:nvSpPr>
          <p:cNvPr id="4608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P.168</a:t>
            </a:r>
            <a:endParaRPr lang="en-US" altLang="zh-CN" sz="2400" b="1">
              <a:solidFill>
                <a:schemeClr val="bg2"/>
              </a:solidFill>
            </a:endParaRPr>
          </a:p>
        </p:txBody>
      </p:sp>
      <p:sp>
        <p:nvSpPr>
          <p:cNvPr id="4608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46085" name="Rectangle 5"/>
          <p:cNvSpPr>
            <a:spLocks noChangeArrowheads="1"/>
          </p:cNvSpPr>
          <p:nvPr/>
        </p:nvSpPr>
        <p:spPr bwMode="auto">
          <a:xfrm>
            <a:off x="107981" y="1857791"/>
            <a:ext cx="8893175" cy="4092575"/>
          </a:xfrm>
          <a:prstGeom prst="rect">
            <a:avLst/>
          </a:prstGeom>
          <a:noFill/>
          <a:ln w="9525" algn="ctr">
            <a:noFill/>
            <a:miter lim="800000"/>
          </a:ln>
        </p:spPr>
        <p:txBody>
          <a:bodyPr wrap="square" anchor="ctr">
            <a:spAutoFit/>
          </a:bodyPr>
          <a:lstStyle/>
          <a:p>
            <a:pPr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如果说项目质量控制强调的是项目交付成果的质量，则</a:t>
            </a:r>
            <a:r>
              <a:rPr lang="zh-CN" altLang="en-US" sz="3200" b="1"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项目质量保证强调的是项目实施过程的质量。</a:t>
            </a:r>
            <a:endParaRPr lang="en-US" altLang="zh-CN" b="1"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要使用户能“信任”，项目实施者应加强质量管理，完善质量体系，确保项目质量计划的执行与实现，防止缺陷的发生。</a:t>
            </a:r>
            <a:endParaRPr lang="en-US" altLang="zh-CN"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200" b="1" smtClean="0">
                <a:solidFill>
                  <a:srgbClr val="0000FF"/>
                </a:solidFill>
                <a:latin typeface="楷体" panose="02010609060101010101" pitchFamily="49" charset="-122"/>
                <a:ea typeface="楷体" panose="02010609060101010101" pitchFamily="49" charset="-122"/>
                <a:cs typeface="楷体" panose="02010609060101010101" pitchFamily="49" charset="-122"/>
              </a:rPr>
              <a:t>质量保证的另一个目标是不断地进行质量改进。质量保证包括与满足一个项目相关的质量标准有关的所有活动。</a:t>
            </a:r>
            <a:endParaRPr lang="zh-CN" altLang="en-US" sz="3200" b="1"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46086"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7.4 </a:t>
            </a:r>
            <a:r>
              <a:rPr kumimoji="0" lang="en-US" altLang="en-US" sz="3000" b="1">
                <a:latin typeface="楷体" panose="02010609060101010101" pitchFamily="49" charset="-122"/>
                <a:ea typeface="楷体" panose="02010609060101010101" pitchFamily="49" charset="-122"/>
              </a:rPr>
              <a:t>项目质量保证</a:t>
            </a:r>
            <a:endParaRPr kumimoji="0" lang="en-US" altLang="en-US" sz="3000" b="1">
              <a:latin typeface="楷体" panose="02010609060101010101" pitchFamily="49" charset="-122"/>
              <a:ea typeface="楷体" panose="02010609060101010101" pitchFamily="49" charset="-122"/>
            </a:endParaRPr>
          </a:p>
        </p:txBody>
      </p:sp>
      <p:sp>
        <p:nvSpPr>
          <p:cNvPr id="46087" name="Rectangle 7"/>
          <p:cNvSpPr>
            <a:spLocks noChangeArrowheads="1"/>
          </p:cNvSpPr>
          <p:nvPr/>
        </p:nvSpPr>
        <p:spPr bwMode="auto">
          <a:xfrm>
            <a:off x="323850" y="1341438"/>
            <a:ext cx="357441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7.4.1 </a:t>
            </a:r>
            <a:r>
              <a:rPr kumimoji="0" lang="en-US" altLang="en-US" b="1">
                <a:solidFill>
                  <a:srgbClr val="FF0000"/>
                </a:solidFill>
                <a:latin typeface="楷体" panose="02010609060101010101" pitchFamily="49" charset="-122"/>
                <a:ea typeface="楷体" panose="02010609060101010101" pitchFamily="49" charset="-122"/>
              </a:rPr>
              <a:t>质量保证的意义</a:t>
            </a:r>
            <a:r>
              <a:rPr kumimoji="0" lang="en-US" altLang="en-US" b="1">
                <a:solidFill>
                  <a:srgbClr val="FF0000"/>
                </a:solidFill>
                <a:ea typeface="楷体_GB2312" pitchFamily="49" charset="-122"/>
              </a:rPr>
              <a:t> </a:t>
            </a:r>
            <a:endParaRPr kumimoji="0" lang="en-US" altLang="en-US" b="1">
              <a:solidFill>
                <a:srgbClr val="FF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9"/>
          <p:cNvSpPr>
            <a:spLocks noGrp="1" noChangeArrowheads="1"/>
          </p:cNvSpPr>
          <p:nvPr>
            <p:ph type="sldNum" sz="quarter" idx="10"/>
          </p:nvPr>
        </p:nvSpPr>
        <p:spPr>
          <a:noFill/>
        </p:spPr>
        <p:txBody>
          <a:bodyPr/>
          <a:lstStyle/>
          <a:p>
            <a:r>
              <a:rPr lang="zh-CN" altLang="en-GB" dirty="0" smtClean="0"/>
              <a:t>  </a:t>
            </a:r>
            <a:fld id="{63011D95-7665-48F2-842D-DC96DF60913C}" type="slidenum">
              <a:rPr lang="zh-CN" altLang="en-GB" smtClean="0"/>
            </a:fld>
            <a:endParaRPr lang="en-US" altLang="zh-CN" dirty="0" smtClean="0"/>
          </a:p>
        </p:txBody>
      </p:sp>
      <p:sp>
        <p:nvSpPr>
          <p:cNvPr id="5017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P.1689</a:t>
            </a:r>
            <a:endParaRPr lang="en-US" altLang="zh-CN" sz="2400" b="1">
              <a:solidFill>
                <a:schemeClr val="bg2"/>
              </a:solidFill>
            </a:endParaRPr>
          </a:p>
        </p:txBody>
      </p:sp>
      <p:sp>
        <p:nvSpPr>
          <p:cNvPr id="50180"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0181" name="Rectangle 5"/>
          <p:cNvSpPr>
            <a:spLocks noChangeArrowheads="1"/>
          </p:cNvSpPr>
          <p:nvPr/>
        </p:nvSpPr>
        <p:spPr bwMode="auto">
          <a:xfrm>
            <a:off x="323850" y="1978690"/>
            <a:ext cx="8569325" cy="4338320"/>
          </a:xfrm>
          <a:prstGeom prst="rect">
            <a:avLst/>
          </a:prstGeom>
          <a:noFill/>
          <a:ln w="9525" algn="ctr">
            <a:noFill/>
            <a:miter lim="800000"/>
          </a:ln>
        </p:spPr>
        <p:txBody>
          <a:bodyPr anchor="ctr">
            <a:spAutoFit/>
          </a:bodyPr>
          <a:lstStyle/>
          <a:p>
            <a:pPr algn="l">
              <a:spcBef>
                <a:spcPts val="600"/>
              </a:spcBef>
              <a:spcAft>
                <a:spcPts val="600"/>
              </a:spcAft>
            </a:pPr>
            <a:r>
              <a:rPr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软件质量保证</a:t>
            </a:r>
            <a:r>
              <a:rPr lang="zh-CN" altLang="en-US" sz="3200" b="1" smtClean="0">
                <a:solidFill>
                  <a:schemeClr val="bg2"/>
                </a:solidFill>
                <a:ea typeface="楷体" panose="02010609060101010101" pitchFamily="49" charset="-122"/>
                <a:cs typeface="Times New Roman" panose="02020603050405020304" pitchFamily="18" charset="0"/>
              </a:rPr>
              <a:t>（</a:t>
            </a:r>
            <a:r>
              <a:rPr lang="en-US" sz="3200" b="1" smtClean="0">
                <a:solidFill>
                  <a:schemeClr val="bg2"/>
                </a:solidFill>
                <a:ea typeface="楷体" panose="02010609060101010101" pitchFamily="49" charset="-122"/>
                <a:cs typeface="Times New Roman" panose="02020603050405020304" pitchFamily="18" charset="0"/>
              </a:rPr>
              <a:t>Software Quality Assurance</a:t>
            </a:r>
            <a:r>
              <a:rPr lang="zh-CN" altLang="en-US" sz="3200" b="1" smtClean="0">
                <a:solidFill>
                  <a:schemeClr val="bg2"/>
                </a:solidFill>
                <a:ea typeface="楷体" panose="02010609060101010101" pitchFamily="49" charset="-122"/>
                <a:cs typeface="Times New Roman" panose="02020603050405020304" pitchFamily="18" charset="0"/>
              </a:rPr>
              <a:t>，</a:t>
            </a:r>
            <a:r>
              <a:rPr lang="en-US" sz="3200" b="1" smtClean="0">
                <a:solidFill>
                  <a:schemeClr val="bg2"/>
                </a:solidFill>
                <a:ea typeface="楷体" panose="02010609060101010101" pitchFamily="49" charset="-122"/>
                <a:cs typeface="Times New Roman" panose="02020603050405020304" pitchFamily="18" charset="0"/>
              </a:rPr>
              <a:t>SQA</a:t>
            </a:r>
            <a:r>
              <a:rPr lang="zh-CN" altLang="en-US" sz="3200" b="1" smtClean="0">
                <a:solidFill>
                  <a:schemeClr val="bg2"/>
                </a:solidFill>
                <a:ea typeface="楷体" panose="02010609060101010101" pitchFamily="49" charset="-122"/>
                <a:cs typeface="Times New Roman" panose="02020603050405020304" pitchFamily="18" charset="0"/>
              </a:rPr>
              <a:t>）</a:t>
            </a:r>
            <a:r>
              <a:rPr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是为了使软件开发的流程按照事先定义的规范进行，以保证软件质量活动。</a:t>
            </a:r>
            <a:endParaRPr lang="en-US" altLang="zh-CN" sz="32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200" b="1" smtClean="0">
                <a:solidFill>
                  <a:srgbClr val="0000FF"/>
                </a:solidFill>
                <a:latin typeface="楷体" panose="02010609060101010101" pitchFamily="49" charset="-122"/>
                <a:ea typeface="楷体" panose="02010609060101010101" pitchFamily="49" charset="-122"/>
                <a:cs typeface="楷体" panose="02010609060101010101" pitchFamily="49" charset="-122"/>
              </a:rPr>
              <a:t>通常</a:t>
            </a:r>
            <a:r>
              <a:rPr lang="en-US" sz="3200" b="1" smtClean="0">
                <a:solidFill>
                  <a:srgbClr val="0000FF"/>
                </a:solidFill>
                <a:ea typeface="楷体" panose="02010609060101010101" pitchFamily="49" charset="-122"/>
                <a:cs typeface="Times New Roman" panose="02020603050405020304" pitchFamily="18" charset="0"/>
              </a:rPr>
              <a:t>SQA</a:t>
            </a:r>
            <a:r>
              <a:rPr lang="zh-CN" altLang="en-US" sz="3200" b="1" smtClean="0">
                <a:solidFill>
                  <a:srgbClr val="0000FF"/>
                </a:solidFill>
                <a:latin typeface="楷体" panose="02010609060101010101" pitchFamily="49" charset="-122"/>
                <a:ea typeface="楷体" panose="02010609060101010101" pitchFamily="49" charset="-122"/>
                <a:cs typeface="楷体" panose="02010609060101010101" pitchFamily="49" charset="-122"/>
              </a:rPr>
              <a:t>要保证在质量体系中实施全部的计划和活动，以确保软件质量的提高。</a:t>
            </a:r>
            <a:endParaRPr lang="zh-CN" altLang="en-US" sz="3200" b="1" smtClean="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en-US" sz="3200" b="1" smtClean="0">
                <a:solidFill>
                  <a:schemeClr val="bg2"/>
                </a:solidFill>
                <a:ea typeface="楷体" panose="02010609060101010101" pitchFamily="49" charset="-122"/>
                <a:cs typeface="Times New Roman" panose="02020603050405020304" pitchFamily="18" charset="0"/>
              </a:rPr>
              <a:t>SQA</a:t>
            </a:r>
            <a:r>
              <a:rPr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人员在软件开发过程中往往起到监督和管理的作用，他们一般需要具有丰富的技术和管理经验与水平。</a:t>
            </a:r>
            <a:endParaRPr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50182"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7.4 </a:t>
            </a:r>
            <a:r>
              <a:rPr kumimoji="0" lang="en-US" altLang="en-US" sz="3000" b="1">
                <a:latin typeface="楷体" panose="02010609060101010101" pitchFamily="49" charset="-122"/>
                <a:ea typeface="楷体" panose="02010609060101010101" pitchFamily="49" charset="-122"/>
              </a:rPr>
              <a:t>项目质量保证</a:t>
            </a:r>
            <a:endParaRPr kumimoji="0" lang="en-US" altLang="en-US" sz="3000" b="1">
              <a:latin typeface="楷体" panose="02010609060101010101" pitchFamily="49" charset="-122"/>
              <a:ea typeface="楷体" panose="02010609060101010101" pitchFamily="49" charset="-122"/>
            </a:endParaRPr>
          </a:p>
        </p:txBody>
      </p:sp>
      <p:sp>
        <p:nvSpPr>
          <p:cNvPr id="50183" name="Rectangle 7"/>
          <p:cNvSpPr>
            <a:spLocks noChangeArrowheads="1"/>
          </p:cNvSpPr>
          <p:nvPr/>
        </p:nvSpPr>
        <p:spPr bwMode="auto">
          <a:xfrm>
            <a:off x="323850" y="1341438"/>
            <a:ext cx="3128010" cy="521970"/>
          </a:xfrm>
          <a:prstGeom prst="rect">
            <a:avLst/>
          </a:prstGeom>
          <a:noFill/>
          <a:ln w="9525">
            <a:noFill/>
            <a:miter lim="800000"/>
          </a:ln>
        </p:spPr>
        <p:txBody>
          <a:bodyPr wrap="none">
            <a:spAutoFit/>
          </a:bodyPr>
          <a:lstStyle/>
          <a:p>
            <a:pPr algn="l">
              <a:spcBef>
                <a:spcPct val="0"/>
              </a:spcBef>
            </a:pPr>
            <a:r>
              <a:rPr kumimoji="0" lang="en-US" altLang="en-US" b="1" dirty="0" smtClean="0">
                <a:solidFill>
                  <a:srgbClr val="FF0000"/>
                </a:solidFill>
                <a:ea typeface="楷体_GB2312" pitchFamily="49" charset="-122"/>
              </a:rPr>
              <a:t>7.4.</a:t>
            </a:r>
            <a:r>
              <a:rPr kumimoji="0" lang="en-US" altLang="zh-CN" b="1" dirty="0" smtClean="0">
                <a:solidFill>
                  <a:srgbClr val="FF0000"/>
                </a:solidFill>
                <a:ea typeface="楷体_GB2312" pitchFamily="49" charset="-122"/>
              </a:rPr>
              <a:t>2</a:t>
            </a:r>
            <a:r>
              <a:rPr kumimoji="0" lang="en-US" altLang="en-US" b="1" dirty="0" smtClean="0">
                <a:solidFill>
                  <a:srgbClr val="FF0000"/>
                </a:solidFill>
                <a:ea typeface="楷体_GB2312" pitchFamily="49" charset="-122"/>
              </a:rPr>
              <a:t> </a:t>
            </a:r>
            <a:r>
              <a:rPr kumimoji="0" lang="en-US" altLang="en-US" b="1" dirty="0" err="1">
                <a:solidFill>
                  <a:srgbClr val="FF0000"/>
                </a:solidFill>
                <a:latin typeface="楷体" panose="02010609060101010101" pitchFamily="49" charset="-122"/>
                <a:ea typeface="楷体" panose="02010609060101010101" pitchFamily="49" charset="-122"/>
              </a:rPr>
              <a:t>软件质量保证</a:t>
            </a:r>
            <a:endParaRPr kumimoji="0" lang="en-US" altLang="en-US" b="1" dirty="0" err="1">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9"/>
          <p:cNvSpPr>
            <a:spLocks noGrp="1" noChangeArrowheads="1"/>
          </p:cNvSpPr>
          <p:nvPr>
            <p:ph type="sldNum" sz="quarter" idx="10"/>
          </p:nvPr>
        </p:nvSpPr>
        <p:spPr>
          <a:noFill/>
        </p:spPr>
        <p:txBody>
          <a:bodyPr/>
          <a:lstStyle/>
          <a:p>
            <a:r>
              <a:rPr lang="zh-CN" altLang="en-GB" dirty="0" smtClean="0"/>
              <a:t>  </a:t>
            </a:r>
            <a:fld id="{63011D95-7665-48F2-842D-DC96DF60913C}" type="slidenum">
              <a:rPr lang="zh-CN" altLang="en-GB" smtClean="0"/>
            </a:fld>
            <a:endParaRPr lang="en-US" altLang="zh-CN" dirty="0" smtClean="0"/>
          </a:p>
        </p:txBody>
      </p:sp>
      <p:sp>
        <p:nvSpPr>
          <p:cNvPr id="5017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P.168</a:t>
            </a:r>
            <a:endParaRPr lang="en-US" altLang="zh-CN" sz="2400" b="1">
              <a:solidFill>
                <a:schemeClr val="bg2"/>
              </a:solidFill>
            </a:endParaRPr>
          </a:p>
        </p:txBody>
      </p:sp>
      <p:sp>
        <p:nvSpPr>
          <p:cNvPr id="50180"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0181" name="Rectangle 5"/>
          <p:cNvSpPr>
            <a:spLocks noChangeArrowheads="1"/>
          </p:cNvSpPr>
          <p:nvPr/>
        </p:nvSpPr>
        <p:spPr bwMode="auto">
          <a:xfrm>
            <a:off x="142844" y="1857939"/>
            <a:ext cx="8786874" cy="4123055"/>
          </a:xfrm>
          <a:prstGeom prst="rect">
            <a:avLst/>
          </a:prstGeom>
          <a:noFill/>
          <a:ln w="9525" algn="ctr">
            <a:noFill/>
            <a:miter lim="800000"/>
          </a:ln>
        </p:spPr>
        <p:txBody>
          <a:bodyPr wrap="square" anchor="ctr">
            <a:spAutoFit/>
          </a:bodyPr>
          <a:lstStyle/>
          <a:p>
            <a:pPr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不同能力的</a:t>
            </a:r>
            <a:r>
              <a:rPr lang="en-US" b="1" smtClean="0">
                <a:solidFill>
                  <a:schemeClr val="bg2"/>
                </a:solidFill>
                <a:ea typeface="楷体" panose="02010609060101010101" pitchFamily="49" charset="-122"/>
                <a:cs typeface="Times New Roman" panose="02020603050405020304" pitchFamily="18" charset="0"/>
              </a:rPr>
              <a:t>SQA</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人员可以在质量管理过程中扮演不同角色。有的可以扮演“</a:t>
            </a:r>
            <a:r>
              <a:rPr lang="zh-CN" altLang="en-US" b="1" smtClean="0">
                <a:solidFill>
                  <a:srgbClr val="FF0000"/>
                </a:solidFill>
                <a:latin typeface="楷体" panose="02010609060101010101" pitchFamily="49" charset="-122"/>
                <a:ea typeface="楷体" panose="02010609060101010101" pitchFamily="49" charset="-122"/>
                <a:cs typeface="楷体" panose="02010609060101010101" pitchFamily="49" charset="-122"/>
              </a:rPr>
              <a:t>警察</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”，负责按照规范进行检查，及时发现问题；有的可以扮演“</a:t>
            </a:r>
            <a:r>
              <a:rPr lang="zh-CN" altLang="en-US" b="1" smtClean="0">
                <a:solidFill>
                  <a:srgbClr val="FF0000"/>
                </a:solidFill>
                <a:latin typeface="楷体" panose="02010609060101010101" pitchFamily="49" charset="-122"/>
                <a:ea typeface="楷体" panose="02010609060101010101" pitchFamily="49" charset="-122"/>
                <a:cs typeface="楷体" panose="02010609060101010101" pitchFamily="49" charset="-122"/>
              </a:rPr>
              <a:t>医生</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”，发现问题解决问题；有的还可以扮演“</a:t>
            </a:r>
            <a:r>
              <a:rPr lang="zh-CN" altLang="en-US" b="1" smtClean="0">
                <a:solidFill>
                  <a:srgbClr val="FF0000"/>
                </a:solidFill>
                <a:latin typeface="楷体" panose="02010609060101010101" pitchFamily="49" charset="-122"/>
                <a:ea typeface="楷体" panose="02010609060101010101" pitchFamily="49" charset="-122"/>
                <a:cs typeface="楷体" panose="02010609060101010101" pitchFamily="49" charset="-122"/>
              </a:rPr>
              <a:t>教练</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”，发现问题解决问题，并且指导他人如何避免问题的再次发生。</a:t>
            </a:r>
            <a:endParaRPr lang="en-US" altLang="zh-CN"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b="1" smtClean="0">
                <a:solidFill>
                  <a:srgbClr val="FF0000"/>
                </a:solidFill>
                <a:latin typeface="楷体" panose="02010609060101010101" pitchFamily="49" charset="-122"/>
                <a:ea typeface="楷体" panose="02010609060101010101" pitchFamily="49" charset="-122"/>
                <a:cs typeface="楷体" panose="02010609060101010101" pitchFamily="49" charset="-122"/>
              </a:rPr>
              <a:t>软件质量经理</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作为软件质量保证部门的</a:t>
            </a:r>
            <a:r>
              <a:rPr lang="zh-CN" altLang="en-US" b="1" smtClean="0">
                <a:solidFill>
                  <a:srgbClr val="FF0000"/>
                </a:solidFill>
                <a:latin typeface="楷体" panose="02010609060101010101" pitchFamily="49" charset="-122"/>
                <a:ea typeface="楷体" panose="02010609060101010101" pitchFamily="49" charset="-122"/>
                <a:cs typeface="楷体" panose="02010609060101010101" pitchFamily="49" charset="-122"/>
              </a:rPr>
              <a:t>代表</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，监督和保证项目的进展</a:t>
            </a:r>
            <a:r>
              <a:rPr lang="zh-CN" altLang="en-US" b="1" smtClean="0">
                <a:solidFill>
                  <a:srgbClr val="FF0000"/>
                </a:solidFill>
                <a:latin typeface="楷体" panose="02010609060101010101" pitchFamily="49" charset="-122"/>
                <a:ea typeface="楷体" panose="02010609060101010101" pitchFamily="49" charset="-122"/>
                <a:cs typeface="楷体" panose="02010609060101010101" pitchFamily="49" charset="-122"/>
              </a:rPr>
              <a:t>始终遵循</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质量管理体系规定的各项流程和模板，并且收集项目中发现的一些问题和解决方法以优化流程。</a:t>
            </a:r>
            <a:endParaRPr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50182"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7.4 </a:t>
            </a:r>
            <a:r>
              <a:rPr kumimoji="0" lang="en-US" altLang="en-US" sz="3000" b="1">
                <a:latin typeface="楷体" panose="02010609060101010101" pitchFamily="49" charset="-122"/>
                <a:ea typeface="楷体" panose="02010609060101010101" pitchFamily="49" charset="-122"/>
              </a:rPr>
              <a:t>项目质量保证</a:t>
            </a:r>
            <a:endParaRPr kumimoji="0" lang="en-US" altLang="en-US" sz="3000" b="1">
              <a:latin typeface="楷体" panose="02010609060101010101" pitchFamily="49" charset="-122"/>
              <a:ea typeface="楷体" panose="02010609060101010101" pitchFamily="49" charset="-122"/>
            </a:endParaRPr>
          </a:p>
        </p:txBody>
      </p:sp>
      <p:sp>
        <p:nvSpPr>
          <p:cNvPr id="50183" name="Rectangle 7"/>
          <p:cNvSpPr>
            <a:spLocks noChangeArrowheads="1"/>
          </p:cNvSpPr>
          <p:nvPr/>
        </p:nvSpPr>
        <p:spPr bwMode="auto">
          <a:xfrm>
            <a:off x="323850" y="1341438"/>
            <a:ext cx="3128010" cy="521970"/>
          </a:xfrm>
          <a:prstGeom prst="rect">
            <a:avLst/>
          </a:prstGeom>
          <a:noFill/>
          <a:ln w="9525">
            <a:noFill/>
            <a:miter lim="800000"/>
          </a:ln>
        </p:spPr>
        <p:txBody>
          <a:bodyPr wrap="none">
            <a:spAutoFit/>
          </a:bodyPr>
          <a:lstStyle/>
          <a:p>
            <a:pPr algn="l">
              <a:spcBef>
                <a:spcPct val="0"/>
              </a:spcBef>
            </a:pPr>
            <a:r>
              <a:rPr kumimoji="0" lang="en-US" altLang="en-US" b="1" dirty="0" smtClean="0">
                <a:solidFill>
                  <a:srgbClr val="FF0000"/>
                </a:solidFill>
                <a:ea typeface="楷体_GB2312" pitchFamily="49" charset="-122"/>
              </a:rPr>
              <a:t>7.4.</a:t>
            </a:r>
            <a:r>
              <a:rPr kumimoji="0" lang="en-US" altLang="zh-CN" b="1" dirty="0" smtClean="0">
                <a:solidFill>
                  <a:srgbClr val="FF0000"/>
                </a:solidFill>
                <a:ea typeface="楷体_GB2312" pitchFamily="49" charset="-122"/>
              </a:rPr>
              <a:t>2</a:t>
            </a:r>
            <a:r>
              <a:rPr kumimoji="0" lang="en-US" altLang="en-US" b="1" dirty="0" smtClean="0">
                <a:solidFill>
                  <a:srgbClr val="FF0000"/>
                </a:solidFill>
                <a:ea typeface="楷体_GB2312" pitchFamily="49" charset="-122"/>
              </a:rPr>
              <a:t> </a:t>
            </a:r>
            <a:r>
              <a:rPr kumimoji="0" lang="en-US" altLang="en-US" b="1" dirty="0" err="1">
                <a:solidFill>
                  <a:srgbClr val="FF0000"/>
                </a:solidFill>
                <a:latin typeface="楷体" panose="02010609060101010101" pitchFamily="49" charset="-122"/>
                <a:ea typeface="楷体" panose="02010609060101010101" pitchFamily="49" charset="-122"/>
              </a:rPr>
              <a:t>软件质量保证</a:t>
            </a:r>
            <a:endParaRPr kumimoji="0" lang="en-US" altLang="en-US" b="1" dirty="0" err="1">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9"/>
          <p:cNvSpPr>
            <a:spLocks noGrp="1" noChangeArrowheads="1"/>
          </p:cNvSpPr>
          <p:nvPr>
            <p:ph type="sldNum" sz="quarter" idx="10"/>
          </p:nvPr>
        </p:nvSpPr>
        <p:spPr>
          <a:noFill/>
        </p:spPr>
        <p:txBody>
          <a:bodyPr/>
          <a:lstStyle/>
          <a:p>
            <a:r>
              <a:rPr lang="zh-CN" altLang="en-GB" dirty="0" smtClean="0"/>
              <a:t>  </a:t>
            </a:r>
            <a:fld id="{19FC035E-9EDA-415F-AB30-879CBB47EB38}" type="slidenum">
              <a:rPr lang="zh-CN" altLang="en-GB" smtClean="0"/>
            </a:fld>
            <a:endParaRPr lang="en-US" altLang="zh-CN" dirty="0" smtClean="0"/>
          </a:p>
        </p:txBody>
      </p:sp>
      <p:sp>
        <p:nvSpPr>
          <p:cNvPr id="51203" name="Text Box 3"/>
          <p:cNvSpPr txBox="1">
            <a:spLocks noChangeArrowheads="1"/>
          </p:cNvSpPr>
          <p:nvPr/>
        </p:nvSpPr>
        <p:spPr bwMode="auto">
          <a:xfrm>
            <a:off x="7740650" y="19050"/>
            <a:ext cx="1295400" cy="457200"/>
          </a:xfrm>
          <a:prstGeom prst="rect">
            <a:avLst/>
          </a:prstGeom>
          <a:noFill/>
          <a:ln w="9525">
            <a:noFill/>
            <a:miter lim="800000"/>
          </a:ln>
        </p:spPr>
        <p:txBody>
          <a:bodyPr>
            <a:spAutoFit/>
          </a:bodyPr>
          <a:lstStyle/>
          <a:p>
            <a:r>
              <a:rPr lang="en-US" altLang="zh-CN" sz="2400" b="1" smtClean="0">
                <a:solidFill>
                  <a:schemeClr val="bg2"/>
                </a:solidFill>
              </a:rPr>
              <a:t>P.169</a:t>
            </a:r>
            <a:endParaRPr lang="en-US" altLang="zh-CN" sz="2400" b="1">
              <a:solidFill>
                <a:schemeClr val="bg2"/>
              </a:solidFill>
            </a:endParaRPr>
          </a:p>
        </p:txBody>
      </p:sp>
      <p:sp>
        <p:nvSpPr>
          <p:cNvPr id="5120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1205" name="Rectangle 5"/>
          <p:cNvSpPr>
            <a:spLocks noChangeArrowheads="1"/>
          </p:cNvSpPr>
          <p:nvPr/>
        </p:nvSpPr>
        <p:spPr bwMode="auto">
          <a:xfrm>
            <a:off x="250825" y="1836445"/>
            <a:ext cx="8713788" cy="4538345"/>
          </a:xfrm>
          <a:prstGeom prst="rect">
            <a:avLst/>
          </a:prstGeom>
          <a:noFill/>
          <a:ln w="9525" algn="ctr">
            <a:noFill/>
            <a:miter lim="800000"/>
          </a:ln>
        </p:spPr>
        <p:txBody>
          <a:bodyPr anchor="ctr">
            <a:spAutoFit/>
          </a:bodyPr>
          <a:lstStyle/>
          <a:p>
            <a:pPr algn="l"/>
            <a:r>
              <a:rPr lang="zh-CN" altLang="en-US" b="1" smtClean="0">
                <a:solidFill>
                  <a:schemeClr val="bg1"/>
                </a:solidFill>
                <a:latin typeface="楷体" panose="02010609060101010101" pitchFamily="49" charset="-122"/>
                <a:ea typeface="楷体" panose="02010609060101010101" pitchFamily="49" charset="-122"/>
                <a:cs typeface="楷体" panose="02010609060101010101" pitchFamily="49" charset="-122"/>
              </a:rPr>
              <a:t>一般的</a:t>
            </a:r>
            <a:r>
              <a:rPr lang="en-US" b="1" smtClean="0">
                <a:solidFill>
                  <a:schemeClr val="bg1"/>
                </a:solidFill>
                <a:ea typeface="楷体" panose="02010609060101010101" pitchFamily="49" charset="-122"/>
                <a:cs typeface="Times New Roman" panose="02020603050405020304" pitchFamily="18" charset="0"/>
              </a:rPr>
              <a:t>SQA</a:t>
            </a:r>
            <a:r>
              <a:rPr lang="zh-CN" altLang="en-US" b="1" smtClean="0">
                <a:solidFill>
                  <a:schemeClr val="bg1"/>
                </a:solidFill>
                <a:latin typeface="楷体" panose="02010609060101010101" pitchFamily="49" charset="-122"/>
                <a:ea typeface="楷体" panose="02010609060101010101" pitchFamily="49" charset="-122"/>
                <a:cs typeface="楷体" panose="02010609060101010101" pitchFamily="49" charset="-122"/>
              </a:rPr>
              <a:t>流程需要如下步骤：</a:t>
            </a:r>
            <a:endParaRPr lang="en-US" altLang="zh-CN" b="1" smtClean="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第</a:t>
            </a:r>
            <a:r>
              <a:rPr 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1</a:t>
            </a: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步</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，建立</a:t>
            </a: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小组；</a:t>
            </a:r>
            <a:endParaRPr lang="en-US" altLang="zh-CN"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第</a:t>
            </a:r>
            <a:r>
              <a:rPr lang="en-US"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2</a:t>
            </a: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步</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，选择和确定</a:t>
            </a: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小组所要进行的质量保证活动，这些活动将作为</a:t>
            </a: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计划的重要输入；</a:t>
            </a:r>
            <a:endParaRPr lang="en-US" altLang="zh-CN"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第</a:t>
            </a:r>
            <a:r>
              <a:rPr lang="en-US"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3</a:t>
            </a: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步</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，制定</a:t>
            </a: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计划，明确</a:t>
            </a: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活动与整个软件开发生命周期中各个阶段的关系；</a:t>
            </a:r>
            <a:endParaRPr lang="en-US" altLang="zh-CN"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第</a:t>
            </a:r>
            <a:r>
              <a:rPr lang="en-US"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4</a:t>
            </a: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步</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，执行</a:t>
            </a:r>
            <a:r>
              <a:rPr lang="en-US" sz="2400" b="1" smtClean="0">
                <a:solidFill>
                  <a:schemeClr val="bg2"/>
                </a:solidFill>
                <a:ea typeface="楷体" panose="02010609060101010101" pitchFamily="49" charset="-122"/>
                <a:cs typeface="Times New Roman" panose="02020603050405020304" pitchFamily="18" charset="0"/>
              </a:rPr>
              <a:t>SQA</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计划、对相关人员进行培训、选择与整个软件工程环境相适应的质量保证工具；</a:t>
            </a:r>
            <a:endParaRPr lang="en-US" altLang="zh-CN"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第</a:t>
            </a:r>
            <a:r>
              <a:rPr lang="en-US"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5</a:t>
            </a:r>
            <a:r>
              <a:rPr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步</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，是不断完善质量保证过程活动中存在的不足，改进项目的质量保证过程。</a:t>
            </a:r>
            <a:endParaRPr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51206"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7.4 </a:t>
            </a:r>
            <a:r>
              <a:rPr kumimoji="0" lang="en-US" altLang="en-US" sz="3000" b="1">
                <a:latin typeface="楷体" panose="02010609060101010101" pitchFamily="49" charset="-122"/>
                <a:ea typeface="楷体" panose="02010609060101010101" pitchFamily="49" charset="-122"/>
              </a:rPr>
              <a:t>项目质量保证</a:t>
            </a:r>
            <a:endParaRPr kumimoji="0" lang="en-US" altLang="en-US" sz="3000" b="1">
              <a:latin typeface="楷体" panose="02010609060101010101" pitchFamily="49" charset="-122"/>
              <a:ea typeface="楷体" panose="02010609060101010101" pitchFamily="49" charset="-122"/>
            </a:endParaRPr>
          </a:p>
        </p:txBody>
      </p:sp>
      <p:sp>
        <p:nvSpPr>
          <p:cNvPr id="51207" name="Rectangle 7"/>
          <p:cNvSpPr>
            <a:spLocks noChangeArrowheads="1"/>
          </p:cNvSpPr>
          <p:nvPr/>
        </p:nvSpPr>
        <p:spPr bwMode="auto">
          <a:xfrm>
            <a:off x="323850" y="1341438"/>
            <a:ext cx="3128010" cy="521970"/>
          </a:xfrm>
          <a:prstGeom prst="rect">
            <a:avLst/>
          </a:prstGeom>
          <a:noFill/>
          <a:ln w="9525">
            <a:noFill/>
            <a:miter lim="800000"/>
          </a:ln>
        </p:spPr>
        <p:txBody>
          <a:bodyPr wrap="none">
            <a:spAutoFit/>
          </a:bodyPr>
          <a:lstStyle/>
          <a:p>
            <a:pPr algn="l">
              <a:spcBef>
                <a:spcPct val="0"/>
              </a:spcBef>
            </a:pPr>
            <a:r>
              <a:rPr kumimoji="0" lang="en-US" altLang="en-US" b="1" dirty="0" smtClean="0">
                <a:solidFill>
                  <a:srgbClr val="FF0000"/>
                </a:solidFill>
                <a:ea typeface="楷体_GB2312" pitchFamily="49" charset="-122"/>
              </a:rPr>
              <a:t>7.4.</a:t>
            </a:r>
            <a:r>
              <a:rPr kumimoji="0" lang="en-US" altLang="zh-CN" b="1" dirty="0" smtClean="0">
                <a:solidFill>
                  <a:srgbClr val="FF0000"/>
                </a:solidFill>
                <a:ea typeface="楷体_GB2312" pitchFamily="49" charset="-122"/>
              </a:rPr>
              <a:t>2</a:t>
            </a:r>
            <a:r>
              <a:rPr kumimoji="0" lang="en-US" altLang="en-US" b="1" dirty="0" smtClean="0">
                <a:solidFill>
                  <a:srgbClr val="FF0000"/>
                </a:solidFill>
                <a:ea typeface="楷体_GB2312" pitchFamily="49" charset="-122"/>
              </a:rPr>
              <a:t> </a:t>
            </a:r>
            <a:r>
              <a:rPr kumimoji="0" lang="en-US" altLang="en-US" b="1" dirty="0" err="1">
                <a:solidFill>
                  <a:srgbClr val="FF0000"/>
                </a:solidFill>
                <a:latin typeface="楷体" panose="02010609060101010101" pitchFamily="49" charset="-122"/>
                <a:ea typeface="楷体" panose="02010609060101010101" pitchFamily="49" charset="-122"/>
              </a:rPr>
              <a:t>软件质量保证</a:t>
            </a:r>
            <a:endParaRPr kumimoji="0" lang="en-US" altLang="en-US" b="1" dirty="0" err="1">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0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0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0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9"/>
          <p:cNvSpPr>
            <a:spLocks noGrp="1" noChangeArrowheads="1"/>
          </p:cNvSpPr>
          <p:nvPr>
            <p:ph type="sldNum" sz="quarter" idx="10"/>
          </p:nvPr>
        </p:nvSpPr>
        <p:spPr>
          <a:noFill/>
        </p:spPr>
        <p:txBody>
          <a:bodyPr/>
          <a:lstStyle/>
          <a:p>
            <a:r>
              <a:rPr lang="zh-CN" altLang="en-GB" dirty="0" smtClean="0"/>
              <a:t>  </a:t>
            </a:r>
            <a:fld id="{5DFF394E-15A9-46DB-BFA9-C40C3ED88706}" type="slidenum">
              <a:rPr lang="zh-CN" altLang="en-GB" smtClean="0"/>
            </a:fld>
            <a:endParaRPr lang="en-US" altLang="zh-CN" dirty="0" smtClean="0"/>
          </a:p>
        </p:txBody>
      </p:sp>
      <p:sp>
        <p:nvSpPr>
          <p:cNvPr id="5222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P.169</a:t>
            </a:r>
            <a:endParaRPr lang="en-US" altLang="zh-CN" sz="2400" b="1">
              <a:solidFill>
                <a:schemeClr val="bg2"/>
              </a:solidFill>
            </a:endParaRPr>
          </a:p>
        </p:txBody>
      </p:sp>
      <p:sp>
        <p:nvSpPr>
          <p:cNvPr id="5222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2229" name="Rectangle 5"/>
          <p:cNvSpPr>
            <a:spLocks noChangeArrowheads="1"/>
          </p:cNvSpPr>
          <p:nvPr/>
        </p:nvSpPr>
        <p:spPr bwMode="auto">
          <a:xfrm>
            <a:off x="250825" y="1872125"/>
            <a:ext cx="8569325" cy="4231005"/>
          </a:xfrm>
          <a:prstGeom prst="rect">
            <a:avLst/>
          </a:prstGeom>
          <a:noFill/>
          <a:ln w="9525" algn="ctr">
            <a:noFill/>
            <a:miter lim="800000"/>
          </a:ln>
        </p:spPr>
        <p:txBody>
          <a:bodyPr anchor="ctr">
            <a:spAutoFit/>
          </a:bodyPr>
          <a:lstStyle/>
          <a:p>
            <a:pPr algn="l">
              <a:spcBef>
                <a:spcPts val="600"/>
              </a:spcBef>
              <a:buClr>
                <a:schemeClr val="hlink"/>
              </a:buClr>
            </a:pP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独立的</a:t>
            </a:r>
            <a:r>
              <a:rPr kumimoji="0" lang="en-US" altLang="zh-CN" sz="3200" b="1">
                <a:solidFill>
                  <a:schemeClr val="bg2"/>
                </a:solidFill>
                <a:ea typeface="楷体" panose="02010609060101010101" pitchFamily="49" charset="-122"/>
                <a:cs typeface="Times New Roman" panose="02020603050405020304" pitchFamily="18" charset="0"/>
              </a:rPr>
              <a:t>SQA</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小组是衡量软件开发活动优劣与否的尺度之一</a:t>
            </a:r>
            <a:r>
              <a:rPr kumimoji="0"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。一般</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把</a:t>
            </a:r>
            <a:r>
              <a:rPr kumimoji="0" lang="en-US" altLang="zh-CN" sz="3200" b="1">
                <a:solidFill>
                  <a:schemeClr val="bg2"/>
                </a:solidFill>
                <a:ea typeface="楷体" panose="02010609060101010101" pitchFamily="49" charset="-122"/>
                <a:cs typeface="Times New Roman" panose="02020603050405020304" pitchFamily="18" charset="0"/>
              </a:rPr>
              <a:t>SQA</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活动分为以下五类：</a:t>
            </a:r>
            <a:endPar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657350" lvl="2" indent="-742950" algn="l">
              <a:spcBef>
                <a:spcPts val="600"/>
              </a:spcBef>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评审软件产品、工具与设施</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1657350" lvl="2" indent="-742950" algn="l">
              <a:spcBef>
                <a:spcPts val="600"/>
              </a:spcBef>
              <a:buClr>
                <a:srgbClr val="0000FF"/>
              </a:buClr>
              <a:buFont typeface="+mj-lt"/>
              <a:buAutoNum type="arabicPeriod"/>
            </a:pPr>
            <a:r>
              <a:rPr kumimoji="0" lang="en-US" altLang="zh-CN" sz="3600" b="1">
                <a:solidFill>
                  <a:srgbClr val="0000FF"/>
                </a:solidFill>
                <a:ea typeface="楷体" panose="02010609060101010101" pitchFamily="49" charset="-122"/>
                <a:cs typeface="Times New Roman" panose="02020603050405020304" pitchFamily="18" charset="0"/>
              </a:rPr>
              <a:t>SQA</a:t>
            </a: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活动审查的软件开发过程</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1657350" lvl="2" indent="-742950" algn="l">
              <a:spcBef>
                <a:spcPts val="600"/>
              </a:spcBef>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参与技术和管理评审</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1657350" lvl="2" indent="-742950" algn="l">
              <a:spcBef>
                <a:spcPts val="600"/>
              </a:spcBef>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形成</a:t>
            </a:r>
            <a:r>
              <a:rPr kumimoji="0" lang="en-US" altLang="zh-CN" sz="3600" b="1">
                <a:solidFill>
                  <a:srgbClr val="0000FF"/>
                </a:solidFill>
                <a:ea typeface="楷体" panose="02010609060101010101" pitchFamily="49" charset="-122"/>
                <a:cs typeface="Times New Roman" panose="02020603050405020304" pitchFamily="18" charset="0"/>
              </a:rPr>
              <a:t>SQA</a:t>
            </a: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报告</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1657350" lvl="2" indent="-742950" algn="l">
              <a:spcBef>
                <a:spcPts val="600"/>
              </a:spcBef>
              <a:buClr>
                <a:srgbClr val="0000FF"/>
              </a:buClr>
              <a:buFont typeface="+mj-lt"/>
              <a:buAutoNum type="arabicPeriod"/>
            </a:pPr>
            <a:r>
              <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rPr>
              <a:t>处理相互关系</a:t>
            </a:r>
            <a:endParaRPr kumimoji="0" lang="zh-CN" altLang="en-US" sz="3600" b="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52230" name="Rectangle 6"/>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7.4 </a:t>
            </a:r>
            <a:r>
              <a:rPr kumimoji="0" lang="en-US" altLang="en-US" sz="3000" b="1">
                <a:latin typeface="楷体" panose="02010609060101010101" pitchFamily="49" charset="-122"/>
                <a:ea typeface="楷体" panose="02010609060101010101" pitchFamily="49" charset="-122"/>
              </a:rPr>
              <a:t>项目质量保证</a:t>
            </a:r>
            <a:endParaRPr kumimoji="0" lang="en-US" altLang="en-US" sz="3000" b="1">
              <a:latin typeface="楷体" panose="02010609060101010101" pitchFamily="49" charset="-122"/>
              <a:ea typeface="楷体" panose="02010609060101010101" pitchFamily="49" charset="-122"/>
            </a:endParaRPr>
          </a:p>
        </p:txBody>
      </p:sp>
      <p:sp>
        <p:nvSpPr>
          <p:cNvPr id="52231" name="Rectangle 7"/>
          <p:cNvSpPr>
            <a:spLocks noChangeArrowheads="1"/>
          </p:cNvSpPr>
          <p:nvPr/>
        </p:nvSpPr>
        <p:spPr bwMode="auto">
          <a:xfrm>
            <a:off x="323850" y="1341438"/>
            <a:ext cx="3128010" cy="521970"/>
          </a:xfrm>
          <a:prstGeom prst="rect">
            <a:avLst/>
          </a:prstGeom>
          <a:noFill/>
          <a:ln w="9525">
            <a:noFill/>
            <a:miter lim="800000"/>
          </a:ln>
        </p:spPr>
        <p:txBody>
          <a:bodyPr wrap="none">
            <a:spAutoFit/>
          </a:bodyPr>
          <a:lstStyle/>
          <a:p>
            <a:pPr algn="l">
              <a:spcBef>
                <a:spcPct val="0"/>
              </a:spcBef>
            </a:pPr>
            <a:r>
              <a:rPr kumimoji="0" lang="en-US" altLang="en-US" b="1" dirty="0" smtClean="0">
                <a:solidFill>
                  <a:srgbClr val="FF0000"/>
                </a:solidFill>
                <a:ea typeface="楷体_GB2312" pitchFamily="49" charset="-122"/>
              </a:rPr>
              <a:t>7.4.</a:t>
            </a:r>
            <a:r>
              <a:rPr kumimoji="0" lang="en-US" altLang="zh-CN" b="1" dirty="0" smtClean="0">
                <a:solidFill>
                  <a:srgbClr val="FF0000"/>
                </a:solidFill>
                <a:ea typeface="楷体_GB2312" pitchFamily="49" charset="-122"/>
              </a:rPr>
              <a:t>2</a:t>
            </a:r>
            <a:r>
              <a:rPr kumimoji="0" lang="en-US" altLang="en-US" b="1" dirty="0" smtClean="0">
                <a:solidFill>
                  <a:srgbClr val="FF0000"/>
                </a:solidFill>
                <a:ea typeface="楷体_GB2312" pitchFamily="49" charset="-122"/>
              </a:rPr>
              <a:t> </a:t>
            </a:r>
            <a:r>
              <a:rPr kumimoji="0" lang="en-US" altLang="en-US" b="1" dirty="0" err="1">
                <a:solidFill>
                  <a:srgbClr val="FF0000"/>
                </a:solidFill>
                <a:latin typeface="楷体" panose="02010609060101010101" pitchFamily="49" charset="-122"/>
                <a:ea typeface="楷体" panose="02010609060101010101" pitchFamily="49" charset="-122"/>
              </a:rPr>
              <a:t>软件质量保证</a:t>
            </a:r>
            <a:endParaRPr kumimoji="0" lang="en-US" altLang="en-US" b="1" dirty="0" err="1">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22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1126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1126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楷体" panose="02010609060101010101" pitchFamily="49" charset="-122"/>
                <a:ea typeface="楷体" panose="02010609060101010101" pitchFamily="49" charset="-122"/>
                <a:cs typeface="楷体" panose="02010609060101010101" pitchFamily="49" charset="-122"/>
              </a:rPr>
              <a:t>提   纲</a:t>
            </a:r>
            <a:endParaRPr lang="en-US" altLang="zh-CN" sz="4800" b="1" smtClean="0">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642941" y="1550150"/>
            <a:ext cx="7643835" cy="4184650"/>
          </a:xfrm>
          <a:prstGeom prst="rect">
            <a:avLst/>
          </a:prstGeom>
          <a:noFill/>
          <a:ln w="9525">
            <a:noFill/>
            <a:miter lim="800000"/>
          </a:ln>
        </p:spPr>
        <p:txBody>
          <a:bodyPr wrap="square">
            <a:spAutoFit/>
          </a:bodyPr>
          <a:lstStyle/>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质量管理概述</a:t>
            </a:r>
            <a:endParaRPr lang="en-US" altLang="en-US" sz="4800" b="1" dirty="0" err="1">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质量管理方法与体系</a:t>
            </a:r>
            <a:endParaRPr lang="en-US" altLang="en-US" sz="4800" b="1" dirty="0" err="1">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4800" b="1" smtClean="0">
                <a:solidFill>
                  <a:srgbClr val="0000FF"/>
                </a:solidFill>
                <a:latin typeface="楷体" panose="02010609060101010101" pitchFamily="49" charset="-122"/>
                <a:ea typeface="楷体" panose="02010609060101010101" pitchFamily="49" charset="-122"/>
              </a:rPr>
              <a:t>规划质量</a:t>
            </a:r>
            <a:r>
              <a:rPr lang="zh-CN" altLang="en-US" sz="4800" b="1" smtClean="0">
                <a:solidFill>
                  <a:srgbClr val="0000FF"/>
                </a:solidFill>
                <a:latin typeface="楷体" panose="02010609060101010101" pitchFamily="49" charset="-122"/>
                <a:ea typeface="楷体" panose="02010609060101010101" pitchFamily="49" charset="-122"/>
              </a:rPr>
              <a:t>管理</a:t>
            </a:r>
            <a:endParaRPr lang="en-US" altLang="en-US" sz="4800" b="1" dirty="0">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zh-CN" altLang="en-US" sz="4800" b="1" smtClean="0">
                <a:solidFill>
                  <a:srgbClr val="0000FF"/>
                </a:solidFill>
                <a:latin typeface="楷体" panose="02010609060101010101" pitchFamily="49" charset="-122"/>
                <a:ea typeface="楷体" panose="02010609060101010101" pitchFamily="49" charset="-122"/>
              </a:rPr>
              <a:t>实施</a:t>
            </a:r>
            <a:r>
              <a:rPr lang="en-US" altLang="en-US" sz="4800" b="1" smtClean="0">
                <a:solidFill>
                  <a:srgbClr val="0000FF"/>
                </a:solidFill>
                <a:latin typeface="楷体" panose="02010609060101010101" pitchFamily="49" charset="-122"/>
                <a:ea typeface="楷体" panose="02010609060101010101" pitchFamily="49" charset="-122"/>
              </a:rPr>
              <a:t>质量保证</a:t>
            </a:r>
            <a:endParaRPr lang="en-US" altLang="en-US" sz="4800" b="1" dirty="0" smtClean="0">
              <a:solidFill>
                <a:srgbClr val="0000FF"/>
              </a:solidFill>
              <a:latin typeface="楷体" panose="02010609060101010101" pitchFamily="49" charset="-122"/>
              <a:ea typeface="楷体" panose="02010609060101010101" pitchFamily="49" charset="-122"/>
            </a:endParaRPr>
          </a:p>
          <a:p>
            <a:pPr algn="l">
              <a:spcBef>
                <a:spcPts val="0"/>
              </a:spcBef>
              <a:spcAft>
                <a:spcPts val="600"/>
              </a:spcAft>
              <a:buClr>
                <a:srgbClr val="C00000"/>
              </a:buClr>
              <a:buSzPct val="100000"/>
              <a:buFont typeface="Arial" panose="020B0604020202020204" pitchFamily="34" charset="0"/>
              <a:buChar char="◙"/>
              <a:defRPr/>
            </a:pPr>
            <a:r>
              <a:rPr lang="en-US" altLang="en-US" sz="5400" b="1" smtClean="0">
                <a:solidFill>
                  <a:srgbClr val="FF0000"/>
                </a:solidFill>
                <a:latin typeface="楷体" panose="02010609060101010101" pitchFamily="49" charset="-122"/>
                <a:ea typeface="楷体" panose="02010609060101010101" pitchFamily="49" charset="-122"/>
              </a:rPr>
              <a:t>控制项目质量</a:t>
            </a:r>
            <a:endParaRPr lang="en-US" altLang="en-US" sz="5400" b="1" dirty="0" smtClean="0">
              <a:solidFill>
                <a:srgbClr val="FF0000"/>
              </a:solidFill>
              <a:latin typeface="楷体" panose="02010609060101010101" pitchFamily="49" charset="-122"/>
              <a:ea typeface="楷体" panose="02010609060101010101" pitchFamily="49" charset="-122"/>
            </a:endParaRPr>
          </a:p>
        </p:txBody>
      </p:sp>
      <p:sp>
        <p:nvSpPr>
          <p:cNvPr id="8" name="Rectangle 9"/>
          <p:cNvSpPr>
            <a:spLocks noGrp="1" noChangeArrowheads="1"/>
          </p:cNvSpPr>
          <p:nvPr>
            <p:ph type="sldNum" sz="quarter" idx="10"/>
          </p:nvPr>
        </p:nvSpPr>
        <p:spPr>
          <a:xfrm>
            <a:off x="7420004" y="6597650"/>
            <a:ext cx="1295400" cy="260350"/>
          </a:xfrm>
          <a:noFill/>
        </p:spPr>
        <p:txBody>
          <a:bodyPr/>
          <a:lstStyle/>
          <a:p>
            <a:r>
              <a:rPr lang="zh-CN" altLang="en-GB" dirty="0" smtClean="0"/>
              <a:t>  </a:t>
            </a:r>
            <a:fld id="{31A84629-0BF0-41BE-B0BE-8D9C0EDC15A0}" type="slidenum">
              <a:rPr lang="zh-CN" altLang="en-GB" smtClean="0"/>
            </a:fld>
            <a:endParaRPr lang="en-US" altLang="zh-CN" dirty="0" smtClean="0"/>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9"/>
          <p:cNvSpPr>
            <a:spLocks noGrp="1" noChangeArrowheads="1"/>
          </p:cNvSpPr>
          <p:nvPr>
            <p:ph type="sldNum" sz="quarter" idx="10"/>
          </p:nvPr>
        </p:nvSpPr>
        <p:spPr>
          <a:noFill/>
        </p:spPr>
        <p:txBody>
          <a:bodyPr/>
          <a:lstStyle/>
          <a:p>
            <a:r>
              <a:rPr lang="zh-CN" altLang="en-GB" dirty="0" smtClean="0"/>
              <a:t>  </a:t>
            </a:r>
            <a:fld id="{6D03B232-3312-4097-96B9-53832195C4F2}" type="slidenum">
              <a:rPr lang="zh-CN" altLang="en-GB" smtClean="0"/>
            </a:fld>
            <a:endParaRPr lang="en-US" altLang="zh-CN" dirty="0" smtClean="0"/>
          </a:p>
        </p:txBody>
      </p:sp>
      <p:sp>
        <p:nvSpPr>
          <p:cNvPr id="5427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P.170</a:t>
            </a:r>
            <a:endParaRPr lang="en-US" altLang="zh-CN" sz="2400" b="1">
              <a:solidFill>
                <a:schemeClr val="bg2"/>
              </a:solidFill>
            </a:endParaRPr>
          </a:p>
        </p:txBody>
      </p:sp>
      <p:sp>
        <p:nvSpPr>
          <p:cNvPr id="54276"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4277" name="Rectangle 5"/>
          <p:cNvSpPr>
            <a:spLocks noChangeArrowheads="1"/>
          </p:cNvSpPr>
          <p:nvPr/>
        </p:nvSpPr>
        <p:spPr bwMode="auto">
          <a:xfrm>
            <a:off x="215900" y="1811795"/>
            <a:ext cx="8604250" cy="4492625"/>
          </a:xfrm>
          <a:prstGeom prst="rect">
            <a:avLst/>
          </a:prstGeom>
          <a:noFill/>
          <a:ln w="9525" algn="ctr">
            <a:noFill/>
            <a:miter lim="800000"/>
          </a:ln>
        </p:spPr>
        <p:txBody>
          <a:bodyPr anchor="ctr">
            <a:spAutoFit/>
          </a:bodyPr>
          <a:lstStyle/>
          <a:p>
            <a:pPr algn="l">
              <a:spcBef>
                <a:spcPts val="600"/>
              </a:spcBef>
              <a:spcAft>
                <a:spcPts val="600"/>
              </a:spcAft>
            </a:pPr>
            <a:r>
              <a:rPr lang="zh-CN" altLang="en-US" sz="3200" b="1" smtClean="0">
                <a:solidFill>
                  <a:schemeClr val="bg2"/>
                </a:solidFill>
                <a:latin typeface="楷体" panose="02010609060101010101" pitchFamily="49" charset="-122"/>
                <a:ea typeface="楷体" panose="02010609060101010101" pitchFamily="49" charset="-122"/>
              </a:rPr>
              <a:t>质量控制应贯穿于项目的整个过程，它分为监测和控制两个阶段，</a:t>
            </a:r>
            <a:endParaRPr lang="en-US" altLang="zh-CN" sz="3200" b="1"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smtClean="0">
                <a:solidFill>
                  <a:srgbClr val="0000FF"/>
                </a:solidFill>
                <a:latin typeface="楷体" panose="02010609060101010101" pitchFamily="49" charset="-122"/>
                <a:ea typeface="楷体" panose="02010609060101010101" pitchFamily="49" charset="-122"/>
              </a:rPr>
              <a:t>质量监测</a:t>
            </a:r>
            <a:r>
              <a:rPr lang="zh-CN" altLang="en-US" sz="3200" b="1" smtClean="0">
                <a:solidFill>
                  <a:schemeClr val="bg2"/>
                </a:solidFill>
                <a:latin typeface="楷体" panose="02010609060101010101" pitchFamily="49" charset="-122"/>
                <a:ea typeface="楷体" panose="02010609060101010101" pitchFamily="49" charset="-122"/>
              </a:rPr>
              <a:t>的目的是收集、记录和汇报有关项目质量的信息；</a:t>
            </a:r>
            <a:endParaRPr lang="en-US" altLang="zh-CN" sz="3200" b="1"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smtClean="0">
                <a:solidFill>
                  <a:srgbClr val="0000FF"/>
                </a:solidFill>
                <a:latin typeface="楷体" panose="02010609060101010101" pitchFamily="49" charset="-122"/>
                <a:ea typeface="楷体" panose="02010609060101010101" pitchFamily="49" charset="-122"/>
              </a:rPr>
              <a:t>质量控制</a:t>
            </a:r>
            <a:r>
              <a:rPr lang="zh-CN" altLang="en-US" sz="3200" b="1" smtClean="0">
                <a:solidFill>
                  <a:schemeClr val="bg2"/>
                </a:solidFill>
                <a:latin typeface="楷体" panose="02010609060101010101" pitchFamily="49" charset="-122"/>
                <a:ea typeface="楷体" panose="02010609060101010101" pitchFamily="49" charset="-122"/>
              </a:rPr>
              <a:t>通过质量监测提供的数据，进行控制，确保项目质量与计划保持一致。</a:t>
            </a:r>
            <a:endParaRPr lang="zh-CN" altLang="en-US" sz="3200" b="1"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smtClean="0">
                <a:solidFill>
                  <a:schemeClr val="bg2"/>
                </a:solidFill>
                <a:latin typeface="楷体" panose="02010609060101010101" pitchFamily="49" charset="-122"/>
                <a:ea typeface="楷体" panose="02010609060101010101" pitchFamily="49" charset="-122"/>
              </a:rPr>
              <a:t>项目的质量控制工作是一个</a:t>
            </a:r>
            <a:r>
              <a:rPr lang="zh-CN" altLang="en-US" sz="3200" b="1" smtClean="0">
                <a:solidFill>
                  <a:srgbClr val="0000FF"/>
                </a:solidFill>
                <a:latin typeface="楷体" panose="02010609060101010101" pitchFamily="49" charset="-122"/>
                <a:ea typeface="楷体" panose="02010609060101010101" pitchFamily="49" charset="-122"/>
              </a:rPr>
              <a:t>系统过程</a:t>
            </a:r>
            <a:r>
              <a:rPr lang="zh-CN" altLang="en-US" sz="3200" b="1" smtClean="0">
                <a:solidFill>
                  <a:schemeClr val="bg2"/>
                </a:solidFill>
                <a:latin typeface="楷体" panose="02010609060101010101" pitchFamily="49" charset="-122"/>
                <a:ea typeface="楷体" panose="02010609060101010101" pitchFamily="49" charset="-122"/>
              </a:rPr>
              <a:t>，应从项目的全过程入手，全面、综合地进行控制。</a:t>
            </a:r>
            <a:endParaRPr lang="zh-CN" altLang="en-US" sz="3200" b="1">
              <a:solidFill>
                <a:schemeClr val="bg2"/>
              </a:solidFill>
              <a:latin typeface="楷体" panose="02010609060101010101" pitchFamily="49" charset="-122"/>
              <a:ea typeface="楷体" panose="02010609060101010101" pitchFamily="49" charset="-122"/>
            </a:endParaRPr>
          </a:p>
        </p:txBody>
      </p:sp>
      <p:sp>
        <p:nvSpPr>
          <p:cNvPr id="54278" name="Rectangle 15"/>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7.5 </a:t>
            </a:r>
            <a:r>
              <a:rPr kumimoji="0" lang="zh-CN" altLang="en-US" sz="3000" b="1" smtClean="0">
                <a:latin typeface="楷体" panose="02010609060101010101" pitchFamily="49" charset="-122"/>
                <a:ea typeface="楷体" panose="02010609060101010101" pitchFamily="49" charset="-122"/>
              </a:rPr>
              <a:t>控制项目质量</a:t>
            </a:r>
            <a:endParaRPr kumimoji="0" lang="zh-CN" altLang="en-US" sz="3000" b="1" smtClean="0">
              <a:latin typeface="楷体" panose="02010609060101010101" pitchFamily="49" charset="-122"/>
              <a:ea typeface="楷体" panose="02010609060101010101" pitchFamily="49" charset="-122"/>
            </a:endParaRPr>
          </a:p>
        </p:txBody>
      </p:sp>
      <p:sp>
        <p:nvSpPr>
          <p:cNvPr id="54279" name="Rectangle 16"/>
          <p:cNvSpPr>
            <a:spLocks noChangeArrowheads="1"/>
          </p:cNvSpPr>
          <p:nvPr/>
        </p:nvSpPr>
        <p:spPr bwMode="auto">
          <a:xfrm>
            <a:off x="323850" y="1341438"/>
            <a:ext cx="330771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7.5.1 </a:t>
            </a:r>
            <a:r>
              <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rPr>
              <a:t>实施质量控制 </a:t>
            </a:r>
            <a:endPar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27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9"/>
          <p:cNvSpPr>
            <a:spLocks noGrp="1" noChangeArrowheads="1"/>
          </p:cNvSpPr>
          <p:nvPr>
            <p:ph type="sldNum" sz="quarter" idx="10"/>
          </p:nvPr>
        </p:nvSpPr>
        <p:spPr>
          <a:noFill/>
        </p:spPr>
        <p:txBody>
          <a:bodyPr/>
          <a:lstStyle/>
          <a:p>
            <a:r>
              <a:rPr lang="zh-CN" altLang="en-GB" dirty="0" smtClean="0"/>
              <a:t>  </a:t>
            </a:r>
            <a:fld id="{6D03B232-3312-4097-96B9-53832195C4F2}" type="slidenum">
              <a:rPr lang="zh-CN" altLang="en-GB" smtClean="0"/>
            </a:fld>
            <a:endParaRPr lang="en-US" altLang="zh-CN" dirty="0" smtClean="0"/>
          </a:p>
        </p:txBody>
      </p:sp>
      <p:sp>
        <p:nvSpPr>
          <p:cNvPr id="5427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P.170</a:t>
            </a:r>
            <a:endParaRPr lang="en-US" altLang="zh-CN" sz="2400" b="1">
              <a:solidFill>
                <a:schemeClr val="bg2"/>
              </a:solidFill>
            </a:endParaRPr>
          </a:p>
        </p:txBody>
      </p:sp>
      <p:sp>
        <p:nvSpPr>
          <p:cNvPr id="54276"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4277" name="Rectangle 5"/>
          <p:cNvSpPr>
            <a:spLocks noChangeArrowheads="1"/>
          </p:cNvSpPr>
          <p:nvPr/>
        </p:nvSpPr>
        <p:spPr bwMode="auto">
          <a:xfrm>
            <a:off x="215900" y="1812013"/>
            <a:ext cx="8713818" cy="3815080"/>
          </a:xfrm>
          <a:prstGeom prst="rect">
            <a:avLst/>
          </a:prstGeom>
          <a:noFill/>
          <a:ln w="9525" algn="ctr">
            <a:noFill/>
            <a:miter lim="800000"/>
          </a:ln>
        </p:spPr>
        <p:txBody>
          <a:bodyPr wrap="square" anchor="ctr">
            <a:spAutoFit/>
          </a:bodyPr>
          <a:lstStyle/>
          <a:p>
            <a:pPr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项目的质量控制主要从以下两个方面进行。</a:t>
            </a:r>
            <a:endPar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1200"/>
              </a:spcBef>
              <a:spcAft>
                <a:spcPts val="600"/>
              </a:spcAft>
            </a:pPr>
            <a:r>
              <a:rPr lang="en-US" sz="3200" b="1" smtClean="0">
                <a:solidFill>
                  <a:srgbClr val="0000FF"/>
                </a:solidFill>
                <a:latin typeface="楷体" panose="02010609060101010101" pitchFamily="49" charset="-122"/>
                <a:ea typeface="楷体" panose="02010609060101010101" pitchFamily="49" charset="-122"/>
                <a:cs typeface="楷体" panose="02010609060101010101" pitchFamily="49" charset="-122"/>
              </a:rPr>
              <a:t>1</a:t>
            </a:r>
            <a:r>
              <a:rPr lang="zh-CN" altLang="en-US" sz="3200" b="1"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．项目产品或服务的质量控制。</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项目产品或服务的质量控制是一个诊断和治疗的过程。当产品生产出来以后，要检查产品的规格是否符合需要的标准，并消除产生的偏差。产品的质量控制活动包括计划、测试、记录和分析。</a:t>
            </a:r>
            <a:endPar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1200"/>
              </a:spcBef>
              <a:spcAft>
                <a:spcPts val="600"/>
              </a:spcAft>
            </a:pPr>
            <a:r>
              <a:rPr lang="en-US" sz="3200" b="1" smtClean="0">
                <a:solidFill>
                  <a:srgbClr val="0000FF"/>
                </a:solidFill>
                <a:latin typeface="楷体" panose="02010609060101010101" pitchFamily="49" charset="-122"/>
                <a:ea typeface="楷体" panose="02010609060101010101" pitchFamily="49" charset="-122"/>
                <a:cs typeface="楷体" panose="02010609060101010101" pitchFamily="49" charset="-122"/>
              </a:rPr>
              <a:t>2</a:t>
            </a:r>
            <a:r>
              <a:rPr lang="zh-CN" altLang="en-US" sz="3200" b="1" smtClean="0">
                <a:solidFill>
                  <a:srgbClr val="0000FF"/>
                </a:solidFill>
                <a:latin typeface="楷体" panose="02010609060101010101" pitchFamily="49" charset="-122"/>
                <a:ea typeface="楷体" panose="02010609060101010101" pitchFamily="49" charset="-122"/>
                <a:cs typeface="楷体" panose="02010609060101010101" pitchFamily="49" charset="-122"/>
              </a:rPr>
              <a:t>．项目管理过程的质量控制。</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项目管理过程的质量控制是通过项目审计来进行的。项目审计是将管理过程的作业与成功实践的标准进行比较所做的详细检查。</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54278" name="Rectangle 15"/>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7.5 </a:t>
            </a:r>
            <a:r>
              <a:rPr kumimoji="0" lang="zh-CN" altLang="en-US" sz="3000" b="1" smtClean="0">
                <a:latin typeface="楷体" panose="02010609060101010101" pitchFamily="49" charset="-122"/>
                <a:ea typeface="楷体" panose="02010609060101010101" pitchFamily="49" charset="-122"/>
              </a:rPr>
              <a:t>控制项目质量</a:t>
            </a:r>
            <a:endParaRPr kumimoji="0" lang="en-US" altLang="en-US" sz="3000" b="1">
              <a:latin typeface="楷体" panose="02010609060101010101" pitchFamily="49" charset="-122"/>
              <a:ea typeface="楷体" panose="02010609060101010101" pitchFamily="49" charset="-122"/>
            </a:endParaRPr>
          </a:p>
        </p:txBody>
      </p:sp>
      <p:sp>
        <p:nvSpPr>
          <p:cNvPr id="54279" name="Rectangle 16"/>
          <p:cNvSpPr>
            <a:spLocks noChangeArrowheads="1"/>
          </p:cNvSpPr>
          <p:nvPr/>
        </p:nvSpPr>
        <p:spPr bwMode="auto">
          <a:xfrm>
            <a:off x="323850" y="1341438"/>
            <a:ext cx="330771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7.5.1 </a:t>
            </a:r>
            <a:r>
              <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rPr>
              <a:t>实施质量控制 </a:t>
            </a:r>
            <a:endParaRPr kumimoji="0" lang="en-US" altLang="en-US"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9"/>
          <p:cNvSpPr>
            <a:spLocks noGrp="1" noChangeArrowheads="1"/>
          </p:cNvSpPr>
          <p:nvPr>
            <p:ph type="sldNum" sz="quarter" idx="10"/>
          </p:nvPr>
        </p:nvSpPr>
        <p:spPr>
          <a:noFill/>
        </p:spPr>
        <p:txBody>
          <a:bodyPr/>
          <a:lstStyle/>
          <a:p>
            <a:r>
              <a:rPr lang="zh-CN" altLang="en-GB" dirty="0" smtClean="0"/>
              <a:t>  </a:t>
            </a:r>
            <a:fld id="{B3C3689E-0B77-4BC3-AAF9-C57EEF09945D}" type="slidenum">
              <a:rPr lang="zh-CN" altLang="en-GB" smtClean="0"/>
            </a:fld>
            <a:endParaRPr lang="en-US" altLang="zh-CN" dirty="0" smtClean="0"/>
          </a:p>
        </p:txBody>
      </p:sp>
      <p:sp>
        <p:nvSpPr>
          <p:cNvPr id="5529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P.171</a:t>
            </a:r>
            <a:endParaRPr lang="en-US" altLang="zh-CN" sz="2400" b="1">
              <a:solidFill>
                <a:schemeClr val="bg2"/>
              </a:solidFill>
            </a:endParaRPr>
          </a:p>
        </p:txBody>
      </p:sp>
      <p:grpSp>
        <p:nvGrpSpPr>
          <p:cNvPr id="55300" name="Group 16"/>
          <p:cNvGrpSpPr/>
          <p:nvPr/>
        </p:nvGrpSpPr>
        <p:grpSpPr bwMode="auto">
          <a:xfrm>
            <a:off x="214314" y="3643313"/>
            <a:ext cx="8501090" cy="2665411"/>
            <a:chOff x="1162" y="1156"/>
            <a:chExt cx="3564" cy="2289"/>
          </a:xfrm>
        </p:grpSpPr>
        <p:sp>
          <p:nvSpPr>
            <p:cNvPr id="55306" name="AutoShape 17"/>
            <p:cNvSpPr>
              <a:spLocks noChangeArrowheads="1"/>
            </p:cNvSpPr>
            <p:nvPr/>
          </p:nvSpPr>
          <p:spPr bwMode="auto">
            <a:xfrm>
              <a:off x="1752" y="1882"/>
              <a:ext cx="2115" cy="389"/>
            </a:xfrm>
            <a:prstGeom prst="rightArrow">
              <a:avLst>
                <a:gd name="adj1" fmla="val 50000"/>
                <a:gd name="adj2" fmla="val 135925"/>
              </a:avLst>
            </a:prstGeom>
            <a:solidFill>
              <a:srgbClr val="FFFFFF"/>
            </a:solidFill>
            <a:ln w="19050">
              <a:solidFill>
                <a:srgbClr val="000000"/>
              </a:solidFill>
              <a:miter lim="800000"/>
            </a:ln>
          </p:spPr>
          <p:txBody>
            <a:bodyPr lIns="90488" tIns="44450" rIns="90488" bIns="44450" anchor="ctr"/>
            <a:lstStyle/>
            <a:p>
              <a:endParaRPr lang="zh-CN" altLang="en-US"/>
            </a:p>
          </p:txBody>
        </p:sp>
        <p:sp>
          <p:nvSpPr>
            <p:cNvPr id="55307" name="Line 18"/>
            <p:cNvSpPr>
              <a:spLocks noChangeShapeType="1"/>
            </p:cNvSpPr>
            <p:nvPr/>
          </p:nvSpPr>
          <p:spPr bwMode="auto">
            <a:xfrm flipH="1" flipV="1">
              <a:off x="2671" y="1418"/>
              <a:ext cx="356" cy="558"/>
            </a:xfrm>
            <a:prstGeom prst="line">
              <a:avLst/>
            </a:prstGeom>
            <a:noFill/>
            <a:ln w="19050">
              <a:solidFill>
                <a:srgbClr val="000000"/>
              </a:solidFill>
              <a:round/>
            </a:ln>
          </p:spPr>
          <p:txBody>
            <a:bodyPr anchor="ctr"/>
            <a:lstStyle/>
            <a:p>
              <a:endParaRPr lang="zh-CN" altLang="en-US"/>
            </a:p>
          </p:txBody>
        </p:sp>
        <p:sp>
          <p:nvSpPr>
            <p:cNvPr id="55308" name="Line 19"/>
            <p:cNvSpPr>
              <a:spLocks noChangeShapeType="1"/>
            </p:cNvSpPr>
            <p:nvPr/>
          </p:nvSpPr>
          <p:spPr bwMode="auto">
            <a:xfrm flipH="1" flipV="1">
              <a:off x="1997" y="1440"/>
              <a:ext cx="376" cy="536"/>
            </a:xfrm>
            <a:prstGeom prst="line">
              <a:avLst/>
            </a:prstGeom>
            <a:noFill/>
            <a:ln w="19050">
              <a:solidFill>
                <a:srgbClr val="000000"/>
              </a:solidFill>
              <a:round/>
            </a:ln>
          </p:spPr>
          <p:txBody>
            <a:bodyPr anchor="ctr"/>
            <a:lstStyle/>
            <a:p>
              <a:endParaRPr lang="zh-CN" altLang="en-US"/>
            </a:p>
          </p:txBody>
        </p:sp>
        <p:sp>
          <p:nvSpPr>
            <p:cNvPr id="55309" name="Line 20"/>
            <p:cNvSpPr>
              <a:spLocks noChangeShapeType="1"/>
            </p:cNvSpPr>
            <p:nvPr/>
          </p:nvSpPr>
          <p:spPr bwMode="auto">
            <a:xfrm flipH="1">
              <a:off x="2859" y="2188"/>
              <a:ext cx="274" cy="520"/>
            </a:xfrm>
            <a:prstGeom prst="line">
              <a:avLst/>
            </a:prstGeom>
            <a:noFill/>
            <a:ln w="19050">
              <a:solidFill>
                <a:srgbClr val="000000"/>
              </a:solidFill>
              <a:round/>
            </a:ln>
          </p:spPr>
          <p:txBody>
            <a:bodyPr anchor="ctr"/>
            <a:lstStyle/>
            <a:p>
              <a:endParaRPr lang="zh-CN" altLang="en-US"/>
            </a:p>
          </p:txBody>
        </p:sp>
        <p:sp>
          <p:nvSpPr>
            <p:cNvPr id="55310" name="Line 21"/>
            <p:cNvSpPr>
              <a:spLocks noChangeShapeType="1"/>
            </p:cNvSpPr>
            <p:nvPr/>
          </p:nvSpPr>
          <p:spPr bwMode="auto">
            <a:xfrm flipH="1">
              <a:off x="2294" y="2198"/>
              <a:ext cx="368" cy="509"/>
            </a:xfrm>
            <a:prstGeom prst="line">
              <a:avLst/>
            </a:prstGeom>
            <a:noFill/>
            <a:ln w="19050">
              <a:solidFill>
                <a:srgbClr val="000000"/>
              </a:solidFill>
              <a:round/>
            </a:ln>
          </p:spPr>
          <p:txBody>
            <a:bodyPr anchor="ctr"/>
            <a:lstStyle/>
            <a:p>
              <a:endParaRPr lang="zh-CN" altLang="en-US"/>
            </a:p>
          </p:txBody>
        </p:sp>
        <p:sp>
          <p:nvSpPr>
            <p:cNvPr id="55311" name="Line 22"/>
            <p:cNvSpPr>
              <a:spLocks noChangeShapeType="1"/>
            </p:cNvSpPr>
            <p:nvPr/>
          </p:nvSpPr>
          <p:spPr bwMode="auto">
            <a:xfrm flipH="1">
              <a:off x="1700" y="2188"/>
              <a:ext cx="349" cy="464"/>
            </a:xfrm>
            <a:prstGeom prst="line">
              <a:avLst/>
            </a:prstGeom>
            <a:noFill/>
            <a:ln w="19050">
              <a:solidFill>
                <a:srgbClr val="000000"/>
              </a:solidFill>
              <a:round/>
            </a:ln>
          </p:spPr>
          <p:txBody>
            <a:bodyPr anchor="ctr"/>
            <a:lstStyle/>
            <a:p>
              <a:endParaRPr lang="zh-CN" altLang="en-US"/>
            </a:p>
          </p:txBody>
        </p:sp>
        <p:sp>
          <p:nvSpPr>
            <p:cNvPr id="55312" name="Text Box 23"/>
            <p:cNvSpPr txBox="1">
              <a:spLocks noChangeArrowheads="1"/>
            </p:cNvSpPr>
            <p:nvPr/>
          </p:nvSpPr>
          <p:spPr bwMode="auto">
            <a:xfrm>
              <a:off x="3976" y="2871"/>
              <a:ext cx="419" cy="450"/>
            </a:xfrm>
            <a:prstGeom prst="rect">
              <a:avLst/>
            </a:prstGeom>
            <a:noFill/>
            <a:ln w="19050">
              <a:noFill/>
              <a:miter lim="800000"/>
            </a:ln>
          </p:spPr>
          <p:txBody>
            <a:bodyPr lIns="90488" tIns="44450" rIns="90488" bIns="44450" anchor="ctr"/>
            <a:lstStyle/>
            <a:p>
              <a:pPr algn="ctr">
                <a:spcBef>
                  <a:spcPct val="0"/>
                </a:spcBef>
              </a:pPr>
              <a:r>
                <a:rPr kumimoji="0" lang="zh-CN" altLang="en-US" sz="1400" b="1">
                  <a:solidFill>
                    <a:schemeClr val="bg2"/>
                  </a:solidFill>
                  <a:ea typeface="楷体_GB2312" pitchFamily="49" charset="-122"/>
                </a:rPr>
                <a:t>结果</a:t>
              </a:r>
              <a:endParaRPr kumimoji="0" lang="zh-CN" altLang="en-US" sz="1400">
                <a:solidFill>
                  <a:schemeClr val="bg2"/>
                </a:solidFill>
                <a:latin typeface="Arial" panose="020B0604020202020204" pitchFamily="34" charset="0"/>
              </a:endParaRPr>
            </a:p>
          </p:txBody>
        </p:sp>
        <p:sp>
          <p:nvSpPr>
            <p:cNvPr id="55313" name="Text Box 24"/>
            <p:cNvSpPr txBox="1">
              <a:spLocks noChangeArrowheads="1"/>
            </p:cNvSpPr>
            <p:nvPr/>
          </p:nvSpPr>
          <p:spPr bwMode="auto">
            <a:xfrm>
              <a:off x="2621" y="2589"/>
              <a:ext cx="485" cy="402"/>
            </a:xfrm>
            <a:prstGeom prst="rect">
              <a:avLst/>
            </a:prstGeom>
            <a:noFill/>
            <a:ln w="19050">
              <a:noFill/>
              <a:miter lim="800000"/>
            </a:ln>
          </p:spPr>
          <p:txBody>
            <a:bodyPr lIns="90488" tIns="44450" rIns="90488" bIns="44450" anchor="ctr"/>
            <a:lstStyle/>
            <a:p>
              <a:pPr algn="ctr">
                <a:spcBef>
                  <a:spcPct val="0"/>
                </a:spcBef>
              </a:pPr>
              <a:r>
                <a:rPr kumimoji="0" lang="zh-CN" altLang="en-US" sz="1400" b="1">
                  <a:solidFill>
                    <a:schemeClr val="bg2"/>
                  </a:solidFill>
                  <a:ea typeface="楷体_GB2312" pitchFamily="49" charset="-122"/>
                </a:rPr>
                <a:t>材料</a:t>
              </a:r>
              <a:endParaRPr kumimoji="0" lang="zh-CN" altLang="en-US" sz="1400" b="1">
                <a:solidFill>
                  <a:schemeClr val="bg2"/>
                </a:solidFill>
                <a:latin typeface="Arial" panose="020B0604020202020204" pitchFamily="34" charset="0"/>
              </a:endParaRPr>
            </a:p>
          </p:txBody>
        </p:sp>
        <p:sp>
          <p:nvSpPr>
            <p:cNvPr id="55314" name="Text Box 25"/>
            <p:cNvSpPr txBox="1">
              <a:spLocks noChangeArrowheads="1"/>
            </p:cNvSpPr>
            <p:nvPr/>
          </p:nvSpPr>
          <p:spPr bwMode="auto">
            <a:xfrm>
              <a:off x="2100" y="2601"/>
              <a:ext cx="416" cy="402"/>
            </a:xfrm>
            <a:prstGeom prst="rect">
              <a:avLst/>
            </a:prstGeom>
            <a:noFill/>
            <a:ln w="19050">
              <a:noFill/>
              <a:miter lim="800000"/>
            </a:ln>
          </p:spPr>
          <p:txBody>
            <a:bodyPr lIns="90488" tIns="44450" rIns="90488" bIns="44450" anchor="ctr"/>
            <a:lstStyle/>
            <a:p>
              <a:pPr algn="ctr">
                <a:spcBef>
                  <a:spcPct val="0"/>
                </a:spcBef>
              </a:pPr>
              <a:r>
                <a:rPr kumimoji="0" lang="zh-CN" altLang="en-US" sz="1400" b="1">
                  <a:solidFill>
                    <a:schemeClr val="bg2"/>
                  </a:solidFill>
                  <a:ea typeface="楷体_GB2312" pitchFamily="49" charset="-122"/>
                </a:rPr>
                <a:t>方法</a:t>
              </a:r>
              <a:endParaRPr kumimoji="0" lang="zh-CN" altLang="en-US" sz="1400" b="1">
                <a:solidFill>
                  <a:schemeClr val="bg2"/>
                </a:solidFill>
                <a:latin typeface="Arial" panose="020B0604020202020204" pitchFamily="34" charset="0"/>
              </a:endParaRPr>
            </a:p>
          </p:txBody>
        </p:sp>
        <p:sp>
          <p:nvSpPr>
            <p:cNvPr id="55315" name="Text Box 26"/>
            <p:cNvSpPr txBox="1">
              <a:spLocks noChangeArrowheads="1"/>
            </p:cNvSpPr>
            <p:nvPr/>
          </p:nvSpPr>
          <p:spPr bwMode="auto">
            <a:xfrm>
              <a:off x="1476" y="2607"/>
              <a:ext cx="484" cy="389"/>
            </a:xfrm>
            <a:prstGeom prst="rect">
              <a:avLst/>
            </a:prstGeom>
            <a:noFill/>
            <a:ln w="19050">
              <a:noFill/>
              <a:miter lim="800000"/>
            </a:ln>
          </p:spPr>
          <p:txBody>
            <a:bodyPr lIns="90488" tIns="44450" rIns="90488" bIns="44450" anchor="ctr"/>
            <a:lstStyle/>
            <a:p>
              <a:pPr algn="ctr">
                <a:spcBef>
                  <a:spcPct val="0"/>
                </a:spcBef>
              </a:pPr>
              <a:r>
                <a:rPr kumimoji="0" lang="zh-CN" altLang="en-US" sz="1400" b="1">
                  <a:solidFill>
                    <a:schemeClr val="bg2"/>
                  </a:solidFill>
                  <a:ea typeface="楷体_GB2312" pitchFamily="49" charset="-122"/>
                </a:rPr>
                <a:t>环境</a:t>
              </a:r>
              <a:endParaRPr kumimoji="0" lang="zh-CN" altLang="en-US" sz="1400" b="1">
                <a:solidFill>
                  <a:schemeClr val="bg2"/>
                </a:solidFill>
                <a:latin typeface="Arial" panose="020B0604020202020204" pitchFamily="34" charset="0"/>
              </a:endParaRPr>
            </a:p>
          </p:txBody>
        </p:sp>
        <p:sp>
          <p:nvSpPr>
            <p:cNvPr id="55316" name="Line 27"/>
            <p:cNvSpPr>
              <a:spLocks noChangeShapeType="1"/>
            </p:cNvSpPr>
            <p:nvPr/>
          </p:nvSpPr>
          <p:spPr bwMode="auto">
            <a:xfrm>
              <a:off x="2792" y="1568"/>
              <a:ext cx="349" cy="0"/>
            </a:xfrm>
            <a:prstGeom prst="line">
              <a:avLst/>
            </a:prstGeom>
            <a:noFill/>
            <a:ln w="19050">
              <a:solidFill>
                <a:srgbClr val="000000"/>
              </a:solidFill>
              <a:round/>
            </a:ln>
          </p:spPr>
          <p:txBody>
            <a:bodyPr anchor="ctr"/>
            <a:lstStyle/>
            <a:p>
              <a:endParaRPr lang="zh-CN" altLang="en-US"/>
            </a:p>
          </p:txBody>
        </p:sp>
        <p:sp>
          <p:nvSpPr>
            <p:cNvPr id="55317" name="Line 28"/>
            <p:cNvSpPr>
              <a:spLocks noChangeShapeType="1"/>
            </p:cNvSpPr>
            <p:nvPr/>
          </p:nvSpPr>
          <p:spPr bwMode="auto">
            <a:xfrm flipH="1">
              <a:off x="2565" y="1773"/>
              <a:ext cx="332" cy="0"/>
            </a:xfrm>
            <a:prstGeom prst="line">
              <a:avLst/>
            </a:prstGeom>
            <a:noFill/>
            <a:ln w="19050">
              <a:solidFill>
                <a:srgbClr val="000000"/>
              </a:solidFill>
              <a:round/>
            </a:ln>
          </p:spPr>
          <p:txBody>
            <a:bodyPr anchor="ctr"/>
            <a:lstStyle/>
            <a:p>
              <a:endParaRPr lang="zh-CN" altLang="en-US"/>
            </a:p>
          </p:txBody>
        </p:sp>
        <p:sp>
          <p:nvSpPr>
            <p:cNvPr id="55318" name="Line 29"/>
            <p:cNvSpPr>
              <a:spLocks noChangeShapeType="1"/>
            </p:cNvSpPr>
            <p:nvPr/>
          </p:nvSpPr>
          <p:spPr bwMode="auto">
            <a:xfrm flipV="1">
              <a:off x="2111" y="1587"/>
              <a:ext cx="305" cy="9"/>
            </a:xfrm>
            <a:prstGeom prst="line">
              <a:avLst/>
            </a:prstGeom>
            <a:noFill/>
            <a:ln w="19050">
              <a:solidFill>
                <a:srgbClr val="000000"/>
              </a:solidFill>
              <a:round/>
            </a:ln>
          </p:spPr>
          <p:txBody>
            <a:bodyPr anchor="ctr"/>
            <a:lstStyle/>
            <a:p>
              <a:endParaRPr lang="zh-CN" altLang="en-US"/>
            </a:p>
          </p:txBody>
        </p:sp>
        <p:sp>
          <p:nvSpPr>
            <p:cNvPr id="55319" name="Line 30"/>
            <p:cNvSpPr>
              <a:spLocks noChangeShapeType="1"/>
            </p:cNvSpPr>
            <p:nvPr/>
          </p:nvSpPr>
          <p:spPr bwMode="auto">
            <a:xfrm flipH="1">
              <a:off x="2006" y="1819"/>
              <a:ext cx="253" cy="0"/>
            </a:xfrm>
            <a:prstGeom prst="line">
              <a:avLst/>
            </a:prstGeom>
            <a:noFill/>
            <a:ln w="19050">
              <a:solidFill>
                <a:srgbClr val="000000"/>
              </a:solidFill>
              <a:round/>
            </a:ln>
          </p:spPr>
          <p:txBody>
            <a:bodyPr anchor="ctr"/>
            <a:lstStyle/>
            <a:p>
              <a:endParaRPr lang="zh-CN" altLang="en-US"/>
            </a:p>
          </p:txBody>
        </p:sp>
        <p:sp>
          <p:nvSpPr>
            <p:cNvPr id="55320" name="Line 31"/>
            <p:cNvSpPr>
              <a:spLocks noChangeShapeType="1"/>
            </p:cNvSpPr>
            <p:nvPr/>
          </p:nvSpPr>
          <p:spPr bwMode="auto">
            <a:xfrm flipV="1">
              <a:off x="3045" y="2365"/>
              <a:ext cx="271" cy="9"/>
            </a:xfrm>
            <a:prstGeom prst="line">
              <a:avLst/>
            </a:prstGeom>
            <a:noFill/>
            <a:ln w="19050">
              <a:solidFill>
                <a:srgbClr val="000000"/>
              </a:solidFill>
              <a:round/>
            </a:ln>
          </p:spPr>
          <p:txBody>
            <a:bodyPr anchor="ctr"/>
            <a:lstStyle/>
            <a:p>
              <a:endParaRPr lang="zh-CN" altLang="en-US"/>
            </a:p>
          </p:txBody>
        </p:sp>
        <p:sp>
          <p:nvSpPr>
            <p:cNvPr id="55321" name="Line 32"/>
            <p:cNvSpPr>
              <a:spLocks noChangeShapeType="1"/>
            </p:cNvSpPr>
            <p:nvPr/>
          </p:nvSpPr>
          <p:spPr bwMode="auto">
            <a:xfrm flipV="1">
              <a:off x="2998" y="2454"/>
              <a:ext cx="323" cy="0"/>
            </a:xfrm>
            <a:prstGeom prst="line">
              <a:avLst/>
            </a:prstGeom>
            <a:noFill/>
            <a:ln w="19050">
              <a:solidFill>
                <a:srgbClr val="000000"/>
              </a:solidFill>
              <a:round/>
            </a:ln>
          </p:spPr>
          <p:txBody>
            <a:bodyPr anchor="ctr"/>
            <a:lstStyle/>
            <a:p>
              <a:endParaRPr lang="zh-CN" altLang="en-US"/>
            </a:p>
          </p:txBody>
        </p:sp>
        <p:sp>
          <p:nvSpPr>
            <p:cNvPr id="55322" name="Line 33"/>
            <p:cNvSpPr>
              <a:spLocks noChangeShapeType="1"/>
            </p:cNvSpPr>
            <p:nvPr/>
          </p:nvSpPr>
          <p:spPr bwMode="auto">
            <a:xfrm>
              <a:off x="2929" y="2581"/>
              <a:ext cx="623" cy="1"/>
            </a:xfrm>
            <a:prstGeom prst="line">
              <a:avLst/>
            </a:prstGeom>
            <a:noFill/>
            <a:ln w="19050">
              <a:solidFill>
                <a:srgbClr val="000000"/>
              </a:solidFill>
              <a:round/>
            </a:ln>
          </p:spPr>
          <p:txBody>
            <a:bodyPr anchor="ctr"/>
            <a:lstStyle/>
            <a:p>
              <a:endParaRPr lang="zh-CN" altLang="en-US"/>
            </a:p>
          </p:txBody>
        </p:sp>
        <p:sp>
          <p:nvSpPr>
            <p:cNvPr id="55323" name="Line 34"/>
            <p:cNvSpPr>
              <a:spLocks noChangeShapeType="1"/>
            </p:cNvSpPr>
            <p:nvPr/>
          </p:nvSpPr>
          <p:spPr bwMode="auto">
            <a:xfrm>
              <a:off x="3137" y="2581"/>
              <a:ext cx="280" cy="138"/>
            </a:xfrm>
            <a:prstGeom prst="line">
              <a:avLst/>
            </a:prstGeom>
            <a:noFill/>
            <a:ln w="19050">
              <a:solidFill>
                <a:srgbClr val="000000"/>
              </a:solidFill>
              <a:round/>
            </a:ln>
          </p:spPr>
          <p:txBody>
            <a:bodyPr anchor="ctr"/>
            <a:lstStyle/>
            <a:p>
              <a:endParaRPr lang="zh-CN" altLang="en-US"/>
            </a:p>
          </p:txBody>
        </p:sp>
        <p:sp>
          <p:nvSpPr>
            <p:cNvPr id="55324" name="Line 35"/>
            <p:cNvSpPr>
              <a:spLocks noChangeShapeType="1"/>
            </p:cNvSpPr>
            <p:nvPr/>
          </p:nvSpPr>
          <p:spPr bwMode="auto">
            <a:xfrm>
              <a:off x="2547" y="2365"/>
              <a:ext cx="166" cy="0"/>
            </a:xfrm>
            <a:prstGeom prst="line">
              <a:avLst/>
            </a:prstGeom>
            <a:noFill/>
            <a:ln w="19050">
              <a:solidFill>
                <a:srgbClr val="000000"/>
              </a:solidFill>
              <a:round/>
            </a:ln>
          </p:spPr>
          <p:txBody>
            <a:bodyPr anchor="ctr"/>
            <a:lstStyle/>
            <a:p>
              <a:endParaRPr lang="zh-CN" altLang="en-US"/>
            </a:p>
          </p:txBody>
        </p:sp>
        <p:sp>
          <p:nvSpPr>
            <p:cNvPr id="55325" name="Line 36"/>
            <p:cNvSpPr>
              <a:spLocks noChangeShapeType="1"/>
            </p:cNvSpPr>
            <p:nvPr/>
          </p:nvSpPr>
          <p:spPr bwMode="auto">
            <a:xfrm>
              <a:off x="2407" y="2541"/>
              <a:ext cx="306" cy="0"/>
            </a:xfrm>
            <a:prstGeom prst="line">
              <a:avLst/>
            </a:prstGeom>
            <a:noFill/>
            <a:ln w="19050">
              <a:solidFill>
                <a:srgbClr val="000000"/>
              </a:solidFill>
              <a:round/>
            </a:ln>
          </p:spPr>
          <p:txBody>
            <a:bodyPr anchor="ctr"/>
            <a:lstStyle/>
            <a:p>
              <a:endParaRPr lang="zh-CN" altLang="en-US"/>
            </a:p>
          </p:txBody>
        </p:sp>
        <p:sp>
          <p:nvSpPr>
            <p:cNvPr id="55326" name="Line 37"/>
            <p:cNvSpPr>
              <a:spLocks noChangeShapeType="1"/>
            </p:cNvSpPr>
            <p:nvPr/>
          </p:nvSpPr>
          <p:spPr bwMode="auto">
            <a:xfrm flipH="1">
              <a:off x="2206" y="2438"/>
              <a:ext cx="271" cy="0"/>
            </a:xfrm>
            <a:prstGeom prst="line">
              <a:avLst/>
            </a:prstGeom>
            <a:noFill/>
            <a:ln w="19050">
              <a:solidFill>
                <a:srgbClr val="000000"/>
              </a:solidFill>
              <a:round/>
            </a:ln>
          </p:spPr>
          <p:txBody>
            <a:bodyPr anchor="ctr"/>
            <a:lstStyle/>
            <a:p>
              <a:endParaRPr lang="zh-CN" altLang="en-US"/>
            </a:p>
          </p:txBody>
        </p:sp>
        <p:sp>
          <p:nvSpPr>
            <p:cNvPr id="55327" name="Line 38"/>
            <p:cNvSpPr>
              <a:spLocks noChangeShapeType="1"/>
            </p:cNvSpPr>
            <p:nvPr/>
          </p:nvSpPr>
          <p:spPr bwMode="auto">
            <a:xfrm>
              <a:off x="1970" y="2290"/>
              <a:ext cx="324" cy="0"/>
            </a:xfrm>
            <a:prstGeom prst="line">
              <a:avLst/>
            </a:prstGeom>
            <a:noFill/>
            <a:ln w="19050">
              <a:solidFill>
                <a:srgbClr val="000000"/>
              </a:solidFill>
              <a:round/>
            </a:ln>
          </p:spPr>
          <p:txBody>
            <a:bodyPr anchor="ctr"/>
            <a:lstStyle/>
            <a:p>
              <a:endParaRPr lang="zh-CN" altLang="en-US"/>
            </a:p>
          </p:txBody>
        </p:sp>
        <p:sp>
          <p:nvSpPr>
            <p:cNvPr id="55328" name="Line 39"/>
            <p:cNvSpPr>
              <a:spLocks noChangeShapeType="1"/>
            </p:cNvSpPr>
            <p:nvPr/>
          </p:nvSpPr>
          <p:spPr bwMode="auto">
            <a:xfrm>
              <a:off x="1804" y="2513"/>
              <a:ext cx="245" cy="0"/>
            </a:xfrm>
            <a:prstGeom prst="line">
              <a:avLst/>
            </a:prstGeom>
            <a:noFill/>
            <a:ln w="19050">
              <a:solidFill>
                <a:srgbClr val="000000"/>
              </a:solidFill>
              <a:round/>
            </a:ln>
          </p:spPr>
          <p:txBody>
            <a:bodyPr anchor="ctr"/>
            <a:lstStyle/>
            <a:p>
              <a:endParaRPr lang="zh-CN" altLang="en-US"/>
            </a:p>
          </p:txBody>
        </p:sp>
        <p:sp>
          <p:nvSpPr>
            <p:cNvPr id="55329" name="Line 40"/>
            <p:cNvSpPr>
              <a:spLocks noChangeShapeType="1"/>
            </p:cNvSpPr>
            <p:nvPr/>
          </p:nvSpPr>
          <p:spPr bwMode="auto">
            <a:xfrm flipH="1">
              <a:off x="1683" y="2390"/>
              <a:ext cx="218" cy="1"/>
            </a:xfrm>
            <a:prstGeom prst="line">
              <a:avLst/>
            </a:prstGeom>
            <a:noFill/>
            <a:ln w="19050">
              <a:solidFill>
                <a:srgbClr val="000000"/>
              </a:solidFill>
              <a:round/>
            </a:ln>
          </p:spPr>
          <p:txBody>
            <a:bodyPr anchor="ctr"/>
            <a:lstStyle/>
            <a:p>
              <a:endParaRPr lang="zh-CN" altLang="en-US"/>
            </a:p>
          </p:txBody>
        </p:sp>
        <p:sp>
          <p:nvSpPr>
            <p:cNvPr id="55330" name="Line 41"/>
            <p:cNvSpPr>
              <a:spLocks noChangeShapeType="1"/>
            </p:cNvSpPr>
            <p:nvPr/>
          </p:nvSpPr>
          <p:spPr bwMode="auto">
            <a:xfrm flipH="1">
              <a:off x="1614" y="2581"/>
              <a:ext cx="130" cy="1"/>
            </a:xfrm>
            <a:prstGeom prst="line">
              <a:avLst/>
            </a:prstGeom>
            <a:noFill/>
            <a:ln w="19050">
              <a:solidFill>
                <a:srgbClr val="000000"/>
              </a:solidFill>
              <a:round/>
            </a:ln>
          </p:spPr>
          <p:txBody>
            <a:bodyPr anchor="ctr"/>
            <a:lstStyle/>
            <a:p>
              <a:endParaRPr lang="zh-CN" altLang="en-US"/>
            </a:p>
          </p:txBody>
        </p:sp>
        <p:sp>
          <p:nvSpPr>
            <p:cNvPr id="55331" name="Line 42"/>
            <p:cNvSpPr>
              <a:spLocks noChangeShapeType="1"/>
            </p:cNvSpPr>
            <p:nvPr/>
          </p:nvSpPr>
          <p:spPr bwMode="auto">
            <a:xfrm>
              <a:off x="3900" y="1394"/>
              <a:ext cx="1" cy="1354"/>
            </a:xfrm>
            <a:prstGeom prst="line">
              <a:avLst/>
            </a:prstGeom>
            <a:noFill/>
            <a:ln w="12700">
              <a:solidFill>
                <a:srgbClr val="000000"/>
              </a:solidFill>
              <a:round/>
            </a:ln>
          </p:spPr>
          <p:txBody>
            <a:bodyPr/>
            <a:lstStyle/>
            <a:p>
              <a:endParaRPr lang="zh-CN" altLang="en-US"/>
            </a:p>
          </p:txBody>
        </p:sp>
        <p:sp>
          <p:nvSpPr>
            <p:cNvPr id="55332" name="Text Box 43"/>
            <p:cNvSpPr txBox="1">
              <a:spLocks noChangeArrowheads="1"/>
            </p:cNvSpPr>
            <p:nvPr/>
          </p:nvSpPr>
          <p:spPr bwMode="auto">
            <a:xfrm>
              <a:off x="3976" y="1878"/>
              <a:ext cx="416" cy="512"/>
            </a:xfrm>
            <a:prstGeom prst="rect">
              <a:avLst/>
            </a:prstGeom>
            <a:noFill/>
            <a:ln w="12700">
              <a:solidFill>
                <a:srgbClr val="000000"/>
              </a:solidFill>
              <a:miter lim="800000"/>
            </a:ln>
          </p:spPr>
          <p:txBody>
            <a:bodyPr lIns="90488" tIns="44450" rIns="90488" bIns="44450" anchor="ctr"/>
            <a:lstStyle/>
            <a:p>
              <a:pPr algn="ctr">
                <a:spcBef>
                  <a:spcPct val="0"/>
                </a:spcBef>
              </a:pPr>
              <a:r>
                <a:rPr kumimoji="0" lang="zh-CN" altLang="en-US" sz="1400" b="1">
                  <a:solidFill>
                    <a:schemeClr val="bg2"/>
                  </a:solidFill>
                  <a:ea typeface="楷体_GB2312" pitchFamily="49" charset="-122"/>
                </a:rPr>
                <a:t>潜在</a:t>
              </a:r>
              <a:endParaRPr kumimoji="0" lang="zh-CN" altLang="en-US" sz="1400">
                <a:solidFill>
                  <a:schemeClr val="bg2"/>
                </a:solidFill>
                <a:latin typeface="Arial" panose="020B0604020202020204" pitchFamily="34" charset="0"/>
              </a:endParaRPr>
            </a:p>
            <a:p>
              <a:pPr algn="ctr" eaLnBrk="0" hangingPunct="0">
                <a:spcBef>
                  <a:spcPct val="0"/>
                </a:spcBef>
              </a:pPr>
              <a:r>
                <a:rPr kumimoji="0" lang="zh-CN" altLang="en-US" sz="1400" b="1">
                  <a:solidFill>
                    <a:schemeClr val="bg2"/>
                  </a:solidFill>
                  <a:ea typeface="楷体_GB2312" pitchFamily="49" charset="-122"/>
                </a:rPr>
                <a:t>问题</a:t>
              </a:r>
              <a:endParaRPr kumimoji="0" lang="zh-CN" altLang="en-US" sz="1400">
                <a:solidFill>
                  <a:schemeClr val="bg2"/>
                </a:solidFill>
                <a:latin typeface="Arial" panose="020B0604020202020204" pitchFamily="34" charset="0"/>
              </a:endParaRPr>
            </a:p>
          </p:txBody>
        </p:sp>
        <p:sp>
          <p:nvSpPr>
            <p:cNvPr id="55333" name="Text Box 44"/>
            <p:cNvSpPr txBox="1">
              <a:spLocks noChangeArrowheads="1"/>
            </p:cNvSpPr>
            <p:nvPr/>
          </p:nvSpPr>
          <p:spPr bwMode="auto">
            <a:xfrm>
              <a:off x="2222" y="2892"/>
              <a:ext cx="833" cy="429"/>
            </a:xfrm>
            <a:prstGeom prst="rect">
              <a:avLst/>
            </a:prstGeom>
            <a:noFill/>
            <a:ln w="19050">
              <a:noFill/>
              <a:miter lim="800000"/>
            </a:ln>
          </p:spPr>
          <p:txBody>
            <a:bodyPr lIns="90488" tIns="44450" rIns="90488" bIns="44450" anchor="ctr"/>
            <a:lstStyle/>
            <a:p>
              <a:pPr algn="ctr">
                <a:spcBef>
                  <a:spcPct val="0"/>
                </a:spcBef>
              </a:pPr>
              <a:r>
                <a:rPr kumimoji="0" lang="zh-CN" altLang="en-US" sz="1400" b="1">
                  <a:solidFill>
                    <a:schemeClr val="bg2"/>
                  </a:solidFill>
                  <a:ea typeface="楷体_GB2312" pitchFamily="49" charset="-122"/>
                </a:rPr>
                <a:t>潜在因素</a:t>
              </a:r>
              <a:endParaRPr kumimoji="0" lang="zh-CN" altLang="en-US" sz="1400">
                <a:solidFill>
                  <a:schemeClr val="bg2"/>
                </a:solidFill>
                <a:latin typeface="Arial" panose="020B0604020202020204" pitchFamily="34" charset="0"/>
              </a:endParaRPr>
            </a:p>
          </p:txBody>
        </p:sp>
        <p:sp>
          <p:nvSpPr>
            <p:cNvPr id="55334" name="Rectangle 45"/>
            <p:cNvSpPr>
              <a:spLocks noChangeArrowheads="1"/>
            </p:cNvSpPr>
            <p:nvPr/>
          </p:nvSpPr>
          <p:spPr bwMode="auto">
            <a:xfrm>
              <a:off x="1162" y="1156"/>
              <a:ext cx="3564" cy="2289"/>
            </a:xfrm>
            <a:prstGeom prst="rect">
              <a:avLst/>
            </a:prstGeom>
            <a:noFill/>
            <a:ln w="12700">
              <a:solidFill>
                <a:srgbClr val="000000"/>
              </a:solidFill>
              <a:miter lim="800000"/>
            </a:ln>
          </p:spPr>
          <p:txBody>
            <a:bodyPr/>
            <a:lstStyle/>
            <a:p>
              <a:endParaRPr lang="zh-CN" altLang="en-US"/>
            </a:p>
          </p:txBody>
        </p:sp>
        <p:sp>
          <p:nvSpPr>
            <p:cNvPr id="55335" name="Text Box 46"/>
            <p:cNvSpPr txBox="1">
              <a:spLocks noChangeArrowheads="1"/>
            </p:cNvSpPr>
            <p:nvPr/>
          </p:nvSpPr>
          <p:spPr bwMode="auto">
            <a:xfrm>
              <a:off x="2463" y="1156"/>
              <a:ext cx="414" cy="411"/>
            </a:xfrm>
            <a:prstGeom prst="rect">
              <a:avLst/>
            </a:prstGeom>
            <a:noFill/>
            <a:ln w="19050">
              <a:noFill/>
              <a:miter lim="800000"/>
            </a:ln>
          </p:spPr>
          <p:txBody>
            <a:bodyPr lIns="90488" tIns="44450" rIns="90488" bIns="44450" anchor="ctr"/>
            <a:lstStyle/>
            <a:p>
              <a:pPr algn="ctr">
                <a:spcBef>
                  <a:spcPct val="0"/>
                </a:spcBef>
              </a:pPr>
              <a:r>
                <a:rPr kumimoji="0" lang="zh-CN" altLang="en-US" sz="1400" b="1">
                  <a:solidFill>
                    <a:schemeClr val="bg2"/>
                  </a:solidFill>
                  <a:ea typeface="楷体_GB2312" pitchFamily="49" charset="-122"/>
                </a:rPr>
                <a:t>机器</a:t>
              </a:r>
              <a:endParaRPr kumimoji="0" lang="zh-CN" altLang="en-US" sz="1400" b="1">
                <a:solidFill>
                  <a:schemeClr val="bg2"/>
                </a:solidFill>
                <a:latin typeface="Arial" panose="020B0604020202020204" pitchFamily="34" charset="0"/>
              </a:endParaRPr>
            </a:p>
          </p:txBody>
        </p:sp>
        <p:sp>
          <p:nvSpPr>
            <p:cNvPr id="55336" name="Text Box 47"/>
            <p:cNvSpPr txBox="1">
              <a:spLocks noChangeArrowheads="1"/>
            </p:cNvSpPr>
            <p:nvPr/>
          </p:nvSpPr>
          <p:spPr bwMode="auto">
            <a:xfrm>
              <a:off x="1791" y="1253"/>
              <a:ext cx="424" cy="254"/>
            </a:xfrm>
            <a:prstGeom prst="rect">
              <a:avLst/>
            </a:prstGeom>
            <a:noFill/>
            <a:ln w="19050">
              <a:noFill/>
              <a:miter lim="800000"/>
            </a:ln>
          </p:spPr>
          <p:txBody>
            <a:bodyPr lIns="90488" tIns="44450" rIns="90488" bIns="44450" anchor="ctr"/>
            <a:lstStyle/>
            <a:p>
              <a:pPr algn="ctr">
                <a:spcBef>
                  <a:spcPct val="0"/>
                </a:spcBef>
              </a:pPr>
              <a:r>
                <a:rPr kumimoji="0" lang="zh-CN" altLang="en-US" sz="1400" b="1">
                  <a:solidFill>
                    <a:schemeClr val="bg2"/>
                  </a:solidFill>
                  <a:ea typeface="楷体_GB2312" pitchFamily="49" charset="-122"/>
                </a:rPr>
                <a:t>人员</a:t>
              </a:r>
              <a:endParaRPr kumimoji="0" lang="zh-CN" altLang="en-US" sz="1400" b="1">
                <a:solidFill>
                  <a:schemeClr val="bg2"/>
                </a:solidFill>
                <a:latin typeface="Arial" panose="020B0604020202020204" pitchFamily="34" charset="0"/>
              </a:endParaRPr>
            </a:p>
          </p:txBody>
        </p:sp>
      </p:grpSp>
      <p:sp>
        <p:nvSpPr>
          <p:cNvPr id="55301" name="Text Box 48"/>
          <p:cNvSpPr txBox="1">
            <a:spLocks noChangeArrowheads="1"/>
          </p:cNvSpPr>
          <p:nvPr/>
        </p:nvSpPr>
        <p:spPr bwMode="auto">
          <a:xfrm>
            <a:off x="3419474" y="6500835"/>
            <a:ext cx="2224095" cy="368300"/>
          </a:xfrm>
          <a:prstGeom prst="rect">
            <a:avLst/>
          </a:prstGeom>
          <a:noFill/>
          <a:ln w="9525">
            <a:noFill/>
            <a:miter lim="800000"/>
          </a:ln>
        </p:spPr>
        <p:txBody>
          <a:bodyPr wrap="square">
            <a:spAutoFit/>
          </a:bodyPr>
          <a:lstStyle/>
          <a:p>
            <a:pPr algn="dist"/>
            <a:r>
              <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rPr>
              <a:t>图</a:t>
            </a:r>
            <a:r>
              <a:rPr kumimoji="0" lang="en-US" altLang="zh-CN" sz="1800" b="1" smtClean="0">
                <a:solidFill>
                  <a:srgbClr val="FF0000"/>
                </a:solidFill>
                <a:ea typeface="楷体" panose="02010609060101010101" pitchFamily="49" charset="-122"/>
                <a:cs typeface="Times New Roman" panose="02020603050405020304" pitchFamily="18" charset="0"/>
              </a:rPr>
              <a:t>7-5</a:t>
            </a:r>
            <a:r>
              <a:rPr kumimoji="0" lang="en-US" altLang="zh-CN" sz="1800" b="1" smtClean="0">
                <a:solidFill>
                  <a:srgbClr val="FF0000"/>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sz="1800" b="1" smtClean="0">
                <a:solidFill>
                  <a:srgbClr val="FF0000"/>
                </a:solidFill>
                <a:latin typeface="楷体" panose="02010609060101010101" pitchFamily="49" charset="-122"/>
                <a:ea typeface="楷体" panose="02010609060101010101" pitchFamily="49" charset="-122"/>
                <a:cs typeface="楷体" panose="02010609060101010101" pitchFamily="49" charset="-122"/>
              </a:rPr>
              <a:t>因果</a:t>
            </a:r>
            <a:r>
              <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rPr>
              <a:t>图示例</a:t>
            </a:r>
            <a:endPar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55302" name="Rectangle 50"/>
          <p:cNvSpPr>
            <a:spLocks noChangeArrowheads="1"/>
          </p:cNvSpPr>
          <p:nvPr/>
        </p:nvSpPr>
        <p:spPr bwMode="auto">
          <a:xfrm>
            <a:off x="179388" y="1800747"/>
            <a:ext cx="8569325" cy="1260475"/>
          </a:xfrm>
          <a:prstGeom prst="rect">
            <a:avLst/>
          </a:prstGeom>
          <a:noFill/>
          <a:ln w="9525" algn="ctr">
            <a:noFill/>
            <a:miter lim="800000"/>
          </a:ln>
        </p:spPr>
        <p:txBody>
          <a:bodyPr anchor="ctr">
            <a:spAutoFit/>
          </a:bodyPr>
          <a:lstStyle/>
          <a:p>
            <a:pPr algn="l">
              <a:spcBef>
                <a:spcPts val="0"/>
              </a:spcBef>
              <a:buClr>
                <a:schemeClr val="hlink"/>
              </a:buClr>
            </a:pPr>
            <a:r>
              <a:rPr kumimoji="0" lang="en-US" altLang="zh-CN" b="1" smtClean="0">
                <a:solidFill>
                  <a:srgbClr val="0000FF"/>
                </a:solidFill>
                <a:latin typeface="楷体" panose="02010609060101010101" pitchFamily="49" charset="-122"/>
                <a:ea typeface="楷体" panose="02010609060101010101" pitchFamily="49" charset="-122"/>
                <a:cs typeface="楷体" panose="02010609060101010101" pitchFamily="49" charset="-122"/>
              </a:rPr>
              <a:t>1.</a:t>
            </a:r>
            <a:r>
              <a:rPr kumimoji="0" lang="zh-CN" altLang="en-US" b="1" smtClean="0">
                <a:solidFill>
                  <a:srgbClr val="0000FF"/>
                </a:solidFill>
                <a:latin typeface="楷体" panose="02010609060101010101" pitchFamily="49" charset="-122"/>
                <a:ea typeface="楷体" panose="02010609060101010101" pitchFamily="49" charset="-122"/>
                <a:cs typeface="楷体" panose="02010609060101010101" pitchFamily="49" charset="-122"/>
              </a:rPr>
              <a:t>质量</a:t>
            </a:r>
            <a:r>
              <a:rPr kumimoji="0" lang="en-US" altLang="zh-CN" b="1" smtClean="0">
                <a:solidFill>
                  <a:srgbClr val="0000FF"/>
                </a:solidFill>
                <a:latin typeface="楷体" panose="02010609060101010101" pitchFamily="49" charset="-122"/>
                <a:ea typeface="楷体" panose="02010609060101010101" pitchFamily="49" charset="-122"/>
                <a:cs typeface="楷体" panose="02010609060101010101" pitchFamily="49" charset="-122"/>
              </a:rPr>
              <a:t>7</a:t>
            </a:r>
            <a:r>
              <a:rPr kumimoji="0" lang="zh-CN" altLang="en-US" b="1" smtClean="0">
                <a:solidFill>
                  <a:srgbClr val="0000FF"/>
                </a:solidFill>
                <a:latin typeface="楷体" panose="02010609060101010101" pitchFamily="49" charset="-122"/>
                <a:ea typeface="楷体" panose="02010609060101010101" pitchFamily="49" charset="-122"/>
                <a:cs typeface="楷体" panose="02010609060101010101" pitchFamily="49" charset="-122"/>
              </a:rPr>
              <a:t>工具</a:t>
            </a:r>
            <a:endParaRPr kumimoji="0" lang="en-US" altLang="zh-CN" b="1"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buClr>
                <a:schemeClr val="hlink"/>
              </a:buClr>
            </a:pPr>
            <a:r>
              <a:rPr kumimoji="0"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因果</a:t>
            </a: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图、控制图、流程图、直方图、帕累托图、趋势图、散点图等</a:t>
            </a:r>
            <a:r>
              <a:rPr kumimoji="0" lang="en-US" altLang="zh-CN" sz="2400" b="1">
                <a:solidFill>
                  <a:schemeClr val="bg2"/>
                </a:solidFill>
                <a:latin typeface="楷体" panose="02010609060101010101" pitchFamily="49" charset="-122"/>
                <a:ea typeface="楷体" panose="02010609060101010101" pitchFamily="49" charset="-122"/>
                <a:cs typeface="楷体" panose="02010609060101010101" pitchFamily="49" charset="-122"/>
              </a:rPr>
              <a:t>7</a:t>
            </a: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种工具和技术，被业界誉为质量</a:t>
            </a:r>
            <a:r>
              <a:rPr kumimoji="0" lang="en-US" altLang="zh-CN" sz="2400" b="1">
                <a:solidFill>
                  <a:schemeClr val="bg2"/>
                </a:solidFill>
                <a:ea typeface="楷体" panose="02010609060101010101" pitchFamily="49" charset="-122"/>
                <a:cs typeface="Times New Roman" panose="02020603050405020304" pitchFamily="18" charset="0"/>
              </a:rPr>
              <a:t>7</a:t>
            </a: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工具而广泛应用。</a:t>
            </a:r>
            <a:endPar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55303" name="Rectangle 51"/>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7.5 </a:t>
            </a:r>
            <a:r>
              <a:rPr kumimoji="0" lang="zh-CN" altLang="en-US" sz="3000" b="1" smtClean="0">
                <a:latin typeface="楷体" panose="02010609060101010101" pitchFamily="49" charset="-122"/>
                <a:ea typeface="楷体" panose="02010609060101010101" pitchFamily="49" charset="-122"/>
              </a:rPr>
              <a:t>控制项目质量</a:t>
            </a:r>
            <a:endParaRPr kumimoji="0" lang="en-US" altLang="en-US" sz="3000" b="1">
              <a:latin typeface="楷体" panose="02010609060101010101" pitchFamily="49" charset="-122"/>
              <a:ea typeface="楷体" panose="02010609060101010101" pitchFamily="49" charset="-122"/>
            </a:endParaRPr>
          </a:p>
        </p:txBody>
      </p:sp>
      <p:sp>
        <p:nvSpPr>
          <p:cNvPr id="55304" name="Rectangle 52"/>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7.5.2 </a:t>
            </a:r>
            <a:r>
              <a:rPr kumimoji="0" lang="en-US" altLang="en-US" b="1">
                <a:solidFill>
                  <a:srgbClr val="FF0000"/>
                </a:solidFill>
                <a:latin typeface="楷体" panose="02010609060101010101" pitchFamily="49" charset="-122"/>
                <a:ea typeface="楷体" panose="02010609060101010101" pitchFamily="49" charset="-122"/>
              </a:rPr>
              <a:t>质量控制工具与技术</a:t>
            </a:r>
            <a:endParaRPr kumimoji="0" lang="en-US" altLang="en-US" b="1">
              <a:solidFill>
                <a:srgbClr val="FF0000"/>
              </a:solidFill>
              <a:latin typeface="楷体" panose="02010609060101010101" pitchFamily="49" charset="-122"/>
              <a:ea typeface="楷体" panose="02010609060101010101" pitchFamily="49" charset="-122"/>
            </a:endParaRPr>
          </a:p>
        </p:txBody>
      </p:sp>
      <p:sp>
        <p:nvSpPr>
          <p:cNvPr id="55305" name="Text Box 53"/>
          <p:cNvSpPr txBox="1">
            <a:spLocks noChangeArrowheads="1"/>
          </p:cNvSpPr>
          <p:nvPr/>
        </p:nvSpPr>
        <p:spPr bwMode="auto">
          <a:xfrm>
            <a:off x="390528" y="3059114"/>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a:solidFill>
                  <a:srgbClr val="0000FF"/>
                </a:solidFill>
              </a:rPr>
              <a:t>1）</a:t>
            </a:r>
            <a:r>
              <a:rPr kumimoji="0" lang="en-US" altLang="en-US" sz="2400" b="1">
                <a:solidFill>
                  <a:srgbClr val="0000FF"/>
                </a:solidFill>
                <a:latin typeface="楷体" panose="02010609060101010101" pitchFamily="49" charset="-122"/>
                <a:ea typeface="楷体" panose="02010609060101010101" pitchFamily="49" charset="-122"/>
                <a:cs typeface="楷体" panose="02010609060101010101" pitchFamily="49" charset="-122"/>
              </a:rPr>
              <a:t>因果图 </a:t>
            </a:r>
            <a:endParaRPr kumimoji="0" lang="en-US" altLang="en-US" sz="2400" b="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9"/>
          <p:cNvSpPr>
            <a:spLocks noGrp="1" noChangeArrowheads="1"/>
          </p:cNvSpPr>
          <p:nvPr>
            <p:ph type="sldNum" sz="quarter" idx="10"/>
          </p:nvPr>
        </p:nvSpPr>
        <p:spPr>
          <a:noFill/>
        </p:spPr>
        <p:txBody>
          <a:bodyPr/>
          <a:lstStyle/>
          <a:p>
            <a:r>
              <a:rPr lang="zh-CN" altLang="en-GB" dirty="0" smtClean="0"/>
              <a:t>  </a:t>
            </a:r>
            <a:fld id="{DFEC4560-81A4-4896-BC44-DF5B71088D95}" type="slidenum">
              <a:rPr lang="zh-CN" altLang="en-GB" smtClean="0"/>
            </a:fld>
            <a:endParaRPr lang="en-US" altLang="zh-CN" dirty="0" smtClean="0"/>
          </a:p>
        </p:txBody>
      </p:sp>
      <p:sp>
        <p:nvSpPr>
          <p:cNvPr id="5632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P.171</a:t>
            </a:r>
            <a:endParaRPr lang="en-US" altLang="zh-CN" sz="2400" b="1">
              <a:solidFill>
                <a:schemeClr val="bg2"/>
              </a:solidFill>
            </a:endParaRPr>
          </a:p>
        </p:txBody>
      </p:sp>
      <p:sp>
        <p:nvSpPr>
          <p:cNvPr id="56324"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6325" name="Text Box 38"/>
          <p:cNvSpPr txBox="1">
            <a:spLocks noChangeArrowheads="1"/>
          </p:cNvSpPr>
          <p:nvPr/>
        </p:nvSpPr>
        <p:spPr bwMode="auto">
          <a:xfrm>
            <a:off x="3419475" y="6491312"/>
            <a:ext cx="2665413" cy="368300"/>
          </a:xfrm>
          <a:prstGeom prst="rect">
            <a:avLst/>
          </a:prstGeom>
          <a:noFill/>
          <a:ln w="9525">
            <a:noFill/>
            <a:miter lim="800000"/>
          </a:ln>
        </p:spPr>
        <p:txBody>
          <a:bodyPr>
            <a:spAutoFit/>
          </a:bodyPr>
          <a:lstStyle/>
          <a:p>
            <a:pPr algn="l"/>
            <a:r>
              <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rPr>
              <a:t>图 </a:t>
            </a:r>
            <a:r>
              <a:rPr kumimoji="0" lang="en-US" altLang="zh-CN" sz="1800" b="1" smtClean="0">
                <a:solidFill>
                  <a:srgbClr val="FF0000"/>
                </a:solidFill>
                <a:ea typeface="楷体" panose="02010609060101010101" pitchFamily="49" charset="-122"/>
                <a:cs typeface="Times New Roman" panose="02020603050405020304" pitchFamily="18" charset="0"/>
              </a:rPr>
              <a:t>7-6  </a:t>
            </a:r>
            <a:r>
              <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rPr>
              <a:t>质量控制图</a:t>
            </a:r>
            <a:endPar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grpSp>
        <p:nvGrpSpPr>
          <p:cNvPr id="56326" name="Group 67"/>
          <p:cNvGrpSpPr/>
          <p:nvPr/>
        </p:nvGrpSpPr>
        <p:grpSpPr bwMode="auto">
          <a:xfrm>
            <a:off x="468313" y="2728913"/>
            <a:ext cx="8207375" cy="3508375"/>
            <a:chOff x="295" y="1719"/>
            <a:chExt cx="5170" cy="2210"/>
          </a:xfrm>
        </p:grpSpPr>
        <p:sp>
          <p:nvSpPr>
            <p:cNvPr id="56331" name="Line 40"/>
            <p:cNvSpPr>
              <a:spLocks noChangeShapeType="1"/>
            </p:cNvSpPr>
            <p:nvPr/>
          </p:nvSpPr>
          <p:spPr bwMode="auto">
            <a:xfrm>
              <a:off x="907" y="1719"/>
              <a:ext cx="0" cy="1983"/>
            </a:xfrm>
            <a:prstGeom prst="line">
              <a:avLst/>
            </a:prstGeom>
            <a:noFill/>
            <a:ln w="12700">
              <a:solidFill>
                <a:srgbClr val="000000"/>
              </a:solidFill>
              <a:round/>
              <a:headEnd type="triangle" w="med" len="med"/>
            </a:ln>
          </p:spPr>
          <p:txBody>
            <a:bodyPr/>
            <a:lstStyle/>
            <a:p>
              <a:endParaRPr lang="zh-CN" altLang="en-US"/>
            </a:p>
          </p:txBody>
        </p:sp>
        <p:sp>
          <p:nvSpPr>
            <p:cNvPr id="56332" name="Line 41"/>
            <p:cNvSpPr>
              <a:spLocks noChangeShapeType="1"/>
            </p:cNvSpPr>
            <p:nvPr/>
          </p:nvSpPr>
          <p:spPr bwMode="auto">
            <a:xfrm>
              <a:off x="907" y="3702"/>
              <a:ext cx="3461" cy="0"/>
            </a:xfrm>
            <a:prstGeom prst="line">
              <a:avLst/>
            </a:prstGeom>
            <a:noFill/>
            <a:ln w="12700">
              <a:solidFill>
                <a:srgbClr val="000000"/>
              </a:solidFill>
              <a:round/>
              <a:tailEnd type="triangle" w="med" len="med"/>
            </a:ln>
          </p:spPr>
          <p:txBody>
            <a:bodyPr/>
            <a:lstStyle/>
            <a:p>
              <a:endParaRPr lang="zh-CN" altLang="en-US"/>
            </a:p>
          </p:txBody>
        </p:sp>
        <p:sp>
          <p:nvSpPr>
            <p:cNvPr id="56333" name="Line 42"/>
            <p:cNvSpPr>
              <a:spLocks noChangeShapeType="1"/>
            </p:cNvSpPr>
            <p:nvPr/>
          </p:nvSpPr>
          <p:spPr bwMode="auto">
            <a:xfrm>
              <a:off x="924" y="2710"/>
              <a:ext cx="2990" cy="0"/>
            </a:xfrm>
            <a:prstGeom prst="line">
              <a:avLst/>
            </a:prstGeom>
            <a:noFill/>
            <a:ln w="12700">
              <a:solidFill>
                <a:srgbClr val="000000"/>
              </a:solidFill>
              <a:round/>
            </a:ln>
          </p:spPr>
          <p:txBody>
            <a:bodyPr/>
            <a:lstStyle/>
            <a:p>
              <a:endParaRPr lang="zh-CN" altLang="en-US"/>
            </a:p>
          </p:txBody>
        </p:sp>
        <p:sp>
          <p:nvSpPr>
            <p:cNvPr id="56334" name="Line 43"/>
            <p:cNvSpPr>
              <a:spLocks noChangeShapeType="1"/>
            </p:cNvSpPr>
            <p:nvPr/>
          </p:nvSpPr>
          <p:spPr bwMode="auto">
            <a:xfrm>
              <a:off x="907" y="2208"/>
              <a:ext cx="2989" cy="0"/>
            </a:xfrm>
            <a:prstGeom prst="line">
              <a:avLst/>
            </a:prstGeom>
            <a:noFill/>
            <a:ln w="12700">
              <a:solidFill>
                <a:srgbClr val="000000"/>
              </a:solidFill>
              <a:prstDash val="dash"/>
              <a:round/>
            </a:ln>
          </p:spPr>
          <p:txBody>
            <a:bodyPr/>
            <a:lstStyle/>
            <a:p>
              <a:endParaRPr lang="zh-CN" altLang="en-US"/>
            </a:p>
          </p:txBody>
        </p:sp>
        <p:sp>
          <p:nvSpPr>
            <p:cNvPr id="56335" name="Line 44"/>
            <p:cNvSpPr>
              <a:spLocks noChangeShapeType="1"/>
            </p:cNvSpPr>
            <p:nvPr/>
          </p:nvSpPr>
          <p:spPr bwMode="auto">
            <a:xfrm>
              <a:off x="907" y="3276"/>
              <a:ext cx="2989" cy="0"/>
            </a:xfrm>
            <a:prstGeom prst="line">
              <a:avLst/>
            </a:prstGeom>
            <a:noFill/>
            <a:ln w="12700">
              <a:solidFill>
                <a:srgbClr val="000000"/>
              </a:solidFill>
              <a:prstDash val="dash"/>
              <a:round/>
            </a:ln>
          </p:spPr>
          <p:txBody>
            <a:bodyPr/>
            <a:lstStyle/>
            <a:p>
              <a:endParaRPr lang="zh-CN" altLang="en-US"/>
            </a:p>
          </p:txBody>
        </p:sp>
        <p:sp>
          <p:nvSpPr>
            <p:cNvPr id="56336" name="AutoShape 45"/>
            <p:cNvSpPr>
              <a:spLocks noChangeArrowheads="1"/>
            </p:cNvSpPr>
            <p:nvPr/>
          </p:nvSpPr>
          <p:spPr bwMode="auto">
            <a:xfrm>
              <a:off x="1003" y="2918"/>
              <a:ext cx="89" cy="108"/>
            </a:xfrm>
            <a:prstGeom prst="flowChartConnector">
              <a:avLst/>
            </a:prstGeom>
            <a:solidFill>
              <a:srgbClr val="000000"/>
            </a:solidFill>
            <a:ln w="19050">
              <a:solidFill>
                <a:srgbClr val="000000"/>
              </a:solidFill>
              <a:round/>
            </a:ln>
          </p:spPr>
          <p:txBody>
            <a:bodyPr/>
            <a:lstStyle/>
            <a:p>
              <a:endParaRPr lang="zh-CN" altLang="en-US"/>
            </a:p>
          </p:txBody>
        </p:sp>
        <p:sp>
          <p:nvSpPr>
            <p:cNvPr id="56337" name="AutoShape 46"/>
            <p:cNvSpPr>
              <a:spLocks noChangeArrowheads="1"/>
            </p:cNvSpPr>
            <p:nvPr/>
          </p:nvSpPr>
          <p:spPr bwMode="auto">
            <a:xfrm>
              <a:off x="1379" y="2710"/>
              <a:ext cx="89" cy="108"/>
            </a:xfrm>
            <a:prstGeom prst="flowChartConnector">
              <a:avLst/>
            </a:prstGeom>
            <a:solidFill>
              <a:srgbClr val="000000"/>
            </a:solidFill>
            <a:ln w="19050">
              <a:solidFill>
                <a:srgbClr val="000000"/>
              </a:solidFill>
              <a:round/>
            </a:ln>
          </p:spPr>
          <p:txBody>
            <a:bodyPr/>
            <a:lstStyle/>
            <a:p>
              <a:endParaRPr lang="zh-CN" altLang="en-US"/>
            </a:p>
          </p:txBody>
        </p:sp>
        <p:sp>
          <p:nvSpPr>
            <p:cNvPr id="56338" name="AutoShape 47"/>
            <p:cNvSpPr>
              <a:spLocks noChangeArrowheads="1"/>
            </p:cNvSpPr>
            <p:nvPr/>
          </p:nvSpPr>
          <p:spPr bwMode="auto">
            <a:xfrm>
              <a:off x="2637" y="2380"/>
              <a:ext cx="90" cy="108"/>
            </a:xfrm>
            <a:prstGeom prst="flowChartConnector">
              <a:avLst/>
            </a:prstGeom>
            <a:solidFill>
              <a:srgbClr val="000000"/>
            </a:solidFill>
            <a:ln w="19050">
              <a:solidFill>
                <a:srgbClr val="000000"/>
              </a:solidFill>
              <a:round/>
            </a:ln>
          </p:spPr>
          <p:txBody>
            <a:bodyPr/>
            <a:lstStyle/>
            <a:p>
              <a:endParaRPr lang="zh-CN" altLang="en-US"/>
            </a:p>
          </p:txBody>
        </p:sp>
        <p:sp>
          <p:nvSpPr>
            <p:cNvPr id="56339" name="AutoShape 48"/>
            <p:cNvSpPr>
              <a:spLocks noChangeArrowheads="1"/>
            </p:cNvSpPr>
            <p:nvPr/>
          </p:nvSpPr>
          <p:spPr bwMode="auto">
            <a:xfrm>
              <a:off x="1790" y="2454"/>
              <a:ext cx="89" cy="108"/>
            </a:xfrm>
            <a:prstGeom prst="flowChartConnector">
              <a:avLst/>
            </a:prstGeom>
            <a:solidFill>
              <a:srgbClr val="000000"/>
            </a:solidFill>
            <a:ln w="19050">
              <a:solidFill>
                <a:srgbClr val="000000"/>
              </a:solidFill>
              <a:round/>
            </a:ln>
          </p:spPr>
          <p:txBody>
            <a:bodyPr/>
            <a:lstStyle/>
            <a:p>
              <a:endParaRPr lang="zh-CN" altLang="en-US"/>
            </a:p>
          </p:txBody>
        </p:sp>
        <p:sp>
          <p:nvSpPr>
            <p:cNvPr id="56340" name="AutoShape 49"/>
            <p:cNvSpPr>
              <a:spLocks noChangeArrowheads="1"/>
            </p:cNvSpPr>
            <p:nvPr/>
          </p:nvSpPr>
          <p:spPr bwMode="auto">
            <a:xfrm>
              <a:off x="2165" y="2876"/>
              <a:ext cx="90" cy="108"/>
            </a:xfrm>
            <a:prstGeom prst="flowChartConnector">
              <a:avLst/>
            </a:prstGeom>
            <a:solidFill>
              <a:srgbClr val="000000"/>
            </a:solidFill>
            <a:ln w="19050">
              <a:solidFill>
                <a:srgbClr val="000000"/>
              </a:solidFill>
              <a:round/>
            </a:ln>
          </p:spPr>
          <p:txBody>
            <a:bodyPr/>
            <a:lstStyle/>
            <a:p>
              <a:endParaRPr lang="zh-CN" altLang="en-US"/>
            </a:p>
          </p:txBody>
        </p:sp>
        <p:sp>
          <p:nvSpPr>
            <p:cNvPr id="56341" name="AutoShape 50"/>
            <p:cNvSpPr>
              <a:spLocks noChangeArrowheads="1"/>
            </p:cNvSpPr>
            <p:nvPr/>
          </p:nvSpPr>
          <p:spPr bwMode="auto">
            <a:xfrm>
              <a:off x="2323" y="2049"/>
              <a:ext cx="89" cy="108"/>
            </a:xfrm>
            <a:prstGeom prst="flowChartConnector">
              <a:avLst/>
            </a:prstGeom>
            <a:solidFill>
              <a:srgbClr val="000000"/>
            </a:solidFill>
            <a:ln w="19050">
              <a:solidFill>
                <a:srgbClr val="000000"/>
              </a:solidFill>
              <a:round/>
            </a:ln>
          </p:spPr>
          <p:txBody>
            <a:bodyPr/>
            <a:lstStyle/>
            <a:p>
              <a:endParaRPr lang="zh-CN" altLang="en-US"/>
            </a:p>
          </p:txBody>
        </p:sp>
        <p:sp>
          <p:nvSpPr>
            <p:cNvPr id="56342" name="AutoShape 51"/>
            <p:cNvSpPr>
              <a:spLocks noChangeArrowheads="1"/>
            </p:cNvSpPr>
            <p:nvPr/>
          </p:nvSpPr>
          <p:spPr bwMode="auto">
            <a:xfrm>
              <a:off x="2952" y="3041"/>
              <a:ext cx="89" cy="108"/>
            </a:xfrm>
            <a:prstGeom prst="flowChartConnector">
              <a:avLst/>
            </a:prstGeom>
            <a:solidFill>
              <a:srgbClr val="000000"/>
            </a:solidFill>
            <a:ln w="19050">
              <a:solidFill>
                <a:srgbClr val="000000"/>
              </a:solidFill>
              <a:round/>
            </a:ln>
          </p:spPr>
          <p:txBody>
            <a:bodyPr/>
            <a:lstStyle/>
            <a:p>
              <a:endParaRPr lang="zh-CN" altLang="en-US"/>
            </a:p>
          </p:txBody>
        </p:sp>
        <p:sp>
          <p:nvSpPr>
            <p:cNvPr id="56343" name="AutoShape 52"/>
            <p:cNvSpPr>
              <a:spLocks noChangeArrowheads="1"/>
            </p:cNvSpPr>
            <p:nvPr/>
          </p:nvSpPr>
          <p:spPr bwMode="auto">
            <a:xfrm>
              <a:off x="3267" y="3206"/>
              <a:ext cx="89" cy="108"/>
            </a:xfrm>
            <a:prstGeom prst="flowChartConnector">
              <a:avLst/>
            </a:prstGeom>
            <a:solidFill>
              <a:srgbClr val="000000"/>
            </a:solidFill>
            <a:ln w="19050">
              <a:solidFill>
                <a:srgbClr val="000000"/>
              </a:solidFill>
              <a:round/>
            </a:ln>
          </p:spPr>
          <p:txBody>
            <a:bodyPr/>
            <a:lstStyle/>
            <a:p>
              <a:endParaRPr lang="zh-CN" altLang="en-US"/>
            </a:p>
          </p:txBody>
        </p:sp>
        <p:sp>
          <p:nvSpPr>
            <p:cNvPr id="56344" name="Line 53"/>
            <p:cNvSpPr>
              <a:spLocks noChangeShapeType="1"/>
            </p:cNvSpPr>
            <p:nvPr/>
          </p:nvSpPr>
          <p:spPr bwMode="auto">
            <a:xfrm flipV="1">
              <a:off x="1064" y="2798"/>
              <a:ext cx="315" cy="165"/>
            </a:xfrm>
            <a:prstGeom prst="line">
              <a:avLst/>
            </a:prstGeom>
            <a:noFill/>
            <a:ln w="12700">
              <a:solidFill>
                <a:srgbClr val="000000"/>
              </a:solidFill>
              <a:round/>
            </a:ln>
          </p:spPr>
          <p:txBody>
            <a:bodyPr/>
            <a:lstStyle/>
            <a:p>
              <a:endParaRPr lang="zh-CN" altLang="en-US"/>
            </a:p>
          </p:txBody>
        </p:sp>
        <p:sp>
          <p:nvSpPr>
            <p:cNvPr id="56345" name="Line 54"/>
            <p:cNvSpPr>
              <a:spLocks noChangeShapeType="1"/>
            </p:cNvSpPr>
            <p:nvPr/>
          </p:nvSpPr>
          <p:spPr bwMode="auto">
            <a:xfrm flipV="1">
              <a:off x="1484" y="2545"/>
              <a:ext cx="314" cy="165"/>
            </a:xfrm>
            <a:prstGeom prst="line">
              <a:avLst/>
            </a:prstGeom>
            <a:noFill/>
            <a:ln w="12700">
              <a:solidFill>
                <a:srgbClr val="000000"/>
              </a:solidFill>
              <a:round/>
            </a:ln>
          </p:spPr>
          <p:txBody>
            <a:bodyPr/>
            <a:lstStyle/>
            <a:p>
              <a:endParaRPr lang="zh-CN" altLang="en-US"/>
            </a:p>
          </p:txBody>
        </p:sp>
        <p:sp>
          <p:nvSpPr>
            <p:cNvPr id="56346" name="Line 55"/>
            <p:cNvSpPr>
              <a:spLocks noChangeShapeType="1"/>
            </p:cNvSpPr>
            <p:nvPr/>
          </p:nvSpPr>
          <p:spPr bwMode="auto">
            <a:xfrm>
              <a:off x="1860" y="2534"/>
              <a:ext cx="314" cy="331"/>
            </a:xfrm>
            <a:prstGeom prst="line">
              <a:avLst/>
            </a:prstGeom>
            <a:noFill/>
            <a:ln w="12700">
              <a:solidFill>
                <a:srgbClr val="000000"/>
              </a:solidFill>
              <a:round/>
            </a:ln>
          </p:spPr>
          <p:txBody>
            <a:bodyPr/>
            <a:lstStyle/>
            <a:p>
              <a:endParaRPr lang="zh-CN" altLang="en-US"/>
            </a:p>
          </p:txBody>
        </p:sp>
        <p:sp>
          <p:nvSpPr>
            <p:cNvPr id="56347" name="Line 56"/>
            <p:cNvSpPr>
              <a:spLocks noChangeShapeType="1"/>
            </p:cNvSpPr>
            <p:nvPr/>
          </p:nvSpPr>
          <p:spPr bwMode="auto">
            <a:xfrm flipH="1">
              <a:off x="2227" y="2060"/>
              <a:ext cx="157" cy="826"/>
            </a:xfrm>
            <a:prstGeom prst="line">
              <a:avLst/>
            </a:prstGeom>
            <a:noFill/>
            <a:ln w="12700">
              <a:solidFill>
                <a:srgbClr val="000000"/>
              </a:solidFill>
              <a:round/>
            </a:ln>
          </p:spPr>
          <p:txBody>
            <a:bodyPr/>
            <a:lstStyle/>
            <a:p>
              <a:endParaRPr lang="zh-CN" altLang="en-US"/>
            </a:p>
          </p:txBody>
        </p:sp>
        <p:sp>
          <p:nvSpPr>
            <p:cNvPr id="56348" name="Line 57"/>
            <p:cNvSpPr>
              <a:spLocks noChangeShapeType="1"/>
            </p:cNvSpPr>
            <p:nvPr/>
          </p:nvSpPr>
          <p:spPr bwMode="auto">
            <a:xfrm>
              <a:off x="2401" y="2102"/>
              <a:ext cx="315" cy="331"/>
            </a:xfrm>
            <a:prstGeom prst="line">
              <a:avLst/>
            </a:prstGeom>
            <a:noFill/>
            <a:ln w="12700">
              <a:solidFill>
                <a:srgbClr val="000000"/>
              </a:solidFill>
              <a:round/>
            </a:ln>
          </p:spPr>
          <p:txBody>
            <a:bodyPr/>
            <a:lstStyle/>
            <a:p>
              <a:endParaRPr lang="zh-CN" altLang="en-US"/>
            </a:p>
          </p:txBody>
        </p:sp>
        <p:sp>
          <p:nvSpPr>
            <p:cNvPr id="56349" name="Line 58"/>
            <p:cNvSpPr>
              <a:spLocks noChangeShapeType="1"/>
            </p:cNvSpPr>
            <p:nvPr/>
          </p:nvSpPr>
          <p:spPr bwMode="auto">
            <a:xfrm>
              <a:off x="2699" y="2492"/>
              <a:ext cx="253" cy="549"/>
            </a:xfrm>
            <a:prstGeom prst="line">
              <a:avLst/>
            </a:prstGeom>
            <a:noFill/>
            <a:ln w="12700">
              <a:solidFill>
                <a:srgbClr val="000000"/>
              </a:solidFill>
              <a:round/>
            </a:ln>
          </p:spPr>
          <p:txBody>
            <a:bodyPr/>
            <a:lstStyle/>
            <a:p>
              <a:endParaRPr lang="zh-CN" altLang="en-US"/>
            </a:p>
          </p:txBody>
        </p:sp>
        <p:sp>
          <p:nvSpPr>
            <p:cNvPr id="56350" name="Line 59"/>
            <p:cNvSpPr>
              <a:spLocks noChangeShapeType="1"/>
            </p:cNvSpPr>
            <p:nvPr/>
          </p:nvSpPr>
          <p:spPr bwMode="auto">
            <a:xfrm>
              <a:off x="2978" y="3083"/>
              <a:ext cx="315" cy="165"/>
            </a:xfrm>
            <a:prstGeom prst="line">
              <a:avLst/>
            </a:prstGeom>
            <a:noFill/>
            <a:ln w="12700">
              <a:solidFill>
                <a:srgbClr val="000000"/>
              </a:solidFill>
              <a:round/>
            </a:ln>
          </p:spPr>
          <p:txBody>
            <a:bodyPr/>
            <a:lstStyle/>
            <a:p>
              <a:endParaRPr lang="zh-CN" altLang="en-US"/>
            </a:p>
          </p:txBody>
        </p:sp>
        <p:sp>
          <p:nvSpPr>
            <p:cNvPr id="56351" name="AutoShape 60"/>
            <p:cNvSpPr>
              <a:spLocks noChangeArrowheads="1"/>
            </p:cNvSpPr>
            <p:nvPr/>
          </p:nvSpPr>
          <p:spPr bwMode="auto">
            <a:xfrm>
              <a:off x="3623" y="2107"/>
              <a:ext cx="89" cy="108"/>
            </a:xfrm>
            <a:prstGeom prst="flowChartConnector">
              <a:avLst/>
            </a:prstGeom>
            <a:solidFill>
              <a:srgbClr val="000000"/>
            </a:solidFill>
            <a:ln w="19050">
              <a:solidFill>
                <a:srgbClr val="000000"/>
              </a:solidFill>
              <a:round/>
            </a:ln>
          </p:spPr>
          <p:txBody>
            <a:bodyPr/>
            <a:lstStyle/>
            <a:p>
              <a:endParaRPr lang="zh-CN" altLang="en-US"/>
            </a:p>
          </p:txBody>
        </p:sp>
        <p:sp>
          <p:nvSpPr>
            <p:cNvPr id="56352" name="Line 61"/>
            <p:cNvSpPr>
              <a:spLocks noChangeShapeType="1"/>
            </p:cNvSpPr>
            <p:nvPr/>
          </p:nvSpPr>
          <p:spPr bwMode="auto">
            <a:xfrm flipH="1">
              <a:off x="3345" y="2215"/>
              <a:ext cx="315" cy="991"/>
            </a:xfrm>
            <a:prstGeom prst="line">
              <a:avLst/>
            </a:prstGeom>
            <a:noFill/>
            <a:ln w="12700">
              <a:solidFill>
                <a:srgbClr val="000000"/>
              </a:solidFill>
              <a:round/>
            </a:ln>
          </p:spPr>
          <p:txBody>
            <a:bodyPr/>
            <a:lstStyle/>
            <a:p>
              <a:endParaRPr lang="zh-CN" altLang="en-US"/>
            </a:p>
          </p:txBody>
        </p:sp>
        <p:sp>
          <p:nvSpPr>
            <p:cNvPr id="56353" name="Text Box 62"/>
            <p:cNvSpPr txBox="1">
              <a:spLocks noChangeArrowheads="1"/>
            </p:cNvSpPr>
            <p:nvPr/>
          </p:nvSpPr>
          <p:spPr bwMode="auto">
            <a:xfrm>
              <a:off x="3983" y="2054"/>
              <a:ext cx="1392" cy="209"/>
            </a:xfrm>
            <a:prstGeom prst="rect">
              <a:avLst/>
            </a:prstGeom>
            <a:noFill/>
            <a:ln w="19050">
              <a:noFill/>
              <a:miter lim="800000"/>
            </a:ln>
          </p:spPr>
          <p:txBody>
            <a:bodyPr lIns="0" tIns="0" rIns="0" bIns="0"/>
            <a:lstStyle/>
            <a:p>
              <a:pPr algn="l">
                <a:spcBef>
                  <a:spcPct val="0"/>
                </a:spcBef>
              </a:pPr>
              <a:r>
                <a:rPr kumimoji="0" lang="en-US" altLang="zh-CN" sz="1600">
                  <a:solidFill>
                    <a:schemeClr val="bg2"/>
                  </a:solidFill>
                  <a:cs typeface="Times New Roman" panose="02020603050405020304" pitchFamily="18" charset="0"/>
                </a:rPr>
                <a:t>UCL</a:t>
              </a:r>
              <a:r>
                <a:rPr kumimoji="0" lang="zh-CN" altLang="en-US" sz="1600">
                  <a:solidFill>
                    <a:schemeClr val="bg2"/>
                  </a:solidFill>
                  <a:cs typeface="Times New Roman" panose="02020603050405020304" pitchFamily="18" charset="0"/>
                </a:rPr>
                <a:t>：</a:t>
              </a:r>
              <a:r>
                <a:rPr kumimoji="0" lang="zh-CN" altLang="en-US" sz="1600" b="1">
                  <a:solidFill>
                    <a:srgbClr val="FF0000"/>
                  </a:solidFill>
                  <a:latin typeface="楷体" panose="02010609060101010101" pitchFamily="49" charset="-122"/>
                  <a:ea typeface="楷体" panose="02010609060101010101" pitchFamily="49" charset="-122"/>
                  <a:cs typeface="Times New Roman" panose="02020603050405020304" pitchFamily="18" charset="0"/>
                </a:rPr>
                <a:t>上控制界限</a:t>
              </a:r>
              <a:endParaRPr kumimoji="0" lang="zh-CN" altLang="en-US" sz="1600" b="1">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6354" name="Text Box 63"/>
            <p:cNvSpPr txBox="1">
              <a:spLocks noChangeArrowheads="1"/>
            </p:cNvSpPr>
            <p:nvPr/>
          </p:nvSpPr>
          <p:spPr bwMode="auto">
            <a:xfrm>
              <a:off x="4001" y="2545"/>
              <a:ext cx="1374" cy="327"/>
            </a:xfrm>
            <a:prstGeom prst="rect">
              <a:avLst/>
            </a:prstGeom>
            <a:noFill/>
            <a:ln w="19050">
              <a:noFill/>
              <a:miter lim="800000"/>
            </a:ln>
          </p:spPr>
          <p:txBody>
            <a:bodyPr lIns="0" tIns="0" rIns="0" bIns="0"/>
            <a:lstStyle/>
            <a:p>
              <a:pPr algn="l">
                <a:spcBef>
                  <a:spcPct val="0"/>
                </a:spcBef>
              </a:pPr>
              <a:r>
                <a:rPr kumimoji="0" lang="en-US" altLang="zh-CN" sz="1600">
                  <a:solidFill>
                    <a:schemeClr val="bg2"/>
                  </a:solidFill>
                  <a:cs typeface="Times New Roman" panose="02020603050405020304" pitchFamily="18" charset="0"/>
                </a:rPr>
                <a:t>CL</a:t>
              </a:r>
              <a:r>
                <a:rPr kumimoji="0" lang="zh-CN" altLang="en-US" sz="1600">
                  <a:solidFill>
                    <a:schemeClr val="bg2"/>
                  </a:solidFill>
                  <a:cs typeface="Times New Roman" panose="02020603050405020304" pitchFamily="18" charset="0"/>
                </a:rPr>
                <a:t>：</a:t>
              </a:r>
              <a:r>
                <a:rPr kumimoji="0" lang="zh-CN" altLang="en-US" sz="1600" b="1">
                  <a:solidFill>
                    <a:srgbClr val="FF0000"/>
                  </a:solidFill>
                  <a:latin typeface="楷体" panose="02010609060101010101" pitchFamily="49" charset="-122"/>
                  <a:ea typeface="楷体" panose="02010609060101010101" pitchFamily="49" charset="-122"/>
                  <a:cs typeface="Times New Roman" panose="02020603050405020304" pitchFamily="18" charset="0"/>
                </a:rPr>
                <a:t>中心线</a:t>
              </a:r>
              <a:endParaRPr kumimoji="0" lang="zh-CN" altLang="en-US" sz="1600" b="1">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6355" name="Text Box 64"/>
            <p:cNvSpPr txBox="1">
              <a:spLocks noChangeArrowheads="1"/>
            </p:cNvSpPr>
            <p:nvPr/>
          </p:nvSpPr>
          <p:spPr bwMode="auto">
            <a:xfrm>
              <a:off x="3992" y="3115"/>
              <a:ext cx="1473" cy="327"/>
            </a:xfrm>
            <a:prstGeom prst="rect">
              <a:avLst/>
            </a:prstGeom>
            <a:noFill/>
            <a:ln w="19050">
              <a:noFill/>
              <a:miter lim="800000"/>
            </a:ln>
          </p:spPr>
          <p:txBody>
            <a:bodyPr lIns="0" tIns="0" rIns="0" bIns="0"/>
            <a:lstStyle/>
            <a:p>
              <a:pPr algn="l">
                <a:spcBef>
                  <a:spcPct val="0"/>
                </a:spcBef>
              </a:pPr>
              <a:r>
                <a:rPr kumimoji="0" lang="en-US" altLang="zh-CN" sz="1400">
                  <a:solidFill>
                    <a:schemeClr val="bg2"/>
                  </a:solidFill>
                  <a:cs typeface="Times New Roman" panose="02020603050405020304" pitchFamily="18" charset="0"/>
                </a:rPr>
                <a:t>LCL</a:t>
              </a:r>
              <a:r>
                <a:rPr kumimoji="0" lang="zh-CN" altLang="en-US" sz="1400">
                  <a:solidFill>
                    <a:schemeClr val="bg2"/>
                  </a:solidFill>
                  <a:cs typeface="Times New Roman" panose="02020603050405020304" pitchFamily="18" charset="0"/>
                </a:rPr>
                <a:t>：</a:t>
              </a:r>
              <a:r>
                <a:rPr kumimoji="0" lang="zh-CN" altLang="en-US" sz="1600" b="1">
                  <a:solidFill>
                    <a:srgbClr val="FF0000"/>
                  </a:solidFill>
                  <a:latin typeface="楷体" panose="02010609060101010101" pitchFamily="49" charset="-122"/>
                  <a:ea typeface="楷体" panose="02010609060101010101" pitchFamily="49" charset="-122"/>
                  <a:cs typeface="Times New Roman" panose="02020603050405020304" pitchFamily="18" charset="0"/>
                </a:rPr>
                <a:t>下控制界限</a:t>
              </a:r>
              <a:endParaRPr kumimoji="0" lang="zh-CN" altLang="en-US" sz="1600" b="1">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6356" name="Text Box 65"/>
            <p:cNvSpPr txBox="1">
              <a:spLocks noChangeArrowheads="1"/>
            </p:cNvSpPr>
            <p:nvPr/>
          </p:nvSpPr>
          <p:spPr bwMode="auto">
            <a:xfrm>
              <a:off x="295" y="1831"/>
              <a:ext cx="629" cy="328"/>
            </a:xfrm>
            <a:prstGeom prst="rect">
              <a:avLst/>
            </a:prstGeom>
            <a:noFill/>
            <a:ln w="19050">
              <a:noFill/>
              <a:miter lim="800000"/>
            </a:ln>
          </p:spPr>
          <p:txBody>
            <a:bodyPr lIns="0" tIns="0" rIns="0" bIns="0"/>
            <a:lstStyle/>
            <a:p>
              <a:pPr algn="ctr">
                <a:spcBef>
                  <a:spcPct val="0"/>
                </a:spcBef>
              </a:pPr>
              <a:r>
                <a:rPr kumimoji="0" lang="zh-CN" altLang="en-US" sz="1800" b="1">
                  <a:solidFill>
                    <a:schemeClr val="bg1"/>
                  </a:solidFill>
                  <a:latin typeface="楷体" panose="02010609060101010101" pitchFamily="49" charset="-122"/>
                  <a:ea typeface="楷体" panose="02010609060101010101" pitchFamily="49" charset="-122"/>
                  <a:cs typeface="Times New Roman" panose="02020603050405020304" pitchFamily="18" charset="0"/>
                </a:rPr>
                <a:t>质量</a:t>
              </a:r>
              <a:endParaRPr kumimoji="0" lang="zh-CN" altLang="en-US" sz="1800" b="1">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Bef>
                  <a:spcPct val="0"/>
                </a:spcBef>
              </a:pPr>
              <a:r>
                <a:rPr kumimoji="0" lang="zh-CN" altLang="en-US" sz="1800" b="1">
                  <a:solidFill>
                    <a:schemeClr val="bg1"/>
                  </a:solidFill>
                  <a:latin typeface="楷体" panose="02010609060101010101" pitchFamily="49" charset="-122"/>
                  <a:ea typeface="楷体" panose="02010609060101010101" pitchFamily="49" charset="-122"/>
                  <a:cs typeface="Times New Roman" panose="02020603050405020304" pitchFamily="18" charset="0"/>
                </a:rPr>
                <a:t>特性值</a:t>
              </a:r>
              <a:endParaRPr kumimoji="0" lang="zh-CN" altLang="en-US" sz="1800" b="1">
                <a:solidFill>
                  <a:schemeClr val="bg1"/>
                </a:solidFill>
                <a:latin typeface="楷体" panose="02010609060101010101" pitchFamily="49" charset="-122"/>
                <a:ea typeface="楷体" panose="02010609060101010101" pitchFamily="49" charset="-122"/>
              </a:endParaRPr>
            </a:p>
          </p:txBody>
        </p:sp>
        <p:sp>
          <p:nvSpPr>
            <p:cNvPr id="56357" name="Text Box 66"/>
            <p:cNvSpPr txBox="1">
              <a:spLocks noChangeArrowheads="1"/>
            </p:cNvSpPr>
            <p:nvPr/>
          </p:nvSpPr>
          <p:spPr bwMode="auto">
            <a:xfrm>
              <a:off x="4014" y="3793"/>
              <a:ext cx="428" cy="136"/>
            </a:xfrm>
            <a:prstGeom prst="rect">
              <a:avLst/>
            </a:prstGeom>
            <a:noFill/>
            <a:ln w="19050">
              <a:noFill/>
              <a:miter lim="800000"/>
            </a:ln>
          </p:spPr>
          <p:txBody>
            <a:bodyPr lIns="0" tIns="0" rIns="0" bIns="0"/>
            <a:lstStyle/>
            <a:p>
              <a:pPr algn="l">
                <a:spcBef>
                  <a:spcPct val="0"/>
                </a:spcBef>
              </a:pPr>
              <a:r>
                <a:rPr kumimoji="0" lang="zh-CN" altLang="en-US" sz="1600" b="1">
                  <a:solidFill>
                    <a:srgbClr val="0000FF"/>
                  </a:solidFill>
                  <a:latin typeface="楷体" panose="02010609060101010101" pitchFamily="49" charset="-122"/>
                  <a:ea typeface="楷体" panose="02010609060101010101" pitchFamily="49" charset="-122"/>
                  <a:cs typeface="楷体" panose="02010609060101010101" pitchFamily="49" charset="-122"/>
                </a:rPr>
                <a:t>时 间</a:t>
              </a:r>
              <a:endParaRPr kumimoji="0" lang="zh-CN" altLang="en-US" sz="1600" b="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grpSp>
      <p:sp>
        <p:nvSpPr>
          <p:cNvPr id="56327" name="AutoShape 68"/>
          <p:cNvSpPr>
            <a:spLocks noChangeArrowheads="1"/>
          </p:cNvSpPr>
          <p:nvPr/>
        </p:nvSpPr>
        <p:spPr bwMode="auto">
          <a:xfrm>
            <a:off x="5580063" y="692150"/>
            <a:ext cx="3240087" cy="2376488"/>
          </a:xfrm>
          <a:prstGeom prst="wedgeRoundRectCallout">
            <a:avLst>
              <a:gd name="adj1" fmla="val -103602"/>
              <a:gd name="adj2" fmla="val 55880"/>
              <a:gd name="adj3" fmla="val 16667"/>
            </a:avLst>
          </a:prstGeom>
          <a:solidFill>
            <a:srgbClr val="FFFF99">
              <a:alpha val="34117"/>
            </a:srgbClr>
          </a:solidFill>
          <a:ln w="38100" algn="ctr">
            <a:solidFill>
              <a:srgbClr val="FF0000"/>
            </a:solidFill>
            <a:miter lim="800000"/>
          </a:ln>
        </p:spPr>
        <p:txBody>
          <a:bodyPr/>
          <a:lstStyle/>
          <a:p>
            <a:pPr algn="l"/>
            <a:r>
              <a:rPr lang="zh-CN" altLang="en-US" sz="1800" b="1">
                <a:solidFill>
                  <a:schemeClr val="bg2"/>
                </a:solidFill>
                <a:latin typeface="楷体" panose="02010609060101010101" pitchFamily="49" charset="-122"/>
                <a:ea typeface="楷体" panose="02010609060101010101" pitchFamily="49" charset="-122"/>
                <a:cs typeface="楷体" panose="02010609060101010101" pitchFamily="49" charset="-122"/>
              </a:rPr>
              <a:t>注意：如果有连续的</a:t>
            </a:r>
            <a:r>
              <a:rPr lang="en-US" altLang="zh-CN" sz="1800" b="1">
                <a:solidFill>
                  <a:schemeClr val="bg2"/>
                </a:solidFill>
                <a:latin typeface="楷体" panose="02010609060101010101" pitchFamily="49" charset="-122"/>
                <a:ea typeface="楷体" panose="02010609060101010101" pitchFamily="49" charset="-122"/>
                <a:cs typeface="楷体" panose="02010609060101010101" pitchFamily="49" charset="-122"/>
              </a:rPr>
              <a:t>7</a:t>
            </a:r>
            <a:r>
              <a:rPr lang="zh-CN" altLang="en-US" sz="1800" b="1">
                <a:solidFill>
                  <a:schemeClr val="bg2"/>
                </a:solidFill>
                <a:latin typeface="楷体" panose="02010609060101010101" pitchFamily="49" charset="-122"/>
                <a:ea typeface="楷体" panose="02010609060101010101" pitchFamily="49" charset="-122"/>
                <a:cs typeface="楷体" panose="02010609060101010101" pitchFamily="49" charset="-122"/>
              </a:rPr>
              <a:t>个或</a:t>
            </a:r>
            <a:r>
              <a:rPr lang="en-US" altLang="zh-CN" sz="1800" b="1">
                <a:solidFill>
                  <a:schemeClr val="bg2"/>
                </a:solidFill>
                <a:latin typeface="楷体" panose="02010609060101010101" pitchFamily="49" charset="-122"/>
                <a:ea typeface="楷体" panose="02010609060101010101" pitchFamily="49" charset="-122"/>
                <a:cs typeface="楷体" panose="02010609060101010101" pitchFamily="49" charset="-122"/>
              </a:rPr>
              <a:t>7</a:t>
            </a:r>
            <a:r>
              <a:rPr lang="zh-CN" altLang="en-US" sz="1800" b="1">
                <a:solidFill>
                  <a:schemeClr val="bg2"/>
                </a:solidFill>
                <a:latin typeface="楷体" panose="02010609060101010101" pitchFamily="49" charset="-122"/>
                <a:ea typeface="楷体" panose="02010609060101010101" pitchFamily="49" charset="-122"/>
                <a:cs typeface="楷体" panose="02010609060101010101" pitchFamily="49" charset="-122"/>
              </a:rPr>
              <a:t>个以上的圆点分布在中心线的同一侧，或者出现同向变化的趋势，即使它们都处于控制界限内，但也意味着其出现了一定的问题或者受到了外界因素的干扰，应将视其为失控状态。 </a:t>
            </a:r>
            <a:endParaRPr lang="zh-CN" altLang="en-US" sz="18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56328" name="Rectangle 69"/>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7.5 </a:t>
            </a:r>
            <a:r>
              <a:rPr kumimoji="0" lang="zh-CN" altLang="en-US" sz="3000" b="1" smtClean="0">
                <a:latin typeface="楷体" panose="02010609060101010101" pitchFamily="49" charset="-122"/>
                <a:ea typeface="楷体" panose="02010609060101010101" pitchFamily="49" charset="-122"/>
              </a:rPr>
              <a:t>控制项目质量</a:t>
            </a:r>
            <a:endParaRPr kumimoji="0" lang="en-US" altLang="en-US" sz="3000" b="1">
              <a:latin typeface="楷体" panose="02010609060101010101" pitchFamily="49" charset="-122"/>
              <a:ea typeface="楷体" panose="02010609060101010101" pitchFamily="49" charset="-122"/>
            </a:endParaRPr>
          </a:p>
        </p:txBody>
      </p:sp>
      <p:sp>
        <p:nvSpPr>
          <p:cNvPr id="56329" name="Rectangle 70"/>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7.5.2 </a:t>
            </a:r>
            <a:r>
              <a:rPr kumimoji="0" lang="en-US" altLang="en-US" b="1">
                <a:solidFill>
                  <a:srgbClr val="FF0000"/>
                </a:solidFill>
                <a:latin typeface="楷体" panose="02010609060101010101" pitchFamily="49" charset="-122"/>
                <a:ea typeface="楷体" panose="02010609060101010101" pitchFamily="49" charset="-122"/>
              </a:rPr>
              <a:t>质量控制工具与技术</a:t>
            </a:r>
            <a:endParaRPr kumimoji="0" lang="en-US" altLang="en-US" b="1">
              <a:solidFill>
                <a:srgbClr val="FF0000"/>
              </a:solidFill>
              <a:latin typeface="楷体" panose="02010609060101010101" pitchFamily="49" charset="-122"/>
              <a:ea typeface="楷体" panose="02010609060101010101" pitchFamily="49" charset="-122"/>
            </a:endParaRPr>
          </a:p>
        </p:txBody>
      </p:sp>
      <p:sp>
        <p:nvSpPr>
          <p:cNvPr id="56330" name="Text Box 71"/>
          <p:cNvSpPr txBox="1">
            <a:spLocks noChangeArrowheads="1"/>
          </p:cNvSpPr>
          <p:nvPr/>
        </p:nvSpPr>
        <p:spPr bwMode="auto">
          <a:xfrm>
            <a:off x="247652" y="1987544"/>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a:solidFill>
                  <a:schemeClr val="bg1"/>
                </a:solidFill>
              </a:rPr>
              <a:t>2）</a:t>
            </a:r>
            <a:r>
              <a:rPr kumimoji="0" lang="en-US" altLang="en-US" sz="2400" b="1">
                <a:solidFill>
                  <a:schemeClr val="bg1"/>
                </a:solidFill>
                <a:latin typeface="楷体" panose="02010609060101010101" pitchFamily="49" charset="-122"/>
                <a:ea typeface="楷体" panose="02010609060101010101" pitchFamily="49" charset="-122"/>
              </a:rPr>
              <a:t>控制图和七点运行法则</a:t>
            </a:r>
            <a:endParaRPr kumimoji="0" lang="en-US" altLang="en-US" sz="2400" b="1">
              <a:solidFill>
                <a:schemeClr val="bg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9"/>
          <p:cNvSpPr>
            <a:spLocks noGrp="1" noChangeArrowheads="1"/>
          </p:cNvSpPr>
          <p:nvPr>
            <p:ph type="sldNum" sz="quarter" idx="10"/>
          </p:nvPr>
        </p:nvSpPr>
        <p:spPr>
          <a:noFill/>
        </p:spPr>
        <p:txBody>
          <a:bodyPr/>
          <a:lstStyle/>
          <a:p>
            <a:r>
              <a:rPr lang="zh-CN" altLang="en-GB" dirty="0" smtClean="0"/>
              <a:t>  </a:t>
            </a:r>
            <a:fld id="{3127D3A2-AB01-4A38-B87E-C086427BF809}" type="slidenum">
              <a:rPr lang="zh-CN" altLang="en-GB" smtClean="0"/>
            </a:fld>
            <a:endParaRPr lang="en-US" altLang="zh-CN" dirty="0" smtClean="0"/>
          </a:p>
        </p:txBody>
      </p:sp>
      <p:sp>
        <p:nvSpPr>
          <p:cNvPr id="5734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P.172</a:t>
            </a:r>
            <a:endParaRPr lang="en-US" altLang="zh-CN" sz="2400" b="1">
              <a:solidFill>
                <a:schemeClr val="bg2"/>
              </a:solidFill>
            </a:endParaRPr>
          </a:p>
        </p:txBody>
      </p:sp>
      <p:sp>
        <p:nvSpPr>
          <p:cNvPr id="5734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7352" name="Text Box 57"/>
          <p:cNvSpPr txBox="1">
            <a:spLocks noChangeArrowheads="1"/>
          </p:cNvSpPr>
          <p:nvPr/>
        </p:nvSpPr>
        <p:spPr bwMode="auto">
          <a:xfrm>
            <a:off x="179071" y="2337097"/>
            <a:ext cx="9001124" cy="4123055"/>
          </a:xfrm>
          <a:prstGeom prst="rect">
            <a:avLst/>
          </a:prstGeom>
          <a:solidFill>
            <a:schemeClr val="tx1"/>
          </a:solidFill>
          <a:ln w="9525" algn="ctr">
            <a:noFill/>
            <a:miter lim="800000"/>
          </a:ln>
        </p:spPr>
        <p:txBody>
          <a:bodyPr wrap="square">
            <a:spAutoFit/>
          </a:bodyPr>
          <a:lstStyle/>
          <a:p>
            <a:pPr lvl="1" algn="l">
              <a:spcBef>
                <a:spcPts val="600"/>
              </a:spcBef>
              <a:spcAft>
                <a:spcPts val="600"/>
              </a:spcAft>
            </a:pPr>
            <a:r>
              <a:rPr lang="zh-CN" altLang="en-US" sz="2400" b="1" smtClean="0">
                <a:solidFill>
                  <a:schemeClr val="bg2"/>
                </a:solidFill>
                <a:latin typeface="楷体" panose="02010609060101010101" pitchFamily="49" charset="-122"/>
                <a:ea typeface="楷体" panose="02010609060101010101" pitchFamily="49" charset="-122"/>
              </a:rPr>
              <a:t>流程图，也称过程图。它以图形的形式显示在一个或多个输入转化成一个或多个输出的过程中，所需要的步骤顺序和可能分支，用于帮助分析问题发生的缘由。</a:t>
            </a:r>
            <a:endParaRPr lang="en-US" altLang="zh-CN" sz="2400" b="1" smtClean="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sz="2400" b="1" smtClean="0">
                <a:solidFill>
                  <a:schemeClr val="bg2"/>
                </a:solidFill>
                <a:latin typeface="楷体" panose="02010609060101010101" pitchFamily="49" charset="-122"/>
                <a:ea typeface="楷体" panose="02010609060101010101" pitchFamily="49" charset="-122"/>
              </a:rPr>
              <a:t>在项目质量控制中，通过流程图来判断质量问题发生在项目流程的哪个环节，造成这些质量问题的原因、发展和形成的过程。</a:t>
            </a:r>
            <a:endParaRPr lang="zh-CN" altLang="en-US" sz="2400" b="1" smtClean="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rPr>
              <a:t>流程图可以使用多种格式来表示，但所有过程流程图都具有活动、决策点和过程顺序等基本要素。</a:t>
            </a:r>
            <a:endParaRPr lang="en-US" altLang="zh-CN" b="1" smtClean="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rPr>
              <a:t>流程图可以帮助项目管理者预计将在何时、何地发生质量问题，有助于项目质量地控制和管理。</a:t>
            </a:r>
            <a:endParaRPr lang="zh-CN" altLang="en-US" b="1">
              <a:solidFill>
                <a:schemeClr val="bg2"/>
              </a:solidFill>
              <a:latin typeface="楷体" panose="02010609060101010101" pitchFamily="49" charset="-122"/>
              <a:ea typeface="楷体" panose="02010609060101010101" pitchFamily="49" charset="-122"/>
            </a:endParaRPr>
          </a:p>
        </p:txBody>
      </p:sp>
      <p:sp>
        <p:nvSpPr>
          <p:cNvPr id="57354" name="Rectangle 62"/>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7.5 </a:t>
            </a:r>
            <a:r>
              <a:rPr kumimoji="0" lang="zh-CN" altLang="en-US" sz="3000" b="1" smtClean="0">
                <a:latin typeface="楷体" panose="02010609060101010101" pitchFamily="49" charset="-122"/>
                <a:ea typeface="楷体" panose="02010609060101010101" pitchFamily="49" charset="-122"/>
              </a:rPr>
              <a:t>控制项目质量</a:t>
            </a:r>
            <a:endParaRPr kumimoji="0" lang="zh-CN" altLang="en-US" sz="3000" b="1" smtClean="0">
              <a:latin typeface="楷体" panose="02010609060101010101" pitchFamily="49" charset="-122"/>
              <a:ea typeface="楷体" panose="02010609060101010101" pitchFamily="49" charset="-122"/>
            </a:endParaRPr>
          </a:p>
        </p:txBody>
      </p:sp>
      <p:sp>
        <p:nvSpPr>
          <p:cNvPr id="57355" name="Rectangle 63"/>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7.5.2 </a:t>
            </a:r>
            <a:r>
              <a:rPr kumimoji="0" lang="en-US" altLang="en-US" b="1">
                <a:solidFill>
                  <a:srgbClr val="FF0000"/>
                </a:solidFill>
                <a:latin typeface="楷体" panose="02010609060101010101" pitchFamily="49" charset="-122"/>
                <a:ea typeface="楷体" panose="02010609060101010101" pitchFamily="49" charset="-122"/>
              </a:rPr>
              <a:t>质量控制工具与技术</a:t>
            </a:r>
            <a:endParaRPr kumimoji="0" lang="en-US" altLang="en-US" b="1">
              <a:solidFill>
                <a:srgbClr val="FF0000"/>
              </a:solidFill>
              <a:latin typeface="楷体" panose="02010609060101010101" pitchFamily="49" charset="-122"/>
              <a:ea typeface="楷体" panose="02010609060101010101" pitchFamily="49" charset="-122"/>
            </a:endParaRPr>
          </a:p>
        </p:txBody>
      </p:sp>
      <p:sp>
        <p:nvSpPr>
          <p:cNvPr id="57356" name="Text Box 64"/>
          <p:cNvSpPr txBox="1">
            <a:spLocks noChangeArrowheads="1"/>
          </p:cNvSpPr>
          <p:nvPr/>
        </p:nvSpPr>
        <p:spPr bwMode="auto">
          <a:xfrm>
            <a:off x="682625" y="1844668"/>
            <a:ext cx="4610100" cy="479298"/>
          </a:xfrm>
          <a:prstGeom prst="rect">
            <a:avLst/>
          </a:prstGeom>
          <a:noFill/>
          <a:ln w="28575">
            <a:noFill/>
            <a:miter lim="800000"/>
          </a:ln>
        </p:spPr>
        <p:txBody>
          <a:bodyPr>
            <a:spAutoFit/>
          </a:bodyPr>
          <a:lstStyle/>
          <a:p>
            <a:pPr marL="457200" indent="-457200" algn="l">
              <a:lnSpc>
                <a:spcPct val="115000"/>
              </a:lnSpc>
              <a:buClr>
                <a:schemeClr val="hlink"/>
              </a:buClr>
            </a:pPr>
            <a:r>
              <a:rPr kumimoji="0" lang="en-US" altLang="en-US" sz="2400" b="1" smtClean="0">
                <a:solidFill>
                  <a:srgbClr val="0000FF"/>
                </a:solidFill>
              </a:rPr>
              <a:t>3）</a:t>
            </a:r>
            <a:r>
              <a:rPr kumimoji="0" lang="zh-CN" altLang="en-US" sz="2400" b="1" smtClean="0">
                <a:solidFill>
                  <a:srgbClr val="0000FF"/>
                </a:solidFill>
              </a:rPr>
              <a:t>流程图</a:t>
            </a:r>
            <a:endParaRPr kumimoji="0" lang="zh-CN" altLang="en-US" sz="2400" b="1" smtClean="0">
              <a:solidFill>
                <a:srgbClr val="0000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5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5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5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9"/>
          <p:cNvSpPr>
            <a:spLocks noGrp="1" noChangeArrowheads="1"/>
          </p:cNvSpPr>
          <p:nvPr>
            <p:ph type="sldNum" sz="quarter" idx="10"/>
          </p:nvPr>
        </p:nvSpPr>
        <p:spPr>
          <a:noFill/>
        </p:spPr>
        <p:txBody>
          <a:bodyPr/>
          <a:lstStyle/>
          <a:p>
            <a:r>
              <a:rPr lang="zh-CN" altLang="en-GB" dirty="0" smtClean="0"/>
              <a:t>  </a:t>
            </a:r>
            <a:fld id="{3127D3A2-AB01-4A38-B87E-C086427BF809}" type="slidenum">
              <a:rPr lang="zh-CN" altLang="en-GB" smtClean="0"/>
            </a:fld>
            <a:endParaRPr lang="en-US" altLang="zh-CN" dirty="0" smtClean="0"/>
          </a:p>
        </p:txBody>
      </p:sp>
      <p:sp>
        <p:nvSpPr>
          <p:cNvPr id="5734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P.172</a:t>
            </a:r>
            <a:endParaRPr lang="en-US" altLang="zh-CN" sz="2400" b="1">
              <a:solidFill>
                <a:schemeClr val="bg2"/>
              </a:solidFill>
            </a:endParaRPr>
          </a:p>
        </p:txBody>
      </p:sp>
      <p:sp>
        <p:nvSpPr>
          <p:cNvPr id="5734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7349" name="Text Box 6"/>
          <p:cNvSpPr txBox="1">
            <a:spLocks noChangeArrowheads="1"/>
          </p:cNvSpPr>
          <p:nvPr/>
        </p:nvSpPr>
        <p:spPr bwMode="auto">
          <a:xfrm>
            <a:off x="3419475" y="6446838"/>
            <a:ext cx="2665413" cy="368300"/>
          </a:xfrm>
          <a:prstGeom prst="rect">
            <a:avLst/>
          </a:prstGeom>
          <a:noFill/>
          <a:ln w="9525">
            <a:noFill/>
            <a:miter lim="800000"/>
          </a:ln>
        </p:spPr>
        <p:txBody>
          <a:bodyPr>
            <a:spAutoFit/>
          </a:bodyPr>
          <a:lstStyle/>
          <a:p>
            <a:pPr algn="l"/>
            <a:r>
              <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rPr>
              <a:t>图 </a:t>
            </a:r>
            <a:r>
              <a:rPr kumimoji="0" lang="en-US" altLang="zh-CN" sz="1800" b="1">
                <a:solidFill>
                  <a:srgbClr val="FF0000"/>
                </a:solidFill>
                <a:ea typeface="楷体" panose="02010609060101010101" pitchFamily="49" charset="-122"/>
                <a:cs typeface="Times New Roman" panose="02020603050405020304" pitchFamily="18" charset="0"/>
              </a:rPr>
              <a:t>7-8 </a:t>
            </a:r>
            <a:r>
              <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rPr>
              <a:t>质量控制图</a:t>
            </a:r>
            <a:endParaRPr kumimoji="0" lang="zh-CN" altLang="en-US" sz="1800" b="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pic>
        <p:nvPicPr>
          <p:cNvPr id="57350" name="Picture 55" descr="图7-9帕累托图"/>
          <p:cNvPicPr>
            <a:picLocks noChangeAspect="1" noChangeArrowheads="1"/>
          </p:cNvPicPr>
          <p:nvPr/>
        </p:nvPicPr>
        <p:blipFill>
          <a:blip r:embed="rId1" cstate="print"/>
          <a:srcRect/>
          <a:stretch>
            <a:fillRect/>
          </a:stretch>
        </p:blipFill>
        <p:spPr bwMode="auto">
          <a:xfrm>
            <a:off x="611188" y="2347913"/>
            <a:ext cx="8424862" cy="3960812"/>
          </a:xfrm>
          <a:prstGeom prst="rect">
            <a:avLst/>
          </a:prstGeom>
          <a:noFill/>
          <a:ln w="9525">
            <a:noFill/>
            <a:miter lim="800000"/>
            <a:headEnd/>
            <a:tailEnd/>
          </a:ln>
        </p:spPr>
      </p:pic>
      <p:sp>
        <p:nvSpPr>
          <p:cNvPr id="57351" name="Text Box 56"/>
          <p:cNvSpPr txBox="1">
            <a:spLocks noChangeArrowheads="1"/>
          </p:cNvSpPr>
          <p:nvPr/>
        </p:nvSpPr>
        <p:spPr bwMode="auto">
          <a:xfrm>
            <a:off x="395288" y="2311400"/>
            <a:ext cx="792162" cy="398780"/>
          </a:xfrm>
          <a:prstGeom prst="rect">
            <a:avLst/>
          </a:prstGeom>
          <a:solidFill>
            <a:schemeClr val="tx1"/>
          </a:solidFill>
          <a:ln w="9525" algn="ctr">
            <a:noFill/>
            <a:miter lim="800000"/>
          </a:ln>
        </p:spPr>
        <p:txBody>
          <a:bodyPr>
            <a:spAutoFit/>
          </a:bodyPr>
          <a:lstStyle/>
          <a:p>
            <a:r>
              <a:rPr lang="zh-CN" altLang="en-US" sz="2000" b="1">
                <a:solidFill>
                  <a:srgbClr val="FF0000"/>
                </a:solidFill>
                <a:latin typeface="楷体" panose="02010609060101010101" pitchFamily="49" charset="-122"/>
                <a:ea typeface="楷体" panose="02010609060101010101" pitchFamily="49" charset="-122"/>
              </a:rPr>
              <a:t>频数</a:t>
            </a:r>
            <a:endParaRPr lang="zh-CN" altLang="en-US" sz="2000" b="1">
              <a:solidFill>
                <a:srgbClr val="FF0000"/>
              </a:solidFill>
              <a:latin typeface="楷体" panose="02010609060101010101" pitchFamily="49" charset="-122"/>
              <a:ea typeface="楷体" panose="02010609060101010101" pitchFamily="49" charset="-122"/>
            </a:endParaRPr>
          </a:p>
        </p:txBody>
      </p:sp>
      <p:sp>
        <p:nvSpPr>
          <p:cNvPr id="57352" name="Text Box 57"/>
          <p:cNvSpPr txBox="1">
            <a:spLocks noChangeArrowheads="1"/>
          </p:cNvSpPr>
          <p:nvPr/>
        </p:nvSpPr>
        <p:spPr bwMode="auto">
          <a:xfrm>
            <a:off x="7740650" y="2349500"/>
            <a:ext cx="1223963" cy="398780"/>
          </a:xfrm>
          <a:prstGeom prst="rect">
            <a:avLst/>
          </a:prstGeom>
          <a:solidFill>
            <a:schemeClr val="tx1"/>
          </a:solidFill>
          <a:ln w="9525" algn="ctr">
            <a:noFill/>
            <a:miter lim="800000"/>
          </a:ln>
        </p:spPr>
        <p:txBody>
          <a:bodyPr>
            <a:spAutoFit/>
          </a:bodyPr>
          <a:lstStyle/>
          <a:p>
            <a:pPr algn="l"/>
            <a:r>
              <a:rPr lang="zh-CN" altLang="en-US" sz="2000" b="1">
                <a:solidFill>
                  <a:srgbClr val="FF0000"/>
                </a:solidFill>
                <a:latin typeface="楷体" panose="02010609060101010101" pitchFamily="49" charset="-122"/>
                <a:ea typeface="楷体" panose="02010609060101010101" pitchFamily="49" charset="-122"/>
              </a:rPr>
              <a:t>频率</a:t>
            </a:r>
            <a:r>
              <a:rPr lang="zh-CN" altLang="en-US" sz="2000" b="1">
                <a:solidFill>
                  <a:srgbClr val="FF0000"/>
                </a:solidFill>
              </a:rPr>
              <a:t>％</a:t>
            </a:r>
            <a:endParaRPr lang="zh-CN" altLang="en-US" sz="2000" b="1">
              <a:solidFill>
                <a:srgbClr val="FF0000"/>
              </a:solidFill>
            </a:endParaRPr>
          </a:p>
        </p:txBody>
      </p:sp>
      <p:grpSp>
        <p:nvGrpSpPr>
          <p:cNvPr id="2" name="Group 60"/>
          <p:cNvGrpSpPr/>
          <p:nvPr/>
        </p:nvGrpSpPr>
        <p:grpSpPr bwMode="auto">
          <a:xfrm>
            <a:off x="4932363" y="908050"/>
            <a:ext cx="3887787" cy="1657350"/>
            <a:chOff x="3107" y="572"/>
            <a:chExt cx="2449" cy="1044"/>
          </a:xfrm>
        </p:grpSpPr>
        <p:sp>
          <p:nvSpPr>
            <p:cNvPr id="57357" name="Text Box 58"/>
            <p:cNvSpPr txBox="1">
              <a:spLocks noChangeArrowheads="1"/>
            </p:cNvSpPr>
            <p:nvPr/>
          </p:nvSpPr>
          <p:spPr bwMode="auto">
            <a:xfrm>
              <a:off x="3561" y="894"/>
              <a:ext cx="1723" cy="404"/>
            </a:xfrm>
            <a:prstGeom prst="rect">
              <a:avLst/>
            </a:prstGeom>
            <a:noFill/>
            <a:ln w="9525" algn="ctr">
              <a:noFill/>
              <a:miter lim="800000"/>
            </a:ln>
          </p:spPr>
          <p:txBody>
            <a:bodyPr>
              <a:spAutoFit/>
            </a:bodyPr>
            <a:lstStyle/>
            <a:p>
              <a:pPr algn="l"/>
              <a:r>
                <a:rPr lang="en-US" altLang="zh-CN" sz="3600">
                  <a:solidFill>
                    <a:schemeClr val="hlink"/>
                  </a:solidFill>
                  <a:latin typeface="华文琥珀" panose="02010800040101010101" pitchFamily="2" charset="-122"/>
                  <a:ea typeface="华文琥珀" panose="02010800040101010101" pitchFamily="2" charset="-122"/>
                </a:rPr>
                <a:t>  2-8</a:t>
              </a:r>
              <a:r>
                <a:rPr lang="zh-CN" altLang="en-US" sz="3600">
                  <a:solidFill>
                    <a:schemeClr val="hlink"/>
                  </a:solidFill>
                  <a:latin typeface="华文琥珀" panose="02010800040101010101" pitchFamily="2" charset="-122"/>
                  <a:ea typeface="华文琥珀" panose="02010800040101010101" pitchFamily="2" charset="-122"/>
                </a:rPr>
                <a:t>原理</a:t>
              </a:r>
              <a:endParaRPr lang="zh-CN" altLang="en-US" sz="3600">
                <a:solidFill>
                  <a:schemeClr val="hlink"/>
                </a:solidFill>
                <a:latin typeface="华文琥珀" panose="02010800040101010101" pitchFamily="2" charset="-122"/>
                <a:ea typeface="华文琥珀" panose="02010800040101010101" pitchFamily="2" charset="-122"/>
              </a:endParaRPr>
            </a:p>
          </p:txBody>
        </p:sp>
        <p:sp>
          <p:nvSpPr>
            <p:cNvPr id="57358" name="AutoShape 59"/>
            <p:cNvSpPr>
              <a:spLocks noChangeArrowheads="1"/>
            </p:cNvSpPr>
            <p:nvPr/>
          </p:nvSpPr>
          <p:spPr bwMode="auto">
            <a:xfrm>
              <a:off x="3107" y="572"/>
              <a:ext cx="2449" cy="1044"/>
            </a:xfrm>
            <a:prstGeom prst="irregularSeal2">
              <a:avLst/>
            </a:prstGeom>
            <a:noFill/>
            <a:ln w="57150" algn="ctr">
              <a:solidFill>
                <a:srgbClr val="800080"/>
              </a:solidFill>
              <a:miter lim="800000"/>
            </a:ln>
          </p:spPr>
          <p:txBody>
            <a:bodyPr anchor="ctr">
              <a:spAutoFit/>
            </a:bodyPr>
            <a:lstStyle/>
            <a:p>
              <a:endParaRPr lang="zh-CN" altLang="en-US"/>
            </a:p>
          </p:txBody>
        </p:sp>
      </p:grpSp>
      <p:sp>
        <p:nvSpPr>
          <p:cNvPr id="57354" name="Rectangle 62"/>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7.5 </a:t>
            </a:r>
            <a:r>
              <a:rPr kumimoji="0" lang="zh-CN" altLang="en-US" sz="3000" b="1" smtClean="0">
                <a:latin typeface="楷体" panose="02010609060101010101" pitchFamily="49" charset="-122"/>
                <a:ea typeface="楷体" panose="02010609060101010101" pitchFamily="49" charset="-122"/>
              </a:rPr>
              <a:t>控制项目质量</a:t>
            </a:r>
            <a:endParaRPr kumimoji="0" lang="zh-CN" altLang="en-US" sz="3000" b="1" smtClean="0">
              <a:latin typeface="楷体" panose="02010609060101010101" pitchFamily="49" charset="-122"/>
              <a:ea typeface="楷体" panose="02010609060101010101" pitchFamily="49" charset="-122"/>
            </a:endParaRPr>
          </a:p>
        </p:txBody>
      </p:sp>
      <p:sp>
        <p:nvSpPr>
          <p:cNvPr id="57355" name="Rectangle 63"/>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7.5.2 </a:t>
            </a:r>
            <a:r>
              <a:rPr kumimoji="0" lang="en-US" altLang="en-US" b="1">
                <a:solidFill>
                  <a:srgbClr val="FF0000"/>
                </a:solidFill>
                <a:latin typeface="楷体" panose="02010609060101010101" pitchFamily="49" charset="-122"/>
                <a:ea typeface="楷体" panose="02010609060101010101" pitchFamily="49" charset="-122"/>
              </a:rPr>
              <a:t>质量控制工具与技术</a:t>
            </a:r>
            <a:endParaRPr kumimoji="0" lang="en-US" altLang="en-US" b="1">
              <a:solidFill>
                <a:srgbClr val="FF0000"/>
              </a:solidFill>
              <a:latin typeface="楷体" panose="02010609060101010101" pitchFamily="49" charset="-122"/>
              <a:ea typeface="楷体" panose="02010609060101010101" pitchFamily="49" charset="-122"/>
            </a:endParaRPr>
          </a:p>
        </p:txBody>
      </p:sp>
      <p:sp>
        <p:nvSpPr>
          <p:cNvPr id="57356" name="Text Box 64"/>
          <p:cNvSpPr txBox="1">
            <a:spLocks noChangeArrowheads="1"/>
          </p:cNvSpPr>
          <p:nvPr/>
        </p:nvSpPr>
        <p:spPr bwMode="auto">
          <a:xfrm>
            <a:off x="682625" y="1844668"/>
            <a:ext cx="4610100" cy="515620"/>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sz="2400" b="1" smtClean="0">
                <a:solidFill>
                  <a:schemeClr val="bg1"/>
                </a:solidFill>
              </a:rPr>
              <a:t>4）</a:t>
            </a:r>
            <a:r>
              <a:rPr kumimoji="0" lang="en-US" altLang="en-US" sz="2400" b="1">
                <a:solidFill>
                  <a:schemeClr val="bg1"/>
                </a:solidFill>
                <a:latin typeface="楷体" panose="02010609060101010101" pitchFamily="49" charset="-122"/>
                <a:ea typeface="楷体" panose="02010609060101010101" pitchFamily="49" charset="-122"/>
              </a:rPr>
              <a:t>帕累托图</a:t>
            </a:r>
            <a:r>
              <a:rPr kumimoji="0" lang="en-US" altLang="en-US" sz="2400" b="1">
                <a:solidFill>
                  <a:schemeClr val="bg1"/>
                </a:solidFill>
              </a:rPr>
              <a:t> （Pareto） </a:t>
            </a:r>
            <a:endParaRPr kumimoji="0" lang="en-US" altLang="en-US" sz="2400" b="1">
              <a:solidFill>
                <a:schemeClr val="bg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9"/>
          <p:cNvSpPr>
            <a:spLocks noGrp="1" noChangeArrowheads="1"/>
          </p:cNvSpPr>
          <p:nvPr>
            <p:ph type="sldNum" sz="quarter" idx="10"/>
          </p:nvPr>
        </p:nvSpPr>
        <p:spPr>
          <a:noFill/>
        </p:spPr>
        <p:txBody>
          <a:bodyPr/>
          <a:lstStyle/>
          <a:p>
            <a:r>
              <a:rPr lang="zh-CN" altLang="en-GB" dirty="0" smtClean="0"/>
              <a:t>  </a:t>
            </a:r>
            <a:fld id="{3127D3A2-AB01-4A38-B87E-C086427BF809}" type="slidenum">
              <a:rPr lang="zh-CN" altLang="en-GB" smtClean="0"/>
            </a:fld>
            <a:endParaRPr lang="en-US" altLang="zh-CN" dirty="0" smtClean="0"/>
          </a:p>
        </p:txBody>
      </p:sp>
      <p:sp>
        <p:nvSpPr>
          <p:cNvPr id="5734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P.173</a:t>
            </a:r>
            <a:endParaRPr lang="en-US" altLang="zh-CN" sz="2400" b="1">
              <a:solidFill>
                <a:schemeClr val="bg2"/>
              </a:solidFill>
            </a:endParaRPr>
          </a:p>
        </p:txBody>
      </p:sp>
      <p:sp>
        <p:nvSpPr>
          <p:cNvPr id="5734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7352" name="Text Box 57"/>
          <p:cNvSpPr txBox="1">
            <a:spLocks noChangeArrowheads="1"/>
          </p:cNvSpPr>
          <p:nvPr/>
        </p:nvSpPr>
        <p:spPr bwMode="auto">
          <a:xfrm>
            <a:off x="142876" y="2337097"/>
            <a:ext cx="8786842" cy="3846195"/>
          </a:xfrm>
          <a:prstGeom prst="rect">
            <a:avLst/>
          </a:prstGeom>
          <a:solidFill>
            <a:schemeClr val="tx1"/>
          </a:solidFill>
          <a:ln w="9525" algn="ctr">
            <a:noFill/>
            <a:miter lim="800000"/>
          </a:ln>
        </p:spPr>
        <p:txBody>
          <a:bodyPr wrap="square">
            <a:spAutoFit/>
          </a:bodyPr>
          <a:lstStyle/>
          <a:p>
            <a:pPr lvl="2"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rPr>
              <a:t>核查表，又称计数表，是用于收集数据的核对清单。通过合理排列各种事项，以便有效地收集关于潜在质量问题的有用数据。</a:t>
            </a:r>
            <a:endParaRPr lang="en-US" altLang="zh-CN" b="1" smtClean="0">
              <a:solidFill>
                <a:schemeClr val="bg2"/>
              </a:solidFill>
              <a:latin typeface="楷体" panose="02010609060101010101" pitchFamily="49" charset="-122"/>
              <a:ea typeface="楷体" panose="02010609060101010101" pitchFamily="49" charset="-122"/>
            </a:endParaRPr>
          </a:p>
          <a:p>
            <a:pPr lvl="2"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rPr>
              <a:t>它基于类比项目及其他相关信息编制质量问题识别核对表。在开展检查以识别缺陷时，用核查表收集属性数据就特别方便。</a:t>
            </a:r>
            <a:endParaRPr lang="en-US" altLang="zh-CN" b="1" smtClean="0">
              <a:solidFill>
                <a:schemeClr val="bg2"/>
              </a:solidFill>
              <a:latin typeface="楷体" panose="02010609060101010101" pitchFamily="49" charset="-122"/>
              <a:ea typeface="楷体" panose="02010609060101010101" pitchFamily="49" charset="-122"/>
            </a:endParaRPr>
          </a:p>
          <a:p>
            <a:pPr lvl="2"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rPr>
              <a:t>用核查表收集的关于缺陷数量或后果的数据，又经常使用帕累托图来显示和分析。</a:t>
            </a:r>
            <a:endParaRPr lang="zh-CN" altLang="en-US" b="1">
              <a:solidFill>
                <a:schemeClr val="bg2"/>
              </a:solidFill>
              <a:latin typeface="楷体" panose="02010609060101010101" pitchFamily="49" charset="-122"/>
              <a:ea typeface="楷体" panose="02010609060101010101" pitchFamily="49" charset="-122"/>
            </a:endParaRPr>
          </a:p>
        </p:txBody>
      </p:sp>
      <p:sp>
        <p:nvSpPr>
          <p:cNvPr id="57354" name="Rectangle 62"/>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7.5 </a:t>
            </a:r>
            <a:r>
              <a:rPr kumimoji="0" lang="zh-CN" altLang="en-US" sz="3000" b="1" smtClean="0">
                <a:latin typeface="楷体" panose="02010609060101010101" pitchFamily="49" charset="-122"/>
                <a:ea typeface="楷体" panose="02010609060101010101" pitchFamily="49" charset="-122"/>
              </a:rPr>
              <a:t>控制项目质量</a:t>
            </a:r>
            <a:endParaRPr kumimoji="0" lang="en-US" altLang="en-US" sz="3000" b="1">
              <a:latin typeface="楷体" panose="02010609060101010101" pitchFamily="49" charset="-122"/>
              <a:ea typeface="楷体" panose="02010609060101010101" pitchFamily="49" charset="-122"/>
            </a:endParaRPr>
          </a:p>
        </p:txBody>
      </p:sp>
      <p:sp>
        <p:nvSpPr>
          <p:cNvPr id="57355" name="Rectangle 63"/>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7.5.2 </a:t>
            </a:r>
            <a:r>
              <a:rPr kumimoji="0" lang="en-US" altLang="en-US" b="1">
                <a:solidFill>
                  <a:srgbClr val="FF0000"/>
                </a:solidFill>
                <a:latin typeface="楷体" panose="02010609060101010101" pitchFamily="49" charset="-122"/>
                <a:ea typeface="楷体" panose="02010609060101010101" pitchFamily="49" charset="-122"/>
              </a:rPr>
              <a:t>质量控制工具与技术</a:t>
            </a:r>
            <a:endParaRPr kumimoji="0" lang="en-US" altLang="en-US" b="1">
              <a:solidFill>
                <a:srgbClr val="FF0000"/>
              </a:solidFill>
              <a:latin typeface="楷体" panose="02010609060101010101" pitchFamily="49" charset="-122"/>
              <a:ea typeface="楷体" panose="02010609060101010101" pitchFamily="49" charset="-122"/>
            </a:endParaRPr>
          </a:p>
        </p:txBody>
      </p:sp>
      <p:sp>
        <p:nvSpPr>
          <p:cNvPr id="57356" name="Text Box 64"/>
          <p:cNvSpPr txBox="1">
            <a:spLocks noChangeArrowheads="1"/>
          </p:cNvSpPr>
          <p:nvPr/>
        </p:nvSpPr>
        <p:spPr bwMode="auto">
          <a:xfrm>
            <a:off x="682625" y="1844668"/>
            <a:ext cx="4610100" cy="515620"/>
          </a:xfrm>
          <a:prstGeom prst="rect">
            <a:avLst/>
          </a:prstGeom>
          <a:noFill/>
          <a:ln w="28575">
            <a:noFill/>
            <a:miter lim="800000"/>
          </a:ln>
        </p:spPr>
        <p:txBody>
          <a:bodyPr>
            <a:spAutoFit/>
          </a:bodyPr>
          <a:lstStyle/>
          <a:p>
            <a:pPr marL="457200" indent="-457200" algn="l">
              <a:lnSpc>
                <a:spcPct val="115000"/>
              </a:lnSpc>
              <a:buClr>
                <a:schemeClr val="hlink"/>
              </a:buClr>
            </a:pPr>
            <a:r>
              <a:rPr kumimoji="0" lang="en-US" altLang="en-US" sz="2400" b="1" smtClean="0">
                <a:solidFill>
                  <a:srgbClr val="0000FF"/>
                </a:solidFill>
              </a:rPr>
              <a:t>5）</a:t>
            </a:r>
            <a:r>
              <a:rPr kumimoji="0" lang="zh-CN" altLang="en-US" sz="2400" b="1" smtClean="0">
                <a:solidFill>
                  <a:srgbClr val="0000FF"/>
                </a:solidFill>
                <a:latin typeface="楷体" panose="02010609060101010101" pitchFamily="49" charset="-122"/>
                <a:ea typeface="楷体" panose="02010609060101010101" pitchFamily="49" charset="-122"/>
              </a:rPr>
              <a:t>核查表</a:t>
            </a:r>
            <a:endParaRPr kumimoji="0" lang="zh-CN" altLang="en-US" sz="2400" b="1" smtClean="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5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5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9"/>
          <p:cNvSpPr>
            <a:spLocks noGrp="1" noChangeArrowheads="1"/>
          </p:cNvSpPr>
          <p:nvPr>
            <p:ph type="sldNum" sz="quarter" idx="10"/>
          </p:nvPr>
        </p:nvSpPr>
        <p:spPr>
          <a:noFill/>
        </p:spPr>
        <p:txBody>
          <a:bodyPr/>
          <a:lstStyle/>
          <a:p>
            <a:r>
              <a:rPr lang="zh-CN" altLang="en-GB" dirty="0" smtClean="0"/>
              <a:t>  </a:t>
            </a:r>
            <a:fld id="{3127D3A2-AB01-4A38-B87E-C086427BF809}" type="slidenum">
              <a:rPr lang="zh-CN" altLang="en-GB" smtClean="0"/>
            </a:fld>
            <a:endParaRPr lang="en-US" altLang="zh-CN" dirty="0" smtClean="0"/>
          </a:p>
        </p:txBody>
      </p:sp>
      <p:sp>
        <p:nvSpPr>
          <p:cNvPr id="5734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P.173</a:t>
            </a:r>
            <a:endParaRPr lang="en-US" altLang="zh-CN" sz="2400" b="1">
              <a:solidFill>
                <a:schemeClr val="bg2"/>
              </a:solidFill>
            </a:endParaRPr>
          </a:p>
        </p:txBody>
      </p:sp>
      <p:sp>
        <p:nvSpPr>
          <p:cNvPr id="5734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7352" name="Text Box 57"/>
          <p:cNvSpPr txBox="1">
            <a:spLocks noChangeArrowheads="1"/>
          </p:cNvSpPr>
          <p:nvPr/>
        </p:nvSpPr>
        <p:spPr bwMode="auto">
          <a:xfrm>
            <a:off x="142876" y="2337097"/>
            <a:ext cx="8786842" cy="3723005"/>
          </a:xfrm>
          <a:prstGeom prst="rect">
            <a:avLst/>
          </a:prstGeom>
          <a:solidFill>
            <a:schemeClr val="tx1"/>
          </a:solidFill>
          <a:ln w="9525" algn="ctr">
            <a:noFill/>
            <a:miter lim="800000"/>
          </a:ln>
        </p:spPr>
        <p:txBody>
          <a:bodyPr wrap="square">
            <a:spAutoFit/>
          </a:bodyPr>
          <a:lstStyle/>
          <a:p>
            <a:pPr lvl="2" algn="l">
              <a:spcBef>
                <a:spcPts val="600"/>
              </a:spcBef>
              <a:spcAft>
                <a:spcPts val="600"/>
              </a:spcAft>
            </a:pP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直方图，是一种特殊显示的条形图，用于描述集中趋势、分散程度和统计分布形状。与控制图不同，直方图不考虑时间对分布内的变化影响。</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pPr>
            <a:r>
              <a:rPr kumimoji="0" lang="en-US" altLang="en-US" sz="2400" b="1" smtClean="0">
                <a:solidFill>
                  <a:schemeClr val="bg1"/>
                </a:solidFill>
                <a:ea typeface="楷体" panose="02010609060101010101" pitchFamily="49" charset="-122"/>
                <a:cs typeface="Times New Roman" panose="02020603050405020304" pitchFamily="18" charset="0"/>
              </a:rPr>
              <a:t>7</a:t>
            </a:r>
            <a:r>
              <a:rPr kumimoji="0" lang="zh-CN" altLang="en-US" sz="2400" b="1" smtClean="0">
                <a:solidFill>
                  <a:schemeClr val="bg1"/>
                </a:solidFill>
                <a:ea typeface="楷体" panose="02010609060101010101" pitchFamily="49" charset="-122"/>
                <a:cs typeface="Times New Roman" panose="02020603050405020304" pitchFamily="18" charset="0"/>
              </a:rPr>
              <a:t>）</a:t>
            </a:r>
            <a:r>
              <a:rPr kumimoji="0"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rPr>
              <a:t>散点图</a:t>
            </a:r>
            <a:endParaRPr kumimoji="0" lang="zh-CN" altLang="en-US" sz="2400" b="1" smtClean="0">
              <a:solidFill>
                <a:schemeClr val="bg1"/>
              </a:solidFill>
              <a:latin typeface="楷体" panose="02010609060101010101" pitchFamily="49" charset="-122"/>
              <a:ea typeface="楷体" panose="02010609060101010101" pitchFamily="49" charset="-122"/>
              <a:cs typeface="楷体" panose="02010609060101010101" pitchFamily="49" charset="-122"/>
            </a:endParaRPr>
          </a:p>
          <a:p>
            <a:pPr lvl="2" algn="l">
              <a:spcBef>
                <a:spcPts val="600"/>
              </a:spcBef>
              <a:spcAft>
                <a:spcPts val="600"/>
              </a:spcAft>
            </a:pP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散点图，又称相关图，在这种图中标有许多坐标点</a:t>
            </a:r>
            <a:r>
              <a:rPr lang="zh-CN" altLang="en-US" sz="2400" b="1" smtClean="0">
                <a:solidFill>
                  <a:schemeClr val="bg2"/>
                </a:solidFill>
                <a:ea typeface="楷体" panose="02010609060101010101" pitchFamily="49" charset="-122"/>
                <a:cs typeface="Times New Roman" panose="02020603050405020304" pitchFamily="18" charset="0"/>
              </a:rPr>
              <a:t>（</a:t>
            </a:r>
            <a:r>
              <a:rPr lang="en-US" altLang="en-US" sz="2400" b="1" smtClean="0">
                <a:solidFill>
                  <a:schemeClr val="bg2"/>
                </a:solidFill>
                <a:ea typeface="楷体" panose="02010609060101010101" pitchFamily="49" charset="-122"/>
                <a:cs typeface="Times New Roman" panose="02020603050405020304" pitchFamily="18" charset="0"/>
              </a:rPr>
              <a:t>X</a:t>
            </a:r>
            <a:r>
              <a:rPr lang="zh-CN" altLang="en-US" sz="2400" b="1" smtClean="0">
                <a:solidFill>
                  <a:schemeClr val="bg2"/>
                </a:solidFill>
                <a:ea typeface="楷体" panose="02010609060101010101" pitchFamily="49" charset="-122"/>
                <a:cs typeface="Times New Roman" panose="02020603050405020304" pitchFamily="18" charset="0"/>
              </a:rPr>
              <a:t>，</a:t>
            </a:r>
            <a:r>
              <a:rPr lang="en-US" altLang="en-US" sz="2400" b="1" smtClean="0">
                <a:solidFill>
                  <a:schemeClr val="bg2"/>
                </a:solidFill>
                <a:ea typeface="楷体" panose="02010609060101010101" pitchFamily="49" charset="-122"/>
                <a:cs typeface="Times New Roman" panose="02020603050405020304" pitchFamily="18" charset="0"/>
              </a:rPr>
              <a:t>Y</a:t>
            </a:r>
            <a:r>
              <a:rPr lang="zh-CN" altLang="en-US" sz="2400" b="1" smtClean="0">
                <a:solidFill>
                  <a:schemeClr val="bg2"/>
                </a:solidFill>
                <a:ea typeface="楷体" panose="02010609060101010101" pitchFamily="49" charset="-122"/>
                <a:cs typeface="Times New Roman" panose="02020603050405020304" pitchFamily="18" charset="0"/>
              </a:rPr>
              <a:t>）</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，以解释因变量</a:t>
            </a:r>
            <a:r>
              <a:rPr lang="en-US" altLang="en-US" sz="2400" b="1" smtClean="0">
                <a:solidFill>
                  <a:schemeClr val="bg2"/>
                </a:solidFill>
                <a:ea typeface="楷体" panose="02010609060101010101" pitchFamily="49" charset="-122"/>
                <a:cs typeface="Times New Roman" panose="02020603050405020304" pitchFamily="18" charset="0"/>
              </a:rPr>
              <a:t>Y</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相对于自变量</a:t>
            </a:r>
            <a:r>
              <a:rPr lang="en-US"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X</a:t>
            </a:r>
            <a:r>
              <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rPr>
              <a:t>的变化。相关性可能从正比例（正相关）、负比例（负相关）或不存在（零相关）。如果存在相关性，就可以画出一条回归线，来估算自变量的变化将如何影响因变量的值。</a:t>
            </a:r>
            <a:endParaRPr lang="zh-CN" altLang="en-US" sz="2400"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57354" name="Rectangle 62"/>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7.5 </a:t>
            </a:r>
            <a:r>
              <a:rPr kumimoji="0" lang="zh-CN" altLang="en-US" sz="3000" b="1" smtClean="0">
                <a:latin typeface="楷体" panose="02010609060101010101" pitchFamily="49" charset="-122"/>
                <a:ea typeface="楷体" panose="02010609060101010101" pitchFamily="49" charset="-122"/>
              </a:rPr>
              <a:t>控制项目质量</a:t>
            </a:r>
            <a:endParaRPr kumimoji="0" lang="zh-CN" altLang="en-US" sz="3000" b="1" smtClean="0">
              <a:latin typeface="楷体" panose="02010609060101010101" pitchFamily="49" charset="-122"/>
              <a:ea typeface="楷体" panose="02010609060101010101" pitchFamily="49" charset="-122"/>
            </a:endParaRPr>
          </a:p>
        </p:txBody>
      </p:sp>
      <p:sp>
        <p:nvSpPr>
          <p:cNvPr id="57355" name="Rectangle 63"/>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7.5.2 </a:t>
            </a:r>
            <a:r>
              <a:rPr kumimoji="0" lang="en-US" altLang="en-US" b="1">
                <a:solidFill>
                  <a:srgbClr val="FF0000"/>
                </a:solidFill>
                <a:latin typeface="楷体" panose="02010609060101010101" pitchFamily="49" charset="-122"/>
                <a:ea typeface="楷体" panose="02010609060101010101" pitchFamily="49" charset="-122"/>
              </a:rPr>
              <a:t>质量控制工具与技术</a:t>
            </a:r>
            <a:endParaRPr kumimoji="0" lang="en-US" altLang="en-US" b="1">
              <a:solidFill>
                <a:srgbClr val="FF0000"/>
              </a:solidFill>
              <a:latin typeface="楷体" panose="02010609060101010101" pitchFamily="49" charset="-122"/>
              <a:ea typeface="楷体" panose="02010609060101010101" pitchFamily="49" charset="-122"/>
            </a:endParaRPr>
          </a:p>
        </p:txBody>
      </p:sp>
      <p:sp>
        <p:nvSpPr>
          <p:cNvPr id="57356" name="Text Box 64"/>
          <p:cNvSpPr txBox="1">
            <a:spLocks noChangeArrowheads="1"/>
          </p:cNvSpPr>
          <p:nvPr/>
        </p:nvSpPr>
        <p:spPr bwMode="auto">
          <a:xfrm>
            <a:off x="682625" y="1844668"/>
            <a:ext cx="4610100" cy="515620"/>
          </a:xfrm>
          <a:prstGeom prst="rect">
            <a:avLst/>
          </a:prstGeom>
          <a:noFill/>
          <a:ln w="28575">
            <a:noFill/>
            <a:miter lim="800000"/>
          </a:ln>
        </p:spPr>
        <p:txBody>
          <a:bodyPr>
            <a:spAutoFit/>
          </a:bodyPr>
          <a:lstStyle/>
          <a:p>
            <a:pPr marL="457200" indent="-457200" algn="l">
              <a:lnSpc>
                <a:spcPct val="115000"/>
              </a:lnSpc>
              <a:buClr>
                <a:schemeClr val="hlink"/>
              </a:buClr>
            </a:pPr>
            <a:r>
              <a:rPr kumimoji="0" lang="en-US" altLang="en-US" sz="2400" b="1" smtClean="0">
                <a:solidFill>
                  <a:schemeClr val="bg1"/>
                </a:solidFill>
              </a:rPr>
              <a:t>6）</a:t>
            </a:r>
            <a:r>
              <a:rPr kumimoji="0" lang="zh-CN" altLang="en-US" sz="2400" b="1" smtClean="0">
                <a:solidFill>
                  <a:schemeClr val="bg1"/>
                </a:solidFill>
                <a:latin typeface="楷体" panose="02010609060101010101" pitchFamily="49" charset="-122"/>
                <a:ea typeface="楷体" panose="02010609060101010101" pitchFamily="49" charset="-122"/>
              </a:rPr>
              <a:t>直方图</a:t>
            </a:r>
            <a:endParaRPr kumimoji="0" lang="en-US" altLang="en-US" sz="2400" b="1" smtClean="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5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9"/>
          <p:cNvSpPr>
            <a:spLocks noGrp="1" noChangeArrowheads="1"/>
          </p:cNvSpPr>
          <p:nvPr>
            <p:ph type="sldNum" sz="quarter" idx="10"/>
          </p:nvPr>
        </p:nvSpPr>
        <p:spPr>
          <a:noFill/>
        </p:spPr>
        <p:txBody>
          <a:bodyPr/>
          <a:lstStyle/>
          <a:p>
            <a:r>
              <a:rPr lang="zh-CN" altLang="en-GB" dirty="0" smtClean="0"/>
              <a:t>  </a:t>
            </a:r>
            <a:fld id="{3127D3A2-AB01-4A38-B87E-C086427BF809}" type="slidenum">
              <a:rPr lang="zh-CN" altLang="en-GB" smtClean="0"/>
            </a:fld>
            <a:endParaRPr lang="en-US" altLang="zh-CN" dirty="0" smtClean="0"/>
          </a:p>
        </p:txBody>
      </p:sp>
      <p:sp>
        <p:nvSpPr>
          <p:cNvPr id="5734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P.173</a:t>
            </a:r>
            <a:endParaRPr lang="en-US" altLang="zh-CN" sz="2400" b="1">
              <a:solidFill>
                <a:schemeClr val="bg2"/>
              </a:solidFill>
            </a:endParaRPr>
          </a:p>
        </p:txBody>
      </p:sp>
      <p:sp>
        <p:nvSpPr>
          <p:cNvPr id="5734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7352" name="Text Box 57"/>
          <p:cNvSpPr txBox="1">
            <a:spLocks noChangeArrowheads="1"/>
          </p:cNvSpPr>
          <p:nvPr/>
        </p:nvSpPr>
        <p:spPr bwMode="auto">
          <a:xfrm>
            <a:off x="142876" y="2441572"/>
            <a:ext cx="8786842" cy="3415030"/>
          </a:xfrm>
          <a:prstGeom prst="rect">
            <a:avLst/>
          </a:prstGeom>
          <a:solidFill>
            <a:schemeClr val="tx1"/>
          </a:solidFill>
          <a:ln w="9525" algn="ctr">
            <a:noFill/>
            <a:miter lim="800000"/>
          </a:ln>
        </p:spPr>
        <p:txBody>
          <a:bodyPr wrap="square">
            <a:spAutoFit/>
          </a:bodyPr>
          <a:lstStyle/>
          <a:p>
            <a:pPr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rPr>
              <a:t>统计抽样是指从目标总体中选取部分样本用于检查。抽样的频率和规模应在规划质量管理过程中确定，以便在质量成本中考虑测试数量和预期废品等。</a:t>
            </a:r>
            <a:endParaRPr lang="zh-CN" altLang="en-US" b="1"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rPr>
              <a:t>统计抽样拥有丰富的知识体系。在某些应用领域，项目管理团队可能有必要熟悉各种抽样技术，以确保抽取的样本能代表目标总体。</a:t>
            </a:r>
            <a:endParaRPr lang="en-US" altLang="zh-CN" b="1" smtClean="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smtClean="0">
                <a:solidFill>
                  <a:schemeClr val="bg2"/>
                </a:solidFill>
                <a:latin typeface="楷体" panose="02010609060101010101" pitchFamily="49" charset="-122"/>
                <a:ea typeface="楷体" panose="02010609060101010101" pitchFamily="49" charset="-122"/>
              </a:rPr>
              <a:t>应该按照质量管理计划中的规定，抽取和测量样本。</a:t>
            </a:r>
            <a:endParaRPr lang="zh-CN" altLang="en-US" b="1">
              <a:solidFill>
                <a:schemeClr val="bg2"/>
              </a:solidFill>
              <a:latin typeface="楷体" panose="02010609060101010101" pitchFamily="49" charset="-122"/>
              <a:ea typeface="楷体" panose="02010609060101010101" pitchFamily="49" charset="-122"/>
            </a:endParaRPr>
          </a:p>
        </p:txBody>
      </p:sp>
      <p:sp>
        <p:nvSpPr>
          <p:cNvPr id="57354" name="Rectangle 62"/>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7.5 </a:t>
            </a:r>
            <a:r>
              <a:rPr kumimoji="0" lang="zh-CN" altLang="en-US" sz="3000" b="1" smtClean="0">
                <a:latin typeface="楷体" panose="02010609060101010101" pitchFamily="49" charset="-122"/>
                <a:ea typeface="楷体" panose="02010609060101010101" pitchFamily="49" charset="-122"/>
              </a:rPr>
              <a:t>控制项目质量</a:t>
            </a:r>
            <a:endParaRPr kumimoji="0" lang="en-US" altLang="en-US" sz="3000" b="1">
              <a:latin typeface="楷体" panose="02010609060101010101" pitchFamily="49" charset="-122"/>
              <a:ea typeface="楷体" panose="02010609060101010101" pitchFamily="49" charset="-122"/>
            </a:endParaRPr>
          </a:p>
        </p:txBody>
      </p:sp>
      <p:sp>
        <p:nvSpPr>
          <p:cNvPr id="57355" name="Rectangle 63"/>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7.5.2 </a:t>
            </a:r>
            <a:r>
              <a:rPr kumimoji="0" lang="en-US" altLang="en-US" b="1">
                <a:solidFill>
                  <a:srgbClr val="FF0000"/>
                </a:solidFill>
                <a:latin typeface="楷体" panose="02010609060101010101" pitchFamily="49" charset="-122"/>
                <a:ea typeface="楷体" panose="02010609060101010101" pitchFamily="49" charset="-122"/>
              </a:rPr>
              <a:t>质量控制工具与技术</a:t>
            </a:r>
            <a:endParaRPr kumimoji="0" lang="en-US" altLang="en-US" b="1">
              <a:solidFill>
                <a:srgbClr val="FF0000"/>
              </a:solidFill>
              <a:latin typeface="楷体" panose="02010609060101010101" pitchFamily="49" charset="-122"/>
              <a:ea typeface="楷体" panose="02010609060101010101" pitchFamily="49" charset="-122"/>
            </a:endParaRPr>
          </a:p>
        </p:txBody>
      </p:sp>
      <p:sp>
        <p:nvSpPr>
          <p:cNvPr id="57356" name="Text Box 64"/>
          <p:cNvSpPr txBox="1">
            <a:spLocks noChangeArrowheads="1"/>
          </p:cNvSpPr>
          <p:nvPr/>
        </p:nvSpPr>
        <p:spPr bwMode="auto">
          <a:xfrm>
            <a:off x="571472" y="1841015"/>
            <a:ext cx="4610100" cy="586105"/>
          </a:xfrm>
          <a:prstGeom prst="rect">
            <a:avLst/>
          </a:prstGeom>
          <a:noFill/>
          <a:ln w="28575">
            <a:noFill/>
            <a:miter lim="800000"/>
          </a:ln>
        </p:spPr>
        <p:txBody>
          <a:bodyPr>
            <a:spAutoFit/>
          </a:bodyPr>
          <a:lstStyle/>
          <a:p>
            <a:pPr marL="457200" indent="-457200" algn="l">
              <a:lnSpc>
                <a:spcPct val="115000"/>
              </a:lnSpc>
              <a:buClr>
                <a:schemeClr val="hlink"/>
              </a:buClr>
            </a:pPr>
            <a:r>
              <a:rPr kumimoji="0" lang="en-US" altLang="en-US" b="1" smtClean="0">
                <a:solidFill>
                  <a:srgbClr val="0000FF"/>
                </a:solidFill>
                <a:latin typeface="+mn-lt"/>
                <a:ea typeface="黑体" panose="02010609060101010101" pitchFamily="2" charset="-122"/>
                <a:cs typeface="+mn-lt"/>
              </a:rPr>
              <a:t>2</a:t>
            </a:r>
            <a:r>
              <a:rPr kumimoji="0" lang="en-US" altLang="zh-CN" b="1" smtClean="0">
                <a:solidFill>
                  <a:srgbClr val="0000FF"/>
                </a:solidFill>
                <a:latin typeface="+mn-lt"/>
                <a:ea typeface="黑体" panose="02010609060101010101" pitchFamily="2" charset="-122"/>
                <a:cs typeface="+mn-lt"/>
              </a:rPr>
              <a:t>.</a:t>
            </a:r>
            <a:r>
              <a:rPr kumimoji="0" lang="zh-CN" altLang="en-US" b="1" smtClean="0">
                <a:solidFill>
                  <a:srgbClr val="0000FF"/>
                </a:solidFill>
                <a:latin typeface="楷体" panose="02010609060101010101" pitchFamily="49" charset="-122"/>
                <a:ea typeface="楷体" panose="02010609060101010101" pitchFamily="49" charset="-122"/>
              </a:rPr>
              <a:t>统计抽样</a:t>
            </a:r>
            <a:endParaRPr kumimoji="0" lang="zh-CN" altLang="en-US" b="1" smtClean="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5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5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9"/>
          <p:cNvSpPr>
            <a:spLocks noGrp="1" noChangeArrowheads="1"/>
          </p:cNvSpPr>
          <p:nvPr>
            <p:ph type="sldNum" sz="quarter" idx="10"/>
          </p:nvPr>
        </p:nvSpPr>
        <p:spPr>
          <a:noFill/>
        </p:spPr>
        <p:txBody>
          <a:bodyPr/>
          <a:lstStyle/>
          <a:p>
            <a:r>
              <a:rPr lang="zh-CN" altLang="en-GB" dirty="0" smtClean="0"/>
              <a:t>  </a:t>
            </a:r>
            <a:fld id="{3127D3A2-AB01-4A38-B87E-C086427BF809}" type="slidenum">
              <a:rPr lang="zh-CN" altLang="en-GB" smtClean="0"/>
            </a:fld>
            <a:endParaRPr lang="en-US" altLang="zh-CN" dirty="0" smtClean="0"/>
          </a:p>
        </p:txBody>
      </p:sp>
      <p:sp>
        <p:nvSpPr>
          <p:cNvPr id="5734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P.174</a:t>
            </a:r>
            <a:endParaRPr lang="en-US" altLang="zh-CN" sz="2400" b="1">
              <a:solidFill>
                <a:schemeClr val="bg2"/>
              </a:solidFill>
            </a:endParaRPr>
          </a:p>
        </p:txBody>
      </p:sp>
      <p:sp>
        <p:nvSpPr>
          <p:cNvPr id="57348"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7352" name="Text Box 57"/>
          <p:cNvSpPr txBox="1">
            <a:spLocks noChangeArrowheads="1"/>
          </p:cNvSpPr>
          <p:nvPr/>
        </p:nvSpPr>
        <p:spPr bwMode="auto">
          <a:xfrm>
            <a:off x="142876" y="2387640"/>
            <a:ext cx="8786842" cy="3969385"/>
          </a:xfrm>
          <a:prstGeom prst="rect">
            <a:avLst/>
          </a:prstGeom>
          <a:solidFill>
            <a:schemeClr val="tx1"/>
          </a:solidFill>
          <a:ln w="9525" algn="ctr">
            <a:noFill/>
            <a:miter lim="800000"/>
          </a:ln>
        </p:spPr>
        <p:txBody>
          <a:bodyPr wrap="square">
            <a:spAutoFit/>
          </a:bodyPr>
          <a:lstStyle/>
          <a:p>
            <a:pPr algn="l"/>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检查是指检验</a:t>
            </a:r>
            <a:r>
              <a:rPr lang="en-US" b="1" smtClean="0">
                <a:solidFill>
                  <a:schemeClr val="bg2"/>
                </a:solidFill>
                <a:ea typeface="楷体" panose="02010609060101010101" pitchFamily="49" charset="-122"/>
                <a:cs typeface="Times New Roman" panose="02020603050405020304" pitchFamily="18" charset="0"/>
              </a:rPr>
              <a:t>IT</a:t>
            </a:r>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项目的工作产品或中间结果，以确定它们是否符合书面标准。检查的结果通常包括相关的测量数据。检查可以在任何层次上进行，例如可以检查单个活动的成果，或者项目的最终产品。检查也可以称为审查、同行审查、审计或巡检等。</a:t>
            </a:r>
            <a:endPar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r>
              <a:rPr kumimoji="0" lang="en-US" altLang="en-US" b="1" smtClean="0">
                <a:solidFill>
                  <a:srgbClr val="0000FF"/>
                </a:solidFill>
                <a:latin typeface="楷体" panose="02010609060101010101" pitchFamily="49" charset="-122"/>
                <a:ea typeface="楷体" panose="02010609060101010101" pitchFamily="49" charset="-122"/>
                <a:cs typeface="楷体" panose="02010609060101010101" pitchFamily="49" charset="-122"/>
              </a:rPr>
              <a:t> </a:t>
            </a:r>
            <a:r>
              <a:rPr kumimoji="0" lang="en-US" altLang="en-US" b="1" smtClean="0">
                <a:solidFill>
                  <a:srgbClr val="0000FF"/>
                </a:solidFill>
                <a:ea typeface="楷体" panose="02010609060101010101" pitchFamily="49" charset="-122"/>
                <a:cs typeface="Times New Roman" panose="02020603050405020304" pitchFamily="18" charset="0"/>
              </a:rPr>
              <a:t> 4.</a:t>
            </a:r>
            <a:r>
              <a:rPr kumimoji="0" lang="zh-CN" altLang="en-US" b="1" smtClean="0">
                <a:solidFill>
                  <a:srgbClr val="0000FF"/>
                </a:solidFill>
                <a:latin typeface="楷体" panose="02010609060101010101" pitchFamily="49" charset="-122"/>
                <a:ea typeface="楷体" panose="02010609060101010101" pitchFamily="49" charset="-122"/>
                <a:cs typeface="楷体" panose="02010609060101010101" pitchFamily="49" charset="-122"/>
              </a:rPr>
              <a:t>审查已批准的变更请求</a:t>
            </a:r>
            <a:endParaRPr kumimoji="0" lang="zh-CN" altLang="en-US" b="1" smtClean="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r>
              <a:rPr lang="zh-CN" altLang="en-US" b="1" smtClean="0">
                <a:solidFill>
                  <a:schemeClr val="bg2"/>
                </a:solidFill>
                <a:latin typeface="楷体" panose="02010609060101010101" pitchFamily="49" charset="-122"/>
                <a:ea typeface="楷体" panose="02010609060101010101" pitchFamily="49" charset="-122"/>
                <a:cs typeface="楷体" panose="02010609060101010101" pitchFamily="49" charset="-122"/>
              </a:rPr>
              <a:t>对所有已经批准的变更请求进行审查，以核实它们是否已按批准方式得到实施。</a:t>
            </a:r>
            <a:endParaRPr lang="zh-CN" altLang="en-US"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57354" name="Rectangle 62"/>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7.5 </a:t>
            </a:r>
            <a:r>
              <a:rPr kumimoji="0" lang="zh-CN" altLang="en-US" sz="3000" b="1" smtClean="0">
                <a:latin typeface="楷体" panose="02010609060101010101" pitchFamily="49" charset="-122"/>
                <a:ea typeface="楷体" panose="02010609060101010101" pitchFamily="49" charset="-122"/>
              </a:rPr>
              <a:t>控制项目质量</a:t>
            </a:r>
            <a:endParaRPr kumimoji="0" lang="en-US" altLang="en-US" sz="3000" b="1">
              <a:latin typeface="楷体" panose="02010609060101010101" pitchFamily="49" charset="-122"/>
              <a:ea typeface="楷体" panose="02010609060101010101" pitchFamily="49" charset="-122"/>
            </a:endParaRPr>
          </a:p>
        </p:txBody>
      </p:sp>
      <p:sp>
        <p:nvSpPr>
          <p:cNvPr id="57355" name="Rectangle 63"/>
          <p:cNvSpPr>
            <a:spLocks noChangeArrowheads="1"/>
          </p:cNvSpPr>
          <p:nvPr/>
        </p:nvSpPr>
        <p:spPr bwMode="auto">
          <a:xfrm>
            <a:off x="323850" y="1341438"/>
            <a:ext cx="4200525"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7.5.2 </a:t>
            </a:r>
            <a:r>
              <a:rPr kumimoji="0" lang="en-US" altLang="en-US" b="1">
                <a:solidFill>
                  <a:srgbClr val="FF0000"/>
                </a:solidFill>
                <a:latin typeface="楷体" panose="02010609060101010101" pitchFamily="49" charset="-122"/>
                <a:ea typeface="楷体" panose="02010609060101010101" pitchFamily="49" charset="-122"/>
              </a:rPr>
              <a:t>质量控制工具与技术</a:t>
            </a:r>
            <a:endParaRPr kumimoji="0" lang="en-US" altLang="en-US" b="1">
              <a:solidFill>
                <a:srgbClr val="FF0000"/>
              </a:solidFill>
              <a:latin typeface="楷体" panose="02010609060101010101" pitchFamily="49" charset="-122"/>
              <a:ea typeface="楷体" panose="02010609060101010101" pitchFamily="49" charset="-122"/>
            </a:endParaRPr>
          </a:p>
        </p:txBody>
      </p:sp>
      <p:sp>
        <p:nvSpPr>
          <p:cNvPr id="57356" name="Text Box 64"/>
          <p:cNvSpPr txBox="1">
            <a:spLocks noChangeArrowheads="1"/>
          </p:cNvSpPr>
          <p:nvPr/>
        </p:nvSpPr>
        <p:spPr bwMode="auto">
          <a:xfrm>
            <a:off x="571472" y="1841015"/>
            <a:ext cx="4610100" cy="586105"/>
          </a:xfrm>
          <a:prstGeom prst="rect">
            <a:avLst/>
          </a:prstGeom>
          <a:noFill/>
          <a:ln w="28575">
            <a:noFill/>
            <a:miter lim="800000"/>
          </a:ln>
        </p:spPr>
        <p:txBody>
          <a:bodyPr>
            <a:spAutoFit/>
          </a:bodyPr>
          <a:lstStyle/>
          <a:p>
            <a:pPr marL="457200" indent="-457200" algn="l">
              <a:lnSpc>
                <a:spcPct val="115000"/>
              </a:lnSpc>
              <a:buClr>
                <a:schemeClr val="hlink"/>
              </a:buClr>
            </a:pPr>
            <a:r>
              <a:rPr kumimoji="0" lang="en-US" altLang="en-US" b="1" smtClean="0">
                <a:solidFill>
                  <a:srgbClr val="0000FF"/>
                </a:solidFill>
                <a:latin typeface="+mn-lt"/>
                <a:ea typeface="黑体" panose="02010609060101010101" pitchFamily="2" charset="-122"/>
                <a:cs typeface="+mn-lt"/>
              </a:rPr>
              <a:t>3</a:t>
            </a:r>
            <a:r>
              <a:rPr kumimoji="0" lang="en-US" altLang="zh-CN" b="1" smtClean="0">
                <a:solidFill>
                  <a:srgbClr val="0000FF"/>
                </a:solidFill>
                <a:latin typeface="+mn-lt"/>
                <a:ea typeface="黑体" panose="02010609060101010101" pitchFamily="2" charset="-122"/>
                <a:cs typeface="+mn-lt"/>
              </a:rPr>
              <a:t>.</a:t>
            </a:r>
            <a:r>
              <a:rPr kumimoji="0" lang="zh-CN" altLang="en-US" b="1" smtClean="0">
                <a:solidFill>
                  <a:srgbClr val="0000FF"/>
                </a:solidFill>
                <a:latin typeface="楷体" panose="02010609060101010101" pitchFamily="49" charset="-122"/>
                <a:ea typeface="楷体" panose="02010609060101010101" pitchFamily="49" charset="-122"/>
              </a:rPr>
              <a:t>检查</a:t>
            </a:r>
            <a:endParaRPr kumimoji="0" lang="zh-CN" altLang="en-US" b="1" smtClean="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5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9"/>
          <p:cNvSpPr>
            <a:spLocks noGrp="1" noChangeArrowheads="1"/>
          </p:cNvSpPr>
          <p:nvPr>
            <p:ph type="sldNum" sz="quarter" idx="10"/>
          </p:nvPr>
        </p:nvSpPr>
        <p:spPr>
          <a:noFill/>
        </p:spPr>
        <p:txBody>
          <a:bodyPr/>
          <a:lstStyle/>
          <a:p>
            <a:r>
              <a:rPr lang="zh-CN" altLang="en-GB" dirty="0" smtClean="0"/>
              <a:t>  </a:t>
            </a:r>
            <a:fld id="{B96C9006-D41D-4A0D-BCDE-96069B0ED172}" type="slidenum">
              <a:rPr lang="zh-CN" altLang="en-GB" smtClean="0"/>
            </a:fld>
            <a:endParaRPr lang="en-US" altLang="zh-CN" dirty="0" smtClean="0"/>
          </a:p>
        </p:txBody>
      </p:sp>
      <p:sp>
        <p:nvSpPr>
          <p:cNvPr id="5837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smtClean="0">
                <a:solidFill>
                  <a:schemeClr val="bg2"/>
                </a:solidFill>
              </a:rPr>
              <a:t>P.174</a:t>
            </a:r>
            <a:endParaRPr lang="en-US" altLang="zh-CN" sz="2400" b="1">
              <a:solidFill>
                <a:schemeClr val="bg2"/>
              </a:solidFill>
            </a:endParaRPr>
          </a:p>
        </p:txBody>
      </p:sp>
      <p:sp>
        <p:nvSpPr>
          <p:cNvPr id="58372" name="Rectangle 4"/>
          <p:cNvSpPr>
            <a:spLocks noChangeArrowheads="1"/>
          </p:cNvSpPr>
          <p:nvPr/>
        </p:nvSpPr>
        <p:spPr bwMode="auto">
          <a:xfrm>
            <a:off x="0" y="2316163"/>
            <a:ext cx="9144000" cy="0"/>
          </a:xfrm>
          <a:prstGeom prst="rect">
            <a:avLst/>
          </a:prstGeom>
          <a:noFill/>
          <a:ln w="9525">
            <a:noFill/>
            <a:miter lim="800000"/>
          </a:ln>
        </p:spPr>
        <p:txBody>
          <a:bodyPr wrap="none" anchor="ctr">
            <a:spAutoFit/>
          </a:bodyPr>
          <a:lstStyle/>
          <a:p>
            <a:endParaRPr lang="zh-CN" altLang="en-US"/>
          </a:p>
        </p:txBody>
      </p:sp>
      <p:sp>
        <p:nvSpPr>
          <p:cNvPr id="58373" name="Rectangle 5"/>
          <p:cNvSpPr>
            <a:spLocks noChangeArrowheads="1"/>
          </p:cNvSpPr>
          <p:nvPr/>
        </p:nvSpPr>
        <p:spPr bwMode="auto">
          <a:xfrm>
            <a:off x="827089" y="1822603"/>
            <a:ext cx="5745175" cy="4477385"/>
          </a:xfrm>
          <a:prstGeom prst="rect">
            <a:avLst/>
          </a:prstGeom>
          <a:noFill/>
          <a:ln w="9525" algn="ctr">
            <a:noFill/>
            <a:miter lim="800000"/>
          </a:ln>
        </p:spPr>
        <p:txBody>
          <a:bodyPr wrap="square" anchor="ctr">
            <a:spAutoFit/>
          </a:bodyPr>
          <a:lstStyle/>
          <a:p>
            <a:pPr marL="457200" indent="-457200" algn="l">
              <a:spcBef>
                <a:spcPts val="600"/>
              </a:spcBef>
              <a:buClr>
                <a:srgbClr val="0000FF"/>
              </a:buClr>
              <a:buFont typeface="+mj-lt"/>
              <a:buAutoNum type="arabicPeriod"/>
            </a:pPr>
            <a:r>
              <a:rPr kumimoji="0" lang="zh-CN" altLang="en-US" sz="2400" b="1" smtClean="0">
                <a:solidFill>
                  <a:srgbClr val="0000FF"/>
                </a:solidFill>
                <a:latin typeface="楷体" panose="02010609060101010101" pitchFamily="49" charset="-122"/>
                <a:ea typeface="楷体" panose="02010609060101010101" pitchFamily="49" charset="-122"/>
              </a:rPr>
              <a:t>质量控制测试衡量</a:t>
            </a:r>
            <a:endParaRPr kumimoji="0" lang="zh-CN" altLang="en-US" sz="2400" b="1">
              <a:solidFill>
                <a:srgbClr val="0000FF"/>
              </a:solidFill>
              <a:latin typeface="楷体" panose="02010609060101010101" pitchFamily="49" charset="-122"/>
              <a:ea typeface="楷体" panose="02010609060101010101" pitchFamily="49" charset="-122"/>
            </a:endParaRPr>
          </a:p>
          <a:p>
            <a:pPr marL="457200" indent="-457200" algn="l">
              <a:spcBef>
                <a:spcPts val="600"/>
              </a:spcBef>
              <a:buClr>
                <a:srgbClr val="0000FF"/>
              </a:buClr>
              <a:buFont typeface="+mj-lt"/>
              <a:buAutoNum type="arabicPeriod"/>
            </a:pPr>
            <a:r>
              <a:rPr kumimoji="0" lang="zh-CN" altLang="en-US" sz="2400" b="1" smtClean="0">
                <a:solidFill>
                  <a:srgbClr val="0000FF"/>
                </a:solidFill>
                <a:latin typeface="楷体" panose="02010609060101010101" pitchFamily="49" charset="-122"/>
                <a:ea typeface="楷体" panose="02010609060101010101" pitchFamily="49" charset="-122"/>
              </a:rPr>
              <a:t>确认</a:t>
            </a:r>
            <a:r>
              <a:rPr kumimoji="0" lang="zh-CN" altLang="en-US" sz="2400" b="1">
                <a:solidFill>
                  <a:srgbClr val="0000FF"/>
                </a:solidFill>
                <a:latin typeface="楷体" panose="02010609060101010101" pitchFamily="49" charset="-122"/>
                <a:ea typeface="楷体" panose="02010609060101010101" pitchFamily="49" charset="-122"/>
              </a:rPr>
              <a:t>的缺陷补救</a:t>
            </a:r>
            <a:endParaRPr kumimoji="0" lang="zh-CN" altLang="en-US" sz="2400" b="1">
              <a:solidFill>
                <a:srgbClr val="0000FF"/>
              </a:solidFill>
              <a:latin typeface="楷体" panose="02010609060101010101" pitchFamily="49" charset="-122"/>
              <a:ea typeface="楷体" panose="02010609060101010101" pitchFamily="49" charset="-122"/>
            </a:endParaRPr>
          </a:p>
          <a:p>
            <a:pPr marL="457200" indent="-457200" algn="l">
              <a:spcBef>
                <a:spcPts val="600"/>
              </a:spcBef>
              <a:buClr>
                <a:srgbClr val="0000FF"/>
              </a:buClr>
              <a:buFont typeface="+mj-lt"/>
              <a:buAutoNum type="arabicPeriod"/>
            </a:pPr>
            <a:r>
              <a:rPr kumimoji="0" lang="zh-CN" altLang="en-US" sz="2400" b="1" smtClean="0">
                <a:solidFill>
                  <a:srgbClr val="0000FF"/>
                </a:solidFill>
                <a:latin typeface="楷体" panose="02010609060101010101" pitchFamily="49" charset="-122"/>
                <a:ea typeface="楷体" panose="02010609060101010101" pitchFamily="49" charset="-122"/>
              </a:rPr>
              <a:t>更新</a:t>
            </a:r>
            <a:r>
              <a:rPr kumimoji="0" lang="zh-CN" altLang="en-US" sz="2400" b="1">
                <a:solidFill>
                  <a:srgbClr val="0000FF"/>
                </a:solidFill>
                <a:latin typeface="楷体" panose="02010609060101010101" pitchFamily="49" charset="-122"/>
                <a:ea typeface="楷体" panose="02010609060101010101" pitchFamily="49" charset="-122"/>
              </a:rPr>
              <a:t>的质量基准</a:t>
            </a:r>
            <a:endParaRPr kumimoji="0" lang="zh-CN" altLang="en-US" sz="2400" b="1">
              <a:solidFill>
                <a:srgbClr val="0000FF"/>
              </a:solidFill>
              <a:latin typeface="楷体" panose="02010609060101010101" pitchFamily="49" charset="-122"/>
              <a:ea typeface="楷体" panose="02010609060101010101" pitchFamily="49" charset="-122"/>
            </a:endParaRPr>
          </a:p>
          <a:p>
            <a:pPr marL="457200" indent="-457200" algn="l">
              <a:spcBef>
                <a:spcPts val="600"/>
              </a:spcBef>
              <a:buClr>
                <a:srgbClr val="0000FF"/>
              </a:buClr>
              <a:buFont typeface="+mj-lt"/>
              <a:buAutoNum type="arabicPeriod"/>
            </a:pPr>
            <a:r>
              <a:rPr kumimoji="0" lang="zh-CN" altLang="en-US" sz="2400" b="1" smtClean="0">
                <a:solidFill>
                  <a:srgbClr val="0000FF"/>
                </a:solidFill>
                <a:latin typeface="楷体" panose="02010609060101010101" pitchFamily="49" charset="-122"/>
                <a:ea typeface="楷体" panose="02010609060101010101" pitchFamily="49" charset="-122"/>
              </a:rPr>
              <a:t>推荐</a:t>
            </a:r>
            <a:r>
              <a:rPr kumimoji="0" lang="zh-CN" altLang="en-US" sz="2400" b="1">
                <a:solidFill>
                  <a:srgbClr val="0000FF"/>
                </a:solidFill>
                <a:latin typeface="楷体" panose="02010609060101010101" pitchFamily="49" charset="-122"/>
                <a:ea typeface="楷体" panose="02010609060101010101" pitchFamily="49" charset="-122"/>
              </a:rPr>
              <a:t>的纠正措施</a:t>
            </a:r>
            <a:endParaRPr kumimoji="0" lang="zh-CN" altLang="en-US" sz="2400" b="1">
              <a:solidFill>
                <a:srgbClr val="0000FF"/>
              </a:solidFill>
              <a:latin typeface="楷体" panose="02010609060101010101" pitchFamily="49" charset="-122"/>
              <a:ea typeface="楷体" panose="02010609060101010101" pitchFamily="49" charset="-122"/>
            </a:endParaRPr>
          </a:p>
          <a:p>
            <a:pPr marL="457200" indent="-457200" algn="l">
              <a:spcBef>
                <a:spcPts val="600"/>
              </a:spcBef>
              <a:buClr>
                <a:srgbClr val="0000FF"/>
              </a:buClr>
              <a:buFont typeface="+mj-lt"/>
              <a:buAutoNum type="arabicPeriod"/>
            </a:pPr>
            <a:r>
              <a:rPr kumimoji="0" lang="zh-CN" altLang="en-US" sz="2400" b="1" smtClean="0">
                <a:solidFill>
                  <a:srgbClr val="0000FF"/>
                </a:solidFill>
                <a:latin typeface="楷体" panose="02010609060101010101" pitchFamily="49" charset="-122"/>
                <a:ea typeface="楷体" panose="02010609060101010101" pitchFamily="49" charset="-122"/>
              </a:rPr>
              <a:t>推荐</a:t>
            </a:r>
            <a:r>
              <a:rPr kumimoji="0" lang="zh-CN" altLang="en-US" sz="2400" b="1">
                <a:solidFill>
                  <a:srgbClr val="0000FF"/>
                </a:solidFill>
                <a:latin typeface="楷体" panose="02010609060101010101" pitchFamily="49" charset="-122"/>
                <a:ea typeface="楷体" panose="02010609060101010101" pitchFamily="49" charset="-122"/>
              </a:rPr>
              <a:t>的预防措施</a:t>
            </a:r>
            <a:endParaRPr kumimoji="0" lang="zh-CN" altLang="en-US" sz="2400" b="1">
              <a:solidFill>
                <a:srgbClr val="0000FF"/>
              </a:solidFill>
              <a:latin typeface="楷体" panose="02010609060101010101" pitchFamily="49" charset="-122"/>
              <a:ea typeface="楷体" panose="02010609060101010101" pitchFamily="49" charset="-122"/>
            </a:endParaRPr>
          </a:p>
          <a:p>
            <a:pPr marL="457200" indent="-457200" algn="l">
              <a:spcBef>
                <a:spcPts val="600"/>
              </a:spcBef>
              <a:buClr>
                <a:srgbClr val="0000FF"/>
              </a:buClr>
              <a:buFont typeface="+mj-lt"/>
              <a:buAutoNum type="arabicPeriod"/>
            </a:pPr>
            <a:r>
              <a:rPr kumimoji="0" lang="zh-CN" altLang="en-US" sz="2400" b="1" smtClean="0">
                <a:solidFill>
                  <a:srgbClr val="0000FF"/>
                </a:solidFill>
                <a:latin typeface="楷体" panose="02010609060101010101" pitchFamily="49" charset="-122"/>
                <a:ea typeface="楷体" panose="02010609060101010101" pitchFamily="49" charset="-122"/>
              </a:rPr>
              <a:t>请求</a:t>
            </a:r>
            <a:r>
              <a:rPr kumimoji="0" lang="zh-CN" altLang="en-US" sz="2400" b="1">
                <a:solidFill>
                  <a:srgbClr val="0000FF"/>
                </a:solidFill>
                <a:latin typeface="楷体" panose="02010609060101010101" pitchFamily="49" charset="-122"/>
                <a:ea typeface="楷体" panose="02010609060101010101" pitchFamily="49" charset="-122"/>
              </a:rPr>
              <a:t>的变更</a:t>
            </a:r>
            <a:endParaRPr kumimoji="0" lang="zh-CN" altLang="en-US" sz="2400" b="1">
              <a:solidFill>
                <a:srgbClr val="0000FF"/>
              </a:solidFill>
              <a:latin typeface="楷体" panose="02010609060101010101" pitchFamily="49" charset="-122"/>
              <a:ea typeface="楷体" panose="02010609060101010101" pitchFamily="49" charset="-122"/>
            </a:endParaRPr>
          </a:p>
          <a:p>
            <a:pPr marL="457200" indent="-457200" algn="l">
              <a:spcBef>
                <a:spcPts val="600"/>
              </a:spcBef>
              <a:buClr>
                <a:srgbClr val="0000FF"/>
              </a:buClr>
              <a:buFont typeface="+mj-lt"/>
              <a:buAutoNum type="arabicPeriod"/>
            </a:pPr>
            <a:r>
              <a:rPr kumimoji="0" lang="zh-CN" altLang="en-US" sz="2400" b="1" smtClean="0">
                <a:solidFill>
                  <a:srgbClr val="0000FF"/>
                </a:solidFill>
                <a:latin typeface="楷体" panose="02010609060101010101" pitchFamily="49" charset="-122"/>
                <a:ea typeface="楷体" panose="02010609060101010101" pitchFamily="49" charset="-122"/>
              </a:rPr>
              <a:t>推荐</a:t>
            </a:r>
            <a:r>
              <a:rPr kumimoji="0" lang="zh-CN" altLang="en-US" sz="2400" b="1">
                <a:solidFill>
                  <a:srgbClr val="0000FF"/>
                </a:solidFill>
                <a:latin typeface="楷体" panose="02010609060101010101" pitchFamily="49" charset="-122"/>
                <a:ea typeface="楷体" panose="02010609060101010101" pitchFamily="49" charset="-122"/>
              </a:rPr>
              <a:t>的缺陷补救</a:t>
            </a:r>
            <a:endParaRPr kumimoji="0" lang="zh-CN" altLang="en-US" sz="2400" b="1">
              <a:solidFill>
                <a:srgbClr val="0000FF"/>
              </a:solidFill>
              <a:latin typeface="楷体" panose="02010609060101010101" pitchFamily="49" charset="-122"/>
              <a:ea typeface="楷体" panose="02010609060101010101" pitchFamily="49" charset="-122"/>
            </a:endParaRPr>
          </a:p>
          <a:p>
            <a:pPr marL="457200" indent="-457200" algn="l">
              <a:spcBef>
                <a:spcPts val="600"/>
              </a:spcBef>
              <a:buClr>
                <a:srgbClr val="0000FF"/>
              </a:buClr>
              <a:buFont typeface="+mj-lt"/>
              <a:buAutoNum type="arabicPeriod"/>
            </a:pPr>
            <a:r>
              <a:rPr kumimoji="0" lang="zh-CN" altLang="en-US" sz="2400" b="1" smtClean="0">
                <a:solidFill>
                  <a:srgbClr val="0000FF"/>
                </a:solidFill>
                <a:latin typeface="楷体" panose="02010609060101010101" pitchFamily="49" charset="-122"/>
                <a:ea typeface="楷体" panose="02010609060101010101" pitchFamily="49" charset="-122"/>
              </a:rPr>
              <a:t>更新</a:t>
            </a:r>
            <a:r>
              <a:rPr kumimoji="0" lang="zh-CN" altLang="en-US" sz="2400" b="1">
                <a:solidFill>
                  <a:srgbClr val="0000FF"/>
                </a:solidFill>
                <a:latin typeface="楷体" panose="02010609060101010101" pitchFamily="49" charset="-122"/>
                <a:ea typeface="楷体" panose="02010609060101010101" pitchFamily="49" charset="-122"/>
              </a:rPr>
              <a:t>组织过程资产</a:t>
            </a:r>
            <a:endParaRPr kumimoji="0" lang="zh-CN" altLang="en-US" sz="2400" b="1">
              <a:solidFill>
                <a:srgbClr val="0000FF"/>
              </a:solidFill>
              <a:latin typeface="楷体" panose="02010609060101010101" pitchFamily="49" charset="-122"/>
              <a:ea typeface="楷体" panose="02010609060101010101" pitchFamily="49" charset="-122"/>
            </a:endParaRPr>
          </a:p>
          <a:p>
            <a:pPr marL="457200" indent="-457200" algn="l">
              <a:spcBef>
                <a:spcPts val="600"/>
              </a:spcBef>
              <a:buClr>
                <a:srgbClr val="0000FF"/>
              </a:buClr>
              <a:buFont typeface="+mj-lt"/>
              <a:buAutoNum type="arabicPeriod"/>
            </a:pPr>
            <a:r>
              <a:rPr kumimoji="0" lang="zh-CN" altLang="en-US" sz="2400" b="1" smtClean="0">
                <a:solidFill>
                  <a:srgbClr val="0000FF"/>
                </a:solidFill>
                <a:latin typeface="楷体" panose="02010609060101010101" pitchFamily="49" charset="-122"/>
                <a:ea typeface="楷体" panose="02010609060101010101" pitchFamily="49" charset="-122"/>
              </a:rPr>
              <a:t>确认</a:t>
            </a:r>
            <a:r>
              <a:rPr kumimoji="0" lang="zh-CN" altLang="en-US" sz="2400" b="1">
                <a:solidFill>
                  <a:srgbClr val="0000FF"/>
                </a:solidFill>
                <a:latin typeface="楷体" panose="02010609060101010101" pitchFamily="49" charset="-122"/>
                <a:ea typeface="楷体" panose="02010609060101010101" pitchFamily="49" charset="-122"/>
              </a:rPr>
              <a:t>的可交付成果</a:t>
            </a:r>
            <a:endParaRPr kumimoji="0" lang="zh-CN" altLang="en-US" sz="2400" b="1">
              <a:solidFill>
                <a:srgbClr val="0000FF"/>
              </a:solidFill>
              <a:latin typeface="楷体" panose="02010609060101010101" pitchFamily="49" charset="-122"/>
              <a:ea typeface="楷体" panose="02010609060101010101" pitchFamily="49" charset="-122"/>
            </a:endParaRPr>
          </a:p>
          <a:p>
            <a:pPr marL="457200" indent="-457200" algn="l">
              <a:spcBef>
                <a:spcPts val="600"/>
              </a:spcBef>
              <a:buClr>
                <a:srgbClr val="0000FF"/>
              </a:buClr>
              <a:buFont typeface="+mj-lt"/>
              <a:buAutoNum type="arabicPeriod"/>
            </a:pPr>
            <a:r>
              <a:rPr kumimoji="0" lang="zh-CN" altLang="en-US" sz="2400" b="1" smtClean="0">
                <a:solidFill>
                  <a:srgbClr val="0000FF"/>
                </a:solidFill>
                <a:latin typeface="楷体" panose="02010609060101010101" pitchFamily="49" charset="-122"/>
                <a:ea typeface="楷体" panose="02010609060101010101" pitchFamily="49" charset="-122"/>
              </a:rPr>
              <a:t>更新</a:t>
            </a:r>
            <a:r>
              <a:rPr kumimoji="0" lang="zh-CN" altLang="en-US" sz="2400" b="1">
                <a:solidFill>
                  <a:srgbClr val="0000FF"/>
                </a:solidFill>
                <a:latin typeface="楷体" panose="02010609060101010101" pitchFamily="49" charset="-122"/>
                <a:ea typeface="楷体" panose="02010609060101010101" pitchFamily="49" charset="-122"/>
              </a:rPr>
              <a:t>项目管理计划</a:t>
            </a:r>
            <a:endParaRPr kumimoji="0" lang="zh-CN" altLang="en-US" sz="2400" b="1">
              <a:solidFill>
                <a:srgbClr val="0000FF"/>
              </a:solidFill>
              <a:latin typeface="楷体" panose="02010609060101010101" pitchFamily="49" charset="-122"/>
              <a:ea typeface="楷体" panose="02010609060101010101" pitchFamily="49" charset="-122"/>
            </a:endParaRPr>
          </a:p>
        </p:txBody>
      </p:sp>
      <p:sp>
        <p:nvSpPr>
          <p:cNvPr id="58374" name="Rectangle 15"/>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zh-CN" sz="3000" b="1" smtClean="0"/>
              <a:t>7.5 </a:t>
            </a:r>
            <a:r>
              <a:rPr kumimoji="0" lang="zh-CN" altLang="en-US" sz="3000" b="1" smtClean="0">
                <a:latin typeface="楷体" panose="02010609060101010101" pitchFamily="49" charset="-122"/>
                <a:ea typeface="楷体" panose="02010609060101010101" pitchFamily="49" charset="-122"/>
              </a:rPr>
              <a:t>控制项目质量</a:t>
            </a:r>
            <a:endParaRPr kumimoji="0" lang="zh-CN" altLang="en-US" sz="3000" b="1" smtClean="0">
              <a:latin typeface="楷体" panose="02010609060101010101" pitchFamily="49" charset="-122"/>
              <a:ea typeface="楷体" panose="02010609060101010101" pitchFamily="49" charset="-122"/>
            </a:endParaRPr>
          </a:p>
        </p:txBody>
      </p:sp>
      <p:sp>
        <p:nvSpPr>
          <p:cNvPr id="58375" name="Rectangle 16"/>
          <p:cNvSpPr>
            <a:spLocks noChangeArrowheads="1"/>
          </p:cNvSpPr>
          <p:nvPr/>
        </p:nvSpPr>
        <p:spPr bwMode="auto">
          <a:xfrm>
            <a:off x="323850" y="1341438"/>
            <a:ext cx="3039110" cy="521970"/>
          </a:xfrm>
          <a:prstGeom prst="rect">
            <a:avLst/>
          </a:prstGeom>
          <a:noFill/>
          <a:ln w="9525">
            <a:noFill/>
            <a:miter lim="800000"/>
          </a:ln>
        </p:spPr>
        <p:txBody>
          <a:bodyPr wrap="none">
            <a:spAutoFit/>
          </a:bodyPr>
          <a:lstStyle/>
          <a:p>
            <a:pPr algn="l">
              <a:spcBef>
                <a:spcPct val="0"/>
              </a:spcBef>
            </a:pPr>
            <a:r>
              <a:rPr kumimoji="0" lang="en-US" altLang="en-US" b="1">
                <a:solidFill>
                  <a:srgbClr val="FF0000"/>
                </a:solidFill>
                <a:ea typeface="楷体_GB2312" pitchFamily="49" charset="-122"/>
              </a:rPr>
              <a:t>7.5.3</a:t>
            </a:r>
            <a:r>
              <a:rPr kumimoji="0" lang="en-US" altLang="en-US" b="1">
                <a:solidFill>
                  <a:srgbClr val="FF0000"/>
                </a:solidFill>
                <a:latin typeface="楷体" panose="02010609060101010101" pitchFamily="49" charset="-122"/>
                <a:ea typeface="楷体" panose="02010609060101010101" pitchFamily="49" charset="-122"/>
              </a:rPr>
              <a:t>质量控制成果</a:t>
            </a:r>
            <a:endParaRPr kumimoji="0" lang="en-US" altLang="en-US" b="1">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9"/>
          <p:cNvSpPr>
            <a:spLocks noGrp="1" noChangeArrowheads="1"/>
          </p:cNvSpPr>
          <p:nvPr>
            <p:ph type="sldNum" sz="quarter" idx="10"/>
          </p:nvPr>
        </p:nvSpPr>
        <p:spPr>
          <a:noFill/>
        </p:spPr>
        <p:txBody>
          <a:bodyPr/>
          <a:lstStyle/>
          <a:p>
            <a:r>
              <a:rPr lang="zh-CN" altLang="en-GB" dirty="0" smtClean="0"/>
              <a:t>  </a:t>
            </a:r>
            <a:fld id="{D54DD644-2D6D-4722-8226-732B114C135C}" type="slidenum">
              <a:rPr lang="zh-CN" altLang="en-GB" smtClean="0"/>
            </a:fld>
            <a:endParaRPr lang="en-US" altLang="zh-CN" dirty="0" smtClean="0"/>
          </a:p>
        </p:txBody>
      </p:sp>
      <p:sp>
        <p:nvSpPr>
          <p:cNvPr id="61444" name="Text Box 3"/>
          <p:cNvSpPr txBox="1">
            <a:spLocks noChangeArrowheads="1"/>
          </p:cNvSpPr>
          <p:nvPr/>
        </p:nvSpPr>
        <p:spPr bwMode="auto">
          <a:xfrm>
            <a:off x="142844" y="1490712"/>
            <a:ext cx="8893175" cy="4723130"/>
          </a:xfrm>
          <a:prstGeom prst="rect">
            <a:avLst/>
          </a:prstGeom>
          <a:noFill/>
          <a:ln w="9525">
            <a:noFill/>
            <a:miter lim="800000"/>
          </a:ln>
        </p:spPr>
        <p:txBody>
          <a:bodyPr wrap="square">
            <a:spAutoFit/>
          </a:bodyPr>
          <a:lstStyle/>
          <a:p>
            <a:pPr algn="ctr"/>
            <a:r>
              <a:rPr kumimoji="0" lang="zh-CN" altLang="en-US" sz="3200" b="1">
                <a:solidFill>
                  <a:srgbClr val="FF0000"/>
                </a:solidFill>
                <a:latin typeface="楷体" panose="02010609060101010101" pitchFamily="49" charset="-122"/>
                <a:ea typeface="楷体" panose="02010609060101010101" pitchFamily="49" charset="-122"/>
                <a:cs typeface="楷体" panose="02010609060101010101" pitchFamily="49" charset="-122"/>
              </a:rPr>
              <a:t>一个高成熟度级别实例：航天飞机机载软件</a:t>
            </a:r>
            <a:r>
              <a:rPr kumimoji="0" lang="zh-CN" altLang="en-US" sz="3200" b="1">
                <a:solidFill>
                  <a:srgbClr val="990000"/>
                </a:solidFill>
                <a:latin typeface="楷体" panose="02010609060101010101" pitchFamily="49" charset="-122"/>
                <a:ea typeface="楷体" panose="02010609060101010101" pitchFamily="49" charset="-122"/>
                <a:cs typeface="楷体" panose="02010609060101010101" pitchFamily="49" charset="-122"/>
              </a:rPr>
              <a:t> </a:t>
            </a:r>
            <a:endParaRPr kumimoji="0" lang="zh-CN" altLang="en-US" sz="3200" b="1">
              <a:solidFill>
                <a:srgbClr val="990000"/>
              </a:solidFill>
              <a:latin typeface="楷体" panose="02010609060101010101" pitchFamily="49" charset="-122"/>
              <a:ea typeface="楷体" panose="02010609060101010101" pitchFamily="49" charset="-122"/>
              <a:cs typeface="楷体" panose="02010609060101010101" pitchFamily="49" charset="-122"/>
            </a:endParaRPr>
          </a:p>
          <a:p>
            <a:pPr algn="ctr"/>
            <a:r>
              <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rPr>
              <a:t>选自卡耐基梅隆大学软件工程研究所编著</a:t>
            </a:r>
            <a:endParaRPr kumimoji="0" lang="zh-CN" altLang="en-US" sz="24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716280" lvl="1" indent="274955" algn="l"/>
            <a:r>
              <a:rPr kumimoji="0" lang="en-US" altLang="zh-CN" sz="2000" b="1">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2000" b="1">
                <a:solidFill>
                  <a:schemeClr val="bg2"/>
                </a:solidFill>
                <a:latin typeface="楷体" panose="02010609060101010101" pitchFamily="49" charset="-122"/>
                <a:ea typeface="楷体" panose="02010609060101010101" pitchFamily="49" charset="-122"/>
                <a:cs typeface="楷体" panose="02010609060101010101" pitchFamily="49" charset="-122"/>
              </a:rPr>
              <a:t>能力成熟度模型</a:t>
            </a:r>
            <a:r>
              <a:rPr kumimoji="0" lang="zh-CN" altLang="en-US" sz="2000" b="1">
                <a:solidFill>
                  <a:schemeClr val="bg2"/>
                </a:solidFill>
                <a:ea typeface="楷体" panose="02010609060101010101" pitchFamily="49" charset="-122"/>
                <a:cs typeface="Times New Roman" panose="02020603050405020304" pitchFamily="18" charset="0"/>
              </a:rPr>
              <a:t>（</a:t>
            </a:r>
            <a:r>
              <a:rPr kumimoji="0" lang="en-US" altLang="zh-CN" sz="2000" b="1">
                <a:solidFill>
                  <a:schemeClr val="bg2"/>
                </a:solidFill>
                <a:ea typeface="楷体" panose="02010609060101010101" pitchFamily="49" charset="-122"/>
                <a:cs typeface="Times New Roman" panose="02020603050405020304" pitchFamily="18" charset="0"/>
              </a:rPr>
              <a:t>CMM</a:t>
            </a:r>
            <a:r>
              <a:rPr kumimoji="0" lang="zh-CN" altLang="en-US" sz="2000" b="1">
                <a:solidFill>
                  <a:schemeClr val="bg2"/>
                </a:solidFill>
                <a:ea typeface="楷体" panose="02010609060101010101" pitchFamily="49" charset="-122"/>
                <a:cs typeface="Times New Roman" panose="02020603050405020304" pitchFamily="18" charset="0"/>
              </a:rPr>
              <a:t>）</a:t>
            </a:r>
            <a:r>
              <a:rPr kumimoji="0" lang="zh-CN" altLang="en-US" sz="2000" b="1">
                <a:solidFill>
                  <a:schemeClr val="bg2"/>
                </a:solidFill>
                <a:latin typeface="楷体" panose="02010609060101010101" pitchFamily="49" charset="-122"/>
                <a:ea typeface="楷体" panose="02010609060101010101" pitchFamily="49" charset="-122"/>
                <a:cs typeface="楷体" panose="02010609060101010101" pitchFamily="49" charset="-122"/>
              </a:rPr>
              <a:t>软件过程改进指南</a:t>
            </a:r>
            <a:r>
              <a:rPr kumimoji="0" lang="en-US" altLang="zh-CN" sz="2000" b="1">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2000" b="1">
                <a:solidFill>
                  <a:schemeClr val="bg2"/>
                </a:solidFill>
                <a:latin typeface="楷体" panose="02010609060101010101" pitchFamily="49" charset="-122"/>
                <a:ea typeface="楷体" panose="02010609060101010101" pitchFamily="49" charset="-122"/>
                <a:cs typeface="楷体" panose="02010609060101010101" pitchFamily="49" charset="-122"/>
              </a:rPr>
              <a:t>第</a:t>
            </a:r>
            <a:r>
              <a:rPr kumimoji="0" lang="en-US" altLang="zh-CN" sz="2000" b="1">
                <a:solidFill>
                  <a:schemeClr val="bg2"/>
                </a:solidFill>
                <a:ea typeface="楷体" panose="02010609060101010101" pitchFamily="49" charset="-122"/>
                <a:cs typeface="Times New Roman" panose="02020603050405020304" pitchFamily="18" charset="0"/>
              </a:rPr>
              <a:t>6</a:t>
            </a:r>
            <a:r>
              <a:rPr kumimoji="0" lang="zh-CN" altLang="en-US" sz="2000" b="1">
                <a:solidFill>
                  <a:schemeClr val="bg2"/>
                </a:solidFill>
                <a:latin typeface="楷体" panose="02010609060101010101" pitchFamily="49" charset="-122"/>
                <a:ea typeface="楷体" panose="02010609060101010101" pitchFamily="49" charset="-122"/>
                <a:cs typeface="楷体" panose="02010609060101010101" pitchFamily="49" charset="-122"/>
              </a:rPr>
              <a:t>章。</a:t>
            </a:r>
            <a:endParaRPr kumimoji="0" lang="zh-CN" altLang="en-US" sz="20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r>
              <a:rPr kumimoji="0" lang="en-US" altLang="zh-CN" sz="1800" b="1">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1800" b="1">
                <a:solidFill>
                  <a:schemeClr val="bg2"/>
                </a:solidFill>
                <a:latin typeface="楷体" panose="02010609060101010101" pitchFamily="49" charset="-122"/>
                <a:ea typeface="楷体" panose="02010609060101010101" pitchFamily="49" charset="-122"/>
                <a:cs typeface="楷体" panose="02010609060101010101" pitchFamily="49" charset="-122"/>
              </a:rPr>
              <a:t>刘孟仁等译   电子工业出版社，</a:t>
            </a:r>
            <a:r>
              <a:rPr kumimoji="0" lang="en-US" altLang="zh-CN" sz="1800" b="1">
                <a:solidFill>
                  <a:schemeClr val="bg2"/>
                </a:solidFill>
                <a:ea typeface="楷体" panose="02010609060101010101" pitchFamily="49" charset="-122"/>
                <a:cs typeface="Times New Roman" panose="02020603050405020304" pitchFamily="18" charset="0"/>
              </a:rPr>
              <a:t>2001</a:t>
            </a:r>
            <a:r>
              <a:rPr kumimoji="0" lang="en-US" altLang="zh-CN" sz="1800" b="1">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kumimoji="0" lang="en-US" altLang="zh-CN" sz="1800" b="1">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r>
              <a:rPr kumimoji="0"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通过</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这篇文章，读者可以详细了解美国航天飞机机载软件项目组是如何进行软件质量改进工作，确保当新的版本交付美国宇航局时，软件没有故障的，这对我们的软件质量改进工作</a:t>
            </a:r>
            <a:r>
              <a:rPr kumimoji="0" lang="zh-CN" altLang="en-US" sz="3200" b="1" smtClean="0">
                <a:solidFill>
                  <a:schemeClr val="bg2"/>
                </a:solidFill>
                <a:latin typeface="楷体" panose="02010609060101010101" pitchFamily="49" charset="-122"/>
                <a:ea typeface="楷体" panose="02010609060101010101" pitchFamily="49" charset="-122"/>
                <a:cs typeface="楷体" panose="02010609060101010101" pitchFamily="49" charset="-122"/>
              </a:rPr>
              <a:t>有好的启示参考</a:t>
            </a:r>
            <a:r>
              <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rPr>
              <a:t>价值。</a:t>
            </a:r>
            <a:endParaRPr kumimoji="0" lang="zh-CN" altLang="en-US" sz="3200" b="1">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61445" name="Line 11"/>
          <p:cNvSpPr>
            <a:spLocks noChangeShapeType="1"/>
          </p:cNvSpPr>
          <p:nvPr/>
        </p:nvSpPr>
        <p:spPr bwMode="auto">
          <a:xfrm>
            <a:off x="0" y="3571876"/>
            <a:ext cx="9144000" cy="0"/>
          </a:xfrm>
          <a:prstGeom prst="line">
            <a:avLst/>
          </a:prstGeom>
          <a:noFill/>
          <a:ln w="57150" cmpd="thinThick">
            <a:solidFill>
              <a:srgbClr val="339966"/>
            </a:solidFill>
            <a:round/>
          </a:ln>
        </p:spPr>
        <p:txBody>
          <a:bodyPr/>
          <a:lstStyle/>
          <a:p>
            <a:endParaRPr lang="zh-CN" altLang="en-US"/>
          </a:p>
        </p:txBody>
      </p:sp>
      <p:sp>
        <p:nvSpPr>
          <p:cNvPr id="61446" name="Rectangle 12"/>
          <p:cNvSpPr>
            <a:spLocks noChangeArrowheads="1"/>
          </p:cNvSpPr>
          <p:nvPr/>
        </p:nvSpPr>
        <p:spPr bwMode="auto">
          <a:xfrm>
            <a:off x="103188" y="620713"/>
            <a:ext cx="5405437" cy="553085"/>
          </a:xfrm>
          <a:prstGeom prst="rect">
            <a:avLst/>
          </a:prstGeom>
          <a:noFill/>
          <a:ln w="9525">
            <a:noFill/>
            <a:miter lim="800000"/>
          </a:ln>
        </p:spPr>
        <p:txBody>
          <a:bodyPr>
            <a:spAutoFit/>
          </a:bodyPr>
          <a:lstStyle/>
          <a:p>
            <a:pPr algn="l">
              <a:spcBef>
                <a:spcPct val="0"/>
              </a:spcBef>
            </a:pPr>
            <a:r>
              <a:rPr kumimoji="0" lang="en-US" altLang="en-US" sz="3000" b="1"/>
              <a:t>【</a:t>
            </a:r>
            <a:r>
              <a:rPr kumimoji="0" lang="en-US" altLang="en-US" sz="3000" b="1">
                <a:latin typeface="楷体" panose="02010609060101010101" pitchFamily="49" charset="-122"/>
                <a:ea typeface="楷体" panose="02010609060101010101" pitchFamily="49" charset="-122"/>
              </a:rPr>
              <a:t>推荐读物</a:t>
            </a:r>
            <a:r>
              <a:rPr kumimoji="0" lang="en-US" altLang="en-US" sz="3000" b="1"/>
              <a:t>】</a:t>
            </a:r>
            <a:endParaRPr kumimoji="0" lang="en-US" altLang="en-US" sz="3000" b="1"/>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commondata" val="eyJoZGlkIjoiNzk3NzFiNWJmYTZkNTJiYWI5M2Q2NWZhYmFkMjA5NjYifQ=="/>
</p:tagLst>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r" defTabSz="914400" rtl="0" eaLnBrk="1" fontAlgn="base" latinLnBrk="0" hangingPunct="1">
          <a:lnSpc>
            <a:spcPct val="100000"/>
          </a:lnSpc>
          <a:spcBef>
            <a:spcPct val="50000"/>
          </a:spcBef>
          <a:spcAft>
            <a:spcPct val="0"/>
          </a:spcAft>
          <a:buClrTx/>
          <a:buSzTx/>
          <a:buFontTx/>
          <a:buNone/>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r" defTabSz="914400" rtl="0" eaLnBrk="1" fontAlgn="base" latinLnBrk="0" hangingPunct="1">
          <a:lnSpc>
            <a:spcPct val="100000"/>
          </a:lnSpc>
          <a:spcBef>
            <a:spcPct val="50000"/>
          </a:spcBef>
          <a:spcAft>
            <a:spcPct val="0"/>
          </a:spcAft>
          <a:buClrTx/>
          <a:buSzTx/>
          <a:buFontTx/>
          <a:buNone/>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0</TotalTime>
  <Words>8823</Words>
  <Application>WPS 演示</Application>
  <PresentationFormat>全屏显示(4:3)</PresentationFormat>
  <Paragraphs>823</Paragraphs>
  <Slides>59</Slides>
  <Notes>52</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59</vt:i4>
      </vt:variant>
    </vt:vector>
  </HeadingPairs>
  <TitlesOfParts>
    <vt:vector size="80" baseType="lpstr">
      <vt:lpstr>Arial</vt:lpstr>
      <vt:lpstr>宋体</vt:lpstr>
      <vt:lpstr>Wingdings</vt:lpstr>
      <vt:lpstr>Times New Roman</vt:lpstr>
      <vt:lpstr>楷体</vt:lpstr>
      <vt:lpstr>楷体_GB2312</vt:lpstr>
      <vt:lpstr>新宋体</vt:lpstr>
      <vt:lpstr>微软雅黑</vt:lpstr>
      <vt:lpstr>Arial Narrow</vt:lpstr>
      <vt:lpstr>Monotype Sorts</vt:lpstr>
      <vt:lpstr>Wingdings</vt:lpstr>
      <vt:lpstr>Arial Unicode MS</vt:lpstr>
      <vt:lpstr>华文隶书</vt:lpstr>
      <vt:lpstr>Wingdings 2</vt:lpstr>
      <vt:lpstr>Wingdings</vt:lpstr>
      <vt:lpstr>黑体</vt:lpstr>
      <vt:lpstr>华文行楷</vt:lpstr>
      <vt:lpstr>华文琥珀</vt:lpstr>
      <vt:lpstr>华文中宋</vt:lpstr>
      <vt:lpstr>Soaring</vt:lpstr>
      <vt:lpstr>Excel.Chart.8</vt:lpstr>
      <vt:lpstr>PowerPoint 演示文稿</vt:lpstr>
      <vt:lpstr>PowerPoint 演示文稿</vt:lpstr>
      <vt:lpstr>PowerPoint 演示文稿</vt:lpstr>
      <vt:lpstr>PowerPoint 演示文稿</vt:lpstr>
      <vt:lpstr>案例:证券最大乌龙指:2013.8.16</vt:lpstr>
      <vt:lpstr>案例:英空管系统故障</vt:lpstr>
      <vt:lpstr>PowerPoint 演示文稿</vt:lpstr>
      <vt:lpstr>PowerPoint 演示文稿</vt:lpstr>
      <vt:lpstr>PowerPoint 演示文稿</vt:lpstr>
      <vt:lpstr>PowerPoint 演示文稿</vt:lpstr>
      <vt:lpstr>软件质量模型</vt:lpstr>
      <vt:lpstr>Boehm模型</vt:lpstr>
      <vt:lpstr>McCall质量模型</vt:lpstr>
      <vt:lpstr>ISO/IEC9126模型</vt:lpstr>
      <vt:lpstr>例子:调度指挥通信系统外部质量模型设计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wrl@hnu.cn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IT项目管理</dc:title>
  <dc:creator>王如龙</dc:creator>
  <cp:keywords>项目 质量  规划 保证  控制</cp:keywords>
  <dc:description>第2版  20141218第一次修改 </dc:description>
  <dc:subject>第7章 保证项目质量</dc:subject>
  <cp:category>课件</cp:category>
  <cp:lastModifiedBy>高琳琳</cp:lastModifiedBy>
  <cp:revision>813</cp:revision>
  <dcterms:created xsi:type="dcterms:W3CDTF">2113-01-01T00:00:00Z</dcterms:created>
  <dcterms:modified xsi:type="dcterms:W3CDTF">2024-05-12T23:56:44Z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52829634F0F34D76B7F4248B356D3B14_12</vt:lpwstr>
  </property>
  <property fmtid="{D5CDD505-2E9C-101B-9397-08002B2CF9AE}" pid="3" name="KSOProductBuildVer">
    <vt:lpwstr>2052-11.8.2.10154</vt:lpwstr>
  </property>
</Properties>
</file>