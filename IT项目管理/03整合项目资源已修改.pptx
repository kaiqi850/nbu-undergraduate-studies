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50"/>
  </p:notesMasterIdLst>
  <p:handoutMasterIdLst>
    <p:handoutMasterId r:id="rId51"/>
  </p:handoutMasterIdLst>
  <p:sldIdLst>
    <p:sldId id="325" r:id="rId2"/>
    <p:sldId id="578" r:id="rId3"/>
    <p:sldId id="695" r:id="rId4"/>
    <p:sldId id="504" r:id="rId5"/>
    <p:sldId id="734" r:id="rId6"/>
    <p:sldId id="737" r:id="rId7"/>
    <p:sldId id="696" r:id="rId8"/>
    <p:sldId id="477" r:id="rId9"/>
    <p:sldId id="739" r:id="rId10"/>
    <p:sldId id="738" r:id="rId11"/>
    <p:sldId id="581" r:id="rId12"/>
    <p:sldId id="697" r:id="rId13"/>
    <p:sldId id="699" r:id="rId14"/>
    <p:sldId id="698" r:id="rId15"/>
    <p:sldId id="733" r:id="rId16"/>
    <p:sldId id="702" r:id="rId17"/>
    <p:sldId id="732" r:id="rId18"/>
    <p:sldId id="703" r:id="rId19"/>
    <p:sldId id="741" r:id="rId20"/>
    <p:sldId id="740" r:id="rId21"/>
    <p:sldId id="742" r:id="rId22"/>
    <p:sldId id="701" r:id="rId23"/>
    <p:sldId id="743" r:id="rId24"/>
    <p:sldId id="744" r:id="rId25"/>
    <p:sldId id="745" r:id="rId26"/>
    <p:sldId id="747" r:id="rId27"/>
    <p:sldId id="748" r:id="rId28"/>
    <p:sldId id="749" r:id="rId29"/>
    <p:sldId id="750" r:id="rId30"/>
    <p:sldId id="752" r:id="rId31"/>
    <p:sldId id="704" r:id="rId32"/>
    <p:sldId id="705" r:id="rId33"/>
    <p:sldId id="706" r:id="rId34"/>
    <p:sldId id="714" r:id="rId35"/>
    <p:sldId id="715" r:id="rId36"/>
    <p:sldId id="716" r:id="rId37"/>
    <p:sldId id="717" r:id="rId38"/>
    <p:sldId id="754" r:id="rId39"/>
    <p:sldId id="753" r:id="rId40"/>
    <p:sldId id="755" r:id="rId41"/>
    <p:sldId id="756" r:id="rId42"/>
    <p:sldId id="721" r:id="rId43"/>
    <p:sldId id="757" r:id="rId44"/>
    <p:sldId id="760" r:id="rId45"/>
    <p:sldId id="759" r:id="rId46"/>
    <p:sldId id="728" r:id="rId47"/>
    <p:sldId id="727" r:id="rId48"/>
    <p:sldId id="577" r:id="rId49"/>
  </p:sldIdLst>
  <p:sldSz cx="9144000" cy="6858000" type="screen4x3"/>
  <p:notesSz cx="6858000" cy="9144000"/>
  <p:custDataLst>
    <p:tags r:id="rId52"/>
  </p:custDataLst>
  <p:defaultTextStyle>
    <a:defPPr>
      <a:defRPr lang="en-US"/>
    </a:defPPr>
    <a:lvl1pPr algn="ctr" rtl="0" fontAlgn="base">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1pPr>
    <a:lvl2pPr marL="457200" algn="ctr" rtl="0" fontAlgn="base">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56" userDrawn="1">
          <p15:clr>
            <a:srgbClr val="A4A3A4"/>
          </p15:clr>
        </p15:guide>
        <p15:guide id="2" pos="3024" userDrawn="1">
          <p15:clr>
            <a:srgbClr val="A4A3A4"/>
          </p15:clr>
        </p15:guide>
      </p15:sldGuideLst>
    </p:ext>
    <p:ext uri="{2D200454-40CA-4A62-9FC3-DE9A4176ACB9}">
      <p15:notesGuideLst xmlns:p15="http://schemas.microsoft.com/office/powerpoint/2012/main">
        <p15:guide id="1" orient="horz" pos="2828">
          <p15:clr>
            <a:srgbClr val="A4A3A4"/>
          </p15:clr>
        </p15:guide>
        <p15:guide id="2" pos="21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FF99FF"/>
    <a:srgbClr val="339966"/>
    <a:srgbClr val="FF33CC"/>
    <a:srgbClr val="990000"/>
    <a:srgbClr val="00CC00"/>
    <a:srgbClr val="000066"/>
    <a:srgbClr val="003366"/>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277" autoAdjust="0"/>
    <p:restoredTop sz="91837" autoAdjust="0"/>
  </p:normalViewPr>
  <p:slideViewPr>
    <p:cSldViewPr showGuides="1">
      <p:cViewPr varScale="1">
        <p:scale>
          <a:sx n="103" d="100"/>
          <a:sy n="103" d="100"/>
        </p:scale>
        <p:origin x="1446" y="138"/>
      </p:cViewPr>
      <p:guideLst>
        <p:guide orient="horz" pos="2256"/>
        <p:guide pos="302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40"/>
    </p:cViewPr>
  </p:sorterViewPr>
  <p:notesViewPr>
    <p:cSldViewPr>
      <p:cViewPr>
        <p:scale>
          <a:sx n="75" d="100"/>
          <a:sy n="75" d="100"/>
        </p:scale>
        <p:origin x="-1320" y="-66"/>
      </p:cViewPr>
      <p:guideLst>
        <p:guide orient="horz" pos="2828"/>
        <p:guide pos="21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solidFill>
                  <a:schemeClr val="bg2"/>
                </a:solidFill>
                <a:ea typeface="楷体_GB2312" pitchFamily="49" charset="-122"/>
              </a:defRPr>
            </a:lvl1pPr>
          </a:lstStyle>
          <a:p>
            <a:pPr>
              <a:defRPr/>
            </a:pPr>
            <a:endParaRPr lang="zh-CN" altLang="en-US"/>
          </a:p>
        </p:txBody>
      </p:sp>
      <p:sp>
        <p:nvSpPr>
          <p:cNvPr id="173059"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2"/>
                </a:solidFill>
                <a:ea typeface="楷体_GB2312" pitchFamily="49" charset="-122"/>
              </a:defRPr>
            </a:lvl1pPr>
          </a:lstStyle>
          <a:p>
            <a:pPr>
              <a:defRPr/>
            </a:pPr>
            <a:fld id="{9216B016-7D97-4F37-B371-4C35913FA13C}" type="datetime1">
              <a:rPr lang="zh-CN" altLang="en-US"/>
              <a:t>2024/4/1</a:t>
            </a:fld>
            <a:endParaRPr lang="en-US" altLang="zh-CN"/>
          </a:p>
        </p:txBody>
      </p:sp>
      <p:sp>
        <p:nvSpPr>
          <p:cNvPr id="173060"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solidFill>
                  <a:schemeClr val="bg2"/>
                </a:solidFill>
                <a:ea typeface="楷体_GB2312" pitchFamily="49" charset="-122"/>
              </a:defRPr>
            </a:lvl1pPr>
          </a:lstStyle>
          <a:p>
            <a:pPr>
              <a:defRPr/>
            </a:pPr>
            <a:endParaRPr lang="en-US" altLang="zh-CN"/>
          </a:p>
        </p:txBody>
      </p:sp>
      <p:sp>
        <p:nvSpPr>
          <p:cNvPr id="173061"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solidFill>
                  <a:schemeClr val="bg2"/>
                </a:solidFill>
                <a:ea typeface="楷体_GB2312" pitchFamily="49" charset="-122"/>
              </a:defRPr>
            </a:lvl1pPr>
          </a:lstStyle>
          <a:p>
            <a:pPr>
              <a:defRPr/>
            </a:pPr>
            <a:fld id="{2090BC13-FFC7-4170-9F1F-72E6DEF4652D}"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0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solidFill>
                  <a:schemeClr val="bg2"/>
                </a:solidFill>
                <a:ea typeface="楷体_GB2312" pitchFamily="49" charset="-122"/>
              </a:defRPr>
            </a:lvl1pPr>
          </a:lstStyle>
          <a:p>
            <a:pPr>
              <a:defRPr/>
            </a:pPr>
            <a:endParaRPr lang="zh-CN" altLang="en-US"/>
          </a:p>
        </p:txBody>
      </p:sp>
      <p:sp>
        <p:nvSpPr>
          <p:cNvPr id="17101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2"/>
                </a:solidFill>
                <a:ea typeface="楷体_GB2312" pitchFamily="49" charset="-122"/>
              </a:defRPr>
            </a:lvl1pPr>
          </a:lstStyle>
          <a:p>
            <a:pPr>
              <a:defRPr/>
            </a:pPr>
            <a:fld id="{F8B0641B-1262-4C5A-81C6-21887D013865}" type="datetime1">
              <a:rPr lang="zh-CN" altLang="en-US"/>
              <a:t>2024/4/1</a:t>
            </a:fld>
            <a:endParaRPr lang="en-US" altLang="zh-CN"/>
          </a:p>
        </p:txBody>
      </p:sp>
      <p:sp>
        <p:nvSpPr>
          <p:cNvPr id="512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7101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101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solidFill>
                  <a:schemeClr val="bg2"/>
                </a:solidFill>
                <a:ea typeface="楷体_GB2312" pitchFamily="49" charset="-122"/>
              </a:defRPr>
            </a:lvl1pPr>
          </a:lstStyle>
          <a:p>
            <a:pPr>
              <a:defRPr/>
            </a:pPr>
            <a:endParaRPr lang="en-US" altLang="zh-CN"/>
          </a:p>
        </p:txBody>
      </p:sp>
      <p:sp>
        <p:nvSpPr>
          <p:cNvPr id="17101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solidFill>
                  <a:schemeClr val="bg2"/>
                </a:solidFill>
                <a:ea typeface="楷体_GB2312" pitchFamily="49" charset="-122"/>
              </a:defRPr>
            </a:lvl1pPr>
          </a:lstStyle>
          <a:p>
            <a:pPr>
              <a:defRPr/>
            </a:pPr>
            <a:fld id="{562FD165-04E6-4B25-B57D-0AC2B1332382}"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C1138BA7-0BAF-4137-80FE-36946A4DAA6B}" type="slidenum">
              <a:rPr lang="zh-CN" altLang="en-US" smtClean="0"/>
              <a:t>1</a:t>
            </a:fld>
            <a:endParaRPr lang="en-US" altLang="zh-CN"/>
          </a:p>
        </p:txBody>
      </p:sp>
      <p:sp>
        <p:nvSpPr>
          <p:cNvPr id="52227" name="Rectangle 2"/>
          <p:cNvSpPr>
            <a:spLocks noGrp="1" noRot="1" noChangeAspect="1" noChangeArrowheads="1" noTextEdi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34F87ABC-0F2E-4920-94A3-25144E38B20F}" type="slidenum">
              <a:rPr lang="zh-CN" altLang="en-US" smtClean="0"/>
              <a:t>2</a:t>
            </a:fld>
            <a:endParaRPr lang="en-US" altLang="zh-CN"/>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B1F2497E-0040-4185-8A3C-8724F1D3B158}" type="slidenum">
              <a:rPr lang="zh-CN" altLang="en-US" smtClean="0"/>
              <a:t>3</a:t>
            </a:fld>
            <a:endParaRPr lang="en-US" altLang="zh-CN"/>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41C8538A-B623-4594-A1EC-B8AEB6757194}" type="slidenum">
              <a:rPr lang="zh-CN" altLang="en-US" smtClean="0"/>
              <a:t>4</a:t>
            </a:fld>
            <a:endParaRPr lang="en-US" altLang="zh-CN"/>
          </a:p>
        </p:txBody>
      </p:sp>
      <p:sp>
        <p:nvSpPr>
          <p:cNvPr id="56323" name="Rectangle 2"/>
          <p:cNvSpPr>
            <a:spLocks noGrp="1" noRot="1" noChangeAspect="1" noChangeArrowheads="1" noTextEdit="1"/>
          </p:cNvSpPr>
          <p:nvPr>
            <p:ph type="sldImg"/>
          </p:nvPr>
        </p:nvSpPr>
        <p:spPr/>
      </p:sp>
      <p:sp>
        <p:nvSpPr>
          <p:cNvPr id="563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t>5</a:t>
            </a:fld>
            <a:endParaRPr lang="en-US" altLang="zh-CN"/>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5D3214FD-7A5F-46DC-B61B-FF07486D3B87}" type="slidenum">
              <a:rPr lang="zh-CN" altLang="en-US" smtClean="0"/>
              <a:t>6</a:t>
            </a:fld>
            <a:endParaRPr lang="en-US" altLang="zh-CN"/>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p:spPr>
        <p:txBody>
          <a:bodyPr/>
          <a:lstStyle/>
          <a:p>
            <a:pPr algn="just" eaLnBrk="1" hangingPunct="1"/>
            <a:r>
              <a:rPr lang="zh-CN" altLang="en-US" b="1" dirty="0"/>
              <a:t> </a:t>
            </a:r>
            <a:endParaRPr lang="zh-CN" altLang="en-US" dirty="0"/>
          </a:p>
          <a:p>
            <a:pPr algn="just" eaLnBrk="1" hangingPunct="1"/>
            <a:r>
              <a:rPr lang="zh-CN" altLang="en-US" dirty="0"/>
              <a:t> </a:t>
            </a:r>
          </a:p>
          <a:p>
            <a:pPr algn="just" eaLnBrk="1" hangingPunct="1"/>
            <a:r>
              <a:rPr lang="zh-CN" altLang="en-US" dirty="0"/>
              <a:t> </a:t>
            </a:r>
          </a:p>
          <a:p>
            <a:pPr algn="just" eaLnBrk="1" hangingPunct="1"/>
            <a:r>
              <a:rPr lang="zh-CN" altLang="en-US" dirty="0"/>
              <a:t> </a:t>
            </a:r>
          </a:p>
          <a:p>
            <a:pPr algn="just" eaLnBrk="1" hangingPunct="1"/>
            <a:r>
              <a:rPr lang="zh-CN" altLang="en-US" dirty="0"/>
              <a:t> </a:t>
            </a:r>
          </a:p>
          <a:p>
            <a:pPr eaLnBrk="1" hangingPunct="1"/>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5D3214FD-7A5F-46DC-B61B-FF07486D3B87}" type="slidenum">
              <a:rPr lang="zh-CN" altLang="en-US" smtClean="0"/>
              <a:t>7</a:t>
            </a:fld>
            <a:endParaRPr lang="en-US" altLang="zh-CN"/>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p:spPr>
        <p:txBody>
          <a:bodyPr/>
          <a:lstStyle/>
          <a:p>
            <a:pPr algn="just" eaLnBrk="1" hangingPunct="1"/>
            <a:r>
              <a:rPr lang="zh-CN" altLang="en-US" b="1" dirty="0"/>
              <a:t> </a:t>
            </a:r>
            <a:endParaRPr lang="zh-CN" altLang="en-US" dirty="0"/>
          </a:p>
          <a:p>
            <a:pPr algn="just" eaLnBrk="1" hangingPunct="1"/>
            <a:r>
              <a:rPr lang="zh-CN" altLang="en-US" dirty="0"/>
              <a:t> </a:t>
            </a:r>
          </a:p>
          <a:p>
            <a:pPr algn="just" eaLnBrk="1" hangingPunct="1"/>
            <a:r>
              <a:rPr lang="zh-CN" altLang="en-US" dirty="0"/>
              <a:t> </a:t>
            </a:r>
          </a:p>
          <a:p>
            <a:pPr algn="just" eaLnBrk="1" hangingPunct="1"/>
            <a:r>
              <a:rPr lang="zh-CN" altLang="en-US" dirty="0"/>
              <a:t> </a:t>
            </a:r>
          </a:p>
          <a:p>
            <a:pPr algn="just" eaLnBrk="1" hangingPunct="1"/>
            <a:r>
              <a:rPr lang="zh-CN" altLang="en-US" dirty="0"/>
              <a:t> </a:t>
            </a:r>
          </a:p>
          <a:p>
            <a:pPr eaLnBrk="1" hangingPunct="1"/>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A8DADB43-F5DE-4992-BB19-E9BA89A2AA0E}" type="slidenum">
              <a:rPr lang="zh-CN" altLang="en-US" smtClean="0"/>
              <a:t>8</a:t>
            </a:fld>
            <a:endParaRPr lang="en-US" altLang="zh-CN"/>
          </a:p>
        </p:txBody>
      </p:sp>
      <p:sp>
        <p:nvSpPr>
          <p:cNvPr id="58371" name="Rectangle 2"/>
          <p:cNvSpPr>
            <a:spLocks noGrp="1" noRot="1" noChangeAspect="1" noChangeArrowheads="1" noTextEdit="1"/>
          </p:cNvSpPr>
          <p:nvPr>
            <p:ph type="sldImg"/>
          </p:nvPr>
        </p:nvSpPr>
        <p:spPr/>
      </p:sp>
      <p:sp>
        <p:nvSpPr>
          <p:cNvPr id="5837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5D3214FD-7A5F-46DC-B61B-FF07486D3B87}" type="slidenum">
              <a:rPr lang="zh-CN" altLang="en-US" smtClean="0"/>
              <a:t>9</a:t>
            </a:fld>
            <a:endParaRPr lang="en-US" altLang="zh-CN"/>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p:spPr>
        <p:txBody>
          <a:bodyPr/>
          <a:lstStyle/>
          <a:p>
            <a:pPr algn="just" eaLnBrk="1" hangingPunct="1"/>
            <a:r>
              <a:rPr lang="zh-CN" altLang="en-US" b="1" dirty="0"/>
              <a:t> </a:t>
            </a:r>
            <a:endParaRPr lang="zh-CN" altLang="en-US" dirty="0"/>
          </a:p>
          <a:p>
            <a:pPr algn="just" eaLnBrk="1" hangingPunct="1"/>
            <a:r>
              <a:rPr lang="zh-CN" altLang="en-US" dirty="0"/>
              <a:t> </a:t>
            </a:r>
          </a:p>
          <a:p>
            <a:pPr algn="just" eaLnBrk="1" hangingPunct="1"/>
            <a:r>
              <a:rPr lang="zh-CN" altLang="en-US" dirty="0"/>
              <a:t> </a:t>
            </a:r>
          </a:p>
          <a:p>
            <a:pPr algn="just" eaLnBrk="1" hangingPunct="1"/>
            <a:r>
              <a:rPr lang="zh-CN" altLang="en-US" dirty="0"/>
              <a:t> </a:t>
            </a:r>
          </a:p>
          <a:p>
            <a:pPr algn="just" eaLnBrk="1" hangingPunct="1"/>
            <a:r>
              <a:rPr lang="zh-CN" altLang="en-US" dirty="0"/>
              <a:t> </a:t>
            </a:r>
          </a:p>
          <a:p>
            <a:pPr eaLnBrk="1" hangingPunct="1"/>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5D3214FD-7A5F-46DC-B61B-FF07486D3B87}" type="slidenum">
              <a:rPr lang="zh-CN" altLang="en-US" smtClean="0"/>
              <a:t>10</a:t>
            </a:fld>
            <a:endParaRPr lang="en-US" altLang="zh-CN"/>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p:spPr>
        <p:txBody>
          <a:bodyPr/>
          <a:lstStyle/>
          <a:p>
            <a:pPr algn="just" eaLnBrk="1" hangingPunct="1"/>
            <a:r>
              <a:rPr lang="zh-CN" altLang="en-US" b="1" dirty="0"/>
              <a:t> </a:t>
            </a:r>
            <a:endParaRPr lang="zh-CN" altLang="en-US" dirty="0"/>
          </a:p>
          <a:p>
            <a:pPr algn="just" eaLnBrk="1" hangingPunct="1"/>
            <a:r>
              <a:rPr lang="zh-CN" altLang="en-US" dirty="0"/>
              <a:t> </a:t>
            </a:r>
          </a:p>
          <a:p>
            <a:pPr algn="just" eaLnBrk="1" hangingPunct="1"/>
            <a:r>
              <a:rPr lang="zh-CN" altLang="en-US" dirty="0"/>
              <a:t> </a:t>
            </a:r>
          </a:p>
          <a:p>
            <a:pPr algn="just" eaLnBrk="1" hangingPunct="1"/>
            <a:r>
              <a:rPr lang="zh-CN" altLang="en-US" dirty="0"/>
              <a:t> </a:t>
            </a:r>
          </a:p>
          <a:p>
            <a:pPr algn="just" eaLnBrk="1" hangingPunct="1"/>
            <a:r>
              <a:rPr lang="zh-CN" altLang="en-US" dirty="0"/>
              <a:t> </a:t>
            </a:r>
          </a:p>
          <a:p>
            <a:pPr eaLnBrk="1" hangingPunct="1"/>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DBD1FC22-F36F-489A-9CCE-2A02446D7503}" type="slidenum">
              <a:rPr lang="zh-CN" altLang="en-US" smtClean="0"/>
              <a:t>11</a:t>
            </a:fld>
            <a:endParaRPr lang="en-US" altLang="zh-CN"/>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4F47A40B-BA06-41A0-9860-DC8A85234D38}" type="slidenum">
              <a:rPr lang="zh-CN" altLang="en-US" smtClean="0"/>
              <a:t>12</a:t>
            </a:fld>
            <a:endParaRPr lang="en-US" altLang="zh-CN"/>
          </a:p>
        </p:txBody>
      </p:sp>
      <p:sp>
        <p:nvSpPr>
          <p:cNvPr id="60419" name="Rectangle 2"/>
          <p:cNvSpPr>
            <a:spLocks noGrp="1" noRot="1" noChangeAspect="1" noChangeArrowheads="1" noTextEdit="1"/>
          </p:cNvSpPr>
          <p:nvPr>
            <p:ph type="sldImg"/>
          </p:nvPr>
        </p:nvSpPr>
        <p:spPr/>
      </p:sp>
      <p:sp>
        <p:nvSpPr>
          <p:cNvPr id="6042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8526F5AD-C9F6-4564-911D-C58937DFFF7B}" type="slidenum">
              <a:rPr lang="zh-CN" altLang="en-US" smtClean="0"/>
              <a:t>13</a:t>
            </a:fld>
            <a:endParaRPr lang="en-US" altLang="zh-CN"/>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noFill/>
        </p:spPr>
        <p:txBody>
          <a:bodyPr/>
          <a:lstStyle/>
          <a:p>
            <a:pPr algn="just" eaLnBrk="1" hangingPunct="1"/>
            <a:r>
              <a:rPr lang="zh-CN" altLang="en-US" b="1" dirty="0"/>
              <a:t> </a:t>
            </a:r>
            <a:endParaRPr lang="zh-CN" altLang="en-US" dirty="0"/>
          </a:p>
          <a:p>
            <a:pPr algn="just" eaLnBrk="1" hangingPunct="1"/>
            <a:r>
              <a:rPr lang="zh-CN" altLang="en-US" dirty="0"/>
              <a:t> </a:t>
            </a:r>
          </a:p>
          <a:p>
            <a:pPr algn="just" eaLnBrk="1" hangingPunct="1"/>
            <a:r>
              <a:rPr lang="zh-CN" altLang="en-US" dirty="0"/>
              <a:t> </a:t>
            </a:r>
          </a:p>
          <a:p>
            <a:pPr algn="just" eaLnBrk="1" hangingPunct="1"/>
            <a:r>
              <a:rPr lang="zh-CN" altLang="en-US" dirty="0"/>
              <a:t> </a:t>
            </a:r>
          </a:p>
          <a:p>
            <a:pPr algn="just" eaLnBrk="1" hangingPunct="1"/>
            <a:r>
              <a:rPr lang="zh-CN" altLang="en-US" dirty="0"/>
              <a:t> </a:t>
            </a:r>
          </a:p>
          <a:p>
            <a:pPr eaLnBrk="1" hangingPunct="1"/>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3A586DCF-CC8D-4B5C-A14C-B6234CA905BA}" type="slidenum">
              <a:rPr lang="zh-CN" altLang="en-US" smtClean="0"/>
              <a:t>14</a:t>
            </a:fld>
            <a:endParaRPr lang="en-US" altLang="zh-CN"/>
          </a:p>
        </p:txBody>
      </p:sp>
      <p:sp>
        <p:nvSpPr>
          <p:cNvPr id="62467" name="Rectangle 2"/>
          <p:cNvSpPr>
            <a:spLocks noGrp="1" noRot="1" noChangeAspect="1" noChangeArrowheads="1" noTextEdit="1"/>
          </p:cNvSpPr>
          <p:nvPr>
            <p:ph type="sldImg"/>
          </p:nvPr>
        </p:nvSpPr>
        <p:spPr/>
      </p:sp>
      <p:sp>
        <p:nvSpPr>
          <p:cNvPr id="6246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5885CAB6-24D1-4D68-8650-3426C298B287}" type="slidenum">
              <a:rPr lang="zh-CN" altLang="en-US" smtClean="0"/>
              <a:t>15</a:t>
            </a:fld>
            <a:endParaRPr lang="en-US" altLang="zh-CN"/>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29E528FD-EDD3-40C2-B752-1A01DC495F4B}" type="slidenum">
              <a:rPr lang="zh-CN" altLang="en-US" smtClean="0"/>
              <a:t>16</a:t>
            </a:fld>
            <a:endParaRPr lang="en-US" altLang="zh-CN"/>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BF615043-BE04-4260-88B6-B771A0E7C671}" type="slidenum">
              <a:rPr lang="zh-CN" altLang="en-US" smtClean="0"/>
              <a:t>17</a:t>
            </a:fld>
            <a:endParaRPr lang="en-US" altLang="zh-CN"/>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4A69A68B-83D5-4846-90A5-D6F20740CB3B}" type="slidenum">
              <a:rPr lang="zh-CN" altLang="en-US" smtClean="0"/>
              <a:t>18</a:t>
            </a:fld>
            <a:endParaRPr lang="en-US" altLang="zh-CN"/>
          </a:p>
        </p:txBody>
      </p:sp>
      <p:sp>
        <p:nvSpPr>
          <p:cNvPr id="66563" name="Rectangle 2"/>
          <p:cNvSpPr>
            <a:spLocks noGrp="1" noRot="1" noChangeAspect="1" noChangeArrowheads="1" noTextEdit="1"/>
          </p:cNvSpPr>
          <p:nvPr>
            <p:ph type="sldImg"/>
          </p:nvPr>
        </p:nvSpPr>
        <p:spPr/>
      </p:sp>
      <p:sp>
        <p:nvSpPr>
          <p:cNvPr id="6656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50A74B0E-0F4E-4CEF-BEF9-824CFEEC39D4}" type="slidenum">
              <a:rPr lang="zh-CN" altLang="en-US" smtClean="0"/>
              <a:t>19</a:t>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t>20</a:t>
            </a:fld>
            <a:endParaRPr lang="en-US" altLang="zh-CN"/>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noFill/>
        </p:spPr>
        <p:txBody>
          <a:bodyPr/>
          <a:lstStyle/>
          <a:p>
            <a:pPr eaLnBrk="1" hangingPunct="1"/>
            <a:endParaRPr lang="en-US"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50A74B0E-0F4E-4CEF-BEF9-824CFEEC39D4}" type="slidenum">
              <a:rPr lang="zh-CN" altLang="en-US" smtClean="0"/>
              <a:t>21</a:t>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50A74B0E-0F4E-4CEF-BEF9-824CFEEC39D4}" type="slidenum">
              <a:rPr lang="zh-CN" altLang="en-US" smtClean="0"/>
              <a:t>22</a:t>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50A74B0E-0F4E-4CEF-BEF9-824CFEEC39D4}" type="slidenum">
              <a:rPr lang="zh-CN" altLang="en-US" smtClean="0"/>
              <a:t>23</a:t>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50A74B0E-0F4E-4CEF-BEF9-824CFEEC39D4}" type="slidenum">
              <a:rPr lang="zh-CN" altLang="en-US" smtClean="0"/>
              <a:t>24</a:t>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50A74B0E-0F4E-4CEF-BEF9-824CFEEC39D4}" type="slidenum">
              <a:rPr lang="zh-CN" altLang="en-US" smtClean="0"/>
              <a:t>25</a:t>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50A74B0E-0F4E-4CEF-BEF9-824CFEEC39D4}" type="slidenum">
              <a:rPr lang="zh-CN" altLang="en-US" smtClean="0"/>
              <a:t>26</a:t>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50A74B0E-0F4E-4CEF-BEF9-824CFEEC39D4}" type="slidenum">
              <a:rPr lang="zh-CN" altLang="en-US" smtClean="0"/>
              <a:t>27</a:t>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50A74B0E-0F4E-4CEF-BEF9-824CFEEC39D4}" type="slidenum">
              <a:rPr lang="zh-CN" altLang="en-US" smtClean="0"/>
              <a:t>28</a:t>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t>29</a:t>
            </a:fld>
            <a:endParaRPr lang="en-US" altLang="zh-CN"/>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E300D677-C4BF-4856-ADB6-EF35364C603F}" type="slidenum">
              <a:rPr lang="zh-CN" altLang="en-US" smtClean="0"/>
              <a:t>30</a:t>
            </a:fld>
            <a:endParaRPr lang="en-US" altLang="zh-CN"/>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E300D677-C4BF-4856-ADB6-EF35364C603F}" type="slidenum">
              <a:rPr lang="zh-CN" altLang="en-US" smtClean="0"/>
              <a:t>31</a:t>
            </a:fld>
            <a:endParaRPr lang="en-US" altLang="zh-CN"/>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C22207B4-121F-4A07-A7C7-AD5E2BF16E76}" type="slidenum">
              <a:rPr lang="zh-CN" altLang="en-US" smtClean="0"/>
              <a:t>32</a:t>
            </a:fld>
            <a:endParaRPr lang="en-US" altLang="zh-CN"/>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23132E5B-3B23-4345-808C-2CBF9E7EF545}" type="slidenum">
              <a:rPr lang="zh-CN" altLang="en-US" smtClean="0"/>
              <a:t>33</a:t>
            </a:fld>
            <a:endParaRPr lang="en-US" altLang="zh-CN"/>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9E46F46A-5F56-49ED-9021-8EE808CD95C0}" type="slidenum">
              <a:rPr lang="zh-CN" altLang="en-US" smtClean="0"/>
              <a:t>34</a:t>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AE306045-B91B-4062-AF8A-20ED00F5F420}" type="slidenum">
              <a:rPr lang="zh-CN" altLang="en-US" smtClean="0"/>
              <a:t>35</a:t>
            </a:fld>
            <a:endParaRPr lang="en-US" altLang="zh-CN"/>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C3185569-52AD-4DE2-B9F4-578FC01E9545}" type="slidenum">
              <a:rPr lang="zh-CN" altLang="en-US" smtClean="0"/>
              <a:t>36</a:t>
            </a:fld>
            <a:endParaRPr lang="en-US" altLang="zh-CN"/>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3EDF8801-52F3-41D3-9657-33B6DCBBCA54}" type="slidenum">
              <a:rPr lang="zh-CN" altLang="en-US" smtClean="0"/>
              <a:t>37</a:t>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C3185569-52AD-4DE2-B9F4-578FC01E9545}" type="slidenum">
              <a:rPr lang="zh-CN" altLang="en-US" smtClean="0"/>
              <a:t>38</a:t>
            </a:fld>
            <a:endParaRPr lang="en-US" altLang="zh-CN"/>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C3185569-52AD-4DE2-B9F4-578FC01E9545}" type="slidenum">
              <a:rPr lang="zh-CN" altLang="en-US" smtClean="0"/>
              <a:t>39</a:t>
            </a:fld>
            <a:endParaRPr lang="en-US" altLang="zh-CN"/>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t>40</a:t>
            </a:fld>
            <a:endParaRPr lang="en-US" altLang="zh-CN"/>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03A0820D-34A0-4B91-B848-9FF47FFB4855}" type="slidenum">
              <a:rPr lang="zh-CN" altLang="en-US" smtClean="0"/>
              <a:t>41</a:t>
            </a:fld>
            <a:endParaRPr lang="en-US" altLang="zh-CN"/>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algn="just" eaLnBrk="1" hangingPunct="1"/>
            <a:r>
              <a:rPr lang="zh-CN" altLang="en-US" b="1" dirty="0"/>
              <a:t> </a:t>
            </a:r>
            <a:endParaRPr lang="zh-CN" altLang="en-US" dirty="0"/>
          </a:p>
          <a:p>
            <a:pPr algn="just" eaLnBrk="1" hangingPunct="1"/>
            <a:r>
              <a:rPr lang="zh-CN" altLang="en-US" dirty="0"/>
              <a:t> </a:t>
            </a:r>
          </a:p>
          <a:p>
            <a:pPr algn="just" eaLnBrk="1" hangingPunct="1"/>
            <a:r>
              <a:rPr lang="zh-CN" altLang="en-US" dirty="0"/>
              <a:t> </a:t>
            </a:r>
          </a:p>
          <a:p>
            <a:pPr algn="just" eaLnBrk="1" hangingPunct="1"/>
            <a:r>
              <a:rPr lang="zh-CN" altLang="en-US" dirty="0"/>
              <a:t> </a:t>
            </a:r>
          </a:p>
          <a:p>
            <a:pPr algn="just" eaLnBrk="1" hangingPunct="1"/>
            <a:r>
              <a:rPr lang="zh-CN" altLang="en-US" dirty="0"/>
              <a:t> </a:t>
            </a:r>
          </a:p>
          <a:p>
            <a:pPr eaLnBrk="1" hangingPunct="1"/>
            <a:endParaRPr lang="en-US"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03A0820D-34A0-4B91-B848-9FF47FFB4855}" type="slidenum">
              <a:rPr lang="zh-CN" altLang="en-US" smtClean="0"/>
              <a:t>42</a:t>
            </a:fld>
            <a:endParaRPr lang="en-US" altLang="zh-CN"/>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algn="just" eaLnBrk="1" hangingPunct="1"/>
            <a:r>
              <a:rPr lang="zh-CN" altLang="en-US" b="1" dirty="0"/>
              <a:t> </a:t>
            </a:r>
            <a:endParaRPr lang="zh-CN" altLang="en-US" dirty="0"/>
          </a:p>
          <a:p>
            <a:pPr algn="just" eaLnBrk="1" hangingPunct="1"/>
            <a:r>
              <a:rPr lang="zh-CN" altLang="en-US" dirty="0"/>
              <a:t> </a:t>
            </a:r>
          </a:p>
          <a:p>
            <a:pPr algn="just" eaLnBrk="1" hangingPunct="1"/>
            <a:r>
              <a:rPr lang="zh-CN" altLang="en-US" dirty="0"/>
              <a:t> </a:t>
            </a:r>
          </a:p>
          <a:p>
            <a:pPr algn="just" eaLnBrk="1" hangingPunct="1"/>
            <a:r>
              <a:rPr lang="zh-CN" altLang="en-US" dirty="0"/>
              <a:t> </a:t>
            </a:r>
          </a:p>
          <a:p>
            <a:pPr algn="just" eaLnBrk="1" hangingPunct="1"/>
            <a:r>
              <a:rPr lang="zh-CN" altLang="en-US" dirty="0"/>
              <a:t> </a:t>
            </a:r>
          </a:p>
          <a:p>
            <a:pPr eaLnBrk="1" hangingPunct="1"/>
            <a:endParaRPr lang="en-US"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03A0820D-34A0-4B91-B848-9FF47FFB4855}" type="slidenum">
              <a:rPr lang="zh-CN" altLang="en-US" smtClean="0"/>
              <a:t>43</a:t>
            </a:fld>
            <a:endParaRPr lang="en-US" altLang="zh-CN"/>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algn="just" eaLnBrk="1" hangingPunct="1"/>
            <a:r>
              <a:rPr lang="zh-CN" altLang="en-US" b="1" dirty="0"/>
              <a:t> </a:t>
            </a:r>
            <a:endParaRPr lang="zh-CN" altLang="en-US" dirty="0"/>
          </a:p>
          <a:p>
            <a:pPr algn="just" eaLnBrk="1" hangingPunct="1"/>
            <a:r>
              <a:rPr lang="zh-CN" altLang="en-US" dirty="0"/>
              <a:t> </a:t>
            </a:r>
          </a:p>
          <a:p>
            <a:pPr algn="just" eaLnBrk="1" hangingPunct="1"/>
            <a:r>
              <a:rPr lang="zh-CN" altLang="en-US" dirty="0"/>
              <a:t> </a:t>
            </a:r>
          </a:p>
          <a:p>
            <a:pPr algn="just" eaLnBrk="1" hangingPunct="1"/>
            <a:r>
              <a:rPr lang="zh-CN" altLang="en-US" dirty="0"/>
              <a:t> </a:t>
            </a:r>
          </a:p>
          <a:p>
            <a:pPr algn="just" eaLnBrk="1" hangingPunct="1"/>
            <a:r>
              <a:rPr lang="zh-CN" altLang="en-US" dirty="0"/>
              <a:t> </a:t>
            </a:r>
          </a:p>
          <a:p>
            <a:pPr eaLnBrk="1" hangingPunct="1"/>
            <a:endParaRPr lang="en-US"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03A0820D-34A0-4B91-B848-9FF47FFB4855}" type="slidenum">
              <a:rPr lang="zh-CN" altLang="en-US" smtClean="0"/>
              <a:t>44</a:t>
            </a:fld>
            <a:endParaRPr lang="en-US" altLang="zh-CN"/>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algn="just" eaLnBrk="1" hangingPunct="1"/>
            <a:r>
              <a:rPr lang="zh-CN" altLang="en-US" b="1" dirty="0"/>
              <a:t> </a:t>
            </a:r>
            <a:endParaRPr lang="zh-CN" altLang="en-US" dirty="0"/>
          </a:p>
          <a:p>
            <a:pPr algn="just" eaLnBrk="1" hangingPunct="1"/>
            <a:r>
              <a:rPr lang="zh-CN" altLang="en-US" dirty="0"/>
              <a:t> </a:t>
            </a:r>
          </a:p>
          <a:p>
            <a:pPr algn="just" eaLnBrk="1" hangingPunct="1"/>
            <a:r>
              <a:rPr lang="zh-CN" altLang="en-US" dirty="0"/>
              <a:t> </a:t>
            </a:r>
          </a:p>
          <a:p>
            <a:pPr algn="just" eaLnBrk="1" hangingPunct="1"/>
            <a:r>
              <a:rPr lang="zh-CN" altLang="en-US" dirty="0"/>
              <a:t> </a:t>
            </a:r>
          </a:p>
          <a:p>
            <a:pPr algn="just" eaLnBrk="1" hangingPunct="1"/>
            <a:r>
              <a:rPr lang="zh-CN" altLang="en-US" dirty="0"/>
              <a:t> </a:t>
            </a:r>
          </a:p>
          <a:p>
            <a:pPr eaLnBrk="1" hangingPunct="1"/>
            <a:endParaRPr lang="en-US"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03A0820D-34A0-4B91-B848-9FF47FFB4855}" type="slidenum">
              <a:rPr lang="zh-CN" altLang="en-US" smtClean="0"/>
              <a:t>45</a:t>
            </a:fld>
            <a:endParaRPr lang="en-US" altLang="zh-CN"/>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algn="just" eaLnBrk="1" hangingPunct="1"/>
            <a:r>
              <a:rPr lang="zh-CN" altLang="en-US" b="1" dirty="0"/>
              <a:t> </a:t>
            </a:r>
            <a:endParaRPr lang="zh-CN" altLang="en-US" dirty="0"/>
          </a:p>
          <a:p>
            <a:pPr algn="just" eaLnBrk="1" hangingPunct="1"/>
            <a:r>
              <a:rPr lang="zh-CN" altLang="en-US" dirty="0"/>
              <a:t> </a:t>
            </a:r>
          </a:p>
          <a:p>
            <a:pPr algn="just" eaLnBrk="1" hangingPunct="1"/>
            <a:r>
              <a:rPr lang="zh-CN" altLang="en-US" dirty="0"/>
              <a:t> </a:t>
            </a:r>
          </a:p>
          <a:p>
            <a:pPr algn="just" eaLnBrk="1" hangingPunct="1"/>
            <a:r>
              <a:rPr lang="zh-CN" altLang="en-US" dirty="0"/>
              <a:t> </a:t>
            </a:r>
          </a:p>
          <a:p>
            <a:pPr algn="just" eaLnBrk="1" hangingPunct="1"/>
            <a:r>
              <a:rPr lang="zh-CN" altLang="en-US" dirty="0"/>
              <a:t> </a:t>
            </a:r>
          </a:p>
          <a:p>
            <a:pPr eaLnBrk="1" hangingPunct="1"/>
            <a:endParaRPr lang="en-US"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B17558C8-21F0-490B-AEE4-DF68C3E80FBF}" type="slidenum">
              <a:rPr lang="zh-CN" altLang="en-US" smtClean="0"/>
              <a:t>46</a:t>
            </a:fld>
            <a:endParaRPr lang="en-US" altLang="zh-CN"/>
          </a:p>
        </p:txBody>
      </p:sp>
      <p:sp>
        <p:nvSpPr>
          <p:cNvPr id="91139" name="Rectangle 2"/>
          <p:cNvSpPr>
            <a:spLocks noGrp="1" noRot="1" noChangeAspect="1" noChangeArrowheads="1" noTextEdit="1"/>
          </p:cNvSpPr>
          <p:nvPr>
            <p:ph type="sldImg"/>
          </p:nvPr>
        </p:nvSpPr>
        <p:spPr/>
      </p:sp>
      <p:sp>
        <p:nvSpPr>
          <p:cNvPr id="91140" name="Rectangle 3"/>
          <p:cNvSpPr>
            <a:spLocks noGrp="1" noChangeArrowheads="1"/>
          </p:cNvSpPr>
          <p:nvPr>
            <p:ph type="body" idx="1"/>
          </p:nvPr>
        </p:nvSpPr>
        <p:spPr>
          <a:noFill/>
        </p:spPr>
        <p:txBody>
          <a:bodyPr/>
          <a:lstStyle/>
          <a:p>
            <a:pPr algn="just" eaLnBrk="1" hangingPunct="1"/>
            <a:r>
              <a:rPr lang="zh-CN" altLang="en-US" b="1" dirty="0"/>
              <a:t> </a:t>
            </a:r>
            <a:endParaRPr lang="zh-CN" altLang="en-US" dirty="0"/>
          </a:p>
          <a:p>
            <a:pPr algn="just" eaLnBrk="1" hangingPunct="1"/>
            <a:r>
              <a:rPr lang="zh-CN" altLang="en-US" dirty="0"/>
              <a:t> </a:t>
            </a:r>
          </a:p>
          <a:p>
            <a:pPr algn="just" eaLnBrk="1" hangingPunct="1"/>
            <a:r>
              <a:rPr lang="zh-CN" altLang="en-US" dirty="0"/>
              <a:t> </a:t>
            </a:r>
          </a:p>
          <a:p>
            <a:pPr algn="just" eaLnBrk="1" hangingPunct="1"/>
            <a:r>
              <a:rPr lang="zh-CN" altLang="en-US" dirty="0"/>
              <a:t> </a:t>
            </a:r>
          </a:p>
          <a:p>
            <a:pPr algn="just" eaLnBrk="1" hangingPunct="1"/>
            <a:r>
              <a:rPr lang="zh-CN" altLang="en-US" dirty="0"/>
              <a:t> </a:t>
            </a:r>
          </a:p>
          <a:p>
            <a:pPr eaLnBrk="1" hangingPunct="1"/>
            <a:endParaRPr lang="en-US"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7C70668F-07DB-49B6-959A-DE45F57DB8F1}" type="slidenum">
              <a:rPr lang="zh-CN" altLang="en-US" smtClean="0"/>
              <a:t>47</a:t>
            </a:fld>
            <a:endParaRPr lang="en-US" altLang="zh-CN"/>
          </a:p>
        </p:txBody>
      </p:sp>
      <p:sp>
        <p:nvSpPr>
          <p:cNvPr id="93187" name="Rectangle 2"/>
          <p:cNvSpPr>
            <a:spLocks noGrp="1" noRot="1" noChangeAspect="1" noChangeArrowheads="1" noTextEdit="1"/>
          </p:cNvSpPr>
          <p:nvPr>
            <p:ph type="sldImg"/>
          </p:nvPr>
        </p:nvSpPr>
        <p:spPr/>
      </p:sp>
      <p:sp>
        <p:nvSpPr>
          <p:cNvPr id="931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565197D9-E0DB-47FE-BEF8-6AFBA1157290}" type="slidenum">
              <a:rPr lang="zh-CN" altLang="en-US" smtClean="0"/>
              <a:t>48</a:t>
            </a:fld>
            <a:endParaRPr lang="en-US" altLang="zh-CN"/>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p:spPr>
        <p:txBody>
          <a:bodyPr/>
          <a:lstStyle/>
          <a:p>
            <a:pPr algn="just" eaLnBrk="1" hangingPunct="1"/>
            <a:r>
              <a:rPr lang="zh-CN" altLang="en-US" b="1" dirty="0"/>
              <a:t> </a:t>
            </a:r>
            <a:endParaRPr lang="zh-CN" altLang="en-US" dirty="0"/>
          </a:p>
          <a:p>
            <a:pPr algn="just" eaLnBrk="1" hangingPunct="1"/>
            <a:r>
              <a:rPr lang="zh-CN" altLang="en-US" dirty="0"/>
              <a:t> </a:t>
            </a:r>
          </a:p>
          <a:p>
            <a:pPr algn="just" eaLnBrk="1" hangingPunct="1"/>
            <a:r>
              <a:rPr lang="zh-CN" altLang="en-US" dirty="0"/>
              <a:t> </a:t>
            </a:r>
          </a:p>
          <a:p>
            <a:pPr algn="just" eaLnBrk="1" hangingPunct="1"/>
            <a:r>
              <a:rPr lang="zh-CN" altLang="en-US" dirty="0"/>
              <a:t> </a:t>
            </a:r>
          </a:p>
          <a:p>
            <a:pPr algn="just" eaLnBrk="1" hangingPunct="1"/>
            <a:r>
              <a:rPr lang="zh-CN" altLang="en-US" dirty="0"/>
              <a:t> </a:t>
            </a:r>
          </a:p>
          <a:p>
            <a:pPr eaLnBrk="1" hangingPunct="1"/>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13"/>
          <p:cNvSpPr txBox="1">
            <a:spLocks noChangeArrowheads="1"/>
          </p:cNvSpPr>
          <p:nvPr userDrawn="1"/>
        </p:nvSpPr>
        <p:spPr bwMode="auto">
          <a:xfrm>
            <a:off x="0" y="0"/>
            <a:ext cx="5580063" cy="579438"/>
          </a:xfrm>
          <a:prstGeom prst="rect">
            <a:avLst/>
          </a:prstGeom>
          <a:noFill/>
          <a:ln w="9525">
            <a:noFill/>
            <a:miter lim="800000"/>
          </a:ln>
          <a:effectLst/>
        </p:spPr>
        <p:txBody>
          <a:bodyPr>
            <a:spAutoFit/>
          </a:bodyPr>
          <a:lstStyle/>
          <a:p>
            <a:pPr algn="l">
              <a:spcBef>
                <a:spcPct val="50000"/>
              </a:spcBef>
              <a:defRPr/>
            </a:pPr>
            <a:r>
              <a:rPr lang="zh-CN" altLang="en-US" sz="3200">
                <a:solidFill>
                  <a:srgbClr val="990000"/>
                </a:solidFill>
                <a:ea typeface="隶书" panose="02010509060101010101" pitchFamily="49" charset="-122"/>
              </a:rPr>
              <a:t>第</a:t>
            </a:r>
            <a:r>
              <a:rPr lang="en-GB" altLang="zh-CN" sz="3200">
                <a:solidFill>
                  <a:srgbClr val="990000"/>
                </a:solidFill>
                <a:ea typeface="隶书" panose="02010509060101010101" pitchFamily="49" charset="-122"/>
              </a:rPr>
              <a:t>3</a:t>
            </a:r>
            <a:r>
              <a:rPr lang="zh-CN" altLang="en-US" sz="3200">
                <a:solidFill>
                  <a:srgbClr val="990000"/>
                </a:solidFill>
                <a:ea typeface="隶书" panose="02010509060101010101" pitchFamily="49" charset="-122"/>
              </a:rPr>
              <a:t>章 整合项目资源</a:t>
            </a:r>
          </a:p>
        </p:txBody>
      </p:sp>
      <p:sp>
        <p:nvSpPr>
          <p:cNvPr id="3" name="Line 14"/>
          <p:cNvSpPr>
            <a:spLocks noChangeShapeType="1"/>
          </p:cNvSpPr>
          <p:nvPr userDrawn="1"/>
        </p:nvSpPr>
        <p:spPr bwMode="auto">
          <a:xfrm>
            <a:off x="0" y="6381750"/>
            <a:ext cx="9144000" cy="0"/>
          </a:xfrm>
          <a:prstGeom prst="line">
            <a:avLst/>
          </a:prstGeom>
          <a:noFill/>
          <a:ln w="127000" cmpd="thinThick">
            <a:solidFill>
              <a:srgbClr val="CC9900"/>
            </a:solidFill>
            <a:round/>
          </a:ln>
          <a:effectLst/>
        </p:spPr>
        <p:txBody>
          <a:bodyPr wrap="none" anchor="ctr"/>
          <a:lstStyle/>
          <a:p>
            <a:pPr>
              <a:defRPr/>
            </a:pPr>
            <a:endParaRPr lang="zh-CN" altLang="en-US"/>
          </a:p>
        </p:txBody>
      </p:sp>
      <p:sp>
        <p:nvSpPr>
          <p:cNvPr id="4" name="Rectangle 9"/>
          <p:cNvSpPr>
            <a:spLocks noGrp="1" noChangeArrowheads="1"/>
          </p:cNvSpPr>
          <p:nvPr>
            <p:ph type="sldNum" sz="quarter" idx="10"/>
          </p:nvPr>
        </p:nvSpPr>
        <p:spPr bwMode="auto">
          <a:xfrm>
            <a:off x="7491442" y="6500834"/>
            <a:ext cx="1295400" cy="260350"/>
          </a:xfrm>
          <a:prstGeom prst="rect">
            <a:avLst/>
          </a:prstGeom>
          <a:ln>
            <a:miter lim="800000"/>
          </a:ln>
        </p:spPr>
        <p:txBody>
          <a:bodyPr vert="horz" wrap="square" lIns="92075" tIns="46038" rIns="92075" bIns="46038" numCol="1" anchor="ctr" anchorCtr="0" compatLnSpc="1"/>
          <a:lstStyle>
            <a:lvl1pPr algn="r">
              <a:defRPr kumimoji="0" sz="2000">
                <a:solidFill>
                  <a:schemeClr val="bg2"/>
                </a:solidFill>
                <a:ea typeface="楷体_GB2312" pitchFamily="49" charset="-122"/>
              </a:defRPr>
            </a:lvl1pPr>
          </a:lstStyle>
          <a:p>
            <a:pPr>
              <a:defRPr/>
            </a:pPr>
            <a:r>
              <a:rPr lang="zh-CN" altLang="en-GB" dirty="0"/>
              <a:t>  </a:t>
            </a:r>
            <a:fld id="{E16E6EB8-36A1-4BDD-ACFB-DB859E03C0BB}" type="slidenum">
              <a:rPr lang="zh-CN" altLang="en-GB" smtClean="0"/>
              <a:t>‹#›</a:t>
            </a:fld>
            <a:endParaRPr lang="en-US" altLang="zh-CN" dirty="0"/>
          </a:p>
        </p:txBody>
      </p:sp>
      <p:sp>
        <p:nvSpPr>
          <p:cNvPr id="5" name="Rectangle 9"/>
          <p:cNvSpPr txBox="1">
            <a:spLocks noChangeArrowheads="1"/>
          </p:cNvSpPr>
          <p:nvPr userDrawn="1"/>
        </p:nvSpPr>
        <p:spPr bwMode="auto">
          <a:xfrm>
            <a:off x="7848632" y="6526236"/>
            <a:ext cx="1295400" cy="260350"/>
          </a:xfrm>
          <a:prstGeom prst="rect">
            <a:avLst/>
          </a:prstGeom>
          <a:ln>
            <a:miter lim="800000"/>
          </a:ln>
        </p:spPr>
        <p:txBody>
          <a:bodyPr vert="horz" wrap="square" lIns="92075" tIns="46038" rIns="92075" bIns="46038" numCol="1" anchor="ctr" anchorCtr="0" compatLnSpc="1"/>
          <a:lstStyle>
            <a:lvl1pPr algn="r">
              <a:defRPr kumimoji="0" sz="2000">
                <a:solidFill>
                  <a:schemeClr val="bg2"/>
                </a:solidFill>
                <a:ea typeface="楷体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GB" altLang="zh-CN" sz="2000" b="1" i="0" u="none" strike="noStrike" kern="1200" cap="none" spc="0" normalizeH="0" baseline="0" noProof="0">
                <a:ln>
                  <a:noFill/>
                </a:ln>
                <a:solidFill>
                  <a:schemeClr val="bg2"/>
                </a:solidFill>
                <a:effectLst/>
                <a:uLnTx/>
                <a:uFillTx/>
                <a:latin typeface="Times New Roman" panose="02020603050405020304" pitchFamily="18" charset="0"/>
                <a:ea typeface="楷体_GB2312" pitchFamily="49" charset="-122"/>
                <a:cs typeface="+mn-cs"/>
              </a:rPr>
              <a:t>/48</a:t>
            </a:r>
            <a:endParaRPr kumimoji="0" lang="en-US" altLang="zh-CN" sz="2000" b="1" i="0" u="none" strike="noStrike" kern="1200" cap="none" spc="0" normalizeH="0" baseline="0" noProof="0" dirty="0">
              <a:ln>
                <a:noFill/>
              </a:ln>
              <a:solidFill>
                <a:schemeClr val="bg2"/>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fld id="{D40114D1-3600-469A-B445-103D8AB5A9E1}" type="datetime7">
              <a:rPr lang="zh-CN" altLang="en-US"/>
              <a:t>24.4.1</a:t>
            </a:fld>
            <a:endParaRPr lang="zh-CN"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78853" name="Rectangle 5"/>
          <p:cNvSpPr>
            <a:spLocks noGrp="1" noChangeArrowheads="1"/>
          </p:cNvSpPr>
          <p:nvPr>
            <p:ph type="title"/>
          </p:nvPr>
        </p:nvSpPr>
        <p:spPr bwMode="auto">
          <a:xfrm>
            <a:off x="685800" y="609600"/>
            <a:ext cx="7772400" cy="1143000"/>
          </a:xfrm>
          <a:prstGeom prst="rect">
            <a:avLst/>
          </a:prstGeom>
          <a:noFill/>
          <a:ln w="9525">
            <a:noFill/>
            <a:miter lim="800000"/>
          </a:ln>
          <a:effectLst/>
        </p:spPr>
        <p:txBody>
          <a:bodyPr vert="horz" wrap="square" lIns="92075" tIns="46038" rIns="92075" bIns="46038" numCol="1" anchor="ctr" anchorCtr="0" compatLnSpc="1"/>
          <a:lstStyle/>
          <a:p>
            <a:pPr lvl="0"/>
            <a:r>
              <a:rPr lang="zh-CN" altLang="en-US"/>
              <a:t>单击此处编辑母版标题样式</a:t>
            </a:r>
          </a:p>
        </p:txBody>
      </p:sp>
      <p:sp>
        <p:nvSpPr>
          <p:cNvPr id="78854" name="Rectangle 6"/>
          <p:cNvSpPr>
            <a:spLocks noGrp="1" noChangeArrowheads="1"/>
          </p:cNvSpPr>
          <p:nvPr>
            <p:ph type="dt" sz="half" idx="2"/>
          </p:nvPr>
        </p:nvSpPr>
        <p:spPr bwMode="auto">
          <a:xfrm>
            <a:off x="6084888" y="6021388"/>
            <a:ext cx="2662237" cy="720725"/>
          </a:xfrm>
          <a:prstGeom prst="rect">
            <a:avLst/>
          </a:prstGeom>
          <a:noFill/>
          <a:ln w="9525">
            <a:noFill/>
            <a:miter lim="800000"/>
          </a:ln>
          <a:effectLst/>
        </p:spPr>
        <p:txBody>
          <a:bodyPr vert="horz" wrap="square" lIns="92075" tIns="46038" rIns="92075" bIns="46038" numCol="1" anchor="ctr" anchorCtr="0" compatLnSpc="1"/>
          <a:lstStyle>
            <a:lvl1pPr algn="r">
              <a:defRPr kumimoji="0" sz="2000">
                <a:solidFill>
                  <a:schemeClr val="bg2"/>
                </a:solidFill>
              </a:defRPr>
            </a:lvl1pPr>
          </a:lstStyle>
          <a:p>
            <a:pPr>
              <a:defRPr/>
            </a:pPr>
            <a:fld id="{DF7CEC04-3F66-420F-B80F-C216CB7BD0AB}" type="datetime7">
              <a:rPr lang="zh-CN" altLang="en-US"/>
              <a:t>24.4.1</a:t>
            </a:fld>
            <a:endParaRPr lang="zh-CN"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Lst>
  <p:hf sldNum="0" hdr="0" ftr="0"/>
  <p:txStyles>
    <p:titleStyle>
      <a:lvl1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172041" name="Text Box 2057"/>
          <p:cNvSpPr txBox="1">
            <a:spLocks noChangeArrowheads="1"/>
          </p:cNvSpPr>
          <p:nvPr/>
        </p:nvSpPr>
        <p:spPr bwMode="auto">
          <a:xfrm>
            <a:off x="2662238" y="4578350"/>
            <a:ext cx="6481762" cy="579438"/>
          </a:xfrm>
          <a:prstGeom prst="rect">
            <a:avLst/>
          </a:prstGeom>
          <a:noFill/>
          <a:ln w="9525">
            <a:noFill/>
            <a:miter lim="800000"/>
          </a:ln>
          <a:effectLst/>
        </p:spPr>
        <p:txBody>
          <a:bodyPr>
            <a:spAutoFit/>
          </a:bodyPr>
          <a:lstStyle/>
          <a:p>
            <a:pPr algn="r">
              <a:spcBef>
                <a:spcPct val="50000"/>
              </a:spcBef>
              <a:defRPr/>
            </a:pPr>
            <a:r>
              <a:rPr lang="zh-CN" altLang="en-US" sz="3200" dirty="0">
                <a:solidFill>
                  <a:srgbClr val="990000"/>
                </a:solidFill>
                <a:effectLst>
                  <a:outerShdw blurRad="38100" dist="38100" dir="2700000" algn="tl">
                    <a:srgbClr val="000000"/>
                  </a:outerShdw>
                </a:effectLst>
                <a:latin typeface="楷体" panose="02010609060101010101" pitchFamily="49" charset="-122"/>
                <a:ea typeface="楷体" panose="02010609060101010101" pitchFamily="49" charset="-122"/>
              </a:rPr>
              <a:t>第三章 整合项目资源</a:t>
            </a:r>
          </a:p>
        </p:txBody>
      </p:sp>
      <p:grpSp>
        <p:nvGrpSpPr>
          <p:cNvPr id="18" name="组合 17"/>
          <p:cNvGrpSpPr/>
          <p:nvPr/>
        </p:nvGrpSpPr>
        <p:grpSpPr bwMode="auto">
          <a:xfrm>
            <a:off x="3857625" y="2286000"/>
            <a:ext cx="5106863" cy="1758950"/>
            <a:chOff x="3857620" y="2071678"/>
            <a:chExt cx="5106866" cy="1759691"/>
          </a:xfrm>
        </p:grpSpPr>
        <p:sp>
          <p:nvSpPr>
            <p:cNvPr id="19" name="Rectangle 2055"/>
            <p:cNvSpPr>
              <a:spLocks noChangeArrowheads="1"/>
            </p:cNvSpPr>
            <p:nvPr/>
          </p:nvSpPr>
          <p:spPr bwMode="auto">
            <a:xfrm>
              <a:off x="4357683" y="2071678"/>
              <a:ext cx="4606803" cy="923719"/>
            </a:xfrm>
            <a:prstGeom prst="rect">
              <a:avLst/>
            </a:prstGeom>
            <a:noFill/>
            <a:ln w="9525">
              <a:noFill/>
              <a:miter lim="800000"/>
            </a:ln>
            <a:effectLst>
              <a:outerShdw blurRad="50800" dist="50800" dir="5400000" algn="ctr" rotWithShape="0">
                <a:srgbClr val="EAEAEA"/>
              </a:outerShdw>
            </a:effectLst>
          </p:spPr>
          <p:txBody>
            <a:bodyPr wrap="square">
              <a:spAutoFit/>
            </a:bodyPr>
            <a:lstStyle/>
            <a:p>
              <a:pPr algn="l">
                <a:spcBef>
                  <a:spcPct val="55000"/>
                </a:spcBef>
                <a:defRPr/>
              </a:pPr>
              <a:r>
                <a:rPr lang="en-US" altLang="zh-CN" sz="5400" b="1" spc="800" dirty="0">
                  <a:solidFill>
                    <a:schemeClr val="bg2"/>
                  </a:solidFill>
                  <a:effectLst>
                    <a:outerShdw blurRad="38100" dist="38100" dir="2700000" algn="tl">
                      <a:srgbClr val="000000">
                        <a:alpha val="43137"/>
                      </a:srgbClr>
                    </a:outerShdw>
                  </a:effectLst>
                  <a:latin typeface="+mn-lt"/>
                  <a:ea typeface="楷体" panose="02010609060101010101" pitchFamily="49" charset="-122"/>
                </a:rPr>
                <a:t>IT</a:t>
              </a:r>
              <a:r>
                <a:rPr lang="zh-CN" altLang="en-US" sz="5400" b="1" spc="800"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项目管理</a:t>
              </a:r>
              <a:endParaRPr lang="zh-CN" altLang="en-US" sz="8000" b="1" dirty="0">
                <a:solidFill>
                  <a:schemeClr val="hlink"/>
                </a:solidFill>
                <a:effectLst>
                  <a:outerShdw blurRad="38100" dist="38100" dir="2700000" algn="tl">
                    <a:srgbClr val="000000"/>
                  </a:outerShdw>
                </a:effectLst>
                <a:latin typeface="楷体" panose="02010609060101010101" pitchFamily="49" charset="-122"/>
                <a:ea typeface="楷体" panose="02010609060101010101" pitchFamily="49" charset="-122"/>
              </a:endParaRPr>
            </a:p>
          </p:txBody>
        </p:sp>
        <p:sp>
          <p:nvSpPr>
            <p:cNvPr id="20" name="矩形 19"/>
            <p:cNvSpPr/>
            <p:nvPr/>
          </p:nvSpPr>
          <p:spPr>
            <a:xfrm>
              <a:off x="3857620" y="3000757"/>
              <a:ext cx="5072066" cy="830612"/>
            </a:xfrm>
            <a:prstGeom prst="rect">
              <a:avLst/>
            </a:prstGeom>
          </p:spPr>
          <p:txBody>
            <a:bodyPr>
              <a:spAutoFit/>
            </a:bodyPr>
            <a:lstStyle/>
            <a:p>
              <a:pPr>
                <a:defRPr/>
              </a:pPr>
              <a:r>
                <a:rPr lang="en-US" altLang="zh-CN" sz="2400" dirty="0">
                  <a:solidFill>
                    <a:srgbClr val="000000"/>
                  </a:solidFill>
                  <a:effectLst>
                    <a:outerShdw blurRad="38100" dist="38100" dir="2700000" algn="tl">
                      <a:srgbClr val="FFFFFF"/>
                    </a:outerShdw>
                  </a:effectLst>
                  <a:latin typeface="+mn-lt"/>
                  <a:ea typeface="宋体" panose="02010600030101010101" pitchFamily="2" charset="-122"/>
                </a:rPr>
                <a:t>Information    Technology  </a:t>
              </a:r>
            </a:p>
            <a:p>
              <a:pPr>
                <a:defRPr/>
              </a:pPr>
              <a:r>
                <a:rPr lang="en-US" altLang="zh-CN" sz="2400" dirty="0">
                  <a:solidFill>
                    <a:srgbClr val="000000"/>
                  </a:solidFill>
                  <a:effectLst>
                    <a:outerShdw blurRad="38100" dist="38100" dir="2700000" algn="tl">
                      <a:srgbClr val="FFFFFF"/>
                    </a:outerShdw>
                  </a:effectLst>
                  <a:latin typeface="+mn-lt"/>
                  <a:ea typeface="宋体" panose="02010600030101010101" pitchFamily="2" charset="-122"/>
                </a:rPr>
                <a:t>  Project   Management</a:t>
              </a:r>
              <a:endParaRPr lang="zh-CN" altLang="en-US" sz="2400" dirty="0">
                <a:solidFill>
                  <a:srgbClr val="000000"/>
                </a:solidFill>
                <a:effectLst>
                  <a:outerShdw blurRad="38100" dist="38100" dir="2700000" algn="tl">
                    <a:srgbClr val="FFFFFF"/>
                  </a:outerShdw>
                </a:effectLst>
                <a:latin typeface="+mn-lt"/>
                <a:ea typeface="宋体" panose="02010600030101010101" pitchFamily="2"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9"/>
          <p:cNvSpPr>
            <a:spLocks noGrp="1" noChangeArrowheads="1"/>
          </p:cNvSpPr>
          <p:nvPr>
            <p:ph type="sldNum" sz="quarter" idx="10"/>
          </p:nvPr>
        </p:nvSpPr>
        <p:spPr>
          <a:noFill/>
        </p:spPr>
        <p:txBody>
          <a:bodyPr/>
          <a:lstStyle/>
          <a:p>
            <a:r>
              <a:rPr lang="zh-CN" altLang="en-GB" dirty="0"/>
              <a:t>  </a:t>
            </a:r>
            <a:fld id="{DA69144D-F752-45E8-B58A-4A28CDF5144E}" type="slidenum">
              <a:rPr lang="zh-CN" altLang="en-GB" smtClean="0"/>
              <a:t>2</a:t>
            </a:fld>
            <a:endParaRPr lang="en-US" altLang="zh-CN" dirty="0"/>
          </a:p>
        </p:txBody>
      </p:sp>
      <p:sp>
        <p:nvSpPr>
          <p:cNvPr id="512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512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5125" name="Text Box 4"/>
          <p:cNvSpPr txBox="1">
            <a:spLocks noChangeArrowheads="1"/>
          </p:cNvSpPr>
          <p:nvPr/>
        </p:nvSpPr>
        <p:spPr bwMode="auto">
          <a:xfrm>
            <a:off x="107981" y="1285860"/>
            <a:ext cx="8893175" cy="4892675"/>
          </a:xfrm>
          <a:prstGeom prst="rect">
            <a:avLst/>
          </a:prstGeom>
          <a:noFill/>
          <a:ln w="28575">
            <a:noFill/>
            <a:miter lim="800000"/>
          </a:ln>
        </p:spPr>
        <p:txBody>
          <a:bodyPr wrap="square">
            <a:spAutoFit/>
          </a:bodyPr>
          <a:lstStyle/>
          <a:p>
            <a:pPr algn="l">
              <a:spcBef>
                <a:spcPts val="600"/>
              </a:spcBef>
              <a:spcAft>
                <a:spcPts val="600"/>
              </a:spcAft>
              <a:buClr>
                <a:srgbClr val="990000"/>
              </a:buClr>
            </a:pPr>
            <a:r>
              <a:rPr kumimoji="0" lang="en-US" altLang="zh-CN" dirty="0">
                <a:solidFill>
                  <a:schemeClr val="bg2"/>
                </a:solidFill>
                <a:ea typeface="楷体" panose="02010609060101010101" pitchFamily="49" charset="-122"/>
                <a:cs typeface="Times New Roman" panose="02020603050405020304" pitchFamily="18" charset="0"/>
              </a:rPr>
              <a:t>IT</a:t>
            </a:r>
            <a:r>
              <a:rPr kumimoji="0" lang="zh-CN" altLang="en-US" dirty="0">
                <a:solidFill>
                  <a:schemeClr val="bg2"/>
                </a:solidFill>
                <a:latin typeface="楷体" panose="02010609060101010101" pitchFamily="49" charset="-122"/>
                <a:ea typeface="楷体" panose="02010609060101010101" pitchFamily="49" charset="-122"/>
              </a:rPr>
              <a:t>项目人员应该将</a:t>
            </a:r>
            <a:r>
              <a:rPr kumimoji="0" lang="zh-CN" altLang="en-US" dirty="0">
                <a:solidFill>
                  <a:srgbClr val="FF0000"/>
                </a:solidFill>
                <a:latin typeface="楷体" panose="02010609060101010101" pitchFamily="49" charset="-122"/>
                <a:ea typeface="楷体" panose="02010609060101010101" pitchFamily="49" charset="-122"/>
              </a:rPr>
              <a:t>对组织战略计划的理解</a:t>
            </a:r>
            <a:r>
              <a:rPr kumimoji="0" lang="zh-CN" altLang="en-US" dirty="0">
                <a:solidFill>
                  <a:schemeClr val="bg2"/>
                </a:solidFill>
                <a:latin typeface="楷体" panose="02010609060101010101" pitchFamily="49" charset="-122"/>
                <a:ea typeface="楷体" panose="02010609060101010101" pitchFamily="49" charset="-122"/>
              </a:rPr>
              <a:t>放在</a:t>
            </a:r>
            <a:r>
              <a:rPr kumimoji="0" lang="zh-CN" altLang="en-US" dirty="0">
                <a:solidFill>
                  <a:schemeClr val="bg1"/>
                </a:solidFill>
                <a:latin typeface="楷体" panose="02010609060101010101" pitchFamily="49" charset="-122"/>
                <a:ea typeface="楷体" panose="02010609060101010101" pitchFamily="49" charset="-122"/>
              </a:rPr>
              <a:t>首要位置</a:t>
            </a:r>
            <a:r>
              <a:rPr kumimoji="0" lang="zh-CN" altLang="en-US" dirty="0">
                <a:solidFill>
                  <a:schemeClr val="bg2"/>
                </a:solidFill>
                <a:latin typeface="楷体" panose="02010609060101010101" pitchFamily="49" charset="-122"/>
                <a:ea typeface="楷体" panose="02010609060101010101" pitchFamily="49" charset="-122"/>
              </a:rPr>
              <a:t>。</a:t>
            </a:r>
            <a:endParaRPr lang="zh-CN" altLang="en-US"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rgbClr val="990000"/>
              </a:buClr>
            </a:pPr>
            <a:r>
              <a:rPr lang="zh-CN" altLang="en-US" dirty="0">
                <a:solidFill>
                  <a:srgbClr val="FF0000"/>
                </a:solidFill>
                <a:latin typeface="楷体" panose="02010609060101010101" pitchFamily="49" charset="-122"/>
                <a:ea typeface="楷体" panose="02010609060101010101" pitchFamily="49" charset="-122"/>
              </a:rPr>
              <a:t>系统方法</a:t>
            </a:r>
            <a:r>
              <a:rPr lang="zh-CN" altLang="en-US" dirty="0">
                <a:solidFill>
                  <a:schemeClr val="bg2"/>
                </a:solidFill>
                <a:latin typeface="楷体" panose="02010609060101010101" pitchFamily="49" charset="-122"/>
                <a:ea typeface="楷体" panose="02010609060101010101" pitchFamily="49" charset="-122"/>
              </a:rPr>
              <a:t>包括</a:t>
            </a:r>
            <a:r>
              <a:rPr lang="zh-CN" altLang="en-US" dirty="0">
                <a:solidFill>
                  <a:schemeClr val="bg1"/>
                </a:solidFill>
                <a:latin typeface="楷体" panose="02010609060101010101" pitchFamily="49" charset="-122"/>
                <a:ea typeface="楷体" panose="02010609060101010101" pitchFamily="49" charset="-122"/>
              </a:rPr>
              <a:t>系统观念</a:t>
            </a:r>
            <a:r>
              <a:rPr lang="zh-CN" altLang="en-US" dirty="0">
                <a:solidFill>
                  <a:schemeClr val="bg2"/>
                </a:solidFill>
                <a:latin typeface="楷体" panose="02010609060101010101" pitchFamily="49" charset="-122"/>
                <a:ea typeface="楷体" panose="02010609060101010101" pitchFamily="49" charset="-122"/>
              </a:rPr>
              <a:t>、</a:t>
            </a:r>
            <a:r>
              <a:rPr lang="zh-CN" altLang="en-US" dirty="0">
                <a:solidFill>
                  <a:schemeClr val="bg1"/>
                </a:solidFill>
                <a:latin typeface="楷体" panose="02010609060101010101" pitchFamily="49" charset="-122"/>
                <a:ea typeface="楷体" panose="02010609060101010101" pitchFamily="49" charset="-122"/>
              </a:rPr>
              <a:t>系统分析</a:t>
            </a:r>
            <a:r>
              <a:rPr lang="zh-CN" altLang="en-US" dirty="0">
                <a:solidFill>
                  <a:schemeClr val="bg2"/>
                </a:solidFill>
                <a:latin typeface="楷体" panose="02010609060101010101" pitchFamily="49" charset="-122"/>
                <a:ea typeface="楷体" panose="02010609060101010101" pitchFamily="49" charset="-122"/>
              </a:rPr>
              <a:t>和</a:t>
            </a:r>
            <a:r>
              <a:rPr lang="zh-CN" altLang="en-US" dirty="0">
                <a:solidFill>
                  <a:schemeClr val="bg1"/>
                </a:solidFill>
                <a:latin typeface="楷体" panose="02010609060101010101" pitchFamily="49" charset="-122"/>
                <a:ea typeface="楷体" panose="02010609060101010101" pitchFamily="49" charset="-122"/>
              </a:rPr>
              <a:t>系统管理</a:t>
            </a:r>
            <a:r>
              <a:rPr lang="zh-CN" altLang="en-US" dirty="0">
                <a:solidFill>
                  <a:schemeClr val="bg2"/>
                </a:solidFill>
                <a:latin typeface="楷体" panose="02010609060101010101" pitchFamily="49" charset="-122"/>
                <a:ea typeface="楷体" panose="02010609060101010101" pitchFamily="49" charset="-122"/>
              </a:rPr>
              <a:t>三个方面。</a:t>
            </a:r>
          </a:p>
          <a:p>
            <a:pPr algn="l">
              <a:spcBef>
                <a:spcPts val="600"/>
              </a:spcBef>
              <a:spcAft>
                <a:spcPts val="600"/>
              </a:spcAft>
              <a:buClr>
                <a:srgbClr val="990000"/>
              </a:buClr>
            </a:pPr>
            <a:r>
              <a:rPr lang="zh-CN" altLang="en-US" dirty="0">
                <a:solidFill>
                  <a:schemeClr val="bg2"/>
                </a:solidFill>
                <a:latin typeface="楷体" panose="02010609060101010101" pitchFamily="49" charset="-122"/>
                <a:ea typeface="楷体" panose="02010609060101010101" pitchFamily="49" charset="-122"/>
              </a:rPr>
              <a:t>项目的</a:t>
            </a:r>
            <a:r>
              <a:rPr lang="zh-CN" altLang="en-US" dirty="0">
                <a:solidFill>
                  <a:srgbClr val="FF0000"/>
                </a:solidFill>
                <a:ea typeface="楷体" panose="02010609060101010101" pitchFamily="49" charset="-122"/>
                <a:cs typeface="Times New Roman" panose="02020603050405020304" pitchFamily="18" charset="0"/>
              </a:rPr>
              <a:t>4</a:t>
            </a:r>
            <a:r>
              <a:rPr lang="zh-CN" altLang="en-US" dirty="0">
                <a:solidFill>
                  <a:srgbClr val="FF0000"/>
                </a:solidFill>
                <a:latin typeface="楷体" panose="02010609060101010101" pitchFamily="49" charset="-122"/>
                <a:ea typeface="楷体" panose="02010609060101010101" pitchFamily="49" charset="-122"/>
              </a:rPr>
              <a:t>个阶段</a:t>
            </a:r>
            <a:r>
              <a:rPr lang="zh-CN" altLang="en-US" dirty="0">
                <a:solidFill>
                  <a:schemeClr val="bg2"/>
                </a:solidFill>
                <a:latin typeface="楷体" panose="02010609060101010101" pitchFamily="49" charset="-122"/>
                <a:ea typeface="楷体" panose="02010609060101010101" pitchFamily="49" charset="-122"/>
              </a:rPr>
              <a:t>和项目生命周期特征</a:t>
            </a:r>
          </a:p>
          <a:p>
            <a:pPr algn="l">
              <a:spcBef>
                <a:spcPts val="600"/>
              </a:spcBef>
              <a:spcAft>
                <a:spcPts val="600"/>
              </a:spcAft>
              <a:buClr>
                <a:srgbClr val="990000"/>
              </a:buClr>
            </a:pPr>
            <a:r>
              <a:rPr lang="zh-CN" altLang="en-US" dirty="0">
                <a:solidFill>
                  <a:schemeClr val="bg2"/>
                </a:solidFill>
                <a:latin typeface="楷体" panose="02010609060101010101" pitchFamily="49" charset="-122"/>
                <a:ea typeface="楷体" panose="02010609060101010101" pitchFamily="49" charset="-122"/>
              </a:rPr>
              <a:t>组织的结构与组织文化对项目组织的影响</a:t>
            </a:r>
          </a:p>
          <a:p>
            <a:pPr algn="l">
              <a:spcBef>
                <a:spcPts val="600"/>
              </a:spcBef>
              <a:spcAft>
                <a:spcPts val="600"/>
              </a:spcAft>
              <a:buClr>
                <a:srgbClr val="990000"/>
              </a:buClr>
            </a:pPr>
            <a:r>
              <a:rPr lang="zh-CN" altLang="en-US" dirty="0">
                <a:solidFill>
                  <a:schemeClr val="bg2"/>
                </a:solidFill>
                <a:latin typeface="楷体" panose="02010609060101010101" pitchFamily="49" charset="-122"/>
                <a:ea typeface="楷体" panose="02010609060101010101" pitchFamily="49" charset="-122"/>
              </a:rPr>
              <a:t>项目管理的</a:t>
            </a:r>
            <a:r>
              <a:rPr lang="zh-CN" altLang="en-US" dirty="0">
                <a:solidFill>
                  <a:srgbClr val="FF0000"/>
                </a:solidFill>
                <a:latin typeface="+mn-lt"/>
                <a:ea typeface="楷体" panose="02010609060101010101" pitchFamily="49" charset="-122"/>
                <a:cs typeface="+mn-lt"/>
              </a:rPr>
              <a:t>5</a:t>
            </a:r>
            <a:r>
              <a:rPr lang="zh-CN" altLang="en-US" dirty="0">
                <a:solidFill>
                  <a:srgbClr val="FF0000"/>
                </a:solidFill>
                <a:latin typeface="楷体" panose="02010609060101010101" pitchFamily="49" charset="-122"/>
                <a:ea typeface="楷体" panose="02010609060101010101" pitchFamily="49" charset="-122"/>
              </a:rPr>
              <a:t>个过程组</a:t>
            </a:r>
            <a:r>
              <a:rPr lang="zh-CN" altLang="en-US" dirty="0">
                <a:solidFill>
                  <a:schemeClr val="bg2"/>
                </a:solidFill>
                <a:latin typeface="楷体" panose="02010609060101010101" pitchFamily="49" charset="-122"/>
                <a:ea typeface="楷体" panose="02010609060101010101" pitchFamily="49" charset="-122"/>
              </a:rPr>
              <a:t>和</a:t>
            </a:r>
            <a:r>
              <a:rPr lang="en-US" altLang="zh-CN" dirty="0">
                <a:solidFill>
                  <a:schemeClr val="bg2"/>
                </a:solidFill>
                <a:ea typeface="楷体" panose="02010609060101010101" pitchFamily="49" charset="-122"/>
                <a:cs typeface="Times New Roman" panose="02020603050405020304" pitchFamily="18" charset="0"/>
              </a:rPr>
              <a:t>47</a:t>
            </a:r>
            <a:r>
              <a:rPr lang="zh-CN" altLang="en-US" dirty="0">
                <a:solidFill>
                  <a:schemeClr val="bg2"/>
                </a:solidFill>
                <a:latin typeface="楷体" panose="02010609060101010101" pitchFamily="49" charset="-122"/>
                <a:ea typeface="楷体" panose="02010609060101010101" pitchFamily="49" charset="-122"/>
              </a:rPr>
              <a:t>个过程</a:t>
            </a:r>
          </a:p>
          <a:p>
            <a:pPr algn="l">
              <a:spcBef>
                <a:spcPts val="600"/>
              </a:spcBef>
              <a:spcAft>
                <a:spcPts val="600"/>
              </a:spcAft>
              <a:buClr>
                <a:srgbClr val="990000"/>
              </a:buClr>
            </a:pPr>
            <a:r>
              <a:rPr lang="zh-CN" altLang="en-US" dirty="0">
                <a:solidFill>
                  <a:schemeClr val="bg2"/>
                </a:solidFill>
                <a:latin typeface="楷体" panose="02010609060101010101" pitchFamily="49" charset="-122"/>
                <a:ea typeface="楷体" panose="02010609060101010101" pitchFamily="49" charset="-122"/>
              </a:rPr>
              <a:t>一个</a:t>
            </a:r>
            <a:r>
              <a:rPr lang="en-US" altLang="zh-CN" dirty="0">
                <a:solidFill>
                  <a:schemeClr val="bg2"/>
                </a:solidFill>
                <a:latin typeface="+mn-lt"/>
                <a:ea typeface="楷体" panose="02010609060101010101" pitchFamily="49" charset="-122"/>
              </a:rPr>
              <a:t>IT</a:t>
            </a:r>
            <a:r>
              <a:rPr lang="zh-CN" altLang="en-GB" dirty="0">
                <a:solidFill>
                  <a:schemeClr val="bg2"/>
                </a:solidFill>
                <a:latin typeface="楷体" panose="02010609060101010101" pitchFamily="49" charset="-122"/>
                <a:ea typeface="楷体" panose="02010609060101010101" pitchFamily="49" charset="-122"/>
              </a:rPr>
              <a:t>项目的成功，</a:t>
            </a:r>
            <a:r>
              <a:rPr lang="zh-CN" altLang="en-GB" dirty="0">
                <a:solidFill>
                  <a:srgbClr val="0000FF"/>
                </a:solidFill>
                <a:ea typeface="楷体" panose="02010609060101010101" pitchFamily="49" charset="-122"/>
                <a:cs typeface="Times New Roman" panose="02020603050405020304" pitchFamily="18" charset="0"/>
              </a:rPr>
              <a:t>30</a:t>
            </a:r>
            <a:r>
              <a:rPr lang="zh-CN" altLang="en-GB" dirty="0">
                <a:solidFill>
                  <a:srgbClr val="0000FF"/>
                </a:solidFill>
                <a:latin typeface="楷体" panose="02010609060101010101" pitchFamily="49" charset="-122"/>
                <a:ea typeface="楷体" panose="02010609060101010101" pitchFamily="49" charset="-122"/>
              </a:rPr>
              <a:t>%靠个人的管理能力，</a:t>
            </a:r>
            <a:r>
              <a:rPr lang="zh-CN" altLang="en-GB" dirty="0">
                <a:solidFill>
                  <a:srgbClr val="0000FF"/>
                </a:solidFill>
                <a:ea typeface="楷体" panose="02010609060101010101" pitchFamily="49" charset="-122"/>
                <a:cs typeface="Times New Roman" panose="02020603050405020304" pitchFamily="18" charset="0"/>
              </a:rPr>
              <a:t>70</a:t>
            </a:r>
            <a:r>
              <a:rPr lang="zh-CN" altLang="en-GB" dirty="0">
                <a:solidFill>
                  <a:srgbClr val="0000FF"/>
                </a:solidFill>
                <a:latin typeface="楷体" panose="02010609060101010101" pitchFamily="49" charset="-122"/>
                <a:ea typeface="楷体" panose="02010609060101010101" pitchFamily="49" charset="-122"/>
              </a:rPr>
              <a:t>%取决于企业项目管理的制度和环境。</a:t>
            </a:r>
          </a:p>
          <a:p>
            <a:pPr algn="l">
              <a:spcBef>
                <a:spcPts val="600"/>
              </a:spcBef>
              <a:spcAft>
                <a:spcPts val="600"/>
              </a:spcAft>
              <a:buClr>
                <a:srgbClr val="990000"/>
              </a:buClr>
            </a:pPr>
            <a:r>
              <a:rPr lang="zh-CN" altLang="en-US" dirty="0">
                <a:solidFill>
                  <a:schemeClr val="bg2"/>
                </a:solidFill>
                <a:latin typeface="楷体" panose="02010609060101010101" pitchFamily="49" charset="-122"/>
                <a:ea typeface="楷体" panose="02010609060101010101" pitchFamily="49" charset="-122"/>
              </a:rPr>
              <a:t>项目经理必须具有充分利用好的环境、及时适用不利环境、不断调整恶劣环境的勇气和能力。</a:t>
            </a:r>
          </a:p>
        </p:txBody>
      </p:sp>
      <p:sp>
        <p:nvSpPr>
          <p:cNvPr id="5126"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zh-CN" sz="3000" dirty="0">
                <a:latin typeface="楷体" panose="02010609060101010101" pitchFamily="49" charset="-122"/>
                <a:ea typeface="楷体" panose="02010609060101010101" pitchFamily="49" charset="-122"/>
              </a:rPr>
              <a:t>【</a:t>
            </a:r>
            <a:r>
              <a:rPr kumimoji="0" lang="zh-CN" altLang="en-US" sz="3000" dirty="0">
                <a:latin typeface="楷体" panose="02010609060101010101" pitchFamily="49" charset="-122"/>
                <a:ea typeface="楷体" panose="02010609060101010101" pitchFamily="49" charset="-122"/>
              </a:rPr>
              <a:t>课程回顾</a:t>
            </a:r>
            <a:r>
              <a:rPr kumimoji="0" lang="en-US" altLang="zh-CN" sz="3000" dirty="0">
                <a:latin typeface="楷体" panose="02010609060101010101" pitchFamily="49" charset="-122"/>
                <a:ea typeface="楷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9"/>
          <p:cNvSpPr>
            <a:spLocks noGrp="1" noChangeArrowheads="1"/>
          </p:cNvSpPr>
          <p:nvPr>
            <p:ph type="sldNum" sz="quarter" idx="10"/>
          </p:nvPr>
        </p:nvSpPr>
        <p:spPr>
          <a:noFill/>
        </p:spPr>
        <p:txBody>
          <a:bodyPr/>
          <a:lstStyle/>
          <a:p>
            <a:r>
              <a:rPr lang="zh-CN" altLang="en-GB" dirty="0"/>
              <a:t>  </a:t>
            </a:r>
            <a:fld id="{EAEFC3E6-404A-422F-B62C-88ED9AA46779}" type="slidenum">
              <a:rPr lang="zh-CN" altLang="en-GB" smtClean="0"/>
              <a:t>3</a:t>
            </a:fld>
            <a:endParaRPr lang="en-US" altLang="zh-CN" dirty="0"/>
          </a:p>
        </p:txBody>
      </p:sp>
      <p:sp>
        <p:nvSpPr>
          <p:cNvPr id="71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7172"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7173" name="Text Box 4"/>
          <p:cNvSpPr txBox="1">
            <a:spLocks noChangeArrowheads="1"/>
          </p:cNvSpPr>
          <p:nvPr/>
        </p:nvSpPr>
        <p:spPr bwMode="auto">
          <a:xfrm>
            <a:off x="250825" y="1503363"/>
            <a:ext cx="8677275" cy="4276725"/>
          </a:xfrm>
          <a:prstGeom prst="rect">
            <a:avLst/>
          </a:prstGeom>
          <a:noFill/>
          <a:ln w="28575">
            <a:noFill/>
            <a:miter lim="800000"/>
          </a:ln>
        </p:spPr>
        <p:txBody>
          <a:bodyPr>
            <a:spAutoFit/>
          </a:bodyPr>
          <a:lstStyle/>
          <a:p>
            <a:pPr algn="l">
              <a:spcBef>
                <a:spcPts val="600"/>
              </a:spcBef>
              <a:spcAft>
                <a:spcPts val="600"/>
              </a:spcAft>
              <a:buClr>
                <a:schemeClr val="hlink"/>
              </a:buClr>
            </a:pPr>
            <a:r>
              <a:rPr lang="zh-CN" altLang="en-US" dirty="0">
                <a:solidFill>
                  <a:schemeClr val="bg2"/>
                </a:solidFill>
                <a:latin typeface="楷体" panose="02010609060101010101" pitchFamily="49" charset="-122"/>
                <a:ea typeface="楷体" panose="02010609060101010101" pitchFamily="49" charset="-122"/>
              </a:rPr>
              <a:t>项目整合管理是项目管理中一项综合性和全局性的管理工作，</a:t>
            </a:r>
            <a:r>
              <a:rPr lang="zh-CN" altLang="en-US">
                <a:solidFill>
                  <a:schemeClr val="bg2"/>
                </a:solidFill>
                <a:latin typeface="楷体" panose="02010609060101010101" pitchFamily="49" charset="-122"/>
                <a:ea typeface="楷体" panose="02010609060101010101" pitchFamily="49" charset="-122"/>
              </a:rPr>
              <a:t>在项目管理中</a:t>
            </a:r>
            <a:r>
              <a:rPr lang="zh-CN" altLang="en-US" dirty="0">
                <a:solidFill>
                  <a:schemeClr val="bg2"/>
                </a:solidFill>
                <a:latin typeface="楷体" panose="02010609060101010101" pitchFamily="49" charset="-122"/>
                <a:ea typeface="楷体" panose="02010609060101010101" pitchFamily="49" charset="-122"/>
              </a:rPr>
              <a:t>处于核心位置。</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许多</a:t>
            </a:r>
            <a:r>
              <a:rPr lang="en-US" altLang="en-US" dirty="0">
                <a:solidFill>
                  <a:schemeClr val="bg2"/>
                </a:solidFill>
                <a:ea typeface="楷体" panose="02010609060101010101" pitchFamily="49" charset="-122"/>
                <a:cs typeface="Times New Roman" panose="02020603050405020304" pitchFamily="18" charset="0"/>
              </a:rPr>
              <a:t>IT</a:t>
            </a:r>
            <a:r>
              <a:rPr lang="zh-CN" altLang="en-US" dirty="0">
                <a:solidFill>
                  <a:schemeClr val="bg2"/>
                </a:solidFill>
                <a:latin typeface="楷体" panose="02010609060101010101" pitchFamily="49" charset="-122"/>
                <a:ea typeface="楷体" panose="02010609060101010101" pitchFamily="49" charset="-122"/>
              </a:rPr>
              <a:t>项目经理在做项目时总感觉需要协调、整合各种各样的资源，却又无从下手，对许多事情好像身不由已，无法控制。项目管理必须着眼于整体以及系统各部分之间的相互作用。</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rgbClr val="0000FF"/>
                </a:solidFill>
                <a:latin typeface="楷体" panose="02010609060101010101" pitchFamily="49" charset="-122"/>
                <a:ea typeface="楷体" panose="02010609060101010101" pitchFamily="49" charset="-122"/>
              </a:rPr>
              <a:t>项目整合管理包括那些确保项目各要素相互协调所需要的过程，它牵涉到在竞争目标和方案选择中做出平衡，以满足或超出项目干系人的需求和期望。</a:t>
            </a:r>
          </a:p>
        </p:txBody>
      </p:sp>
      <p:sp>
        <p:nvSpPr>
          <p:cNvPr id="7174"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P.62</a:t>
            </a:r>
          </a:p>
        </p:txBody>
      </p:sp>
      <p:sp>
        <p:nvSpPr>
          <p:cNvPr id="7175"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zh-CN" sz="3000" dirty="0">
                <a:latin typeface="楷体" panose="02010609060101010101" pitchFamily="49" charset="-122"/>
                <a:ea typeface="楷体" panose="02010609060101010101" pitchFamily="49" charset="-122"/>
              </a:rPr>
              <a:t>【</a:t>
            </a:r>
            <a:r>
              <a:rPr kumimoji="0" lang="zh-CN" altLang="en-US" sz="3000" dirty="0">
                <a:latin typeface="楷体" panose="02010609060101010101" pitchFamily="49" charset="-122"/>
                <a:ea typeface="楷体" panose="02010609060101010101" pitchFamily="49" charset="-122"/>
              </a:rPr>
              <a:t>本章知识要点</a:t>
            </a:r>
            <a:r>
              <a:rPr kumimoji="0" lang="en-US" altLang="zh-CN" sz="3000" dirty="0">
                <a:latin typeface="楷体" panose="02010609060101010101" pitchFamily="49" charset="-122"/>
                <a:ea typeface="楷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dirty="0"/>
              <a:t>  </a:t>
            </a:r>
            <a:fld id="{D51FC065-C805-46B4-B4C4-26663B36C424}" type="slidenum">
              <a:rPr lang="zh-CN" altLang="en-GB" smtClean="0"/>
              <a:t>4</a:t>
            </a:fld>
            <a:endParaRPr lang="en-US" altLang="zh-CN" dirty="0"/>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8197" name="Text Box 4"/>
          <p:cNvSpPr txBox="1">
            <a:spLocks noChangeArrowheads="1"/>
          </p:cNvSpPr>
          <p:nvPr/>
        </p:nvSpPr>
        <p:spPr bwMode="auto">
          <a:xfrm>
            <a:off x="250825" y="1412875"/>
            <a:ext cx="8677275" cy="4708981"/>
          </a:xfrm>
          <a:prstGeom prst="rect">
            <a:avLst/>
          </a:prstGeom>
          <a:noFill/>
          <a:ln w="28575">
            <a:noFill/>
            <a:miter lim="800000"/>
          </a:ln>
        </p:spPr>
        <p:txBody>
          <a:bodyPr>
            <a:spAutoFit/>
          </a:bodyPr>
          <a:lstStyle/>
          <a:p>
            <a:pPr marL="457200" indent="-457200" algn="l">
              <a:spcBef>
                <a:spcPct val="50000"/>
              </a:spcBef>
              <a:buClr>
                <a:schemeClr val="hlink"/>
              </a:buClr>
            </a:pPr>
            <a:r>
              <a:rPr kumimoji="0" lang="zh-CN" altLang="en-US" sz="3600" dirty="0">
                <a:solidFill>
                  <a:schemeClr val="bg2"/>
                </a:solidFill>
                <a:latin typeface="楷体" panose="02010609060101010101" pitchFamily="49" charset="-122"/>
                <a:ea typeface="楷体" panose="02010609060101010101" pitchFamily="49" charset="-122"/>
              </a:rPr>
              <a:t>学习完本章后，应当掌握如下知识：</a:t>
            </a:r>
          </a:p>
          <a:p>
            <a:pPr lvl="1" algn="l">
              <a:spcBef>
                <a:spcPts val="600"/>
              </a:spcBef>
              <a:spcAft>
                <a:spcPts val="600"/>
              </a:spcAft>
            </a:pPr>
            <a:r>
              <a:rPr kumimoji="0" lang="zh-CN" altLang="en-US" dirty="0">
                <a:solidFill>
                  <a:schemeClr val="bg2"/>
                </a:solidFill>
                <a:latin typeface="楷体" panose="02010609060101010101" pitchFamily="49" charset="-122"/>
                <a:ea typeface="楷体" panose="02010609060101010101" pitchFamily="49" charset="-122"/>
              </a:rPr>
              <a:t>（</a:t>
            </a:r>
            <a:r>
              <a:rPr kumimoji="0" lang="en-US" altLang="en-US" dirty="0">
                <a:solidFill>
                  <a:schemeClr val="bg2"/>
                </a:solidFill>
                <a:latin typeface="楷体" panose="02010609060101010101" pitchFamily="49" charset="-122"/>
                <a:ea typeface="楷体" panose="02010609060101010101" pitchFamily="49" charset="-122"/>
              </a:rPr>
              <a:t>1</a:t>
            </a:r>
            <a:r>
              <a:rPr kumimoji="0" lang="zh-CN" altLang="en-US" dirty="0">
                <a:solidFill>
                  <a:schemeClr val="bg2"/>
                </a:solidFill>
                <a:latin typeface="楷体" panose="02010609060101010101" pitchFamily="49" charset="-122"/>
                <a:ea typeface="楷体" panose="02010609060101010101" pitchFamily="49" charset="-122"/>
              </a:rPr>
              <a:t>）整合项目资源的重要性。</a:t>
            </a:r>
          </a:p>
          <a:p>
            <a:pPr lvl="1" algn="l">
              <a:spcBef>
                <a:spcPts val="0"/>
              </a:spcBef>
              <a:spcAft>
                <a:spcPts val="600"/>
              </a:spcAft>
            </a:pPr>
            <a:r>
              <a:rPr kumimoji="0" lang="zh-CN" altLang="en-US" dirty="0">
                <a:solidFill>
                  <a:schemeClr val="bg2"/>
                </a:solidFill>
                <a:latin typeface="楷体" panose="02010609060101010101" pitchFamily="49" charset="-122"/>
                <a:ea typeface="楷体" panose="02010609060101010101" pitchFamily="49" charset="-122"/>
              </a:rPr>
              <a:t>（</a:t>
            </a:r>
            <a:r>
              <a:rPr kumimoji="0" lang="en-US" altLang="en-US" dirty="0">
                <a:solidFill>
                  <a:schemeClr val="bg2"/>
                </a:solidFill>
                <a:latin typeface="楷体" panose="02010609060101010101" pitchFamily="49" charset="-122"/>
                <a:ea typeface="楷体" panose="02010609060101010101" pitchFamily="49" charset="-122"/>
              </a:rPr>
              <a:t>2</a:t>
            </a:r>
            <a:r>
              <a:rPr kumimoji="0" lang="zh-CN" altLang="en-US" dirty="0">
                <a:solidFill>
                  <a:schemeClr val="bg2"/>
                </a:solidFill>
                <a:latin typeface="楷体" panose="02010609060101010101" pitchFamily="49" charset="-122"/>
                <a:ea typeface="楷体" panose="02010609060101010101" pitchFamily="49" charset="-122"/>
              </a:rPr>
              <a:t>）项目资源的组成与特点。</a:t>
            </a:r>
          </a:p>
          <a:p>
            <a:pPr lvl="1" algn="l">
              <a:spcBef>
                <a:spcPts val="0"/>
              </a:spcBef>
              <a:spcAft>
                <a:spcPts val="600"/>
              </a:spcAft>
            </a:pPr>
            <a:r>
              <a:rPr kumimoji="0" lang="zh-CN" altLang="en-US" dirty="0">
                <a:solidFill>
                  <a:schemeClr val="bg2"/>
                </a:solidFill>
                <a:latin typeface="楷体" panose="02010609060101010101" pitchFamily="49" charset="-122"/>
                <a:ea typeface="楷体" panose="02010609060101010101" pitchFamily="49" charset="-122"/>
              </a:rPr>
              <a:t>（</a:t>
            </a:r>
            <a:r>
              <a:rPr kumimoji="0" lang="en-US" altLang="en-US" dirty="0">
                <a:solidFill>
                  <a:schemeClr val="bg2"/>
                </a:solidFill>
                <a:latin typeface="楷体" panose="02010609060101010101" pitchFamily="49" charset="-122"/>
                <a:ea typeface="楷体" panose="02010609060101010101" pitchFamily="49" charset="-122"/>
              </a:rPr>
              <a:t>3</a:t>
            </a:r>
            <a:r>
              <a:rPr kumimoji="0" lang="zh-CN" altLang="en-US" dirty="0">
                <a:solidFill>
                  <a:schemeClr val="bg2"/>
                </a:solidFill>
                <a:latin typeface="楷体" panose="02010609060101010101" pitchFamily="49" charset="-122"/>
                <a:ea typeface="楷体" panose="02010609060101010101" pitchFamily="49" charset="-122"/>
              </a:rPr>
              <a:t>）</a:t>
            </a:r>
            <a:r>
              <a:rPr kumimoji="0" lang="en-US" altLang="en-US" dirty="0">
                <a:solidFill>
                  <a:schemeClr val="bg2"/>
                </a:solidFill>
                <a:latin typeface="+mn-lt"/>
                <a:ea typeface="楷体" panose="02010609060101010101" pitchFamily="49" charset="-122"/>
              </a:rPr>
              <a:t>IT</a:t>
            </a:r>
            <a:r>
              <a:rPr kumimoji="0" lang="zh-CN" altLang="en-US" dirty="0">
                <a:solidFill>
                  <a:schemeClr val="bg2"/>
                </a:solidFill>
                <a:latin typeface="楷体" panose="02010609060101010101" pitchFamily="49" charset="-122"/>
                <a:ea typeface="楷体" panose="02010609060101010101" pitchFamily="49" charset="-122"/>
              </a:rPr>
              <a:t>项目经理的责任与权利。</a:t>
            </a:r>
          </a:p>
          <a:p>
            <a:pPr lvl="1" algn="l">
              <a:spcBef>
                <a:spcPts val="0"/>
              </a:spcBef>
              <a:spcAft>
                <a:spcPts val="600"/>
              </a:spcAft>
            </a:pPr>
            <a:r>
              <a:rPr kumimoji="0" lang="zh-CN" altLang="en-US" dirty="0">
                <a:solidFill>
                  <a:schemeClr val="bg2"/>
                </a:solidFill>
                <a:latin typeface="楷体" panose="02010609060101010101" pitchFamily="49" charset="-122"/>
                <a:ea typeface="楷体" panose="02010609060101010101" pitchFamily="49" charset="-122"/>
              </a:rPr>
              <a:t>（</a:t>
            </a:r>
            <a:r>
              <a:rPr kumimoji="0" lang="en-US" altLang="en-US" dirty="0">
                <a:solidFill>
                  <a:schemeClr val="bg2"/>
                </a:solidFill>
                <a:latin typeface="楷体" panose="02010609060101010101" pitchFamily="49" charset="-122"/>
                <a:ea typeface="楷体" panose="02010609060101010101" pitchFamily="49" charset="-122"/>
              </a:rPr>
              <a:t>4</a:t>
            </a:r>
            <a:r>
              <a:rPr kumimoji="0" lang="zh-CN" altLang="en-US" dirty="0">
                <a:solidFill>
                  <a:schemeClr val="bg2"/>
                </a:solidFill>
                <a:latin typeface="楷体" panose="02010609060101010101" pitchFamily="49" charset="-122"/>
                <a:ea typeface="楷体" panose="02010609060101010101" pitchFamily="49" charset="-122"/>
              </a:rPr>
              <a:t>）编制</a:t>
            </a:r>
            <a:r>
              <a:rPr kumimoji="0" lang="en-US" altLang="en-US" dirty="0">
                <a:solidFill>
                  <a:schemeClr val="bg2"/>
                </a:solidFill>
                <a:latin typeface="+mn-lt"/>
                <a:ea typeface="楷体" panose="02010609060101010101" pitchFamily="49" charset="-122"/>
              </a:rPr>
              <a:t>IT</a:t>
            </a:r>
            <a:r>
              <a:rPr kumimoji="0" lang="zh-CN" altLang="en-US" dirty="0">
                <a:solidFill>
                  <a:schemeClr val="bg2"/>
                </a:solidFill>
                <a:latin typeface="楷体" panose="02010609060101010101" pitchFamily="49" charset="-122"/>
                <a:ea typeface="楷体" panose="02010609060101010101" pitchFamily="49" charset="-122"/>
              </a:rPr>
              <a:t>项目章程的方法。</a:t>
            </a:r>
          </a:p>
          <a:p>
            <a:pPr lvl="1" algn="l">
              <a:spcBef>
                <a:spcPts val="0"/>
              </a:spcBef>
              <a:spcAft>
                <a:spcPts val="600"/>
              </a:spcAft>
            </a:pPr>
            <a:r>
              <a:rPr kumimoji="0" lang="zh-CN" altLang="en-US" dirty="0">
                <a:solidFill>
                  <a:schemeClr val="bg2"/>
                </a:solidFill>
                <a:latin typeface="楷体" panose="02010609060101010101" pitchFamily="49" charset="-122"/>
                <a:ea typeface="楷体" panose="02010609060101010101" pitchFamily="49" charset="-122"/>
              </a:rPr>
              <a:t>（</a:t>
            </a:r>
            <a:r>
              <a:rPr kumimoji="0" lang="en-US" altLang="en-US" dirty="0">
                <a:solidFill>
                  <a:schemeClr val="bg2"/>
                </a:solidFill>
                <a:latin typeface="楷体" panose="02010609060101010101" pitchFamily="49" charset="-122"/>
                <a:ea typeface="楷体" panose="02010609060101010101" pitchFamily="49" charset="-122"/>
              </a:rPr>
              <a:t>5</a:t>
            </a:r>
            <a:r>
              <a:rPr kumimoji="0" lang="zh-CN" altLang="en-US" dirty="0">
                <a:solidFill>
                  <a:schemeClr val="bg2"/>
                </a:solidFill>
                <a:latin typeface="楷体" panose="02010609060101010101" pitchFamily="49" charset="-122"/>
                <a:ea typeface="楷体" panose="02010609060101010101" pitchFamily="49" charset="-122"/>
              </a:rPr>
              <a:t>）</a:t>
            </a:r>
            <a:r>
              <a:rPr kumimoji="0" lang="en-US" altLang="en-US" dirty="0">
                <a:solidFill>
                  <a:schemeClr val="bg2"/>
                </a:solidFill>
                <a:latin typeface="+mn-lt"/>
                <a:ea typeface="楷体" panose="02010609060101010101" pitchFamily="49" charset="-122"/>
              </a:rPr>
              <a:t>IT</a:t>
            </a:r>
            <a:r>
              <a:rPr kumimoji="0" lang="zh-CN" altLang="en-US" dirty="0">
                <a:solidFill>
                  <a:schemeClr val="bg2"/>
                </a:solidFill>
                <a:latin typeface="楷体" panose="02010609060101010101" pitchFamily="49" charset="-122"/>
                <a:ea typeface="楷体" panose="02010609060101010101" pitchFamily="49" charset="-122"/>
              </a:rPr>
              <a:t>项目启动方法和技术。</a:t>
            </a:r>
          </a:p>
          <a:p>
            <a:pPr lvl="1" algn="l">
              <a:spcBef>
                <a:spcPts val="0"/>
              </a:spcBef>
              <a:spcAft>
                <a:spcPts val="600"/>
              </a:spcAft>
            </a:pPr>
            <a:r>
              <a:rPr kumimoji="0" lang="zh-CN" altLang="en-US" dirty="0">
                <a:solidFill>
                  <a:schemeClr val="bg2"/>
                </a:solidFill>
                <a:latin typeface="楷体" panose="02010609060101010101" pitchFamily="49" charset="-122"/>
                <a:ea typeface="楷体" panose="02010609060101010101" pitchFamily="49" charset="-122"/>
              </a:rPr>
              <a:t>（</a:t>
            </a:r>
            <a:r>
              <a:rPr kumimoji="0" lang="en-US" altLang="en-US" dirty="0">
                <a:solidFill>
                  <a:schemeClr val="bg2"/>
                </a:solidFill>
                <a:latin typeface="楷体" panose="02010609060101010101" pitchFamily="49" charset="-122"/>
                <a:ea typeface="楷体" panose="02010609060101010101" pitchFamily="49" charset="-122"/>
              </a:rPr>
              <a:t>6</a:t>
            </a:r>
            <a:r>
              <a:rPr kumimoji="0" lang="zh-CN" altLang="en-US" dirty="0">
                <a:solidFill>
                  <a:schemeClr val="bg2"/>
                </a:solidFill>
                <a:latin typeface="楷体" panose="02010609060101010101" pitchFamily="49" charset="-122"/>
                <a:ea typeface="楷体" panose="02010609060101010101" pitchFamily="49" charset="-122"/>
              </a:rPr>
              <a:t>）项目管理计划的组成要素与主要内容。</a:t>
            </a:r>
          </a:p>
          <a:p>
            <a:pPr lvl="1" algn="l">
              <a:spcBef>
                <a:spcPts val="0"/>
              </a:spcBef>
              <a:spcAft>
                <a:spcPts val="600"/>
              </a:spcAft>
            </a:pPr>
            <a:r>
              <a:rPr kumimoji="0" lang="zh-CN" altLang="en-US" dirty="0">
                <a:solidFill>
                  <a:schemeClr val="bg2"/>
                </a:solidFill>
                <a:latin typeface="楷体" panose="02010609060101010101" pitchFamily="49" charset="-122"/>
                <a:ea typeface="楷体" panose="02010609060101010101" pitchFamily="49" charset="-122"/>
              </a:rPr>
              <a:t>（</a:t>
            </a:r>
            <a:r>
              <a:rPr kumimoji="0" lang="en-US" altLang="en-US" dirty="0">
                <a:solidFill>
                  <a:schemeClr val="bg2"/>
                </a:solidFill>
                <a:latin typeface="楷体" panose="02010609060101010101" pitchFamily="49" charset="-122"/>
                <a:ea typeface="楷体" panose="02010609060101010101" pitchFamily="49" charset="-122"/>
              </a:rPr>
              <a:t>7</a:t>
            </a:r>
            <a:r>
              <a:rPr kumimoji="0" lang="zh-CN" altLang="en-US" dirty="0">
                <a:solidFill>
                  <a:schemeClr val="bg2"/>
                </a:solidFill>
                <a:latin typeface="楷体" panose="02010609060101010101" pitchFamily="49" charset="-122"/>
                <a:ea typeface="楷体" panose="02010609060101010101" pitchFamily="49" charset="-122"/>
              </a:rPr>
              <a:t>）项目管理计划的制定方法与过程。</a:t>
            </a:r>
          </a:p>
          <a:p>
            <a:pPr lvl="1" algn="l">
              <a:spcBef>
                <a:spcPts val="0"/>
              </a:spcBef>
              <a:spcAft>
                <a:spcPts val="600"/>
              </a:spcAft>
            </a:pPr>
            <a:r>
              <a:rPr kumimoji="0" lang="zh-CN" altLang="en-US" dirty="0">
                <a:solidFill>
                  <a:schemeClr val="bg2"/>
                </a:solidFill>
                <a:latin typeface="楷体" panose="02010609060101010101" pitchFamily="49" charset="-122"/>
                <a:ea typeface="楷体" panose="02010609060101010101" pitchFamily="49" charset="-122"/>
              </a:rPr>
              <a:t>（</a:t>
            </a:r>
            <a:r>
              <a:rPr kumimoji="0" lang="en-US" altLang="en-US" dirty="0">
                <a:solidFill>
                  <a:schemeClr val="bg2"/>
                </a:solidFill>
                <a:latin typeface="楷体" panose="02010609060101010101" pitchFamily="49" charset="-122"/>
                <a:ea typeface="楷体" panose="02010609060101010101" pitchFamily="49" charset="-122"/>
              </a:rPr>
              <a:t>8</a:t>
            </a:r>
            <a:r>
              <a:rPr kumimoji="0" lang="zh-CN" altLang="en-US" dirty="0">
                <a:solidFill>
                  <a:schemeClr val="bg2"/>
                </a:solidFill>
                <a:latin typeface="楷体" panose="02010609060101010101" pitchFamily="49" charset="-122"/>
                <a:ea typeface="楷体" panose="02010609060101010101" pitchFamily="49" charset="-122"/>
              </a:rPr>
              <a:t>）整体变更控制的过程、工具与技术。</a:t>
            </a:r>
          </a:p>
        </p:txBody>
      </p:sp>
      <p:sp>
        <p:nvSpPr>
          <p:cNvPr id="8198"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P.62</a:t>
            </a:r>
          </a:p>
        </p:txBody>
      </p:sp>
      <p:sp>
        <p:nvSpPr>
          <p:cNvPr id="8199"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zh-CN" sz="3000" dirty="0">
                <a:latin typeface="楷体" panose="02010609060101010101" pitchFamily="49" charset="-122"/>
                <a:ea typeface="楷体" panose="02010609060101010101" pitchFamily="49" charset="-122"/>
              </a:rPr>
              <a:t>【</a:t>
            </a:r>
            <a:r>
              <a:rPr kumimoji="0" lang="zh-CN" altLang="en-US" sz="3000" dirty="0">
                <a:latin typeface="楷体" panose="02010609060101010101" pitchFamily="49" charset="-122"/>
                <a:ea typeface="楷体" panose="02010609060101010101" pitchFamily="49" charset="-122"/>
              </a:rPr>
              <a:t>本章知识要点</a:t>
            </a:r>
            <a:r>
              <a:rPr kumimoji="0" lang="en-US" altLang="zh-CN" sz="3000" dirty="0">
                <a:latin typeface="楷体" panose="02010609060101010101" pitchFamily="49" charset="-122"/>
                <a:ea typeface="楷体" panose="02010609060101010101" pitchFamily="49" charset="-122"/>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a:t>  </a:t>
            </a:r>
            <a:fld id="{B6D6A615-618E-4DBF-9BE6-09340DC0AD1F}" type="slidenum">
              <a:rPr lang="zh-CN" altLang="en-GB" smtClean="0"/>
              <a:t>5</a:t>
            </a:fld>
            <a:endParaRPr lang="en-US" altLang="zh-CN"/>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dirty="0">
                <a:latin typeface="楷体" panose="02010609060101010101" pitchFamily="49" charset="-122"/>
                <a:ea typeface="楷体" panose="02010609060101010101" pitchFamily="49" charset="-122"/>
                <a:cs typeface="楷体" panose="02010609060101010101" pitchFamily="49" charset="-122"/>
              </a:rPr>
              <a:t>提   纲</a:t>
            </a:r>
            <a:endParaRPr lang="en-US" altLang="zh-CN" sz="4800" b="1" dirty="0">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214313" y="1428750"/>
            <a:ext cx="8501062" cy="387798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6000" dirty="0">
                <a:solidFill>
                  <a:srgbClr val="FF0000"/>
                </a:solidFill>
                <a:latin typeface="楷体" panose="02010609060101010101" pitchFamily="49" charset="-122"/>
                <a:ea typeface="楷体" panose="02010609060101010101" pitchFamily="49" charset="-122"/>
              </a:rPr>
              <a:t>整合项目资源概述</a:t>
            </a:r>
            <a:endParaRPr lang="en-US" altLang="zh-CN" sz="6000" dirty="0">
              <a:solidFill>
                <a:srgbClr val="C00000"/>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6000" dirty="0">
                <a:solidFill>
                  <a:srgbClr val="0000FF"/>
                </a:solidFill>
                <a:latin typeface="楷体" panose="02010609060101010101" pitchFamily="49" charset="-122"/>
                <a:ea typeface="楷体" panose="02010609060101010101" pitchFamily="49" charset="-122"/>
              </a:rPr>
              <a:t>项目启动</a:t>
            </a:r>
            <a:endParaRPr lang="en-US" altLang="zh-CN" sz="6000"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6000" dirty="0" err="1">
                <a:solidFill>
                  <a:srgbClr val="0000FF"/>
                </a:solidFill>
                <a:latin typeface="楷体" panose="02010609060101010101" pitchFamily="49" charset="-122"/>
                <a:ea typeface="楷体" panose="02010609060101010101" pitchFamily="49" charset="-122"/>
              </a:rPr>
              <a:t>项目管理计划</a:t>
            </a:r>
            <a:r>
              <a:rPr lang="zh-CN" altLang="en-US" sz="6000" dirty="0">
                <a:solidFill>
                  <a:srgbClr val="0000FF"/>
                </a:solidFill>
                <a:latin typeface="楷体" panose="02010609060101010101" pitchFamily="49" charset="-122"/>
                <a:ea typeface="楷体" panose="02010609060101010101" pitchFamily="49" charset="-122"/>
              </a:rPr>
              <a:t>编制</a:t>
            </a:r>
            <a:endParaRPr lang="en-US" altLang="zh-CN" sz="6000"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6000" dirty="0" err="1">
                <a:solidFill>
                  <a:srgbClr val="0000FF"/>
                </a:solidFill>
                <a:latin typeface="楷体" panose="02010609060101010101" pitchFamily="49" charset="-122"/>
                <a:ea typeface="楷体" panose="02010609060101010101" pitchFamily="49" charset="-122"/>
              </a:rPr>
              <a:t>整体变更控制</a:t>
            </a:r>
            <a:r>
              <a:rPr lang="zh-CN" altLang="en-US" sz="6000" dirty="0">
                <a:solidFill>
                  <a:srgbClr val="0000FF"/>
                </a:solidFill>
                <a:latin typeface="楷体" panose="02010609060101010101" pitchFamily="49" charset="-122"/>
                <a:ea typeface="楷体" panose="02010609060101010101" pitchFamily="49" charset="-122"/>
              </a:rPr>
              <a:t>方法</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9221" name="Text Box 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lgn="r">
              <a:spcBef>
                <a:spcPct val="50000"/>
              </a:spcBef>
            </a:pPr>
            <a:r>
              <a:rPr lang="en-US" altLang="zh-CN" sz="2400">
                <a:solidFill>
                  <a:schemeClr val="bg2"/>
                </a:solidFill>
              </a:rPr>
              <a:t>P.63</a:t>
            </a:r>
          </a:p>
        </p:txBody>
      </p:sp>
      <p:sp>
        <p:nvSpPr>
          <p:cNvPr id="9227" name="Rectangle 27"/>
          <p:cNvSpPr>
            <a:spLocks noChangeArrowheads="1"/>
          </p:cNvSpPr>
          <p:nvPr/>
        </p:nvSpPr>
        <p:spPr bwMode="auto">
          <a:xfrm>
            <a:off x="103188" y="620713"/>
            <a:ext cx="4324350" cy="549275"/>
          </a:xfrm>
          <a:prstGeom prst="rect">
            <a:avLst/>
          </a:prstGeom>
          <a:noFill/>
          <a:ln w="9525">
            <a:noFill/>
            <a:miter lim="800000"/>
          </a:ln>
        </p:spPr>
        <p:txBody>
          <a:bodyPr>
            <a:spAutoFit/>
          </a:bodyPr>
          <a:lstStyle/>
          <a:p>
            <a:pPr algn="l"/>
            <a:r>
              <a:rPr kumimoji="0" lang="en-US" altLang="zh-CN" sz="3000" dirty="0">
                <a:latin typeface="+mn-lt"/>
                <a:ea typeface="楷体" panose="02010609060101010101" pitchFamily="49" charset="-122"/>
              </a:rPr>
              <a:t>3.1</a:t>
            </a:r>
            <a:r>
              <a:rPr kumimoji="0" lang="en-US" altLang="zh-CN" sz="3000" dirty="0">
                <a:latin typeface="楷体" panose="02010609060101010101" pitchFamily="49" charset="-122"/>
                <a:ea typeface="楷体" panose="02010609060101010101" pitchFamily="49" charset="-122"/>
              </a:rPr>
              <a:t> </a:t>
            </a:r>
            <a:r>
              <a:rPr kumimoji="0" lang="zh-CN" altLang="en-US" sz="3000" dirty="0">
                <a:latin typeface="楷体" panose="02010609060101010101" pitchFamily="49" charset="-122"/>
                <a:ea typeface="楷体" panose="02010609060101010101" pitchFamily="49" charset="-122"/>
              </a:rPr>
              <a:t>整合项目资源概述</a:t>
            </a:r>
          </a:p>
        </p:txBody>
      </p:sp>
      <p:sp>
        <p:nvSpPr>
          <p:cNvPr id="17" name="矩形 16"/>
          <p:cNvSpPr/>
          <p:nvPr/>
        </p:nvSpPr>
        <p:spPr>
          <a:xfrm>
            <a:off x="214282" y="1357298"/>
            <a:ext cx="8858312" cy="4707890"/>
          </a:xfrm>
          <a:prstGeom prst="rect">
            <a:avLst/>
          </a:prstGeom>
        </p:spPr>
        <p:txBody>
          <a:bodyPr wrap="square">
            <a:spAutoFit/>
          </a:bodyPr>
          <a:lstStyle/>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著名的管理学家，系统管理学派的主要代表人物，美国西雅图华盛顿大学的教授弗里蒙特</a:t>
            </a:r>
            <a:r>
              <a:rPr lang="en-US" altLang="zh-CN" dirty="0">
                <a:solidFill>
                  <a:schemeClr val="bg2"/>
                </a:solidFill>
                <a:latin typeface="楷体" panose="02010609060101010101" pitchFamily="49" charset="-122"/>
                <a:ea typeface="楷体" panose="02010609060101010101" pitchFamily="49" charset="-122"/>
              </a:rPr>
              <a:t>·</a:t>
            </a:r>
            <a:r>
              <a:rPr lang="zh-CN" altLang="en-US" dirty="0">
                <a:solidFill>
                  <a:schemeClr val="bg2"/>
                </a:solidFill>
                <a:latin typeface="楷体" panose="02010609060101010101" pitchFamily="49" charset="-122"/>
                <a:ea typeface="楷体" panose="02010609060101010101" pitchFamily="49" charset="-122"/>
              </a:rPr>
              <a:t>卡斯特指出：</a:t>
            </a:r>
            <a:r>
              <a:rPr lang="zh-CN" altLang="en-US" dirty="0">
                <a:solidFill>
                  <a:srgbClr val="0000FF"/>
                </a:solidFill>
                <a:latin typeface="楷体" panose="02010609060101010101" pitchFamily="49" charset="-122"/>
                <a:ea typeface="楷体" panose="02010609060101010101" pitchFamily="49" charset="-122"/>
              </a:rPr>
              <a:t>管理是一个过程，</a:t>
            </a:r>
            <a:r>
              <a:rPr lang="zh-CN" altLang="en-US" dirty="0">
                <a:solidFill>
                  <a:schemeClr val="bg2"/>
                </a:solidFill>
                <a:latin typeface="楷体" panose="02010609060101010101" pitchFamily="49" charset="-122"/>
                <a:ea typeface="楷体" panose="02010609060101010101" pitchFamily="49" charset="-122"/>
              </a:rPr>
              <a:t>通过它，</a:t>
            </a:r>
            <a:r>
              <a:rPr lang="zh-CN" altLang="en-US" dirty="0">
                <a:solidFill>
                  <a:srgbClr val="0000FF"/>
                </a:solidFill>
                <a:latin typeface="楷体" panose="02010609060101010101" pitchFamily="49" charset="-122"/>
                <a:ea typeface="楷体" panose="02010609060101010101" pitchFamily="49" charset="-122"/>
              </a:rPr>
              <a:t>大量互无关系的资源得以结合成为一个实现既定目标的总体。</a:t>
            </a:r>
            <a:endParaRPr lang="en-US" altLang="zh-CN" u="sng" dirty="0">
              <a:solidFill>
                <a:schemeClr val="bg1">
                  <a:lumMod val="50000"/>
                </a:schemeClr>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这表明，项目管理必须着眼于</a:t>
            </a:r>
            <a:r>
              <a:rPr lang="zh-CN" altLang="en-US" dirty="0">
                <a:solidFill>
                  <a:schemeClr val="bg1"/>
                </a:solidFill>
                <a:latin typeface="楷体" panose="02010609060101010101" pitchFamily="49" charset="-122"/>
                <a:ea typeface="楷体" panose="02010609060101010101" pitchFamily="49" charset="-122"/>
              </a:rPr>
              <a:t>整体以及系统各部分之间的相互作用</a:t>
            </a:r>
            <a:r>
              <a:rPr lang="zh-CN" altLang="en-US" dirty="0">
                <a:solidFill>
                  <a:schemeClr val="bg2"/>
                </a:solidFill>
                <a:latin typeface="楷体" panose="02010609060101010101" pitchFamily="49" charset="-122"/>
                <a:ea typeface="楷体" panose="02010609060101010101" pitchFamily="49" charset="-122"/>
              </a:rPr>
              <a:t>。</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根据</a:t>
            </a:r>
            <a:r>
              <a:rPr lang="en-US" dirty="0">
                <a:solidFill>
                  <a:schemeClr val="bg2"/>
                </a:solidFill>
                <a:latin typeface="+mn-lt"/>
                <a:ea typeface="楷体" panose="02010609060101010101" pitchFamily="49" charset="-122"/>
                <a:cs typeface="+mn-lt"/>
              </a:rPr>
              <a:t>PMBOK</a:t>
            </a:r>
            <a:r>
              <a:rPr lang="zh-CN" altLang="en-US" dirty="0">
                <a:solidFill>
                  <a:schemeClr val="bg2"/>
                </a:solidFill>
                <a:latin typeface="楷体" panose="02010609060101010101" pitchFamily="49" charset="-122"/>
                <a:ea typeface="楷体" panose="02010609060101010101" pitchFamily="49" charset="-122"/>
              </a:rPr>
              <a:t>的定义，</a:t>
            </a:r>
            <a:r>
              <a:rPr lang="zh-CN" altLang="en-US" dirty="0">
                <a:solidFill>
                  <a:srgbClr val="FF0000"/>
                </a:solidFill>
                <a:latin typeface="楷体" panose="02010609060101010101" pitchFamily="49" charset="-122"/>
                <a:ea typeface="楷体" panose="02010609060101010101" pitchFamily="49" charset="-122"/>
              </a:rPr>
              <a:t>项目整合管理</a:t>
            </a:r>
            <a:r>
              <a:rPr lang="zh-CN" altLang="en-US" dirty="0">
                <a:solidFill>
                  <a:schemeClr val="bg2"/>
                </a:solidFill>
                <a:latin typeface="楷体" panose="02010609060101010101" pitchFamily="49" charset="-122"/>
                <a:ea typeface="楷体" panose="02010609060101010101" pitchFamily="49" charset="-122"/>
              </a:rPr>
              <a:t>包括那些确保项目</a:t>
            </a:r>
            <a:r>
              <a:rPr lang="zh-CN" altLang="en-US" dirty="0">
                <a:solidFill>
                  <a:srgbClr val="FF0000"/>
                </a:solidFill>
                <a:latin typeface="楷体" panose="02010609060101010101" pitchFamily="49" charset="-122"/>
                <a:ea typeface="楷体" panose="02010609060101010101" pitchFamily="49" charset="-122"/>
              </a:rPr>
              <a:t>各要素相互协调</a:t>
            </a:r>
            <a:r>
              <a:rPr lang="zh-CN" altLang="en-US" dirty="0">
                <a:solidFill>
                  <a:schemeClr val="bg2"/>
                </a:solidFill>
                <a:latin typeface="楷体" panose="02010609060101010101" pitchFamily="49" charset="-122"/>
                <a:ea typeface="楷体" panose="02010609060101010101" pitchFamily="49" charset="-122"/>
              </a:rPr>
              <a:t>所需要的</a:t>
            </a:r>
            <a:r>
              <a:rPr lang="zh-CN" altLang="en-US" dirty="0">
                <a:solidFill>
                  <a:srgbClr val="FF0000"/>
                </a:solidFill>
                <a:latin typeface="楷体" panose="02010609060101010101" pitchFamily="49" charset="-122"/>
                <a:ea typeface="楷体" panose="02010609060101010101" pitchFamily="49" charset="-122"/>
              </a:rPr>
              <a:t>过程</a:t>
            </a:r>
            <a:r>
              <a:rPr lang="zh-CN" altLang="en-US" dirty="0">
                <a:solidFill>
                  <a:schemeClr val="bg2"/>
                </a:solidFill>
                <a:latin typeface="楷体" panose="02010609060101010101" pitchFamily="49" charset="-122"/>
                <a:ea typeface="楷体" panose="02010609060101010101" pitchFamily="49" charset="-122"/>
              </a:rPr>
              <a:t>，它牵涉到在</a:t>
            </a:r>
            <a:r>
              <a:rPr lang="zh-CN" altLang="en-US" dirty="0">
                <a:solidFill>
                  <a:srgbClr val="FF0000"/>
                </a:solidFill>
                <a:latin typeface="楷体" panose="02010609060101010101" pitchFamily="49" charset="-122"/>
                <a:ea typeface="楷体" panose="02010609060101010101" pitchFamily="49" charset="-122"/>
              </a:rPr>
              <a:t>竞争目标和方案选择</a:t>
            </a:r>
            <a:r>
              <a:rPr lang="zh-CN" altLang="en-US" dirty="0">
                <a:solidFill>
                  <a:schemeClr val="bg2"/>
                </a:solidFill>
                <a:latin typeface="楷体" panose="02010609060101010101" pitchFamily="49" charset="-122"/>
                <a:ea typeface="楷体" panose="02010609060101010101" pitchFamily="49" charset="-122"/>
              </a:rPr>
              <a:t>中</a:t>
            </a:r>
            <a:r>
              <a:rPr lang="zh-CN" altLang="en-US" dirty="0">
                <a:solidFill>
                  <a:srgbClr val="FF0000"/>
                </a:solidFill>
                <a:latin typeface="楷体" panose="02010609060101010101" pitchFamily="49" charset="-122"/>
                <a:ea typeface="楷体" panose="02010609060101010101" pitchFamily="49" charset="-122"/>
              </a:rPr>
              <a:t>做出平衡</a:t>
            </a:r>
            <a:r>
              <a:rPr lang="zh-CN" altLang="en-US" dirty="0">
                <a:solidFill>
                  <a:schemeClr val="bg2"/>
                </a:solidFill>
                <a:latin typeface="楷体" panose="02010609060101010101" pitchFamily="49" charset="-122"/>
                <a:ea typeface="楷体" panose="02010609060101010101" pitchFamily="49" charset="-122"/>
              </a:rPr>
              <a:t>，以满足或超出项目干系人的需求和期望。</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9"/>
          <p:cNvSpPr>
            <a:spLocks noGrp="1" noChangeArrowheads="1"/>
          </p:cNvSpPr>
          <p:nvPr>
            <p:ph type="sldNum" sz="quarter" idx="10"/>
          </p:nvPr>
        </p:nvSpPr>
        <p:spPr>
          <a:noFill/>
        </p:spPr>
        <p:txBody>
          <a:bodyPr/>
          <a:lstStyle/>
          <a:p>
            <a:r>
              <a:rPr lang="zh-CN" altLang="en-GB" dirty="0"/>
              <a:t>  </a:t>
            </a:r>
            <a:fld id="{E208C310-D5F4-4BA4-AC3B-E0DBD626174D}" type="slidenum">
              <a:rPr lang="zh-CN" altLang="en-GB" smtClean="0"/>
              <a:t>7</a:t>
            </a:fld>
            <a:endParaRPr lang="en-US" altLang="zh-CN" dirty="0"/>
          </a:p>
        </p:txBody>
      </p:sp>
      <p:sp>
        <p:nvSpPr>
          <p:cNvPr id="9219"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855044" name="Text Box 4"/>
          <p:cNvSpPr txBox="1">
            <a:spLocks noChangeArrowheads="1"/>
          </p:cNvSpPr>
          <p:nvPr/>
        </p:nvSpPr>
        <p:spPr bwMode="auto">
          <a:xfrm>
            <a:off x="107950" y="1341438"/>
            <a:ext cx="9036050" cy="1383665"/>
          </a:xfrm>
          <a:prstGeom prst="rect">
            <a:avLst/>
          </a:prstGeom>
          <a:noFill/>
          <a:ln w="28575">
            <a:noFill/>
            <a:miter lim="800000"/>
          </a:ln>
        </p:spPr>
        <p:txBody>
          <a:bodyPr>
            <a:spAutoFit/>
          </a:bodyPr>
          <a:lstStyle/>
          <a:p>
            <a:pPr algn="l">
              <a:spcBef>
                <a:spcPct val="40000"/>
              </a:spcBef>
              <a:buClr>
                <a:schemeClr val="hlink"/>
              </a:buClr>
            </a:pPr>
            <a:r>
              <a:rPr lang="zh-CN" altLang="en-US" dirty="0">
                <a:solidFill>
                  <a:schemeClr val="bg2"/>
                </a:solidFill>
                <a:latin typeface="楷体" panose="02010609060101010101" pitchFamily="49" charset="-122"/>
                <a:ea typeface="楷体" panose="02010609060101010101" pitchFamily="49" charset="-122"/>
              </a:rPr>
              <a:t>项目整体管理包括</a:t>
            </a:r>
            <a:r>
              <a:rPr lang="zh-CN" altLang="en-US" dirty="0">
                <a:solidFill>
                  <a:srgbClr val="FF0000"/>
                </a:solidFill>
                <a:latin typeface="楷体" panose="02010609060101010101" pitchFamily="49" charset="-122"/>
                <a:ea typeface="楷体" panose="02010609060101010101" pitchFamily="49" charset="-122"/>
              </a:rPr>
              <a:t>制定项目章程</a:t>
            </a:r>
            <a:r>
              <a:rPr lang="zh-CN" altLang="en-US" dirty="0">
                <a:solidFill>
                  <a:schemeClr val="bg2"/>
                </a:solidFill>
                <a:latin typeface="楷体" panose="02010609060101010101" pitchFamily="49" charset="-122"/>
                <a:ea typeface="楷体" panose="02010609060101010101" pitchFamily="49" charset="-122"/>
              </a:rPr>
              <a:t>、</a:t>
            </a:r>
            <a:r>
              <a:rPr lang="zh-CN" altLang="en-US" dirty="0">
                <a:solidFill>
                  <a:srgbClr val="FF0000"/>
                </a:solidFill>
                <a:latin typeface="楷体" panose="02010609060101010101" pitchFamily="49" charset="-122"/>
                <a:ea typeface="楷体" panose="02010609060101010101" pitchFamily="49" charset="-122"/>
              </a:rPr>
              <a:t>制定项目管理计划</a:t>
            </a:r>
            <a:r>
              <a:rPr lang="zh-CN" altLang="en-US" dirty="0">
                <a:solidFill>
                  <a:schemeClr val="bg2"/>
                </a:solidFill>
                <a:latin typeface="楷体" panose="02010609060101010101" pitchFamily="49" charset="-122"/>
                <a:ea typeface="楷体" panose="02010609060101010101" pitchFamily="49" charset="-122"/>
              </a:rPr>
              <a:t>、</a:t>
            </a:r>
            <a:r>
              <a:rPr lang="zh-CN" altLang="en-US" dirty="0">
                <a:solidFill>
                  <a:srgbClr val="FF0000"/>
                </a:solidFill>
                <a:latin typeface="楷体" panose="02010609060101010101" pitchFamily="49" charset="-122"/>
                <a:ea typeface="楷体" panose="02010609060101010101" pitchFamily="49" charset="-122"/>
              </a:rPr>
              <a:t>指导与管理项目工作</a:t>
            </a:r>
            <a:r>
              <a:rPr lang="zh-CN" altLang="en-US" dirty="0">
                <a:solidFill>
                  <a:schemeClr val="bg2"/>
                </a:solidFill>
                <a:latin typeface="楷体" panose="02010609060101010101" pitchFamily="49" charset="-122"/>
                <a:ea typeface="楷体" panose="02010609060101010101" pitchFamily="49" charset="-122"/>
              </a:rPr>
              <a:t>、</a:t>
            </a:r>
            <a:r>
              <a:rPr lang="zh-CN" altLang="en-US" dirty="0">
                <a:solidFill>
                  <a:srgbClr val="FF0000"/>
                </a:solidFill>
                <a:latin typeface="楷体" panose="02010609060101010101" pitchFamily="49" charset="-122"/>
                <a:ea typeface="楷体" panose="02010609060101010101" pitchFamily="49" charset="-122"/>
              </a:rPr>
              <a:t>监控项目工作</a:t>
            </a:r>
            <a:r>
              <a:rPr lang="zh-CN" altLang="en-US" dirty="0">
                <a:solidFill>
                  <a:schemeClr val="bg2"/>
                </a:solidFill>
                <a:latin typeface="楷体" panose="02010609060101010101" pitchFamily="49" charset="-122"/>
                <a:ea typeface="楷体" panose="02010609060101010101" pitchFamily="49" charset="-122"/>
              </a:rPr>
              <a:t>、</a:t>
            </a:r>
            <a:r>
              <a:rPr lang="zh-CN" altLang="en-US" dirty="0">
                <a:solidFill>
                  <a:srgbClr val="FF0000"/>
                </a:solidFill>
                <a:latin typeface="楷体" panose="02010609060101010101" pitchFamily="49" charset="-122"/>
                <a:ea typeface="楷体" panose="02010609060101010101" pitchFamily="49" charset="-122"/>
              </a:rPr>
              <a:t>实施整体变更控制</a:t>
            </a:r>
            <a:r>
              <a:rPr lang="zh-CN" altLang="en-US" dirty="0">
                <a:solidFill>
                  <a:schemeClr val="bg2"/>
                </a:solidFill>
                <a:latin typeface="楷体" panose="02010609060101010101" pitchFamily="49" charset="-122"/>
                <a:ea typeface="楷体" panose="02010609060101010101" pitchFamily="49" charset="-122"/>
              </a:rPr>
              <a:t>和</a:t>
            </a:r>
            <a:r>
              <a:rPr lang="zh-CN" altLang="en-US" dirty="0">
                <a:solidFill>
                  <a:srgbClr val="FF0000"/>
                </a:solidFill>
                <a:latin typeface="楷体" panose="02010609060101010101" pitchFamily="49" charset="-122"/>
                <a:ea typeface="楷体" panose="02010609060101010101" pitchFamily="49" charset="-122"/>
              </a:rPr>
              <a:t>结束项目或项目阶段</a:t>
            </a:r>
            <a:r>
              <a:rPr lang="zh-CN" altLang="en-US" dirty="0">
                <a:solidFill>
                  <a:schemeClr val="bg2"/>
                </a:solidFill>
                <a:latin typeface="楷体" panose="02010609060101010101" pitchFamily="49" charset="-122"/>
                <a:ea typeface="楷体" panose="02010609060101010101" pitchFamily="49" charset="-122"/>
              </a:rPr>
              <a:t>等</a:t>
            </a:r>
            <a:r>
              <a:rPr lang="en-US" altLang="zh-CN" dirty="0">
                <a:solidFill>
                  <a:schemeClr val="bg2"/>
                </a:solidFill>
                <a:ea typeface="楷体" panose="02010609060101010101" pitchFamily="49" charset="-122"/>
                <a:cs typeface="Times New Roman" panose="02020603050405020304" pitchFamily="18" charset="0"/>
              </a:rPr>
              <a:t>6</a:t>
            </a:r>
            <a:r>
              <a:rPr lang="zh-CN" altLang="en-US" dirty="0">
                <a:solidFill>
                  <a:schemeClr val="bg2"/>
                </a:solidFill>
                <a:latin typeface="楷体" panose="02010609060101010101" pitchFamily="49" charset="-122"/>
                <a:ea typeface="楷体" panose="02010609060101010101" pitchFamily="49" charset="-122"/>
              </a:rPr>
              <a:t>个过程。</a:t>
            </a:r>
          </a:p>
        </p:txBody>
      </p:sp>
      <p:sp>
        <p:nvSpPr>
          <p:cNvPr id="9221" name="Text Box 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lgn="r">
              <a:spcBef>
                <a:spcPct val="50000"/>
              </a:spcBef>
            </a:pPr>
            <a:r>
              <a:rPr lang="en-US" altLang="zh-CN" sz="2400">
                <a:solidFill>
                  <a:schemeClr val="bg2"/>
                </a:solidFill>
              </a:rPr>
              <a:t>P.63</a:t>
            </a:r>
          </a:p>
        </p:txBody>
      </p:sp>
      <p:sp>
        <p:nvSpPr>
          <p:cNvPr id="9227" name="Rectangle 27"/>
          <p:cNvSpPr>
            <a:spLocks noChangeArrowheads="1"/>
          </p:cNvSpPr>
          <p:nvPr/>
        </p:nvSpPr>
        <p:spPr bwMode="auto">
          <a:xfrm>
            <a:off x="103188" y="620713"/>
            <a:ext cx="4324350" cy="549275"/>
          </a:xfrm>
          <a:prstGeom prst="rect">
            <a:avLst/>
          </a:prstGeom>
          <a:noFill/>
          <a:ln w="9525">
            <a:noFill/>
            <a:miter lim="800000"/>
          </a:ln>
        </p:spPr>
        <p:txBody>
          <a:bodyPr>
            <a:spAutoFit/>
          </a:bodyPr>
          <a:lstStyle/>
          <a:p>
            <a:pPr algn="l"/>
            <a:r>
              <a:rPr kumimoji="0" lang="en-US" altLang="zh-CN" sz="3000" dirty="0"/>
              <a:t>3.1 </a:t>
            </a:r>
            <a:r>
              <a:rPr kumimoji="0" lang="zh-CN" altLang="en-US" sz="3000" dirty="0">
                <a:latin typeface="楷体" panose="02010609060101010101" pitchFamily="49" charset="-122"/>
                <a:ea typeface="楷体" panose="02010609060101010101" pitchFamily="49" charset="-122"/>
              </a:rPr>
              <a:t>整合项目资源概述</a:t>
            </a:r>
          </a:p>
        </p:txBody>
      </p:sp>
      <p:pic>
        <p:nvPicPr>
          <p:cNvPr id="17" name="图片 16"/>
          <p:cNvPicPr/>
          <p:nvPr/>
        </p:nvPicPr>
        <p:blipFill>
          <a:blip r:embed="rId3"/>
          <a:srcRect/>
          <a:stretch>
            <a:fillRect/>
          </a:stretch>
        </p:blipFill>
        <p:spPr bwMode="auto">
          <a:xfrm>
            <a:off x="285720" y="2924944"/>
            <a:ext cx="8501122" cy="3214710"/>
          </a:xfrm>
          <a:prstGeom prst="rect">
            <a:avLst/>
          </a:prstGeom>
          <a:noFill/>
          <a:ln w="9525">
            <a:noFill/>
            <a:miter lim="800000"/>
            <a:headEnd/>
            <a:tailEnd/>
          </a:ln>
        </p:spPr>
      </p:pic>
      <p:sp>
        <p:nvSpPr>
          <p:cNvPr id="18" name="矩形 17"/>
          <p:cNvSpPr/>
          <p:nvPr/>
        </p:nvSpPr>
        <p:spPr>
          <a:xfrm>
            <a:off x="2214546" y="6457890"/>
            <a:ext cx="4572000" cy="398780"/>
          </a:xfrm>
          <a:prstGeom prst="rect">
            <a:avLst/>
          </a:prstGeom>
        </p:spPr>
        <p:txBody>
          <a:bodyPr>
            <a:spAutoFit/>
          </a:bodyPr>
          <a:lstStyle/>
          <a:p>
            <a:r>
              <a:rPr lang="zh-CN" altLang="en-US" sz="2000" dirty="0">
                <a:solidFill>
                  <a:srgbClr val="FF0000"/>
                </a:solidFill>
                <a:latin typeface="楷体" panose="02010609060101010101" pitchFamily="49" charset="-122"/>
                <a:ea typeface="楷体" panose="02010609060101010101" pitchFamily="49" charset="-122"/>
              </a:rPr>
              <a:t>图</a:t>
            </a:r>
            <a:r>
              <a:rPr lang="en-US" sz="2000" dirty="0">
                <a:solidFill>
                  <a:srgbClr val="FF0000"/>
                </a:solidFill>
                <a:latin typeface="+mn-lt"/>
                <a:ea typeface="黑体" panose="02010609060101010101" pitchFamily="49" charset="-122"/>
                <a:cs typeface="+mn-lt"/>
              </a:rPr>
              <a:t>3-1</a:t>
            </a:r>
            <a:r>
              <a:rPr lang="zh-CN" altLang="en-US" sz="2000" dirty="0">
                <a:solidFill>
                  <a:srgbClr val="FF0000"/>
                </a:solidFill>
                <a:latin typeface="楷体" panose="02010609060101010101" pitchFamily="49" charset="-122"/>
                <a:ea typeface="楷体" panose="02010609060101010101" pitchFamily="49" charset="-122"/>
              </a:rPr>
              <a:t>项目整合管理主要过程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nimBg="1"/>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p:nvPr/>
        </p:nvPicPr>
        <p:blipFill>
          <a:blip r:embed="rId3"/>
          <a:srcRect/>
          <a:stretch>
            <a:fillRect/>
          </a:stretch>
        </p:blipFill>
        <p:spPr bwMode="auto">
          <a:xfrm>
            <a:off x="1" y="0"/>
            <a:ext cx="9143999" cy="6858000"/>
          </a:xfrm>
          <a:prstGeom prst="rect">
            <a:avLst/>
          </a:prstGeom>
          <a:noFill/>
          <a:ln w="9525">
            <a:noFill/>
            <a:miter lim="800000"/>
            <a:headEnd/>
            <a:tailEnd/>
          </a:ln>
        </p:spPr>
      </p:pic>
      <p:sp>
        <p:nvSpPr>
          <p:cNvPr id="15" name="Text Box 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lgn="r">
              <a:spcBef>
                <a:spcPct val="50000"/>
              </a:spcBef>
            </a:pPr>
            <a:r>
              <a:rPr lang="en-US" altLang="zh-CN" sz="2400">
                <a:solidFill>
                  <a:schemeClr val="bg2"/>
                </a:solidFill>
              </a:rPr>
              <a:t>P.15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9"/>
          <p:cNvSpPr>
            <a:spLocks noGrp="1" noChangeArrowheads="1"/>
          </p:cNvSpPr>
          <p:nvPr>
            <p:ph type="sldNum" sz="quarter" idx="10"/>
          </p:nvPr>
        </p:nvSpPr>
        <p:spPr>
          <a:noFill/>
        </p:spPr>
        <p:txBody>
          <a:bodyPr/>
          <a:lstStyle/>
          <a:p>
            <a:r>
              <a:rPr lang="zh-CN" altLang="en-GB" dirty="0"/>
              <a:t>  </a:t>
            </a:r>
            <a:fld id="{E208C310-D5F4-4BA4-AC3B-E0DBD626174D}" type="slidenum">
              <a:rPr lang="zh-CN" altLang="en-GB" smtClean="0"/>
              <a:t>9</a:t>
            </a:fld>
            <a:endParaRPr lang="en-US" altLang="zh-CN" dirty="0"/>
          </a:p>
        </p:txBody>
      </p:sp>
      <p:sp>
        <p:nvSpPr>
          <p:cNvPr id="9219"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855044" name="Text Box 4"/>
          <p:cNvSpPr txBox="1">
            <a:spLocks noChangeArrowheads="1"/>
          </p:cNvSpPr>
          <p:nvPr/>
        </p:nvSpPr>
        <p:spPr bwMode="auto">
          <a:xfrm>
            <a:off x="107950" y="1341438"/>
            <a:ext cx="9036050" cy="3847207"/>
          </a:xfrm>
          <a:prstGeom prst="rect">
            <a:avLst/>
          </a:prstGeom>
          <a:noFill/>
          <a:ln w="28575">
            <a:noFill/>
            <a:miter lim="800000"/>
          </a:ln>
        </p:spPr>
        <p:txBody>
          <a:bodyPr>
            <a:spAutoFit/>
          </a:bodyPr>
          <a:lstStyle/>
          <a:p>
            <a:pPr algn="l">
              <a:spcBef>
                <a:spcPts val="600"/>
              </a:spcBef>
              <a:spcAft>
                <a:spcPts val="600"/>
              </a:spcAft>
              <a:buClr>
                <a:schemeClr val="hlink"/>
              </a:buClr>
            </a:pPr>
            <a:r>
              <a:rPr lang="zh-CN" altLang="en-US" dirty="0">
                <a:solidFill>
                  <a:schemeClr val="bg2"/>
                </a:solidFill>
                <a:latin typeface="楷体" panose="02010609060101010101" pitchFamily="49" charset="-122"/>
                <a:ea typeface="楷体" panose="02010609060101010101" pitchFamily="49" charset="-122"/>
              </a:rPr>
              <a:t>项目整合管理的</a:t>
            </a:r>
            <a:r>
              <a:rPr lang="zh-CN" altLang="en-US" dirty="0">
                <a:solidFill>
                  <a:schemeClr val="bg1"/>
                </a:solidFill>
                <a:latin typeface="楷体" panose="02010609060101010101" pitchFamily="49" charset="-122"/>
                <a:ea typeface="楷体" panose="02010609060101010101" pitchFamily="49" charset="-122"/>
              </a:rPr>
              <a:t>核心工作</a:t>
            </a:r>
            <a:r>
              <a:rPr lang="zh-CN" altLang="en-US" dirty="0">
                <a:solidFill>
                  <a:schemeClr val="bg2"/>
                </a:solidFill>
                <a:latin typeface="楷体" panose="02010609060101010101" pitchFamily="49" charset="-122"/>
                <a:ea typeface="楷体" panose="02010609060101010101" pitchFamily="49" charset="-122"/>
              </a:rPr>
              <a:t>是</a:t>
            </a:r>
            <a:r>
              <a:rPr lang="zh-CN" altLang="en-US" dirty="0">
                <a:solidFill>
                  <a:schemeClr val="bg1"/>
                </a:solidFill>
                <a:latin typeface="楷体" panose="02010609060101010101" pitchFamily="49" charset="-122"/>
                <a:ea typeface="楷体" panose="02010609060101010101" pitchFamily="49" charset="-122"/>
              </a:rPr>
              <a:t>项目资源整合</a:t>
            </a:r>
            <a:r>
              <a:rPr lang="zh-CN" altLang="en-US" dirty="0">
                <a:solidFill>
                  <a:schemeClr val="bg2"/>
                </a:solidFill>
                <a:latin typeface="楷体" panose="02010609060101010101" pitchFamily="49" charset="-122"/>
                <a:ea typeface="楷体" panose="02010609060101010101" pitchFamily="49" charset="-122"/>
              </a:rPr>
              <a:t>，项目资源整合工作主要包括</a:t>
            </a:r>
            <a:r>
              <a:rPr lang="zh-CN" altLang="en-US" dirty="0">
                <a:solidFill>
                  <a:schemeClr val="bg1"/>
                </a:solidFill>
                <a:latin typeface="楷体" panose="02010609060101010101" pitchFamily="49" charset="-122"/>
                <a:ea typeface="楷体" panose="02010609060101010101" pitchFamily="49" charset="-122"/>
              </a:rPr>
              <a:t>明确项目有哪些资源</a:t>
            </a:r>
            <a:r>
              <a:rPr lang="zh-CN" altLang="en-US" dirty="0">
                <a:solidFill>
                  <a:schemeClr val="bg2"/>
                </a:solidFill>
                <a:latin typeface="楷体" panose="02010609060101010101" pitchFamily="49" charset="-122"/>
                <a:ea typeface="楷体" panose="02010609060101010101" pitchFamily="49" charset="-122"/>
              </a:rPr>
              <a:t>，并通过整合这些资源以达成项目干系人的愿景。</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项目整合管理是在</a:t>
            </a:r>
            <a:r>
              <a:rPr lang="zh-CN" altLang="en-US" dirty="0">
                <a:solidFill>
                  <a:schemeClr val="bg1"/>
                </a:solidFill>
                <a:latin typeface="楷体" panose="02010609060101010101" pitchFamily="49" charset="-122"/>
                <a:ea typeface="楷体" panose="02010609060101010101" pitchFamily="49" charset="-122"/>
              </a:rPr>
              <a:t>整个组织的环境中进行的</a:t>
            </a:r>
            <a:r>
              <a:rPr lang="zh-CN" altLang="en-US" dirty="0">
                <a:solidFill>
                  <a:schemeClr val="bg2"/>
                </a:solidFill>
                <a:latin typeface="楷体" panose="02010609060101010101" pitchFamily="49" charset="-122"/>
                <a:ea typeface="楷体" panose="02010609060101010101" pitchFamily="49" charset="-122"/>
              </a:rPr>
              <a:t>，而不是只在一个具体项目的内部进行。</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项目工作必须与实施组织的日常持续运作紧密结合，</a:t>
            </a:r>
            <a:r>
              <a:rPr lang="zh-CN" altLang="en-US" dirty="0">
                <a:solidFill>
                  <a:srgbClr val="0000FF"/>
                </a:solidFill>
                <a:latin typeface="楷体" panose="02010609060101010101" pitchFamily="49" charset="-122"/>
                <a:ea typeface="楷体" panose="02010609060101010101" pitchFamily="49" charset="-122"/>
              </a:rPr>
              <a:t>必须有人负责协调完成一个项目所需要的所有人员、计划以及其他与项目有关的工作。</a:t>
            </a:r>
          </a:p>
        </p:txBody>
      </p:sp>
      <p:sp>
        <p:nvSpPr>
          <p:cNvPr id="9221" name="Text Box 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lgn="r">
              <a:spcBef>
                <a:spcPct val="50000"/>
              </a:spcBef>
            </a:pPr>
            <a:r>
              <a:rPr lang="en-US" altLang="zh-CN" sz="2400">
                <a:solidFill>
                  <a:schemeClr val="bg2"/>
                </a:solidFill>
              </a:rPr>
              <a:t>P.63</a:t>
            </a:r>
          </a:p>
        </p:txBody>
      </p:sp>
      <p:sp>
        <p:nvSpPr>
          <p:cNvPr id="9227" name="Rectangle 27"/>
          <p:cNvSpPr>
            <a:spLocks noChangeArrowheads="1"/>
          </p:cNvSpPr>
          <p:nvPr/>
        </p:nvSpPr>
        <p:spPr bwMode="auto">
          <a:xfrm>
            <a:off x="103188" y="620713"/>
            <a:ext cx="4324350" cy="549275"/>
          </a:xfrm>
          <a:prstGeom prst="rect">
            <a:avLst/>
          </a:prstGeom>
          <a:noFill/>
          <a:ln w="9525">
            <a:noFill/>
            <a:miter lim="800000"/>
          </a:ln>
        </p:spPr>
        <p:txBody>
          <a:bodyPr>
            <a:spAutoFit/>
          </a:bodyPr>
          <a:lstStyle/>
          <a:p>
            <a:pPr algn="l"/>
            <a:r>
              <a:rPr kumimoji="0" lang="en-US" altLang="zh-CN" sz="3000" dirty="0"/>
              <a:t>3.1 </a:t>
            </a:r>
            <a:r>
              <a:rPr kumimoji="0" lang="zh-CN" altLang="en-US" sz="3000" dirty="0">
                <a:latin typeface="楷体" panose="02010609060101010101" pitchFamily="49" charset="-122"/>
                <a:ea typeface="楷体" panose="02010609060101010101" pitchFamily="49" charset="-122"/>
              </a:rPr>
              <a:t>整合项目资源概述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504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504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9"/>
          <p:cNvSpPr>
            <a:spLocks noGrp="1" noChangeArrowheads="1"/>
          </p:cNvSpPr>
          <p:nvPr>
            <p:ph type="sldNum" sz="quarter" idx="10"/>
          </p:nvPr>
        </p:nvSpPr>
        <p:spPr>
          <a:noFill/>
        </p:spPr>
        <p:txBody>
          <a:bodyPr/>
          <a:lstStyle/>
          <a:p>
            <a:r>
              <a:rPr lang="zh-CN" altLang="en-GB" dirty="0"/>
              <a:t>  </a:t>
            </a:r>
            <a:fld id="{E208C310-D5F4-4BA4-AC3B-E0DBD626174D}" type="slidenum">
              <a:rPr lang="zh-CN" altLang="en-GB" smtClean="0"/>
              <a:t>10</a:t>
            </a:fld>
            <a:endParaRPr lang="en-US" altLang="zh-CN" dirty="0"/>
          </a:p>
        </p:txBody>
      </p:sp>
      <p:sp>
        <p:nvSpPr>
          <p:cNvPr id="9219"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855044" name="Text Box 4"/>
          <p:cNvSpPr txBox="1">
            <a:spLocks noChangeArrowheads="1"/>
          </p:cNvSpPr>
          <p:nvPr/>
        </p:nvSpPr>
        <p:spPr bwMode="auto">
          <a:xfrm>
            <a:off x="107950" y="1341438"/>
            <a:ext cx="9036050" cy="3619452"/>
          </a:xfrm>
          <a:prstGeom prst="rect">
            <a:avLst/>
          </a:prstGeom>
          <a:noFill/>
          <a:ln w="28575">
            <a:noFill/>
            <a:miter lim="800000"/>
          </a:ln>
        </p:spPr>
        <p:txBody>
          <a:bodyPr>
            <a:spAutoFit/>
          </a:bodyPr>
          <a:lstStyle/>
          <a:p>
            <a:pPr algn="l">
              <a:spcBef>
                <a:spcPts val="1200"/>
              </a:spcBef>
              <a:spcAft>
                <a:spcPts val="600"/>
              </a:spcAft>
              <a:buClr>
                <a:schemeClr val="hlink"/>
              </a:buClr>
            </a:pPr>
            <a:r>
              <a:rPr lang="zh-CN" altLang="en-US" dirty="0">
                <a:solidFill>
                  <a:schemeClr val="bg2"/>
                </a:solidFill>
                <a:latin typeface="楷体" panose="02010609060101010101" pitchFamily="49" charset="-122"/>
                <a:ea typeface="楷体" panose="02010609060101010101" pitchFamily="49" charset="-122"/>
              </a:rPr>
              <a:t>可以把项目的各要素都看成是各种资源，整合项目资源就是项目整合管理的过程， 但尚需明确以下几点：</a:t>
            </a:r>
          </a:p>
          <a:p>
            <a:pPr lvl="1" algn="l">
              <a:spcBef>
                <a:spcPts val="1200"/>
              </a:spcBef>
              <a:spcAft>
                <a:spcPts val="600"/>
              </a:spcAft>
            </a:pPr>
            <a:r>
              <a:rPr lang="zh-CN" altLang="en-US" dirty="0">
                <a:solidFill>
                  <a:schemeClr val="bg2"/>
                </a:solidFill>
                <a:latin typeface="楷体" panose="02010609060101010101" pitchFamily="49" charset="-122"/>
                <a:ea typeface="楷体" panose="02010609060101010101" pitchFamily="49" charset="-122"/>
              </a:rPr>
              <a:t>（</a:t>
            </a:r>
            <a:r>
              <a:rPr lang="en-US" altLang="en-US" dirty="0">
                <a:solidFill>
                  <a:schemeClr val="bg2"/>
                </a:solidFill>
                <a:latin typeface="楷体" panose="02010609060101010101" pitchFamily="49" charset="-122"/>
                <a:ea typeface="楷体" panose="02010609060101010101" pitchFamily="49" charset="-122"/>
              </a:rPr>
              <a:t>1</a:t>
            </a:r>
            <a:r>
              <a:rPr lang="zh-CN" altLang="en-US" dirty="0">
                <a:solidFill>
                  <a:schemeClr val="bg2"/>
                </a:solidFill>
                <a:latin typeface="楷体" panose="02010609060101010101" pitchFamily="49" charset="-122"/>
                <a:ea typeface="楷体" panose="02010609060101010101" pitchFamily="49" charset="-122"/>
              </a:rPr>
              <a:t>）“整合项目资源”在项目管理中的地位和作用。</a:t>
            </a:r>
          </a:p>
          <a:p>
            <a:pPr lvl="1" algn="l">
              <a:spcBef>
                <a:spcPts val="1200"/>
              </a:spcBef>
              <a:spcAft>
                <a:spcPts val="600"/>
              </a:spcAft>
            </a:pPr>
            <a:r>
              <a:rPr lang="zh-CN" altLang="en-US" dirty="0">
                <a:solidFill>
                  <a:schemeClr val="bg2"/>
                </a:solidFill>
                <a:latin typeface="楷体" panose="02010609060101010101" pitchFamily="49" charset="-122"/>
                <a:ea typeface="楷体" panose="02010609060101010101" pitchFamily="49" charset="-122"/>
              </a:rPr>
              <a:t>（</a:t>
            </a:r>
            <a:r>
              <a:rPr lang="en-US" altLang="en-US" dirty="0">
                <a:solidFill>
                  <a:schemeClr val="bg2"/>
                </a:solidFill>
                <a:latin typeface="楷体" panose="02010609060101010101" pitchFamily="49" charset="-122"/>
                <a:ea typeface="楷体" panose="02010609060101010101" pitchFamily="49" charset="-122"/>
              </a:rPr>
              <a:t>2</a:t>
            </a:r>
            <a:r>
              <a:rPr lang="zh-CN" altLang="en-US" dirty="0">
                <a:solidFill>
                  <a:schemeClr val="bg2"/>
                </a:solidFill>
                <a:latin typeface="楷体" panose="02010609060101010101" pitchFamily="49" charset="-122"/>
                <a:ea typeface="楷体" panose="02010609060101010101" pitchFamily="49" charset="-122"/>
              </a:rPr>
              <a:t>）项目的资源有哪些？</a:t>
            </a:r>
          </a:p>
          <a:p>
            <a:pPr lvl="1" algn="l">
              <a:spcBef>
                <a:spcPts val="1200"/>
              </a:spcBef>
              <a:spcAft>
                <a:spcPts val="600"/>
              </a:spcAft>
            </a:pPr>
            <a:r>
              <a:rPr lang="zh-CN" altLang="en-US" dirty="0">
                <a:solidFill>
                  <a:schemeClr val="bg2"/>
                </a:solidFill>
                <a:latin typeface="楷体" panose="02010609060101010101" pitchFamily="49" charset="-122"/>
                <a:ea typeface="楷体" panose="02010609060101010101" pitchFamily="49" charset="-122"/>
              </a:rPr>
              <a:t>（</a:t>
            </a:r>
            <a:r>
              <a:rPr lang="en-US" altLang="en-US" dirty="0">
                <a:solidFill>
                  <a:schemeClr val="bg2"/>
                </a:solidFill>
                <a:latin typeface="楷体" panose="02010609060101010101" pitchFamily="49" charset="-122"/>
                <a:ea typeface="楷体" panose="02010609060101010101" pitchFamily="49" charset="-122"/>
              </a:rPr>
              <a:t>3</a:t>
            </a:r>
            <a:r>
              <a:rPr lang="zh-CN" altLang="en-US" dirty="0">
                <a:solidFill>
                  <a:schemeClr val="bg2"/>
                </a:solidFill>
                <a:latin typeface="楷体" panose="02010609060101010101" pitchFamily="49" charset="-122"/>
                <a:ea typeface="楷体" panose="02010609060101010101" pitchFamily="49" charset="-122"/>
              </a:rPr>
              <a:t>）项目干系人指的是哪些人？</a:t>
            </a:r>
          </a:p>
          <a:p>
            <a:pPr algn="l">
              <a:spcBef>
                <a:spcPct val="40000"/>
              </a:spcBef>
              <a:buClr>
                <a:schemeClr val="hlink"/>
              </a:buClr>
            </a:pPr>
            <a:endParaRPr lang="zh-CN" altLang="en-US" dirty="0">
              <a:solidFill>
                <a:schemeClr val="bg2"/>
              </a:solidFill>
              <a:latin typeface="方正姚体" panose="02010601030101010101" pitchFamily="2" charset="-122"/>
              <a:ea typeface="方正姚体" panose="02010601030101010101" pitchFamily="2" charset="-122"/>
            </a:endParaRPr>
          </a:p>
        </p:txBody>
      </p:sp>
      <p:sp>
        <p:nvSpPr>
          <p:cNvPr id="9221" name="Text Box 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lgn="r">
              <a:spcBef>
                <a:spcPct val="50000"/>
              </a:spcBef>
            </a:pPr>
            <a:r>
              <a:rPr lang="en-US" altLang="zh-CN" sz="2400">
                <a:solidFill>
                  <a:schemeClr val="bg2"/>
                </a:solidFill>
              </a:rPr>
              <a:t>P.63</a:t>
            </a:r>
          </a:p>
        </p:txBody>
      </p:sp>
      <p:sp>
        <p:nvSpPr>
          <p:cNvPr id="9227" name="Rectangle 27"/>
          <p:cNvSpPr>
            <a:spLocks noChangeArrowheads="1"/>
          </p:cNvSpPr>
          <p:nvPr/>
        </p:nvSpPr>
        <p:spPr bwMode="auto">
          <a:xfrm>
            <a:off x="103188" y="620713"/>
            <a:ext cx="4324350" cy="549275"/>
          </a:xfrm>
          <a:prstGeom prst="rect">
            <a:avLst/>
          </a:prstGeom>
          <a:noFill/>
          <a:ln w="9525">
            <a:noFill/>
            <a:miter lim="800000"/>
          </a:ln>
        </p:spPr>
        <p:txBody>
          <a:bodyPr>
            <a:spAutoFit/>
          </a:bodyPr>
          <a:lstStyle/>
          <a:p>
            <a:pPr algn="l"/>
            <a:r>
              <a:rPr kumimoji="0" lang="en-US" altLang="zh-CN" sz="3000" dirty="0"/>
              <a:t>3.1 </a:t>
            </a:r>
            <a:r>
              <a:rPr kumimoji="0" lang="zh-CN" altLang="en-US" sz="3000" dirty="0">
                <a:latin typeface="楷体" panose="02010609060101010101" pitchFamily="49" charset="-122"/>
                <a:ea typeface="楷体" panose="02010609060101010101" pitchFamily="49" charset="-122"/>
              </a:rPr>
              <a:t>整合项目资源概述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504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504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504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p:cNvPicPr/>
          <p:nvPr/>
        </p:nvPicPr>
        <p:blipFill>
          <a:blip r:embed="rId3"/>
          <a:srcRect/>
          <a:stretch>
            <a:fillRect/>
          </a:stretch>
        </p:blipFill>
        <p:spPr bwMode="auto">
          <a:xfrm>
            <a:off x="0" y="1354548"/>
            <a:ext cx="6215074" cy="4786346"/>
          </a:xfrm>
          <a:prstGeom prst="rect">
            <a:avLst/>
          </a:prstGeom>
          <a:noFill/>
          <a:ln w="9525">
            <a:noFill/>
            <a:miter lim="800000"/>
            <a:headEnd/>
            <a:tailEnd/>
          </a:ln>
        </p:spPr>
      </p:pic>
      <p:sp>
        <p:nvSpPr>
          <p:cNvPr id="10242" name="Rectangle 9"/>
          <p:cNvSpPr>
            <a:spLocks noGrp="1" noChangeArrowheads="1"/>
          </p:cNvSpPr>
          <p:nvPr>
            <p:ph type="sldNum" sz="quarter" idx="10"/>
          </p:nvPr>
        </p:nvSpPr>
        <p:spPr>
          <a:noFill/>
        </p:spPr>
        <p:txBody>
          <a:bodyPr/>
          <a:lstStyle/>
          <a:p>
            <a:r>
              <a:rPr lang="zh-CN" altLang="en-GB" dirty="0"/>
              <a:t>  </a:t>
            </a:r>
            <a:fld id="{9431226F-9300-4CDC-B685-12CE96D93347}" type="slidenum">
              <a:rPr lang="zh-CN" altLang="en-GB" smtClean="0"/>
              <a:t>11</a:t>
            </a:fld>
            <a:endParaRPr lang="en-US" altLang="zh-CN" dirty="0"/>
          </a:p>
        </p:txBody>
      </p:sp>
      <p:sp>
        <p:nvSpPr>
          <p:cNvPr id="10243"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10244"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P.64</a:t>
            </a:r>
          </a:p>
        </p:txBody>
      </p:sp>
      <p:sp>
        <p:nvSpPr>
          <p:cNvPr id="609287" name="Text Box 7"/>
          <p:cNvSpPr txBox="1">
            <a:spLocks noChangeArrowheads="1"/>
          </p:cNvSpPr>
          <p:nvPr/>
        </p:nvSpPr>
        <p:spPr bwMode="auto">
          <a:xfrm>
            <a:off x="6191282" y="1557338"/>
            <a:ext cx="2881312" cy="4679950"/>
          </a:xfrm>
          <a:prstGeom prst="rect">
            <a:avLst/>
          </a:prstGeom>
          <a:noFill/>
          <a:ln w="9525">
            <a:noFill/>
            <a:miter lim="800000"/>
          </a:ln>
        </p:spPr>
        <p:txBody>
          <a:bodyPr tIns="0" bIns="0"/>
          <a:lstStyle/>
          <a:p>
            <a:pPr algn="l" eaLnBrk="0" hangingPunct="0">
              <a:spcBef>
                <a:spcPct val="50000"/>
              </a:spcBef>
              <a:buClr>
                <a:schemeClr val="hlink"/>
              </a:buClr>
              <a:buFont typeface="Arial" panose="020B0604020202020204" pitchFamily="34" charset="0"/>
              <a:buChar char="•"/>
            </a:pPr>
            <a:r>
              <a:rPr lang="zh-CN" altLang="en-US" sz="2400" dirty="0">
                <a:solidFill>
                  <a:schemeClr val="bg2"/>
                </a:solidFill>
                <a:latin typeface="楷体" panose="02010609060101010101" pitchFamily="49" charset="-122"/>
                <a:ea typeface="楷体" panose="02010609060101010101" pitchFamily="49" charset="-122"/>
              </a:rPr>
              <a:t>通过项目资源的整合，将</a:t>
            </a:r>
            <a:r>
              <a:rPr lang="en-GB" altLang="zh-CN" sz="2400" dirty="0">
                <a:solidFill>
                  <a:schemeClr val="bg2"/>
                </a:solidFill>
                <a:latin typeface="楷体" panose="02010609060101010101" pitchFamily="49" charset="-122"/>
                <a:ea typeface="楷体" panose="02010609060101010101" pitchFamily="49" charset="-122"/>
              </a:rPr>
              <a:t>9</a:t>
            </a:r>
            <a:r>
              <a:rPr lang="zh-CN" altLang="en-GB" sz="2400" dirty="0">
                <a:solidFill>
                  <a:schemeClr val="bg2"/>
                </a:solidFill>
                <a:latin typeface="楷体" panose="02010609060101010101" pitchFamily="49" charset="-122"/>
                <a:ea typeface="楷体" panose="02010609060101010101" pitchFamily="49" charset="-122"/>
              </a:rPr>
              <a:t>大领域的相关</a:t>
            </a:r>
            <a:r>
              <a:rPr lang="zh-CN" altLang="en-US" sz="2400" dirty="0">
                <a:solidFill>
                  <a:schemeClr val="bg2"/>
                </a:solidFill>
                <a:latin typeface="楷体" panose="02010609060101010101" pitchFamily="49" charset="-122"/>
                <a:ea typeface="楷体" panose="02010609060101010101" pitchFamily="49" charset="-122"/>
              </a:rPr>
              <a:t>要素有机地结合在一起，随着项目沿着其生命周期演化，这些要素将围绕项目的目标而不断结合起来。 </a:t>
            </a:r>
          </a:p>
          <a:p>
            <a:pPr algn="l" eaLnBrk="0" hangingPunct="0">
              <a:spcBef>
                <a:spcPct val="50000"/>
              </a:spcBef>
              <a:buClr>
                <a:schemeClr val="hlink"/>
              </a:buClr>
              <a:buFont typeface="Arial" panose="020B0604020202020204" pitchFamily="34" charset="0"/>
              <a:buChar char="•"/>
            </a:pPr>
            <a:r>
              <a:rPr lang="zh-CN" altLang="en-US" sz="2400" dirty="0">
                <a:solidFill>
                  <a:srgbClr val="0000FF"/>
                </a:solidFill>
                <a:latin typeface="楷体" panose="02010609060101010101" pitchFamily="49" charset="-122"/>
                <a:ea typeface="楷体" panose="02010609060101010101" pitchFamily="49" charset="-122"/>
              </a:rPr>
              <a:t>这些要素</a:t>
            </a:r>
            <a:r>
              <a:rPr lang="zh-CN" altLang="en-US" sz="2400" dirty="0">
                <a:solidFill>
                  <a:schemeClr val="bg1"/>
                </a:solidFill>
                <a:latin typeface="楷体" panose="02010609060101010101" pitchFamily="49" charset="-122"/>
                <a:ea typeface="楷体" panose="02010609060101010101" pitchFamily="49" charset="-122"/>
              </a:rPr>
              <a:t>完美</a:t>
            </a:r>
            <a:r>
              <a:rPr lang="zh-CN" altLang="en-US" sz="2400" dirty="0">
                <a:solidFill>
                  <a:srgbClr val="0000FF"/>
                </a:solidFill>
                <a:latin typeface="楷体" panose="02010609060101010101" pitchFamily="49" charset="-122"/>
                <a:ea typeface="楷体" panose="02010609060101010101" pitchFamily="49" charset="-122"/>
              </a:rPr>
              <a:t>揉合之际，就是项目成功之时。</a:t>
            </a:r>
          </a:p>
        </p:txBody>
      </p:sp>
      <p:sp>
        <p:nvSpPr>
          <p:cNvPr id="10250" name="Rectangle 34"/>
          <p:cNvSpPr>
            <a:spLocks noChangeArrowheads="1"/>
          </p:cNvSpPr>
          <p:nvPr/>
        </p:nvSpPr>
        <p:spPr bwMode="auto">
          <a:xfrm>
            <a:off x="998538" y="6452394"/>
            <a:ext cx="4511040" cy="368300"/>
          </a:xfrm>
          <a:prstGeom prst="rect">
            <a:avLst/>
          </a:prstGeom>
          <a:noFill/>
          <a:ln w="9525">
            <a:noFill/>
            <a:miter lim="800000"/>
          </a:ln>
        </p:spPr>
        <p:txBody>
          <a:bodyPr wrap="none" anchor="ctr">
            <a:spAutoFit/>
          </a:bodyPr>
          <a:lstStyle/>
          <a:p>
            <a:pPr algn="l"/>
            <a:r>
              <a:rPr kumimoji="0" lang="zh-CN" altLang="en-US" sz="1600">
                <a:solidFill>
                  <a:srgbClr val="FF0000"/>
                </a:solidFill>
                <a:latin typeface="楷体" panose="02010609060101010101" pitchFamily="49" charset="-122"/>
                <a:ea typeface="楷体" panose="02010609060101010101" pitchFamily="49" charset="-122"/>
              </a:rPr>
              <a:t>图</a:t>
            </a:r>
            <a:r>
              <a:rPr kumimoji="0" lang="en-US" altLang="zh-CN" sz="1600">
                <a:solidFill>
                  <a:srgbClr val="FF0000"/>
                </a:solidFill>
                <a:cs typeface="Times New Roman" panose="02020603050405020304" pitchFamily="18" charset="0"/>
              </a:rPr>
              <a:t>3-2</a:t>
            </a:r>
            <a:r>
              <a:rPr kumimoji="0" lang="en-US" altLang="zh-CN" sz="1600">
                <a:solidFill>
                  <a:srgbClr val="FF0000"/>
                </a:solidFill>
                <a:latin typeface="Arial" panose="020B0604020202020204" pitchFamily="34" charset="0"/>
              </a:rPr>
              <a:t> </a:t>
            </a:r>
            <a:r>
              <a:rPr kumimoji="0" lang="zh-CN" altLang="en-US" sz="1600">
                <a:solidFill>
                  <a:srgbClr val="FF0000"/>
                </a:solidFill>
                <a:latin typeface="楷体" panose="02010609060101010101" pitchFamily="49" charset="-122"/>
                <a:ea typeface="楷体" panose="02010609060101010101" pitchFamily="49" charset="-122"/>
                <a:cs typeface="楷体" panose="02010609060101010101" pitchFamily="49" charset="-122"/>
              </a:rPr>
              <a:t>整合项目资源在项目管理中的地位与作用</a:t>
            </a:r>
            <a:r>
              <a:rPr kumimoji="0" lang="zh-CN" altLang="en-US" sz="1800">
                <a:solidFill>
                  <a:srgbClr val="FF0000"/>
                </a:solidFill>
                <a:latin typeface="楷体" panose="02010609060101010101" pitchFamily="49" charset="-122"/>
                <a:ea typeface="楷体" panose="02010609060101010101" pitchFamily="49" charset="-122"/>
                <a:cs typeface="楷体" panose="02010609060101010101" pitchFamily="49" charset="-122"/>
              </a:rPr>
              <a:t> </a:t>
            </a:r>
          </a:p>
        </p:txBody>
      </p:sp>
      <p:sp>
        <p:nvSpPr>
          <p:cNvPr id="10251" name="Rectangle 37"/>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3.1 </a:t>
            </a:r>
            <a:r>
              <a:rPr kumimoji="0" lang="en-US" altLang="en-US" sz="3000" dirty="0" err="1">
                <a:latin typeface="楷体" panose="02010609060101010101" pitchFamily="49" charset="-122"/>
                <a:ea typeface="楷体" panose="02010609060101010101" pitchFamily="49" charset="-122"/>
              </a:rPr>
              <a:t>整合项目资源概述</a:t>
            </a:r>
            <a:endParaRPr kumimoji="0" lang="zh-CN" altLang="en-US" sz="3000" dirty="0">
              <a:latin typeface="楷体" panose="02010609060101010101" pitchFamily="49" charset="-122"/>
              <a:ea typeface="楷体" panose="02010609060101010101" pitchFamily="49" charset="-122"/>
            </a:endParaRPr>
          </a:p>
        </p:txBody>
      </p:sp>
      <p:sp>
        <p:nvSpPr>
          <p:cNvPr id="10252" name="Rectangle 38"/>
          <p:cNvSpPr>
            <a:spLocks noChangeArrowheads="1"/>
          </p:cNvSpPr>
          <p:nvPr/>
        </p:nvSpPr>
        <p:spPr bwMode="auto">
          <a:xfrm>
            <a:off x="323850" y="1341438"/>
            <a:ext cx="5270500" cy="519112"/>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3.1.1 </a:t>
            </a:r>
            <a:r>
              <a:rPr kumimoji="0" lang="en-US" altLang="en-US" dirty="0" err="1">
                <a:solidFill>
                  <a:srgbClr val="FF0000"/>
                </a:solidFill>
                <a:latin typeface="楷体" panose="02010609060101010101" pitchFamily="49" charset="-122"/>
                <a:ea typeface="楷体" panose="02010609060101010101" pitchFamily="49" charset="-122"/>
              </a:rPr>
              <a:t>整合项目资源的意义与作用</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9"/>
          <p:cNvSpPr>
            <a:spLocks noGrp="1" noChangeArrowheads="1"/>
          </p:cNvSpPr>
          <p:nvPr>
            <p:ph type="sldNum" sz="quarter" idx="10"/>
          </p:nvPr>
        </p:nvSpPr>
        <p:spPr>
          <a:noFill/>
        </p:spPr>
        <p:txBody>
          <a:bodyPr/>
          <a:lstStyle/>
          <a:p>
            <a:r>
              <a:rPr lang="zh-CN" altLang="en-GB" dirty="0"/>
              <a:t>  </a:t>
            </a:r>
            <a:fld id="{CCC44F71-45CF-4BEF-AEC4-D3FDD1B25A66}" type="slidenum">
              <a:rPr lang="zh-CN" altLang="en-GB" smtClean="0"/>
              <a:t>12</a:t>
            </a:fld>
            <a:endParaRPr lang="en-US" altLang="zh-CN" dirty="0"/>
          </a:p>
        </p:txBody>
      </p:sp>
      <p:sp>
        <p:nvSpPr>
          <p:cNvPr id="11267"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P.64</a:t>
            </a:r>
          </a:p>
        </p:txBody>
      </p:sp>
      <p:sp>
        <p:nvSpPr>
          <p:cNvPr id="857094" name="Text Box 6"/>
          <p:cNvSpPr txBox="1">
            <a:spLocks noChangeArrowheads="1"/>
          </p:cNvSpPr>
          <p:nvPr/>
        </p:nvSpPr>
        <p:spPr bwMode="auto">
          <a:xfrm>
            <a:off x="285720" y="1968542"/>
            <a:ext cx="8424863" cy="4818044"/>
          </a:xfrm>
          <a:prstGeom prst="rect">
            <a:avLst/>
          </a:prstGeom>
          <a:noFill/>
          <a:ln w="9525">
            <a:noFill/>
            <a:miter lim="800000"/>
          </a:ln>
        </p:spPr>
        <p:txBody>
          <a:bodyPr tIns="0" bIns="0"/>
          <a:lstStyle/>
          <a:p>
            <a:pPr algn="l" eaLnBrk="0" hangingPunct="0">
              <a:spcBef>
                <a:spcPct val="50000"/>
              </a:spcBef>
              <a:buClr>
                <a:schemeClr val="hlink"/>
              </a:buClr>
            </a:pPr>
            <a:r>
              <a:rPr lang="zh-CN" altLang="en-US" sz="3200" dirty="0">
                <a:solidFill>
                  <a:schemeClr val="bg2"/>
                </a:solidFill>
                <a:latin typeface="楷体" panose="02010609060101010101" pitchFamily="49" charset="-122"/>
                <a:ea typeface="楷体" panose="02010609060101010101" pitchFamily="49" charset="-122"/>
              </a:rPr>
              <a:t>从</a:t>
            </a:r>
            <a:r>
              <a:rPr lang="zh-CN" altLang="en-US" sz="3200" dirty="0">
                <a:solidFill>
                  <a:schemeClr val="bg1"/>
                </a:solidFill>
                <a:latin typeface="楷体" panose="02010609060101010101" pitchFamily="49" charset="-122"/>
                <a:ea typeface="楷体" panose="02010609060101010101" pitchFamily="49" charset="-122"/>
              </a:rPr>
              <a:t>静态的观点</a:t>
            </a:r>
            <a:r>
              <a:rPr lang="zh-CN" altLang="en-US" sz="3200" dirty="0">
                <a:solidFill>
                  <a:schemeClr val="bg2"/>
                </a:solidFill>
                <a:latin typeface="楷体" panose="02010609060101010101" pitchFamily="49" charset="-122"/>
                <a:ea typeface="楷体" panose="02010609060101010101" pitchFamily="49" charset="-122"/>
              </a:rPr>
              <a:t>来看项目的资源主要包括：</a:t>
            </a:r>
            <a:r>
              <a:rPr lang="zh-CN" altLang="en-US" dirty="0">
                <a:latin typeface="楷体" panose="02010609060101010101" pitchFamily="49" charset="-122"/>
                <a:ea typeface="楷体" panose="02010609060101010101" pitchFamily="49" charset="-122"/>
              </a:rPr>
              <a:t> </a:t>
            </a:r>
          </a:p>
          <a:p>
            <a:pPr lvl="2" algn="l">
              <a:spcBef>
                <a:spcPct val="20000"/>
              </a:spcBef>
              <a:buClr>
                <a:schemeClr val="bg1"/>
              </a:buClr>
              <a:buFont typeface="Wingdings" panose="05000000000000000000" pitchFamily="2" charset="2"/>
              <a:buChar char="n"/>
            </a:pPr>
            <a:r>
              <a:rPr kumimoji="0" lang="zh-CN" altLang="en-US" dirty="0">
                <a:solidFill>
                  <a:schemeClr val="bg1"/>
                </a:solidFill>
                <a:latin typeface="楷体" panose="02010609060101010101" pitchFamily="49" charset="-122"/>
                <a:ea typeface="楷体" panose="02010609060101010101" pitchFamily="49" charset="-122"/>
              </a:rPr>
              <a:t>人力资源</a:t>
            </a:r>
          </a:p>
          <a:p>
            <a:pPr lvl="2" algn="l">
              <a:spcBef>
                <a:spcPct val="20000"/>
              </a:spcBef>
              <a:buClr>
                <a:schemeClr val="bg1"/>
              </a:buClr>
              <a:buFont typeface="Wingdings" panose="05000000000000000000" pitchFamily="2" charset="2"/>
              <a:buChar char="n"/>
            </a:pPr>
            <a:r>
              <a:rPr kumimoji="0" lang="zh-CN" altLang="en-US" dirty="0">
                <a:solidFill>
                  <a:schemeClr val="bg1"/>
                </a:solidFill>
                <a:latin typeface="楷体" panose="02010609060101010101" pitchFamily="49" charset="-122"/>
                <a:ea typeface="楷体" panose="02010609060101010101" pitchFamily="49" charset="-122"/>
              </a:rPr>
              <a:t>财务资源</a:t>
            </a:r>
          </a:p>
          <a:p>
            <a:pPr lvl="2" algn="l">
              <a:spcBef>
                <a:spcPct val="20000"/>
              </a:spcBef>
              <a:buClr>
                <a:schemeClr val="bg1"/>
              </a:buClr>
              <a:buFont typeface="Wingdings" panose="05000000000000000000" pitchFamily="2" charset="2"/>
              <a:buChar char="n"/>
            </a:pPr>
            <a:r>
              <a:rPr kumimoji="0" lang="zh-CN" altLang="en-US" dirty="0">
                <a:solidFill>
                  <a:schemeClr val="bg1"/>
                </a:solidFill>
                <a:latin typeface="楷体" panose="02010609060101010101" pitchFamily="49" charset="-122"/>
                <a:ea typeface="楷体" panose="02010609060101010101" pitchFamily="49" charset="-122"/>
              </a:rPr>
              <a:t>项目实物资源</a:t>
            </a:r>
          </a:p>
          <a:p>
            <a:pPr algn="l">
              <a:spcBef>
                <a:spcPct val="50000"/>
              </a:spcBef>
              <a:buClr>
                <a:schemeClr val="hlink"/>
              </a:buClr>
            </a:pPr>
            <a:r>
              <a:rPr lang="zh-CN" altLang="en-US" sz="3200" dirty="0">
                <a:solidFill>
                  <a:schemeClr val="bg2"/>
                </a:solidFill>
                <a:latin typeface="楷体" panose="02010609060101010101" pitchFamily="49" charset="-122"/>
                <a:ea typeface="楷体" panose="02010609060101010101" pitchFamily="49" charset="-122"/>
              </a:rPr>
              <a:t>从</a:t>
            </a:r>
            <a:r>
              <a:rPr lang="zh-CN" altLang="en-US" sz="3200" dirty="0">
                <a:solidFill>
                  <a:schemeClr val="bg1"/>
                </a:solidFill>
                <a:latin typeface="楷体" panose="02010609060101010101" pitchFamily="49" charset="-122"/>
                <a:ea typeface="楷体" panose="02010609060101010101" pitchFamily="49" charset="-122"/>
              </a:rPr>
              <a:t>动态的观点</a:t>
            </a:r>
            <a:r>
              <a:rPr lang="zh-CN" altLang="en-US" sz="3200" dirty="0">
                <a:solidFill>
                  <a:schemeClr val="bg2"/>
                </a:solidFill>
                <a:latin typeface="楷体" panose="02010609060101010101" pitchFamily="49" charset="-122"/>
                <a:ea typeface="楷体" panose="02010609060101010101" pitchFamily="49" charset="-122"/>
              </a:rPr>
              <a:t>来看项目的资源主要包括：</a:t>
            </a:r>
          </a:p>
          <a:p>
            <a:pPr lvl="2" algn="l">
              <a:spcBef>
                <a:spcPct val="20000"/>
              </a:spcBef>
              <a:buClr>
                <a:schemeClr val="bg1"/>
              </a:buClr>
              <a:buFont typeface="Wingdings" panose="05000000000000000000" pitchFamily="2" charset="2"/>
              <a:buChar char="n"/>
            </a:pPr>
            <a:r>
              <a:rPr kumimoji="0" lang="zh-CN" altLang="en-US" dirty="0">
                <a:solidFill>
                  <a:schemeClr val="bg1"/>
                </a:solidFill>
                <a:latin typeface="楷体" panose="02010609060101010101" pitchFamily="49" charset="-122"/>
                <a:ea typeface="楷体" panose="02010609060101010101" pitchFamily="49" charset="-122"/>
              </a:rPr>
              <a:t>非实物形式的生产资料</a:t>
            </a:r>
          </a:p>
          <a:p>
            <a:pPr lvl="2" algn="l">
              <a:spcBef>
                <a:spcPct val="20000"/>
              </a:spcBef>
              <a:buClr>
                <a:schemeClr val="bg1"/>
              </a:buClr>
              <a:buFont typeface="Wingdings" panose="05000000000000000000" pitchFamily="2" charset="2"/>
              <a:buChar char="n"/>
            </a:pPr>
            <a:r>
              <a:rPr kumimoji="0" lang="zh-CN" altLang="en-US" dirty="0">
                <a:solidFill>
                  <a:schemeClr val="bg1"/>
                </a:solidFill>
                <a:latin typeface="楷体" panose="02010609060101010101" pitchFamily="49" charset="-122"/>
                <a:ea typeface="楷体" panose="02010609060101010101" pitchFamily="49" charset="-122"/>
              </a:rPr>
              <a:t>各种无形的管理约束</a:t>
            </a:r>
          </a:p>
          <a:p>
            <a:pPr lvl="2" algn="l">
              <a:spcBef>
                <a:spcPct val="20000"/>
              </a:spcBef>
              <a:buClr>
                <a:schemeClr val="bg1"/>
              </a:buClr>
              <a:buFont typeface="Wingdings" panose="05000000000000000000" pitchFamily="2" charset="2"/>
              <a:buChar char="n"/>
            </a:pPr>
            <a:r>
              <a:rPr kumimoji="0" lang="zh-CN" altLang="en-US" dirty="0">
                <a:solidFill>
                  <a:schemeClr val="bg1"/>
                </a:solidFill>
                <a:latin typeface="楷体" panose="02010609060101010101" pitchFamily="49" charset="-122"/>
                <a:ea typeface="楷体" panose="02010609060101010101" pitchFamily="49" charset="-122"/>
              </a:rPr>
              <a:t>项目的运作过程</a:t>
            </a:r>
          </a:p>
        </p:txBody>
      </p:sp>
      <p:sp>
        <p:nvSpPr>
          <p:cNvPr id="11269" name="Rectangle 31"/>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3.1 </a:t>
            </a:r>
            <a:r>
              <a:rPr kumimoji="0" lang="en-US" altLang="en-US" sz="3000" dirty="0" err="1">
                <a:latin typeface="楷体" panose="02010609060101010101" pitchFamily="49" charset="-122"/>
                <a:ea typeface="楷体" panose="02010609060101010101" pitchFamily="49" charset="-122"/>
              </a:rPr>
              <a:t>整合项目资源概述</a:t>
            </a:r>
            <a:endParaRPr kumimoji="0" lang="zh-CN" altLang="en-US" sz="3000" dirty="0">
              <a:latin typeface="楷体" panose="02010609060101010101" pitchFamily="49" charset="-122"/>
              <a:ea typeface="楷体" panose="02010609060101010101" pitchFamily="49" charset="-122"/>
            </a:endParaRPr>
          </a:p>
        </p:txBody>
      </p:sp>
      <p:sp>
        <p:nvSpPr>
          <p:cNvPr id="11270" name="Rectangle 32"/>
          <p:cNvSpPr>
            <a:spLocks noChangeArrowheads="1"/>
          </p:cNvSpPr>
          <p:nvPr/>
        </p:nvSpPr>
        <p:spPr bwMode="auto">
          <a:xfrm>
            <a:off x="323850" y="1341438"/>
            <a:ext cx="3127375" cy="519112"/>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3.1.2 </a:t>
            </a:r>
            <a:r>
              <a:rPr kumimoji="0" lang="en-US" altLang="en-US" dirty="0" err="1">
                <a:solidFill>
                  <a:srgbClr val="FF0000"/>
                </a:solidFill>
                <a:latin typeface="楷体" panose="02010609060101010101" pitchFamily="49" charset="-122"/>
                <a:ea typeface="楷体" panose="02010609060101010101" pitchFamily="49" charset="-122"/>
              </a:rPr>
              <a:t>项目资源分析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709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5709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57094">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5709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9"/>
          <p:cNvSpPr>
            <a:spLocks noGrp="1" noChangeArrowheads="1"/>
          </p:cNvSpPr>
          <p:nvPr>
            <p:ph type="sldNum" sz="quarter" idx="10"/>
          </p:nvPr>
        </p:nvSpPr>
        <p:spPr>
          <a:noFill/>
        </p:spPr>
        <p:txBody>
          <a:bodyPr/>
          <a:lstStyle/>
          <a:p>
            <a:r>
              <a:rPr lang="zh-CN" altLang="en-GB" dirty="0"/>
              <a:t>  </a:t>
            </a:r>
            <a:fld id="{03BBD0D8-E260-4EBD-825A-2723ABE6169E}" type="slidenum">
              <a:rPr lang="zh-CN" altLang="en-GB" smtClean="0"/>
              <a:t>13</a:t>
            </a:fld>
            <a:endParaRPr lang="en-US" altLang="zh-CN" dirty="0"/>
          </a:p>
        </p:txBody>
      </p:sp>
      <p:sp>
        <p:nvSpPr>
          <p:cNvPr id="1229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P.65</a:t>
            </a:r>
          </a:p>
        </p:txBody>
      </p:sp>
      <p:sp>
        <p:nvSpPr>
          <p:cNvPr id="861188" name="Text Box 4"/>
          <p:cNvSpPr txBox="1">
            <a:spLocks noChangeArrowheads="1"/>
          </p:cNvSpPr>
          <p:nvPr/>
        </p:nvSpPr>
        <p:spPr bwMode="auto">
          <a:xfrm>
            <a:off x="285720" y="1785926"/>
            <a:ext cx="8501122" cy="5000636"/>
          </a:xfrm>
          <a:prstGeom prst="rect">
            <a:avLst/>
          </a:prstGeom>
          <a:noFill/>
          <a:ln w="9525">
            <a:noFill/>
            <a:miter lim="800000"/>
          </a:ln>
        </p:spPr>
        <p:txBody>
          <a:bodyPr tIns="0" bIns="0"/>
          <a:lstStyle/>
          <a:p>
            <a:pPr algn="l">
              <a:spcBef>
                <a:spcPts val="600"/>
              </a:spcBef>
              <a:buClr>
                <a:schemeClr val="hlink"/>
              </a:buClr>
            </a:pPr>
            <a:r>
              <a:rPr lang="zh-CN" altLang="en-US" dirty="0">
                <a:solidFill>
                  <a:schemeClr val="bg2"/>
                </a:solidFill>
                <a:latin typeface="楷体" panose="02010609060101010101" pitchFamily="49" charset="-122"/>
                <a:ea typeface="楷体" panose="02010609060101010101" pitchFamily="49" charset="-122"/>
              </a:rPr>
              <a:t>项目干系人是指与项目相关的人，其范围较大，应该重点关注以下角色：</a:t>
            </a:r>
          </a:p>
          <a:p>
            <a:pPr marL="1371600" lvl="2" indent="-457200" algn="l">
              <a:spcBef>
                <a:spcPts val="600"/>
              </a:spcBef>
              <a:buClr>
                <a:schemeClr val="bg1">
                  <a:lumMod val="50000"/>
                </a:schemeClr>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客户</a:t>
            </a:r>
          </a:p>
          <a:p>
            <a:pPr marL="1371600" lvl="2" indent="-457200" algn="l">
              <a:lnSpc>
                <a:spcPct val="105000"/>
              </a:lnSpc>
              <a:spcBef>
                <a:spcPts val="100"/>
              </a:spcBef>
              <a:buClr>
                <a:schemeClr val="bg1">
                  <a:lumMod val="50000"/>
                </a:schemeClr>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用户</a:t>
            </a:r>
          </a:p>
          <a:p>
            <a:pPr marL="1371600" lvl="2" indent="-457200" algn="l">
              <a:lnSpc>
                <a:spcPct val="105000"/>
              </a:lnSpc>
              <a:spcBef>
                <a:spcPts val="100"/>
              </a:spcBef>
              <a:buClr>
                <a:schemeClr val="bg1">
                  <a:lumMod val="50000"/>
                </a:schemeClr>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项目投资人</a:t>
            </a:r>
          </a:p>
          <a:p>
            <a:pPr marL="1371600" lvl="2" indent="-457200" algn="l">
              <a:lnSpc>
                <a:spcPct val="105000"/>
              </a:lnSpc>
              <a:spcBef>
                <a:spcPts val="100"/>
              </a:spcBef>
              <a:buClr>
                <a:schemeClr val="bg1">
                  <a:lumMod val="50000"/>
                </a:schemeClr>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项目经理</a:t>
            </a:r>
          </a:p>
          <a:p>
            <a:pPr marL="1371600" lvl="2" indent="-457200" algn="l">
              <a:lnSpc>
                <a:spcPct val="105000"/>
              </a:lnSpc>
              <a:spcBef>
                <a:spcPts val="100"/>
              </a:spcBef>
              <a:buClr>
                <a:schemeClr val="bg1">
                  <a:lumMod val="50000"/>
                </a:schemeClr>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项目组成员</a:t>
            </a:r>
          </a:p>
          <a:p>
            <a:pPr marL="1371600" lvl="2" indent="-457200" algn="l">
              <a:lnSpc>
                <a:spcPct val="105000"/>
              </a:lnSpc>
              <a:spcBef>
                <a:spcPts val="100"/>
              </a:spcBef>
              <a:buClr>
                <a:schemeClr val="bg1">
                  <a:lumMod val="50000"/>
                </a:schemeClr>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高层管理人员</a:t>
            </a:r>
          </a:p>
          <a:p>
            <a:pPr marL="1371600" lvl="2" indent="-457200" algn="l">
              <a:lnSpc>
                <a:spcPct val="105000"/>
              </a:lnSpc>
              <a:spcBef>
                <a:spcPts val="100"/>
              </a:spcBef>
              <a:buClr>
                <a:schemeClr val="bg1">
                  <a:lumMod val="50000"/>
                </a:schemeClr>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反对项目的人</a:t>
            </a:r>
          </a:p>
          <a:p>
            <a:pPr marL="1371600" lvl="2" indent="-457200" algn="l">
              <a:lnSpc>
                <a:spcPct val="105000"/>
              </a:lnSpc>
              <a:spcBef>
                <a:spcPts val="100"/>
              </a:spcBef>
              <a:buClr>
                <a:schemeClr val="bg1">
                  <a:lumMod val="50000"/>
                </a:schemeClr>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施加影响者</a:t>
            </a:r>
            <a:endParaRPr kumimoji="0" lang="zh-CN" altLang="en-US" sz="2400" dirty="0">
              <a:solidFill>
                <a:srgbClr val="0000FF"/>
              </a:solidFill>
              <a:latin typeface="楷体" panose="02010609060101010101" pitchFamily="49" charset="-122"/>
              <a:ea typeface="楷体" panose="02010609060101010101" pitchFamily="49" charset="-122"/>
            </a:endParaRPr>
          </a:p>
        </p:txBody>
      </p:sp>
      <p:sp>
        <p:nvSpPr>
          <p:cNvPr id="12293" name="Rectangle 5"/>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3.1 </a:t>
            </a:r>
            <a:r>
              <a:rPr kumimoji="0" lang="en-US" altLang="en-US" sz="3000" dirty="0" err="1">
                <a:latin typeface="楷体" panose="02010609060101010101" pitchFamily="49" charset="-122"/>
                <a:ea typeface="楷体" panose="02010609060101010101" pitchFamily="49" charset="-122"/>
              </a:rPr>
              <a:t>整合项目资源概述</a:t>
            </a:r>
            <a:endParaRPr kumimoji="0" lang="zh-CN" altLang="en-US" sz="3000" dirty="0">
              <a:latin typeface="楷体" panose="02010609060101010101" pitchFamily="49" charset="-122"/>
              <a:ea typeface="楷体" panose="02010609060101010101" pitchFamily="49" charset="-122"/>
            </a:endParaRPr>
          </a:p>
        </p:txBody>
      </p:sp>
      <p:sp>
        <p:nvSpPr>
          <p:cNvPr id="12294" name="Rectangle 6"/>
          <p:cNvSpPr>
            <a:spLocks noChangeArrowheads="1"/>
          </p:cNvSpPr>
          <p:nvPr/>
        </p:nvSpPr>
        <p:spPr bwMode="auto">
          <a:xfrm>
            <a:off x="323850" y="1341438"/>
            <a:ext cx="3484563" cy="519112"/>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3.1.3 </a:t>
            </a:r>
            <a:r>
              <a:rPr kumimoji="0" lang="en-US" altLang="en-US" dirty="0" err="1">
                <a:solidFill>
                  <a:srgbClr val="FF0000"/>
                </a:solidFill>
                <a:latin typeface="楷体" panose="02010609060101010101" pitchFamily="49" charset="-122"/>
                <a:ea typeface="楷体" panose="02010609060101010101" pitchFamily="49" charset="-122"/>
              </a:rPr>
              <a:t>项目干系人分析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118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118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118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6118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6118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6118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6118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611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9"/>
          <p:cNvSpPr>
            <a:spLocks noGrp="1" noChangeArrowheads="1"/>
          </p:cNvSpPr>
          <p:nvPr>
            <p:ph type="sldNum" sz="quarter" idx="10"/>
          </p:nvPr>
        </p:nvSpPr>
        <p:spPr>
          <a:noFill/>
        </p:spPr>
        <p:txBody>
          <a:bodyPr/>
          <a:lstStyle/>
          <a:p>
            <a:r>
              <a:rPr lang="zh-CN" altLang="en-GB" dirty="0"/>
              <a:t>  </a:t>
            </a:r>
            <a:fld id="{FC377CC5-E0B1-46E4-9AB4-585322DC8FA5}" type="slidenum">
              <a:rPr lang="zh-CN" altLang="en-GB" smtClean="0"/>
              <a:t>14</a:t>
            </a:fld>
            <a:endParaRPr lang="en-US" altLang="zh-CN" dirty="0"/>
          </a:p>
        </p:txBody>
      </p:sp>
      <p:sp>
        <p:nvSpPr>
          <p:cNvPr id="1331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P.66</a:t>
            </a:r>
          </a:p>
        </p:txBody>
      </p:sp>
      <p:sp>
        <p:nvSpPr>
          <p:cNvPr id="13317"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3.1 </a:t>
            </a:r>
            <a:r>
              <a:rPr kumimoji="0" lang="en-US" altLang="en-US" sz="3000" dirty="0" err="1">
                <a:latin typeface="楷体" panose="02010609060101010101" pitchFamily="49" charset="-122"/>
                <a:ea typeface="楷体" panose="02010609060101010101" pitchFamily="49" charset="-122"/>
              </a:rPr>
              <a:t>整合项目资源概述</a:t>
            </a:r>
            <a:endParaRPr kumimoji="0" lang="zh-CN" altLang="en-US" sz="3000" dirty="0">
              <a:latin typeface="楷体" panose="02010609060101010101" pitchFamily="49" charset="-122"/>
              <a:ea typeface="楷体" panose="02010609060101010101" pitchFamily="49" charset="-122"/>
            </a:endParaRPr>
          </a:p>
        </p:txBody>
      </p:sp>
      <p:sp>
        <p:nvSpPr>
          <p:cNvPr id="13318" name="Rectangle 7"/>
          <p:cNvSpPr>
            <a:spLocks noChangeArrowheads="1"/>
          </p:cNvSpPr>
          <p:nvPr/>
        </p:nvSpPr>
        <p:spPr bwMode="auto">
          <a:xfrm>
            <a:off x="323528" y="1340768"/>
            <a:ext cx="2787650" cy="519112"/>
          </a:xfrm>
          <a:prstGeom prst="rect">
            <a:avLst/>
          </a:prstGeom>
          <a:noFill/>
          <a:ln w="9525">
            <a:noFill/>
            <a:miter lim="800000"/>
          </a:ln>
        </p:spPr>
        <p:txBody>
          <a:bodyPr wrap="none">
            <a:spAutoFit/>
          </a:bodyPr>
          <a:lstStyle/>
          <a:p>
            <a:pPr algn="l"/>
            <a:r>
              <a:rPr kumimoji="0" lang="en-US" altLang="en-US" dirty="0">
                <a:solidFill>
                  <a:schemeClr val="hlink"/>
                </a:solidFill>
                <a:ea typeface="楷体_GB2312" pitchFamily="49" charset="-122"/>
              </a:rPr>
              <a:t>3.1.4 </a:t>
            </a:r>
            <a:r>
              <a:rPr kumimoji="0" lang="en-US" altLang="en-US" dirty="0" err="1">
                <a:solidFill>
                  <a:schemeClr val="hlink"/>
                </a:solidFill>
                <a:ea typeface="楷体_GB2312" pitchFamily="49" charset="-122"/>
              </a:rPr>
              <a:t>IT</a:t>
            </a:r>
            <a:r>
              <a:rPr kumimoji="0" lang="en-US" altLang="en-US" dirty="0" err="1">
                <a:solidFill>
                  <a:schemeClr val="hlink"/>
                </a:solidFill>
                <a:latin typeface="楷体" panose="02010609060101010101" pitchFamily="49" charset="-122"/>
                <a:ea typeface="楷体" panose="02010609060101010101" pitchFamily="49" charset="-122"/>
              </a:rPr>
              <a:t>项目经理</a:t>
            </a:r>
            <a:endParaRPr kumimoji="0" lang="en-US" altLang="en-US" dirty="0">
              <a:solidFill>
                <a:schemeClr val="hlink"/>
              </a:solidFill>
              <a:latin typeface="楷体" panose="02010609060101010101" pitchFamily="49" charset="-122"/>
              <a:ea typeface="楷体" panose="02010609060101010101" pitchFamily="49" charset="-122"/>
            </a:endParaRPr>
          </a:p>
        </p:txBody>
      </p:sp>
      <p:sp>
        <p:nvSpPr>
          <p:cNvPr id="13319" name="Text Box 8"/>
          <p:cNvSpPr txBox="1">
            <a:spLocks noChangeArrowheads="1"/>
          </p:cNvSpPr>
          <p:nvPr/>
        </p:nvSpPr>
        <p:spPr bwMode="auto">
          <a:xfrm>
            <a:off x="142844" y="1791853"/>
            <a:ext cx="8786874" cy="4584700"/>
          </a:xfrm>
          <a:prstGeom prst="rect">
            <a:avLst/>
          </a:prstGeom>
          <a:noFill/>
          <a:ln w="28575">
            <a:noFill/>
            <a:miter lim="800000"/>
          </a:ln>
        </p:spPr>
        <p:txBody>
          <a:bodyPr wrap="square">
            <a:spAutoFit/>
          </a:bodyPr>
          <a:lstStyle/>
          <a:p>
            <a:pPr algn="l">
              <a:spcBef>
                <a:spcPts val="0"/>
              </a:spcBef>
              <a:spcAft>
                <a:spcPts val="600"/>
              </a:spcAft>
            </a:pPr>
            <a:r>
              <a:rPr lang="en-US" dirty="0">
                <a:solidFill>
                  <a:srgbClr val="0000FF"/>
                </a:solidFill>
                <a:latin typeface="+mn-lt"/>
                <a:ea typeface="黑体" panose="02010609060101010101" pitchFamily="49" charset="-122"/>
                <a:cs typeface="+mn-lt"/>
              </a:rPr>
              <a:t>1</a:t>
            </a:r>
            <a:r>
              <a:rPr lang="zh-CN" altLang="en-US" dirty="0">
                <a:solidFill>
                  <a:srgbClr val="0000FF"/>
                </a:solidFill>
                <a:latin typeface="+mn-lt"/>
                <a:ea typeface="黑体" panose="02010609060101010101" pitchFamily="49" charset="-122"/>
                <a:cs typeface="+mn-lt"/>
              </a:rPr>
              <a:t>）</a:t>
            </a:r>
            <a:r>
              <a:rPr lang="zh-CN" altLang="en-US" dirty="0">
                <a:solidFill>
                  <a:srgbClr val="0000FF"/>
                </a:solidFill>
                <a:latin typeface="楷体" panose="02010609060101010101" pitchFamily="49" charset="-122"/>
                <a:ea typeface="楷体" panose="02010609060101010101" pitchFamily="49" charset="-122"/>
              </a:rPr>
              <a:t>项目经理的</a:t>
            </a:r>
            <a:r>
              <a:rPr lang="en-US" dirty="0">
                <a:solidFill>
                  <a:srgbClr val="0000FF"/>
                </a:solidFill>
                <a:latin typeface="+mn-lt"/>
                <a:ea typeface="黑体" panose="02010609060101010101" pitchFamily="49" charset="-122"/>
                <a:cs typeface="+mn-lt"/>
              </a:rPr>
              <a:t>地位</a:t>
            </a:r>
            <a:r>
              <a:rPr lang="zh-CN" altLang="en-US" dirty="0">
                <a:solidFill>
                  <a:srgbClr val="0000FF"/>
                </a:solidFill>
                <a:latin typeface="楷体" panose="02010609060101010101" pitchFamily="49" charset="-122"/>
                <a:ea typeface="楷体" panose="02010609060101010101" pitchFamily="49" charset="-122"/>
              </a:rPr>
              <a:t>与作用</a:t>
            </a:r>
            <a:endParaRPr lang="zh-CN" altLang="en-US" dirty="0">
              <a:solidFill>
                <a:schemeClr val="bg1">
                  <a:lumMod val="50000"/>
                </a:schemeClr>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项目管理的组织特征是严格意义的</a:t>
            </a:r>
            <a:r>
              <a:rPr lang="zh-CN" altLang="en-US" dirty="0">
                <a:solidFill>
                  <a:schemeClr val="bg1"/>
                </a:solidFill>
                <a:latin typeface="楷体" panose="02010609060101010101" pitchFamily="49" charset="-122"/>
                <a:ea typeface="楷体" panose="02010609060101010101" pitchFamily="49" charset="-122"/>
              </a:rPr>
              <a:t>个人负责制</a:t>
            </a:r>
            <a:r>
              <a:rPr lang="zh-CN" altLang="en-US" dirty="0">
                <a:solidFill>
                  <a:schemeClr val="bg2"/>
                </a:solidFill>
                <a:latin typeface="楷体" panose="02010609060101010101" pitchFamily="49" charset="-122"/>
                <a:ea typeface="楷体" panose="02010609060101010101" pitchFamily="49" charset="-122"/>
              </a:rPr>
              <a:t>，个人负责制的</a:t>
            </a:r>
            <a:r>
              <a:rPr lang="zh-CN" altLang="en-US" dirty="0">
                <a:solidFill>
                  <a:schemeClr val="bg1"/>
                </a:solidFill>
                <a:latin typeface="楷体" panose="02010609060101010101" pitchFamily="49" charset="-122"/>
                <a:ea typeface="楷体" panose="02010609060101010101" pitchFamily="49" charset="-122"/>
              </a:rPr>
              <a:t>核心人物</a:t>
            </a:r>
            <a:r>
              <a:rPr lang="zh-CN" altLang="en-US" dirty="0">
                <a:solidFill>
                  <a:schemeClr val="bg2"/>
                </a:solidFill>
                <a:latin typeface="楷体" panose="02010609060101010101" pitchFamily="49" charset="-122"/>
                <a:ea typeface="楷体" panose="02010609060101010101" pitchFamily="49" charset="-122"/>
              </a:rPr>
              <a:t>必然是</a:t>
            </a:r>
            <a:r>
              <a:rPr lang="zh-CN" altLang="en-US" dirty="0">
                <a:solidFill>
                  <a:schemeClr val="bg1"/>
                </a:solidFill>
                <a:latin typeface="楷体" panose="02010609060101010101" pitchFamily="49" charset="-122"/>
                <a:ea typeface="楷体" panose="02010609060101010101" pitchFamily="49" charset="-122"/>
              </a:rPr>
              <a:t>项目经理</a:t>
            </a:r>
            <a:r>
              <a:rPr lang="zh-CN" altLang="en-US" dirty="0">
                <a:solidFill>
                  <a:schemeClr val="bg2"/>
                </a:solidFill>
                <a:latin typeface="楷体" panose="02010609060101010101" pitchFamily="49" charset="-122"/>
                <a:ea typeface="楷体" panose="02010609060101010101" pitchFamily="49" charset="-122"/>
              </a:rPr>
              <a:t>。项目经理是决定一个项目成败的关键人物。</a:t>
            </a:r>
            <a:endParaRPr lang="en-US" altLang="zh-CN"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项目经理是项目实施的最高领导者、组织者、责任者，在项目管理中起着决定性的作用。</a:t>
            </a:r>
            <a:endParaRPr lang="en-US" altLang="zh-CN"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项目经理是项目有关各方</a:t>
            </a:r>
            <a:r>
              <a:rPr lang="zh-CN" altLang="en-US" dirty="0">
                <a:solidFill>
                  <a:schemeClr val="bg1"/>
                </a:solidFill>
                <a:latin typeface="楷体" panose="02010609060101010101" pitchFamily="49" charset="-122"/>
                <a:ea typeface="楷体" panose="02010609060101010101" pitchFamily="49" charset="-122"/>
              </a:rPr>
              <a:t>协调配合的桥梁和纽带</a:t>
            </a:r>
            <a:r>
              <a:rPr lang="zh-CN" altLang="en-US" dirty="0">
                <a:solidFill>
                  <a:schemeClr val="bg2"/>
                </a:solidFill>
                <a:latin typeface="楷体" panose="02010609060101010101" pitchFamily="49" charset="-122"/>
                <a:ea typeface="楷体" panose="02010609060101010101" pitchFamily="49" charset="-122"/>
              </a:rPr>
              <a:t>，处在上下各方的核心地位。</a:t>
            </a:r>
            <a:endParaRPr lang="en-US" altLang="zh-CN"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dirty="0">
                <a:solidFill>
                  <a:srgbClr val="0000FF"/>
                </a:solidFill>
                <a:latin typeface="楷体" panose="02010609060101010101" pitchFamily="49" charset="-122"/>
                <a:ea typeface="楷体" panose="02010609060101010101" pitchFamily="49" charset="-122"/>
              </a:rPr>
              <a:t>项目管理说到底是对人的管理。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9"/>
          <p:cNvSpPr>
            <a:spLocks noGrp="1" noChangeArrowheads="1"/>
          </p:cNvSpPr>
          <p:nvPr>
            <p:ph type="sldNum" sz="quarter" idx="10"/>
          </p:nvPr>
        </p:nvSpPr>
        <p:spPr>
          <a:noFill/>
        </p:spPr>
        <p:txBody>
          <a:bodyPr/>
          <a:lstStyle/>
          <a:p>
            <a:r>
              <a:rPr lang="zh-CN" altLang="en-GB" dirty="0"/>
              <a:t>  </a:t>
            </a:r>
            <a:fld id="{8782B0F5-920E-4029-B9A9-57D155B1C478}" type="slidenum">
              <a:rPr lang="zh-CN" altLang="en-GB" smtClean="0"/>
              <a:t>15</a:t>
            </a:fld>
            <a:endParaRPr lang="en-US" altLang="zh-CN" dirty="0"/>
          </a:p>
        </p:txBody>
      </p:sp>
      <p:sp>
        <p:nvSpPr>
          <p:cNvPr id="1433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P.66</a:t>
            </a:r>
          </a:p>
        </p:txBody>
      </p:sp>
      <p:sp>
        <p:nvSpPr>
          <p:cNvPr id="934916" name="Text Box 4"/>
          <p:cNvSpPr txBox="1">
            <a:spLocks noChangeArrowheads="1"/>
          </p:cNvSpPr>
          <p:nvPr/>
        </p:nvSpPr>
        <p:spPr bwMode="auto">
          <a:xfrm>
            <a:off x="250825" y="2686069"/>
            <a:ext cx="8497888" cy="3529013"/>
          </a:xfrm>
          <a:prstGeom prst="rect">
            <a:avLst/>
          </a:prstGeom>
          <a:noFill/>
          <a:ln w="9525">
            <a:noFill/>
            <a:miter lim="800000"/>
          </a:ln>
        </p:spPr>
        <p:txBody>
          <a:bodyPr tIns="0" bIns="0"/>
          <a:lstStyle/>
          <a:p>
            <a:pPr lvl="1" algn="l">
              <a:spcBef>
                <a:spcPct val="50000"/>
              </a:spcBef>
              <a:buClr>
                <a:schemeClr val="bg1">
                  <a:lumMod val="50000"/>
                </a:schemeClr>
              </a:buClr>
              <a:buFont typeface="Wingdings" panose="05000000000000000000" pitchFamily="2" charset="2"/>
              <a:buChar char="n"/>
            </a:pPr>
            <a:r>
              <a:rPr kumimoji="0" lang="zh-CN" altLang="en-US" dirty="0">
                <a:solidFill>
                  <a:srgbClr val="0000FF"/>
                </a:solidFill>
                <a:latin typeface="楷体" panose="02010609060101010101" pitchFamily="49" charset="-122"/>
                <a:ea typeface="楷体" panose="02010609060101010101" pitchFamily="49" charset="-122"/>
              </a:rPr>
              <a:t>职责：</a:t>
            </a:r>
          </a:p>
          <a:p>
            <a:pPr marL="1257300" lvl="2" indent="-342900" algn="l" eaLnBrk="1" latinLnBrk="0" hangingPunct="1">
              <a:lnSpc>
                <a:spcPts val="2200"/>
              </a:lnSpc>
              <a:spcBef>
                <a:spcPts val="0"/>
              </a:spcBef>
              <a:buClr>
                <a:schemeClr val="bg1">
                  <a:lumMod val="50000"/>
                </a:schemeClr>
              </a:buClr>
              <a:buFont typeface="Arial" panose="020B0604020202020204" pitchFamily="34" charset="0"/>
              <a:buChar char="•"/>
            </a:pPr>
            <a:r>
              <a:rPr kumimoji="0" lang="zh-CN" altLang="en-US" sz="2000" dirty="0">
                <a:solidFill>
                  <a:schemeClr val="bg2"/>
                </a:solidFill>
                <a:latin typeface="楷体" panose="02010609060101010101" pitchFamily="49" charset="-122"/>
                <a:ea typeface="楷体" panose="02010609060101010101" pitchFamily="49" charset="-122"/>
              </a:rPr>
              <a:t>确保项目目标实现；</a:t>
            </a:r>
          </a:p>
          <a:p>
            <a:pPr marL="1257300" lvl="2" indent="-342900" algn="l" eaLnBrk="1" latinLnBrk="0" hangingPunct="1">
              <a:lnSpc>
                <a:spcPts val="2200"/>
              </a:lnSpc>
              <a:spcBef>
                <a:spcPts val="0"/>
              </a:spcBef>
              <a:buClr>
                <a:schemeClr val="bg1">
                  <a:lumMod val="50000"/>
                </a:schemeClr>
              </a:buClr>
              <a:buFont typeface="Arial" panose="020B0604020202020204" pitchFamily="34" charset="0"/>
              <a:buChar char="•"/>
            </a:pPr>
            <a:r>
              <a:rPr kumimoji="0" lang="zh-CN" altLang="en-US" sz="2000" dirty="0">
                <a:solidFill>
                  <a:schemeClr val="bg2"/>
                </a:solidFill>
                <a:latin typeface="楷体" panose="02010609060101010101" pitchFamily="49" charset="-122"/>
                <a:ea typeface="楷体" panose="02010609060101010101" pitchFamily="49" charset="-122"/>
              </a:rPr>
              <a:t>制定项目阶段性目标和总体控制计划；</a:t>
            </a:r>
          </a:p>
          <a:p>
            <a:pPr marL="1257300" lvl="2" indent="-342900" algn="l" eaLnBrk="1" latinLnBrk="0" hangingPunct="1">
              <a:lnSpc>
                <a:spcPts val="2200"/>
              </a:lnSpc>
              <a:spcBef>
                <a:spcPts val="0"/>
              </a:spcBef>
              <a:buClr>
                <a:schemeClr val="bg1">
                  <a:lumMod val="50000"/>
                </a:schemeClr>
              </a:buClr>
              <a:buFont typeface="Arial" panose="020B0604020202020204" pitchFamily="34" charset="0"/>
              <a:buChar char="•"/>
            </a:pPr>
            <a:r>
              <a:rPr kumimoji="0" lang="zh-CN" altLang="en-US" sz="2000" dirty="0">
                <a:solidFill>
                  <a:schemeClr val="bg2"/>
                </a:solidFill>
                <a:latin typeface="楷体" panose="02010609060101010101" pitchFamily="49" charset="-122"/>
                <a:ea typeface="楷体" panose="02010609060101010101" pitchFamily="49" charset="-122"/>
              </a:rPr>
              <a:t>组织精干的项目管理班子；</a:t>
            </a:r>
          </a:p>
          <a:p>
            <a:pPr marL="1257300" lvl="2" indent="-342900" algn="l" eaLnBrk="1" latinLnBrk="0" hangingPunct="1">
              <a:lnSpc>
                <a:spcPts val="2200"/>
              </a:lnSpc>
              <a:spcBef>
                <a:spcPts val="0"/>
              </a:spcBef>
              <a:buClr>
                <a:schemeClr val="bg1">
                  <a:lumMod val="50000"/>
                </a:schemeClr>
              </a:buClr>
              <a:buFont typeface="Arial" panose="020B0604020202020204" pitchFamily="34" charset="0"/>
              <a:buChar char="•"/>
            </a:pPr>
            <a:r>
              <a:rPr kumimoji="0" lang="zh-CN" altLang="en-US" sz="2000" dirty="0">
                <a:solidFill>
                  <a:schemeClr val="bg2"/>
                </a:solidFill>
                <a:latin typeface="楷体" panose="02010609060101010101" pitchFamily="49" charset="-122"/>
                <a:ea typeface="楷体" panose="02010609060101010101" pitchFamily="49" charset="-122"/>
              </a:rPr>
              <a:t>及时决策；</a:t>
            </a:r>
          </a:p>
          <a:p>
            <a:pPr marL="1257300" lvl="2" indent="-342900" algn="l" eaLnBrk="1" latinLnBrk="0" hangingPunct="1">
              <a:lnSpc>
                <a:spcPts val="2200"/>
              </a:lnSpc>
              <a:spcBef>
                <a:spcPts val="0"/>
              </a:spcBef>
              <a:buClr>
                <a:schemeClr val="bg1">
                  <a:lumMod val="50000"/>
                </a:schemeClr>
              </a:buClr>
              <a:buFont typeface="Arial" panose="020B0604020202020204" pitchFamily="34" charset="0"/>
              <a:buChar char="•"/>
            </a:pPr>
            <a:r>
              <a:rPr kumimoji="0" lang="zh-CN" altLang="en-US" sz="2000" dirty="0">
                <a:solidFill>
                  <a:schemeClr val="bg2"/>
                </a:solidFill>
                <a:latin typeface="楷体" panose="02010609060101010101" pitchFamily="49" charset="-122"/>
                <a:ea typeface="楷体" panose="02010609060101010101" pitchFamily="49" charset="-122"/>
              </a:rPr>
              <a:t>履行合同义务、监督合同执行、处理合同变更。</a:t>
            </a:r>
            <a:r>
              <a:rPr kumimoji="0" lang="zh-CN" altLang="en-US" dirty="0">
                <a:solidFill>
                  <a:srgbClr val="0000FF"/>
                </a:solidFill>
                <a:latin typeface="楷体" panose="02010609060101010101" pitchFamily="49" charset="-122"/>
                <a:ea typeface="楷体" panose="02010609060101010101" pitchFamily="49" charset="-122"/>
              </a:rPr>
              <a:t> </a:t>
            </a:r>
          </a:p>
          <a:p>
            <a:pPr lvl="1" algn="l">
              <a:spcBef>
                <a:spcPct val="50000"/>
              </a:spcBef>
              <a:buClr>
                <a:schemeClr val="bg1">
                  <a:lumMod val="50000"/>
                </a:schemeClr>
              </a:buClr>
              <a:buFont typeface="Wingdings" panose="05000000000000000000" pitchFamily="2" charset="2"/>
              <a:buChar char="n"/>
            </a:pPr>
            <a:r>
              <a:rPr kumimoji="0" lang="zh-CN" altLang="en-US" dirty="0">
                <a:solidFill>
                  <a:srgbClr val="0000FF"/>
                </a:solidFill>
                <a:latin typeface="楷体" panose="02010609060101010101" pitchFamily="49" charset="-122"/>
                <a:ea typeface="楷体" panose="02010609060101010101" pitchFamily="49" charset="-122"/>
              </a:rPr>
              <a:t>权力：</a:t>
            </a:r>
          </a:p>
          <a:p>
            <a:pPr marL="1371600" lvl="2" indent="-457200" algn="l" eaLnBrk="1" latinLnBrk="0" hangingPunct="1">
              <a:lnSpc>
                <a:spcPts val="2200"/>
              </a:lnSpc>
              <a:spcBef>
                <a:spcPts val="0"/>
              </a:spcBef>
              <a:buClr>
                <a:schemeClr val="bg1">
                  <a:lumMod val="50000"/>
                </a:schemeClr>
              </a:buClr>
              <a:buFont typeface="Arial" panose="020B0604020202020204" pitchFamily="34" charset="0"/>
              <a:buChar char="•"/>
            </a:pPr>
            <a:r>
              <a:rPr kumimoji="0" lang="zh-CN" altLang="en-US" sz="2000" dirty="0">
                <a:solidFill>
                  <a:schemeClr val="bg2"/>
                </a:solidFill>
                <a:latin typeface="楷体" panose="02010609060101010101" pitchFamily="49" charset="-122"/>
                <a:ea typeface="楷体" panose="02010609060101010101" pitchFamily="49" charset="-122"/>
              </a:rPr>
              <a:t>指挥权；</a:t>
            </a:r>
          </a:p>
          <a:p>
            <a:pPr marL="1371600" lvl="2" indent="-457200" algn="l" eaLnBrk="1" latinLnBrk="0" hangingPunct="1">
              <a:lnSpc>
                <a:spcPts val="2200"/>
              </a:lnSpc>
              <a:spcBef>
                <a:spcPts val="0"/>
              </a:spcBef>
              <a:buClr>
                <a:schemeClr val="bg1">
                  <a:lumMod val="50000"/>
                </a:schemeClr>
              </a:buClr>
              <a:buFont typeface="Arial" panose="020B0604020202020204" pitchFamily="34" charset="0"/>
              <a:buChar char="•"/>
            </a:pPr>
            <a:r>
              <a:rPr kumimoji="0" lang="zh-CN" altLang="en-US" sz="2000" dirty="0">
                <a:solidFill>
                  <a:schemeClr val="bg2"/>
                </a:solidFill>
                <a:latin typeface="楷体" panose="02010609060101010101" pitchFamily="49" charset="-122"/>
                <a:ea typeface="楷体" panose="02010609060101010101" pitchFamily="49" charset="-122"/>
              </a:rPr>
              <a:t>人事权；</a:t>
            </a:r>
          </a:p>
          <a:p>
            <a:pPr marL="1371600" lvl="2" indent="-457200" algn="l" eaLnBrk="1" latinLnBrk="0" hangingPunct="1">
              <a:lnSpc>
                <a:spcPts val="2200"/>
              </a:lnSpc>
              <a:spcBef>
                <a:spcPts val="0"/>
              </a:spcBef>
              <a:buClr>
                <a:schemeClr val="bg1">
                  <a:lumMod val="50000"/>
                </a:schemeClr>
              </a:buClr>
              <a:buFont typeface="Arial" panose="020B0604020202020204" pitchFamily="34" charset="0"/>
              <a:buChar char="•"/>
            </a:pPr>
            <a:r>
              <a:rPr kumimoji="0" lang="zh-CN" altLang="en-US" sz="2000" dirty="0">
                <a:solidFill>
                  <a:schemeClr val="bg2"/>
                </a:solidFill>
                <a:latin typeface="楷体" panose="02010609060101010101" pitchFamily="49" charset="-122"/>
                <a:ea typeface="楷体" panose="02010609060101010101" pitchFamily="49" charset="-122"/>
              </a:rPr>
              <a:t>财权；</a:t>
            </a:r>
          </a:p>
          <a:p>
            <a:pPr marL="1371600" lvl="2" indent="-457200" algn="l" eaLnBrk="1" latinLnBrk="0" hangingPunct="1">
              <a:lnSpc>
                <a:spcPts val="2200"/>
              </a:lnSpc>
              <a:spcBef>
                <a:spcPts val="0"/>
              </a:spcBef>
              <a:buClr>
                <a:schemeClr val="bg1">
                  <a:lumMod val="50000"/>
                </a:schemeClr>
              </a:buClr>
              <a:buFont typeface="Arial" panose="020B0604020202020204" pitchFamily="34" charset="0"/>
              <a:buChar char="•"/>
            </a:pPr>
            <a:r>
              <a:rPr kumimoji="0" lang="zh-CN" altLang="en-US" sz="2000" dirty="0">
                <a:solidFill>
                  <a:schemeClr val="bg2"/>
                </a:solidFill>
                <a:latin typeface="楷体" panose="02010609060101010101" pitchFamily="49" charset="-122"/>
                <a:ea typeface="楷体" panose="02010609060101010101" pitchFamily="49" charset="-122"/>
              </a:rPr>
              <a:t>技术决策权；</a:t>
            </a:r>
          </a:p>
          <a:p>
            <a:pPr marL="1371600" lvl="2" indent="-457200" algn="l" eaLnBrk="1" latinLnBrk="0" hangingPunct="1">
              <a:lnSpc>
                <a:spcPts val="2200"/>
              </a:lnSpc>
              <a:spcBef>
                <a:spcPts val="0"/>
              </a:spcBef>
              <a:buClr>
                <a:schemeClr val="bg1">
                  <a:lumMod val="50000"/>
                </a:schemeClr>
              </a:buClr>
              <a:buFont typeface="Arial" panose="020B0604020202020204" pitchFamily="34" charset="0"/>
              <a:buChar char="•"/>
            </a:pPr>
            <a:r>
              <a:rPr kumimoji="0" lang="zh-CN" altLang="en-US" sz="2000" dirty="0">
                <a:solidFill>
                  <a:schemeClr val="bg2"/>
                </a:solidFill>
                <a:latin typeface="楷体" panose="02010609060101010101" pitchFamily="49" charset="-122"/>
                <a:ea typeface="楷体" panose="02010609060101010101" pitchFamily="49" charset="-122"/>
              </a:rPr>
              <a:t>设备、工具、材料的采购与控制权。</a:t>
            </a:r>
          </a:p>
        </p:txBody>
      </p:sp>
      <p:sp>
        <p:nvSpPr>
          <p:cNvPr id="14341"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3.1 </a:t>
            </a:r>
            <a:r>
              <a:rPr kumimoji="0" lang="en-US" altLang="en-US" sz="3000" dirty="0" err="1">
                <a:latin typeface="楷体" panose="02010609060101010101" pitchFamily="49" charset="-122"/>
                <a:ea typeface="楷体" panose="02010609060101010101" pitchFamily="49" charset="-122"/>
              </a:rPr>
              <a:t>整合项目资源概述</a:t>
            </a:r>
            <a:endParaRPr kumimoji="0" lang="zh-CN" altLang="en-US" sz="3000" dirty="0">
              <a:latin typeface="楷体" panose="02010609060101010101" pitchFamily="49" charset="-122"/>
              <a:ea typeface="楷体" panose="02010609060101010101" pitchFamily="49" charset="-122"/>
            </a:endParaRPr>
          </a:p>
        </p:txBody>
      </p:sp>
      <p:sp>
        <p:nvSpPr>
          <p:cNvPr id="14343" name="Text Box 8"/>
          <p:cNvSpPr txBox="1">
            <a:spLocks noChangeArrowheads="1"/>
          </p:cNvSpPr>
          <p:nvPr/>
        </p:nvSpPr>
        <p:spPr bwMode="auto">
          <a:xfrm>
            <a:off x="-32" y="1836738"/>
            <a:ext cx="6318267" cy="657225"/>
          </a:xfrm>
          <a:prstGeom prst="rect">
            <a:avLst/>
          </a:prstGeom>
          <a:noFill/>
          <a:ln w="28575">
            <a:noFill/>
            <a:miter lim="800000"/>
          </a:ln>
        </p:spPr>
        <p:txBody>
          <a:bodyPr wrap="square">
            <a:spAutoFit/>
          </a:bodyPr>
          <a:lstStyle/>
          <a:p>
            <a:pPr marL="457200" indent="-457200" algn="l">
              <a:lnSpc>
                <a:spcPct val="115000"/>
              </a:lnSpc>
              <a:spcBef>
                <a:spcPct val="50000"/>
              </a:spcBef>
              <a:buClr>
                <a:schemeClr val="hlink"/>
              </a:buClr>
              <a:buFont typeface="Wingdings" panose="05000000000000000000" pitchFamily="2" charset="2"/>
              <a:buNone/>
            </a:pPr>
            <a:r>
              <a:rPr lang="en-US" dirty="0">
                <a:solidFill>
                  <a:srgbClr val="0000FF"/>
                </a:solidFill>
                <a:latin typeface="+mn-lt"/>
                <a:ea typeface="黑体" panose="02010609060101010101" pitchFamily="49" charset="-122"/>
                <a:cs typeface="+mn-lt"/>
              </a:rPr>
              <a:t>2</a:t>
            </a:r>
            <a:r>
              <a:rPr lang="zh-CN" altLang="en-US" dirty="0">
                <a:solidFill>
                  <a:srgbClr val="0000FF"/>
                </a:solidFill>
                <a:latin typeface="+mn-lt"/>
                <a:ea typeface="黑体" panose="02010609060101010101" pitchFamily="49" charset="-122"/>
                <a:cs typeface="+mn-lt"/>
              </a:rPr>
              <a:t>）</a:t>
            </a:r>
            <a:r>
              <a:rPr lang="en-US" altLang="en-US" dirty="0">
                <a:solidFill>
                  <a:srgbClr val="0000FF"/>
                </a:solidFill>
                <a:uFillTx/>
                <a:ea typeface="楷体" panose="02010609060101010101" pitchFamily="49" charset="-122"/>
              </a:rPr>
              <a:t>项目经理的责任与权力</a:t>
            </a:r>
            <a:r>
              <a:rPr lang="en-US" altLang="en-US" sz="3200" dirty="0">
                <a:solidFill>
                  <a:srgbClr val="0000FF"/>
                </a:solidFill>
                <a:latin typeface="楷体" panose="02010609060101010101" pitchFamily="49" charset="-122"/>
                <a:ea typeface="楷体" panose="02010609060101010101" pitchFamily="49" charset="-122"/>
              </a:rPr>
              <a:t> </a:t>
            </a:r>
          </a:p>
        </p:txBody>
      </p:sp>
      <p:sp>
        <p:nvSpPr>
          <p:cNvPr id="13318" name="Rectangle 7"/>
          <p:cNvSpPr>
            <a:spLocks noChangeArrowheads="1"/>
          </p:cNvSpPr>
          <p:nvPr/>
        </p:nvSpPr>
        <p:spPr bwMode="auto">
          <a:xfrm>
            <a:off x="323528" y="1340768"/>
            <a:ext cx="2787650" cy="519112"/>
          </a:xfrm>
          <a:prstGeom prst="rect">
            <a:avLst/>
          </a:prstGeom>
          <a:noFill/>
          <a:ln w="9525">
            <a:noFill/>
            <a:miter lim="800000"/>
          </a:ln>
        </p:spPr>
        <p:txBody>
          <a:bodyPr wrap="none">
            <a:spAutoFit/>
          </a:bodyPr>
          <a:lstStyle/>
          <a:p>
            <a:pPr algn="l"/>
            <a:r>
              <a:rPr kumimoji="0" lang="en-US" altLang="en-US" dirty="0">
                <a:solidFill>
                  <a:schemeClr val="hlink"/>
                </a:solidFill>
                <a:ea typeface="楷体_GB2312" pitchFamily="49" charset="-122"/>
              </a:rPr>
              <a:t>3.1.4 </a:t>
            </a:r>
            <a:r>
              <a:rPr kumimoji="0" lang="en-US" altLang="en-US" dirty="0" err="1">
                <a:solidFill>
                  <a:schemeClr val="hlink"/>
                </a:solidFill>
                <a:ea typeface="楷体_GB2312" pitchFamily="49" charset="-122"/>
              </a:rPr>
              <a:t>IT</a:t>
            </a:r>
            <a:r>
              <a:rPr kumimoji="0" lang="en-US" altLang="en-US" dirty="0" err="1">
                <a:solidFill>
                  <a:schemeClr val="hlink"/>
                </a:solidFill>
                <a:latin typeface="楷体" panose="02010609060101010101" pitchFamily="49" charset="-122"/>
                <a:ea typeface="楷体" panose="02010609060101010101" pitchFamily="49" charset="-122"/>
              </a:rPr>
              <a:t>项目经理</a:t>
            </a:r>
            <a:endParaRPr kumimoji="0" lang="en-US" altLang="en-US" dirty="0">
              <a:solidFill>
                <a:schemeClr val="hlink"/>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49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49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49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49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49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3491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3491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3491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3491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3491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3491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3491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p:cNvSpPr>
            <a:spLocks noGrp="1" noChangeArrowheads="1"/>
          </p:cNvSpPr>
          <p:nvPr>
            <p:ph type="sldNum" sz="quarter" idx="10"/>
          </p:nvPr>
        </p:nvSpPr>
        <p:spPr>
          <a:noFill/>
        </p:spPr>
        <p:txBody>
          <a:bodyPr/>
          <a:lstStyle/>
          <a:p>
            <a:r>
              <a:rPr lang="zh-CN" altLang="en-GB" dirty="0"/>
              <a:t>  </a:t>
            </a:r>
            <a:fld id="{9B58E535-AE4F-49EA-B00C-9F4EBAD6B7AC}" type="slidenum">
              <a:rPr lang="zh-CN" altLang="en-GB" smtClean="0"/>
              <a:t>16</a:t>
            </a:fld>
            <a:endParaRPr lang="en-US" altLang="zh-CN" dirty="0"/>
          </a:p>
        </p:txBody>
      </p:sp>
      <p:sp>
        <p:nvSpPr>
          <p:cNvPr id="1536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P.67</a:t>
            </a:r>
          </a:p>
        </p:txBody>
      </p:sp>
      <p:sp>
        <p:nvSpPr>
          <p:cNvPr id="867332" name="Text Box 4"/>
          <p:cNvSpPr txBox="1">
            <a:spLocks noChangeArrowheads="1"/>
          </p:cNvSpPr>
          <p:nvPr/>
        </p:nvSpPr>
        <p:spPr bwMode="auto">
          <a:xfrm>
            <a:off x="503269" y="2781320"/>
            <a:ext cx="8497887" cy="3455987"/>
          </a:xfrm>
          <a:prstGeom prst="rect">
            <a:avLst/>
          </a:prstGeom>
          <a:noFill/>
          <a:ln w="9525">
            <a:noFill/>
            <a:miter lim="800000"/>
          </a:ln>
        </p:spPr>
        <p:txBody>
          <a:bodyPr tIns="0" bIns="0"/>
          <a:lstStyle/>
          <a:p>
            <a:pPr marL="914400" lvl="1" indent="-457200" algn="l">
              <a:spcBef>
                <a:spcPct val="50000"/>
              </a:spcBef>
              <a:buClr>
                <a:schemeClr val="bg1">
                  <a:lumMod val="50000"/>
                </a:schemeClr>
              </a:buClr>
              <a:buFont typeface="Wingdings" panose="05000000000000000000" charset="0"/>
              <a:buChar char="ü"/>
            </a:pPr>
            <a:r>
              <a:rPr kumimoji="0" lang="zh-CN" altLang="en-US" dirty="0">
                <a:solidFill>
                  <a:srgbClr val="0000FF"/>
                </a:solidFill>
                <a:latin typeface="楷体" panose="02010609060101010101" pitchFamily="49" charset="-122"/>
                <a:ea typeface="楷体" panose="02010609060101010101" pitchFamily="49" charset="-122"/>
              </a:rPr>
              <a:t>学会承担责任</a:t>
            </a:r>
            <a:r>
              <a:rPr kumimoji="0" lang="zh-CN" altLang="en-US" dirty="0">
                <a:solidFill>
                  <a:schemeClr val="bg2"/>
                </a:solidFill>
                <a:latin typeface="楷体" panose="02010609060101010101" pitchFamily="49" charset="-122"/>
                <a:ea typeface="楷体" panose="02010609060101010101" pitchFamily="49" charset="-122"/>
              </a:rPr>
              <a:t>是项目经理职业发展的</a:t>
            </a:r>
            <a:r>
              <a:rPr kumimoji="0" lang="zh-CN" altLang="en-US" dirty="0">
                <a:solidFill>
                  <a:srgbClr val="0000FF"/>
                </a:solidFill>
                <a:latin typeface="楷体" panose="02010609060101010101" pitchFamily="49" charset="-122"/>
                <a:ea typeface="楷体" panose="02010609060101010101" pitchFamily="49" charset="-122"/>
              </a:rPr>
              <a:t>关键环节；</a:t>
            </a:r>
          </a:p>
          <a:p>
            <a:pPr marL="914400" lvl="1" indent="-457200" algn="l">
              <a:spcBef>
                <a:spcPct val="50000"/>
              </a:spcBef>
              <a:buClr>
                <a:schemeClr val="bg1">
                  <a:lumMod val="50000"/>
                </a:schemeClr>
              </a:buClr>
              <a:buFont typeface="Wingdings" panose="05000000000000000000" charset="0"/>
              <a:buChar char="ü"/>
            </a:pPr>
            <a:r>
              <a:rPr kumimoji="0" lang="zh-CN" altLang="en-US" dirty="0">
                <a:solidFill>
                  <a:srgbClr val="0000FF"/>
                </a:solidFill>
                <a:latin typeface="楷体" panose="02010609060101010101" pitchFamily="49" charset="-122"/>
                <a:ea typeface="楷体" panose="02010609060101010101" pitchFamily="49" charset="-122"/>
              </a:rPr>
              <a:t>培养开发人员从系统整体出发，面向用户来发现问题、解决问题</a:t>
            </a:r>
            <a:r>
              <a:rPr kumimoji="0" lang="zh-CN" altLang="en-US" dirty="0">
                <a:solidFill>
                  <a:schemeClr val="bg2"/>
                </a:solidFill>
                <a:latin typeface="楷体" panose="02010609060101010101" pitchFamily="49" charset="-122"/>
                <a:ea typeface="楷体" panose="02010609060101010101" pitchFamily="49" charset="-122"/>
              </a:rPr>
              <a:t>是项目经理</a:t>
            </a:r>
            <a:r>
              <a:rPr kumimoji="0" lang="zh-CN" altLang="en-US" dirty="0">
                <a:solidFill>
                  <a:srgbClr val="0000FF"/>
                </a:solidFill>
                <a:latin typeface="楷体" panose="02010609060101010101" pitchFamily="49" charset="-122"/>
                <a:ea typeface="楷体" panose="02010609060101010101" pitchFamily="49" charset="-122"/>
              </a:rPr>
              <a:t>最重要的职责。</a:t>
            </a:r>
          </a:p>
        </p:txBody>
      </p:sp>
      <p:sp>
        <p:nvSpPr>
          <p:cNvPr id="15365"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3.1 </a:t>
            </a:r>
            <a:r>
              <a:rPr kumimoji="0" lang="en-US" altLang="en-US" sz="3000" dirty="0" err="1">
                <a:latin typeface="楷体" panose="02010609060101010101" pitchFamily="49" charset="-122"/>
                <a:ea typeface="楷体" panose="02010609060101010101" pitchFamily="49" charset="-122"/>
              </a:rPr>
              <a:t>整合项目资源概述</a:t>
            </a:r>
            <a:endParaRPr kumimoji="0" lang="zh-CN" altLang="en-US" sz="3000" dirty="0">
              <a:latin typeface="楷体" panose="02010609060101010101" pitchFamily="49" charset="-122"/>
              <a:ea typeface="楷体" panose="02010609060101010101" pitchFamily="49" charset="-122"/>
            </a:endParaRPr>
          </a:p>
        </p:txBody>
      </p:sp>
      <p:sp>
        <p:nvSpPr>
          <p:cNvPr id="13318" name="Rectangle 7"/>
          <p:cNvSpPr>
            <a:spLocks noChangeArrowheads="1"/>
          </p:cNvSpPr>
          <p:nvPr/>
        </p:nvSpPr>
        <p:spPr bwMode="auto">
          <a:xfrm>
            <a:off x="323528" y="1340768"/>
            <a:ext cx="2787650" cy="519112"/>
          </a:xfrm>
          <a:prstGeom prst="rect">
            <a:avLst/>
          </a:prstGeom>
          <a:noFill/>
          <a:ln w="9525">
            <a:noFill/>
            <a:miter lim="800000"/>
          </a:ln>
        </p:spPr>
        <p:txBody>
          <a:bodyPr wrap="none">
            <a:spAutoFit/>
          </a:bodyPr>
          <a:lstStyle/>
          <a:p>
            <a:pPr algn="l"/>
            <a:r>
              <a:rPr kumimoji="0" lang="en-US" altLang="en-US" dirty="0">
                <a:solidFill>
                  <a:schemeClr val="hlink"/>
                </a:solidFill>
                <a:ea typeface="楷体_GB2312" pitchFamily="49" charset="-122"/>
              </a:rPr>
              <a:t>3.1.4 </a:t>
            </a:r>
            <a:r>
              <a:rPr kumimoji="0" lang="en-US" altLang="en-US" dirty="0" err="1">
                <a:solidFill>
                  <a:schemeClr val="hlink"/>
                </a:solidFill>
                <a:ea typeface="楷体_GB2312" pitchFamily="49" charset="-122"/>
              </a:rPr>
              <a:t>IT</a:t>
            </a:r>
            <a:r>
              <a:rPr kumimoji="0" lang="en-US" altLang="en-US" dirty="0" err="1">
                <a:solidFill>
                  <a:schemeClr val="hlink"/>
                </a:solidFill>
                <a:latin typeface="楷体" panose="02010609060101010101" pitchFamily="49" charset="-122"/>
                <a:ea typeface="楷体" panose="02010609060101010101" pitchFamily="49" charset="-122"/>
              </a:rPr>
              <a:t>项目经理</a:t>
            </a:r>
            <a:endParaRPr kumimoji="0" lang="en-US" altLang="en-US" dirty="0">
              <a:solidFill>
                <a:schemeClr val="hlink"/>
              </a:solidFill>
              <a:latin typeface="楷体" panose="02010609060101010101" pitchFamily="49" charset="-122"/>
              <a:ea typeface="楷体" panose="02010609060101010101" pitchFamily="49" charset="-122"/>
            </a:endParaRPr>
          </a:p>
        </p:txBody>
      </p:sp>
      <p:sp>
        <p:nvSpPr>
          <p:cNvPr id="14343" name="Text Box 8"/>
          <p:cNvSpPr txBox="1">
            <a:spLocks noChangeArrowheads="1"/>
          </p:cNvSpPr>
          <p:nvPr/>
        </p:nvSpPr>
        <p:spPr bwMode="auto">
          <a:xfrm>
            <a:off x="-32" y="1836738"/>
            <a:ext cx="6318267" cy="657225"/>
          </a:xfrm>
          <a:prstGeom prst="rect">
            <a:avLst/>
          </a:prstGeom>
          <a:noFill/>
          <a:ln w="28575">
            <a:noFill/>
            <a:miter lim="800000"/>
          </a:ln>
        </p:spPr>
        <p:txBody>
          <a:bodyPr wrap="square">
            <a:spAutoFit/>
          </a:bodyPr>
          <a:lstStyle/>
          <a:p>
            <a:pPr marL="457200" indent="-457200" algn="l">
              <a:lnSpc>
                <a:spcPct val="115000"/>
              </a:lnSpc>
              <a:spcBef>
                <a:spcPct val="50000"/>
              </a:spcBef>
              <a:buClr>
                <a:schemeClr val="hlink"/>
              </a:buClr>
              <a:buFont typeface="Wingdings" panose="05000000000000000000" pitchFamily="2" charset="2"/>
              <a:buNone/>
            </a:pPr>
            <a:r>
              <a:rPr lang="en-US" altLang="en-US" dirty="0">
                <a:solidFill>
                  <a:srgbClr val="0000FF"/>
                </a:solidFill>
                <a:uFillTx/>
                <a:ea typeface="楷体" panose="02010609060101010101" pitchFamily="49" charset="-122"/>
              </a:rPr>
              <a:t>2</a:t>
            </a:r>
            <a:r>
              <a:rPr lang="zh-CN" altLang="en-US" dirty="0">
                <a:solidFill>
                  <a:srgbClr val="0000FF"/>
                </a:solidFill>
                <a:uFillTx/>
                <a:ea typeface="楷体" panose="02010609060101010101" pitchFamily="49" charset="-122"/>
              </a:rPr>
              <a:t>）</a:t>
            </a:r>
            <a:r>
              <a:rPr lang="en-US" altLang="en-US" dirty="0">
                <a:solidFill>
                  <a:srgbClr val="0000FF"/>
                </a:solidFill>
                <a:uFillTx/>
                <a:ea typeface="楷体" panose="02010609060101010101" pitchFamily="49" charset="-122"/>
              </a:rPr>
              <a:t>项目经理的责任与权力</a:t>
            </a:r>
            <a:r>
              <a:rPr lang="en-US" altLang="en-US" sz="3200" dirty="0">
                <a:solidFill>
                  <a:srgbClr val="0000FF"/>
                </a:solidFill>
                <a:latin typeface="楷体" panose="02010609060101010101" pitchFamily="49" charset="-122"/>
                <a:ea typeface="楷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73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733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9"/>
          <p:cNvSpPr>
            <a:spLocks noGrp="1" noChangeArrowheads="1"/>
          </p:cNvSpPr>
          <p:nvPr>
            <p:ph type="sldNum" sz="quarter" idx="10"/>
          </p:nvPr>
        </p:nvSpPr>
        <p:spPr>
          <a:noFill/>
        </p:spPr>
        <p:txBody>
          <a:bodyPr/>
          <a:lstStyle/>
          <a:p>
            <a:r>
              <a:rPr lang="zh-CN" altLang="en-GB" dirty="0"/>
              <a:t>  </a:t>
            </a:r>
            <a:fld id="{A0CCC4B8-1691-49DB-8E23-79D808260E5D}" type="slidenum">
              <a:rPr lang="zh-CN" altLang="en-GB" smtClean="0"/>
              <a:t>17</a:t>
            </a:fld>
            <a:endParaRPr lang="en-US" altLang="zh-CN" dirty="0"/>
          </a:p>
        </p:txBody>
      </p:sp>
      <p:sp>
        <p:nvSpPr>
          <p:cNvPr id="1638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P.67</a:t>
            </a:r>
          </a:p>
        </p:txBody>
      </p:sp>
      <p:sp>
        <p:nvSpPr>
          <p:cNvPr id="16388" name="Text Box 4"/>
          <p:cNvSpPr txBox="1">
            <a:spLocks noChangeArrowheads="1"/>
          </p:cNvSpPr>
          <p:nvPr/>
        </p:nvSpPr>
        <p:spPr bwMode="auto">
          <a:xfrm>
            <a:off x="898525" y="2563813"/>
            <a:ext cx="5761038" cy="3817937"/>
          </a:xfrm>
          <a:prstGeom prst="rect">
            <a:avLst/>
          </a:prstGeom>
          <a:noFill/>
          <a:ln w="9525">
            <a:noFill/>
            <a:miter lim="800000"/>
          </a:ln>
        </p:spPr>
        <p:txBody>
          <a:bodyPr tIns="0" bIns="0"/>
          <a:lstStyle/>
          <a:p>
            <a:pPr marL="514350" indent="-514350" algn="l">
              <a:buClr>
                <a:schemeClr val="bg1"/>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良好的道德品质</a:t>
            </a:r>
          </a:p>
          <a:p>
            <a:pPr marL="514350" indent="-514350" algn="l">
              <a:spcBef>
                <a:spcPct val="10000"/>
              </a:spcBef>
              <a:buClr>
                <a:schemeClr val="bg1"/>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健康的身体和心理素质</a:t>
            </a:r>
          </a:p>
          <a:p>
            <a:pPr marL="514350" indent="-514350" algn="l">
              <a:spcBef>
                <a:spcPct val="10000"/>
              </a:spcBef>
              <a:buClr>
                <a:schemeClr val="bg1"/>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强烈的客户意识</a:t>
            </a:r>
          </a:p>
          <a:p>
            <a:pPr marL="514350" indent="-514350" algn="l">
              <a:spcBef>
                <a:spcPct val="10000"/>
              </a:spcBef>
              <a:buClr>
                <a:schemeClr val="bg1"/>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专业的素质和素养</a:t>
            </a:r>
          </a:p>
          <a:p>
            <a:pPr marL="514350" indent="-514350" algn="l">
              <a:spcBef>
                <a:spcPct val="10000"/>
              </a:spcBef>
              <a:buClr>
                <a:schemeClr val="bg1"/>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牢固的大局观</a:t>
            </a:r>
          </a:p>
          <a:p>
            <a:pPr marL="514350" indent="-514350" algn="l">
              <a:spcBef>
                <a:spcPct val="10000"/>
              </a:spcBef>
              <a:buClr>
                <a:schemeClr val="bg1"/>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优秀的项目管理能力</a:t>
            </a:r>
          </a:p>
          <a:p>
            <a:pPr marL="514350" indent="-514350" algn="l">
              <a:spcBef>
                <a:spcPct val="10000"/>
              </a:spcBef>
              <a:buClr>
                <a:schemeClr val="bg1"/>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强大的信心与坚强的意志</a:t>
            </a:r>
          </a:p>
          <a:p>
            <a:pPr marL="514350" indent="-514350" algn="l">
              <a:spcBef>
                <a:spcPct val="10000"/>
              </a:spcBef>
              <a:buClr>
                <a:schemeClr val="bg1"/>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胆大、心细。</a:t>
            </a:r>
          </a:p>
        </p:txBody>
      </p:sp>
      <p:sp>
        <p:nvSpPr>
          <p:cNvPr id="16390" name="Rectangle 10"/>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3.1 </a:t>
            </a:r>
            <a:r>
              <a:rPr kumimoji="0" lang="en-US" altLang="en-US" sz="3000" dirty="0" err="1">
                <a:latin typeface="楷体" panose="02010609060101010101" pitchFamily="49" charset="-122"/>
                <a:ea typeface="楷体" panose="02010609060101010101" pitchFamily="49" charset="-122"/>
              </a:rPr>
              <a:t>整合项目资源概述</a:t>
            </a:r>
            <a:endParaRPr kumimoji="0" lang="zh-CN" altLang="en-US" sz="3000" dirty="0">
              <a:latin typeface="楷体" panose="02010609060101010101" pitchFamily="49" charset="-122"/>
              <a:ea typeface="楷体" panose="02010609060101010101" pitchFamily="49" charset="-122"/>
            </a:endParaRPr>
          </a:p>
        </p:txBody>
      </p:sp>
      <p:sp>
        <p:nvSpPr>
          <p:cNvPr id="16391" name="Rectangle 11"/>
          <p:cNvSpPr>
            <a:spLocks noChangeArrowheads="1"/>
          </p:cNvSpPr>
          <p:nvPr/>
        </p:nvSpPr>
        <p:spPr bwMode="auto">
          <a:xfrm>
            <a:off x="323850" y="1341438"/>
            <a:ext cx="2787650" cy="519112"/>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3.1.4 </a:t>
            </a:r>
            <a:r>
              <a:rPr kumimoji="0" lang="en-US" altLang="en-US" dirty="0" err="1">
                <a:solidFill>
                  <a:srgbClr val="FF0000"/>
                </a:solidFill>
                <a:ea typeface="楷体_GB2312" pitchFamily="49" charset="-122"/>
              </a:rPr>
              <a:t>IT</a:t>
            </a:r>
            <a:r>
              <a:rPr kumimoji="0" lang="en-US" altLang="en-US" dirty="0" err="1">
                <a:solidFill>
                  <a:srgbClr val="FF0000"/>
                </a:solidFill>
                <a:latin typeface="楷体" panose="02010609060101010101" pitchFamily="49" charset="-122"/>
                <a:ea typeface="楷体" panose="02010609060101010101" pitchFamily="49" charset="-122"/>
              </a:rPr>
              <a:t>项目经理</a:t>
            </a:r>
          </a:p>
        </p:txBody>
      </p:sp>
      <p:sp>
        <p:nvSpPr>
          <p:cNvPr id="16392" name="Text Box 12"/>
          <p:cNvSpPr txBox="1">
            <a:spLocks noChangeArrowheads="1"/>
          </p:cNvSpPr>
          <p:nvPr/>
        </p:nvSpPr>
        <p:spPr bwMode="auto">
          <a:xfrm>
            <a:off x="71406" y="1844675"/>
            <a:ext cx="4610100" cy="657225"/>
          </a:xfrm>
          <a:prstGeom prst="rect">
            <a:avLst/>
          </a:prstGeom>
          <a:noFill/>
          <a:ln w="28575">
            <a:noFill/>
            <a:miter lim="800000"/>
          </a:ln>
        </p:spPr>
        <p:txBody>
          <a:bodyPr>
            <a:spAutoFit/>
          </a:bodyPr>
          <a:lstStyle/>
          <a:p>
            <a:pPr marL="457200" indent="-457200" algn="l">
              <a:lnSpc>
                <a:spcPct val="115000"/>
              </a:lnSpc>
              <a:spcBef>
                <a:spcPct val="50000"/>
              </a:spcBef>
              <a:buClr>
                <a:schemeClr val="hlink"/>
              </a:buClr>
              <a:buFont typeface="Wingdings" panose="05000000000000000000" pitchFamily="2" charset="2"/>
              <a:buNone/>
            </a:pPr>
            <a:r>
              <a:rPr lang="en-US" altLang="en-US" sz="2800" dirty="0">
                <a:solidFill>
                  <a:srgbClr val="0000FF"/>
                </a:solidFill>
                <a:uFillTx/>
                <a:ea typeface="楷体" panose="02010609060101010101" pitchFamily="49" charset="-122"/>
              </a:rPr>
              <a:t>3</a:t>
            </a:r>
            <a:r>
              <a:rPr lang="zh-CN" altLang="en-US" sz="2800" dirty="0">
                <a:solidFill>
                  <a:srgbClr val="0000FF"/>
                </a:solidFill>
                <a:uFillTx/>
                <a:ea typeface="楷体" panose="02010609060101010101" pitchFamily="49" charset="-122"/>
              </a:rPr>
              <a:t>）</a:t>
            </a:r>
            <a:r>
              <a:rPr lang="en-US" altLang="en-US" sz="2800" dirty="0">
                <a:solidFill>
                  <a:srgbClr val="0000FF"/>
                </a:solidFill>
                <a:uFillTx/>
                <a:ea typeface="楷体" panose="02010609060101010101" pitchFamily="49" charset="-122"/>
              </a:rPr>
              <a:t>项目经理的素质要求</a:t>
            </a:r>
            <a:r>
              <a:rPr kumimoji="0" lang="en-US" altLang="en-US" sz="3200" dirty="0">
                <a:solidFill>
                  <a:schemeClr val="bg1"/>
                </a:solidFill>
                <a:latin typeface="楷体" panose="02010609060101010101" pitchFamily="49" charset="-122"/>
                <a:ea typeface="楷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38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9"/>
          <p:cNvSpPr>
            <a:spLocks noGrp="1" noChangeArrowheads="1"/>
          </p:cNvSpPr>
          <p:nvPr>
            <p:ph type="sldNum" sz="quarter" idx="10"/>
          </p:nvPr>
        </p:nvSpPr>
        <p:spPr>
          <a:noFill/>
        </p:spPr>
        <p:txBody>
          <a:bodyPr/>
          <a:lstStyle/>
          <a:p>
            <a:r>
              <a:rPr lang="zh-CN" altLang="en-GB" dirty="0"/>
              <a:t>  </a:t>
            </a:r>
            <a:fld id="{93572D0D-A125-4F18-BD82-933E439A52F8}" type="slidenum">
              <a:rPr lang="zh-CN" altLang="en-GB" smtClean="0"/>
              <a:t>18</a:t>
            </a:fld>
            <a:endParaRPr lang="en-US" altLang="zh-CN" dirty="0"/>
          </a:p>
        </p:txBody>
      </p:sp>
      <p:sp>
        <p:nvSpPr>
          <p:cNvPr id="869385" name="Text Box 9"/>
          <p:cNvSpPr txBox="1">
            <a:spLocks noChangeArrowheads="1"/>
          </p:cNvSpPr>
          <p:nvPr/>
        </p:nvSpPr>
        <p:spPr bwMode="auto">
          <a:xfrm>
            <a:off x="142875" y="2428868"/>
            <a:ext cx="8893175" cy="2707005"/>
          </a:xfrm>
          <a:prstGeom prst="rect">
            <a:avLst/>
          </a:prstGeom>
          <a:noFill/>
          <a:ln w="9525" algn="ctr">
            <a:noFill/>
            <a:miter lim="800000"/>
          </a:ln>
        </p:spPr>
        <p:txBody>
          <a:bodyPr>
            <a:spAutoFit/>
          </a:bodyPr>
          <a:lstStyle/>
          <a:p>
            <a:pPr algn="l">
              <a:spcBef>
                <a:spcPts val="1200"/>
              </a:spcBef>
              <a:spcAft>
                <a:spcPts val="600"/>
              </a:spcAft>
            </a:pPr>
            <a:r>
              <a:rPr lang="en-US" altLang="zh-CN" dirty="0">
                <a:solidFill>
                  <a:schemeClr val="bg2"/>
                </a:solidFill>
                <a:latin typeface="+mn-lt"/>
                <a:ea typeface="楷体" panose="02010609060101010101" pitchFamily="49" charset="-122"/>
              </a:rPr>
              <a:t>IT</a:t>
            </a:r>
            <a:r>
              <a:rPr lang="zh-CN" altLang="en-US" dirty="0">
                <a:solidFill>
                  <a:schemeClr val="bg2"/>
                </a:solidFill>
                <a:latin typeface="楷体" panose="02010609060101010101" pitchFamily="49" charset="-122"/>
                <a:ea typeface="楷体" panose="02010609060101010101" pitchFamily="49" charset="-122"/>
              </a:rPr>
              <a:t>项目经理，特别是软件项目经理的基本素质还应该体现在：</a:t>
            </a:r>
          </a:p>
          <a:p>
            <a:pPr marL="914400" lvl="1" indent="-457200" algn="l">
              <a:spcBef>
                <a:spcPts val="1200"/>
              </a:spcBef>
              <a:spcAft>
                <a:spcPts val="600"/>
              </a:spcAft>
              <a:buClr>
                <a:srgbClr val="000066"/>
              </a:buClr>
              <a:buSzPct val="80000"/>
              <a:buFont typeface="Wingdings" panose="05000000000000000000" charset="0"/>
              <a:buChar char="ü"/>
            </a:pPr>
            <a:r>
              <a:rPr lang="zh-CN" altLang="en-US" dirty="0">
                <a:solidFill>
                  <a:srgbClr val="0000FF"/>
                </a:solidFill>
                <a:latin typeface="楷体" panose="02010609060101010101" pitchFamily="49" charset="-122"/>
                <a:ea typeface="楷体" panose="02010609060101010101" pitchFamily="49" charset="-122"/>
              </a:rPr>
              <a:t>对项目以及项目形成的产品的市场和销售热点非常熟悉；</a:t>
            </a:r>
          </a:p>
          <a:p>
            <a:pPr marL="914400" lvl="1" indent="-457200" algn="l">
              <a:spcBef>
                <a:spcPts val="1200"/>
              </a:spcBef>
              <a:spcAft>
                <a:spcPts val="600"/>
              </a:spcAft>
              <a:buClr>
                <a:srgbClr val="000066"/>
              </a:buClr>
              <a:buSzPct val="80000"/>
              <a:buFont typeface="Wingdings" panose="05000000000000000000" charset="0"/>
              <a:buChar char="ü"/>
            </a:pPr>
            <a:r>
              <a:rPr lang="zh-CN" altLang="en-US" dirty="0">
                <a:solidFill>
                  <a:srgbClr val="0000FF"/>
                </a:solidFill>
                <a:latin typeface="楷体" panose="02010609060101010101" pitchFamily="49" charset="-122"/>
                <a:ea typeface="楷体" panose="02010609060101010101" pitchFamily="49" charset="-122"/>
              </a:rPr>
              <a:t>对项目和产品的成本构成非常了解。</a:t>
            </a:r>
          </a:p>
        </p:txBody>
      </p:sp>
      <p:sp>
        <p:nvSpPr>
          <p:cNvPr id="17412" name="Rectangle 10"/>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3.1 </a:t>
            </a:r>
            <a:r>
              <a:rPr kumimoji="0" lang="en-US" altLang="en-US" sz="3000" dirty="0" err="1">
                <a:latin typeface="楷体" panose="02010609060101010101" pitchFamily="49" charset="-122"/>
                <a:ea typeface="楷体" panose="02010609060101010101" pitchFamily="49" charset="-122"/>
              </a:rPr>
              <a:t>整合项目资源概述</a:t>
            </a:r>
            <a:endParaRPr kumimoji="0" lang="zh-CN" altLang="en-US" sz="3000" dirty="0">
              <a:latin typeface="楷体" panose="02010609060101010101" pitchFamily="49" charset="-122"/>
              <a:ea typeface="楷体" panose="02010609060101010101" pitchFamily="49" charset="-122"/>
            </a:endParaRPr>
          </a:p>
        </p:txBody>
      </p:sp>
      <p:sp>
        <p:nvSpPr>
          <p:cNvPr id="17413" name="Rectangle 11"/>
          <p:cNvSpPr>
            <a:spLocks noChangeArrowheads="1"/>
          </p:cNvSpPr>
          <p:nvPr/>
        </p:nvSpPr>
        <p:spPr bwMode="auto">
          <a:xfrm>
            <a:off x="323850" y="1341438"/>
            <a:ext cx="2787650" cy="519112"/>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3.1.4 </a:t>
            </a:r>
            <a:r>
              <a:rPr kumimoji="0" lang="en-US" altLang="en-US" dirty="0" err="1">
                <a:solidFill>
                  <a:srgbClr val="FF0000"/>
                </a:solidFill>
                <a:ea typeface="楷体_GB2312" pitchFamily="49" charset="-122"/>
              </a:rPr>
              <a:t>IT</a:t>
            </a:r>
            <a:r>
              <a:rPr kumimoji="0" lang="en-US" altLang="en-US" dirty="0" err="1">
                <a:solidFill>
                  <a:srgbClr val="FF0000"/>
                </a:solidFill>
                <a:latin typeface="楷体" panose="02010609060101010101" pitchFamily="49" charset="-122"/>
                <a:ea typeface="楷体" panose="02010609060101010101" pitchFamily="49" charset="-122"/>
              </a:rPr>
              <a:t>项目经理</a:t>
            </a:r>
          </a:p>
        </p:txBody>
      </p:sp>
      <p:sp>
        <p:nvSpPr>
          <p:cNvPr id="17415" name="Text Box 1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P.68</a:t>
            </a:r>
          </a:p>
        </p:txBody>
      </p:sp>
      <p:sp>
        <p:nvSpPr>
          <p:cNvPr id="16392" name="Text Box 12"/>
          <p:cNvSpPr txBox="1">
            <a:spLocks noChangeArrowheads="1"/>
          </p:cNvSpPr>
          <p:nvPr/>
        </p:nvSpPr>
        <p:spPr bwMode="auto">
          <a:xfrm>
            <a:off x="71406" y="1844675"/>
            <a:ext cx="4610100" cy="657225"/>
          </a:xfrm>
          <a:prstGeom prst="rect">
            <a:avLst/>
          </a:prstGeom>
          <a:noFill/>
          <a:ln w="28575">
            <a:noFill/>
            <a:miter lim="800000"/>
          </a:ln>
        </p:spPr>
        <p:txBody>
          <a:bodyPr>
            <a:spAutoFit/>
          </a:bodyPr>
          <a:lstStyle/>
          <a:p>
            <a:pPr marL="457200" indent="-457200" algn="l">
              <a:lnSpc>
                <a:spcPct val="115000"/>
              </a:lnSpc>
              <a:spcBef>
                <a:spcPct val="50000"/>
              </a:spcBef>
              <a:buClr>
                <a:schemeClr val="hlink"/>
              </a:buClr>
              <a:buFont typeface="Wingdings" panose="05000000000000000000" pitchFamily="2" charset="2"/>
              <a:buNone/>
            </a:pPr>
            <a:r>
              <a:rPr lang="en-US" altLang="en-US" sz="2800" dirty="0">
                <a:solidFill>
                  <a:srgbClr val="0000FF"/>
                </a:solidFill>
                <a:uFillTx/>
                <a:ea typeface="楷体" panose="02010609060101010101" pitchFamily="49" charset="-122"/>
              </a:rPr>
              <a:t>3</a:t>
            </a:r>
            <a:r>
              <a:rPr lang="zh-CN" altLang="en-US" sz="2800" dirty="0">
                <a:solidFill>
                  <a:srgbClr val="0000FF"/>
                </a:solidFill>
                <a:uFillTx/>
                <a:ea typeface="楷体" panose="02010609060101010101" pitchFamily="49" charset="-122"/>
              </a:rPr>
              <a:t>）</a:t>
            </a:r>
            <a:r>
              <a:rPr lang="en-US" altLang="en-US" sz="2800" dirty="0">
                <a:solidFill>
                  <a:srgbClr val="0000FF"/>
                </a:solidFill>
                <a:uFillTx/>
                <a:ea typeface="楷体" panose="02010609060101010101" pitchFamily="49" charset="-122"/>
              </a:rPr>
              <a:t>项目经理的素质要求</a:t>
            </a:r>
            <a:r>
              <a:rPr kumimoji="0" lang="en-US" altLang="en-US" sz="3200" dirty="0">
                <a:solidFill>
                  <a:schemeClr val="bg1"/>
                </a:solidFill>
                <a:latin typeface="楷体" panose="02010609060101010101" pitchFamily="49" charset="-122"/>
                <a:ea typeface="楷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938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938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10"/>
          </p:nvPr>
        </p:nvSpPr>
        <p:spPr>
          <a:noFill/>
        </p:spPr>
        <p:txBody>
          <a:bodyPr/>
          <a:lstStyle/>
          <a:p>
            <a:r>
              <a:rPr lang="zh-CN" altLang="en-GB" dirty="0"/>
              <a:t>  </a:t>
            </a:r>
            <a:fld id="{C88E51BE-7052-484F-B2F7-6A6A9D1DB5DE}" type="slidenum">
              <a:rPr lang="zh-CN" altLang="en-GB" smtClean="0"/>
              <a:t>19</a:t>
            </a:fld>
            <a:endParaRPr lang="en-US" altLang="zh-CN" dirty="0"/>
          </a:p>
        </p:txBody>
      </p:sp>
      <p:sp>
        <p:nvSpPr>
          <p:cNvPr id="184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P.69</a:t>
            </a:r>
          </a:p>
        </p:txBody>
      </p:sp>
      <p:sp>
        <p:nvSpPr>
          <p:cNvPr id="865284" name="Text Box 4"/>
          <p:cNvSpPr txBox="1">
            <a:spLocks noChangeArrowheads="1"/>
          </p:cNvSpPr>
          <p:nvPr/>
        </p:nvSpPr>
        <p:spPr bwMode="auto">
          <a:xfrm>
            <a:off x="322263" y="1892321"/>
            <a:ext cx="8642350" cy="4537075"/>
          </a:xfrm>
          <a:prstGeom prst="rect">
            <a:avLst/>
          </a:prstGeom>
          <a:noFill/>
          <a:ln w="9525">
            <a:noFill/>
            <a:miter lim="800000"/>
          </a:ln>
        </p:spPr>
        <p:txBody>
          <a:bodyPr tIns="0" bIns="0"/>
          <a:lstStyle/>
          <a:p>
            <a:pPr algn="l">
              <a:spcBef>
                <a:spcPts val="600"/>
              </a:spcBef>
              <a:spcAft>
                <a:spcPts val="600"/>
              </a:spcAft>
              <a:buClr>
                <a:schemeClr val="hlink"/>
              </a:buClr>
            </a:pPr>
            <a:r>
              <a:rPr lang="zh-CN" altLang="en-US" dirty="0">
                <a:solidFill>
                  <a:schemeClr val="bg2"/>
                </a:solidFill>
                <a:latin typeface="楷体" panose="02010609060101010101" pitchFamily="49" charset="-122"/>
                <a:ea typeface="楷体" panose="02010609060101010101" pitchFamily="49" charset="-122"/>
              </a:rPr>
              <a:t>应该明确，高管既包括甲方的高层管理人员也包括乙方的高层管理人员。</a:t>
            </a:r>
          </a:p>
          <a:p>
            <a:pPr algn="l">
              <a:spcBef>
                <a:spcPts val="600"/>
              </a:spcBef>
              <a:spcAft>
                <a:spcPts val="600"/>
              </a:spcAft>
              <a:buClr>
                <a:schemeClr val="hlink"/>
              </a:buClr>
            </a:pPr>
            <a:r>
              <a:rPr lang="zh-CN" altLang="en-US" dirty="0">
                <a:solidFill>
                  <a:schemeClr val="bg2"/>
                </a:solidFill>
                <a:latin typeface="楷体" panose="02010609060101010101" pitchFamily="49" charset="-122"/>
                <a:ea typeface="楷体" panose="02010609060101010101" pitchFamily="49" charset="-122"/>
              </a:rPr>
              <a:t>项目经理需要从高管人员处获得支持的原因主要有：</a:t>
            </a:r>
          </a:p>
          <a:p>
            <a:pPr marL="971550" lvl="1" indent="-514350" algn="l">
              <a:spcBef>
                <a:spcPts val="0"/>
              </a:spcBef>
              <a:spcAft>
                <a:spcPts val="600"/>
              </a:spcAft>
              <a:buClr>
                <a:schemeClr val="bg1"/>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获取足够的资源</a:t>
            </a:r>
          </a:p>
          <a:p>
            <a:pPr marL="971550" lvl="1" indent="-514350" algn="l">
              <a:spcBef>
                <a:spcPts val="0"/>
              </a:spcBef>
              <a:spcAft>
                <a:spcPts val="600"/>
              </a:spcAft>
              <a:buClr>
                <a:schemeClr val="bg1"/>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项目经理需要一些特殊的审批</a:t>
            </a:r>
          </a:p>
          <a:p>
            <a:pPr marL="971550" lvl="1" indent="-514350" algn="l">
              <a:spcBef>
                <a:spcPts val="0"/>
              </a:spcBef>
              <a:spcAft>
                <a:spcPts val="600"/>
              </a:spcAft>
              <a:buClr>
                <a:schemeClr val="bg1"/>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跨部门、跨组织的协调</a:t>
            </a:r>
          </a:p>
          <a:p>
            <a:pPr marL="971550" lvl="1" indent="-514350" algn="l">
              <a:spcBef>
                <a:spcPts val="0"/>
              </a:spcBef>
              <a:spcAft>
                <a:spcPts val="600"/>
              </a:spcAft>
              <a:buClr>
                <a:schemeClr val="bg1"/>
              </a:buClr>
              <a:buFont typeface="+mj-ea"/>
              <a:buAutoNum type="circleNumDbPlain"/>
            </a:pPr>
            <a:r>
              <a:rPr kumimoji="0" lang="zh-CN" altLang="en-US" dirty="0">
                <a:solidFill>
                  <a:srgbClr val="0000FF"/>
                </a:solidFill>
                <a:latin typeface="楷体" panose="02010609060101010101" pitchFamily="49" charset="-122"/>
                <a:ea typeface="楷体" panose="02010609060101010101" pitchFamily="49" charset="-122"/>
              </a:rPr>
              <a:t>需要得到高层管理人员的指导和帮助</a:t>
            </a:r>
          </a:p>
        </p:txBody>
      </p:sp>
      <p:sp>
        <p:nvSpPr>
          <p:cNvPr id="18437"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3.1 </a:t>
            </a:r>
            <a:r>
              <a:rPr kumimoji="0" lang="en-US" altLang="en-US" sz="3000" dirty="0" err="1">
                <a:latin typeface="楷体" panose="02010609060101010101" pitchFamily="49" charset="-122"/>
                <a:ea typeface="楷体" panose="02010609060101010101" pitchFamily="49" charset="-122"/>
              </a:rPr>
              <a:t>整合项目资源概述</a:t>
            </a:r>
            <a:endParaRPr kumimoji="0" lang="zh-CN" altLang="en-US" sz="3000" dirty="0">
              <a:latin typeface="楷体" panose="02010609060101010101" pitchFamily="49" charset="-122"/>
              <a:ea typeface="楷体" panose="02010609060101010101" pitchFamily="49" charset="-122"/>
            </a:endParaRPr>
          </a:p>
        </p:txBody>
      </p:sp>
      <p:sp>
        <p:nvSpPr>
          <p:cNvPr id="18438" name="Rectangle 7"/>
          <p:cNvSpPr>
            <a:spLocks noChangeArrowheads="1"/>
          </p:cNvSpPr>
          <p:nvPr/>
        </p:nvSpPr>
        <p:spPr bwMode="auto">
          <a:xfrm>
            <a:off x="-32" y="1285860"/>
            <a:ext cx="4200525" cy="521970"/>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3.1.5 </a:t>
            </a:r>
            <a:r>
              <a:rPr kumimoji="0" lang="en-US" altLang="en-US" dirty="0" err="1">
                <a:solidFill>
                  <a:srgbClr val="FF0000"/>
                </a:solidFill>
                <a:latin typeface="楷体" panose="02010609060101010101" pitchFamily="49" charset="-122"/>
                <a:ea typeface="楷体" panose="02010609060101010101" pitchFamily="49" charset="-122"/>
              </a:rPr>
              <a:t>高层管理人员的支持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528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528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528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6528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a:t>  </a:t>
            </a:r>
            <a:fld id="{B6D6A615-618E-4DBF-9BE6-09340DC0AD1F}" type="slidenum">
              <a:rPr lang="zh-CN" altLang="en-GB" smtClean="0"/>
              <a:t>20</a:t>
            </a:fld>
            <a:endParaRPr lang="en-US" altLang="zh-CN"/>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endParaRPr lang="en-US" altLang="zh-CN" sz="4800" b="1">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214313" y="1428750"/>
            <a:ext cx="8501062" cy="3785652"/>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6000" dirty="0">
                <a:solidFill>
                  <a:srgbClr val="0000FF"/>
                </a:solidFill>
                <a:latin typeface="楷体" panose="02010609060101010101" pitchFamily="49" charset="-122"/>
                <a:ea typeface="楷体" panose="02010609060101010101" pitchFamily="49" charset="-122"/>
              </a:rPr>
              <a:t>整合项目资源概述</a:t>
            </a:r>
            <a:endParaRPr lang="en-US" altLang="zh-CN" sz="6000"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6000" dirty="0">
                <a:solidFill>
                  <a:srgbClr val="FF0000"/>
                </a:solidFill>
                <a:latin typeface="楷体" panose="02010609060101010101" pitchFamily="49" charset="-122"/>
                <a:ea typeface="楷体" panose="02010609060101010101" pitchFamily="49" charset="-122"/>
              </a:rPr>
              <a:t>项目启动</a:t>
            </a:r>
            <a:endParaRPr lang="en-US" altLang="zh-CN" sz="6000" dirty="0">
              <a:solidFill>
                <a:srgbClr val="FF0000"/>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6000" dirty="0" err="1">
                <a:solidFill>
                  <a:srgbClr val="0000FF"/>
                </a:solidFill>
                <a:latin typeface="楷体" panose="02010609060101010101" pitchFamily="49" charset="-122"/>
                <a:ea typeface="楷体" panose="02010609060101010101" pitchFamily="49" charset="-122"/>
              </a:rPr>
              <a:t>项目管理计划</a:t>
            </a:r>
            <a:r>
              <a:rPr lang="zh-CN" altLang="en-US" sz="6000" dirty="0">
                <a:solidFill>
                  <a:srgbClr val="0000FF"/>
                </a:solidFill>
                <a:latin typeface="楷体" panose="02010609060101010101" pitchFamily="49" charset="-122"/>
                <a:ea typeface="楷体" panose="02010609060101010101" pitchFamily="49" charset="-122"/>
              </a:rPr>
              <a:t>编制</a:t>
            </a:r>
            <a:endParaRPr lang="en-US" altLang="zh-CN" sz="6000"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6000" dirty="0" err="1">
                <a:solidFill>
                  <a:srgbClr val="0000FF"/>
                </a:solidFill>
                <a:latin typeface="楷体" panose="02010609060101010101" pitchFamily="49" charset="-122"/>
                <a:ea typeface="楷体" panose="02010609060101010101" pitchFamily="49" charset="-122"/>
              </a:rPr>
              <a:t>整体变更控制</a:t>
            </a:r>
            <a:r>
              <a:rPr lang="zh-CN" altLang="en-US" sz="6000" dirty="0">
                <a:solidFill>
                  <a:srgbClr val="0000FF"/>
                </a:solidFill>
                <a:latin typeface="楷体" panose="02010609060101010101" pitchFamily="49" charset="-122"/>
                <a:ea typeface="楷体" panose="02010609060101010101" pitchFamily="49" charset="-122"/>
              </a:rPr>
              <a:t>方法</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10"/>
          </p:nvPr>
        </p:nvSpPr>
        <p:spPr>
          <a:noFill/>
        </p:spPr>
        <p:txBody>
          <a:bodyPr/>
          <a:lstStyle/>
          <a:p>
            <a:r>
              <a:rPr lang="zh-CN" altLang="en-GB" dirty="0"/>
              <a:t>  </a:t>
            </a:r>
            <a:fld id="{C88E51BE-7052-484F-B2F7-6A6A9D1DB5DE}" type="slidenum">
              <a:rPr lang="zh-CN" altLang="en-GB" smtClean="0"/>
              <a:t>21</a:t>
            </a:fld>
            <a:endParaRPr lang="en-US" altLang="zh-CN" dirty="0"/>
          </a:p>
        </p:txBody>
      </p:sp>
      <p:sp>
        <p:nvSpPr>
          <p:cNvPr id="184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P.69</a:t>
            </a:r>
          </a:p>
        </p:txBody>
      </p:sp>
      <p:sp>
        <p:nvSpPr>
          <p:cNvPr id="865284" name="Text Box 4"/>
          <p:cNvSpPr txBox="1">
            <a:spLocks noChangeArrowheads="1"/>
          </p:cNvSpPr>
          <p:nvPr/>
        </p:nvSpPr>
        <p:spPr bwMode="auto">
          <a:xfrm>
            <a:off x="142844" y="1428736"/>
            <a:ext cx="8786874" cy="4857784"/>
          </a:xfrm>
          <a:prstGeom prst="rect">
            <a:avLst/>
          </a:prstGeom>
          <a:noFill/>
          <a:ln w="9525">
            <a:noFill/>
            <a:miter lim="800000"/>
          </a:ln>
        </p:spPr>
        <p:txBody>
          <a:bodyPr tIns="0" bIns="0"/>
          <a:lstStyle/>
          <a:p>
            <a:pPr algn="l">
              <a:spcBef>
                <a:spcPts val="600"/>
              </a:spcBef>
              <a:spcAft>
                <a:spcPts val="600"/>
              </a:spcAft>
            </a:pPr>
            <a:r>
              <a:rPr lang="zh-CN" altLang="en-US" sz="3200" dirty="0">
                <a:solidFill>
                  <a:schemeClr val="bg2"/>
                </a:solidFill>
                <a:latin typeface="楷体" panose="02010609060101010101" pitchFamily="49" charset="-122"/>
                <a:ea typeface="楷体" panose="02010609060101010101" pitchFamily="49" charset="-122"/>
              </a:rPr>
              <a:t>项目整合管理的一项重要活动作是</a:t>
            </a:r>
            <a:r>
              <a:rPr lang="zh-CN" altLang="en-US" sz="3200" dirty="0">
                <a:solidFill>
                  <a:schemeClr val="bg1"/>
                </a:solidFill>
                <a:latin typeface="楷体" panose="02010609060101010101" pitchFamily="49" charset="-122"/>
                <a:ea typeface="楷体" panose="02010609060101010101" pitchFamily="49" charset="-122"/>
              </a:rPr>
              <a:t>成功的启动项目</a:t>
            </a:r>
            <a:r>
              <a:rPr lang="zh-CN" altLang="en-US" sz="3200" dirty="0">
                <a:solidFill>
                  <a:schemeClr val="bg2"/>
                </a:solidFill>
                <a:latin typeface="楷体" panose="02010609060101010101" pitchFamily="49" charset="-122"/>
                <a:ea typeface="楷体" panose="02010609060101010101" pitchFamily="49" charset="-122"/>
              </a:rPr>
              <a:t>。</a:t>
            </a:r>
            <a:endParaRPr lang="en-US" altLang="zh-CN" sz="3200"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dirty="0">
                <a:solidFill>
                  <a:schemeClr val="bg2"/>
                </a:solidFill>
                <a:latin typeface="楷体" panose="02010609060101010101" pitchFamily="49" charset="-122"/>
                <a:ea typeface="楷体" panose="02010609060101010101" pitchFamily="49" charset="-122"/>
              </a:rPr>
              <a:t>在项目启动的过程中，项目经理应该熟悉项目背景，了解利益相关者，研究项目的商业需求和项目功能，确定项目范围，给出项目预算和制定项目章程。</a:t>
            </a:r>
            <a:endParaRPr lang="en-US" altLang="zh-CN" sz="3200"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dirty="0">
                <a:solidFill>
                  <a:srgbClr val="0000FF"/>
                </a:solidFill>
                <a:latin typeface="楷体" panose="02010609060101010101" pitchFamily="49" charset="-122"/>
                <a:ea typeface="楷体" panose="02010609060101010101" pitchFamily="49" charset="-122"/>
              </a:rPr>
              <a:t>“目标驱动、结果引导”是成功启动项目的最好方法。</a:t>
            </a:r>
          </a:p>
        </p:txBody>
      </p:sp>
      <p:sp>
        <p:nvSpPr>
          <p:cNvPr id="18437"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3.2  </a:t>
            </a:r>
            <a:r>
              <a:rPr kumimoji="0" lang="zh-CN" altLang="en-US" sz="3000" dirty="0">
                <a:latin typeface="楷体" panose="02010609060101010101" pitchFamily="49" charset="-122"/>
                <a:ea typeface="楷体" panose="02010609060101010101" pitchFamily="49" charset="-122"/>
              </a:rPr>
              <a:t>项目启动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528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528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10"/>
          </p:nvPr>
        </p:nvSpPr>
        <p:spPr>
          <a:noFill/>
        </p:spPr>
        <p:txBody>
          <a:bodyPr/>
          <a:lstStyle/>
          <a:p>
            <a:r>
              <a:rPr lang="zh-CN" altLang="en-GB" dirty="0"/>
              <a:t>  </a:t>
            </a:r>
            <a:fld id="{C88E51BE-7052-484F-B2F7-6A6A9D1DB5DE}" type="slidenum">
              <a:rPr lang="zh-CN" altLang="en-GB" smtClean="0"/>
              <a:t>22</a:t>
            </a:fld>
            <a:endParaRPr lang="en-US" altLang="zh-CN" dirty="0"/>
          </a:p>
        </p:txBody>
      </p:sp>
      <p:sp>
        <p:nvSpPr>
          <p:cNvPr id="184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P.69</a:t>
            </a:r>
          </a:p>
        </p:txBody>
      </p:sp>
      <p:sp>
        <p:nvSpPr>
          <p:cNvPr id="865284" name="Text Box 4"/>
          <p:cNvSpPr txBox="1">
            <a:spLocks noChangeArrowheads="1"/>
          </p:cNvSpPr>
          <p:nvPr/>
        </p:nvSpPr>
        <p:spPr bwMode="auto">
          <a:xfrm>
            <a:off x="322263" y="1892321"/>
            <a:ext cx="8642350" cy="4537075"/>
          </a:xfrm>
          <a:prstGeom prst="rect">
            <a:avLst/>
          </a:prstGeom>
          <a:noFill/>
          <a:ln w="9525">
            <a:noFill/>
            <a:miter lim="800000"/>
          </a:ln>
        </p:spPr>
        <p:txBody>
          <a:bodyPr tIns="0" bIns="0"/>
          <a:lstStyle/>
          <a:p>
            <a:pPr algn="l">
              <a:spcBef>
                <a:spcPts val="600"/>
              </a:spcBef>
              <a:spcAft>
                <a:spcPts val="600"/>
              </a:spcAft>
            </a:pPr>
            <a:r>
              <a:rPr lang="zh-CN" altLang="en-US" sz="3200" dirty="0">
                <a:solidFill>
                  <a:schemeClr val="bg2"/>
                </a:solidFill>
                <a:latin typeface="楷体" panose="02010609060101010101" pitchFamily="49" charset="-122"/>
                <a:ea typeface="楷体" panose="02010609060101010101" pitchFamily="49" charset="-122"/>
              </a:rPr>
              <a:t>启动</a:t>
            </a:r>
            <a:r>
              <a:rPr lang="en-US" sz="3200" dirty="0">
                <a:solidFill>
                  <a:schemeClr val="bg2"/>
                </a:solidFill>
                <a:latin typeface="+mn-lt"/>
                <a:ea typeface="楷体" panose="02010609060101010101" pitchFamily="49" charset="-122"/>
              </a:rPr>
              <a:t>IT</a:t>
            </a:r>
            <a:r>
              <a:rPr lang="zh-CN" altLang="en-US" sz="3200" dirty="0">
                <a:solidFill>
                  <a:schemeClr val="bg2"/>
                </a:solidFill>
                <a:latin typeface="楷体" panose="02010609060101010101" pitchFamily="49" charset="-122"/>
                <a:ea typeface="楷体" panose="02010609060101010101" pitchFamily="49" charset="-122"/>
              </a:rPr>
              <a:t>项目时至少需要了解如下项目环境和项目背景信息：</a:t>
            </a:r>
          </a:p>
          <a:p>
            <a:pPr marL="971550" lvl="1" indent="-514350" algn="l">
              <a:spcBef>
                <a:spcPts val="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项目是否具有明确的结果定义。</a:t>
            </a:r>
          </a:p>
          <a:p>
            <a:pPr marL="971550" lvl="1" indent="-514350" algn="l">
              <a:spcBef>
                <a:spcPts val="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项目是否有相关国家标准或国际规范。</a:t>
            </a:r>
          </a:p>
          <a:p>
            <a:pPr marL="971550" lvl="1" indent="-514350" algn="l">
              <a:spcBef>
                <a:spcPts val="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项目是否有合理的截止日期。</a:t>
            </a:r>
          </a:p>
          <a:p>
            <a:pPr marL="971550" lvl="1" indent="-514350" algn="l">
              <a:spcBef>
                <a:spcPts val="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项目发起人是否有权开展项目。</a:t>
            </a:r>
          </a:p>
          <a:p>
            <a:pPr marL="971550" lvl="1" indent="-514350" algn="l">
              <a:spcBef>
                <a:spcPts val="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项目是否有财务支持。</a:t>
            </a:r>
          </a:p>
          <a:p>
            <a:pPr marL="971550" lvl="1" indent="-514350" algn="l">
              <a:spcBef>
                <a:spcPts val="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项目是否有人做过。</a:t>
            </a:r>
          </a:p>
        </p:txBody>
      </p:sp>
      <p:sp>
        <p:nvSpPr>
          <p:cNvPr id="18437"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3.2  </a:t>
            </a:r>
            <a:r>
              <a:rPr kumimoji="0" lang="zh-CN" altLang="en-US" sz="3000" dirty="0">
                <a:latin typeface="楷体" panose="02010609060101010101" pitchFamily="49" charset="-122"/>
                <a:ea typeface="楷体" panose="02010609060101010101" pitchFamily="49" charset="-122"/>
              </a:rPr>
              <a:t>项目启动</a:t>
            </a:r>
          </a:p>
        </p:txBody>
      </p:sp>
      <p:sp>
        <p:nvSpPr>
          <p:cNvPr id="18438" name="Rectangle 7"/>
          <p:cNvSpPr>
            <a:spLocks noChangeArrowheads="1"/>
          </p:cNvSpPr>
          <p:nvPr/>
        </p:nvSpPr>
        <p:spPr bwMode="auto">
          <a:xfrm>
            <a:off x="71406" y="1341438"/>
            <a:ext cx="3534942" cy="523220"/>
          </a:xfrm>
          <a:prstGeom prst="rect">
            <a:avLst/>
          </a:prstGeom>
          <a:noFill/>
          <a:ln w="9525">
            <a:noFill/>
            <a:miter lim="800000"/>
          </a:ln>
        </p:spPr>
        <p:txBody>
          <a:bodyPr wrap="none">
            <a:spAutoFit/>
          </a:bodyPr>
          <a:lstStyle/>
          <a:p>
            <a:pPr algn="l"/>
            <a:r>
              <a:rPr kumimoji="0" lang="en-US" altLang="en-US" dirty="0">
                <a:solidFill>
                  <a:srgbClr val="FF0000"/>
                </a:solidFill>
                <a:latin typeface="+mn-lt"/>
                <a:ea typeface="楷体_GB2312" pitchFamily="49" charset="-122"/>
              </a:rPr>
              <a:t>3.2.1 </a:t>
            </a:r>
            <a:r>
              <a:rPr kumimoji="0" lang="zh-CN" altLang="en-US" dirty="0">
                <a:solidFill>
                  <a:srgbClr val="FF0000"/>
                </a:solidFill>
                <a:latin typeface="楷体" panose="02010609060101010101" pitchFamily="49" charset="-122"/>
                <a:ea typeface="楷体" panose="02010609060101010101" pitchFamily="49" charset="-122"/>
              </a:rPr>
              <a:t>了解</a:t>
            </a:r>
            <a:r>
              <a:rPr kumimoji="0" lang="en-US" altLang="zh-CN" dirty="0">
                <a:solidFill>
                  <a:srgbClr val="FF0000"/>
                </a:solidFill>
                <a:latin typeface="+mn-lt"/>
                <a:ea typeface="楷体_GB2312" pitchFamily="49" charset="-122"/>
              </a:rPr>
              <a:t>IT</a:t>
            </a:r>
            <a:r>
              <a:rPr kumimoji="0" lang="zh-CN" altLang="en-US" dirty="0">
                <a:solidFill>
                  <a:srgbClr val="FF0000"/>
                </a:solidFill>
                <a:latin typeface="楷体" panose="02010609060101010101" pitchFamily="49" charset="-122"/>
                <a:ea typeface="楷体" panose="02010609060101010101" pitchFamily="49" charset="-122"/>
              </a:rPr>
              <a:t>项目背景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528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528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528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6528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6528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6528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10"/>
          </p:nvPr>
        </p:nvSpPr>
        <p:spPr>
          <a:noFill/>
        </p:spPr>
        <p:txBody>
          <a:bodyPr/>
          <a:lstStyle/>
          <a:p>
            <a:r>
              <a:rPr lang="zh-CN" altLang="en-GB" dirty="0"/>
              <a:t>  </a:t>
            </a:r>
            <a:fld id="{C88E51BE-7052-484F-B2F7-6A6A9D1DB5DE}" type="slidenum">
              <a:rPr lang="zh-CN" altLang="en-GB" smtClean="0"/>
              <a:t>23</a:t>
            </a:fld>
            <a:endParaRPr lang="en-US" altLang="zh-CN" dirty="0"/>
          </a:p>
        </p:txBody>
      </p:sp>
      <p:sp>
        <p:nvSpPr>
          <p:cNvPr id="184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P.70</a:t>
            </a:r>
          </a:p>
        </p:txBody>
      </p:sp>
      <p:sp>
        <p:nvSpPr>
          <p:cNvPr id="865284" name="Text Box 4"/>
          <p:cNvSpPr txBox="1">
            <a:spLocks noChangeArrowheads="1"/>
          </p:cNvSpPr>
          <p:nvPr/>
        </p:nvSpPr>
        <p:spPr bwMode="auto">
          <a:xfrm>
            <a:off x="285720" y="1892321"/>
            <a:ext cx="8642350" cy="4037009"/>
          </a:xfrm>
          <a:prstGeom prst="rect">
            <a:avLst/>
          </a:prstGeom>
          <a:noFill/>
          <a:ln w="9525">
            <a:noFill/>
            <a:miter lim="800000"/>
          </a:ln>
        </p:spPr>
        <p:txBody>
          <a:bodyPr tIns="0" bIns="0"/>
          <a:lstStyle/>
          <a:p>
            <a:pPr algn="l">
              <a:spcBef>
                <a:spcPts val="600"/>
              </a:spcBef>
              <a:spcAft>
                <a:spcPts val="600"/>
              </a:spcAft>
            </a:pPr>
            <a:r>
              <a:rPr lang="zh-CN" altLang="en-US" sz="3200" dirty="0">
                <a:solidFill>
                  <a:schemeClr val="bg2"/>
                </a:solidFill>
                <a:latin typeface="楷体" panose="02010609060101010101" pitchFamily="49" charset="-122"/>
                <a:ea typeface="楷体" panose="02010609060101010101" pitchFamily="49" charset="-122"/>
              </a:rPr>
              <a:t>除了要了解以上的项目背景信息，</a:t>
            </a:r>
            <a:r>
              <a:rPr lang="en-US" altLang="en-US" sz="3200" dirty="0">
                <a:solidFill>
                  <a:schemeClr val="bg2"/>
                </a:solidFill>
                <a:latin typeface="+mn-lt"/>
                <a:ea typeface="楷体" panose="02010609060101010101" pitchFamily="49" charset="-122"/>
              </a:rPr>
              <a:t>IT</a:t>
            </a:r>
            <a:r>
              <a:rPr lang="zh-CN" altLang="en-US" sz="3200" dirty="0">
                <a:solidFill>
                  <a:schemeClr val="bg2"/>
                </a:solidFill>
                <a:latin typeface="楷体" panose="02010609060101010101" pitchFamily="49" charset="-122"/>
                <a:ea typeface="楷体" panose="02010609060101010101" pitchFamily="49" charset="-122"/>
              </a:rPr>
              <a:t>项目还需要了解以下与技术相关的信息。</a:t>
            </a:r>
          </a:p>
          <a:p>
            <a:pPr marL="971550" lvl="1" indent="-514350" algn="l">
              <a:spcBef>
                <a:spcPts val="60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项目采用的新技术将会怎样影响使用者。</a:t>
            </a:r>
          </a:p>
          <a:p>
            <a:pPr marL="971550" lvl="1" indent="-514350" algn="l">
              <a:spcBef>
                <a:spcPts val="60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项目采用的新技术会对其他系统造成的影响。</a:t>
            </a:r>
          </a:p>
          <a:p>
            <a:pPr marL="971550" lvl="1" indent="-514350" algn="l">
              <a:spcBef>
                <a:spcPts val="60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项目采用的新技术和正在使用的操作系统的兼容性。</a:t>
            </a:r>
          </a:p>
          <a:p>
            <a:pPr marL="971550" lvl="1" indent="-514350" algn="l">
              <a:spcBef>
                <a:spcPts val="60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项目采用的新技术的风险大小。</a:t>
            </a:r>
          </a:p>
          <a:p>
            <a:pPr marL="971550" lvl="1" indent="-514350" algn="l">
              <a:spcBef>
                <a:spcPts val="60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提供新技术的供应商在行业中的记录是否良好。</a:t>
            </a:r>
          </a:p>
          <a:p>
            <a:pPr marL="971550" lvl="1" indent="-514350" algn="l">
              <a:spcBef>
                <a:spcPts val="60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网络建设情况如何。</a:t>
            </a:r>
          </a:p>
        </p:txBody>
      </p:sp>
      <p:sp>
        <p:nvSpPr>
          <p:cNvPr id="18437"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3.2  </a:t>
            </a:r>
            <a:r>
              <a:rPr kumimoji="0" lang="zh-CN" altLang="en-US" sz="3000" dirty="0">
                <a:latin typeface="楷体" panose="02010609060101010101" pitchFamily="49" charset="-122"/>
                <a:ea typeface="楷体" panose="02010609060101010101" pitchFamily="49" charset="-122"/>
              </a:rPr>
              <a:t>项目启动</a:t>
            </a:r>
          </a:p>
        </p:txBody>
      </p:sp>
      <p:sp>
        <p:nvSpPr>
          <p:cNvPr id="18438" name="Rectangle 7"/>
          <p:cNvSpPr>
            <a:spLocks noChangeArrowheads="1"/>
          </p:cNvSpPr>
          <p:nvPr/>
        </p:nvSpPr>
        <p:spPr bwMode="auto">
          <a:xfrm>
            <a:off x="71406" y="1341438"/>
            <a:ext cx="3534942" cy="523220"/>
          </a:xfrm>
          <a:prstGeom prst="rect">
            <a:avLst/>
          </a:prstGeom>
          <a:noFill/>
          <a:ln w="9525">
            <a:noFill/>
            <a:miter lim="800000"/>
          </a:ln>
        </p:spPr>
        <p:txBody>
          <a:bodyPr wrap="none">
            <a:spAutoFit/>
          </a:bodyPr>
          <a:lstStyle/>
          <a:p>
            <a:pPr algn="l"/>
            <a:r>
              <a:rPr kumimoji="0" lang="en-US" altLang="en-US" dirty="0">
                <a:solidFill>
                  <a:srgbClr val="FF0000"/>
                </a:solidFill>
                <a:latin typeface="+mn-lt"/>
                <a:ea typeface="楷体_GB2312" pitchFamily="49" charset="-122"/>
              </a:rPr>
              <a:t>3.2.1 </a:t>
            </a:r>
            <a:r>
              <a:rPr kumimoji="0" lang="zh-CN" altLang="en-US" dirty="0">
                <a:solidFill>
                  <a:srgbClr val="FF0000"/>
                </a:solidFill>
                <a:latin typeface="楷体" panose="02010609060101010101" pitchFamily="49" charset="-122"/>
                <a:ea typeface="楷体" panose="02010609060101010101" pitchFamily="49" charset="-122"/>
              </a:rPr>
              <a:t>了解</a:t>
            </a:r>
            <a:r>
              <a:rPr kumimoji="0" lang="en-US" altLang="zh-CN" dirty="0">
                <a:solidFill>
                  <a:srgbClr val="FF0000"/>
                </a:solidFill>
                <a:latin typeface="+mn-lt"/>
                <a:ea typeface="楷体_GB2312" pitchFamily="49" charset="-122"/>
              </a:rPr>
              <a:t>IT</a:t>
            </a:r>
            <a:r>
              <a:rPr kumimoji="0" lang="zh-CN" altLang="en-US" dirty="0">
                <a:solidFill>
                  <a:srgbClr val="FF0000"/>
                </a:solidFill>
                <a:latin typeface="楷体" panose="02010609060101010101" pitchFamily="49" charset="-122"/>
                <a:ea typeface="楷体" panose="02010609060101010101" pitchFamily="49" charset="-122"/>
              </a:rPr>
              <a:t>项目背景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528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528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528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6528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6528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6528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10"/>
          </p:nvPr>
        </p:nvSpPr>
        <p:spPr>
          <a:noFill/>
        </p:spPr>
        <p:txBody>
          <a:bodyPr/>
          <a:lstStyle/>
          <a:p>
            <a:r>
              <a:rPr lang="zh-CN" altLang="en-GB" dirty="0"/>
              <a:t>  </a:t>
            </a:r>
            <a:fld id="{C88E51BE-7052-484F-B2F7-6A6A9D1DB5DE}" type="slidenum">
              <a:rPr lang="zh-CN" altLang="en-GB" smtClean="0"/>
              <a:t>24</a:t>
            </a:fld>
            <a:endParaRPr lang="en-US" altLang="zh-CN" dirty="0"/>
          </a:p>
        </p:txBody>
      </p:sp>
      <p:sp>
        <p:nvSpPr>
          <p:cNvPr id="184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P.70</a:t>
            </a:r>
          </a:p>
        </p:txBody>
      </p:sp>
      <p:sp>
        <p:nvSpPr>
          <p:cNvPr id="865284" name="Text Box 4"/>
          <p:cNvSpPr txBox="1">
            <a:spLocks noChangeArrowheads="1"/>
          </p:cNvSpPr>
          <p:nvPr/>
        </p:nvSpPr>
        <p:spPr bwMode="auto">
          <a:xfrm>
            <a:off x="144492" y="1928802"/>
            <a:ext cx="8642350" cy="4357718"/>
          </a:xfrm>
          <a:prstGeom prst="rect">
            <a:avLst/>
          </a:prstGeom>
          <a:noFill/>
          <a:ln w="9525">
            <a:noFill/>
            <a:miter lim="800000"/>
          </a:ln>
        </p:spPr>
        <p:txBody>
          <a:bodyPr tIns="0" bIns="0"/>
          <a:lstStyle/>
          <a:p>
            <a:pPr algn="l">
              <a:spcBef>
                <a:spcPts val="600"/>
              </a:spcBef>
              <a:spcAft>
                <a:spcPts val="600"/>
              </a:spcAft>
            </a:pPr>
            <a:r>
              <a:rPr lang="en-US" altLang="en-US" dirty="0">
                <a:solidFill>
                  <a:schemeClr val="bg2"/>
                </a:solidFill>
                <a:latin typeface="+mn-lt"/>
                <a:ea typeface="黑体" panose="02010609060101010101" pitchFamily="49" charset="-122"/>
              </a:rPr>
              <a:t>IT</a:t>
            </a:r>
            <a:r>
              <a:rPr lang="zh-CN" altLang="en-US" dirty="0">
                <a:solidFill>
                  <a:schemeClr val="bg2"/>
                </a:solidFill>
                <a:latin typeface="楷体" panose="02010609060101010101" pitchFamily="49" charset="-122"/>
                <a:ea typeface="楷体" panose="02010609060101010101" pitchFamily="49" charset="-122"/>
              </a:rPr>
              <a:t>项目的启动一般都会与企业的中长期目标联系在一起，所以启动项目首先要从组织整体环境和战略计划上考虑。项目启动的依据可以从以下几个方面来考虑：</a:t>
            </a:r>
          </a:p>
          <a:p>
            <a:pPr marL="914400" lvl="1" indent="-457200" algn="l">
              <a:spcBef>
                <a:spcPts val="60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企业战略目标。</a:t>
            </a:r>
          </a:p>
          <a:p>
            <a:pPr marL="914400" lvl="1" indent="-457200" algn="l">
              <a:spcBef>
                <a:spcPts val="60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项目选择的标准。</a:t>
            </a:r>
          </a:p>
          <a:p>
            <a:pPr marL="914400" lvl="1" indent="-457200" algn="l">
              <a:spcBef>
                <a:spcPts val="60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项目目的。</a:t>
            </a:r>
          </a:p>
          <a:p>
            <a:pPr marL="914400" lvl="1" indent="-457200" algn="l">
              <a:spcBef>
                <a:spcPts val="60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成果说明书。</a:t>
            </a:r>
          </a:p>
          <a:p>
            <a:pPr marL="914400" lvl="1" indent="-457200" algn="l">
              <a:spcBef>
                <a:spcPts val="600"/>
              </a:spcBef>
              <a:spcAft>
                <a:spcPts val="60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历史资料。</a:t>
            </a:r>
          </a:p>
        </p:txBody>
      </p:sp>
      <p:sp>
        <p:nvSpPr>
          <p:cNvPr id="18437"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3.2  </a:t>
            </a:r>
            <a:r>
              <a:rPr kumimoji="0" lang="zh-CN" altLang="en-US" sz="3000" dirty="0">
                <a:latin typeface="楷体" panose="02010609060101010101" pitchFamily="49" charset="-122"/>
                <a:ea typeface="楷体" panose="02010609060101010101" pitchFamily="49" charset="-122"/>
              </a:rPr>
              <a:t>项目启动</a:t>
            </a:r>
          </a:p>
        </p:txBody>
      </p:sp>
      <p:sp>
        <p:nvSpPr>
          <p:cNvPr id="18438" name="Rectangle 7"/>
          <p:cNvSpPr>
            <a:spLocks noChangeArrowheads="1"/>
          </p:cNvSpPr>
          <p:nvPr/>
        </p:nvSpPr>
        <p:spPr bwMode="auto">
          <a:xfrm>
            <a:off x="71406" y="1341438"/>
            <a:ext cx="3624710" cy="523220"/>
          </a:xfrm>
          <a:prstGeom prst="rect">
            <a:avLst/>
          </a:prstGeom>
          <a:noFill/>
          <a:ln w="9525">
            <a:noFill/>
            <a:miter lim="800000"/>
          </a:ln>
        </p:spPr>
        <p:txBody>
          <a:bodyPr wrap="none">
            <a:spAutoFit/>
          </a:bodyPr>
          <a:lstStyle/>
          <a:p>
            <a:pPr algn="l"/>
            <a:r>
              <a:rPr kumimoji="0" lang="en-US" altLang="en-US" dirty="0">
                <a:solidFill>
                  <a:srgbClr val="FF0000"/>
                </a:solidFill>
                <a:latin typeface="+mn-lt"/>
                <a:ea typeface="楷体_GB2312" pitchFamily="49" charset="-122"/>
              </a:rPr>
              <a:t>3.2.2  IT</a:t>
            </a:r>
            <a:r>
              <a:rPr kumimoji="0" lang="zh-CN" altLang="en-US" dirty="0">
                <a:solidFill>
                  <a:srgbClr val="FF0000"/>
                </a:solidFill>
                <a:latin typeface="楷体" panose="02010609060101010101" pitchFamily="49" charset="-122"/>
                <a:ea typeface="楷体" panose="02010609060101010101" pitchFamily="49" charset="-122"/>
              </a:rPr>
              <a:t>项目启动依据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528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528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528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6528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6528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10"/>
          </p:nvPr>
        </p:nvSpPr>
        <p:spPr>
          <a:noFill/>
        </p:spPr>
        <p:txBody>
          <a:bodyPr/>
          <a:lstStyle/>
          <a:p>
            <a:r>
              <a:rPr lang="zh-CN" altLang="en-GB" dirty="0"/>
              <a:t>  </a:t>
            </a:r>
            <a:fld id="{C88E51BE-7052-484F-B2F7-6A6A9D1DB5DE}" type="slidenum">
              <a:rPr lang="zh-CN" altLang="en-GB" smtClean="0"/>
              <a:t>25</a:t>
            </a:fld>
            <a:endParaRPr lang="en-US" altLang="zh-CN" dirty="0"/>
          </a:p>
        </p:txBody>
      </p:sp>
      <p:sp>
        <p:nvSpPr>
          <p:cNvPr id="184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P.70</a:t>
            </a:r>
          </a:p>
        </p:txBody>
      </p:sp>
      <p:sp>
        <p:nvSpPr>
          <p:cNvPr id="865284" name="Text Box 4"/>
          <p:cNvSpPr txBox="1">
            <a:spLocks noChangeArrowheads="1"/>
          </p:cNvSpPr>
          <p:nvPr/>
        </p:nvSpPr>
        <p:spPr bwMode="auto">
          <a:xfrm>
            <a:off x="71406" y="1928802"/>
            <a:ext cx="8858312" cy="4357718"/>
          </a:xfrm>
          <a:prstGeom prst="rect">
            <a:avLst/>
          </a:prstGeom>
          <a:noFill/>
          <a:ln w="9525">
            <a:noFill/>
            <a:miter lim="800000"/>
          </a:ln>
        </p:spPr>
        <p:txBody>
          <a:bodyPr tIns="0" bIns="0"/>
          <a:lstStyle/>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项目启动会议是启动项目的一种最有效和最常用的方式，项目经理应该给予高度重视。</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召开项目启动会议的主要目的在于使项目的主要利益相关者明确项目的目标、范围、需求、背景及各自的职责与权限。</a:t>
            </a:r>
          </a:p>
          <a:p>
            <a:pPr marL="971550" lvl="1" indent="-514350" algn="l">
              <a:spcBef>
                <a:spcPts val="600"/>
              </a:spcBef>
              <a:spcAft>
                <a:spcPts val="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会议目标。</a:t>
            </a:r>
          </a:p>
          <a:p>
            <a:pPr marL="971550" lvl="1" indent="-514350" algn="l">
              <a:spcBef>
                <a:spcPts val="600"/>
              </a:spcBef>
              <a:spcAft>
                <a:spcPts val="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会议前的准备工作。</a:t>
            </a:r>
          </a:p>
          <a:p>
            <a:pPr marL="971550" lvl="1" indent="-514350" algn="l">
              <a:spcBef>
                <a:spcPts val="600"/>
              </a:spcBef>
              <a:spcAft>
                <a:spcPts val="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参加会议的人员。</a:t>
            </a:r>
          </a:p>
          <a:p>
            <a:pPr marL="971550" lvl="1" indent="-514350" algn="l">
              <a:spcBef>
                <a:spcPts val="600"/>
              </a:spcBef>
              <a:spcAft>
                <a:spcPts val="0"/>
              </a:spcAft>
              <a:buFont typeface="+mj-ea"/>
              <a:buAutoNum type="circleNumDbPlain"/>
            </a:pPr>
            <a:r>
              <a:rPr lang="zh-CN" altLang="en-US" sz="2400" dirty="0">
                <a:solidFill>
                  <a:srgbClr val="0000FF"/>
                </a:solidFill>
                <a:latin typeface="楷体" panose="02010609060101010101" pitchFamily="49" charset="-122"/>
                <a:ea typeface="楷体" panose="02010609060101010101" pitchFamily="49" charset="-122"/>
              </a:rPr>
              <a:t>会议的主要议题。</a:t>
            </a:r>
          </a:p>
        </p:txBody>
      </p:sp>
      <p:sp>
        <p:nvSpPr>
          <p:cNvPr id="18437"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3.2  </a:t>
            </a:r>
            <a:r>
              <a:rPr kumimoji="0" lang="zh-CN" altLang="en-US" sz="3000" dirty="0">
                <a:latin typeface="楷体" panose="02010609060101010101" pitchFamily="49" charset="-122"/>
                <a:ea typeface="楷体" panose="02010609060101010101" pitchFamily="49" charset="-122"/>
              </a:rPr>
              <a:t>项目启动</a:t>
            </a:r>
          </a:p>
        </p:txBody>
      </p:sp>
      <p:sp>
        <p:nvSpPr>
          <p:cNvPr id="18438" name="Rectangle 7"/>
          <p:cNvSpPr>
            <a:spLocks noChangeArrowheads="1"/>
          </p:cNvSpPr>
          <p:nvPr/>
        </p:nvSpPr>
        <p:spPr bwMode="auto">
          <a:xfrm>
            <a:off x="71406" y="1341438"/>
            <a:ext cx="3624710" cy="523220"/>
          </a:xfrm>
          <a:prstGeom prst="rect">
            <a:avLst/>
          </a:prstGeom>
          <a:noFill/>
          <a:ln w="9525">
            <a:noFill/>
            <a:miter lim="800000"/>
          </a:ln>
        </p:spPr>
        <p:txBody>
          <a:bodyPr wrap="none">
            <a:spAutoFit/>
          </a:bodyPr>
          <a:lstStyle/>
          <a:p>
            <a:pPr algn="l"/>
            <a:r>
              <a:rPr kumimoji="0" lang="en-US" altLang="en-US" dirty="0">
                <a:solidFill>
                  <a:srgbClr val="FF0000"/>
                </a:solidFill>
                <a:latin typeface="+mn-lt"/>
                <a:ea typeface="楷体_GB2312" pitchFamily="49" charset="-122"/>
              </a:rPr>
              <a:t>3.2.3  IT</a:t>
            </a:r>
            <a:r>
              <a:rPr kumimoji="0" lang="zh-CN" altLang="en-US" dirty="0">
                <a:solidFill>
                  <a:srgbClr val="FF0000"/>
                </a:solidFill>
                <a:latin typeface="楷体" panose="02010609060101010101" pitchFamily="49" charset="-122"/>
                <a:ea typeface="楷体" panose="02010609060101010101" pitchFamily="49" charset="-122"/>
              </a:rPr>
              <a:t>项目启动会议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528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528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528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6528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6528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10"/>
          </p:nvPr>
        </p:nvSpPr>
        <p:spPr>
          <a:noFill/>
        </p:spPr>
        <p:txBody>
          <a:bodyPr/>
          <a:lstStyle/>
          <a:p>
            <a:r>
              <a:rPr lang="zh-CN" altLang="en-GB" dirty="0"/>
              <a:t>  </a:t>
            </a:r>
            <a:fld id="{C88E51BE-7052-484F-B2F7-6A6A9D1DB5DE}" type="slidenum">
              <a:rPr lang="zh-CN" altLang="en-GB" smtClean="0"/>
              <a:t>26</a:t>
            </a:fld>
            <a:endParaRPr lang="en-US" altLang="zh-CN" dirty="0"/>
          </a:p>
        </p:txBody>
      </p:sp>
      <p:sp>
        <p:nvSpPr>
          <p:cNvPr id="184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P.71</a:t>
            </a:r>
          </a:p>
        </p:txBody>
      </p:sp>
      <p:sp>
        <p:nvSpPr>
          <p:cNvPr id="865284" name="Text Box 4"/>
          <p:cNvSpPr txBox="1">
            <a:spLocks noChangeArrowheads="1"/>
          </p:cNvSpPr>
          <p:nvPr/>
        </p:nvSpPr>
        <p:spPr bwMode="auto">
          <a:xfrm>
            <a:off x="-32" y="1857364"/>
            <a:ext cx="9001156" cy="1285884"/>
          </a:xfrm>
          <a:prstGeom prst="rect">
            <a:avLst/>
          </a:prstGeom>
          <a:noFill/>
          <a:ln w="9525">
            <a:noFill/>
            <a:miter lim="800000"/>
          </a:ln>
        </p:spPr>
        <p:txBody>
          <a:bodyPr tIns="0" bIns="0"/>
          <a:lstStyle/>
          <a:p>
            <a:pPr algn="l">
              <a:spcBef>
                <a:spcPts val="600"/>
              </a:spcBef>
              <a:spcAft>
                <a:spcPts val="600"/>
              </a:spcAft>
            </a:pPr>
            <a:r>
              <a:rPr lang="zh-CN" altLang="en-US" dirty="0">
                <a:solidFill>
                  <a:schemeClr val="bg1"/>
                </a:solidFill>
                <a:latin typeface="楷体" panose="02010609060101010101" pitchFamily="49" charset="-122"/>
                <a:ea typeface="楷体" panose="02010609060101010101" pitchFamily="49" charset="-122"/>
              </a:rPr>
              <a:t>制定项目章程</a:t>
            </a:r>
            <a:r>
              <a:rPr lang="zh-CN" altLang="en-US" dirty="0">
                <a:solidFill>
                  <a:schemeClr val="bg2"/>
                </a:solidFill>
                <a:latin typeface="楷体" panose="02010609060101010101" pitchFamily="49" charset="-122"/>
                <a:ea typeface="楷体" panose="02010609060101010101" pitchFamily="49" charset="-122"/>
              </a:rPr>
              <a:t>是整合项目管理的</a:t>
            </a:r>
            <a:r>
              <a:rPr lang="zh-CN" altLang="en-US" dirty="0">
                <a:solidFill>
                  <a:schemeClr val="bg1"/>
                </a:solidFill>
                <a:latin typeface="楷体" panose="02010609060101010101" pitchFamily="49" charset="-122"/>
                <a:ea typeface="楷体" panose="02010609060101010101" pitchFamily="49" charset="-122"/>
              </a:rPr>
              <a:t>第一个过程</a:t>
            </a:r>
            <a:r>
              <a:rPr lang="zh-CN" altLang="en-US" dirty="0">
                <a:solidFill>
                  <a:schemeClr val="bg2"/>
                </a:solidFill>
                <a:latin typeface="楷体" panose="02010609060101010101" pitchFamily="49" charset="-122"/>
                <a:ea typeface="楷体" panose="02010609060101010101" pitchFamily="49" charset="-122"/>
              </a:rPr>
              <a:t>，也是项目管理</a:t>
            </a:r>
            <a:r>
              <a:rPr lang="en-US" dirty="0">
                <a:solidFill>
                  <a:schemeClr val="bg2"/>
                </a:solidFill>
                <a:ea typeface="楷体" panose="02010609060101010101" pitchFamily="49" charset="-122"/>
                <a:cs typeface="Times New Roman" panose="02020603050405020304" pitchFamily="18" charset="0"/>
              </a:rPr>
              <a:t>47</a:t>
            </a:r>
            <a:r>
              <a:rPr lang="zh-CN" altLang="en-US" dirty="0">
                <a:solidFill>
                  <a:schemeClr val="bg2"/>
                </a:solidFill>
                <a:latin typeface="楷体" panose="02010609060101010101" pitchFamily="49" charset="-122"/>
                <a:ea typeface="楷体" panose="02010609060101010101" pitchFamily="49" charset="-122"/>
              </a:rPr>
              <a:t>个过程的第一个，可见其特殊性与重要性（如下图所示）。</a:t>
            </a:r>
            <a:endParaRPr lang="en-US" altLang="zh-CN" dirty="0">
              <a:solidFill>
                <a:schemeClr val="bg2"/>
              </a:solidFill>
              <a:latin typeface="楷体" panose="02010609060101010101" pitchFamily="49" charset="-122"/>
              <a:ea typeface="楷体" panose="02010609060101010101" pitchFamily="49" charset="-122"/>
            </a:endParaRPr>
          </a:p>
        </p:txBody>
      </p:sp>
      <p:sp>
        <p:nvSpPr>
          <p:cNvPr id="18437"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3.2  </a:t>
            </a:r>
            <a:r>
              <a:rPr kumimoji="0" lang="zh-CN" altLang="en-US" sz="3000" dirty="0">
                <a:latin typeface="楷体" panose="02010609060101010101" pitchFamily="49" charset="-122"/>
                <a:ea typeface="楷体" panose="02010609060101010101" pitchFamily="49" charset="-122"/>
              </a:rPr>
              <a:t>项目启动</a:t>
            </a:r>
          </a:p>
        </p:txBody>
      </p:sp>
      <p:sp>
        <p:nvSpPr>
          <p:cNvPr id="18438" name="Rectangle 7"/>
          <p:cNvSpPr>
            <a:spLocks noChangeArrowheads="1"/>
          </p:cNvSpPr>
          <p:nvPr/>
        </p:nvSpPr>
        <p:spPr bwMode="auto">
          <a:xfrm>
            <a:off x="71406" y="1341438"/>
            <a:ext cx="3246402" cy="523220"/>
          </a:xfrm>
          <a:prstGeom prst="rect">
            <a:avLst/>
          </a:prstGeom>
          <a:noFill/>
          <a:ln w="9525">
            <a:noFill/>
            <a:miter lim="800000"/>
          </a:ln>
        </p:spPr>
        <p:txBody>
          <a:bodyPr wrap="none">
            <a:spAutoFit/>
          </a:bodyPr>
          <a:lstStyle/>
          <a:p>
            <a:pPr algn="l"/>
            <a:r>
              <a:rPr kumimoji="0" lang="en-US" altLang="en-US" dirty="0">
                <a:solidFill>
                  <a:srgbClr val="FF0000"/>
                </a:solidFill>
                <a:latin typeface="+mn-lt"/>
                <a:ea typeface="楷体_GB2312" pitchFamily="49" charset="-122"/>
              </a:rPr>
              <a:t>3.2.4  </a:t>
            </a:r>
            <a:r>
              <a:rPr kumimoji="0" lang="zh-CN" altLang="en-US" dirty="0">
                <a:solidFill>
                  <a:srgbClr val="FF0000"/>
                </a:solidFill>
                <a:latin typeface="楷体" panose="02010609060101010101" pitchFamily="49" charset="-122"/>
                <a:ea typeface="楷体" panose="02010609060101010101" pitchFamily="49" charset="-122"/>
              </a:rPr>
              <a:t>制定项目章程</a:t>
            </a:r>
          </a:p>
        </p:txBody>
      </p:sp>
      <p:pic>
        <p:nvPicPr>
          <p:cNvPr id="7" name="图片 20" descr="未命名"/>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85752" y="3357562"/>
            <a:ext cx="8572528" cy="3071834"/>
          </a:xfrm>
          <a:prstGeom prst="rect">
            <a:avLst/>
          </a:prstGeom>
          <a:noFill/>
          <a:ln w="9525">
            <a:noFill/>
            <a:miter lim="800000"/>
            <a:headEnd/>
            <a:tailEnd/>
          </a:ln>
        </p:spPr>
      </p:pic>
      <p:sp>
        <p:nvSpPr>
          <p:cNvPr id="8" name="Rectangle 9"/>
          <p:cNvSpPr>
            <a:spLocks noChangeArrowheads="1"/>
          </p:cNvSpPr>
          <p:nvPr/>
        </p:nvSpPr>
        <p:spPr bwMode="auto">
          <a:xfrm>
            <a:off x="3045407" y="6457914"/>
            <a:ext cx="2938780" cy="398780"/>
          </a:xfrm>
          <a:prstGeom prst="rect">
            <a:avLst/>
          </a:prstGeom>
          <a:noFill/>
          <a:ln w="9525">
            <a:noFill/>
            <a:miter lim="800000"/>
          </a:ln>
        </p:spPr>
        <p:txBody>
          <a:bodyPr wrap="none">
            <a:spAutoFit/>
          </a:bodyPr>
          <a:lstStyle/>
          <a:p>
            <a:pPr algn="l">
              <a:buClr>
                <a:srgbClr val="FF0000"/>
              </a:buClr>
            </a:pPr>
            <a:r>
              <a:rPr kumimoji="0" lang="zh-CN" altLang="en-US" sz="2000">
                <a:solidFill>
                  <a:srgbClr val="FF0000"/>
                </a:solidFill>
                <a:latin typeface="楷体" panose="02010609060101010101" pitchFamily="49" charset="-122"/>
                <a:ea typeface="楷体" panose="02010609060101010101" pitchFamily="49" charset="-122"/>
              </a:rPr>
              <a:t>图</a:t>
            </a:r>
            <a:r>
              <a:rPr kumimoji="0" lang="en-US" altLang="zh-CN" sz="2000">
                <a:solidFill>
                  <a:srgbClr val="FF0000"/>
                </a:solidFill>
                <a:cs typeface="Times New Roman" panose="02020603050405020304" pitchFamily="18" charset="0"/>
              </a:rPr>
              <a:t>3-A </a:t>
            </a:r>
            <a:r>
              <a:rPr kumimoji="0" lang="zh-CN" altLang="en-US" sz="2000">
                <a:solidFill>
                  <a:srgbClr val="FF0000"/>
                </a:solidFill>
                <a:latin typeface="楷体" panose="02010609060101010101" pitchFamily="49" charset="-122"/>
                <a:ea typeface="楷体" panose="02010609060101010101" pitchFamily="49" charset="-122"/>
                <a:cs typeface="楷体" panose="02010609060101010101" pitchFamily="49" charset="-122"/>
              </a:rPr>
              <a:t>制定</a:t>
            </a:r>
            <a:r>
              <a:rPr kumimoji="0"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项目章程过程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528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10"/>
          </p:nvPr>
        </p:nvSpPr>
        <p:spPr>
          <a:noFill/>
        </p:spPr>
        <p:txBody>
          <a:bodyPr/>
          <a:lstStyle/>
          <a:p>
            <a:r>
              <a:rPr lang="zh-CN" altLang="en-GB" dirty="0"/>
              <a:t>  </a:t>
            </a:r>
            <a:fld id="{C88E51BE-7052-484F-B2F7-6A6A9D1DB5DE}" type="slidenum">
              <a:rPr lang="zh-CN" altLang="en-GB" smtClean="0"/>
              <a:t>27</a:t>
            </a:fld>
            <a:endParaRPr lang="en-US" altLang="zh-CN" dirty="0"/>
          </a:p>
        </p:txBody>
      </p:sp>
      <p:sp>
        <p:nvSpPr>
          <p:cNvPr id="184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P.71</a:t>
            </a:r>
          </a:p>
        </p:txBody>
      </p:sp>
      <p:sp>
        <p:nvSpPr>
          <p:cNvPr id="865284" name="Text Box 4"/>
          <p:cNvSpPr txBox="1">
            <a:spLocks noChangeArrowheads="1"/>
          </p:cNvSpPr>
          <p:nvPr/>
        </p:nvSpPr>
        <p:spPr bwMode="auto">
          <a:xfrm>
            <a:off x="142844" y="1928802"/>
            <a:ext cx="9001156" cy="4357718"/>
          </a:xfrm>
          <a:prstGeom prst="rect">
            <a:avLst/>
          </a:prstGeom>
          <a:noFill/>
          <a:ln w="9525">
            <a:noFill/>
            <a:miter lim="800000"/>
          </a:ln>
        </p:spPr>
        <p:txBody>
          <a:bodyPr tIns="0" bIns="0"/>
          <a:lstStyle/>
          <a:p>
            <a:pPr algn="l">
              <a:spcBef>
                <a:spcPts val="600"/>
              </a:spcBef>
              <a:spcAft>
                <a:spcPts val="600"/>
              </a:spcAft>
            </a:pPr>
            <a:r>
              <a:rPr lang="zh-CN" altLang="en-US" dirty="0">
                <a:solidFill>
                  <a:schemeClr val="bg1"/>
                </a:solidFill>
                <a:latin typeface="楷体" panose="02010609060101010101" pitchFamily="49" charset="-122"/>
                <a:ea typeface="楷体" panose="02010609060101010101" pitchFamily="49" charset="-122"/>
              </a:rPr>
              <a:t>项目章程</a:t>
            </a:r>
            <a:r>
              <a:rPr lang="zh-CN" altLang="en-US" dirty="0">
                <a:solidFill>
                  <a:schemeClr val="bg2"/>
                </a:solidFill>
                <a:latin typeface="楷体" panose="02010609060101010101" pitchFamily="49" charset="-122"/>
                <a:ea typeface="楷体" panose="02010609060101010101" pitchFamily="49" charset="-122"/>
              </a:rPr>
              <a:t>是</a:t>
            </a:r>
            <a:r>
              <a:rPr lang="zh-CN" altLang="en-US" dirty="0">
                <a:solidFill>
                  <a:schemeClr val="bg1"/>
                </a:solidFill>
                <a:latin typeface="楷体" panose="02010609060101010101" pitchFamily="49" charset="-122"/>
                <a:ea typeface="楷体" panose="02010609060101010101" pitchFamily="49" charset="-122"/>
              </a:rPr>
              <a:t>正式承认某项目存在的重要文件</a:t>
            </a:r>
            <a:r>
              <a:rPr lang="zh-CN" altLang="en-US" dirty="0">
                <a:solidFill>
                  <a:schemeClr val="bg2"/>
                </a:solidFill>
                <a:latin typeface="楷体" panose="02010609060101010101" pitchFamily="49" charset="-122"/>
                <a:ea typeface="楷体" panose="02010609060101010101" pitchFamily="49" charset="-122"/>
              </a:rPr>
              <a:t>，它可以是一个特别的文件形式，也可以是项目立项书、企业需求说明书、产品说明书、项目任务书、开工令或项目描述表，</a:t>
            </a:r>
            <a:r>
              <a:rPr lang="zh-CN" altLang="en-US" dirty="0">
                <a:solidFill>
                  <a:schemeClr val="bg1"/>
                </a:solidFill>
                <a:latin typeface="楷体" panose="02010609060101010101" pitchFamily="49" charset="-122"/>
                <a:ea typeface="楷体" panose="02010609060101010101" pitchFamily="49" charset="-122"/>
              </a:rPr>
              <a:t>项目章程授权项目工作的正式开展</a:t>
            </a:r>
            <a:r>
              <a:rPr lang="zh-CN" altLang="en-US" dirty="0">
                <a:solidFill>
                  <a:schemeClr val="bg2"/>
                </a:solidFill>
                <a:latin typeface="楷体" panose="02010609060101010101" pitchFamily="49" charset="-122"/>
                <a:ea typeface="楷体" panose="02010609060101010101" pitchFamily="49" charset="-122"/>
              </a:rPr>
              <a:t>。</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endParaRPr lang="en-US" altLang="zh-CN" dirty="0">
              <a:solidFill>
                <a:schemeClr val="bg1">
                  <a:lumMod val="50000"/>
                </a:schemeClr>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rgbClr val="0000FF"/>
                </a:solidFill>
                <a:latin typeface="楷体" panose="02010609060101010101" pitchFamily="49" charset="-122"/>
                <a:ea typeface="楷体" panose="02010609060101010101" pitchFamily="49" charset="-122"/>
              </a:rPr>
              <a:t>项目的主要干系人</a:t>
            </a:r>
            <a:r>
              <a:rPr lang="zh-CN" altLang="en-US" dirty="0">
                <a:solidFill>
                  <a:schemeClr val="bg2"/>
                </a:solidFill>
                <a:latin typeface="楷体" panose="02010609060101010101" pitchFamily="49" charset="-122"/>
                <a:ea typeface="楷体" panose="02010609060101010101" pitchFamily="49" charset="-122"/>
              </a:rPr>
              <a:t>需要在项目章程上</a:t>
            </a:r>
            <a:r>
              <a:rPr lang="zh-CN" altLang="en-US" dirty="0">
                <a:solidFill>
                  <a:srgbClr val="0000FF"/>
                </a:solidFill>
                <a:latin typeface="楷体" panose="02010609060101010101" pitchFamily="49" charset="-122"/>
                <a:ea typeface="楷体" panose="02010609060101010101" pitchFamily="49" charset="-122"/>
              </a:rPr>
              <a:t>签字，以表示承认在项目需求和目的上已经达成一致，并承诺提供相关的支持。</a:t>
            </a:r>
          </a:p>
        </p:txBody>
      </p:sp>
      <p:sp>
        <p:nvSpPr>
          <p:cNvPr id="18437"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3.2  </a:t>
            </a:r>
            <a:r>
              <a:rPr kumimoji="0" lang="zh-CN" altLang="en-US" sz="3000" dirty="0">
                <a:latin typeface="楷体" panose="02010609060101010101" pitchFamily="49" charset="-122"/>
                <a:ea typeface="楷体" panose="02010609060101010101" pitchFamily="49" charset="-122"/>
              </a:rPr>
              <a:t>项目启动</a:t>
            </a:r>
          </a:p>
        </p:txBody>
      </p:sp>
      <p:sp>
        <p:nvSpPr>
          <p:cNvPr id="18438" name="Rectangle 7"/>
          <p:cNvSpPr>
            <a:spLocks noChangeArrowheads="1"/>
          </p:cNvSpPr>
          <p:nvPr/>
        </p:nvSpPr>
        <p:spPr bwMode="auto">
          <a:xfrm>
            <a:off x="71406" y="1341438"/>
            <a:ext cx="3246402" cy="523220"/>
          </a:xfrm>
          <a:prstGeom prst="rect">
            <a:avLst/>
          </a:prstGeom>
          <a:noFill/>
          <a:ln w="9525">
            <a:noFill/>
            <a:miter lim="800000"/>
          </a:ln>
        </p:spPr>
        <p:txBody>
          <a:bodyPr wrap="none">
            <a:spAutoFit/>
          </a:bodyPr>
          <a:lstStyle/>
          <a:p>
            <a:pPr algn="l"/>
            <a:r>
              <a:rPr kumimoji="0" lang="en-US" altLang="en-US" dirty="0">
                <a:solidFill>
                  <a:srgbClr val="FF0000"/>
                </a:solidFill>
                <a:latin typeface="+mn-lt"/>
                <a:ea typeface="楷体_GB2312" pitchFamily="49" charset="-122"/>
              </a:rPr>
              <a:t>3.2.4  </a:t>
            </a:r>
            <a:r>
              <a:rPr kumimoji="0" lang="zh-CN" altLang="en-US" dirty="0">
                <a:solidFill>
                  <a:srgbClr val="FF0000"/>
                </a:solidFill>
                <a:latin typeface="楷体" panose="02010609060101010101" pitchFamily="49" charset="-122"/>
                <a:ea typeface="楷体" panose="02010609060101010101" pitchFamily="49" charset="-122"/>
              </a:rPr>
              <a:t>制定项目章程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528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10"/>
          </p:nvPr>
        </p:nvSpPr>
        <p:spPr>
          <a:noFill/>
        </p:spPr>
        <p:txBody>
          <a:bodyPr/>
          <a:lstStyle/>
          <a:p>
            <a:r>
              <a:rPr lang="zh-CN" altLang="en-GB" dirty="0"/>
              <a:t>  </a:t>
            </a:r>
            <a:fld id="{C88E51BE-7052-484F-B2F7-6A6A9D1DB5DE}" type="slidenum">
              <a:rPr lang="zh-CN" altLang="en-GB" smtClean="0"/>
              <a:t>28</a:t>
            </a:fld>
            <a:endParaRPr lang="en-US" altLang="zh-CN" dirty="0"/>
          </a:p>
        </p:txBody>
      </p:sp>
      <p:sp>
        <p:nvSpPr>
          <p:cNvPr id="184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P.71</a:t>
            </a:r>
          </a:p>
        </p:txBody>
      </p:sp>
      <p:sp>
        <p:nvSpPr>
          <p:cNvPr id="865284" name="Text Box 4"/>
          <p:cNvSpPr txBox="1">
            <a:spLocks noChangeArrowheads="1"/>
          </p:cNvSpPr>
          <p:nvPr/>
        </p:nvSpPr>
        <p:spPr bwMode="auto">
          <a:xfrm>
            <a:off x="71406" y="1928802"/>
            <a:ext cx="9001156" cy="4500594"/>
          </a:xfrm>
          <a:prstGeom prst="rect">
            <a:avLst/>
          </a:prstGeom>
          <a:noFill/>
          <a:ln w="9525">
            <a:noFill/>
            <a:miter lim="800000"/>
          </a:ln>
        </p:spPr>
        <p:txBody>
          <a:bodyPr tIns="0" bIns="0"/>
          <a:lstStyle/>
          <a:p>
            <a:pPr algn="l">
              <a:spcBef>
                <a:spcPts val="600"/>
              </a:spcBef>
              <a:spcAft>
                <a:spcPts val="600"/>
              </a:spcAft>
            </a:pPr>
            <a:r>
              <a:rPr lang="en-US" altLang="en-US" dirty="0">
                <a:solidFill>
                  <a:schemeClr val="bg2"/>
                </a:solidFill>
              </a:rPr>
              <a:t>IT</a:t>
            </a:r>
            <a:r>
              <a:rPr lang="zh-CN" altLang="en-US" dirty="0">
                <a:solidFill>
                  <a:schemeClr val="bg2"/>
                </a:solidFill>
                <a:latin typeface="楷体" panose="02010609060101010101" pitchFamily="49" charset="-122"/>
                <a:ea typeface="楷体" panose="02010609060101010101" pitchFamily="49" charset="-122"/>
              </a:rPr>
              <a:t>项目的项目章程示例如表</a:t>
            </a:r>
            <a:r>
              <a:rPr lang="en-US" altLang="en-US" dirty="0">
                <a:solidFill>
                  <a:schemeClr val="bg2"/>
                </a:solidFill>
                <a:latin typeface="+mn-lt"/>
                <a:ea typeface="楷体" panose="02010609060101010101" pitchFamily="49" charset="-122"/>
              </a:rPr>
              <a:t>3-1</a:t>
            </a:r>
            <a:r>
              <a:rPr lang="zh-CN" altLang="en-US" dirty="0">
                <a:solidFill>
                  <a:schemeClr val="bg2"/>
                </a:solidFill>
                <a:latin typeface="楷体" panose="02010609060101010101" pitchFamily="49" charset="-122"/>
                <a:ea typeface="楷体" panose="02010609060101010101" pitchFamily="49" charset="-122"/>
              </a:rPr>
              <a:t>所示。</a:t>
            </a: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项目章程应该通过管理者对项目及项目所需的条件进行客观的分析后颁发，它明确</a:t>
            </a:r>
            <a:r>
              <a:rPr lang="zh-CN" altLang="en-US" dirty="0">
                <a:solidFill>
                  <a:schemeClr val="bg1"/>
                </a:solidFill>
                <a:latin typeface="楷体" panose="02010609060101010101" pitchFamily="49" charset="-122"/>
                <a:ea typeface="楷体" panose="02010609060101010101" pitchFamily="49" charset="-122"/>
              </a:rPr>
              <a:t>项目经理具有获得项目所需资源、进行项目协调动的权力</a:t>
            </a:r>
            <a:r>
              <a:rPr lang="zh-CN" altLang="en-US" dirty="0">
                <a:solidFill>
                  <a:schemeClr val="bg2"/>
                </a:solidFill>
                <a:latin typeface="楷体" panose="02010609060101010101" pitchFamily="49" charset="-122"/>
                <a:ea typeface="楷体" panose="02010609060101010101" pitchFamily="49" charset="-122"/>
              </a:rPr>
              <a:t>。</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主要项目干系人应该对该章程达成共识，并亲笔签名认可。</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endParaRPr lang="en-US" altLang="zh-CN" dirty="0">
              <a:solidFill>
                <a:schemeClr val="bg1">
                  <a:lumMod val="50000"/>
                </a:schemeClr>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rgbClr val="0000FF"/>
                </a:solidFill>
                <a:latin typeface="楷体" panose="02010609060101010101" pitchFamily="49" charset="-122"/>
                <a:ea typeface="楷体" panose="02010609060101010101" pitchFamily="49" charset="-122"/>
              </a:rPr>
              <a:t>项目章程是项目经理的护身符，应该予以高度重视。</a:t>
            </a:r>
          </a:p>
        </p:txBody>
      </p:sp>
      <p:sp>
        <p:nvSpPr>
          <p:cNvPr id="18437"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3.2  </a:t>
            </a:r>
            <a:r>
              <a:rPr kumimoji="0" lang="zh-CN" altLang="en-US" sz="3000" dirty="0">
                <a:latin typeface="楷体" panose="02010609060101010101" pitchFamily="49" charset="-122"/>
                <a:ea typeface="楷体" panose="02010609060101010101" pitchFamily="49" charset="-122"/>
              </a:rPr>
              <a:t>项目启动</a:t>
            </a:r>
          </a:p>
        </p:txBody>
      </p:sp>
      <p:sp>
        <p:nvSpPr>
          <p:cNvPr id="18438" name="Rectangle 7"/>
          <p:cNvSpPr>
            <a:spLocks noChangeArrowheads="1"/>
          </p:cNvSpPr>
          <p:nvPr/>
        </p:nvSpPr>
        <p:spPr bwMode="auto">
          <a:xfrm>
            <a:off x="71406" y="1341438"/>
            <a:ext cx="3246402" cy="523220"/>
          </a:xfrm>
          <a:prstGeom prst="rect">
            <a:avLst/>
          </a:prstGeom>
          <a:noFill/>
          <a:ln w="9525">
            <a:noFill/>
            <a:miter lim="800000"/>
          </a:ln>
        </p:spPr>
        <p:txBody>
          <a:bodyPr wrap="none">
            <a:spAutoFit/>
          </a:bodyPr>
          <a:lstStyle/>
          <a:p>
            <a:pPr algn="l"/>
            <a:r>
              <a:rPr kumimoji="0" lang="en-US" altLang="en-US" dirty="0">
                <a:solidFill>
                  <a:srgbClr val="FF0000"/>
                </a:solidFill>
                <a:latin typeface="+mn-lt"/>
                <a:ea typeface="楷体_GB2312" pitchFamily="49" charset="-122"/>
              </a:rPr>
              <a:t>3.2.4  </a:t>
            </a:r>
            <a:r>
              <a:rPr kumimoji="0" lang="zh-CN" altLang="en-US" dirty="0">
                <a:solidFill>
                  <a:srgbClr val="FF0000"/>
                </a:solidFill>
                <a:latin typeface="楷体" panose="02010609060101010101" pitchFamily="49" charset="-122"/>
                <a:ea typeface="楷体" panose="02010609060101010101" pitchFamily="49" charset="-122"/>
              </a:rPr>
              <a:t>制定项目章程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528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528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528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a:t>  </a:t>
            </a:r>
            <a:fld id="{B6D6A615-618E-4DBF-9BE6-09340DC0AD1F}" type="slidenum">
              <a:rPr lang="zh-CN" altLang="en-GB" smtClean="0"/>
              <a:t>29</a:t>
            </a:fld>
            <a:endParaRPr lang="en-US" altLang="zh-CN"/>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endParaRPr lang="en-US" altLang="zh-CN" sz="4800" b="1">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214313" y="1428750"/>
            <a:ext cx="8501062" cy="387798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6000" dirty="0">
                <a:solidFill>
                  <a:schemeClr val="bg1"/>
                </a:solidFill>
                <a:latin typeface="楷体" panose="02010609060101010101" pitchFamily="49" charset="-122"/>
                <a:ea typeface="楷体" panose="02010609060101010101" pitchFamily="49" charset="-122"/>
              </a:rPr>
              <a:t>整合项目资源概述</a:t>
            </a:r>
            <a:endParaRPr lang="en-US" altLang="zh-CN" sz="6000" dirty="0">
              <a:solidFill>
                <a:schemeClr val="bg1"/>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6000" dirty="0">
                <a:solidFill>
                  <a:schemeClr val="bg1"/>
                </a:solidFill>
                <a:latin typeface="楷体" panose="02010609060101010101" pitchFamily="49" charset="-122"/>
                <a:ea typeface="楷体" panose="02010609060101010101" pitchFamily="49" charset="-122"/>
              </a:rPr>
              <a:t>项目启动</a:t>
            </a:r>
            <a:endParaRPr lang="en-US" altLang="zh-CN" sz="6000" dirty="0">
              <a:solidFill>
                <a:schemeClr val="bg1">
                  <a:lumMod val="50000"/>
                </a:schemeClr>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6000" dirty="0" err="1">
                <a:solidFill>
                  <a:srgbClr val="FF0000"/>
                </a:solidFill>
                <a:latin typeface="楷体" panose="02010609060101010101" pitchFamily="49" charset="-122"/>
                <a:ea typeface="楷体" panose="02010609060101010101" pitchFamily="49" charset="-122"/>
              </a:rPr>
              <a:t>项目管理计划</a:t>
            </a:r>
            <a:r>
              <a:rPr lang="zh-CN" altLang="en-US" sz="6000" dirty="0">
                <a:solidFill>
                  <a:srgbClr val="FF0000"/>
                </a:solidFill>
                <a:latin typeface="楷体" panose="02010609060101010101" pitchFamily="49" charset="-122"/>
                <a:ea typeface="楷体" panose="02010609060101010101" pitchFamily="49" charset="-122"/>
              </a:rPr>
              <a:t>编制</a:t>
            </a:r>
            <a:endParaRPr lang="en-US" altLang="zh-CN" sz="6000" dirty="0">
              <a:solidFill>
                <a:srgbClr val="FF0000"/>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6000" dirty="0" err="1">
                <a:solidFill>
                  <a:schemeClr val="bg1"/>
                </a:solidFill>
                <a:latin typeface="楷体" panose="02010609060101010101" pitchFamily="49" charset="-122"/>
                <a:ea typeface="楷体" panose="02010609060101010101" pitchFamily="49" charset="-122"/>
              </a:rPr>
              <a:t>整体变更控制</a:t>
            </a:r>
            <a:r>
              <a:rPr lang="zh-CN" altLang="en-US" sz="6000" dirty="0">
                <a:solidFill>
                  <a:schemeClr val="bg1"/>
                </a:solidFill>
                <a:latin typeface="楷体" panose="02010609060101010101" pitchFamily="49" charset="-122"/>
                <a:ea typeface="楷体" panose="02010609060101010101" pitchFamily="49" charset="-122"/>
              </a:rPr>
              <a:t>方法</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9"/>
          <p:cNvSpPr>
            <a:spLocks noGrp="1" noChangeArrowheads="1"/>
          </p:cNvSpPr>
          <p:nvPr>
            <p:ph type="sldNum" sz="quarter" idx="10"/>
          </p:nvPr>
        </p:nvSpPr>
        <p:spPr>
          <a:noFill/>
        </p:spPr>
        <p:txBody>
          <a:bodyPr/>
          <a:lstStyle/>
          <a:p>
            <a:r>
              <a:rPr lang="zh-CN" altLang="en-GB" dirty="0"/>
              <a:t>  </a:t>
            </a:r>
            <a:fld id="{9128C5D6-85CC-4DF4-AB76-51376530FA18}" type="slidenum">
              <a:rPr lang="zh-CN" altLang="en-GB" smtClean="0"/>
              <a:t>30</a:t>
            </a:fld>
            <a:endParaRPr lang="en-US" altLang="zh-CN" dirty="0"/>
          </a:p>
        </p:txBody>
      </p:sp>
      <p:sp>
        <p:nvSpPr>
          <p:cNvPr id="1945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P.72</a:t>
            </a:r>
          </a:p>
        </p:txBody>
      </p:sp>
      <p:sp>
        <p:nvSpPr>
          <p:cNvPr id="871428" name="Text Box 4"/>
          <p:cNvSpPr txBox="1">
            <a:spLocks noChangeArrowheads="1"/>
          </p:cNvSpPr>
          <p:nvPr/>
        </p:nvSpPr>
        <p:spPr bwMode="auto">
          <a:xfrm>
            <a:off x="71438" y="1357298"/>
            <a:ext cx="9072594" cy="4857784"/>
          </a:xfrm>
          <a:prstGeom prst="rect">
            <a:avLst/>
          </a:prstGeom>
          <a:noFill/>
          <a:ln w="9525">
            <a:noFill/>
            <a:miter lim="800000"/>
          </a:ln>
        </p:spPr>
        <p:txBody>
          <a:bodyPr tIns="0" bIns="0"/>
          <a:lstStyle/>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整合项目资源的活动是围绕项目管理计划进行的，但是</a:t>
            </a:r>
            <a:r>
              <a:rPr lang="en-US" dirty="0">
                <a:solidFill>
                  <a:schemeClr val="bg2"/>
                </a:solidFill>
                <a:latin typeface="+mn-lt"/>
                <a:ea typeface="楷体" panose="02010609060101010101" pitchFamily="49" charset="-122"/>
              </a:rPr>
              <a:t>IT</a:t>
            </a:r>
            <a:r>
              <a:rPr lang="zh-CN" altLang="en-US" dirty="0">
                <a:solidFill>
                  <a:schemeClr val="bg2"/>
                </a:solidFill>
                <a:latin typeface="楷体" panose="02010609060101010101" pitchFamily="49" charset="-122"/>
                <a:ea typeface="楷体" panose="02010609060101010101" pitchFamily="49" charset="-122"/>
              </a:rPr>
              <a:t>项目总让人感觉到“计划没有变化快”。</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这说明要</a:t>
            </a:r>
            <a:r>
              <a:rPr lang="zh-CN" altLang="en-US" dirty="0">
                <a:solidFill>
                  <a:schemeClr val="bg1"/>
                </a:solidFill>
                <a:latin typeface="楷体" panose="02010609060101010101" pitchFamily="49" charset="-122"/>
                <a:ea typeface="楷体" panose="02010609060101010101" pitchFamily="49" charset="-122"/>
              </a:rPr>
              <a:t>做出一个符合实际情况且可行的项目计划是非常困难的</a:t>
            </a:r>
            <a:r>
              <a:rPr lang="zh-CN" altLang="en-US" dirty="0">
                <a:solidFill>
                  <a:schemeClr val="bg2"/>
                </a:solidFill>
                <a:latin typeface="楷体" panose="02010609060101010101" pitchFamily="49" charset="-122"/>
                <a:ea typeface="楷体" panose="02010609060101010101" pitchFamily="49" charset="-122"/>
              </a:rPr>
              <a:t>。如果计划是纸上谈兵，是为了应付上级部门的统计和检查，那是劳民伤财，毫无意义。</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要明确项目计划是一个用来协调所有其他计划，以指导项目执行和控制的可操作的文件，</a:t>
            </a:r>
            <a:r>
              <a:rPr lang="zh-CN" altLang="en-US" dirty="0">
                <a:solidFill>
                  <a:schemeClr val="bg1"/>
                </a:solidFill>
                <a:latin typeface="楷体" panose="02010609060101010101" pitchFamily="49" charset="-122"/>
                <a:ea typeface="楷体" panose="02010609060101010101" pitchFamily="49" charset="-122"/>
              </a:rPr>
              <a:t>没有好的计划就不可能有好的结果。</a:t>
            </a:r>
            <a:endParaRPr lang="zh-CN" altLang="en-US" dirty="0">
              <a:solidFill>
                <a:schemeClr val="bg1">
                  <a:lumMod val="50000"/>
                </a:schemeClr>
              </a:solidFill>
              <a:latin typeface="楷体" panose="02010609060101010101" pitchFamily="49" charset="-122"/>
              <a:ea typeface="楷体" panose="02010609060101010101" pitchFamily="49" charset="-122"/>
            </a:endParaRPr>
          </a:p>
          <a:p>
            <a:pPr algn="l">
              <a:spcBef>
                <a:spcPts val="600"/>
              </a:spcBef>
              <a:spcAft>
                <a:spcPts val="600"/>
              </a:spcAft>
            </a:pPr>
            <a:endParaRPr lang="en-US" altLang="zh-CN" sz="3200" dirty="0">
              <a:solidFill>
                <a:schemeClr val="bg2"/>
              </a:solidFill>
            </a:endParaRPr>
          </a:p>
        </p:txBody>
      </p:sp>
      <p:sp>
        <p:nvSpPr>
          <p:cNvPr id="19461"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3.3 </a:t>
            </a:r>
            <a:r>
              <a:rPr kumimoji="0" lang="en-US" altLang="en-US" sz="3000" dirty="0" err="1">
                <a:latin typeface="楷体" panose="02010609060101010101" pitchFamily="49" charset="-122"/>
                <a:ea typeface="楷体" panose="02010609060101010101" pitchFamily="49" charset="-122"/>
              </a:rPr>
              <a:t>项目管理计划</a:t>
            </a:r>
            <a:endParaRPr kumimoji="0" lang="en-US" altLang="en-US" sz="30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142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142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9"/>
          <p:cNvSpPr>
            <a:spLocks noGrp="1" noChangeArrowheads="1"/>
          </p:cNvSpPr>
          <p:nvPr>
            <p:ph type="sldNum" sz="quarter" idx="10"/>
          </p:nvPr>
        </p:nvSpPr>
        <p:spPr>
          <a:noFill/>
        </p:spPr>
        <p:txBody>
          <a:bodyPr/>
          <a:lstStyle/>
          <a:p>
            <a:r>
              <a:rPr lang="zh-CN" altLang="en-GB" dirty="0"/>
              <a:t>  </a:t>
            </a:r>
            <a:fld id="{9128C5D6-85CC-4DF4-AB76-51376530FA18}" type="slidenum">
              <a:rPr lang="zh-CN" altLang="en-GB" smtClean="0"/>
              <a:t>31</a:t>
            </a:fld>
            <a:endParaRPr lang="en-US" altLang="zh-CN" dirty="0"/>
          </a:p>
        </p:txBody>
      </p:sp>
      <p:sp>
        <p:nvSpPr>
          <p:cNvPr id="1945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P.72</a:t>
            </a:r>
          </a:p>
        </p:txBody>
      </p:sp>
      <p:sp>
        <p:nvSpPr>
          <p:cNvPr id="871428" name="Text Box 4"/>
          <p:cNvSpPr txBox="1">
            <a:spLocks noChangeArrowheads="1"/>
          </p:cNvSpPr>
          <p:nvPr/>
        </p:nvSpPr>
        <p:spPr bwMode="auto">
          <a:xfrm>
            <a:off x="142844" y="1357298"/>
            <a:ext cx="8713788" cy="4786346"/>
          </a:xfrm>
          <a:prstGeom prst="rect">
            <a:avLst/>
          </a:prstGeom>
          <a:noFill/>
          <a:ln w="9525">
            <a:noFill/>
            <a:miter lim="800000"/>
          </a:ln>
        </p:spPr>
        <p:txBody>
          <a:bodyPr tIns="0" bIns="0"/>
          <a:lstStyle/>
          <a:p>
            <a:pPr algn="l">
              <a:spcBef>
                <a:spcPts val="1200"/>
              </a:spcBef>
              <a:spcAft>
                <a:spcPts val="1200"/>
              </a:spcAft>
            </a:pPr>
            <a:r>
              <a:rPr lang="zh-CN" altLang="en-US" dirty="0">
                <a:solidFill>
                  <a:schemeClr val="bg2"/>
                </a:solidFill>
                <a:latin typeface="楷体" panose="02010609060101010101" pitchFamily="49" charset="-122"/>
                <a:ea typeface="楷体" panose="02010609060101010101" pitchFamily="49" charset="-122"/>
              </a:rPr>
              <a:t>制定一个好的计划，需要做好充分的准备。</a:t>
            </a:r>
            <a:endParaRPr lang="en-US" altLang="zh-CN" dirty="0">
              <a:solidFill>
                <a:schemeClr val="bg2"/>
              </a:solidFill>
              <a:latin typeface="楷体" panose="02010609060101010101" pitchFamily="49" charset="-122"/>
              <a:ea typeface="楷体" panose="02010609060101010101" pitchFamily="49" charset="-122"/>
            </a:endParaRPr>
          </a:p>
          <a:p>
            <a:pPr algn="l">
              <a:spcBef>
                <a:spcPts val="1200"/>
              </a:spcBef>
              <a:spcAft>
                <a:spcPts val="1200"/>
              </a:spcAft>
            </a:pPr>
            <a:r>
              <a:rPr lang="zh-CN" altLang="en-US" dirty="0">
                <a:solidFill>
                  <a:schemeClr val="bg1"/>
                </a:solidFill>
                <a:latin typeface="楷体" panose="02010609060101010101" pitchFamily="49" charset="-122"/>
                <a:ea typeface="楷体" panose="02010609060101010101" pitchFamily="49" charset="-122"/>
              </a:rPr>
              <a:t>项目计划前的行动比项目计划后的行动更重要</a:t>
            </a:r>
            <a:r>
              <a:rPr lang="zh-CN" altLang="en-US" dirty="0">
                <a:solidFill>
                  <a:schemeClr val="bg1">
                    <a:lumMod val="50000"/>
                  </a:schemeClr>
                </a:solidFill>
                <a:latin typeface="楷体" panose="02010609060101010101" pitchFamily="49" charset="-122"/>
                <a:ea typeface="楷体" panose="02010609060101010101" pitchFamily="49" charset="-122"/>
              </a:rPr>
              <a:t>，</a:t>
            </a:r>
            <a:r>
              <a:rPr lang="zh-CN" altLang="en-US" dirty="0">
                <a:solidFill>
                  <a:schemeClr val="bg2"/>
                </a:solidFill>
                <a:latin typeface="楷体" panose="02010609060101010101" pitchFamily="49" charset="-122"/>
                <a:ea typeface="楷体" panose="02010609060101010101" pitchFamily="49" charset="-122"/>
              </a:rPr>
              <a:t>因为它对形成一个什么样的项目管理计划产生不可估量的影响。</a:t>
            </a:r>
            <a:endParaRPr lang="en-US" altLang="zh-CN" dirty="0">
              <a:solidFill>
                <a:schemeClr val="bg2"/>
              </a:solidFill>
              <a:latin typeface="楷体" panose="02010609060101010101" pitchFamily="49" charset="-122"/>
              <a:ea typeface="楷体" panose="02010609060101010101" pitchFamily="49" charset="-122"/>
            </a:endParaRPr>
          </a:p>
          <a:p>
            <a:pPr algn="l">
              <a:spcBef>
                <a:spcPts val="1200"/>
              </a:spcBef>
              <a:spcAft>
                <a:spcPts val="1200"/>
              </a:spcAft>
            </a:pPr>
            <a:r>
              <a:rPr lang="zh-CN" altLang="en-US" dirty="0">
                <a:solidFill>
                  <a:schemeClr val="bg1"/>
                </a:solidFill>
                <a:latin typeface="楷体" panose="02010609060101010101" pitchFamily="49" charset="-122"/>
                <a:ea typeface="楷体" panose="02010609060101010101" pitchFamily="49" charset="-122"/>
              </a:rPr>
              <a:t>提供计划编制和考核的标准、规范和模板，是计划制定的基础和保障。</a:t>
            </a:r>
          </a:p>
        </p:txBody>
      </p:sp>
      <p:sp>
        <p:nvSpPr>
          <p:cNvPr id="19461"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3.3 </a:t>
            </a:r>
            <a:r>
              <a:rPr kumimoji="0" lang="en-US" altLang="en-US" sz="3000" dirty="0" err="1">
                <a:latin typeface="楷体" panose="02010609060101010101" pitchFamily="49" charset="-122"/>
                <a:ea typeface="楷体" panose="02010609060101010101" pitchFamily="49" charset="-122"/>
              </a:rPr>
              <a:t>项目管理计划</a:t>
            </a:r>
            <a:endParaRPr kumimoji="0" lang="en-US" altLang="en-US" sz="30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142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142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9"/>
          <p:cNvSpPr>
            <a:spLocks noGrp="1" noChangeArrowheads="1"/>
          </p:cNvSpPr>
          <p:nvPr>
            <p:ph type="sldNum" sz="quarter" idx="10"/>
          </p:nvPr>
        </p:nvSpPr>
        <p:spPr>
          <a:noFill/>
        </p:spPr>
        <p:txBody>
          <a:bodyPr/>
          <a:lstStyle/>
          <a:p>
            <a:r>
              <a:rPr lang="zh-CN" altLang="en-GB" dirty="0"/>
              <a:t>  </a:t>
            </a:r>
            <a:fld id="{C6295AD6-5A83-44BB-B935-D9ACCF3FF86C}" type="slidenum">
              <a:rPr lang="zh-CN" altLang="en-GB" smtClean="0"/>
              <a:t>32</a:t>
            </a:fld>
            <a:endParaRPr lang="en-US" altLang="zh-CN" dirty="0"/>
          </a:p>
        </p:txBody>
      </p:sp>
      <p:sp>
        <p:nvSpPr>
          <p:cNvPr id="2048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P.72</a:t>
            </a:r>
          </a:p>
        </p:txBody>
      </p:sp>
      <p:sp>
        <p:nvSpPr>
          <p:cNvPr id="20484" name="Text Box 4"/>
          <p:cNvSpPr txBox="1">
            <a:spLocks noChangeArrowheads="1"/>
          </p:cNvSpPr>
          <p:nvPr/>
        </p:nvSpPr>
        <p:spPr bwMode="auto">
          <a:xfrm>
            <a:off x="179388" y="1916113"/>
            <a:ext cx="8893175" cy="4465637"/>
          </a:xfrm>
          <a:prstGeom prst="rect">
            <a:avLst/>
          </a:prstGeom>
          <a:noFill/>
          <a:ln w="9525">
            <a:noFill/>
            <a:miter lim="800000"/>
          </a:ln>
        </p:spPr>
        <p:txBody>
          <a:bodyPr tIns="0" bIns="0"/>
          <a:lstStyle/>
          <a:p>
            <a:pPr algn="l">
              <a:spcBef>
                <a:spcPct val="50000"/>
              </a:spcBef>
              <a:buClr>
                <a:schemeClr val="hlink"/>
              </a:buClr>
            </a:pPr>
            <a:r>
              <a:rPr kumimoji="0" lang="zh-CN" altLang="en-US" dirty="0">
                <a:solidFill>
                  <a:schemeClr val="bg2"/>
                </a:solidFill>
                <a:latin typeface="楷体" panose="02010609060101010101" pitchFamily="49" charset="-122"/>
                <a:ea typeface="楷体" panose="02010609060101010101" pitchFamily="49" charset="-122"/>
              </a:rPr>
              <a:t>项目管理计划要记录计划的假设以及方案选择</a:t>
            </a:r>
            <a:r>
              <a:rPr kumimoji="0" lang="en-US" altLang="zh-CN" dirty="0">
                <a:solidFill>
                  <a:schemeClr val="bg2"/>
                </a:solidFill>
                <a:latin typeface="楷体" panose="02010609060101010101" pitchFamily="49" charset="-122"/>
                <a:ea typeface="楷体" panose="02010609060101010101" pitchFamily="49" charset="-122"/>
              </a:rPr>
              <a:t>,</a:t>
            </a:r>
            <a:r>
              <a:rPr kumimoji="0" lang="zh-CN" altLang="en-US" dirty="0">
                <a:solidFill>
                  <a:schemeClr val="bg2"/>
                </a:solidFill>
                <a:latin typeface="楷体" panose="02010609060101010101" pitchFamily="49" charset="-122"/>
                <a:ea typeface="楷体" panose="02010609060101010101" pitchFamily="49" charset="-122"/>
              </a:rPr>
              <a:t>要便于各干系人间的沟通，同时还要确定关键的管理审查的内容、范围和时间，并为进度评测和项目控制提供一个基准。</a:t>
            </a:r>
          </a:p>
          <a:p>
            <a:pPr algn="l">
              <a:spcBef>
                <a:spcPct val="50000"/>
              </a:spcBef>
              <a:buClr>
                <a:schemeClr val="hlink"/>
              </a:buClr>
            </a:pPr>
            <a:r>
              <a:rPr kumimoji="0" lang="zh-CN" altLang="en-US" dirty="0">
                <a:solidFill>
                  <a:schemeClr val="bg2"/>
                </a:solidFill>
                <a:latin typeface="楷体" panose="02010609060101010101" pitchFamily="49" charset="-122"/>
                <a:ea typeface="楷体" panose="02010609060101010101" pitchFamily="49" charset="-122"/>
              </a:rPr>
              <a:t>计划应该具有一定的</a:t>
            </a:r>
            <a:r>
              <a:rPr kumimoji="0" lang="zh-CN" altLang="en-US" dirty="0">
                <a:solidFill>
                  <a:schemeClr val="bg1"/>
                </a:solidFill>
                <a:latin typeface="楷体" panose="02010609060101010101" pitchFamily="49" charset="-122"/>
                <a:ea typeface="楷体" panose="02010609060101010101" pitchFamily="49" charset="-122"/>
              </a:rPr>
              <a:t>动态性和灵活性</a:t>
            </a:r>
            <a:r>
              <a:rPr kumimoji="0" lang="zh-CN" altLang="en-US" dirty="0">
                <a:solidFill>
                  <a:schemeClr val="bg2"/>
                </a:solidFill>
                <a:latin typeface="楷体" panose="02010609060101010101" pitchFamily="49" charset="-122"/>
                <a:ea typeface="楷体" panose="02010609060101010101" pitchFamily="49" charset="-122"/>
              </a:rPr>
              <a:t>，随着环境和项目本身的变更而进行适当的调整。</a:t>
            </a:r>
          </a:p>
          <a:p>
            <a:pPr algn="l">
              <a:spcBef>
                <a:spcPct val="50000"/>
              </a:spcBef>
              <a:buClr>
                <a:schemeClr val="hlink"/>
              </a:buClr>
            </a:pPr>
            <a:r>
              <a:rPr kumimoji="0" lang="zh-CN" altLang="en-US" dirty="0">
                <a:solidFill>
                  <a:schemeClr val="bg2"/>
                </a:solidFill>
                <a:latin typeface="楷体" panose="02010609060101010101" pitchFamily="49" charset="-122"/>
                <a:ea typeface="楷体" panose="02010609060101010101" pitchFamily="49" charset="-122"/>
              </a:rPr>
              <a:t>计划应该能够有利于项目经理管理项目团队和评估项目的进展状况。</a:t>
            </a:r>
          </a:p>
        </p:txBody>
      </p:sp>
      <p:sp>
        <p:nvSpPr>
          <p:cNvPr id="20485"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3.3 </a:t>
            </a:r>
            <a:r>
              <a:rPr kumimoji="0" lang="en-US" altLang="en-US" sz="3000" dirty="0" err="1">
                <a:latin typeface="楷体" panose="02010609060101010101" pitchFamily="49" charset="-122"/>
                <a:ea typeface="楷体" panose="02010609060101010101" pitchFamily="49" charset="-122"/>
              </a:rPr>
              <a:t>项目管理计划</a:t>
            </a:r>
            <a:endParaRPr kumimoji="0" lang="en-US" altLang="en-US" sz="3000" dirty="0">
              <a:latin typeface="楷体" panose="02010609060101010101" pitchFamily="49" charset="-122"/>
              <a:ea typeface="楷体" panose="02010609060101010101" pitchFamily="49" charset="-122"/>
            </a:endParaRPr>
          </a:p>
        </p:txBody>
      </p:sp>
      <p:sp>
        <p:nvSpPr>
          <p:cNvPr id="20486" name="Rectangle 7"/>
          <p:cNvSpPr>
            <a:spLocks noChangeArrowheads="1"/>
          </p:cNvSpPr>
          <p:nvPr/>
        </p:nvSpPr>
        <p:spPr bwMode="auto">
          <a:xfrm>
            <a:off x="323850" y="1341438"/>
            <a:ext cx="4198938" cy="519112"/>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3.3.1 </a:t>
            </a:r>
            <a:r>
              <a:rPr kumimoji="0" lang="en-US" altLang="en-US" dirty="0" err="1">
                <a:solidFill>
                  <a:srgbClr val="FF0000"/>
                </a:solidFill>
                <a:latin typeface="楷体" panose="02010609060101010101" pitchFamily="49" charset="-122"/>
                <a:ea typeface="楷体" panose="02010609060101010101" pitchFamily="49" charset="-122"/>
              </a:rPr>
              <a:t>项目管理计划的内容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9"/>
          <p:cNvSpPr>
            <a:spLocks noGrp="1" noChangeArrowheads="1"/>
          </p:cNvSpPr>
          <p:nvPr>
            <p:ph type="sldNum" sz="quarter" idx="10"/>
          </p:nvPr>
        </p:nvSpPr>
        <p:spPr>
          <a:noFill/>
        </p:spPr>
        <p:txBody>
          <a:bodyPr/>
          <a:lstStyle/>
          <a:p>
            <a:r>
              <a:rPr lang="zh-CN" altLang="en-GB" dirty="0"/>
              <a:t>  </a:t>
            </a:r>
            <a:fld id="{9E113EDD-DF9D-489A-A97A-DB01643844C1}" type="slidenum">
              <a:rPr lang="zh-CN" altLang="en-GB" smtClean="0"/>
              <a:t>33</a:t>
            </a:fld>
            <a:endParaRPr lang="en-US" altLang="zh-CN" dirty="0"/>
          </a:p>
        </p:txBody>
      </p:sp>
      <p:sp>
        <p:nvSpPr>
          <p:cNvPr id="2150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P.72</a:t>
            </a:r>
          </a:p>
        </p:txBody>
      </p:sp>
      <p:sp>
        <p:nvSpPr>
          <p:cNvPr id="875524" name="Text Box 4"/>
          <p:cNvSpPr txBox="1">
            <a:spLocks noChangeArrowheads="1"/>
          </p:cNvSpPr>
          <p:nvPr/>
        </p:nvSpPr>
        <p:spPr bwMode="auto">
          <a:xfrm>
            <a:off x="250825" y="1987550"/>
            <a:ext cx="8642350" cy="3817938"/>
          </a:xfrm>
          <a:prstGeom prst="rect">
            <a:avLst/>
          </a:prstGeom>
          <a:noFill/>
          <a:ln w="9525">
            <a:noFill/>
            <a:miter lim="800000"/>
          </a:ln>
        </p:spPr>
        <p:txBody>
          <a:bodyPr tIns="0" bIns="0"/>
          <a:lstStyle/>
          <a:p>
            <a:pPr algn="l">
              <a:spcBef>
                <a:spcPct val="50000"/>
              </a:spcBef>
              <a:buClr>
                <a:schemeClr val="hlink"/>
              </a:buClr>
            </a:pPr>
            <a:r>
              <a:rPr lang="zh-CN" altLang="en-US" dirty="0">
                <a:solidFill>
                  <a:schemeClr val="bg2"/>
                </a:solidFill>
                <a:latin typeface="楷体" panose="02010609060101010101" pitchFamily="49" charset="-122"/>
                <a:ea typeface="楷体" panose="02010609060101010101" pitchFamily="49" charset="-122"/>
              </a:rPr>
              <a:t>对于大多数的项目，项目计划的内容存在一般性。</a:t>
            </a:r>
            <a:endParaRPr lang="en-US" altLang="zh-CN" dirty="0">
              <a:solidFill>
                <a:schemeClr val="bg2"/>
              </a:solidFill>
              <a:latin typeface="楷体" panose="02010609060101010101" pitchFamily="49" charset="-122"/>
              <a:ea typeface="楷体" panose="02010609060101010101" pitchFamily="49" charset="-122"/>
            </a:endParaRPr>
          </a:p>
          <a:p>
            <a:pPr algn="l">
              <a:spcBef>
                <a:spcPct val="50000"/>
              </a:spcBef>
              <a:buClr>
                <a:schemeClr val="hlink"/>
              </a:buClr>
            </a:pPr>
            <a:r>
              <a:rPr lang="zh-CN" altLang="en-US" dirty="0">
                <a:solidFill>
                  <a:schemeClr val="bg2"/>
                </a:solidFill>
                <a:latin typeface="楷体" panose="02010609060101010101" pitchFamily="49" charset="-122"/>
                <a:ea typeface="楷体" panose="02010609060101010101" pitchFamily="49" charset="-122"/>
              </a:rPr>
              <a:t>项目计划一般包括</a:t>
            </a:r>
          </a:p>
          <a:p>
            <a:pPr marL="914400" lvl="1" indent="-457200" algn="l">
              <a:spcBef>
                <a:spcPct val="50000"/>
              </a:spcBef>
              <a:buClr>
                <a:schemeClr val="hlink"/>
              </a:buClr>
              <a:buFont typeface="Arial" panose="020B0604020202020204" pitchFamily="34" charset="0"/>
              <a:buChar char="•"/>
            </a:pPr>
            <a:r>
              <a:rPr lang="zh-CN" altLang="en-US" sz="2400" dirty="0">
                <a:solidFill>
                  <a:schemeClr val="bg2"/>
                </a:solidFill>
                <a:latin typeface="楷体" panose="02010609060101010101" pitchFamily="49" charset="-122"/>
                <a:ea typeface="楷体" panose="02010609060101010101" pitchFamily="49" charset="-122"/>
              </a:rPr>
              <a:t>项目的整体介绍</a:t>
            </a:r>
          </a:p>
          <a:p>
            <a:pPr marL="914400" lvl="1" indent="-457200" algn="l">
              <a:spcBef>
                <a:spcPct val="50000"/>
              </a:spcBef>
              <a:buClr>
                <a:schemeClr val="hlink"/>
              </a:buClr>
              <a:buFont typeface="Arial" panose="020B0604020202020204" pitchFamily="34" charset="0"/>
              <a:buChar char="•"/>
            </a:pPr>
            <a:r>
              <a:rPr lang="zh-CN" altLang="en-US" sz="2400" dirty="0">
                <a:solidFill>
                  <a:schemeClr val="bg2"/>
                </a:solidFill>
                <a:latin typeface="楷体" panose="02010609060101010101" pitchFamily="49" charset="-122"/>
                <a:ea typeface="楷体" panose="02010609060101010101" pitchFamily="49" charset="-122"/>
              </a:rPr>
              <a:t>项目的组织描述</a:t>
            </a:r>
          </a:p>
          <a:p>
            <a:pPr marL="914400" lvl="1" indent="-457200" algn="l">
              <a:spcBef>
                <a:spcPct val="50000"/>
              </a:spcBef>
              <a:buClr>
                <a:schemeClr val="hlink"/>
              </a:buClr>
              <a:buFont typeface="Arial" panose="020B0604020202020204" pitchFamily="34" charset="0"/>
              <a:buChar char="•"/>
            </a:pPr>
            <a:r>
              <a:rPr lang="zh-CN" altLang="en-US" sz="2400" dirty="0">
                <a:solidFill>
                  <a:schemeClr val="bg2"/>
                </a:solidFill>
                <a:latin typeface="楷体" panose="02010609060101010101" pitchFamily="49" charset="-122"/>
                <a:ea typeface="楷体" panose="02010609060101010101" pitchFamily="49" charset="-122"/>
              </a:rPr>
              <a:t>项目所需的管理程序和技术程序</a:t>
            </a:r>
          </a:p>
          <a:p>
            <a:pPr marL="914400" lvl="1" indent="-457200" algn="l">
              <a:spcBef>
                <a:spcPct val="50000"/>
              </a:spcBef>
              <a:buClr>
                <a:schemeClr val="hlink"/>
              </a:buClr>
              <a:buFont typeface="Arial" panose="020B0604020202020204" pitchFamily="34" charset="0"/>
              <a:buChar char="•"/>
            </a:pPr>
            <a:r>
              <a:rPr lang="zh-CN" altLang="en-US" sz="2400" dirty="0">
                <a:solidFill>
                  <a:schemeClr val="bg2"/>
                </a:solidFill>
                <a:latin typeface="楷体" panose="02010609060101010101" pitchFamily="49" charset="-122"/>
                <a:ea typeface="楷体" panose="02010609060101010101" pitchFamily="49" charset="-122"/>
                <a:sym typeface="+mn-ea"/>
              </a:rPr>
              <a:t>项目</a:t>
            </a:r>
            <a:r>
              <a:rPr lang="zh-CN" altLang="en-US" sz="2400" dirty="0">
                <a:solidFill>
                  <a:schemeClr val="bg2"/>
                </a:solidFill>
                <a:latin typeface="楷体" panose="02010609060101010101" pitchFamily="49" charset="-122"/>
                <a:ea typeface="楷体" panose="02010609060101010101" pitchFamily="49" charset="-122"/>
              </a:rPr>
              <a:t>所需完成的</a:t>
            </a:r>
            <a:r>
              <a:rPr lang="zh-CN" altLang="en-US" dirty="0">
                <a:solidFill>
                  <a:schemeClr val="bg2"/>
                </a:solidFill>
                <a:latin typeface="楷体" panose="02010609060101010101" pitchFamily="49" charset="-122"/>
                <a:ea typeface="楷体" panose="02010609060101010101" pitchFamily="49" charset="-122"/>
              </a:rPr>
              <a:t>任务，时间进度和预算等。</a:t>
            </a:r>
          </a:p>
        </p:txBody>
      </p:sp>
      <p:sp>
        <p:nvSpPr>
          <p:cNvPr id="21510" name="Rectangle 7"/>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3.3 </a:t>
            </a:r>
            <a:r>
              <a:rPr kumimoji="0" lang="en-US" altLang="en-US" sz="3000" dirty="0" err="1">
                <a:latin typeface="楷体" panose="02010609060101010101" pitchFamily="49" charset="-122"/>
                <a:ea typeface="楷体" panose="02010609060101010101" pitchFamily="49" charset="-122"/>
              </a:rPr>
              <a:t>项目管理计划</a:t>
            </a:r>
            <a:endParaRPr kumimoji="0" lang="en-US" altLang="en-US" sz="3000" dirty="0">
              <a:latin typeface="楷体" panose="02010609060101010101" pitchFamily="49" charset="-122"/>
              <a:ea typeface="楷体" panose="02010609060101010101" pitchFamily="49" charset="-122"/>
            </a:endParaRPr>
          </a:p>
        </p:txBody>
      </p:sp>
      <p:sp>
        <p:nvSpPr>
          <p:cNvPr id="21511" name="Rectangle 8"/>
          <p:cNvSpPr>
            <a:spLocks noChangeArrowheads="1"/>
          </p:cNvSpPr>
          <p:nvPr/>
        </p:nvSpPr>
        <p:spPr bwMode="auto">
          <a:xfrm>
            <a:off x="323850" y="1341438"/>
            <a:ext cx="4198938" cy="519112"/>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3.2.1 </a:t>
            </a:r>
            <a:r>
              <a:rPr kumimoji="0" lang="en-US" altLang="en-US" dirty="0" err="1">
                <a:solidFill>
                  <a:srgbClr val="FF0000"/>
                </a:solidFill>
                <a:latin typeface="楷体" panose="02010609060101010101" pitchFamily="49" charset="-122"/>
                <a:ea typeface="楷体" panose="02010609060101010101" pitchFamily="49" charset="-122"/>
              </a:rPr>
              <a:t>项目管理计划的内容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552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552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552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552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552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10"/>
          </p:nvPr>
        </p:nvSpPr>
        <p:spPr>
          <a:noFill/>
        </p:spPr>
        <p:txBody>
          <a:bodyPr/>
          <a:lstStyle/>
          <a:p>
            <a:r>
              <a:rPr lang="zh-CN" altLang="en-GB" dirty="0"/>
              <a:t>  </a:t>
            </a:r>
            <a:fld id="{1B329C6F-6E86-4E11-93A2-9F3AA8079CC8}" type="slidenum">
              <a:rPr lang="zh-CN" altLang="en-GB" smtClean="0"/>
              <a:t>34</a:t>
            </a:fld>
            <a:endParaRPr lang="en-US" altLang="zh-CN" dirty="0"/>
          </a:p>
        </p:txBody>
      </p:sp>
      <p:sp>
        <p:nvSpPr>
          <p:cNvPr id="2969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P.73</a:t>
            </a:r>
          </a:p>
        </p:txBody>
      </p:sp>
      <p:graphicFrame>
        <p:nvGraphicFramePr>
          <p:cNvPr id="891933" name="Group 29"/>
          <p:cNvGraphicFramePr>
            <a:graphicFrameLocks noGrp="1"/>
          </p:cNvGraphicFramePr>
          <p:nvPr/>
        </p:nvGraphicFramePr>
        <p:xfrm>
          <a:off x="179388" y="1820863"/>
          <a:ext cx="8785225" cy="4487863"/>
        </p:xfrm>
        <a:graphic>
          <a:graphicData uri="http://schemas.openxmlformats.org/drawingml/2006/table">
            <a:tbl>
              <a:tblPr/>
              <a:tblGrid>
                <a:gridCol w="1711325">
                  <a:extLst>
                    <a:ext uri="{9D8B030D-6E8A-4147-A177-3AD203B41FA5}">
                      <a16:colId xmlns:a16="http://schemas.microsoft.com/office/drawing/2014/main" val="20000"/>
                    </a:ext>
                  </a:extLst>
                </a:gridCol>
                <a:gridCol w="1711325">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1325">
                  <a:extLst>
                    <a:ext uri="{9D8B030D-6E8A-4147-A177-3AD203B41FA5}">
                      <a16:colId xmlns:a16="http://schemas.microsoft.com/office/drawing/2014/main" val="20003"/>
                    </a:ext>
                  </a:extLst>
                </a:gridCol>
                <a:gridCol w="1936750">
                  <a:extLst>
                    <a:ext uri="{9D8B030D-6E8A-4147-A177-3AD203B41FA5}">
                      <a16:colId xmlns:a16="http://schemas.microsoft.com/office/drawing/2014/main" val="20004"/>
                    </a:ext>
                  </a:extLst>
                </a:gridCol>
              </a:tblGrid>
              <a:tr h="1225550">
                <a:tc>
                  <a:txBody>
                    <a:bodyPr/>
                    <a:lstStyle/>
                    <a:p>
                      <a:pPr marL="0" marR="0" lvl="0" indent="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endParaRPr kumimoji="1" lang="zh-CN" altLang="en-US"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rPr>
                        <a:t>1</a:t>
                      </a:r>
                      <a:r>
                        <a:rPr kumimoji="1" lang="zh-CN" altLang="en-US"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rPr>
                        <a:t>、介绍</a:t>
                      </a:r>
                      <a:endParaRPr kumimoji="1" lang="zh-CN" altLang="en-US" sz="2000" b="0"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endParaRPr kumimoji="1" lang="zh-CN" altLang="en-US"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rPr>
                        <a:t>2</a:t>
                      </a:r>
                      <a:r>
                        <a:rPr kumimoji="1" lang="zh-CN" altLang="en-US"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rPr>
                        <a:t>、项目组织</a:t>
                      </a:r>
                      <a:endParaRPr kumimoji="1" lang="zh-CN" altLang="en-US" sz="2000" b="0"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endParaRPr kumimoji="1" lang="zh-CN" altLang="en-US"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rPr>
                        <a:t>3</a:t>
                      </a:r>
                      <a:r>
                        <a:rPr kumimoji="1" lang="zh-CN" altLang="en-US"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rPr>
                        <a:t>、管理过程</a:t>
                      </a:r>
                      <a:endParaRPr kumimoji="1" lang="zh-CN" altLang="en-US" sz="2000" b="0"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endParaRPr kumimoji="1" lang="zh-CN" altLang="en-US"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rPr>
                        <a:t>4</a:t>
                      </a:r>
                      <a:r>
                        <a:rPr kumimoji="1" lang="zh-CN" altLang="en-US"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rPr>
                        <a:t>、技术过程</a:t>
                      </a:r>
                      <a:endParaRPr kumimoji="1" lang="zh-CN" altLang="en-US" sz="2000" b="0"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endParaRPr kumimoji="1" lang="zh-CN" altLang="en-US"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rPr>
                        <a:t>5</a:t>
                      </a:r>
                      <a:r>
                        <a:rPr kumimoji="1" lang="zh-CN" altLang="en-US" sz="2000" b="1"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rPr>
                        <a:t>、工作包、进度和预算</a:t>
                      </a:r>
                      <a:endParaRPr kumimoji="1" lang="zh-CN" altLang="en-US" sz="2000" b="0" i="0" u="none" strike="noStrike" cap="none" normalizeH="0" baseline="0">
                        <a:ln>
                          <a:noFill/>
                        </a:ln>
                        <a:solidFill>
                          <a:schemeClr val="bg2"/>
                        </a:solidFill>
                        <a:effectLst/>
                        <a:latin typeface="新宋体" panose="02010609030101010101" charset="-122"/>
                        <a:ea typeface="新宋体" panose="02010609030101010101" charset="-122"/>
                        <a:cs typeface="Times New Roman" panose="02020603050405020304" pitchFamily="18" charset="0"/>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62313">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1.1</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项目概述</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1.2</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项目可交付成果</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1.3</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软件项目计划的制定过程</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1.4</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参考资料 </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1.5</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有关定义和缩写说明  </a:t>
                      </a: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2.1</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过程模型</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2.2</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组织结构</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2.3</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组织界限和界面</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2.4</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项目责任</a:t>
                      </a: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3.1</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管理目标和优先级</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3.2</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设定条件、依赖关系和约束条件</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3.3</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风险管理</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3.4</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监督与控制机制</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3.5</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人员计划</a:t>
                      </a: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4.1</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方法、工具和技巧</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4.2</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软件文件</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4.3</a:t>
                      </a:r>
                      <a:r>
                        <a:rPr kumimoji="1" lang="zh-CN" altLang="en-US" sz="2000" b="1" i="0" u="none" strike="noStrike" cap="none" normalizeH="0" baseline="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项目各项辅助职能  </a:t>
                      </a: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dirty="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5.1</a:t>
                      </a:r>
                      <a:r>
                        <a:rPr kumimoji="1" lang="zh-CN" altLang="en-US" sz="2000" b="1" i="0" u="none" strike="noStrike" cap="none" normalizeH="0" baseline="0" dirty="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工作包</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dirty="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5.2</a:t>
                      </a:r>
                      <a:r>
                        <a:rPr kumimoji="1" lang="zh-CN" altLang="en-US" sz="2000" b="1" i="0" u="none" strike="noStrike" cap="none" normalizeH="0" baseline="0" dirty="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依赖关系</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dirty="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5.3</a:t>
                      </a:r>
                      <a:r>
                        <a:rPr kumimoji="1" lang="zh-CN" altLang="en-US" sz="2000" b="1" i="0" u="none" strike="noStrike" cap="none" normalizeH="0" baseline="0" dirty="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资源要求</a:t>
                      </a:r>
                    </a:p>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1" i="0" u="none" strike="noStrike" cap="none" normalizeH="0" baseline="0" dirty="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5.4</a:t>
                      </a:r>
                      <a:r>
                        <a:rPr kumimoji="1" lang="zh-CN" altLang="en-US" sz="2000" b="1" i="0" u="none" strike="noStrike" cap="none" normalizeH="0" baseline="0" dirty="0">
                          <a:ln>
                            <a:noFill/>
                          </a:ln>
                          <a:solidFill>
                            <a:schemeClr val="bg2"/>
                          </a:solidFill>
                          <a:effectLst/>
                          <a:latin typeface="楷体" panose="02010609060101010101" pitchFamily="49" charset="-122"/>
                          <a:ea typeface="楷体" panose="02010609060101010101" pitchFamily="49" charset="-122"/>
                          <a:cs typeface="Times New Roman" panose="02020603050405020304" pitchFamily="18" charset="0"/>
                        </a:rPr>
                        <a:t>预算与资源分配以及进度计划</a:t>
                      </a: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9720" name="Text Box 28"/>
          <p:cNvSpPr txBox="1">
            <a:spLocks noChangeArrowheads="1"/>
          </p:cNvSpPr>
          <p:nvPr/>
        </p:nvSpPr>
        <p:spPr bwMode="auto">
          <a:xfrm>
            <a:off x="2268538" y="6477000"/>
            <a:ext cx="4895850" cy="337185"/>
          </a:xfrm>
          <a:prstGeom prst="rect">
            <a:avLst/>
          </a:prstGeom>
          <a:noFill/>
          <a:ln w="50800">
            <a:noFill/>
            <a:miter lim="800000"/>
          </a:ln>
        </p:spPr>
        <p:txBody>
          <a:bodyPr>
            <a:spAutoFit/>
          </a:bodyPr>
          <a:lstStyle/>
          <a:p>
            <a:pPr>
              <a:spcBef>
                <a:spcPct val="50000"/>
              </a:spcBef>
            </a:pPr>
            <a:r>
              <a:rPr lang="zh-CN" altLang="en-US" sz="1600">
                <a:solidFill>
                  <a:srgbClr val="FF0000"/>
                </a:solidFill>
                <a:latin typeface="楷体" panose="02010609060101010101" pitchFamily="49" charset="-122"/>
                <a:ea typeface="楷体" panose="02010609060101010101" pitchFamily="49" charset="-122"/>
              </a:rPr>
              <a:t>表</a:t>
            </a:r>
            <a:r>
              <a:rPr lang="en-US" altLang="zh-CN" sz="1600">
                <a:solidFill>
                  <a:srgbClr val="FF0000"/>
                </a:solidFill>
                <a:cs typeface="Times New Roman" panose="02020603050405020304" pitchFamily="18" charset="0"/>
              </a:rPr>
              <a:t>3-2</a:t>
            </a:r>
            <a:r>
              <a:rPr lang="en-US" altLang="zh-CN" sz="1600">
                <a:solidFill>
                  <a:srgbClr val="FF0000"/>
                </a:solidFill>
                <a:ea typeface="楷体" panose="02010609060101010101" pitchFamily="49" charset="-122"/>
                <a:cs typeface="Times New Roman" panose="02020603050405020304" pitchFamily="18" charset="0"/>
              </a:rPr>
              <a:t> </a:t>
            </a:r>
            <a:r>
              <a:rPr lang="en-US" altLang="zh-CN" sz="1600">
                <a:solidFill>
                  <a:srgbClr val="FF0000"/>
                </a:solidFill>
                <a:latin typeface="楷体" panose="02010609060101010101" pitchFamily="49" charset="-122"/>
                <a:ea typeface="楷体" panose="02010609060101010101" pitchFamily="49" charset="-122"/>
                <a:cs typeface="楷体" panose="02010609060101010101" pitchFamily="49" charset="-122"/>
              </a:rPr>
              <a:t> </a:t>
            </a:r>
            <a:r>
              <a:rPr lang="zh-CN" altLang="en-US" sz="1600">
                <a:solidFill>
                  <a:srgbClr val="FF0000"/>
                </a:solidFill>
                <a:latin typeface="楷体" panose="02010609060101010101" pitchFamily="49" charset="-122"/>
                <a:ea typeface="楷体" panose="02010609060101010101" pitchFamily="49" charset="-122"/>
                <a:cs typeface="楷体" panose="02010609060101010101" pitchFamily="49" charset="-122"/>
              </a:rPr>
              <a:t>软件项目管理计划模板</a:t>
            </a:r>
          </a:p>
        </p:txBody>
      </p:sp>
      <p:sp>
        <p:nvSpPr>
          <p:cNvPr id="29721" name="Rectangle 30"/>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3.3 </a:t>
            </a:r>
            <a:r>
              <a:rPr kumimoji="0" lang="en-US" altLang="en-US" sz="3000" dirty="0" err="1">
                <a:latin typeface="楷体" panose="02010609060101010101" pitchFamily="49" charset="-122"/>
                <a:ea typeface="楷体" panose="02010609060101010101" pitchFamily="49" charset="-122"/>
              </a:rPr>
              <a:t>项目管理计划</a:t>
            </a:r>
            <a:endParaRPr kumimoji="0" lang="en-US" altLang="en-US" sz="3000" dirty="0">
              <a:latin typeface="楷体" panose="02010609060101010101" pitchFamily="49" charset="-122"/>
              <a:ea typeface="楷体" panose="02010609060101010101" pitchFamily="49" charset="-122"/>
            </a:endParaRPr>
          </a:p>
        </p:txBody>
      </p:sp>
      <p:sp>
        <p:nvSpPr>
          <p:cNvPr id="29722" name="Rectangle 31"/>
          <p:cNvSpPr>
            <a:spLocks noChangeArrowheads="1"/>
          </p:cNvSpPr>
          <p:nvPr/>
        </p:nvSpPr>
        <p:spPr bwMode="auto">
          <a:xfrm>
            <a:off x="323850" y="1254125"/>
            <a:ext cx="4238661" cy="523220"/>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3.3.1 </a:t>
            </a:r>
            <a:r>
              <a:rPr kumimoji="0" lang="en-US" altLang="en-US" dirty="0" err="1">
                <a:solidFill>
                  <a:srgbClr val="FF0000"/>
                </a:solidFill>
                <a:latin typeface="楷体" panose="02010609060101010101" pitchFamily="49" charset="-122"/>
                <a:ea typeface="楷体" panose="02010609060101010101" pitchFamily="49" charset="-122"/>
              </a:rPr>
              <a:t>项目管理计划的内容</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10"/>
          </p:nvPr>
        </p:nvSpPr>
        <p:spPr>
          <a:noFill/>
        </p:spPr>
        <p:txBody>
          <a:bodyPr/>
          <a:lstStyle/>
          <a:p>
            <a:r>
              <a:rPr lang="zh-CN" altLang="en-GB" dirty="0"/>
              <a:t>  </a:t>
            </a:r>
            <a:fld id="{4403ECA9-F616-4B92-BE3D-A9C844D1F10C}" type="slidenum">
              <a:rPr lang="zh-CN" altLang="en-GB" smtClean="0"/>
              <a:t>35</a:t>
            </a:fld>
            <a:endParaRPr lang="en-US" altLang="zh-CN" dirty="0"/>
          </a:p>
        </p:txBody>
      </p:sp>
      <p:sp>
        <p:nvSpPr>
          <p:cNvPr id="3072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P.75</a:t>
            </a:r>
          </a:p>
        </p:txBody>
      </p:sp>
      <p:sp>
        <p:nvSpPr>
          <p:cNvPr id="30724" name="Text Box 4"/>
          <p:cNvSpPr txBox="1">
            <a:spLocks noChangeArrowheads="1"/>
          </p:cNvSpPr>
          <p:nvPr/>
        </p:nvSpPr>
        <p:spPr bwMode="auto">
          <a:xfrm>
            <a:off x="325438" y="1898665"/>
            <a:ext cx="8567737" cy="4244979"/>
          </a:xfrm>
          <a:prstGeom prst="rect">
            <a:avLst/>
          </a:prstGeom>
          <a:noFill/>
          <a:ln w="9525">
            <a:noFill/>
            <a:miter lim="800000"/>
          </a:ln>
        </p:spPr>
        <p:txBody>
          <a:bodyPr tIns="0" bIns="0"/>
          <a:lstStyle/>
          <a:p>
            <a:pPr algn="l">
              <a:spcBef>
                <a:spcPts val="600"/>
              </a:spcBef>
              <a:spcAft>
                <a:spcPts val="600"/>
              </a:spcAft>
              <a:buClr>
                <a:schemeClr val="hlink"/>
              </a:buClr>
            </a:pPr>
            <a:r>
              <a:rPr lang="zh-CN" altLang="en-US" dirty="0">
                <a:solidFill>
                  <a:schemeClr val="bg2"/>
                </a:solidFill>
                <a:latin typeface="楷体" panose="02010609060101010101" pitchFamily="49" charset="-122"/>
                <a:ea typeface="楷体" panose="02010609060101010101" pitchFamily="49" charset="-122"/>
              </a:rPr>
              <a:t>制定项目计划的目的在于建立并维护</a:t>
            </a:r>
            <a:r>
              <a:rPr lang="zh-CN" altLang="en-US" dirty="0">
                <a:solidFill>
                  <a:schemeClr val="bg1"/>
                </a:solidFill>
                <a:latin typeface="楷体" panose="02010609060101010101" pitchFamily="49" charset="-122"/>
                <a:ea typeface="楷体" panose="02010609060101010101" pitchFamily="49" charset="-122"/>
              </a:rPr>
              <a:t>项目各项活动</a:t>
            </a:r>
            <a:r>
              <a:rPr lang="zh-CN" altLang="en-US" dirty="0">
                <a:solidFill>
                  <a:schemeClr val="bg2"/>
                </a:solidFill>
                <a:latin typeface="楷体" panose="02010609060101010101" pitchFamily="49" charset="-122"/>
                <a:ea typeface="楷体" panose="02010609060101010101" pitchFamily="49" charset="-122"/>
              </a:rPr>
              <a:t>的计划，它用来协调软件项目中其它所有计划，指导项目组对项目进行执行和监控的文件。</a:t>
            </a:r>
          </a:p>
          <a:p>
            <a:pPr algn="l">
              <a:spcBef>
                <a:spcPts val="600"/>
              </a:spcBef>
              <a:spcAft>
                <a:spcPts val="600"/>
              </a:spcAft>
              <a:buClr>
                <a:schemeClr val="hlink"/>
              </a:buClr>
            </a:pPr>
            <a:r>
              <a:rPr lang="en-US" altLang="zh-CN" dirty="0">
                <a:solidFill>
                  <a:schemeClr val="bg2"/>
                </a:solidFill>
                <a:latin typeface="+mn-lt"/>
                <a:ea typeface="楷体" panose="02010609060101010101" pitchFamily="49" charset="-122"/>
              </a:rPr>
              <a:t>IT</a:t>
            </a:r>
            <a:r>
              <a:rPr lang="zh-CN" altLang="en-US" dirty="0">
                <a:solidFill>
                  <a:schemeClr val="bg2"/>
                </a:solidFill>
                <a:latin typeface="楷体" panose="02010609060101010101" pitchFamily="49" charset="-122"/>
                <a:ea typeface="楷体" panose="02010609060101010101" pitchFamily="49" charset="-122"/>
              </a:rPr>
              <a:t>项目有其特殊性，不确定因素多，工作量估计困难，项目初期难于制定一个科学、合理的项目计划。</a:t>
            </a:r>
          </a:p>
          <a:p>
            <a:pPr algn="l">
              <a:spcBef>
                <a:spcPts val="600"/>
              </a:spcBef>
              <a:spcAft>
                <a:spcPts val="600"/>
              </a:spcAft>
              <a:buClr>
                <a:schemeClr val="hlink"/>
              </a:buClr>
            </a:pPr>
            <a:r>
              <a:rPr lang="zh-CN" altLang="en-US" dirty="0">
                <a:solidFill>
                  <a:schemeClr val="bg2"/>
                </a:solidFill>
                <a:latin typeface="楷体" panose="02010609060101010101" pitchFamily="49" charset="-122"/>
                <a:ea typeface="楷体" panose="02010609060101010101" pitchFamily="49" charset="-122"/>
              </a:rPr>
              <a:t>在</a:t>
            </a:r>
            <a:r>
              <a:rPr lang="en-US" altLang="zh-CN" dirty="0">
                <a:solidFill>
                  <a:schemeClr val="bg2"/>
                </a:solidFill>
                <a:latin typeface="+mn-lt"/>
                <a:ea typeface="楷体" panose="02010609060101010101" pitchFamily="49" charset="-122"/>
              </a:rPr>
              <a:t>IT</a:t>
            </a:r>
            <a:r>
              <a:rPr lang="zh-CN" altLang="en-US" dirty="0">
                <a:solidFill>
                  <a:schemeClr val="bg2"/>
                </a:solidFill>
                <a:latin typeface="楷体" panose="02010609060101010101" pitchFamily="49" charset="-122"/>
                <a:ea typeface="楷体" panose="02010609060101010101" pitchFamily="49" charset="-122"/>
              </a:rPr>
              <a:t>项目管理中，</a:t>
            </a:r>
            <a:r>
              <a:rPr lang="zh-CN" altLang="en-US" dirty="0">
                <a:solidFill>
                  <a:schemeClr val="bg1"/>
                </a:solidFill>
                <a:latin typeface="楷体" panose="02010609060101010101" pitchFamily="49" charset="-122"/>
                <a:ea typeface="楷体" panose="02010609060101010101" pitchFamily="49" charset="-122"/>
              </a:rPr>
              <a:t>计划编制是最复杂的阶段</a:t>
            </a:r>
            <a:r>
              <a:rPr lang="zh-CN" altLang="en-US" dirty="0">
                <a:solidFill>
                  <a:schemeClr val="bg2"/>
                </a:solidFill>
                <a:latin typeface="楷体" panose="02010609060101010101" pitchFamily="49" charset="-122"/>
                <a:ea typeface="楷体" panose="02010609060101010101" pitchFamily="49" charset="-122"/>
              </a:rPr>
              <a:t>，然而却最不受重视。许多人对计划编制工作抱有消极的态度，因为编制的计划常常没有促进实际行动，这对项目经理是一个严峻的挑战。</a:t>
            </a:r>
          </a:p>
        </p:txBody>
      </p:sp>
      <p:sp>
        <p:nvSpPr>
          <p:cNvPr id="30725" name="Rectangle 5"/>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3.3 </a:t>
            </a:r>
            <a:r>
              <a:rPr kumimoji="0" lang="en-US" altLang="en-US" sz="3000" dirty="0" err="1">
                <a:latin typeface="楷体" panose="02010609060101010101" pitchFamily="49" charset="-122"/>
                <a:ea typeface="楷体" panose="02010609060101010101" pitchFamily="49" charset="-122"/>
              </a:rPr>
              <a:t>项目管理计划</a:t>
            </a:r>
            <a:endParaRPr kumimoji="0" lang="en-US" altLang="en-US" sz="3000" dirty="0">
              <a:latin typeface="楷体" panose="02010609060101010101" pitchFamily="49" charset="-122"/>
              <a:ea typeface="楷体" panose="02010609060101010101" pitchFamily="49" charset="-122"/>
            </a:endParaRPr>
          </a:p>
        </p:txBody>
      </p:sp>
      <p:sp>
        <p:nvSpPr>
          <p:cNvPr id="30726" name="Rectangle 6"/>
          <p:cNvSpPr>
            <a:spLocks noChangeArrowheads="1"/>
          </p:cNvSpPr>
          <p:nvPr/>
        </p:nvSpPr>
        <p:spPr bwMode="auto">
          <a:xfrm>
            <a:off x="323850" y="1341438"/>
            <a:ext cx="4198938" cy="519112"/>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3.3.2 </a:t>
            </a:r>
            <a:r>
              <a:rPr kumimoji="0" lang="en-US" altLang="en-US" dirty="0" err="1">
                <a:solidFill>
                  <a:srgbClr val="FF0000"/>
                </a:solidFill>
                <a:latin typeface="楷体" panose="02010609060101010101" pitchFamily="49" charset="-122"/>
                <a:ea typeface="楷体" panose="02010609060101010101" pitchFamily="49" charset="-122"/>
              </a:rPr>
              <a:t>项目计划的制定方法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9"/>
          <p:cNvSpPr>
            <a:spLocks noGrp="1" noChangeArrowheads="1"/>
          </p:cNvSpPr>
          <p:nvPr>
            <p:ph type="sldNum" sz="quarter" idx="10"/>
          </p:nvPr>
        </p:nvSpPr>
        <p:spPr>
          <a:noFill/>
        </p:spPr>
        <p:txBody>
          <a:bodyPr/>
          <a:lstStyle/>
          <a:p>
            <a:r>
              <a:rPr lang="zh-CN" altLang="en-GB" dirty="0"/>
              <a:t>  </a:t>
            </a:r>
            <a:fld id="{E147C114-12FE-46C6-B740-C495E65A3831}" type="slidenum">
              <a:rPr lang="zh-CN" altLang="en-GB" smtClean="0"/>
              <a:t>36</a:t>
            </a:fld>
            <a:endParaRPr lang="en-US" altLang="zh-CN" dirty="0"/>
          </a:p>
        </p:txBody>
      </p:sp>
      <p:sp>
        <p:nvSpPr>
          <p:cNvPr id="31747" name="Text Box 3"/>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lgn="r">
              <a:spcBef>
                <a:spcPct val="50000"/>
              </a:spcBef>
            </a:pPr>
            <a:r>
              <a:rPr lang="en-US" altLang="zh-CN" sz="2400">
                <a:solidFill>
                  <a:schemeClr val="bg2"/>
                </a:solidFill>
              </a:rPr>
              <a:t>P.75</a:t>
            </a:r>
          </a:p>
        </p:txBody>
      </p:sp>
      <p:sp>
        <p:nvSpPr>
          <p:cNvPr id="31748" name="Text Box 4"/>
          <p:cNvSpPr txBox="1">
            <a:spLocks noChangeArrowheads="1"/>
          </p:cNvSpPr>
          <p:nvPr/>
        </p:nvSpPr>
        <p:spPr bwMode="auto">
          <a:xfrm>
            <a:off x="179388" y="1916113"/>
            <a:ext cx="8678892" cy="4249737"/>
          </a:xfrm>
          <a:prstGeom prst="rect">
            <a:avLst/>
          </a:prstGeom>
          <a:noFill/>
          <a:ln w="9525">
            <a:noFill/>
            <a:miter lim="800000"/>
          </a:ln>
        </p:spPr>
        <p:txBody>
          <a:bodyPr tIns="0" bIns="0"/>
          <a:lstStyle/>
          <a:p>
            <a:pPr algn="l">
              <a:spcBef>
                <a:spcPts val="600"/>
              </a:spcBef>
              <a:spcAft>
                <a:spcPts val="600"/>
              </a:spcAft>
              <a:buClr>
                <a:schemeClr val="hlink"/>
              </a:buClr>
            </a:pPr>
            <a:r>
              <a:rPr lang="zh-CN" altLang="en-US" dirty="0">
                <a:solidFill>
                  <a:schemeClr val="bg2"/>
                </a:solidFill>
                <a:latin typeface="楷体" panose="02010609060101010101" pitchFamily="49" charset="-122"/>
                <a:ea typeface="楷体" panose="02010609060101010101" pitchFamily="49" charset="-122"/>
              </a:rPr>
              <a:t>项目经理制定项目计划应该掌握的方法：</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marL="971550" lvl="1" indent="-514350" algn="l">
              <a:spcBef>
                <a:spcPts val="600"/>
              </a:spcBef>
              <a:spcAft>
                <a:spcPts val="600"/>
              </a:spcAft>
              <a:buClr>
                <a:schemeClr val="bg1">
                  <a:lumMod val="50000"/>
                </a:schemeClr>
              </a:buClr>
              <a:buFont typeface="+mj-ea"/>
              <a:buAutoNum type="arabicPeriod"/>
            </a:pPr>
            <a:r>
              <a:rPr lang="zh-CN" altLang="en-US" dirty="0">
                <a:solidFill>
                  <a:srgbClr val="0000FF"/>
                </a:solidFill>
                <a:latin typeface="楷体" panose="02010609060101010101" pitchFamily="49" charset="-122"/>
                <a:ea typeface="楷体" panose="02010609060101010101" pitchFamily="49" charset="-122"/>
              </a:rPr>
              <a:t>注意项目计划的层次性</a:t>
            </a:r>
          </a:p>
          <a:p>
            <a:pPr marL="971550" lvl="2" indent="-514350" algn="l">
              <a:spcBef>
                <a:spcPts val="600"/>
              </a:spcBef>
              <a:spcAft>
                <a:spcPts val="600"/>
              </a:spcAft>
              <a:buClr>
                <a:schemeClr val="bg1">
                  <a:lumMod val="50000"/>
                </a:schemeClr>
              </a:buClr>
              <a:buFont typeface="+mj-lt"/>
              <a:buAutoNum type="arabicPeriod" startAt="2"/>
            </a:pPr>
            <a:r>
              <a:rPr lang="zh-CN" altLang="en-US" dirty="0">
                <a:solidFill>
                  <a:srgbClr val="0000FF"/>
                </a:solidFill>
                <a:latin typeface="楷体" panose="02010609060101010101" pitchFamily="49" charset="-122"/>
                <a:ea typeface="楷体" panose="02010609060101010101" pitchFamily="49" charset="-122"/>
              </a:rPr>
              <a:t>注意编制计划的繁简程度</a:t>
            </a:r>
            <a:endParaRPr lang="en-US" altLang="zh-CN" dirty="0">
              <a:solidFill>
                <a:srgbClr val="0000FF"/>
              </a:solidFill>
              <a:latin typeface="楷体" panose="02010609060101010101" pitchFamily="49" charset="-122"/>
              <a:ea typeface="楷体" panose="02010609060101010101" pitchFamily="49" charset="-122"/>
            </a:endParaRPr>
          </a:p>
          <a:p>
            <a:pPr marL="971550" lvl="2" indent="-514350" algn="l">
              <a:spcBef>
                <a:spcPts val="600"/>
              </a:spcBef>
              <a:spcAft>
                <a:spcPts val="600"/>
              </a:spcAft>
              <a:buClr>
                <a:schemeClr val="bg1">
                  <a:lumMod val="50000"/>
                </a:schemeClr>
              </a:buClr>
              <a:buFont typeface="+mj-ea"/>
              <a:buAutoNum type="arabicPeriod" startAt="2"/>
            </a:pPr>
            <a:r>
              <a:rPr lang="zh-CN" altLang="en-US" dirty="0">
                <a:solidFill>
                  <a:srgbClr val="0000FF"/>
                </a:solidFill>
                <a:latin typeface="楷体" panose="02010609060101010101" pitchFamily="49" charset="-122"/>
                <a:ea typeface="楷体" panose="02010609060101010101" pitchFamily="49" charset="-122"/>
              </a:rPr>
              <a:t>制定的项目计划要现实</a:t>
            </a:r>
            <a:endParaRPr lang="en-US" altLang="zh-CN" dirty="0">
              <a:solidFill>
                <a:srgbClr val="0000FF"/>
              </a:solidFill>
              <a:latin typeface="楷体" panose="02010609060101010101" pitchFamily="49" charset="-122"/>
              <a:ea typeface="楷体" panose="02010609060101010101" pitchFamily="49" charset="-122"/>
            </a:endParaRPr>
          </a:p>
          <a:p>
            <a:pPr marL="971550" lvl="2" indent="-514350" algn="l">
              <a:spcBef>
                <a:spcPts val="600"/>
              </a:spcBef>
              <a:spcAft>
                <a:spcPts val="600"/>
              </a:spcAft>
              <a:buClr>
                <a:schemeClr val="bg1">
                  <a:lumMod val="50000"/>
                </a:schemeClr>
              </a:buClr>
              <a:buFont typeface="+mj-ea"/>
              <a:buAutoNum type="arabicPeriod" startAt="2"/>
            </a:pPr>
            <a:r>
              <a:rPr lang="zh-CN" altLang="en-US" dirty="0">
                <a:solidFill>
                  <a:srgbClr val="0000FF"/>
                </a:solidFill>
                <a:latin typeface="楷体" panose="02010609060101010101" pitchFamily="49" charset="-122"/>
                <a:ea typeface="楷体" panose="02010609060101010101" pitchFamily="49" charset="-122"/>
              </a:rPr>
              <a:t>重视与客户的沟通</a:t>
            </a:r>
            <a:endParaRPr lang="en-US" altLang="zh-CN" dirty="0">
              <a:solidFill>
                <a:srgbClr val="0000FF"/>
              </a:solidFill>
              <a:latin typeface="楷体" panose="02010609060101010101" pitchFamily="49" charset="-122"/>
              <a:ea typeface="楷体" panose="02010609060101010101" pitchFamily="49" charset="-122"/>
            </a:endParaRPr>
          </a:p>
          <a:p>
            <a:pPr marL="0" lvl="1" algn="l">
              <a:spcBef>
                <a:spcPts val="1800"/>
              </a:spcBef>
              <a:spcAft>
                <a:spcPts val="600"/>
              </a:spcAft>
              <a:buClr>
                <a:schemeClr val="hlink"/>
              </a:buClr>
            </a:pPr>
            <a:r>
              <a:rPr lang="zh-CN" altLang="en-US" sz="3200" dirty="0">
                <a:solidFill>
                  <a:schemeClr val="bg2"/>
                </a:solidFill>
                <a:latin typeface="楷体" panose="02010609060101010101" pitchFamily="49" charset="-122"/>
                <a:ea typeface="楷体" panose="02010609060101010101" pitchFamily="49" charset="-122"/>
              </a:rPr>
              <a:t>提供计划编制和考核的规范、模板和标准，是计划制定的基础。</a:t>
            </a:r>
          </a:p>
        </p:txBody>
      </p:sp>
      <p:sp>
        <p:nvSpPr>
          <p:cNvPr id="31749" name="Rectangle 5"/>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3.3 </a:t>
            </a:r>
            <a:r>
              <a:rPr kumimoji="0" lang="en-US" altLang="en-US" sz="3000" dirty="0" err="1">
                <a:latin typeface="楷体" panose="02010609060101010101" pitchFamily="49" charset="-122"/>
                <a:ea typeface="楷体" panose="02010609060101010101" pitchFamily="49" charset="-122"/>
              </a:rPr>
              <a:t>项目管理计划</a:t>
            </a:r>
            <a:endParaRPr kumimoji="0" lang="en-US" altLang="en-US" sz="3000" dirty="0">
              <a:latin typeface="楷体" panose="02010609060101010101" pitchFamily="49" charset="-122"/>
              <a:ea typeface="楷体" panose="02010609060101010101" pitchFamily="49" charset="-122"/>
            </a:endParaRPr>
          </a:p>
        </p:txBody>
      </p:sp>
      <p:sp>
        <p:nvSpPr>
          <p:cNvPr id="31750" name="Rectangle 6"/>
          <p:cNvSpPr>
            <a:spLocks noChangeArrowheads="1"/>
          </p:cNvSpPr>
          <p:nvPr/>
        </p:nvSpPr>
        <p:spPr bwMode="auto">
          <a:xfrm>
            <a:off x="323850" y="1341438"/>
            <a:ext cx="4198938" cy="519112"/>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3.3.2 </a:t>
            </a:r>
            <a:r>
              <a:rPr kumimoji="0" lang="en-US" altLang="en-US" dirty="0" err="1">
                <a:solidFill>
                  <a:srgbClr val="FF0000"/>
                </a:solidFill>
                <a:latin typeface="楷体" panose="02010609060101010101" pitchFamily="49" charset="-122"/>
                <a:ea typeface="楷体" panose="02010609060101010101" pitchFamily="49" charset="-122"/>
              </a:rPr>
              <a:t>项目计划的制定方法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74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9"/>
          <p:cNvSpPr>
            <a:spLocks noGrp="1" noChangeArrowheads="1"/>
          </p:cNvSpPr>
          <p:nvPr>
            <p:ph type="sldNum" sz="quarter" idx="10"/>
          </p:nvPr>
        </p:nvSpPr>
        <p:spPr>
          <a:noFill/>
        </p:spPr>
        <p:txBody>
          <a:bodyPr/>
          <a:lstStyle/>
          <a:p>
            <a:r>
              <a:rPr lang="zh-CN" altLang="en-GB" dirty="0"/>
              <a:t>  </a:t>
            </a:r>
            <a:fld id="{643E169C-2E77-4E0B-9EC8-930535306A73}" type="slidenum">
              <a:rPr lang="zh-CN" altLang="en-GB" smtClean="0"/>
              <a:t>37</a:t>
            </a:fld>
            <a:endParaRPr lang="en-US" altLang="zh-CN" dirty="0"/>
          </a:p>
        </p:txBody>
      </p:sp>
      <p:sp>
        <p:nvSpPr>
          <p:cNvPr id="32771" name="Text Box 3"/>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lgn="r">
              <a:spcBef>
                <a:spcPct val="50000"/>
              </a:spcBef>
            </a:pPr>
            <a:r>
              <a:rPr lang="en-US" altLang="zh-CN" sz="2400">
                <a:solidFill>
                  <a:schemeClr val="bg2"/>
                </a:solidFill>
              </a:rPr>
              <a:t>P.77</a:t>
            </a:r>
          </a:p>
        </p:txBody>
      </p:sp>
      <p:pic>
        <p:nvPicPr>
          <p:cNvPr id="32772" name="Picture 5" descr="图3-4    项目计划的实现过程"/>
          <p:cNvPicPr>
            <a:picLocks noChangeAspect="1" noChangeArrowheads="1"/>
          </p:cNvPicPr>
          <p:nvPr/>
        </p:nvPicPr>
        <p:blipFill>
          <a:blip r:embed="rId3" cstate="print"/>
          <a:srcRect/>
          <a:stretch>
            <a:fillRect/>
          </a:stretch>
        </p:blipFill>
        <p:spPr bwMode="auto">
          <a:xfrm>
            <a:off x="539750" y="2133600"/>
            <a:ext cx="8064500" cy="4103688"/>
          </a:xfrm>
          <a:prstGeom prst="rect">
            <a:avLst/>
          </a:prstGeom>
          <a:noFill/>
          <a:ln w="9525">
            <a:noFill/>
            <a:miter lim="800000"/>
            <a:headEnd/>
            <a:tailEnd/>
          </a:ln>
        </p:spPr>
      </p:pic>
      <p:sp>
        <p:nvSpPr>
          <p:cNvPr id="32773" name="Rectangle 7"/>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3.3 </a:t>
            </a:r>
            <a:r>
              <a:rPr kumimoji="0" lang="en-US" altLang="en-US" sz="3000" dirty="0" err="1">
                <a:latin typeface="楷体" panose="02010609060101010101" pitchFamily="49" charset="-122"/>
                <a:ea typeface="楷体" panose="02010609060101010101" pitchFamily="49" charset="-122"/>
              </a:rPr>
              <a:t>项目管理计划</a:t>
            </a:r>
            <a:endParaRPr kumimoji="0" lang="en-US" altLang="en-US" sz="3000" dirty="0">
              <a:latin typeface="楷体" panose="02010609060101010101" pitchFamily="49" charset="-122"/>
              <a:ea typeface="楷体" panose="02010609060101010101" pitchFamily="49" charset="-122"/>
            </a:endParaRPr>
          </a:p>
        </p:txBody>
      </p:sp>
      <p:sp>
        <p:nvSpPr>
          <p:cNvPr id="32774" name="Rectangle 8"/>
          <p:cNvSpPr>
            <a:spLocks noChangeArrowheads="1"/>
          </p:cNvSpPr>
          <p:nvPr/>
        </p:nvSpPr>
        <p:spPr bwMode="auto">
          <a:xfrm>
            <a:off x="323850" y="1341438"/>
            <a:ext cx="4238661" cy="523220"/>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3.3.3 </a:t>
            </a:r>
            <a:r>
              <a:rPr kumimoji="0" lang="en-US" altLang="en-US" dirty="0" err="1">
                <a:solidFill>
                  <a:srgbClr val="FF0000"/>
                </a:solidFill>
                <a:latin typeface="楷体" panose="02010609060101010101" pitchFamily="49" charset="-122"/>
                <a:ea typeface="楷体" panose="02010609060101010101" pitchFamily="49" charset="-122"/>
              </a:rPr>
              <a:t>项目计划的</a:t>
            </a:r>
            <a:r>
              <a:rPr kumimoji="0" lang="zh-CN" altLang="en-US" dirty="0">
                <a:solidFill>
                  <a:srgbClr val="FF0000"/>
                </a:solidFill>
                <a:latin typeface="楷体" panose="02010609060101010101" pitchFamily="49" charset="-122"/>
                <a:ea typeface="楷体" panose="02010609060101010101" pitchFamily="49" charset="-122"/>
              </a:rPr>
              <a:t>制定</a:t>
            </a:r>
            <a:r>
              <a:rPr kumimoji="0" lang="en-US" altLang="en-US" dirty="0" err="1">
                <a:solidFill>
                  <a:srgbClr val="FF0000"/>
                </a:solidFill>
                <a:latin typeface="楷体" panose="02010609060101010101" pitchFamily="49" charset="-122"/>
                <a:ea typeface="楷体" panose="02010609060101010101" pitchFamily="49" charset="-122"/>
              </a:rPr>
              <a:t>过程</a:t>
            </a:r>
          </a:p>
        </p:txBody>
      </p:sp>
      <p:sp>
        <p:nvSpPr>
          <p:cNvPr id="898057" name="Text Box 9"/>
          <p:cNvSpPr txBox="1">
            <a:spLocks noChangeArrowheads="1"/>
          </p:cNvSpPr>
          <p:nvPr/>
        </p:nvSpPr>
        <p:spPr bwMode="auto">
          <a:xfrm>
            <a:off x="1981200" y="6524625"/>
            <a:ext cx="4895850" cy="337185"/>
          </a:xfrm>
          <a:prstGeom prst="rect">
            <a:avLst/>
          </a:prstGeom>
          <a:noFill/>
          <a:ln w="50800">
            <a:noFill/>
            <a:miter lim="800000"/>
          </a:ln>
        </p:spPr>
        <p:txBody>
          <a:bodyPr>
            <a:spAutoFit/>
          </a:bodyPr>
          <a:lstStyle/>
          <a:p>
            <a:pPr>
              <a:spcBef>
                <a:spcPct val="50000"/>
              </a:spcBef>
            </a:pPr>
            <a:r>
              <a:rPr lang="zh-CN" altLang="en-US" sz="1600">
                <a:solidFill>
                  <a:srgbClr val="FF0000"/>
                </a:solidFill>
                <a:latin typeface="楷体" panose="02010609060101010101" pitchFamily="49" charset="-122"/>
                <a:ea typeface="楷体" panose="02010609060101010101" pitchFamily="49" charset="-122"/>
              </a:rPr>
              <a:t>图</a:t>
            </a:r>
            <a:r>
              <a:rPr lang="zh-CN" altLang="en-US" sz="1600">
                <a:solidFill>
                  <a:srgbClr val="FF0000"/>
                </a:solidFill>
                <a:cs typeface="Times New Roman" panose="02020603050405020304" pitchFamily="18" charset="0"/>
              </a:rPr>
              <a:t>3-</a:t>
            </a:r>
            <a:r>
              <a:rPr lang="en-GB" altLang="zh-CN" sz="1600">
                <a:solidFill>
                  <a:srgbClr val="FF0000"/>
                </a:solidFill>
                <a:cs typeface="Times New Roman" panose="02020603050405020304" pitchFamily="18" charset="0"/>
              </a:rPr>
              <a:t>4 </a:t>
            </a:r>
            <a:r>
              <a:rPr lang="zh-CN" altLang="en-US" sz="1600">
                <a:solidFill>
                  <a:srgbClr val="FF0000"/>
                </a:solidFill>
                <a:latin typeface="楷体" panose="02010609060101010101" pitchFamily="49" charset="-122"/>
                <a:ea typeface="楷体" panose="02010609060101010101" pitchFamily="49" charset="-122"/>
              </a:rPr>
              <a:t>项目计划的实现过程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980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805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9"/>
          <p:cNvSpPr>
            <a:spLocks noGrp="1" noChangeArrowheads="1"/>
          </p:cNvSpPr>
          <p:nvPr>
            <p:ph type="sldNum" sz="quarter" idx="10"/>
          </p:nvPr>
        </p:nvSpPr>
        <p:spPr>
          <a:noFill/>
        </p:spPr>
        <p:txBody>
          <a:bodyPr/>
          <a:lstStyle/>
          <a:p>
            <a:r>
              <a:rPr lang="zh-CN" altLang="en-GB" dirty="0"/>
              <a:t>  </a:t>
            </a:r>
            <a:fld id="{E147C114-12FE-46C6-B740-C495E65A3831}" type="slidenum">
              <a:rPr lang="zh-CN" altLang="en-GB" smtClean="0"/>
              <a:t>38</a:t>
            </a:fld>
            <a:endParaRPr lang="en-US" altLang="zh-CN" dirty="0"/>
          </a:p>
        </p:txBody>
      </p:sp>
      <p:sp>
        <p:nvSpPr>
          <p:cNvPr id="31747" name="Text Box 3"/>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lgn="r">
              <a:spcBef>
                <a:spcPct val="50000"/>
              </a:spcBef>
            </a:pPr>
            <a:r>
              <a:rPr lang="en-US" altLang="zh-CN" sz="2400">
                <a:solidFill>
                  <a:schemeClr val="bg2"/>
                </a:solidFill>
              </a:rPr>
              <a:t>P.78</a:t>
            </a:r>
          </a:p>
        </p:txBody>
      </p:sp>
      <p:sp>
        <p:nvSpPr>
          <p:cNvPr id="31748" name="Text Box 4"/>
          <p:cNvSpPr txBox="1">
            <a:spLocks noChangeArrowheads="1"/>
          </p:cNvSpPr>
          <p:nvPr/>
        </p:nvSpPr>
        <p:spPr bwMode="auto">
          <a:xfrm>
            <a:off x="179388" y="1916113"/>
            <a:ext cx="8678892" cy="4584721"/>
          </a:xfrm>
          <a:prstGeom prst="rect">
            <a:avLst/>
          </a:prstGeom>
          <a:noFill/>
          <a:ln w="9525">
            <a:noFill/>
            <a:miter lim="800000"/>
          </a:ln>
        </p:spPr>
        <p:txBody>
          <a:bodyPr tIns="0" bIns="0"/>
          <a:lstStyle/>
          <a:p>
            <a:pPr algn="l">
              <a:spcBef>
                <a:spcPts val="1200"/>
              </a:spcBef>
              <a:spcAft>
                <a:spcPts val="600"/>
              </a:spcAft>
            </a:pPr>
            <a:r>
              <a:rPr lang="zh-CN" altLang="en-US" dirty="0">
                <a:solidFill>
                  <a:schemeClr val="bg2"/>
                </a:solidFill>
                <a:latin typeface="楷体" panose="02010609060101010101" pitchFamily="49" charset="-122"/>
                <a:ea typeface="楷体" panose="02010609060101010101" pitchFamily="49" charset="-122"/>
              </a:rPr>
              <a:t>好的计划是项目成功的一半，而另一半在于强有力地实施与监控计划。</a:t>
            </a:r>
            <a:endParaRPr lang="en-US" altLang="zh-CN" dirty="0">
              <a:solidFill>
                <a:schemeClr val="bg2"/>
              </a:solidFill>
              <a:latin typeface="楷体" panose="02010609060101010101" pitchFamily="49" charset="-122"/>
              <a:ea typeface="楷体" panose="02010609060101010101" pitchFamily="49" charset="-122"/>
            </a:endParaRPr>
          </a:p>
          <a:p>
            <a:pPr marL="457200" indent="-457200" algn="l">
              <a:spcBef>
                <a:spcPts val="1200"/>
              </a:spcBef>
              <a:spcAft>
                <a:spcPts val="600"/>
              </a:spcAft>
              <a:buFont typeface="Wingdings" panose="05000000000000000000" charset="0"/>
              <a:buChar char="ü"/>
            </a:pPr>
            <a:r>
              <a:rPr lang="zh-CN" altLang="en-US" dirty="0">
                <a:solidFill>
                  <a:srgbClr val="FF0000"/>
                </a:solidFill>
                <a:latin typeface="楷体" panose="02010609060101010101" pitchFamily="49" charset="-122"/>
                <a:ea typeface="楷体" panose="02010609060101010101" pitchFamily="49" charset="-122"/>
              </a:rPr>
              <a:t>没有好的计划就不可能有好的结果</a:t>
            </a:r>
          </a:p>
          <a:p>
            <a:pPr marL="457200" indent="-457200" algn="l">
              <a:spcBef>
                <a:spcPts val="1200"/>
              </a:spcBef>
              <a:spcAft>
                <a:spcPts val="600"/>
              </a:spcAft>
              <a:buFont typeface="Wingdings" panose="05000000000000000000" charset="0"/>
              <a:buChar char="ü"/>
            </a:pPr>
            <a:r>
              <a:rPr lang="zh-CN" altLang="en-US" dirty="0">
                <a:solidFill>
                  <a:srgbClr val="FF0000"/>
                </a:solidFill>
                <a:latin typeface="楷体" panose="02010609060101010101" pitchFamily="49" charset="-122"/>
                <a:ea typeface="楷体" panose="02010609060101010101" pitchFamily="49" charset="-122"/>
              </a:rPr>
              <a:t>有好的计划，不加强控制和监督也很难得到满意的结果。</a:t>
            </a:r>
          </a:p>
          <a:p>
            <a:pPr algn="l">
              <a:spcBef>
                <a:spcPts val="1200"/>
              </a:spcBef>
              <a:spcAft>
                <a:spcPts val="600"/>
              </a:spcAft>
            </a:pPr>
            <a:r>
              <a:rPr lang="zh-CN" altLang="en-US" dirty="0">
                <a:solidFill>
                  <a:schemeClr val="bg2"/>
                </a:solidFill>
                <a:latin typeface="楷体" panose="02010609060101010101" pitchFamily="49" charset="-122"/>
                <a:ea typeface="楷体" panose="02010609060101010101" pitchFamily="49" charset="-122"/>
              </a:rPr>
              <a:t>项目计划与项目执行是相互渗透的，改进项目计划制定和实施之间协调工作的一个简单而又适用的基本原则是：</a:t>
            </a:r>
            <a:r>
              <a:rPr lang="zh-CN" altLang="en-US" dirty="0">
                <a:solidFill>
                  <a:srgbClr val="0000FF"/>
                </a:solidFill>
                <a:latin typeface="楷体" panose="02010609060101010101" pitchFamily="49" charset="-122"/>
                <a:ea typeface="楷体" panose="02010609060101010101" pitchFamily="49" charset="-122"/>
              </a:rPr>
              <a:t>“谁计划，谁实施，所有人都要按计划办事”。</a:t>
            </a:r>
          </a:p>
        </p:txBody>
      </p:sp>
      <p:sp>
        <p:nvSpPr>
          <p:cNvPr id="31749" name="Rectangle 5"/>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3.3 </a:t>
            </a:r>
            <a:r>
              <a:rPr kumimoji="0" lang="en-US" altLang="en-US" sz="3000" dirty="0" err="1">
                <a:latin typeface="楷体" panose="02010609060101010101" pitchFamily="49" charset="-122"/>
                <a:ea typeface="楷体" panose="02010609060101010101" pitchFamily="49" charset="-122"/>
              </a:rPr>
              <a:t>项目管理计划</a:t>
            </a:r>
            <a:endParaRPr kumimoji="0" lang="en-US" altLang="en-US" sz="3000" dirty="0">
              <a:latin typeface="楷体" panose="02010609060101010101" pitchFamily="49" charset="-122"/>
              <a:ea typeface="楷体" panose="02010609060101010101" pitchFamily="49" charset="-122"/>
            </a:endParaRPr>
          </a:p>
        </p:txBody>
      </p:sp>
      <p:sp>
        <p:nvSpPr>
          <p:cNvPr id="31750" name="Rectangle 6"/>
          <p:cNvSpPr>
            <a:spLocks noChangeArrowheads="1"/>
          </p:cNvSpPr>
          <p:nvPr/>
        </p:nvSpPr>
        <p:spPr bwMode="auto">
          <a:xfrm>
            <a:off x="323850" y="1341438"/>
            <a:ext cx="3877985" cy="523220"/>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3.3.4 </a:t>
            </a:r>
            <a:r>
              <a:rPr kumimoji="0" lang="zh-CN" altLang="en-US" dirty="0">
                <a:solidFill>
                  <a:srgbClr val="FF0000"/>
                </a:solidFill>
                <a:latin typeface="楷体" panose="02010609060101010101" pitchFamily="49" charset="-122"/>
                <a:ea typeface="楷体" panose="02010609060101010101" pitchFamily="49" charset="-122"/>
              </a:rPr>
              <a:t>实施</a:t>
            </a:r>
            <a:r>
              <a:rPr kumimoji="0" lang="en-US" altLang="en-US" dirty="0" err="1">
                <a:solidFill>
                  <a:srgbClr val="FF0000"/>
                </a:solidFill>
                <a:latin typeface="楷体" panose="02010609060101010101" pitchFamily="49" charset="-122"/>
                <a:ea typeface="楷体" panose="02010609060101010101" pitchFamily="49" charset="-122"/>
              </a:rPr>
              <a:t>项目</a:t>
            </a:r>
            <a:r>
              <a:rPr kumimoji="0" lang="zh-CN" altLang="en-US" dirty="0">
                <a:solidFill>
                  <a:srgbClr val="FF0000"/>
                </a:solidFill>
                <a:latin typeface="楷体" panose="02010609060101010101" pitchFamily="49" charset="-122"/>
                <a:ea typeface="楷体" panose="02010609060101010101" pitchFamily="49" charset="-122"/>
              </a:rPr>
              <a:t>管理</a:t>
            </a:r>
            <a:r>
              <a:rPr kumimoji="0" lang="en-US" altLang="en-US" dirty="0" err="1">
                <a:solidFill>
                  <a:srgbClr val="FF0000"/>
                </a:solidFill>
                <a:latin typeface="楷体" panose="02010609060101010101" pitchFamily="49" charset="-122"/>
                <a:ea typeface="楷体" panose="02010609060101010101" pitchFamily="49" charset="-122"/>
              </a:rPr>
              <a:t>计划</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9"/>
          <p:cNvSpPr>
            <a:spLocks noGrp="1" noChangeArrowheads="1"/>
          </p:cNvSpPr>
          <p:nvPr>
            <p:ph type="sldNum" sz="quarter" idx="10"/>
          </p:nvPr>
        </p:nvSpPr>
        <p:spPr>
          <a:noFill/>
        </p:spPr>
        <p:txBody>
          <a:bodyPr/>
          <a:lstStyle/>
          <a:p>
            <a:r>
              <a:rPr lang="zh-CN" altLang="en-GB" dirty="0"/>
              <a:t>  </a:t>
            </a:r>
            <a:fld id="{E147C114-12FE-46C6-B740-C495E65A3831}" type="slidenum">
              <a:rPr lang="zh-CN" altLang="en-GB" smtClean="0"/>
              <a:t>39</a:t>
            </a:fld>
            <a:endParaRPr lang="en-US" altLang="zh-CN" dirty="0"/>
          </a:p>
        </p:txBody>
      </p:sp>
      <p:sp>
        <p:nvSpPr>
          <p:cNvPr id="31747" name="Text Box 3"/>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lgn="r">
              <a:spcBef>
                <a:spcPct val="50000"/>
              </a:spcBef>
            </a:pPr>
            <a:r>
              <a:rPr lang="en-US" altLang="zh-CN" sz="2400">
                <a:solidFill>
                  <a:schemeClr val="bg2"/>
                </a:solidFill>
              </a:rPr>
              <a:t>P.78</a:t>
            </a:r>
          </a:p>
        </p:txBody>
      </p:sp>
      <p:sp>
        <p:nvSpPr>
          <p:cNvPr id="31748" name="Text Box 4"/>
          <p:cNvSpPr txBox="1">
            <a:spLocks noChangeArrowheads="1"/>
          </p:cNvSpPr>
          <p:nvPr/>
        </p:nvSpPr>
        <p:spPr bwMode="auto">
          <a:xfrm>
            <a:off x="179388" y="1916113"/>
            <a:ext cx="8678892" cy="4441845"/>
          </a:xfrm>
          <a:prstGeom prst="rect">
            <a:avLst/>
          </a:prstGeom>
          <a:noFill/>
          <a:ln w="9525">
            <a:noFill/>
            <a:miter lim="800000"/>
          </a:ln>
        </p:spPr>
        <p:txBody>
          <a:bodyPr tIns="0" bIns="0"/>
          <a:lstStyle/>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项目经理必须起到表率作用，体现制定一个好的项目计划并在执行阶段很好地遵循计划的重要性和必要性。</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如果项目经理能够认真、严格的执行计划的话，项目组的成员也就会照着计划来做，否则项目管理计划就很难达到预期的效果。</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rgbClr val="FF0000"/>
                </a:solidFill>
                <a:latin typeface="楷体" panose="02010609060101010101" pitchFamily="49" charset="-122"/>
                <a:ea typeface="楷体" panose="02010609060101010101" pitchFamily="49" charset="-122"/>
              </a:rPr>
              <a:t>以计划为准绳的积极的引导，</a:t>
            </a:r>
            <a:r>
              <a:rPr lang="zh-CN" altLang="en-US" dirty="0">
                <a:solidFill>
                  <a:schemeClr val="bg2"/>
                </a:solidFill>
                <a:latin typeface="楷体" panose="02010609060101010101" pitchFamily="49" charset="-122"/>
                <a:ea typeface="楷体" panose="02010609060101010101" pitchFamily="49" charset="-122"/>
              </a:rPr>
              <a:t>始终是</a:t>
            </a:r>
            <a:r>
              <a:rPr lang="zh-CN" altLang="en-US" dirty="0">
                <a:solidFill>
                  <a:srgbClr val="FF0000"/>
                </a:solidFill>
                <a:latin typeface="楷体" panose="02010609060101010101" pitchFamily="49" charset="-122"/>
                <a:ea typeface="楷体" panose="02010609060101010101" pitchFamily="49" charset="-122"/>
              </a:rPr>
              <a:t>项目成功的关键要素。</a:t>
            </a:r>
          </a:p>
          <a:p>
            <a:pPr algn="l">
              <a:spcBef>
                <a:spcPts val="1800"/>
              </a:spcBef>
              <a:spcAft>
                <a:spcPts val="600"/>
              </a:spcAft>
            </a:pPr>
            <a:endParaRPr lang="zh-CN" altLang="en-US" sz="3600" dirty="0">
              <a:solidFill>
                <a:srgbClr val="FF0000"/>
              </a:solidFill>
              <a:latin typeface="楷体" panose="02010609060101010101" pitchFamily="49" charset="-122"/>
              <a:ea typeface="楷体" panose="02010609060101010101" pitchFamily="49" charset="-122"/>
            </a:endParaRPr>
          </a:p>
        </p:txBody>
      </p:sp>
      <p:sp>
        <p:nvSpPr>
          <p:cNvPr id="31749" name="Rectangle 5"/>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3.3 </a:t>
            </a:r>
            <a:r>
              <a:rPr kumimoji="0" lang="en-US" altLang="en-US" sz="3000" dirty="0" err="1">
                <a:latin typeface="楷体" panose="02010609060101010101" pitchFamily="49" charset="-122"/>
                <a:ea typeface="楷体" panose="02010609060101010101" pitchFamily="49" charset="-122"/>
              </a:rPr>
              <a:t>项目管理计划</a:t>
            </a:r>
            <a:endParaRPr kumimoji="0" lang="en-US" altLang="en-US" sz="3000" dirty="0">
              <a:latin typeface="楷体" panose="02010609060101010101" pitchFamily="49" charset="-122"/>
              <a:ea typeface="楷体" panose="02010609060101010101" pitchFamily="49" charset="-122"/>
            </a:endParaRPr>
          </a:p>
        </p:txBody>
      </p:sp>
      <p:sp>
        <p:nvSpPr>
          <p:cNvPr id="31750" name="Rectangle 6"/>
          <p:cNvSpPr>
            <a:spLocks noChangeArrowheads="1"/>
          </p:cNvSpPr>
          <p:nvPr/>
        </p:nvSpPr>
        <p:spPr bwMode="auto">
          <a:xfrm>
            <a:off x="323850" y="1341438"/>
            <a:ext cx="3877985" cy="523220"/>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3.3.4 </a:t>
            </a:r>
            <a:r>
              <a:rPr kumimoji="0" lang="zh-CN" altLang="en-US" dirty="0">
                <a:solidFill>
                  <a:srgbClr val="FF0000"/>
                </a:solidFill>
                <a:latin typeface="楷体" panose="02010609060101010101" pitchFamily="49" charset="-122"/>
                <a:ea typeface="楷体" panose="02010609060101010101" pitchFamily="49" charset="-122"/>
              </a:rPr>
              <a:t>实施</a:t>
            </a:r>
            <a:r>
              <a:rPr kumimoji="0" lang="en-US" altLang="en-US" dirty="0" err="1">
                <a:solidFill>
                  <a:srgbClr val="FF0000"/>
                </a:solidFill>
                <a:latin typeface="楷体" panose="02010609060101010101" pitchFamily="49" charset="-122"/>
                <a:ea typeface="楷体" panose="02010609060101010101" pitchFamily="49" charset="-122"/>
              </a:rPr>
              <a:t>项目</a:t>
            </a:r>
            <a:r>
              <a:rPr kumimoji="0" lang="zh-CN" altLang="en-US" dirty="0">
                <a:solidFill>
                  <a:srgbClr val="FF0000"/>
                </a:solidFill>
                <a:latin typeface="楷体" panose="02010609060101010101" pitchFamily="49" charset="-122"/>
                <a:ea typeface="楷体" panose="02010609060101010101" pitchFamily="49" charset="-122"/>
              </a:rPr>
              <a:t>管理</a:t>
            </a:r>
            <a:r>
              <a:rPr kumimoji="0" lang="en-US" altLang="en-US" dirty="0" err="1">
                <a:solidFill>
                  <a:srgbClr val="FF0000"/>
                </a:solidFill>
                <a:latin typeface="楷体" panose="02010609060101010101" pitchFamily="49" charset="-122"/>
                <a:ea typeface="楷体" panose="02010609060101010101" pitchFamily="49" charset="-122"/>
              </a:rPr>
              <a:t>计划</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a:t>  </a:t>
            </a:r>
            <a:fld id="{B6D6A615-618E-4DBF-9BE6-09340DC0AD1F}" type="slidenum">
              <a:rPr lang="zh-CN" altLang="en-GB" smtClean="0"/>
              <a:t>40</a:t>
            </a:fld>
            <a:endParaRPr lang="en-US" altLang="zh-CN"/>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华文新魏" panose="02010800040101010101" pitchFamily="2" charset="-122"/>
                <a:ea typeface="华文新魏" panose="02010800040101010101" pitchFamily="2" charset="-122"/>
              </a:rPr>
              <a:t>提   纲</a:t>
            </a:r>
            <a:endParaRPr lang="en-US" altLang="zh-CN" sz="4800" b="1">
              <a:latin typeface="华文新魏" panose="02010800040101010101" pitchFamily="2" charset="-122"/>
              <a:ea typeface="华文新魏" panose="02010800040101010101" pitchFamily="2" charset="-122"/>
            </a:endParaRPr>
          </a:p>
        </p:txBody>
      </p:sp>
      <p:sp>
        <p:nvSpPr>
          <p:cNvPr id="7" name="TextBox 6"/>
          <p:cNvSpPr txBox="1">
            <a:spLocks noChangeArrowheads="1"/>
          </p:cNvSpPr>
          <p:nvPr/>
        </p:nvSpPr>
        <p:spPr bwMode="auto">
          <a:xfrm>
            <a:off x="214313" y="1428750"/>
            <a:ext cx="8501062" cy="387798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6000" dirty="0">
                <a:solidFill>
                  <a:srgbClr val="0000FF"/>
                </a:solidFill>
                <a:latin typeface="楷体" panose="02010609060101010101" pitchFamily="49" charset="-122"/>
                <a:ea typeface="楷体" panose="02010609060101010101" pitchFamily="49" charset="-122"/>
              </a:rPr>
              <a:t>整合项目资源概述</a:t>
            </a:r>
            <a:endParaRPr lang="en-US" altLang="zh-CN" sz="6000"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6000" dirty="0">
                <a:solidFill>
                  <a:srgbClr val="0000FF"/>
                </a:solidFill>
                <a:latin typeface="楷体" panose="02010609060101010101" pitchFamily="49" charset="-122"/>
                <a:ea typeface="楷体" panose="02010609060101010101" pitchFamily="49" charset="-122"/>
              </a:rPr>
              <a:t>项目启动</a:t>
            </a:r>
            <a:endParaRPr lang="en-US" altLang="zh-CN" sz="6000"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6000" dirty="0" err="1">
                <a:solidFill>
                  <a:srgbClr val="0000FF"/>
                </a:solidFill>
                <a:latin typeface="楷体" panose="02010609060101010101" pitchFamily="49" charset="-122"/>
                <a:ea typeface="楷体" panose="02010609060101010101" pitchFamily="49" charset="-122"/>
              </a:rPr>
              <a:t>项目管理计划</a:t>
            </a:r>
            <a:r>
              <a:rPr lang="zh-CN" altLang="en-US" sz="6000" dirty="0">
                <a:solidFill>
                  <a:srgbClr val="0000FF"/>
                </a:solidFill>
                <a:latin typeface="楷体" panose="02010609060101010101" pitchFamily="49" charset="-122"/>
                <a:ea typeface="楷体" panose="02010609060101010101" pitchFamily="49" charset="-122"/>
              </a:rPr>
              <a:t>编制</a:t>
            </a:r>
            <a:endParaRPr lang="en-US" altLang="zh-CN" sz="6000"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6000" dirty="0" err="1">
                <a:solidFill>
                  <a:srgbClr val="FF0000"/>
                </a:solidFill>
                <a:latin typeface="楷体" panose="02010609060101010101" pitchFamily="49" charset="-122"/>
                <a:ea typeface="楷体" panose="02010609060101010101" pitchFamily="49" charset="-122"/>
              </a:rPr>
              <a:t>整体变更控制</a:t>
            </a:r>
            <a:r>
              <a:rPr lang="zh-CN" altLang="en-US" sz="6000" dirty="0">
                <a:solidFill>
                  <a:srgbClr val="FF0000"/>
                </a:solidFill>
                <a:latin typeface="楷体" panose="02010609060101010101" pitchFamily="49" charset="-122"/>
                <a:ea typeface="楷体" panose="02010609060101010101" pitchFamily="49" charset="-122"/>
              </a:rPr>
              <a:t>方法</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9"/>
          <p:cNvSpPr>
            <a:spLocks noGrp="1" noChangeArrowheads="1"/>
          </p:cNvSpPr>
          <p:nvPr>
            <p:ph type="sldNum" sz="quarter" idx="10"/>
          </p:nvPr>
        </p:nvSpPr>
        <p:spPr>
          <a:noFill/>
        </p:spPr>
        <p:txBody>
          <a:bodyPr/>
          <a:lstStyle/>
          <a:p>
            <a:r>
              <a:rPr lang="zh-CN" altLang="en-GB" dirty="0"/>
              <a:t>  </a:t>
            </a:r>
            <a:fld id="{C6950815-F0C1-4CDC-98C3-42D017A07697}" type="slidenum">
              <a:rPr lang="zh-CN" altLang="en-GB" smtClean="0"/>
              <a:t>41</a:t>
            </a:fld>
            <a:endParaRPr lang="en-US" altLang="zh-CN" dirty="0"/>
          </a:p>
        </p:txBody>
      </p:sp>
      <p:sp>
        <p:nvSpPr>
          <p:cNvPr id="3789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P.78</a:t>
            </a:r>
          </a:p>
        </p:txBody>
      </p:sp>
      <p:sp>
        <p:nvSpPr>
          <p:cNvPr id="37892" name="Text Box 4"/>
          <p:cNvSpPr txBox="1">
            <a:spLocks noChangeArrowheads="1"/>
          </p:cNvSpPr>
          <p:nvPr/>
        </p:nvSpPr>
        <p:spPr bwMode="auto">
          <a:xfrm>
            <a:off x="71406" y="1412875"/>
            <a:ext cx="8964612" cy="4824413"/>
          </a:xfrm>
          <a:prstGeom prst="rect">
            <a:avLst/>
          </a:prstGeom>
          <a:noFill/>
          <a:ln w="9525">
            <a:noFill/>
            <a:miter lim="800000"/>
          </a:ln>
        </p:spPr>
        <p:txBody>
          <a:bodyPr tIns="0" bIns="0"/>
          <a:lstStyle/>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整体变更控制是指在项目生命周期的整个过程中对变更进行识别、评价和管理，</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其主要目标是，</a:t>
            </a:r>
            <a:r>
              <a:rPr lang="zh-CN" altLang="en-US" dirty="0">
                <a:solidFill>
                  <a:schemeClr val="bg1"/>
                </a:solidFill>
                <a:latin typeface="楷体" panose="02010609060101010101" pitchFamily="49" charset="-122"/>
                <a:ea typeface="楷体" panose="02010609060101010101" pitchFamily="49" charset="-122"/>
              </a:rPr>
              <a:t>对影响变更的因素进行分析、引导和控制，使其朝着有利于项目的方向发展</a:t>
            </a:r>
            <a:r>
              <a:rPr lang="zh-CN" altLang="en-US" dirty="0">
                <a:solidFill>
                  <a:schemeClr val="bg2"/>
                </a:solidFill>
                <a:latin typeface="楷体" panose="02010609060101010101" pitchFamily="49" charset="-122"/>
                <a:ea typeface="楷体" panose="02010609060101010101" pitchFamily="49" charset="-122"/>
              </a:rPr>
              <a:t>；</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确定变更是否真的已经发生或不久就会发生；当变更发生时，对变更进行有效的控制和管理。</a:t>
            </a:r>
          </a:p>
          <a:p>
            <a:pPr algn="l">
              <a:spcBef>
                <a:spcPts val="600"/>
              </a:spcBef>
              <a:spcAft>
                <a:spcPts val="600"/>
              </a:spcAft>
            </a:pPr>
            <a:r>
              <a:rPr lang="zh-CN" altLang="en-US" dirty="0">
                <a:solidFill>
                  <a:srgbClr val="0000FF"/>
                </a:solidFill>
                <a:latin typeface="楷体" panose="02010609060101010101" pitchFamily="49" charset="-122"/>
                <a:ea typeface="楷体" panose="02010609060101010101" pitchFamily="49" charset="-122"/>
              </a:rPr>
              <a:t>所有的项目都存在一定的变更，如何实施整体变更控制项目管理的一个关键问题。</a:t>
            </a:r>
          </a:p>
        </p:txBody>
      </p:sp>
      <p:sp>
        <p:nvSpPr>
          <p:cNvPr id="37893" name="Rectangle 5"/>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3.4 </a:t>
            </a:r>
            <a:r>
              <a:rPr kumimoji="0" lang="en-US" altLang="en-US" sz="3000" dirty="0" err="1">
                <a:latin typeface="楷体" panose="02010609060101010101" pitchFamily="49" charset="-122"/>
                <a:ea typeface="楷体" panose="02010609060101010101" pitchFamily="49" charset="-122"/>
              </a:rPr>
              <a:t>整体变更控制</a:t>
            </a:r>
            <a:endParaRPr kumimoji="0" lang="en-US" altLang="en-US" sz="30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9"/>
          <p:cNvSpPr>
            <a:spLocks noGrp="1" noChangeArrowheads="1"/>
          </p:cNvSpPr>
          <p:nvPr>
            <p:ph type="sldNum" sz="quarter" idx="10"/>
          </p:nvPr>
        </p:nvSpPr>
        <p:spPr>
          <a:noFill/>
        </p:spPr>
        <p:txBody>
          <a:bodyPr/>
          <a:lstStyle/>
          <a:p>
            <a:r>
              <a:rPr lang="zh-CN" altLang="en-GB" dirty="0"/>
              <a:t>  </a:t>
            </a:r>
            <a:fld id="{C6950815-F0C1-4CDC-98C3-42D017A07697}" type="slidenum">
              <a:rPr lang="zh-CN" altLang="en-GB" smtClean="0"/>
              <a:t>42</a:t>
            </a:fld>
            <a:endParaRPr lang="en-US" altLang="zh-CN" dirty="0"/>
          </a:p>
        </p:txBody>
      </p:sp>
      <p:sp>
        <p:nvSpPr>
          <p:cNvPr id="3789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P.78</a:t>
            </a:r>
          </a:p>
        </p:txBody>
      </p:sp>
      <p:sp>
        <p:nvSpPr>
          <p:cNvPr id="37892" name="Text Box 4"/>
          <p:cNvSpPr txBox="1">
            <a:spLocks noChangeArrowheads="1"/>
          </p:cNvSpPr>
          <p:nvPr/>
        </p:nvSpPr>
        <p:spPr bwMode="auto">
          <a:xfrm>
            <a:off x="71406" y="1412875"/>
            <a:ext cx="8964612" cy="4824413"/>
          </a:xfrm>
          <a:prstGeom prst="rect">
            <a:avLst/>
          </a:prstGeom>
          <a:noFill/>
          <a:ln w="9525">
            <a:noFill/>
            <a:miter lim="800000"/>
          </a:ln>
        </p:spPr>
        <p:txBody>
          <a:bodyPr tIns="0" bIns="0"/>
          <a:lstStyle/>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特别是对软件项目来说，软件是一种纯知识产品，是一种</a:t>
            </a:r>
            <a:r>
              <a:rPr lang="zh-CN" altLang="en-US" dirty="0">
                <a:solidFill>
                  <a:schemeClr val="bg1"/>
                </a:solidFill>
                <a:latin typeface="楷体" panose="02010609060101010101" pitchFamily="49" charset="-122"/>
                <a:ea typeface="楷体" panose="02010609060101010101" pitchFamily="49" charset="-122"/>
              </a:rPr>
              <a:t>逻辑</a:t>
            </a:r>
            <a:r>
              <a:rPr lang="zh-CN" altLang="en-US" dirty="0">
                <a:solidFill>
                  <a:schemeClr val="bg2"/>
                </a:solidFill>
                <a:latin typeface="楷体" panose="02010609060101010101" pitchFamily="49" charset="-122"/>
                <a:ea typeface="楷体" panose="02010609060101010101" pitchFamily="49" charset="-122"/>
              </a:rPr>
              <a:t>的而不是物理的产品，</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其特殊性体现在</a:t>
            </a:r>
            <a:r>
              <a:rPr lang="zh-CN" altLang="en-US" dirty="0">
                <a:solidFill>
                  <a:schemeClr val="bg1"/>
                </a:solidFill>
                <a:latin typeface="楷体" panose="02010609060101010101" pitchFamily="49" charset="-122"/>
                <a:ea typeface="楷体" panose="02010609060101010101" pitchFamily="49" charset="-122"/>
              </a:rPr>
              <a:t>动态性、灵活性、不确定性、易变性、隐蔽性、不可重复性、预计性和度量性差</a:t>
            </a:r>
            <a:r>
              <a:rPr lang="zh-CN" altLang="en-US" dirty="0">
                <a:solidFill>
                  <a:schemeClr val="bg2"/>
                </a:solidFill>
                <a:latin typeface="楷体" panose="02010609060101010101" pitchFamily="49" charset="-122"/>
                <a:ea typeface="楷体" panose="02010609060101010101" pitchFamily="49" charset="-122"/>
              </a:rPr>
              <a:t>等方面。</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dirty="0">
                <a:solidFill>
                  <a:schemeClr val="bg2"/>
                </a:solidFill>
                <a:latin typeface="楷体" panose="02010609060101010101" pitchFamily="49" charset="-122"/>
                <a:ea typeface="楷体" panose="02010609060101010101" pitchFamily="49" charset="-122"/>
              </a:rPr>
              <a:t>正是软件项目及其产生产品的过程的这些特性，</a:t>
            </a:r>
            <a:r>
              <a:rPr lang="zh-CN" altLang="en-US" dirty="0">
                <a:solidFill>
                  <a:srgbClr val="0000FF"/>
                </a:solidFill>
                <a:latin typeface="楷体" panose="02010609060101010101" pitchFamily="49" charset="-122"/>
                <a:ea typeface="楷体" panose="02010609060101010101" pitchFamily="49" charset="-122"/>
              </a:rPr>
              <a:t>使得软件项目管理的成败</a:t>
            </a:r>
            <a:r>
              <a:rPr lang="zh-CN" altLang="en-US" dirty="0">
                <a:solidFill>
                  <a:schemeClr val="bg2"/>
                </a:solidFill>
                <a:latin typeface="楷体" panose="02010609060101010101" pitchFamily="49" charset="-122"/>
                <a:ea typeface="楷体" panose="02010609060101010101" pitchFamily="49" charset="-122"/>
              </a:rPr>
              <a:t>在某种意义上而言，</a:t>
            </a:r>
            <a:r>
              <a:rPr lang="zh-CN" altLang="en-US" dirty="0">
                <a:solidFill>
                  <a:srgbClr val="0000FF"/>
                </a:solidFill>
                <a:latin typeface="楷体" panose="02010609060101010101" pitchFamily="49" charset="-122"/>
                <a:ea typeface="楷体" panose="02010609060101010101" pitchFamily="49" charset="-122"/>
              </a:rPr>
              <a:t>取决于整体变更控制的好坏。</a:t>
            </a:r>
          </a:p>
        </p:txBody>
      </p:sp>
      <p:sp>
        <p:nvSpPr>
          <p:cNvPr id="37893" name="Rectangle 5"/>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3.4 </a:t>
            </a:r>
            <a:r>
              <a:rPr kumimoji="0" lang="en-US" altLang="en-US" sz="3000" dirty="0" err="1">
                <a:latin typeface="楷体" panose="02010609060101010101" pitchFamily="49" charset="-122"/>
                <a:ea typeface="楷体" panose="02010609060101010101" pitchFamily="49" charset="-122"/>
              </a:rPr>
              <a:t>整体变更控制</a:t>
            </a:r>
            <a:endParaRPr kumimoji="0" lang="en-US" altLang="en-US" sz="30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9"/>
          <p:cNvSpPr>
            <a:spLocks noGrp="1" noChangeArrowheads="1"/>
          </p:cNvSpPr>
          <p:nvPr>
            <p:ph type="sldNum" sz="quarter" idx="10"/>
          </p:nvPr>
        </p:nvSpPr>
        <p:spPr>
          <a:noFill/>
        </p:spPr>
        <p:txBody>
          <a:bodyPr/>
          <a:lstStyle/>
          <a:p>
            <a:r>
              <a:rPr lang="zh-CN" altLang="en-GB" dirty="0"/>
              <a:t>  </a:t>
            </a:r>
            <a:fld id="{C6950815-F0C1-4CDC-98C3-42D017A07697}" type="slidenum">
              <a:rPr lang="zh-CN" altLang="en-GB" smtClean="0"/>
              <a:t>43</a:t>
            </a:fld>
            <a:endParaRPr lang="en-US" altLang="zh-CN" dirty="0"/>
          </a:p>
        </p:txBody>
      </p:sp>
      <p:sp>
        <p:nvSpPr>
          <p:cNvPr id="3789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P.78</a:t>
            </a:r>
          </a:p>
        </p:txBody>
      </p:sp>
      <p:sp>
        <p:nvSpPr>
          <p:cNvPr id="37892" name="Text Box 4"/>
          <p:cNvSpPr txBox="1">
            <a:spLocks noChangeArrowheads="1"/>
          </p:cNvSpPr>
          <p:nvPr/>
        </p:nvSpPr>
        <p:spPr bwMode="auto">
          <a:xfrm>
            <a:off x="179388" y="1412875"/>
            <a:ext cx="8750330" cy="4516455"/>
          </a:xfrm>
          <a:prstGeom prst="rect">
            <a:avLst/>
          </a:prstGeom>
          <a:noFill/>
          <a:ln w="9525">
            <a:noFill/>
            <a:miter lim="800000"/>
          </a:ln>
        </p:spPr>
        <p:txBody>
          <a:bodyPr tIns="0" bIns="0"/>
          <a:lstStyle/>
          <a:p>
            <a:pPr algn="l">
              <a:spcBef>
                <a:spcPts val="1800"/>
              </a:spcBef>
              <a:spcAft>
                <a:spcPts val="600"/>
              </a:spcAft>
            </a:pPr>
            <a:r>
              <a:rPr lang="zh-CN" altLang="en-US" dirty="0">
                <a:solidFill>
                  <a:schemeClr val="bg2"/>
                </a:solidFill>
                <a:latin typeface="楷体" panose="02010609060101010101" pitchFamily="49" charset="-122"/>
                <a:ea typeface="楷体" panose="02010609060101010101" pitchFamily="49" charset="-122"/>
              </a:rPr>
              <a:t>变更请求在项目中经常发生，并以多种不同的形式出现。</a:t>
            </a:r>
            <a:r>
              <a:rPr lang="zh-CN" altLang="en-US" dirty="0">
                <a:solidFill>
                  <a:schemeClr val="bg1"/>
                </a:solidFill>
                <a:latin typeface="楷体" panose="02010609060101010101" pitchFamily="49" charset="-122"/>
                <a:ea typeface="楷体" panose="02010609060101010101" pitchFamily="49" charset="-122"/>
              </a:rPr>
              <a:t>变更是允许的</a:t>
            </a:r>
            <a:r>
              <a:rPr lang="zh-CN" altLang="en-US" dirty="0">
                <a:solidFill>
                  <a:schemeClr val="bg2"/>
                </a:solidFill>
                <a:latin typeface="楷体" panose="02010609060101010101" pitchFamily="49" charset="-122"/>
                <a:ea typeface="楷体" panose="02010609060101010101" pitchFamily="49" charset="-122"/>
              </a:rPr>
              <a:t>，但它应该</a:t>
            </a:r>
            <a:r>
              <a:rPr lang="zh-CN" altLang="en-US" dirty="0">
                <a:solidFill>
                  <a:schemeClr val="bg1"/>
                </a:solidFill>
                <a:latin typeface="楷体" panose="02010609060101010101" pitchFamily="49" charset="-122"/>
                <a:ea typeface="楷体" panose="02010609060101010101" pitchFamily="49" charset="-122"/>
              </a:rPr>
              <a:t>在可控的范围之内</a:t>
            </a:r>
            <a:r>
              <a:rPr lang="zh-CN" altLang="en-US" dirty="0">
                <a:solidFill>
                  <a:schemeClr val="bg2"/>
                </a:solidFill>
                <a:latin typeface="楷体" panose="02010609060101010101" pitchFamily="49" charset="-122"/>
                <a:ea typeface="楷体" panose="02010609060101010101" pitchFamily="49" charset="-122"/>
              </a:rPr>
              <a:t>。</a:t>
            </a:r>
            <a:endParaRPr lang="en-US" altLang="zh-CN" dirty="0">
              <a:solidFill>
                <a:schemeClr val="bg2"/>
              </a:solidFill>
              <a:latin typeface="楷体" panose="02010609060101010101" pitchFamily="49" charset="-122"/>
              <a:ea typeface="楷体" panose="02010609060101010101" pitchFamily="49" charset="-122"/>
            </a:endParaRPr>
          </a:p>
          <a:p>
            <a:pPr algn="l">
              <a:spcBef>
                <a:spcPts val="1800"/>
              </a:spcBef>
              <a:spcAft>
                <a:spcPts val="600"/>
              </a:spcAft>
            </a:pPr>
            <a:r>
              <a:rPr lang="en-US" dirty="0">
                <a:solidFill>
                  <a:srgbClr val="0000FF"/>
                </a:solidFill>
                <a:latin typeface="+mn-lt"/>
                <a:ea typeface="楷体" panose="02010609060101010101" pitchFamily="49" charset="-122"/>
              </a:rPr>
              <a:t>IT</a:t>
            </a:r>
            <a:r>
              <a:rPr lang="zh-CN" altLang="en-US" dirty="0">
                <a:solidFill>
                  <a:srgbClr val="0000FF"/>
                </a:solidFill>
                <a:latin typeface="楷体" panose="02010609060101010101" pitchFamily="49" charset="-122"/>
                <a:ea typeface="楷体" panose="02010609060101010101" pitchFamily="49" charset="-122"/>
              </a:rPr>
              <a:t>项目经理主要工作是对项目的整体变更进行控制，使项目朝着提高工作效率、产生经济效益、和有利于项目顺利进行，不断逼近目标的方向发展。</a:t>
            </a:r>
          </a:p>
          <a:p>
            <a:pPr algn="l">
              <a:spcBef>
                <a:spcPct val="40000"/>
              </a:spcBef>
              <a:buClr>
                <a:schemeClr val="hlink"/>
              </a:buClr>
            </a:pPr>
            <a:endParaRPr lang="zh-CN" altLang="en-US" dirty="0">
              <a:solidFill>
                <a:srgbClr val="0000FF"/>
              </a:solidFill>
              <a:latin typeface="楷体" panose="02010609060101010101" pitchFamily="49" charset="-122"/>
              <a:ea typeface="楷体" panose="02010609060101010101" pitchFamily="49" charset="-122"/>
            </a:endParaRPr>
          </a:p>
        </p:txBody>
      </p:sp>
      <p:sp>
        <p:nvSpPr>
          <p:cNvPr id="37893" name="Rectangle 5"/>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3.4 </a:t>
            </a:r>
            <a:r>
              <a:rPr kumimoji="0" lang="en-US" altLang="en-US" sz="3000" dirty="0" err="1">
                <a:latin typeface="楷体" panose="02010609060101010101" pitchFamily="49" charset="-122"/>
                <a:ea typeface="楷体" panose="02010609060101010101" pitchFamily="49" charset="-122"/>
              </a:rPr>
              <a:t>整体变更控制</a:t>
            </a:r>
            <a:endParaRPr kumimoji="0" lang="en-US" altLang="en-US" sz="30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9"/>
          <p:cNvSpPr>
            <a:spLocks noGrp="1" noChangeArrowheads="1"/>
          </p:cNvSpPr>
          <p:nvPr>
            <p:ph type="sldNum" sz="quarter" idx="10"/>
          </p:nvPr>
        </p:nvSpPr>
        <p:spPr>
          <a:noFill/>
        </p:spPr>
        <p:txBody>
          <a:bodyPr/>
          <a:lstStyle/>
          <a:p>
            <a:r>
              <a:rPr lang="zh-CN" altLang="en-GB" dirty="0"/>
              <a:t>  </a:t>
            </a:r>
            <a:fld id="{C6950815-F0C1-4CDC-98C3-42D017A07697}" type="slidenum">
              <a:rPr lang="zh-CN" altLang="en-GB" smtClean="0"/>
              <a:t>44</a:t>
            </a:fld>
            <a:endParaRPr lang="en-US" altLang="zh-CN" dirty="0"/>
          </a:p>
        </p:txBody>
      </p:sp>
      <p:sp>
        <p:nvSpPr>
          <p:cNvPr id="3789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P.79</a:t>
            </a:r>
          </a:p>
        </p:txBody>
      </p:sp>
      <p:sp>
        <p:nvSpPr>
          <p:cNvPr id="37893" name="Rectangle 5"/>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3.4 </a:t>
            </a:r>
            <a:r>
              <a:rPr kumimoji="0" lang="en-US" altLang="en-US" sz="3000" dirty="0" err="1">
                <a:latin typeface="楷体" panose="02010609060101010101" pitchFamily="49" charset="-122"/>
                <a:ea typeface="楷体" panose="02010609060101010101" pitchFamily="49" charset="-122"/>
              </a:rPr>
              <a:t>整体变更控制</a:t>
            </a:r>
            <a:endParaRPr kumimoji="0" lang="en-US" altLang="en-US" sz="3000" dirty="0">
              <a:latin typeface="楷体" panose="02010609060101010101" pitchFamily="49" charset="-122"/>
              <a:ea typeface="楷体" panose="02010609060101010101" pitchFamily="49" charset="-122"/>
            </a:endParaRPr>
          </a:p>
        </p:txBody>
      </p:sp>
      <p:sp>
        <p:nvSpPr>
          <p:cNvPr id="6" name="Rectangle 6"/>
          <p:cNvSpPr>
            <a:spLocks noChangeArrowheads="1"/>
          </p:cNvSpPr>
          <p:nvPr/>
        </p:nvSpPr>
        <p:spPr bwMode="auto">
          <a:xfrm>
            <a:off x="71406" y="1341438"/>
            <a:ext cx="5230919" cy="523220"/>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3.4.1</a:t>
            </a:r>
            <a:r>
              <a:rPr kumimoji="0" lang="zh-CN" altLang="en-US" dirty="0">
                <a:solidFill>
                  <a:srgbClr val="FF0000"/>
                </a:solidFill>
                <a:latin typeface="楷体" panose="02010609060101010101" pitchFamily="49" charset="-122"/>
                <a:ea typeface="楷体" panose="02010609060101010101" pitchFamily="49" charset="-122"/>
              </a:rPr>
              <a:t>整体变更控制的输入和输出</a:t>
            </a:r>
          </a:p>
        </p:txBody>
      </p:sp>
      <p:sp>
        <p:nvSpPr>
          <p:cNvPr id="9" name="Text Box 4"/>
          <p:cNvSpPr txBox="1">
            <a:spLocks noChangeArrowheads="1"/>
          </p:cNvSpPr>
          <p:nvPr/>
        </p:nvSpPr>
        <p:spPr bwMode="auto">
          <a:xfrm>
            <a:off x="142844" y="1857364"/>
            <a:ext cx="8750330" cy="4357717"/>
          </a:xfrm>
          <a:prstGeom prst="rect">
            <a:avLst/>
          </a:prstGeom>
          <a:noFill/>
          <a:ln w="9525">
            <a:noFill/>
            <a:miter lim="800000"/>
          </a:ln>
        </p:spPr>
        <p:txBody>
          <a:bodyPr tIns="0" bIns="0"/>
          <a:lstStyle/>
          <a:p>
            <a:pPr marL="742950" indent="-742950" algn="l">
              <a:spcBef>
                <a:spcPts val="1200"/>
              </a:spcBef>
              <a:spcAft>
                <a:spcPts val="600"/>
              </a:spcAft>
              <a:buClr>
                <a:schemeClr val="bg1">
                  <a:lumMod val="50000"/>
                </a:schemeClr>
              </a:buClr>
            </a:pPr>
            <a:r>
              <a:rPr lang="zh-CN" altLang="en-US" dirty="0">
                <a:solidFill>
                  <a:schemeClr val="bg2"/>
                </a:solidFill>
                <a:latin typeface="楷体" panose="02010609060101010101" pitchFamily="49" charset="-122"/>
                <a:ea typeface="楷体" panose="02010609060101010101" pitchFamily="49" charset="-122"/>
              </a:rPr>
              <a:t>整体变更的主要输入：</a:t>
            </a:r>
          </a:p>
          <a:p>
            <a:pPr marL="1200150" lvl="1" indent="-742950" algn="l">
              <a:spcBef>
                <a:spcPts val="1200"/>
              </a:spcBef>
              <a:spcAft>
                <a:spcPts val="600"/>
              </a:spcAft>
              <a:buClr>
                <a:srgbClr val="0000FF"/>
              </a:buClr>
              <a:buFont typeface="+mj-ea"/>
              <a:buAutoNum type="circleNumDbPlain"/>
            </a:pPr>
            <a:r>
              <a:rPr lang="zh-CN" altLang="en-US" dirty="0">
                <a:solidFill>
                  <a:srgbClr val="0000FF"/>
                </a:solidFill>
                <a:latin typeface="楷体" panose="02010609060101010101" pitchFamily="49" charset="-122"/>
                <a:ea typeface="楷体" panose="02010609060101010101" pitchFamily="49" charset="-122"/>
              </a:rPr>
              <a:t>项目管理计划</a:t>
            </a:r>
            <a:r>
              <a:rPr lang="zh-CN" altLang="en-US" dirty="0">
                <a:solidFill>
                  <a:schemeClr val="bg2"/>
                </a:solidFill>
                <a:latin typeface="楷体" panose="02010609060101010101" pitchFamily="49" charset="-122"/>
                <a:ea typeface="楷体" panose="02010609060101010101" pitchFamily="49" charset="-122"/>
              </a:rPr>
              <a:t>为项目</a:t>
            </a:r>
            <a:r>
              <a:rPr lang="zh-CN" altLang="en-US" dirty="0">
                <a:solidFill>
                  <a:srgbClr val="0000FF"/>
                </a:solidFill>
                <a:latin typeface="楷体" panose="02010609060101010101" pitchFamily="49" charset="-122"/>
                <a:ea typeface="楷体" panose="02010609060101010101" pitchFamily="49" charset="-122"/>
              </a:rPr>
              <a:t>变更的识别和控制提供了基准。</a:t>
            </a:r>
          </a:p>
          <a:p>
            <a:pPr marL="1200150" lvl="1" indent="-742950" algn="l">
              <a:spcBef>
                <a:spcPts val="1200"/>
              </a:spcBef>
              <a:spcAft>
                <a:spcPts val="600"/>
              </a:spcAft>
              <a:buClr>
                <a:srgbClr val="0000FF"/>
              </a:buClr>
              <a:buFont typeface="+mj-ea"/>
              <a:buAutoNum type="circleNumDbPlain"/>
            </a:pPr>
            <a:r>
              <a:rPr lang="zh-CN" altLang="en-US" dirty="0">
                <a:solidFill>
                  <a:srgbClr val="0000FF"/>
                </a:solidFill>
                <a:latin typeface="楷体" panose="02010609060101010101" pitchFamily="49" charset="-122"/>
                <a:ea typeface="楷体" panose="02010609060101010101" pitchFamily="49" charset="-122"/>
              </a:rPr>
              <a:t>执行绩效报告</a:t>
            </a:r>
            <a:r>
              <a:rPr lang="zh-CN" altLang="en-US" dirty="0">
                <a:solidFill>
                  <a:schemeClr val="bg2"/>
                </a:solidFill>
                <a:latin typeface="楷体" panose="02010609060101010101" pitchFamily="49" charset="-122"/>
                <a:ea typeface="楷体" panose="02010609060101010101" pitchFamily="49" charset="-122"/>
              </a:rPr>
              <a:t>提供了</a:t>
            </a:r>
            <a:r>
              <a:rPr lang="zh-CN" altLang="en-US" dirty="0">
                <a:solidFill>
                  <a:srgbClr val="0000FF"/>
                </a:solidFill>
                <a:latin typeface="楷体" panose="02010609060101010101" pitchFamily="49" charset="-122"/>
                <a:ea typeface="楷体" panose="02010609060101010101" pitchFamily="49" charset="-122"/>
              </a:rPr>
              <a:t>项目执行情况的有关信息。</a:t>
            </a:r>
          </a:p>
          <a:p>
            <a:pPr marL="1200150" lvl="1" indent="-742950" algn="l">
              <a:spcBef>
                <a:spcPts val="1200"/>
              </a:spcBef>
              <a:spcAft>
                <a:spcPts val="600"/>
              </a:spcAft>
              <a:buClr>
                <a:srgbClr val="0000FF"/>
              </a:buClr>
              <a:buFont typeface="+mj-ea"/>
              <a:buAutoNum type="circleNumDbPlain"/>
            </a:pPr>
            <a:r>
              <a:rPr lang="zh-CN" altLang="en-US" dirty="0">
                <a:solidFill>
                  <a:srgbClr val="0000FF"/>
                </a:solidFill>
                <a:latin typeface="楷体" panose="02010609060101010101" pitchFamily="49" charset="-122"/>
                <a:ea typeface="楷体" panose="02010609060101010101" pitchFamily="49" charset="-122"/>
              </a:rPr>
              <a:t>变更请求信息。</a:t>
            </a:r>
          </a:p>
          <a:p>
            <a:pPr algn="l">
              <a:spcBef>
                <a:spcPct val="40000"/>
              </a:spcBef>
              <a:buClr>
                <a:schemeClr val="hlink"/>
              </a:buClr>
            </a:pPr>
            <a:endParaRPr lang="zh-CN" altLang="en-US" dirty="0">
              <a:solidFill>
                <a:srgbClr val="0000FF"/>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9"/>
          <p:cNvSpPr>
            <a:spLocks noGrp="1" noChangeArrowheads="1"/>
          </p:cNvSpPr>
          <p:nvPr>
            <p:ph type="sldNum" sz="quarter" idx="10"/>
          </p:nvPr>
        </p:nvSpPr>
        <p:spPr>
          <a:noFill/>
        </p:spPr>
        <p:txBody>
          <a:bodyPr/>
          <a:lstStyle/>
          <a:p>
            <a:r>
              <a:rPr lang="zh-CN" altLang="en-GB" dirty="0"/>
              <a:t>  </a:t>
            </a:r>
            <a:fld id="{C6950815-F0C1-4CDC-98C3-42D017A07697}" type="slidenum">
              <a:rPr lang="zh-CN" altLang="en-GB" smtClean="0"/>
              <a:t>45</a:t>
            </a:fld>
            <a:endParaRPr lang="en-US" altLang="zh-CN" dirty="0"/>
          </a:p>
        </p:txBody>
      </p:sp>
      <p:sp>
        <p:nvSpPr>
          <p:cNvPr id="3789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P.79</a:t>
            </a:r>
          </a:p>
        </p:txBody>
      </p:sp>
      <p:sp>
        <p:nvSpPr>
          <p:cNvPr id="37893" name="Rectangle 5"/>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3.4 </a:t>
            </a:r>
            <a:r>
              <a:rPr kumimoji="0" lang="en-US" altLang="en-US" sz="3000" dirty="0" err="1">
                <a:latin typeface="楷体" panose="02010609060101010101" pitchFamily="49" charset="-122"/>
                <a:ea typeface="楷体" panose="02010609060101010101" pitchFamily="49" charset="-122"/>
              </a:rPr>
              <a:t>整体变更控制</a:t>
            </a:r>
            <a:endParaRPr kumimoji="0" lang="en-US" altLang="en-US" sz="3000" dirty="0">
              <a:latin typeface="楷体" panose="02010609060101010101" pitchFamily="49" charset="-122"/>
              <a:ea typeface="楷体" panose="02010609060101010101" pitchFamily="49" charset="-122"/>
            </a:endParaRPr>
          </a:p>
        </p:txBody>
      </p:sp>
      <p:sp>
        <p:nvSpPr>
          <p:cNvPr id="6" name="Rectangle 6"/>
          <p:cNvSpPr>
            <a:spLocks noChangeArrowheads="1"/>
          </p:cNvSpPr>
          <p:nvPr/>
        </p:nvSpPr>
        <p:spPr bwMode="auto">
          <a:xfrm>
            <a:off x="71406" y="1341438"/>
            <a:ext cx="5230919" cy="523220"/>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3.4.1</a:t>
            </a:r>
            <a:r>
              <a:rPr kumimoji="0" lang="zh-CN" altLang="en-US" dirty="0">
                <a:solidFill>
                  <a:srgbClr val="FF0000"/>
                </a:solidFill>
                <a:latin typeface="楷体" panose="02010609060101010101" pitchFamily="49" charset="-122"/>
                <a:ea typeface="楷体" panose="02010609060101010101" pitchFamily="49" charset="-122"/>
              </a:rPr>
              <a:t>整体变更控制的输入和输出</a:t>
            </a:r>
          </a:p>
        </p:txBody>
      </p:sp>
      <p:sp>
        <p:nvSpPr>
          <p:cNvPr id="9" name="Text Box 4"/>
          <p:cNvSpPr txBox="1">
            <a:spLocks noChangeArrowheads="1"/>
          </p:cNvSpPr>
          <p:nvPr/>
        </p:nvSpPr>
        <p:spPr bwMode="auto">
          <a:xfrm>
            <a:off x="142844" y="1857364"/>
            <a:ext cx="8750330" cy="4357717"/>
          </a:xfrm>
          <a:prstGeom prst="rect">
            <a:avLst/>
          </a:prstGeom>
          <a:noFill/>
          <a:ln w="9525">
            <a:noFill/>
            <a:miter lim="800000"/>
          </a:ln>
        </p:spPr>
        <p:txBody>
          <a:bodyPr tIns="0" bIns="0"/>
          <a:lstStyle/>
          <a:p>
            <a:pPr marL="742950" indent="-742950" algn="l">
              <a:spcBef>
                <a:spcPts val="1200"/>
              </a:spcBef>
              <a:spcAft>
                <a:spcPts val="600"/>
              </a:spcAft>
              <a:buClr>
                <a:schemeClr val="bg1">
                  <a:lumMod val="50000"/>
                </a:schemeClr>
              </a:buClr>
            </a:pPr>
            <a:r>
              <a:rPr lang="zh-CN" altLang="en-US" dirty="0">
                <a:solidFill>
                  <a:schemeClr val="bg2"/>
                </a:solidFill>
                <a:latin typeface="楷体" panose="02010609060101010101" pitchFamily="49" charset="-122"/>
                <a:ea typeface="楷体" panose="02010609060101010101" pitchFamily="49" charset="-122"/>
              </a:rPr>
              <a:t>整体变更的主要输出：</a:t>
            </a:r>
          </a:p>
          <a:p>
            <a:pPr marL="1200150" lvl="1" indent="-742950" algn="l">
              <a:spcBef>
                <a:spcPts val="1200"/>
              </a:spcBef>
              <a:spcAft>
                <a:spcPts val="600"/>
              </a:spcAft>
              <a:buClr>
                <a:srgbClr val="0000FF"/>
              </a:buClr>
              <a:buFont typeface="+mj-ea"/>
              <a:buAutoNum type="circleNumDbPlain"/>
            </a:pPr>
            <a:r>
              <a:rPr lang="zh-CN" altLang="en-US" dirty="0">
                <a:solidFill>
                  <a:srgbClr val="0000FF"/>
                </a:solidFill>
                <a:latin typeface="楷体" panose="02010609060101010101" pitchFamily="49" charset="-122"/>
                <a:ea typeface="楷体" panose="02010609060101010101" pitchFamily="49" charset="-122"/>
              </a:rPr>
              <a:t>更新的项目管理计划。</a:t>
            </a:r>
          </a:p>
          <a:p>
            <a:pPr marL="1200150" lvl="1" indent="-742950" algn="l">
              <a:spcBef>
                <a:spcPts val="1200"/>
              </a:spcBef>
              <a:spcAft>
                <a:spcPts val="600"/>
              </a:spcAft>
              <a:buClr>
                <a:srgbClr val="0000FF"/>
              </a:buClr>
              <a:buFont typeface="+mj-ea"/>
              <a:buAutoNum type="circleNumDbPlain"/>
            </a:pPr>
            <a:r>
              <a:rPr lang="zh-CN" altLang="en-US" dirty="0">
                <a:solidFill>
                  <a:srgbClr val="0000FF"/>
                </a:solidFill>
                <a:latin typeface="楷体" panose="02010609060101010101" pitchFamily="49" charset="-122"/>
                <a:ea typeface="楷体" panose="02010609060101010101" pitchFamily="49" charset="-122"/>
              </a:rPr>
              <a:t>采取的纠正措施。</a:t>
            </a:r>
          </a:p>
          <a:p>
            <a:pPr marL="1200150" lvl="1" indent="-742950" algn="l">
              <a:spcBef>
                <a:spcPts val="1200"/>
              </a:spcBef>
              <a:spcAft>
                <a:spcPts val="600"/>
              </a:spcAft>
              <a:buClr>
                <a:srgbClr val="0000FF"/>
              </a:buClr>
              <a:buFont typeface="+mj-ea"/>
              <a:buAutoNum type="circleNumDbPlain"/>
            </a:pPr>
            <a:r>
              <a:rPr lang="zh-CN" altLang="en-US" dirty="0">
                <a:solidFill>
                  <a:srgbClr val="0000FF"/>
                </a:solidFill>
                <a:latin typeface="楷体" panose="02010609060101010101" pitchFamily="49" charset="-122"/>
                <a:ea typeface="楷体" panose="02010609060101010101" pitchFamily="49" charset="-122"/>
              </a:rPr>
              <a:t>共享的经验教训。</a:t>
            </a:r>
          </a:p>
          <a:p>
            <a:pPr algn="l">
              <a:spcBef>
                <a:spcPct val="40000"/>
              </a:spcBef>
              <a:buClr>
                <a:schemeClr val="hlink"/>
              </a:buClr>
            </a:pPr>
            <a:endParaRPr lang="zh-CN" altLang="en-US" dirty="0">
              <a:solidFill>
                <a:srgbClr val="0000FF"/>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9"/>
          <p:cNvSpPr>
            <a:spLocks noGrp="1" noChangeArrowheads="1"/>
          </p:cNvSpPr>
          <p:nvPr>
            <p:ph type="sldNum" sz="quarter" idx="10"/>
          </p:nvPr>
        </p:nvSpPr>
        <p:spPr>
          <a:noFill/>
        </p:spPr>
        <p:txBody>
          <a:bodyPr/>
          <a:lstStyle/>
          <a:p>
            <a:r>
              <a:rPr lang="zh-CN" altLang="en-GB" dirty="0"/>
              <a:t>  </a:t>
            </a:r>
            <a:fld id="{CE1C4439-C7FD-49AC-AE13-448B82B573E5}" type="slidenum">
              <a:rPr lang="zh-CN" altLang="en-GB" smtClean="0"/>
              <a:t>46</a:t>
            </a:fld>
            <a:endParaRPr lang="en-US" altLang="zh-CN" dirty="0"/>
          </a:p>
        </p:txBody>
      </p:sp>
      <p:sp>
        <p:nvSpPr>
          <p:cNvPr id="41987" name="Text Box 3"/>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lgn="r">
              <a:spcBef>
                <a:spcPct val="50000"/>
              </a:spcBef>
            </a:pPr>
            <a:r>
              <a:rPr lang="en-US" altLang="zh-CN" sz="2400">
                <a:solidFill>
                  <a:schemeClr val="bg2"/>
                </a:solidFill>
              </a:rPr>
              <a:t>P.79</a:t>
            </a:r>
          </a:p>
        </p:txBody>
      </p:sp>
      <p:sp>
        <p:nvSpPr>
          <p:cNvPr id="41988" name="Text Box 4"/>
          <p:cNvSpPr txBox="1">
            <a:spLocks noChangeArrowheads="1"/>
          </p:cNvSpPr>
          <p:nvPr/>
        </p:nvSpPr>
        <p:spPr bwMode="auto">
          <a:xfrm>
            <a:off x="71406" y="2349500"/>
            <a:ext cx="8964612" cy="3724096"/>
          </a:xfrm>
          <a:prstGeom prst="rect">
            <a:avLst/>
          </a:prstGeom>
          <a:noFill/>
          <a:ln w="9525">
            <a:noFill/>
            <a:miter lim="800000"/>
          </a:ln>
        </p:spPr>
        <p:txBody>
          <a:bodyPr wrap="square">
            <a:spAutoFit/>
          </a:bodyPr>
          <a:lstStyle/>
          <a:p>
            <a:pPr algn="l">
              <a:spcBef>
                <a:spcPts val="600"/>
              </a:spcBef>
              <a:spcAft>
                <a:spcPts val="600"/>
              </a:spcAft>
              <a:buClr>
                <a:schemeClr val="hlink"/>
              </a:buClr>
            </a:pPr>
            <a:r>
              <a:rPr lang="zh-CN" altLang="en-US" sz="2400" dirty="0">
                <a:solidFill>
                  <a:schemeClr val="bg2"/>
                </a:solidFill>
                <a:latin typeface="楷体" panose="02010609060101010101" pitchFamily="49" charset="-122"/>
                <a:ea typeface="楷体" panose="02010609060101010101" pitchFamily="49" charset="-122"/>
              </a:rPr>
              <a:t>变更控制系统指规定项目绩效如何监测与评估的一组正式的、有文件记载的程序。它规定了正式项目文件变更需要经过的步骤，给出了核准变更所需要的表格填写、系统追踪、各项过程以及逐级进行的审批。</a:t>
            </a:r>
            <a:endParaRPr lang="en-US" altLang="zh-CN" sz="2400"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lang="zh-CN" altLang="en-US" sz="2400" dirty="0">
                <a:solidFill>
                  <a:schemeClr val="bg2"/>
                </a:solidFill>
                <a:latin typeface="楷体" panose="02010609060101010101" pitchFamily="49" charset="-122"/>
                <a:ea typeface="楷体" panose="02010609060101010101" pitchFamily="49" charset="-122"/>
              </a:rPr>
              <a:t>项目管理班子需要建立一个小组负责建立变更控制系统，各组织对于这些小组的定义和叫法各不相同，但是一些常见的名称包括：配置控制委员会（</a:t>
            </a:r>
            <a:r>
              <a:rPr lang="en-US" altLang="zh-CN" sz="2400" dirty="0">
                <a:solidFill>
                  <a:schemeClr val="bg2"/>
                </a:solidFill>
                <a:latin typeface="+mn-lt"/>
                <a:ea typeface="楷体" panose="02010609060101010101" pitchFamily="49" charset="-122"/>
              </a:rPr>
              <a:t>CCB</a:t>
            </a:r>
            <a:r>
              <a:rPr lang="zh-CN" altLang="en-US" sz="2400" dirty="0">
                <a:solidFill>
                  <a:schemeClr val="bg2"/>
                </a:solidFill>
                <a:latin typeface="楷体" panose="02010609060101010101" pitchFamily="49" charset="-122"/>
                <a:ea typeface="楷体" panose="02010609060101010101" pitchFamily="49" charset="-122"/>
              </a:rPr>
              <a:t>）、工程审查委员会（</a:t>
            </a:r>
            <a:r>
              <a:rPr lang="en-US" altLang="zh-CN" sz="2400" dirty="0">
                <a:solidFill>
                  <a:schemeClr val="bg2"/>
                </a:solidFill>
                <a:latin typeface="+mn-lt"/>
                <a:ea typeface="楷体" panose="02010609060101010101" pitchFamily="49" charset="-122"/>
              </a:rPr>
              <a:t>ERB</a:t>
            </a:r>
            <a:r>
              <a:rPr lang="zh-CN" altLang="en-US" sz="2400" dirty="0">
                <a:solidFill>
                  <a:schemeClr val="bg2"/>
                </a:solidFill>
                <a:latin typeface="楷体" panose="02010609060101010101" pitchFamily="49" charset="-122"/>
                <a:ea typeface="楷体" panose="02010609060101010101" pitchFamily="49" charset="-122"/>
              </a:rPr>
              <a:t>）、技术审查委员会（</a:t>
            </a:r>
            <a:r>
              <a:rPr lang="en-US" altLang="zh-CN" sz="2400" dirty="0">
                <a:solidFill>
                  <a:schemeClr val="bg2"/>
                </a:solidFill>
                <a:latin typeface="+mn-lt"/>
                <a:ea typeface="楷体" panose="02010609060101010101" pitchFamily="49" charset="-122"/>
              </a:rPr>
              <a:t>TRB</a:t>
            </a:r>
            <a:r>
              <a:rPr lang="zh-CN" altLang="en-US" sz="2400" dirty="0">
                <a:solidFill>
                  <a:schemeClr val="bg2"/>
                </a:solidFill>
                <a:latin typeface="楷体" panose="02010609060101010101" pitchFamily="49" charset="-122"/>
                <a:ea typeface="楷体" panose="02010609060101010101" pitchFamily="49" charset="-122"/>
              </a:rPr>
              <a:t>）、技术评估委员会（</a:t>
            </a:r>
            <a:r>
              <a:rPr lang="en-US" altLang="zh-CN" sz="2400" dirty="0">
                <a:solidFill>
                  <a:schemeClr val="bg2"/>
                </a:solidFill>
                <a:latin typeface="+mn-lt"/>
                <a:ea typeface="楷体" panose="02010609060101010101" pitchFamily="49" charset="-122"/>
              </a:rPr>
              <a:t>TAB</a:t>
            </a:r>
            <a:r>
              <a:rPr lang="zh-CN" altLang="en-US" sz="2400" dirty="0">
                <a:solidFill>
                  <a:schemeClr val="bg2"/>
                </a:solidFill>
                <a:latin typeface="楷体" panose="02010609060101010101" pitchFamily="49" charset="-122"/>
                <a:ea typeface="楷体" panose="02010609060101010101" pitchFamily="49" charset="-122"/>
              </a:rPr>
              <a:t>）等等。</a:t>
            </a:r>
          </a:p>
          <a:p>
            <a:pPr algn="l">
              <a:spcBef>
                <a:spcPts val="600"/>
              </a:spcBef>
              <a:spcAft>
                <a:spcPts val="600"/>
              </a:spcAft>
              <a:buClr>
                <a:schemeClr val="hlink"/>
              </a:buClr>
            </a:pPr>
            <a:r>
              <a:rPr lang="zh-CN" altLang="en-US" sz="2400" dirty="0">
                <a:solidFill>
                  <a:schemeClr val="bg2"/>
                </a:solidFill>
                <a:latin typeface="楷体" panose="02010609060101010101" pitchFamily="49" charset="-122"/>
                <a:ea typeface="楷体" panose="02010609060101010101" pitchFamily="49" charset="-122"/>
              </a:rPr>
              <a:t>变更控制系统还必须包括处理未经事前审查就已实施的变更程序。</a:t>
            </a:r>
            <a:endParaRPr lang="zh-CN" altLang="en-US" sz="3200" dirty="0">
              <a:solidFill>
                <a:schemeClr val="bg2"/>
              </a:solidFill>
              <a:latin typeface="楷体" panose="02010609060101010101" pitchFamily="49" charset="-122"/>
              <a:ea typeface="楷体" panose="02010609060101010101" pitchFamily="49" charset="-122"/>
            </a:endParaRPr>
          </a:p>
        </p:txBody>
      </p:sp>
      <p:sp>
        <p:nvSpPr>
          <p:cNvPr id="41989"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3.3 </a:t>
            </a:r>
            <a:r>
              <a:rPr kumimoji="0" lang="en-US" altLang="en-US" sz="3000" dirty="0" err="1">
                <a:latin typeface="楷体" panose="02010609060101010101" pitchFamily="49" charset="-122"/>
                <a:ea typeface="楷体" panose="02010609060101010101" pitchFamily="49" charset="-122"/>
              </a:rPr>
              <a:t>整体变更控制</a:t>
            </a:r>
            <a:endParaRPr kumimoji="0" lang="en-US" altLang="en-US" sz="3000" dirty="0">
              <a:latin typeface="楷体" panose="02010609060101010101" pitchFamily="49" charset="-122"/>
              <a:ea typeface="楷体" panose="02010609060101010101" pitchFamily="49" charset="-122"/>
            </a:endParaRPr>
          </a:p>
        </p:txBody>
      </p:sp>
      <p:sp>
        <p:nvSpPr>
          <p:cNvPr id="41990" name="Rectangle 7"/>
          <p:cNvSpPr>
            <a:spLocks noChangeArrowheads="1"/>
          </p:cNvSpPr>
          <p:nvPr/>
        </p:nvSpPr>
        <p:spPr bwMode="auto">
          <a:xfrm>
            <a:off x="323850" y="1341438"/>
            <a:ext cx="5591595" cy="523220"/>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3.4.2  </a:t>
            </a:r>
            <a:r>
              <a:rPr kumimoji="0" lang="en-US" altLang="en-US" dirty="0" err="1">
                <a:solidFill>
                  <a:srgbClr val="FF0000"/>
                </a:solidFill>
                <a:latin typeface="楷体" panose="02010609060101010101" pitchFamily="49" charset="-122"/>
                <a:ea typeface="楷体" panose="02010609060101010101" pitchFamily="49" charset="-122"/>
              </a:rPr>
              <a:t>整体变更控制的工具与技术</a:t>
            </a:r>
            <a:r>
              <a:rPr kumimoji="0" lang="en-US" altLang="en-US" dirty="0">
                <a:solidFill>
                  <a:srgbClr val="FF0000"/>
                </a:solidFill>
                <a:latin typeface="楷体" panose="02010609060101010101" pitchFamily="49" charset="-122"/>
                <a:ea typeface="楷体" panose="02010609060101010101" pitchFamily="49" charset="-122"/>
              </a:rPr>
              <a:t> </a:t>
            </a:r>
          </a:p>
        </p:txBody>
      </p:sp>
      <p:sp>
        <p:nvSpPr>
          <p:cNvPr id="41991" name="Text Box 8"/>
          <p:cNvSpPr txBox="1">
            <a:spLocks noChangeArrowheads="1"/>
          </p:cNvSpPr>
          <p:nvPr/>
        </p:nvSpPr>
        <p:spPr bwMode="auto">
          <a:xfrm>
            <a:off x="214282" y="1878132"/>
            <a:ext cx="4610100" cy="479298"/>
          </a:xfrm>
          <a:prstGeom prst="rect">
            <a:avLst/>
          </a:prstGeom>
          <a:noFill/>
          <a:ln w="28575">
            <a:noFill/>
            <a:miter lim="800000"/>
          </a:ln>
        </p:spPr>
        <p:txBody>
          <a:bodyPr>
            <a:spAutoFit/>
          </a:bodyPr>
          <a:lstStyle/>
          <a:p>
            <a:pPr marL="457200" indent="-457200" algn="l">
              <a:lnSpc>
                <a:spcPct val="115000"/>
              </a:lnSpc>
              <a:spcBef>
                <a:spcPct val="50000"/>
              </a:spcBef>
              <a:buClr>
                <a:schemeClr val="hlink"/>
              </a:buClr>
              <a:buFont typeface="Wingdings" panose="05000000000000000000" pitchFamily="2" charset="2"/>
              <a:buNone/>
            </a:pPr>
            <a:r>
              <a:rPr kumimoji="0" lang="en-US" altLang="en-US" sz="2400" dirty="0">
                <a:solidFill>
                  <a:srgbClr val="0000FF"/>
                </a:solidFill>
              </a:rPr>
              <a:t>1</a:t>
            </a:r>
            <a:r>
              <a:rPr kumimoji="0" lang="en-US" altLang="zh-CN" sz="2400" dirty="0">
                <a:solidFill>
                  <a:srgbClr val="0000FF"/>
                </a:solidFill>
              </a:rPr>
              <a:t>. </a:t>
            </a:r>
            <a:r>
              <a:rPr kumimoji="0" lang="en-US" altLang="en-US" sz="2400" dirty="0" err="1">
                <a:solidFill>
                  <a:srgbClr val="0000FF"/>
                </a:solidFill>
                <a:latin typeface="楷体" panose="02010609060101010101" pitchFamily="49" charset="-122"/>
                <a:ea typeface="楷体" panose="02010609060101010101" pitchFamily="49" charset="-122"/>
              </a:rPr>
              <a:t>变更控制系统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9"/>
          <p:cNvSpPr>
            <a:spLocks noGrp="1" noChangeArrowheads="1"/>
          </p:cNvSpPr>
          <p:nvPr>
            <p:ph type="sldNum" sz="quarter" idx="10"/>
          </p:nvPr>
        </p:nvSpPr>
        <p:spPr>
          <a:noFill/>
        </p:spPr>
        <p:txBody>
          <a:bodyPr/>
          <a:lstStyle/>
          <a:p>
            <a:r>
              <a:rPr lang="zh-CN" altLang="en-GB" dirty="0"/>
              <a:t>  </a:t>
            </a:r>
            <a:fld id="{6477919B-220D-47CA-9444-84FDA64B3FDF}" type="slidenum">
              <a:rPr lang="zh-CN" altLang="en-GB" smtClean="0"/>
              <a:t>47</a:t>
            </a:fld>
            <a:endParaRPr lang="en-US" altLang="zh-CN" dirty="0"/>
          </a:p>
        </p:txBody>
      </p:sp>
      <p:sp>
        <p:nvSpPr>
          <p:cNvPr id="440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a:solidFill>
                  <a:schemeClr val="bg2"/>
                </a:solidFill>
              </a:rPr>
              <a:t>P.80</a:t>
            </a:r>
          </a:p>
        </p:txBody>
      </p:sp>
      <p:sp>
        <p:nvSpPr>
          <p:cNvPr id="44036" name="Text Box 6"/>
          <p:cNvSpPr txBox="1">
            <a:spLocks noChangeArrowheads="1"/>
          </p:cNvSpPr>
          <p:nvPr/>
        </p:nvSpPr>
        <p:spPr bwMode="auto">
          <a:xfrm>
            <a:off x="250825" y="2281238"/>
            <a:ext cx="8642350" cy="4027487"/>
          </a:xfrm>
          <a:prstGeom prst="rect">
            <a:avLst/>
          </a:prstGeom>
          <a:noFill/>
          <a:ln w="9525">
            <a:noFill/>
            <a:miter lim="800000"/>
          </a:ln>
        </p:spPr>
        <p:txBody>
          <a:bodyPr>
            <a:spAutoFit/>
          </a:bodyPr>
          <a:lstStyle/>
          <a:p>
            <a:pPr algn="l">
              <a:spcBef>
                <a:spcPct val="50000"/>
              </a:spcBef>
              <a:buClr>
                <a:schemeClr val="hlink"/>
              </a:buClr>
            </a:pPr>
            <a:r>
              <a:rPr lang="zh-CN" altLang="en-US" sz="2400" dirty="0">
                <a:solidFill>
                  <a:schemeClr val="bg2"/>
                </a:solidFill>
                <a:latin typeface="楷体" panose="02010609060101010101" pitchFamily="49" charset="-122"/>
                <a:ea typeface="楷体" panose="02010609060101010101" pitchFamily="49" charset="-122"/>
              </a:rPr>
              <a:t>配置管理用于确保项目产品描述的正确性和完整性。软件配置管理帮助开发团队对软件开发过程进行有效的变更控制，高效地开发高质量的软件，为软件开发过程中的不同的角色控制和跟踪管理提供支持与帮助。 </a:t>
            </a:r>
          </a:p>
          <a:p>
            <a:pPr algn="l">
              <a:spcBef>
                <a:spcPct val="50000"/>
              </a:spcBef>
              <a:buClr>
                <a:schemeClr val="hlink"/>
              </a:buClr>
            </a:pPr>
            <a:r>
              <a:rPr lang="zh-CN" altLang="en-US" sz="2400" dirty="0">
                <a:solidFill>
                  <a:schemeClr val="bg2"/>
                </a:solidFill>
                <a:latin typeface="楷体" panose="02010609060101010101" pitchFamily="49" charset="-122"/>
                <a:ea typeface="楷体" panose="02010609060101010101" pitchFamily="49" charset="-122"/>
              </a:rPr>
              <a:t>配置管理的主要工作包括：</a:t>
            </a:r>
          </a:p>
          <a:p>
            <a:pPr lvl="1" algn="l">
              <a:spcBef>
                <a:spcPct val="20000"/>
              </a:spcBef>
              <a:buClr>
                <a:schemeClr val="bg1"/>
              </a:buClr>
              <a:buFont typeface="Wingdings" panose="05000000000000000000" pitchFamily="2" charset="2"/>
              <a:buChar char="n"/>
            </a:pPr>
            <a:r>
              <a:rPr lang="zh-CN" altLang="en-US" sz="2400" dirty="0">
                <a:solidFill>
                  <a:schemeClr val="bg2"/>
                </a:solidFill>
                <a:latin typeface="楷体" panose="02010609060101010101" pitchFamily="49" charset="-122"/>
                <a:ea typeface="楷体" panose="02010609060101010101" pitchFamily="49" charset="-122"/>
              </a:rPr>
              <a:t>识别并记载对象或系统的功能和物理特性</a:t>
            </a:r>
          </a:p>
          <a:p>
            <a:pPr lvl="1" algn="l">
              <a:spcBef>
                <a:spcPct val="20000"/>
              </a:spcBef>
              <a:buClr>
                <a:schemeClr val="bg1"/>
              </a:buClr>
              <a:buFont typeface="Wingdings" panose="05000000000000000000" pitchFamily="2" charset="2"/>
              <a:buChar char="n"/>
            </a:pPr>
            <a:r>
              <a:rPr lang="zh-CN" altLang="en-US" sz="2400" dirty="0">
                <a:solidFill>
                  <a:schemeClr val="bg2"/>
                </a:solidFill>
                <a:latin typeface="楷体" panose="02010609060101010101" pitchFamily="49" charset="-122"/>
                <a:ea typeface="楷体" panose="02010609060101010101" pitchFamily="49" charset="-122"/>
              </a:rPr>
              <a:t>控制特性的变更</a:t>
            </a:r>
          </a:p>
          <a:p>
            <a:pPr lvl="1" algn="l">
              <a:spcBef>
                <a:spcPct val="20000"/>
              </a:spcBef>
              <a:buClr>
                <a:schemeClr val="bg1"/>
              </a:buClr>
              <a:buFont typeface="Wingdings" panose="05000000000000000000" pitchFamily="2" charset="2"/>
              <a:buChar char="n"/>
            </a:pPr>
            <a:r>
              <a:rPr lang="zh-CN" altLang="en-US" sz="2400" dirty="0">
                <a:solidFill>
                  <a:schemeClr val="bg2"/>
                </a:solidFill>
                <a:latin typeface="楷体" panose="02010609060101010101" pitchFamily="49" charset="-122"/>
                <a:ea typeface="楷体" panose="02010609060101010101" pitchFamily="49" charset="-122"/>
              </a:rPr>
              <a:t>记录并报告变更及实施状况。</a:t>
            </a:r>
          </a:p>
          <a:p>
            <a:pPr lvl="1" algn="l">
              <a:spcBef>
                <a:spcPct val="20000"/>
              </a:spcBef>
              <a:buClr>
                <a:schemeClr val="bg1"/>
              </a:buClr>
              <a:buFont typeface="Wingdings" panose="05000000000000000000" pitchFamily="2" charset="2"/>
              <a:buChar char="n"/>
            </a:pPr>
            <a:r>
              <a:rPr lang="zh-CN" altLang="en-US" sz="2400" dirty="0">
                <a:solidFill>
                  <a:schemeClr val="bg2"/>
                </a:solidFill>
                <a:latin typeface="楷体" panose="02010609060101010101" pitchFamily="49" charset="-122"/>
                <a:ea typeface="楷体" panose="02010609060101010101" pitchFamily="49" charset="-122"/>
              </a:rPr>
              <a:t>审核对象与系统，核实是否符合要求</a:t>
            </a:r>
          </a:p>
        </p:txBody>
      </p:sp>
      <p:sp>
        <p:nvSpPr>
          <p:cNvPr id="44037" name="Rectangle 9"/>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3.3 </a:t>
            </a:r>
            <a:r>
              <a:rPr kumimoji="0" lang="en-US" altLang="en-US" sz="3000" dirty="0" err="1">
                <a:latin typeface="楷体" panose="02010609060101010101" pitchFamily="49" charset="-122"/>
                <a:ea typeface="楷体" panose="02010609060101010101" pitchFamily="49" charset="-122"/>
              </a:rPr>
              <a:t>整体变更控制</a:t>
            </a:r>
            <a:endParaRPr kumimoji="0" lang="en-US" altLang="en-US" sz="3000" dirty="0">
              <a:latin typeface="楷体" panose="02010609060101010101" pitchFamily="49" charset="-122"/>
              <a:ea typeface="楷体" panose="02010609060101010101" pitchFamily="49" charset="-122"/>
            </a:endParaRPr>
          </a:p>
        </p:txBody>
      </p:sp>
      <p:sp>
        <p:nvSpPr>
          <p:cNvPr id="44038" name="Rectangle 10"/>
          <p:cNvSpPr>
            <a:spLocks noChangeArrowheads="1"/>
          </p:cNvSpPr>
          <p:nvPr/>
        </p:nvSpPr>
        <p:spPr bwMode="auto">
          <a:xfrm>
            <a:off x="323850" y="1341438"/>
            <a:ext cx="5591595" cy="523220"/>
          </a:xfrm>
          <a:prstGeom prst="rect">
            <a:avLst/>
          </a:prstGeom>
          <a:noFill/>
          <a:ln w="9525">
            <a:noFill/>
            <a:miter lim="800000"/>
          </a:ln>
        </p:spPr>
        <p:txBody>
          <a:bodyPr wrap="none">
            <a:spAutoFit/>
          </a:bodyPr>
          <a:lstStyle/>
          <a:p>
            <a:pPr algn="l"/>
            <a:r>
              <a:rPr kumimoji="0" lang="en-US" altLang="en-US" dirty="0">
                <a:solidFill>
                  <a:srgbClr val="FF0000"/>
                </a:solidFill>
                <a:ea typeface="楷体_GB2312" pitchFamily="49" charset="-122"/>
              </a:rPr>
              <a:t>3.3.2  </a:t>
            </a:r>
            <a:r>
              <a:rPr kumimoji="0" lang="en-US" altLang="en-US" dirty="0" err="1">
                <a:solidFill>
                  <a:srgbClr val="FF0000"/>
                </a:solidFill>
                <a:latin typeface="楷体" panose="02010609060101010101" pitchFamily="49" charset="-122"/>
                <a:ea typeface="楷体" panose="02010609060101010101" pitchFamily="49" charset="-122"/>
              </a:rPr>
              <a:t>整体变更控制的工具与技术</a:t>
            </a:r>
            <a:r>
              <a:rPr kumimoji="0" lang="en-US" altLang="en-US" dirty="0">
                <a:solidFill>
                  <a:srgbClr val="FF0000"/>
                </a:solidFill>
                <a:latin typeface="楷体" panose="02010609060101010101" pitchFamily="49" charset="-122"/>
                <a:ea typeface="楷体" panose="02010609060101010101" pitchFamily="49" charset="-122"/>
              </a:rPr>
              <a:t> </a:t>
            </a:r>
          </a:p>
        </p:txBody>
      </p:sp>
      <p:sp>
        <p:nvSpPr>
          <p:cNvPr id="44039" name="Text Box 11"/>
          <p:cNvSpPr txBox="1">
            <a:spLocks noChangeArrowheads="1"/>
          </p:cNvSpPr>
          <p:nvPr/>
        </p:nvSpPr>
        <p:spPr bwMode="auto">
          <a:xfrm>
            <a:off x="285720" y="1844668"/>
            <a:ext cx="4610100" cy="479298"/>
          </a:xfrm>
          <a:prstGeom prst="rect">
            <a:avLst/>
          </a:prstGeom>
          <a:noFill/>
          <a:ln w="28575">
            <a:noFill/>
            <a:miter lim="800000"/>
          </a:ln>
        </p:spPr>
        <p:txBody>
          <a:bodyPr>
            <a:spAutoFit/>
          </a:bodyPr>
          <a:lstStyle/>
          <a:p>
            <a:pPr marL="457200" indent="-457200" algn="l">
              <a:lnSpc>
                <a:spcPct val="115000"/>
              </a:lnSpc>
              <a:spcBef>
                <a:spcPct val="50000"/>
              </a:spcBef>
              <a:buClr>
                <a:schemeClr val="hlink"/>
              </a:buClr>
              <a:buFont typeface="Wingdings" panose="05000000000000000000" pitchFamily="2" charset="2"/>
              <a:buNone/>
            </a:pPr>
            <a:r>
              <a:rPr kumimoji="0" lang="en-US" altLang="en-US" sz="2400" dirty="0">
                <a:solidFill>
                  <a:srgbClr val="0000FF"/>
                </a:solidFill>
              </a:rPr>
              <a:t>2</a:t>
            </a:r>
            <a:r>
              <a:rPr kumimoji="0" lang="en-US" altLang="zh-CN" sz="2400" dirty="0">
                <a:solidFill>
                  <a:srgbClr val="0000FF"/>
                </a:solidFill>
              </a:rPr>
              <a:t>. </a:t>
            </a:r>
            <a:r>
              <a:rPr kumimoji="0" lang="en-US" altLang="en-US" sz="2400" dirty="0" err="1">
                <a:solidFill>
                  <a:srgbClr val="0000FF"/>
                </a:solidFill>
                <a:latin typeface="楷体" panose="02010609060101010101" pitchFamily="49" charset="-122"/>
                <a:ea typeface="楷体" panose="02010609060101010101" pitchFamily="49" charset="-122"/>
              </a:rPr>
              <a:t>配置管理</a:t>
            </a:r>
            <a:r>
              <a:rPr kumimoji="0" lang="en-US" altLang="en-US" sz="2400" dirty="0">
                <a:solidFill>
                  <a:srgbClr val="0000FF"/>
                </a:solidFill>
                <a:latin typeface="楷体" panose="02010609060101010101" pitchFamily="49" charset="-122"/>
                <a:ea typeface="楷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03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03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9"/>
          <p:cNvSpPr>
            <a:spLocks noGrp="1" noChangeArrowheads="1"/>
          </p:cNvSpPr>
          <p:nvPr>
            <p:ph type="sldNum" sz="quarter" idx="10"/>
          </p:nvPr>
        </p:nvSpPr>
        <p:spPr>
          <a:noFill/>
        </p:spPr>
        <p:txBody>
          <a:bodyPr/>
          <a:lstStyle/>
          <a:p>
            <a:r>
              <a:rPr lang="zh-CN" altLang="en-GB" dirty="0"/>
              <a:t>  </a:t>
            </a:r>
            <a:fld id="{7FC3648B-4EA8-4787-9E01-5C3D6740C9FC}" type="slidenum">
              <a:rPr lang="zh-CN" altLang="en-GB" smtClean="0"/>
              <a:t>48</a:t>
            </a:fld>
            <a:endParaRPr lang="en-US" altLang="zh-CN" dirty="0"/>
          </a:p>
        </p:txBody>
      </p:sp>
      <p:sp>
        <p:nvSpPr>
          <p:cNvPr id="601091" name="Text Box 3"/>
          <p:cNvSpPr txBox="1">
            <a:spLocks noChangeArrowheads="1"/>
          </p:cNvSpPr>
          <p:nvPr/>
        </p:nvSpPr>
        <p:spPr bwMode="auto">
          <a:xfrm>
            <a:off x="107950" y="1401909"/>
            <a:ext cx="8964613" cy="4524315"/>
          </a:xfrm>
          <a:prstGeom prst="rect">
            <a:avLst/>
          </a:prstGeom>
          <a:noFill/>
          <a:ln w="9525">
            <a:noFill/>
            <a:miter lim="800000"/>
          </a:ln>
        </p:spPr>
        <p:txBody>
          <a:bodyPr>
            <a:spAutoFit/>
          </a:bodyPr>
          <a:lstStyle/>
          <a:p>
            <a:pPr algn="l">
              <a:spcBef>
                <a:spcPts val="600"/>
              </a:spcBef>
              <a:spcAft>
                <a:spcPts val="600"/>
              </a:spcAft>
            </a:pPr>
            <a:r>
              <a:rPr lang="zh-CN" altLang="en-US" sz="2400" dirty="0">
                <a:solidFill>
                  <a:schemeClr val="bg2"/>
                </a:solidFill>
                <a:latin typeface="楷体" panose="02010609060101010101" pitchFamily="49" charset="-122"/>
                <a:ea typeface="楷体" panose="02010609060101010101" pitchFamily="49" charset="-122"/>
              </a:rPr>
              <a:t>分析资源、利用资源、优化资源是整合项目资源之根本。管理是一个过程，通过它，大量互无关系的资源得以结合成为一个实现既定目标的总体。</a:t>
            </a:r>
            <a:endParaRPr lang="en-US" altLang="zh-CN" sz="2400"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2400" dirty="0">
                <a:solidFill>
                  <a:schemeClr val="bg2"/>
                </a:solidFill>
                <a:latin typeface="楷体" panose="02010609060101010101" pitchFamily="49" charset="-122"/>
                <a:ea typeface="楷体" panose="02010609060101010101" pitchFamily="49" charset="-122"/>
              </a:rPr>
              <a:t>项目整合管理的一项重要活动作是成功的启动项目。“目标驱动、结果引导”是成功启动项目的最好方法。</a:t>
            </a:r>
            <a:endParaRPr lang="en-US" altLang="zh-CN" sz="2400"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2400" dirty="0">
                <a:solidFill>
                  <a:schemeClr val="bg2"/>
                </a:solidFill>
                <a:latin typeface="楷体" panose="02010609060101010101" pitchFamily="49" charset="-122"/>
                <a:ea typeface="楷体" panose="02010609060101010101" pitchFamily="49" charset="-122"/>
              </a:rPr>
              <a:t>制定项目计划的目的在于建立并维护项目各项活动的计划好的计划是项目成功的一半，而另一半在于强有力地实施与监控计划。</a:t>
            </a:r>
          </a:p>
          <a:p>
            <a:pPr algn="l">
              <a:spcBef>
                <a:spcPts val="600"/>
              </a:spcBef>
              <a:spcAft>
                <a:spcPts val="600"/>
              </a:spcAft>
            </a:pPr>
            <a:r>
              <a:rPr lang="zh-CN" altLang="en-US" sz="2400" dirty="0">
                <a:solidFill>
                  <a:schemeClr val="bg2"/>
                </a:solidFill>
                <a:latin typeface="楷体" panose="02010609060101010101" pitchFamily="49" charset="-122"/>
                <a:ea typeface="楷体" panose="02010609060101010101" pitchFamily="49" charset="-122"/>
              </a:rPr>
              <a:t>对项目资源的整合和项目整体管理，体现了项目团队对其他</a:t>
            </a:r>
            <a:r>
              <a:rPr lang="en-US" altLang="en-US" sz="2400" dirty="0">
                <a:solidFill>
                  <a:schemeClr val="bg2"/>
                </a:solidFill>
                <a:latin typeface="+mn-lt"/>
                <a:ea typeface="楷体" panose="02010609060101010101" pitchFamily="49" charset="-122"/>
              </a:rPr>
              <a:t>9</a:t>
            </a:r>
            <a:r>
              <a:rPr lang="zh-CN" altLang="en-US" sz="2400" dirty="0">
                <a:solidFill>
                  <a:schemeClr val="bg2"/>
                </a:solidFill>
                <a:latin typeface="楷体" panose="02010609060101010101" pitchFamily="49" charset="-122"/>
                <a:ea typeface="楷体" panose="02010609060101010101" pitchFamily="49" charset="-122"/>
              </a:rPr>
              <a:t>大知识领域的理解和执行能力，体现了项目经理的协调与综合能力。</a:t>
            </a:r>
            <a:endParaRPr lang="en-US" altLang="zh-CN" sz="2400" dirty="0">
              <a:solidFill>
                <a:schemeClr val="bg2"/>
              </a:solidFill>
              <a:latin typeface="楷体" panose="02010609060101010101" pitchFamily="49" charset="-122"/>
              <a:ea typeface="楷体" panose="02010609060101010101" pitchFamily="49" charset="-122"/>
            </a:endParaRPr>
          </a:p>
          <a:p>
            <a:pPr>
              <a:spcBef>
                <a:spcPts val="600"/>
              </a:spcBef>
              <a:spcAft>
                <a:spcPts val="600"/>
              </a:spcAft>
            </a:pPr>
            <a:r>
              <a:rPr lang="zh-CN" altLang="en-US" sz="3200" dirty="0">
                <a:solidFill>
                  <a:srgbClr val="C00000"/>
                </a:solidFill>
                <a:latin typeface="楷体" panose="02010609060101010101" pitchFamily="49" charset="-122"/>
                <a:ea typeface="楷体" panose="02010609060101010101" pitchFamily="49" charset="-122"/>
              </a:rPr>
              <a:t>谢谢大家</a:t>
            </a:r>
          </a:p>
        </p:txBody>
      </p:sp>
      <p:sp>
        <p:nvSpPr>
          <p:cNvPr id="50180" name="Rectangle 6"/>
          <p:cNvSpPr>
            <a:spLocks noChangeArrowheads="1"/>
          </p:cNvSpPr>
          <p:nvPr/>
        </p:nvSpPr>
        <p:spPr bwMode="auto">
          <a:xfrm>
            <a:off x="103188" y="620713"/>
            <a:ext cx="4397375" cy="549275"/>
          </a:xfrm>
          <a:prstGeom prst="rect">
            <a:avLst/>
          </a:prstGeom>
          <a:noFill/>
          <a:ln w="9525">
            <a:noFill/>
            <a:miter lim="800000"/>
          </a:ln>
        </p:spPr>
        <p:txBody>
          <a:bodyPr>
            <a:spAutoFit/>
          </a:bodyPr>
          <a:lstStyle/>
          <a:p>
            <a:pPr algn="l"/>
            <a:r>
              <a:rPr kumimoji="0" lang="en-US" altLang="en-US" sz="3000" dirty="0"/>
              <a:t>【</a:t>
            </a:r>
            <a:r>
              <a:rPr kumimoji="0" lang="en-US" altLang="en-US" sz="3000" dirty="0" err="1">
                <a:latin typeface="楷体" panose="02010609060101010101" pitchFamily="49" charset="-122"/>
                <a:ea typeface="楷体" panose="02010609060101010101" pitchFamily="49" charset="-122"/>
              </a:rPr>
              <a:t>感想</a:t>
            </a:r>
            <a:r>
              <a:rPr kumimoji="0" lang="en-US" altLang="en-US" sz="3000" dirty="0" err="1">
                <a:latin typeface="+mn-lt"/>
                <a:ea typeface="楷体" panose="02010609060101010101" pitchFamily="49" charset="-122"/>
              </a:rPr>
              <a:t>&amp;</a:t>
            </a:r>
            <a:r>
              <a:rPr kumimoji="0" lang="en-US" altLang="en-US" sz="3000" dirty="0" err="1">
                <a:latin typeface="楷体" panose="02010609060101010101" pitchFamily="49" charset="-122"/>
                <a:ea typeface="楷体" panose="02010609060101010101" pitchFamily="49" charset="-122"/>
              </a:rPr>
              <a:t>体会</a:t>
            </a:r>
            <a:r>
              <a:rPr kumimoji="0" lang="en-US" altLang="en-US" sz="30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10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10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109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10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zk3NzFiNWJmYTZkNTJiYWI5M2Q2NWZhYmFkMjA5NjYifQ=="/>
</p:tagLst>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Designs\Soaring.pot</Template>
  <TotalTime>10</TotalTime>
  <Words>3799</Words>
  <Application>Microsoft Office PowerPoint</Application>
  <PresentationFormat>全屏显示(4:3)</PresentationFormat>
  <Paragraphs>669</Paragraphs>
  <Slides>48</Slides>
  <Notes>48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48</vt:i4>
      </vt:variant>
    </vt:vector>
  </HeadingPairs>
  <TitlesOfParts>
    <vt:vector size="56" baseType="lpstr">
      <vt:lpstr>方正姚体</vt:lpstr>
      <vt:lpstr>华文新魏</vt:lpstr>
      <vt:lpstr>楷体</vt:lpstr>
      <vt:lpstr>新宋体</vt:lpstr>
      <vt:lpstr>Arial</vt:lpstr>
      <vt:lpstr>Times New Roman</vt:lpstr>
      <vt:lpstr>Wingdings</vt:lpstr>
      <vt:lpstr>Soaring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wrl@hnu.cn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IT项目管理</dc:title>
  <dc:subject>第3章 整合项目资源  </dc:subject>
  <dc:creator>王如龙</dc:creator>
  <cp:keywords>项目 整体 管理 资源 整合 </cp:keywords>
  <dc:description>第2版  20141201第一次修改</dc:description>
  <cp:lastModifiedBy>yyzl-win11</cp:lastModifiedBy>
  <cp:revision>770</cp:revision>
  <dcterms:created xsi:type="dcterms:W3CDTF">2113-01-01T00:00:00Z</dcterms:created>
  <dcterms:modified xsi:type="dcterms:W3CDTF">2024-03-31T23:58:18Z</dcterms:modified>
  <cp:category>课件</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FCBD68D1875049699B84B9F57317D51E_12</vt:lpwstr>
  </property>
  <property fmtid="{D5CDD505-2E9C-101B-9397-08002B2CF9AE}" pid="3" name="KSOProductBuildVer">
    <vt:lpwstr>2052-12.1.0.16388</vt:lpwstr>
  </property>
</Properties>
</file>