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71"/>
  </p:handoutMasterIdLst>
  <p:sldIdLst>
    <p:sldId id="325" r:id="rId3"/>
    <p:sldId id="600" r:id="rId5"/>
    <p:sldId id="601" r:id="rId6"/>
    <p:sldId id="603" r:id="rId7"/>
    <p:sldId id="578" r:id="rId8"/>
    <p:sldId id="648" r:id="rId9"/>
    <p:sldId id="610" r:id="rId10"/>
    <p:sldId id="587" r:id="rId11"/>
    <p:sldId id="480" r:id="rId12"/>
    <p:sldId id="581" r:id="rId13"/>
    <p:sldId id="612" r:id="rId14"/>
    <p:sldId id="509" r:id="rId15"/>
    <p:sldId id="613" r:id="rId16"/>
    <p:sldId id="653" r:id="rId17"/>
    <p:sldId id="512" r:id="rId18"/>
    <p:sldId id="513" r:id="rId19"/>
    <p:sldId id="514" r:id="rId20"/>
    <p:sldId id="516" r:id="rId21"/>
    <p:sldId id="517" r:id="rId22"/>
    <p:sldId id="518" r:id="rId23"/>
    <p:sldId id="519" r:id="rId24"/>
    <p:sldId id="654" r:id="rId25"/>
    <p:sldId id="619" r:id="rId26"/>
    <p:sldId id="521" r:id="rId27"/>
    <p:sldId id="617" r:id="rId28"/>
    <p:sldId id="618" r:id="rId29"/>
    <p:sldId id="621" r:id="rId30"/>
    <p:sldId id="620" r:id="rId31"/>
    <p:sldId id="523" r:id="rId32"/>
    <p:sldId id="622" r:id="rId33"/>
    <p:sldId id="526" r:id="rId34"/>
    <p:sldId id="624" r:id="rId35"/>
    <p:sldId id="634" r:id="rId36"/>
    <p:sldId id="625" r:id="rId37"/>
    <p:sldId id="529" r:id="rId38"/>
    <p:sldId id="627" r:id="rId39"/>
    <p:sldId id="626" r:id="rId40"/>
    <p:sldId id="628" r:id="rId41"/>
    <p:sldId id="531" r:id="rId42"/>
    <p:sldId id="629" r:id="rId43"/>
    <p:sldId id="635" r:id="rId44"/>
    <p:sldId id="636" r:id="rId45"/>
    <p:sldId id="631" r:id="rId46"/>
    <p:sldId id="637" r:id="rId47"/>
    <p:sldId id="534" r:id="rId48"/>
    <p:sldId id="536" r:id="rId49"/>
    <p:sldId id="632" r:id="rId50"/>
    <p:sldId id="633" r:id="rId51"/>
    <p:sldId id="655" r:id="rId52"/>
    <p:sldId id="543" r:id="rId53"/>
    <p:sldId id="549" r:id="rId54"/>
    <p:sldId id="552" r:id="rId55"/>
    <p:sldId id="656" r:id="rId56"/>
    <p:sldId id="555" r:id="rId57"/>
    <p:sldId id="645" r:id="rId58"/>
    <p:sldId id="646" r:id="rId59"/>
    <p:sldId id="556" r:id="rId60"/>
    <p:sldId id="657" r:id="rId61"/>
    <p:sldId id="559" r:id="rId62"/>
    <p:sldId id="586" r:id="rId63"/>
    <p:sldId id="565" r:id="rId64"/>
    <p:sldId id="568" r:id="rId65"/>
    <p:sldId id="658" r:id="rId66"/>
    <p:sldId id="647" r:id="rId67"/>
    <p:sldId id="570" r:id="rId68"/>
    <p:sldId id="571" r:id="rId69"/>
    <p:sldId id="577" r:id="rId70"/>
  </p:sldIdLst>
  <p:sldSz cx="9144000" cy="6858000" type="screen4x3"/>
  <p:notesSz cx="6858000" cy="9144000"/>
  <p:custDataLst>
    <p:tags r:id="rId75"/>
  </p:custDataLst>
  <p:defaultTextStyle>
    <a:defPPr>
      <a:defRPr lang="en-US"/>
    </a:defPPr>
    <a:lvl1pPr algn="r" rtl="0" fontAlgn="base">
      <a:spcBef>
        <a:spcPct val="0"/>
      </a:spcBef>
      <a:spcAft>
        <a:spcPct val="0"/>
      </a:spcAft>
      <a:defRPr kumimoji="1" sz="2800" b="1" kern="1200">
        <a:solidFill>
          <a:schemeClr val="tx1"/>
        </a:solidFill>
        <a:latin typeface="Times New Roman" panose="02020603050405020304" pitchFamily="18" charset="0"/>
        <a:ea typeface="宋体" panose="02010600030101010101" pitchFamily="2" charset="-122"/>
        <a:cs typeface="+mn-cs"/>
      </a:defRPr>
    </a:lvl1pPr>
    <a:lvl2pPr marL="457200" algn="r" rtl="0" fontAlgn="base">
      <a:spcBef>
        <a:spcPct val="0"/>
      </a:spcBef>
      <a:spcAft>
        <a:spcPct val="0"/>
      </a:spcAft>
      <a:defRPr kumimoji="1" sz="2800" b="1" kern="1200">
        <a:solidFill>
          <a:schemeClr val="tx1"/>
        </a:solidFill>
        <a:latin typeface="Times New Roman" panose="02020603050405020304" pitchFamily="18" charset="0"/>
        <a:ea typeface="宋体" panose="02010600030101010101" pitchFamily="2" charset="-122"/>
        <a:cs typeface="+mn-cs"/>
      </a:defRPr>
    </a:lvl2pPr>
    <a:lvl3pPr marL="914400" algn="r" rtl="0" fontAlgn="base">
      <a:spcBef>
        <a:spcPct val="0"/>
      </a:spcBef>
      <a:spcAft>
        <a:spcPct val="0"/>
      </a:spcAft>
      <a:defRPr kumimoji="1" sz="2800" b="1" kern="1200">
        <a:solidFill>
          <a:schemeClr val="tx1"/>
        </a:solidFill>
        <a:latin typeface="Times New Roman" panose="02020603050405020304" pitchFamily="18" charset="0"/>
        <a:ea typeface="宋体" panose="02010600030101010101" pitchFamily="2" charset="-122"/>
        <a:cs typeface="+mn-cs"/>
      </a:defRPr>
    </a:lvl3pPr>
    <a:lvl4pPr marL="1371600" algn="r" rtl="0" fontAlgn="base">
      <a:spcBef>
        <a:spcPct val="0"/>
      </a:spcBef>
      <a:spcAft>
        <a:spcPct val="0"/>
      </a:spcAft>
      <a:defRPr kumimoji="1" sz="2800" b="1" kern="1200">
        <a:solidFill>
          <a:schemeClr val="tx1"/>
        </a:solidFill>
        <a:latin typeface="Times New Roman" panose="02020603050405020304" pitchFamily="18" charset="0"/>
        <a:ea typeface="宋体" panose="02010600030101010101" pitchFamily="2" charset="-122"/>
        <a:cs typeface="+mn-cs"/>
      </a:defRPr>
    </a:lvl4pPr>
    <a:lvl5pPr marL="1828800" algn="r" rtl="0" fontAlgn="base">
      <a:spcBef>
        <a:spcPct val="0"/>
      </a:spcBef>
      <a:spcAft>
        <a:spcPct val="0"/>
      </a:spcAft>
      <a:defRPr kumimoji="1" sz="28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FF0033"/>
    <a:srgbClr val="FF99FF"/>
    <a:srgbClr val="339966"/>
    <a:srgbClr val="FF33CC"/>
    <a:srgbClr val="990000"/>
    <a:srgbClr val="00CC00"/>
    <a:srgbClr val="333333"/>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2794" autoAdjust="0"/>
    <p:restoredTop sz="87895" autoAdjust="0"/>
  </p:normalViewPr>
  <p:slideViewPr>
    <p:cSldViewPr showGuides="1">
      <p:cViewPr>
        <p:scale>
          <a:sx n="50" d="100"/>
          <a:sy n="50" d="100"/>
        </p:scale>
        <p:origin x="-760" y="-232"/>
      </p:cViewPr>
      <p:guideLst>
        <p:guide orient="horz" pos="2256"/>
        <p:guide pos="3024"/>
      </p:guideLst>
    </p:cSldViewPr>
  </p:slideViewPr>
  <p:outlineViewPr>
    <p:cViewPr>
      <p:scale>
        <a:sx n="33" d="100"/>
        <a:sy n="33" d="100"/>
      </p:scale>
      <p:origin x="0" y="0"/>
    </p:cViewPr>
  </p:outlineViewPr>
  <p:notesTextViewPr>
    <p:cViewPr>
      <p:scale>
        <a:sx n="100" d="100"/>
        <a:sy n="100" d="100"/>
      </p:scale>
      <p:origin x="0" y="324"/>
    </p:cViewPr>
  </p:notesTextViewPr>
  <p:sorterViewPr>
    <p:cViewPr>
      <p:scale>
        <a:sx n="100" d="100"/>
        <a:sy n="100" d="100"/>
      </p:scale>
      <p:origin x="0" y="0"/>
    </p:cViewPr>
  </p:sorterViewPr>
  <p:notesViewPr>
    <p:cSldViewPr>
      <p:cViewPr>
        <p:scale>
          <a:sx n="75" d="100"/>
          <a:sy n="75" d="100"/>
        </p:scale>
        <p:origin x="-1460" y="-48"/>
      </p:cViewPr>
      <p:guideLst>
        <p:guide orient="horz" pos="2848"/>
        <p:guide pos="2173"/>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5" Type="http://schemas.openxmlformats.org/officeDocument/2006/relationships/tags" Target="tags/tag1.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handoutMaster" Target="handoutMasters/handoutMaster1.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solidFill>
                  <a:schemeClr val="bg2"/>
                </a:solidFill>
                <a:ea typeface="楷体_GB2312" pitchFamily="49" charset="-122"/>
              </a:defRPr>
            </a:lvl1pPr>
          </a:lstStyle>
          <a:p>
            <a:pPr>
              <a:defRPr/>
            </a:pPr>
            <a:endParaRPr lang="zh-CN" altLang="en-US"/>
          </a:p>
        </p:txBody>
      </p:sp>
      <p:sp>
        <p:nvSpPr>
          <p:cNvPr id="173059"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solidFill>
                  <a:schemeClr val="bg2"/>
                </a:solidFill>
                <a:ea typeface="楷体_GB2312" pitchFamily="49" charset="-122"/>
              </a:defRPr>
            </a:lvl1pPr>
          </a:lstStyle>
          <a:p>
            <a:pPr>
              <a:defRPr/>
            </a:pPr>
            <a:fld id="{C028ADDA-221E-4618-85AD-13AD47BC96D8}" type="datetime1">
              <a:rPr lang="zh-CN" altLang="en-US"/>
            </a:fld>
            <a:endParaRPr lang="en-US" altLang="zh-CN"/>
          </a:p>
        </p:txBody>
      </p:sp>
      <p:sp>
        <p:nvSpPr>
          <p:cNvPr id="173060"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solidFill>
                  <a:schemeClr val="bg2"/>
                </a:solidFill>
                <a:ea typeface="楷体_GB2312" pitchFamily="49" charset="-122"/>
              </a:defRPr>
            </a:lvl1pPr>
          </a:lstStyle>
          <a:p>
            <a:pPr>
              <a:defRPr/>
            </a:pPr>
            <a:endParaRPr lang="en-US" altLang="zh-CN"/>
          </a:p>
        </p:txBody>
      </p:sp>
      <p:sp>
        <p:nvSpPr>
          <p:cNvPr id="173061"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solidFill>
                  <a:schemeClr val="bg2"/>
                </a:solidFill>
                <a:ea typeface="楷体_GB2312" pitchFamily="49" charset="-122"/>
              </a:defRPr>
            </a:lvl1pPr>
          </a:lstStyle>
          <a:p>
            <a:pPr>
              <a:defRPr/>
            </a:pPr>
            <a:fld id="{BF703BDD-B4A7-4648-A1E7-48DEDB50FE62}"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0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solidFill>
                  <a:schemeClr val="bg2"/>
                </a:solidFill>
                <a:ea typeface="楷体_GB2312" pitchFamily="49" charset="-122"/>
              </a:defRPr>
            </a:lvl1pPr>
          </a:lstStyle>
          <a:p>
            <a:pPr>
              <a:defRPr/>
            </a:pPr>
            <a:endParaRPr lang="zh-CN" altLang="en-US"/>
          </a:p>
        </p:txBody>
      </p:sp>
      <p:sp>
        <p:nvSpPr>
          <p:cNvPr id="17101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solidFill>
                  <a:schemeClr val="bg2"/>
                </a:solidFill>
                <a:ea typeface="楷体_GB2312" pitchFamily="49" charset="-122"/>
              </a:defRPr>
            </a:lvl1pPr>
          </a:lstStyle>
          <a:p>
            <a:pPr>
              <a:defRPr/>
            </a:pPr>
            <a:fld id="{4E5721EB-B3D8-40B3-9ED6-6B2C0A819705}" type="datetime1">
              <a:rPr lang="zh-CN" altLang="en-US"/>
            </a:fld>
            <a:endParaRPr lang="en-US" altLang="zh-CN"/>
          </a:p>
        </p:txBody>
      </p:sp>
      <p:sp>
        <p:nvSpPr>
          <p:cNvPr id="747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7101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solidFill>
                  <a:schemeClr val="bg2"/>
                </a:solidFill>
                <a:ea typeface="楷体_GB2312" pitchFamily="49" charset="-122"/>
              </a:defRPr>
            </a:lvl1pPr>
          </a:lstStyle>
          <a:p>
            <a:pPr>
              <a:defRPr/>
            </a:pPr>
            <a:endParaRPr lang="en-US" altLang="zh-CN"/>
          </a:p>
        </p:txBody>
      </p:sp>
      <p:sp>
        <p:nvSpPr>
          <p:cNvPr id="17101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solidFill>
                  <a:schemeClr val="bg2"/>
                </a:solidFill>
                <a:ea typeface="楷体_GB2312" pitchFamily="49" charset="-122"/>
              </a:defRPr>
            </a:lvl1pPr>
          </a:lstStyle>
          <a:p>
            <a:pPr>
              <a:defRPr/>
            </a:pPr>
            <a:fld id="{0D0667CB-8DA9-4571-A535-54D0A0A4CF7F}"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4" Type="http://schemas.openxmlformats.org/officeDocument/2006/relationships/hyperlink" Target="http://wiki.mbalib.com/wiki/%E6%9D%9C%E9%82%A6%E5%85%AC%E5%8F%B8" TargetMode="External"/><Relationship Id="rId3" Type="http://schemas.openxmlformats.org/officeDocument/2006/relationships/hyperlink" Target="http://wiki.mbalib.com/w/index.php?title=%E9%9B%B7%E6%98%8E%E9%A1%BF-%E5%85%B0%E5%BE%B7%E5%85%AC%E5%8F%B8&amp;action=edit" TargetMode="External"/><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E92D3A03-301C-428F-8978-5BDBD34C0BA0}" type="slidenum">
              <a:rPr lang="zh-CN" altLang="en-US" smtClean="0"/>
            </a:fld>
            <a:endParaRPr lang="en-US" altLang="zh-CN" smtClean="0"/>
          </a:p>
        </p:txBody>
      </p:sp>
      <p:sp>
        <p:nvSpPr>
          <p:cNvPr id="75779" name="Rectangle 2"/>
          <p:cNvSpPr>
            <a:spLocks noGrp="1" noRot="1" noChangeAspect="1" noChangeArrowheads="1" noTextEdi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09BD0DD1-FDCA-4F2A-81BF-76A449F42628}" type="slidenum">
              <a:rPr lang="zh-CN" altLang="en-US" smtClean="0"/>
            </a:fld>
            <a:endParaRPr lang="en-US" altLang="zh-CN" smtClean="0"/>
          </a:p>
        </p:txBody>
      </p:sp>
      <p:sp>
        <p:nvSpPr>
          <p:cNvPr id="76803" name="Rectangle 2"/>
          <p:cNvSpPr>
            <a:spLocks noGrp="1" noRot="1" noChangeAspect="1" noChangeArrowheads="1" noTextEdit="1"/>
          </p:cNvSpPr>
          <p:nvPr>
            <p:ph type="sldImg"/>
          </p:nvPr>
        </p:nvSpPr>
        <p:spPr/>
      </p:sp>
      <p:sp>
        <p:nvSpPr>
          <p:cNvPr id="76804"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102682FF-C596-4C20-A20E-628FD3C07DC3}" type="slidenum">
              <a:rPr lang="zh-CN" altLang="en-US" smtClean="0"/>
            </a:fld>
            <a:endParaRPr lang="en-US" altLang="zh-CN" smtClean="0"/>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DF84CF7B-1E1C-418A-976C-CD1BD5506FF3}" type="slidenum">
              <a:rPr lang="zh-CN" altLang="en-US" smtClean="0"/>
            </a:fld>
            <a:endParaRPr lang="en-US" altLang="zh-CN" smtClean="0"/>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AFDD4740-B3E2-408A-92C3-8732ECDD97AC}" type="slidenum">
              <a:rPr lang="zh-CN" altLang="en-US" smtClean="0"/>
            </a:fld>
            <a:endParaRPr lang="en-US" altLang="zh-CN" smtClean="0"/>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fld>
            <a:endParaRPr lang="en-US" altLang="zh-CN" smtClean="0"/>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prstGeom prst="rect">
            <a:avLst/>
          </a:prstGeom>
          <a:noFill/>
        </p:spPr>
        <p:txBody>
          <a:bodyPr/>
          <a:lstStyle/>
          <a:p>
            <a:pPr eaLnBrk="1" hangingPunct="1"/>
            <a:endParaRPr lang="en-US"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11C1905C-C020-4FAA-AD45-F229650F3929}" type="slidenum">
              <a:rPr lang="zh-CN" altLang="en-US" smtClean="0"/>
            </a:fld>
            <a:endParaRPr lang="en-US" altLang="zh-CN" smtClean="0"/>
          </a:p>
        </p:txBody>
      </p:sp>
      <p:sp>
        <p:nvSpPr>
          <p:cNvPr id="84995" name="Rectangle 2"/>
          <p:cNvSpPr>
            <a:spLocks noGrp="1" noRot="1" noChangeAspect="1" noChangeArrowheads="1" noTextEdit="1"/>
          </p:cNvSpPr>
          <p:nvPr>
            <p:ph type="sldImg"/>
          </p:nvPr>
        </p:nvSpPr>
        <p:spPr/>
      </p:sp>
      <p:sp>
        <p:nvSpPr>
          <p:cNvPr id="8499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11C1905C-C020-4FAA-AD45-F229650F3929}" type="slidenum">
              <a:rPr lang="zh-CN" altLang="en-US" smtClean="0"/>
            </a:fld>
            <a:endParaRPr lang="en-US" altLang="zh-CN" smtClean="0"/>
          </a:p>
        </p:txBody>
      </p:sp>
      <p:sp>
        <p:nvSpPr>
          <p:cNvPr id="84995" name="Rectangle 2"/>
          <p:cNvSpPr>
            <a:spLocks noGrp="1" noRot="1" noChangeAspect="1" noChangeArrowheads="1" noTextEdit="1"/>
          </p:cNvSpPr>
          <p:nvPr>
            <p:ph type="sldImg"/>
          </p:nvPr>
        </p:nvSpPr>
        <p:spPr/>
      </p:sp>
      <p:sp>
        <p:nvSpPr>
          <p:cNvPr id="8499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A922BCB6-560A-40CA-84DB-8F3DEE1E9BEB}" type="slidenum">
              <a:rPr lang="zh-CN" altLang="en-US" smtClean="0"/>
            </a:fld>
            <a:endParaRPr lang="en-US" altLang="zh-CN" smtClean="0"/>
          </a:p>
        </p:txBody>
      </p:sp>
      <p:sp>
        <p:nvSpPr>
          <p:cNvPr id="88067" name="Rectangle 2"/>
          <p:cNvSpPr>
            <a:spLocks noGrp="1" noRot="1" noChangeAspect="1" noChangeArrowheads="1" noTextEdit="1"/>
          </p:cNvSpPr>
          <p:nvPr>
            <p:ph type="sldImg"/>
          </p:nvPr>
        </p:nvSpPr>
        <p:spPr/>
      </p:sp>
      <p:sp>
        <p:nvSpPr>
          <p:cNvPr id="88068"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689E3399-68FA-4EE8-B754-A8894E7F1BAB}" type="slidenum">
              <a:rPr lang="zh-CN" altLang="en-US" smtClean="0"/>
            </a:fld>
            <a:endParaRPr lang="en-US" altLang="zh-CN" smtClean="0"/>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246E31FE-77A2-4913-BD78-5BAB6EAB014B}" type="slidenum">
              <a:rPr lang="zh-CN" altLang="en-US" smtClean="0"/>
            </a:fld>
            <a:endParaRPr lang="en-US" altLang="zh-CN" smtClean="0"/>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246E31FE-77A2-4913-BD78-5BAB6EAB014B}" type="slidenum">
              <a:rPr lang="zh-CN" altLang="en-US" smtClean="0"/>
            </a:fld>
            <a:endParaRPr lang="en-US" altLang="zh-CN" smtClean="0"/>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246E31FE-77A2-4913-BD78-5BAB6EAB014B}" type="slidenum">
              <a:rPr lang="zh-CN" altLang="en-US" smtClean="0"/>
            </a:fld>
            <a:endParaRPr lang="en-US" altLang="zh-CN" smtClean="0"/>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fld>
            <a:endParaRPr lang="en-US" altLang="zh-CN" smtClean="0"/>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prstGeom prst="rect">
            <a:avLst/>
          </a:prstGeom>
          <a:noFill/>
        </p:spPr>
        <p:txBody>
          <a:bodyPr/>
          <a:lstStyle/>
          <a:p>
            <a:pPr eaLnBrk="1" hangingPunct="1"/>
            <a:endParaRPr lang="en-US"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008CBCBF-A7F3-4EF6-9B9E-88389160397D}" type="slidenum">
              <a:rPr lang="zh-CN" altLang="en-US" smtClean="0"/>
            </a:fld>
            <a:endParaRPr lang="en-US" altLang="zh-CN" smtClean="0"/>
          </a:p>
        </p:txBody>
      </p:sp>
      <p:sp>
        <p:nvSpPr>
          <p:cNvPr id="92163" name="Rectangle 2"/>
          <p:cNvSpPr>
            <a:spLocks noGrp="1" noRot="1" noChangeAspect="1" noChangeArrowheads="1" noTextEdit="1"/>
          </p:cNvSpPr>
          <p:nvPr>
            <p:ph type="sldImg"/>
          </p:nvPr>
        </p:nvSpPr>
        <p:spPr/>
      </p:sp>
      <p:sp>
        <p:nvSpPr>
          <p:cNvPr id="92164"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DCA2351B-BC66-4015-9770-76F4F05F0711}" type="slidenum">
              <a:rPr lang="zh-CN" altLang="en-US" smtClean="0"/>
            </a:fld>
            <a:endParaRPr lang="en-US" altLang="zh-CN" smtClean="0"/>
          </a:p>
        </p:txBody>
      </p:sp>
      <p:sp>
        <p:nvSpPr>
          <p:cNvPr id="93187" name="Rectangle 2"/>
          <p:cNvSpPr>
            <a:spLocks noGrp="1" noRot="1" noChangeAspect="1" noChangeArrowheads="1" noTextEdit="1"/>
          </p:cNvSpPr>
          <p:nvPr>
            <p:ph type="sldImg"/>
          </p:nvPr>
        </p:nvSpPr>
        <p:spPr/>
      </p:sp>
      <p:sp>
        <p:nvSpPr>
          <p:cNvPr id="93188"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D568A3AB-98E9-42D2-B6F5-F0FC1BCCCDC0}" type="slidenum">
              <a:rPr lang="zh-CN" altLang="en-US" smtClean="0"/>
            </a:fld>
            <a:endParaRPr lang="en-US" altLang="zh-CN" smtClean="0"/>
          </a:p>
        </p:txBody>
      </p:sp>
      <p:sp>
        <p:nvSpPr>
          <p:cNvPr id="94211" name="Rectangle 2"/>
          <p:cNvSpPr>
            <a:spLocks noGrp="1" noRot="1" noChangeAspect="1" noChangeArrowheads="1" noTextEdit="1"/>
          </p:cNvSpPr>
          <p:nvPr>
            <p:ph type="sldImg"/>
          </p:nvPr>
        </p:nvSpPr>
        <p:spPr/>
      </p:sp>
      <p:sp>
        <p:nvSpPr>
          <p:cNvPr id="9421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117B8847-B2C0-4509-B151-74235CE7B87D}" type="slidenum">
              <a:rPr lang="zh-CN" altLang="en-US" smtClean="0"/>
            </a:fld>
            <a:endParaRPr lang="en-US" altLang="zh-CN" smtClean="0"/>
          </a:p>
        </p:txBody>
      </p:sp>
      <p:sp>
        <p:nvSpPr>
          <p:cNvPr id="95235" name="Rectangle 2"/>
          <p:cNvSpPr>
            <a:spLocks noGrp="1" noRot="1" noChangeAspect="1" noChangeArrowheads="1" noTextEdit="1"/>
          </p:cNvSpPr>
          <p:nvPr>
            <p:ph type="sldImg"/>
          </p:nvPr>
        </p:nvSpPr>
        <p:spPr/>
      </p:sp>
      <p:sp>
        <p:nvSpPr>
          <p:cNvPr id="9523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C0984AD9-CF5D-4409-AFA8-A5FCD80D1D8C}" type="slidenum">
              <a:rPr lang="zh-CN" altLang="en-US" smtClean="0"/>
            </a:fld>
            <a:endParaRPr lang="en-US" altLang="zh-CN" smtClean="0"/>
          </a:p>
        </p:txBody>
      </p:sp>
      <p:sp>
        <p:nvSpPr>
          <p:cNvPr id="96259" name="Rectangle 2"/>
          <p:cNvSpPr>
            <a:spLocks noGrp="1" noRot="1" noChangeAspect="1" noChangeArrowheads="1" noTextEdit="1"/>
          </p:cNvSpPr>
          <p:nvPr>
            <p:ph type="sldImg"/>
          </p:nvPr>
        </p:nvSpPr>
        <p:spPr/>
      </p:sp>
      <p:sp>
        <p:nvSpPr>
          <p:cNvPr id="96260"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4A5D8ED5-95AA-42A5-BE7D-1ADFAFF57ACE}" type="slidenum">
              <a:rPr lang="zh-CN" altLang="en-US" smtClean="0"/>
            </a:fld>
            <a:endParaRPr lang="en-US" altLang="zh-CN" smtClean="0"/>
          </a:p>
        </p:txBody>
      </p:sp>
      <p:sp>
        <p:nvSpPr>
          <p:cNvPr id="97283" name="Rectangle 2"/>
          <p:cNvSpPr>
            <a:spLocks noGrp="1" noRot="1" noChangeAspect="1" noChangeArrowheads="1" noTextEdit="1"/>
          </p:cNvSpPr>
          <p:nvPr>
            <p:ph type="sldImg"/>
          </p:nvPr>
        </p:nvSpPr>
        <p:spPr/>
      </p:sp>
      <p:sp>
        <p:nvSpPr>
          <p:cNvPr id="97284"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F7FAF0BA-968B-4EC0-992D-73641031CF82}" type="slidenum">
              <a:rPr lang="zh-CN" altLang="en-US" smtClean="0"/>
            </a:fld>
            <a:endParaRPr lang="en-US" altLang="zh-CN" smtClean="0"/>
          </a:p>
        </p:txBody>
      </p:sp>
      <p:sp>
        <p:nvSpPr>
          <p:cNvPr id="98307" name="Rectangle 2"/>
          <p:cNvSpPr>
            <a:spLocks noGrp="1" noRot="1" noChangeAspect="1" noChangeArrowheads="1" noTextEdit="1"/>
          </p:cNvSpPr>
          <p:nvPr>
            <p:ph type="sldImg"/>
          </p:nvPr>
        </p:nvSpPr>
        <p:spPr/>
      </p:sp>
      <p:sp>
        <p:nvSpPr>
          <p:cNvPr id="98308"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fld>
            <a:endParaRPr lang="en-US" altLang="zh-CN" smtClean="0"/>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prstGeom prst="rect">
            <a:avLst/>
          </a:prstGeom>
          <a:noFill/>
        </p:spPr>
        <p:txBody>
          <a:bodyPr/>
          <a:lstStyle/>
          <a:p>
            <a:pPr eaLnBrk="1" hangingPunct="1"/>
            <a:endParaRPr lang="en-US"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54EBA277-10C0-4CBE-88B7-EBD297102FDB}" type="slidenum">
              <a:rPr lang="zh-CN" altLang="en-US" smtClean="0"/>
            </a:fld>
            <a:endParaRPr lang="en-US" altLang="zh-CN" smtClean="0"/>
          </a:p>
        </p:txBody>
      </p:sp>
      <p:sp>
        <p:nvSpPr>
          <p:cNvPr id="100355" name="Rectangle 2"/>
          <p:cNvSpPr>
            <a:spLocks noGrp="1" noRot="1" noChangeAspect="1" noChangeArrowheads="1" noTextEdit="1"/>
          </p:cNvSpPr>
          <p:nvPr>
            <p:ph type="sldImg"/>
          </p:nvPr>
        </p:nvSpPr>
        <p:spPr/>
      </p:sp>
      <p:sp>
        <p:nvSpPr>
          <p:cNvPr id="10035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54EBA277-10C0-4CBE-88B7-EBD297102FDB}" type="slidenum">
              <a:rPr lang="zh-CN" altLang="en-US" smtClean="0"/>
            </a:fld>
            <a:endParaRPr lang="en-US" altLang="zh-CN" smtClean="0"/>
          </a:p>
        </p:txBody>
      </p:sp>
      <p:sp>
        <p:nvSpPr>
          <p:cNvPr id="100355" name="Rectangle 2"/>
          <p:cNvSpPr>
            <a:spLocks noGrp="1" noRot="1" noChangeAspect="1" noChangeArrowheads="1" noTextEdit="1"/>
          </p:cNvSpPr>
          <p:nvPr>
            <p:ph type="sldImg"/>
          </p:nvPr>
        </p:nvSpPr>
        <p:spPr/>
      </p:sp>
      <p:sp>
        <p:nvSpPr>
          <p:cNvPr id="10035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l">
              <a:spcBef>
                <a:spcPts val="600"/>
              </a:spcBef>
              <a:spcAft>
                <a:spcPts val="600"/>
              </a:spcAft>
            </a:pPr>
            <a:r>
              <a:rPr lang="zh-CN" altLang="en-US" dirty="0" smtClean="0">
                <a:solidFill>
                  <a:schemeClr val="bg2"/>
                </a:solidFill>
              </a:rPr>
              <a:t>事实上，很多项目管理技术的发展主要源于实践军事。</a:t>
            </a:r>
            <a:endParaRPr lang="en-US" altLang="zh-CN" dirty="0" smtClean="0">
              <a:solidFill>
                <a:schemeClr val="bg2"/>
              </a:solidFill>
            </a:endParaRPr>
          </a:p>
          <a:p>
            <a:pPr algn="l">
              <a:spcBef>
                <a:spcPts val="600"/>
              </a:spcBef>
              <a:spcAft>
                <a:spcPts val="600"/>
              </a:spcAft>
            </a:pPr>
            <a:r>
              <a:rPr lang="en-US" altLang="zh-CN" dirty="0" smtClean="0">
                <a:solidFill>
                  <a:schemeClr val="bg2"/>
                </a:solidFill>
              </a:rPr>
              <a:t>1917</a:t>
            </a:r>
            <a:r>
              <a:rPr lang="zh-CN" altLang="en-US" dirty="0" smtClean="0">
                <a:solidFill>
                  <a:schemeClr val="bg2"/>
                </a:solidFill>
              </a:rPr>
              <a:t>年，亨利</a:t>
            </a:r>
            <a:r>
              <a:rPr lang="en-US" altLang="zh-CN" dirty="0" smtClean="0">
                <a:solidFill>
                  <a:schemeClr val="bg2"/>
                </a:solidFill>
              </a:rPr>
              <a:t>·</a:t>
            </a:r>
            <a:r>
              <a:rPr lang="zh-CN" altLang="en-US" dirty="0" smtClean="0">
                <a:solidFill>
                  <a:schemeClr val="bg2"/>
                </a:solidFill>
              </a:rPr>
              <a:t>甘特发明了著名的</a:t>
            </a:r>
            <a:r>
              <a:rPr lang="zh-CN" altLang="en-US" sz="1400" u="sng" dirty="0" smtClean="0">
                <a:solidFill>
                  <a:schemeClr val="bg1">
                    <a:lumMod val="50000"/>
                  </a:schemeClr>
                </a:solidFill>
              </a:rPr>
              <a:t>甘特图</a:t>
            </a:r>
            <a:r>
              <a:rPr lang="zh-CN" altLang="en-US" dirty="0" smtClean="0">
                <a:solidFill>
                  <a:schemeClr val="bg2"/>
                </a:solidFill>
              </a:rPr>
              <a:t>，用于车间日常工作安排与管理，管理者使用甘特图，按日历徒手画出要做的任务图表。其后，这一工具成为军事项目中对工作进行计划和评审的标准模式。</a:t>
            </a:r>
            <a:endParaRPr lang="en-US" altLang="zh-CN" dirty="0" smtClean="0">
              <a:solidFill>
                <a:schemeClr val="bg2"/>
              </a:solidFill>
            </a:endParaRPr>
          </a:p>
          <a:p>
            <a:pPr algn="l">
              <a:spcBef>
                <a:spcPts val="600"/>
              </a:spcBef>
              <a:spcAft>
                <a:spcPts val="600"/>
              </a:spcAft>
            </a:pPr>
            <a:r>
              <a:rPr lang="en-US" altLang="zh-CN" dirty="0" smtClean="0">
                <a:solidFill>
                  <a:schemeClr val="bg2"/>
                </a:solidFill>
              </a:rPr>
              <a:t>20</a:t>
            </a:r>
            <a:r>
              <a:rPr lang="zh-CN" altLang="en-US" dirty="0" smtClean="0">
                <a:solidFill>
                  <a:schemeClr val="bg2"/>
                </a:solidFill>
              </a:rPr>
              <a:t>世纪</a:t>
            </a:r>
            <a:r>
              <a:rPr lang="en-US" altLang="zh-CN" dirty="0" smtClean="0">
                <a:solidFill>
                  <a:schemeClr val="bg2"/>
                </a:solidFill>
              </a:rPr>
              <a:t>50</a:t>
            </a:r>
            <a:r>
              <a:rPr lang="zh-CN" altLang="en-US" dirty="0" smtClean="0">
                <a:solidFill>
                  <a:schemeClr val="bg2"/>
                </a:solidFill>
              </a:rPr>
              <a:t>代后期，美国杜邦公司的路易斯维化工厂创造了</a:t>
            </a:r>
            <a:r>
              <a:rPr lang="zh-CN" altLang="en-US" sz="1400" u="sng" dirty="0" smtClean="0">
                <a:solidFill>
                  <a:schemeClr val="bg1">
                    <a:lumMod val="50000"/>
                  </a:schemeClr>
                </a:solidFill>
              </a:rPr>
              <a:t>关键路径法</a:t>
            </a:r>
            <a:r>
              <a:rPr lang="zh-CN" altLang="en-US" dirty="0" smtClean="0">
                <a:solidFill>
                  <a:schemeClr val="bg2"/>
                </a:solidFill>
              </a:rPr>
              <a:t>（</a:t>
            </a:r>
            <a:r>
              <a:rPr lang="en-US" altLang="zh-CN" sz="1400" u="sng" dirty="0" smtClean="0">
                <a:solidFill>
                  <a:schemeClr val="bg1">
                    <a:lumMod val="50000"/>
                  </a:schemeClr>
                </a:solidFill>
              </a:rPr>
              <a:t>CPM</a:t>
            </a:r>
            <a:r>
              <a:rPr lang="zh-CN" altLang="en-US" dirty="0" smtClean="0">
                <a:solidFill>
                  <a:schemeClr val="bg2"/>
                </a:solidFill>
              </a:rPr>
              <a:t>），用于研究和开发、生产控制和计划编排，结果大大缩短了完成预定任务的时间，并节约了</a:t>
            </a:r>
            <a:r>
              <a:rPr lang="en-US" altLang="zh-CN" dirty="0" smtClean="0">
                <a:solidFill>
                  <a:schemeClr val="bg2"/>
                </a:solidFill>
              </a:rPr>
              <a:t>10%</a:t>
            </a:r>
            <a:r>
              <a:rPr lang="zh-CN" altLang="en-US" dirty="0" smtClean="0">
                <a:solidFill>
                  <a:schemeClr val="bg2"/>
                </a:solidFill>
              </a:rPr>
              <a:t>左右的投资，取得了显著的经济效益。</a:t>
            </a:r>
            <a:endParaRPr lang="zh-CN" altLang="en-US" dirty="0" smtClean="0">
              <a:solidFill>
                <a:schemeClr val="bg2"/>
              </a:solidFill>
            </a:endParaRPr>
          </a:p>
          <a:p>
            <a:pPr eaLnBrk="1" hangingPunct="1"/>
            <a:endParaRPr lang="en-US" altLang="zh-CN"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54EBA277-10C0-4CBE-88B7-EBD297102FDB}" type="slidenum">
              <a:rPr lang="zh-CN" altLang="en-US" smtClean="0"/>
            </a:fld>
            <a:endParaRPr lang="en-US" altLang="zh-CN" smtClean="0"/>
          </a:p>
        </p:txBody>
      </p:sp>
      <p:sp>
        <p:nvSpPr>
          <p:cNvPr id="100355" name="Rectangle 2"/>
          <p:cNvSpPr>
            <a:spLocks noGrp="1" noRot="1" noChangeAspect="1" noChangeArrowheads="1" noTextEdit="1"/>
          </p:cNvSpPr>
          <p:nvPr>
            <p:ph type="sldImg"/>
          </p:nvPr>
        </p:nvSpPr>
        <p:spPr/>
      </p:sp>
      <p:sp>
        <p:nvSpPr>
          <p:cNvPr id="10035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关键路线法是一种网络图方法，由</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3" tooltip="雷明顿-兰德公司"/>
              </a:rPr>
              <a:t>雷明顿</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3" tooltip="雷明顿-兰德公司"/>
              </a:rPr>
              <a:t>-</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3" tooltip="雷明顿-兰德公司"/>
              </a:rPr>
              <a:t>兰德公司</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(Remington- Rand)</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JE</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克里</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(JE Kelly)</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和</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4" tooltip="杜邦公司"/>
              </a:rPr>
              <a:t>杜邦公司</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MR</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沃尔克</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(MR Walker)</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在</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1957</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年提出的，用于对化工工厂的维护项目进行日程安排。它适用于有很多作业而且必须按时完成的项目。关键路线法是一个动态系统，它会随着项目的进展不断更新，该方法采用单一时间估计法，其中时间被视为一定的或确定的。  详细解释见： </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http://wiki.mbalib.com/wiki/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关键路径法</a:t>
            </a:r>
            <a:endParaRPr kumimoji="1" lang="en-US" altLang="zh-CN" sz="1200" b="0" i="0" u="none" strike="noStrike" kern="1200" smtClean="0">
              <a:solidFill>
                <a:schemeClr val="tx1"/>
              </a:solidFill>
              <a:effectLst/>
              <a:latin typeface="Times New Roman" panose="02020603050405020304" pitchFamily="18" charset="0"/>
              <a:ea typeface="宋体" panose="02010600030101010101" pitchFamily="2" charset="-122"/>
              <a:cs typeface="+mn-cs"/>
            </a:endParaRPr>
          </a:p>
          <a:p>
            <a:pPr eaLnBrk="1" hangingPunct="1"/>
            <a:endParaRPr lang="en-US"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54EBA277-10C0-4CBE-88B7-EBD297102FDB}" type="slidenum">
              <a:rPr lang="zh-CN" altLang="en-US" smtClean="0"/>
            </a:fld>
            <a:endParaRPr lang="en-US" altLang="zh-CN" smtClean="0"/>
          </a:p>
        </p:txBody>
      </p:sp>
      <p:sp>
        <p:nvSpPr>
          <p:cNvPr id="100355" name="Rectangle 2"/>
          <p:cNvSpPr>
            <a:spLocks noGrp="1" noRot="1" noChangeAspect="1" noChangeArrowheads="1" noTextEdit="1"/>
          </p:cNvSpPr>
          <p:nvPr>
            <p:ph type="sldImg"/>
          </p:nvPr>
        </p:nvSpPr>
        <p:spPr/>
      </p:sp>
      <p:sp>
        <p:nvSpPr>
          <p:cNvPr id="10035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24DF7220-18F3-434D-A057-186B3A8ACAFB}" type="slidenum">
              <a:rPr lang="zh-CN" altLang="en-US" smtClean="0"/>
            </a:fld>
            <a:endParaRPr lang="en-US" altLang="zh-CN" smtClean="0"/>
          </a:p>
        </p:txBody>
      </p:sp>
      <p:sp>
        <p:nvSpPr>
          <p:cNvPr id="101379" name="Rectangle 2"/>
          <p:cNvSpPr>
            <a:spLocks noGrp="1" noRot="1" noChangeAspect="1" noChangeArrowheads="1" noTextEdit="1"/>
          </p:cNvSpPr>
          <p:nvPr>
            <p:ph type="sldImg"/>
          </p:nvPr>
        </p:nvSpPr>
        <p:spPr/>
      </p:sp>
      <p:sp>
        <p:nvSpPr>
          <p:cNvPr id="101380"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24DF7220-18F3-434D-A057-186B3A8ACAFB}" type="slidenum">
              <a:rPr lang="zh-CN" altLang="en-US" smtClean="0"/>
            </a:fld>
            <a:endParaRPr lang="en-US" altLang="zh-CN" smtClean="0"/>
          </a:p>
        </p:txBody>
      </p:sp>
      <p:sp>
        <p:nvSpPr>
          <p:cNvPr id="101379" name="Rectangle 2"/>
          <p:cNvSpPr>
            <a:spLocks noGrp="1" noRot="1" noChangeAspect="1" noChangeArrowheads="1" noTextEdit="1"/>
          </p:cNvSpPr>
          <p:nvPr>
            <p:ph type="sldImg"/>
          </p:nvPr>
        </p:nvSpPr>
        <p:spPr/>
      </p:sp>
      <p:sp>
        <p:nvSpPr>
          <p:cNvPr id="101380"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24DF7220-18F3-434D-A057-186B3A8ACAFB}" type="slidenum">
              <a:rPr lang="zh-CN" altLang="en-US" smtClean="0"/>
            </a:fld>
            <a:endParaRPr lang="en-US" altLang="zh-CN" smtClean="0"/>
          </a:p>
        </p:txBody>
      </p:sp>
      <p:sp>
        <p:nvSpPr>
          <p:cNvPr id="101379" name="Rectangle 2"/>
          <p:cNvSpPr>
            <a:spLocks noGrp="1" noRot="1" noChangeAspect="1" noChangeArrowheads="1" noTextEdit="1"/>
          </p:cNvSpPr>
          <p:nvPr>
            <p:ph type="sldImg"/>
          </p:nvPr>
        </p:nvSpPr>
        <p:spPr/>
      </p:sp>
      <p:sp>
        <p:nvSpPr>
          <p:cNvPr id="101380"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24DF7220-18F3-434D-A057-186B3A8ACAFB}" type="slidenum">
              <a:rPr lang="zh-CN" altLang="en-US" smtClean="0"/>
            </a:fld>
            <a:endParaRPr lang="en-US" altLang="zh-CN" smtClean="0"/>
          </a:p>
        </p:txBody>
      </p:sp>
      <p:sp>
        <p:nvSpPr>
          <p:cNvPr id="101379" name="Rectangle 2"/>
          <p:cNvSpPr>
            <a:spLocks noGrp="1" noRot="1" noChangeAspect="1" noChangeArrowheads="1" noTextEdit="1"/>
          </p:cNvSpPr>
          <p:nvPr>
            <p:ph type="sldImg"/>
          </p:nvPr>
        </p:nvSpPr>
        <p:spPr/>
      </p:sp>
      <p:sp>
        <p:nvSpPr>
          <p:cNvPr id="101380"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34EDA483-1315-4E9A-95C1-852EB5C78C02}" type="slidenum">
              <a:rPr lang="zh-CN" altLang="en-US" smtClean="0"/>
            </a:fld>
            <a:endParaRPr lang="en-US" altLang="zh-CN" smtClean="0"/>
          </a:p>
        </p:txBody>
      </p:sp>
      <p:sp>
        <p:nvSpPr>
          <p:cNvPr id="102403" name="Rectangle 2"/>
          <p:cNvSpPr>
            <a:spLocks noGrp="1" noRot="1" noChangeAspect="1" noChangeArrowheads="1" noTextEdit="1"/>
          </p:cNvSpPr>
          <p:nvPr>
            <p:ph type="sldImg"/>
          </p:nvPr>
        </p:nvSpPr>
        <p:spPr/>
      </p:sp>
      <p:sp>
        <p:nvSpPr>
          <p:cNvPr id="102404"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34EDA483-1315-4E9A-95C1-852EB5C78C02}" type="slidenum">
              <a:rPr lang="zh-CN" altLang="en-US" smtClean="0"/>
            </a:fld>
            <a:endParaRPr lang="en-US" altLang="zh-CN" smtClean="0"/>
          </a:p>
        </p:txBody>
      </p:sp>
      <p:sp>
        <p:nvSpPr>
          <p:cNvPr id="102403" name="Rectangle 2"/>
          <p:cNvSpPr>
            <a:spLocks noGrp="1" noRot="1" noChangeAspect="1" noChangeArrowheads="1" noTextEdit="1"/>
          </p:cNvSpPr>
          <p:nvPr>
            <p:ph type="sldImg"/>
          </p:nvPr>
        </p:nvSpPr>
        <p:spPr/>
      </p:sp>
      <p:sp>
        <p:nvSpPr>
          <p:cNvPr id="102404"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34EDA483-1315-4E9A-95C1-852EB5C78C02}" type="slidenum">
              <a:rPr lang="zh-CN" altLang="en-US" smtClean="0"/>
            </a:fld>
            <a:endParaRPr lang="en-US" altLang="zh-CN" smtClean="0"/>
          </a:p>
        </p:txBody>
      </p:sp>
      <p:sp>
        <p:nvSpPr>
          <p:cNvPr id="102403" name="Rectangle 2"/>
          <p:cNvSpPr>
            <a:spLocks noGrp="1" noRot="1" noChangeAspect="1" noChangeArrowheads="1" noTextEdit="1"/>
          </p:cNvSpPr>
          <p:nvPr>
            <p:ph type="sldImg"/>
          </p:nvPr>
        </p:nvSpPr>
        <p:spPr/>
      </p:sp>
      <p:sp>
        <p:nvSpPr>
          <p:cNvPr id="102404"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84669C88-6C57-4B49-976C-55E6E98FEF3B}" type="slidenum">
              <a:rPr lang="zh-CN" altLang="en-US" smtClean="0"/>
            </a:fld>
            <a:endParaRPr lang="en-US" altLang="zh-CN" smtClean="0"/>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84669C88-6C57-4B49-976C-55E6E98FEF3B}" type="slidenum">
              <a:rPr lang="zh-CN" altLang="en-US" smtClean="0"/>
            </a:fld>
            <a:endParaRPr lang="en-US" altLang="zh-CN" smtClean="0"/>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2383F399-B816-4937-ADAD-7DC0C0E3C16C}" type="slidenum">
              <a:rPr lang="zh-CN" altLang="en-US" smtClean="0"/>
            </a:fld>
            <a:endParaRPr lang="en-US" altLang="zh-CN" smtClean="0"/>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l">
              <a:spcBef>
                <a:spcPts val="600"/>
              </a:spcBef>
              <a:spcAft>
                <a:spcPts val="600"/>
              </a:spcAft>
            </a:pPr>
            <a:r>
              <a:rPr lang="zh-CN" altLang="en-US" dirty="0" smtClean="0">
                <a:solidFill>
                  <a:schemeClr val="bg2"/>
                </a:solidFill>
              </a:rPr>
              <a:t>项目管理是从第二次世界大战以后发展起来的，通过几十年的发展，已成为一种管理技术和科学，并被越来越多的人们所接受。</a:t>
            </a:r>
            <a:endParaRPr lang="en-US" altLang="zh-CN" dirty="0" smtClean="0">
              <a:solidFill>
                <a:schemeClr val="bg2"/>
              </a:solidFill>
            </a:endParaRPr>
          </a:p>
          <a:p>
            <a:pPr algn="l">
              <a:spcBef>
                <a:spcPts val="600"/>
              </a:spcBef>
              <a:spcAft>
                <a:spcPts val="600"/>
              </a:spcAft>
            </a:pPr>
            <a:r>
              <a:rPr lang="zh-CN" altLang="en-US" dirty="0" smtClean="0">
                <a:solidFill>
                  <a:schemeClr val="bg2"/>
                </a:solidFill>
              </a:rPr>
              <a:t>项目管理工作者们在几十年的实践中感觉到，虽然从事的</a:t>
            </a:r>
            <a:r>
              <a:rPr lang="zh-CN" altLang="en-US" dirty="0" smtClean="0">
                <a:solidFill>
                  <a:schemeClr val="bg1">
                    <a:lumMod val="50000"/>
                  </a:schemeClr>
                </a:solidFill>
                <a:latin typeface="黑体" panose="02010609060101010101" pitchFamily="2" charset="-122"/>
                <a:ea typeface="黑体" panose="02010609060101010101" pitchFamily="2" charset="-122"/>
              </a:rPr>
              <a:t>项目类型</a:t>
            </a:r>
            <a:r>
              <a:rPr lang="zh-CN" altLang="en-US" dirty="0" smtClean="0">
                <a:solidFill>
                  <a:schemeClr val="bg2"/>
                </a:solidFill>
              </a:rPr>
              <a:t>不同，但仍有一些共同之处，因此他们自发组织起来共同探讨这些</a:t>
            </a:r>
            <a:r>
              <a:rPr lang="zh-CN" altLang="en-US" dirty="0" smtClean="0">
                <a:solidFill>
                  <a:schemeClr val="bg1">
                    <a:lumMod val="50000"/>
                  </a:schemeClr>
                </a:solidFill>
                <a:latin typeface="黑体" panose="02010609060101010101" pitchFamily="2" charset="-122"/>
                <a:ea typeface="黑体" panose="02010609060101010101" pitchFamily="2" charset="-122"/>
              </a:rPr>
              <a:t>共性主题</a:t>
            </a:r>
            <a:r>
              <a:rPr lang="zh-CN" altLang="en-US" dirty="0" smtClean="0">
                <a:solidFill>
                  <a:schemeClr val="bg2"/>
                </a:solidFill>
              </a:rPr>
              <a:t>，即项目管理知识体系的建立。</a:t>
            </a:r>
            <a:endParaRPr lang="en-US" altLang="zh-CN" dirty="0" smtClean="0">
              <a:solidFill>
                <a:schemeClr val="bg2"/>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2383F399-B816-4937-ADAD-7DC0C0E3C16C}" type="slidenum">
              <a:rPr lang="zh-CN" altLang="en-US" smtClean="0"/>
            </a:fld>
            <a:endParaRPr lang="en-US" altLang="zh-CN" smtClean="0"/>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2383F399-B816-4937-ADAD-7DC0C0E3C16C}" type="slidenum">
              <a:rPr lang="zh-CN" altLang="en-US" smtClean="0"/>
            </a:fld>
            <a:endParaRPr lang="en-US" altLang="zh-CN" smtClean="0"/>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2383F399-B816-4937-ADAD-7DC0C0E3C16C}" type="slidenum">
              <a:rPr lang="zh-CN" altLang="en-US" smtClean="0"/>
            </a:fld>
            <a:endParaRPr lang="en-US" altLang="zh-CN" smtClean="0"/>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2383F399-B816-4937-ADAD-7DC0C0E3C16C}" type="slidenum">
              <a:rPr lang="zh-CN" altLang="en-US" smtClean="0"/>
            </a:fld>
            <a:endParaRPr lang="en-US" altLang="zh-CN" smtClean="0"/>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2383F399-B816-4937-ADAD-7DC0C0E3C16C}" type="slidenum">
              <a:rPr lang="zh-CN" altLang="en-US" smtClean="0"/>
            </a:fld>
            <a:endParaRPr lang="en-US" altLang="zh-CN" smtClean="0"/>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2383F399-B816-4937-ADAD-7DC0C0E3C16C}" type="slidenum">
              <a:rPr lang="zh-CN" altLang="en-US" smtClean="0"/>
            </a:fld>
            <a:endParaRPr lang="en-US" altLang="zh-CN" smtClean="0"/>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2383F399-B816-4937-ADAD-7DC0C0E3C16C}" type="slidenum">
              <a:rPr lang="zh-CN" altLang="en-US" smtClean="0"/>
            </a:fld>
            <a:endParaRPr lang="en-US" altLang="zh-CN" smtClean="0"/>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2383F399-B816-4937-ADAD-7DC0C0E3C16C}" type="slidenum">
              <a:rPr lang="zh-CN" altLang="en-US" smtClean="0"/>
            </a:fld>
            <a:endParaRPr lang="en-US" altLang="zh-CN" smtClean="0"/>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74E1BA12-E6A5-40E1-B54F-CF749A784B8B}" type="slidenum">
              <a:rPr lang="zh-CN" altLang="en-US" smtClean="0"/>
            </a:fld>
            <a:endParaRPr lang="en-US" altLang="zh-CN" smtClean="0"/>
          </a:p>
        </p:txBody>
      </p:sp>
      <p:sp>
        <p:nvSpPr>
          <p:cNvPr id="107523" name="Rectangle 2"/>
          <p:cNvSpPr>
            <a:spLocks noGrp="1" noRot="1" noChangeAspect="1" noChangeArrowheads="1" noTextEdit="1"/>
          </p:cNvSpPr>
          <p:nvPr>
            <p:ph type="sldImg"/>
          </p:nvPr>
        </p:nvSpPr>
        <p:spPr/>
      </p:sp>
      <p:sp>
        <p:nvSpPr>
          <p:cNvPr id="107524"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C037C5F9-D45F-4B6D-9447-23DCAEF9B6D8}" type="slidenum">
              <a:rPr lang="zh-CN" altLang="en-US" smtClean="0"/>
            </a:fld>
            <a:endParaRPr lang="en-US" altLang="zh-CN" smtClean="0"/>
          </a:p>
        </p:txBody>
      </p:sp>
      <p:sp>
        <p:nvSpPr>
          <p:cNvPr id="108547" name="Rectangle 2"/>
          <p:cNvSpPr>
            <a:spLocks noGrp="1" noRot="1" noChangeAspect="1" noChangeArrowheads="1" noTextEdit="1"/>
          </p:cNvSpPr>
          <p:nvPr>
            <p:ph type="sldImg"/>
          </p:nvPr>
        </p:nvSpPr>
        <p:spPr/>
      </p:sp>
      <p:sp>
        <p:nvSpPr>
          <p:cNvPr id="108548"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C037C5F9-D45F-4B6D-9447-23DCAEF9B6D8}" type="slidenum">
              <a:rPr lang="zh-CN" altLang="en-US" smtClean="0"/>
            </a:fld>
            <a:endParaRPr lang="en-US" altLang="zh-CN" smtClean="0"/>
          </a:p>
        </p:txBody>
      </p:sp>
      <p:sp>
        <p:nvSpPr>
          <p:cNvPr id="108547" name="Rectangle 2"/>
          <p:cNvSpPr>
            <a:spLocks noGrp="1" noRot="1" noChangeAspect="1" noChangeArrowheads="1" noTextEdit="1"/>
          </p:cNvSpPr>
          <p:nvPr>
            <p:ph type="sldImg"/>
          </p:nvPr>
        </p:nvSpPr>
        <p:spPr/>
      </p:sp>
      <p:sp>
        <p:nvSpPr>
          <p:cNvPr id="108548"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C037C5F9-D45F-4B6D-9447-23DCAEF9B6D8}" type="slidenum">
              <a:rPr lang="zh-CN" altLang="en-US" smtClean="0"/>
            </a:fld>
            <a:endParaRPr lang="en-US" altLang="zh-CN" smtClean="0"/>
          </a:p>
        </p:txBody>
      </p:sp>
      <p:sp>
        <p:nvSpPr>
          <p:cNvPr id="108547" name="Rectangle 2"/>
          <p:cNvSpPr>
            <a:spLocks noGrp="1" noRot="1" noChangeAspect="1" noChangeArrowheads="1" noTextEdit="1"/>
          </p:cNvSpPr>
          <p:nvPr>
            <p:ph type="sldImg"/>
          </p:nvPr>
        </p:nvSpPr>
        <p:spPr/>
      </p:sp>
      <p:sp>
        <p:nvSpPr>
          <p:cNvPr id="108548"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fld>
            <a:endParaRPr lang="en-US" altLang="zh-CN" smtClean="0"/>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prstGeom prst="rect">
            <a:avLst/>
          </a:prstGeom>
          <a:noFill/>
        </p:spPr>
        <p:txBody>
          <a:bodyPr/>
          <a:lstStyle/>
          <a:p>
            <a:pPr eaLnBrk="1" hangingPunct="1"/>
            <a:endParaRPr lang="en-US" altLang="zh-CN"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E315BE6E-B28F-4594-8606-87FC75682580}" type="slidenum">
              <a:rPr lang="zh-CN" altLang="en-US" smtClean="0"/>
            </a:fld>
            <a:endParaRPr lang="en-US" altLang="zh-CN" smtClean="0"/>
          </a:p>
        </p:txBody>
      </p:sp>
      <p:sp>
        <p:nvSpPr>
          <p:cNvPr id="110595" name="Rectangle 2"/>
          <p:cNvSpPr>
            <a:spLocks noGrp="1" noRot="1" noChangeAspect="1" noChangeArrowheads="1" noTextEdit="1"/>
          </p:cNvSpPr>
          <p:nvPr>
            <p:ph type="sldImg"/>
          </p:nvPr>
        </p:nvSpPr>
        <p:spPr/>
      </p:sp>
      <p:sp>
        <p:nvSpPr>
          <p:cNvPr id="11059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en-US" altLang="zh-CN"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p>
            <a:fld id="{FE988571-9E2C-4D71-A408-5D26695F94AD}" type="slidenum">
              <a:rPr lang="zh-CN" altLang="en-US" smtClean="0"/>
            </a:fld>
            <a:endParaRPr lang="en-US" altLang="zh-CN" smtClean="0"/>
          </a:p>
        </p:txBody>
      </p:sp>
      <p:sp>
        <p:nvSpPr>
          <p:cNvPr id="121859" name="Rectangle 2"/>
          <p:cNvSpPr>
            <a:spLocks noGrp="1" noRot="1" noChangeAspect="1" noChangeArrowheads="1" noTextEdit="1"/>
          </p:cNvSpPr>
          <p:nvPr>
            <p:ph type="sldImg"/>
          </p:nvPr>
        </p:nvSpPr>
        <p:spPr/>
      </p:sp>
      <p:sp>
        <p:nvSpPr>
          <p:cNvPr id="121860"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BEE2A4A3-F2FD-4B86-9C38-8DFF8C6FB0F9}" type="slidenum">
              <a:rPr lang="zh-CN" altLang="en-US" smtClean="0"/>
            </a:fld>
            <a:endParaRPr lang="en-US" altLang="zh-CN" smtClean="0"/>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fld>
            <a:endParaRPr lang="en-US" altLang="zh-CN" smtClean="0"/>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prstGeom prst="rect">
            <a:avLst/>
          </a:prstGeom>
          <a:noFill/>
        </p:spPr>
        <p:txBody>
          <a:bodyPr/>
          <a:lstStyle/>
          <a:p>
            <a:pPr eaLnBrk="1" hangingPunct="1"/>
            <a:endParaRPr lang="en-US" altLang="zh-CN"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D1AA2051-7E85-44E4-BA2E-DACA81239FAD}" type="slidenum">
              <a:rPr lang="zh-CN" altLang="en-US" smtClean="0"/>
            </a:fld>
            <a:endParaRPr lang="en-US" altLang="zh-CN" smtClean="0"/>
          </a:p>
        </p:txBody>
      </p:sp>
      <p:sp>
        <p:nvSpPr>
          <p:cNvPr id="124931" name="Rectangle 2"/>
          <p:cNvSpPr>
            <a:spLocks noGrp="1" noRot="1" noChangeAspect="1" noChangeArrowheads="1" noTextEdit="1"/>
          </p:cNvSpPr>
          <p:nvPr>
            <p:ph type="sldImg"/>
          </p:nvPr>
        </p:nvSpPr>
        <p:spPr/>
      </p:sp>
      <p:sp>
        <p:nvSpPr>
          <p:cNvPr id="12493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D1AA2051-7E85-44E4-BA2E-DACA81239FAD}" type="slidenum">
              <a:rPr lang="zh-CN" altLang="en-US" smtClean="0"/>
            </a:fld>
            <a:endParaRPr lang="en-US" altLang="zh-CN" smtClean="0"/>
          </a:p>
        </p:txBody>
      </p:sp>
      <p:sp>
        <p:nvSpPr>
          <p:cNvPr id="124931" name="Rectangle 2"/>
          <p:cNvSpPr>
            <a:spLocks noGrp="1" noRot="1" noChangeAspect="1" noChangeArrowheads="1" noTextEdit="1"/>
          </p:cNvSpPr>
          <p:nvPr>
            <p:ph type="sldImg"/>
          </p:nvPr>
        </p:nvSpPr>
        <p:spPr/>
      </p:sp>
      <p:sp>
        <p:nvSpPr>
          <p:cNvPr id="12493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E57A29B0-5F6A-4FBB-B6FE-32B01826D42F}" type="slidenum">
              <a:rPr lang="zh-CN" altLang="en-US" smtClean="0"/>
            </a:fld>
            <a:endParaRPr lang="en-US" altLang="zh-CN" smtClean="0"/>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E57A29B0-5F6A-4FBB-B6FE-32B01826D42F}" type="slidenum">
              <a:rPr lang="zh-CN" altLang="en-US" smtClean="0"/>
            </a:fld>
            <a:endParaRPr lang="en-US" altLang="zh-CN" smtClean="0"/>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fld>
            <a:endParaRPr lang="en-US" altLang="zh-CN" smtClean="0"/>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prstGeom prst="rect">
            <a:avLst/>
          </a:prstGeom>
          <a:noFill/>
        </p:spPr>
        <p:txBody>
          <a:bodyPr/>
          <a:lstStyle/>
          <a:p>
            <a:pPr eaLnBrk="1" hangingPunct="1"/>
            <a:endParaRPr lang="en-US" altLang="zh-CN"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p>
            <a:fld id="{3D3928CE-80D3-458C-8848-1823BDF8D805}" type="slidenum">
              <a:rPr lang="zh-CN" altLang="en-US" smtClean="0"/>
            </a:fld>
            <a:endParaRPr lang="en-US" altLang="zh-CN" smtClean="0"/>
          </a:p>
        </p:txBody>
      </p:sp>
      <p:sp>
        <p:nvSpPr>
          <p:cNvPr id="130051" name="Rectangle 2"/>
          <p:cNvSpPr>
            <a:spLocks noGrp="1" noRot="1" noChangeAspect="1" noChangeArrowheads="1" noTextEdit="1"/>
          </p:cNvSpPr>
          <p:nvPr>
            <p:ph type="sldImg"/>
          </p:nvPr>
        </p:nvSpPr>
        <p:spPr/>
      </p:sp>
      <p:sp>
        <p:nvSpPr>
          <p:cNvPr id="13005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27D6317D-A8C9-44F2-B2A1-D5B447CDC17F}" type="slidenum">
              <a:rPr lang="zh-CN" altLang="en-US" smtClean="0"/>
            </a:fld>
            <a:endParaRPr lang="en-US" altLang="zh-CN" smtClean="0"/>
          </a:p>
        </p:txBody>
      </p:sp>
      <p:sp>
        <p:nvSpPr>
          <p:cNvPr id="132099" name="Rectangle 2"/>
          <p:cNvSpPr>
            <a:spLocks noGrp="1" noRot="1" noChangeAspect="1" noChangeArrowheads="1" noTextEdit="1"/>
          </p:cNvSpPr>
          <p:nvPr>
            <p:ph type="sldImg"/>
          </p:nvPr>
        </p:nvSpPr>
        <p:spPr/>
      </p:sp>
      <p:sp>
        <p:nvSpPr>
          <p:cNvPr id="132100"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87280750-98A6-4FDE-A04F-B948989A66D8}" type="slidenum">
              <a:rPr lang="zh-CN" altLang="en-US" smtClean="0"/>
            </a:fld>
            <a:endParaRPr lang="en-US" altLang="zh-CN" smtClean="0"/>
          </a:p>
        </p:txBody>
      </p:sp>
      <p:sp>
        <p:nvSpPr>
          <p:cNvPr id="135171" name="Rectangle 2"/>
          <p:cNvSpPr>
            <a:spLocks noGrp="1" noRot="1" noChangeAspect="1" noChangeArrowheads="1" noTextEdit="1"/>
          </p:cNvSpPr>
          <p:nvPr>
            <p:ph type="sldImg"/>
          </p:nvPr>
        </p:nvSpPr>
        <p:spPr/>
      </p:sp>
      <p:sp>
        <p:nvSpPr>
          <p:cNvPr id="13517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二八定律又名</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80/20</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定律、帕累托法则（</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Pareto‘s principle</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）也叫巴莱特定律、朱伦法则（</a:t>
            </a:r>
            <a:r>
              <a:rPr kumimoji="1" lang="en-US" altLang="zh-CN" sz="1200" b="0" i="0" u="none" strike="noStrike" kern="1200" dirty="0" err="1" smtClean="0">
                <a:solidFill>
                  <a:schemeClr val="tx1"/>
                </a:solidFill>
                <a:effectLst/>
                <a:latin typeface="Times New Roman" panose="02020603050405020304" pitchFamily="18" charset="0"/>
                <a:ea typeface="宋体" panose="02010600030101010101" pitchFamily="2" charset="-122"/>
                <a:cs typeface="+mn-cs"/>
              </a:rPr>
              <a:t>Juran's</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 Principle</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）、关键少数法则（</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Vital </a:t>
            </a:r>
            <a:r>
              <a:rPr kumimoji="1" lang="en-US" altLang="zh-CN" sz="1200" b="0" i="0" u="none" strike="noStrike" kern="1200" dirty="0" err="1" smtClean="0">
                <a:solidFill>
                  <a:schemeClr val="tx1"/>
                </a:solidFill>
                <a:effectLst/>
                <a:latin typeface="Times New Roman" panose="02020603050405020304" pitchFamily="18" charset="0"/>
                <a:ea typeface="宋体" panose="02010600030101010101" pitchFamily="2" charset="-122"/>
                <a:cs typeface="+mn-cs"/>
              </a:rPr>
              <a:t>FeRule</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）、不重要多数法则（</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Trivial Many Rule</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）最省力的法则、不平衡原则等，被广泛应用于社会学及企业管理学等</a:t>
            </a:r>
            <a:endPar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pPr algn="just" eaLnBrk="1" hangingPunct="1"/>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在任何一组东西中，最重要的只占其中一小部分，约</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20%</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，其余</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80%</a:t>
            </a:r>
            <a:r>
              <a:rPr kumimoji="1" lang="zh-CN" altLang="en-US" sz="1200" b="0" i="0" u="none" strike="noStrike" kern="1200" smtClean="0">
                <a:solidFill>
                  <a:schemeClr val="tx1"/>
                </a:solidFill>
                <a:effectLst/>
                <a:latin typeface="Times New Roman" panose="02020603050405020304" pitchFamily="18" charset="0"/>
                <a:ea typeface="宋体" panose="02010600030101010101" pitchFamily="2" charset="-122"/>
                <a:cs typeface="+mn-cs"/>
              </a:rPr>
              <a:t>尽管是多数，却是次要的，因此又称二八定律。</a:t>
            </a:r>
            <a:endParaRPr lang="zh-CN" altLang="en-US" smtClean="0"/>
          </a:p>
          <a:p>
            <a:pPr algn="just" eaLnBrk="1" hangingPunct="1"/>
            <a:r>
              <a:rPr lang="zh-CN" altLang="en-US" dirty="0" smtClean="0"/>
              <a:t> </a:t>
            </a:r>
            <a:endParaRPr lang="zh-CN" altLang="en-US" dirty="0" smtClean="0"/>
          </a:p>
          <a:p>
            <a:pPr algn="just" eaLnBrk="1" hangingPunct="1"/>
            <a:r>
              <a:rPr lang="zh-CN" altLang="en-US" dirty="0" smtClean="0"/>
              <a:t> </a:t>
            </a:r>
            <a:endParaRPr lang="zh-CN" altLang="en-US" dirty="0" smtClean="0"/>
          </a:p>
          <a:p>
            <a:pPr algn="just" eaLnBrk="1" hangingPunct="1"/>
            <a:r>
              <a:rPr lang="zh-CN" altLang="en-US" dirty="0" smtClean="0"/>
              <a:t> </a:t>
            </a:r>
            <a:endParaRPr lang="zh-CN" altLang="en-US" dirty="0" smtClean="0"/>
          </a:p>
          <a:p>
            <a:pPr algn="just" eaLnBrk="1" hangingPunct="1"/>
            <a:r>
              <a:rPr lang="zh-CN" altLang="en-US" dirty="0" smtClean="0"/>
              <a:t> </a:t>
            </a:r>
            <a:endParaRPr lang="zh-CN" altLang="en-US" dirty="0" smtClean="0"/>
          </a:p>
          <a:p>
            <a:pPr eaLnBrk="1" hangingPunct="1"/>
            <a:endParaRPr lang="en-US" altLang="zh-CN" dirty="0"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9975A774-97D1-4339-9123-11DAA65138B8}" type="slidenum">
              <a:rPr lang="zh-CN" altLang="en-US" smtClean="0"/>
            </a:fld>
            <a:endParaRPr lang="en-US" altLang="zh-CN" smtClean="0"/>
          </a:p>
        </p:txBody>
      </p:sp>
      <p:sp>
        <p:nvSpPr>
          <p:cNvPr id="138243" name="Rectangle 2"/>
          <p:cNvSpPr>
            <a:spLocks noGrp="1" noRot="1" noChangeAspect="1" noChangeArrowheads="1" noTextEdit="1"/>
          </p:cNvSpPr>
          <p:nvPr>
            <p:ph type="sldImg"/>
          </p:nvPr>
        </p:nvSpPr>
        <p:spPr/>
      </p:sp>
      <p:sp>
        <p:nvSpPr>
          <p:cNvPr id="138244"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fld>
            <a:endParaRPr lang="en-US" altLang="zh-CN" smtClean="0"/>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prstGeom prst="rect">
            <a:avLst/>
          </a:prstGeom>
          <a:noFill/>
        </p:spPr>
        <p:txBody>
          <a:bodyPr/>
          <a:lstStyle/>
          <a:p>
            <a:pPr eaLnBrk="1" hangingPunct="1"/>
            <a:endParaRPr lang="en-US" altLang="zh-CN"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8E1040B7-7005-49A3-BBD2-D5A40B9BFAB8}" type="slidenum">
              <a:rPr lang="zh-CN" altLang="en-US" smtClean="0"/>
            </a:fld>
            <a:endParaRPr lang="en-US" altLang="zh-CN" smtClean="0"/>
          </a:p>
        </p:txBody>
      </p:sp>
      <p:sp>
        <p:nvSpPr>
          <p:cNvPr id="140291" name="Rectangle 2"/>
          <p:cNvSpPr>
            <a:spLocks noGrp="1" noRot="1" noChangeAspect="1" noChangeArrowheads="1" noTextEdit="1"/>
          </p:cNvSpPr>
          <p:nvPr>
            <p:ph type="sldImg"/>
          </p:nvPr>
        </p:nvSpPr>
        <p:spPr/>
      </p:sp>
      <p:sp>
        <p:nvSpPr>
          <p:cNvPr id="14029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8E1040B7-7005-49A3-BBD2-D5A40B9BFAB8}" type="slidenum">
              <a:rPr lang="zh-CN" altLang="en-US" smtClean="0"/>
            </a:fld>
            <a:endParaRPr lang="en-US" altLang="zh-CN" smtClean="0"/>
          </a:p>
        </p:txBody>
      </p:sp>
      <p:sp>
        <p:nvSpPr>
          <p:cNvPr id="140291" name="Rectangle 2"/>
          <p:cNvSpPr>
            <a:spLocks noGrp="1" noRot="1" noChangeAspect="1" noChangeArrowheads="1" noTextEdit="1"/>
          </p:cNvSpPr>
          <p:nvPr>
            <p:ph type="sldImg"/>
          </p:nvPr>
        </p:nvSpPr>
        <p:spPr/>
      </p:sp>
      <p:sp>
        <p:nvSpPr>
          <p:cNvPr id="14029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F6BD1F68-84B9-4D9D-B79F-4C416AA8CF68}" type="slidenum">
              <a:rPr lang="zh-CN" altLang="en-US" smtClean="0"/>
            </a:fld>
            <a:endParaRPr lang="en-US" altLang="zh-CN" smtClean="0"/>
          </a:p>
        </p:txBody>
      </p:sp>
      <p:sp>
        <p:nvSpPr>
          <p:cNvPr id="141315" name="Rectangle 2"/>
          <p:cNvSpPr>
            <a:spLocks noGrp="1" noRot="1" noChangeAspect="1" noChangeArrowheads="1" noTextEdit="1"/>
          </p:cNvSpPr>
          <p:nvPr>
            <p:ph type="sldImg"/>
          </p:nvPr>
        </p:nvSpPr>
        <p:spPr/>
      </p:sp>
      <p:sp>
        <p:nvSpPr>
          <p:cNvPr id="14131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p>
            <a:fld id="{8F217C5B-0C4A-469C-BB4E-0A5C67F4A48A}" type="slidenum">
              <a:rPr lang="zh-CN" altLang="en-US" smtClean="0"/>
            </a:fld>
            <a:endParaRPr lang="en-US" altLang="zh-CN" smtClean="0"/>
          </a:p>
        </p:txBody>
      </p:sp>
      <p:sp>
        <p:nvSpPr>
          <p:cNvPr id="146435" name="Rectangle 2"/>
          <p:cNvSpPr>
            <a:spLocks noGrp="1" noRot="1" noChangeAspect="1" noChangeArrowheads="1" noTextEdit="1"/>
          </p:cNvSpPr>
          <p:nvPr>
            <p:ph type="sldImg"/>
          </p:nvPr>
        </p:nvSpPr>
        <p:spPr/>
      </p:sp>
      <p:sp>
        <p:nvSpPr>
          <p:cNvPr id="14643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13"/>
          <p:cNvSpPr txBox="1">
            <a:spLocks noChangeArrowheads="1"/>
          </p:cNvSpPr>
          <p:nvPr userDrawn="1"/>
        </p:nvSpPr>
        <p:spPr bwMode="auto">
          <a:xfrm>
            <a:off x="0" y="-42863"/>
            <a:ext cx="4495800" cy="519113"/>
          </a:xfrm>
          <a:prstGeom prst="rect">
            <a:avLst/>
          </a:prstGeom>
          <a:noFill/>
          <a:ln w="9525">
            <a:noFill/>
            <a:miter lim="800000"/>
          </a:ln>
          <a:effectLst/>
        </p:spPr>
        <p:txBody>
          <a:bodyPr>
            <a:spAutoFit/>
          </a:bodyPr>
          <a:lstStyle/>
          <a:p>
            <a:pPr algn="l">
              <a:spcBef>
                <a:spcPct val="50000"/>
              </a:spcBef>
              <a:defRPr/>
            </a:pPr>
            <a:r>
              <a:rPr lang="zh-CN" altLang="en-US" dirty="0">
                <a:solidFill>
                  <a:srgbClr val="990000"/>
                </a:solidFill>
                <a:ea typeface="隶书" panose="02010509060101010101" pitchFamily="49" charset="-122"/>
              </a:rPr>
              <a:t>第</a:t>
            </a:r>
            <a:r>
              <a:rPr lang="en-GB" altLang="zh-CN" dirty="0">
                <a:solidFill>
                  <a:srgbClr val="990000"/>
                </a:solidFill>
                <a:ea typeface="隶书" panose="02010509060101010101" pitchFamily="49" charset="-122"/>
              </a:rPr>
              <a:t>1</a:t>
            </a:r>
            <a:r>
              <a:rPr lang="zh-CN" altLang="en-US" dirty="0">
                <a:solidFill>
                  <a:srgbClr val="990000"/>
                </a:solidFill>
                <a:ea typeface="隶书" panose="02010509060101010101" pitchFamily="49" charset="-122"/>
              </a:rPr>
              <a:t>章  </a:t>
            </a:r>
            <a:r>
              <a:rPr lang="zh-CN" altLang="en-US" dirty="0" smtClean="0">
                <a:solidFill>
                  <a:srgbClr val="990000"/>
                </a:solidFill>
                <a:ea typeface="隶书" panose="02010509060101010101" pitchFamily="49" charset="-122"/>
              </a:rPr>
              <a:t> </a:t>
            </a:r>
            <a:r>
              <a:rPr lang="en-US" altLang="zh-CN" sz="2400" dirty="0">
                <a:solidFill>
                  <a:srgbClr val="990000"/>
                </a:solidFill>
                <a:ea typeface="隶书" panose="02010509060101010101" pitchFamily="49" charset="-122"/>
              </a:rPr>
              <a:t>IT </a:t>
            </a:r>
            <a:r>
              <a:rPr lang="zh-CN" altLang="en-US" dirty="0" smtClean="0">
                <a:solidFill>
                  <a:srgbClr val="990000"/>
                </a:solidFill>
                <a:ea typeface="隶书" panose="02010509060101010101" pitchFamily="49" charset="-122"/>
              </a:rPr>
              <a:t>项目管理概述</a:t>
            </a:r>
            <a:endParaRPr lang="zh-CN" altLang="en-US" dirty="0">
              <a:solidFill>
                <a:srgbClr val="990000"/>
              </a:solidFill>
              <a:ea typeface="隶书" panose="02010509060101010101" pitchFamily="49" charset="-122"/>
            </a:endParaRPr>
          </a:p>
        </p:txBody>
      </p:sp>
      <p:sp>
        <p:nvSpPr>
          <p:cNvPr id="3" name="Line 14"/>
          <p:cNvSpPr>
            <a:spLocks noChangeShapeType="1"/>
          </p:cNvSpPr>
          <p:nvPr userDrawn="1"/>
        </p:nvSpPr>
        <p:spPr bwMode="auto">
          <a:xfrm>
            <a:off x="0" y="6453188"/>
            <a:ext cx="9144000" cy="0"/>
          </a:xfrm>
          <a:prstGeom prst="line">
            <a:avLst/>
          </a:prstGeom>
          <a:noFill/>
          <a:ln w="127000" cmpd="thinThick">
            <a:solidFill>
              <a:srgbClr val="CC9900"/>
            </a:solidFill>
            <a:round/>
          </a:ln>
          <a:effectLst/>
        </p:spPr>
        <p:txBody>
          <a:bodyPr wrap="none" anchor="ctr"/>
          <a:lstStyle/>
          <a:p>
            <a:pPr>
              <a:defRPr/>
            </a:pPr>
            <a:endParaRPr lang="zh-CN" altLang="en-US"/>
          </a:p>
        </p:txBody>
      </p:sp>
      <p:sp>
        <p:nvSpPr>
          <p:cNvPr id="4" name="Rectangle 9"/>
          <p:cNvSpPr txBox="1">
            <a:spLocks noChangeArrowheads="1"/>
          </p:cNvSpPr>
          <p:nvPr userDrawn="1"/>
        </p:nvSpPr>
        <p:spPr bwMode="auto">
          <a:xfrm>
            <a:off x="7858125" y="6572250"/>
            <a:ext cx="1295400" cy="260350"/>
          </a:xfrm>
          <a:prstGeom prst="rect">
            <a:avLst/>
          </a:prstGeom>
          <a:ln>
            <a:miter lim="800000"/>
          </a:ln>
        </p:spPr>
        <p:txBody>
          <a:bodyPr lIns="92075" tIns="46038" rIns="92075" bIns="46038" anchor="ctr"/>
          <a:lstStyle>
            <a:lvl1pPr>
              <a:defRPr kumimoji="0" sz="2000">
                <a:solidFill>
                  <a:schemeClr val="bg2"/>
                </a:solidFill>
                <a:ea typeface="楷体_GB2312" pitchFamily="49" charset="-122"/>
              </a:defRPr>
            </a:lvl1pPr>
          </a:lstStyle>
          <a:p>
            <a:pPr>
              <a:defRPr/>
            </a:pPr>
            <a:r>
              <a:rPr lang="en-GB" altLang="zh-CN" dirty="0" smtClean="0"/>
              <a:t>/67</a:t>
            </a:r>
            <a:endParaRPr lang="en-US" altLang="zh-CN" dirty="0"/>
          </a:p>
        </p:txBody>
      </p:sp>
      <p:sp>
        <p:nvSpPr>
          <p:cNvPr id="5" name="Rectangle 9"/>
          <p:cNvSpPr>
            <a:spLocks noGrp="1" noChangeArrowheads="1"/>
          </p:cNvSpPr>
          <p:nvPr>
            <p:ph type="sldNum" sz="quarter" idx="10"/>
          </p:nvPr>
        </p:nvSpPr>
        <p:spPr bwMode="auto">
          <a:xfrm>
            <a:off x="7500938" y="6526213"/>
            <a:ext cx="1295400" cy="260350"/>
          </a:xfrm>
          <a:prstGeom prst="rect">
            <a:avLst/>
          </a:prstGeom>
          <a:ln>
            <a:miter lim="800000"/>
          </a:ln>
        </p:spPr>
        <p:txBody>
          <a:bodyPr vert="horz" wrap="square" lIns="92075" tIns="46038" rIns="92075" bIns="46038" numCol="1" anchor="ctr" anchorCtr="0" compatLnSpc="1"/>
          <a:lstStyle>
            <a:lvl1pPr>
              <a:defRPr kumimoji="0" sz="2000">
                <a:solidFill>
                  <a:schemeClr val="bg2"/>
                </a:solidFill>
                <a:ea typeface="楷体_GB2312" pitchFamily="49" charset="-122"/>
              </a:defRPr>
            </a:lvl1pPr>
          </a:lstStyle>
          <a:p>
            <a:pPr>
              <a:defRPr/>
            </a:pPr>
            <a:r>
              <a:rPr lang="zh-CN" altLang="en-GB"/>
              <a:t>  </a:t>
            </a:r>
            <a:fld id="{513C1988-8BE5-4C5A-8685-D7B8C93F032A}" type="slidenum">
              <a:rPr lang="zh-CN" altLang="en-GB"/>
            </a:fld>
            <a:endParaRPr lang="en-US" altLang="zh-CN"/>
          </a:p>
        </p:txBody>
      </p:sp>
    </p:spTree>
  </p:cSld>
  <p:clrMapOvr>
    <a:masterClrMapping/>
  </p:clrMapOvr>
  <p:transition>
    <p:rand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fld id="{4D135DA9-C5B6-4A24-886B-6CF3553AE971}" type="datetime7">
              <a:rPr lang="zh-CN" altLang="en-US"/>
            </a:fld>
            <a:endParaRPr lang="zh-CN" altLang="zh-CN"/>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78853" name="Rectangle 5"/>
          <p:cNvSpPr>
            <a:spLocks noGrp="1" noChangeArrowheads="1"/>
          </p:cNvSpPr>
          <p:nvPr>
            <p:ph type="title"/>
          </p:nvPr>
        </p:nvSpPr>
        <p:spPr bwMode="auto">
          <a:xfrm>
            <a:off x="685800" y="609600"/>
            <a:ext cx="7772400" cy="1143000"/>
          </a:xfrm>
          <a:prstGeom prst="rect">
            <a:avLst/>
          </a:prstGeom>
          <a:noFill/>
          <a:ln w="9525">
            <a:noFill/>
            <a:miter lim="800000"/>
          </a:ln>
          <a:effectLst/>
        </p:spPr>
        <p:txBody>
          <a:bodyPr vert="horz" wrap="square" lIns="92075" tIns="46038" rIns="92075" bIns="46038" numCol="1" anchor="ctr" anchorCtr="0" compatLnSpc="1"/>
          <a:lstStyle/>
          <a:p>
            <a:pPr lvl="0"/>
            <a:r>
              <a:rPr lang="zh-CN" altLang="en-US" smtClean="0"/>
              <a:t>单击此处编辑母版标题样式</a:t>
            </a:r>
            <a:endParaRPr lang="zh-CN" altLang="en-US" smtClean="0"/>
          </a:p>
        </p:txBody>
      </p:sp>
      <p:sp>
        <p:nvSpPr>
          <p:cNvPr id="78854" name="Rectangle 6"/>
          <p:cNvSpPr>
            <a:spLocks noGrp="1" noChangeArrowheads="1"/>
          </p:cNvSpPr>
          <p:nvPr>
            <p:ph type="dt" sz="half" idx="2"/>
          </p:nvPr>
        </p:nvSpPr>
        <p:spPr bwMode="auto">
          <a:xfrm>
            <a:off x="6084888" y="6021388"/>
            <a:ext cx="2662237" cy="720725"/>
          </a:xfrm>
          <a:prstGeom prst="rect">
            <a:avLst/>
          </a:prstGeom>
          <a:noFill/>
          <a:ln w="9525">
            <a:noFill/>
            <a:miter lim="800000"/>
          </a:ln>
          <a:effectLst/>
        </p:spPr>
        <p:txBody>
          <a:bodyPr vert="horz" wrap="square" lIns="92075" tIns="46038" rIns="92075" bIns="46038" numCol="1" anchor="ctr" anchorCtr="0" compatLnSpc="1"/>
          <a:lstStyle>
            <a:lvl1pPr>
              <a:defRPr kumimoji="0">
                <a:solidFill>
                  <a:schemeClr val="bg2"/>
                </a:solidFill>
              </a:defRPr>
            </a:lvl1pPr>
          </a:lstStyle>
          <a:p>
            <a:pPr>
              <a:defRPr/>
            </a:pPr>
            <a:fld id="{873CE4BC-5B9B-483D-9671-C225B7D59B40}" type="datetime7">
              <a:rPr lang="zh-CN" altLang="en-US"/>
            </a:fld>
            <a:endParaRPr lang="zh-CN"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Lst>
  <p:transition>
    <p:random/>
  </p:transition>
  <p:timing>
    <p:tnLst>
      <p:par>
        <p:cTn id="1" dur="indefinite" restart="never" nodeType="tmRoot"/>
      </p:par>
    </p:tnLst>
  </p:timing>
  <p:hf sldNum="0" hdr="0" ftr="0"/>
  <p:txStyles>
    <p:titleStyle>
      <a:lvl1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1" cstate="print"/>
          <a:srcRect/>
          <a:stretch>
            <a:fillRect/>
          </a:stretch>
        </a:blipFill>
        <a:effectLst/>
      </p:bgPr>
    </p:bg>
    <p:spTree>
      <p:nvGrpSpPr>
        <p:cNvPr id="1" name=""/>
        <p:cNvGrpSpPr/>
        <p:nvPr/>
      </p:nvGrpSpPr>
      <p:grpSpPr>
        <a:xfrm>
          <a:off x="0" y="0"/>
          <a:ext cx="0" cy="0"/>
          <a:chOff x="0" y="0"/>
          <a:chExt cx="0" cy="0"/>
        </a:xfrm>
      </p:grpSpPr>
      <p:sp>
        <p:nvSpPr>
          <p:cNvPr id="172043" name="Text Box 2059"/>
          <p:cNvSpPr txBox="1">
            <a:spLocks noChangeArrowheads="1"/>
          </p:cNvSpPr>
          <p:nvPr/>
        </p:nvSpPr>
        <p:spPr bwMode="auto">
          <a:xfrm>
            <a:off x="3887788" y="4572000"/>
            <a:ext cx="5256212" cy="583565"/>
          </a:xfrm>
          <a:prstGeom prst="rect">
            <a:avLst/>
          </a:prstGeom>
          <a:noFill/>
          <a:ln w="9525">
            <a:noFill/>
            <a:miter lim="800000"/>
          </a:ln>
          <a:effectLst/>
        </p:spPr>
        <p:txBody>
          <a:bodyPr>
            <a:spAutoFit/>
          </a:bodyPr>
          <a:lstStyle/>
          <a:p>
            <a:pPr>
              <a:spcBef>
                <a:spcPct val="50000"/>
              </a:spcBef>
              <a:defRPr/>
            </a:pPr>
            <a:r>
              <a:rPr lang="zh-CN" altLang="en-US" sz="3200"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cs typeface="楷体" panose="02010609060101010101" pitchFamily="49" charset="-122"/>
              </a:rPr>
              <a:t>第一章 </a:t>
            </a:r>
            <a:r>
              <a:rPr lang="en-US" altLang="zh-CN" sz="3200" dirty="0" smtClean="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cs typeface="楷体" panose="02010609060101010101" pitchFamily="49" charset="-122"/>
              </a:rPr>
              <a:t>IT</a:t>
            </a:r>
            <a:r>
              <a:rPr lang="zh-CN" altLang="en-US" sz="3200" dirty="0" smtClean="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cs typeface="楷体" panose="02010609060101010101" pitchFamily="49" charset="-122"/>
              </a:rPr>
              <a:t>项目管理概述</a:t>
            </a:r>
            <a:endParaRPr lang="zh-CN" altLang="en-US" sz="3200" dirty="0" smtClean="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cs typeface="楷体" panose="02010609060101010101" pitchFamily="49" charset="-122"/>
            </a:endParaRPr>
          </a:p>
        </p:txBody>
      </p:sp>
      <p:grpSp>
        <p:nvGrpSpPr>
          <p:cNvPr id="16" name="组合 10"/>
          <p:cNvGrpSpPr/>
          <p:nvPr/>
        </p:nvGrpSpPr>
        <p:grpSpPr bwMode="auto">
          <a:xfrm>
            <a:off x="3857625" y="2286000"/>
            <a:ext cx="5072063" cy="1758633"/>
            <a:chOff x="3857620" y="2071678"/>
            <a:chExt cx="5072066" cy="1759374"/>
          </a:xfrm>
        </p:grpSpPr>
        <p:sp>
          <p:nvSpPr>
            <p:cNvPr id="17" name="Rectangle 2055"/>
            <p:cNvSpPr>
              <a:spLocks noChangeArrowheads="1"/>
            </p:cNvSpPr>
            <p:nvPr/>
          </p:nvSpPr>
          <p:spPr bwMode="auto">
            <a:xfrm>
              <a:off x="4283705" y="2071678"/>
              <a:ext cx="4467863" cy="922408"/>
            </a:xfrm>
            <a:prstGeom prst="rect">
              <a:avLst/>
            </a:prstGeom>
            <a:noFill/>
            <a:ln w="9525">
              <a:noFill/>
              <a:miter lim="800000"/>
            </a:ln>
            <a:effectLst>
              <a:outerShdw blurRad="50800" dist="50800" dir="5400000" algn="ctr" rotWithShape="0">
                <a:srgbClr val="EAEAEA"/>
              </a:outerShdw>
            </a:effectLst>
          </p:spPr>
          <p:txBody>
            <a:bodyPr wrap="square">
              <a:spAutoFit/>
            </a:bodyPr>
            <a:lstStyle/>
            <a:p>
              <a:pPr algn="ctr">
                <a:spcBef>
                  <a:spcPct val="55000"/>
                </a:spcBef>
                <a:defRPr/>
              </a:pPr>
              <a:r>
                <a:rPr lang="en-US" altLang="zh-CN" sz="5400" b="1" spc="800" dirty="0">
                  <a:solidFill>
                    <a:schemeClr val="bg2"/>
                  </a:solidFill>
                  <a:effectLst>
                    <a:outerShdw blurRad="38100" dist="38100" dir="2700000" algn="tl">
                      <a:srgbClr val="000000">
                        <a:alpha val="43137"/>
                      </a:srgbClr>
                    </a:outerShdw>
                  </a:effectLst>
                  <a:latin typeface="+mn-lt"/>
                  <a:ea typeface="微软雅黑" panose="020B0503020204020204" pitchFamily="34" charset="-122"/>
                  <a:cs typeface="+mn-lt"/>
                </a:rPr>
                <a:t>IT</a:t>
              </a:r>
              <a:r>
                <a:rPr lang="zh-CN" altLang="en-US" sz="5400" b="1" spc="800"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项目管理</a:t>
              </a:r>
              <a:endParaRPr lang="zh-CN" altLang="en-US" sz="5400" b="1" spc="800"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8" name="矩形 17"/>
            <p:cNvSpPr/>
            <p:nvPr/>
          </p:nvSpPr>
          <p:spPr>
            <a:xfrm>
              <a:off x="3857620" y="3000757"/>
              <a:ext cx="5072066" cy="830295"/>
            </a:xfrm>
            <a:prstGeom prst="rect">
              <a:avLst/>
            </a:prstGeom>
          </p:spPr>
          <p:txBody>
            <a:bodyPr>
              <a:spAutoFit/>
            </a:bodyPr>
            <a:lstStyle/>
            <a:p>
              <a:pPr algn="ctr">
                <a:defRPr/>
              </a:pPr>
              <a:r>
                <a:rPr lang="en-US" altLang="zh-CN" sz="2400"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Information    Technology  </a:t>
              </a:r>
              <a:endParaRPr lang="en-US" altLang="zh-CN" sz="2400"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endParaRPr>
            </a:p>
            <a:p>
              <a:pPr algn="ctr">
                <a:defRPr/>
              </a:pPr>
              <a:r>
                <a:rPr lang="en-US" altLang="zh-CN" sz="2400"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 Project   Management</a:t>
              </a:r>
              <a:endParaRPr lang="zh-CN" altLang="en-US" sz="2400"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endParaRPr>
            </a:p>
          </p:txBody>
        </p:sp>
      </p:gr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9"/>
          <p:cNvSpPr>
            <a:spLocks noGrp="1" noChangeArrowheads="1"/>
          </p:cNvSpPr>
          <p:nvPr>
            <p:ph type="sldNum" sz="quarter" idx="10"/>
          </p:nvPr>
        </p:nvSpPr>
        <p:spPr>
          <a:noFill/>
        </p:spPr>
        <p:txBody>
          <a:bodyPr/>
          <a:lstStyle/>
          <a:p>
            <a:r>
              <a:rPr lang="zh-CN" altLang="en-GB" smtClean="0"/>
              <a:t>  </a:t>
            </a:r>
            <a:fld id="{3D4CF016-866C-41CC-BED1-B63D6F0F469C}" type="slidenum">
              <a:rPr lang="zh-CN" altLang="en-GB" smtClean="0"/>
            </a:fld>
            <a:endParaRPr lang="en-US" altLang="zh-CN" smtClean="0"/>
          </a:p>
        </p:txBody>
      </p:sp>
      <p:sp>
        <p:nvSpPr>
          <p:cNvPr id="512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512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7" name="Text Box 4"/>
          <p:cNvSpPr txBox="1">
            <a:spLocks noChangeArrowheads="1"/>
          </p:cNvSpPr>
          <p:nvPr/>
        </p:nvSpPr>
        <p:spPr bwMode="auto">
          <a:xfrm>
            <a:off x="250825" y="1666875"/>
            <a:ext cx="8677275" cy="4543425"/>
          </a:xfrm>
          <a:prstGeom prst="rect">
            <a:avLst/>
          </a:prstGeom>
          <a:noFill/>
          <a:ln w="28575">
            <a:noFill/>
            <a:miter lim="800000"/>
          </a:ln>
        </p:spPr>
        <p:txBody>
          <a:bodyPr>
            <a:spAutoFit/>
          </a:bodyPr>
          <a:lstStyle/>
          <a:p>
            <a:pPr algn="l">
              <a:lnSpc>
                <a:spcPct val="85000"/>
              </a:lnSpc>
              <a:spcBef>
                <a:spcPct val="50000"/>
              </a:spcBef>
              <a:buClr>
                <a:schemeClr val="hlink"/>
              </a:buClr>
            </a:pPr>
            <a:r>
              <a:rPr kumimoji="0" lang="en-US" altLang="zh-CN" sz="4400">
                <a:solidFill>
                  <a:schemeClr val="bg2"/>
                </a:solidFill>
                <a:latin typeface="楷体" panose="02010609060101010101" pitchFamily="49" charset="-122"/>
                <a:ea typeface="楷体" panose="02010609060101010101" pitchFamily="49" charset="-122"/>
                <a:cs typeface="楷体" panose="02010609060101010101" pitchFamily="49" charset="-122"/>
              </a:rPr>
              <a:t>IT</a:t>
            </a:r>
            <a:r>
              <a:rPr kumimoji="0" lang="zh-CN" altLang="en-US" sz="4400">
                <a:solidFill>
                  <a:schemeClr val="bg2"/>
                </a:solidFill>
                <a:latin typeface="楷体" panose="02010609060101010101" pitchFamily="49" charset="-122"/>
                <a:ea typeface="楷体" panose="02010609060101010101" pitchFamily="49" charset="-122"/>
                <a:cs typeface="楷体" panose="02010609060101010101" pitchFamily="49" charset="-122"/>
              </a:rPr>
              <a:t>项目失败的原因主要有两个：</a:t>
            </a:r>
            <a:endParaRPr kumimoji="0" lang="zh-CN" altLang="en-US" sz="440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lnSpc>
                <a:spcPct val="85000"/>
              </a:lnSpc>
              <a:spcBef>
                <a:spcPct val="35000"/>
              </a:spcBef>
            </a:pPr>
            <a:r>
              <a:rPr lang="en-US" altLang="zh-CN" sz="320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lang="en-US" altLang="en-US" sz="3200">
                <a:solidFill>
                  <a:srgbClr val="FF0000"/>
                </a:solidFill>
                <a:latin typeface="楷体" panose="02010609060101010101" pitchFamily="49" charset="-122"/>
                <a:ea typeface="楷体" panose="02010609060101010101" pitchFamily="49" charset="-122"/>
                <a:cs typeface="楷体" panose="02010609060101010101" pitchFamily="49" charset="-122"/>
              </a:rPr>
              <a:t>①</a:t>
            </a:r>
            <a:r>
              <a:rPr lang="en-US" altLang="zh-CN" sz="3200">
                <a:solidFill>
                  <a:srgbClr val="FF0000"/>
                </a:solidFill>
                <a:latin typeface="楷体" panose="02010609060101010101" pitchFamily="49" charset="-122"/>
                <a:ea typeface="楷体" panose="02010609060101010101" pitchFamily="49" charset="-122"/>
                <a:cs typeface="楷体" panose="02010609060101010101" pitchFamily="49" charset="-122"/>
              </a:rPr>
              <a:t>  </a:t>
            </a:r>
            <a:r>
              <a:rPr lang="zh-CN" altLang="en-US" sz="3200">
                <a:solidFill>
                  <a:srgbClr val="FF0000"/>
                </a:solidFill>
                <a:latin typeface="楷体" panose="02010609060101010101" pitchFamily="49" charset="-122"/>
                <a:ea typeface="楷体" panose="02010609060101010101" pitchFamily="49" charset="-122"/>
                <a:cs typeface="楷体" panose="02010609060101010101" pitchFamily="49" charset="-122"/>
              </a:rPr>
              <a:t>由于</a:t>
            </a:r>
            <a:r>
              <a:rPr lang="en-US" altLang="zh-CN" sz="3200">
                <a:solidFill>
                  <a:srgbClr val="FF0000"/>
                </a:solidFill>
                <a:ea typeface="楷体" panose="02010609060101010101" pitchFamily="49" charset="-122"/>
                <a:cs typeface="Times New Roman" panose="02020603050405020304" pitchFamily="18" charset="0"/>
              </a:rPr>
              <a:t>IT</a:t>
            </a:r>
            <a:r>
              <a:rPr lang="zh-CN" altLang="en-US" sz="3600">
                <a:solidFill>
                  <a:srgbClr val="FF0000"/>
                </a:solidFill>
                <a:latin typeface="楷体" panose="02010609060101010101" pitchFamily="49" charset="-122"/>
                <a:ea typeface="楷体" panose="02010609060101010101" pitchFamily="49" charset="-122"/>
                <a:cs typeface="楷体" panose="02010609060101010101" pitchFamily="49" charset="-122"/>
              </a:rPr>
              <a:t>项目的</a:t>
            </a:r>
            <a:r>
              <a:rPr lang="zh-CN" altLang="en-US" sz="4400">
                <a:solidFill>
                  <a:srgbClr val="0000FF"/>
                </a:solidFill>
                <a:latin typeface="楷体" panose="02010609060101010101" pitchFamily="49" charset="-122"/>
                <a:ea typeface="楷体" panose="02010609060101010101" pitchFamily="49" charset="-122"/>
                <a:cs typeface="楷体" panose="02010609060101010101" pitchFamily="49" charset="-122"/>
              </a:rPr>
              <a:t>复杂性</a:t>
            </a:r>
            <a:endParaRPr lang="zh-CN" altLang="en-US" sz="4400" u="sng">
              <a:solidFill>
                <a:srgbClr val="000066"/>
              </a:solidFill>
              <a:latin typeface="楷体" panose="02010609060101010101" pitchFamily="49" charset="-122"/>
              <a:ea typeface="楷体" panose="02010609060101010101" pitchFamily="49" charset="-122"/>
              <a:cs typeface="楷体" panose="02010609060101010101" pitchFamily="49" charset="-122"/>
            </a:endParaRPr>
          </a:p>
          <a:p>
            <a:pPr algn="l">
              <a:spcBef>
                <a:spcPct val="35000"/>
              </a:spcBef>
            </a:pPr>
            <a:r>
              <a:rPr lang="zh-CN" altLang="en-US" sz="3200">
                <a:solidFill>
                  <a:srgbClr val="990000"/>
                </a:solidFill>
                <a:latin typeface="楷体" panose="02010609060101010101" pitchFamily="49" charset="-122"/>
                <a:ea typeface="楷体" panose="02010609060101010101" pitchFamily="49" charset="-122"/>
                <a:cs typeface="楷体" panose="02010609060101010101" pitchFamily="49" charset="-122"/>
              </a:rPr>
              <a:t>   </a:t>
            </a:r>
            <a:r>
              <a:rPr lang="zh-CN" altLang="en-US" sz="3200">
                <a:solidFill>
                  <a:srgbClr val="FF0000"/>
                </a:solidFill>
                <a:latin typeface="楷体" panose="02010609060101010101" pitchFamily="49" charset="-122"/>
                <a:ea typeface="楷体" panose="02010609060101010101" pitchFamily="49" charset="-122"/>
                <a:cs typeface="楷体" panose="02010609060101010101" pitchFamily="49" charset="-122"/>
              </a:rPr>
              <a:t>②  由于</a:t>
            </a:r>
            <a:r>
              <a:rPr lang="zh-CN" altLang="en-US" sz="3600">
                <a:solidFill>
                  <a:srgbClr val="FF0000"/>
                </a:solidFill>
                <a:latin typeface="楷体" panose="02010609060101010101" pitchFamily="49" charset="-122"/>
                <a:ea typeface="楷体" panose="02010609060101010101" pitchFamily="49" charset="-122"/>
                <a:cs typeface="楷体" panose="02010609060101010101" pitchFamily="49" charset="-122"/>
              </a:rPr>
              <a:t>缺乏</a:t>
            </a:r>
            <a:r>
              <a:rPr lang="zh-CN" altLang="en-US" sz="4400">
                <a:solidFill>
                  <a:srgbClr val="0000FF"/>
                </a:solidFill>
                <a:latin typeface="楷体" panose="02010609060101010101" pitchFamily="49" charset="-122"/>
                <a:ea typeface="楷体" panose="02010609060101010101" pitchFamily="49" charset="-122"/>
                <a:cs typeface="楷体" panose="02010609060101010101" pitchFamily="49" charset="-122"/>
              </a:rPr>
              <a:t>合格</a:t>
            </a:r>
            <a:r>
              <a:rPr lang="zh-CN" altLang="en-US" sz="4000">
                <a:solidFill>
                  <a:srgbClr val="FF0000"/>
                </a:solidFill>
                <a:latin typeface="楷体" panose="02010609060101010101" pitchFamily="49" charset="-122"/>
                <a:ea typeface="楷体" panose="02010609060101010101" pitchFamily="49" charset="-122"/>
                <a:cs typeface="楷体" panose="02010609060101010101" pitchFamily="49" charset="-122"/>
              </a:rPr>
              <a:t>的</a:t>
            </a:r>
            <a:r>
              <a:rPr lang="en-US" altLang="zh-CN" sz="3600">
                <a:solidFill>
                  <a:srgbClr val="FF0000"/>
                </a:solidFill>
                <a:ea typeface="楷体" panose="02010609060101010101" pitchFamily="49" charset="-122"/>
                <a:cs typeface="Times New Roman" panose="02020603050405020304" pitchFamily="18" charset="0"/>
              </a:rPr>
              <a:t>IT</a:t>
            </a:r>
            <a:r>
              <a:rPr lang="zh-CN" altLang="en-US" sz="3600">
                <a:solidFill>
                  <a:srgbClr val="FF0000"/>
                </a:solidFill>
                <a:latin typeface="楷体" panose="02010609060101010101" pitchFamily="49" charset="-122"/>
                <a:ea typeface="楷体" panose="02010609060101010101" pitchFamily="49" charset="-122"/>
                <a:cs typeface="楷体" panose="02010609060101010101" pitchFamily="49" charset="-122"/>
              </a:rPr>
              <a:t>项目管理人才</a:t>
            </a:r>
            <a:endParaRPr lang="en-US" altLang="zh-CN" sz="3600">
              <a:solidFill>
                <a:srgbClr val="990000"/>
              </a:solidFill>
              <a:latin typeface="楷体" panose="02010609060101010101" pitchFamily="49" charset="-122"/>
              <a:ea typeface="楷体" panose="02010609060101010101" pitchFamily="49" charset="-122"/>
              <a:cs typeface="楷体" panose="02010609060101010101" pitchFamily="49" charset="-122"/>
            </a:endParaRPr>
          </a:p>
          <a:p>
            <a:pPr algn="l">
              <a:spcBef>
                <a:spcPct val="35000"/>
              </a:spcBef>
            </a:pPr>
            <a:endParaRPr lang="zh-CN" altLang="en-US">
              <a:solidFill>
                <a:srgbClr val="990000"/>
              </a:solidFill>
              <a:latin typeface="楷体" panose="02010609060101010101" pitchFamily="49" charset="-122"/>
              <a:ea typeface="楷体" panose="02010609060101010101" pitchFamily="49" charset="-122"/>
              <a:cs typeface="楷体" panose="02010609060101010101" pitchFamily="49" charset="-122"/>
            </a:endParaRPr>
          </a:p>
          <a:p>
            <a:pPr algn="l">
              <a:buClr>
                <a:schemeClr val="hlink"/>
              </a:buClr>
            </a:pPr>
            <a:r>
              <a:rPr lang="zh-CN" altLang="en-US" sz="4800">
                <a:solidFill>
                  <a:srgbClr val="0000FF"/>
                </a:solidFill>
                <a:latin typeface="楷体" panose="02010609060101010101" pitchFamily="49" charset="-122"/>
                <a:ea typeface="楷体" panose="02010609060101010101" pitchFamily="49" charset="-122"/>
                <a:cs typeface="楷体" panose="02010609060101010101" pitchFamily="49" charset="-122"/>
              </a:rPr>
              <a:t>不能进行有效的项目管理是导致软件项目</a:t>
            </a:r>
            <a:r>
              <a:rPr lang="zh-CN" altLang="en-US" sz="5400">
                <a:solidFill>
                  <a:srgbClr val="FF0000"/>
                </a:solidFill>
                <a:latin typeface="楷体" panose="02010609060101010101" pitchFamily="49" charset="-122"/>
                <a:ea typeface="楷体" panose="02010609060101010101" pitchFamily="49" charset="-122"/>
                <a:cs typeface="楷体" panose="02010609060101010101" pitchFamily="49" charset="-122"/>
              </a:rPr>
              <a:t>失控</a:t>
            </a:r>
            <a:r>
              <a:rPr lang="zh-CN" altLang="en-US" sz="4800">
                <a:solidFill>
                  <a:srgbClr val="0000FF"/>
                </a:solidFill>
                <a:latin typeface="楷体" panose="02010609060101010101" pitchFamily="49" charset="-122"/>
                <a:ea typeface="楷体" panose="02010609060101010101" pitchFamily="49" charset="-122"/>
                <a:cs typeface="楷体" panose="02010609060101010101" pitchFamily="49" charset="-122"/>
              </a:rPr>
              <a:t>的直接原因</a:t>
            </a:r>
            <a:r>
              <a:rPr lang="zh-CN" altLang="en-US" sz="4800">
                <a:solidFill>
                  <a:srgbClr val="000099"/>
                </a:solidFill>
                <a:latin typeface="楷体" panose="02010609060101010101" pitchFamily="49" charset="-122"/>
                <a:ea typeface="楷体" panose="02010609060101010101" pitchFamily="49" charset="-122"/>
                <a:cs typeface="楷体" panose="02010609060101010101" pitchFamily="49" charset="-122"/>
              </a:rPr>
              <a:t>。</a:t>
            </a:r>
            <a:endParaRPr lang="zh-CN" altLang="en-US" sz="4800">
              <a:solidFill>
                <a:srgbClr val="000099"/>
              </a:solidFill>
              <a:latin typeface="楷体" panose="02010609060101010101" pitchFamily="49" charset="-122"/>
              <a:ea typeface="楷体" panose="02010609060101010101" pitchFamily="49" charset="-122"/>
              <a:cs typeface="楷体" panose="02010609060101010101" pitchFamily="49" charset="-122"/>
            </a:endParaRPr>
          </a:p>
        </p:txBody>
      </p:sp>
      <p:sp>
        <p:nvSpPr>
          <p:cNvPr id="8" name="Rectangle 154"/>
          <p:cNvSpPr>
            <a:spLocks noChangeArrowheads="1"/>
          </p:cNvSpPr>
          <p:nvPr/>
        </p:nvSpPr>
        <p:spPr bwMode="auto">
          <a:xfrm>
            <a:off x="0" y="642918"/>
            <a:ext cx="3532187" cy="553085"/>
          </a:xfrm>
          <a:prstGeom prst="rect">
            <a:avLst/>
          </a:prstGeom>
          <a:noFill/>
          <a:ln w="9525">
            <a:noFill/>
            <a:miter lim="800000"/>
          </a:ln>
          <a:effectLst/>
        </p:spPr>
        <p:txBody>
          <a:bodyPr>
            <a:spAutoFit/>
          </a:bodyPr>
          <a:lstStyle/>
          <a:p>
            <a:pPr algn="l">
              <a:spcBef>
                <a:spcPct val="0"/>
              </a:spcBef>
            </a:pPr>
            <a:r>
              <a:rPr kumimoji="0" lang="en-US" altLang="zh-CN" sz="3000" b="1">
                <a:latin typeface="Arial" panose="020B0604020202020204" pitchFamily="34" charset="0"/>
              </a:rPr>
              <a:t>【</a:t>
            </a:r>
            <a:r>
              <a:rPr kumimoji="0" lang="zh-CN" altLang="en-US" sz="3000" b="1">
                <a:latin typeface="Arial" panose="020B0604020202020204" pitchFamily="34" charset="0"/>
              </a:rPr>
              <a:t>课程回顾</a:t>
            </a:r>
            <a:r>
              <a:rPr kumimoji="0" lang="en-US" altLang="zh-CN" sz="3000" b="1">
                <a:latin typeface="Arial" panose="020B0604020202020204" pitchFamily="34" charset="0"/>
              </a:rPr>
              <a:t>】</a:t>
            </a:r>
            <a:endParaRPr kumimoji="0" lang="en-US" altLang="zh-CN" sz="3000" b="1">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sldNum" sz="quarter" idx="10"/>
          </p:nvPr>
        </p:nvSpPr>
        <p:spPr>
          <a:noFill/>
        </p:spPr>
        <p:txBody>
          <a:bodyPr/>
          <a:lstStyle/>
          <a:p>
            <a:r>
              <a:rPr lang="zh-CN" altLang="en-GB" smtClean="0"/>
              <a:t>  </a:t>
            </a:r>
            <a:fld id="{5B3F19B0-0D51-46B1-B130-EF6A056B873F}" type="slidenum">
              <a:rPr lang="zh-CN" altLang="en-GB" smtClean="0"/>
            </a:fld>
            <a:endParaRPr lang="en-US" altLang="zh-CN" smtClean="0"/>
          </a:p>
        </p:txBody>
      </p:sp>
      <p:sp>
        <p:nvSpPr>
          <p:cNvPr id="614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6148" name="Text Box 3"/>
          <p:cNvSpPr txBox="1">
            <a:spLocks noChangeArrowheads="1"/>
          </p:cNvSpPr>
          <p:nvPr/>
        </p:nvSpPr>
        <p:spPr bwMode="auto">
          <a:xfrm>
            <a:off x="285750" y="1428750"/>
            <a:ext cx="8153400" cy="808106"/>
          </a:xfrm>
          <a:prstGeom prst="rect">
            <a:avLst/>
          </a:prstGeom>
          <a:noFill/>
          <a:ln w="9525">
            <a:noFill/>
            <a:miter lim="800000"/>
          </a:ln>
        </p:spPr>
        <p:txBody>
          <a:bodyPr>
            <a:spAutoFit/>
          </a:bodyPr>
          <a:lstStyle/>
          <a:p>
            <a:pPr algn="l">
              <a:lnSpc>
                <a:spcPct val="110000"/>
              </a:lnSpc>
              <a:spcBef>
                <a:spcPct val="50000"/>
              </a:spcBef>
              <a:buClr>
                <a:srgbClr val="990000"/>
              </a:buClr>
            </a:pPr>
            <a:r>
              <a:rPr lang="zh-CN" altLang="en-US" sz="4400" u="sng">
                <a:solidFill>
                  <a:srgbClr val="990000"/>
                </a:solidFill>
                <a:latin typeface="华文楷体" panose="02010600040101010101" pitchFamily="2" charset="-122"/>
                <a:ea typeface="华文楷体" panose="02010600040101010101" pitchFamily="2" charset="-122"/>
              </a:rPr>
              <a:t>结论</a:t>
            </a:r>
            <a:endParaRPr lang="zh-CN" altLang="en-US" sz="4400" u="sng">
              <a:solidFill>
                <a:srgbClr val="990000"/>
              </a:solidFill>
              <a:latin typeface="华文楷体" panose="02010600040101010101" pitchFamily="2" charset="-122"/>
              <a:ea typeface="华文楷体" panose="02010600040101010101" pitchFamily="2" charset="-122"/>
            </a:endParaRPr>
          </a:p>
        </p:txBody>
      </p:sp>
      <p:sp>
        <p:nvSpPr>
          <p:cNvPr id="7" name="Text Box 4"/>
          <p:cNvSpPr txBox="1">
            <a:spLocks noChangeArrowheads="1"/>
          </p:cNvSpPr>
          <p:nvPr/>
        </p:nvSpPr>
        <p:spPr bwMode="auto">
          <a:xfrm>
            <a:off x="285750" y="1643063"/>
            <a:ext cx="8677275" cy="4030980"/>
          </a:xfrm>
          <a:prstGeom prst="rect">
            <a:avLst/>
          </a:prstGeom>
          <a:noFill/>
          <a:ln w="28575">
            <a:noFill/>
            <a:miter lim="800000"/>
          </a:ln>
        </p:spPr>
        <p:txBody>
          <a:bodyPr>
            <a:spAutoFit/>
          </a:bodyPr>
          <a:lstStyle/>
          <a:p>
            <a:pPr marL="171450" indent="5080" algn="l">
              <a:spcBef>
                <a:spcPts val="1200"/>
              </a:spcBef>
              <a:spcAft>
                <a:spcPts val="1200"/>
              </a:spcAft>
              <a:buClr>
                <a:srgbClr val="FF0000"/>
              </a:buClr>
              <a:defRPr/>
            </a:pPr>
            <a:endParaRPr lang="en-US" altLang="zh-CN" sz="3600" dirty="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marL="171450" indent="5080" algn="l">
              <a:spcBef>
                <a:spcPts val="1200"/>
              </a:spcBef>
              <a:spcAft>
                <a:spcPts val="1200"/>
              </a:spcAft>
              <a:buClr>
                <a:srgbClr val="FF0000"/>
              </a:buClr>
              <a:buFont typeface="Wingdings" panose="05000000000000000000" pitchFamily="2" charset="2"/>
              <a:buChar char="n"/>
              <a:defRPr/>
            </a:pPr>
            <a:r>
              <a:rPr lang="zh-CN" altLang="en-US" sz="3600" dirty="0">
                <a:solidFill>
                  <a:srgbClr val="0000FF"/>
                </a:solidFill>
                <a:latin typeface="楷体" panose="02010609060101010101" pitchFamily="49" charset="-122"/>
                <a:ea typeface="楷体" panose="02010609060101010101" pitchFamily="49" charset="-122"/>
                <a:cs typeface="楷体" panose="02010609060101010101" pitchFamily="49" charset="-122"/>
              </a:rPr>
              <a:t>具有扎实软件项目管理理论和丰富项目实践经验的从业人员是软件行业中最需要的和最具竞争力的人才。</a:t>
            </a:r>
            <a:endParaRPr lang="en-US" altLang="zh-CN" sz="3600" dirty="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marL="171450" indent="5080" algn="l">
              <a:spcBef>
                <a:spcPts val="1200"/>
              </a:spcBef>
              <a:spcAft>
                <a:spcPts val="1200"/>
              </a:spcAft>
              <a:buClr>
                <a:srgbClr val="FF0000"/>
              </a:buClr>
              <a:buFont typeface="Wingdings" panose="05000000000000000000" pitchFamily="2" charset="2"/>
              <a:buChar char="n"/>
              <a:defRPr/>
            </a:pPr>
            <a:r>
              <a:rPr lang="en-US" altLang="zh-CN" sz="3600" dirty="0">
                <a:solidFill>
                  <a:srgbClr val="0000FF"/>
                </a:solidFill>
                <a:latin typeface="楷体" panose="02010609060101010101" pitchFamily="49" charset="-122"/>
                <a:ea typeface="楷体" panose="02010609060101010101" pitchFamily="49" charset="-122"/>
                <a:cs typeface="楷体" panose="02010609060101010101" pitchFamily="49" charset="-122"/>
              </a:rPr>
              <a:t>IT</a:t>
            </a:r>
            <a:r>
              <a:rPr lang="zh-CN" altLang="en-US" sz="3600" dirty="0">
                <a:solidFill>
                  <a:srgbClr val="0000FF"/>
                </a:solidFill>
                <a:latin typeface="楷体" panose="02010609060101010101" pitchFamily="49" charset="-122"/>
                <a:ea typeface="楷体" panose="02010609060101010101" pitchFamily="49" charset="-122"/>
                <a:cs typeface="楷体" panose="02010609060101010101" pitchFamily="49" charset="-122"/>
              </a:rPr>
              <a:t>项目经理的数量和质量决定了我国信息产业和国家信息化的发展速度和水平！</a:t>
            </a:r>
            <a:endParaRPr lang="zh-CN" altLang="en-US" sz="3600"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8" name="Rectangle 154"/>
          <p:cNvSpPr>
            <a:spLocks noChangeArrowheads="1"/>
          </p:cNvSpPr>
          <p:nvPr/>
        </p:nvSpPr>
        <p:spPr bwMode="auto">
          <a:xfrm>
            <a:off x="103188" y="620713"/>
            <a:ext cx="3532187" cy="549275"/>
          </a:xfrm>
          <a:prstGeom prst="rect">
            <a:avLst/>
          </a:prstGeom>
          <a:noFill/>
          <a:ln w="9525">
            <a:noFill/>
            <a:miter lim="800000"/>
          </a:ln>
          <a:effectLst/>
        </p:spPr>
        <p:txBody>
          <a:bodyPr>
            <a:spAutoFit/>
          </a:bodyPr>
          <a:lstStyle/>
          <a:p>
            <a:pPr algn="l">
              <a:spcBef>
                <a:spcPct val="0"/>
              </a:spcBef>
            </a:pPr>
            <a:r>
              <a:rPr kumimoji="0" lang="en-US" altLang="zh-CN" sz="3000" b="1">
                <a:latin typeface="Arial" panose="020B0604020202020204" pitchFamily="34" charset="0"/>
              </a:rPr>
              <a:t>【</a:t>
            </a:r>
            <a:r>
              <a:rPr kumimoji="0" lang="zh-CN" altLang="en-US" sz="3000" b="1">
                <a:latin typeface="Arial" panose="020B0604020202020204" pitchFamily="34" charset="0"/>
              </a:rPr>
              <a:t>课程回顾</a:t>
            </a:r>
            <a:r>
              <a:rPr kumimoji="0" lang="en-US" altLang="zh-CN" sz="3000" b="1">
                <a:latin typeface="Arial" panose="020B0604020202020204" pitchFamily="34" charset="0"/>
              </a:rPr>
              <a:t>】</a:t>
            </a:r>
            <a:endParaRPr kumimoji="0" lang="en-US" altLang="zh-CN" sz="3000" b="1">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xfrm>
            <a:off x="7429500" y="6597650"/>
            <a:ext cx="1295400" cy="260350"/>
          </a:xfrm>
          <a:noFill/>
        </p:spPr>
        <p:txBody>
          <a:bodyPr/>
          <a:lstStyle/>
          <a:p>
            <a:r>
              <a:rPr lang="zh-CN" altLang="en-GB" smtClean="0"/>
              <a:t>  </a:t>
            </a:r>
            <a:fld id="{E964DA05-D2FA-4CB4-ACC1-929C02CC2B1D}" type="slidenum">
              <a:rPr lang="zh-CN" altLang="en-GB" smtClean="0"/>
            </a:fld>
            <a:endParaRPr lang="en-US" altLang="zh-CN" smtClean="0"/>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9" name="Rectangle 9"/>
          <p:cNvSpPr txBox="1">
            <a:spLocks noChangeArrowheads="1"/>
          </p:cNvSpPr>
          <p:nvPr/>
        </p:nvSpPr>
        <p:spPr bwMode="auto">
          <a:xfrm>
            <a:off x="214313" y="1428750"/>
            <a:ext cx="7315200" cy="503238"/>
          </a:xfrm>
          <a:prstGeom prst="rect">
            <a:avLst/>
          </a:prstGeom>
          <a:noFill/>
          <a:ln>
            <a:miter lim="800000"/>
          </a:ln>
        </p:spPr>
        <p:txBody>
          <a:bodyPr/>
          <a:lstStyle/>
          <a:p>
            <a:pPr algn="l">
              <a:spcBef>
                <a:spcPct val="20000"/>
              </a:spcBef>
              <a:buClr>
                <a:srgbClr val="C00000"/>
              </a:buClr>
              <a:buFont typeface="Wingdings" panose="05000000000000000000" pitchFamily="2" charset="2"/>
              <a:buChar char="Ø"/>
              <a:defRPr/>
            </a:pPr>
            <a:endParaRPr lang="en-US" altLang="zh-CN" sz="3000" kern="0" dirty="0">
              <a:solidFill>
                <a:srgbClr val="FF0000"/>
              </a:solidFill>
              <a:latin typeface="宋体" panose="02010600030101010101" pitchFamily="2" charset="-122"/>
              <a:ea typeface="+mn-ea"/>
            </a:endParaRPr>
          </a:p>
        </p:txBody>
      </p:sp>
      <p:sp>
        <p:nvSpPr>
          <p:cNvPr id="8198" name="AutoShape 6"/>
          <p:cNvSpPr>
            <a:spLocks noChangeArrowheads="1"/>
          </p:cNvSpPr>
          <p:nvPr/>
        </p:nvSpPr>
        <p:spPr bwMode="auto">
          <a:xfrm>
            <a:off x="1397000" y="3079750"/>
            <a:ext cx="3960813" cy="2736850"/>
          </a:xfrm>
          <a:prstGeom prst="cube">
            <a:avLst>
              <a:gd name="adj" fmla="val 25000"/>
            </a:avLst>
          </a:prstGeom>
          <a:noFill/>
          <a:ln w="9525">
            <a:solidFill>
              <a:schemeClr val="tx1"/>
            </a:solidFill>
            <a:miter lim="800000"/>
          </a:ln>
        </p:spPr>
        <p:txBody>
          <a:bodyPr wrap="none" anchor="ctr"/>
          <a:lstStyle/>
          <a:p>
            <a:endParaRPr lang="zh-CN" altLang="en-US"/>
          </a:p>
        </p:txBody>
      </p:sp>
      <p:grpSp>
        <p:nvGrpSpPr>
          <p:cNvPr id="2" name="Group 16"/>
          <p:cNvGrpSpPr/>
          <p:nvPr/>
        </p:nvGrpSpPr>
        <p:grpSpPr bwMode="auto">
          <a:xfrm>
            <a:off x="2530475" y="4349750"/>
            <a:ext cx="2736850" cy="458788"/>
            <a:chOff x="1656" y="2552"/>
            <a:chExt cx="1724" cy="289"/>
          </a:xfrm>
        </p:grpSpPr>
        <p:sp>
          <p:nvSpPr>
            <p:cNvPr id="8208" name="Line 8"/>
            <p:cNvSpPr>
              <a:spLocks noChangeShapeType="1"/>
            </p:cNvSpPr>
            <p:nvPr/>
          </p:nvSpPr>
          <p:spPr bwMode="auto">
            <a:xfrm>
              <a:off x="1656" y="2841"/>
              <a:ext cx="1724" cy="0"/>
            </a:xfrm>
            <a:prstGeom prst="line">
              <a:avLst/>
            </a:prstGeom>
            <a:noFill/>
            <a:ln w="101600">
              <a:solidFill>
                <a:srgbClr val="990000"/>
              </a:solidFill>
              <a:round/>
              <a:tailEnd type="triangle" w="med" len="med"/>
            </a:ln>
          </p:spPr>
          <p:txBody>
            <a:bodyPr/>
            <a:lstStyle/>
            <a:p>
              <a:endParaRPr lang="zh-CN" altLang="en-US"/>
            </a:p>
          </p:txBody>
        </p:sp>
        <p:sp>
          <p:nvSpPr>
            <p:cNvPr id="8209" name="Text Box 10"/>
            <p:cNvSpPr txBox="1">
              <a:spLocks noChangeArrowheads="1"/>
            </p:cNvSpPr>
            <p:nvPr/>
          </p:nvSpPr>
          <p:spPr bwMode="auto">
            <a:xfrm>
              <a:off x="1926" y="2552"/>
              <a:ext cx="1406" cy="288"/>
            </a:xfrm>
            <a:prstGeom prst="rect">
              <a:avLst/>
            </a:prstGeom>
            <a:noFill/>
            <a:ln w="9525">
              <a:noFill/>
              <a:miter lim="800000"/>
            </a:ln>
          </p:spPr>
          <p:txBody>
            <a:bodyPr>
              <a:spAutoFit/>
            </a:bodyPr>
            <a:lstStyle/>
            <a:p>
              <a:pPr algn="l">
                <a:spcBef>
                  <a:spcPct val="50000"/>
                </a:spcBef>
              </a:pPr>
              <a:r>
                <a:rPr lang="zh-CN" altLang="en-US" sz="2400">
                  <a:solidFill>
                    <a:srgbClr val="000066"/>
                  </a:solidFill>
                </a:rPr>
                <a:t>科学与技能</a:t>
              </a:r>
              <a:endParaRPr lang="zh-CN" altLang="en-US" sz="2400">
                <a:solidFill>
                  <a:srgbClr val="000066"/>
                </a:solidFill>
              </a:endParaRPr>
            </a:p>
          </p:txBody>
        </p:sp>
      </p:grpSp>
      <p:grpSp>
        <p:nvGrpSpPr>
          <p:cNvPr id="3" name="Group 17"/>
          <p:cNvGrpSpPr/>
          <p:nvPr/>
        </p:nvGrpSpPr>
        <p:grpSpPr bwMode="auto">
          <a:xfrm>
            <a:off x="244475" y="4806950"/>
            <a:ext cx="3095625" cy="1296988"/>
            <a:chOff x="204" y="2841"/>
            <a:chExt cx="1950" cy="817"/>
          </a:xfrm>
        </p:grpSpPr>
        <p:sp>
          <p:nvSpPr>
            <p:cNvPr id="8206" name="Line 9"/>
            <p:cNvSpPr>
              <a:spLocks noChangeShapeType="1"/>
            </p:cNvSpPr>
            <p:nvPr/>
          </p:nvSpPr>
          <p:spPr bwMode="auto">
            <a:xfrm flipH="1">
              <a:off x="204" y="2841"/>
              <a:ext cx="1451" cy="817"/>
            </a:xfrm>
            <a:prstGeom prst="line">
              <a:avLst/>
            </a:prstGeom>
            <a:noFill/>
            <a:ln w="101600">
              <a:solidFill>
                <a:srgbClr val="990000"/>
              </a:solidFill>
              <a:round/>
              <a:tailEnd type="triangle" w="med" len="med"/>
            </a:ln>
          </p:spPr>
          <p:txBody>
            <a:bodyPr/>
            <a:lstStyle/>
            <a:p>
              <a:endParaRPr lang="zh-CN" altLang="en-US"/>
            </a:p>
          </p:txBody>
        </p:sp>
        <p:sp>
          <p:nvSpPr>
            <p:cNvPr id="8207" name="Text Box 11"/>
            <p:cNvSpPr txBox="1">
              <a:spLocks noChangeArrowheads="1"/>
            </p:cNvSpPr>
            <p:nvPr/>
          </p:nvSpPr>
          <p:spPr bwMode="auto">
            <a:xfrm rot="-1698256">
              <a:off x="295" y="3097"/>
              <a:ext cx="1859" cy="288"/>
            </a:xfrm>
            <a:prstGeom prst="rect">
              <a:avLst/>
            </a:prstGeom>
            <a:noFill/>
            <a:ln w="9525">
              <a:noFill/>
              <a:miter lim="800000"/>
            </a:ln>
          </p:spPr>
          <p:txBody>
            <a:bodyPr>
              <a:spAutoFit/>
            </a:bodyPr>
            <a:lstStyle/>
            <a:p>
              <a:pPr algn="l">
                <a:spcBef>
                  <a:spcPct val="50000"/>
                </a:spcBef>
              </a:pPr>
              <a:r>
                <a:rPr lang="zh-CN" altLang="en-US" sz="2400">
                  <a:solidFill>
                    <a:srgbClr val="000066"/>
                  </a:solidFill>
                </a:rPr>
                <a:t>过程与方法</a:t>
              </a:r>
              <a:endParaRPr lang="zh-CN" altLang="en-US" sz="2400">
                <a:solidFill>
                  <a:srgbClr val="000066"/>
                </a:solidFill>
              </a:endParaRPr>
            </a:p>
          </p:txBody>
        </p:sp>
      </p:grpSp>
      <p:grpSp>
        <p:nvGrpSpPr>
          <p:cNvPr id="4" name="Group 18"/>
          <p:cNvGrpSpPr/>
          <p:nvPr/>
        </p:nvGrpSpPr>
        <p:grpSpPr bwMode="auto">
          <a:xfrm>
            <a:off x="2071688" y="2071688"/>
            <a:ext cx="549275" cy="2736850"/>
            <a:chOff x="1355" y="1117"/>
            <a:chExt cx="346" cy="1724"/>
          </a:xfrm>
        </p:grpSpPr>
        <p:sp>
          <p:nvSpPr>
            <p:cNvPr id="8204" name="Line 7"/>
            <p:cNvSpPr>
              <a:spLocks noChangeShapeType="1"/>
            </p:cNvSpPr>
            <p:nvPr/>
          </p:nvSpPr>
          <p:spPr bwMode="auto">
            <a:xfrm>
              <a:off x="1656" y="1117"/>
              <a:ext cx="0" cy="1724"/>
            </a:xfrm>
            <a:prstGeom prst="line">
              <a:avLst/>
            </a:prstGeom>
            <a:noFill/>
            <a:ln w="101600">
              <a:solidFill>
                <a:srgbClr val="990000"/>
              </a:solidFill>
              <a:round/>
              <a:headEnd type="triangle" w="med" len="med"/>
            </a:ln>
          </p:spPr>
          <p:txBody>
            <a:bodyPr/>
            <a:lstStyle/>
            <a:p>
              <a:endParaRPr lang="zh-CN" altLang="en-US"/>
            </a:p>
          </p:txBody>
        </p:sp>
        <p:sp>
          <p:nvSpPr>
            <p:cNvPr id="8205" name="Text Box 14"/>
            <p:cNvSpPr txBox="1">
              <a:spLocks noChangeArrowheads="1"/>
            </p:cNvSpPr>
            <p:nvPr/>
          </p:nvSpPr>
          <p:spPr bwMode="auto">
            <a:xfrm>
              <a:off x="1355" y="1299"/>
              <a:ext cx="346" cy="1224"/>
            </a:xfrm>
            <a:prstGeom prst="rect">
              <a:avLst/>
            </a:prstGeom>
            <a:noFill/>
            <a:ln w="9525">
              <a:noFill/>
              <a:miter lim="800000"/>
            </a:ln>
          </p:spPr>
          <p:txBody>
            <a:bodyPr vert="eaVert">
              <a:spAutoFit/>
            </a:bodyPr>
            <a:lstStyle/>
            <a:p>
              <a:pPr>
                <a:spcBef>
                  <a:spcPct val="50000"/>
                </a:spcBef>
              </a:pPr>
              <a:r>
                <a:rPr lang="zh-CN" altLang="en-US" sz="2400">
                  <a:solidFill>
                    <a:srgbClr val="000066"/>
                  </a:solidFill>
                </a:rPr>
                <a:t>情感与价值观</a:t>
              </a:r>
              <a:endParaRPr lang="zh-CN" altLang="en-US" sz="2400">
                <a:solidFill>
                  <a:srgbClr val="000066"/>
                </a:solidFill>
              </a:endParaRPr>
            </a:p>
          </p:txBody>
        </p:sp>
      </p:grpSp>
      <p:sp>
        <p:nvSpPr>
          <p:cNvPr id="8202" name="Rectangle 16"/>
          <p:cNvSpPr>
            <a:spLocks noChangeArrowheads="1"/>
          </p:cNvSpPr>
          <p:nvPr/>
        </p:nvSpPr>
        <p:spPr bwMode="auto">
          <a:xfrm>
            <a:off x="71438" y="1357938"/>
            <a:ext cx="5369560" cy="521970"/>
          </a:xfrm>
          <a:prstGeom prst="rect">
            <a:avLst/>
          </a:prstGeom>
          <a:noFill/>
          <a:ln w="50800" algn="ctr">
            <a:noFill/>
            <a:miter lim="800000"/>
          </a:ln>
        </p:spPr>
        <p:txBody>
          <a:bodyPr wrap="none" anchor="ctr">
            <a:spAutoFit/>
          </a:bodyPr>
          <a:lstStyle/>
          <a:p>
            <a:pPr algn="l">
              <a:buClr>
                <a:srgbClr val="FF0000"/>
              </a:buClr>
            </a:pPr>
            <a:r>
              <a:rPr kumimoji="0" lang="en-US" altLang="zh-CN">
                <a:solidFill>
                  <a:srgbClr val="FF0000"/>
                </a:solidFill>
                <a:latin typeface="楷体" panose="02010609060101010101" pitchFamily="49" charset="-122"/>
                <a:ea typeface="楷体" panose="02010609060101010101" pitchFamily="49" charset="-122"/>
                <a:cs typeface="楷体" panose="02010609060101010101" pitchFamily="49" charset="-122"/>
              </a:rPr>
              <a:t>IT</a:t>
            </a:r>
            <a:r>
              <a:rPr kumimoji="0" lang="zh-CN" altLang="en-US">
                <a:solidFill>
                  <a:srgbClr val="FF0000"/>
                </a:solidFill>
                <a:latin typeface="楷体" panose="02010609060101010101" pitchFamily="49" charset="-122"/>
                <a:ea typeface="楷体" panose="02010609060101010101" pitchFamily="49" charset="-122"/>
                <a:cs typeface="楷体" panose="02010609060101010101" pitchFamily="49" charset="-122"/>
              </a:rPr>
              <a:t>项目管理最佳学习与实践模型 </a:t>
            </a:r>
            <a:endParaRPr kumimoji="0" lang="zh-CN" altLang="en-US">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21" name="Text Box 15"/>
          <p:cNvSpPr txBox="1">
            <a:spLocks noChangeArrowheads="1"/>
          </p:cNvSpPr>
          <p:nvPr/>
        </p:nvSpPr>
        <p:spPr bwMode="auto">
          <a:xfrm>
            <a:off x="6253163" y="1214438"/>
            <a:ext cx="2747962" cy="5285105"/>
          </a:xfrm>
          <a:prstGeom prst="rect">
            <a:avLst/>
          </a:prstGeom>
          <a:noFill/>
          <a:ln w="9525">
            <a:noFill/>
            <a:miter lim="800000"/>
          </a:ln>
        </p:spPr>
        <p:txBody>
          <a:bodyPr>
            <a:spAutoFit/>
          </a:bodyPr>
          <a:lstStyle/>
          <a:p>
            <a:pPr algn="l">
              <a:lnSpc>
                <a:spcPct val="110000"/>
              </a:lnSpc>
              <a:spcBef>
                <a:spcPts val="600"/>
              </a:spcBef>
              <a:spcAft>
                <a:spcPts val="600"/>
              </a:spcAft>
              <a:buClr>
                <a:srgbClr val="990000"/>
              </a:buClr>
            </a:pPr>
            <a:r>
              <a:rPr lang="zh-CN" altLang="en-US" sz="3600">
                <a:solidFill>
                  <a:srgbClr val="FF0000"/>
                </a:solidFill>
                <a:latin typeface="楷体" panose="02010609060101010101" pitchFamily="49" charset="-122"/>
                <a:ea typeface="楷体" panose="02010609060101010101" pitchFamily="49" charset="-122"/>
                <a:cs typeface="楷体" panose="02010609060101010101" pitchFamily="49" charset="-122"/>
              </a:rPr>
              <a:t>结论</a:t>
            </a:r>
            <a:endParaRPr lang="en-US" altLang="zh-CN" sz="3600" u="sng">
              <a:solidFill>
                <a:srgbClr val="990000"/>
              </a:solidFill>
              <a:latin typeface="楷体" panose="02010609060101010101" pitchFamily="49" charset="-122"/>
              <a:ea typeface="楷体" panose="02010609060101010101" pitchFamily="49" charset="-122"/>
              <a:cs typeface="楷体" panose="02010609060101010101" pitchFamily="49" charset="-122"/>
            </a:endParaRPr>
          </a:p>
          <a:p>
            <a:pPr algn="l">
              <a:lnSpc>
                <a:spcPct val="120000"/>
              </a:lnSpc>
              <a:spcAft>
                <a:spcPts val="600"/>
              </a:spcAft>
              <a:buClr>
                <a:srgbClr val="990000"/>
              </a:buClr>
              <a:buFont typeface="Wingdings" panose="05000000000000000000" pitchFamily="2" charset="2"/>
              <a:buChar char="n"/>
            </a:pPr>
            <a:r>
              <a:rPr lang="zh-CN" altLang="en-US" sz="2400">
                <a:solidFill>
                  <a:schemeClr val="bg2"/>
                </a:solidFill>
                <a:latin typeface="楷体" panose="02010609060101010101" pitchFamily="49" charset="-122"/>
                <a:ea typeface="楷体" panose="02010609060101010101" pitchFamily="49" charset="-122"/>
                <a:cs typeface="楷体" panose="02010609060101010101" pitchFamily="49" charset="-122"/>
              </a:rPr>
              <a:t>应该将使科学与技能、过程与方法、情感与价值观高度统一起来，使项目管理的学习与实践始终处于三维状态。</a:t>
            </a:r>
            <a:endParaRPr lang="en-US" altLang="zh-CN" sz="240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lnSpc>
                <a:spcPct val="120000"/>
              </a:lnSpc>
              <a:spcAft>
                <a:spcPts val="600"/>
              </a:spcAft>
              <a:buClr>
                <a:srgbClr val="990000"/>
              </a:buClr>
              <a:buFont typeface="Wingdings" panose="05000000000000000000" pitchFamily="2" charset="2"/>
              <a:buChar char="n"/>
            </a:pPr>
            <a:r>
              <a:rPr lang="zh-CN" altLang="en-US" sz="2400">
                <a:solidFill>
                  <a:srgbClr val="000066"/>
                </a:solidFill>
                <a:latin typeface="楷体" panose="02010609060101010101" pitchFamily="49" charset="-122"/>
                <a:ea typeface="楷体" panose="02010609060101010101" pitchFamily="49" charset="-122"/>
                <a:cs typeface="楷体" panose="02010609060101010101" pitchFamily="49" charset="-122"/>
              </a:rPr>
              <a:t> </a:t>
            </a:r>
            <a:r>
              <a:rPr lang="zh-CN" altLang="en-US" sz="2400">
                <a:solidFill>
                  <a:srgbClr val="0000FF"/>
                </a:solidFill>
                <a:latin typeface="楷体" panose="02010609060101010101" pitchFamily="49" charset="-122"/>
                <a:ea typeface="楷体" panose="02010609060101010101" pitchFamily="49" charset="-122"/>
                <a:cs typeface="楷体" panose="02010609060101010101" pitchFamily="49" charset="-122"/>
              </a:rPr>
              <a:t>应该明确，项目的生存空间是立体的，人生的发展空间也是如此！</a:t>
            </a:r>
            <a:endParaRPr lang="zh-CN" altLang="en-US" sz="240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18" name="Rectangle 154"/>
          <p:cNvSpPr>
            <a:spLocks noChangeArrowheads="1"/>
          </p:cNvSpPr>
          <p:nvPr/>
        </p:nvSpPr>
        <p:spPr bwMode="auto">
          <a:xfrm>
            <a:off x="103188" y="620713"/>
            <a:ext cx="3532187" cy="549275"/>
          </a:xfrm>
          <a:prstGeom prst="rect">
            <a:avLst/>
          </a:prstGeom>
          <a:noFill/>
          <a:ln w="9525">
            <a:noFill/>
            <a:miter lim="800000"/>
          </a:ln>
          <a:effectLst/>
        </p:spPr>
        <p:txBody>
          <a:bodyPr>
            <a:spAutoFit/>
          </a:bodyPr>
          <a:lstStyle/>
          <a:p>
            <a:pPr algn="l">
              <a:spcBef>
                <a:spcPct val="0"/>
              </a:spcBef>
            </a:pPr>
            <a:r>
              <a:rPr kumimoji="0" lang="en-US" altLang="zh-CN" sz="3000" b="1">
                <a:latin typeface="Arial" panose="020B0604020202020204" pitchFamily="34" charset="0"/>
              </a:rPr>
              <a:t>【</a:t>
            </a:r>
            <a:r>
              <a:rPr kumimoji="0" lang="zh-CN" altLang="en-US" sz="3000" b="1">
                <a:latin typeface="Arial" panose="020B0604020202020204" pitchFamily="34" charset="0"/>
              </a:rPr>
              <a:t>课程回顾</a:t>
            </a:r>
            <a:r>
              <a:rPr kumimoji="0" lang="en-US" altLang="zh-CN" sz="3000" b="1">
                <a:latin typeface="Arial" panose="020B0604020202020204" pitchFamily="34" charset="0"/>
              </a:rPr>
              <a:t>】</a:t>
            </a:r>
            <a:endParaRPr kumimoji="0" lang="en-US" altLang="zh-CN" sz="3000" b="1">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9"/>
          <p:cNvSpPr>
            <a:spLocks noGrp="1" noChangeArrowheads="1"/>
          </p:cNvSpPr>
          <p:nvPr>
            <p:ph type="sldNum" sz="quarter" idx="10"/>
          </p:nvPr>
        </p:nvSpPr>
        <p:spPr>
          <a:noFill/>
        </p:spPr>
        <p:txBody>
          <a:bodyPr/>
          <a:lstStyle/>
          <a:p>
            <a:r>
              <a:rPr lang="zh-CN" altLang="en-GB" smtClean="0"/>
              <a:t>  </a:t>
            </a:r>
            <a:fld id="{E30F5F6F-200D-414A-8162-8FF38746497E}" type="slidenum">
              <a:rPr lang="zh-CN" altLang="en-GB" smtClean="0"/>
            </a:fld>
            <a:endParaRPr lang="en-US" altLang="zh-CN" smtClean="0"/>
          </a:p>
        </p:txBody>
      </p:sp>
      <p:sp>
        <p:nvSpPr>
          <p:cNvPr id="1024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1024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10245" name="Text Box 4"/>
          <p:cNvSpPr txBox="1">
            <a:spLocks noChangeArrowheads="1"/>
          </p:cNvSpPr>
          <p:nvPr/>
        </p:nvSpPr>
        <p:spPr bwMode="auto">
          <a:xfrm>
            <a:off x="287338" y="1412875"/>
            <a:ext cx="8677275" cy="4523105"/>
          </a:xfrm>
          <a:prstGeom prst="rect">
            <a:avLst/>
          </a:prstGeom>
          <a:noFill/>
          <a:ln w="28575">
            <a:noFill/>
            <a:miter lim="800000"/>
          </a:ln>
        </p:spPr>
        <p:txBody>
          <a:bodyPr>
            <a:spAutoFit/>
          </a:bodyPr>
          <a:lstStyle/>
          <a:p>
            <a:pPr algn="l">
              <a:spcBef>
                <a:spcPts val="600"/>
              </a:spcBef>
              <a:spcAft>
                <a:spcPts val="600"/>
              </a:spcAft>
              <a:buClr>
                <a:schemeClr val="hlink"/>
              </a:buClr>
            </a:pPr>
            <a:r>
              <a:rPr kumimoji="0" lang="zh-CN" altLang="en-US" sz="3600">
                <a:solidFill>
                  <a:schemeClr val="bg2"/>
                </a:solidFill>
                <a:latin typeface="楷体" panose="02010609060101010101" pitchFamily="49" charset="-122"/>
                <a:ea typeface="楷体" panose="02010609060101010101" pitchFamily="49" charset="-122"/>
                <a:cs typeface="楷体" panose="02010609060101010101" pitchFamily="49" charset="-122"/>
              </a:rPr>
              <a:t>学习完本章后，应当掌握如下知识：</a:t>
            </a:r>
            <a:endParaRPr kumimoji="0" lang="zh-CN" altLang="en-US" sz="360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pPr>
            <a:r>
              <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en-US"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1</a:t>
            </a:r>
            <a:r>
              <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）项目与项目管理的价值和作用。</a:t>
            </a:r>
            <a:endPar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pPr>
            <a:r>
              <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en-US"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2</a:t>
            </a:r>
            <a:r>
              <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）项目与项目管理的概念和特点。</a:t>
            </a:r>
            <a:endPar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pPr>
            <a:r>
              <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en-US"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3</a:t>
            </a:r>
            <a:r>
              <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）项目管理组织与项目管理知识体系。</a:t>
            </a:r>
            <a:endPar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pPr>
            <a:r>
              <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en-US"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4</a:t>
            </a:r>
            <a:r>
              <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）信息技术与信息化概念与特点。</a:t>
            </a:r>
            <a:endPar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pPr>
            <a:r>
              <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en-US"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5</a:t>
            </a:r>
            <a:r>
              <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en-US" altLang="en-US" sz="3200" smtClean="0">
                <a:solidFill>
                  <a:schemeClr val="bg2"/>
                </a:solidFill>
                <a:ea typeface="楷体" panose="02010609060101010101" pitchFamily="49" charset="-122"/>
                <a:cs typeface="Times New Roman" panose="02020603050405020304" pitchFamily="18" charset="0"/>
              </a:rPr>
              <a:t>IT</a:t>
            </a:r>
            <a:r>
              <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项目与</a:t>
            </a:r>
            <a:r>
              <a:rPr kumimoji="0" lang="en-US" altLang="en-US" sz="3200" smtClean="0">
                <a:solidFill>
                  <a:schemeClr val="bg2"/>
                </a:solidFill>
                <a:ea typeface="楷体" panose="02010609060101010101" pitchFamily="49" charset="-122"/>
                <a:cs typeface="Times New Roman" panose="02020603050405020304" pitchFamily="18" charset="0"/>
              </a:rPr>
              <a:t>IT</a:t>
            </a:r>
            <a:r>
              <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项目管理概念与特点。</a:t>
            </a:r>
            <a:endPar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pPr>
            <a:r>
              <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en-US"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6</a:t>
            </a:r>
            <a:r>
              <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）软件项目与软件项目管理概念与特点。</a:t>
            </a:r>
            <a:endParaRPr kumimoji="0" lang="zh-CN" altLang="en-US" sz="320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10246" name="Text Box 6"/>
          <p:cNvSpPr txBox="1">
            <a:spLocks noChangeArrowheads="1"/>
          </p:cNvSpPr>
          <p:nvPr/>
        </p:nvSpPr>
        <p:spPr bwMode="auto">
          <a:xfrm>
            <a:off x="7740650" y="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P.1</a:t>
            </a:r>
            <a:endParaRPr lang="en-US" altLang="zh-CN" sz="2400">
              <a:solidFill>
                <a:schemeClr val="bg2"/>
              </a:solidFill>
            </a:endParaRPr>
          </a:p>
        </p:txBody>
      </p:sp>
      <p:sp>
        <p:nvSpPr>
          <p:cNvPr id="10247" name="Rectangle 7"/>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zh-CN" sz="3000">
                <a:latin typeface="Arial" panose="020B0604020202020204" pitchFamily="34" charset="0"/>
              </a:rPr>
              <a:t>【</a:t>
            </a:r>
            <a:r>
              <a:rPr kumimoji="0" lang="zh-CN" altLang="en-US" sz="3000">
                <a:latin typeface="Arial" panose="020B0604020202020204" pitchFamily="34" charset="0"/>
              </a:rPr>
              <a:t>本章知识要点</a:t>
            </a:r>
            <a:r>
              <a:rPr kumimoji="0" lang="en-US" altLang="zh-CN" sz="3000">
                <a:latin typeface="Arial" panose="020B0604020202020204" pitchFamily="34" charset="0"/>
              </a:rPr>
              <a:t>】</a:t>
            </a:r>
            <a:endParaRPr kumimoji="0" lang="en-US" altLang="zh-CN" sz="3000">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smtClean="0"/>
              <a:t>  </a:t>
            </a:r>
            <a:fld id="{B6D6A615-618E-4DBF-9BE6-09340DC0AD1F}" type="slidenum">
              <a:rPr lang="zh-CN" altLang="en-GB" smtClean="0"/>
            </a:fld>
            <a:endParaRPr lang="en-US" altLang="zh-CN" smtClean="0"/>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819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pitchFamily="49" charset="-122"/>
                <a:ea typeface="楷体" panose="02010609060101010101" pitchFamily="49" charset="-122"/>
                <a:cs typeface="楷体" panose="02010609060101010101" pitchFamily="49" charset="-122"/>
              </a:rPr>
              <a:t>提   纲</a:t>
            </a:r>
            <a:endParaRPr lang="zh-CN" altLang="en-US" sz="4800" b="1" smtClean="0">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285720" y="1357298"/>
            <a:ext cx="8501062" cy="489267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smtClean="0">
                <a:solidFill>
                  <a:srgbClr val="FF0000"/>
                </a:solidFill>
                <a:latin typeface="楷体" panose="02010609060101010101" pitchFamily="49" charset="-122"/>
                <a:ea typeface="楷体" panose="02010609060101010101" pitchFamily="49" charset="-122"/>
                <a:cs typeface="楷体" panose="02010609060101010101" pitchFamily="49" charset="-122"/>
              </a:rPr>
              <a:t>项目与项目管理的价值</a:t>
            </a:r>
            <a:endParaRPr lang="en-US" altLang="zh-CN" sz="4800" smtClean="0">
              <a:solidFill>
                <a:srgbClr val="C00000"/>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项目的特点与定义</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项目管理的概念与知识体系</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信息技术与</a:t>
            </a:r>
            <a:r>
              <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IT</a:t>
            </a: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项目特征</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IT</a:t>
            </a: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项目管理的定义与特点</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软件的定义与软件项目特点</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软件项目管理的意义和重点</a:t>
            </a:r>
            <a:endParaRPr lang="zh-CN" altLang="en-US" sz="4400" dirty="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9"/>
          <p:cNvSpPr>
            <a:spLocks noGrp="1" noChangeArrowheads="1"/>
          </p:cNvSpPr>
          <p:nvPr>
            <p:ph type="sldNum" sz="quarter" idx="10"/>
          </p:nvPr>
        </p:nvSpPr>
        <p:spPr>
          <a:noFill/>
        </p:spPr>
        <p:txBody>
          <a:bodyPr/>
          <a:lstStyle/>
          <a:p>
            <a:r>
              <a:rPr lang="zh-CN" altLang="en-GB" smtClean="0"/>
              <a:t>  </a:t>
            </a:r>
            <a:fld id="{CD546B1E-8400-433E-948D-C732B17AB6D1}" type="slidenum">
              <a:rPr lang="zh-CN" altLang="en-GB" smtClean="0"/>
            </a:fld>
            <a:endParaRPr lang="en-US" altLang="zh-CN" smtClean="0"/>
          </a:p>
        </p:txBody>
      </p:sp>
      <p:sp>
        <p:nvSpPr>
          <p:cNvPr id="1331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1331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621572" name="Text Box 4"/>
          <p:cNvSpPr txBox="1">
            <a:spLocks noChangeArrowheads="1"/>
          </p:cNvSpPr>
          <p:nvPr/>
        </p:nvSpPr>
        <p:spPr bwMode="auto">
          <a:xfrm>
            <a:off x="250825" y="1500174"/>
            <a:ext cx="8713788" cy="4276725"/>
          </a:xfrm>
          <a:prstGeom prst="rect">
            <a:avLst/>
          </a:prstGeom>
          <a:noFill/>
          <a:ln w="28575">
            <a:noFill/>
            <a:miter lim="800000"/>
          </a:ln>
        </p:spPr>
        <p:txBody>
          <a:bodyPr>
            <a:spAutoFit/>
          </a:bodyPr>
          <a:lstStyle/>
          <a:p>
            <a:pPr algn="l">
              <a:spcBef>
                <a:spcPts val="1200"/>
              </a:spcBef>
              <a:spcAft>
                <a:spcPts val="1200"/>
              </a:spcAft>
            </a:pPr>
            <a:r>
              <a:rPr lang="zh-CN" altLang="en-US" sz="3600" smtClean="0">
                <a:solidFill>
                  <a:schemeClr val="bg2"/>
                </a:solidFill>
                <a:latin typeface="楷体" panose="02010609060101010101" pitchFamily="49" charset="-122"/>
                <a:ea typeface="楷体" panose="02010609060101010101" pitchFamily="49" charset="-122"/>
              </a:rPr>
              <a:t>项目作为国民经济及企业发展的基本元素，作为人类进步和个人成长的主要载体，对国家、企业、个人的发展都起到至关重要的作用。</a:t>
            </a:r>
            <a:endParaRPr lang="en-US" altLang="zh-CN" sz="3600" smtClean="0">
              <a:solidFill>
                <a:schemeClr val="bg2"/>
              </a:solidFill>
              <a:latin typeface="楷体" panose="02010609060101010101" pitchFamily="49" charset="-122"/>
              <a:ea typeface="楷体" panose="02010609060101010101" pitchFamily="49" charset="-122"/>
            </a:endParaRPr>
          </a:p>
          <a:p>
            <a:pPr algn="l">
              <a:spcBef>
                <a:spcPts val="1200"/>
              </a:spcBef>
              <a:spcAft>
                <a:spcPts val="1200"/>
              </a:spcAft>
            </a:pPr>
            <a:r>
              <a:rPr lang="zh-CN" altLang="en-US" sz="3600" smtClean="0">
                <a:solidFill>
                  <a:schemeClr val="bg2"/>
                </a:solidFill>
                <a:latin typeface="楷体" panose="02010609060101010101" pitchFamily="49" charset="-122"/>
                <a:ea typeface="楷体" panose="02010609060101010101" pitchFamily="49" charset="-122"/>
              </a:rPr>
              <a:t>项目管理对项目的成败起到极其重要的作用，对企业、个人整体的发展产生深远的影响。</a:t>
            </a:r>
            <a:endParaRPr lang="zh-CN" altLang="en-US" sz="3600">
              <a:solidFill>
                <a:schemeClr val="bg2"/>
              </a:solidFill>
              <a:latin typeface="楷体" panose="02010609060101010101" pitchFamily="49" charset="-122"/>
              <a:ea typeface="楷体" panose="02010609060101010101" pitchFamily="49" charset="-122"/>
            </a:endParaRPr>
          </a:p>
        </p:txBody>
      </p:sp>
      <p:sp>
        <p:nvSpPr>
          <p:cNvPr id="13318" name="Rectangle 5"/>
          <p:cNvSpPr>
            <a:spLocks noChangeArrowheads="1"/>
          </p:cNvSpPr>
          <p:nvPr/>
        </p:nvSpPr>
        <p:spPr bwMode="auto">
          <a:xfrm>
            <a:off x="107950" y="620713"/>
            <a:ext cx="4778375" cy="553085"/>
          </a:xfrm>
          <a:prstGeom prst="rect">
            <a:avLst/>
          </a:prstGeom>
          <a:noFill/>
          <a:ln w="9525">
            <a:noFill/>
            <a:miter lim="800000"/>
          </a:ln>
        </p:spPr>
        <p:txBody>
          <a:bodyPr>
            <a:spAutoFit/>
          </a:bodyPr>
          <a:lstStyle/>
          <a:p>
            <a:pPr algn="l"/>
            <a:r>
              <a:rPr kumimoji="0" lang="en-US" altLang="zh-CN" sz="3000"/>
              <a:t>1.1 </a:t>
            </a:r>
            <a:r>
              <a:rPr kumimoji="0" lang="zh-CN" altLang="en-US" sz="3000">
                <a:latin typeface="楷体" panose="02010609060101010101" pitchFamily="49" charset="-122"/>
                <a:ea typeface="楷体" panose="02010609060101010101" pitchFamily="49" charset="-122"/>
              </a:rPr>
              <a:t>项目与项目管理的价值</a:t>
            </a:r>
            <a:endParaRPr kumimoji="0" lang="zh-CN" altLang="en-US" sz="3000">
              <a:latin typeface="楷体" panose="02010609060101010101" pitchFamily="49" charset="-122"/>
              <a:ea typeface="楷体" panose="02010609060101010101" pitchFamily="49" charset="-122"/>
            </a:endParaRPr>
          </a:p>
        </p:txBody>
      </p:sp>
      <p:sp>
        <p:nvSpPr>
          <p:cNvPr id="13319"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P.3</a:t>
            </a:r>
            <a:endParaRPr lang="en-US" altLang="zh-CN" sz="2400">
              <a:solidFill>
                <a:schemeClr val="bg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15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157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9"/>
          <p:cNvSpPr>
            <a:spLocks noGrp="1" noChangeArrowheads="1"/>
          </p:cNvSpPr>
          <p:nvPr>
            <p:ph type="sldNum" sz="quarter" idx="10"/>
          </p:nvPr>
        </p:nvSpPr>
        <p:spPr>
          <a:noFill/>
        </p:spPr>
        <p:txBody>
          <a:bodyPr/>
          <a:lstStyle/>
          <a:p>
            <a:r>
              <a:rPr lang="zh-CN" altLang="en-GB" smtClean="0"/>
              <a:t>  </a:t>
            </a:r>
            <a:fld id="{CD546B1E-8400-433E-948D-C732B17AB6D1}" type="slidenum">
              <a:rPr lang="zh-CN" altLang="en-GB" smtClean="0"/>
            </a:fld>
            <a:endParaRPr lang="en-US" altLang="zh-CN" smtClean="0"/>
          </a:p>
        </p:txBody>
      </p:sp>
      <p:sp>
        <p:nvSpPr>
          <p:cNvPr id="1331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1331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621572" name="Text Box 4"/>
          <p:cNvSpPr txBox="1">
            <a:spLocks noChangeArrowheads="1"/>
          </p:cNvSpPr>
          <p:nvPr/>
        </p:nvSpPr>
        <p:spPr bwMode="auto">
          <a:xfrm>
            <a:off x="250825" y="1507372"/>
            <a:ext cx="8713788" cy="4831080"/>
          </a:xfrm>
          <a:prstGeom prst="rect">
            <a:avLst/>
          </a:prstGeom>
          <a:noFill/>
          <a:ln w="28575">
            <a:noFill/>
            <a:miter lim="800000"/>
          </a:ln>
        </p:spPr>
        <p:txBody>
          <a:bodyPr>
            <a:spAutoFit/>
          </a:bodyPr>
          <a:lstStyle/>
          <a:p>
            <a:pPr algn="l">
              <a:spcBef>
                <a:spcPts val="600"/>
              </a:spcBef>
              <a:spcAft>
                <a:spcPts val="600"/>
              </a:spcAft>
            </a:pPr>
            <a:r>
              <a:rPr lang="zh-CN" altLang="en-US" sz="3200" dirty="0" smtClean="0">
                <a:solidFill>
                  <a:schemeClr val="bg2"/>
                </a:solidFill>
                <a:latin typeface="楷体" panose="02010609060101010101" pitchFamily="49" charset="-122"/>
                <a:ea typeface="楷体" panose="02010609060101010101" pitchFamily="49" charset="-122"/>
              </a:rPr>
              <a:t>所有的重大事件、所有的宏伟工程、所有的卓越发明、所有的时代精英，都是通过一个又一个项目造就的。</a:t>
            </a:r>
            <a:endParaRPr lang="zh-CN" altLang="en-US" sz="3200" dirty="0" smtClean="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dirty="0" smtClean="0">
                <a:solidFill>
                  <a:schemeClr val="bg2"/>
                </a:solidFill>
                <a:latin typeface="楷体" panose="02010609060101010101" pitchFamily="49" charset="-122"/>
                <a:ea typeface="楷体" panose="02010609060101010101" pitchFamily="49" charset="-122"/>
              </a:rPr>
              <a:t>以科学有效的项目管理作为竞争武器，通过运用项目管理工具来有效进行管理，将为企业和个人创造最佳优势。</a:t>
            </a:r>
            <a:endParaRPr lang="en-US" altLang="zh-CN" sz="3200" dirty="0" smtClean="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dirty="0" smtClean="0">
                <a:solidFill>
                  <a:schemeClr val="bg2"/>
                </a:solidFill>
                <a:latin typeface="楷体" panose="02010609060101010101" pitchFamily="49" charset="-122"/>
                <a:ea typeface="楷体" panose="02010609060101010101" pitchFamily="49" charset="-122"/>
              </a:rPr>
              <a:t>人们对项目和项目管理价值的认识将越来越具体和深刻，项目管理必将成为人类未来发展的主旋律。</a:t>
            </a:r>
            <a:endParaRPr lang="zh-CN" altLang="en-US" sz="3200" dirty="0" smtClean="0">
              <a:solidFill>
                <a:schemeClr val="bg2"/>
              </a:solidFill>
              <a:latin typeface="楷体" panose="02010609060101010101" pitchFamily="49" charset="-122"/>
              <a:ea typeface="楷体" panose="02010609060101010101" pitchFamily="49" charset="-122"/>
            </a:endParaRPr>
          </a:p>
        </p:txBody>
      </p:sp>
      <p:sp>
        <p:nvSpPr>
          <p:cNvPr id="13318" name="Rectangle 5"/>
          <p:cNvSpPr>
            <a:spLocks noChangeArrowheads="1"/>
          </p:cNvSpPr>
          <p:nvPr/>
        </p:nvSpPr>
        <p:spPr bwMode="auto">
          <a:xfrm>
            <a:off x="107950" y="620713"/>
            <a:ext cx="4778375" cy="553085"/>
          </a:xfrm>
          <a:prstGeom prst="rect">
            <a:avLst/>
          </a:prstGeom>
          <a:noFill/>
          <a:ln w="9525">
            <a:noFill/>
            <a:miter lim="800000"/>
          </a:ln>
        </p:spPr>
        <p:txBody>
          <a:bodyPr>
            <a:spAutoFit/>
          </a:bodyPr>
          <a:lstStyle/>
          <a:p>
            <a:pPr algn="l"/>
            <a:r>
              <a:rPr kumimoji="0" lang="en-US" altLang="zh-CN" sz="3000"/>
              <a:t>1.1 </a:t>
            </a:r>
            <a:r>
              <a:rPr kumimoji="0" lang="zh-CN" altLang="en-US" sz="3000">
                <a:latin typeface="楷体" panose="02010609060101010101" pitchFamily="49" charset="-122"/>
                <a:ea typeface="楷体" panose="02010609060101010101" pitchFamily="49" charset="-122"/>
              </a:rPr>
              <a:t>项目与项目管理的价值</a:t>
            </a:r>
            <a:endParaRPr kumimoji="0" lang="zh-CN" altLang="en-US" sz="3000">
              <a:latin typeface="楷体" panose="02010609060101010101" pitchFamily="49" charset="-122"/>
              <a:ea typeface="楷体" panose="02010609060101010101" pitchFamily="49" charset="-122"/>
            </a:endParaRPr>
          </a:p>
        </p:txBody>
      </p:sp>
      <p:sp>
        <p:nvSpPr>
          <p:cNvPr id="13319"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P.3</a:t>
            </a:r>
            <a:endParaRPr lang="en-US" altLang="zh-CN" sz="2400">
              <a:solidFill>
                <a:schemeClr val="bg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15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15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157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9"/>
          <p:cNvSpPr>
            <a:spLocks noGrp="1" noChangeArrowheads="1"/>
          </p:cNvSpPr>
          <p:nvPr>
            <p:ph type="sldNum" sz="quarter" idx="10"/>
          </p:nvPr>
        </p:nvSpPr>
        <p:spPr>
          <a:noFill/>
        </p:spPr>
        <p:txBody>
          <a:bodyPr/>
          <a:lstStyle/>
          <a:p>
            <a:r>
              <a:rPr lang="zh-CN" altLang="en-GB" smtClean="0"/>
              <a:t>  </a:t>
            </a:r>
            <a:fld id="{2EEFDFE3-8171-423B-AF0A-0C86FBA36518}" type="slidenum">
              <a:rPr lang="zh-CN" altLang="en-GB" smtClean="0"/>
            </a:fld>
            <a:endParaRPr lang="en-US" altLang="zh-CN" smtClean="0"/>
          </a:p>
        </p:txBody>
      </p:sp>
      <p:sp>
        <p:nvSpPr>
          <p:cNvPr id="16387" name="Text Box 3"/>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16388" name="Text Box 4"/>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349189" name="Text Box 5"/>
          <p:cNvSpPr txBox="1">
            <a:spLocks noChangeArrowheads="1"/>
          </p:cNvSpPr>
          <p:nvPr/>
        </p:nvSpPr>
        <p:spPr bwMode="auto">
          <a:xfrm>
            <a:off x="323850" y="1916113"/>
            <a:ext cx="8351838" cy="4257675"/>
          </a:xfrm>
          <a:prstGeom prst="rect">
            <a:avLst/>
          </a:prstGeom>
          <a:noFill/>
          <a:ln w="28575">
            <a:noFill/>
            <a:miter lim="800000"/>
          </a:ln>
        </p:spPr>
        <p:txBody>
          <a:bodyPr>
            <a:spAutoFit/>
          </a:bodyPr>
          <a:lstStyle/>
          <a:p>
            <a:pPr algn="l">
              <a:spcBef>
                <a:spcPct val="40000"/>
              </a:spcBef>
              <a:buClr>
                <a:schemeClr val="hlink"/>
              </a:buClr>
            </a:pPr>
            <a:r>
              <a:rPr kumimoji="0" lang="zh-CN" altLang="en-US" sz="3200">
                <a:solidFill>
                  <a:schemeClr val="bg2"/>
                </a:solidFill>
                <a:latin typeface="楷体" panose="02010609060101010101" pitchFamily="49" charset="-122"/>
                <a:ea typeface="楷体" panose="02010609060101010101" pitchFamily="49" charset="-122"/>
                <a:cs typeface="楷体" panose="02010609060101010101" pitchFamily="49" charset="-122"/>
              </a:rPr>
              <a:t>组织和个人的工作能力与业绩是通过项目来展现的，这一点在软件企业表现得尤为突出。</a:t>
            </a:r>
            <a:r>
              <a:rPr kumimoji="0" lang="zh-CN" altLang="en-US" sz="3200">
                <a:latin typeface="楷体" panose="02010609060101010101" pitchFamily="49" charset="-122"/>
                <a:ea typeface="楷体" panose="02010609060101010101" pitchFamily="49" charset="-122"/>
                <a:cs typeface="楷体" panose="02010609060101010101" pitchFamily="49" charset="-122"/>
              </a:rPr>
              <a:t> </a:t>
            </a:r>
            <a:endParaRPr kumimoji="0" lang="zh-CN" altLang="en-US" sz="3200">
              <a:latin typeface="楷体" panose="02010609060101010101" pitchFamily="49" charset="-122"/>
              <a:ea typeface="楷体" panose="02010609060101010101" pitchFamily="49" charset="-122"/>
              <a:cs typeface="楷体" panose="02010609060101010101" pitchFamily="49" charset="-122"/>
            </a:endParaRPr>
          </a:p>
          <a:p>
            <a:pPr algn="l">
              <a:spcBef>
                <a:spcPct val="40000"/>
              </a:spcBef>
              <a:buClr>
                <a:schemeClr val="hlink"/>
              </a:buClr>
            </a:pPr>
            <a:r>
              <a:rPr kumimoji="0" lang="zh-CN" altLang="en-US" sz="3200">
                <a:solidFill>
                  <a:schemeClr val="bg2"/>
                </a:solidFill>
                <a:latin typeface="楷体" panose="02010609060101010101" pitchFamily="49" charset="-122"/>
                <a:ea typeface="楷体" panose="02010609060101010101" pitchFamily="49" charset="-122"/>
                <a:cs typeface="楷体" panose="02010609060101010101" pitchFamily="49" charset="-122"/>
              </a:rPr>
              <a:t>榜样的力量是无穷的，成功的项目是企业和个人形象的主要来源。</a:t>
            </a:r>
            <a:endParaRPr kumimoji="0" lang="zh-CN" altLang="en-US" sz="320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ct val="40000"/>
              </a:spcBef>
              <a:buClr>
                <a:schemeClr val="hlink"/>
              </a:buClr>
            </a:pPr>
            <a:r>
              <a:rPr kumimoji="0" lang="zh-CN" altLang="en-US" sz="3200">
                <a:solidFill>
                  <a:schemeClr val="bg2"/>
                </a:solidFill>
                <a:latin typeface="楷体" panose="02010609060101010101" pitchFamily="49" charset="-122"/>
                <a:ea typeface="楷体" panose="02010609060101010101" pitchFamily="49" charset="-122"/>
                <a:cs typeface="楷体" panose="02010609060101010101" pitchFamily="49" charset="-122"/>
              </a:rPr>
              <a:t>经典项目和样板工程的价值已越来越得到人们的认可和重视。</a:t>
            </a:r>
            <a:endParaRPr kumimoji="0" lang="zh-CN" altLang="en-US" sz="360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ctr">
              <a:spcBef>
                <a:spcPct val="40000"/>
              </a:spcBef>
              <a:buClr>
                <a:schemeClr val="hlink"/>
              </a:buClr>
            </a:pPr>
            <a:r>
              <a:rPr kumimoji="0" lang="zh-CN" altLang="en-US" sz="3800">
                <a:solidFill>
                  <a:srgbClr val="0000FF"/>
                </a:solidFill>
                <a:latin typeface="楷体" panose="02010609060101010101" pitchFamily="49" charset="-122"/>
                <a:ea typeface="楷体" panose="02010609060101010101" pitchFamily="49" charset="-122"/>
                <a:cs typeface="楷体" panose="02010609060101010101" pitchFamily="49" charset="-122"/>
              </a:rPr>
              <a:t>项目是实现价值、成就事业的</a:t>
            </a:r>
            <a:r>
              <a:rPr kumimoji="0" lang="zh-CN" altLang="en-US" sz="3800" smtClean="0">
                <a:solidFill>
                  <a:srgbClr val="0000FF"/>
                </a:solidFill>
                <a:latin typeface="楷体" panose="02010609060101010101" pitchFamily="49" charset="-122"/>
                <a:ea typeface="楷体" panose="02010609060101010101" pitchFamily="49" charset="-122"/>
                <a:cs typeface="楷体" panose="02010609060101010101" pitchFamily="49" charset="-122"/>
              </a:rPr>
              <a:t>载体</a:t>
            </a:r>
            <a:endParaRPr kumimoji="0" lang="zh-CN" altLang="en-US" sz="38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16390" name="Text Box 29"/>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P.4</a:t>
            </a:r>
            <a:endParaRPr lang="en-US" altLang="zh-CN" sz="2400">
              <a:solidFill>
                <a:schemeClr val="bg2"/>
              </a:solidFill>
            </a:endParaRPr>
          </a:p>
        </p:txBody>
      </p:sp>
      <p:sp>
        <p:nvSpPr>
          <p:cNvPr id="16391" name="Rectangle 30"/>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zh-CN"/>
              <a:t>1.1 </a:t>
            </a:r>
            <a:r>
              <a:rPr kumimoji="0" lang="zh-CN" altLang="en-US">
                <a:latin typeface="楷体" panose="02010609060101010101" pitchFamily="49" charset="-122"/>
                <a:ea typeface="楷体" panose="02010609060101010101" pitchFamily="49" charset="-122"/>
              </a:rPr>
              <a:t>项目与项目管理的价值</a:t>
            </a:r>
            <a:endParaRPr kumimoji="0" lang="zh-CN" altLang="en-US">
              <a:latin typeface="楷体" panose="02010609060101010101" pitchFamily="49" charset="-122"/>
              <a:ea typeface="楷体" panose="02010609060101010101" pitchFamily="49" charset="-122"/>
            </a:endParaRPr>
          </a:p>
        </p:txBody>
      </p:sp>
      <p:sp>
        <p:nvSpPr>
          <p:cNvPr id="16392" name="Rectangle 31"/>
          <p:cNvSpPr>
            <a:spLocks noChangeArrowheads="1"/>
          </p:cNvSpPr>
          <p:nvPr/>
        </p:nvSpPr>
        <p:spPr bwMode="auto">
          <a:xfrm>
            <a:off x="323850" y="1341438"/>
            <a:ext cx="2681288" cy="519112"/>
          </a:xfrm>
          <a:prstGeom prst="rect">
            <a:avLst/>
          </a:prstGeom>
          <a:noFill/>
          <a:ln w="9525">
            <a:noFill/>
            <a:miter lim="800000"/>
          </a:ln>
        </p:spPr>
        <p:txBody>
          <a:bodyPr wrap="none">
            <a:spAutoFit/>
          </a:bodyPr>
          <a:lstStyle/>
          <a:p>
            <a:r>
              <a:rPr kumimoji="0" lang="en-US" altLang="zh-CN">
                <a:solidFill>
                  <a:schemeClr val="hlink"/>
                </a:solidFill>
                <a:ea typeface="楷体_GB2312" pitchFamily="49" charset="-122"/>
              </a:rPr>
              <a:t>1.1.1</a:t>
            </a:r>
            <a:r>
              <a:rPr kumimoji="0" lang="zh-CN" altLang="en-US">
                <a:solidFill>
                  <a:schemeClr val="hlink"/>
                </a:solidFill>
                <a:ea typeface="楷体_GB2312" pitchFamily="49" charset="-122"/>
              </a:rPr>
              <a:t>项目的价值</a:t>
            </a:r>
            <a:endParaRPr kumimoji="0" lang="zh-CN" altLang="en-US">
              <a:solidFill>
                <a:schemeClr val="hlink"/>
              </a:solidFill>
              <a:ea typeface="楷体_GB2312" pitchFamily="49" charset="-122"/>
            </a:endParaRPr>
          </a:p>
        </p:txBody>
      </p:sp>
      <p:sp>
        <p:nvSpPr>
          <p:cNvPr id="4" name="文本框 3"/>
          <p:cNvSpPr txBox="1"/>
          <p:nvPr/>
        </p:nvSpPr>
        <p:spPr>
          <a:xfrm>
            <a:off x="3639820" y="162560"/>
            <a:ext cx="3048000" cy="521970"/>
          </a:xfrm>
          <a:prstGeom prst="rect">
            <a:avLst/>
          </a:prstGeom>
          <a:noFill/>
        </p:spPr>
        <p:txBody>
          <a:bodyPr wrap="square" rtlCol="0">
            <a:spAutoFit/>
          </a:bodyPr>
          <a:p>
            <a:endParaRPr lang="zh-CN" altLang="en-US">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91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91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91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918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9"/>
          <p:cNvSpPr>
            <a:spLocks noGrp="1" noChangeArrowheads="1"/>
          </p:cNvSpPr>
          <p:nvPr>
            <p:ph type="sldNum" sz="quarter" idx="10"/>
          </p:nvPr>
        </p:nvSpPr>
        <p:spPr>
          <a:noFill/>
        </p:spPr>
        <p:txBody>
          <a:bodyPr/>
          <a:lstStyle/>
          <a:p>
            <a:r>
              <a:rPr lang="zh-CN" altLang="en-GB" smtClean="0"/>
              <a:t>  </a:t>
            </a:r>
            <a:fld id="{688A6253-8FEA-4A9E-BA93-9B14556A674B}" type="slidenum">
              <a:rPr lang="zh-CN" altLang="en-GB" smtClean="0"/>
            </a:fld>
            <a:endParaRPr lang="en-US" altLang="zh-CN" smtClean="0"/>
          </a:p>
        </p:txBody>
      </p:sp>
      <p:sp>
        <p:nvSpPr>
          <p:cNvPr id="1536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1536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609284" name="Text Box 4"/>
          <p:cNvSpPr txBox="1">
            <a:spLocks noChangeArrowheads="1"/>
          </p:cNvSpPr>
          <p:nvPr/>
        </p:nvSpPr>
        <p:spPr bwMode="auto">
          <a:xfrm>
            <a:off x="5075269" y="2140573"/>
            <a:ext cx="3925887" cy="2306955"/>
          </a:xfrm>
          <a:prstGeom prst="rect">
            <a:avLst/>
          </a:prstGeom>
          <a:noFill/>
          <a:ln w="28575">
            <a:noFill/>
            <a:miter lim="800000"/>
          </a:ln>
        </p:spPr>
        <p:txBody>
          <a:bodyPr wrap="square">
            <a:spAutoFit/>
          </a:bodyPr>
          <a:lstStyle/>
          <a:p>
            <a:pPr algn="l">
              <a:spcBef>
                <a:spcPct val="50000"/>
              </a:spcBef>
              <a:buClr>
                <a:schemeClr val="hlink"/>
              </a:buClr>
              <a:buSzPct val="80000"/>
              <a:buFont typeface="Wingdings" panose="05000000000000000000" pitchFamily="2" charset="2"/>
              <a:buChar char="n"/>
            </a:pPr>
            <a:r>
              <a:rPr kumimoji="0" lang="zh-CN" altLang="en-US" sz="3200" smtClean="0">
                <a:solidFill>
                  <a:schemeClr val="bg2"/>
                </a:solidFill>
                <a:latin typeface="楷体" panose="02010609060101010101" pitchFamily="49" charset="-122"/>
                <a:ea typeface="楷体" panose="02010609060101010101" pitchFamily="49" charset="-122"/>
              </a:rPr>
              <a:t>通过</a:t>
            </a:r>
            <a:r>
              <a:rPr kumimoji="0" lang="zh-CN" altLang="en-US" sz="3200">
                <a:solidFill>
                  <a:schemeClr val="bg2"/>
                </a:solidFill>
                <a:latin typeface="楷体" panose="02010609060101010101" pitchFamily="49" charset="-122"/>
                <a:ea typeface="楷体" panose="02010609060101010101" pitchFamily="49" charset="-122"/>
              </a:rPr>
              <a:t>日常工作来维持基本地运行；</a:t>
            </a:r>
            <a:endParaRPr kumimoji="0" lang="zh-CN" altLang="en-US" sz="3200">
              <a:solidFill>
                <a:schemeClr val="bg2"/>
              </a:solidFill>
              <a:latin typeface="楷体" panose="02010609060101010101" pitchFamily="49" charset="-122"/>
              <a:ea typeface="楷体" panose="02010609060101010101" pitchFamily="49" charset="-122"/>
            </a:endParaRPr>
          </a:p>
          <a:p>
            <a:pPr algn="l">
              <a:spcBef>
                <a:spcPct val="50000"/>
              </a:spcBef>
              <a:buClr>
                <a:schemeClr val="hlink"/>
              </a:buClr>
              <a:buSzPct val="80000"/>
              <a:buFont typeface="Wingdings" panose="05000000000000000000" pitchFamily="2" charset="2"/>
              <a:buChar char="n"/>
            </a:pPr>
            <a:r>
              <a:rPr kumimoji="0" lang="zh-CN" altLang="en-US" sz="3200" smtClean="0">
                <a:solidFill>
                  <a:schemeClr val="bg2"/>
                </a:solidFill>
                <a:latin typeface="楷体" panose="02010609060101010101" pitchFamily="49" charset="-122"/>
                <a:ea typeface="楷体" panose="02010609060101010101" pitchFamily="49" charset="-122"/>
              </a:rPr>
              <a:t>通过</a:t>
            </a:r>
            <a:r>
              <a:rPr kumimoji="0" lang="zh-CN" altLang="en-US" sz="3200">
                <a:solidFill>
                  <a:schemeClr val="bg2"/>
                </a:solidFill>
                <a:latin typeface="楷体" panose="02010609060101010101" pitchFamily="49" charset="-122"/>
                <a:ea typeface="楷体" panose="02010609060101010101" pitchFamily="49" charset="-122"/>
              </a:rPr>
              <a:t>项目来推进自身地发展和壮大。</a:t>
            </a:r>
            <a:endParaRPr kumimoji="0" lang="zh-CN" altLang="en-US" sz="3600">
              <a:solidFill>
                <a:schemeClr val="bg2"/>
              </a:solidFill>
              <a:latin typeface="楷体" panose="02010609060101010101" pitchFamily="49" charset="-122"/>
              <a:ea typeface="楷体" panose="02010609060101010101" pitchFamily="49" charset="-122"/>
            </a:endParaRPr>
          </a:p>
        </p:txBody>
      </p:sp>
      <p:sp>
        <p:nvSpPr>
          <p:cNvPr id="15368" name="Text Box 25"/>
          <p:cNvSpPr txBox="1">
            <a:spLocks noChangeArrowheads="1"/>
          </p:cNvSpPr>
          <p:nvPr/>
        </p:nvSpPr>
        <p:spPr bwMode="auto">
          <a:xfrm>
            <a:off x="7740650" y="190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P.4</a:t>
            </a:r>
            <a:endParaRPr lang="en-US" altLang="zh-CN" sz="2400">
              <a:solidFill>
                <a:schemeClr val="bg2"/>
              </a:solidFill>
            </a:endParaRPr>
          </a:p>
        </p:txBody>
      </p:sp>
      <p:sp>
        <p:nvSpPr>
          <p:cNvPr id="15369" name="Rectangle 26"/>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zh-CN"/>
              <a:t>1.1 </a:t>
            </a:r>
            <a:r>
              <a:rPr kumimoji="0" lang="zh-CN" altLang="en-US">
                <a:latin typeface="楷体" panose="02010609060101010101" pitchFamily="49" charset="-122"/>
                <a:ea typeface="楷体" panose="02010609060101010101" pitchFamily="49" charset="-122"/>
              </a:rPr>
              <a:t>项目与项目管理的价值</a:t>
            </a:r>
            <a:endParaRPr kumimoji="0" lang="zh-CN" altLang="en-US">
              <a:latin typeface="楷体" panose="02010609060101010101" pitchFamily="49" charset="-122"/>
              <a:ea typeface="楷体" panose="02010609060101010101" pitchFamily="49" charset="-122"/>
            </a:endParaRPr>
          </a:p>
        </p:txBody>
      </p:sp>
      <p:sp>
        <p:nvSpPr>
          <p:cNvPr id="15370" name="Rectangle 27"/>
          <p:cNvSpPr>
            <a:spLocks noChangeArrowheads="1"/>
          </p:cNvSpPr>
          <p:nvPr/>
        </p:nvSpPr>
        <p:spPr bwMode="auto">
          <a:xfrm>
            <a:off x="323533" y="1341438"/>
            <a:ext cx="2681605" cy="521970"/>
          </a:xfrm>
          <a:prstGeom prst="rect">
            <a:avLst/>
          </a:prstGeom>
          <a:noFill/>
          <a:ln w="9525">
            <a:noFill/>
            <a:miter lim="800000"/>
          </a:ln>
        </p:spPr>
        <p:txBody>
          <a:bodyPr wrap="none">
            <a:spAutoFit/>
          </a:bodyPr>
          <a:lstStyle/>
          <a:p>
            <a:r>
              <a:rPr kumimoji="0" lang="en-US" altLang="zh-CN">
                <a:solidFill>
                  <a:schemeClr val="hlink"/>
                </a:solidFill>
                <a:ea typeface="楷体_GB2312" pitchFamily="49" charset="-122"/>
              </a:rPr>
              <a:t>1.1.1</a:t>
            </a:r>
            <a:r>
              <a:rPr kumimoji="0" lang="zh-CN" altLang="en-US">
                <a:solidFill>
                  <a:schemeClr val="hlink"/>
                </a:solidFill>
                <a:latin typeface="楷体" panose="02010609060101010101" pitchFamily="49" charset="-122"/>
                <a:ea typeface="楷体" panose="02010609060101010101" pitchFamily="49" charset="-122"/>
              </a:rPr>
              <a:t>项目的价值</a:t>
            </a:r>
            <a:endParaRPr kumimoji="0" lang="zh-CN" altLang="en-US">
              <a:solidFill>
                <a:schemeClr val="hlink"/>
              </a:solidFill>
              <a:latin typeface="楷体" panose="02010609060101010101" pitchFamily="49" charset="-122"/>
              <a:ea typeface="楷体" panose="02010609060101010101" pitchFamily="49" charset="-122"/>
            </a:endParaRPr>
          </a:p>
        </p:txBody>
      </p:sp>
      <p:sp>
        <p:nvSpPr>
          <p:cNvPr id="30" name="矩形 29"/>
          <p:cNvSpPr/>
          <p:nvPr/>
        </p:nvSpPr>
        <p:spPr>
          <a:xfrm>
            <a:off x="214346" y="5352178"/>
            <a:ext cx="8858248" cy="1076325"/>
          </a:xfrm>
          <a:prstGeom prst="rect">
            <a:avLst/>
          </a:prstGeom>
        </p:spPr>
        <p:txBody>
          <a:bodyPr wrap="square">
            <a:spAutoFit/>
          </a:bodyPr>
          <a:lstStyle/>
          <a:p>
            <a:pPr algn="ctr">
              <a:spcBef>
                <a:spcPct val="50000"/>
              </a:spcBef>
              <a:buClr>
                <a:srgbClr val="990000"/>
              </a:buClr>
            </a:pPr>
            <a:r>
              <a:rPr kumimoji="0" lang="zh-CN" altLang="en-US" sz="3200" smtClean="0">
                <a:solidFill>
                  <a:srgbClr val="FF0000"/>
                </a:solidFill>
                <a:latin typeface="楷体" panose="02010609060101010101" pitchFamily="49" charset="-122"/>
                <a:ea typeface="楷体" panose="02010609060101010101" pitchFamily="49" charset="-122"/>
                <a:cs typeface="楷体" panose="02010609060101010101" pitchFamily="49" charset="-122"/>
              </a:rPr>
              <a:t>我们应该把参与每一个项目看成获得的一个机会，而不仅是一项工作！</a:t>
            </a:r>
            <a:r>
              <a:rPr kumimoji="0" lang="zh-CN" altLang="en-US" sz="2400" smtClean="0">
                <a:solidFill>
                  <a:srgbClr val="FF0000"/>
                </a:solidFill>
                <a:latin typeface="楷体" panose="02010609060101010101" pitchFamily="49" charset="-122"/>
                <a:ea typeface="楷体" panose="02010609060101010101" pitchFamily="49" charset="-122"/>
                <a:cs typeface="楷体" panose="02010609060101010101" pitchFamily="49" charset="-122"/>
              </a:rPr>
              <a:t> </a:t>
            </a:r>
            <a:endParaRPr kumimoji="0" lang="zh-CN" altLang="en-US" sz="2400" smtClean="0">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grpSp>
        <p:nvGrpSpPr>
          <p:cNvPr id="14" name="组合 13"/>
          <p:cNvGrpSpPr/>
          <p:nvPr/>
        </p:nvGrpSpPr>
        <p:grpSpPr>
          <a:xfrm>
            <a:off x="71406" y="1857364"/>
            <a:ext cx="4643470" cy="3287736"/>
            <a:chOff x="71406" y="1857364"/>
            <a:chExt cx="4214842" cy="3287736"/>
          </a:xfrm>
        </p:grpSpPr>
        <p:pic>
          <p:nvPicPr>
            <p:cNvPr id="29" name="图片 28"/>
            <p:cNvPicPr/>
            <p:nvPr/>
          </p:nvPicPr>
          <p:blipFill>
            <a:blip r:embed="rId1"/>
            <a:srcRect/>
            <a:stretch>
              <a:fillRect/>
            </a:stretch>
          </p:blipFill>
          <p:spPr bwMode="auto">
            <a:xfrm>
              <a:off x="71406" y="1857364"/>
              <a:ext cx="4214842" cy="3214710"/>
            </a:xfrm>
            <a:prstGeom prst="rect">
              <a:avLst/>
            </a:prstGeom>
            <a:noFill/>
            <a:ln w="9525">
              <a:noFill/>
              <a:miter lim="800000"/>
              <a:headEnd/>
              <a:tailEnd/>
            </a:ln>
          </p:spPr>
        </p:pic>
        <p:cxnSp>
          <p:nvCxnSpPr>
            <p:cNvPr id="12" name="直接连接符 11"/>
            <p:cNvCxnSpPr/>
            <p:nvPr/>
          </p:nvCxnSpPr>
          <p:spPr bwMode="auto">
            <a:xfrm>
              <a:off x="928662" y="5143512"/>
              <a:ext cx="2928958" cy="1588"/>
            </a:xfrm>
            <a:prstGeom prst="line">
              <a:avLst/>
            </a:prstGeom>
            <a:noFill/>
            <a:ln w="38100" cap="flat" cmpd="sng" algn="ctr">
              <a:solidFill>
                <a:schemeClr val="bg1">
                  <a:lumMod val="50000"/>
                </a:schemeClr>
              </a:solidFill>
              <a:prstDash val="solid"/>
              <a:round/>
              <a:headEnd type="none" w="med" len="med"/>
              <a:tailEnd type="none" w="med" len="med"/>
            </a:ln>
            <a:effectLst/>
          </p:spPr>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0928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09284">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9"/>
          <p:cNvSpPr>
            <a:spLocks noGrp="1" noChangeArrowheads="1"/>
          </p:cNvSpPr>
          <p:nvPr>
            <p:ph type="sldNum" sz="quarter" idx="10"/>
          </p:nvPr>
        </p:nvSpPr>
        <p:spPr>
          <a:noFill/>
        </p:spPr>
        <p:txBody>
          <a:bodyPr/>
          <a:lstStyle/>
          <a:p>
            <a:r>
              <a:rPr lang="zh-CN" altLang="en-GB" smtClean="0"/>
              <a:t>  </a:t>
            </a:r>
            <a:fld id="{7F3A030A-96F0-4DA9-8E55-2F2CAF753027}" type="slidenum">
              <a:rPr lang="zh-CN" altLang="en-GB" smtClean="0"/>
            </a:fld>
            <a:endParaRPr lang="en-US" altLang="zh-CN" smtClean="0"/>
          </a:p>
        </p:txBody>
      </p:sp>
      <p:sp>
        <p:nvSpPr>
          <p:cNvPr id="1741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17412"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57732" name="Text Box 4"/>
          <p:cNvSpPr txBox="1">
            <a:spLocks noChangeArrowheads="1"/>
          </p:cNvSpPr>
          <p:nvPr/>
        </p:nvSpPr>
        <p:spPr bwMode="auto">
          <a:xfrm>
            <a:off x="250825" y="1855788"/>
            <a:ext cx="8713788" cy="4319905"/>
          </a:xfrm>
          <a:prstGeom prst="rect">
            <a:avLst/>
          </a:prstGeom>
          <a:noFill/>
          <a:ln w="28575">
            <a:noFill/>
            <a:miter lim="800000"/>
          </a:ln>
        </p:spPr>
        <p:txBody>
          <a:bodyPr>
            <a:spAutoFit/>
          </a:bodyPr>
          <a:lstStyle/>
          <a:p>
            <a:pPr algn="l">
              <a:spcBef>
                <a:spcPts val="600"/>
              </a:spcBef>
              <a:spcAft>
                <a:spcPts val="600"/>
              </a:spcAft>
            </a:pPr>
            <a:r>
              <a:rPr lang="zh-CN" altLang="en-US" smtClean="0">
                <a:solidFill>
                  <a:schemeClr val="bg2"/>
                </a:solidFill>
                <a:latin typeface="楷体" panose="02010609060101010101" pitchFamily="49" charset="-122"/>
                <a:ea typeface="楷体" panose="02010609060101010101" pitchFamily="49" charset="-122"/>
              </a:rPr>
              <a:t>项目管理作为管理学的一个子集，具有管理学在通常意义上的价值。</a:t>
            </a:r>
            <a:endParaRPr lang="en-US" altLang="zh-CN" smtClean="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mtClean="0">
                <a:solidFill>
                  <a:schemeClr val="bg2"/>
                </a:solidFill>
                <a:latin typeface="楷体" panose="02010609060101010101" pitchFamily="49" charset="-122"/>
                <a:ea typeface="楷体" panose="02010609060101010101" pitchFamily="49" charset="-122"/>
              </a:rPr>
              <a:t>企业管理对企业的兴衰成败起着决定性的作用，项目管理对项目的成败也起着决定性的作用。</a:t>
            </a:r>
            <a:endParaRPr lang="en-US" altLang="zh-CN" smtClean="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mtClean="0">
                <a:solidFill>
                  <a:schemeClr val="bg2"/>
                </a:solidFill>
                <a:latin typeface="楷体" panose="02010609060101010101" pitchFamily="49" charset="-122"/>
                <a:ea typeface="楷体" panose="02010609060101010101" pitchFamily="49" charset="-122"/>
              </a:rPr>
              <a:t>项目最主要的价值来源是通过完成业务目标来获得的，而要确保业务目标的实现需要有效的项目管理。</a:t>
            </a:r>
            <a:endParaRPr lang="en-US" altLang="zh-CN" smtClean="0">
              <a:solidFill>
                <a:schemeClr val="bg2"/>
              </a:solidFill>
              <a:latin typeface="楷体" panose="02010609060101010101" pitchFamily="49" charset="-122"/>
              <a:ea typeface="楷体" panose="02010609060101010101" pitchFamily="49" charset="-122"/>
            </a:endParaRPr>
          </a:p>
          <a:p>
            <a:pPr algn="ctr">
              <a:spcBef>
                <a:spcPts val="600"/>
              </a:spcBef>
              <a:spcAft>
                <a:spcPts val="600"/>
              </a:spcAft>
            </a:pPr>
            <a:r>
              <a:rPr lang="zh-CN" altLang="en-US" sz="3600" smtClean="0">
                <a:solidFill>
                  <a:srgbClr val="0000FF"/>
                </a:solidFill>
                <a:latin typeface="楷体" panose="02010609060101010101" pitchFamily="49" charset="-122"/>
                <a:ea typeface="楷体" panose="02010609060101010101" pitchFamily="49" charset="-122"/>
              </a:rPr>
              <a:t>实行项目管理可以为企业创造巨大的价值。</a:t>
            </a:r>
            <a:endParaRPr lang="zh-CN" altLang="en-US" sz="3600" smtClean="0">
              <a:solidFill>
                <a:srgbClr val="0000FF"/>
              </a:solidFill>
              <a:latin typeface="楷体" panose="02010609060101010101" pitchFamily="49" charset="-122"/>
              <a:ea typeface="楷体" panose="02010609060101010101" pitchFamily="49" charset="-122"/>
            </a:endParaRPr>
          </a:p>
          <a:p>
            <a:pPr algn="l">
              <a:lnSpc>
                <a:spcPct val="110000"/>
              </a:lnSpc>
              <a:spcBef>
                <a:spcPts val="600"/>
              </a:spcBef>
              <a:spcAft>
                <a:spcPts val="600"/>
              </a:spcAft>
              <a:buClr>
                <a:schemeClr val="hlink"/>
              </a:buClr>
              <a:buFont typeface="Wingdings" panose="05000000000000000000" pitchFamily="2" charset="2"/>
              <a:buChar char="ü"/>
            </a:pPr>
            <a:endParaRPr kumimoji="0" lang="zh-CN" altLang="en-US" sz="3600" smtClean="0">
              <a:solidFill>
                <a:srgbClr val="0000FF"/>
              </a:solidFill>
              <a:latin typeface="楷体" panose="02010609060101010101" pitchFamily="49" charset="-122"/>
              <a:ea typeface="楷体" panose="02010609060101010101" pitchFamily="49" charset="-122"/>
            </a:endParaRPr>
          </a:p>
        </p:txBody>
      </p:sp>
      <p:sp>
        <p:nvSpPr>
          <p:cNvPr id="17414"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P.5</a:t>
            </a:r>
            <a:endParaRPr lang="en-US" altLang="zh-CN" sz="2400">
              <a:solidFill>
                <a:schemeClr val="bg2"/>
              </a:solidFill>
            </a:endParaRPr>
          </a:p>
        </p:txBody>
      </p:sp>
      <p:sp>
        <p:nvSpPr>
          <p:cNvPr id="17415" name="Rectangle 7"/>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zh-CN"/>
              <a:t>1.1 </a:t>
            </a:r>
            <a:r>
              <a:rPr kumimoji="0" lang="zh-CN" altLang="en-US">
                <a:latin typeface="楷体" panose="02010609060101010101" pitchFamily="49" charset="-122"/>
                <a:ea typeface="楷体" panose="02010609060101010101" pitchFamily="49" charset="-122"/>
              </a:rPr>
              <a:t>项目与项目管理的价值</a:t>
            </a:r>
            <a:endParaRPr kumimoji="0" lang="zh-CN" altLang="en-US">
              <a:latin typeface="楷体" panose="02010609060101010101" pitchFamily="49" charset="-122"/>
              <a:ea typeface="楷体" panose="02010609060101010101" pitchFamily="49" charset="-122"/>
            </a:endParaRPr>
          </a:p>
        </p:txBody>
      </p:sp>
      <p:sp>
        <p:nvSpPr>
          <p:cNvPr id="17416" name="Rectangle 8"/>
          <p:cNvSpPr>
            <a:spLocks noChangeArrowheads="1"/>
          </p:cNvSpPr>
          <p:nvPr/>
        </p:nvSpPr>
        <p:spPr bwMode="auto">
          <a:xfrm>
            <a:off x="153988" y="1341438"/>
            <a:ext cx="3485515" cy="521970"/>
          </a:xfrm>
          <a:prstGeom prst="rect">
            <a:avLst/>
          </a:prstGeom>
          <a:noFill/>
          <a:ln w="9525">
            <a:noFill/>
            <a:miter lim="800000"/>
          </a:ln>
        </p:spPr>
        <p:txBody>
          <a:bodyPr wrap="none">
            <a:spAutoFit/>
          </a:bodyPr>
          <a:lstStyle/>
          <a:p>
            <a:pPr algn="l"/>
            <a:r>
              <a:rPr kumimoji="0" lang="en-US" altLang="en-US">
                <a:solidFill>
                  <a:schemeClr val="hlink"/>
                </a:solidFill>
                <a:ea typeface="楷体_GB2312" pitchFamily="49" charset="-122"/>
              </a:rPr>
              <a:t>1.1.2 </a:t>
            </a:r>
            <a:r>
              <a:rPr kumimoji="0" lang="en-US" altLang="en-US">
                <a:solidFill>
                  <a:schemeClr val="hlink"/>
                </a:solidFill>
                <a:latin typeface="楷体" panose="02010609060101010101" pitchFamily="49" charset="-122"/>
                <a:ea typeface="楷体" panose="02010609060101010101" pitchFamily="49" charset="-122"/>
              </a:rPr>
              <a:t>项目管理的价值</a:t>
            </a:r>
            <a:endParaRPr kumimoji="0" lang="en-US"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77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773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773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773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9"/>
          <p:cNvSpPr>
            <a:spLocks noGrp="1" noChangeArrowheads="1"/>
          </p:cNvSpPr>
          <p:nvPr>
            <p:ph type="sldNum" sz="quarter" idx="10"/>
          </p:nvPr>
        </p:nvSpPr>
        <p:spPr>
          <a:noFill/>
        </p:spPr>
        <p:txBody>
          <a:bodyPr/>
          <a:lstStyle/>
          <a:p>
            <a:r>
              <a:rPr lang="zh-CN" altLang="en-GB" smtClean="0"/>
              <a:t>  </a:t>
            </a:r>
            <a:fld id="{7F3A030A-96F0-4DA9-8E55-2F2CAF753027}" type="slidenum">
              <a:rPr lang="zh-CN" altLang="en-GB" smtClean="0"/>
            </a:fld>
            <a:endParaRPr lang="en-US" altLang="zh-CN" smtClean="0"/>
          </a:p>
        </p:txBody>
      </p:sp>
      <p:sp>
        <p:nvSpPr>
          <p:cNvPr id="1741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17412"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57732" name="Text Box 4"/>
          <p:cNvSpPr txBox="1">
            <a:spLocks noChangeArrowheads="1"/>
          </p:cNvSpPr>
          <p:nvPr/>
        </p:nvSpPr>
        <p:spPr bwMode="auto">
          <a:xfrm>
            <a:off x="250825" y="1855788"/>
            <a:ext cx="8713788" cy="4615815"/>
          </a:xfrm>
          <a:prstGeom prst="rect">
            <a:avLst/>
          </a:prstGeom>
          <a:noFill/>
          <a:ln w="28575">
            <a:noFill/>
            <a:miter lim="800000"/>
          </a:ln>
        </p:spPr>
        <p:txBody>
          <a:bodyPr>
            <a:spAutoFit/>
          </a:bodyPr>
          <a:lstStyle/>
          <a:p>
            <a:pPr algn="l">
              <a:spcBef>
                <a:spcPts val="600"/>
              </a:spcBef>
              <a:spcAft>
                <a:spcPts val="600"/>
              </a:spcAft>
              <a:buClr>
                <a:schemeClr val="hlink"/>
              </a:buClr>
            </a:pPr>
            <a:r>
              <a:rPr kumimoji="0"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许多</a:t>
            </a:r>
            <a:r>
              <a:rPr kumimoji="0"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跨国公司的经验表明，企业的成功在于有效地推行项目管理。</a:t>
            </a:r>
            <a:endParaRPr kumimoji="0" lang="zh-CN" altLang="en-US">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buClr>
                <a:schemeClr val="hlink"/>
              </a:buClr>
            </a:pPr>
            <a:r>
              <a:rPr kumimoji="0" lang="en-US" altLang="en-US" smtClean="0">
                <a:solidFill>
                  <a:schemeClr val="bg2"/>
                </a:solidFill>
                <a:ea typeface="楷体" panose="02010609060101010101" pitchFamily="49" charset="-122"/>
                <a:cs typeface="Times New Roman" panose="02020603050405020304" pitchFamily="18" charset="0"/>
              </a:rPr>
              <a:t>IBM</a:t>
            </a:r>
            <a:r>
              <a:rPr kumimoji="0"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公司正在致力于将整个企业的运作管理变成基于项目的管理。</a:t>
            </a:r>
            <a:endParaRPr kumimoji="0" lang="en-US" altLang="zh-CN"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buClr>
                <a:schemeClr val="hlink"/>
              </a:buClr>
            </a:pPr>
            <a:r>
              <a:rPr kumimoji="0"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其他的跨国公司像朗讯、惠普等在其公司运营的核心部分都采用了项目管理模式进行运作。</a:t>
            </a:r>
            <a:endParaRPr kumimoji="0" lang="en-US" altLang="zh-CN"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ctr">
              <a:spcBef>
                <a:spcPts val="600"/>
              </a:spcBef>
              <a:spcAft>
                <a:spcPts val="600"/>
              </a:spcAft>
              <a:buClr>
                <a:schemeClr val="hlink"/>
              </a:buClr>
            </a:pPr>
            <a:r>
              <a:rPr kumimoji="0" lang="zh-CN" altLang="en-US" sz="3200" smtClean="0">
                <a:solidFill>
                  <a:srgbClr val="0000FF"/>
                </a:solidFill>
                <a:latin typeface="楷体" panose="02010609060101010101" pitchFamily="49" charset="-122"/>
                <a:ea typeface="楷体" panose="02010609060101010101" pitchFamily="49" charset="-122"/>
                <a:cs typeface="楷体" panose="02010609060101010101" pitchFamily="49" charset="-122"/>
              </a:rPr>
              <a:t>越来越多的企业正在或将要引入项目管理，一些国内的企业也把项目管理作为自己主要的运作模式和提高企业运作效率的解决方案。</a:t>
            </a:r>
            <a:endParaRPr kumimoji="0" lang="zh-CN" altLang="en-US" sz="32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17414"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P.5</a:t>
            </a:r>
            <a:endParaRPr lang="en-US" altLang="zh-CN" sz="2400">
              <a:solidFill>
                <a:schemeClr val="bg2"/>
              </a:solidFill>
            </a:endParaRPr>
          </a:p>
        </p:txBody>
      </p:sp>
      <p:sp>
        <p:nvSpPr>
          <p:cNvPr id="17415" name="Rectangle 7"/>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zh-CN"/>
              <a:t>1.1 </a:t>
            </a:r>
            <a:r>
              <a:rPr kumimoji="0" lang="zh-CN" altLang="en-US">
                <a:latin typeface="楷体" panose="02010609060101010101" pitchFamily="49" charset="-122"/>
                <a:ea typeface="楷体" panose="02010609060101010101" pitchFamily="49" charset="-122"/>
              </a:rPr>
              <a:t>项目与项目管理的价值</a:t>
            </a:r>
            <a:endParaRPr kumimoji="0" lang="zh-CN" altLang="en-US">
              <a:latin typeface="楷体" panose="02010609060101010101" pitchFamily="49" charset="-122"/>
              <a:ea typeface="楷体" panose="02010609060101010101" pitchFamily="49" charset="-122"/>
            </a:endParaRPr>
          </a:p>
        </p:txBody>
      </p:sp>
      <p:sp>
        <p:nvSpPr>
          <p:cNvPr id="17416" name="Rectangle 8"/>
          <p:cNvSpPr>
            <a:spLocks noChangeArrowheads="1"/>
          </p:cNvSpPr>
          <p:nvPr/>
        </p:nvSpPr>
        <p:spPr bwMode="auto">
          <a:xfrm>
            <a:off x="153988" y="1341438"/>
            <a:ext cx="3485515" cy="521970"/>
          </a:xfrm>
          <a:prstGeom prst="rect">
            <a:avLst/>
          </a:prstGeom>
          <a:noFill/>
          <a:ln w="9525">
            <a:noFill/>
            <a:miter lim="800000"/>
          </a:ln>
        </p:spPr>
        <p:txBody>
          <a:bodyPr wrap="none">
            <a:spAutoFit/>
          </a:bodyPr>
          <a:lstStyle/>
          <a:p>
            <a:pPr algn="l"/>
            <a:r>
              <a:rPr kumimoji="0" lang="en-US" altLang="en-US">
                <a:solidFill>
                  <a:schemeClr val="hlink"/>
                </a:solidFill>
                <a:ea typeface="楷体_GB2312" pitchFamily="49" charset="-122"/>
              </a:rPr>
              <a:t>1.1.2 </a:t>
            </a:r>
            <a:r>
              <a:rPr kumimoji="0" lang="en-US" altLang="en-US">
                <a:solidFill>
                  <a:schemeClr val="hlink"/>
                </a:solidFill>
                <a:latin typeface="楷体" panose="02010609060101010101" pitchFamily="49" charset="-122"/>
                <a:ea typeface="楷体" panose="02010609060101010101" pitchFamily="49" charset="-122"/>
              </a:rPr>
              <a:t>项目管理的价值</a:t>
            </a:r>
            <a:endParaRPr kumimoji="0" lang="en-US"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773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773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773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9"/>
          <p:cNvSpPr>
            <a:spLocks noGrp="1" noChangeArrowheads="1"/>
          </p:cNvSpPr>
          <p:nvPr>
            <p:ph type="sldNum" sz="quarter" idx="10"/>
          </p:nvPr>
        </p:nvSpPr>
        <p:spPr>
          <a:noFill/>
        </p:spPr>
        <p:txBody>
          <a:bodyPr/>
          <a:lstStyle/>
          <a:p>
            <a:r>
              <a:rPr lang="zh-CN" altLang="en-GB" smtClean="0"/>
              <a:t>  </a:t>
            </a:r>
            <a:fld id="{7F3A030A-96F0-4DA9-8E55-2F2CAF753027}" type="slidenum">
              <a:rPr lang="zh-CN" altLang="en-GB" smtClean="0"/>
            </a:fld>
            <a:endParaRPr lang="en-US" altLang="zh-CN" smtClean="0"/>
          </a:p>
        </p:txBody>
      </p:sp>
      <p:sp>
        <p:nvSpPr>
          <p:cNvPr id="1741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17412"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57732" name="Text Box 4"/>
          <p:cNvSpPr txBox="1">
            <a:spLocks noChangeArrowheads="1"/>
          </p:cNvSpPr>
          <p:nvPr/>
        </p:nvSpPr>
        <p:spPr bwMode="auto">
          <a:xfrm>
            <a:off x="250825" y="1855788"/>
            <a:ext cx="8713788" cy="4107815"/>
          </a:xfrm>
          <a:prstGeom prst="rect">
            <a:avLst/>
          </a:prstGeom>
          <a:noFill/>
          <a:ln w="28575">
            <a:noFill/>
            <a:miter lim="800000"/>
          </a:ln>
        </p:spPr>
        <p:txBody>
          <a:bodyPr>
            <a:spAutoFit/>
          </a:bodyPr>
          <a:lstStyle/>
          <a:p>
            <a:pPr algn="l">
              <a:spcBef>
                <a:spcPts val="600"/>
              </a:spcBef>
              <a:spcAft>
                <a:spcPts val="600"/>
              </a:spcAft>
            </a:pPr>
            <a:r>
              <a:rPr lang="zh-CN" altLang="en-US" sz="4400" smtClean="0">
                <a:solidFill>
                  <a:srgbClr val="0000FF"/>
                </a:solidFill>
                <a:latin typeface="楷体" panose="02010609060101010101" pitchFamily="49" charset="-122"/>
                <a:ea typeface="楷体" panose="02010609060101010101" pitchFamily="49" charset="-122"/>
              </a:rPr>
              <a:t>项目管理还有一个非常重要的价值，这就是知识积累。</a:t>
            </a:r>
            <a:endParaRPr lang="en-US" altLang="zh-CN" sz="4400" smtClean="0">
              <a:solidFill>
                <a:schemeClr val="bg1">
                  <a:lumMod val="50000"/>
                </a:schemeClr>
              </a:solidFill>
              <a:latin typeface="楷体" panose="02010609060101010101" pitchFamily="49" charset="-122"/>
              <a:ea typeface="楷体" panose="02010609060101010101" pitchFamily="49" charset="-122"/>
            </a:endParaRPr>
          </a:p>
          <a:p>
            <a:pPr algn="l">
              <a:spcBef>
                <a:spcPts val="2400"/>
              </a:spcBef>
              <a:spcAft>
                <a:spcPts val="600"/>
              </a:spcAft>
            </a:pPr>
            <a:r>
              <a:rPr lang="zh-CN" altLang="en-US" sz="3600" smtClean="0">
                <a:solidFill>
                  <a:schemeClr val="bg2"/>
                </a:solidFill>
                <a:latin typeface="楷体" panose="02010609060101010101" pitchFamily="49" charset="-122"/>
                <a:ea typeface="楷体" panose="02010609060101010101" pitchFamily="49" charset="-122"/>
              </a:rPr>
              <a:t>每个项目的成功实施除了获得产品、服务或成果外，还会留下非常宝贵的项目经验和教训，形成</a:t>
            </a:r>
            <a:r>
              <a:rPr lang="zh-CN" altLang="en-US" sz="4000" smtClean="0">
                <a:solidFill>
                  <a:srgbClr val="0000FF"/>
                </a:solidFill>
                <a:latin typeface="楷体" panose="02010609060101010101" pitchFamily="49" charset="-122"/>
                <a:ea typeface="楷体" panose="02010609060101010101" pitchFamily="49" charset="-122"/>
              </a:rPr>
              <a:t>组织过程资产</a:t>
            </a:r>
            <a:r>
              <a:rPr lang="zh-CN" altLang="en-US" sz="3600" smtClean="0">
                <a:solidFill>
                  <a:schemeClr val="bg2"/>
                </a:solidFill>
                <a:latin typeface="楷体" panose="02010609060101010101" pitchFamily="49" charset="-122"/>
                <a:ea typeface="楷体" panose="02010609060101010101" pitchFamily="49" charset="-122"/>
              </a:rPr>
              <a:t>，为后续的项目提供有力的支撑。</a:t>
            </a:r>
            <a:endParaRPr lang="zh-CN" altLang="en-US" sz="3600">
              <a:solidFill>
                <a:schemeClr val="bg2"/>
              </a:solidFill>
              <a:latin typeface="楷体" panose="02010609060101010101" pitchFamily="49" charset="-122"/>
              <a:ea typeface="楷体" panose="02010609060101010101" pitchFamily="49" charset="-122"/>
            </a:endParaRPr>
          </a:p>
        </p:txBody>
      </p:sp>
      <p:sp>
        <p:nvSpPr>
          <p:cNvPr id="17414"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P.6</a:t>
            </a:r>
            <a:endParaRPr lang="en-US" altLang="zh-CN" sz="2400">
              <a:solidFill>
                <a:schemeClr val="bg2"/>
              </a:solidFill>
            </a:endParaRPr>
          </a:p>
        </p:txBody>
      </p:sp>
      <p:sp>
        <p:nvSpPr>
          <p:cNvPr id="17415" name="Rectangle 7"/>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zh-CN"/>
              <a:t>1.1 </a:t>
            </a:r>
            <a:r>
              <a:rPr kumimoji="0" lang="zh-CN" altLang="en-US">
                <a:latin typeface="楷体" panose="02010609060101010101" pitchFamily="49" charset="-122"/>
                <a:ea typeface="楷体" panose="02010609060101010101" pitchFamily="49" charset="-122"/>
              </a:rPr>
              <a:t>项目与项目管理的价值</a:t>
            </a:r>
            <a:endParaRPr kumimoji="0" lang="zh-CN" altLang="en-US">
              <a:latin typeface="楷体" panose="02010609060101010101" pitchFamily="49" charset="-122"/>
              <a:ea typeface="楷体" panose="02010609060101010101" pitchFamily="49" charset="-122"/>
            </a:endParaRPr>
          </a:p>
        </p:txBody>
      </p:sp>
      <p:sp>
        <p:nvSpPr>
          <p:cNvPr id="17416" name="Rectangle 8"/>
          <p:cNvSpPr>
            <a:spLocks noChangeArrowheads="1"/>
          </p:cNvSpPr>
          <p:nvPr/>
        </p:nvSpPr>
        <p:spPr bwMode="auto">
          <a:xfrm>
            <a:off x="153988" y="1341438"/>
            <a:ext cx="3485515" cy="521970"/>
          </a:xfrm>
          <a:prstGeom prst="rect">
            <a:avLst/>
          </a:prstGeom>
          <a:noFill/>
          <a:ln w="9525">
            <a:noFill/>
            <a:miter lim="800000"/>
          </a:ln>
        </p:spPr>
        <p:txBody>
          <a:bodyPr wrap="none">
            <a:spAutoFit/>
          </a:bodyPr>
          <a:lstStyle/>
          <a:p>
            <a:pPr algn="l"/>
            <a:r>
              <a:rPr kumimoji="0" lang="en-US" altLang="en-US">
                <a:solidFill>
                  <a:schemeClr val="hlink"/>
                </a:solidFill>
                <a:ea typeface="楷体_GB2312" pitchFamily="49" charset="-122"/>
              </a:rPr>
              <a:t>1.1.2 </a:t>
            </a:r>
            <a:r>
              <a:rPr kumimoji="0" lang="en-US" altLang="en-US">
                <a:solidFill>
                  <a:schemeClr val="hlink"/>
                </a:solidFill>
                <a:latin typeface="楷体" panose="02010609060101010101" pitchFamily="49" charset="-122"/>
                <a:ea typeface="楷体" panose="02010609060101010101" pitchFamily="49" charset="-122"/>
              </a:rPr>
              <a:t>项目管理的价值</a:t>
            </a:r>
            <a:endParaRPr kumimoji="0" lang="en-US"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77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773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smtClean="0"/>
              <a:t>  </a:t>
            </a:r>
            <a:fld id="{B6D6A615-618E-4DBF-9BE6-09340DC0AD1F}" type="slidenum">
              <a:rPr lang="zh-CN" altLang="en-GB" smtClean="0"/>
            </a:fld>
            <a:endParaRPr lang="en-US" altLang="zh-CN" smtClean="0"/>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819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华文新魏" panose="02010800040101010101" pitchFamily="2" charset="-122"/>
                <a:ea typeface="华文新魏" panose="02010800040101010101" pitchFamily="2" charset="-122"/>
              </a:rPr>
              <a:t>提   纲</a:t>
            </a:r>
            <a:endParaRPr lang="en-US" altLang="zh-CN" sz="4800" b="1" smtClean="0">
              <a:latin typeface="华文新魏" panose="02010800040101010101" pitchFamily="2" charset="-122"/>
              <a:ea typeface="华文新魏" panose="02010800040101010101" pitchFamily="2" charset="-122"/>
            </a:endParaRPr>
          </a:p>
        </p:txBody>
      </p:sp>
      <p:sp>
        <p:nvSpPr>
          <p:cNvPr id="7" name="TextBox 6"/>
          <p:cNvSpPr txBox="1">
            <a:spLocks noChangeArrowheads="1"/>
          </p:cNvSpPr>
          <p:nvPr/>
        </p:nvSpPr>
        <p:spPr bwMode="auto">
          <a:xfrm>
            <a:off x="285720" y="1357298"/>
            <a:ext cx="8501062" cy="489267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项目与项目管理的价值</a:t>
            </a:r>
            <a:endParaRPr lang="en-US" altLang="zh-CN" sz="440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smtClean="0">
                <a:solidFill>
                  <a:srgbClr val="FF0000"/>
                </a:solidFill>
                <a:latin typeface="楷体" panose="02010609060101010101" pitchFamily="49" charset="-122"/>
                <a:ea typeface="楷体" panose="02010609060101010101" pitchFamily="49" charset="-122"/>
                <a:cs typeface="楷体" panose="02010609060101010101" pitchFamily="49" charset="-122"/>
              </a:rPr>
              <a:t>项目的特点与定义</a:t>
            </a:r>
            <a:endParaRPr lang="en-US" altLang="zh-CN" sz="4800" smtClean="0">
              <a:solidFill>
                <a:srgbClr val="C00000"/>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项目管理的概念与知识体系</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信息技术与</a:t>
            </a:r>
            <a:r>
              <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IT</a:t>
            </a: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项目特征</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IT</a:t>
            </a: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项目管理的定义与特点</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软件的定义与软件项目特点</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软件项目管理的意义和重点</a:t>
            </a:r>
            <a:endParaRPr lang="zh-CN" altLang="en-US" sz="4400" dirty="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9"/>
          <p:cNvSpPr>
            <a:spLocks noGrp="1" noChangeArrowheads="1"/>
          </p:cNvSpPr>
          <p:nvPr>
            <p:ph type="sldNum" sz="quarter" idx="10"/>
          </p:nvPr>
        </p:nvSpPr>
        <p:spPr>
          <a:noFill/>
        </p:spPr>
        <p:txBody>
          <a:bodyPr/>
          <a:lstStyle/>
          <a:p>
            <a:r>
              <a:rPr lang="zh-CN" altLang="en-GB" smtClean="0"/>
              <a:t>  </a:t>
            </a:r>
            <a:fld id="{75DE7A19-F45C-4E9A-A395-065FE5B16D2D}" type="slidenum">
              <a:rPr lang="zh-CN" altLang="en-GB" smtClean="0"/>
            </a:fld>
            <a:endParaRPr lang="en-US" altLang="zh-CN" smtClean="0"/>
          </a:p>
        </p:txBody>
      </p:sp>
      <p:sp>
        <p:nvSpPr>
          <p:cNvPr id="2048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2048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63876" name="Text Box 4"/>
          <p:cNvSpPr txBox="1">
            <a:spLocks noChangeArrowheads="1"/>
          </p:cNvSpPr>
          <p:nvPr/>
        </p:nvSpPr>
        <p:spPr bwMode="auto">
          <a:xfrm>
            <a:off x="250825" y="1885315"/>
            <a:ext cx="8713788" cy="4398010"/>
          </a:xfrm>
          <a:prstGeom prst="rect">
            <a:avLst/>
          </a:prstGeom>
          <a:noFill/>
          <a:ln w="28575">
            <a:noFill/>
            <a:miter lim="800000"/>
          </a:ln>
        </p:spPr>
        <p:txBody>
          <a:bodyPr>
            <a:spAutoFit/>
          </a:bodyPr>
          <a:lstStyle/>
          <a:p>
            <a:pPr algn="l">
              <a:spcBef>
                <a:spcPct val="50000"/>
              </a:spcBef>
              <a:buClr>
                <a:schemeClr val="hlink"/>
              </a:buClr>
            </a:pPr>
            <a:r>
              <a:rPr kumimoji="0"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自从</a:t>
            </a:r>
            <a:r>
              <a:rPr kumimoji="0" lang="zh-CN" altLang="en-US" sz="3200">
                <a:solidFill>
                  <a:schemeClr val="bg2"/>
                </a:solidFill>
                <a:latin typeface="楷体" panose="02010609060101010101" pitchFamily="49" charset="-122"/>
                <a:ea typeface="楷体" panose="02010609060101010101" pitchFamily="49" charset="-122"/>
                <a:cs typeface="楷体" panose="02010609060101010101" pitchFamily="49" charset="-122"/>
              </a:rPr>
              <a:t>有了人类，就有了活动。这些活动，具有三个基本特点：</a:t>
            </a:r>
            <a:endParaRPr kumimoji="0" lang="zh-CN" altLang="en-US">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358775" lvl="2" algn="l">
              <a:spcBef>
                <a:spcPct val="20000"/>
              </a:spcBef>
              <a:buClr>
                <a:schemeClr val="bg1"/>
              </a:buClr>
              <a:buFont typeface="Wingdings" panose="05000000000000000000" pitchFamily="2" charset="2"/>
              <a:buChar char="n"/>
            </a:pPr>
            <a:r>
              <a:rPr kumimoji="0" lang="zh-CN" altLang="en-US">
                <a:solidFill>
                  <a:srgbClr val="0000FF"/>
                </a:solidFill>
                <a:latin typeface="楷体" panose="02010609060101010101" pitchFamily="49" charset="-122"/>
                <a:ea typeface="楷体" panose="02010609060101010101" pitchFamily="49" charset="-122"/>
                <a:cs typeface="楷体" panose="02010609060101010101" pitchFamily="49" charset="-122"/>
              </a:rPr>
              <a:t>目的性</a:t>
            </a:r>
            <a:r>
              <a:rPr kumimoji="0" lang="zh-CN" altLang="en-US">
                <a:solidFill>
                  <a:schemeClr val="bg1"/>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2400">
                <a:solidFill>
                  <a:schemeClr val="bg2"/>
                </a:solidFill>
                <a:latin typeface="楷体" panose="02010609060101010101" pitchFamily="49" charset="-122"/>
                <a:ea typeface="楷体" panose="02010609060101010101" pitchFamily="49" charset="-122"/>
                <a:cs typeface="楷体" panose="02010609060101010101" pitchFamily="49" charset="-122"/>
              </a:rPr>
              <a:t>为了达到预期的目的而活动。</a:t>
            </a:r>
            <a:r>
              <a:rPr kumimoji="0"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 </a:t>
            </a:r>
            <a:endParaRPr kumimoji="0" lang="zh-CN" altLang="en-US">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358775" lvl="2" algn="l">
              <a:spcBef>
                <a:spcPct val="20000"/>
              </a:spcBef>
              <a:buClr>
                <a:schemeClr val="bg1"/>
              </a:buClr>
              <a:buFont typeface="Wingdings" panose="05000000000000000000" pitchFamily="2" charset="2"/>
              <a:buChar char="n"/>
            </a:pPr>
            <a:r>
              <a:rPr kumimoji="0" lang="zh-CN" altLang="en-US">
                <a:solidFill>
                  <a:srgbClr val="0000FF"/>
                </a:solidFill>
                <a:latin typeface="楷体" panose="02010609060101010101" pitchFamily="49" charset="-122"/>
                <a:ea typeface="楷体" panose="02010609060101010101" pitchFamily="49" charset="-122"/>
                <a:cs typeface="楷体" panose="02010609060101010101" pitchFamily="49" charset="-122"/>
              </a:rPr>
              <a:t>依存性：</a:t>
            </a:r>
            <a:r>
              <a:rPr kumimoji="0" lang="zh-CN" altLang="en-US" sz="2400">
                <a:solidFill>
                  <a:schemeClr val="bg2"/>
                </a:solidFill>
                <a:latin typeface="楷体" panose="02010609060101010101" pitchFamily="49" charset="-122"/>
                <a:ea typeface="楷体" panose="02010609060101010101" pitchFamily="49" charset="-122"/>
                <a:cs typeface="楷体" panose="02010609060101010101" pitchFamily="49" charset="-122"/>
              </a:rPr>
              <a:t>分工越来越细，依存越来越紧密</a:t>
            </a:r>
            <a:r>
              <a:rPr kumimoji="0"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 </a:t>
            </a:r>
            <a:endParaRPr kumimoji="0" lang="zh-CN" altLang="en-US">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358775" lvl="2" algn="l">
              <a:spcBef>
                <a:spcPct val="20000"/>
              </a:spcBef>
              <a:buClr>
                <a:schemeClr val="bg1"/>
              </a:buClr>
              <a:buFont typeface="Wingdings" panose="05000000000000000000" pitchFamily="2" charset="2"/>
              <a:buChar char="n"/>
            </a:pPr>
            <a:r>
              <a:rPr kumimoji="0" lang="zh-CN" altLang="en-US">
                <a:solidFill>
                  <a:srgbClr val="0000FF"/>
                </a:solidFill>
                <a:latin typeface="楷体" panose="02010609060101010101" pitchFamily="49" charset="-122"/>
                <a:ea typeface="楷体" panose="02010609060101010101" pitchFamily="49" charset="-122"/>
                <a:cs typeface="楷体" panose="02010609060101010101" pitchFamily="49" charset="-122"/>
              </a:rPr>
              <a:t>知识性：</a:t>
            </a:r>
            <a:r>
              <a:rPr kumimoji="0" lang="zh-CN" altLang="en-US" sz="2400">
                <a:solidFill>
                  <a:schemeClr val="bg2"/>
                </a:solidFill>
                <a:latin typeface="楷体" panose="02010609060101010101" pitchFamily="49" charset="-122"/>
                <a:ea typeface="楷体" panose="02010609060101010101" pitchFamily="49" charset="-122"/>
                <a:cs typeface="楷体" panose="02010609060101010101" pitchFamily="49" charset="-122"/>
              </a:rPr>
              <a:t>在实践中获得的认识和经验，形成知识体系</a:t>
            </a:r>
            <a:endParaRPr kumimoji="0" lang="zh-CN" altLang="en-US" sz="240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ct val="65000"/>
              </a:spcBef>
              <a:buClr>
                <a:srgbClr val="990000"/>
              </a:buClr>
            </a:pPr>
            <a:r>
              <a:rPr kumimoji="0" lang="zh-CN" altLang="en-US" sz="3200">
                <a:solidFill>
                  <a:srgbClr val="FF0000"/>
                </a:solidFill>
                <a:latin typeface="楷体" panose="02010609060101010101" pitchFamily="49" charset="-122"/>
                <a:ea typeface="楷体" panose="02010609060101010101" pitchFamily="49" charset="-122"/>
                <a:cs typeface="楷体" panose="02010609060101010101" pitchFamily="49" charset="-122"/>
              </a:rPr>
              <a:t>人类活动的作用体现在两个方面：</a:t>
            </a:r>
            <a:endParaRPr kumimoji="0" lang="zh-CN" altLang="en-US" sz="320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marL="358775" lvl="2" algn="l">
              <a:spcBef>
                <a:spcPct val="30000"/>
              </a:spcBef>
              <a:buClr>
                <a:srgbClr val="000066"/>
              </a:buClr>
              <a:buFont typeface="Wingdings" panose="05000000000000000000" pitchFamily="2" charset="2"/>
              <a:buChar char="n"/>
            </a:pPr>
            <a:r>
              <a:rPr kumimoji="0" lang="zh-CN" altLang="en-US" sz="2400">
                <a:solidFill>
                  <a:schemeClr val="bg2"/>
                </a:solidFill>
                <a:latin typeface="楷体" panose="02010609060101010101" pitchFamily="49" charset="-122"/>
                <a:ea typeface="楷体" panose="02010609060101010101" pitchFamily="49" charset="-122"/>
                <a:cs typeface="楷体" panose="02010609060101010101" pitchFamily="49" charset="-122"/>
              </a:rPr>
              <a:t>人作用于物的活动，这涉及到有关操作的知识；</a:t>
            </a:r>
            <a:endParaRPr kumimoji="0" lang="zh-CN" altLang="en-US" sz="240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358775" lvl="2" algn="l">
              <a:spcBef>
                <a:spcPct val="30000"/>
              </a:spcBef>
              <a:buClr>
                <a:srgbClr val="000066"/>
              </a:buClr>
              <a:buFont typeface="Wingdings" panose="05000000000000000000" pitchFamily="2" charset="2"/>
              <a:buChar char="n"/>
            </a:pPr>
            <a:r>
              <a:rPr kumimoji="0" lang="zh-CN" altLang="en-US" sz="2400">
                <a:solidFill>
                  <a:schemeClr val="bg2"/>
                </a:solidFill>
                <a:latin typeface="楷体" panose="02010609060101010101" pitchFamily="49" charset="-122"/>
                <a:ea typeface="楷体" panose="02010609060101010101" pitchFamily="49" charset="-122"/>
                <a:cs typeface="楷体" panose="02010609060101010101" pitchFamily="49" charset="-122"/>
              </a:rPr>
              <a:t>人作用于人的活动，这涉及到有关协调的知识。</a:t>
            </a:r>
            <a:endParaRPr kumimoji="0" lang="zh-CN" altLang="en-US" sz="240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20486" name="Text Box 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spcBef>
                <a:spcPct val="50000"/>
              </a:spcBef>
            </a:pPr>
            <a:r>
              <a:rPr lang="en-US" altLang="zh-CN" sz="2400">
                <a:solidFill>
                  <a:schemeClr val="bg2"/>
                </a:solidFill>
              </a:rPr>
              <a:t>P.6</a:t>
            </a:r>
            <a:endParaRPr lang="en-US" altLang="zh-CN" sz="2400">
              <a:solidFill>
                <a:schemeClr val="bg2"/>
              </a:solidFill>
            </a:endParaRPr>
          </a:p>
        </p:txBody>
      </p:sp>
      <p:sp>
        <p:nvSpPr>
          <p:cNvPr id="20487" name="Rectangle 7"/>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1.2 走进项目</a:t>
            </a:r>
            <a:endParaRPr kumimoji="0" lang="zh-CN" altLang="en-US"/>
          </a:p>
        </p:txBody>
      </p:sp>
      <p:sp>
        <p:nvSpPr>
          <p:cNvPr id="20488" name="Rectangle 9"/>
          <p:cNvSpPr>
            <a:spLocks noChangeArrowheads="1"/>
          </p:cNvSpPr>
          <p:nvPr/>
        </p:nvSpPr>
        <p:spPr bwMode="auto">
          <a:xfrm>
            <a:off x="0" y="1341438"/>
            <a:ext cx="3851275"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1.2.</a:t>
            </a:r>
            <a:r>
              <a:rPr kumimoji="0" lang="en-US" altLang="zh-CN">
                <a:solidFill>
                  <a:schemeClr val="hlink"/>
                </a:solidFill>
                <a:ea typeface="楷体_GB2312" pitchFamily="49" charset="-122"/>
              </a:rPr>
              <a:t>1</a:t>
            </a:r>
            <a:r>
              <a:rPr kumimoji="0" lang="en-US" altLang="en-US">
                <a:solidFill>
                  <a:schemeClr val="hlink"/>
                </a:solidFill>
                <a:ea typeface="楷体_GB2312" pitchFamily="49" charset="-122"/>
              </a:rPr>
              <a:t> </a:t>
            </a:r>
            <a:r>
              <a:rPr kumimoji="0" lang="zh-CN" altLang="en-US">
                <a:solidFill>
                  <a:schemeClr val="hlink"/>
                </a:solidFill>
                <a:latin typeface="楷体" panose="02010609060101010101" pitchFamily="49" charset="-122"/>
                <a:ea typeface="楷体" panose="02010609060101010101" pitchFamily="49" charset="-122"/>
              </a:rPr>
              <a:t>人类活动的特点</a:t>
            </a:r>
            <a:endParaRPr kumimoji="0" lang="zh-CN"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38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387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387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387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387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387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6387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9"/>
          <p:cNvSpPr>
            <a:spLocks noGrp="1" noChangeArrowheads="1"/>
          </p:cNvSpPr>
          <p:nvPr>
            <p:ph type="sldNum" sz="quarter" idx="10"/>
          </p:nvPr>
        </p:nvSpPr>
        <p:spPr>
          <a:noFill/>
        </p:spPr>
        <p:txBody>
          <a:bodyPr/>
          <a:lstStyle/>
          <a:p>
            <a:r>
              <a:rPr lang="zh-CN" altLang="en-GB" smtClean="0"/>
              <a:t>  </a:t>
            </a:r>
            <a:fld id="{BE568AEF-E077-4F99-8767-BB947CA8D1CF}" type="slidenum">
              <a:rPr lang="zh-CN" altLang="en-GB" smtClean="0"/>
            </a:fld>
            <a:endParaRPr lang="en-US" altLang="zh-CN" smtClean="0"/>
          </a:p>
        </p:txBody>
      </p:sp>
      <p:sp>
        <p:nvSpPr>
          <p:cNvPr id="2150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21508"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65924" name="Text Box 4"/>
          <p:cNvSpPr txBox="1">
            <a:spLocks noChangeArrowheads="1"/>
          </p:cNvSpPr>
          <p:nvPr/>
        </p:nvSpPr>
        <p:spPr bwMode="auto">
          <a:xfrm>
            <a:off x="250825" y="1846263"/>
            <a:ext cx="8713788" cy="4066540"/>
          </a:xfrm>
          <a:prstGeom prst="rect">
            <a:avLst/>
          </a:prstGeom>
          <a:noFill/>
          <a:ln w="28575">
            <a:noFill/>
            <a:miter lim="800000"/>
          </a:ln>
        </p:spPr>
        <p:txBody>
          <a:bodyPr>
            <a:spAutoFit/>
          </a:bodyPr>
          <a:lstStyle/>
          <a:p>
            <a:pPr algn="l">
              <a:spcBef>
                <a:spcPct val="60000"/>
              </a:spcBef>
              <a:buClr>
                <a:schemeClr val="hlink"/>
              </a:buClr>
            </a:pPr>
            <a:r>
              <a:rPr kumimoji="0" lang="zh-CN" altLang="en-US" sz="3600">
                <a:solidFill>
                  <a:schemeClr val="bg2"/>
                </a:solidFill>
                <a:latin typeface="楷体" panose="02010609060101010101" pitchFamily="49" charset="-122"/>
                <a:ea typeface="楷体" panose="02010609060101010101" pitchFamily="49" charset="-122"/>
              </a:rPr>
              <a:t>随着社会的发展，人类有组织的活动逐步分化为</a:t>
            </a:r>
            <a:r>
              <a:rPr kumimoji="0" lang="zh-CN" altLang="en-US" sz="3600">
                <a:solidFill>
                  <a:srgbClr val="0000FF"/>
                </a:solidFill>
                <a:latin typeface="楷体" panose="02010609060101010101" pitchFamily="49" charset="-122"/>
                <a:ea typeface="楷体" panose="02010609060101010101" pitchFamily="49" charset="-122"/>
              </a:rPr>
              <a:t>两种</a:t>
            </a:r>
            <a:r>
              <a:rPr kumimoji="0" lang="zh-CN" altLang="en-US" sz="3600">
                <a:solidFill>
                  <a:schemeClr val="bg2"/>
                </a:solidFill>
                <a:latin typeface="楷体" panose="02010609060101010101" pitchFamily="49" charset="-122"/>
                <a:ea typeface="楷体" panose="02010609060101010101" pitchFamily="49" charset="-122"/>
              </a:rPr>
              <a:t>类型：</a:t>
            </a:r>
            <a:endParaRPr kumimoji="0" lang="zh-CN" altLang="en-US" sz="3600">
              <a:solidFill>
                <a:schemeClr val="bg2"/>
              </a:solidFill>
              <a:latin typeface="楷体" panose="02010609060101010101" pitchFamily="49" charset="-122"/>
              <a:ea typeface="楷体" panose="02010609060101010101" pitchFamily="49" charset="-122"/>
            </a:endParaRPr>
          </a:p>
          <a:p>
            <a:pPr marL="358775" lvl="2" algn="l">
              <a:spcBef>
                <a:spcPct val="60000"/>
              </a:spcBef>
              <a:buClr>
                <a:schemeClr val="bg1"/>
              </a:buClr>
              <a:buFont typeface="Wingdings" panose="05000000000000000000" pitchFamily="2" charset="2"/>
              <a:buChar char="n"/>
            </a:pPr>
            <a:r>
              <a:rPr kumimoji="0" lang="zh-CN" altLang="en-US" sz="3200" smtClean="0">
                <a:solidFill>
                  <a:schemeClr val="bg1"/>
                </a:solidFill>
                <a:latin typeface="楷体" panose="02010609060101010101" pitchFamily="49" charset="-122"/>
                <a:ea typeface="楷体" panose="02010609060101010101" pitchFamily="49" charset="-122"/>
              </a:rPr>
              <a:t>作业或运作</a:t>
            </a:r>
            <a:r>
              <a:rPr kumimoji="0" lang="zh-CN" altLang="en-US" smtClean="0">
                <a:solidFill>
                  <a:schemeClr val="bg2"/>
                </a:solidFill>
                <a:latin typeface="楷体" panose="02010609060101010101" pitchFamily="49" charset="-122"/>
                <a:ea typeface="楷体" panose="02010609060101010101" pitchFamily="49" charset="-122"/>
              </a:rPr>
              <a:t>（</a:t>
            </a:r>
            <a:r>
              <a:rPr kumimoji="0" lang="en-US" altLang="zh-CN">
                <a:solidFill>
                  <a:srgbClr val="FF0033"/>
                </a:solidFill>
              </a:rPr>
              <a:t>Operations</a:t>
            </a:r>
            <a:r>
              <a:rPr kumimoji="0" lang="zh-CN" altLang="en-US">
                <a:solidFill>
                  <a:schemeClr val="bg2"/>
                </a:solidFill>
                <a:latin typeface="楷体" panose="02010609060101010101" pitchFamily="49" charset="-122"/>
                <a:ea typeface="楷体" panose="02010609060101010101" pitchFamily="49" charset="-122"/>
              </a:rPr>
              <a:t>）</a:t>
            </a:r>
            <a:r>
              <a:rPr kumimoji="0" lang="zh-CN" altLang="en-US" sz="3200">
                <a:solidFill>
                  <a:schemeClr val="bg1"/>
                </a:solidFill>
                <a:latin typeface="楷体" panose="02010609060101010101" pitchFamily="49" charset="-122"/>
                <a:ea typeface="楷体" panose="02010609060101010101" pitchFamily="49" charset="-122"/>
              </a:rPr>
              <a:t>：</a:t>
            </a:r>
            <a:r>
              <a:rPr kumimoji="0" lang="zh-CN" altLang="en-US">
                <a:solidFill>
                  <a:schemeClr val="bg2"/>
                </a:solidFill>
                <a:latin typeface="楷体" panose="02010609060101010101" pitchFamily="49" charset="-122"/>
                <a:ea typeface="楷体" panose="02010609060101010101" pitchFamily="49" charset="-122"/>
              </a:rPr>
              <a:t>连续不断、周而复始的活动，如车间加工产品的活动、财务人员的日常记账工作等。</a:t>
            </a:r>
            <a:endParaRPr kumimoji="0" lang="zh-CN" altLang="en-US">
              <a:solidFill>
                <a:schemeClr val="bg2"/>
              </a:solidFill>
            </a:endParaRPr>
          </a:p>
          <a:p>
            <a:pPr marL="358775" lvl="2" algn="l">
              <a:spcBef>
                <a:spcPct val="60000"/>
              </a:spcBef>
              <a:buClr>
                <a:schemeClr val="bg1"/>
              </a:buClr>
              <a:buFont typeface="Wingdings" panose="05000000000000000000" pitchFamily="2" charset="2"/>
              <a:buChar char="n"/>
            </a:pPr>
            <a:r>
              <a:rPr kumimoji="0" lang="zh-CN" altLang="en-US" sz="3200">
                <a:solidFill>
                  <a:schemeClr val="bg1"/>
                </a:solidFill>
                <a:latin typeface="楷体" panose="02010609060101010101" pitchFamily="49" charset="-122"/>
                <a:ea typeface="楷体" panose="02010609060101010101" pitchFamily="49" charset="-122"/>
              </a:rPr>
              <a:t>项目</a:t>
            </a:r>
            <a:r>
              <a:rPr kumimoji="0" lang="zh-CN" altLang="en-US">
                <a:solidFill>
                  <a:schemeClr val="bg2"/>
                </a:solidFill>
                <a:latin typeface="楷体" panose="02010609060101010101" pitchFamily="49" charset="-122"/>
                <a:ea typeface="楷体" panose="02010609060101010101" pitchFamily="49" charset="-122"/>
              </a:rPr>
              <a:t>（</a:t>
            </a:r>
            <a:r>
              <a:rPr kumimoji="0" lang="en-US" altLang="zh-CN">
                <a:solidFill>
                  <a:srgbClr val="FF0033"/>
                </a:solidFill>
              </a:rPr>
              <a:t>Projects</a:t>
            </a:r>
            <a:r>
              <a:rPr kumimoji="0" lang="zh-CN" altLang="en-US">
                <a:solidFill>
                  <a:schemeClr val="bg2"/>
                </a:solidFill>
                <a:latin typeface="楷体" panose="02010609060101010101" pitchFamily="49" charset="-122"/>
                <a:ea typeface="楷体" panose="02010609060101010101" pitchFamily="49" charset="-122"/>
              </a:rPr>
              <a:t>）</a:t>
            </a:r>
            <a:r>
              <a:rPr kumimoji="0" lang="zh-CN" altLang="en-US" sz="3200">
                <a:solidFill>
                  <a:schemeClr val="bg1"/>
                </a:solidFill>
                <a:latin typeface="楷体" panose="02010609060101010101" pitchFamily="49" charset="-122"/>
                <a:ea typeface="楷体" panose="02010609060101010101" pitchFamily="49" charset="-122"/>
              </a:rPr>
              <a:t>：</a:t>
            </a:r>
            <a:r>
              <a:rPr kumimoji="0" lang="zh-CN" altLang="en-US">
                <a:solidFill>
                  <a:schemeClr val="bg2"/>
                </a:solidFill>
                <a:latin typeface="楷体" panose="02010609060101010101" pitchFamily="49" charset="-122"/>
                <a:ea typeface="楷体" panose="02010609060101010101" pitchFamily="49" charset="-122"/>
              </a:rPr>
              <a:t>临时性的、一次性的活动，如企业新产品开发、企业业务系统开发等。</a:t>
            </a:r>
            <a:endParaRPr kumimoji="0" lang="zh-CN" altLang="en-US">
              <a:solidFill>
                <a:schemeClr val="bg2"/>
              </a:solidFill>
              <a:latin typeface="楷体" panose="02010609060101010101" pitchFamily="49" charset="-122"/>
              <a:ea typeface="楷体" panose="02010609060101010101" pitchFamily="49" charset="-122"/>
            </a:endParaRPr>
          </a:p>
        </p:txBody>
      </p:sp>
      <p:sp>
        <p:nvSpPr>
          <p:cNvPr id="21510"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P.6</a:t>
            </a:r>
            <a:endParaRPr lang="en-US" altLang="zh-CN" sz="2400">
              <a:solidFill>
                <a:schemeClr val="bg2"/>
              </a:solidFill>
            </a:endParaRPr>
          </a:p>
        </p:txBody>
      </p:sp>
      <p:sp>
        <p:nvSpPr>
          <p:cNvPr id="21511" name="Rectangle 10"/>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en-US"/>
              <a:t>1.2 </a:t>
            </a:r>
            <a:r>
              <a:rPr kumimoji="0" lang="en-US" altLang="en-US">
                <a:latin typeface="楷体" panose="02010609060101010101" pitchFamily="49" charset="-122"/>
                <a:ea typeface="楷体" panose="02010609060101010101" pitchFamily="49" charset="-122"/>
              </a:rPr>
              <a:t>走进项目</a:t>
            </a:r>
            <a:endParaRPr kumimoji="0" lang="zh-CN" altLang="en-US">
              <a:latin typeface="楷体" panose="02010609060101010101" pitchFamily="49" charset="-122"/>
              <a:ea typeface="楷体" panose="02010609060101010101" pitchFamily="49" charset="-122"/>
            </a:endParaRPr>
          </a:p>
        </p:txBody>
      </p:sp>
      <p:sp>
        <p:nvSpPr>
          <p:cNvPr id="21512" name="Rectangle 11"/>
          <p:cNvSpPr>
            <a:spLocks noChangeArrowheads="1"/>
          </p:cNvSpPr>
          <p:nvPr/>
        </p:nvSpPr>
        <p:spPr bwMode="auto">
          <a:xfrm>
            <a:off x="153988" y="1341438"/>
            <a:ext cx="3265487"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1.2.2 </a:t>
            </a:r>
            <a:r>
              <a:rPr kumimoji="0" lang="en-US" altLang="en-US">
                <a:solidFill>
                  <a:srgbClr val="FF0033"/>
                </a:solidFill>
                <a:latin typeface="楷体" panose="02010609060101010101" pitchFamily="49" charset="-122"/>
                <a:ea typeface="楷体" panose="02010609060101010101" pitchFamily="49" charset="-122"/>
              </a:rPr>
              <a:t>作业</a:t>
            </a:r>
            <a:r>
              <a:rPr kumimoji="0" lang="en-US" altLang="en-US">
                <a:solidFill>
                  <a:schemeClr val="hlink"/>
                </a:solidFill>
                <a:latin typeface="楷体" panose="02010609060101010101" pitchFamily="49" charset="-122"/>
                <a:ea typeface="楷体" panose="02010609060101010101" pitchFamily="49" charset="-122"/>
              </a:rPr>
              <a:t>与项目</a:t>
            </a:r>
            <a:endParaRPr kumimoji="0" lang="zh-CN"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592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592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9"/>
          <p:cNvSpPr>
            <a:spLocks noGrp="1" noChangeArrowheads="1"/>
          </p:cNvSpPr>
          <p:nvPr>
            <p:ph type="sldNum" sz="quarter" idx="10"/>
          </p:nvPr>
        </p:nvSpPr>
        <p:spPr>
          <a:noFill/>
        </p:spPr>
        <p:txBody>
          <a:bodyPr/>
          <a:lstStyle/>
          <a:p>
            <a:r>
              <a:rPr lang="zh-CN" altLang="en-GB" smtClean="0"/>
              <a:t>  </a:t>
            </a:r>
            <a:fld id="{D2D8DEF7-0306-4E98-9165-60C3B17E2C5F}" type="slidenum">
              <a:rPr lang="zh-CN" altLang="en-GB" smtClean="0"/>
            </a:fld>
            <a:endParaRPr lang="en-US" altLang="zh-CN" smtClean="0"/>
          </a:p>
        </p:txBody>
      </p:sp>
      <p:sp>
        <p:nvSpPr>
          <p:cNvPr id="2253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22532"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22533" name="Text Box 6"/>
          <p:cNvSpPr txBox="1">
            <a:spLocks noChangeArrowheads="1"/>
          </p:cNvSpPr>
          <p:nvPr/>
        </p:nvSpPr>
        <p:spPr bwMode="auto">
          <a:xfrm>
            <a:off x="7740650" y="-24"/>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P.7</a:t>
            </a:r>
            <a:endParaRPr lang="en-US" altLang="zh-CN" sz="2400">
              <a:solidFill>
                <a:schemeClr val="bg2"/>
              </a:solidFill>
            </a:endParaRPr>
          </a:p>
        </p:txBody>
      </p:sp>
      <p:sp>
        <p:nvSpPr>
          <p:cNvPr id="22534" name="Rectangle 8"/>
          <p:cNvSpPr>
            <a:spLocks noChangeArrowheads="1"/>
          </p:cNvSpPr>
          <p:nvPr/>
        </p:nvSpPr>
        <p:spPr bwMode="auto">
          <a:xfrm>
            <a:off x="3209925" y="6505575"/>
            <a:ext cx="2562225" cy="336550"/>
          </a:xfrm>
          <a:prstGeom prst="rect">
            <a:avLst/>
          </a:prstGeom>
          <a:noFill/>
          <a:ln w="9525">
            <a:noFill/>
            <a:miter lim="800000"/>
          </a:ln>
        </p:spPr>
        <p:txBody>
          <a:bodyPr wrap="none" anchor="ctr">
            <a:spAutoFit/>
          </a:bodyPr>
          <a:lstStyle/>
          <a:p>
            <a:pPr algn="ctr"/>
            <a:r>
              <a:rPr kumimoji="0" lang="zh-CN" altLang="en-US" sz="1600">
                <a:solidFill>
                  <a:srgbClr val="990000"/>
                </a:solidFill>
                <a:latin typeface="Arial" panose="020B0604020202020204" pitchFamily="34" charset="0"/>
              </a:rPr>
              <a:t>表</a:t>
            </a:r>
            <a:r>
              <a:rPr kumimoji="0" lang="en-US" altLang="zh-CN" sz="1600">
                <a:solidFill>
                  <a:srgbClr val="990000"/>
                </a:solidFill>
                <a:latin typeface="Arial" panose="020B0604020202020204" pitchFamily="34" charset="0"/>
              </a:rPr>
              <a:t>1-1  </a:t>
            </a:r>
            <a:r>
              <a:rPr kumimoji="0" lang="zh-CN" altLang="en-US" sz="1600">
                <a:solidFill>
                  <a:srgbClr val="990000"/>
                </a:solidFill>
                <a:latin typeface="Arial" panose="020B0604020202020204" pitchFamily="34" charset="0"/>
              </a:rPr>
              <a:t>项目与作业的区别</a:t>
            </a:r>
            <a:endParaRPr kumimoji="0" lang="zh-CN" altLang="en-US" sz="1600">
              <a:solidFill>
                <a:srgbClr val="990000"/>
              </a:solidFill>
              <a:latin typeface="Arial" panose="020B0604020202020204" pitchFamily="34" charset="0"/>
            </a:endParaRPr>
          </a:p>
        </p:txBody>
      </p:sp>
      <p:sp>
        <p:nvSpPr>
          <p:cNvPr id="22535" name="Text Box 9"/>
          <p:cNvSpPr txBox="1">
            <a:spLocks noChangeArrowheads="1"/>
          </p:cNvSpPr>
          <p:nvPr/>
        </p:nvSpPr>
        <p:spPr bwMode="auto">
          <a:xfrm>
            <a:off x="179388" y="1779588"/>
            <a:ext cx="8713787" cy="583565"/>
          </a:xfrm>
          <a:prstGeom prst="rect">
            <a:avLst/>
          </a:prstGeom>
          <a:noFill/>
          <a:ln w="9525">
            <a:noFill/>
            <a:miter lim="800000"/>
          </a:ln>
        </p:spPr>
        <p:txBody>
          <a:bodyPr wrap="square">
            <a:spAutoFit/>
          </a:bodyPr>
          <a:lstStyle/>
          <a:p>
            <a:pPr algn="l">
              <a:spcBef>
                <a:spcPts val="0"/>
              </a:spcBef>
              <a:buClr>
                <a:srgbClr val="FF0000"/>
              </a:buClr>
            </a:pPr>
            <a:r>
              <a:rPr kumimoji="0" lang="zh-CN" altLang="en-US" sz="3200">
                <a:solidFill>
                  <a:srgbClr val="0000FF"/>
                </a:solidFill>
                <a:latin typeface="楷体" panose="02010609060101010101" pitchFamily="49" charset="-122"/>
                <a:ea typeface="楷体" panose="02010609060101010101" pitchFamily="49" charset="-122"/>
              </a:rPr>
              <a:t>项目与作业的区别，如下表所示：</a:t>
            </a:r>
            <a:endParaRPr kumimoji="0" lang="zh-CN" altLang="en-US" sz="3200">
              <a:solidFill>
                <a:srgbClr val="0000FF"/>
              </a:solidFill>
              <a:latin typeface="楷体" panose="02010609060101010101" pitchFamily="49" charset="-122"/>
              <a:ea typeface="楷体" panose="02010609060101010101" pitchFamily="49" charset="-122"/>
            </a:endParaRPr>
          </a:p>
        </p:txBody>
      </p:sp>
      <p:pic>
        <p:nvPicPr>
          <p:cNvPr id="22536" name="Picture 10" descr="表1－1"/>
          <p:cNvPicPr>
            <a:picLocks noChangeAspect="1" noChangeArrowheads="1"/>
          </p:cNvPicPr>
          <p:nvPr/>
        </p:nvPicPr>
        <p:blipFill>
          <a:blip r:embed="rId1" cstate="print"/>
          <a:srcRect/>
          <a:stretch>
            <a:fillRect/>
          </a:stretch>
        </p:blipFill>
        <p:spPr bwMode="auto">
          <a:xfrm>
            <a:off x="323850" y="2276475"/>
            <a:ext cx="8496300" cy="4105275"/>
          </a:xfrm>
          <a:prstGeom prst="rect">
            <a:avLst/>
          </a:prstGeom>
          <a:noFill/>
          <a:ln w="9525">
            <a:noFill/>
            <a:miter lim="800000"/>
            <a:headEnd/>
            <a:tailEnd/>
          </a:ln>
        </p:spPr>
      </p:pic>
      <p:sp>
        <p:nvSpPr>
          <p:cNvPr id="467979" name="Line 11"/>
          <p:cNvSpPr>
            <a:spLocks noChangeShapeType="1"/>
          </p:cNvSpPr>
          <p:nvPr/>
        </p:nvSpPr>
        <p:spPr bwMode="auto">
          <a:xfrm>
            <a:off x="4357686" y="4357694"/>
            <a:ext cx="936625" cy="0"/>
          </a:xfrm>
          <a:prstGeom prst="line">
            <a:avLst/>
          </a:prstGeom>
          <a:noFill/>
          <a:ln w="50800">
            <a:solidFill>
              <a:schemeClr val="hlink"/>
            </a:solidFill>
            <a:round/>
          </a:ln>
        </p:spPr>
        <p:txBody>
          <a:bodyPr/>
          <a:lstStyle/>
          <a:p>
            <a:endParaRPr lang="zh-CN" altLang="en-US"/>
          </a:p>
        </p:txBody>
      </p:sp>
      <p:sp>
        <p:nvSpPr>
          <p:cNvPr id="22538" name="Rectangle 17"/>
          <p:cNvSpPr>
            <a:spLocks noChangeArrowheads="1"/>
          </p:cNvSpPr>
          <p:nvPr/>
        </p:nvSpPr>
        <p:spPr bwMode="auto">
          <a:xfrm>
            <a:off x="0" y="642918"/>
            <a:ext cx="5543550" cy="521970"/>
          </a:xfrm>
          <a:prstGeom prst="rect">
            <a:avLst/>
          </a:prstGeom>
          <a:noFill/>
          <a:ln w="9525">
            <a:noFill/>
            <a:miter lim="800000"/>
          </a:ln>
        </p:spPr>
        <p:txBody>
          <a:bodyPr>
            <a:spAutoFit/>
          </a:bodyPr>
          <a:lstStyle/>
          <a:p>
            <a:pPr algn="l"/>
            <a:r>
              <a:rPr kumimoji="0" lang="en-US" altLang="en-US"/>
              <a:t>1.2 </a:t>
            </a:r>
            <a:r>
              <a:rPr kumimoji="0" lang="en-US" altLang="en-US">
                <a:latin typeface="楷体" panose="02010609060101010101" pitchFamily="49" charset="-122"/>
                <a:ea typeface="楷体" panose="02010609060101010101" pitchFamily="49" charset="-122"/>
              </a:rPr>
              <a:t>走进项目</a:t>
            </a:r>
            <a:endParaRPr kumimoji="0" lang="en-US" altLang="en-US">
              <a:latin typeface="楷体" panose="02010609060101010101" pitchFamily="49" charset="-122"/>
              <a:ea typeface="楷体" panose="02010609060101010101" pitchFamily="49" charset="-122"/>
            </a:endParaRPr>
          </a:p>
        </p:txBody>
      </p:sp>
      <p:sp>
        <p:nvSpPr>
          <p:cNvPr id="22539" name="Rectangle 18"/>
          <p:cNvSpPr>
            <a:spLocks noChangeArrowheads="1"/>
          </p:cNvSpPr>
          <p:nvPr/>
        </p:nvSpPr>
        <p:spPr bwMode="auto">
          <a:xfrm>
            <a:off x="153988" y="1341438"/>
            <a:ext cx="3481387"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1.2.2 </a:t>
            </a:r>
            <a:r>
              <a:rPr kumimoji="0" lang="en-US" altLang="en-US">
                <a:solidFill>
                  <a:schemeClr val="hlink"/>
                </a:solidFill>
                <a:latin typeface="楷体" panose="02010609060101010101" pitchFamily="49" charset="-122"/>
                <a:ea typeface="楷体" panose="02010609060101010101" pitchFamily="49" charset="-122"/>
              </a:rPr>
              <a:t>作业与项目</a:t>
            </a:r>
            <a:endParaRPr kumimoji="0" lang="en-US"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467979"/>
                                        </p:tgtEl>
                                        <p:attrNameLst>
                                          <p:attrName>style.visibility</p:attrName>
                                        </p:attrNameLst>
                                      </p:cBhvr>
                                      <p:to>
                                        <p:strVal val="visible"/>
                                      </p:to>
                                    </p:set>
                                    <p:animEffect transition="in" filter="circle(out)">
                                      <p:cBhvr>
                                        <p:cTn id="7" dur="2000"/>
                                        <p:tgtEl>
                                          <p:spTgt spid="4679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9"/>
          <p:cNvSpPr>
            <a:spLocks noGrp="1" noChangeArrowheads="1"/>
          </p:cNvSpPr>
          <p:nvPr>
            <p:ph type="sldNum" sz="quarter" idx="10"/>
          </p:nvPr>
        </p:nvSpPr>
        <p:spPr>
          <a:noFill/>
        </p:spPr>
        <p:txBody>
          <a:bodyPr/>
          <a:lstStyle/>
          <a:p>
            <a:r>
              <a:rPr lang="zh-CN" altLang="en-GB" smtClean="0"/>
              <a:t>  </a:t>
            </a:r>
            <a:fld id="{D9385A79-6666-44C8-BF2E-7C6D37B8A2BA}" type="slidenum">
              <a:rPr lang="zh-CN" altLang="en-GB" smtClean="0"/>
            </a:fld>
            <a:endParaRPr lang="en-US" altLang="zh-CN" smtClean="0"/>
          </a:p>
        </p:txBody>
      </p:sp>
      <p:sp>
        <p:nvSpPr>
          <p:cNvPr id="2355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2355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72068" name="Text Box 4"/>
          <p:cNvSpPr txBox="1">
            <a:spLocks noChangeArrowheads="1"/>
          </p:cNvSpPr>
          <p:nvPr/>
        </p:nvSpPr>
        <p:spPr bwMode="auto">
          <a:xfrm>
            <a:off x="107950" y="2171700"/>
            <a:ext cx="8928100" cy="3623310"/>
          </a:xfrm>
          <a:prstGeom prst="rect">
            <a:avLst/>
          </a:prstGeom>
          <a:noFill/>
          <a:ln w="28575">
            <a:noFill/>
            <a:miter lim="800000"/>
          </a:ln>
        </p:spPr>
        <p:txBody>
          <a:bodyPr>
            <a:spAutoFit/>
          </a:bodyPr>
          <a:lstStyle/>
          <a:p>
            <a:pPr algn="l">
              <a:lnSpc>
                <a:spcPct val="110000"/>
              </a:lnSpc>
              <a:spcBef>
                <a:spcPct val="50000"/>
              </a:spcBef>
              <a:buClr>
                <a:schemeClr val="hlink"/>
              </a:buClr>
            </a:pPr>
            <a:r>
              <a:rPr kumimoji="0" lang="zh-CN" altLang="en-US">
                <a:solidFill>
                  <a:srgbClr val="0000FF"/>
                </a:solidFill>
                <a:latin typeface="楷体" panose="02010609060101010101" pitchFamily="49" charset="-122"/>
                <a:ea typeface="楷体" panose="02010609060101010101" pitchFamily="49" charset="-122"/>
                <a:cs typeface="楷体" panose="02010609060101010101" pitchFamily="49" charset="-122"/>
              </a:rPr>
              <a:t>国际项目管理协会</a:t>
            </a:r>
            <a:r>
              <a:rPr kumimoji="0" lang="en-US" altLang="zh-CN"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en-US" altLang="zh-CN" smtClean="0">
                <a:solidFill>
                  <a:srgbClr val="FF0033"/>
                </a:solidFill>
                <a:ea typeface="楷体" panose="02010609060101010101" pitchFamily="49" charset="-122"/>
                <a:cs typeface="Times New Roman" panose="02020603050405020304" pitchFamily="18" charset="0"/>
              </a:rPr>
              <a:t>IPMA</a:t>
            </a:r>
            <a:r>
              <a:rPr kumimoji="0" lang="en-US" altLang="zh-CN">
                <a:solidFill>
                  <a:schemeClr val="bg2"/>
                </a:solidFill>
                <a:latin typeface="楷体" panose="02010609060101010101" pitchFamily="49" charset="-122"/>
                <a:ea typeface="楷体" panose="02010609060101010101" pitchFamily="49" charset="-122"/>
                <a:cs typeface="楷体" panose="02010609060101010101" pitchFamily="49" charset="-122"/>
              </a:rPr>
              <a:t>) </a:t>
            </a:r>
            <a:r>
              <a:rPr kumimoji="0"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对项目的定义为：项目是一个特殊的、将被完成的有限任务，它是在一定时间内，满足一系列特定目标的多项相关工作的总称。</a:t>
            </a:r>
            <a:endParaRPr kumimoji="0" lang="zh-CN" altLang="en-US">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lnSpc>
                <a:spcPct val="110000"/>
              </a:lnSpc>
              <a:spcBef>
                <a:spcPct val="50000"/>
              </a:spcBef>
              <a:buClr>
                <a:schemeClr val="hlink"/>
              </a:buClr>
            </a:pPr>
            <a:r>
              <a:rPr kumimoji="0" lang="zh-CN" altLang="en-US">
                <a:solidFill>
                  <a:srgbClr val="0000FF"/>
                </a:solidFill>
                <a:latin typeface="楷体" panose="02010609060101010101" pitchFamily="49" charset="-122"/>
                <a:ea typeface="楷体" panose="02010609060101010101" pitchFamily="49" charset="-122"/>
                <a:cs typeface="楷体" panose="02010609060101010101" pitchFamily="49" charset="-122"/>
              </a:rPr>
              <a:t>英国项目管理协会</a:t>
            </a:r>
            <a:r>
              <a:rPr kumimoji="0"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en-US" altLang="zh-CN" smtClean="0">
                <a:solidFill>
                  <a:srgbClr val="FF0033"/>
                </a:solidFill>
                <a:ea typeface="楷体" panose="02010609060101010101" pitchFamily="49" charset="-122"/>
                <a:cs typeface="Times New Roman" panose="02020603050405020304" pitchFamily="18" charset="0"/>
              </a:rPr>
              <a:t>APM</a:t>
            </a:r>
            <a:r>
              <a:rPr kumimoji="0"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）对项目的定义为：项目是由一系列具有开始和结束日期、相互协调和控制的活动组成的，通过实施而达到满足时间、费用和资源等约束条件的独特的过程。</a:t>
            </a:r>
            <a:endParaRPr kumimoji="0" lang="zh-CN" altLang="en-US">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23558" name="Text Box 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P.7</a:t>
            </a:r>
            <a:endParaRPr lang="en-US" altLang="zh-CN" sz="2400">
              <a:solidFill>
                <a:schemeClr val="bg2"/>
              </a:solidFill>
            </a:endParaRPr>
          </a:p>
        </p:txBody>
      </p:sp>
      <p:sp>
        <p:nvSpPr>
          <p:cNvPr id="23560" name="Rectangle 10"/>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1.2 走进项目</a:t>
            </a:r>
            <a:endParaRPr kumimoji="0" lang="zh-CN" altLang="en-US"/>
          </a:p>
        </p:txBody>
      </p:sp>
      <p:sp>
        <p:nvSpPr>
          <p:cNvPr id="23561" name="Rectangle 11"/>
          <p:cNvSpPr>
            <a:spLocks noChangeArrowheads="1"/>
          </p:cNvSpPr>
          <p:nvPr/>
        </p:nvSpPr>
        <p:spPr bwMode="auto">
          <a:xfrm>
            <a:off x="107950" y="1397000"/>
            <a:ext cx="3095625"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1.2.3 项目的</a:t>
            </a:r>
            <a:r>
              <a:rPr kumimoji="0" lang="en-US" altLang="en-US">
                <a:solidFill>
                  <a:schemeClr val="hlink"/>
                </a:solidFill>
                <a:ea typeface="楷体_GB2312" pitchFamily="49" charset="-122"/>
              </a:rPr>
              <a:t>定义</a:t>
            </a:r>
            <a:endParaRPr kumimoji="0" lang="en-US" altLang="en-US">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20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206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9"/>
          <p:cNvSpPr>
            <a:spLocks noGrp="1" noChangeArrowheads="1"/>
          </p:cNvSpPr>
          <p:nvPr>
            <p:ph type="sldNum" sz="quarter" idx="10"/>
          </p:nvPr>
        </p:nvSpPr>
        <p:spPr>
          <a:noFill/>
        </p:spPr>
        <p:txBody>
          <a:bodyPr/>
          <a:lstStyle/>
          <a:p>
            <a:r>
              <a:rPr lang="zh-CN" altLang="en-GB" smtClean="0"/>
              <a:t>  </a:t>
            </a:r>
            <a:fld id="{6C2E8274-C10D-4795-8CDF-471EB348D106}" type="slidenum">
              <a:rPr lang="zh-CN" altLang="en-GB" smtClean="0"/>
            </a:fld>
            <a:endParaRPr lang="en-US" altLang="zh-CN" smtClean="0"/>
          </a:p>
        </p:txBody>
      </p:sp>
      <p:sp>
        <p:nvSpPr>
          <p:cNvPr id="2457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24580"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74116" name="Text Box 4"/>
          <p:cNvSpPr txBox="1">
            <a:spLocks noChangeArrowheads="1"/>
          </p:cNvSpPr>
          <p:nvPr/>
        </p:nvSpPr>
        <p:spPr bwMode="auto">
          <a:xfrm>
            <a:off x="144463" y="2074863"/>
            <a:ext cx="8999537" cy="4199890"/>
          </a:xfrm>
          <a:prstGeom prst="rect">
            <a:avLst/>
          </a:prstGeom>
          <a:noFill/>
          <a:ln w="28575">
            <a:noFill/>
            <a:miter lim="800000"/>
          </a:ln>
        </p:spPr>
        <p:txBody>
          <a:bodyPr>
            <a:spAutoFit/>
          </a:bodyPr>
          <a:lstStyle/>
          <a:p>
            <a:pPr algn="l">
              <a:spcBef>
                <a:spcPct val="30000"/>
              </a:spcBef>
              <a:buClr>
                <a:schemeClr val="hlink"/>
              </a:buClr>
            </a:pPr>
            <a:r>
              <a:rPr kumimoji="0" lang="zh-CN" altLang="en-US" sz="3600">
                <a:solidFill>
                  <a:schemeClr val="bg1"/>
                </a:solidFill>
                <a:latin typeface="楷体" panose="02010609060101010101" pitchFamily="49" charset="-122"/>
                <a:ea typeface="楷体" panose="02010609060101010101" pitchFamily="49" charset="-122"/>
              </a:rPr>
              <a:t>美国项目管理协会</a:t>
            </a:r>
            <a:r>
              <a:rPr kumimoji="0" lang="zh-CN" altLang="en-US" sz="3600">
                <a:solidFill>
                  <a:schemeClr val="bg2"/>
                </a:solidFill>
              </a:rPr>
              <a:t>（</a:t>
            </a:r>
            <a:r>
              <a:rPr kumimoji="0" lang="en-US" altLang="zh-CN" sz="3600">
                <a:solidFill>
                  <a:srgbClr val="FF0033"/>
                </a:solidFill>
              </a:rPr>
              <a:t>PMI</a:t>
            </a:r>
            <a:r>
              <a:rPr kumimoji="0" lang="zh-CN" altLang="en-US" sz="3600">
                <a:solidFill>
                  <a:schemeClr val="bg2"/>
                </a:solidFill>
              </a:rPr>
              <a:t>）</a:t>
            </a:r>
            <a:r>
              <a:rPr kumimoji="0" lang="zh-CN" altLang="en-US" sz="3600">
                <a:solidFill>
                  <a:schemeClr val="bg2"/>
                </a:solidFill>
                <a:latin typeface="楷体" panose="02010609060101010101" pitchFamily="49" charset="-122"/>
                <a:ea typeface="楷体" panose="02010609060101010101" pitchFamily="49" charset="-122"/>
              </a:rPr>
              <a:t>对项目的定义为</a:t>
            </a:r>
            <a:r>
              <a:rPr kumimoji="0" lang="zh-CN" altLang="en-US" sz="3600" smtClean="0">
                <a:solidFill>
                  <a:schemeClr val="bg2"/>
                </a:solidFill>
                <a:latin typeface="楷体" panose="02010609060101010101" pitchFamily="49" charset="-122"/>
                <a:ea typeface="楷体" panose="02010609060101010101" pitchFamily="49" charset="-122"/>
              </a:rPr>
              <a:t>：项目</a:t>
            </a:r>
            <a:r>
              <a:rPr kumimoji="0" lang="zh-CN" altLang="en-US" sz="3600">
                <a:solidFill>
                  <a:schemeClr val="bg2"/>
                </a:solidFill>
                <a:latin typeface="楷体" panose="02010609060101010101" pitchFamily="49" charset="-122"/>
                <a:ea typeface="楷体" panose="02010609060101010101" pitchFamily="49" charset="-122"/>
              </a:rPr>
              <a:t>是为提供某项独特的产品、服务或成果所做的临时性努力。</a:t>
            </a:r>
            <a:endParaRPr kumimoji="0" lang="zh-CN" altLang="en-US" sz="3200">
              <a:solidFill>
                <a:schemeClr val="bg2"/>
              </a:solidFill>
              <a:latin typeface="楷体" panose="02010609060101010101" pitchFamily="49" charset="-122"/>
              <a:ea typeface="楷体" panose="02010609060101010101" pitchFamily="49" charset="-122"/>
            </a:endParaRPr>
          </a:p>
          <a:p>
            <a:pPr algn="l">
              <a:spcBef>
                <a:spcPts val="1800"/>
              </a:spcBef>
              <a:spcAft>
                <a:spcPts val="600"/>
              </a:spcAft>
              <a:buClr>
                <a:schemeClr val="hlink"/>
              </a:buClr>
            </a:pPr>
            <a:r>
              <a:rPr kumimoji="0" lang="zh-CN" altLang="en-US" sz="3600">
                <a:solidFill>
                  <a:schemeClr val="bg1"/>
                </a:solidFill>
                <a:latin typeface="楷体" panose="02010609060101010101" pitchFamily="49" charset="-122"/>
                <a:ea typeface="楷体" panose="02010609060101010101" pitchFamily="49" charset="-122"/>
              </a:rPr>
              <a:t>中国项目管理研究委员会</a:t>
            </a:r>
            <a:r>
              <a:rPr kumimoji="0" lang="zh-CN" altLang="en-US" sz="3600">
                <a:solidFill>
                  <a:schemeClr val="bg2"/>
                </a:solidFill>
              </a:rPr>
              <a:t>（</a:t>
            </a:r>
            <a:r>
              <a:rPr kumimoji="0" lang="en-US" altLang="zh-CN" sz="3600">
                <a:solidFill>
                  <a:srgbClr val="FF0033"/>
                </a:solidFill>
              </a:rPr>
              <a:t>PMRC</a:t>
            </a:r>
            <a:r>
              <a:rPr kumimoji="0" lang="zh-CN" altLang="en-US" sz="3600">
                <a:solidFill>
                  <a:schemeClr val="bg2"/>
                </a:solidFill>
              </a:rPr>
              <a:t>）</a:t>
            </a:r>
            <a:r>
              <a:rPr kumimoji="0" lang="zh-CN" altLang="en-US" sz="3600">
                <a:solidFill>
                  <a:schemeClr val="bg2"/>
                </a:solidFill>
                <a:latin typeface="楷体" panose="02010609060101010101" pitchFamily="49" charset="-122"/>
                <a:ea typeface="楷体" panose="02010609060101010101" pitchFamily="49" charset="-122"/>
              </a:rPr>
              <a:t>对项目的定义为</a:t>
            </a:r>
            <a:r>
              <a:rPr kumimoji="0" lang="zh-CN" altLang="en-US" sz="3600" smtClean="0">
                <a:solidFill>
                  <a:schemeClr val="bg2"/>
                </a:solidFill>
                <a:latin typeface="楷体" panose="02010609060101010101" pitchFamily="49" charset="-122"/>
                <a:ea typeface="楷体" panose="02010609060101010101" pitchFamily="49" charset="-122"/>
              </a:rPr>
              <a:t>：项目</a:t>
            </a:r>
            <a:r>
              <a:rPr kumimoji="0" lang="zh-CN" altLang="en-US" sz="3600">
                <a:solidFill>
                  <a:schemeClr val="bg2"/>
                </a:solidFill>
                <a:latin typeface="楷体" panose="02010609060101010101" pitchFamily="49" charset="-122"/>
                <a:ea typeface="楷体" panose="02010609060101010101" pitchFamily="49" charset="-122"/>
              </a:rPr>
              <a:t>是一个特殊的将被完成的任务，它是在一定时间内，满足一系列特定目标的多项相关工作的总称。</a:t>
            </a:r>
            <a:endParaRPr kumimoji="0" lang="zh-CN" altLang="en-US" sz="3600">
              <a:solidFill>
                <a:schemeClr val="bg2"/>
              </a:solidFill>
              <a:latin typeface="楷体" panose="02010609060101010101" pitchFamily="49" charset="-122"/>
              <a:ea typeface="楷体" panose="02010609060101010101" pitchFamily="49" charset="-122"/>
            </a:endParaRPr>
          </a:p>
        </p:txBody>
      </p:sp>
      <p:sp>
        <p:nvSpPr>
          <p:cNvPr id="24582"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P.7</a:t>
            </a:r>
            <a:endParaRPr lang="en-US" altLang="zh-CN" sz="2400">
              <a:solidFill>
                <a:schemeClr val="bg2"/>
              </a:solidFill>
            </a:endParaRPr>
          </a:p>
        </p:txBody>
      </p:sp>
      <p:sp>
        <p:nvSpPr>
          <p:cNvPr id="24583" name="Rectangle 9"/>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1.2 走进项目</a:t>
            </a:r>
            <a:endParaRPr kumimoji="0" lang="zh-CN" altLang="en-US"/>
          </a:p>
        </p:txBody>
      </p:sp>
      <p:sp>
        <p:nvSpPr>
          <p:cNvPr id="24584" name="Rectangle 10"/>
          <p:cNvSpPr>
            <a:spLocks noChangeArrowheads="1"/>
          </p:cNvSpPr>
          <p:nvPr/>
        </p:nvSpPr>
        <p:spPr bwMode="auto">
          <a:xfrm>
            <a:off x="153988" y="1341438"/>
            <a:ext cx="2770187" cy="519112"/>
          </a:xfrm>
          <a:prstGeom prst="rect">
            <a:avLst/>
          </a:prstGeom>
          <a:noFill/>
          <a:ln w="9525">
            <a:noFill/>
            <a:miter lim="800000"/>
          </a:ln>
        </p:spPr>
        <p:txBody>
          <a:bodyPr wrap="none">
            <a:spAutoFit/>
          </a:bodyPr>
          <a:lstStyle/>
          <a:p>
            <a:pPr algn="l"/>
            <a:r>
              <a:rPr kumimoji="0" lang="en-US" altLang="en-US">
                <a:solidFill>
                  <a:schemeClr val="hlink"/>
                </a:solidFill>
                <a:ea typeface="楷体_GB2312" pitchFamily="49" charset="-122"/>
              </a:rPr>
              <a:t>1.2.3 项目的定义</a:t>
            </a:r>
            <a:endParaRPr kumimoji="0" lang="zh-CN" altLang="en-US">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411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9"/>
          <p:cNvSpPr>
            <a:spLocks noGrp="1" noChangeArrowheads="1"/>
          </p:cNvSpPr>
          <p:nvPr>
            <p:ph type="sldNum" sz="quarter" idx="10"/>
          </p:nvPr>
        </p:nvSpPr>
        <p:spPr>
          <a:noFill/>
        </p:spPr>
        <p:txBody>
          <a:bodyPr/>
          <a:lstStyle/>
          <a:p>
            <a:r>
              <a:rPr lang="zh-CN" altLang="en-GB" smtClean="0"/>
              <a:t>  </a:t>
            </a:r>
            <a:fld id="{86728BD5-B66C-493B-9CD3-CEE5ED2E4BC5}" type="slidenum">
              <a:rPr lang="zh-CN" altLang="en-GB" smtClean="0"/>
            </a:fld>
            <a:endParaRPr lang="en-US" altLang="zh-CN" smtClean="0"/>
          </a:p>
        </p:txBody>
      </p:sp>
      <p:sp>
        <p:nvSpPr>
          <p:cNvPr id="2560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2560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76164" name="Text Box 4"/>
          <p:cNvSpPr txBox="1">
            <a:spLocks noChangeArrowheads="1"/>
          </p:cNvSpPr>
          <p:nvPr/>
        </p:nvSpPr>
        <p:spPr bwMode="auto">
          <a:xfrm>
            <a:off x="357188" y="2000240"/>
            <a:ext cx="8569325" cy="4079240"/>
          </a:xfrm>
          <a:prstGeom prst="rect">
            <a:avLst/>
          </a:prstGeom>
          <a:noFill/>
          <a:ln w="28575">
            <a:noFill/>
            <a:miter lim="800000"/>
          </a:ln>
        </p:spPr>
        <p:txBody>
          <a:bodyPr>
            <a:spAutoFit/>
          </a:bodyPr>
          <a:lstStyle/>
          <a:p>
            <a:pPr algn="l">
              <a:lnSpc>
                <a:spcPct val="120000"/>
              </a:lnSpc>
              <a:spcBef>
                <a:spcPct val="50000"/>
              </a:spcBef>
              <a:buClr>
                <a:srgbClr val="990000"/>
              </a:buClr>
            </a:pPr>
            <a:r>
              <a:rPr lang="zh-CN" altLang="en-US" sz="5400">
                <a:solidFill>
                  <a:srgbClr val="0000FF"/>
                </a:solidFill>
                <a:latin typeface="楷体" panose="02010609060101010101" pitchFamily="49" charset="-122"/>
                <a:ea typeface="楷体" panose="02010609060101010101" pitchFamily="49" charset="-122"/>
              </a:rPr>
              <a:t>我们把利用有限资源、在一定的时间内，完成满足一系列特定目标的多项相关工作叫做项目。</a:t>
            </a:r>
            <a:r>
              <a:rPr lang="zh-CN" altLang="en-US" sz="2000" u="sng">
                <a:solidFill>
                  <a:srgbClr val="990000"/>
                </a:solidFill>
              </a:rPr>
              <a:t> </a:t>
            </a:r>
            <a:endParaRPr lang="zh-CN" altLang="en-US" sz="2000" u="sng">
              <a:solidFill>
                <a:srgbClr val="990000"/>
              </a:solidFill>
            </a:endParaRPr>
          </a:p>
        </p:txBody>
      </p:sp>
      <p:sp>
        <p:nvSpPr>
          <p:cNvPr id="25606" name="Text Box 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spcBef>
                <a:spcPct val="50000"/>
              </a:spcBef>
            </a:pPr>
            <a:r>
              <a:rPr lang="en-US" altLang="zh-CN" sz="2400">
                <a:solidFill>
                  <a:schemeClr val="bg2"/>
                </a:solidFill>
              </a:rPr>
              <a:t>P.7</a:t>
            </a:r>
            <a:endParaRPr lang="en-US" altLang="zh-CN" sz="2400">
              <a:solidFill>
                <a:schemeClr val="bg2"/>
              </a:solidFill>
            </a:endParaRPr>
          </a:p>
        </p:txBody>
      </p:sp>
      <p:sp>
        <p:nvSpPr>
          <p:cNvPr id="25607" name="Rectangle 9"/>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en-US"/>
              <a:t>1.2 </a:t>
            </a:r>
            <a:r>
              <a:rPr kumimoji="0" lang="en-US" altLang="en-US">
                <a:latin typeface="楷体" panose="02010609060101010101" pitchFamily="49" charset="-122"/>
                <a:ea typeface="楷体" panose="02010609060101010101" pitchFamily="49" charset="-122"/>
              </a:rPr>
              <a:t>走进项目</a:t>
            </a:r>
            <a:endParaRPr kumimoji="0" lang="en-US" altLang="en-US">
              <a:latin typeface="楷体" panose="02010609060101010101" pitchFamily="49" charset="-122"/>
              <a:ea typeface="楷体" panose="02010609060101010101" pitchFamily="49" charset="-122"/>
            </a:endParaRPr>
          </a:p>
        </p:txBody>
      </p:sp>
      <p:sp>
        <p:nvSpPr>
          <p:cNvPr id="25608" name="Rectangle 10"/>
          <p:cNvSpPr>
            <a:spLocks noChangeArrowheads="1"/>
          </p:cNvSpPr>
          <p:nvPr/>
        </p:nvSpPr>
        <p:spPr bwMode="auto">
          <a:xfrm>
            <a:off x="153988" y="1341438"/>
            <a:ext cx="2770505" cy="521970"/>
          </a:xfrm>
          <a:prstGeom prst="rect">
            <a:avLst/>
          </a:prstGeom>
          <a:noFill/>
          <a:ln w="9525">
            <a:noFill/>
            <a:miter lim="800000"/>
          </a:ln>
        </p:spPr>
        <p:txBody>
          <a:bodyPr wrap="none">
            <a:spAutoFit/>
          </a:bodyPr>
          <a:lstStyle/>
          <a:p>
            <a:pPr algn="l"/>
            <a:r>
              <a:rPr kumimoji="0" lang="en-US" altLang="en-US">
                <a:solidFill>
                  <a:schemeClr val="hlink"/>
                </a:solidFill>
                <a:ea typeface="楷体_GB2312" pitchFamily="49" charset="-122"/>
              </a:rPr>
              <a:t>1.2.3 </a:t>
            </a:r>
            <a:r>
              <a:rPr kumimoji="0" lang="en-US" altLang="en-US">
                <a:solidFill>
                  <a:schemeClr val="hlink"/>
                </a:solidFill>
                <a:latin typeface="楷体" panose="02010609060101010101" pitchFamily="49" charset="-122"/>
                <a:ea typeface="楷体" panose="02010609060101010101" pitchFamily="49" charset="-122"/>
              </a:rPr>
              <a:t>项目的定义</a:t>
            </a:r>
            <a:endParaRPr kumimoji="0" lang="en-US"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9"/>
          <p:cNvSpPr>
            <a:spLocks noGrp="1" noChangeArrowheads="1"/>
          </p:cNvSpPr>
          <p:nvPr>
            <p:ph type="sldNum" sz="quarter" idx="10"/>
          </p:nvPr>
        </p:nvSpPr>
        <p:spPr>
          <a:noFill/>
        </p:spPr>
        <p:txBody>
          <a:bodyPr/>
          <a:lstStyle/>
          <a:p>
            <a:r>
              <a:rPr lang="zh-CN" altLang="en-GB" smtClean="0"/>
              <a:t>  </a:t>
            </a:r>
            <a:fld id="{35A67B12-D542-487B-885D-AD2F19109956}" type="slidenum">
              <a:rPr lang="zh-CN" altLang="en-GB" smtClean="0"/>
            </a:fld>
            <a:endParaRPr lang="en-US" altLang="zh-CN" smtClean="0"/>
          </a:p>
        </p:txBody>
      </p:sp>
      <p:sp>
        <p:nvSpPr>
          <p:cNvPr id="2662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26628"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78212" name="Text Box 4"/>
          <p:cNvSpPr txBox="1">
            <a:spLocks noChangeArrowheads="1"/>
          </p:cNvSpPr>
          <p:nvPr/>
        </p:nvSpPr>
        <p:spPr bwMode="auto">
          <a:xfrm>
            <a:off x="179388" y="1866900"/>
            <a:ext cx="8820150" cy="4547235"/>
          </a:xfrm>
          <a:prstGeom prst="rect">
            <a:avLst/>
          </a:prstGeom>
          <a:noFill/>
          <a:ln w="28575">
            <a:noFill/>
            <a:miter lim="800000"/>
          </a:ln>
        </p:spPr>
        <p:txBody>
          <a:bodyPr>
            <a:spAutoFit/>
          </a:bodyPr>
          <a:lstStyle/>
          <a:p>
            <a:pPr algn="l">
              <a:spcBef>
                <a:spcPct val="50000"/>
              </a:spcBef>
              <a:buClr>
                <a:schemeClr val="hlink"/>
              </a:buClr>
            </a:pPr>
            <a:r>
              <a:rPr kumimoji="0" lang="zh-CN" altLang="en-US" sz="3200">
                <a:solidFill>
                  <a:schemeClr val="bg2"/>
                </a:solidFill>
                <a:latin typeface="楷体" panose="02010609060101010101" pitchFamily="49" charset="-122"/>
                <a:ea typeface="楷体" panose="02010609060101010101" pitchFamily="49" charset="-122"/>
              </a:rPr>
              <a:t>项目作为一类特殊的活动具有以下特征：</a:t>
            </a:r>
            <a:endParaRPr kumimoji="0" lang="zh-CN" altLang="en-US" sz="3200">
              <a:solidFill>
                <a:schemeClr val="bg2"/>
              </a:solidFill>
              <a:latin typeface="楷体" panose="02010609060101010101" pitchFamily="49" charset="-122"/>
              <a:ea typeface="楷体" panose="02010609060101010101" pitchFamily="49" charset="-122"/>
            </a:endParaRPr>
          </a:p>
          <a:p>
            <a:pPr marL="873125" lvl="2" indent="-514350" algn="l">
              <a:spcBef>
                <a:spcPct val="15000"/>
              </a:spcBef>
              <a:buClr>
                <a:schemeClr val="bg1"/>
              </a:buClr>
              <a:buFont typeface="+mj-lt"/>
              <a:buAutoNum type="arabicPeriod"/>
            </a:pPr>
            <a:r>
              <a:rPr kumimoji="0" lang="zh-CN" altLang="en-US" sz="3200">
                <a:solidFill>
                  <a:schemeClr val="bg1"/>
                </a:solidFill>
                <a:latin typeface="楷体" panose="02010609060101010101" pitchFamily="49" charset="-122"/>
                <a:ea typeface="楷体" panose="02010609060101010101" pitchFamily="49" charset="-122"/>
              </a:rPr>
              <a:t>独特性</a:t>
            </a:r>
            <a:r>
              <a:rPr kumimoji="0" lang="zh-CN" altLang="en-US" sz="3200">
                <a:solidFill>
                  <a:schemeClr val="bg2"/>
                </a:solidFill>
                <a:latin typeface="楷体" panose="02010609060101010101" pitchFamily="49" charset="-122"/>
                <a:ea typeface="楷体" panose="02010609060101010101" pitchFamily="49" charset="-122"/>
              </a:rPr>
              <a:t>：</a:t>
            </a:r>
            <a:r>
              <a:rPr kumimoji="0" lang="zh-CN" altLang="en-US">
                <a:solidFill>
                  <a:schemeClr val="bg2"/>
                </a:solidFill>
                <a:latin typeface="楷体" panose="02010609060101010101" pitchFamily="49" charset="-122"/>
                <a:ea typeface="楷体" panose="02010609060101010101" pitchFamily="49" charset="-122"/>
              </a:rPr>
              <a:t>范围、时间、成本、质量目标</a:t>
            </a:r>
            <a:endParaRPr kumimoji="0" lang="zh-CN" altLang="en-US">
              <a:solidFill>
                <a:schemeClr val="bg2"/>
              </a:solidFill>
              <a:latin typeface="楷体" panose="02010609060101010101" pitchFamily="49" charset="-122"/>
              <a:ea typeface="楷体" panose="02010609060101010101" pitchFamily="49" charset="-122"/>
            </a:endParaRPr>
          </a:p>
          <a:p>
            <a:pPr marL="873125" lvl="2" indent="-514350" algn="l">
              <a:spcBef>
                <a:spcPct val="15000"/>
              </a:spcBef>
              <a:buClr>
                <a:schemeClr val="bg1"/>
              </a:buClr>
              <a:buFont typeface="+mj-lt"/>
              <a:buAutoNum type="arabicPeriod"/>
            </a:pPr>
            <a:r>
              <a:rPr kumimoji="0" lang="zh-CN" altLang="en-US" sz="3200">
                <a:solidFill>
                  <a:schemeClr val="bg1"/>
                </a:solidFill>
                <a:latin typeface="楷体" panose="02010609060101010101" pitchFamily="49" charset="-122"/>
                <a:ea typeface="楷体" panose="02010609060101010101" pitchFamily="49" charset="-122"/>
              </a:rPr>
              <a:t>一次性</a:t>
            </a:r>
            <a:r>
              <a:rPr kumimoji="0" lang="zh-CN" altLang="en-US" sz="3200">
                <a:solidFill>
                  <a:schemeClr val="bg2"/>
                </a:solidFill>
                <a:latin typeface="楷体" panose="02010609060101010101" pitchFamily="49" charset="-122"/>
                <a:ea typeface="楷体" panose="02010609060101010101" pitchFamily="49" charset="-122"/>
              </a:rPr>
              <a:t>：</a:t>
            </a:r>
            <a:r>
              <a:rPr kumimoji="0" lang="zh-CN" altLang="en-US">
                <a:solidFill>
                  <a:schemeClr val="bg2"/>
                </a:solidFill>
                <a:latin typeface="楷体" panose="02010609060101010101" pitchFamily="49" charset="-122"/>
                <a:ea typeface="楷体" panose="02010609060101010101" pitchFamily="49" charset="-122"/>
              </a:rPr>
              <a:t>不存在完全相同的项目</a:t>
            </a:r>
            <a:endParaRPr kumimoji="0" lang="zh-CN" altLang="en-US">
              <a:solidFill>
                <a:schemeClr val="bg2"/>
              </a:solidFill>
              <a:latin typeface="楷体" panose="02010609060101010101" pitchFamily="49" charset="-122"/>
              <a:ea typeface="楷体" panose="02010609060101010101" pitchFamily="49" charset="-122"/>
            </a:endParaRPr>
          </a:p>
          <a:p>
            <a:pPr marL="873125" lvl="2" indent="-514350" algn="l">
              <a:spcBef>
                <a:spcPct val="15000"/>
              </a:spcBef>
              <a:buClr>
                <a:schemeClr val="bg1"/>
              </a:buClr>
              <a:buFont typeface="+mj-lt"/>
              <a:buAutoNum type="arabicPeriod"/>
            </a:pPr>
            <a:r>
              <a:rPr kumimoji="0" lang="zh-CN" altLang="en-US" sz="3200">
                <a:solidFill>
                  <a:schemeClr val="bg1"/>
                </a:solidFill>
                <a:latin typeface="楷体" panose="02010609060101010101" pitchFamily="49" charset="-122"/>
                <a:ea typeface="楷体" panose="02010609060101010101" pitchFamily="49" charset="-122"/>
              </a:rPr>
              <a:t>整体性</a:t>
            </a:r>
            <a:r>
              <a:rPr kumimoji="0" lang="zh-CN" altLang="en-US" sz="3200">
                <a:solidFill>
                  <a:schemeClr val="bg2"/>
                </a:solidFill>
                <a:latin typeface="楷体" panose="02010609060101010101" pitchFamily="49" charset="-122"/>
                <a:ea typeface="楷体" panose="02010609060101010101" pitchFamily="49" charset="-122"/>
              </a:rPr>
              <a:t>：</a:t>
            </a:r>
            <a:r>
              <a:rPr kumimoji="0" lang="zh-CN" altLang="en-US">
                <a:solidFill>
                  <a:schemeClr val="bg2"/>
                </a:solidFill>
                <a:latin typeface="楷体" panose="02010609060101010101" pitchFamily="49" charset="-122"/>
                <a:ea typeface="楷体" panose="02010609060101010101" pitchFamily="49" charset="-122"/>
              </a:rPr>
              <a:t>不是一项项孤立活动的堆积</a:t>
            </a:r>
            <a:endParaRPr kumimoji="0" lang="zh-CN" altLang="en-US">
              <a:solidFill>
                <a:schemeClr val="bg2"/>
              </a:solidFill>
              <a:latin typeface="楷体" panose="02010609060101010101" pitchFamily="49" charset="-122"/>
              <a:ea typeface="楷体" panose="02010609060101010101" pitchFamily="49" charset="-122"/>
            </a:endParaRPr>
          </a:p>
          <a:p>
            <a:pPr marL="873125" lvl="2" indent="-514350" algn="l">
              <a:spcBef>
                <a:spcPct val="15000"/>
              </a:spcBef>
              <a:buClr>
                <a:schemeClr val="bg1"/>
              </a:buClr>
              <a:buFont typeface="+mj-lt"/>
              <a:buAutoNum type="arabicPeriod"/>
            </a:pPr>
            <a:r>
              <a:rPr kumimoji="0" lang="zh-CN" altLang="en-US" sz="3200">
                <a:solidFill>
                  <a:schemeClr val="bg1"/>
                </a:solidFill>
                <a:latin typeface="楷体" panose="02010609060101010101" pitchFamily="49" charset="-122"/>
                <a:ea typeface="楷体" panose="02010609060101010101" pitchFamily="49" charset="-122"/>
              </a:rPr>
              <a:t>临时性</a:t>
            </a:r>
            <a:r>
              <a:rPr kumimoji="0" lang="zh-CN" altLang="en-US" sz="3200">
                <a:solidFill>
                  <a:schemeClr val="bg2"/>
                </a:solidFill>
                <a:latin typeface="楷体" panose="02010609060101010101" pitchFamily="49" charset="-122"/>
                <a:ea typeface="楷体" panose="02010609060101010101" pitchFamily="49" charset="-122"/>
              </a:rPr>
              <a:t>：</a:t>
            </a:r>
            <a:r>
              <a:rPr kumimoji="0" lang="zh-CN" altLang="en-US">
                <a:solidFill>
                  <a:schemeClr val="bg2"/>
                </a:solidFill>
                <a:latin typeface="楷体" panose="02010609060101010101" pitchFamily="49" charset="-122"/>
                <a:ea typeface="楷体" panose="02010609060101010101" pitchFamily="49" charset="-122"/>
              </a:rPr>
              <a:t>有规定的时间段</a:t>
            </a:r>
            <a:endParaRPr kumimoji="0" lang="zh-CN" altLang="en-US">
              <a:solidFill>
                <a:schemeClr val="bg2"/>
              </a:solidFill>
              <a:latin typeface="楷体" panose="02010609060101010101" pitchFamily="49" charset="-122"/>
              <a:ea typeface="楷体" panose="02010609060101010101" pitchFamily="49" charset="-122"/>
            </a:endParaRPr>
          </a:p>
          <a:p>
            <a:pPr marL="873125" lvl="2" indent="-514350" algn="l">
              <a:spcBef>
                <a:spcPct val="15000"/>
              </a:spcBef>
              <a:buClr>
                <a:schemeClr val="bg1"/>
              </a:buClr>
              <a:buFont typeface="+mj-lt"/>
              <a:buAutoNum type="arabicPeriod"/>
            </a:pPr>
            <a:r>
              <a:rPr kumimoji="0" lang="zh-CN" altLang="en-US" sz="3200">
                <a:solidFill>
                  <a:schemeClr val="bg1"/>
                </a:solidFill>
                <a:latin typeface="楷体" panose="02010609060101010101" pitchFamily="49" charset="-122"/>
                <a:ea typeface="楷体" panose="02010609060101010101" pitchFamily="49" charset="-122"/>
              </a:rPr>
              <a:t>不确定性</a:t>
            </a:r>
            <a:r>
              <a:rPr kumimoji="0" lang="zh-CN" altLang="en-US" sz="3200">
                <a:solidFill>
                  <a:schemeClr val="bg2"/>
                </a:solidFill>
                <a:latin typeface="楷体" panose="02010609060101010101" pitchFamily="49" charset="-122"/>
                <a:ea typeface="楷体" panose="02010609060101010101" pitchFamily="49" charset="-122"/>
              </a:rPr>
              <a:t>：</a:t>
            </a:r>
            <a:r>
              <a:rPr kumimoji="0" lang="zh-CN" altLang="en-US">
                <a:solidFill>
                  <a:schemeClr val="bg2"/>
                </a:solidFill>
                <a:latin typeface="楷体" panose="02010609060101010101" pitchFamily="49" charset="-122"/>
                <a:ea typeface="楷体" panose="02010609060101010101" pitchFamily="49" charset="-122"/>
              </a:rPr>
              <a:t>目标的复杂性和可变性</a:t>
            </a:r>
            <a:endParaRPr kumimoji="0" lang="zh-CN" altLang="en-US">
              <a:solidFill>
                <a:schemeClr val="bg2"/>
              </a:solidFill>
              <a:latin typeface="楷体" panose="02010609060101010101" pitchFamily="49" charset="-122"/>
              <a:ea typeface="楷体" panose="02010609060101010101" pitchFamily="49" charset="-122"/>
            </a:endParaRPr>
          </a:p>
          <a:p>
            <a:pPr marL="873125" lvl="2" indent="-514350" algn="l">
              <a:spcBef>
                <a:spcPct val="15000"/>
              </a:spcBef>
              <a:buClr>
                <a:schemeClr val="bg1"/>
              </a:buClr>
              <a:buFont typeface="+mj-lt"/>
              <a:buAutoNum type="arabicPeriod"/>
            </a:pPr>
            <a:r>
              <a:rPr kumimoji="0" lang="zh-CN" altLang="en-US" sz="3200">
                <a:solidFill>
                  <a:schemeClr val="bg1"/>
                </a:solidFill>
                <a:latin typeface="楷体" panose="02010609060101010101" pitchFamily="49" charset="-122"/>
                <a:ea typeface="楷体" panose="02010609060101010101" pitchFamily="49" charset="-122"/>
              </a:rPr>
              <a:t>多变性</a:t>
            </a:r>
            <a:r>
              <a:rPr kumimoji="0" lang="zh-CN" altLang="en-US" sz="3200">
                <a:solidFill>
                  <a:schemeClr val="bg2"/>
                </a:solidFill>
                <a:latin typeface="楷体" panose="02010609060101010101" pitchFamily="49" charset="-122"/>
                <a:ea typeface="楷体" panose="02010609060101010101" pitchFamily="49" charset="-122"/>
              </a:rPr>
              <a:t>：</a:t>
            </a:r>
            <a:r>
              <a:rPr kumimoji="0" lang="zh-CN" altLang="en-US">
                <a:solidFill>
                  <a:schemeClr val="bg2"/>
                </a:solidFill>
                <a:latin typeface="楷体" panose="02010609060101010101" pitchFamily="49" charset="-122"/>
                <a:ea typeface="楷体" panose="02010609060101010101" pitchFamily="49" charset="-122"/>
              </a:rPr>
              <a:t>资源需求动态、多变、不确定</a:t>
            </a:r>
            <a:endParaRPr kumimoji="0" lang="zh-CN" altLang="en-US">
              <a:solidFill>
                <a:schemeClr val="bg2"/>
              </a:solidFill>
              <a:latin typeface="楷体" panose="02010609060101010101" pitchFamily="49" charset="-122"/>
              <a:ea typeface="楷体" panose="02010609060101010101" pitchFamily="49" charset="-122"/>
            </a:endParaRPr>
          </a:p>
          <a:p>
            <a:pPr marL="873125" lvl="2" indent="-514350" algn="l">
              <a:spcBef>
                <a:spcPct val="15000"/>
              </a:spcBef>
              <a:buClr>
                <a:schemeClr val="bg1"/>
              </a:buClr>
              <a:buFont typeface="+mj-lt"/>
              <a:buAutoNum type="arabicPeriod"/>
            </a:pPr>
            <a:r>
              <a:rPr kumimoji="0" lang="zh-CN" altLang="en-US" sz="3200">
                <a:solidFill>
                  <a:schemeClr val="bg1"/>
                </a:solidFill>
                <a:latin typeface="楷体" panose="02010609060101010101" pitchFamily="49" charset="-122"/>
                <a:ea typeface="楷体" panose="02010609060101010101" pitchFamily="49" charset="-122"/>
              </a:rPr>
              <a:t>项目有发起人</a:t>
            </a:r>
            <a:r>
              <a:rPr kumimoji="0" lang="zh-CN" altLang="en-US" sz="3200">
                <a:solidFill>
                  <a:schemeClr val="bg2"/>
                </a:solidFill>
                <a:latin typeface="楷体" panose="02010609060101010101" pitchFamily="49" charset="-122"/>
                <a:ea typeface="楷体" panose="02010609060101010101" pitchFamily="49" charset="-122"/>
              </a:rPr>
              <a:t>：</a:t>
            </a:r>
            <a:r>
              <a:rPr kumimoji="0" lang="zh-CN" altLang="en-US">
                <a:solidFill>
                  <a:schemeClr val="bg2"/>
                </a:solidFill>
                <a:latin typeface="楷体" panose="02010609060101010101" pitchFamily="49" charset="-122"/>
                <a:ea typeface="楷体" panose="02010609060101010101" pitchFamily="49" charset="-122"/>
              </a:rPr>
              <a:t>为项目指定方向并提供资金</a:t>
            </a:r>
            <a:endParaRPr kumimoji="0" lang="zh-CN" altLang="en-US">
              <a:solidFill>
                <a:schemeClr val="bg2"/>
              </a:solidFill>
              <a:latin typeface="楷体" panose="02010609060101010101" pitchFamily="49" charset="-122"/>
              <a:ea typeface="楷体" panose="02010609060101010101" pitchFamily="49" charset="-122"/>
            </a:endParaRPr>
          </a:p>
        </p:txBody>
      </p:sp>
      <p:sp>
        <p:nvSpPr>
          <p:cNvPr id="26630"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P.8</a:t>
            </a:r>
            <a:endParaRPr lang="en-US" altLang="zh-CN" sz="2400">
              <a:solidFill>
                <a:schemeClr val="bg2"/>
              </a:solidFill>
            </a:endParaRPr>
          </a:p>
        </p:txBody>
      </p:sp>
      <p:sp>
        <p:nvSpPr>
          <p:cNvPr id="26631" name="Rectangle 9"/>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en-US"/>
              <a:t>1.2 </a:t>
            </a:r>
            <a:r>
              <a:rPr kumimoji="0" lang="en-US" altLang="en-US">
                <a:latin typeface="楷体" panose="02010609060101010101" pitchFamily="49" charset="-122"/>
                <a:ea typeface="楷体" panose="02010609060101010101" pitchFamily="49" charset="-122"/>
              </a:rPr>
              <a:t>走进项目</a:t>
            </a:r>
            <a:endParaRPr kumimoji="0" lang="en-US" altLang="en-US">
              <a:latin typeface="楷体" panose="02010609060101010101" pitchFamily="49" charset="-122"/>
              <a:ea typeface="楷体" panose="02010609060101010101" pitchFamily="49" charset="-122"/>
            </a:endParaRPr>
          </a:p>
        </p:txBody>
      </p:sp>
      <p:sp>
        <p:nvSpPr>
          <p:cNvPr id="26632" name="Rectangle 10"/>
          <p:cNvSpPr>
            <a:spLocks noChangeArrowheads="1"/>
          </p:cNvSpPr>
          <p:nvPr/>
        </p:nvSpPr>
        <p:spPr bwMode="auto">
          <a:xfrm>
            <a:off x="153988" y="1341438"/>
            <a:ext cx="2770505" cy="521970"/>
          </a:xfrm>
          <a:prstGeom prst="rect">
            <a:avLst/>
          </a:prstGeom>
          <a:noFill/>
          <a:ln w="9525">
            <a:noFill/>
            <a:miter lim="800000"/>
          </a:ln>
        </p:spPr>
        <p:txBody>
          <a:bodyPr wrap="none">
            <a:spAutoFit/>
          </a:bodyPr>
          <a:lstStyle/>
          <a:p>
            <a:pPr algn="l"/>
            <a:r>
              <a:rPr kumimoji="0" lang="en-US" altLang="en-US">
                <a:solidFill>
                  <a:schemeClr val="hlink"/>
                </a:solidFill>
                <a:ea typeface="楷体_GB2312" pitchFamily="49" charset="-122"/>
              </a:rPr>
              <a:t>1.2.4 </a:t>
            </a:r>
            <a:r>
              <a:rPr kumimoji="0" lang="en-US" altLang="en-US">
                <a:solidFill>
                  <a:schemeClr val="hlink"/>
                </a:solidFill>
                <a:latin typeface="楷体" panose="02010609060101010101" pitchFamily="49" charset="-122"/>
                <a:ea typeface="楷体" panose="02010609060101010101" pitchFamily="49" charset="-122"/>
              </a:rPr>
              <a:t>项目的特征</a:t>
            </a:r>
            <a:endParaRPr kumimoji="0" lang="en-US"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82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82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82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82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82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82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821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82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smtClean="0"/>
              <a:t>  </a:t>
            </a:r>
            <a:fld id="{B6D6A615-618E-4DBF-9BE6-09340DC0AD1F}" type="slidenum">
              <a:rPr lang="zh-CN" altLang="en-GB" smtClean="0"/>
            </a:fld>
            <a:endParaRPr lang="en-US" altLang="zh-CN" smtClean="0"/>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819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pitchFamily="49" charset="-122"/>
                <a:ea typeface="楷体" panose="02010609060101010101" pitchFamily="49" charset="-122"/>
                <a:cs typeface="楷体" panose="02010609060101010101" pitchFamily="49" charset="-122"/>
              </a:rPr>
              <a:t>提   纲</a:t>
            </a:r>
            <a:endParaRPr lang="zh-CN" altLang="en-US" sz="4800" b="1" smtClean="0">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285720" y="1357298"/>
            <a:ext cx="8501062" cy="489267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项目与项目管理的价值</a:t>
            </a:r>
            <a:endParaRPr lang="en-US" altLang="zh-CN" sz="440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项目的特点与定义</a:t>
            </a:r>
            <a:endParaRPr lang="en-US" altLang="zh-CN" sz="440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smtClean="0">
                <a:solidFill>
                  <a:srgbClr val="FF0033"/>
                </a:solidFill>
                <a:latin typeface="楷体" panose="02010609060101010101" pitchFamily="49" charset="-122"/>
                <a:ea typeface="楷体" panose="02010609060101010101" pitchFamily="49" charset="-122"/>
                <a:cs typeface="楷体" panose="02010609060101010101" pitchFamily="49" charset="-122"/>
              </a:rPr>
              <a:t>项目管理的概念与知识体系</a:t>
            </a:r>
            <a:endParaRPr lang="en-US" altLang="zh-CN" sz="4800" smtClean="0">
              <a:solidFill>
                <a:srgbClr val="FF0033"/>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信息技术与</a:t>
            </a:r>
            <a:r>
              <a:rPr lang="en-US" altLang="zh-CN" sz="4400" smtClean="0">
                <a:solidFill>
                  <a:srgbClr val="0000FF"/>
                </a:solidFill>
                <a:ea typeface="楷体" panose="02010609060101010101" pitchFamily="49" charset="-122"/>
                <a:cs typeface="Times New Roman" panose="02020603050405020304" pitchFamily="18" charset="0"/>
              </a:rPr>
              <a:t>IT</a:t>
            </a: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项目特征</a:t>
            </a:r>
            <a:endParaRPr lang="en-US" altLang="zh-CN" sz="440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zh-CN" sz="4400" smtClean="0">
                <a:solidFill>
                  <a:srgbClr val="0000FF"/>
                </a:solidFill>
                <a:latin typeface="+mn-lt"/>
                <a:ea typeface="楷体" panose="02010609060101010101" pitchFamily="49" charset="-122"/>
                <a:cs typeface="+mn-lt"/>
              </a:rPr>
              <a:t>IT</a:t>
            </a: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项目管理的定义与特点</a:t>
            </a:r>
            <a:endParaRPr lang="en-US" altLang="zh-CN" sz="440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软件的定义与软件项目特点</a:t>
            </a:r>
            <a:endParaRPr lang="en-US" altLang="zh-CN" sz="440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软件项目管理的意义和重点</a:t>
            </a:r>
            <a:endParaRPr lang="zh-CN" altLang="en-US" sz="4400" dirty="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
          <p:cNvSpPr>
            <a:spLocks noGrp="1" noChangeArrowheads="1"/>
          </p:cNvSpPr>
          <p:nvPr>
            <p:ph type="sldNum" sz="quarter" idx="10"/>
          </p:nvPr>
        </p:nvSpPr>
        <p:spPr>
          <a:noFill/>
        </p:spPr>
        <p:txBody>
          <a:bodyPr/>
          <a:lstStyle/>
          <a:p>
            <a:r>
              <a:rPr lang="zh-CN" altLang="en-GB" smtClean="0"/>
              <a:t>  </a:t>
            </a:r>
            <a:fld id="{55DF3BEA-767D-42CB-8B44-8FC5DA9AD511}" type="slidenum">
              <a:rPr lang="zh-CN" altLang="en-GB" smtClean="0"/>
            </a:fld>
            <a:endParaRPr lang="en-US" altLang="zh-CN" smtClean="0"/>
          </a:p>
        </p:txBody>
      </p:sp>
      <p:sp>
        <p:nvSpPr>
          <p:cNvPr id="2867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2867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82308" name="Text Box 4"/>
          <p:cNvSpPr txBox="1">
            <a:spLocks noChangeArrowheads="1"/>
          </p:cNvSpPr>
          <p:nvPr/>
        </p:nvSpPr>
        <p:spPr bwMode="auto">
          <a:xfrm>
            <a:off x="181006" y="1285860"/>
            <a:ext cx="8820150" cy="3876675"/>
          </a:xfrm>
          <a:prstGeom prst="rect">
            <a:avLst/>
          </a:prstGeom>
          <a:noFill/>
          <a:ln w="28575">
            <a:noFill/>
            <a:miter lim="800000"/>
          </a:ln>
        </p:spPr>
        <p:txBody>
          <a:bodyPr>
            <a:spAutoFit/>
          </a:bodyPr>
          <a:lstStyle/>
          <a:p>
            <a:pPr algn="l">
              <a:spcBef>
                <a:spcPts val="600"/>
              </a:spcBef>
              <a:spcAft>
                <a:spcPts val="600"/>
              </a:spcAft>
            </a:pPr>
            <a:r>
              <a:rPr lang="zh-CN" altLang="en-US"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项目管理具有悠久的历史</a:t>
            </a:r>
            <a:endParaRPr lang="en-US" altLang="zh-CN"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endParaRPr lang="en-US" altLang="zh-CN"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en-US" altLang="zh-CN"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lang="zh-CN" altLang="en-US"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有项目，就必然会存在着项目管理问题。</a:t>
            </a:r>
            <a:endParaRPr lang="en-US" altLang="zh-CN"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en-US" altLang="zh-CN"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lang="zh-CN" altLang="en-US"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例如： 埃及的金字塔</a:t>
            </a:r>
            <a:endParaRPr lang="en-US" altLang="zh-CN"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                     中国的万里长城</a:t>
            </a:r>
            <a:endParaRPr lang="en-US" altLang="zh-CN"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endParaRPr lang="zh-CN" altLang="en-US" sz="3600" dirty="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28678"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P.8</a:t>
            </a:r>
            <a:endParaRPr lang="en-US" altLang="zh-CN" sz="2400">
              <a:solidFill>
                <a:schemeClr val="bg2"/>
              </a:solidFill>
            </a:endParaRPr>
          </a:p>
        </p:txBody>
      </p:sp>
      <p:sp>
        <p:nvSpPr>
          <p:cNvPr id="28679" name="Rectangle 10"/>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en-US"/>
              <a:t>1.3 </a:t>
            </a:r>
            <a:r>
              <a:rPr kumimoji="0" lang="en-US" altLang="en-US">
                <a:latin typeface="楷体" panose="02010609060101010101" pitchFamily="49" charset="-122"/>
                <a:ea typeface="楷体" panose="02010609060101010101" pitchFamily="49" charset="-122"/>
              </a:rPr>
              <a:t>走进项目管理</a:t>
            </a:r>
            <a:endParaRPr kumimoji="0" lang="en-US" altLang="en-US">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23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230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230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230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
          <p:cNvSpPr>
            <a:spLocks noGrp="1" noChangeArrowheads="1"/>
          </p:cNvSpPr>
          <p:nvPr>
            <p:ph type="sldNum" sz="quarter" idx="10"/>
          </p:nvPr>
        </p:nvSpPr>
        <p:spPr>
          <a:noFill/>
        </p:spPr>
        <p:txBody>
          <a:bodyPr/>
          <a:lstStyle/>
          <a:p>
            <a:r>
              <a:rPr lang="zh-CN" altLang="en-GB" smtClean="0"/>
              <a:t>  </a:t>
            </a:r>
            <a:fld id="{55DF3BEA-767D-42CB-8B44-8FC5DA9AD511}" type="slidenum">
              <a:rPr lang="zh-CN" altLang="en-GB" smtClean="0"/>
            </a:fld>
            <a:endParaRPr lang="en-US" altLang="zh-CN" smtClean="0"/>
          </a:p>
        </p:txBody>
      </p:sp>
      <p:sp>
        <p:nvSpPr>
          <p:cNvPr id="2867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2867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82308" name="Text Box 4"/>
          <p:cNvSpPr txBox="1">
            <a:spLocks noChangeArrowheads="1"/>
          </p:cNvSpPr>
          <p:nvPr/>
        </p:nvSpPr>
        <p:spPr bwMode="auto">
          <a:xfrm>
            <a:off x="181006" y="1363224"/>
            <a:ext cx="8711474" cy="1445260"/>
          </a:xfrm>
          <a:prstGeom prst="rect">
            <a:avLst/>
          </a:prstGeom>
          <a:noFill/>
          <a:ln w="28575">
            <a:noFill/>
            <a:miter lim="800000"/>
          </a:ln>
        </p:spPr>
        <p:txBody>
          <a:bodyPr wrap="square">
            <a:spAutoFit/>
          </a:bodyPr>
          <a:lstStyle/>
          <a:p>
            <a:pPr algn="l">
              <a:spcBef>
                <a:spcPts val="600"/>
              </a:spcBef>
              <a:spcAft>
                <a:spcPts val="600"/>
              </a:spcAft>
            </a:pPr>
            <a:r>
              <a:rPr lang="en-US" dirty="0" smtClean="0">
                <a:solidFill>
                  <a:schemeClr val="bg2"/>
                </a:solidFill>
              </a:rPr>
              <a:t>1917</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年，亨利</a:t>
            </a:r>
            <a:r>
              <a:rPr 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甘特发明了著名的</a:t>
            </a:r>
            <a:r>
              <a:rPr lang="zh-CN" altLang="en-US" sz="3200"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甘特图</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，用于车间日常工作安排与管理，其后，这一工具成为军事项目中对工作进行计划和评审的标准模式</a:t>
            </a:r>
            <a:r>
              <a:rPr lang="zh-CN" altLang="en-US" dirty="0" smtClean="0">
                <a:solidFill>
                  <a:schemeClr val="bg2"/>
                </a:solidFill>
                <a:latin typeface="楷体" panose="02010609060101010101" pitchFamily="49" charset="-122"/>
                <a:ea typeface="楷体" panose="02010609060101010101" pitchFamily="49" charset="-122"/>
              </a:rPr>
              <a:t>。</a:t>
            </a:r>
            <a:endParaRPr lang="en-US" altLang="zh-CN" dirty="0" smtClean="0">
              <a:solidFill>
                <a:schemeClr val="bg2"/>
              </a:solidFill>
              <a:latin typeface="楷体" panose="02010609060101010101" pitchFamily="49" charset="-122"/>
              <a:ea typeface="楷体" panose="02010609060101010101" pitchFamily="49" charset="-122"/>
            </a:endParaRPr>
          </a:p>
        </p:txBody>
      </p:sp>
      <p:sp>
        <p:nvSpPr>
          <p:cNvPr id="28678"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P.8</a:t>
            </a:r>
            <a:endParaRPr lang="en-US" altLang="zh-CN" sz="2400">
              <a:solidFill>
                <a:schemeClr val="bg2"/>
              </a:solidFill>
            </a:endParaRPr>
          </a:p>
        </p:txBody>
      </p:sp>
      <p:sp>
        <p:nvSpPr>
          <p:cNvPr id="28679" name="Rectangle 10"/>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en-US"/>
              <a:t>1.3 </a:t>
            </a:r>
            <a:r>
              <a:rPr kumimoji="0" lang="en-US" altLang="en-US">
                <a:latin typeface="楷体" panose="02010609060101010101" pitchFamily="49" charset="-122"/>
                <a:ea typeface="楷体" panose="02010609060101010101" pitchFamily="49" charset="-122"/>
              </a:rPr>
              <a:t>走进项目管理</a:t>
            </a:r>
            <a:endParaRPr kumimoji="0" lang="en-US" altLang="en-US">
              <a:latin typeface="楷体" panose="02010609060101010101" pitchFamily="49" charset="-122"/>
              <a:ea typeface="楷体" panose="02010609060101010101" pitchFamily="49" charset="-122"/>
            </a:endParaRPr>
          </a:p>
        </p:txBody>
      </p:sp>
      <p:pic>
        <p:nvPicPr>
          <p:cNvPr id="2" name="图片 1"/>
          <p:cNvPicPr>
            <a:picLocks noChangeAspect="1"/>
          </p:cNvPicPr>
          <p:nvPr/>
        </p:nvPicPr>
        <p:blipFill>
          <a:blip/>
          <a:stretch>
            <a:fillRect/>
          </a:stretch>
        </p:blipFill>
        <p:spPr>
          <a:xfrm>
            <a:off x="1360444" y="2852936"/>
            <a:ext cx="6739948" cy="3744416"/>
          </a:xfrm>
          <a:prstGeom prst="rect">
            <a:avLst/>
          </a:prstGeom>
          <a:noFill/>
          <a:ln w="2857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8230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
          <p:cNvSpPr>
            <a:spLocks noGrp="1" noChangeArrowheads="1"/>
          </p:cNvSpPr>
          <p:nvPr>
            <p:ph type="sldNum" sz="quarter" idx="10"/>
          </p:nvPr>
        </p:nvSpPr>
        <p:spPr>
          <a:noFill/>
        </p:spPr>
        <p:txBody>
          <a:bodyPr/>
          <a:lstStyle/>
          <a:p>
            <a:r>
              <a:rPr lang="zh-CN" altLang="en-GB" smtClean="0"/>
              <a:t>  </a:t>
            </a:r>
            <a:fld id="{55DF3BEA-767D-42CB-8B44-8FC5DA9AD511}" type="slidenum">
              <a:rPr lang="zh-CN" altLang="en-GB" smtClean="0"/>
            </a:fld>
            <a:endParaRPr lang="en-US" altLang="zh-CN" smtClean="0"/>
          </a:p>
        </p:txBody>
      </p:sp>
      <p:sp>
        <p:nvSpPr>
          <p:cNvPr id="2867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2867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82308" name="Text Box 4"/>
          <p:cNvSpPr txBox="1">
            <a:spLocks noChangeArrowheads="1"/>
          </p:cNvSpPr>
          <p:nvPr/>
        </p:nvSpPr>
        <p:spPr bwMode="auto">
          <a:xfrm>
            <a:off x="181006" y="1395132"/>
            <a:ext cx="8820150" cy="4954270"/>
          </a:xfrm>
          <a:prstGeom prst="rect">
            <a:avLst/>
          </a:prstGeom>
          <a:noFill/>
          <a:ln w="28575">
            <a:noFill/>
            <a:miter lim="800000"/>
          </a:ln>
        </p:spPr>
        <p:txBody>
          <a:bodyPr>
            <a:spAutoFit/>
          </a:bodyPr>
          <a:lstStyle/>
          <a:p>
            <a:pPr algn="l">
              <a:spcBef>
                <a:spcPts val="600"/>
              </a:spcBef>
              <a:spcAft>
                <a:spcPts val="600"/>
              </a:spcAft>
            </a:pPr>
            <a:r>
              <a:rPr lang="en-US" altLang="zh-CN" dirty="0">
                <a:solidFill>
                  <a:schemeClr val="bg2"/>
                </a:solidFill>
              </a:rPr>
              <a:t>20</a:t>
            </a:r>
            <a:r>
              <a:rPr lang="zh-CN" altLang="en-US" dirty="0">
                <a:solidFill>
                  <a:schemeClr val="bg2"/>
                </a:solidFill>
                <a:latin typeface="楷体" panose="02010609060101010101" pitchFamily="49" charset="-122"/>
                <a:ea typeface="楷体" panose="02010609060101010101" pitchFamily="49" charset="-122"/>
              </a:rPr>
              <a:t>世纪</a:t>
            </a:r>
            <a:r>
              <a:rPr lang="en-US" altLang="zh-CN" dirty="0">
                <a:solidFill>
                  <a:schemeClr val="bg2"/>
                </a:solidFill>
              </a:rPr>
              <a:t>50</a:t>
            </a:r>
            <a:r>
              <a:rPr lang="zh-CN" altLang="en-US" dirty="0">
                <a:solidFill>
                  <a:schemeClr val="bg2"/>
                </a:solidFill>
                <a:latin typeface="楷体" panose="02010609060101010101" pitchFamily="49" charset="-122"/>
                <a:ea typeface="楷体" panose="02010609060101010101" pitchFamily="49" charset="-122"/>
              </a:rPr>
              <a:t>代后期</a:t>
            </a:r>
            <a:r>
              <a:rPr lang="zh-CN" altLang="en-US" dirty="0">
                <a:solidFill>
                  <a:schemeClr val="bg2"/>
                </a:solidFill>
              </a:rPr>
              <a:t>，</a:t>
            </a:r>
            <a:r>
              <a:rPr lang="zh-CN" altLang="en-US" dirty="0" smtClean="0">
                <a:solidFill>
                  <a:schemeClr val="bg2"/>
                </a:solidFill>
                <a:latin typeface="楷体" panose="02010609060101010101" pitchFamily="49" charset="-122"/>
                <a:ea typeface="楷体" panose="02010609060101010101" pitchFamily="49" charset="-122"/>
              </a:rPr>
              <a:t>美国杜邦公司创造</a:t>
            </a:r>
            <a:r>
              <a:rPr lang="zh-CN" altLang="en-US" dirty="0">
                <a:solidFill>
                  <a:schemeClr val="bg2"/>
                </a:solidFill>
                <a:latin typeface="楷体" panose="02010609060101010101" pitchFamily="49" charset="-122"/>
                <a:ea typeface="楷体" panose="02010609060101010101" pitchFamily="49" charset="-122"/>
              </a:rPr>
              <a:t>了</a:t>
            </a:r>
            <a:r>
              <a:rPr lang="zh-CN" altLang="en-US" sz="3200" dirty="0">
                <a:solidFill>
                  <a:srgbClr val="0000FF"/>
                </a:solidFill>
                <a:latin typeface="楷体" panose="02010609060101010101" pitchFamily="49" charset="-122"/>
                <a:ea typeface="楷体" panose="02010609060101010101" pitchFamily="49" charset="-122"/>
              </a:rPr>
              <a:t>关键路径法</a:t>
            </a:r>
            <a:r>
              <a:rPr lang="zh-CN" altLang="en-US" dirty="0">
                <a:solidFill>
                  <a:schemeClr val="bg2"/>
                </a:solidFill>
                <a:latin typeface="楷体" panose="02010609060101010101" pitchFamily="49" charset="-122"/>
                <a:ea typeface="楷体" panose="02010609060101010101" pitchFamily="49" charset="-122"/>
              </a:rPr>
              <a:t>（</a:t>
            </a:r>
            <a:r>
              <a:rPr lang="en-US" altLang="zh-CN" sz="3200" dirty="0">
                <a:solidFill>
                  <a:srgbClr val="0000FF"/>
                </a:solidFill>
              </a:rPr>
              <a:t>CPM</a:t>
            </a:r>
            <a:r>
              <a:rPr lang="zh-CN" altLang="en-US" dirty="0">
                <a:solidFill>
                  <a:schemeClr val="bg2"/>
                </a:solidFill>
                <a:latin typeface="楷体" panose="02010609060101010101" pitchFamily="49" charset="-122"/>
                <a:ea typeface="楷体" panose="02010609060101010101" pitchFamily="49" charset="-122"/>
                <a:cs typeface="楷体" panose="02010609060101010101" pitchFamily="49" charset="-122"/>
              </a:rPr>
              <a:t>），用于研究和开发、生产控制和计划编排</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，大大</a:t>
            </a:r>
            <a:r>
              <a:rPr lang="zh-CN" altLang="en-US" dirty="0">
                <a:solidFill>
                  <a:schemeClr val="bg2"/>
                </a:solidFill>
                <a:latin typeface="楷体" panose="02010609060101010101" pitchFamily="49" charset="-122"/>
                <a:ea typeface="楷体" panose="02010609060101010101" pitchFamily="49" charset="-122"/>
                <a:cs typeface="楷体" panose="02010609060101010101" pitchFamily="49" charset="-122"/>
              </a:rPr>
              <a:t>缩短了</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完成任务</a:t>
            </a:r>
            <a:r>
              <a:rPr lang="zh-CN" altLang="en-US" dirty="0">
                <a:solidFill>
                  <a:schemeClr val="bg2"/>
                </a:solidFill>
                <a:latin typeface="楷体" panose="02010609060101010101" pitchFamily="49" charset="-122"/>
                <a:ea typeface="楷体" panose="02010609060101010101" pitchFamily="49" charset="-122"/>
                <a:cs typeface="楷体" panose="02010609060101010101" pitchFamily="49" charset="-122"/>
              </a:rPr>
              <a:t>的时间，并节约了</a:t>
            </a:r>
            <a:r>
              <a:rPr lang="en-US" altLang="zh-CN" dirty="0">
                <a:solidFill>
                  <a:schemeClr val="bg2"/>
                </a:solidFill>
                <a:latin typeface="楷体" panose="02010609060101010101" pitchFamily="49" charset="-122"/>
                <a:ea typeface="楷体" panose="02010609060101010101" pitchFamily="49" charset="-122"/>
                <a:cs typeface="楷体" panose="02010609060101010101" pitchFamily="49" charset="-122"/>
              </a:rPr>
              <a:t>10%</a:t>
            </a:r>
            <a:r>
              <a:rPr lang="zh-CN" altLang="en-US" dirty="0">
                <a:solidFill>
                  <a:schemeClr val="bg2"/>
                </a:solidFill>
                <a:latin typeface="楷体" panose="02010609060101010101" pitchFamily="49" charset="-122"/>
                <a:ea typeface="楷体" panose="02010609060101010101" pitchFamily="49" charset="-122"/>
                <a:cs typeface="楷体" panose="02010609060101010101" pitchFamily="49" charset="-122"/>
              </a:rPr>
              <a:t>左右的</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投资。</a:t>
            </a:r>
            <a:endParaRPr lang="zh-CN" altLang="en-US"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同一时期，美国海军在研发潜水舰艇上的远程导弹项目中开发出了</a:t>
            </a:r>
            <a:r>
              <a:rPr lang="zh-CN" altLang="en-US" sz="3200"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计划评审技术</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sz="3200" dirty="0" smtClean="0">
                <a:solidFill>
                  <a:srgbClr val="0000FF"/>
                </a:solidFill>
              </a:rPr>
              <a:t>PERT</a:t>
            </a:r>
            <a:r>
              <a:rPr lang="zh-CN" altLang="en-US" dirty="0" smtClean="0">
                <a:solidFill>
                  <a:schemeClr val="bg2"/>
                </a:solidFill>
                <a:latin typeface="楷体" panose="02010609060101010101" pitchFamily="49" charset="-122"/>
                <a:ea typeface="楷体" panose="02010609060101010101" pitchFamily="49" charset="-122"/>
              </a:rPr>
              <a:t>）。使美国海军部门顺利解决了组织、协调参加这项工程的遍及美国</a:t>
            </a:r>
            <a:r>
              <a:rPr lang="en-US" dirty="0" smtClean="0">
                <a:solidFill>
                  <a:schemeClr val="bg2"/>
                </a:solidFill>
              </a:rPr>
              <a:t>48</a:t>
            </a:r>
            <a:r>
              <a:rPr lang="zh-CN" altLang="en-US" dirty="0" smtClean="0">
                <a:solidFill>
                  <a:schemeClr val="bg2"/>
                </a:solidFill>
                <a:latin typeface="楷体" panose="02010609060101010101" pitchFamily="49" charset="-122"/>
                <a:ea typeface="楷体" panose="02010609060101010101" pitchFamily="49" charset="-122"/>
              </a:rPr>
              <a:t>个州的</a:t>
            </a:r>
            <a:r>
              <a:rPr lang="en-US" dirty="0" smtClean="0">
                <a:solidFill>
                  <a:schemeClr val="bg2"/>
                </a:solidFill>
              </a:rPr>
              <a:t>200</a:t>
            </a:r>
            <a:r>
              <a:rPr lang="zh-CN" altLang="en-US" dirty="0" smtClean="0">
                <a:solidFill>
                  <a:schemeClr val="bg2"/>
                </a:solidFill>
                <a:latin typeface="楷体" panose="02010609060101010101" pitchFamily="49" charset="-122"/>
                <a:ea typeface="楷体" panose="02010609060101010101" pitchFamily="49" charset="-122"/>
              </a:rPr>
              <a:t>多个主要承包商和</a:t>
            </a:r>
            <a:r>
              <a:rPr lang="en-US" dirty="0" smtClean="0">
                <a:solidFill>
                  <a:schemeClr val="bg2"/>
                </a:solidFill>
              </a:rPr>
              <a:t>11000</a:t>
            </a:r>
            <a:r>
              <a:rPr lang="zh-CN" altLang="en-US" dirty="0" smtClean="0">
                <a:solidFill>
                  <a:schemeClr val="bg2"/>
                </a:solidFill>
                <a:latin typeface="楷体" panose="02010609060101010101" pitchFamily="49" charset="-122"/>
                <a:ea typeface="楷体" panose="02010609060101010101" pitchFamily="49" charset="-122"/>
              </a:rPr>
              <a:t>多个企业的复杂问题，缩短了约两年工期（计划工期为</a:t>
            </a:r>
            <a:r>
              <a:rPr lang="en-US" dirty="0" smtClean="0">
                <a:solidFill>
                  <a:schemeClr val="bg2"/>
                </a:solidFill>
              </a:rPr>
              <a:t>8</a:t>
            </a:r>
            <a:r>
              <a:rPr lang="zh-CN" altLang="en-US" dirty="0" smtClean="0">
                <a:solidFill>
                  <a:schemeClr val="bg2"/>
                </a:solidFill>
                <a:latin typeface="楷体" panose="02010609060101010101" pitchFamily="49" charset="-122"/>
                <a:ea typeface="楷体" panose="02010609060101010101" pitchFamily="49" charset="-122"/>
              </a:rPr>
              <a:t>年）</a:t>
            </a:r>
            <a:r>
              <a:rPr lang="zh-CN" altLang="en-US" dirty="0" smtClean="0">
                <a:solidFill>
                  <a:schemeClr val="bg2"/>
                </a:solidFill>
              </a:rPr>
              <a:t>。</a:t>
            </a:r>
            <a:endParaRPr lang="en-US" altLang="zh-CN" dirty="0" smtClean="0">
              <a:solidFill>
                <a:schemeClr val="bg2"/>
              </a:solidFill>
            </a:endParaRPr>
          </a:p>
          <a:p>
            <a:pPr algn="l">
              <a:spcBef>
                <a:spcPts val="600"/>
              </a:spcBef>
              <a:spcAft>
                <a:spcPts val="600"/>
              </a:spcAft>
            </a:pPr>
            <a:r>
              <a:rPr lang="en-US" dirty="0">
                <a:solidFill>
                  <a:schemeClr val="bg2"/>
                </a:solidFill>
              </a:rPr>
              <a:t>20</a:t>
            </a:r>
            <a:r>
              <a:rPr lang="zh-CN" altLang="en-US" dirty="0">
                <a:solidFill>
                  <a:schemeClr val="bg2"/>
                </a:solidFill>
                <a:latin typeface="楷体" panose="02010609060101010101" pitchFamily="49" charset="-122"/>
                <a:ea typeface="楷体" panose="02010609060101010101" pitchFamily="49" charset="-122"/>
              </a:rPr>
              <a:t>世纪</a:t>
            </a:r>
            <a:r>
              <a:rPr lang="en-US" dirty="0">
                <a:solidFill>
                  <a:schemeClr val="bg2"/>
                </a:solidFill>
              </a:rPr>
              <a:t>60</a:t>
            </a:r>
            <a:r>
              <a:rPr lang="zh-CN" altLang="en-US" dirty="0">
                <a:solidFill>
                  <a:schemeClr val="bg2"/>
                </a:solidFill>
                <a:latin typeface="楷体" panose="02010609060101010101" pitchFamily="49" charset="-122"/>
                <a:ea typeface="楷体" panose="02010609060101010101" pitchFamily="49" charset="-122"/>
              </a:rPr>
              <a:t>年代，耗资</a:t>
            </a:r>
            <a:r>
              <a:rPr lang="en-US" dirty="0">
                <a:solidFill>
                  <a:schemeClr val="bg2"/>
                </a:solidFill>
              </a:rPr>
              <a:t>400</a:t>
            </a:r>
            <a:r>
              <a:rPr lang="zh-CN" altLang="en-US" dirty="0">
                <a:solidFill>
                  <a:schemeClr val="bg2"/>
                </a:solidFill>
                <a:latin typeface="楷体" panose="02010609060101010101" pitchFamily="49" charset="-122"/>
                <a:ea typeface="楷体" panose="02010609060101010101" pitchFamily="49" charset="-122"/>
              </a:rPr>
              <a:t>亿美元，有两万多个企业参加的阿波罗登月计划，也是采用</a:t>
            </a:r>
            <a:r>
              <a:rPr lang="en-US" altLang="zh-CN" dirty="0">
                <a:solidFill>
                  <a:schemeClr val="bg2"/>
                </a:solidFill>
              </a:rPr>
              <a:t>PERT</a:t>
            </a:r>
            <a:r>
              <a:rPr lang="zh-CN" altLang="en-US" dirty="0">
                <a:solidFill>
                  <a:schemeClr val="bg2"/>
                </a:solidFill>
                <a:latin typeface="楷体" panose="02010609060101010101" pitchFamily="49" charset="-122"/>
                <a:ea typeface="楷体" panose="02010609060101010101" pitchFamily="49" charset="-122"/>
              </a:rPr>
              <a:t>进行计划和管理的</a:t>
            </a:r>
            <a:r>
              <a:rPr lang="zh-CN" altLang="en-US" sz="3200" dirty="0" smtClean="0">
                <a:solidFill>
                  <a:schemeClr val="bg2"/>
                </a:solidFill>
                <a:latin typeface="楷体" panose="02010609060101010101" pitchFamily="49" charset="-122"/>
                <a:ea typeface="楷体" panose="02010609060101010101" pitchFamily="49" charset="-122"/>
              </a:rPr>
              <a:t>。</a:t>
            </a:r>
            <a:endParaRPr lang="en-US" altLang="zh-CN" sz="3200" dirty="0" smtClean="0">
              <a:solidFill>
                <a:schemeClr val="bg2"/>
              </a:solidFill>
              <a:latin typeface="楷体" panose="02010609060101010101" pitchFamily="49" charset="-122"/>
              <a:ea typeface="楷体" panose="02010609060101010101" pitchFamily="49" charset="-122"/>
            </a:endParaRPr>
          </a:p>
        </p:txBody>
      </p:sp>
      <p:sp>
        <p:nvSpPr>
          <p:cNvPr id="28678"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P.9</a:t>
            </a:r>
            <a:endParaRPr lang="en-US" altLang="zh-CN" sz="2400">
              <a:solidFill>
                <a:schemeClr val="bg2"/>
              </a:solidFill>
            </a:endParaRPr>
          </a:p>
        </p:txBody>
      </p:sp>
      <p:sp>
        <p:nvSpPr>
          <p:cNvPr id="28679" name="Rectangle 10"/>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1.3 走进项目管理</a:t>
            </a:r>
            <a:endParaRPr kumimoji="0"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23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230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230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
          <p:cNvSpPr>
            <a:spLocks noGrp="1" noChangeArrowheads="1"/>
          </p:cNvSpPr>
          <p:nvPr>
            <p:ph type="sldNum" sz="quarter" idx="10"/>
          </p:nvPr>
        </p:nvSpPr>
        <p:spPr>
          <a:noFill/>
        </p:spPr>
        <p:txBody>
          <a:bodyPr/>
          <a:lstStyle/>
          <a:p>
            <a:r>
              <a:rPr lang="zh-CN" altLang="en-GB" smtClean="0"/>
              <a:t>  </a:t>
            </a:r>
            <a:fld id="{55DF3BEA-767D-42CB-8B44-8FC5DA9AD511}" type="slidenum">
              <a:rPr lang="zh-CN" altLang="en-GB" smtClean="0"/>
            </a:fld>
            <a:endParaRPr lang="en-US" altLang="zh-CN" smtClean="0"/>
          </a:p>
        </p:txBody>
      </p:sp>
      <p:sp>
        <p:nvSpPr>
          <p:cNvPr id="2867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2867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82308" name="Text Box 4"/>
          <p:cNvSpPr txBox="1">
            <a:spLocks noChangeArrowheads="1"/>
          </p:cNvSpPr>
          <p:nvPr/>
        </p:nvSpPr>
        <p:spPr bwMode="auto">
          <a:xfrm>
            <a:off x="181006" y="1395132"/>
            <a:ext cx="8820150" cy="4969510"/>
          </a:xfrm>
          <a:prstGeom prst="rect">
            <a:avLst/>
          </a:prstGeom>
          <a:noFill/>
          <a:ln w="28575">
            <a:noFill/>
            <a:miter lim="800000"/>
          </a:ln>
        </p:spPr>
        <p:txBody>
          <a:bodyPr>
            <a:spAutoFit/>
          </a:bodyPr>
          <a:lstStyle/>
          <a:p>
            <a:pPr algn="l">
              <a:spcBef>
                <a:spcPts val="600"/>
              </a:spcBef>
              <a:spcAft>
                <a:spcPts val="600"/>
              </a:spcAft>
            </a:pPr>
            <a:r>
              <a:rPr lang="zh-CN" altLang="en-US" smtClean="0">
                <a:solidFill>
                  <a:schemeClr val="bg2"/>
                </a:solidFill>
                <a:latin typeface="楷体" panose="02010609060101010101" pitchFamily="49" charset="-122"/>
                <a:ea typeface="楷体" panose="02010609060101010101" pitchFamily="49" charset="-122"/>
              </a:rPr>
              <a:t>一些国家的经验表明，应用网络计划技术，可节约投资的</a:t>
            </a:r>
            <a:r>
              <a:rPr lang="en-US" altLang="en-US" smtClean="0">
                <a:solidFill>
                  <a:schemeClr val="bg2"/>
                </a:solidFill>
              </a:rPr>
              <a:t>10%</a:t>
            </a:r>
            <a:r>
              <a:rPr lang="zh-CN" altLang="en-US" smtClean="0">
                <a:solidFill>
                  <a:schemeClr val="bg2"/>
                </a:solidFill>
                <a:latin typeface="楷体" panose="02010609060101010101" pitchFamily="49" charset="-122"/>
                <a:ea typeface="楷体" panose="02010609060101010101" pitchFamily="49" charset="-122"/>
              </a:rPr>
              <a:t>到</a:t>
            </a:r>
            <a:r>
              <a:rPr lang="en-US" altLang="en-US" smtClean="0">
                <a:solidFill>
                  <a:schemeClr val="bg2"/>
                </a:solidFill>
              </a:rPr>
              <a:t>15%</a:t>
            </a:r>
            <a:r>
              <a:rPr lang="zh-CN" altLang="en-US" smtClean="0">
                <a:solidFill>
                  <a:schemeClr val="bg2"/>
                </a:solidFill>
                <a:latin typeface="楷体" panose="02010609060101010101" pitchFamily="49" charset="-122"/>
                <a:ea typeface="楷体" panose="02010609060101010101" pitchFamily="49" charset="-122"/>
              </a:rPr>
              <a:t>左右，缩短工期</a:t>
            </a:r>
            <a:r>
              <a:rPr lang="en-US" altLang="en-US" smtClean="0">
                <a:solidFill>
                  <a:schemeClr val="bg2"/>
                </a:solidFill>
              </a:rPr>
              <a:t>15%</a:t>
            </a:r>
            <a:r>
              <a:rPr lang="zh-CN" altLang="en-US" smtClean="0">
                <a:solidFill>
                  <a:schemeClr val="bg2"/>
                </a:solidFill>
                <a:latin typeface="楷体" panose="02010609060101010101" pitchFamily="49" charset="-122"/>
                <a:ea typeface="楷体" panose="02010609060101010101" pitchFamily="49" charset="-122"/>
              </a:rPr>
              <a:t>到</a:t>
            </a:r>
            <a:r>
              <a:rPr lang="en-US" altLang="en-US" smtClean="0">
                <a:solidFill>
                  <a:schemeClr val="bg2"/>
                </a:solidFill>
              </a:rPr>
              <a:t>20%</a:t>
            </a:r>
            <a:r>
              <a:rPr lang="zh-CN" altLang="en-US" smtClean="0">
                <a:solidFill>
                  <a:schemeClr val="bg2"/>
                </a:solidFill>
                <a:latin typeface="楷体" panose="02010609060101010101" pitchFamily="49" charset="-122"/>
                <a:ea typeface="楷体" panose="02010609060101010101" pitchFamily="49" charset="-122"/>
              </a:rPr>
              <a:t>左右，而编制网络计划所需要的费用仅为总费用的</a:t>
            </a:r>
            <a:r>
              <a:rPr lang="en-US" altLang="en-US" smtClean="0">
                <a:solidFill>
                  <a:schemeClr val="bg2"/>
                </a:solidFill>
              </a:rPr>
              <a:t>0.1%</a:t>
            </a:r>
            <a:r>
              <a:rPr lang="zh-CN" altLang="en-US" smtClean="0">
                <a:solidFill>
                  <a:schemeClr val="bg2"/>
                </a:solidFill>
                <a:latin typeface="楷体" panose="02010609060101010101" pitchFamily="49" charset="-122"/>
                <a:ea typeface="楷体" panose="02010609060101010101" pitchFamily="49" charset="-122"/>
              </a:rPr>
              <a:t>。</a:t>
            </a:r>
            <a:endParaRPr lang="en-US" altLang="zh-CN" smtClean="0">
              <a:solidFill>
                <a:schemeClr val="bg2"/>
              </a:solidFill>
            </a:endParaRPr>
          </a:p>
          <a:p>
            <a:pPr algn="l">
              <a:spcBef>
                <a:spcPts val="2400"/>
              </a:spcBef>
              <a:spcAft>
                <a:spcPts val="600"/>
              </a:spcAft>
            </a:pPr>
            <a:r>
              <a:rPr lang="zh-CN" altLang="en-US" sz="3600" smtClean="0">
                <a:solidFill>
                  <a:srgbClr val="0000FF"/>
                </a:solidFill>
                <a:latin typeface="楷体" panose="02010609060101010101" pitchFamily="49" charset="-122"/>
                <a:ea typeface="楷体" panose="02010609060101010101" pitchFamily="49" charset="-122"/>
              </a:rPr>
              <a:t>现代项目管理科学</a:t>
            </a:r>
            <a:r>
              <a:rPr lang="zh-CN" altLang="en-US" smtClean="0">
                <a:solidFill>
                  <a:schemeClr val="bg2"/>
                </a:solidFill>
                <a:latin typeface="楷体" panose="02010609060101010101" pitchFamily="49" charset="-122"/>
                <a:ea typeface="楷体" panose="02010609060101010101" pitchFamily="49" charset="-122"/>
              </a:rPr>
              <a:t>便是从</a:t>
            </a:r>
            <a:r>
              <a:rPr lang="en-US" altLang="en-US" sz="3600" smtClean="0">
                <a:solidFill>
                  <a:srgbClr val="0000FF"/>
                </a:solidFill>
              </a:rPr>
              <a:t>CPM</a:t>
            </a:r>
            <a:r>
              <a:rPr lang="zh-CN" altLang="en-US" smtClean="0">
                <a:solidFill>
                  <a:schemeClr val="bg2"/>
                </a:solidFill>
                <a:latin typeface="楷体" panose="02010609060101010101" pitchFamily="49" charset="-122"/>
                <a:ea typeface="楷体" panose="02010609060101010101" pitchFamily="49" charset="-122"/>
              </a:rPr>
              <a:t>和</a:t>
            </a:r>
            <a:r>
              <a:rPr lang="en-US" altLang="en-US" sz="3600" smtClean="0">
                <a:solidFill>
                  <a:srgbClr val="0000FF"/>
                </a:solidFill>
              </a:rPr>
              <a:t>PERT</a:t>
            </a:r>
            <a:r>
              <a:rPr lang="zh-CN" altLang="en-US" smtClean="0">
                <a:solidFill>
                  <a:schemeClr val="bg2"/>
                </a:solidFill>
                <a:latin typeface="楷体" panose="02010609060101010101" pitchFamily="49" charset="-122"/>
                <a:ea typeface="楷体" panose="02010609060101010101" pitchFamily="49" charset="-122"/>
              </a:rPr>
              <a:t>这两项技术的基础上迅速发展起来的，通过融合后来发展起来的工作分解结构（</a:t>
            </a:r>
            <a:r>
              <a:rPr lang="en-US" altLang="en-US" sz="3600" smtClean="0">
                <a:solidFill>
                  <a:srgbClr val="0000FF"/>
                </a:solidFill>
              </a:rPr>
              <a:t>WBS</a:t>
            </a:r>
            <a:r>
              <a:rPr lang="zh-CN" altLang="en-US" smtClean="0">
                <a:solidFill>
                  <a:schemeClr val="bg2"/>
                </a:solidFill>
                <a:latin typeface="楷体" panose="02010609060101010101" pitchFamily="49" charset="-122"/>
                <a:ea typeface="楷体" panose="02010609060101010101" pitchFamily="49" charset="-122"/>
              </a:rPr>
              <a:t>）、蒙特卡罗统计模拟方法（</a:t>
            </a:r>
            <a:r>
              <a:rPr lang="en-US" altLang="en-US" sz="3600" smtClean="0">
                <a:solidFill>
                  <a:srgbClr val="0000FF"/>
                </a:solidFill>
              </a:rPr>
              <a:t>MCS</a:t>
            </a:r>
            <a:r>
              <a:rPr lang="zh-CN" altLang="en-US" smtClean="0">
                <a:solidFill>
                  <a:schemeClr val="bg2"/>
                </a:solidFill>
                <a:latin typeface="楷体" panose="02010609060101010101" pitchFamily="49" charset="-122"/>
                <a:ea typeface="楷体" panose="02010609060101010101" pitchFamily="49" charset="-122"/>
              </a:rPr>
              <a:t>）和挣值（</a:t>
            </a:r>
            <a:r>
              <a:rPr lang="en-US" altLang="en-US" sz="3600" smtClean="0">
                <a:solidFill>
                  <a:srgbClr val="0000FF"/>
                </a:solidFill>
              </a:rPr>
              <a:t>EV</a:t>
            </a:r>
            <a:r>
              <a:rPr lang="zh-CN" altLang="en-US" smtClean="0">
                <a:solidFill>
                  <a:schemeClr val="bg2"/>
                </a:solidFill>
                <a:latin typeface="楷体" panose="02010609060101010101" pitchFamily="49" charset="-122"/>
                <a:ea typeface="楷体" panose="02010609060101010101" pitchFamily="49" charset="-122"/>
              </a:rPr>
              <a:t>）分析技术，</a:t>
            </a:r>
            <a:r>
              <a:rPr lang="zh-CN" altLang="en-US" sz="3600" smtClean="0">
                <a:solidFill>
                  <a:srgbClr val="0000FF"/>
                </a:solidFill>
                <a:latin typeface="楷体" panose="02010609060101010101" pitchFamily="49" charset="-122"/>
                <a:ea typeface="楷体" panose="02010609060101010101" pitchFamily="49" charset="-122"/>
              </a:rPr>
              <a:t>形成了一门关于项目资金、时间、人力等资源控制的管理科学</a:t>
            </a:r>
            <a:r>
              <a:rPr lang="zh-CN" altLang="en-US" sz="3200" smtClean="0">
                <a:solidFill>
                  <a:srgbClr val="0000FF"/>
                </a:solidFill>
                <a:latin typeface="楷体" panose="02010609060101010101" pitchFamily="49" charset="-122"/>
                <a:ea typeface="楷体" panose="02010609060101010101" pitchFamily="49" charset="-122"/>
              </a:rPr>
              <a:t>。</a:t>
            </a:r>
            <a:endParaRPr lang="zh-CN" altLang="en-US" sz="3200" smtClean="0">
              <a:solidFill>
                <a:srgbClr val="0000FF"/>
              </a:solidFill>
              <a:latin typeface="楷体" panose="02010609060101010101" pitchFamily="49" charset="-122"/>
              <a:ea typeface="楷体" panose="02010609060101010101" pitchFamily="49" charset="-122"/>
            </a:endParaRPr>
          </a:p>
        </p:txBody>
      </p:sp>
      <p:sp>
        <p:nvSpPr>
          <p:cNvPr id="28678"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P.9</a:t>
            </a:r>
            <a:endParaRPr lang="en-US" altLang="zh-CN" sz="2400">
              <a:solidFill>
                <a:schemeClr val="bg2"/>
              </a:solidFill>
            </a:endParaRPr>
          </a:p>
        </p:txBody>
      </p:sp>
      <p:sp>
        <p:nvSpPr>
          <p:cNvPr id="28679" name="Rectangle 10"/>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1.3 走进项目管理</a:t>
            </a:r>
            <a:endParaRPr kumimoji="0"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23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230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10"/>
          </p:nvPr>
        </p:nvSpPr>
        <p:spPr>
          <a:noFill/>
        </p:spPr>
        <p:txBody>
          <a:bodyPr/>
          <a:lstStyle/>
          <a:p>
            <a:r>
              <a:rPr lang="zh-CN" altLang="en-GB" smtClean="0"/>
              <a:t>  </a:t>
            </a:r>
            <a:fld id="{6F63DBDC-6C12-402D-94C8-0DAFF7212BAE}" type="slidenum">
              <a:rPr lang="zh-CN" altLang="en-GB" smtClean="0"/>
            </a:fld>
            <a:endParaRPr lang="en-US" altLang="zh-CN" smtClean="0"/>
          </a:p>
        </p:txBody>
      </p:sp>
      <p:sp>
        <p:nvSpPr>
          <p:cNvPr id="2969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486403" name="Text Box 3"/>
          <p:cNvSpPr txBox="1">
            <a:spLocks noChangeArrowheads="1"/>
          </p:cNvSpPr>
          <p:nvPr/>
        </p:nvSpPr>
        <p:spPr bwMode="auto">
          <a:xfrm>
            <a:off x="71406" y="1946870"/>
            <a:ext cx="9072594" cy="4584700"/>
          </a:xfrm>
          <a:prstGeom prst="rect">
            <a:avLst/>
          </a:prstGeom>
          <a:noFill/>
          <a:ln w="28575">
            <a:noFill/>
            <a:miter lim="800000"/>
          </a:ln>
        </p:spPr>
        <p:txBody>
          <a:bodyPr wrap="square">
            <a:spAutoFit/>
          </a:bodyPr>
          <a:lstStyle/>
          <a:p>
            <a:pPr algn="l">
              <a:spcBef>
                <a:spcPts val="600"/>
              </a:spcBef>
              <a:spcAft>
                <a:spcPts val="600"/>
              </a:spcAft>
            </a:pPr>
            <a:r>
              <a:rPr lang="zh-CN" altLang="en-US" sz="240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项目管理”给人的一个直观概念就是“对项目进行的管理”，这是其最原始的概念，它说明了两个方面的含义：</a:t>
            </a:r>
            <a:r>
              <a:rPr lang="zh-CN" altLang="en-US" sz="32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项目管理属于管理的大范畴；项目管理的对象是项目</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en-US" altLang="zh-CN"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sz="3600" smtClean="0">
                <a:solidFill>
                  <a:srgbClr val="0000FF"/>
                </a:solidFill>
                <a:latin typeface="楷体" panose="02010609060101010101" pitchFamily="49" charset="-122"/>
                <a:ea typeface="楷体" panose="02010609060101010101" pitchFamily="49" charset="-122"/>
                <a:cs typeface="楷体" panose="02010609060101010101" pitchFamily="49" charset="-122"/>
              </a:rPr>
              <a:t>要理解项目管理，必须先理解管理的概念</a:t>
            </a:r>
            <a:r>
              <a:rPr lang="zh-CN" altLang="en-US" sz="360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管理学是人类智慧的结晶。正如美国管理学大师</a:t>
            </a:r>
            <a:r>
              <a:rPr lang="zh-CN" altLang="en-US" sz="3200" u="sng"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rPr>
              <a:t>德鲁克</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所说：“在人类历史上，还很少有什么事比管理学的出现和发展更为迅猛，对人类具有更为重大和更为激烈的影响。”</a:t>
            </a:r>
            <a:endPar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29701" name="Text Box 5"/>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P.9</a:t>
            </a:r>
            <a:endParaRPr lang="en-US" altLang="zh-CN" sz="2400">
              <a:solidFill>
                <a:schemeClr val="bg2"/>
              </a:solidFill>
            </a:endParaRPr>
          </a:p>
        </p:txBody>
      </p:sp>
      <p:sp>
        <p:nvSpPr>
          <p:cNvPr id="29703" name="Rectangle 7"/>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en-US"/>
              <a:t>1.3 </a:t>
            </a:r>
            <a:r>
              <a:rPr kumimoji="0" lang="en-US" altLang="en-US">
                <a:latin typeface="楷体" panose="02010609060101010101" pitchFamily="49" charset="-122"/>
                <a:ea typeface="楷体" panose="02010609060101010101" pitchFamily="49" charset="-122"/>
              </a:rPr>
              <a:t>走进项目管理</a:t>
            </a:r>
            <a:endParaRPr kumimoji="0" lang="en-US" altLang="en-US">
              <a:latin typeface="楷体" panose="02010609060101010101" pitchFamily="49" charset="-122"/>
              <a:ea typeface="楷体" panose="02010609060101010101" pitchFamily="49" charset="-122"/>
            </a:endParaRPr>
          </a:p>
        </p:txBody>
      </p:sp>
      <p:sp>
        <p:nvSpPr>
          <p:cNvPr id="29704" name="Rectangle 8"/>
          <p:cNvSpPr>
            <a:spLocks noChangeArrowheads="1"/>
          </p:cNvSpPr>
          <p:nvPr/>
        </p:nvSpPr>
        <p:spPr bwMode="auto">
          <a:xfrm>
            <a:off x="153988" y="1341438"/>
            <a:ext cx="3265487"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1.3.1 </a:t>
            </a:r>
            <a:r>
              <a:rPr kumimoji="0" lang="en-US" altLang="en-US">
                <a:solidFill>
                  <a:srgbClr val="FF0033"/>
                </a:solidFill>
                <a:latin typeface="楷体" panose="02010609060101010101" pitchFamily="49" charset="-122"/>
                <a:ea typeface="楷体" panose="02010609060101010101" pitchFamily="49" charset="-122"/>
              </a:rPr>
              <a:t>管理的概念</a:t>
            </a:r>
            <a:endParaRPr kumimoji="0" lang="en-US" altLang="en-US">
              <a:solidFill>
                <a:srgbClr val="FF0033"/>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64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64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64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10"/>
          </p:nvPr>
        </p:nvSpPr>
        <p:spPr>
          <a:noFill/>
        </p:spPr>
        <p:txBody>
          <a:bodyPr/>
          <a:lstStyle/>
          <a:p>
            <a:r>
              <a:rPr lang="zh-CN" altLang="en-GB" smtClean="0"/>
              <a:t>  </a:t>
            </a:r>
            <a:fld id="{6F63DBDC-6C12-402D-94C8-0DAFF7212BAE}" type="slidenum">
              <a:rPr lang="zh-CN" altLang="en-GB" smtClean="0"/>
            </a:fld>
            <a:endParaRPr lang="en-US" altLang="zh-CN" smtClean="0"/>
          </a:p>
        </p:txBody>
      </p:sp>
      <p:sp>
        <p:nvSpPr>
          <p:cNvPr id="2969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486403" name="Text Box 3"/>
          <p:cNvSpPr txBox="1">
            <a:spLocks noChangeArrowheads="1"/>
          </p:cNvSpPr>
          <p:nvPr/>
        </p:nvSpPr>
        <p:spPr bwMode="auto">
          <a:xfrm>
            <a:off x="214282" y="1968049"/>
            <a:ext cx="8569325" cy="2553335"/>
          </a:xfrm>
          <a:prstGeom prst="rect">
            <a:avLst/>
          </a:prstGeom>
          <a:noFill/>
          <a:ln w="28575">
            <a:noFill/>
            <a:miter lim="800000"/>
          </a:ln>
        </p:spPr>
        <p:txBody>
          <a:bodyPr>
            <a:spAutoFit/>
          </a:bodyPr>
          <a:lstStyle/>
          <a:p>
            <a:pPr algn="l">
              <a:spcBef>
                <a:spcPts val="600"/>
              </a:spcBef>
              <a:spcAft>
                <a:spcPts val="600"/>
              </a:spcAft>
            </a:pPr>
            <a:r>
              <a:rPr lang="zh-CN" altLang="en-US" sz="4000" dirty="0" smtClean="0">
                <a:solidFill>
                  <a:srgbClr val="0000FF"/>
                </a:solidFill>
                <a:latin typeface="楷体" panose="02010609060101010101" pitchFamily="49" charset="-122"/>
                <a:ea typeface="楷体" panose="02010609060101010101" pitchFamily="49" charset="-122"/>
              </a:rPr>
              <a:t>管理是管理者为了有效地实现组织目标、个人发展和社会责任，运用管理智能进行协调的过程。这一表述包含了丰富的内涵</a:t>
            </a:r>
            <a:r>
              <a:rPr lang="zh-CN" altLang="en-US" sz="4000" dirty="0" smtClean="0">
                <a:solidFill>
                  <a:schemeClr val="bg1">
                    <a:lumMod val="50000"/>
                  </a:schemeClr>
                </a:solidFill>
                <a:latin typeface="楷体" panose="02010609060101010101" pitchFamily="49" charset="-122"/>
                <a:ea typeface="楷体" panose="02010609060101010101" pitchFamily="49" charset="-122"/>
              </a:rPr>
              <a:t>。</a:t>
            </a:r>
            <a:endParaRPr lang="zh-CN" altLang="en-US" sz="4000" dirty="0">
              <a:solidFill>
                <a:schemeClr val="bg1">
                  <a:lumMod val="50000"/>
                </a:schemeClr>
              </a:solidFill>
              <a:latin typeface="楷体" panose="02010609060101010101" pitchFamily="49" charset="-122"/>
              <a:ea typeface="楷体" panose="02010609060101010101" pitchFamily="49" charset="-122"/>
            </a:endParaRPr>
          </a:p>
        </p:txBody>
      </p:sp>
      <p:sp>
        <p:nvSpPr>
          <p:cNvPr id="29701" name="Text Box 5"/>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P.9</a:t>
            </a:r>
            <a:endParaRPr lang="en-US" altLang="zh-CN" sz="2400">
              <a:solidFill>
                <a:schemeClr val="bg2"/>
              </a:solidFill>
            </a:endParaRPr>
          </a:p>
        </p:txBody>
      </p:sp>
      <p:sp>
        <p:nvSpPr>
          <p:cNvPr id="29703" name="Rectangle 7"/>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en-US"/>
              <a:t>1.3 </a:t>
            </a:r>
            <a:r>
              <a:rPr kumimoji="0" lang="en-US" altLang="en-US">
                <a:latin typeface="楷体" panose="02010609060101010101" pitchFamily="49" charset="-122"/>
                <a:ea typeface="楷体" panose="02010609060101010101" pitchFamily="49" charset="-122"/>
              </a:rPr>
              <a:t>走进项目管理</a:t>
            </a:r>
            <a:endParaRPr kumimoji="0" lang="en-US" altLang="en-US">
              <a:latin typeface="楷体" panose="02010609060101010101" pitchFamily="49" charset="-122"/>
              <a:ea typeface="楷体" panose="02010609060101010101" pitchFamily="49" charset="-122"/>
            </a:endParaRPr>
          </a:p>
        </p:txBody>
      </p:sp>
      <p:sp>
        <p:nvSpPr>
          <p:cNvPr id="29704" name="Rectangle 8"/>
          <p:cNvSpPr>
            <a:spLocks noChangeArrowheads="1"/>
          </p:cNvSpPr>
          <p:nvPr/>
        </p:nvSpPr>
        <p:spPr bwMode="auto">
          <a:xfrm>
            <a:off x="153988" y="1341438"/>
            <a:ext cx="3265487"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1.3.1 </a:t>
            </a:r>
            <a:r>
              <a:rPr kumimoji="0" lang="en-US" altLang="en-US">
                <a:solidFill>
                  <a:srgbClr val="FF0033"/>
                </a:solidFill>
                <a:latin typeface="楷体" panose="02010609060101010101" pitchFamily="49" charset="-122"/>
                <a:ea typeface="楷体" panose="02010609060101010101" pitchFamily="49" charset="-122"/>
              </a:rPr>
              <a:t>管理的概念</a:t>
            </a:r>
            <a:endParaRPr kumimoji="0" lang="en-US" altLang="en-US">
              <a:solidFill>
                <a:srgbClr val="FF0033"/>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640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10"/>
          </p:nvPr>
        </p:nvSpPr>
        <p:spPr>
          <a:noFill/>
        </p:spPr>
        <p:txBody>
          <a:bodyPr/>
          <a:lstStyle/>
          <a:p>
            <a:r>
              <a:rPr lang="zh-CN" altLang="en-GB" smtClean="0"/>
              <a:t>  </a:t>
            </a:r>
            <a:fld id="{6F63DBDC-6C12-402D-94C8-0DAFF7212BAE}" type="slidenum">
              <a:rPr lang="zh-CN" altLang="en-GB" smtClean="0"/>
            </a:fld>
            <a:endParaRPr lang="en-US" altLang="zh-CN" smtClean="0"/>
          </a:p>
        </p:txBody>
      </p:sp>
      <p:sp>
        <p:nvSpPr>
          <p:cNvPr id="2969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486403" name="Text Box 3"/>
          <p:cNvSpPr txBox="1">
            <a:spLocks noChangeArrowheads="1"/>
          </p:cNvSpPr>
          <p:nvPr/>
        </p:nvSpPr>
        <p:spPr bwMode="auto">
          <a:xfrm>
            <a:off x="323850" y="1758950"/>
            <a:ext cx="8569325" cy="4448810"/>
          </a:xfrm>
          <a:prstGeom prst="rect">
            <a:avLst/>
          </a:prstGeom>
          <a:noFill/>
          <a:ln w="28575">
            <a:noFill/>
            <a:miter lim="800000"/>
          </a:ln>
        </p:spPr>
        <p:txBody>
          <a:bodyPr>
            <a:spAutoFit/>
          </a:bodyPr>
          <a:lstStyle/>
          <a:p>
            <a:pPr algn="l">
              <a:lnSpc>
                <a:spcPct val="120000"/>
              </a:lnSpc>
              <a:spcBef>
                <a:spcPct val="50000"/>
              </a:spcBef>
              <a:buClr>
                <a:schemeClr val="hlink"/>
              </a:buClr>
            </a:pPr>
            <a:r>
              <a:rPr kumimoji="0" lang="zh-CN" altLang="en-US" sz="3600" smtClean="0">
                <a:solidFill>
                  <a:srgbClr val="0000FF"/>
                </a:solidFill>
                <a:latin typeface="楷体" panose="02010609060101010101" pitchFamily="49" charset="-122"/>
                <a:ea typeface="楷体" panose="02010609060101010101" pitchFamily="49" charset="-122"/>
              </a:rPr>
              <a:t>这</a:t>
            </a:r>
            <a:r>
              <a:rPr kumimoji="0" lang="zh-CN" altLang="en-US" sz="3600">
                <a:solidFill>
                  <a:srgbClr val="0000FF"/>
                </a:solidFill>
                <a:latin typeface="楷体" panose="02010609060101010101" pitchFamily="49" charset="-122"/>
                <a:ea typeface="楷体" panose="02010609060101010101" pitchFamily="49" charset="-122"/>
              </a:rPr>
              <a:t>一表述包含了以下重要观点：</a:t>
            </a:r>
            <a:endParaRPr kumimoji="0" lang="zh-CN" altLang="en-US" sz="3600">
              <a:solidFill>
                <a:srgbClr val="000099"/>
              </a:solidFill>
              <a:latin typeface="楷体" panose="02010609060101010101" pitchFamily="49" charset="-122"/>
              <a:ea typeface="楷体" panose="02010609060101010101" pitchFamily="49" charset="-122"/>
            </a:endParaRPr>
          </a:p>
          <a:p>
            <a:pPr marL="1059180" lvl="1" indent="-514350" algn="l">
              <a:spcBef>
                <a:spcPts val="0"/>
              </a:spcBef>
              <a:spcAft>
                <a:spcPts val="0"/>
              </a:spcAft>
              <a:buClr>
                <a:schemeClr val="bg1">
                  <a:lumMod val="50000"/>
                </a:schemeClr>
              </a:buClr>
              <a:buFont typeface="+mj-lt"/>
              <a:buAutoNum type="arabicPeriod"/>
            </a:pPr>
            <a:r>
              <a:rPr kumimoji="0" lang="zh-CN" altLang="en-US" sz="3600" smtClean="0">
                <a:solidFill>
                  <a:schemeClr val="bg2"/>
                </a:solidFill>
                <a:latin typeface="楷体" panose="02010609060101010101" pitchFamily="49" charset="-122"/>
                <a:ea typeface="楷体" panose="02010609060101010101" pitchFamily="49" charset="-122"/>
              </a:rPr>
              <a:t>管理</a:t>
            </a:r>
            <a:r>
              <a:rPr kumimoji="0" lang="zh-CN" altLang="en-US" sz="3600">
                <a:solidFill>
                  <a:schemeClr val="bg2"/>
                </a:solidFill>
                <a:latin typeface="楷体" panose="02010609060101010101" pitchFamily="49" charset="-122"/>
                <a:ea typeface="楷体" panose="02010609060101010101" pitchFamily="49" charset="-122"/>
              </a:rPr>
              <a:t>的</a:t>
            </a:r>
            <a:r>
              <a:rPr kumimoji="0" lang="zh-CN" altLang="en-US" sz="4000">
                <a:solidFill>
                  <a:srgbClr val="FF0033"/>
                </a:solidFill>
                <a:latin typeface="楷体" panose="02010609060101010101" pitchFamily="49" charset="-122"/>
                <a:ea typeface="楷体" panose="02010609060101010101" pitchFamily="49" charset="-122"/>
              </a:rPr>
              <a:t>目的</a:t>
            </a:r>
            <a:r>
              <a:rPr kumimoji="0" lang="zh-CN" altLang="en-US" sz="3600">
                <a:solidFill>
                  <a:schemeClr val="bg2"/>
                </a:solidFill>
                <a:latin typeface="楷体" panose="02010609060101010101" pitchFamily="49" charset="-122"/>
                <a:ea typeface="楷体" panose="02010609060101010101" pitchFamily="49" charset="-122"/>
              </a:rPr>
              <a:t>是为了实现预期</a:t>
            </a:r>
            <a:r>
              <a:rPr kumimoji="0" lang="zh-CN" altLang="en-US" sz="4000">
                <a:solidFill>
                  <a:srgbClr val="0000FF"/>
                </a:solidFill>
                <a:latin typeface="楷体" panose="02010609060101010101" pitchFamily="49" charset="-122"/>
                <a:ea typeface="楷体" panose="02010609060101010101" pitchFamily="49" charset="-122"/>
              </a:rPr>
              <a:t>目标</a:t>
            </a:r>
            <a:endParaRPr kumimoji="0" lang="zh-CN" altLang="en-US" sz="4000">
              <a:solidFill>
                <a:srgbClr val="000099"/>
              </a:solidFill>
              <a:latin typeface="楷体" panose="02010609060101010101" pitchFamily="49" charset="-122"/>
              <a:ea typeface="楷体" panose="02010609060101010101" pitchFamily="49" charset="-122"/>
            </a:endParaRPr>
          </a:p>
          <a:p>
            <a:pPr marL="1059180" lvl="1" indent="-514350" algn="l">
              <a:spcBef>
                <a:spcPts val="0"/>
              </a:spcBef>
              <a:spcAft>
                <a:spcPts val="0"/>
              </a:spcAft>
              <a:buClr>
                <a:schemeClr val="bg1">
                  <a:lumMod val="50000"/>
                </a:schemeClr>
              </a:buClr>
              <a:buFont typeface="+mj-lt"/>
              <a:buAutoNum type="arabicPeriod"/>
            </a:pPr>
            <a:r>
              <a:rPr kumimoji="0" lang="zh-CN" altLang="en-US" sz="3600" smtClean="0">
                <a:solidFill>
                  <a:schemeClr val="bg2"/>
                </a:solidFill>
                <a:latin typeface="楷体" panose="02010609060101010101" pitchFamily="49" charset="-122"/>
                <a:ea typeface="楷体" panose="02010609060101010101" pitchFamily="49" charset="-122"/>
              </a:rPr>
              <a:t>管理</a:t>
            </a:r>
            <a:r>
              <a:rPr kumimoji="0" lang="zh-CN" altLang="en-US" sz="3600">
                <a:solidFill>
                  <a:schemeClr val="bg2"/>
                </a:solidFill>
                <a:latin typeface="楷体" panose="02010609060101010101" pitchFamily="49" charset="-122"/>
                <a:ea typeface="楷体" panose="02010609060101010101" pitchFamily="49" charset="-122"/>
              </a:rPr>
              <a:t>的</a:t>
            </a:r>
            <a:r>
              <a:rPr kumimoji="0" lang="zh-CN" altLang="en-US" sz="4000">
                <a:solidFill>
                  <a:srgbClr val="FF0033"/>
                </a:solidFill>
                <a:latin typeface="楷体" panose="02010609060101010101" pitchFamily="49" charset="-122"/>
                <a:ea typeface="楷体" panose="02010609060101010101" pitchFamily="49" charset="-122"/>
              </a:rPr>
              <a:t>本质</a:t>
            </a:r>
            <a:r>
              <a:rPr kumimoji="0" lang="zh-CN" altLang="en-US" sz="3600">
                <a:solidFill>
                  <a:schemeClr val="bg2"/>
                </a:solidFill>
                <a:latin typeface="楷体" panose="02010609060101010101" pitchFamily="49" charset="-122"/>
                <a:ea typeface="楷体" panose="02010609060101010101" pitchFamily="49" charset="-122"/>
              </a:rPr>
              <a:t>是</a:t>
            </a:r>
            <a:r>
              <a:rPr kumimoji="0" lang="zh-CN" altLang="en-US" sz="4000">
                <a:solidFill>
                  <a:srgbClr val="0000FF"/>
                </a:solidFill>
                <a:latin typeface="楷体" panose="02010609060101010101" pitchFamily="49" charset="-122"/>
                <a:ea typeface="楷体" panose="02010609060101010101" pitchFamily="49" charset="-122"/>
              </a:rPr>
              <a:t>协调</a:t>
            </a:r>
            <a:endParaRPr kumimoji="0" lang="zh-CN" altLang="en-US" sz="4000">
              <a:solidFill>
                <a:srgbClr val="000099"/>
              </a:solidFill>
              <a:latin typeface="楷体" panose="02010609060101010101" pitchFamily="49" charset="-122"/>
              <a:ea typeface="楷体" panose="02010609060101010101" pitchFamily="49" charset="-122"/>
            </a:endParaRPr>
          </a:p>
          <a:p>
            <a:pPr marL="1059180" lvl="1" indent="-514350" algn="l">
              <a:spcBef>
                <a:spcPts val="0"/>
              </a:spcBef>
              <a:spcAft>
                <a:spcPts val="0"/>
              </a:spcAft>
              <a:buClr>
                <a:schemeClr val="bg1">
                  <a:lumMod val="50000"/>
                </a:schemeClr>
              </a:buClr>
              <a:buFont typeface="+mj-lt"/>
              <a:buAutoNum type="arabicPeriod"/>
            </a:pPr>
            <a:r>
              <a:rPr kumimoji="0" lang="zh-CN" altLang="en-US" sz="3600" smtClean="0">
                <a:solidFill>
                  <a:schemeClr val="bg2"/>
                </a:solidFill>
                <a:latin typeface="楷体" panose="02010609060101010101" pitchFamily="49" charset="-122"/>
                <a:ea typeface="楷体" panose="02010609060101010101" pitchFamily="49" charset="-122"/>
              </a:rPr>
              <a:t>协调必定</a:t>
            </a:r>
            <a:r>
              <a:rPr kumimoji="0" lang="zh-CN" altLang="en-US" sz="4000" smtClean="0">
                <a:solidFill>
                  <a:srgbClr val="FF0033"/>
                </a:solidFill>
                <a:latin typeface="楷体" panose="02010609060101010101" pitchFamily="49" charset="-122"/>
                <a:ea typeface="楷体" panose="02010609060101010101" pitchFamily="49" charset="-122"/>
              </a:rPr>
              <a:t>产生</a:t>
            </a:r>
            <a:r>
              <a:rPr kumimoji="0" lang="zh-CN" altLang="en-US" sz="3600" smtClean="0">
                <a:solidFill>
                  <a:schemeClr val="bg2"/>
                </a:solidFill>
                <a:latin typeface="楷体" panose="02010609060101010101" pitchFamily="49" charset="-122"/>
                <a:ea typeface="楷体" panose="02010609060101010101" pitchFamily="49" charset="-122"/>
              </a:rPr>
              <a:t>于</a:t>
            </a:r>
            <a:r>
              <a:rPr kumimoji="0" lang="zh-CN" altLang="en-US" sz="3600">
                <a:solidFill>
                  <a:schemeClr val="bg2"/>
                </a:solidFill>
                <a:latin typeface="楷体" panose="02010609060101010101" pitchFamily="49" charset="-122"/>
                <a:ea typeface="楷体" panose="02010609060101010101" pitchFamily="49" charset="-122"/>
              </a:rPr>
              <a:t>社会</a:t>
            </a:r>
            <a:r>
              <a:rPr kumimoji="0" lang="zh-CN" altLang="en-US" sz="4000">
                <a:solidFill>
                  <a:srgbClr val="0000FF"/>
                </a:solidFill>
                <a:latin typeface="楷体" panose="02010609060101010101" pitchFamily="49" charset="-122"/>
                <a:ea typeface="楷体" panose="02010609060101010101" pitchFamily="49" charset="-122"/>
              </a:rPr>
              <a:t>组织中</a:t>
            </a:r>
            <a:endParaRPr kumimoji="0" lang="zh-CN" altLang="en-US" sz="4000">
              <a:solidFill>
                <a:srgbClr val="000099"/>
              </a:solidFill>
              <a:latin typeface="楷体" panose="02010609060101010101" pitchFamily="49" charset="-122"/>
              <a:ea typeface="楷体" panose="02010609060101010101" pitchFamily="49" charset="-122"/>
            </a:endParaRPr>
          </a:p>
          <a:p>
            <a:pPr marL="1059180" lvl="1" indent="-514350" algn="l">
              <a:spcBef>
                <a:spcPts val="0"/>
              </a:spcBef>
              <a:spcAft>
                <a:spcPts val="0"/>
              </a:spcAft>
              <a:buClr>
                <a:schemeClr val="bg1">
                  <a:lumMod val="50000"/>
                </a:schemeClr>
              </a:buClr>
              <a:buFont typeface="+mj-lt"/>
              <a:buAutoNum type="arabicPeriod"/>
            </a:pPr>
            <a:r>
              <a:rPr kumimoji="0" lang="zh-CN" altLang="en-US" sz="3600" smtClean="0">
                <a:solidFill>
                  <a:schemeClr val="bg2"/>
                </a:solidFill>
                <a:latin typeface="楷体" panose="02010609060101010101" pitchFamily="49" charset="-122"/>
                <a:ea typeface="楷体" panose="02010609060101010101" pitchFamily="49" charset="-122"/>
              </a:rPr>
              <a:t>协调</a:t>
            </a:r>
            <a:r>
              <a:rPr kumimoji="0" lang="zh-CN" altLang="en-US" sz="3600">
                <a:solidFill>
                  <a:schemeClr val="bg2"/>
                </a:solidFill>
                <a:latin typeface="楷体" panose="02010609060101010101" pitchFamily="49" charset="-122"/>
                <a:ea typeface="楷体" panose="02010609060101010101" pitchFamily="49" charset="-122"/>
              </a:rPr>
              <a:t>的</a:t>
            </a:r>
            <a:r>
              <a:rPr kumimoji="0" lang="zh-CN" altLang="en-US" sz="4000">
                <a:solidFill>
                  <a:srgbClr val="FF0033"/>
                </a:solidFill>
                <a:latin typeface="楷体" panose="02010609060101010101" pitchFamily="49" charset="-122"/>
                <a:ea typeface="楷体" panose="02010609060101010101" pitchFamily="49" charset="-122"/>
              </a:rPr>
              <a:t>中心</a:t>
            </a:r>
            <a:r>
              <a:rPr kumimoji="0" lang="zh-CN" altLang="en-US" sz="3600">
                <a:solidFill>
                  <a:schemeClr val="bg2"/>
                </a:solidFill>
                <a:latin typeface="楷体" panose="02010609060101010101" pitchFamily="49" charset="-122"/>
                <a:ea typeface="楷体" panose="02010609060101010101" pitchFamily="49" charset="-122"/>
              </a:rPr>
              <a:t>是</a:t>
            </a:r>
            <a:r>
              <a:rPr kumimoji="0" lang="zh-CN" altLang="en-US" sz="4000">
                <a:solidFill>
                  <a:srgbClr val="0000FF"/>
                </a:solidFill>
                <a:latin typeface="楷体" panose="02010609060101010101" pitchFamily="49" charset="-122"/>
                <a:ea typeface="楷体" panose="02010609060101010101" pitchFamily="49" charset="-122"/>
              </a:rPr>
              <a:t>人</a:t>
            </a:r>
            <a:endParaRPr kumimoji="0" lang="zh-CN" altLang="en-US" sz="4000">
              <a:solidFill>
                <a:srgbClr val="000099"/>
              </a:solidFill>
              <a:latin typeface="楷体" panose="02010609060101010101" pitchFamily="49" charset="-122"/>
              <a:ea typeface="楷体" panose="02010609060101010101" pitchFamily="49" charset="-122"/>
            </a:endParaRPr>
          </a:p>
          <a:p>
            <a:pPr marL="1059180" lvl="1" indent="-514350" algn="l">
              <a:spcBef>
                <a:spcPts val="0"/>
              </a:spcBef>
              <a:spcAft>
                <a:spcPts val="0"/>
              </a:spcAft>
              <a:buClr>
                <a:schemeClr val="bg1">
                  <a:lumMod val="50000"/>
                </a:schemeClr>
              </a:buClr>
              <a:buFont typeface="+mj-lt"/>
              <a:buAutoNum type="arabicPeriod"/>
            </a:pPr>
            <a:r>
              <a:rPr kumimoji="0" lang="zh-CN" altLang="en-US" sz="3600" smtClean="0">
                <a:solidFill>
                  <a:schemeClr val="bg2"/>
                </a:solidFill>
                <a:latin typeface="楷体" panose="02010609060101010101" pitchFamily="49" charset="-122"/>
                <a:ea typeface="楷体" panose="02010609060101010101" pitchFamily="49" charset="-122"/>
              </a:rPr>
              <a:t>协调的</a:t>
            </a:r>
            <a:r>
              <a:rPr kumimoji="0" lang="zh-CN" altLang="en-US" sz="4000" smtClean="0">
                <a:solidFill>
                  <a:srgbClr val="FF0033"/>
                </a:solidFill>
                <a:latin typeface="楷体" panose="02010609060101010101" pitchFamily="49" charset="-122"/>
                <a:ea typeface="楷体" panose="02010609060101010101" pitchFamily="49" charset="-122"/>
              </a:rPr>
              <a:t>方法</a:t>
            </a:r>
            <a:r>
              <a:rPr kumimoji="0" lang="zh-CN" altLang="en-US" sz="3600">
                <a:solidFill>
                  <a:schemeClr val="bg2"/>
                </a:solidFill>
                <a:latin typeface="楷体" panose="02010609060101010101" pitchFamily="49" charset="-122"/>
                <a:ea typeface="楷体" panose="02010609060101010101" pitchFamily="49" charset="-122"/>
              </a:rPr>
              <a:t>具有</a:t>
            </a:r>
            <a:r>
              <a:rPr kumimoji="0" lang="zh-CN" altLang="en-US" sz="4000" smtClean="0">
                <a:solidFill>
                  <a:srgbClr val="0000FF"/>
                </a:solidFill>
                <a:latin typeface="楷体" panose="02010609060101010101" pitchFamily="49" charset="-122"/>
                <a:ea typeface="楷体" panose="02010609060101010101" pitchFamily="49" charset="-122"/>
              </a:rPr>
              <a:t>多样性</a:t>
            </a:r>
            <a:endParaRPr kumimoji="0" lang="en-US" altLang="zh-CN" sz="4000" smtClean="0">
              <a:solidFill>
                <a:srgbClr val="000099"/>
              </a:solidFill>
              <a:latin typeface="楷体" panose="02010609060101010101" pitchFamily="49" charset="-122"/>
              <a:ea typeface="楷体" panose="02010609060101010101" pitchFamily="49" charset="-122"/>
            </a:endParaRPr>
          </a:p>
          <a:p>
            <a:pPr marL="1059180" lvl="1" indent="-514350" algn="l">
              <a:spcBef>
                <a:spcPts val="0"/>
              </a:spcBef>
              <a:spcAft>
                <a:spcPts val="0"/>
              </a:spcAft>
              <a:buClr>
                <a:schemeClr val="bg1">
                  <a:lumMod val="50000"/>
                </a:schemeClr>
              </a:buClr>
              <a:buFont typeface="+mj-lt"/>
              <a:buAutoNum type="arabicPeriod"/>
            </a:pPr>
            <a:r>
              <a:rPr kumimoji="0" lang="zh-CN" altLang="en-US" sz="3600" smtClean="0">
                <a:solidFill>
                  <a:schemeClr val="bg2"/>
                </a:solidFill>
                <a:latin typeface="楷体" panose="02010609060101010101" pitchFamily="49" charset="-122"/>
                <a:ea typeface="楷体" panose="02010609060101010101" pitchFamily="49" charset="-122"/>
              </a:rPr>
              <a:t>协调</a:t>
            </a:r>
            <a:r>
              <a:rPr kumimoji="0" lang="zh-CN" altLang="en-US" sz="3600">
                <a:solidFill>
                  <a:schemeClr val="bg2"/>
                </a:solidFill>
                <a:latin typeface="楷体" panose="02010609060101010101" pitchFamily="49" charset="-122"/>
                <a:ea typeface="楷体" panose="02010609060101010101" pitchFamily="49" charset="-122"/>
              </a:rPr>
              <a:t>的</a:t>
            </a:r>
            <a:r>
              <a:rPr kumimoji="0" lang="zh-CN" altLang="en-US" sz="4000">
                <a:solidFill>
                  <a:srgbClr val="FF0033"/>
                </a:solidFill>
                <a:latin typeface="楷体" panose="02010609060101010101" pitchFamily="49" charset="-122"/>
                <a:ea typeface="楷体" panose="02010609060101010101" pitchFamily="49" charset="-122"/>
              </a:rPr>
              <a:t>关键</a:t>
            </a:r>
            <a:r>
              <a:rPr kumimoji="0" lang="zh-CN" altLang="en-US" sz="3600">
                <a:solidFill>
                  <a:schemeClr val="bg2"/>
                </a:solidFill>
                <a:latin typeface="楷体" panose="02010609060101010101" pitchFamily="49" charset="-122"/>
                <a:ea typeface="楷体" panose="02010609060101010101" pitchFamily="49" charset="-122"/>
              </a:rPr>
              <a:t>是</a:t>
            </a:r>
            <a:r>
              <a:rPr kumimoji="0" lang="zh-CN" altLang="en-US" sz="4000">
                <a:solidFill>
                  <a:srgbClr val="0000FF"/>
                </a:solidFill>
                <a:latin typeface="楷体" panose="02010609060101010101" pitchFamily="49" charset="-122"/>
                <a:ea typeface="楷体" panose="02010609060101010101" pitchFamily="49" charset="-122"/>
              </a:rPr>
              <a:t>平衡</a:t>
            </a:r>
            <a:endParaRPr kumimoji="0" lang="zh-CN" altLang="en-US" sz="4000">
              <a:solidFill>
                <a:srgbClr val="0000FF"/>
              </a:solidFill>
              <a:latin typeface="楷体" panose="02010609060101010101" pitchFamily="49" charset="-122"/>
              <a:ea typeface="楷体" panose="02010609060101010101" pitchFamily="49" charset="-122"/>
            </a:endParaRPr>
          </a:p>
        </p:txBody>
      </p:sp>
      <p:sp>
        <p:nvSpPr>
          <p:cNvPr id="29701" name="Text Box 5"/>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P.9</a:t>
            </a:r>
            <a:endParaRPr lang="en-US" altLang="zh-CN" sz="2400">
              <a:solidFill>
                <a:schemeClr val="bg2"/>
              </a:solidFill>
            </a:endParaRPr>
          </a:p>
        </p:txBody>
      </p:sp>
      <p:sp>
        <p:nvSpPr>
          <p:cNvPr id="29703" name="Rectangle 7"/>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en-US"/>
              <a:t>1.3 </a:t>
            </a:r>
            <a:r>
              <a:rPr kumimoji="0" lang="en-US" altLang="en-US">
                <a:latin typeface="楷体" panose="02010609060101010101" pitchFamily="49" charset="-122"/>
                <a:ea typeface="楷体" panose="02010609060101010101" pitchFamily="49" charset="-122"/>
              </a:rPr>
              <a:t>走进项目管理</a:t>
            </a:r>
            <a:endParaRPr kumimoji="0" lang="en-US" altLang="en-US">
              <a:latin typeface="楷体" panose="02010609060101010101" pitchFamily="49" charset="-122"/>
              <a:ea typeface="楷体" panose="02010609060101010101" pitchFamily="49" charset="-122"/>
            </a:endParaRPr>
          </a:p>
        </p:txBody>
      </p:sp>
      <p:sp>
        <p:nvSpPr>
          <p:cNvPr id="29704" name="Rectangle 8"/>
          <p:cNvSpPr>
            <a:spLocks noChangeArrowheads="1"/>
          </p:cNvSpPr>
          <p:nvPr/>
        </p:nvSpPr>
        <p:spPr bwMode="auto">
          <a:xfrm>
            <a:off x="153988" y="1341438"/>
            <a:ext cx="3265487"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1.3.1 </a:t>
            </a:r>
            <a:r>
              <a:rPr kumimoji="0" lang="en-US" altLang="en-US">
                <a:solidFill>
                  <a:schemeClr val="hlink"/>
                </a:solidFill>
                <a:latin typeface="楷体" panose="02010609060101010101" pitchFamily="49" charset="-122"/>
                <a:ea typeface="楷体" panose="02010609060101010101" pitchFamily="49" charset="-122"/>
              </a:rPr>
              <a:t>管理的概念</a:t>
            </a:r>
            <a:endParaRPr kumimoji="0" lang="zh-CN"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64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64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64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64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640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640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8640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10"/>
          </p:nvPr>
        </p:nvSpPr>
        <p:spPr>
          <a:noFill/>
        </p:spPr>
        <p:txBody>
          <a:bodyPr/>
          <a:lstStyle/>
          <a:p>
            <a:r>
              <a:rPr lang="zh-CN" altLang="en-GB" smtClean="0"/>
              <a:t>  </a:t>
            </a:r>
            <a:fld id="{6F63DBDC-6C12-402D-94C8-0DAFF7212BAE}" type="slidenum">
              <a:rPr lang="zh-CN" altLang="en-GB" smtClean="0"/>
            </a:fld>
            <a:endParaRPr lang="en-US" altLang="zh-CN" smtClean="0"/>
          </a:p>
        </p:txBody>
      </p:sp>
      <p:sp>
        <p:nvSpPr>
          <p:cNvPr id="2969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486403" name="Text Box 3"/>
          <p:cNvSpPr txBox="1">
            <a:spLocks noChangeArrowheads="1"/>
          </p:cNvSpPr>
          <p:nvPr/>
        </p:nvSpPr>
        <p:spPr bwMode="auto">
          <a:xfrm>
            <a:off x="323850" y="1758950"/>
            <a:ext cx="8569325" cy="4461510"/>
          </a:xfrm>
          <a:prstGeom prst="rect">
            <a:avLst/>
          </a:prstGeom>
          <a:noFill/>
          <a:ln w="28575">
            <a:noFill/>
            <a:miter lim="800000"/>
          </a:ln>
        </p:spPr>
        <p:txBody>
          <a:bodyPr>
            <a:spAutoFit/>
          </a:bodyPr>
          <a:lstStyle/>
          <a:p>
            <a:pPr algn="l">
              <a:spcBef>
                <a:spcPts val="600"/>
              </a:spcBef>
              <a:spcAft>
                <a:spcPts val="600"/>
              </a:spcAft>
            </a:pPr>
            <a:r>
              <a:rPr lang="zh-CN" altLang="en-US" sz="3600"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彼得</a:t>
            </a:r>
            <a:r>
              <a:rPr lang="en-US" altLang="zh-CN" sz="3600"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a:t>
            </a:r>
            <a:r>
              <a:rPr lang="zh-CN" altLang="en-US" sz="3600"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德鲁克</a:t>
            </a:r>
            <a:r>
              <a:rPr lang="zh-CN" altLang="en-US"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认为，管理是一种实践，其本质不在于“知”而在于行；其验证不在于逻辑，而在于成果。</a:t>
            </a:r>
            <a:endParaRPr lang="en-US" altLang="zh-CN"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德鲁克一再强调管理是</a:t>
            </a:r>
            <a:r>
              <a:rPr lang="zh-CN" altLang="en-US" sz="3600"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实践</a:t>
            </a:r>
            <a:r>
              <a:rPr lang="zh-CN" altLang="en-US"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的综合</a:t>
            </a:r>
            <a:r>
              <a:rPr lang="zh-CN" altLang="en-US" sz="3200"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艺术</a:t>
            </a:r>
            <a:r>
              <a:rPr lang="zh-CN" altLang="en-US"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，他认为，无论是经济学、计量方法还是行为科学，都只是管理人员的工具。</a:t>
            </a:r>
            <a:endParaRPr lang="en-US" altLang="zh-CN"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这种经验主义学派的观点，对项目管理的产生和发展产生了很大影响。</a:t>
            </a:r>
            <a:endParaRPr lang="zh-CN" altLang="en-US" sz="3200" dirty="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29701" name="Text Box 5"/>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P.10</a:t>
            </a:r>
            <a:endParaRPr lang="en-US" altLang="zh-CN" sz="2400">
              <a:solidFill>
                <a:schemeClr val="bg2"/>
              </a:solidFill>
            </a:endParaRPr>
          </a:p>
        </p:txBody>
      </p:sp>
      <p:sp>
        <p:nvSpPr>
          <p:cNvPr id="29703" name="Rectangle 7"/>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en-US"/>
              <a:t>1.3 </a:t>
            </a:r>
            <a:r>
              <a:rPr kumimoji="0" lang="en-US" altLang="en-US">
                <a:latin typeface="楷体" panose="02010609060101010101" pitchFamily="49" charset="-122"/>
                <a:ea typeface="楷体" panose="02010609060101010101" pitchFamily="49" charset="-122"/>
              </a:rPr>
              <a:t>走进项目管理</a:t>
            </a:r>
            <a:endParaRPr kumimoji="0" lang="en-US" altLang="en-US">
              <a:latin typeface="楷体" panose="02010609060101010101" pitchFamily="49" charset="-122"/>
              <a:ea typeface="楷体" panose="02010609060101010101" pitchFamily="49" charset="-122"/>
            </a:endParaRPr>
          </a:p>
        </p:txBody>
      </p:sp>
      <p:sp>
        <p:nvSpPr>
          <p:cNvPr id="29704" name="Rectangle 8"/>
          <p:cNvSpPr>
            <a:spLocks noChangeArrowheads="1"/>
          </p:cNvSpPr>
          <p:nvPr/>
        </p:nvSpPr>
        <p:spPr bwMode="auto">
          <a:xfrm>
            <a:off x="153988" y="1341438"/>
            <a:ext cx="3265487"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1.3.1 </a:t>
            </a:r>
            <a:r>
              <a:rPr kumimoji="0" lang="en-US" altLang="en-US">
                <a:solidFill>
                  <a:schemeClr val="hlink"/>
                </a:solidFill>
                <a:latin typeface="楷体" panose="02010609060101010101" pitchFamily="49" charset="-122"/>
                <a:ea typeface="楷体" panose="02010609060101010101" pitchFamily="49" charset="-122"/>
              </a:rPr>
              <a:t>管理的概念</a:t>
            </a:r>
            <a:endParaRPr kumimoji="0" lang="en-US"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64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64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64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10"/>
          </p:nvPr>
        </p:nvSpPr>
        <p:spPr>
          <a:noFill/>
        </p:spPr>
        <p:txBody>
          <a:bodyPr/>
          <a:lstStyle/>
          <a:p>
            <a:r>
              <a:rPr lang="zh-CN" altLang="en-GB" smtClean="0"/>
              <a:t>  </a:t>
            </a:r>
            <a:fld id="{2E70FD56-E1EC-4C87-8E5F-3931F761234A}" type="slidenum">
              <a:rPr lang="zh-CN" altLang="en-GB" smtClean="0"/>
            </a:fld>
            <a:endParaRPr lang="en-US" altLang="zh-CN" smtClean="0"/>
          </a:p>
        </p:txBody>
      </p:sp>
      <p:sp>
        <p:nvSpPr>
          <p:cNvPr id="3072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492547" name="Text Box 3"/>
          <p:cNvSpPr txBox="1">
            <a:spLocks noChangeArrowheads="1"/>
          </p:cNvSpPr>
          <p:nvPr/>
        </p:nvSpPr>
        <p:spPr bwMode="auto">
          <a:xfrm>
            <a:off x="142844" y="1857364"/>
            <a:ext cx="8569325" cy="4446270"/>
          </a:xfrm>
          <a:prstGeom prst="rect">
            <a:avLst/>
          </a:prstGeom>
          <a:noFill/>
          <a:ln w="28575">
            <a:noFill/>
            <a:miter lim="800000"/>
          </a:ln>
        </p:spPr>
        <p:txBody>
          <a:bodyPr>
            <a:spAutoFit/>
          </a:bodyPr>
          <a:lstStyle/>
          <a:p>
            <a:pPr algn="l">
              <a:spcBef>
                <a:spcPct val="50000"/>
              </a:spcBef>
              <a:buClr>
                <a:srgbClr val="C00000"/>
              </a:buClr>
            </a:pPr>
            <a:r>
              <a:rPr kumimoji="0" lang="en-US" altLang="zh-CN" sz="3200" dirty="0" smtClean="0">
                <a:solidFill>
                  <a:srgbClr val="FF0033"/>
                </a:solidFill>
                <a:ea typeface="黑体" panose="02010609060101010101" pitchFamily="2" charset="-122"/>
                <a:cs typeface="Times New Roman" panose="02020603050405020304" pitchFamily="18" charset="0"/>
              </a:rPr>
              <a:t>PMI</a:t>
            </a:r>
            <a:r>
              <a:rPr kumimoji="0" lang="zh-CN" altLang="en-US" dirty="0" smtClean="0">
                <a:solidFill>
                  <a:srgbClr val="FF0033"/>
                </a:solidFill>
                <a:latin typeface="楷体" panose="02010609060101010101" pitchFamily="49" charset="-122"/>
                <a:ea typeface="楷体" panose="02010609060101010101" pitchFamily="49" charset="-122"/>
                <a:cs typeface="楷体" panose="02010609060101010101" pitchFamily="49" charset="-122"/>
              </a:rPr>
              <a:t>对</a:t>
            </a:r>
            <a:r>
              <a:rPr kumimoji="0" lang="zh-CN" altLang="en-US" dirty="0">
                <a:solidFill>
                  <a:srgbClr val="FF0033"/>
                </a:solidFill>
                <a:latin typeface="楷体" panose="02010609060101010101" pitchFamily="49" charset="-122"/>
                <a:ea typeface="楷体" panose="02010609060101010101" pitchFamily="49" charset="-122"/>
                <a:cs typeface="楷体" panose="02010609060101010101" pitchFamily="49" charset="-122"/>
              </a:rPr>
              <a:t>项目管理的</a:t>
            </a:r>
            <a:r>
              <a:rPr kumimoji="0" lang="zh-CN" altLang="en-US" dirty="0" smtClean="0">
                <a:solidFill>
                  <a:srgbClr val="FF0033"/>
                </a:solidFill>
                <a:latin typeface="楷体" panose="02010609060101010101" pitchFamily="49" charset="-122"/>
                <a:ea typeface="楷体" panose="02010609060101010101" pitchFamily="49" charset="-122"/>
                <a:cs typeface="楷体" panose="02010609060101010101" pitchFamily="49" charset="-122"/>
              </a:rPr>
              <a:t>定义为</a:t>
            </a:r>
            <a:r>
              <a:rPr kumimoji="0" lang="zh-CN" altLang="en-US" baseline="30000" dirty="0" smtClean="0">
                <a:solidFill>
                  <a:srgbClr val="FF0033"/>
                </a:solidFill>
                <a:latin typeface="楷体" panose="02010609060101010101" pitchFamily="49" charset="-122"/>
                <a:ea typeface="楷体" panose="02010609060101010101" pitchFamily="49" charset="-122"/>
                <a:cs typeface="楷体" panose="02010609060101010101" pitchFamily="49" charset="-122"/>
              </a:rPr>
              <a:t>***重要***</a:t>
            </a:r>
            <a:r>
              <a:rPr kumimoji="0" lang="zh-CN" altLang="en-US" dirty="0" smtClean="0">
                <a:solidFill>
                  <a:srgbClr val="FF0033"/>
                </a:solidFill>
                <a:latin typeface="楷体" panose="02010609060101010101" pitchFamily="49" charset="-122"/>
                <a:ea typeface="楷体" panose="02010609060101010101" pitchFamily="49" charset="-122"/>
                <a:cs typeface="楷体" panose="02010609060101010101" pitchFamily="49" charset="-122"/>
              </a:rPr>
              <a:t>：</a:t>
            </a:r>
            <a:endParaRPr kumimoji="0" lang="en-US" altLang="zh-CN" dirty="0" smtClean="0">
              <a:solidFill>
                <a:srgbClr val="C00000"/>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1200"/>
              </a:spcBef>
              <a:spcAft>
                <a:spcPts val="600"/>
              </a:spcAft>
              <a:buClr>
                <a:schemeClr val="bg1">
                  <a:lumMod val="50000"/>
                </a:schemeClr>
              </a:buClr>
              <a:buFont typeface="Wingdings" panose="05000000000000000000" pitchFamily="2" charset="2"/>
              <a:buChar char="n"/>
            </a:pP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项目管理就是将</a:t>
            </a:r>
            <a:r>
              <a:rPr lang="zh-CN" altLang="en-US" dirty="0" smtClean="0">
                <a:solidFill>
                  <a:schemeClr val="bg2"/>
                </a:solidFill>
                <a:uFillTx/>
                <a:ea typeface="楷体" panose="02010609060101010101" pitchFamily="49" charset="-122"/>
                <a:cs typeface="楷体" panose="02010609060101010101" pitchFamily="49" charset="-122"/>
              </a:rPr>
              <a:t>知识</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、技能、工具与技术应用于项目活动，以满足项目的要求。</a:t>
            </a:r>
            <a:endParaRPr lang="en-US" altLang="zh-CN"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1200"/>
              </a:spcBef>
              <a:spcAft>
                <a:spcPts val="600"/>
              </a:spcAft>
              <a:buClr>
                <a:schemeClr val="bg1">
                  <a:lumMod val="50000"/>
                </a:schemeClr>
              </a:buClr>
              <a:buFont typeface="Wingdings" panose="05000000000000000000" pitchFamily="2" charset="2"/>
              <a:buChar char="n"/>
            </a:pP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项目管理是通过合理运用和整合项目管理过程得以实现。</a:t>
            </a:r>
            <a:endParaRPr lang="en-US" altLang="zh-CN"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1200"/>
              </a:spcBef>
              <a:spcAft>
                <a:spcPts val="600"/>
              </a:spcAft>
              <a:buClr>
                <a:schemeClr val="bg1">
                  <a:lumMod val="50000"/>
                </a:schemeClr>
              </a:buClr>
              <a:buFont typeface="Wingdings" panose="05000000000000000000" pitchFamily="2" charset="2"/>
              <a:buChar char="n"/>
            </a:pP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可以根据逻辑关系，把项目管理的</a:t>
            </a:r>
            <a:r>
              <a:rPr 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47</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个过程归类成启动、规划、执行、监控和收尾五大过程组。</a:t>
            </a:r>
            <a:endParaRPr lang="en-US" altLang="zh-CN"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1200"/>
              </a:spcBef>
              <a:spcAft>
                <a:spcPts val="600"/>
              </a:spcAft>
              <a:buClr>
                <a:schemeClr val="bg1">
                  <a:lumMod val="50000"/>
                </a:schemeClr>
              </a:buClr>
              <a:buFont typeface="Wingdings" panose="05000000000000000000" pitchFamily="2" charset="2"/>
              <a:buChar char="n"/>
            </a:pP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项目经理是负责实现项目目标的个人。</a:t>
            </a:r>
            <a:endParaRPr kumimoji="0" lang="zh-CN" altLang="en-US" dirty="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30725"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P.10</a:t>
            </a:r>
            <a:endParaRPr lang="en-US" altLang="zh-CN" sz="2400">
              <a:solidFill>
                <a:schemeClr val="bg2"/>
              </a:solidFill>
            </a:endParaRPr>
          </a:p>
        </p:txBody>
      </p:sp>
      <p:sp>
        <p:nvSpPr>
          <p:cNvPr id="30726" name="Rectangle 6"/>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en-US"/>
              <a:t>1.3 </a:t>
            </a:r>
            <a:r>
              <a:rPr kumimoji="0" lang="en-US" altLang="en-US">
                <a:latin typeface="楷体" panose="02010609060101010101" pitchFamily="49" charset="-122"/>
                <a:ea typeface="楷体" panose="02010609060101010101" pitchFamily="49" charset="-122"/>
              </a:rPr>
              <a:t>走进项目管理</a:t>
            </a:r>
            <a:endParaRPr kumimoji="0" lang="en-US" altLang="en-US">
              <a:latin typeface="楷体" panose="02010609060101010101" pitchFamily="49" charset="-122"/>
              <a:ea typeface="楷体" panose="02010609060101010101" pitchFamily="49" charset="-122"/>
            </a:endParaRPr>
          </a:p>
        </p:txBody>
      </p:sp>
      <p:sp>
        <p:nvSpPr>
          <p:cNvPr id="30727" name="Rectangle 7"/>
          <p:cNvSpPr>
            <a:spLocks noChangeArrowheads="1"/>
          </p:cNvSpPr>
          <p:nvPr/>
        </p:nvSpPr>
        <p:spPr bwMode="auto">
          <a:xfrm>
            <a:off x="153988" y="1341438"/>
            <a:ext cx="3913187"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1.3.2 </a:t>
            </a:r>
            <a:r>
              <a:rPr kumimoji="0" lang="en-US" altLang="en-US">
                <a:solidFill>
                  <a:schemeClr val="hlink"/>
                </a:solidFill>
                <a:latin typeface="楷体" panose="02010609060101010101" pitchFamily="49" charset="-122"/>
                <a:ea typeface="楷体" panose="02010609060101010101" pitchFamily="49" charset="-122"/>
              </a:rPr>
              <a:t>项目管理的定义</a:t>
            </a:r>
            <a:endParaRPr kumimoji="0" lang="en-US"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25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25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254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25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10"/>
          </p:nvPr>
        </p:nvSpPr>
        <p:spPr>
          <a:noFill/>
        </p:spPr>
        <p:txBody>
          <a:bodyPr/>
          <a:lstStyle/>
          <a:p>
            <a:r>
              <a:rPr lang="zh-CN" altLang="en-GB" smtClean="0"/>
              <a:t>  </a:t>
            </a:r>
            <a:fld id="{2E70FD56-E1EC-4C87-8E5F-3931F761234A}" type="slidenum">
              <a:rPr lang="zh-CN" altLang="en-GB" smtClean="0"/>
            </a:fld>
            <a:endParaRPr lang="en-US" altLang="zh-CN" smtClean="0"/>
          </a:p>
        </p:txBody>
      </p:sp>
      <p:sp>
        <p:nvSpPr>
          <p:cNvPr id="3072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492547" name="Text Box 3"/>
          <p:cNvSpPr txBox="1">
            <a:spLocks noChangeArrowheads="1"/>
          </p:cNvSpPr>
          <p:nvPr/>
        </p:nvSpPr>
        <p:spPr bwMode="auto">
          <a:xfrm>
            <a:off x="285720" y="1921599"/>
            <a:ext cx="8569325" cy="3969385"/>
          </a:xfrm>
          <a:prstGeom prst="rect">
            <a:avLst/>
          </a:prstGeom>
          <a:noFill/>
          <a:ln w="28575">
            <a:noFill/>
            <a:miter lim="800000"/>
          </a:ln>
        </p:spPr>
        <p:txBody>
          <a:bodyPr>
            <a:spAutoFit/>
          </a:bodyPr>
          <a:lstStyle/>
          <a:p>
            <a:pPr algn="l">
              <a:spcBef>
                <a:spcPts val="1200"/>
              </a:spcBef>
              <a:spcAft>
                <a:spcPts val="1200"/>
              </a:spcAft>
            </a:pPr>
            <a:r>
              <a:rPr lang="zh-CN" altLang="en-US" sz="3600" smtClean="0">
                <a:solidFill>
                  <a:schemeClr val="bg2"/>
                </a:solidFill>
                <a:latin typeface="楷体" panose="02010609060101010101" pitchFamily="49" charset="-122"/>
                <a:ea typeface="楷体" panose="02010609060101010101" pitchFamily="49" charset="-122"/>
              </a:rPr>
              <a:t>这一定义不仅仅是强调使用专门的知识和技能，还强调项目管理中</a:t>
            </a:r>
            <a:r>
              <a:rPr lang="zh-CN" altLang="en-US" sz="4000" smtClean="0">
                <a:solidFill>
                  <a:srgbClr val="FF0033"/>
                </a:solidFill>
                <a:latin typeface="楷体" panose="02010609060101010101" pitchFamily="49" charset="-122"/>
                <a:ea typeface="楷体" panose="02010609060101010101" pitchFamily="49" charset="-122"/>
              </a:rPr>
              <a:t>过程</a:t>
            </a:r>
            <a:r>
              <a:rPr lang="zh-CN" altLang="en-US" sz="3600" smtClean="0">
                <a:solidFill>
                  <a:schemeClr val="bg2"/>
                </a:solidFill>
                <a:latin typeface="楷体" panose="02010609060101010101" pitchFamily="49" charset="-122"/>
                <a:ea typeface="楷体" panose="02010609060101010101" pitchFamily="49" charset="-122"/>
              </a:rPr>
              <a:t>的重要性。</a:t>
            </a:r>
            <a:endParaRPr lang="en-US" altLang="zh-CN" sz="3600" smtClean="0">
              <a:solidFill>
                <a:schemeClr val="bg2"/>
              </a:solidFill>
              <a:latin typeface="楷体" panose="02010609060101010101" pitchFamily="49" charset="-122"/>
              <a:ea typeface="楷体" panose="02010609060101010101" pitchFamily="49" charset="-122"/>
            </a:endParaRPr>
          </a:p>
          <a:p>
            <a:pPr algn="l">
              <a:spcBef>
                <a:spcPts val="1200"/>
              </a:spcBef>
              <a:spcAft>
                <a:spcPts val="1200"/>
              </a:spcAft>
            </a:pPr>
            <a:r>
              <a:rPr lang="zh-CN" altLang="en-US" sz="3600" smtClean="0">
                <a:solidFill>
                  <a:schemeClr val="bg2"/>
                </a:solidFill>
                <a:latin typeface="楷体" panose="02010609060101010101" pitchFamily="49" charset="-122"/>
                <a:ea typeface="楷体" panose="02010609060101010101" pitchFamily="49" charset="-122"/>
              </a:rPr>
              <a:t>项目经理不仅仅要努力实现项目的范围、时间、成本和质量目标，还必须</a:t>
            </a:r>
            <a:r>
              <a:rPr lang="zh-CN" altLang="en-US" sz="4000" smtClean="0">
                <a:solidFill>
                  <a:srgbClr val="FF0033"/>
                </a:solidFill>
                <a:latin typeface="楷体" panose="02010609060101010101" pitchFamily="49" charset="-122"/>
                <a:ea typeface="楷体" panose="02010609060101010101" pitchFamily="49" charset="-122"/>
              </a:rPr>
              <a:t>协调项目过程</a:t>
            </a:r>
            <a:r>
              <a:rPr lang="zh-CN" altLang="en-US" sz="3600" smtClean="0">
                <a:solidFill>
                  <a:schemeClr val="bg2"/>
                </a:solidFill>
                <a:latin typeface="楷体" panose="02010609060101010101" pitchFamily="49" charset="-122"/>
                <a:ea typeface="楷体" panose="02010609060101010101" pitchFamily="49" charset="-122"/>
              </a:rPr>
              <a:t>，以满足项目参与者或受项目影响的人的</a:t>
            </a:r>
            <a:r>
              <a:rPr lang="zh-CN" altLang="en-US" sz="4000" smtClean="0">
                <a:solidFill>
                  <a:srgbClr val="FF0033"/>
                </a:solidFill>
                <a:latin typeface="楷体" panose="02010609060101010101" pitchFamily="49" charset="-122"/>
                <a:ea typeface="楷体" panose="02010609060101010101" pitchFamily="49" charset="-122"/>
              </a:rPr>
              <a:t>需求和预期</a:t>
            </a:r>
            <a:r>
              <a:rPr lang="zh-CN" altLang="en-US" sz="3200" smtClean="0">
                <a:solidFill>
                  <a:schemeClr val="bg2"/>
                </a:solidFill>
                <a:latin typeface="楷体" panose="02010609060101010101" pitchFamily="49" charset="-122"/>
                <a:ea typeface="楷体" panose="02010609060101010101" pitchFamily="49" charset="-122"/>
              </a:rPr>
              <a:t>。</a:t>
            </a:r>
            <a:endParaRPr lang="zh-CN" altLang="en-US">
              <a:solidFill>
                <a:schemeClr val="bg2"/>
              </a:solidFill>
              <a:latin typeface="楷体" panose="02010609060101010101" pitchFamily="49" charset="-122"/>
              <a:ea typeface="楷体" panose="02010609060101010101" pitchFamily="49" charset="-122"/>
            </a:endParaRPr>
          </a:p>
        </p:txBody>
      </p:sp>
      <p:sp>
        <p:nvSpPr>
          <p:cNvPr id="30725"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P.10</a:t>
            </a:r>
            <a:endParaRPr lang="en-US" altLang="zh-CN" sz="2400">
              <a:solidFill>
                <a:schemeClr val="bg2"/>
              </a:solidFill>
            </a:endParaRPr>
          </a:p>
        </p:txBody>
      </p:sp>
      <p:sp>
        <p:nvSpPr>
          <p:cNvPr id="30726" name="Rectangle 6"/>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1.3 走进项目管理</a:t>
            </a:r>
            <a:endParaRPr kumimoji="0" lang="zh-CN" altLang="en-US"/>
          </a:p>
        </p:txBody>
      </p:sp>
      <p:sp>
        <p:nvSpPr>
          <p:cNvPr id="30727" name="Rectangle 7"/>
          <p:cNvSpPr>
            <a:spLocks noChangeArrowheads="1"/>
          </p:cNvSpPr>
          <p:nvPr/>
        </p:nvSpPr>
        <p:spPr bwMode="auto">
          <a:xfrm>
            <a:off x="153988" y="1341438"/>
            <a:ext cx="3913187"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1.3.2 </a:t>
            </a:r>
            <a:r>
              <a:rPr kumimoji="0" lang="en-US" altLang="en-US">
                <a:solidFill>
                  <a:schemeClr val="hlink"/>
                </a:solidFill>
                <a:latin typeface="楷体" panose="02010609060101010101" pitchFamily="49" charset="-122"/>
                <a:ea typeface="楷体" panose="02010609060101010101" pitchFamily="49" charset="-122"/>
              </a:rPr>
              <a:t>项目管理的定义</a:t>
            </a:r>
            <a:endParaRPr kumimoji="0" lang="zh-CN"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25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10"/>
          </p:nvPr>
        </p:nvSpPr>
        <p:spPr>
          <a:noFill/>
        </p:spPr>
        <p:txBody>
          <a:bodyPr/>
          <a:lstStyle/>
          <a:p>
            <a:r>
              <a:rPr lang="zh-CN" altLang="en-GB" smtClean="0"/>
              <a:t>  </a:t>
            </a:r>
            <a:fld id="{2E70FD56-E1EC-4C87-8E5F-3931F761234A}" type="slidenum">
              <a:rPr lang="zh-CN" altLang="en-GB" smtClean="0"/>
            </a:fld>
            <a:endParaRPr lang="en-US" altLang="zh-CN" smtClean="0"/>
          </a:p>
        </p:txBody>
      </p:sp>
      <p:sp>
        <p:nvSpPr>
          <p:cNvPr id="3072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492547" name="Text Box 3"/>
          <p:cNvSpPr txBox="1">
            <a:spLocks noChangeArrowheads="1"/>
          </p:cNvSpPr>
          <p:nvPr/>
        </p:nvSpPr>
        <p:spPr bwMode="auto">
          <a:xfrm>
            <a:off x="142876" y="1938117"/>
            <a:ext cx="8786842" cy="4307840"/>
          </a:xfrm>
          <a:prstGeom prst="rect">
            <a:avLst/>
          </a:prstGeom>
          <a:noFill/>
          <a:ln w="28575">
            <a:noFill/>
            <a:miter lim="800000"/>
          </a:ln>
        </p:spPr>
        <p:txBody>
          <a:bodyPr wrap="square">
            <a:spAutoFit/>
          </a:bodyPr>
          <a:lstStyle/>
          <a:p>
            <a:pPr algn="l">
              <a:spcBef>
                <a:spcPts val="600"/>
              </a:spcBef>
              <a:spcAft>
                <a:spcPts val="600"/>
              </a:spcAft>
            </a:pPr>
            <a:r>
              <a:rPr lang="zh-CN" altLang="en-US" dirty="0" smtClean="0">
                <a:solidFill>
                  <a:schemeClr val="bg2"/>
                </a:solidFill>
                <a:latin typeface="楷体" panose="02010609060101010101" pitchFamily="49" charset="-122"/>
                <a:ea typeface="楷体" panose="02010609060101010101" pitchFamily="49" charset="-122"/>
              </a:rPr>
              <a:t>管理一个项目通常包括：</a:t>
            </a:r>
            <a:endParaRPr lang="en-US" altLang="zh-CN" dirty="0" smtClean="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rgbClr val="C00000"/>
              </a:buClr>
              <a:buFont typeface="Wingdings" panose="05000000000000000000" pitchFamily="2" charset="2"/>
              <a:buChar char="n"/>
            </a:pPr>
            <a:r>
              <a:rPr lang="zh-CN" altLang="en-US" dirty="0" smtClean="0">
                <a:solidFill>
                  <a:schemeClr val="bg2"/>
                </a:solidFill>
                <a:latin typeface="楷体" panose="02010609060101010101" pitchFamily="49" charset="-122"/>
                <a:ea typeface="楷体" panose="02010609060101010101" pitchFamily="49" charset="-122"/>
              </a:rPr>
              <a:t>识别需求，判断哪些是客户的真正需求；</a:t>
            </a:r>
            <a:endParaRPr lang="en-US" altLang="zh-CN" dirty="0" smtClean="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rgbClr val="C00000"/>
              </a:buClr>
              <a:buFont typeface="Wingdings" panose="05000000000000000000" pitchFamily="2" charset="2"/>
              <a:buChar char="n"/>
            </a:pPr>
            <a:r>
              <a:rPr lang="zh-CN" altLang="en-US" dirty="0" smtClean="0">
                <a:solidFill>
                  <a:schemeClr val="bg2"/>
                </a:solidFill>
                <a:latin typeface="楷体" panose="02010609060101010101" pitchFamily="49" charset="-122"/>
                <a:ea typeface="楷体" panose="02010609060101010101" pitchFamily="49" charset="-122"/>
              </a:rPr>
              <a:t>处理干系人的各种需要、关注和期望；</a:t>
            </a:r>
            <a:endParaRPr lang="en-US" altLang="zh-CN" dirty="0" smtClean="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rgbClr val="C00000"/>
              </a:buClr>
              <a:buFont typeface="Wingdings" panose="05000000000000000000" pitchFamily="2" charset="2"/>
              <a:buChar char="n"/>
            </a:pPr>
            <a:r>
              <a:rPr lang="zh-CN" altLang="en-US" dirty="0" smtClean="0">
                <a:solidFill>
                  <a:schemeClr val="bg2"/>
                </a:solidFill>
                <a:latin typeface="楷体" panose="02010609060101010101" pitchFamily="49" charset="-122"/>
                <a:ea typeface="楷体" panose="02010609060101010101" pitchFamily="49" charset="-122"/>
              </a:rPr>
              <a:t>在干系人之间建立、维护和开展积极、有效和合作性的沟通；</a:t>
            </a:r>
            <a:endParaRPr lang="en-US" altLang="zh-CN" dirty="0" smtClean="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rgbClr val="C00000"/>
              </a:buClr>
              <a:buFont typeface="Wingdings" panose="05000000000000000000" pitchFamily="2" charset="2"/>
              <a:buChar char="n"/>
            </a:pPr>
            <a:r>
              <a:rPr lang="zh-CN" altLang="en-US" dirty="0" smtClean="0">
                <a:solidFill>
                  <a:schemeClr val="bg2"/>
                </a:solidFill>
                <a:latin typeface="楷体" panose="02010609060101010101" pitchFamily="49" charset="-122"/>
                <a:ea typeface="楷体" panose="02010609060101010101" pitchFamily="49" charset="-122"/>
              </a:rPr>
              <a:t>为满足项目需求和创建可交付成果而管理干系人；</a:t>
            </a:r>
            <a:endParaRPr lang="en-US" altLang="zh-CN" dirty="0" smtClean="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rgbClr val="C00000"/>
              </a:buClr>
              <a:buFont typeface="Wingdings" panose="05000000000000000000" pitchFamily="2" charset="2"/>
              <a:buChar char="n"/>
            </a:pPr>
            <a:r>
              <a:rPr lang="zh-CN" altLang="en-US" dirty="0" smtClean="0">
                <a:solidFill>
                  <a:schemeClr val="bg2"/>
                </a:solidFill>
                <a:latin typeface="楷体" panose="02010609060101010101" pitchFamily="49" charset="-122"/>
                <a:ea typeface="楷体" panose="02010609060101010101" pitchFamily="49" charset="-122"/>
              </a:rPr>
              <a:t>平衡相互竞争的项目制约因素，如范围、质量、进度、预算、资源、风险等。</a:t>
            </a:r>
            <a:endParaRPr lang="zh-CN" altLang="en-US" dirty="0">
              <a:solidFill>
                <a:schemeClr val="bg2"/>
              </a:solidFill>
              <a:latin typeface="楷体" panose="02010609060101010101" pitchFamily="49" charset="-122"/>
              <a:ea typeface="楷体" panose="02010609060101010101" pitchFamily="49" charset="-122"/>
            </a:endParaRPr>
          </a:p>
        </p:txBody>
      </p:sp>
      <p:sp>
        <p:nvSpPr>
          <p:cNvPr id="30725"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P.10</a:t>
            </a:r>
            <a:endParaRPr lang="en-US" altLang="zh-CN" sz="2400">
              <a:solidFill>
                <a:schemeClr val="bg2"/>
              </a:solidFill>
            </a:endParaRPr>
          </a:p>
        </p:txBody>
      </p:sp>
      <p:sp>
        <p:nvSpPr>
          <p:cNvPr id="30726" name="Rectangle 6"/>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en-US"/>
              <a:t>1.3 </a:t>
            </a:r>
            <a:r>
              <a:rPr kumimoji="0" lang="en-US" altLang="en-US">
                <a:latin typeface="楷体" panose="02010609060101010101" pitchFamily="49" charset="-122"/>
                <a:ea typeface="楷体" panose="02010609060101010101" pitchFamily="49" charset="-122"/>
              </a:rPr>
              <a:t>走进项目管理</a:t>
            </a:r>
            <a:endParaRPr kumimoji="0" lang="zh-CN" altLang="en-US">
              <a:latin typeface="楷体" panose="02010609060101010101" pitchFamily="49" charset="-122"/>
              <a:ea typeface="楷体" panose="02010609060101010101" pitchFamily="49" charset="-122"/>
            </a:endParaRPr>
          </a:p>
        </p:txBody>
      </p:sp>
      <p:sp>
        <p:nvSpPr>
          <p:cNvPr id="30727" name="Rectangle 7"/>
          <p:cNvSpPr>
            <a:spLocks noChangeArrowheads="1"/>
          </p:cNvSpPr>
          <p:nvPr/>
        </p:nvSpPr>
        <p:spPr bwMode="auto">
          <a:xfrm>
            <a:off x="153988" y="1341438"/>
            <a:ext cx="3913187"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1.3.2 </a:t>
            </a:r>
            <a:r>
              <a:rPr kumimoji="0" lang="en-US" altLang="en-US">
                <a:solidFill>
                  <a:schemeClr val="hlink"/>
                </a:solidFill>
                <a:latin typeface="楷体" panose="02010609060101010101" pitchFamily="49" charset="-122"/>
                <a:ea typeface="楷体" panose="02010609060101010101" pitchFamily="49" charset="-122"/>
              </a:rPr>
              <a:t>项目管理的定义</a:t>
            </a:r>
            <a:endParaRPr kumimoji="0" lang="en-US"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25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25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254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254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25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9"/>
          <p:cNvSpPr>
            <a:spLocks noGrp="1" noChangeArrowheads="1"/>
          </p:cNvSpPr>
          <p:nvPr>
            <p:ph type="sldNum" sz="quarter" idx="10"/>
          </p:nvPr>
        </p:nvSpPr>
        <p:spPr>
          <a:noFill/>
        </p:spPr>
        <p:txBody>
          <a:bodyPr/>
          <a:lstStyle/>
          <a:p>
            <a:r>
              <a:rPr lang="zh-CN" altLang="en-GB" smtClean="0"/>
              <a:t>  </a:t>
            </a:r>
            <a:fld id="{E48415AF-2E51-4925-86B9-29634B3FDF36}" type="slidenum">
              <a:rPr lang="zh-CN" altLang="en-GB" smtClean="0"/>
            </a:fld>
            <a:endParaRPr lang="en-US" altLang="zh-CN" smtClean="0"/>
          </a:p>
        </p:txBody>
      </p:sp>
      <p:sp>
        <p:nvSpPr>
          <p:cNvPr id="3174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31748" name="Text Box 3"/>
          <p:cNvSpPr txBox="1">
            <a:spLocks noChangeArrowheads="1"/>
          </p:cNvSpPr>
          <p:nvPr/>
        </p:nvSpPr>
        <p:spPr bwMode="auto">
          <a:xfrm>
            <a:off x="323850" y="1828800"/>
            <a:ext cx="8569325" cy="3723005"/>
          </a:xfrm>
          <a:prstGeom prst="rect">
            <a:avLst/>
          </a:prstGeom>
          <a:noFill/>
          <a:ln w="28575">
            <a:noFill/>
            <a:miter lim="800000"/>
          </a:ln>
        </p:spPr>
        <p:txBody>
          <a:bodyPr>
            <a:spAutoFit/>
          </a:bodyPr>
          <a:lstStyle/>
          <a:p>
            <a:pPr algn="l">
              <a:spcBef>
                <a:spcPts val="1200"/>
              </a:spcBef>
              <a:spcAft>
                <a:spcPts val="1200"/>
              </a:spcAft>
            </a:pPr>
            <a:r>
              <a:rPr lang="zh-CN" altLang="en-US" sz="3600" smtClean="0">
                <a:solidFill>
                  <a:schemeClr val="bg2"/>
                </a:solidFill>
                <a:latin typeface="楷体" panose="02010609060101010101" pitchFamily="49" charset="-122"/>
                <a:ea typeface="楷体" panose="02010609060101010101" pitchFamily="49" charset="-122"/>
              </a:rPr>
              <a:t>项目管理的日常活动通常是围绕项目计划、项目组织、质量管理、费用控制、进度控制等五项基本任务来展开的。</a:t>
            </a:r>
            <a:endParaRPr lang="zh-CN" altLang="en-US" sz="3600" smtClean="0">
              <a:solidFill>
                <a:schemeClr val="bg2"/>
              </a:solidFill>
              <a:latin typeface="楷体" panose="02010609060101010101" pitchFamily="49" charset="-122"/>
              <a:ea typeface="楷体" panose="02010609060101010101" pitchFamily="49" charset="-122"/>
            </a:endParaRPr>
          </a:p>
          <a:p>
            <a:pPr algn="l">
              <a:spcBef>
                <a:spcPts val="1200"/>
              </a:spcBef>
              <a:spcAft>
                <a:spcPts val="1200"/>
              </a:spcAft>
            </a:pPr>
            <a:r>
              <a:rPr lang="zh-CN" altLang="en-US" sz="3600" smtClean="0">
                <a:solidFill>
                  <a:srgbClr val="0000FF"/>
                </a:solidFill>
                <a:latin typeface="楷体" panose="02010609060101010101" pitchFamily="49" charset="-122"/>
                <a:ea typeface="楷体" panose="02010609060101010101" pitchFamily="49" charset="-122"/>
              </a:rPr>
              <a:t>项目管理与传统的部门管理相比，最大的区别和特点是注重于综合性管理，并且项目管理工作有严格的时间期限。</a:t>
            </a:r>
            <a:endParaRPr lang="zh-CN" altLang="en-US" sz="3600" smtClean="0">
              <a:solidFill>
                <a:srgbClr val="0000FF"/>
              </a:solidFill>
              <a:latin typeface="楷体" panose="02010609060101010101" pitchFamily="49" charset="-122"/>
              <a:ea typeface="楷体" panose="02010609060101010101" pitchFamily="49" charset="-122"/>
            </a:endParaRPr>
          </a:p>
        </p:txBody>
      </p:sp>
      <p:sp>
        <p:nvSpPr>
          <p:cNvPr id="31749"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P.11</a:t>
            </a:r>
            <a:endParaRPr lang="en-US" altLang="zh-CN" sz="2400">
              <a:solidFill>
                <a:schemeClr val="bg2"/>
              </a:solidFill>
            </a:endParaRPr>
          </a:p>
        </p:txBody>
      </p:sp>
      <p:sp>
        <p:nvSpPr>
          <p:cNvPr id="31750" name="Rectangle 6"/>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en-US"/>
              <a:t>1.3 </a:t>
            </a:r>
            <a:r>
              <a:rPr kumimoji="0" lang="en-US" altLang="en-US">
                <a:latin typeface="楷体" panose="02010609060101010101" pitchFamily="49" charset="-122"/>
                <a:ea typeface="楷体" panose="02010609060101010101" pitchFamily="49" charset="-122"/>
              </a:rPr>
              <a:t>走进项目管理</a:t>
            </a:r>
            <a:endParaRPr kumimoji="0" lang="en-US" altLang="en-US">
              <a:latin typeface="楷体" panose="02010609060101010101" pitchFamily="49" charset="-122"/>
              <a:ea typeface="楷体" panose="02010609060101010101" pitchFamily="49" charset="-122"/>
            </a:endParaRPr>
          </a:p>
        </p:txBody>
      </p:sp>
      <p:sp>
        <p:nvSpPr>
          <p:cNvPr id="31751" name="Rectangle 7"/>
          <p:cNvSpPr>
            <a:spLocks noChangeArrowheads="1"/>
          </p:cNvSpPr>
          <p:nvPr/>
        </p:nvSpPr>
        <p:spPr bwMode="auto">
          <a:xfrm>
            <a:off x="153988" y="1341438"/>
            <a:ext cx="3913187"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1.3.3 </a:t>
            </a:r>
            <a:r>
              <a:rPr kumimoji="0" lang="en-US" altLang="en-US">
                <a:solidFill>
                  <a:schemeClr val="hlink"/>
                </a:solidFill>
                <a:latin typeface="楷体" panose="02010609060101010101" pitchFamily="49" charset="-122"/>
                <a:ea typeface="楷体" panose="02010609060101010101" pitchFamily="49" charset="-122"/>
              </a:rPr>
              <a:t>项目管理的特点</a:t>
            </a:r>
            <a:endParaRPr kumimoji="0" lang="en-US"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9"/>
          <p:cNvSpPr>
            <a:spLocks noGrp="1" noChangeArrowheads="1"/>
          </p:cNvSpPr>
          <p:nvPr>
            <p:ph type="sldNum" sz="quarter" idx="10"/>
          </p:nvPr>
        </p:nvSpPr>
        <p:spPr>
          <a:noFill/>
        </p:spPr>
        <p:txBody>
          <a:bodyPr/>
          <a:lstStyle/>
          <a:p>
            <a:r>
              <a:rPr lang="zh-CN" altLang="en-GB" smtClean="0"/>
              <a:t>  </a:t>
            </a:r>
            <a:fld id="{E48415AF-2E51-4925-86B9-29634B3FDF36}" type="slidenum">
              <a:rPr lang="zh-CN" altLang="en-GB" smtClean="0"/>
            </a:fld>
            <a:endParaRPr lang="en-US" altLang="zh-CN" smtClean="0"/>
          </a:p>
        </p:txBody>
      </p:sp>
      <p:sp>
        <p:nvSpPr>
          <p:cNvPr id="3174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31748" name="Text Box 3"/>
          <p:cNvSpPr txBox="1">
            <a:spLocks noChangeArrowheads="1"/>
          </p:cNvSpPr>
          <p:nvPr/>
        </p:nvSpPr>
        <p:spPr bwMode="auto">
          <a:xfrm>
            <a:off x="71120" y="1785620"/>
            <a:ext cx="9057005" cy="4646295"/>
          </a:xfrm>
          <a:prstGeom prst="rect">
            <a:avLst/>
          </a:prstGeom>
          <a:noFill/>
          <a:ln w="28575">
            <a:noFill/>
            <a:miter lim="800000"/>
          </a:ln>
        </p:spPr>
        <p:txBody>
          <a:bodyPr wrap="square">
            <a:spAutoFit/>
          </a:bodyPr>
          <a:lstStyle/>
          <a:p>
            <a:pPr algn="l">
              <a:spcBef>
                <a:spcPts val="600"/>
              </a:spcBef>
              <a:spcAft>
                <a:spcPts val="600"/>
              </a:spcAft>
            </a:pPr>
            <a:r>
              <a:rPr lang="zh-CN" altLang="en-US" dirty="0" smtClean="0">
                <a:solidFill>
                  <a:srgbClr val="0000FF"/>
                </a:solidFill>
                <a:latin typeface="楷体" panose="02010609060101010101" pitchFamily="49" charset="-122"/>
                <a:ea typeface="楷体" panose="02010609060101010101" pitchFamily="49" charset="-122"/>
              </a:rPr>
              <a:t>项目管理的特点主要表现在以下几个方面</a:t>
            </a:r>
            <a:endParaRPr lang="zh-CN" altLang="en-US" dirty="0" smtClean="0">
              <a:solidFill>
                <a:schemeClr val="bg1">
                  <a:lumMod val="50000"/>
                </a:schemeClr>
              </a:solidFill>
              <a:latin typeface="楷体" panose="02010609060101010101" pitchFamily="49" charset="-122"/>
              <a:ea typeface="楷体" panose="02010609060101010101" pitchFamily="49" charset="-122"/>
            </a:endParaRPr>
          </a:p>
          <a:p>
            <a:pPr lvl="1" algn="l">
              <a:spcBef>
                <a:spcPts val="600"/>
              </a:spcBef>
              <a:spcAft>
                <a:spcPts val="600"/>
              </a:spcAft>
              <a:buClr>
                <a:schemeClr val="bg1">
                  <a:lumMod val="50000"/>
                </a:schemeClr>
              </a:buClr>
              <a:buFont typeface="+mj-lt"/>
              <a:buAutoNum type="arabicPeriod"/>
            </a:pPr>
            <a:r>
              <a:rPr lang="zh-CN" altLang="en-US" sz="2400" dirty="0" smtClean="0">
                <a:solidFill>
                  <a:schemeClr val="bg2"/>
                </a:solidFill>
                <a:latin typeface="楷体" panose="02010609060101010101" pitchFamily="49" charset="-122"/>
                <a:ea typeface="楷体" panose="02010609060101010101" pitchFamily="49" charset="-122"/>
              </a:rPr>
              <a:t>项目管理的对象是项目或被当作项目来处理的运作</a:t>
            </a:r>
            <a:endParaRPr lang="zh-CN" altLang="en-US" sz="2400" dirty="0" smtClean="0">
              <a:solidFill>
                <a:schemeClr val="bg2"/>
              </a:solidFill>
              <a:latin typeface="楷体" panose="02010609060101010101" pitchFamily="49" charset="-122"/>
              <a:ea typeface="楷体" panose="02010609060101010101" pitchFamily="49" charset="-122"/>
            </a:endParaRPr>
          </a:p>
          <a:p>
            <a:pPr lvl="1" algn="l">
              <a:spcBef>
                <a:spcPts val="1200"/>
              </a:spcBef>
              <a:spcAft>
                <a:spcPts val="600"/>
              </a:spcAft>
              <a:buClr>
                <a:schemeClr val="bg1">
                  <a:lumMod val="50000"/>
                </a:schemeClr>
              </a:buClr>
              <a:buFont typeface="+mj-lt"/>
              <a:buAutoNum type="arabicPeriod"/>
            </a:pPr>
            <a:r>
              <a:rPr lang="zh-CN" altLang="en-US" sz="2400" dirty="0" smtClean="0">
                <a:solidFill>
                  <a:schemeClr val="bg2"/>
                </a:solidFill>
                <a:latin typeface="楷体" panose="02010609060101010101" pitchFamily="49" charset="-122"/>
                <a:ea typeface="楷体" panose="02010609060101010101" pitchFamily="49" charset="-122"/>
              </a:rPr>
              <a:t>项目管理的全过程都贯穿着系统工程的思想</a:t>
            </a:r>
            <a:endParaRPr lang="zh-CN" altLang="en-US" sz="2400" dirty="0" smtClean="0">
              <a:solidFill>
                <a:schemeClr val="bg2"/>
              </a:solidFill>
              <a:latin typeface="楷体" panose="02010609060101010101" pitchFamily="49" charset="-122"/>
              <a:ea typeface="楷体" panose="02010609060101010101" pitchFamily="49" charset="-122"/>
            </a:endParaRPr>
          </a:p>
          <a:p>
            <a:pPr lvl="1" algn="l">
              <a:spcBef>
                <a:spcPts val="1200"/>
              </a:spcBef>
              <a:spcAft>
                <a:spcPts val="600"/>
              </a:spcAft>
              <a:buClr>
                <a:schemeClr val="bg1">
                  <a:lumMod val="50000"/>
                </a:schemeClr>
              </a:buClr>
              <a:buFont typeface="+mj-lt"/>
              <a:buAutoNum type="arabicPeriod"/>
            </a:pPr>
            <a:r>
              <a:rPr lang="zh-CN" altLang="en-US" sz="2400" dirty="0" smtClean="0">
                <a:solidFill>
                  <a:schemeClr val="bg2"/>
                </a:solidFill>
                <a:latin typeface="楷体" panose="02010609060101010101" pitchFamily="49" charset="-122"/>
                <a:ea typeface="楷体" panose="02010609060101010101" pitchFamily="49" charset="-122"/>
              </a:rPr>
              <a:t>项目管理的组织具有特殊性</a:t>
            </a:r>
            <a:endParaRPr lang="zh-CN" altLang="en-US" sz="2400" dirty="0" smtClean="0">
              <a:solidFill>
                <a:schemeClr val="bg2"/>
              </a:solidFill>
              <a:latin typeface="楷体" panose="02010609060101010101" pitchFamily="49" charset="-122"/>
              <a:ea typeface="楷体" panose="02010609060101010101" pitchFamily="49" charset="-122"/>
            </a:endParaRPr>
          </a:p>
          <a:p>
            <a:pPr lvl="1" algn="l">
              <a:spcBef>
                <a:spcPts val="1200"/>
              </a:spcBef>
              <a:spcAft>
                <a:spcPts val="600"/>
              </a:spcAft>
              <a:buClr>
                <a:schemeClr val="bg1">
                  <a:lumMod val="50000"/>
                </a:schemeClr>
              </a:buClr>
              <a:buFont typeface="+mj-lt"/>
              <a:buAutoNum type="arabicPeriod"/>
            </a:pPr>
            <a:r>
              <a:rPr lang="zh-CN" altLang="en-US" sz="2400" dirty="0" smtClean="0">
                <a:solidFill>
                  <a:schemeClr val="bg2"/>
                </a:solidFill>
                <a:latin typeface="楷体" panose="02010609060101010101" pitchFamily="49" charset="-122"/>
                <a:ea typeface="楷体" panose="02010609060101010101" pitchFamily="49" charset="-122"/>
              </a:rPr>
              <a:t>项目管理的体制是一种基于团队管理的个人负责制</a:t>
            </a:r>
            <a:endParaRPr lang="zh-CN" altLang="en-US" sz="2400" dirty="0" smtClean="0">
              <a:solidFill>
                <a:schemeClr val="bg2"/>
              </a:solidFill>
              <a:latin typeface="楷体" panose="02010609060101010101" pitchFamily="49" charset="-122"/>
              <a:ea typeface="楷体" panose="02010609060101010101" pitchFamily="49" charset="-122"/>
            </a:endParaRPr>
          </a:p>
          <a:p>
            <a:pPr lvl="1" algn="l">
              <a:spcBef>
                <a:spcPts val="1200"/>
              </a:spcBef>
              <a:spcAft>
                <a:spcPts val="600"/>
              </a:spcAft>
              <a:buClr>
                <a:schemeClr val="bg1">
                  <a:lumMod val="50000"/>
                </a:schemeClr>
              </a:buClr>
              <a:buFont typeface="+mj-lt"/>
              <a:buAutoNum type="arabicPeriod"/>
            </a:pPr>
            <a:r>
              <a:rPr lang="zh-CN" altLang="en-US" sz="2400" dirty="0" smtClean="0">
                <a:solidFill>
                  <a:schemeClr val="bg2"/>
                </a:solidFill>
                <a:latin typeface="楷体" panose="02010609060101010101" pitchFamily="49" charset="-122"/>
                <a:ea typeface="楷体" panose="02010609060101010101" pitchFamily="49" charset="-122"/>
              </a:rPr>
              <a:t>项目管理的方式是目标管理</a:t>
            </a:r>
            <a:endParaRPr lang="zh-CN" altLang="en-US" sz="2400" dirty="0" smtClean="0">
              <a:solidFill>
                <a:schemeClr val="bg2"/>
              </a:solidFill>
              <a:latin typeface="楷体" panose="02010609060101010101" pitchFamily="49" charset="-122"/>
              <a:ea typeface="楷体" panose="02010609060101010101" pitchFamily="49" charset="-122"/>
            </a:endParaRPr>
          </a:p>
          <a:p>
            <a:pPr lvl="1" algn="l">
              <a:spcBef>
                <a:spcPts val="1200"/>
              </a:spcBef>
              <a:spcAft>
                <a:spcPts val="600"/>
              </a:spcAft>
              <a:buClr>
                <a:schemeClr val="bg1">
                  <a:lumMod val="50000"/>
                </a:schemeClr>
              </a:buClr>
              <a:buFont typeface="+mj-lt"/>
              <a:buAutoNum type="arabicPeriod"/>
            </a:pPr>
            <a:r>
              <a:rPr lang="zh-CN" altLang="en-US" sz="2400" dirty="0" smtClean="0">
                <a:solidFill>
                  <a:schemeClr val="bg2"/>
                </a:solidFill>
                <a:latin typeface="楷体" panose="02010609060101010101" pitchFamily="49" charset="-122"/>
                <a:ea typeface="楷体" panose="02010609060101010101" pitchFamily="49" charset="-122"/>
              </a:rPr>
              <a:t>项目管理的要点是创造和保持一种使项目能顺利进行的环境</a:t>
            </a:r>
            <a:endParaRPr lang="en-US" altLang="zh-CN" sz="2400" dirty="0" smtClean="0">
              <a:solidFill>
                <a:schemeClr val="bg2"/>
              </a:solidFill>
              <a:latin typeface="楷体" panose="02010609060101010101" pitchFamily="49" charset="-122"/>
              <a:ea typeface="楷体" panose="02010609060101010101" pitchFamily="49" charset="-122"/>
            </a:endParaRPr>
          </a:p>
          <a:p>
            <a:pPr lvl="1" algn="l">
              <a:spcBef>
                <a:spcPts val="1200"/>
              </a:spcBef>
              <a:spcAft>
                <a:spcPts val="600"/>
              </a:spcAft>
              <a:buClr>
                <a:schemeClr val="bg1">
                  <a:lumMod val="50000"/>
                </a:schemeClr>
              </a:buClr>
              <a:buFont typeface="+mj-lt"/>
              <a:buAutoNum type="arabicPeriod"/>
            </a:pPr>
            <a:r>
              <a:rPr lang="zh-CN" altLang="en-US" sz="2400" dirty="0" smtClean="0">
                <a:solidFill>
                  <a:schemeClr val="bg2"/>
                </a:solidFill>
                <a:latin typeface="楷体" panose="02010609060101010101" pitchFamily="49" charset="-122"/>
                <a:ea typeface="楷体" panose="02010609060101010101" pitchFamily="49" charset="-122"/>
              </a:rPr>
              <a:t>项目管理的方法、工具和手段具有先进性、开放性</a:t>
            </a:r>
            <a:endParaRPr lang="zh-CN" altLang="en-US" sz="2400" dirty="0">
              <a:latin typeface="楷体" panose="02010609060101010101" pitchFamily="49" charset="-122"/>
              <a:ea typeface="楷体" panose="02010609060101010101" pitchFamily="49" charset="-122"/>
            </a:endParaRPr>
          </a:p>
        </p:txBody>
      </p:sp>
      <p:sp>
        <p:nvSpPr>
          <p:cNvPr id="31749"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P.11</a:t>
            </a:r>
            <a:endParaRPr lang="en-US" altLang="zh-CN" sz="2400">
              <a:solidFill>
                <a:schemeClr val="bg2"/>
              </a:solidFill>
            </a:endParaRPr>
          </a:p>
        </p:txBody>
      </p:sp>
      <p:sp>
        <p:nvSpPr>
          <p:cNvPr id="31750" name="Rectangle 6"/>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en-US"/>
              <a:t>1.3 </a:t>
            </a:r>
            <a:r>
              <a:rPr kumimoji="0" lang="en-US" altLang="en-US">
                <a:latin typeface="楷体" panose="02010609060101010101" pitchFamily="49" charset="-122"/>
                <a:ea typeface="楷体" panose="02010609060101010101" pitchFamily="49" charset="-122"/>
              </a:rPr>
              <a:t>走进项目管理</a:t>
            </a:r>
            <a:endParaRPr kumimoji="0" lang="en-US" altLang="en-US">
              <a:latin typeface="楷体" panose="02010609060101010101" pitchFamily="49" charset="-122"/>
              <a:ea typeface="楷体" panose="02010609060101010101" pitchFamily="49" charset="-122"/>
            </a:endParaRPr>
          </a:p>
        </p:txBody>
      </p:sp>
      <p:sp>
        <p:nvSpPr>
          <p:cNvPr id="31751" name="Rectangle 7"/>
          <p:cNvSpPr>
            <a:spLocks noChangeArrowheads="1"/>
          </p:cNvSpPr>
          <p:nvPr/>
        </p:nvSpPr>
        <p:spPr bwMode="auto">
          <a:xfrm>
            <a:off x="153988" y="1341438"/>
            <a:ext cx="3913187"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1.3.3 </a:t>
            </a:r>
            <a:r>
              <a:rPr kumimoji="0" lang="en-US" altLang="en-US">
                <a:solidFill>
                  <a:schemeClr val="hlink"/>
                </a:solidFill>
                <a:latin typeface="楷体" panose="02010609060101010101" pitchFamily="49" charset="-122"/>
                <a:ea typeface="楷体" panose="02010609060101010101" pitchFamily="49" charset="-122"/>
              </a:rPr>
              <a:t>项目管理的特点</a:t>
            </a:r>
            <a:endParaRPr kumimoji="0" lang="zh-CN"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74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74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74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9"/>
          <p:cNvSpPr>
            <a:spLocks noGrp="1" noChangeArrowheads="1"/>
          </p:cNvSpPr>
          <p:nvPr>
            <p:ph type="sldNum" sz="quarter" idx="10"/>
          </p:nvPr>
        </p:nvSpPr>
        <p:spPr>
          <a:noFill/>
        </p:spPr>
        <p:txBody>
          <a:bodyPr/>
          <a:lstStyle/>
          <a:p>
            <a:r>
              <a:rPr lang="zh-CN" altLang="en-GB" smtClean="0"/>
              <a:t>  </a:t>
            </a:r>
            <a:fld id="{E2C377B0-DFCD-4410-B22F-3C37E98283EB}" type="slidenum">
              <a:rPr lang="zh-CN" altLang="en-GB" smtClean="0"/>
            </a:fld>
            <a:endParaRPr lang="en-US" altLang="zh-CN" smtClean="0"/>
          </a:p>
        </p:txBody>
      </p:sp>
      <p:sp>
        <p:nvSpPr>
          <p:cNvPr id="327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32773"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P.12</a:t>
            </a:r>
            <a:endParaRPr lang="en-US" altLang="zh-CN" sz="2400">
              <a:solidFill>
                <a:schemeClr val="bg2"/>
              </a:solidFill>
            </a:endParaRPr>
          </a:p>
        </p:txBody>
      </p:sp>
      <p:sp>
        <p:nvSpPr>
          <p:cNvPr id="32774" name="Text Box 6"/>
          <p:cNvSpPr txBox="1">
            <a:spLocks noChangeArrowheads="1"/>
          </p:cNvSpPr>
          <p:nvPr/>
        </p:nvSpPr>
        <p:spPr bwMode="auto">
          <a:xfrm>
            <a:off x="286860" y="2636912"/>
            <a:ext cx="8461604" cy="2306955"/>
          </a:xfrm>
          <a:prstGeom prst="rect">
            <a:avLst/>
          </a:prstGeom>
          <a:noFill/>
          <a:ln w="9525">
            <a:noFill/>
            <a:miter lim="800000"/>
          </a:ln>
        </p:spPr>
        <p:txBody>
          <a:bodyPr wrap="square">
            <a:spAutoFit/>
          </a:bodyPr>
          <a:lstStyle/>
          <a:p>
            <a:pPr algn="l">
              <a:spcBef>
                <a:spcPts val="600"/>
              </a:spcBef>
              <a:spcAft>
                <a:spcPts val="600"/>
              </a:spcAft>
            </a:pPr>
            <a:r>
              <a:rPr lang="zh-CN" altLang="en-US" sz="3600" dirty="0" smtClean="0">
                <a:solidFill>
                  <a:srgbClr val="FF0033"/>
                </a:solidFill>
                <a:latin typeface="楷体" panose="02010609060101010101" pitchFamily="49" charset="-122"/>
                <a:ea typeface="楷体" panose="02010609060101010101" pitchFamily="49" charset="-122"/>
              </a:rPr>
              <a:t>项目管理知识体系是项目管理专业领域知识的总称，它是由专门的项目管理组织在总结了项目管理实践中成熟的理论、方法、工具和技术的基础上所提出的。</a:t>
            </a:r>
            <a:endParaRPr lang="zh-CN" altLang="en-US" sz="3600" dirty="0" smtClean="0">
              <a:solidFill>
                <a:srgbClr val="FF0033"/>
              </a:solidFill>
              <a:latin typeface="楷体" panose="02010609060101010101" pitchFamily="49" charset="-122"/>
              <a:ea typeface="楷体" panose="02010609060101010101" pitchFamily="49" charset="-122"/>
            </a:endParaRPr>
          </a:p>
        </p:txBody>
      </p:sp>
      <p:sp>
        <p:nvSpPr>
          <p:cNvPr id="32775" name="Rectangle 7"/>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en-US"/>
              <a:t>1.3 </a:t>
            </a:r>
            <a:r>
              <a:rPr kumimoji="0" lang="en-US" altLang="en-US">
                <a:latin typeface="楷体" panose="02010609060101010101" pitchFamily="49" charset="-122"/>
                <a:ea typeface="楷体" panose="02010609060101010101" pitchFamily="49" charset="-122"/>
              </a:rPr>
              <a:t>走进项目管理</a:t>
            </a:r>
            <a:endParaRPr kumimoji="0" lang="en-US" altLang="en-US">
              <a:latin typeface="楷体" panose="02010609060101010101" pitchFamily="49" charset="-122"/>
              <a:ea typeface="楷体" panose="02010609060101010101" pitchFamily="49" charset="-122"/>
            </a:endParaRPr>
          </a:p>
        </p:txBody>
      </p:sp>
      <p:sp>
        <p:nvSpPr>
          <p:cNvPr id="32776" name="Rectangle 8"/>
          <p:cNvSpPr>
            <a:spLocks noChangeArrowheads="1"/>
          </p:cNvSpPr>
          <p:nvPr/>
        </p:nvSpPr>
        <p:spPr bwMode="auto">
          <a:xfrm>
            <a:off x="179388" y="1341438"/>
            <a:ext cx="4968875"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1.3.4 </a:t>
            </a:r>
            <a:r>
              <a:rPr kumimoji="0" lang="en-US" altLang="en-US">
                <a:solidFill>
                  <a:schemeClr val="hlink"/>
                </a:solidFill>
                <a:latin typeface="楷体" panose="02010609060101010101" pitchFamily="49" charset="-122"/>
                <a:ea typeface="楷体" panose="02010609060101010101" pitchFamily="49" charset="-122"/>
              </a:rPr>
              <a:t>项目管理知识体系</a:t>
            </a:r>
            <a:endParaRPr kumimoji="0" lang="zh-CN"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9"/>
          <p:cNvSpPr>
            <a:spLocks noGrp="1" noChangeArrowheads="1"/>
          </p:cNvSpPr>
          <p:nvPr>
            <p:ph type="sldNum" sz="quarter" idx="10"/>
          </p:nvPr>
        </p:nvSpPr>
        <p:spPr>
          <a:noFill/>
        </p:spPr>
        <p:txBody>
          <a:bodyPr/>
          <a:lstStyle/>
          <a:p>
            <a:r>
              <a:rPr lang="zh-CN" altLang="en-GB" smtClean="0"/>
              <a:t>  </a:t>
            </a:r>
            <a:fld id="{E2C377B0-DFCD-4410-B22F-3C37E98283EB}" type="slidenum">
              <a:rPr lang="zh-CN" altLang="en-GB" smtClean="0"/>
            </a:fld>
            <a:endParaRPr lang="en-US" altLang="zh-CN" smtClean="0"/>
          </a:p>
        </p:txBody>
      </p:sp>
      <p:sp>
        <p:nvSpPr>
          <p:cNvPr id="327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32773"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P.12</a:t>
            </a:r>
            <a:endParaRPr lang="en-US" altLang="zh-CN" sz="2400">
              <a:solidFill>
                <a:schemeClr val="bg2"/>
              </a:solidFill>
            </a:endParaRPr>
          </a:p>
        </p:txBody>
      </p:sp>
      <p:sp>
        <p:nvSpPr>
          <p:cNvPr id="32774" name="Text Box 6"/>
          <p:cNvSpPr txBox="1">
            <a:spLocks noChangeArrowheads="1"/>
          </p:cNvSpPr>
          <p:nvPr/>
        </p:nvSpPr>
        <p:spPr bwMode="auto">
          <a:xfrm>
            <a:off x="71406" y="1896611"/>
            <a:ext cx="8424862" cy="4399915"/>
          </a:xfrm>
          <a:prstGeom prst="rect">
            <a:avLst/>
          </a:prstGeom>
          <a:noFill/>
          <a:ln w="9525">
            <a:noFill/>
            <a:miter lim="800000"/>
          </a:ln>
        </p:spPr>
        <p:txBody>
          <a:bodyPr>
            <a:spAutoFit/>
          </a:bodyPr>
          <a:lstStyle/>
          <a:p>
            <a:pPr algn="l">
              <a:spcBef>
                <a:spcPts val="600"/>
              </a:spcBef>
              <a:spcAft>
                <a:spcPts val="600"/>
              </a:spcAft>
            </a:pPr>
            <a:r>
              <a:rPr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项目管理知识体系的表现形式因为不同的项目管理组织的工作而有不同的表现，目前主要存在</a:t>
            </a:r>
            <a:r>
              <a:rPr lang="zh-CN" altLang="en-US" sz="3200" smtClean="0">
                <a:solidFill>
                  <a:srgbClr val="0000FF"/>
                </a:solidFill>
                <a:latin typeface="楷体" panose="02010609060101010101" pitchFamily="49" charset="-122"/>
                <a:ea typeface="楷体" panose="02010609060101010101" pitchFamily="49" charset="-122"/>
                <a:cs typeface="楷体" panose="02010609060101010101" pitchFamily="49" charset="-122"/>
              </a:rPr>
              <a:t>两大项目管理研究体系</a:t>
            </a:r>
            <a:r>
              <a:rPr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en-US" altLang="zh-CN" sz="320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1800"/>
              </a:spcBef>
              <a:spcAft>
                <a:spcPts val="600"/>
              </a:spcAft>
              <a:buClr>
                <a:schemeClr val="bg1">
                  <a:lumMod val="50000"/>
                </a:schemeClr>
              </a:buClr>
              <a:buFont typeface="Wingdings" panose="05000000000000000000" pitchFamily="2" charset="2"/>
              <a:buChar char="n"/>
            </a:pPr>
            <a:r>
              <a:rPr lang="zh-CN" altLang="en-US" sz="3600" smtClean="0">
                <a:solidFill>
                  <a:schemeClr val="bg2"/>
                </a:solidFill>
                <a:latin typeface="楷体" panose="02010609060101010101" pitchFamily="49" charset="-122"/>
                <a:ea typeface="楷体" panose="02010609060101010101" pitchFamily="49" charset="-122"/>
                <a:cs typeface="楷体" panose="02010609060101010101" pitchFamily="49" charset="-122"/>
              </a:rPr>
              <a:t>以美国项目管理协会（</a:t>
            </a:r>
            <a:r>
              <a:rPr lang="en-US" sz="3600" smtClean="0">
                <a:solidFill>
                  <a:schemeClr val="bg2"/>
                </a:solidFill>
                <a:ea typeface="楷体" panose="02010609060101010101" pitchFamily="49" charset="-122"/>
                <a:cs typeface="Times New Roman" panose="02020603050405020304" pitchFamily="18" charset="0"/>
              </a:rPr>
              <a:t>PMI</a:t>
            </a:r>
            <a:r>
              <a:rPr lang="zh-CN" altLang="en-US" sz="3600" smtClean="0">
                <a:solidFill>
                  <a:schemeClr val="bg2"/>
                </a:solidFill>
                <a:latin typeface="楷体" panose="02010609060101010101" pitchFamily="49" charset="-122"/>
                <a:ea typeface="楷体" panose="02010609060101010101" pitchFamily="49" charset="-122"/>
                <a:cs typeface="楷体" panose="02010609060101010101" pitchFamily="49" charset="-122"/>
              </a:rPr>
              <a:t>）为代表的项目管理知识体系</a:t>
            </a:r>
            <a:endParaRPr lang="en-US" altLang="zh-CN" sz="360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1800"/>
              </a:spcBef>
              <a:spcAft>
                <a:spcPts val="600"/>
              </a:spcAft>
              <a:buClr>
                <a:schemeClr val="bg1">
                  <a:lumMod val="50000"/>
                </a:schemeClr>
              </a:buClr>
              <a:buFont typeface="Wingdings" panose="05000000000000000000" pitchFamily="2" charset="2"/>
              <a:buChar char="n"/>
            </a:pPr>
            <a:r>
              <a:rPr lang="zh-CN" altLang="en-US" sz="3600" smtClean="0">
                <a:solidFill>
                  <a:schemeClr val="bg2"/>
                </a:solidFill>
                <a:latin typeface="楷体" panose="02010609060101010101" pitchFamily="49" charset="-122"/>
                <a:ea typeface="楷体" panose="02010609060101010101" pitchFamily="49" charset="-122"/>
                <a:cs typeface="楷体" panose="02010609060101010101" pitchFamily="49" charset="-122"/>
              </a:rPr>
              <a:t>以国际项目管理协会（</a:t>
            </a:r>
            <a:r>
              <a:rPr lang="en-US" sz="3600" smtClean="0">
                <a:solidFill>
                  <a:schemeClr val="bg2"/>
                </a:solidFill>
                <a:ea typeface="楷体" panose="02010609060101010101" pitchFamily="49" charset="-122"/>
                <a:cs typeface="Times New Roman" panose="02020603050405020304" pitchFamily="18" charset="0"/>
              </a:rPr>
              <a:t>IPMA</a:t>
            </a:r>
            <a:r>
              <a:rPr lang="zh-CN" altLang="en-US" sz="3600" smtClean="0">
                <a:solidFill>
                  <a:schemeClr val="bg2"/>
                </a:solidFill>
                <a:latin typeface="楷体" panose="02010609060101010101" pitchFamily="49" charset="-122"/>
                <a:ea typeface="楷体" panose="02010609060101010101" pitchFamily="49" charset="-122"/>
                <a:cs typeface="楷体" panose="02010609060101010101" pitchFamily="49" charset="-122"/>
              </a:rPr>
              <a:t>）为代表的项目管理知识体系</a:t>
            </a:r>
            <a:endParaRPr lang="zh-CN" altLang="en-US" sz="360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32775" name="Rectangle 7"/>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1.3 走进项目管理</a:t>
            </a:r>
            <a:endParaRPr kumimoji="0" lang="zh-CN" altLang="en-US"/>
          </a:p>
        </p:txBody>
      </p:sp>
      <p:sp>
        <p:nvSpPr>
          <p:cNvPr id="32776" name="Rectangle 8"/>
          <p:cNvSpPr>
            <a:spLocks noChangeArrowheads="1"/>
          </p:cNvSpPr>
          <p:nvPr/>
        </p:nvSpPr>
        <p:spPr bwMode="auto">
          <a:xfrm>
            <a:off x="179388" y="1341438"/>
            <a:ext cx="4968875" cy="519112"/>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1.3.4 项目管理知识体系</a:t>
            </a:r>
            <a:endParaRPr kumimoji="0" lang="zh-CN" altLang="en-US">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9"/>
          <p:cNvSpPr>
            <a:spLocks noGrp="1" noChangeArrowheads="1"/>
          </p:cNvSpPr>
          <p:nvPr>
            <p:ph type="sldNum" sz="quarter" idx="10"/>
          </p:nvPr>
        </p:nvSpPr>
        <p:spPr>
          <a:noFill/>
        </p:spPr>
        <p:txBody>
          <a:bodyPr/>
          <a:lstStyle/>
          <a:p>
            <a:r>
              <a:rPr lang="zh-CN" altLang="en-GB" smtClean="0"/>
              <a:t>  </a:t>
            </a:r>
            <a:fld id="{E2C377B0-DFCD-4410-B22F-3C37E98283EB}" type="slidenum">
              <a:rPr lang="zh-CN" altLang="en-GB" smtClean="0"/>
            </a:fld>
            <a:endParaRPr lang="en-US" altLang="zh-CN" smtClean="0"/>
          </a:p>
        </p:txBody>
      </p:sp>
      <p:sp>
        <p:nvSpPr>
          <p:cNvPr id="327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32772" name="Text Box 3"/>
          <p:cNvSpPr txBox="1">
            <a:spLocks noChangeArrowheads="1"/>
          </p:cNvSpPr>
          <p:nvPr/>
        </p:nvSpPr>
        <p:spPr bwMode="auto">
          <a:xfrm>
            <a:off x="258763" y="1836738"/>
            <a:ext cx="3384550" cy="548099"/>
          </a:xfrm>
          <a:prstGeom prst="rect">
            <a:avLst/>
          </a:prstGeom>
          <a:noFill/>
          <a:ln w="28575">
            <a:noFill/>
            <a:miter lim="800000"/>
          </a:ln>
        </p:spPr>
        <p:txBody>
          <a:bodyPr>
            <a:spAutoFit/>
          </a:bodyPr>
          <a:lstStyle/>
          <a:p>
            <a:pPr marL="457200" indent="-457200" algn="l">
              <a:lnSpc>
                <a:spcPct val="115000"/>
              </a:lnSpc>
              <a:spcBef>
                <a:spcPct val="50000"/>
              </a:spcBef>
              <a:buClr>
                <a:srgbClr val="C00000"/>
              </a:buClr>
            </a:pPr>
            <a:r>
              <a:rPr kumimoji="0" lang="en-US" altLang="zh-CN" smtClean="0">
                <a:solidFill>
                  <a:srgbClr val="FF0033"/>
                </a:solidFill>
                <a:latin typeface="+mn-lt"/>
                <a:ea typeface="黑体" panose="02010609060101010101" pitchFamily="2" charset="-122"/>
              </a:rPr>
              <a:t>1. PMI&amp;PMBOK</a:t>
            </a:r>
            <a:endParaRPr kumimoji="0" lang="en-US" altLang="zh-CN" smtClean="0">
              <a:solidFill>
                <a:srgbClr val="FF0033"/>
              </a:solidFill>
              <a:latin typeface="+mn-lt"/>
              <a:ea typeface="黑体" panose="02010609060101010101" pitchFamily="2" charset="-122"/>
            </a:endParaRPr>
          </a:p>
        </p:txBody>
      </p:sp>
      <p:sp>
        <p:nvSpPr>
          <p:cNvPr id="32773"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P.12</a:t>
            </a:r>
            <a:endParaRPr lang="en-US" altLang="zh-CN" sz="2400">
              <a:solidFill>
                <a:schemeClr val="bg2"/>
              </a:solidFill>
            </a:endParaRPr>
          </a:p>
        </p:txBody>
      </p:sp>
      <p:sp>
        <p:nvSpPr>
          <p:cNvPr id="32774" name="Text Box 6"/>
          <p:cNvSpPr txBox="1">
            <a:spLocks noChangeArrowheads="1"/>
          </p:cNvSpPr>
          <p:nvPr/>
        </p:nvSpPr>
        <p:spPr bwMode="auto">
          <a:xfrm>
            <a:off x="108236" y="2357430"/>
            <a:ext cx="8929718" cy="4123055"/>
          </a:xfrm>
          <a:prstGeom prst="rect">
            <a:avLst/>
          </a:prstGeom>
          <a:noFill/>
          <a:ln w="9525">
            <a:noFill/>
            <a:miter lim="800000"/>
          </a:ln>
        </p:spPr>
        <p:txBody>
          <a:bodyPr wrap="square">
            <a:spAutoFit/>
          </a:bodyPr>
          <a:lstStyle/>
          <a:p>
            <a:pPr algn="l">
              <a:spcBef>
                <a:spcPct val="50000"/>
              </a:spcBef>
              <a:buClr>
                <a:schemeClr val="hlink"/>
              </a:buClr>
            </a:pPr>
            <a:r>
              <a:rPr lang="en-US" altLang="zh-CN" sz="3200" smtClean="0">
                <a:solidFill>
                  <a:srgbClr val="0000FF"/>
                </a:solidFill>
                <a:ea typeface="楷体" panose="02010609060101010101" pitchFamily="49" charset="-122"/>
                <a:cs typeface="Times New Roman" panose="02020603050405020304" pitchFamily="18" charset="0"/>
              </a:rPr>
              <a:t>PMI</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创建</a:t>
            </a:r>
            <a:r>
              <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于</a:t>
            </a:r>
            <a:r>
              <a:rPr lang="en-US" altLang="zh-CN">
                <a:solidFill>
                  <a:schemeClr val="bg2"/>
                </a:solidFill>
                <a:ea typeface="楷体" panose="02010609060101010101" pitchFamily="49" charset="-122"/>
                <a:cs typeface="Times New Roman" panose="02020603050405020304" pitchFamily="18" charset="0"/>
              </a:rPr>
              <a:t>1969</a:t>
            </a:r>
            <a:r>
              <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年，</a:t>
            </a:r>
            <a:r>
              <a:rPr lang="en-US" altLang="zh-CN">
                <a:solidFill>
                  <a:schemeClr val="bg2"/>
                </a:solidFill>
                <a:ea typeface="楷体" panose="02010609060101010101" pitchFamily="49" charset="-122"/>
                <a:cs typeface="Times New Roman" panose="02020603050405020304" pitchFamily="18" charset="0"/>
              </a:rPr>
              <a:t>PMI</a:t>
            </a:r>
            <a:r>
              <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在推进项目管理知识和实践的普及中扮演了重要角色。</a:t>
            </a:r>
            <a:endPar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ct val="50000"/>
              </a:spcBef>
              <a:buClr>
                <a:schemeClr val="hlink"/>
              </a:buClr>
            </a:pP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美国项目管理协会卓有成效</a:t>
            </a:r>
            <a:r>
              <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的贡献是开发了项目管理知识体系（</a:t>
            </a:r>
            <a:r>
              <a:rPr lang="en-US" altLang="zh-CN" sz="3200">
                <a:solidFill>
                  <a:srgbClr val="0000FF"/>
                </a:solidFill>
                <a:ea typeface="楷体" panose="02010609060101010101" pitchFamily="49" charset="-122"/>
                <a:cs typeface="Times New Roman" panose="02020603050405020304" pitchFamily="18" charset="0"/>
              </a:rPr>
              <a:t>PMBOK</a:t>
            </a:r>
            <a:r>
              <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），国际标准化组织正是以该文件为框架，制定了</a:t>
            </a:r>
            <a:r>
              <a:rPr lang="en-US" altLang="zh-CN">
                <a:solidFill>
                  <a:schemeClr val="bg2"/>
                </a:solidFill>
                <a:ea typeface="楷体" panose="02010609060101010101" pitchFamily="49" charset="-122"/>
                <a:cs typeface="Times New Roman" panose="02020603050405020304" pitchFamily="18" charset="0"/>
              </a:rPr>
              <a:t>ISO10006</a:t>
            </a:r>
            <a:r>
              <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关于项目管理的标准</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en-US" altLang="zh-CN"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ct val="50000"/>
              </a:spcBef>
              <a:buClr>
                <a:schemeClr val="hlink"/>
              </a:buClr>
            </a:pPr>
            <a:r>
              <a:rPr lang="en-US" sz="4000" smtClean="0">
                <a:solidFill>
                  <a:srgbClr val="0000FF"/>
                </a:solidFill>
                <a:ea typeface="楷体" panose="02010609060101010101" pitchFamily="49" charset="-122"/>
                <a:cs typeface="Times New Roman" panose="02020603050405020304" pitchFamily="18" charset="0"/>
              </a:rPr>
              <a:t>1987</a:t>
            </a:r>
            <a:r>
              <a:rPr lang="zh-CN" altLang="en-US" sz="4000" smtClean="0">
                <a:solidFill>
                  <a:srgbClr val="0000FF"/>
                </a:solidFill>
                <a:ea typeface="楷体" panose="02010609060101010101" pitchFamily="49" charset="-122"/>
                <a:cs typeface="Times New Roman" panose="02020603050405020304" pitchFamily="18" charset="0"/>
              </a:rPr>
              <a:t>年</a:t>
            </a:r>
            <a:r>
              <a:rPr lang="en-US" sz="4000" smtClean="0">
                <a:solidFill>
                  <a:srgbClr val="0000FF"/>
                </a:solidFill>
                <a:ea typeface="楷体" panose="02010609060101010101" pitchFamily="49" charset="-122"/>
                <a:cs typeface="Times New Roman" panose="02020603050405020304" pitchFamily="18" charset="0"/>
              </a:rPr>
              <a:t>PMI</a:t>
            </a:r>
            <a:r>
              <a:rPr lang="zh-CN" altLang="en-US" sz="4000" smtClean="0">
                <a:solidFill>
                  <a:srgbClr val="0000FF"/>
                </a:solidFill>
                <a:ea typeface="楷体" panose="02010609060101010101" pitchFamily="49" charset="-122"/>
                <a:cs typeface="Times New Roman" panose="02020603050405020304" pitchFamily="18" charset="0"/>
              </a:rPr>
              <a:t>公布了第一个</a:t>
            </a:r>
            <a:r>
              <a:rPr lang="en-US" sz="4000" smtClean="0">
                <a:solidFill>
                  <a:srgbClr val="0000FF"/>
                </a:solidFill>
                <a:ea typeface="楷体" panose="02010609060101010101" pitchFamily="49" charset="-122"/>
                <a:cs typeface="Times New Roman" panose="02020603050405020304" pitchFamily="18" charset="0"/>
              </a:rPr>
              <a:t>PMBOK</a:t>
            </a:r>
            <a:r>
              <a:rPr lang="zh-CN" altLang="en-US" sz="4000" smtClean="0">
                <a:solidFill>
                  <a:srgbClr val="0000FF"/>
                </a:solidFill>
                <a:ea typeface="楷体" panose="02010609060101010101" pitchFamily="49" charset="-122"/>
                <a:cs typeface="Times New Roman" panose="02020603050405020304" pitchFamily="18" charset="0"/>
              </a:rPr>
              <a:t>，目前每四年更新一次</a:t>
            </a:r>
            <a:r>
              <a:rPr lang="zh-CN" altLang="en-US" sz="3600" smtClean="0">
                <a:solidFill>
                  <a:srgbClr val="0000FF"/>
                </a:solidFill>
                <a:latin typeface="楷体" panose="02010609060101010101" pitchFamily="49" charset="-122"/>
                <a:ea typeface="楷体" panose="02010609060101010101" pitchFamily="49" charset="-122"/>
                <a:cs typeface="楷体" panose="02010609060101010101" pitchFamily="49" charset="-122"/>
              </a:rPr>
              <a:t>。</a:t>
            </a:r>
            <a:endParaRPr lang="zh-CN" altLang="en-US" sz="36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32775" name="Rectangle 7"/>
          <p:cNvSpPr>
            <a:spLocks noChangeArrowheads="1"/>
          </p:cNvSpPr>
          <p:nvPr/>
        </p:nvSpPr>
        <p:spPr bwMode="auto">
          <a:xfrm>
            <a:off x="107950" y="620713"/>
            <a:ext cx="5543550" cy="521970"/>
          </a:xfrm>
          <a:prstGeom prst="rect">
            <a:avLst/>
          </a:prstGeom>
          <a:noFill/>
          <a:ln w="9525">
            <a:noFill/>
            <a:miter lim="800000"/>
          </a:ln>
        </p:spPr>
        <p:txBody>
          <a:bodyPr>
            <a:spAutoFit/>
          </a:bodyPr>
          <a:lstStyle/>
          <a:p>
            <a:pPr algn="l"/>
            <a:r>
              <a:rPr kumimoji="0" lang="en-US" altLang="en-US"/>
              <a:t>1.3 </a:t>
            </a:r>
            <a:r>
              <a:rPr kumimoji="0" lang="en-US" altLang="en-US">
                <a:latin typeface="楷体" panose="02010609060101010101" pitchFamily="49" charset="-122"/>
                <a:ea typeface="楷体" panose="02010609060101010101" pitchFamily="49" charset="-122"/>
              </a:rPr>
              <a:t>走进项目管理</a:t>
            </a:r>
            <a:endParaRPr kumimoji="0" lang="en-US" altLang="en-US">
              <a:latin typeface="楷体" panose="02010609060101010101" pitchFamily="49" charset="-122"/>
              <a:ea typeface="楷体" panose="02010609060101010101" pitchFamily="49" charset="-122"/>
            </a:endParaRPr>
          </a:p>
        </p:txBody>
      </p:sp>
      <p:sp>
        <p:nvSpPr>
          <p:cNvPr id="32776" name="Rectangle 8"/>
          <p:cNvSpPr>
            <a:spLocks noChangeArrowheads="1"/>
          </p:cNvSpPr>
          <p:nvPr/>
        </p:nvSpPr>
        <p:spPr bwMode="auto">
          <a:xfrm>
            <a:off x="179388" y="1341438"/>
            <a:ext cx="4968875"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1.3.4 </a:t>
            </a:r>
            <a:r>
              <a:rPr kumimoji="0" lang="en-US" altLang="en-US">
                <a:solidFill>
                  <a:schemeClr val="hlink"/>
                </a:solidFill>
                <a:latin typeface="楷体" panose="02010609060101010101" pitchFamily="49" charset="-122"/>
                <a:ea typeface="楷体" panose="02010609060101010101" pitchFamily="49" charset="-122"/>
              </a:rPr>
              <a:t>项目管理知识体系</a:t>
            </a:r>
            <a:endParaRPr kumimoji="0" lang="zh-CN"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9"/>
          <p:cNvSpPr>
            <a:spLocks noGrp="1" noChangeArrowheads="1"/>
          </p:cNvSpPr>
          <p:nvPr>
            <p:ph type="sldNum" sz="quarter" idx="10"/>
          </p:nvPr>
        </p:nvSpPr>
        <p:spPr>
          <a:noFill/>
        </p:spPr>
        <p:txBody>
          <a:bodyPr/>
          <a:lstStyle/>
          <a:p>
            <a:r>
              <a:rPr lang="zh-CN" altLang="en-GB" smtClean="0"/>
              <a:t>  </a:t>
            </a:r>
            <a:fld id="{E2C377B0-DFCD-4410-B22F-3C37E98283EB}" type="slidenum">
              <a:rPr lang="zh-CN" altLang="en-GB" smtClean="0"/>
            </a:fld>
            <a:endParaRPr lang="en-US" altLang="zh-CN" smtClean="0"/>
          </a:p>
        </p:txBody>
      </p:sp>
      <p:sp>
        <p:nvSpPr>
          <p:cNvPr id="327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32772" name="Text Box 3"/>
          <p:cNvSpPr txBox="1">
            <a:spLocks noChangeArrowheads="1"/>
          </p:cNvSpPr>
          <p:nvPr/>
        </p:nvSpPr>
        <p:spPr bwMode="auto">
          <a:xfrm>
            <a:off x="258756" y="1595017"/>
            <a:ext cx="3384550" cy="548099"/>
          </a:xfrm>
          <a:prstGeom prst="rect">
            <a:avLst/>
          </a:prstGeom>
          <a:noFill/>
          <a:ln w="28575">
            <a:noFill/>
            <a:miter lim="800000"/>
          </a:ln>
        </p:spPr>
        <p:txBody>
          <a:bodyPr>
            <a:spAutoFit/>
          </a:bodyPr>
          <a:lstStyle/>
          <a:p>
            <a:pPr marL="457200" indent="-457200" algn="l">
              <a:lnSpc>
                <a:spcPct val="115000"/>
              </a:lnSpc>
              <a:spcBef>
                <a:spcPct val="50000"/>
              </a:spcBef>
              <a:buClr>
                <a:srgbClr val="C00000"/>
              </a:buClr>
            </a:pPr>
            <a:r>
              <a:rPr kumimoji="0" lang="en-US" altLang="zh-CN" smtClean="0">
                <a:solidFill>
                  <a:srgbClr val="FF0033"/>
                </a:solidFill>
                <a:latin typeface="+mn-lt"/>
                <a:ea typeface="黑体" panose="02010609060101010101" pitchFamily="2" charset="-122"/>
              </a:rPr>
              <a:t>1. PMI&amp;PMBOK</a:t>
            </a:r>
            <a:endParaRPr kumimoji="0" lang="en-US" altLang="zh-CN" smtClean="0">
              <a:solidFill>
                <a:srgbClr val="FF0033"/>
              </a:solidFill>
              <a:latin typeface="+mn-lt"/>
              <a:ea typeface="黑体" panose="02010609060101010101" pitchFamily="2" charset="-122"/>
            </a:endParaRPr>
          </a:p>
        </p:txBody>
      </p:sp>
      <p:sp>
        <p:nvSpPr>
          <p:cNvPr id="32773"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P.12</a:t>
            </a:r>
            <a:endParaRPr lang="en-US" altLang="zh-CN" sz="2400">
              <a:solidFill>
                <a:schemeClr val="bg2"/>
              </a:solidFill>
            </a:endParaRPr>
          </a:p>
        </p:txBody>
      </p:sp>
      <p:sp>
        <p:nvSpPr>
          <p:cNvPr id="32774" name="Text Box 6"/>
          <p:cNvSpPr txBox="1">
            <a:spLocks noChangeArrowheads="1"/>
          </p:cNvSpPr>
          <p:nvPr/>
        </p:nvSpPr>
        <p:spPr bwMode="auto">
          <a:xfrm>
            <a:off x="71438" y="2071678"/>
            <a:ext cx="9072594" cy="4092575"/>
          </a:xfrm>
          <a:prstGeom prst="rect">
            <a:avLst/>
          </a:prstGeom>
          <a:noFill/>
          <a:ln w="9525">
            <a:noFill/>
            <a:miter lim="800000"/>
          </a:ln>
        </p:spPr>
        <p:txBody>
          <a:bodyPr wrap="square">
            <a:spAutoFit/>
          </a:bodyPr>
          <a:lstStyle/>
          <a:p>
            <a:pPr algn="l">
              <a:spcBef>
                <a:spcPts val="600"/>
              </a:spcBef>
              <a:spcAft>
                <a:spcPts val="600"/>
              </a:spcAft>
            </a:pPr>
            <a:r>
              <a:rPr lang="en-US" dirty="0" smtClean="0">
                <a:solidFill>
                  <a:schemeClr val="bg2"/>
                </a:solidFill>
                <a:ea typeface="楷体" panose="02010609060101010101" pitchFamily="49" charset="-122"/>
                <a:cs typeface="Times New Roman" panose="02020603050405020304" pitchFamily="18" charset="0"/>
              </a:rPr>
              <a:t>PMI</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于</a:t>
            </a:r>
            <a:r>
              <a:rPr lang="en-US" dirty="0" smtClean="0">
                <a:solidFill>
                  <a:schemeClr val="bg1">
                    <a:lumMod val="50000"/>
                  </a:schemeClr>
                </a:solidFill>
                <a:ea typeface="楷体" panose="02010609060101010101" pitchFamily="49" charset="-122"/>
                <a:cs typeface="Times New Roman" panose="02020603050405020304" pitchFamily="18" charset="0"/>
              </a:rPr>
              <a:t>201</a:t>
            </a:r>
            <a:r>
              <a:rPr lang="en-US" altLang="zh-CN" dirty="0" smtClean="0">
                <a:solidFill>
                  <a:schemeClr val="bg1">
                    <a:lumMod val="50000"/>
                  </a:schemeClr>
                </a:solidFill>
                <a:ea typeface="楷体" panose="02010609060101010101" pitchFamily="49" charset="-122"/>
                <a:cs typeface="Times New Roman" panose="02020603050405020304" pitchFamily="18" charset="0"/>
              </a:rPr>
              <a:t>6</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年发布的</a:t>
            </a:r>
            <a:r>
              <a:rPr lang="en-US" altLang="zh-CN"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zh-CN" altLang="en-US"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项目管理知识体系指南</a:t>
            </a:r>
            <a:r>
              <a:rPr lang="zh-CN" altLang="en-US" dirty="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rPr>
              <a:t>（</a:t>
            </a:r>
            <a:r>
              <a:rPr lang="zh-CN" altLang="en-US"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第</a:t>
            </a:r>
            <a:r>
              <a:rPr lang="en-US" altLang="zh-CN" dirty="0" smtClean="0">
                <a:solidFill>
                  <a:srgbClr val="0000FF"/>
                </a:solidFill>
                <a:ea typeface="楷体" panose="02010609060101010101" pitchFamily="49" charset="-122"/>
                <a:cs typeface="Times New Roman" panose="02020603050405020304" pitchFamily="18" charset="0"/>
              </a:rPr>
              <a:t>6</a:t>
            </a:r>
            <a:r>
              <a:rPr lang="zh-CN" altLang="en-US"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版</a:t>
            </a:r>
            <a:r>
              <a:rPr lang="zh-CN" altLang="en-US" dirty="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rPr>
              <a:t>）</a:t>
            </a:r>
            <a:r>
              <a:rPr lang="en-US" altLang="zh-CN"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把项目管理划分为</a:t>
            </a:r>
            <a:r>
              <a:rPr lang="en-US" dirty="0" smtClean="0">
                <a:solidFill>
                  <a:schemeClr val="bg2"/>
                </a:solidFill>
                <a:ea typeface="楷体" panose="02010609060101010101" pitchFamily="49" charset="-122"/>
                <a:cs typeface="Times New Roman" panose="02020603050405020304" pitchFamily="18" charset="0"/>
              </a:rPr>
              <a:t>10</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大知识领域和</a:t>
            </a:r>
            <a:r>
              <a:rPr lang="en-US" dirty="0" smtClean="0">
                <a:solidFill>
                  <a:schemeClr val="bg2"/>
                </a:solidFill>
                <a:ea typeface="楷体" panose="02010609060101010101" pitchFamily="49" charset="-122"/>
                <a:cs typeface="Times New Roman" panose="02020603050405020304" pitchFamily="18" charset="0"/>
              </a:rPr>
              <a:t>47</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个项目管理过程，包括</a:t>
            </a:r>
            <a:r>
              <a:rPr lang="en-US" dirty="0" smtClean="0">
                <a:solidFill>
                  <a:schemeClr val="bg1"/>
                </a:solidFill>
                <a:ea typeface="楷体" panose="02010609060101010101" pitchFamily="49" charset="-122"/>
                <a:cs typeface="Times New Roman" panose="02020603050405020304" pitchFamily="18" charset="0"/>
              </a:rPr>
              <a:t>4</a:t>
            </a:r>
            <a:r>
              <a:rPr lang="zh-CN" altLang="en-US"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个核心知识领域、</a:t>
            </a:r>
            <a:r>
              <a:rPr lang="en-US" altLang="en-US" dirty="0" smtClean="0">
                <a:solidFill>
                  <a:schemeClr val="bg1"/>
                </a:solidFill>
                <a:ea typeface="楷体" panose="02010609060101010101" pitchFamily="49" charset="-122"/>
                <a:cs typeface="Times New Roman" panose="02020603050405020304" pitchFamily="18" charset="0"/>
              </a:rPr>
              <a:t>5</a:t>
            </a:r>
            <a:r>
              <a:rPr lang="zh-CN" altLang="en-US"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个辅助知识领域</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以及</a:t>
            </a:r>
            <a:r>
              <a:rPr lang="zh-CN" altLang="en-US"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项目整合管理</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en-US" altLang="zh-CN"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en-US" altLang="en-US" dirty="0" smtClean="0">
                <a:solidFill>
                  <a:schemeClr val="bg2"/>
                </a:solidFill>
                <a:ea typeface="楷体" panose="02010609060101010101" pitchFamily="49" charset="-122"/>
                <a:cs typeface="Times New Roman" panose="02020603050405020304" pitchFamily="18" charset="0"/>
              </a:rPr>
              <a:t>PMBOK</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的</a:t>
            </a:r>
            <a:r>
              <a:rPr lang="en-US" altLang="en-US" dirty="0" smtClean="0">
                <a:solidFill>
                  <a:srgbClr val="0000FF"/>
                </a:solidFill>
                <a:ea typeface="楷体" panose="02010609060101010101" pitchFamily="49" charset="-122"/>
                <a:cs typeface="Times New Roman" panose="02020603050405020304" pitchFamily="18" charset="0"/>
              </a:rPr>
              <a:t>4</a:t>
            </a:r>
            <a:r>
              <a:rPr lang="zh-CN" altLang="en-US"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大核心知识领域</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包括项目范围管理、项目时间管理、项目成本管理和项目质量管理。</a:t>
            </a:r>
            <a:endParaRPr lang="en-US" altLang="zh-CN"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sz="3600"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它们被视为核心知识领域的原因是，在这几个方面将形成具体的项目目标。</a:t>
            </a:r>
            <a:endParaRPr lang="zh-CN" altLang="en-US" sz="3600" dirty="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32775" name="Rectangle 7"/>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1.3 走进项目管理</a:t>
            </a:r>
            <a:endParaRPr kumimoji="0" lang="zh-CN" altLang="en-US"/>
          </a:p>
        </p:txBody>
      </p:sp>
      <p:sp>
        <p:nvSpPr>
          <p:cNvPr id="32776" name="Rectangle 8"/>
          <p:cNvSpPr>
            <a:spLocks noChangeArrowheads="1"/>
          </p:cNvSpPr>
          <p:nvPr/>
        </p:nvSpPr>
        <p:spPr bwMode="auto">
          <a:xfrm>
            <a:off x="179388" y="1285860"/>
            <a:ext cx="4968875" cy="519112"/>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1.3.4 项目管理知识体系</a:t>
            </a:r>
            <a:endParaRPr kumimoji="0" lang="zh-CN" altLang="en-US">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Text Box 5"/>
          <p:cNvSpPr txBox="1">
            <a:spLocks noChangeArrowheads="1"/>
          </p:cNvSpPr>
          <p:nvPr/>
        </p:nvSpPr>
        <p:spPr bwMode="auto">
          <a:xfrm>
            <a:off x="7848632" y="-28596"/>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P.13</a:t>
            </a:r>
            <a:endParaRPr lang="en-US" altLang="zh-CN" sz="2400">
              <a:solidFill>
                <a:schemeClr val="bg2"/>
              </a:solidFill>
            </a:endParaRPr>
          </a:p>
        </p:txBody>
      </p:sp>
      <p:pic>
        <p:nvPicPr>
          <p:cNvPr id="9" name="图片 8"/>
          <p:cNvPicPr/>
          <p:nvPr/>
        </p:nvPicPr>
        <p:blipFill>
          <a:blip r:embed="rId1"/>
          <a:srcRect/>
          <a:stretch>
            <a:fillRect/>
          </a:stretch>
        </p:blipFill>
        <p:spPr bwMode="auto">
          <a:xfrm>
            <a:off x="0" y="357166"/>
            <a:ext cx="9143999" cy="6500834"/>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9"/>
          <p:cNvSpPr>
            <a:spLocks noGrp="1" noChangeArrowheads="1"/>
          </p:cNvSpPr>
          <p:nvPr>
            <p:ph type="sldNum" sz="quarter" idx="10"/>
          </p:nvPr>
        </p:nvSpPr>
        <p:spPr>
          <a:noFill/>
        </p:spPr>
        <p:txBody>
          <a:bodyPr/>
          <a:lstStyle/>
          <a:p>
            <a:r>
              <a:rPr lang="zh-CN" altLang="en-GB" smtClean="0"/>
              <a:t>  </a:t>
            </a:r>
            <a:fld id="{E2C377B0-DFCD-4410-B22F-3C37E98283EB}" type="slidenum">
              <a:rPr lang="zh-CN" altLang="en-GB" smtClean="0"/>
            </a:fld>
            <a:endParaRPr lang="en-US" altLang="zh-CN" smtClean="0"/>
          </a:p>
        </p:txBody>
      </p:sp>
      <p:sp>
        <p:nvSpPr>
          <p:cNvPr id="327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32772" name="Text Box 3"/>
          <p:cNvSpPr txBox="1">
            <a:spLocks noChangeArrowheads="1"/>
          </p:cNvSpPr>
          <p:nvPr/>
        </p:nvSpPr>
        <p:spPr bwMode="auto">
          <a:xfrm>
            <a:off x="258756" y="1595017"/>
            <a:ext cx="3384550" cy="548099"/>
          </a:xfrm>
          <a:prstGeom prst="rect">
            <a:avLst/>
          </a:prstGeom>
          <a:noFill/>
          <a:ln w="28575">
            <a:noFill/>
            <a:miter lim="800000"/>
          </a:ln>
        </p:spPr>
        <p:txBody>
          <a:bodyPr>
            <a:spAutoFit/>
          </a:bodyPr>
          <a:lstStyle/>
          <a:p>
            <a:pPr marL="457200" indent="-457200" algn="l">
              <a:lnSpc>
                <a:spcPct val="115000"/>
              </a:lnSpc>
              <a:spcBef>
                <a:spcPct val="50000"/>
              </a:spcBef>
              <a:buClr>
                <a:srgbClr val="C00000"/>
              </a:buClr>
            </a:pPr>
            <a:r>
              <a:rPr kumimoji="0" lang="en-US" altLang="zh-CN" smtClean="0">
                <a:solidFill>
                  <a:srgbClr val="FF0033"/>
                </a:solidFill>
                <a:latin typeface="+mn-lt"/>
                <a:ea typeface="黑体" panose="02010609060101010101" pitchFamily="2" charset="-122"/>
              </a:rPr>
              <a:t>1. PMI&amp;PMBOK</a:t>
            </a:r>
            <a:endParaRPr kumimoji="0" lang="en-US" altLang="zh-CN" smtClean="0">
              <a:solidFill>
                <a:srgbClr val="FF0033"/>
              </a:solidFill>
              <a:latin typeface="+mn-lt"/>
              <a:ea typeface="黑体" panose="02010609060101010101" pitchFamily="2" charset="-122"/>
            </a:endParaRPr>
          </a:p>
        </p:txBody>
      </p:sp>
      <p:sp>
        <p:nvSpPr>
          <p:cNvPr id="32773"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P.12</a:t>
            </a:r>
            <a:endParaRPr lang="en-US" altLang="zh-CN" sz="2400">
              <a:solidFill>
                <a:schemeClr val="bg2"/>
              </a:solidFill>
            </a:endParaRPr>
          </a:p>
        </p:txBody>
      </p:sp>
      <p:sp>
        <p:nvSpPr>
          <p:cNvPr id="32774" name="Text Box 6"/>
          <p:cNvSpPr txBox="1">
            <a:spLocks noChangeArrowheads="1"/>
          </p:cNvSpPr>
          <p:nvPr/>
        </p:nvSpPr>
        <p:spPr bwMode="auto">
          <a:xfrm>
            <a:off x="71438" y="2071678"/>
            <a:ext cx="9072594" cy="3569335"/>
          </a:xfrm>
          <a:prstGeom prst="rect">
            <a:avLst/>
          </a:prstGeom>
          <a:noFill/>
          <a:ln w="9525">
            <a:noFill/>
            <a:miter lim="800000"/>
          </a:ln>
        </p:spPr>
        <p:txBody>
          <a:bodyPr wrap="square">
            <a:spAutoFit/>
          </a:bodyPr>
          <a:lstStyle/>
          <a:p>
            <a:pPr algn="l">
              <a:spcBef>
                <a:spcPts val="600"/>
              </a:spcBef>
              <a:spcAft>
                <a:spcPts val="600"/>
              </a:spcAft>
            </a:pPr>
            <a:r>
              <a:rPr lang="en-US" smtClean="0">
                <a:solidFill>
                  <a:schemeClr val="bg2"/>
                </a:solidFill>
                <a:ea typeface="楷体" panose="02010609060101010101" pitchFamily="49" charset="-122"/>
                <a:cs typeface="Times New Roman" panose="02020603050405020304" pitchFamily="18" charset="0"/>
              </a:rPr>
              <a:t>PMBOK</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的</a:t>
            </a:r>
            <a:r>
              <a:rPr lang="en-US" smtClean="0">
                <a:solidFill>
                  <a:schemeClr val="bg2"/>
                </a:solidFill>
                <a:ea typeface="楷体" panose="02010609060101010101" pitchFamily="49" charset="-122"/>
                <a:cs typeface="Times New Roman" panose="02020603050405020304" pitchFamily="18" charset="0"/>
              </a:rPr>
              <a:t>5</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大辅助知识领域包括项目人力资源管理、项目沟通管理、项目风险管理、采购管理和项目干系人管理。</a:t>
            </a:r>
            <a:endParaRPr lang="en-US" altLang="zh-CN"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之所以称它们为辅助知识领域，是因为项目目标是通过这些知识领域的辅助来实现的。</a:t>
            </a:r>
            <a:endPar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32775" name="Rectangle 7"/>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1.3 走进项目管理</a:t>
            </a:r>
            <a:endParaRPr kumimoji="0" lang="zh-CN" altLang="en-US"/>
          </a:p>
        </p:txBody>
      </p:sp>
      <p:sp>
        <p:nvSpPr>
          <p:cNvPr id="32776" name="Rectangle 8"/>
          <p:cNvSpPr>
            <a:spLocks noChangeArrowheads="1"/>
          </p:cNvSpPr>
          <p:nvPr/>
        </p:nvSpPr>
        <p:spPr bwMode="auto">
          <a:xfrm>
            <a:off x="179388" y="1285860"/>
            <a:ext cx="4968875" cy="519112"/>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1.3.4 项目管理知识体系</a:t>
            </a:r>
            <a:endParaRPr kumimoji="0" lang="zh-CN" altLang="en-US">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Text Box 5"/>
          <p:cNvSpPr txBox="1">
            <a:spLocks noChangeArrowheads="1"/>
          </p:cNvSpPr>
          <p:nvPr/>
        </p:nvSpPr>
        <p:spPr bwMode="auto">
          <a:xfrm>
            <a:off x="7848632" y="-28596"/>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P.13</a:t>
            </a:r>
            <a:endParaRPr lang="en-US" altLang="zh-CN" sz="2400">
              <a:solidFill>
                <a:schemeClr val="bg2"/>
              </a:solidFill>
            </a:endParaRPr>
          </a:p>
        </p:txBody>
      </p:sp>
      <p:pic>
        <p:nvPicPr>
          <p:cNvPr id="4" name="图片 3"/>
          <p:cNvPicPr/>
          <p:nvPr/>
        </p:nvPicPr>
        <p:blipFill>
          <a:blip r:embed="rId1"/>
          <a:srcRect/>
          <a:stretch>
            <a:fillRect/>
          </a:stretch>
        </p:blipFill>
        <p:spPr bwMode="auto">
          <a:xfrm>
            <a:off x="0" y="428604"/>
            <a:ext cx="9143999" cy="6429396"/>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9"/>
          <p:cNvSpPr>
            <a:spLocks noGrp="1" noChangeArrowheads="1"/>
          </p:cNvSpPr>
          <p:nvPr>
            <p:ph type="sldNum" sz="quarter" idx="10"/>
          </p:nvPr>
        </p:nvSpPr>
        <p:spPr>
          <a:noFill/>
        </p:spPr>
        <p:txBody>
          <a:bodyPr/>
          <a:lstStyle/>
          <a:p>
            <a:r>
              <a:rPr lang="zh-CN" altLang="en-GB" smtClean="0"/>
              <a:t>  </a:t>
            </a:r>
            <a:fld id="{E2C377B0-DFCD-4410-B22F-3C37E98283EB}" type="slidenum">
              <a:rPr lang="zh-CN" altLang="en-GB" smtClean="0"/>
            </a:fld>
            <a:endParaRPr lang="en-US" altLang="zh-CN" smtClean="0"/>
          </a:p>
        </p:txBody>
      </p:sp>
      <p:sp>
        <p:nvSpPr>
          <p:cNvPr id="327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32772" name="Text Box 3"/>
          <p:cNvSpPr txBox="1">
            <a:spLocks noChangeArrowheads="1"/>
          </p:cNvSpPr>
          <p:nvPr/>
        </p:nvSpPr>
        <p:spPr bwMode="auto">
          <a:xfrm>
            <a:off x="258756" y="1643050"/>
            <a:ext cx="3384550" cy="548099"/>
          </a:xfrm>
          <a:prstGeom prst="rect">
            <a:avLst/>
          </a:prstGeom>
          <a:noFill/>
          <a:ln w="28575">
            <a:noFill/>
            <a:miter lim="800000"/>
          </a:ln>
        </p:spPr>
        <p:txBody>
          <a:bodyPr>
            <a:spAutoFit/>
          </a:bodyPr>
          <a:lstStyle/>
          <a:p>
            <a:pPr marL="457200" indent="-457200" algn="l">
              <a:lnSpc>
                <a:spcPct val="115000"/>
              </a:lnSpc>
              <a:spcBef>
                <a:spcPct val="50000"/>
              </a:spcBef>
              <a:buClr>
                <a:srgbClr val="C00000"/>
              </a:buClr>
            </a:pPr>
            <a:r>
              <a:rPr kumimoji="0" lang="en-US" altLang="zh-CN" smtClean="0">
                <a:solidFill>
                  <a:srgbClr val="FF0000"/>
                </a:solidFill>
                <a:latin typeface="+mn-lt"/>
                <a:ea typeface="黑体" panose="02010609060101010101" pitchFamily="2" charset="-122"/>
              </a:rPr>
              <a:t>1. PMI&amp;PMBOK</a:t>
            </a:r>
            <a:endParaRPr kumimoji="0" lang="en-US" altLang="zh-CN" smtClean="0">
              <a:solidFill>
                <a:srgbClr val="FF0000"/>
              </a:solidFill>
              <a:latin typeface="+mn-lt"/>
              <a:ea typeface="黑体" panose="02010609060101010101" pitchFamily="2" charset="-122"/>
            </a:endParaRPr>
          </a:p>
        </p:txBody>
      </p:sp>
      <p:sp>
        <p:nvSpPr>
          <p:cNvPr id="32773"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P.14</a:t>
            </a:r>
            <a:endParaRPr lang="en-US" altLang="zh-CN" sz="2400">
              <a:solidFill>
                <a:schemeClr val="bg2"/>
              </a:solidFill>
            </a:endParaRPr>
          </a:p>
        </p:txBody>
      </p:sp>
      <p:sp>
        <p:nvSpPr>
          <p:cNvPr id="32774" name="Text Box 6"/>
          <p:cNvSpPr txBox="1">
            <a:spLocks noChangeArrowheads="1"/>
          </p:cNvSpPr>
          <p:nvPr/>
        </p:nvSpPr>
        <p:spPr bwMode="auto">
          <a:xfrm>
            <a:off x="71438" y="2143116"/>
            <a:ext cx="9072594" cy="4184650"/>
          </a:xfrm>
          <a:prstGeom prst="rect">
            <a:avLst/>
          </a:prstGeom>
          <a:noFill/>
          <a:ln w="9525">
            <a:noFill/>
            <a:miter lim="800000"/>
          </a:ln>
        </p:spPr>
        <p:txBody>
          <a:bodyPr wrap="square">
            <a:spAutoFit/>
          </a:bodyPr>
          <a:lstStyle/>
          <a:p>
            <a:pPr algn="l">
              <a:spcBef>
                <a:spcPts val="600"/>
              </a:spcBef>
              <a:spcAft>
                <a:spcPts val="600"/>
              </a:spcAft>
            </a:pPr>
            <a:r>
              <a:rPr lang="zh-CN" altLang="en-US" sz="3200" smtClean="0">
                <a:solidFill>
                  <a:srgbClr val="FF0000"/>
                </a:solidFill>
                <a:latin typeface="楷体" panose="02010609060101010101" pitchFamily="49" charset="-122"/>
                <a:ea typeface="楷体" panose="02010609060101010101" pitchFamily="49" charset="-122"/>
                <a:cs typeface="楷体" panose="02010609060101010101" pitchFamily="49" charset="-122"/>
              </a:rPr>
              <a:t>项目整合管理</a:t>
            </a:r>
            <a:r>
              <a:rPr lang="zh-CN" altLang="en-US" sz="3200" smtClean="0">
                <a:solidFill>
                  <a:schemeClr val="bg1"/>
                </a:solidFill>
                <a:latin typeface="楷体" panose="02010609060101010101" pitchFamily="49" charset="-122"/>
                <a:ea typeface="楷体" panose="02010609060101010101" pitchFamily="49" charset="-122"/>
                <a:cs typeface="楷体" panose="02010609060101010101" pitchFamily="49" charset="-122"/>
              </a:rPr>
              <a:t>是一项综合性和全局性的工作。</a:t>
            </a:r>
            <a:r>
              <a:rPr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它在</a:t>
            </a:r>
            <a:r>
              <a:rPr lang="zh-CN" altLang="en-US" sz="3200" smtClean="0">
                <a:solidFill>
                  <a:schemeClr val="bg1"/>
                </a:solidFill>
                <a:latin typeface="楷体" panose="02010609060101010101" pitchFamily="49" charset="-122"/>
                <a:ea typeface="楷体" panose="02010609060101010101" pitchFamily="49" charset="-122"/>
                <a:cs typeface="楷体" panose="02010609060101010101" pitchFamily="49" charset="-122"/>
              </a:rPr>
              <a:t>项目生命周期</a:t>
            </a:r>
            <a:r>
              <a:rPr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中</a:t>
            </a:r>
            <a:r>
              <a:rPr lang="zh-CN" altLang="en-US" sz="3200" smtClean="0">
                <a:solidFill>
                  <a:schemeClr val="bg1"/>
                </a:solidFill>
                <a:latin typeface="楷体" panose="02010609060101010101" pitchFamily="49" charset="-122"/>
                <a:ea typeface="楷体" panose="02010609060101010101" pitchFamily="49" charset="-122"/>
                <a:cs typeface="楷体" panose="02010609060101010101" pitchFamily="49" charset="-122"/>
              </a:rPr>
              <a:t>协调</a:t>
            </a:r>
            <a:r>
              <a:rPr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所有其他项目管理知识领域所涉及的</a:t>
            </a:r>
            <a:r>
              <a:rPr lang="zh-CN" altLang="en-US" sz="3200" smtClean="0">
                <a:solidFill>
                  <a:schemeClr val="bg1"/>
                </a:solidFill>
                <a:latin typeface="楷体" panose="02010609060101010101" pitchFamily="49" charset="-122"/>
                <a:ea typeface="楷体" panose="02010609060101010101" pitchFamily="49" charset="-122"/>
                <a:cs typeface="楷体" panose="02010609060101010101" pitchFamily="49" charset="-122"/>
              </a:rPr>
              <a:t>过程</a:t>
            </a:r>
            <a:r>
              <a:rPr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，将这些</a:t>
            </a:r>
            <a:r>
              <a:rPr lang="zh-CN" altLang="en-US" sz="3200" smtClean="0">
                <a:solidFill>
                  <a:schemeClr val="bg1"/>
                </a:solidFill>
                <a:latin typeface="楷体" panose="02010609060101010101" pitchFamily="49" charset="-122"/>
                <a:ea typeface="楷体" panose="02010609060101010101" pitchFamily="49" charset="-122"/>
                <a:cs typeface="楷体" panose="02010609060101010101" pitchFamily="49" charset="-122"/>
              </a:rPr>
              <a:t>过程进行有效的整合</a:t>
            </a:r>
            <a:r>
              <a:rPr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zh-CN" altLang="en-US" sz="3200" smtClean="0">
                <a:solidFill>
                  <a:schemeClr val="bg1"/>
                </a:solidFill>
                <a:latin typeface="楷体" panose="02010609060101010101" pitchFamily="49" charset="-122"/>
                <a:ea typeface="楷体" panose="02010609060101010101" pitchFamily="49" charset="-122"/>
                <a:cs typeface="楷体" panose="02010609060101010101" pitchFamily="49" charset="-122"/>
              </a:rPr>
              <a:t>确保项目所有组成要素在适当的时间结合在一起</a:t>
            </a:r>
            <a:r>
              <a:rPr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，按照组织确定的规程实现项目的目标。</a:t>
            </a:r>
            <a:endParaRPr lang="en-US" altLang="zh-CN" sz="320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“整合”兼具</a:t>
            </a:r>
            <a:r>
              <a:rPr lang="zh-CN" altLang="en-US" sz="3200" smtClean="0">
                <a:solidFill>
                  <a:schemeClr val="bg1"/>
                </a:solidFill>
                <a:latin typeface="楷体" panose="02010609060101010101" pitchFamily="49" charset="-122"/>
                <a:ea typeface="楷体" panose="02010609060101010101" pitchFamily="49" charset="-122"/>
                <a:cs typeface="楷体" panose="02010609060101010101" pitchFamily="49" charset="-122"/>
              </a:rPr>
              <a:t>统一、合并、沟通和集成</a:t>
            </a:r>
            <a:r>
              <a:rPr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的性质，对受控项目从执行到完成、成功管理干系人和满足项目要求，都至关重要。</a:t>
            </a:r>
            <a:endParaRPr lang="en-US" altLang="zh-CN" sz="320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32775" name="Rectangle 7"/>
          <p:cNvSpPr>
            <a:spLocks noChangeArrowheads="1"/>
          </p:cNvSpPr>
          <p:nvPr/>
        </p:nvSpPr>
        <p:spPr bwMode="auto">
          <a:xfrm>
            <a:off x="35560" y="620713"/>
            <a:ext cx="5543550" cy="519112"/>
          </a:xfrm>
          <a:prstGeom prst="rect">
            <a:avLst/>
          </a:prstGeom>
          <a:noFill/>
          <a:ln w="9525">
            <a:noFill/>
            <a:miter lim="800000"/>
          </a:ln>
        </p:spPr>
        <p:txBody>
          <a:bodyPr>
            <a:spAutoFit/>
          </a:bodyPr>
          <a:lstStyle/>
          <a:p>
            <a:pPr algn="l"/>
            <a:r>
              <a:rPr kumimoji="0" lang="en-US" altLang="en-US"/>
              <a:t>1.3 走进项目管理</a:t>
            </a:r>
            <a:endParaRPr kumimoji="0" lang="zh-CN" altLang="en-US"/>
          </a:p>
        </p:txBody>
      </p:sp>
      <p:sp>
        <p:nvSpPr>
          <p:cNvPr id="32776" name="Rectangle 8"/>
          <p:cNvSpPr>
            <a:spLocks noChangeArrowheads="1"/>
          </p:cNvSpPr>
          <p:nvPr/>
        </p:nvSpPr>
        <p:spPr bwMode="auto">
          <a:xfrm>
            <a:off x="179388" y="1285860"/>
            <a:ext cx="4968875" cy="521970"/>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1.3.4 </a:t>
            </a:r>
            <a:r>
              <a:rPr kumimoji="0" lang="en-US" altLang="en-US">
                <a:solidFill>
                  <a:schemeClr val="hlink"/>
                </a:solidFill>
                <a:latin typeface="楷体" panose="02010609060101010101" pitchFamily="49" charset="-122"/>
                <a:ea typeface="楷体" panose="02010609060101010101" pitchFamily="49" charset="-122"/>
              </a:rPr>
              <a:t>项目管理知识体系</a:t>
            </a:r>
            <a:endParaRPr kumimoji="0" lang="en-US"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Text Box 5"/>
          <p:cNvSpPr txBox="1">
            <a:spLocks noChangeArrowheads="1"/>
          </p:cNvSpPr>
          <p:nvPr/>
        </p:nvSpPr>
        <p:spPr bwMode="auto">
          <a:xfrm>
            <a:off x="7848632" y="-28596"/>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P.15</a:t>
            </a:r>
            <a:endParaRPr lang="en-US" altLang="zh-CN" sz="2400">
              <a:solidFill>
                <a:schemeClr val="bg2"/>
              </a:solidFill>
            </a:endParaRPr>
          </a:p>
        </p:txBody>
      </p:sp>
      <p:pic>
        <p:nvPicPr>
          <p:cNvPr id="6" name="图片 5"/>
          <p:cNvPicPr/>
          <p:nvPr/>
        </p:nvPicPr>
        <p:blipFill>
          <a:blip r:embed="rId1"/>
          <a:srcRect/>
          <a:stretch>
            <a:fillRect/>
          </a:stretch>
        </p:blipFill>
        <p:spPr bwMode="auto">
          <a:xfrm>
            <a:off x="0" y="357166"/>
            <a:ext cx="9143999" cy="6500834"/>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smtClean="0"/>
              <a:t>  </a:t>
            </a:r>
            <a:fld id="{58CA566E-3A04-4C6D-9503-DBC80F713FCC}" type="slidenum">
              <a:rPr lang="zh-CN" altLang="en-GB" smtClean="0"/>
            </a:fld>
            <a:endParaRPr lang="en-US" altLang="zh-CN" smtClean="0"/>
          </a:p>
        </p:txBody>
      </p:sp>
      <p:sp>
        <p:nvSpPr>
          <p:cNvPr id="3481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34820"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P.15</a:t>
            </a:r>
            <a:endParaRPr lang="en-US" altLang="zh-CN" sz="2400">
              <a:solidFill>
                <a:schemeClr val="bg2"/>
              </a:solidFill>
            </a:endParaRPr>
          </a:p>
        </p:txBody>
      </p:sp>
      <p:sp>
        <p:nvSpPr>
          <p:cNvPr id="34821" name="Text Box 6"/>
          <p:cNvSpPr txBox="1">
            <a:spLocks noChangeArrowheads="1"/>
          </p:cNvSpPr>
          <p:nvPr/>
        </p:nvSpPr>
        <p:spPr bwMode="auto">
          <a:xfrm>
            <a:off x="142844" y="2357430"/>
            <a:ext cx="8424862" cy="3692525"/>
          </a:xfrm>
          <a:prstGeom prst="rect">
            <a:avLst/>
          </a:prstGeom>
          <a:noFill/>
          <a:ln w="9525">
            <a:noFill/>
            <a:miter lim="800000"/>
          </a:ln>
        </p:spPr>
        <p:txBody>
          <a:bodyPr>
            <a:spAutoFit/>
          </a:bodyPr>
          <a:lstStyle/>
          <a:p>
            <a:pPr algn="l">
              <a:spcBef>
                <a:spcPct val="50000"/>
              </a:spcBef>
              <a:buClr>
                <a:schemeClr val="hlink"/>
              </a:buClr>
            </a:pPr>
            <a:r>
              <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国际项目管理协会 </a:t>
            </a:r>
            <a:r>
              <a:rPr lang="en-US" altLang="zh-CN"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altLang="zh-CN" sz="3200" smtClean="0">
                <a:solidFill>
                  <a:srgbClr val="0000FF"/>
                </a:solidFill>
                <a:ea typeface="楷体" panose="02010609060101010101" pitchFamily="49" charset="-122"/>
                <a:cs typeface="Times New Roman" panose="02020603050405020304" pitchFamily="18" charset="0"/>
              </a:rPr>
              <a:t>IPMA</a:t>
            </a:r>
            <a:r>
              <a:rPr lang="en-US" altLang="zh-CN">
                <a:solidFill>
                  <a:schemeClr val="bg2"/>
                </a:solidFill>
                <a:latin typeface="楷体" panose="02010609060101010101" pitchFamily="49" charset="-122"/>
                <a:ea typeface="楷体" panose="02010609060101010101" pitchFamily="49" charset="-122"/>
                <a:cs typeface="楷体" panose="02010609060101010101" pitchFamily="49" charset="-122"/>
              </a:rPr>
              <a:t>) </a:t>
            </a:r>
            <a:r>
              <a:rPr lang="en-US" altLang="zh-CN">
                <a:solidFill>
                  <a:schemeClr val="bg2"/>
                </a:solidFill>
                <a:ea typeface="楷体" panose="02010609060101010101" pitchFamily="49" charset="-122"/>
                <a:cs typeface="Times New Roman" panose="02020603050405020304" pitchFamily="18" charset="0"/>
              </a:rPr>
              <a:t>1965</a:t>
            </a:r>
            <a:r>
              <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年在瑞士注册成立，其成员主要代表各个国家的项目管理研究组织，最初多为欧洲国家，现已扩展到世界各大洲。</a:t>
            </a:r>
            <a:endParaRPr lang="zh-CN" altLang="en-US">
              <a:solidFill>
                <a:schemeClr val="bg2"/>
              </a:solidFill>
            </a:endParaRPr>
          </a:p>
          <a:p>
            <a:pPr algn="l">
              <a:spcBef>
                <a:spcPct val="50000"/>
              </a:spcBef>
              <a:buClr>
                <a:schemeClr val="hlink"/>
              </a:buClr>
            </a:pPr>
            <a:r>
              <a:rPr lang="en-US" altLang="zh-CN">
                <a:solidFill>
                  <a:schemeClr val="bg2"/>
                </a:solidFill>
                <a:cs typeface="Times New Roman" panose="02020603050405020304" pitchFamily="18" charset="0"/>
              </a:rPr>
              <a:t>IPMA</a:t>
            </a:r>
            <a:r>
              <a:rPr lang="zh-CN" altLang="en-US">
                <a:solidFill>
                  <a:schemeClr val="bg2"/>
                </a:solidFill>
                <a:latin typeface="楷体" panose="02010609060101010101" pitchFamily="49" charset="-122"/>
                <a:ea typeface="楷体" panose="02010609060101010101" pitchFamily="49" charset="-122"/>
              </a:rPr>
              <a:t>是一个非盈利性组织，它的职能是成为项目管理国际化的主要促进者。</a:t>
            </a:r>
            <a:endParaRPr lang="zh-CN" altLang="en-US">
              <a:solidFill>
                <a:schemeClr val="bg2"/>
              </a:solidFill>
            </a:endParaRPr>
          </a:p>
          <a:p>
            <a:pPr algn="l">
              <a:spcBef>
                <a:spcPct val="50000"/>
              </a:spcBef>
              <a:buClr>
                <a:schemeClr val="hlink"/>
              </a:buClr>
            </a:pPr>
            <a:r>
              <a:rPr lang="zh-CN" altLang="en-US">
                <a:solidFill>
                  <a:schemeClr val="bg2"/>
                </a:solidFill>
                <a:latin typeface="楷体" panose="02010609060101010101" pitchFamily="49" charset="-122"/>
                <a:ea typeface="楷体" panose="02010609060101010101" pitchFamily="49" charset="-122"/>
              </a:rPr>
              <a:t>到目前为止共有英国、法国、德国、俄罗斯、</a:t>
            </a:r>
            <a:r>
              <a:rPr lang="zh-CN" altLang="en-US" sz="3200">
                <a:solidFill>
                  <a:srgbClr val="0000FF"/>
                </a:solidFill>
                <a:latin typeface="楷体" panose="02010609060101010101" pitchFamily="49" charset="-122"/>
                <a:ea typeface="楷体" panose="02010609060101010101" pitchFamily="49" charset="-122"/>
              </a:rPr>
              <a:t>中国</a:t>
            </a:r>
            <a:r>
              <a:rPr lang="zh-CN" altLang="en-US">
                <a:solidFill>
                  <a:schemeClr val="bg2"/>
                </a:solidFill>
                <a:latin typeface="楷体" panose="02010609060101010101" pitchFamily="49" charset="-122"/>
                <a:ea typeface="楷体" panose="02010609060101010101" pitchFamily="49" charset="-122"/>
              </a:rPr>
              <a:t>等</a:t>
            </a:r>
            <a:r>
              <a:rPr lang="en-US" altLang="zh-CN">
                <a:solidFill>
                  <a:schemeClr val="bg2"/>
                </a:solidFill>
                <a:cs typeface="Times New Roman" panose="02020603050405020304" pitchFamily="18" charset="0"/>
              </a:rPr>
              <a:t>30</a:t>
            </a:r>
            <a:r>
              <a:rPr lang="zh-CN" altLang="en-US">
                <a:solidFill>
                  <a:schemeClr val="bg2"/>
                </a:solidFill>
                <a:latin typeface="楷体" panose="02010609060101010101" pitchFamily="49" charset="-122"/>
                <a:ea typeface="楷体" panose="02010609060101010101" pitchFamily="49" charset="-122"/>
              </a:rPr>
              <a:t>多个国家的项目管理专业组织成为其成员组织</a:t>
            </a:r>
            <a:r>
              <a:rPr lang="zh-CN" altLang="en-US">
                <a:solidFill>
                  <a:schemeClr val="bg2"/>
                </a:solidFill>
                <a:latin typeface="楷体" panose="02010609060101010101" pitchFamily="49" charset="-122"/>
                <a:ea typeface="楷体" panose="02010609060101010101" pitchFamily="49" charset="-122"/>
              </a:rPr>
              <a:t>。</a:t>
            </a:r>
            <a:endParaRPr lang="zh-CN" altLang="en-US">
              <a:solidFill>
                <a:schemeClr val="bg2"/>
              </a:solidFill>
              <a:latin typeface="楷体" panose="02010609060101010101" pitchFamily="49" charset="-122"/>
              <a:ea typeface="楷体" panose="02010609060101010101" pitchFamily="49" charset="-122"/>
            </a:endParaRPr>
          </a:p>
        </p:txBody>
      </p:sp>
      <p:sp>
        <p:nvSpPr>
          <p:cNvPr id="34822" name="Rectangle 7"/>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1.3 走进项目管理</a:t>
            </a:r>
            <a:endParaRPr kumimoji="0" lang="zh-CN" altLang="en-US"/>
          </a:p>
        </p:txBody>
      </p:sp>
      <p:sp>
        <p:nvSpPr>
          <p:cNvPr id="34823" name="Rectangle 8"/>
          <p:cNvSpPr>
            <a:spLocks noChangeArrowheads="1"/>
          </p:cNvSpPr>
          <p:nvPr/>
        </p:nvSpPr>
        <p:spPr bwMode="auto">
          <a:xfrm>
            <a:off x="153988" y="1341438"/>
            <a:ext cx="4418012" cy="519112"/>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1.3.4 项目管理知识体系</a:t>
            </a:r>
            <a:endParaRPr kumimoji="0" lang="zh-CN" altLang="en-US">
              <a:solidFill>
                <a:schemeClr val="hlink"/>
              </a:solidFill>
              <a:ea typeface="楷体_GB2312" pitchFamily="49" charset="-122"/>
            </a:endParaRPr>
          </a:p>
        </p:txBody>
      </p:sp>
      <p:sp>
        <p:nvSpPr>
          <p:cNvPr id="34824" name="Text Box 9"/>
          <p:cNvSpPr txBox="1">
            <a:spLocks noChangeArrowheads="1"/>
          </p:cNvSpPr>
          <p:nvPr/>
        </p:nvSpPr>
        <p:spPr bwMode="auto">
          <a:xfrm>
            <a:off x="142875" y="1785926"/>
            <a:ext cx="3384550" cy="543739"/>
          </a:xfrm>
          <a:prstGeom prst="rect">
            <a:avLst/>
          </a:prstGeom>
          <a:noFill/>
          <a:ln w="28575">
            <a:noFill/>
            <a:miter lim="800000"/>
          </a:ln>
        </p:spPr>
        <p:txBody>
          <a:bodyPr>
            <a:spAutoFit/>
          </a:bodyPr>
          <a:lstStyle/>
          <a:p>
            <a:pPr marL="457200" indent="-457200" algn="l">
              <a:lnSpc>
                <a:spcPct val="115000"/>
              </a:lnSpc>
              <a:spcBef>
                <a:spcPct val="50000"/>
              </a:spcBef>
              <a:buClr>
                <a:schemeClr val="hlink"/>
              </a:buClr>
              <a:buFont typeface="Wingdings" panose="05000000000000000000" pitchFamily="2" charset="2"/>
              <a:buNone/>
            </a:pPr>
            <a:r>
              <a:rPr kumimoji="0" lang="en-US" altLang="zh-CN" smtClean="0">
                <a:solidFill>
                  <a:srgbClr val="FF0000"/>
                </a:solidFill>
                <a:latin typeface="+mn-lt"/>
                <a:ea typeface="黑体" panose="02010609060101010101" pitchFamily="2" charset="-122"/>
              </a:rPr>
              <a:t>2. IPMA&amp;ICB</a:t>
            </a:r>
            <a:endParaRPr kumimoji="0" lang="en-US" altLang="zh-CN" smtClean="0">
              <a:solidFill>
                <a:srgbClr val="FF0000"/>
              </a:solidFill>
              <a:latin typeface="+mn-lt"/>
              <a:ea typeface="黑体" panose="0201060906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9"/>
          <p:cNvSpPr>
            <a:spLocks noGrp="1" noChangeArrowheads="1"/>
          </p:cNvSpPr>
          <p:nvPr>
            <p:ph type="sldNum" sz="quarter" idx="10"/>
          </p:nvPr>
        </p:nvSpPr>
        <p:spPr>
          <a:noFill/>
        </p:spPr>
        <p:txBody>
          <a:bodyPr/>
          <a:lstStyle/>
          <a:p>
            <a:r>
              <a:rPr lang="zh-CN" altLang="en-GB" smtClean="0"/>
              <a:t>  </a:t>
            </a:r>
            <a:fld id="{C6D55E4A-8E7B-4962-BC54-0EC45F56AF32}" type="slidenum">
              <a:rPr lang="zh-CN" altLang="en-GB" smtClean="0"/>
            </a:fld>
            <a:endParaRPr lang="en-US" altLang="zh-CN" smtClean="0"/>
          </a:p>
        </p:txBody>
      </p:sp>
      <p:sp>
        <p:nvSpPr>
          <p:cNvPr id="3584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35844"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P.15</a:t>
            </a:r>
            <a:endParaRPr lang="en-US" altLang="zh-CN" sz="2400">
              <a:solidFill>
                <a:schemeClr val="bg2"/>
              </a:solidFill>
            </a:endParaRPr>
          </a:p>
        </p:txBody>
      </p:sp>
      <p:sp>
        <p:nvSpPr>
          <p:cNvPr id="35845" name="Text Box 6"/>
          <p:cNvSpPr txBox="1">
            <a:spLocks noChangeArrowheads="1"/>
          </p:cNvSpPr>
          <p:nvPr/>
        </p:nvSpPr>
        <p:spPr bwMode="auto">
          <a:xfrm>
            <a:off x="395288" y="2413000"/>
            <a:ext cx="8534430" cy="3723005"/>
          </a:xfrm>
          <a:prstGeom prst="rect">
            <a:avLst/>
          </a:prstGeom>
          <a:noFill/>
          <a:ln w="9525">
            <a:noFill/>
            <a:miter lim="800000"/>
          </a:ln>
        </p:spPr>
        <p:txBody>
          <a:bodyPr wrap="square">
            <a:spAutoFit/>
          </a:bodyPr>
          <a:lstStyle/>
          <a:p>
            <a:pPr algn="l">
              <a:spcBef>
                <a:spcPts val="1200"/>
              </a:spcBef>
              <a:spcAft>
                <a:spcPts val="1200"/>
              </a:spcAft>
              <a:buClr>
                <a:schemeClr val="hlink"/>
              </a:buClr>
            </a:pPr>
            <a:r>
              <a:rPr lang="en-US" altLang="zh-CN" sz="3600">
                <a:solidFill>
                  <a:srgbClr val="0000FF"/>
                </a:solidFill>
              </a:rPr>
              <a:t>IPMA</a:t>
            </a:r>
            <a:r>
              <a:rPr lang="en-US" altLang="zh-CN" sz="3200"/>
              <a:t> </a:t>
            </a:r>
            <a:r>
              <a:rPr lang="zh-CN" altLang="en-US" sz="3200" smtClean="0">
                <a:solidFill>
                  <a:schemeClr val="bg2"/>
                </a:solidFill>
                <a:latin typeface="楷体" panose="02010609060101010101" pitchFamily="49" charset="-122"/>
                <a:ea typeface="楷体" panose="02010609060101010101" pitchFamily="49" charset="-122"/>
              </a:rPr>
              <a:t>在</a:t>
            </a:r>
            <a:r>
              <a:rPr lang="en-US" altLang="zh-CN" sz="3200" smtClean="0">
                <a:solidFill>
                  <a:schemeClr val="bg2"/>
                </a:solidFill>
              </a:rPr>
              <a:t>1999</a:t>
            </a:r>
            <a:r>
              <a:rPr lang="zh-CN" altLang="en-US" sz="3200">
                <a:solidFill>
                  <a:schemeClr val="bg2"/>
                </a:solidFill>
                <a:latin typeface="楷体" panose="02010609060101010101" pitchFamily="49" charset="-122"/>
                <a:ea typeface="楷体" panose="02010609060101010101" pitchFamily="49" charset="-122"/>
              </a:rPr>
              <a:t>年正式推出了国际项目管理知识体系</a:t>
            </a:r>
            <a:r>
              <a:rPr lang="zh-CN" altLang="en-US" sz="3200" smtClean="0">
                <a:solidFill>
                  <a:schemeClr val="bg2"/>
                </a:solidFill>
                <a:latin typeface="楷体" panose="02010609060101010101" pitchFamily="49" charset="-122"/>
                <a:ea typeface="楷体" panose="02010609060101010101" pitchFamily="49" charset="-122"/>
              </a:rPr>
              <a:t>（</a:t>
            </a:r>
            <a:r>
              <a:rPr lang="en-US" altLang="zh-CN" sz="3600" smtClean="0">
                <a:solidFill>
                  <a:srgbClr val="0000FF"/>
                </a:solidFill>
              </a:rPr>
              <a:t>ICB</a:t>
            </a:r>
            <a:r>
              <a:rPr lang="zh-CN" altLang="en-US" sz="3200">
                <a:solidFill>
                  <a:schemeClr val="bg2"/>
                </a:solidFill>
                <a:latin typeface="楷体" panose="02010609060101010101" pitchFamily="49" charset="-122"/>
                <a:ea typeface="楷体" panose="02010609060101010101" pitchFamily="49" charset="-122"/>
              </a:rPr>
              <a:t>）。</a:t>
            </a:r>
            <a:endParaRPr lang="zh-CN" altLang="en-US" sz="3200">
              <a:solidFill>
                <a:schemeClr val="bg2"/>
              </a:solidFill>
            </a:endParaRPr>
          </a:p>
          <a:p>
            <a:pPr algn="l">
              <a:spcBef>
                <a:spcPts val="1200"/>
              </a:spcBef>
              <a:spcAft>
                <a:spcPts val="1200"/>
              </a:spcAft>
              <a:buClr>
                <a:schemeClr val="hlink"/>
              </a:buClr>
            </a:pPr>
            <a:r>
              <a:rPr lang="en-US" altLang="zh-CN" sz="3200">
                <a:solidFill>
                  <a:schemeClr val="bg2"/>
                </a:solidFill>
              </a:rPr>
              <a:t>ICB </a:t>
            </a:r>
            <a:r>
              <a:rPr lang="zh-CN" altLang="en-US" sz="3200">
                <a:solidFill>
                  <a:schemeClr val="bg2"/>
                </a:solidFill>
                <a:latin typeface="楷体" panose="02010609060101010101" pitchFamily="49" charset="-122"/>
                <a:ea typeface="楷体" panose="02010609060101010101" pitchFamily="49" charset="-122"/>
              </a:rPr>
              <a:t>把</a:t>
            </a:r>
            <a:r>
              <a:rPr lang="zh-CN" altLang="en-US" sz="3200">
                <a:solidFill>
                  <a:schemeClr val="bg1"/>
                </a:solidFill>
                <a:latin typeface="楷体" panose="02010609060101010101" pitchFamily="49" charset="-122"/>
                <a:ea typeface="楷体" panose="02010609060101010101" pitchFamily="49" charset="-122"/>
              </a:rPr>
              <a:t>个人能力</a:t>
            </a:r>
            <a:r>
              <a:rPr lang="zh-CN" altLang="en-US" sz="3200">
                <a:solidFill>
                  <a:schemeClr val="bg2"/>
                </a:solidFill>
                <a:latin typeface="楷体" panose="02010609060101010101" pitchFamily="49" charset="-122"/>
                <a:ea typeface="楷体" panose="02010609060101010101" pitchFamily="49" charset="-122"/>
              </a:rPr>
              <a:t>划分为</a:t>
            </a:r>
            <a:r>
              <a:rPr lang="en-US" altLang="zh-CN" sz="3200">
                <a:solidFill>
                  <a:schemeClr val="bg1"/>
                </a:solidFill>
              </a:rPr>
              <a:t>42</a:t>
            </a:r>
            <a:r>
              <a:rPr lang="zh-CN" altLang="en-US" sz="3200">
                <a:solidFill>
                  <a:schemeClr val="bg1"/>
                </a:solidFill>
                <a:latin typeface="楷体" panose="02010609060101010101" pitchFamily="49" charset="-122"/>
                <a:ea typeface="楷体" panose="02010609060101010101" pitchFamily="49" charset="-122"/>
              </a:rPr>
              <a:t>个要素</a:t>
            </a:r>
            <a:r>
              <a:rPr lang="zh-CN" altLang="en-US" sz="3200">
                <a:solidFill>
                  <a:schemeClr val="bg2"/>
                </a:solidFill>
                <a:latin typeface="楷体" panose="02010609060101010101" pitchFamily="49" charset="-122"/>
                <a:ea typeface="楷体" panose="02010609060101010101" pitchFamily="49" charset="-122"/>
              </a:rPr>
              <a:t>，其中</a:t>
            </a:r>
            <a:r>
              <a:rPr lang="en-US" altLang="zh-CN" sz="3200">
                <a:solidFill>
                  <a:schemeClr val="bg2"/>
                </a:solidFill>
              </a:rPr>
              <a:t>28</a:t>
            </a:r>
            <a:r>
              <a:rPr lang="zh-CN" altLang="en-US" sz="3200">
                <a:solidFill>
                  <a:schemeClr val="bg2"/>
                </a:solidFill>
                <a:latin typeface="楷体" panose="02010609060101010101" pitchFamily="49" charset="-122"/>
                <a:ea typeface="楷体" panose="02010609060101010101" pitchFamily="49" charset="-122"/>
              </a:rPr>
              <a:t>个核心要素，</a:t>
            </a:r>
            <a:r>
              <a:rPr lang="en-US" altLang="zh-CN" sz="3200">
                <a:solidFill>
                  <a:schemeClr val="bg2"/>
                </a:solidFill>
              </a:rPr>
              <a:t>14</a:t>
            </a:r>
            <a:r>
              <a:rPr lang="zh-CN" altLang="en-US" sz="3200">
                <a:solidFill>
                  <a:schemeClr val="bg2"/>
                </a:solidFill>
                <a:latin typeface="楷体" panose="02010609060101010101" pitchFamily="49" charset="-122"/>
                <a:ea typeface="楷体" panose="02010609060101010101" pitchFamily="49" charset="-122"/>
              </a:rPr>
              <a:t>个附加要素，以及关于个人素质的</a:t>
            </a:r>
            <a:r>
              <a:rPr lang="en-US" altLang="zh-CN" sz="3200">
                <a:solidFill>
                  <a:schemeClr val="bg2"/>
                </a:solidFill>
              </a:rPr>
              <a:t>8</a:t>
            </a:r>
            <a:r>
              <a:rPr lang="zh-CN" altLang="en-US" sz="3200">
                <a:solidFill>
                  <a:schemeClr val="bg2"/>
                </a:solidFill>
                <a:latin typeface="楷体" panose="02010609060101010101" pitchFamily="49" charset="-122"/>
                <a:ea typeface="楷体" panose="02010609060101010101" pitchFamily="49" charset="-122"/>
              </a:rPr>
              <a:t>大特征和总体印象的</a:t>
            </a:r>
            <a:r>
              <a:rPr lang="en-US" altLang="zh-CN" sz="3200">
                <a:solidFill>
                  <a:schemeClr val="bg2"/>
                </a:solidFill>
              </a:rPr>
              <a:t>10</a:t>
            </a:r>
            <a:r>
              <a:rPr lang="zh-CN" altLang="en-US" sz="3200">
                <a:solidFill>
                  <a:schemeClr val="bg2"/>
                </a:solidFill>
                <a:latin typeface="楷体" panose="02010609060101010101" pitchFamily="49" charset="-122"/>
                <a:ea typeface="楷体" panose="02010609060101010101" pitchFamily="49" charset="-122"/>
              </a:rPr>
              <a:t>个</a:t>
            </a:r>
            <a:r>
              <a:rPr lang="zh-CN" altLang="en-US" sz="3200" smtClean="0">
                <a:solidFill>
                  <a:schemeClr val="bg2"/>
                </a:solidFill>
                <a:latin typeface="楷体" panose="02010609060101010101" pitchFamily="49" charset="-122"/>
                <a:ea typeface="楷体" panose="02010609060101010101" pitchFamily="49" charset="-122"/>
              </a:rPr>
              <a:t>方面</a:t>
            </a:r>
            <a:r>
              <a:rPr lang="zh-CN" altLang="en-US" sz="3200" smtClean="0">
                <a:solidFill>
                  <a:schemeClr val="bg2"/>
                </a:solidFill>
              </a:rPr>
              <a:t>。</a:t>
            </a:r>
            <a:endParaRPr lang="en-US" altLang="zh-CN" sz="3200" smtClean="0">
              <a:solidFill>
                <a:schemeClr val="bg2"/>
              </a:solidFill>
            </a:endParaRPr>
          </a:p>
          <a:p>
            <a:pPr algn="ctr">
              <a:spcBef>
                <a:spcPts val="1200"/>
              </a:spcBef>
              <a:spcAft>
                <a:spcPts val="1200"/>
              </a:spcAft>
              <a:buClr>
                <a:schemeClr val="hlink"/>
              </a:buClr>
            </a:pPr>
            <a:r>
              <a:rPr lang="en-US" altLang="en-US" smtClean="0">
                <a:solidFill>
                  <a:srgbClr val="0000FF"/>
                </a:solidFill>
                <a:latin typeface="+mn-lt"/>
                <a:ea typeface="方正姚体" panose="02010601030101010101" pitchFamily="2" charset="-122"/>
                <a:cs typeface="+mn-lt"/>
              </a:rPr>
              <a:t>IPMA</a:t>
            </a:r>
            <a:r>
              <a:rPr lang="zh-CN" altLang="en-US" smtClean="0">
                <a:solidFill>
                  <a:srgbClr val="0000FF"/>
                </a:solidFill>
                <a:latin typeface="楷体" panose="02010609060101010101" pitchFamily="49" charset="-122"/>
                <a:ea typeface="楷体" panose="02010609060101010101" pitchFamily="49" charset="-122"/>
              </a:rPr>
              <a:t>项目管理知识体系（</a:t>
            </a:r>
            <a:r>
              <a:rPr lang="en-US" altLang="zh-CN" smtClean="0">
                <a:solidFill>
                  <a:srgbClr val="0000FF"/>
                </a:solidFill>
                <a:ea typeface="方正姚体" panose="02010601030101010101" pitchFamily="2" charset="-122"/>
                <a:cs typeface="Times New Roman" panose="02020603050405020304" pitchFamily="18" charset="0"/>
              </a:rPr>
              <a:t>ICB</a:t>
            </a:r>
            <a:r>
              <a:rPr lang="zh-CN" altLang="en-US" smtClean="0">
                <a:solidFill>
                  <a:srgbClr val="0000FF"/>
                </a:solidFill>
                <a:latin typeface="楷体" panose="02010609060101010101" pitchFamily="49" charset="-122"/>
                <a:ea typeface="楷体" panose="02010609060101010101" pitchFamily="49" charset="-122"/>
              </a:rPr>
              <a:t>）如表</a:t>
            </a:r>
            <a:r>
              <a:rPr lang="en-US" altLang="zh-CN" smtClean="0">
                <a:solidFill>
                  <a:srgbClr val="0000FF"/>
                </a:solidFill>
                <a:latin typeface="+mn-lt"/>
                <a:ea typeface="方正姚体" panose="02010601030101010101" pitchFamily="2" charset="-122"/>
                <a:cs typeface="+mn-lt"/>
              </a:rPr>
              <a:t>1-5</a:t>
            </a:r>
            <a:r>
              <a:rPr lang="zh-CN" altLang="en-US" smtClean="0">
                <a:solidFill>
                  <a:srgbClr val="0000FF"/>
                </a:solidFill>
                <a:latin typeface="楷体" panose="02010609060101010101" pitchFamily="49" charset="-122"/>
                <a:ea typeface="楷体" panose="02010609060101010101" pitchFamily="49" charset="-122"/>
              </a:rPr>
              <a:t>所示</a:t>
            </a:r>
            <a:endParaRPr lang="zh-CN" altLang="en-US" smtClean="0">
              <a:solidFill>
                <a:srgbClr val="0000FF"/>
              </a:solidFill>
              <a:latin typeface="楷体" panose="02010609060101010101" pitchFamily="49" charset="-122"/>
              <a:ea typeface="楷体" panose="02010609060101010101" pitchFamily="49" charset="-122"/>
            </a:endParaRPr>
          </a:p>
        </p:txBody>
      </p:sp>
      <p:sp>
        <p:nvSpPr>
          <p:cNvPr id="35846" name="Rectangle 7"/>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1.3 走进项目管理</a:t>
            </a:r>
            <a:endParaRPr kumimoji="0" lang="zh-CN" altLang="en-US"/>
          </a:p>
        </p:txBody>
      </p:sp>
      <p:sp>
        <p:nvSpPr>
          <p:cNvPr id="35847" name="Rectangle 8"/>
          <p:cNvSpPr>
            <a:spLocks noChangeArrowheads="1"/>
          </p:cNvSpPr>
          <p:nvPr/>
        </p:nvSpPr>
        <p:spPr bwMode="auto">
          <a:xfrm>
            <a:off x="153988" y="1341438"/>
            <a:ext cx="4346575" cy="519112"/>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1.3.4 项目管理知识体系</a:t>
            </a:r>
            <a:endParaRPr kumimoji="0" lang="zh-CN" altLang="en-US">
              <a:solidFill>
                <a:schemeClr val="hlink"/>
              </a:solidFill>
              <a:ea typeface="楷体_GB2312" pitchFamily="49" charset="-122"/>
            </a:endParaRPr>
          </a:p>
        </p:txBody>
      </p:sp>
      <p:sp>
        <p:nvSpPr>
          <p:cNvPr id="9" name="Text Box 9"/>
          <p:cNvSpPr txBox="1">
            <a:spLocks noChangeArrowheads="1"/>
          </p:cNvSpPr>
          <p:nvPr/>
        </p:nvSpPr>
        <p:spPr bwMode="auto">
          <a:xfrm>
            <a:off x="142875" y="1813691"/>
            <a:ext cx="3384550" cy="543739"/>
          </a:xfrm>
          <a:prstGeom prst="rect">
            <a:avLst/>
          </a:prstGeom>
          <a:noFill/>
          <a:ln w="28575">
            <a:noFill/>
            <a:miter lim="800000"/>
          </a:ln>
        </p:spPr>
        <p:txBody>
          <a:bodyPr>
            <a:spAutoFit/>
          </a:bodyPr>
          <a:lstStyle/>
          <a:p>
            <a:pPr marL="457200" indent="-457200" algn="l">
              <a:lnSpc>
                <a:spcPct val="115000"/>
              </a:lnSpc>
              <a:spcBef>
                <a:spcPct val="50000"/>
              </a:spcBef>
              <a:buClr>
                <a:schemeClr val="hlink"/>
              </a:buClr>
              <a:buFont typeface="Wingdings" panose="05000000000000000000" pitchFamily="2" charset="2"/>
              <a:buNone/>
            </a:pPr>
            <a:r>
              <a:rPr kumimoji="0" lang="en-US" altLang="zh-CN" smtClean="0">
                <a:solidFill>
                  <a:srgbClr val="FF0033"/>
                </a:solidFill>
                <a:latin typeface="+mn-lt"/>
                <a:ea typeface="黑体" panose="02010609060101010101" pitchFamily="2" charset="-122"/>
              </a:rPr>
              <a:t>2. IPMA&amp;ICB</a:t>
            </a:r>
            <a:endParaRPr kumimoji="0" lang="en-US" altLang="zh-CN" smtClean="0">
              <a:solidFill>
                <a:srgbClr val="FF0033"/>
              </a:solidFill>
              <a:latin typeface="+mn-lt"/>
              <a:ea typeface="黑体" panose="0201060906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9"/>
          <p:cNvSpPr>
            <a:spLocks noGrp="1" noChangeArrowheads="1"/>
          </p:cNvSpPr>
          <p:nvPr>
            <p:ph type="sldNum" sz="quarter" idx="10"/>
          </p:nvPr>
        </p:nvSpPr>
        <p:spPr>
          <a:noFill/>
        </p:spPr>
        <p:txBody>
          <a:bodyPr/>
          <a:lstStyle/>
          <a:p>
            <a:r>
              <a:rPr lang="zh-CN" altLang="en-GB" smtClean="0"/>
              <a:t>  </a:t>
            </a:r>
            <a:fld id="{C6D55E4A-8E7B-4962-BC54-0EC45F56AF32}" type="slidenum">
              <a:rPr lang="zh-CN" altLang="en-GB" smtClean="0"/>
            </a:fld>
            <a:endParaRPr lang="en-US" altLang="zh-CN" smtClean="0"/>
          </a:p>
        </p:txBody>
      </p:sp>
      <p:sp>
        <p:nvSpPr>
          <p:cNvPr id="3584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35844"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P.16</a:t>
            </a:r>
            <a:endParaRPr lang="en-US" altLang="zh-CN" sz="2400">
              <a:solidFill>
                <a:schemeClr val="bg2"/>
              </a:solidFill>
            </a:endParaRPr>
          </a:p>
        </p:txBody>
      </p:sp>
      <p:sp>
        <p:nvSpPr>
          <p:cNvPr id="35845" name="Text Box 6"/>
          <p:cNvSpPr txBox="1">
            <a:spLocks noChangeArrowheads="1"/>
          </p:cNvSpPr>
          <p:nvPr/>
        </p:nvSpPr>
        <p:spPr bwMode="auto">
          <a:xfrm>
            <a:off x="142844" y="2285992"/>
            <a:ext cx="8786874" cy="4184650"/>
          </a:xfrm>
          <a:prstGeom prst="rect">
            <a:avLst/>
          </a:prstGeom>
          <a:noFill/>
          <a:ln w="9525">
            <a:noFill/>
            <a:miter lim="800000"/>
          </a:ln>
        </p:spPr>
        <p:txBody>
          <a:bodyPr wrap="square">
            <a:spAutoFit/>
          </a:bodyPr>
          <a:lstStyle/>
          <a:p>
            <a:pPr algn="l">
              <a:spcBef>
                <a:spcPts val="600"/>
              </a:spcBef>
              <a:spcAft>
                <a:spcPts val="600"/>
              </a:spcAft>
            </a:pPr>
            <a:r>
              <a:rPr lang="zh-CN" altLang="en-US" smtClean="0">
                <a:solidFill>
                  <a:schemeClr val="bg2"/>
                </a:solidFill>
                <a:latin typeface="楷体" panose="02010609060101010101" pitchFamily="49" charset="-122"/>
                <a:ea typeface="楷体" panose="02010609060101010101" pitchFamily="49" charset="-122"/>
              </a:rPr>
              <a:t>中国（双法）项目管理研究委员会（</a:t>
            </a:r>
            <a:r>
              <a:rPr lang="en-US" sz="3200" smtClean="0">
                <a:solidFill>
                  <a:srgbClr val="0000FF"/>
                </a:solidFill>
              </a:rPr>
              <a:t>PMRC</a:t>
            </a:r>
            <a:r>
              <a:rPr lang="zh-CN" altLang="en-US" smtClean="0">
                <a:solidFill>
                  <a:schemeClr val="bg2"/>
                </a:solidFill>
                <a:latin typeface="楷体" panose="02010609060101010101" pitchFamily="49" charset="-122"/>
                <a:ea typeface="楷体" panose="02010609060101010101" pitchFamily="49" charset="-122"/>
              </a:rPr>
              <a:t>）于</a:t>
            </a:r>
            <a:r>
              <a:rPr lang="en-US" smtClean="0">
                <a:solidFill>
                  <a:schemeClr val="bg2"/>
                </a:solidFill>
              </a:rPr>
              <a:t>1991</a:t>
            </a:r>
            <a:r>
              <a:rPr lang="zh-CN" altLang="en-US" smtClean="0">
                <a:solidFill>
                  <a:schemeClr val="bg2"/>
                </a:solidFill>
                <a:latin typeface="楷体" panose="02010609060101010101" pitchFamily="49" charset="-122"/>
                <a:ea typeface="楷体" panose="02010609060101010101" pitchFamily="49" charset="-122"/>
              </a:rPr>
              <a:t>年成立，</a:t>
            </a:r>
            <a:r>
              <a:rPr lang="en-US" smtClean="0">
                <a:solidFill>
                  <a:schemeClr val="bg2"/>
                </a:solidFill>
              </a:rPr>
              <a:t>1996</a:t>
            </a:r>
            <a:r>
              <a:rPr lang="zh-CN" altLang="en-US" smtClean="0">
                <a:solidFill>
                  <a:schemeClr val="bg2"/>
                </a:solidFill>
                <a:latin typeface="楷体" panose="02010609060101010101" pitchFamily="49" charset="-122"/>
                <a:ea typeface="楷体" panose="02010609060101010101" pitchFamily="49" charset="-122"/>
              </a:rPr>
              <a:t>年加入</a:t>
            </a:r>
            <a:r>
              <a:rPr lang="en-US" smtClean="0">
                <a:solidFill>
                  <a:schemeClr val="bg2"/>
                </a:solidFill>
              </a:rPr>
              <a:t>IPMA</a:t>
            </a:r>
            <a:r>
              <a:rPr lang="zh-CN" altLang="en-US" smtClean="0">
                <a:solidFill>
                  <a:schemeClr val="bg2"/>
                </a:solidFill>
                <a:latin typeface="楷体" panose="02010609060101010101" pitchFamily="49" charset="-122"/>
                <a:ea typeface="楷体" panose="02010609060101010101" pitchFamily="49" charset="-122"/>
              </a:rPr>
              <a:t>，是我国唯一的、行业的、全国性的、非盈利性的项目管理专业组织，其上级组织是</a:t>
            </a:r>
            <a:r>
              <a:rPr lang="zh-CN" altLang="en-US" smtClean="0">
                <a:solidFill>
                  <a:srgbClr val="0000FF"/>
                </a:solidFill>
                <a:latin typeface="楷体" panose="02010609060101010101" pitchFamily="49" charset="-122"/>
                <a:ea typeface="楷体" panose="02010609060101010101" pitchFamily="49" charset="-122"/>
              </a:rPr>
              <a:t>中国优选法统筹法与经济数学研究会</a:t>
            </a:r>
            <a:r>
              <a:rPr lang="zh-CN" altLang="en-US" smtClean="0">
                <a:solidFill>
                  <a:schemeClr val="bg2"/>
                </a:solidFill>
                <a:latin typeface="楷体" panose="02010609060101010101" pitchFamily="49" charset="-122"/>
                <a:ea typeface="楷体" panose="02010609060101010101" pitchFamily="49" charset="-122"/>
              </a:rPr>
              <a:t>。</a:t>
            </a:r>
            <a:endParaRPr lang="en-US" altLang="zh-CN" smtClean="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en-US" smtClean="0">
                <a:solidFill>
                  <a:schemeClr val="bg2"/>
                </a:solidFill>
              </a:rPr>
              <a:t>PMRC</a:t>
            </a:r>
            <a:r>
              <a:rPr lang="zh-CN" altLang="en-US" smtClean="0">
                <a:solidFill>
                  <a:schemeClr val="bg2"/>
                </a:solidFill>
                <a:latin typeface="楷体" panose="02010609060101010101" pitchFamily="49" charset="-122"/>
                <a:ea typeface="楷体" panose="02010609060101010101" pitchFamily="49" charset="-122"/>
              </a:rPr>
              <a:t>自成立以来，做了大量的开创性工作，为推进我国项目管理事业的发展，促进我国项目管理与国际项目管理专业领域的沟通与交流起了积极作用，特别是在推动我国项目管理专业化与国际化方面，起着越来越重要的作用。</a:t>
            </a:r>
            <a:endParaRPr lang="zh-CN" altLang="en-US" smtClean="0">
              <a:solidFill>
                <a:schemeClr val="bg2"/>
              </a:solidFill>
              <a:latin typeface="楷体" panose="02010609060101010101" pitchFamily="49" charset="-122"/>
              <a:ea typeface="楷体" panose="02010609060101010101" pitchFamily="49" charset="-122"/>
            </a:endParaRPr>
          </a:p>
        </p:txBody>
      </p:sp>
      <p:sp>
        <p:nvSpPr>
          <p:cNvPr id="35846" name="Rectangle 7"/>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1.3 走进项目管理</a:t>
            </a:r>
            <a:endParaRPr kumimoji="0" lang="zh-CN" altLang="en-US"/>
          </a:p>
        </p:txBody>
      </p:sp>
      <p:sp>
        <p:nvSpPr>
          <p:cNvPr id="35847" name="Rectangle 8"/>
          <p:cNvSpPr>
            <a:spLocks noChangeArrowheads="1"/>
          </p:cNvSpPr>
          <p:nvPr/>
        </p:nvSpPr>
        <p:spPr bwMode="auto">
          <a:xfrm>
            <a:off x="153988" y="1341438"/>
            <a:ext cx="4346575" cy="519112"/>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1.3.4 项目管理知识体系</a:t>
            </a:r>
            <a:endParaRPr kumimoji="0" lang="zh-CN" altLang="en-US">
              <a:solidFill>
                <a:schemeClr val="hlink"/>
              </a:solidFill>
              <a:ea typeface="楷体_GB2312" pitchFamily="49" charset="-122"/>
            </a:endParaRPr>
          </a:p>
        </p:txBody>
      </p:sp>
      <p:sp>
        <p:nvSpPr>
          <p:cNvPr id="9" name="Text Box 9"/>
          <p:cNvSpPr txBox="1">
            <a:spLocks noChangeArrowheads="1"/>
          </p:cNvSpPr>
          <p:nvPr/>
        </p:nvSpPr>
        <p:spPr bwMode="auto">
          <a:xfrm>
            <a:off x="142874" y="1813691"/>
            <a:ext cx="6215075" cy="587853"/>
          </a:xfrm>
          <a:prstGeom prst="rect">
            <a:avLst/>
          </a:prstGeom>
          <a:noFill/>
          <a:ln w="28575">
            <a:noFill/>
            <a:miter lim="800000"/>
          </a:ln>
        </p:spPr>
        <p:txBody>
          <a:bodyPr wrap="square">
            <a:spAutoFit/>
          </a:bodyPr>
          <a:lstStyle/>
          <a:p>
            <a:pPr marL="457200" indent="-457200" algn="l">
              <a:lnSpc>
                <a:spcPct val="115000"/>
              </a:lnSpc>
              <a:spcBef>
                <a:spcPct val="50000"/>
              </a:spcBef>
              <a:buClr>
                <a:schemeClr val="hlink"/>
              </a:buClr>
              <a:buFont typeface="Wingdings" panose="05000000000000000000" pitchFamily="2" charset="2"/>
              <a:buNone/>
            </a:pPr>
            <a:r>
              <a:rPr kumimoji="0" lang="en-US" altLang="zh-CN" smtClean="0">
                <a:solidFill>
                  <a:srgbClr val="FF0000"/>
                </a:solidFill>
                <a:latin typeface="+mn-lt"/>
                <a:ea typeface="黑体" panose="02010609060101010101" pitchFamily="2" charset="-122"/>
              </a:rPr>
              <a:t>3. PMRC&amp;C-PMBOK</a:t>
            </a:r>
            <a:endParaRPr kumimoji="0" lang="en-US" altLang="zh-CN" smtClean="0">
              <a:solidFill>
                <a:srgbClr val="FF0000"/>
              </a:solidFill>
              <a:latin typeface="+mn-lt"/>
              <a:ea typeface="黑体" panose="0201060906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9"/>
          <p:cNvSpPr>
            <a:spLocks noGrp="1" noChangeArrowheads="1"/>
          </p:cNvSpPr>
          <p:nvPr>
            <p:ph type="sldNum" sz="quarter" idx="10"/>
          </p:nvPr>
        </p:nvSpPr>
        <p:spPr>
          <a:noFill/>
        </p:spPr>
        <p:txBody>
          <a:bodyPr/>
          <a:lstStyle/>
          <a:p>
            <a:r>
              <a:rPr lang="zh-CN" altLang="en-GB" smtClean="0"/>
              <a:t>  </a:t>
            </a:r>
            <a:fld id="{C6D55E4A-8E7B-4962-BC54-0EC45F56AF32}" type="slidenum">
              <a:rPr lang="zh-CN" altLang="en-GB" smtClean="0"/>
            </a:fld>
            <a:endParaRPr lang="en-US" altLang="zh-CN" smtClean="0"/>
          </a:p>
        </p:txBody>
      </p:sp>
      <p:sp>
        <p:nvSpPr>
          <p:cNvPr id="3584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35844"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P.17</a:t>
            </a:r>
            <a:endParaRPr lang="en-US" altLang="zh-CN" sz="2400">
              <a:solidFill>
                <a:schemeClr val="bg2"/>
              </a:solidFill>
            </a:endParaRPr>
          </a:p>
        </p:txBody>
      </p:sp>
      <p:sp>
        <p:nvSpPr>
          <p:cNvPr id="35845" name="Text Box 6"/>
          <p:cNvSpPr txBox="1">
            <a:spLocks noChangeArrowheads="1"/>
          </p:cNvSpPr>
          <p:nvPr/>
        </p:nvSpPr>
        <p:spPr bwMode="auto">
          <a:xfrm>
            <a:off x="214282" y="2285992"/>
            <a:ext cx="8643998" cy="3954145"/>
          </a:xfrm>
          <a:prstGeom prst="rect">
            <a:avLst/>
          </a:prstGeom>
          <a:noFill/>
          <a:ln w="9525">
            <a:noFill/>
            <a:miter lim="800000"/>
          </a:ln>
        </p:spPr>
        <p:txBody>
          <a:bodyPr wrap="square">
            <a:spAutoFit/>
          </a:bodyPr>
          <a:lstStyle/>
          <a:p>
            <a:pPr algn="l">
              <a:spcBef>
                <a:spcPts val="1200"/>
              </a:spcBef>
              <a:spcAft>
                <a:spcPts val="600"/>
              </a:spcAft>
            </a:pPr>
            <a:r>
              <a:rPr lang="en-US" smtClean="0">
                <a:solidFill>
                  <a:schemeClr val="bg2"/>
                </a:solidFill>
                <a:latin typeface="+mn-lt"/>
              </a:rPr>
              <a:t>PMRC</a:t>
            </a:r>
            <a:r>
              <a:rPr lang="zh-CN" altLang="en-US" smtClean="0">
                <a:solidFill>
                  <a:schemeClr val="bg2"/>
                </a:solidFill>
                <a:latin typeface="楷体" panose="02010609060101010101" pitchFamily="49" charset="-122"/>
                <a:ea typeface="楷体" panose="02010609060101010101" pitchFamily="49" charset="-122"/>
              </a:rPr>
              <a:t>在充分研究了国际上十几个项目管理知识体系，特别是</a:t>
            </a:r>
            <a:r>
              <a:rPr lang="en-US" smtClean="0">
                <a:solidFill>
                  <a:schemeClr val="bg2"/>
                </a:solidFill>
                <a:latin typeface="+mn-lt"/>
              </a:rPr>
              <a:t>PMI</a:t>
            </a:r>
            <a:r>
              <a:rPr lang="zh-CN" altLang="en-US" smtClean="0">
                <a:solidFill>
                  <a:schemeClr val="bg2"/>
                </a:solidFill>
                <a:latin typeface="楷体" panose="02010609060101010101" pitchFamily="49" charset="-122"/>
                <a:ea typeface="楷体" panose="02010609060101010101" pitchFamily="49" charset="-122"/>
              </a:rPr>
              <a:t>的</a:t>
            </a:r>
            <a:r>
              <a:rPr lang="en-US" smtClean="0">
                <a:solidFill>
                  <a:schemeClr val="bg2"/>
                </a:solidFill>
                <a:latin typeface="+mn-lt"/>
              </a:rPr>
              <a:t>PMBOK</a:t>
            </a:r>
            <a:r>
              <a:rPr lang="zh-CN" altLang="en-US" smtClean="0">
                <a:solidFill>
                  <a:schemeClr val="bg2"/>
                </a:solidFill>
                <a:latin typeface="楷体" panose="02010609060101010101" pitchFamily="49" charset="-122"/>
                <a:ea typeface="楷体" panose="02010609060101010101" pitchFamily="49" charset="-122"/>
              </a:rPr>
              <a:t>和</a:t>
            </a:r>
            <a:r>
              <a:rPr lang="en-US" smtClean="0">
                <a:solidFill>
                  <a:schemeClr val="bg2"/>
                </a:solidFill>
                <a:latin typeface="+mn-lt"/>
              </a:rPr>
              <a:t>IPMA</a:t>
            </a:r>
            <a:r>
              <a:rPr lang="zh-CN" altLang="en-US" smtClean="0">
                <a:solidFill>
                  <a:schemeClr val="bg2"/>
                </a:solidFill>
                <a:latin typeface="楷体" panose="02010609060101010101" pitchFamily="49" charset="-122"/>
                <a:ea typeface="楷体" panose="02010609060101010101" pitchFamily="49" charset="-122"/>
              </a:rPr>
              <a:t>的</a:t>
            </a:r>
            <a:r>
              <a:rPr lang="en-US" smtClean="0">
                <a:solidFill>
                  <a:schemeClr val="bg2"/>
                </a:solidFill>
                <a:latin typeface="+mn-lt"/>
              </a:rPr>
              <a:t>ICB</a:t>
            </a:r>
            <a:r>
              <a:rPr lang="zh-CN" altLang="en-US" smtClean="0">
                <a:solidFill>
                  <a:schemeClr val="bg2"/>
                </a:solidFill>
                <a:latin typeface="楷体" panose="02010609060101010101" pitchFamily="49" charset="-122"/>
                <a:ea typeface="楷体" panose="02010609060101010101" pitchFamily="49" charset="-122"/>
              </a:rPr>
              <a:t>基础上，于</a:t>
            </a:r>
            <a:r>
              <a:rPr lang="en-US" smtClean="0">
                <a:solidFill>
                  <a:schemeClr val="bg2"/>
                </a:solidFill>
                <a:latin typeface="+mn-lt"/>
              </a:rPr>
              <a:t>2001</a:t>
            </a:r>
            <a:r>
              <a:rPr lang="zh-CN" altLang="en-US" smtClean="0">
                <a:solidFill>
                  <a:schemeClr val="bg2"/>
                </a:solidFill>
                <a:latin typeface="楷体" panose="02010609060101010101" pitchFamily="49" charset="-122"/>
                <a:ea typeface="楷体" panose="02010609060101010101" pitchFamily="49" charset="-122"/>
              </a:rPr>
              <a:t>年推出了一个具有中国特色的项目管理知识体系（</a:t>
            </a:r>
            <a:r>
              <a:rPr lang="en-US" sz="3200" smtClean="0">
                <a:solidFill>
                  <a:srgbClr val="0000FF"/>
                </a:solidFill>
                <a:latin typeface="+mn-lt"/>
              </a:rPr>
              <a:t>C-PMBOK</a:t>
            </a:r>
            <a:r>
              <a:rPr lang="zh-CN" altLang="en-US" smtClean="0">
                <a:solidFill>
                  <a:schemeClr val="bg2"/>
                </a:solidFill>
                <a:latin typeface="楷体" panose="02010609060101010101" pitchFamily="49" charset="-122"/>
                <a:ea typeface="楷体" panose="02010609060101010101" pitchFamily="49" charset="-122"/>
              </a:rPr>
              <a:t>）。</a:t>
            </a:r>
            <a:endParaRPr lang="en-US" altLang="zh-CN" smtClean="0">
              <a:solidFill>
                <a:schemeClr val="bg2"/>
              </a:solidFill>
              <a:latin typeface="+mn-lt"/>
            </a:endParaRPr>
          </a:p>
          <a:p>
            <a:pPr algn="ctr">
              <a:spcBef>
                <a:spcPts val="1200"/>
              </a:spcBef>
              <a:spcAft>
                <a:spcPts val="600"/>
              </a:spcAft>
            </a:pPr>
            <a:r>
              <a:rPr lang="en-US" altLang="en-US" sz="3200" smtClean="0">
                <a:solidFill>
                  <a:srgbClr val="0000FF"/>
                </a:solidFill>
                <a:latin typeface="+mn-lt"/>
                <a:ea typeface="黑体" panose="02010609060101010101" pitchFamily="2" charset="-122"/>
              </a:rPr>
              <a:t>C-PMBOK 2006</a:t>
            </a:r>
            <a:r>
              <a:rPr lang="zh-CN" altLang="en-US" smtClean="0">
                <a:solidFill>
                  <a:srgbClr val="0000FF"/>
                </a:solidFill>
                <a:latin typeface="楷体" panose="02010609060101010101" pitchFamily="49" charset="-122"/>
                <a:ea typeface="楷体" panose="02010609060101010101" pitchFamily="49" charset="-122"/>
              </a:rPr>
              <a:t>项目管理体系参考框架之项目管理基础与生命周期阶段相关知识如表</a:t>
            </a:r>
            <a:r>
              <a:rPr lang="en-US" altLang="en-US" smtClean="0">
                <a:solidFill>
                  <a:srgbClr val="0000FF"/>
                </a:solidFill>
                <a:latin typeface="+mn-lt"/>
                <a:ea typeface="黑体" panose="02010609060101010101" pitchFamily="2" charset="-122"/>
              </a:rPr>
              <a:t>1-6</a:t>
            </a:r>
            <a:r>
              <a:rPr lang="zh-CN" altLang="en-US" smtClean="0">
                <a:solidFill>
                  <a:srgbClr val="0000FF"/>
                </a:solidFill>
                <a:latin typeface="楷体" panose="02010609060101010101" pitchFamily="49" charset="-122"/>
                <a:ea typeface="楷体" panose="02010609060101010101" pitchFamily="49" charset="-122"/>
              </a:rPr>
              <a:t>所示，项目管理领域相关知识如表</a:t>
            </a:r>
            <a:r>
              <a:rPr lang="en-US" altLang="en-US" smtClean="0">
                <a:solidFill>
                  <a:srgbClr val="0000FF"/>
                </a:solidFill>
                <a:latin typeface="+mn-lt"/>
                <a:ea typeface="黑体" panose="02010609060101010101" pitchFamily="2" charset="-122"/>
              </a:rPr>
              <a:t>1-7</a:t>
            </a:r>
            <a:r>
              <a:rPr lang="zh-CN" altLang="en-US" smtClean="0">
                <a:solidFill>
                  <a:srgbClr val="0000FF"/>
                </a:solidFill>
                <a:latin typeface="楷体" panose="02010609060101010101" pitchFamily="49" charset="-122"/>
                <a:ea typeface="楷体" panose="02010609060101010101" pitchFamily="49" charset="-122"/>
              </a:rPr>
              <a:t>所示，项目管理常用方法与工具如表</a:t>
            </a:r>
            <a:r>
              <a:rPr lang="en-US" altLang="en-US" smtClean="0">
                <a:solidFill>
                  <a:srgbClr val="0000FF"/>
                </a:solidFill>
                <a:latin typeface="+mn-lt"/>
                <a:ea typeface="黑体" panose="02010609060101010101" pitchFamily="2" charset="-122"/>
              </a:rPr>
              <a:t>1-8</a:t>
            </a:r>
            <a:r>
              <a:rPr lang="zh-CN" altLang="en-US" smtClean="0">
                <a:solidFill>
                  <a:srgbClr val="0000FF"/>
                </a:solidFill>
                <a:latin typeface="楷体" panose="02010609060101010101" pitchFamily="49" charset="-122"/>
                <a:ea typeface="楷体" panose="02010609060101010101" pitchFamily="49" charset="-122"/>
              </a:rPr>
              <a:t>所示</a:t>
            </a:r>
            <a:endParaRPr lang="zh-CN" altLang="en-US" smtClean="0">
              <a:solidFill>
                <a:srgbClr val="0000FF"/>
              </a:solidFill>
              <a:latin typeface="楷体" panose="02010609060101010101" pitchFamily="49" charset="-122"/>
              <a:ea typeface="楷体" panose="02010609060101010101" pitchFamily="49" charset="-122"/>
            </a:endParaRPr>
          </a:p>
        </p:txBody>
      </p:sp>
      <p:sp>
        <p:nvSpPr>
          <p:cNvPr id="35846" name="Rectangle 7"/>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1.3 走进项目管理</a:t>
            </a:r>
            <a:endParaRPr kumimoji="0" lang="zh-CN" altLang="en-US"/>
          </a:p>
        </p:txBody>
      </p:sp>
      <p:sp>
        <p:nvSpPr>
          <p:cNvPr id="35847" name="Rectangle 8"/>
          <p:cNvSpPr>
            <a:spLocks noChangeArrowheads="1"/>
          </p:cNvSpPr>
          <p:nvPr/>
        </p:nvSpPr>
        <p:spPr bwMode="auto">
          <a:xfrm>
            <a:off x="153988" y="1341438"/>
            <a:ext cx="4346575" cy="519112"/>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1.3.4 项目管理知识体系</a:t>
            </a:r>
            <a:endParaRPr kumimoji="0" lang="zh-CN" altLang="en-US">
              <a:solidFill>
                <a:schemeClr val="hlink"/>
              </a:solidFill>
              <a:ea typeface="楷体_GB2312" pitchFamily="49" charset="-122"/>
            </a:endParaRPr>
          </a:p>
        </p:txBody>
      </p:sp>
      <p:sp>
        <p:nvSpPr>
          <p:cNvPr id="9" name="Text Box 9"/>
          <p:cNvSpPr txBox="1">
            <a:spLocks noChangeArrowheads="1"/>
          </p:cNvSpPr>
          <p:nvPr/>
        </p:nvSpPr>
        <p:spPr bwMode="auto">
          <a:xfrm>
            <a:off x="142874" y="1813691"/>
            <a:ext cx="6215075" cy="587853"/>
          </a:xfrm>
          <a:prstGeom prst="rect">
            <a:avLst/>
          </a:prstGeom>
          <a:noFill/>
          <a:ln w="28575">
            <a:noFill/>
            <a:miter lim="800000"/>
          </a:ln>
        </p:spPr>
        <p:txBody>
          <a:bodyPr wrap="square">
            <a:spAutoFit/>
          </a:bodyPr>
          <a:lstStyle/>
          <a:p>
            <a:pPr marL="457200" indent="-457200" algn="l">
              <a:lnSpc>
                <a:spcPct val="115000"/>
              </a:lnSpc>
              <a:spcBef>
                <a:spcPct val="50000"/>
              </a:spcBef>
              <a:buClr>
                <a:schemeClr val="hlink"/>
              </a:buClr>
              <a:buFont typeface="Wingdings" panose="05000000000000000000" pitchFamily="2" charset="2"/>
              <a:buNone/>
            </a:pPr>
            <a:r>
              <a:rPr kumimoji="0" lang="en-US" altLang="zh-CN" smtClean="0">
                <a:solidFill>
                  <a:srgbClr val="FF0033"/>
                </a:solidFill>
                <a:latin typeface="+mn-lt"/>
                <a:ea typeface="黑体" panose="02010609060101010101" pitchFamily="2" charset="-122"/>
              </a:rPr>
              <a:t>3. PMRC&amp;C-PMBOK</a:t>
            </a:r>
            <a:endParaRPr kumimoji="0" lang="en-US" altLang="zh-CN" smtClean="0">
              <a:solidFill>
                <a:srgbClr val="FF0033"/>
              </a:solidFill>
              <a:latin typeface="+mn-lt"/>
              <a:ea typeface="黑体" panose="0201060906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smtClean="0"/>
              <a:t>  </a:t>
            </a:r>
            <a:fld id="{B6D6A615-618E-4DBF-9BE6-09340DC0AD1F}" type="slidenum">
              <a:rPr lang="zh-CN" altLang="en-GB" smtClean="0"/>
            </a:fld>
            <a:endParaRPr lang="en-US" altLang="zh-CN" smtClean="0"/>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819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pitchFamily="49" charset="-122"/>
                <a:ea typeface="楷体" panose="02010609060101010101" pitchFamily="49" charset="-122"/>
                <a:cs typeface="楷体" panose="02010609060101010101" pitchFamily="49" charset="-122"/>
              </a:rPr>
              <a:t>提   纲</a:t>
            </a:r>
            <a:endParaRPr lang="zh-CN" altLang="en-US" sz="4800" b="1" smtClean="0">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285720" y="1357298"/>
            <a:ext cx="8501062" cy="489267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项目与项目管理的价值</a:t>
            </a:r>
            <a:endParaRPr lang="en-US" altLang="zh-CN" sz="440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项目的特点与定义</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项目管理的概念与知识体系</a:t>
            </a:r>
            <a:endParaRPr lang="en-US" altLang="zh-CN" sz="440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smtClean="0">
                <a:solidFill>
                  <a:srgbClr val="FF0033"/>
                </a:solidFill>
                <a:latin typeface="楷体" panose="02010609060101010101" pitchFamily="49" charset="-122"/>
                <a:ea typeface="楷体" panose="02010609060101010101" pitchFamily="49" charset="-122"/>
                <a:cs typeface="楷体" panose="02010609060101010101" pitchFamily="49" charset="-122"/>
              </a:rPr>
              <a:t>信息技术与</a:t>
            </a:r>
            <a:r>
              <a:rPr lang="en-US" altLang="zh-CN" sz="4800" smtClean="0">
                <a:solidFill>
                  <a:srgbClr val="FF0033"/>
                </a:solidFill>
                <a:latin typeface="+mn-lt"/>
                <a:ea typeface="楷体" panose="02010609060101010101" pitchFamily="49" charset="-122"/>
                <a:cs typeface="+mn-lt"/>
              </a:rPr>
              <a:t>IT</a:t>
            </a:r>
            <a:r>
              <a:rPr lang="zh-CN" altLang="en-US" sz="4800" smtClean="0">
                <a:solidFill>
                  <a:srgbClr val="FF0033"/>
                </a:solidFill>
                <a:latin typeface="楷体" panose="02010609060101010101" pitchFamily="49" charset="-122"/>
                <a:ea typeface="楷体" panose="02010609060101010101" pitchFamily="49" charset="-122"/>
                <a:cs typeface="楷体" panose="02010609060101010101" pitchFamily="49" charset="-122"/>
              </a:rPr>
              <a:t>项目特征</a:t>
            </a:r>
            <a:endParaRPr lang="en-US" altLang="zh-CN" sz="4800" smtClean="0">
              <a:solidFill>
                <a:srgbClr val="C00000"/>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zh-CN" sz="4400" smtClean="0">
                <a:solidFill>
                  <a:srgbClr val="0000FF"/>
                </a:solidFill>
                <a:ea typeface="楷体" panose="02010609060101010101" pitchFamily="49" charset="-122"/>
                <a:cs typeface="Times New Roman" panose="02020603050405020304" pitchFamily="18" charset="0"/>
              </a:rPr>
              <a:t>IT</a:t>
            </a: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项目管理的定义与特点</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软件的定义与软件项目特点</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软件项目管理的意义和重点</a:t>
            </a:r>
            <a:endParaRPr lang="zh-CN" altLang="en-US" sz="4400" dirty="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9"/>
          <p:cNvSpPr>
            <a:spLocks noGrp="1" noChangeArrowheads="1"/>
          </p:cNvSpPr>
          <p:nvPr>
            <p:ph type="sldNum" sz="quarter" idx="10"/>
          </p:nvPr>
        </p:nvSpPr>
        <p:spPr>
          <a:noFill/>
        </p:spPr>
        <p:txBody>
          <a:bodyPr/>
          <a:lstStyle/>
          <a:p>
            <a:r>
              <a:rPr lang="zh-CN" altLang="en-GB" dirty="0" smtClean="0"/>
              <a:t>  </a:t>
            </a:r>
            <a:fld id="{10855DC8-CBA9-4A63-AA52-08C715FE3AF6}" type="slidenum">
              <a:rPr lang="zh-CN" altLang="en-GB" smtClean="0"/>
            </a:fld>
            <a:endParaRPr lang="en-US" altLang="zh-CN" dirty="0" smtClean="0"/>
          </a:p>
        </p:txBody>
      </p:sp>
      <p:sp>
        <p:nvSpPr>
          <p:cNvPr id="3789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37892"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P.19</a:t>
            </a:r>
            <a:endParaRPr lang="en-US" altLang="zh-CN" sz="2400">
              <a:solidFill>
                <a:schemeClr val="bg2"/>
              </a:solidFill>
            </a:endParaRPr>
          </a:p>
        </p:txBody>
      </p:sp>
      <p:sp>
        <p:nvSpPr>
          <p:cNvPr id="529413" name="Text Box 5"/>
          <p:cNvSpPr txBox="1">
            <a:spLocks noChangeArrowheads="1"/>
          </p:cNvSpPr>
          <p:nvPr/>
        </p:nvSpPr>
        <p:spPr bwMode="auto">
          <a:xfrm>
            <a:off x="250825" y="1952625"/>
            <a:ext cx="8642350" cy="4538345"/>
          </a:xfrm>
          <a:prstGeom prst="rect">
            <a:avLst/>
          </a:prstGeom>
          <a:noFill/>
          <a:ln w="9525">
            <a:noFill/>
            <a:miter lim="800000"/>
          </a:ln>
        </p:spPr>
        <p:txBody>
          <a:bodyPr>
            <a:spAutoFit/>
          </a:bodyPr>
          <a:lstStyle/>
          <a:p>
            <a:pPr algn="l">
              <a:spcBef>
                <a:spcPct val="50000"/>
              </a:spcBef>
              <a:buClr>
                <a:schemeClr val="hlink"/>
              </a:buClr>
            </a:pPr>
            <a:r>
              <a:rPr lang="zh-CN" altLang="en-US" sz="4000" dirty="0" smtClean="0">
                <a:solidFill>
                  <a:srgbClr val="0000FF"/>
                </a:solidFill>
                <a:latin typeface="楷体" panose="02010609060101010101" pitchFamily="49" charset="-122"/>
                <a:ea typeface="楷体" panose="02010609060101010101" pitchFamily="49" charset="-122"/>
              </a:rPr>
              <a:t>信息技术</a:t>
            </a:r>
            <a:r>
              <a:rPr lang="zh-CN" altLang="en-US" sz="3600" dirty="0">
                <a:solidFill>
                  <a:schemeClr val="bg2"/>
                </a:solidFill>
                <a:latin typeface="楷体" panose="02010609060101010101" pitchFamily="49" charset="-122"/>
                <a:ea typeface="楷体" panose="02010609060101010101" pitchFamily="49" charset="-122"/>
              </a:rPr>
              <a:t>（</a:t>
            </a:r>
            <a:r>
              <a:rPr lang="en-US" altLang="zh-CN" sz="4000" dirty="0">
                <a:solidFill>
                  <a:srgbClr val="FF0000"/>
                </a:solidFill>
              </a:rPr>
              <a:t>IT</a:t>
            </a:r>
            <a:r>
              <a:rPr lang="zh-CN" altLang="en-US" sz="3600" dirty="0">
                <a:solidFill>
                  <a:schemeClr val="bg2"/>
                </a:solidFill>
                <a:latin typeface="楷体" panose="02010609060101010101" pitchFamily="49" charset="-122"/>
                <a:ea typeface="楷体" panose="02010609060101010101" pitchFamily="49" charset="-122"/>
              </a:rPr>
              <a:t>）</a:t>
            </a:r>
            <a:r>
              <a:rPr lang="zh-CN" altLang="en-US" sz="4000" dirty="0" smtClean="0">
                <a:solidFill>
                  <a:srgbClr val="0000FF"/>
                </a:solidFill>
                <a:latin typeface="楷体" panose="02010609060101010101" pitchFamily="49" charset="-122"/>
                <a:ea typeface="楷体" panose="02010609060101010101" pitchFamily="49" charset="-122"/>
              </a:rPr>
              <a:t>是</a:t>
            </a:r>
            <a:r>
              <a:rPr lang="zh-CN" altLang="en-US" sz="4000" dirty="0">
                <a:solidFill>
                  <a:srgbClr val="0000FF"/>
                </a:solidFill>
                <a:latin typeface="楷体" panose="02010609060101010101" pitchFamily="49" charset="-122"/>
                <a:ea typeface="楷体" panose="02010609060101010101" pitchFamily="49" charset="-122"/>
              </a:rPr>
              <a:t>以电子计算机和现代通信为主要手段，实现信息的</a:t>
            </a:r>
            <a:r>
              <a:rPr lang="zh-CN" altLang="en-US" sz="4400" dirty="0">
                <a:solidFill>
                  <a:srgbClr val="FF0000"/>
                </a:solidFill>
                <a:latin typeface="楷体" panose="02010609060101010101" pitchFamily="49" charset="-122"/>
                <a:ea typeface="楷体" panose="02010609060101010101" pitchFamily="49" charset="-122"/>
              </a:rPr>
              <a:t>获取</a:t>
            </a:r>
            <a:r>
              <a:rPr lang="zh-CN" altLang="en-US" sz="4000" dirty="0">
                <a:solidFill>
                  <a:srgbClr val="000099"/>
                </a:solidFill>
                <a:latin typeface="楷体" panose="02010609060101010101" pitchFamily="49" charset="-122"/>
                <a:ea typeface="楷体" panose="02010609060101010101" pitchFamily="49" charset="-122"/>
              </a:rPr>
              <a:t>、</a:t>
            </a:r>
            <a:r>
              <a:rPr lang="zh-CN" altLang="en-US" sz="4400" dirty="0">
                <a:solidFill>
                  <a:srgbClr val="FF0000"/>
                </a:solidFill>
                <a:latin typeface="楷体" panose="02010609060101010101" pitchFamily="49" charset="-122"/>
                <a:ea typeface="楷体" panose="02010609060101010101" pitchFamily="49" charset="-122"/>
              </a:rPr>
              <a:t>加工</a:t>
            </a:r>
            <a:r>
              <a:rPr lang="zh-CN" altLang="en-US" sz="4000" dirty="0">
                <a:solidFill>
                  <a:srgbClr val="000099"/>
                </a:solidFill>
                <a:latin typeface="楷体" panose="02010609060101010101" pitchFamily="49" charset="-122"/>
                <a:ea typeface="楷体" panose="02010609060101010101" pitchFamily="49" charset="-122"/>
              </a:rPr>
              <a:t>、</a:t>
            </a:r>
            <a:r>
              <a:rPr lang="zh-CN" altLang="en-US" sz="4400" dirty="0">
                <a:solidFill>
                  <a:srgbClr val="FF0000"/>
                </a:solidFill>
                <a:latin typeface="楷体" panose="02010609060101010101" pitchFamily="49" charset="-122"/>
                <a:ea typeface="楷体" panose="02010609060101010101" pitchFamily="49" charset="-122"/>
              </a:rPr>
              <a:t>传递</a:t>
            </a:r>
            <a:r>
              <a:rPr lang="zh-CN" altLang="en-US" sz="4000" dirty="0">
                <a:solidFill>
                  <a:srgbClr val="0000FF"/>
                </a:solidFill>
                <a:latin typeface="楷体" panose="02010609060101010101" pitchFamily="49" charset="-122"/>
                <a:ea typeface="楷体" panose="02010609060101010101" pitchFamily="49" charset="-122"/>
              </a:rPr>
              <a:t>和</a:t>
            </a:r>
            <a:r>
              <a:rPr lang="zh-CN" altLang="en-US" sz="4400" dirty="0">
                <a:solidFill>
                  <a:srgbClr val="FF0000"/>
                </a:solidFill>
                <a:latin typeface="楷体" panose="02010609060101010101" pitchFamily="49" charset="-122"/>
                <a:ea typeface="楷体" panose="02010609060101010101" pitchFamily="49" charset="-122"/>
              </a:rPr>
              <a:t>利用</a:t>
            </a:r>
            <a:r>
              <a:rPr lang="zh-CN" altLang="en-US" sz="4000" dirty="0">
                <a:solidFill>
                  <a:srgbClr val="0000FF"/>
                </a:solidFill>
                <a:latin typeface="楷体" panose="02010609060101010101" pitchFamily="49" charset="-122"/>
                <a:ea typeface="楷体" panose="02010609060101010101" pitchFamily="49" charset="-122"/>
              </a:rPr>
              <a:t>等功能的技术总和</a:t>
            </a:r>
            <a:r>
              <a:rPr lang="zh-CN" altLang="en-US" sz="4000" dirty="0" smtClean="0">
                <a:solidFill>
                  <a:srgbClr val="000099"/>
                </a:solidFill>
                <a:latin typeface="楷体" panose="02010609060101010101" pitchFamily="49" charset="-122"/>
                <a:ea typeface="楷体" panose="02010609060101010101" pitchFamily="49" charset="-122"/>
              </a:rPr>
              <a:t>。</a:t>
            </a:r>
            <a:endParaRPr lang="en-US" altLang="zh-CN" sz="3200" dirty="0" smtClean="0">
              <a:solidFill>
                <a:schemeClr val="bg2"/>
              </a:solidFill>
            </a:endParaRPr>
          </a:p>
          <a:p>
            <a:pPr algn="l">
              <a:spcBef>
                <a:spcPts val="600"/>
              </a:spcBef>
              <a:spcAft>
                <a:spcPts val="600"/>
              </a:spcAft>
              <a:buClr>
                <a:srgbClr val="990000"/>
              </a:buClr>
            </a:pPr>
            <a:r>
              <a:rPr lang="zh-CN" altLang="en-US"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信息技术</a:t>
            </a:r>
            <a:r>
              <a:rPr lang="zh-CN" altLang="en-US" sz="3200" dirty="0">
                <a:solidFill>
                  <a:schemeClr val="bg2"/>
                </a:solidFill>
                <a:latin typeface="楷体" panose="02010609060101010101" pitchFamily="49" charset="-122"/>
                <a:ea typeface="楷体" panose="02010609060101010101" pitchFamily="49" charset="-122"/>
                <a:cs typeface="楷体" panose="02010609060101010101" pitchFamily="49" charset="-122"/>
              </a:rPr>
              <a:t>主要包括 </a:t>
            </a:r>
            <a:r>
              <a:rPr lang="zh-CN" altLang="en-US"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en-US" altLang="zh-CN"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buClr>
                <a:srgbClr val="990000"/>
              </a:buClr>
            </a:pPr>
            <a:r>
              <a:rPr lang="zh-CN" altLang="en-US"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lang="zh-CN" altLang="en-US" sz="3200" dirty="0">
                <a:solidFill>
                  <a:schemeClr val="bg2"/>
                </a:solidFill>
                <a:latin typeface="楷体" panose="02010609060101010101" pitchFamily="49" charset="-122"/>
                <a:ea typeface="楷体" panose="02010609060101010101" pitchFamily="49" charset="-122"/>
                <a:cs typeface="楷体" panose="02010609060101010101" pitchFamily="49" charset="-122"/>
              </a:rPr>
              <a:t>⑴传感技术            ⑵通信技术</a:t>
            </a:r>
            <a:endParaRPr lang="en-US" altLang="zh-CN" sz="3200"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buClr>
                <a:srgbClr val="990000"/>
              </a:buClr>
            </a:pPr>
            <a:r>
              <a:rPr lang="zh-CN" altLang="en-US"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lang="zh-CN" altLang="en-US" sz="3200" dirty="0">
                <a:solidFill>
                  <a:schemeClr val="bg2"/>
                </a:solidFill>
                <a:latin typeface="楷体" panose="02010609060101010101" pitchFamily="49" charset="-122"/>
                <a:ea typeface="楷体" panose="02010609060101010101" pitchFamily="49" charset="-122"/>
                <a:cs typeface="楷体" panose="02010609060101010101" pitchFamily="49" charset="-122"/>
              </a:rPr>
              <a:t>⑶计算机技术          ⑷控制技术</a:t>
            </a:r>
            <a:r>
              <a:rPr lang="zh-CN" altLang="en-US"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等</a:t>
            </a:r>
            <a:endParaRPr lang="zh-CN" altLang="en-US" sz="4000" dirty="0">
              <a:solidFill>
                <a:srgbClr val="000099"/>
              </a:solidFill>
              <a:latin typeface="楷体" panose="02010609060101010101" pitchFamily="49" charset="-122"/>
              <a:ea typeface="楷体" panose="02010609060101010101" pitchFamily="49" charset="-122"/>
              <a:cs typeface="楷体" panose="02010609060101010101" pitchFamily="49" charset="-122"/>
            </a:endParaRPr>
          </a:p>
        </p:txBody>
      </p:sp>
      <p:sp>
        <p:nvSpPr>
          <p:cNvPr id="37894" name="Rectangle 7"/>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1.4 走进IT项目</a:t>
            </a:r>
            <a:endParaRPr kumimoji="0" lang="zh-CN" altLang="en-US"/>
          </a:p>
        </p:txBody>
      </p:sp>
      <p:sp>
        <p:nvSpPr>
          <p:cNvPr id="37895" name="Rectangle 8"/>
          <p:cNvSpPr>
            <a:spLocks noChangeArrowheads="1"/>
          </p:cNvSpPr>
          <p:nvPr/>
        </p:nvSpPr>
        <p:spPr bwMode="auto">
          <a:xfrm>
            <a:off x="153988" y="1341438"/>
            <a:ext cx="2413000" cy="519112"/>
          </a:xfrm>
          <a:prstGeom prst="rect">
            <a:avLst/>
          </a:prstGeom>
          <a:noFill/>
          <a:ln w="9525">
            <a:noFill/>
            <a:miter lim="800000"/>
          </a:ln>
        </p:spPr>
        <p:txBody>
          <a:bodyPr wrap="none">
            <a:spAutoFit/>
          </a:bodyPr>
          <a:lstStyle/>
          <a:p>
            <a:pPr algn="l"/>
            <a:r>
              <a:rPr kumimoji="0" lang="en-US" altLang="en-US">
                <a:solidFill>
                  <a:schemeClr val="hlink"/>
                </a:solidFill>
                <a:ea typeface="楷体_GB2312" pitchFamily="49" charset="-122"/>
              </a:rPr>
              <a:t>1.4.1 </a:t>
            </a:r>
            <a:r>
              <a:rPr kumimoji="0" lang="en-US" altLang="en-US">
                <a:solidFill>
                  <a:srgbClr val="FF0000"/>
                </a:solidFill>
                <a:ea typeface="楷体_GB2312" pitchFamily="49" charset="-122"/>
              </a:rPr>
              <a:t>信息</a:t>
            </a:r>
            <a:r>
              <a:rPr kumimoji="0" lang="en-US" altLang="en-US">
                <a:solidFill>
                  <a:schemeClr val="hlink"/>
                </a:solidFill>
                <a:ea typeface="楷体_GB2312" pitchFamily="49" charset="-122"/>
              </a:rPr>
              <a:t>技术</a:t>
            </a:r>
            <a:endParaRPr kumimoji="0" lang="en-US" altLang="en-US">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94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94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94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94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9"/>
          <p:cNvSpPr>
            <a:spLocks noGrp="1" noChangeArrowheads="1"/>
          </p:cNvSpPr>
          <p:nvPr>
            <p:ph type="sldNum" sz="quarter" idx="10"/>
          </p:nvPr>
        </p:nvSpPr>
        <p:spPr>
          <a:noFill/>
        </p:spPr>
        <p:txBody>
          <a:bodyPr/>
          <a:lstStyle/>
          <a:p>
            <a:r>
              <a:rPr lang="zh-CN" altLang="en-GB" smtClean="0"/>
              <a:t>  </a:t>
            </a:r>
            <a:fld id="{0E90CE53-0723-430A-8C50-B3EC4BA4CF37}" type="slidenum">
              <a:rPr lang="zh-CN" altLang="en-GB" smtClean="0"/>
            </a:fld>
            <a:endParaRPr lang="en-US" altLang="zh-CN" smtClean="0"/>
          </a:p>
        </p:txBody>
      </p:sp>
      <p:sp>
        <p:nvSpPr>
          <p:cNvPr id="4915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P.21</a:t>
            </a:r>
            <a:endParaRPr lang="en-US" altLang="zh-CN" sz="2400">
              <a:solidFill>
                <a:schemeClr val="bg2"/>
              </a:solidFill>
            </a:endParaRPr>
          </a:p>
        </p:txBody>
      </p:sp>
      <p:sp>
        <p:nvSpPr>
          <p:cNvPr id="541700" name="Text Box 4"/>
          <p:cNvSpPr txBox="1">
            <a:spLocks noChangeArrowheads="1"/>
          </p:cNvSpPr>
          <p:nvPr/>
        </p:nvSpPr>
        <p:spPr bwMode="auto">
          <a:xfrm>
            <a:off x="285720" y="2022493"/>
            <a:ext cx="8424862" cy="4015105"/>
          </a:xfrm>
          <a:prstGeom prst="rect">
            <a:avLst/>
          </a:prstGeom>
          <a:noFill/>
          <a:ln w="9525">
            <a:noFill/>
            <a:miter lim="800000"/>
          </a:ln>
        </p:spPr>
        <p:txBody>
          <a:bodyPr>
            <a:spAutoFit/>
          </a:bodyPr>
          <a:lstStyle/>
          <a:p>
            <a:pPr algn="l">
              <a:lnSpc>
                <a:spcPct val="125000"/>
              </a:lnSpc>
              <a:spcBef>
                <a:spcPct val="50000"/>
              </a:spcBef>
              <a:buClr>
                <a:schemeClr val="hlink"/>
              </a:buClr>
            </a:pPr>
            <a:r>
              <a:rPr lang="zh-CN" altLang="en-US" sz="4800" smtClean="0">
                <a:solidFill>
                  <a:schemeClr val="bg2"/>
                </a:solidFill>
                <a:latin typeface="楷体" panose="02010609060101010101" pitchFamily="49" charset="-122"/>
                <a:ea typeface="楷体" panose="02010609060101010101" pitchFamily="49" charset="-122"/>
                <a:cs typeface="楷体" panose="02010609060101010101" pitchFamily="49" charset="-122"/>
              </a:rPr>
              <a:t>我们将利用</a:t>
            </a:r>
            <a:r>
              <a:rPr lang="zh-CN" altLang="en-US" sz="4800">
                <a:solidFill>
                  <a:schemeClr val="bg1"/>
                </a:solidFill>
                <a:latin typeface="楷体" panose="02010609060101010101" pitchFamily="49" charset="-122"/>
                <a:ea typeface="楷体" panose="02010609060101010101" pitchFamily="49" charset="-122"/>
                <a:cs typeface="楷体" panose="02010609060101010101" pitchFamily="49" charset="-122"/>
              </a:rPr>
              <a:t>有限资源</a:t>
            </a:r>
            <a:r>
              <a:rPr lang="zh-CN" altLang="en-US" sz="4800">
                <a:solidFill>
                  <a:schemeClr val="bg2"/>
                </a:solidFill>
                <a:latin typeface="楷体" panose="02010609060101010101" pitchFamily="49" charset="-122"/>
                <a:ea typeface="楷体" panose="02010609060101010101" pitchFamily="49" charset="-122"/>
                <a:cs typeface="楷体" panose="02010609060101010101" pitchFamily="49" charset="-122"/>
              </a:rPr>
              <a:t>、在</a:t>
            </a:r>
            <a:r>
              <a:rPr lang="zh-CN" altLang="en-US" sz="4800">
                <a:solidFill>
                  <a:schemeClr val="bg1"/>
                </a:solidFill>
                <a:latin typeface="楷体" panose="02010609060101010101" pitchFamily="49" charset="-122"/>
                <a:ea typeface="楷体" panose="02010609060101010101" pitchFamily="49" charset="-122"/>
                <a:cs typeface="楷体" panose="02010609060101010101" pitchFamily="49" charset="-122"/>
              </a:rPr>
              <a:t>一定的时间内</a:t>
            </a:r>
            <a:r>
              <a:rPr lang="zh-CN" altLang="en-US" sz="480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zh-CN" altLang="en-US" sz="4800">
                <a:solidFill>
                  <a:schemeClr val="bg1"/>
                </a:solidFill>
                <a:latin typeface="楷体" panose="02010609060101010101" pitchFamily="49" charset="-122"/>
                <a:ea typeface="楷体" panose="02010609060101010101" pitchFamily="49" charset="-122"/>
                <a:cs typeface="楷体" panose="02010609060101010101" pitchFamily="49" charset="-122"/>
              </a:rPr>
              <a:t>完成</a:t>
            </a:r>
            <a:r>
              <a:rPr lang="zh-CN" altLang="en-US" sz="4800">
                <a:solidFill>
                  <a:schemeClr val="bg2"/>
                </a:solidFill>
                <a:latin typeface="楷体" panose="02010609060101010101" pitchFamily="49" charset="-122"/>
                <a:ea typeface="楷体" panose="02010609060101010101" pitchFamily="49" charset="-122"/>
                <a:cs typeface="楷体" panose="02010609060101010101" pitchFamily="49" charset="-122"/>
              </a:rPr>
              <a:t>满足一系列特定的</a:t>
            </a:r>
            <a:r>
              <a:rPr lang="en-US" altLang="zh-CN" sz="4800">
                <a:solidFill>
                  <a:schemeClr val="bg1"/>
                </a:solidFill>
                <a:ea typeface="楷体" panose="02010609060101010101" pitchFamily="49" charset="-122"/>
                <a:cs typeface="Times New Roman" panose="02020603050405020304" pitchFamily="18" charset="0"/>
              </a:rPr>
              <a:t>IT</a:t>
            </a:r>
            <a:r>
              <a:rPr lang="zh-CN" altLang="en-US" sz="4800">
                <a:solidFill>
                  <a:schemeClr val="bg1"/>
                </a:solidFill>
                <a:latin typeface="楷体" panose="02010609060101010101" pitchFamily="49" charset="-122"/>
                <a:ea typeface="楷体" panose="02010609060101010101" pitchFamily="49" charset="-122"/>
                <a:cs typeface="楷体" panose="02010609060101010101" pitchFamily="49" charset="-122"/>
              </a:rPr>
              <a:t>信息化目标</a:t>
            </a:r>
            <a:r>
              <a:rPr lang="zh-CN" altLang="en-US" sz="4800">
                <a:solidFill>
                  <a:schemeClr val="bg2"/>
                </a:solidFill>
                <a:latin typeface="楷体" panose="02010609060101010101" pitchFamily="49" charset="-122"/>
                <a:ea typeface="楷体" panose="02010609060101010101" pitchFamily="49" charset="-122"/>
                <a:cs typeface="楷体" panose="02010609060101010101" pitchFamily="49" charset="-122"/>
              </a:rPr>
              <a:t>的多项相关工作叫做</a:t>
            </a:r>
            <a:r>
              <a:rPr lang="en-US" altLang="zh-CN" sz="6000">
                <a:solidFill>
                  <a:srgbClr val="FF0000"/>
                </a:solidFill>
                <a:ea typeface="楷体" panose="02010609060101010101" pitchFamily="49" charset="-122"/>
                <a:cs typeface="Times New Roman" panose="02020603050405020304" pitchFamily="18" charset="0"/>
              </a:rPr>
              <a:t>IT</a:t>
            </a:r>
            <a:r>
              <a:rPr lang="zh-CN" altLang="en-US" sz="6000">
                <a:solidFill>
                  <a:srgbClr val="FF0000"/>
                </a:solidFill>
                <a:latin typeface="楷体" panose="02010609060101010101" pitchFamily="49" charset="-122"/>
                <a:ea typeface="楷体" panose="02010609060101010101" pitchFamily="49" charset="-122"/>
                <a:cs typeface="楷体" panose="02010609060101010101" pitchFamily="49" charset="-122"/>
              </a:rPr>
              <a:t>项目</a:t>
            </a:r>
            <a:r>
              <a:rPr lang="zh-CN" altLang="en-US" sz="4800">
                <a:solidFill>
                  <a:srgbClr val="000099"/>
                </a:solidFill>
                <a:latin typeface="楷体" panose="02010609060101010101" pitchFamily="49" charset="-122"/>
                <a:ea typeface="楷体" panose="02010609060101010101" pitchFamily="49" charset="-122"/>
                <a:cs typeface="楷体" panose="02010609060101010101" pitchFamily="49" charset="-122"/>
              </a:rPr>
              <a:t>。</a:t>
            </a:r>
            <a:endParaRPr lang="zh-CN" altLang="en-US" sz="4800">
              <a:solidFill>
                <a:srgbClr val="000099"/>
              </a:solidFill>
              <a:latin typeface="楷体" panose="02010609060101010101" pitchFamily="49" charset="-122"/>
              <a:ea typeface="楷体" panose="02010609060101010101" pitchFamily="49" charset="-122"/>
              <a:cs typeface="楷体" panose="02010609060101010101" pitchFamily="49" charset="-122"/>
            </a:endParaRPr>
          </a:p>
        </p:txBody>
      </p:sp>
      <p:sp>
        <p:nvSpPr>
          <p:cNvPr id="49157" name="Rectangle 6"/>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1.4 走进IT项目</a:t>
            </a:r>
            <a:endParaRPr kumimoji="0" lang="zh-CN" altLang="en-US"/>
          </a:p>
        </p:txBody>
      </p:sp>
      <p:sp>
        <p:nvSpPr>
          <p:cNvPr id="49158" name="Rectangle 7"/>
          <p:cNvSpPr>
            <a:spLocks noChangeArrowheads="1"/>
          </p:cNvSpPr>
          <p:nvPr/>
        </p:nvSpPr>
        <p:spPr bwMode="auto">
          <a:xfrm>
            <a:off x="153988" y="1341438"/>
            <a:ext cx="3146425" cy="521970"/>
          </a:xfrm>
          <a:prstGeom prst="rect">
            <a:avLst/>
          </a:prstGeom>
          <a:noFill/>
          <a:ln w="9525">
            <a:noFill/>
            <a:miter lim="800000"/>
          </a:ln>
        </p:spPr>
        <p:txBody>
          <a:bodyPr wrap="none">
            <a:spAutoFit/>
          </a:bodyPr>
          <a:lstStyle/>
          <a:p>
            <a:pPr algn="l"/>
            <a:r>
              <a:rPr kumimoji="0" lang="en-US" altLang="en-US" dirty="0" smtClean="0">
                <a:solidFill>
                  <a:schemeClr val="hlink"/>
                </a:solidFill>
                <a:ea typeface="楷体_GB2312" pitchFamily="49" charset="-122"/>
              </a:rPr>
              <a:t>1.4.</a:t>
            </a:r>
            <a:r>
              <a:rPr kumimoji="0" lang="en-US" altLang="zh-CN" dirty="0" smtClean="0">
                <a:solidFill>
                  <a:schemeClr val="hlink"/>
                </a:solidFill>
                <a:ea typeface="楷体_GB2312" pitchFamily="49" charset="-122"/>
              </a:rPr>
              <a:t>2</a:t>
            </a:r>
            <a:r>
              <a:rPr kumimoji="0" lang="en-US" altLang="en-US" dirty="0" smtClean="0">
                <a:solidFill>
                  <a:schemeClr val="hlink"/>
                </a:solidFill>
                <a:ea typeface="楷体_GB2312" pitchFamily="49" charset="-122"/>
              </a:rPr>
              <a:t> </a:t>
            </a:r>
            <a:r>
              <a:rPr kumimoji="0" lang="en-US" altLang="en-US" dirty="0" err="1">
                <a:solidFill>
                  <a:schemeClr val="hlink"/>
                </a:solidFill>
                <a:ea typeface="楷体_GB2312" pitchFamily="49" charset="-122"/>
                <a:cs typeface="Times New Roman" panose="02020603050405020304" pitchFamily="18" charset="0"/>
              </a:rPr>
              <a:t>IT</a:t>
            </a:r>
            <a:r>
              <a:rPr kumimoji="0" lang="en-US" altLang="en-US" dirty="0" err="1" smtClean="0">
                <a:solidFill>
                  <a:schemeClr val="hlink"/>
                </a:solidFill>
                <a:latin typeface="楷体" panose="02010609060101010101" pitchFamily="49" charset="-122"/>
                <a:ea typeface="楷体" panose="02010609060101010101" pitchFamily="49" charset="-122"/>
              </a:rPr>
              <a:t>项目的</a:t>
            </a:r>
            <a:r>
              <a:rPr kumimoji="0" lang="zh-CN" altLang="en-US" dirty="0" smtClean="0">
                <a:solidFill>
                  <a:schemeClr val="hlink"/>
                </a:solidFill>
                <a:latin typeface="楷体" panose="02010609060101010101" pitchFamily="49" charset="-122"/>
                <a:ea typeface="楷体" panose="02010609060101010101" pitchFamily="49" charset="-122"/>
              </a:rPr>
              <a:t>定义</a:t>
            </a:r>
            <a:endParaRPr kumimoji="0" lang="en-US" altLang="en-US" dirty="0">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170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9"/>
          <p:cNvSpPr>
            <a:spLocks noGrp="1" noChangeArrowheads="1"/>
          </p:cNvSpPr>
          <p:nvPr>
            <p:ph type="sldNum" sz="quarter" idx="10"/>
          </p:nvPr>
        </p:nvSpPr>
        <p:spPr>
          <a:noFill/>
        </p:spPr>
        <p:txBody>
          <a:bodyPr/>
          <a:lstStyle/>
          <a:p>
            <a:r>
              <a:rPr lang="zh-CN" altLang="en-GB" smtClean="0"/>
              <a:t>  </a:t>
            </a:r>
            <a:fld id="{559D1FA5-6BC7-4608-A1F3-022F2273E418}" type="slidenum">
              <a:rPr lang="zh-CN" altLang="en-GB" smtClean="0"/>
            </a:fld>
            <a:endParaRPr lang="en-US" altLang="zh-CN" smtClean="0"/>
          </a:p>
        </p:txBody>
      </p:sp>
      <p:sp>
        <p:nvSpPr>
          <p:cNvPr id="5017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P.23</a:t>
            </a:r>
            <a:endParaRPr lang="en-US" altLang="zh-CN" sz="2400">
              <a:solidFill>
                <a:schemeClr val="bg2"/>
              </a:solidFill>
            </a:endParaRPr>
          </a:p>
        </p:txBody>
      </p:sp>
      <p:sp>
        <p:nvSpPr>
          <p:cNvPr id="50180" name="Text Box 4"/>
          <p:cNvSpPr txBox="1">
            <a:spLocks noChangeArrowheads="1"/>
          </p:cNvSpPr>
          <p:nvPr/>
        </p:nvSpPr>
        <p:spPr bwMode="auto">
          <a:xfrm>
            <a:off x="179388" y="1773238"/>
            <a:ext cx="8750330" cy="4556760"/>
          </a:xfrm>
          <a:prstGeom prst="rect">
            <a:avLst/>
          </a:prstGeom>
          <a:noFill/>
          <a:ln w="9525">
            <a:noFill/>
            <a:miter lim="800000"/>
          </a:ln>
        </p:spPr>
        <p:txBody>
          <a:bodyPr wrap="square">
            <a:spAutoFit/>
          </a:bodyPr>
          <a:lstStyle/>
          <a:p>
            <a:pPr algn="l">
              <a:spcBef>
                <a:spcPct val="50000"/>
              </a:spcBef>
              <a:buClr>
                <a:schemeClr val="hlink"/>
              </a:buClr>
            </a:pPr>
            <a:r>
              <a:rPr lang="en-US" altLang="zh-CN" sz="2400" dirty="0">
                <a:solidFill>
                  <a:schemeClr val="bg2"/>
                </a:solidFill>
                <a:ea typeface="楷体" panose="02010609060101010101" pitchFamily="49" charset="-122"/>
                <a:cs typeface="Times New Roman" panose="02020603050405020304" pitchFamily="18" charset="0"/>
              </a:rPr>
              <a:t>IT</a:t>
            </a:r>
            <a:r>
              <a:rPr lang="zh-CN" altLang="en-US" sz="2400" dirty="0">
                <a:solidFill>
                  <a:schemeClr val="bg2"/>
                </a:solidFill>
                <a:latin typeface="楷体" panose="02010609060101010101" pitchFamily="49" charset="-122"/>
                <a:ea typeface="楷体" panose="02010609060101010101" pitchFamily="49" charset="-122"/>
                <a:cs typeface="楷体" panose="02010609060101010101" pitchFamily="49" charset="-122"/>
              </a:rPr>
              <a:t>项目除了具有其一般项目所具有的</a:t>
            </a:r>
            <a:r>
              <a:rPr lang="zh-CN" altLang="en-US" sz="2400" dirty="0">
                <a:solidFill>
                  <a:schemeClr val="bg1"/>
                </a:solidFill>
                <a:latin typeface="楷体" panose="02010609060101010101" pitchFamily="49" charset="-122"/>
                <a:ea typeface="楷体" panose="02010609060101010101" pitchFamily="49" charset="-122"/>
                <a:cs typeface="楷体" panose="02010609060101010101" pitchFamily="49" charset="-122"/>
              </a:rPr>
              <a:t>独特性、一次性、整体性、临时性、不确定性、资源多变性、有一个主要发起人</a:t>
            </a:r>
            <a:r>
              <a:rPr lang="zh-CN" altLang="en-US" sz="2400" dirty="0">
                <a:solidFill>
                  <a:schemeClr val="bg2"/>
                </a:solidFill>
                <a:latin typeface="楷体" panose="02010609060101010101" pitchFamily="49" charset="-122"/>
                <a:ea typeface="楷体" panose="02010609060101010101" pitchFamily="49" charset="-122"/>
                <a:cs typeface="楷体" panose="02010609060101010101" pitchFamily="49" charset="-122"/>
              </a:rPr>
              <a:t>等特征外，还具有明显</a:t>
            </a: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的特殊性</a:t>
            </a:r>
            <a:r>
              <a:rPr lang="zh-CN" altLang="en-US" sz="2400" dirty="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zh-CN" altLang="en-US" sz="2400"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1082675" lvl="2" indent="-367030" algn="l">
              <a:spcBef>
                <a:spcPct val="30000"/>
              </a:spcBef>
              <a:buClr>
                <a:schemeClr val="hlink"/>
              </a:buClr>
              <a:buFont typeface="Wingdings" panose="05000000000000000000" pitchFamily="2" charset="2"/>
              <a:buNone/>
            </a:pPr>
            <a:r>
              <a:rPr lang="en-US" altLang="zh-CN" sz="2400" dirty="0">
                <a:solidFill>
                  <a:srgbClr val="FF0000"/>
                </a:solidFill>
                <a:latin typeface="楷体" panose="02010609060101010101" pitchFamily="49" charset="-122"/>
                <a:ea typeface="楷体" panose="02010609060101010101" pitchFamily="49" charset="-122"/>
                <a:cs typeface="楷体" panose="02010609060101010101" pitchFamily="49" charset="-122"/>
              </a:rPr>
              <a:t>1</a:t>
            </a:r>
            <a:r>
              <a:rPr lang="zh-CN" altLang="en-US" sz="2400" dirty="0">
                <a:solidFill>
                  <a:srgbClr val="FF0000"/>
                </a:solidFill>
                <a:latin typeface="楷体" panose="02010609060101010101" pitchFamily="49" charset="-122"/>
                <a:ea typeface="楷体" panose="02010609060101010101" pitchFamily="49" charset="-122"/>
                <a:cs typeface="楷体" panose="02010609060101010101" pitchFamily="49" charset="-122"/>
              </a:rPr>
              <a:t>）目标的不确定性</a:t>
            </a:r>
            <a:endParaRPr lang="zh-CN" altLang="en-US" sz="24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marL="1082675" lvl="2" indent="-367030" algn="l">
              <a:spcBef>
                <a:spcPct val="30000"/>
              </a:spcBef>
              <a:buClr>
                <a:schemeClr val="hlink"/>
              </a:buClr>
              <a:buFont typeface="Wingdings" panose="05000000000000000000" pitchFamily="2" charset="2"/>
              <a:buNone/>
            </a:pPr>
            <a:r>
              <a:rPr lang="en-US" altLang="zh-CN" sz="2400" dirty="0">
                <a:solidFill>
                  <a:srgbClr val="FF0000"/>
                </a:solidFill>
                <a:latin typeface="楷体" panose="02010609060101010101" pitchFamily="49" charset="-122"/>
                <a:ea typeface="楷体" panose="02010609060101010101" pitchFamily="49" charset="-122"/>
                <a:cs typeface="楷体" panose="02010609060101010101" pitchFamily="49" charset="-122"/>
              </a:rPr>
              <a:t>2</a:t>
            </a:r>
            <a:r>
              <a:rPr lang="zh-CN" altLang="en-US" sz="2400" dirty="0">
                <a:solidFill>
                  <a:srgbClr val="FF0000"/>
                </a:solidFill>
                <a:latin typeface="楷体" panose="02010609060101010101" pitchFamily="49" charset="-122"/>
                <a:ea typeface="楷体" panose="02010609060101010101" pitchFamily="49" charset="-122"/>
                <a:cs typeface="楷体" panose="02010609060101010101" pitchFamily="49" charset="-122"/>
              </a:rPr>
              <a:t>）需求的不稳定性</a:t>
            </a:r>
            <a:endParaRPr lang="zh-CN" altLang="en-US" sz="24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marL="1082675" lvl="2" indent="-367030" algn="l">
              <a:spcBef>
                <a:spcPct val="30000"/>
              </a:spcBef>
              <a:buClr>
                <a:schemeClr val="hlink"/>
              </a:buClr>
              <a:buFont typeface="Wingdings" panose="05000000000000000000" pitchFamily="2" charset="2"/>
              <a:buNone/>
            </a:pPr>
            <a:r>
              <a:rPr lang="en-US" altLang="zh-CN" sz="2400" dirty="0">
                <a:solidFill>
                  <a:srgbClr val="FF0000"/>
                </a:solidFill>
                <a:latin typeface="楷体" panose="02010609060101010101" pitchFamily="49" charset="-122"/>
                <a:ea typeface="楷体" panose="02010609060101010101" pitchFamily="49" charset="-122"/>
                <a:cs typeface="楷体" panose="02010609060101010101" pitchFamily="49" charset="-122"/>
              </a:rPr>
              <a:t>3</a:t>
            </a:r>
            <a:r>
              <a:rPr lang="zh-CN" altLang="en-US" sz="2400" dirty="0">
                <a:solidFill>
                  <a:srgbClr val="FF0000"/>
                </a:solidFill>
                <a:latin typeface="楷体" panose="02010609060101010101" pitchFamily="49" charset="-122"/>
                <a:ea typeface="楷体" panose="02010609060101010101" pitchFamily="49" charset="-122"/>
                <a:cs typeface="楷体" panose="02010609060101010101" pitchFamily="49" charset="-122"/>
              </a:rPr>
              <a:t>）费用的不可控性</a:t>
            </a:r>
            <a:endParaRPr lang="zh-CN" altLang="en-US" sz="24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marL="1082675" lvl="2" indent="-367030" algn="l">
              <a:spcBef>
                <a:spcPct val="30000"/>
              </a:spcBef>
              <a:buClr>
                <a:schemeClr val="hlink"/>
              </a:buClr>
              <a:buFont typeface="Wingdings" panose="05000000000000000000" pitchFamily="2" charset="2"/>
              <a:buNone/>
            </a:pPr>
            <a:r>
              <a:rPr lang="en-US" altLang="zh-CN" sz="2400" dirty="0">
                <a:solidFill>
                  <a:srgbClr val="FF0000"/>
                </a:solidFill>
                <a:latin typeface="楷体" panose="02010609060101010101" pitchFamily="49" charset="-122"/>
                <a:ea typeface="楷体" panose="02010609060101010101" pitchFamily="49" charset="-122"/>
                <a:cs typeface="楷体" panose="02010609060101010101" pitchFamily="49" charset="-122"/>
              </a:rPr>
              <a:t>4</a:t>
            </a:r>
            <a:r>
              <a:rPr lang="zh-CN" altLang="en-US" sz="2400" dirty="0">
                <a:solidFill>
                  <a:srgbClr val="FF0000"/>
                </a:solidFill>
                <a:latin typeface="楷体" panose="02010609060101010101" pitchFamily="49" charset="-122"/>
                <a:ea typeface="楷体" panose="02010609060101010101" pitchFamily="49" charset="-122"/>
                <a:cs typeface="楷体" panose="02010609060101010101" pitchFamily="49" charset="-122"/>
              </a:rPr>
              <a:t>）项目的时限性</a:t>
            </a:r>
            <a:endParaRPr lang="zh-CN" altLang="en-US" sz="24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marL="1082675" lvl="2" indent="-367030" algn="l">
              <a:spcBef>
                <a:spcPct val="30000"/>
              </a:spcBef>
              <a:buClr>
                <a:schemeClr val="hlink"/>
              </a:buClr>
              <a:buFont typeface="Wingdings" panose="05000000000000000000" pitchFamily="2" charset="2"/>
              <a:buNone/>
            </a:pPr>
            <a:r>
              <a:rPr lang="en-US" altLang="zh-CN" sz="2400" dirty="0">
                <a:solidFill>
                  <a:srgbClr val="FF0000"/>
                </a:solidFill>
                <a:latin typeface="楷体" panose="02010609060101010101" pitchFamily="49" charset="-122"/>
                <a:ea typeface="楷体" panose="02010609060101010101" pitchFamily="49" charset="-122"/>
                <a:cs typeface="楷体" panose="02010609060101010101" pitchFamily="49" charset="-122"/>
              </a:rPr>
              <a:t>5</a:t>
            </a:r>
            <a:r>
              <a:rPr lang="zh-CN" altLang="en-US" sz="2400" dirty="0">
                <a:solidFill>
                  <a:srgbClr val="FF0000"/>
                </a:solidFill>
                <a:latin typeface="楷体" panose="02010609060101010101" pitchFamily="49" charset="-122"/>
                <a:ea typeface="楷体" panose="02010609060101010101" pitchFamily="49" charset="-122"/>
                <a:cs typeface="楷体" panose="02010609060101010101" pitchFamily="49" charset="-122"/>
              </a:rPr>
              <a:t>）对智力的依赖性</a:t>
            </a:r>
            <a:endParaRPr lang="zh-CN" altLang="en-US" sz="24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marL="1082675" lvl="2" indent="-367030" algn="l">
              <a:spcBef>
                <a:spcPct val="30000"/>
              </a:spcBef>
              <a:buClr>
                <a:schemeClr val="hlink"/>
              </a:buClr>
              <a:buFont typeface="Wingdings" panose="05000000000000000000" pitchFamily="2" charset="2"/>
              <a:buNone/>
            </a:pPr>
            <a:r>
              <a:rPr lang="en-US" altLang="zh-CN" sz="2400" dirty="0">
                <a:solidFill>
                  <a:srgbClr val="FF0000"/>
                </a:solidFill>
                <a:latin typeface="楷体" panose="02010609060101010101" pitchFamily="49" charset="-122"/>
                <a:ea typeface="楷体" panose="02010609060101010101" pitchFamily="49" charset="-122"/>
                <a:cs typeface="楷体" panose="02010609060101010101" pitchFamily="49" charset="-122"/>
              </a:rPr>
              <a:t>6</a:t>
            </a:r>
            <a:r>
              <a:rPr lang="zh-CN" altLang="en-US" sz="2400" dirty="0">
                <a:solidFill>
                  <a:srgbClr val="FF0000"/>
                </a:solidFill>
                <a:latin typeface="楷体" panose="02010609060101010101" pitchFamily="49" charset="-122"/>
                <a:ea typeface="楷体" panose="02010609060101010101" pitchFamily="49" charset="-122"/>
                <a:cs typeface="楷体" panose="02010609060101010101" pitchFamily="49" charset="-122"/>
              </a:rPr>
              <a:t>）项目评价的主观性</a:t>
            </a:r>
            <a:endParaRPr lang="zh-CN" altLang="en-US" sz="24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marL="1082675" lvl="2" indent="-367030" algn="l">
              <a:spcBef>
                <a:spcPct val="30000"/>
              </a:spcBef>
              <a:buClr>
                <a:schemeClr val="hlink"/>
              </a:buClr>
              <a:buFont typeface="Wingdings" panose="05000000000000000000" pitchFamily="2" charset="2"/>
              <a:buNone/>
            </a:pPr>
            <a:r>
              <a:rPr lang="en-US" altLang="zh-CN" sz="2400" dirty="0">
                <a:solidFill>
                  <a:srgbClr val="FF0000"/>
                </a:solidFill>
                <a:latin typeface="楷体" panose="02010609060101010101" pitchFamily="49" charset="-122"/>
                <a:ea typeface="楷体" panose="02010609060101010101" pitchFamily="49" charset="-122"/>
                <a:cs typeface="楷体" panose="02010609060101010101" pitchFamily="49" charset="-122"/>
              </a:rPr>
              <a:t>7</a:t>
            </a:r>
            <a:r>
              <a:rPr lang="zh-CN" altLang="en-US" sz="2400" dirty="0">
                <a:solidFill>
                  <a:srgbClr val="FF0000"/>
                </a:solidFill>
                <a:latin typeface="楷体" panose="02010609060101010101" pitchFamily="49" charset="-122"/>
                <a:ea typeface="楷体" panose="02010609060101010101" pitchFamily="49" charset="-122"/>
                <a:cs typeface="楷体" panose="02010609060101010101" pitchFamily="49" charset="-122"/>
              </a:rPr>
              <a:t>）项目的创新性</a:t>
            </a:r>
            <a:endParaRPr lang="zh-CN" altLang="en-US" sz="24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50181" name="Rectangle 6"/>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1.4 走进IT项目</a:t>
            </a:r>
            <a:endParaRPr kumimoji="0" lang="zh-CN" altLang="en-US"/>
          </a:p>
        </p:txBody>
      </p:sp>
      <p:sp>
        <p:nvSpPr>
          <p:cNvPr id="50182" name="Rectangle 7"/>
          <p:cNvSpPr>
            <a:spLocks noChangeArrowheads="1"/>
          </p:cNvSpPr>
          <p:nvPr/>
        </p:nvSpPr>
        <p:spPr bwMode="auto">
          <a:xfrm>
            <a:off x="153988" y="1341438"/>
            <a:ext cx="3146425" cy="521970"/>
          </a:xfrm>
          <a:prstGeom prst="rect">
            <a:avLst/>
          </a:prstGeom>
          <a:noFill/>
          <a:ln w="9525">
            <a:noFill/>
            <a:miter lim="800000"/>
          </a:ln>
        </p:spPr>
        <p:txBody>
          <a:bodyPr wrap="none">
            <a:spAutoFit/>
          </a:bodyPr>
          <a:lstStyle/>
          <a:p>
            <a:pPr algn="l"/>
            <a:r>
              <a:rPr kumimoji="0" lang="en-US" altLang="en-US" dirty="0" smtClean="0">
                <a:solidFill>
                  <a:schemeClr val="hlink"/>
                </a:solidFill>
                <a:ea typeface="楷体_GB2312" pitchFamily="49" charset="-122"/>
              </a:rPr>
              <a:t>1.4.</a:t>
            </a:r>
            <a:r>
              <a:rPr kumimoji="0" lang="en-US" altLang="zh-CN" dirty="0" smtClean="0">
                <a:solidFill>
                  <a:schemeClr val="hlink"/>
                </a:solidFill>
                <a:ea typeface="楷体_GB2312" pitchFamily="49" charset="-122"/>
              </a:rPr>
              <a:t>3</a:t>
            </a:r>
            <a:r>
              <a:rPr kumimoji="0" lang="en-US" altLang="en-US" dirty="0" smtClean="0">
                <a:solidFill>
                  <a:schemeClr val="hlink"/>
                </a:solidFill>
                <a:ea typeface="楷体_GB2312" pitchFamily="49" charset="-122"/>
              </a:rPr>
              <a:t> </a:t>
            </a:r>
            <a:r>
              <a:rPr kumimoji="0" lang="en-US" altLang="en-US" dirty="0" err="1">
                <a:solidFill>
                  <a:schemeClr val="hlink"/>
                </a:solidFill>
                <a:ea typeface="楷体_GB2312" pitchFamily="49" charset="-122"/>
                <a:cs typeface="Times New Roman" panose="02020603050405020304" pitchFamily="18" charset="0"/>
              </a:rPr>
              <a:t>IT</a:t>
            </a:r>
            <a:r>
              <a:rPr kumimoji="0" lang="en-US" altLang="en-US" dirty="0" err="1">
                <a:solidFill>
                  <a:schemeClr val="hlink"/>
                </a:solidFill>
                <a:latin typeface="楷体" panose="02010609060101010101" pitchFamily="49" charset="-122"/>
                <a:ea typeface="楷体" panose="02010609060101010101" pitchFamily="49" charset="-122"/>
              </a:rPr>
              <a:t>项目的特征</a:t>
            </a:r>
            <a:endParaRPr kumimoji="0" lang="en-US" altLang="en-US" dirty="0" err="1">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smtClean="0"/>
              <a:t>  </a:t>
            </a:r>
            <a:fld id="{B6D6A615-618E-4DBF-9BE6-09340DC0AD1F}" type="slidenum">
              <a:rPr lang="zh-CN" altLang="en-GB" smtClean="0"/>
            </a:fld>
            <a:endParaRPr lang="en-US" altLang="zh-CN" smtClean="0"/>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819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pitchFamily="49" charset="-122"/>
                <a:ea typeface="楷体" panose="02010609060101010101" pitchFamily="49" charset="-122"/>
                <a:cs typeface="楷体" panose="02010609060101010101" pitchFamily="49" charset="-122"/>
              </a:rPr>
              <a:t>提   纲</a:t>
            </a:r>
            <a:endParaRPr lang="zh-CN" altLang="en-US" sz="4800" b="1" smtClean="0">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285720" y="1357298"/>
            <a:ext cx="8501062" cy="489267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项目与项目管理的价值</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项目的特点与定义</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项目管理的概念与知识体系</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信息技术与</a:t>
            </a:r>
            <a:r>
              <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IT</a:t>
            </a: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项目特征</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zh-CN" sz="4800" smtClean="0">
                <a:solidFill>
                  <a:srgbClr val="FF0000"/>
                </a:solidFill>
                <a:latin typeface="楷体" panose="02010609060101010101" pitchFamily="49" charset="-122"/>
                <a:ea typeface="楷体" panose="02010609060101010101" pitchFamily="49" charset="-122"/>
                <a:cs typeface="楷体" panose="02010609060101010101" pitchFamily="49" charset="-122"/>
              </a:rPr>
              <a:t>IT</a:t>
            </a:r>
            <a:r>
              <a:rPr lang="zh-CN" altLang="en-US" sz="4800" smtClean="0">
                <a:solidFill>
                  <a:srgbClr val="FF0000"/>
                </a:solidFill>
                <a:latin typeface="楷体" panose="02010609060101010101" pitchFamily="49" charset="-122"/>
                <a:ea typeface="楷体" panose="02010609060101010101" pitchFamily="49" charset="-122"/>
                <a:cs typeface="楷体" panose="02010609060101010101" pitchFamily="49" charset="-122"/>
              </a:rPr>
              <a:t>项目管理的定义与特点</a:t>
            </a:r>
            <a:endParaRPr lang="en-US" altLang="zh-CN" sz="4800" smtClean="0">
              <a:solidFill>
                <a:srgbClr val="C00000"/>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软件的定义与软件项目特点</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软件项目管理的意义和重点</a:t>
            </a:r>
            <a:endParaRPr lang="zh-CN" altLang="en-US" sz="4400" dirty="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9"/>
          <p:cNvSpPr>
            <a:spLocks noGrp="1" noChangeArrowheads="1"/>
          </p:cNvSpPr>
          <p:nvPr>
            <p:ph type="sldNum" sz="quarter" idx="10"/>
          </p:nvPr>
        </p:nvSpPr>
        <p:spPr>
          <a:noFill/>
        </p:spPr>
        <p:txBody>
          <a:bodyPr/>
          <a:lstStyle/>
          <a:p>
            <a:r>
              <a:rPr lang="zh-CN" altLang="en-GB" smtClean="0"/>
              <a:t>  </a:t>
            </a:r>
            <a:fld id="{0899B0FE-DBB9-40DD-80DA-46020B6C5BA9}" type="slidenum">
              <a:rPr lang="zh-CN" altLang="en-GB" smtClean="0"/>
            </a:fld>
            <a:endParaRPr lang="en-US" altLang="zh-CN" smtClean="0"/>
          </a:p>
        </p:txBody>
      </p:sp>
      <p:sp>
        <p:nvSpPr>
          <p:cNvPr id="5222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P.24</a:t>
            </a:r>
            <a:endParaRPr lang="en-US" altLang="zh-CN" sz="2400">
              <a:solidFill>
                <a:schemeClr val="bg2"/>
              </a:solidFill>
            </a:endParaRPr>
          </a:p>
        </p:txBody>
      </p:sp>
      <p:sp>
        <p:nvSpPr>
          <p:cNvPr id="553988" name="Text Box 4"/>
          <p:cNvSpPr txBox="1">
            <a:spLocks noChangeArrowheads="1"/>
          </p:cNvSpPr>
          <p:nvPr/>
        </p:nvSpPr>
        <p:spPr bwMode="auto">
          <a:xfrm>
            <a:off x="395288" y="1860550"/>
            <a:ext cx="8353425" cy="4061460"/>
          </a:xfrm>
          <a:prstGeom prst="rect">
            <a:avLst/>
          </a:prstGeom>
          <a:noFill/>
          <a:ln w="9525">
            <a:noFill/>
            <a:miter lim="800000"/>
          </a:ln>
        </p:spPr>
        <p:txBody>
          <a:bodyPr>
            <a:spAutoFit/>
          </a:bodyPr>
          <a:lstStyle/>
          <a:p>
            <a:pPr algn="just">
              <a:spcBef>
                <a:spcPts val="600"/>
              </a:spcBef>
              <a:spcAft>
                <a:spcPts val="600"/>
              </a:spcAft>
              <a:buClr>
                <a:schemeClr val="hlink"/>
              </a:buClr>
            </a:pPr>
            <a:r>
              <a:rPr lang="en-US" altLang="zh-CN" sz="3400">
                <a:solidFill>
                  <a:schemeClr val="bg2"/>
                </a:solidFill>
                <a:ea typeface="楷体" panose="02010609060101010101" pitchFamily="49" charset="-122"/>
                <a:cs typeface="Times New Roman" panose="02020603050405020304" pitchFamily="18" charset="0"/>
              </a:rPr>
              <a:t>IT</a:t>
            </a:r>
            <a:r>
              <a:rPr lang="zh-CN" altLang="en-US" sz="3400">
                <a:solidFill>
                  <a:schemeClr val="bg2"/>
                </a:solidFill>
                <a:latin typeface="楷体" panose="02010609060101010101" pitchFamily="49" charset="-122"/>
                <a:ea typeface="楷体" panose="02010609060101010101" pitchFamily="49" charset="-122"/>
                <a:cs typeface="楷体" panose="02010609060101010101" pitchFamily="49" charset="-122"/>
              </a:rPr>
              <a:t>项目管理就是把各种知识、技能、手段和技术应用于</a:t>
            </a:r>
            <a:r>
              <a:rPr lang="en-US" altLang="zh-CN" sz="3400">
                <a:solidFill>
                  <a:schemeClr val="bg2"/>
                </a:solidFill>
                <a:ea typeface="楷体" panose="02010609060101010101" pitchFamily="49" charset="-122"/>
                <a:cs typeface="Times New Roman" panose="02020603050405020304" pitchFamily="18" charset="0"/>
              </a:rPr>
              <a:t>IT</a:t>
            </a:r>
            <a:r>
              <a:rPr lang="zh-CN" altLang="en-US" sz="3400">
                <a:solidFill>
                  <a:schemeClr val="bg2"/>
                </a:solidFill>
                <a:latin typeface="楷体" panose="02010609060101010101" pitchFamily="49" charset="-122"/>
                <a:ea typeface="楷体" panose="02010609060101010101" pitchFamily="49" charset="-122"/>
                <a:cs typeface="楷体" panose="02010609060101010101" pitchFamily="49" charset="-122"/>
              </a:rPr>
              <a:t>项目活动之中，以达到</a:t>
            </a:r>
            <a:r>
              <a:rPr lang="en-US" altLang="zh-CN" sz="3400">
                <a:solidFill>
                  <a:schemeClr val="bg2"/>
                </a:solidFill>
                <a:ea typeface="楷体" panose="02010609060101010101" pitchFamily="49" charset="-122"/>
                <a:cs typeface="Times New Roman" panose="02020603050405020304" pitchFamily="18" charset="0"/>
              </a:rPr>
              <a:t>IT</a:t>
            </a:r>
            <a:r>
              <a:rPr lang="zh-CN" altLang="en-US" sz="3400">
                <a:solidFill>
                  <a:schemeClr val="bg2"/>
                </a:solidFill>
                <a:latin typeface="楷体" panose="02010609060101010101" pitchFamily="49" charset="-122"/>
                <a:ea typeface="楷体" panose="02010609060101010101" pitchFamily="49" charset="-122"/>
                <a:cs typeface="楷体" panose="02010609060101010101" pitchFamily="49" charset="-122"/>
              </a:rPr>
              <a:t>项目的要求。</a:t>
            </a:r>
            <a:endParaRPr lang="zh-CN" altLang="en-US" sz="340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just">
              <a:spcBef>
                <a:spcPts val="600"/>
              </a:spcBef>
              <a:spcAft>
                <a:spcPts val="600"/>
              </a:spcAft>
              <a:buClr>
                <a:schemeClr val="hlink"/>
              </a:buClr>
            </a:pPr>
            <a:r>
              <a:rPr lang="en-US" altLang="zh-CN" sz="3400">
                <a:solidFill>
                  <a:schemeClr val="bg2"/>
                </a:solidFill>
                <a:ea typeface="楷体" panose="02010609060101010101" pitchFamily="49" charset="-122"/>
                <a:cs typeface="Times New Roman" panose="02020603050405020304" pitchFamily="18" charset="0"/>
              </a:rPr>
              <a:t>IT</a:t>
            </a:r>
            <a:r>
              <a:rPr lang="zh-CN" altLang="en-US" sz="3400">
                <a:solidFill>
                  <a:schemeClr val="bg2"/>
                </a:solidFill>
                <a:latin typeface="楷体" panose="02010609060101010101" pitchFamily="49" charset="-122"/>
                <a:ea typeface="楷体" panose="02010609060101010101" pitchFamily="49" charset="-122"/>
                <a:cs typeface="楷体" panose="02010609060101010101" pitchFamily="49" charset="-122"/>
              </a:rPr>
              <a:t>项目管理是通过应用和综合诸如</a:t>
            </a:r>
            <a:r>
              <a:rPr lang="zh-CN" altLang="en-US" sz="3400">
                <a:solidFill>
                  <a:schemeClr val="bg1"/>
                </a:solidFill>
                <a:latin typeface="楷体" panose="02010609060101010101" pitchFamily="49" charset="-122"/>
                <a:ea typeface="楷体" panose="02010609060101010101" pitchFamily="49" charset="-122"/>
                <a:cs typeface="楷体" panose="02010609060101010101" pitchFamily="49" charset="-122"/>
              </a:rPr>
              <a:t>启动、规划、实施、监控和收尾</a:t>
            </a:r>
            <a:r>
              <a:rPr lang="zh-CN" altLang="en-US" sz="3400">
                <a:solidFill>
                  <a:schemeClr val="bg2"/>
                </a:solidFill>
                <a:latin typeface="楷体" panose="02010609060101010101" pitchFamily="49" charset="-122"/>
                <a:ea typeface="楷体" panose="02010609060101010101" pitchFamily="49" charset="-122"/>
                <a:cs typeface="楷体" panose="02010609060101010101" pitchFamily="49" charset="-122"/>
              </a:rPr>
              <a:t>等</a:t>
            </a:r>
            <a:r>
              <a:rPr lang="en-US" altLang="zh-CN" sz="3400">
                <a:solidFill>
                  <a:schemeClr val="bg2"/>
                </a:solidFill>
                <a:ea typeface="楷体" panose="02010609060101010101" pitchFamily="49" charset="-122"/>
                <a:cs typeface="Times New Roman" panose="02020603050405020304" pitchFamily="18" charset="0"/>
              </a:rPr>
              <a:t>IT</a:t>
            </a:r>
            <a:r>
              <a:rPr lang="zh-CN" altLang="en-US" sz="3400">
                <a:solidFill>
                  <a:schemeClr val="bg2"/>
                </a:solidFill>
                <a:latin typeface="楷体" panose="02010609060101010101" pitchFamily="49" charset="-122"/>
                <a:ea typeface="楷体" panose="02010609060101010101" pitchFamily="49" charset="-122"/>
                <a:cs typeface="楷体" panose="02010609060101010101" pitchFamily="49" charset="-122"/>
              </a:rPr>
              <a:t>项目管理</a:t>
            </a:r>
            <a:r>
              <a:rPr lang="zh-CN" altLang="en-US" sz="3400">
                <a:solidFill>
                  <a:schemeClr val="bg1"/>
                </a:solidFill>
                <a:latin typeface="楷体" panose="02010609060101010101" pitchFamily="49" charset="-122"/>
                <a:ea typeface="楷体" panose="02010609060101010101" pitchFamily="49" charset="-122"/>
                <a:cs typeface="楷体" panose="02010609060101010101" pitchFamily="49" charset="-122"/>
              </a:rPr>
              <a:t>过程</a:t>
            </a:r>
            <a:r>
              <a:rPr lang="zh-CN" altLang="en-US" sz="3400">
                <a:solidFill>
                  <a:schemeClr val="bg2"/>
                </a:solidFill>
                <a:latin typeface="楷体" panose="02010609060101010101" pitchFamily="49" charset="-122"/>
                <a:ea typeface="楷体" panose="02010609060101010101" pitchFamily="49" charset="-122"/>
                <a:cs typeface="楷体" panose="02010609060101010101" pitchFamily="49" charset="-122"/>
              </a:rPr>
              <a:t>来进行的。</a:t>
            </a:r>
            <a:endParaRPr lang="zh-CN" altLang="en-US" sz="340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just">
              <a:spcBef>
                <a:spcPts val="600"/>
              </a:spcBef>
              <a:spcAft>
                <a:spcPts val="600"/>
              </a:spcAft>
              <a:buClr>
                <a:schemeClr val="hlink"/>
              </a:buClr>
            </a:pPr>
            <a:r>
              <a:rPr lang="zh-CN" altLang="en-US" sz="3400">
                <a:solidFill>
                  <a:schemeClr val="bg1"/>
                </a:solidFill>
                <a:latin typeface="楷体" panose="02010609060101010101" pitchFamily="49" charset="-122"/>
                <a:ea typeface="楷体" panose="02010609060101010101" pitchFamily="49" charset="-122"/>
                <a:cs typeface="楷体" panose="02010609060101010101" pitchFamily="49" charset="-122"/>
              </a:rPr>
              <a:t>项目经理</a:t>
            </a:r>
            <a:r>
              <a:rPr lang="zh-CN" altLang="en-US" sz="3400">
                <a:solidFill>
                  <a:schemeClr val="bg2"/>
                </a:solidFill>
                <a:latin typeface="楷体" panose="02010609060101010101" pitchFamily="49" charset="-122"/>
                <a:ea typeface="楷体" panose="02010609060101010101" pitchFamily="49" charset="-122"/>
                <a:cs typeface="楷体" panose="02010609060101010101" pitchFamily="49" charset="-122"/>
              </a:rPr>
              <a:t>是负责实现</a:t>
            </a:r>
            <a:r>
              <a:rPr lang="en-US" altLang="zh-CN" sz="3400">
                <a:solidFill>
                  <a:schemeClr val="bg2"/>
                </a:solidFill>
                <a:ea typeface="楷体" panose="02010609060101010101" pitchFamily="49" charset="-122"/>
                <a:cs typeface="Times New Roman" panose="02020603050405020304" pitchFamily="18" charset="0"/>
              </a:rPr>
              <a:t>IT</a:t>
            </a:r>
            <a:r>
              <a:rPr lang="zh-CN" altLang="en-US" sz="3400">
                <a:solidFill>
                  <a:schemeClr val="bg2"/>
                </a:solidFill>
                <a:latin typeface="楷体" panose="02010609060101010101" pitchFamily="49" charset="-122"/>
                <a:ea typeface="楷体" panose="02010609060101010101" pitchFamily="49" charset="-122"/>
                <a:cs typeface="楷体" panose="02010609060101010101" pitchFamily="49" charset="-122"/>
              </a:rPr>
              <a:t>项目目标的个人。</a:t>
            </a:r>
            <a:endParaRPr lang="zh-CN" altLang="en-US" sz="340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52229" name="Rectangle 5"/>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dirty="0"/>
              <a:t>1.5 </a:t>
            </a:r>
            <a:r>
              <a:rPr kumimoji="0" lang="en-US" altLang="en-US" dirty="0" err="1"/>
              <a:t>走进IT项目管理</a:t>
            </a:r>
            <a:endParaRPr kumimoji="0" lang="zh-CN" altLang="en-US" dirty="0"/>
          </a:p>
        </p:txBody>
      </p:sp>
      <p:sp>
        <p:nvSpPr>
          <p:cNvPr id="52230" name="Rectangle 6"/>
          <p:cNvSpPr>
            <a:spLocks noChangeArrowheads="1"/>
          </p:cNvSpPr>
          <p:nvPr/>
        </p:nvSpPr>
        <p:spPr bwMode="auto">
          <a:xfrm>
            <a:off x="153988" y="1341438"/>
            <a:ext cx="3859212" cy="519112"/>
          </a:xfrm>
          <a:prstGeom prst="rect">
            <a:avLst/>
          </a:prstGeom>
          <a:noFill/>
          <a:ln w="9525">
            <a:noFill/>
            <a:miter lim="800000"/>
          </a:ln>
        </p:spPr>
        <p:txBody>
          <a:bodyPr wrap="none">
            <a:spAutoFit/>
          </a:bodyPr>
          <a:lstStyle/>
          <a:p>
            <a:pPr algn="l"/>
            <a:r>
              <a:rPr kumimoji="0" lang="en-US" altLang="en-US">
                <a:solidFill>
                  <a:schemeClr val="hlink"/>
                </a:solidFill>
                <a:ea typeface="楷体_GB2312" pitchFamily="49" charset="-122"/>
              </a:rPr>
              <a:t>1.5.1 IT项目管理的定义</a:t>
            </a:r>
            <a:endParaRPr kumimoji="0" lang="en-US" altLang="en-US">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9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39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398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9"/>
          <p:cNvSpPr>
            <a:spLocks noGrp="1" noChangeArrowheads="1"/>
          </p:cNvSpPr>
          <p:nvPr>
            <p:ph type="sldNum" sz="quarter" idx="10"/>
          </p:nvPr>
        </p:nvSpPr>
        <p:spPr>
          <a:noFill/>
        </p:spPr>
        <p:txBody>
          <a:bodyPr/>
          <a:lstStyle/>
          <a:p>
            <a:r>
              <a:rPr lang="zh-CN" altLang="en-GB" smtClean="0"/>
              <a:t>  </a:t>
            </a:r>
            <a:fld id="{0899B0FE-DBB9-40DD-80DA-46020B6C5BA9}" type="slidenum">
              <a:rPr lang="zh-CN" altLang="en-GB" smtClean="0"/>
            </a:fld>
            <a:endParaRPr lang="en-US" altLang="zh-CN" smtClean="0"/>
          </a:p>
        </p:txBody>
      </p:sp>
      <p:sp>
        <p:nvSpPr>
          <p:cNvPr id="5222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P.24</a:t>
            </a:r>
            <a:endParaRPr lang="en-US" altLang="zh-CN" sz="2400">
              <a:solidFill>
                <a:schemeClr val="bg2"/>
              </a:solidFill>
            </a:endParaRPr>
          </a:p>
        </p:txBody>
      </p:sp>
      <p:sp>
        <p:nvSpPr>
          <p:cNvPr id="553988" name="Text Box 4"/>
          <p:cNvSpPr txBox="1">
            <a:spLocks noChangeArrowheads="1"/>
          </p:cNvSpPr>
          <p:nvPr/>
        </p:nvSpPr>
        <p:spPr bwMode="auto">
          <a:xfrm>
            <a:off x="214282" y="2013932"/>
            <a:ext cx="8715436" cy="4199890"/>
          </a:xfrm>
          <a:prstGeom prst="rect">
            <a:avLst/>
          </a:prstGeom>
          <a:noFill/>
          <a:ln w="9525">
            <a:noFill/>
            <a:miter lim="800000"/>
          </a:ln>
        </p:spPr>
        <p:txBody>
          <a:bodyPr wrap="square">
            <a:spAutoFit/>
          </a:bodyPr>
          <a:lstStyle/>
          <a:p>
            <a:pPr algn="l"/>
            <a:r>
              <a:rPr lang="en-US" altLang="zh-CN" sz="3200" smtClean="0">
                <a:solidFill>
                  <a:schemeClr val="bg2"/>
                </a:solidFill>
                <a:ea typeface="楷体" panose="02010609060101010101" pitchFamily="49" charset="-122"/>
                <a:cs typeface="Times New Roman" panose="02020603050405020304" pitchFamily="18" charset="0"/>
              </a:rPr>
              <a:t>IT</a:t>
            </a:r>
            <a:r>
              <a:rPr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项目管理的定义表明管理一个</a:t>
            </a:r>
            <a:r>
              <a:rPr lang="en-US" sz="3200" smtClean="0">
                <a:solidFill>
                  <a:schemeClr val="bg2"/>
                </a:solidFill>
                <a:ea typeface="楷体" panose="02010609060101010101" pitchFamily="49" charset="-122"/>
                <a:cs typeface="Times New Roman" panose="02020603050405020304" pitchFamily="18" charset="0"/>
              </a:rPr>
              <a:t>IT</a:t>
            </a:r>
            <a:r>
              <a:rPr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项目，至少必须包括：</a:t>
            </a:r>
            <a:endParaRPr lang="zh-CN" altLang="en-US" sz="320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buClr>
                <a:srgbClr val="C00000"/>
              </a:buClr>
              <a:buFont typeface="Wingdings" panose="05000000000000000000" pitchFamily="2" charset="2"/>
              <a:buChar char="n"/>
            </a:pPr>
            <a:r>
              <a:rPr lang="zh-CN" altLang="en-US" smtClean="0">
                <a:solidFill>
                  <a:schemeClr val="bg1"/>
                </a:solidFill>
                <a:latin typeface="楷体" panose="02010609060101010101" pitchFamily="49" charset="-122"/>
                <a:ea typeface="楷体" panose="02010609060101010101" pitchFamily="49" charset="-122"/>
                <a:cs typeface="楷体" panose="02010609060101010101" pitchFamily="49" charset="-122"/>
              </a:rPr>
              <a:t>识别项目需求</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buClr>
                <a:srgbClr val="C00000"/>
              </a:buClr>
              <a:buFont typeface="Wingdings" panose="05000000000000000000" pitchFamily="2" charset="2"/>
              <a:buChar char="n"/>
            </a:pPr>
            <a:r>
              <a:rPr lang="zh-CN" altLang="en-US" smtClean="0">
                <a:solidFill>
                  <a:schemeClr val="bg1"/>
                </a:solidFill>
                <a:latin typeface="楷体" panose="02010609060101010101" pitchFamily="49" charset="-122"/>
                <a:ea typeface="楷体" panose="02010609060101010101" pitchFamily="49" charset="-122"/>
                <a:cs typeface="楷体" panose="02010609060101010101" pitchFamily="49" charset="-122"/>
              </a:rPr>
              <a:t>明确项目目标</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zh-CN" altLang="en-US" smtClean="0">
                <a:solidFill>
                  <a:schemeClr val="bg1"/>
                </a:solidFill>
                <a:latin typeface="楷体" panose="02010609060101010101" pitchFamily="49" charset="-122"/>
                <a:ea typeface="楷体" panose="02010609060101010101" pitchFamily="49" charset="-122"/>
                <a:cs typeface="楷体" panose="02010609060101010101" pitchFamily="49" charset="-122"/>
              </a:rPr>
              <a:t>并确定</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这些目标是能够</a:t>
            </a:r>
            <a:r>
              <a:rPr lang="zh-CN" altLang="en-US" smtClean="0">
                <a:solidFill>
                  <a:schemeClr val="bg1"/>
                </a:solidFill>
                <a:latin typeface="楷体" panose="02010609060101010101" pitchFamily="49" charset="-122"/>
                <a:ea typeface="楷体" panose="02010609060101010101" pitchFamily="49" charset="-122"/>
                <a:cs typeface="楷体" panose="02010609060101010101" pitchFamily="49" charset="-122"/>
              </a:rPr>
              <a:t>实现</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的。</a:t>
            </a:r>
            <a:endPar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buClr>
                <a:srgbClr val="C00000"/>
              </a:buClr>
              <a:buFont typeface="Wingdings" panose="05000000000000000000" pitchFamily="2" charset="2"/>
              <a:buChar char="n"/>
            </a:pPr>
            <a:r>
              <a:rPr lang="zh-CN" altLang="en-US" smtClean="0">
                <a:solidFill>
                  <a:schemeClr val="bg1"/>
                </a:solidFill>
                <a:latin typeface="楷体" panose="02010609060101010101" pitchFamily="49" charset="-122"/>
                <a:ea typeface="楷体" panose="02010609060101010101" pitchFamily="49" charset="-122"/>
                <a:cs typeface="楷体" panose="02010609060101010101" pitchFamily="49" charset="-122"/>
              </a:rPr>
              <a:t>权衡与协调质量、范围、时间、费用</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方面产生的</a:t>
            </a:r>
            <a:r>
              <a:rPr lang="zh-CN" altLang="en-US" smtClean="0">
                <a:solidFill>
                  <a:schemeClr val="bg1"/>
                </a:solidFill>
                <a:latin typeface="楷体" panose="02010609060101010101" pitchFamily="49" charset="-122"/>
                <a:ea typeface="楷体" panose="02010609060101010101" pitchFamily="49" charset="-122"/>
                <a:cs typeface="楷体" panose="02010609060101010101" pitchFamily="49" charset="-122"/>
              </a:rPr>
              <a:t>要求与冲突</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buClr>
                <a:srgbClr val="C00000"/>
              </a:buClr>
              <a:buFont typeface="Wingdings" panose="05000000000000000000" pitchFamily="2" charset="2"/>
              <a:buChar char="n"/>
            </a:pP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使</a:t>
            </a:r>
            <a:r>
              <a:rPr lang="en-US" smtClean="0">
                <a:solidFill>
                  <a:schemeClr val="bg2"/>
                </a:solidFill>
                <a:ea typeface="楷体" panose="02010609060101010101" pitchFamily="49" charset="-122"/>
                <a:cs typeface="Times New Roman" panose="02020603050405020304" pitchFamily="18" charset="0"/>
              </a:rPr>
              <a:t>IT</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a:t>
            </a:r>
            <a:r>
              <a:rPr lang="zh-CN" altLang="en-US" smtClean="0">
                <a:solidFill>
                  <a:schemeClr val="bg1"/>
                </a:solidFill>
                <a:latin typeface="楷体" panose="02010609060101010101" pitchFamily="49" charset="-122"/>
                <a:ea typeface="楷体" panose="02010609060101010101" pitchFamily="49" charset="-122"/>
                <a:cs typeface="楷体" panose="02010609060101010101" pitchFamily="49" charset="-122"/>
              </a:rPr>
              <a:t>计划、方法和技术文档</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适应于</a:t>
            </a:r>
            <a:r>
              <a:rPr lang="zh-CN" altLang="en-US" smtClean="0">
                <a:solidFill>
                  <a:schemeClr val="bg1"/>
                </a:solidFill>
                <a:latin typeface="楷体" panose="02010609060101010101" pitchFamily="49" charset="-122"/>
                <a:ea typeface="楷体" panose="02010609060101010101" pitchFamily="49" charset="-122"/>
                <a:cs typeface="楷体" panose="02010609060101010101" pitchFamily="49" charset="-122"/>
              </a:rPr>
              <a:t>利益相关者的不同需求与期望</a:t>
            </a:r>
            <a:r>
              <a:rPr lang="zh-CN" altLang="en-US"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52229" name="Rectangle 5"/>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dirty="0"/>
              <a:t>1.5 </a:t>
            </a:r>
            <a:r>
              <a:rPr kumimoji="0" lang="en-US" altLang="en-US" dirty="0" err="1"/>
              <a:t>走进IT项目管理</a:t>
            </a:r>
            <a:endParaRPr kumimoji="0" lang="zh-CN" altLang="en-US" dirty="0"/>
          </a:p>
        </p:txBody>
      </p:sp>
      <p:sp>
        <p:nvSpPr>
          <p:cNvPr id="52230" name="Rectangle 6"/>
          <p:cNvSpPr>
            <a:spLocks noChangeArrowheads="1"/>
          </p:cNvSpPr>
          <p:nvPr/>
        </p:nvSpPr>
        <p:spPr bwMode="auto">
          <a:xfrm>
            <a:off x="153988" y="1341438"/>
            <a:ext cx="3859212" cy="519112"/>
          </a:xfrm>
          <a:prstGeom prst="rect">
            <a:avLst/>
          </a:prstGeom>
          <a:noFill/>
          <a:ln w="9525">
            <a:noFill/>
            <a:miter lim="800000"/>
          </a:ln>
        </p:spPr>
        <p:txBody>
          <a:bodyPr wrap="none">
            <a:spAutoFit/>
          </a:bodyPr>
          <a:lstStyle/>
          <a:p>
            <a:pPr algn="l"/>
            <a:r>
              <a:rPr kumimoji="0" lang="en-US" altLang="en-US">
                <a:solidFill>
                  <a:schemeClr val="hlink"/>
                </a:solidFill>
                <a:ea typeface="楷体_GB2312" pitchFamily="49" charset="-122"/>
              </a:rPr>
              <a:t>1.5.1 IT项目管理的定义</a:t>
            </a:r>
            <a:endParaRPr kumimoji="0" lang="en-US" altLang="en-US">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9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39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398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398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39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9"/>
          <p:cNvSpPr>
            <a:spLocks noGrp="1" noChangeArrowheads="1"/>
          </p:cNvSpPr>
          <p:nvPr>
            <p:ph type="sldNum" sz="quarter" idx="10"/>
          </p:nvPr>
        </p:nvSpPr>
        <p:spPr>
          <a:noFill/>
        </p:spPr>
        <p:txBody>
          <a:bodyPr/>
          <a:lstStyle/>
          <a:p>
            <a:r>
              <a:rPr lang="zh-CN" altLang="en-GB" smtClean="0"/>
              <a:t>  </a:t>
            </a:r>
            <a:fld id="{64D78275-EDCD-448F-9C5F-BBA0F22DEE32}" type="slidenum">
              <a:rPr lang="zh-CN" altLang="en-GB" smtClean="0"/>
            </a:fld>
            <a:endParaRPr lang="en-US" altLang="zh-CN" smtClean="0"/>
          </a:p>
        </p:txBody>
      </p:sp>
      <p:sp>
        <p:nvSpPr>
          <p:cNvPr id="5325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P.24</a:t>
            </a:r>
            <a:endParaRPr lang="en-US" altLang="zh-CN" sz="2400">
              <a:solidFill>
                <a:schemeClr val="bg2"/>
              </a:solidFill>
            </a:endParaRPr>
          </a:p>
        </p:txBody>
      </p:sp>
      <p:sp>
        <p:nvSpPr>
          <p:cNvPr id="53252" name="Text Box 4"/>
          <p:cNvSpPr txBox="1">
            <a:spLocks noChangeArrowheads="1"/>
          </p:cNvSpPr>
          <p:nvPr/>
        </p:nvSpPr>
        <p:spPr bwMode="auto">
          <a:xfrm>
            <a:off x="642910" y="1857364"/>
            <a:ext cx="7572428" cy="4538345"/>
          </a:xfrm>
          <a:prstGeom prst="rect">
            <a:avLst/>
          </a:prstGeom>
          <a:noFill/>
          <a:ln w="9525">
            <a:noFill/>
            <a:miter lim="800000"/>
          </a:ln>
        </p:spPr>
        <p:txBody>
          <a:bodyPr wrap="square">
            <a:spAutoFit/>
          </a:bodyPr>
          <a:lstStyle/>
          <a:p>
            <a:pPr algn="ctr">
              <a:spcBef>
                <a:spcPct val="40000"/>
              </a:spcBef>
              <a:buClr>
                <a:schemeClr val="hlink"/>
              </a:buClr>
            </a:pPr>
            <a:r>
              <a:rPr lang="en-US" dirty="0" smtClean="0">
                <a:solidFill>
                  <a:schemeClr val="bg2"/>
                </a:solidFill>
                <a:ea typeface="楷体" panose="02010609060101010101" pitchFamily="49" charset="-122"/>
                <a:cs typeface="Times New Roman" panose="02020603050405020304" pitchFamily="18" charset="0"/>
              </a:rPr>
              <a:t>IT</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项目管理除了具有一般项目管理所具有的</a:t>
            </a:r>
            <a:endParaRPr lang="en-US" altLang="zh-CN"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1828800" lvl="3" indent="-457200" algn="l">
              <a:spcBef>
                <a:spcPts val="600"/>
              </a:spcBef>
              <a:buClr>
                <a:schemeClr val="hlink"/>
              </a:buClr>
              <a:buFont typeface="+mj-lt"/>
              <a:buAutoNum type="arabicPeriod"/>
            </a:pP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项目管理对象特征</a:t>
            </a:r>
            <a:endParaRPr lang="en-US" altLang="zh-CN"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1828800" lvl="3" indent="-457200" algn="l">
              <a:spcBef>
                <a:spcPts val="600"/>
              </a:spcBef>
              <a:buClr>
                <a:schemeClr val="hlink"/>
              </a:buClr>
              <a:buFont typeface="Wingdings" panose="05000000000000000000" charset="0"/>
              <a:buAutoNum type="arabicPeriod"/>
            </a:pP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采用</a:t>
            </a:r>
            <a:r>
              <a:rPr lang="zh-CN" altLang="en-US" sz="2400"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系统工程思想</a:t>
            </a:r>
            <a:endParaRPr lang="en-US" altLang="zh-CN"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1828800" lvl="3" indent="-457200" algn="l">
              <a:spcBef>
                <a:spcPts val="600"/>
              </a:spcBef>
              <a:buClr>
                <a:schemeClr val="hlink"/>
              </a:buClr>
              <a:buFont typeface="Wingdings" panose="05000000000000000000" charset="0"/>
              <a:buAutoNum type="arabicPeriod"/>
            </a:pP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关注组织的特殊性</a:t>
            </a:r>
            <a:endParaRPr lang="en-US" altLang="zh-CN"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1828800" lvl="3" indent="-457200" algn="l">
              <a:spcBef>
                <a:spcPts val="600"/>
              </a:spcBef>
              <a:buClr>
                <a:schemeClr val="hlink"/>
              </a:buClr>
              <a:buFont typeface="+mj-lt"/>
              <a:buAutoNum type="arabicPeriod"/>
            </a:pP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明确</a:t>
            </a:r>
            <a:r>
              <a:rPr lang="zh-CN" altLang="en-US" sz="2400"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个人负责制</a:t>
            </a:r>
            <a:endParaRPr lang="en-US" altLang="zh-CN"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1828800" lvl="3" indent="-457200" algn="l">
              <a:spcBef>
                <a:spcPts val="600"/>
              </a:spcBef>
              <a:buClr>
                <a:schemeClr val="hlink"/>
              </a:buClr>
              <a:buAutoNum type="arabicPeriod"/>
            </a:pP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项目目标管理方式</a:t>
            </a:r>
            <a:endParaRPr lang="en-US" altLang="zh-CN"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1828800" lvl="3" indent="-457200" algn="l">
              <a:spcBef>
                <a:spcPts val="600"/>
              </a:spcBef>
              <a:buClr>
                <a:schemeClr val="hlink"/>
              </a:buClr>
              <a:buAutoNum type="arabicPeriod"/>
            </a:pP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营造项目环境以及开放</a:t>
            </a:r>
            <a:endParaRPr lang="en-US" altLang="zh-CN"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1828800" lvl="3" indent="-457200" algn="l">
              <a:spcBef>
                <a:spcPts val="600"/>
              </a:spcBef>
              <a:buClr>
                <a:schemeClr val="hlink"/>
              </a:buClr>
              <a:buAutoNum type="arabicPeriod"/>
            </a:pP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先进的项目管理方法</a:t>
            </a:r>
            <a:endParaRPr lang="en-US" altLang="zh-CN"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1828800" lvl="3" indent="-457200" algn="l">
              <a:spcBef>
                <a:spcPts val="600"/>
              </a:spcBef>
              <a:buClr>
                <a:schemeClr val="hlink"/>
              </a:buClr>
              <a:buAutoNum type="arabicPeriod"/>
            </a:pP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手段的运用等特征外，</a:t>
            </a:r>
            <a:endParaRPr lang="en-US" altLang="zh-CN"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1828800" lvl="3" indent="-457200" algn="l">
              <a:spcBef>
                <a:spcPts val="600"/>
              </a:spcBef>
              <a:buClr>
                <a:schemeClr val="hlink"/>
              </a:buClr>
              <a:buAutoNum type="arabicPeriod"/>
            </a:pP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还具有明显的</a:t>
            </a: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特殊性。</a:t>
            </a:r>
            <a:endParaRPr lang="zh-CN" altLang="en-US" sz="2000" dirty="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p:txBody>
      </p:sp>
      <p:sp>
        <p:nvSpPr>
          <p:cNvPr id="53253" name="Rectangle 5"/>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dirty="0"/>
              <a:t>1.5 </a:t>
            </a:r>
            <a:r>
              <a:rPr kumimoji="0" lang="en-US" altLang="en-US" dirty="0" err="1"/>
              <a:t>走进IT项目管理</a:t>
            </a:r>
            <a:endParaRPr kumimoji="0" lang="zh-CN" altLang="en-US" dirty="0"/>
          </a:p>
        </p:txBody>
      </p:sp>
      <p:sp>
        <p:nvSpPr>
          <p:cNvPr id="53254" name="Rectangle 6"/>
          <p:cNvSpPr>
            <a:spLocks noChangeArrowheads="1"/>
          </p:cNvSpPr>
          <p:nvPr/>
        </p:nvSpPr>
        <p:spPr bwMode="auto">
          <a:xfrm>
            <a:off x="153988" y="1341438"/>
            <a:ext cx="3861435" cy="521970"/>
          </a:xfrm>
          <a:prstGeom prst="rect">
            <a:avLst/>
          </a:prstGeom>
          <a:noFill/>
          <a:ln w="9525">
            <a:noFill/>
            <a:miter lim="800000"/>
          </a:ln>
        </p:spPr>
        <p:txBody>
          <a:bodyPr wrap="none">
            <a:spAutoFit/>
          </a:bodyPr>
          <a:lstStyle/>
          <a:p>
            <a:pPr algn="l"/>
            <a:r>
              <a:rPr kumimoji="0" lang="en-US" altLang="en-US">
                <a:solidFill>
                  <a:schemeClr val="hlink"/>
                </a:solidFill>
                <a:ea typeface="楷体_GB2312" pitchFamily="49" charset="-122"/>
              </a:rPr>
              <a:t>1.5.2 IT</a:t>
            </a:r>
            <a:r>
              <a:rPr kumimoji="0" lang="en-US" altLang="en-US">
                <a:solidFill>
                  <a:schemeClr val="hlink"/>
                </a:solidFill>
                <a:latin typeface="楷体" panose="02010609060101010101" pitchFamily="49" charset="-122"/>
                <a:ea typeface="楷体" panose="02010609060101010101" pitchFamily="49" charset="-122"/>
              </a:rPr>
              <a:t>项目管理的特点</a:t>
            </a:r>
            <a:endParaRPr kumimoji="0" lang="en-US"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9"/>
          <p:cNvSpPr>
            <a:spLocks noGrp="1" noChangeArrowheads="1"/>
          </p:cNvSpPr>
          <p:nvPr>
            <p:ph type="sldNum" sz="quarter" idx="10"/>
          </p:nvPr>
        </p:nvSpPr>
        <p:spPr>
          <a:noFill/>
        </p:spPr>
        <p:txBody>
          <a:bodyPr/>
          <a:lstStyle/>
          <a:p>
            <a:r>
              <a:rPr lang="zh-CN" altLang="en-GB" smtClean="0"/>
              <a:t>  </a:t>
            </a:r>
            <a:fld id="{64D78275-EDCD-448F-9C5F-BBA0F22DEE32}" type="slidenum">
              <a:rPr lang="zh-CN" altLang="en-GB" smtClean="0"/>
            </a:fld>
            <a:endParaRPr lang="en-US" altLang="zh-CN" smtClean="0"/>
          </a:p>
        </p:txBody>
      </p:sp>
      <p:sp>
        <p:nvSpPr>
          <p:cNvPr id="5325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P.24</a:t>
            </a:r>
            <a:endParaRPr lang="en-US" altLang="zh-CN" sz="2400">
              <a:solidFill>
                <a:schemeClr val="bg2"/>
              </a:solidFill>
            </a:endParaRPr>
          </a:p>
        </p:txBody>
      </p:sp>
      <p:sp>
        <p:nvSpPr>
          <p:cNvPr id="53252" name="Text Box 4"/>
          <p:cNvSpPr txBox="1">
            <a:spLocks noChangeArrowheads="1"/>
          </p:cNvSpPr>
          <p:nvPr/>
        </p:nvSpPr>
        <p:spPr bwMode="auto">
          <a:xfrm>
            <a:off x="679454" y="1857364"/>
            <a:ext cx="5607058" cy="4502150"/>
          </a:xfrm>
          <a:prstGeom prst="rect">
            <a:avLst/>
          </a:prstGeom>
          <a:noFill/>
          <a:ln w="9525">
            <a:noFill/>
            <a:miter lim="800000"/>
          </a:ln>
        </p:spPr>
        <p:txBody>
          <a:bodyPr wrap="square">
            <a:spAutoFit/>
          </a:bodyPr>
          <a:lstStyle/>
          <a:p>
            <a:pPr algn="l">
              <a:spcBef>
                <a:spcPct val="40000"/>
              </a:spcBef>
              <a:buClr>
                <a:schemeClr val="hlink"/>
              </a:buClr>
            </a:pPr>
            <a:r>
              <a:rPr lang="zh-CN" altLang="en-US" sz="3200" smtClean="0">
                <a:solidFill>
                  <a:schemeClr val="bg2"/>
                </a:solidFill>
                <a:latin typeface="楷体" panose="02010609060101010101" pitchFamily="49" charset="-122"/>
                <a:ea typeface="楷体" panose="02010609060101010101" pitchFamily="49" charset="-122"/>
              </a:rPr>
              <a:t>主要表现在以下方面</a:t>
            </a:r>
            <a:endParaRPr lang="zh-CN" altLang="en-US" sz="3200" smtClean="0">
              <a:solidFill>
                <a:schemeClr val="bg2"/>
              </a:solidFill>
              <a:latin typeface="楷体" panose="02010609060101010101" pitchFamily="49" charset="-122"/>
              <a:ea typeface="楷体" panose="02010609060101010101" pitchFamily="49" charset="-122"/>
            </a:endParaRPr>
          </a:p>
          <a:p>
            <a:pPr marL="621030" lvl="1" indent="3175" algn="l">
              <a:spcBef>
                <a:spcPct val="30000"/>
              </a:spcBef>
              <a:buClr>
                <a:schemeClr val="bg1">
                  <a:lumMod val="50000"/>
                </a:schemeClr>
              </a:buClr>
              <a:buFont typeface="+mj-lt"/>
              <a:buAutoNum type="arabicPeriod"/>
            </a:pPr>
            <a:r>
              <a:rPr lang="zh-CN" altLang="en-US" smtClean="0">
                <a:solidFill>
                  <a:srgbClr val="0000FF"/>
                </a:solidFill>
                <a:latin typeface="楷体" panose="02010609060101010101" pitchFamily="49" charset="-122"/>
                <a:ea typeface="楷体" panose="02010609060101010101" pitchFamily="49" charset="-122"/>
              </a:rPr>
              <a:t>与</a:t>
            </a:r>
            <a:r>
              <a:rPr lang="zh-CN" altLang="en-US">
                <a:solidFill>
                  <a:srgbClr val="0000FF"/>
                </a:solidFill>
                <a:latin typeface="楷体" panose="02010609060101010101" pitchFamily="49" charset="-122"/>
                <a:ea typeface="楷体" panose="02010609060101010101" pitchFamily="49" charset="-122"/>
              </a:rPr>
              <a:t>战略目标的相关性</a:t>
            </a:r>
            <a:endParaRPr lang="zh-CN" altLang="en-US">
              <a:solidFill>
                <a:srgbClr val="0000FF"/>
              </a:solidFill>
              <a:latin typeface="楷体" panose="02010609060101010101" pitchFamily="49" charset="-122"/>
              <a:ea typeface="楷体" panose="02010609060101010101" pitchFamily="49" charset="-122"/>
            </a:endParaRPr>
          </a:p>
          <a:p>
            <a:pPr marL="621030" lvl="1" indent="3175" algn="l">
              <a:spcBef>
                <a:spcPct val="30000"/>
              </a:spcBef>
              <a:buClr>
                <a:schemeClr val="bg1">
                  <a:lumMod val="50000"/>
                </a:schemeClr>
              </a:buClr>
              <a:buFont typeface="+mj-lt"/>
              <a:buAutoNum type="arabicPeriod"/>
            </a:pPr>
            <a:r>
              <a:rPr lang="zh-CN" altLang="en-US">
                <a:solidFill>
                  <a:srgbClr val="0000FF"/>
                </a:solidFill>
                <a:latin typeface="楷体" panose="02010609060101010101" pitchFamily="49" charset="-122"/>
                <a:ea typeface="楷体" panose="02010609060101010101" pitchFamily="49" charset="-122"/>
              </a:rPr>
              <a:t>与业务规则的一致性</a:t>
            </a:r>
            <a:endParaRPr lang="zh-CN" altLang="en-US">
              <a:solidFill>
                <a:srgbClr val="0000FF"/>
              </a:solidFill>
              <a:latin typeface="楷体" panose="02010609060101010101" pitchFamily="49" charset="-122"/>
              <a:ea typeface="楷体" panose="02010609060101010101" pitchFamily="49" charset="-122"/>
            </a:endParaRPr>
          </a:p>
          <a:p>
            <a:pPr marL="621030" lvl="1" indent="3175" algn="l">
              <a:spcBef>
                <a:spcPct val="30000"/>
              </a:spcBef>
              <a:buClr>
                <a:schemeClr val="bg1">
                  <a:lumMod val="50000"/>
                </a:schemeClr>
              </a:buClr>
              <a:buFont typeface="+mj-lt"/>
              <a:buAutoNum type="arabicPeriod"/>
            </a:pPr>
            <a:r>
              <a:rPr lang="zh-CN" altLang="en-US">
                <a:solidFill>
                  <a:srgbClr val="0000FF"/>
                </a:solidFill>
                <a:latin typeface="楷体" panose="02010609060101010101" pitchFamily="49" charset="-122"/>
                <a:ea typeface="楷体" panose="02010609060101010101" pitchFamily="49" charset="-122"/>
              </a:rPr>
              <a:t>环境基础的重要性</a:t>
            </a:r>
            <a:endParaRPr lang="zh-CN" altLang="en-US">
              <a:solidFill>
                <a:srgbClr val="0000FF"/>
              </a:solidFill>
              <a:latin typeface="楷体" panose="02010609060101010101" pitchFamily="49" charset="-122"/>
              <a:ea typeface="楷体" panose="02010609060101010101" pitchFamily="49" charset="-122"/>
            </a:endParaRPr>
          </a:p>
          <a:p>
            <a:pPr marL="621030" lvl="1" indent="3175" algn="l">
              <a:spcBef>
                <a:spcPct val="30000"/>
              </a:spcBef>
              <a:buClr>
                <a:schemeClr val="bg1">
                  <a:lumMod val="50000"/>
                </a:schemeClr>
              </a:buClr>
              <a:buFont typeface="+mj-lt"/>
              <a:buAutoNum type="arabicPeriod"/>
            </a:pPr>
            <a:r>
              <a:rPr lang="zh-CN" altLang="en-US">
                <a:solidFill>
                  <a:srgbClr val="0000FF"/>
                </a:solidFill>
                <a:latin typeface="楷体" panose="02010609060101010101" pitchFamily="49" charset="-122"/>
                <a:ea typeface="楷体" panose="02010609060101010101" pitchFamily="49" charset="-122"/>
              </a:rPr>
              <a:t>管理的集成性</a:t>
            </a:r>
            <a:endParaRPr lang="zh-CN" altLang="en-US">
              <a:solidFill>
                <a:srgbClr val="0000FF"/>
              </a:solidFill>
              <a:latin typeface="楷体" panose="02010609060101010101" pitchFamily="49" charset="-122"/>
              <a:ea typeface="楷体" panose="02010609060101010101" pitchFamily="49" charset="-122"/>
            </a:endParaRPr>
          </a:p>
          <a:p>
            <a:pPr marL="621030" lvl="1" indent="3175" algn="l">
              <a:spcBef>
                <a:spcPct val="30000"/>
              </a:spcBef>
              <a:buClr>
                <a:schemeClr val="bg1">
                  <a:lumMod val="50000"/>
                </a:schemeClr>
              </a:buClr>
              <a:buFont typeface="+mj-lt"/>
              <a:buAutoNum type="arabicPeriod"/>
            </a:pPr>
            <a:r>
              <a:rPr lang="zh-CN" altLang="en-US">
                <a:solidFill>
                  <a:srgbClr val="0000FF"/>
                </a:solidFill>
                <a:latin typeface="楷体" panose="02010609060101010101" pitchFamily="49" charset="-122"/>
                <a:ea typeface="楷体" panose="02010609060101010101" pitchFamily="49" charset="-122"/>
              </a:rPr>
              <a:t>人力资源管理的特殊性</a:t>
            </a:r>
            <a:endParaRPr lang="zh-CN" altLang="en-US">
              <a:solidFill>
                <a:srgbClr val="0000FF"/>
              </a:solidFill>
              <a:latin typeface="楷体" panose="02010609060101010101" pitchFamily="49" charset="-122"/>
              <a:ea typeface="楷体" panose="02010609060101010101" pitchFamily="49" charset="-122"/>
            </a:endParaRPr>
          </a:p>
          <a:p>
            <a:pPr marL="621030" lvl="1" indent="3175" algn="l">
              <a:spcBef>
                <a:spcPct val="30000"/>
              </a:spcBef>
              <a:buClr>
                <a:schemeClr val="bg1">
                  <a:lumMod val="50000"/>
                </a:schemeClr>
              </a:buClr>
              <a:buFont typeface="+mj-lt"/>
              <a:buAutoNum type="arabicPeriod"/>
            </a:pPr>
            <a:r>
              <a:rPr lang="zh-CN" altLang="en-US">
                <a:solidFill>
                  <a:srgbClr val="0000FF"/>
                </a:solidFill>
                <a:latin typeface="楷体" panose="02010609060101010101" pitchFamily="49" charset="-122"/>
                <a:ea typeface="楷体" panose="02010609060101010101" pitchFamily="49" charset="-122"/>
              </a:rPr>
              <a:t>项目过程的可控性</a:t>
            </a:r>
            <a:endParaRPr lang="zh-CN" altLang="en-US">
              <a:solidFill>
                <a:srgbClr val="0000FF"/>
              </a:solidFill>
              <a:latin typeface="楷体" panose="02010609060101010101" pitchFamily="49" charset="-122"/>
              <a:ea typeface="楷体" panose="02010609060101010101" pitchFamily="49" charset="-122"/>
            </a:endParaRPr>
          </a:p>
          <a:p>
            <a:pPr marL="621030" lvl="1" indent="3175" algn="l">
              <a:spcBef>
                <a:spcPct val="30000"/>
              </a:spcBef>
              <a:buClr>
                <a:schemeClr val="bg1">
                  <a:lumMod val="50000"/>
                </a:schemeClr>
              </a:buClr>
              <a:buFont typeface="+mj-lt"/>
              <a:buAutoNum type="arabicPeriod"/>
            </a:pPr>
            <a:r>
              <a:rPr lang="zh-CN" altLang="en-US">
                <a:solidFill>
                  <a:srgbClr val="0000FF"/>
                </a:solidFill>
                <a:latin typeface="楷体" panose="02010609060101010101" pitchFamily="49" charset="-122"/>
                <a:ea typeface="楷体" panose="02010609060101010101" pitchFamily="49" charset="-122"/>
              </a:rPr>
              <a:t>文档的完整性</a:t>
            </a:r>
            <a:endParaRPr lang="zh-CN" altLang="en-US">
              <a:solidFill>
                <a:srgbClr val="0000FF"/>
              </a:solidFill>
              <a:latin typeface="楷体" panose="02010609060101010101" pitchFamily="49" charset="-122"/>
              <a:ea typeface="楷体" panose="02010609060101010101" pitchFamily="49" charset="-122"/>
            </a:endParaRPr>
          </a:p>
        </p:txBody>
      </p:sp>
      <p:sp>
        <p:nvSpPr>
          <p:cNvPr id="53253" name="Rectangle 5"/>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dirty="0"/>
              <a:t>1.5 </a:t>
            </a:r>
            <a:r>
              <a:rPr kumimoji="0" lang="en-US" altLang="en-US" dirty="0" err="1"/>
              <a:t>走进IT项目管理</a:t>
            </a:r>
            <a:endParaRPr kumimoji="0" lang="zh-CN" altLang="en-US" dirty="0"/>
          </a:p>
        </p:txBody>
      </p:sp>
      <p:sp>
        <p:nvSpPr>
          <p:cNvPr id="53254" name="Rectangle 6"/>
          <p:cNvSpPr>
            <a:spLocks noChangeArrowheads="1"/>
          </p:cNvSpPr>
          <p:nvPr/>
        </p:nvSpPr>
        <p:spPr bwMode="auto">
          <a:xfrm>
            <a:off x="153988" y="1341438"/>
            <a:ext cx="3861435" cy="521970"/>
          </a:xfrm>
          <a:prstGeom prst="rect">
            <a:avLst/>
          </a:prstGeom>
          <a:noFill/>
          <a:ln w="9525">
            <a:noFill/>
            <a:miter lim="800000"/>
          </a:ln>
        </p:spPr>
        <p:txBody>
          <a:bodyPr wrap="none">
            <a:spAutoFit/>
          </a:bodyPr>
          <a:lstStyle/>
          <a:p>
            <a:pPr algn="l"/>
            <a:r>
              <a:rPr kumimoji="0" lang="en-US" altLang="en-US">
                <a:solidFill>
                  <a:schemeClr val="hlink"/>
                </a:solidFill>
                <a:ea typeface="楷体_GB2312" pitchFamily="49" charset="-122"/>
              </a:rPr>
              <a:t>1.5.2 IT</a:t>
            </a:r>
            <a:r>
              <a:rPr kumimoji="0" lang="en-US" altLang="en-US">
                <a:solidFill>
                  <a:schemeClr val="hlink"/>
                </a:solidFill>
                <a:latin typeface="楷体" panose="02010609060101010101" pitchFamily="49" charset="-122"/>
                <a:ea typeface="楷体" panose="02010609060101010101" pitchFamily="49" charset="-122"/>
              </a:rPr>
              <a:t>项目管理的特点</a:t>
            </a:r>
            <a:endParaRPr kumimoji="0" lang="en-US" altLang="en-US">
              <a:solidFill>
                <a:schemeClr val="hlink"/>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smtClean="0"/>
              <a:t>  </a:t>
            </a:r>
            <a:fld id="{B6D6A615-618E-4DBF-9BE6-09340DC0AD1F}" type="slidenum">
              <a:rPr lang="zh-CN" altLang="en-GB" smtClean="0"/>
            </a:fld>
            <a:endParaRPr lang="en-US" altLang="zh-CN" smtClean="0"/>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819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华文新魏" panose="02010800040101010101" pitchFamily="2" charset="-122"/>
                <a:ea typeface="华文新魏" panose="02010800040101010101" pitchFamily="2" charset="-122"/>
              </a:rPr>
              <a:t>提   纲</a:t>
            </a:r>
            <a:endParaRPr lang="en-US" altLang="zh-CN" sz="4800" b="1" smtClean="0">
              <a:latin typeface="华文新魏" panose="02010800040101010101" pitchFamily="2" charset="-122"/>
              <a:ea typeface="华文新魏" panose="02010800040101010101" pitchFamily="2" charset="-122"/>
            </a:endParaRPr>
          </a:p>
        </p:txBody>
      </p:sp>
      <p:sp>
        <p:nvSpPr>
          <p:cNvPr id="7" name="TextBox 6"/>
          <p:cNvSpPr txBox="1">
            <a:spLocks noChangeArrowheads="1"/>
          </p:cNvSpPr>
          <p:nvPr/>
        </p:nvSpPr>
        <p:spPr bwMode="auto">
          <a:xfrm>
            <a:off x="285720" y="1357298"/>
            <a:ext cx="8501062" cy="489267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项目与项目管理的价值</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项目的特点与定义</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项目管理的概念与知识体系</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信息技术与</a:t>
            </a:r>
            <a:r>
              <a:rPr lang="en-US" altLang="zh-CN" sz="4400" smtClean="0">
                <a:solidFill>
                  <a:srgbClr val="0000FF"/>
                </a:solidFill>
                <a:ea typeface="楷体" panose="02010609060101010101" pitchFamily="49" charset="-122"/>
                <a:cs typeface="Times New Roman" panose="02020603050405020304" pitchFamily="18" charset="0"/>
              </a:rPr>
              <a:t>IT</a:t>
            </a: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项目特征</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zh-CN" sz="4400" smtClean="0">
                <a:solidFill>
                  <a:srgbClr val="0000FF"/>
                </a:solidFill>
                <a:latin typeface="+mn-lt"/>
                <a:ea typeface="楷体" panose="02010609060101010101" pitchFamily="49" charset="-122"/>
                <a:cs typeface="+mn-lt"/>
              </a:rPr>
              <a:t>IT</a:t>
            </a: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项目管理的定义与特点</a:t>
            </a:r>
            <a:endParaRPr lang="en-US" altLang="zh-CN" sz="440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smtClean="0">
                <a:solidFill>
                  <a:srgbClr val="FF0000"/>
                </a:solidFill>
                <a:latin typeface="楷体" panose="02010609060101010101" pitchFamily="49" charset="-122"/>
                <a:ea typeface="楷体" panose="02010609060101010101" pitchFamily="49" charset="-122"/>
                <a:cs typeface="楷体" panose="02010609060101010101" pitchFamily="49" charset="-122"/>
              </a:rPr>
              <a:t>软件的定义与软件项目特点</a:t>
            </a:r>
            <a:endParaRPr lang="en-US" altLang="zh-CN" sz="4800" smtClean="0">
              <a:solidFill>
                <a:srgbClr val="C00000"/>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软件项目管理的意义和重点</a:t>
            </a:r>
            <a:endParaRPr lang="zh-CN" altLang="en-US" sz="4400" dirty="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9"/>
          <p:cNvSpPr>
            <a:spLocks noGrp="1" noChangeArrowheads="1"/>
          </p:cNvSpPr>
          <p:nvPr>
            <p:ph type="sldNum" sz="quarter" idx="10"/>
          </p:nvPr>
        </p:nvSpPr>
        <p:spPr>
          <a:noFill/>
        </p:spPr>
        <p:txBody>
          <a:bodyPr/>
          <a:lstStyle/>
          <a:p>
            <a:r>
              <a:rPr lang="zh-CN" altLang="en-GB" smtClean="0"/>
              <a:t>  </a:t>
            </a:r>
            <a:fld id="{F4410C95-A154-40DA-A0FF-9CC1F852BFDA}" type="slidenum">
              <a:rPr lang="zh-CN" altLang="en-GB" smtClean="0"/>
            </a:fld>
            <a:endParaRPr lang="en-US" altLang="zh-CN" smtClean="0"/>
          </a:p>
        </p:txBody>
      </p:sp>
      <p:sp>
        <p:nvSpPr>
          <p:cNvPr id="5734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P.25</a:t>
            </a:r>
            <a:endParaRPr lang="en-US" altLang="zh-CN" sz="2400">
              <a:solidFill>
                <a:schemeClr val="bg2"/>
              </a:solidFill>
            </a:endParaRPr>
          </a:p>
        </p:txBody>
      </p:sp>
      <p:sp>
        <p:nvSpPr>
          <p:cNvPr id="57348" name="Text Box 4"/>
          <p:cNvSpPr txBox="1">
            <a:spLocks noChangeArrowheads="1"/>
          </p:cNvSpPr>
          <p:nvPr/>
        </p:nvSpPr>
        <p:spPr bwMode="auto">
          <a:xfrm>
            <a:off x="144463" y="1595438"/>
            <a:ext cx="8748712" cy="1737995"/>
          </a:xfrm>
          <a:prstGeom prst="rect">
            <a:avLst/>
          </a:prstGeom>
          <a:noFill/>
          <a:ln w="9525">
            <a:noFill/>
            <a:miter lim="800000"/>
          </a:ln>
        </p:spPr>
        <p:txBody>
          <a:bodyPr>
            <a:spAutoFit/>
          </a:bodyPr>
          <a:lstStyle/>
          <a:p>
            <a:pPr algn="just">
              <a:spcBef>
                <a:spcPct val="50000"/>
              </a:spcBef>
              <a:buClr>
                <a:schemeClr val="hlink"/>
              </a:buClr>
            </a:pP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软件</a:t>
            </a:r>
            <a:r>
              <a:rPr lang="zh-CN" altLang="en-US" dirty="0">
                <a:solidFill>
                  <a:schemeClr val="bg2"/>
                </a:solidFill>
                <a:latin typeface="楷体" panose="02010609060101010101" pitchFamily="49" charset="-122"/>
                <a:ea typeface="楷体" panose="02010609060101010101" pitchFamily="49" charset="-122"/>
                <a:cs typeface="楷体" panose="02010609060101010101" pitchFamily="49" charset="-122"/>
              </a:rPr>
              <a:t>项目属于</a:t>
            </a:r>
            <a:r>
              <a:rPr lang="en-US" altLang="zh-CN" dirty="0">
                <a:solidFill>
                  <a:schemeClr val="bg2"/>
                </a:solidFill>
                <a:ea typeface="楷体" panose="02010609060101010101" pitchFamily="49" charset="-122"/>
                <a:cs typeface="Times New Roman" panose="02020603050405020304" pitchFamily="18" charset="0"/>
              </a:rPr>
              <a:t>IT</a:t>
            </a:r>
            <a:r>
              <a:rPr lang="zh-CN" altLang="en-US" dirty="0">
                <a:solidFill>
                  <a:schemeClr val="bg2"/>
                </a:solidFill>
                <a:latin typeface="楷体" panose="02010609060101010101" pitchFamily="49" charset="-122"/>
                <a:ea typeface="楷体" panose="02010609060101010101" pitchFamily="49" charset="-122"/>
                <a:cs typeface="楷体" panose="02010609060101010101" pitchFamily="49" charset="-122"/>
              </a:rPr>
              <a:t>项目范畴，软件项目是以软件为产品的项目，其</a:t>
            </a:r>
            <a:r>
              <a:rPr lang="zh-CN" altLang="en-US" dirty="0">
                <a:solidFill>
                  <a:srgbClr val="0000FF"/>
                </a:solidFill>
                <a:latin typeface="楷体" panose="02010609060101010101" pitchFamily="49" charset="-122"/>
                <a:ea typeface="楷体" panose="02010609060101010101" pitchFamily="49" charset="-122"/>
                <a:cs typeface="楷体" panose="02010609060101010101" pitchFamily="49" charset="-122"/>
              </a:rPr>
              <a:t>核心是软件</a:t>
            </a:r>
            <a:r>
              <a:rPr lang="zh-CN" altLang="en-US" dirty="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zh-CN" altLang="en-US"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ct val="50000"/>
              </a:spcBef>
              <a:buClr>
                <a:schemeClr val="hlink"/>
              </a:buClr>
            </a:pPr>
            <a:r>
              <a:rPr lang="zh-CN" altLang="en-US" sz="3400" dirty="0">
                <a:solidFill>
                  <a:srgbClr val="0000FF"/>
                </a:solidFill>
                <a:latin typeface="楷体" panose="02010609060101010101" pitchFamily="49" charset="-122"/>
                <a:ea typeface="楷体" panose="02010609060101010101" pitchFamily="49" charset="-122"/>
                <a:cs typeface="楷体" panose="02010609060101010101" pitchFamily="49" charset="-122"/>
              </a:rPr>
              <a:t>软件的开发和应用</a:t>
            </a:r>
            <a:r>
              <a:rPr lang="zh-CN" altLang="en-US" sz="3400" dirty="0">
                <a:solidFill>
                  <a:schemeClr val="bg2"/>
                </a:solidFill>
                <a:latin typeface="楷体" panose="02010609060101010101" pitchFamily="49" charset="-122"/>
                <a:ea typeface="楷体" panose="02010609060101010101" pitchFamily="49" charset="-122"/>
                <a:cs typeface="楷体" panose="02010609060101010101" pitchFamily="49" charset="-122"/>
              </a:rPr>
              <a:t>通过</a:t>
            </a:r>
            <a:r>
              <a:rPr lang="zh-CN" altLang="en-US" sz="3400" dirty="0">
                <a:solidFill>
                  <a:srgbClr val="0000FF"/>
                </a:solidFill>
                <a:latin typeface="楷体" panose="02010609060101010101" pitchFamily="49" charset="-122"/>
                <a:ea typeface="楷体" panose="02010609060101010101" pitchFamily="49" charset="-122"/>
                <a:cs typeface="楷体" panose="02010609060101010101" pitchFamily="49" charset="-122"/>
              </a:rPr>
              <a:t>软件项目</a:t>
            </a:r>
            <a:r>
              <a:rPr lang="zh-CN" altLang="en-US" sz="3400" dirty="0">
                <a:solidFill>
                  <a:schemeClr val="bg2"/>
                </a:solidFill>
                <a:latin typeface="楷体" panose="02010609060101010101" pitchFamily="49" charset="-122"/>
                <a:ea typeface="楷体" panose="02010609060101010101" pitchFamily="49" charset="-122"/>
                <a:cs typeface="楷体" panose="02010609060101010101" pitchFamily="49" charset="-122"/>
              </a:rPr>
              <a:t>来</a:t>
            </a:r>
            <a:r>
              <a:rPr lang="zh-CN" altLang="en-US" sz="3400" dirty="0">
                <a:solidFill>
                  <a:srgbClr val="0000FF"/>
                </a:solidFill>
                <a:latin typeface="楷体" panose="02010609060101010101" pitchFamily="49" charset="-122"/>
                <a:ea typeface="楷体" panose="02010609060101010101" pitchFamily="49" charset="-122"/>
                <a:cs typeface="楷体" panose="02010609060101010101" pitchFamily="49" charset="-122"/>
              </a:rPr>
              <a:t>实现。</a:t>
            </a:r>
            <a:endParaRPr lang="zh-CN" altLang="en-US" sz="3400"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57349" name="Rectangle 5"/>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1.6 走进软件与软件项目</a:t>
            </a:r>
            <a:endParaRPr kumimoji="0" lang="en-US" altLang="en-US"/>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9"/>
          <p:cNvSpPr>
            <a:spLocks noGrp="1" noChangeArrowheads="1"/>
          </p:cNvSpPr>
          <p:nvPr>
            <p:ph type="sldNum" sz="quarter" idx="10"/>
          </p:nvPr>
        </p:nvSpPr>
        <p:spPr>
          <a:noFill/>
        </p:spPr>
        <p:txBody>
          <a:bodyPr/>
          <a:lstStyle/>
          <a:p>
            <a:r>
              <a:rPr lang="zh-CN" altLang="en-GB" smtClean="0"/>
              <a:t>  </a:t>
            </a:r>
            <a:fld id="{EA445649-91E0-4206-8B03-8581B5C17FB6}" type="slidenum">
              <a:rPr lang="zh-CN" altLang="en-GB" smtClean="0"/>
            </a:fld>
            <a:endParaRPr lang="en-US" altLang="zh-CN" smtClean="0"/>
          </a:p>
        </p:txBody>
      </p:sp>
      <p:grpSp>
        <p:nvGrpSpPr>
          <p:cNvPr id="2" name="Group 5"/>
          <p:cNvGrpSpPr/>
          <p:nvPr/>
        </p:nvGrpSpPr>
        <p:grpSpPr bwMode="auto">
          <a:xfrm>
            <a:off x="900113" y="3391631"/>
            <a:ext cx="7272337" cy="2894889"/>
            <a:chOff x="793" y="2935"/>
            <a:chExt cx="3675" cy="994"/>
          </a:xfrm>
        </p:grpSpPr>
        <p:sp>
          <p:nvSpPr>
            <p:cNvPr id="59401" name="Rectangle 6"/>
            <p:cNvSpPr>
              <a:spLocks noChangeArrowheads="1"/>
            </p:cNvSpPr>
            <p:nvPr/>
          </p:nvSpPr>
          <p:spPr bwMode="auto">
            <a:xfrm>
              <a:off x="793" y="2935"/>
              <a:ext cx="3675" cy="816"/>
            </a:xfrm>
            <a:prstGeom prst="rect">
              <a:avLst/>
            </a:prstGeom>
            <a:noFill/>
            <a:ln w="28575">
              <a:noFill/>
              <a:miter lim="800000"/>
            </a:ln>
          </p:spPr>
          <p:txBody>
            <a:bodyPr wrap="none" anchor="ctr"/>
            <a:lstStyle/>
            <a:p>
              <a:endParaRPr lang="zh-CN" altLang="en-US"/>
            </a:p>
          </p:txBody>
        </p:sp>
        <p:pic>
          <p:nvPicPr>
            <p:cNvPr id="59402" name="Picture 7" descr="图1－3"/>
            <p:cNvPicPr>
              <a:picLocks noChangeAspect="1" noChangeArrowheads="1"/>
            </p:cNvPicPr>
            <p:nvPr/>
          </p:nvPicPr>
          <p:blipFill>
            <a:blip r:embed="rId1" cstate="print"/>
            <a:srcRect/>
            <a:stretch>
              <a:fillRect/>
            </a:stretch>
          </p:blipFill>
          <p:spPr bwMode="auto">
            <a:xfrm>
              <a:off x="1292" y="3203"/>
              <a:ext cx="2631" cy="726"/>
            </a:xfrm>
            <a:prstGeom prst="rect">
              <a:avLst/>
            </a:prstGeom>
            <a:noFill/>
            <a:ln w="9525">
              <a:noFill/>
              <a:miter lim="800000"/>
              <a:headEnd/>
              <a:tailEnd/>
            </a:ln>
          </p:spPr>
        </p:pic>
      </p:grpSp>
      <p:sp>
        <p:nvSpPr>
          <p:cNvPr id="59396"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P.26</a:t>
            </a:r>
            <a:endParaRPr lang="en-US" altLang="zh-CN" sz="2400">
              <a:solidFill>
                <a:schemeClr val="bg2"/>
              </a:solidFill>
            </a:endParaRPr>
          </a:p>
        </p:txBody>
      </p:sp>
      <p:sp>
        <p:nvSpPr>
          <p:cNvPr id="619524" name="Text Box 4"/>
          <p:cNvSpPr txBox="1">
            <a:spLocks noChangeArrowheads="1"/>
          </p:cNvSpPr>
          <p:nvPr/>
        </p:nvSpPr>
        <p:spPr bwMode="auto">
          <a:xfrm>
            <a:off x="179388" y="1784350"/>
            <a:ext cx="8748712" cy="2261235"/>
          </a:xfrm>
          <a:prstGeom prst="rect">
            <a:avLst/>
          </a:prstGeom>
          <a:noFill/>
          <a:ln w="9525">
            <a:noFill/>
            <a:miter lim="800000"/>
          </a:ln>
        </p:spPr>
        <p:txBody>
          <a:bodyPr>
            <a:spAutoFit/>
          </a:bodyPr>
          <a:lstStyle/>
          <a:p>
            <a:pPr algn="just">
              <a:spcBef>
                <a:spcPts val="600"/>
              </a:spcBef>
              <a:buClr>
                <a:schemeClr val="hlink"/>
              </a:buClr>
            </a:pPr>
            <a:r>
              <a:rPr lang="zh-CN" altLang="en-US" smtClean="0">
                <a:solidFill>
                  <a:schemeClr val="bg2"/>
                </a:solidFill>
                <a:latin typeface="楷体" panose="02010609060101010101" pitchFamily="49" charset="-122"/>
                <a:ea typeface="楷体" panose="02010609060101010101" pitchFamily="49" charset="-122"/>
              </a:rPr>
              <a:t>一个软件系统通常包括：</a:t>
            </a:r>
            <a:r>
              <a:rPr lang="zh-CN" altLang="en-US" sz="2400" smtClean="0">
                <a:solidFill>
                  <a:schemeClr val="bg2"/>
                </a:solidFill>
                <a:latin typeface="楷体" panose="02010609060101010101" pitchFamily="49" charset="-122"/>
                <a:ea typeface="楷体" panose="02010609060101010101" pitchFamily="49" charset="-122"/>
              </a:rPr>
              <a:t>在计算机运行中能够提供所希望的功能和性能的</a:t>
            </a:r>
            <a:r>
              <a:rPr lang="zh-CN" altLang="en-US" sz="2400" smtClean="0">
                <a:solidFill>
                  <a:srgbClr val="FF0000"/>
                </a:solidFill>
                <a:latin typeface="楷体" panose="02010609060101010101" pitchFamily="49" charset="-122"/>
                <a:ea typeface="楷体" panose="02010609060101010101" pitchFamily="49" charset="-122"/>
              </a:rPr>
              <a:t>程序</a:t>
            </a:r>
            <a:r>
              <a:rPr lang="zh-CN" altLang="en-US" sz="2400" smtClean="0">
                <a:solidFill>
                  <a:schemeClr val="bg2"/>
                </a:solidFill>
                <a:latin typeface="楷体" panose="02010609060101010101" pitchFamily="49" charset="-122"/>
                <a:ea typeface="楷体" panose="02010609060101010101" pitchFamily="49" charset="-122"/>
              </a:rPr>
              <a:t>；使程序能够正确运行的</a:t>
            </a:r>
            <a:r>
              <a:rPr lang="zh-CN" altLang="en-US" sz="2400" smtClean="0">
                <a:solidFill>
                  <a:srgbClr val="FF0000"/>
                </a:solidFill>
                <a:latin typeface="楷体" panose="02010609060101010101" pitchFamily="49" charset="-122"/>
                <a:ea typeface="楷体" panose="02010609060101010101" pitchFamily="49" charset="-122"/>
              </a:rPr>
              <a:t>数据结构和数据</a:t>
            </a:r>
            <a:r>
              <a:rPr lang="zh-CN" altLang="en-US" sz="2400" smtClean="0">
                <a:solidFill>
                  <a:schemeClr val="bg2"/>
                </a:solidFill>
                <a:latin typeface="楷体" panose="02010609060101010101" pitchFamily="49" charset="-122"/>
                <a:ea typeface="楷体" panose="02010609060101010101" pitchFamily="49" charset="-122"/>
              </a:rPr>
              <a:t>；描述</a:t>
            </a:r>
            <a:r>
              <a:rPr lang="zh-CN" altLang="en-US" sz="2400" smtClean="0">
                <a:solidFill>
                  <a:srgbClr val="FF0000"/>
                </a:solidFill>
                <a:latin typeface="楷体" panose="02010609060101010101" pitchFamily="49" charset="-122"/>
                <a:ea typeface="楷体" panose="02010609060101010101" pitchFamily="49" charset="-122"/>
              </a:rPr>
              <a:t>系统结构的文档</a:t>
            </a:r>
            <a:r>
              <a:rPr lang="zh-CN" altLang="en-US" sz="2400" smtClean="0">
                <a:solidFill>
                  <a:schemeClr val="bg2"/>
                </a:solidFill>
                <a:latin typeface="楷体" panose="02010609060101010101" pitchFamily="49" charset="-122"/>
                <a:ea typeface="楷体" panose="02010609060101010101" pitchFamily="49" charset="-122"/>
              </a:rPr>
              <a:t>和如何使用与维护系统的</a:t>
            </a:r>
            <a:r>
              <a:rPr lang="zh-CN" altLang="en-US" sz="2400" smtClean="0">
                <a:solidFill>
                  <a:srgbClr val="FF0000"/>
                </a:solidFill>
                <a:latin typeface="楷体" panose="02010609060101010101" pitchFamily="49" charset="-122"/>
                <a:ea typeface="楷体" panose="02010609060101010101" pitchFamily="49" charset="-122"/>
              </a:rPr>
              <a:t>用户文档</a:t>
            </a:r>
            <a:r>
              <a:rPr lang="zh-CN" altLang="en-US" sz="2400" smtClean="0">
                <a:solidFill>
                  <a:schemeClr val="bg2"/>
                </a:solidFill>
                <a:latin typeface="楷体" panose="02010609060101010101" pitchFamily="49" charset="-122"/>
                <a:ea typeface="楷体" panose="02010609060101010101" pitchFamily="49" charset="-122"/>
              </a:rPr>
              <a:t>。</a:t>
            </a:r>
            <a:endParaRPr lang="zh-CN" altLang="en-US" smtClean="0">
              <a:solidFill>
                <a:schemeClr val="bg2"/>
              </a:solidFill>
              <a:latin typeface="楷体" panose="02010609060101010101" pitchFamily="49" charset="-122"/>
              <a:ea typeface="楷体" panose="02010609060101010101" pitchFamily="49" charset="-122"/>
            </a:endParaRPr>
          </a:p>
          <a:p>
            <a:pPr algn="just">
              <a:spcBef>
                <a:spcPts val="600"/>
              </a:spcBef>
              <a:buClr>
                <a:schemeClr val="hlink"/>
              </a:buClr>
            </a:pPr>
            <a:r>
              <a:rPr lang="zh-CN" altLang="en-US" smtClean="0">
                <a:solidFill>
                  <a:schemeClr val="bg2"/>
                </a:solidFill>
                <a:latin typeface="楷体" panose="02010609060101010101" pitchFamily="49" charset="-122"/>
                <a:ea typeface="楷体" panose="02010609060101010101" pitchFamily="49" charset="-122"/>
              </a:rPr>
              <a:t>软件</a:t>
            </a:r>
            <a:r>
              <a:rPr lang="zh-CN" altLang="en-US">
                <a:solidFill>
                  <a:schemeClr val="bg2"/>
                </a:solidFill>
                <a:latin typeface="楷体" panose="02010609060101010101" pitchFamily="49" charset="-122"/>
                <a:ea typeface="楷体" panose="02010609060101010101" pitchFamily="49" charset="-122"/>
              </a:rPr>
              <a:t>是计算机系统中与硬件相互</a:t>
            </a:r>
            <a:r>
              <a:rPr lang="zh-CN" altLang="en-US" sz="3200">
                <a:solidFill>
                  <a:schemeClr val="bg2"/>
                </a:solidFill>
                <a:latin typeface="楷体" panose="02010609060101010101" pitchFamily="49" charset="-122"/>
                <a:ea typeface="楷体" panose="02010609060101010101" pitchFamily="49" charset="-122"/>
              </a:rPr>
              <a:t>依存</a:t>
            </a:r>
            <a:r>
              <a:rPr lang="zh-CN" altLang="en-US">
                <a:solidFill>
                  <a:schemeClr val="bg2"/>
                </a:solidFill>
                <a:latin typeface="楷体" panose="02010609060101010101" pitchFamily="49" charset="-122"/>
                <a:ea typeface="楷体" panose="02010609060101010101" pitchFamily="49" charset="-122"/>
              </a:rPr>
              <a:t>的另</a:t>
            </a:r>
            <a:r>
              <a:rPr lang="zh-CN" altLang="en-US" smtClean="0">
                <a:solidFill>
                  <a:schemeClr val="bg2"/>
                </a:solidFill>
                <a:latin typeface="楷体" panose="02010609060101010101" pitchFamily="49" charset="-122"/>
                <a:ea typeface="楷体" panose="02010609060101010101" pitchFamily="49" charset="-122"/>
              </a:rPr>
              <a:t>一部分，它是</a:t>
            </a:r>
            <a:r>
              <a:rPr lang="zh-CN" altLang="en-US" smtClean="0">
                <a:solidFill>
                  <a:srgbClr val="FF0000"/>
                </a:solidFill>
                <a:latin typeface="楷体" panose="02010609060101010101" pitchFamily="49" charset="-122"/>
                <a:ea typeface="楷体" panose="02010609060101010101" pitchFamily="49" charset="-122"/>
              </a:rPr>
              <a:t>程序</a:t>
            </a:r>
            <a:r>
              <a:rPr lang="zh-CN" altLang="en-US">
                <a:solidFill>
                  <a:srgbClr val="FF0000"/>
                </a:solidFill>
                <a:latin typeface="楷体" panose="02010609060101010101" pitchFamily="49" charset="-122"/>
                <a:ea typeface="楷体" panose="02010609060101010101" pitchFamily="49" charset="-122"/>
              </a:rPr>
              <a:t>、数据和文档</a:t>
            </a:r>
            <a:r>
              <a:rPr lang="zh-CN" altLang="en-US">
                <a:solidFill>
                  <a:schemeClr val="bg2"/>
                </a:solidFill>
                <a:latin typeface="楷体" panose="02010609060101010101" pitchFamily="49" charset="-122"/>
                <a:ea typeface="楷体" panose="02010609060101010101" pitchFamily="49" charset="-122"/>
              </a:rPr>
              <a:t>它的完整集合。</a:t>
            </a:r>
            <a:endParaRPr lang="zh-CN" altLang="en-US">
              <a:solidFill>
                <a:schemeClr val="bg2"/>
              </a:solidFill>
              <a:latin typeface="楷体" panose="02010609060101010101" pitchFamily="49" charset="-122"/>
              <a:ea typeface="楷体" panose="02010609060101010101" pitchFamily="49" charset="-122"/>
            </a:endParaRPr>
          </a:p>
        </p:txBody>
      </p:sp>
      <p:sp>
        <p:nvSpPr>
          <p:cNvPr id="59398" name="Rectangle 8"/>
          <p:cNvSpPr>
            <a:spLocks noChangeArrowheads="1"/>
          </p:cNvSpPr>
          <p:nvPr/>
        </p:nvSpPr>
        <p:spPr bwMode="auto">
          <a:xfrm>
            <a:off x="3405188" y="6505575"/>
            <a:ext cx="2390775" cy="336550"/>
          </a:xfrm>
          <a:prstGeom prst="rect">
            <a:avLst/>
          </a:prstGeom>
          <a:noFill/>
          <a:ln w="9525">
            <a:noFill/>
            <a:miter lim="800000"/>
          </a:ln>
        </p:spPr>
        <p:txBody>
          <a:bodyPr anchor="ctr">
            <a:spAutoFit/>
          </a:bodyPr>
          <a:lstStyle/>
          <a:p>
            <a:pPr algn="ctr"/>
            <a:r>
              <a:rPr kumimoji="0" lang="zh-CN" altLang="en-US" sz="1600">
                <a:solidFill>
                  <a:srgbClr val="990000"/>
                </a:solidFill>
                <a:latin typeface="Arial" panose="020B0604020202020204" pitchFamily="34" charset="0"/>
              </a:rPr>
              <a:t>图</a:t>
            </a:r>
            <a:r>
              <a:rPr kumimoji="0" lang="en-US" altLang="zh-CN" sz="1600">
                <a:solidFill>
                  <a:srgbClr val="990000"/>
                </a:solidFill>
                <a:latin typeface="Arial" panose="020B0604020202020204" pitchFamily="34" charset="0"/>
              </a:rPr>
              <a:t>1-3 </a:t>
            </a:r>
            <a:r>
              <a:rPr kumimoji="0" lang="zh-CN" altLang="en-US" sz="1600">
                <a:solidFill>
                  <a:srgbClr val="990000"/>
                </a:solidFill>
                <a:latin typeface="Arial" panose="020B0604020202020204" pitchFamily="34" charset="0"/>
              </a:rPr>
              <a:t>软件的组成要素</a:t>
            </a:r>
            <a:endParaRPr kumimoji="0" lang="zh-CN" altLang="en-US" sz="1600">
              <a:solidFill>
                <a:srgbClr val="990000"/>
              </a:solidFill>
              <a:latin typeface="Arial" panose="020B0604020202020204" pitchFamily="34" charset="0"/>
            </a:endParaRPr>
          </a:p>
        </p:txBody>
      </p:sp>
      <p:sp>
        <p:nvSpPr>
          <p:cNvPr id="59399" name="Rectangle 9"/>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1.6 走进软件与软件项目</a:t>
            </a:r>
            <a:endParaRPr kumimoji="0" lang="zh-CN" altLang="en-US"/>
          </a:p>
        </p:txBody>
      </p:sp>
      <p:sp>
        <p:nvSpPr>
          <p:cNvPr id="59400" name="Rectangle 10"/>
          <p:cNvSpPr>
            <a:spLocks noChangeArrowheads="1"/>
          </p:cNvSpPr>
          <p:nvPr/>
        </p:nvSpPr>
        <p:spPr bwMode="auto">
          <a:xfrm>
            <a:off x="34925" y="1341438"/>
            <a:ext cx="3409950" cy="519112"/>
          </a:xfrm>
          <a:prstGeom prst="rect">
            <a:avLst/>
          </a:prstGeom>
          <a:noFill/>
          <a:ln w="9525">
            <a:noFill/>
            <a:miter lim="800000"/>
          </a:ln>
        </p:spPr>
        <p:txBody>
          <a:bodyPr>
            <a:spAutoFit/>
          </a:bodyPr>
          <a:lstStyle/>
          <a:p>
            <a:pPr algn="l"/>
            <a:r>
              <a:rPr kumimoji="0" lang="en-US" altLang="en-US">
                <a:solidFill>
                  <a:schemeClr val="hlink"/>
                </a:solidFill>
                <a:ea typeface="楷体_GB2312" pitchFamily="49" charset="-122"/>
              </a:rPr>
              <a:t>1.6.1 软件的定义</a:t>
            </a:r>
            <a:endParaRPr kumimoji="0" lang="en-US" altLang="en-US">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59398"/>
                                        </p:tgtEl>
                                        <p:attrNameLst>
                                          <p:attrName>style.visibility</p:attrName>
                                        </p:attrNameLst>
                                      </p:cBhvr>
                                      <p:to>
                                        <p:strVal val="visible"/>
                                      </p:to>
                                    </p:set>
                                    <p:animEffect transition="in" filter="box(in)">
                                      <p:cBhvr>
                                        <p:cTn id="7" dur="2000"/>
                                        <p:tgtEl>
                                          <p:spTgt spid="5939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19524">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19524">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9"/>
          <p:cNvSpPr>
            <a:spLocks noGrp="1" noChangeArrowheads="1"/>
          </p:cNvSpPr>
          <p:nvPr>
            <p:ph type="sldNum" sz="quarter" idx="10"/>
          </p:nvPr>
        </p:nvSpPr>
        <p:spPr>
          <a:noFill/>
        </p:spPr>
        <p:txBody>
          <a:bodyPr/>
          <a:lstStyle/>
          <a:p>
            <a:r>
              <a:rPr lang="zh-CN" altLang="en-GB" smtClean="0"/>
              <a:t>  </a:t>
            </a:r>
            <a:fld id="{F254ACAE-3E0D-4B5D-BC80-37E3D85BA151}" type="slidenum">
              <a:rPr lang="zh-CN" altLang="en-GB" smtClean="0"/>
            </a:fld>
            <a:endParaRPr lang="en-US" altLang="zh-CN" smtClean="0"/>
          </a:p>
        </p:txBody>
      </p:sp>
      <p:sp>
        <p:nvSpPr>
          <p:cNvPr id="6246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P.30</a:t>
            </a:r>
            <a:endParaRPr lang="en-US" altLang="zh-CN" sz="2400">
              <a:solidFill>
                <a:schemeClr val="bg2"/>
              </a:solidFill>
            </a:endParaRPr>
          </a:p>
        </p:txBody>
      </p:sp>
      <p:sp>
        <p:nvSpPr>
          <p:cNvPr id="62468" name="Text Box 4"/>
          <p:cNvSpPr txBox="1">
            <a:spLocks noChangeArrowheads="1"/>
          </p:cNvSpPr>
          <p:nvPr/>
        </p:nvSpPr>
        <p:spPr bwMode="auto">
          <a:xfrm>
            <a:off x="214282" y="1857364"/>
            <a:ext cx="8715404" cy="4399915"/>
          </a:xfrm>
          <a:prstGeom prst="rect">
            <a:avLst/>
          </a:prstGeom>
          <a:noFill/>
          <a:ln w="9525">
            <a:noFill/>
            <a:miter lim="800000"/>
          </a:ln>
        </p:spPr>
        <p:txBody>
          <a:bodyPr wrap="square">
            <a:spAutoFit/>
          </a:bodyPr>
          <a:lstStyle/>
          <a:p>
            <a:pPr algn="l">
              <a:spcBef>
                <a:spcPts val="600"/>
              </a:spcBef>
              <a:buClr>
                <a:schemeClr val="bg1">
                  <a:lumMod val="50000"/>
                </a:schemeClr>
              </a:buClr>
            </a:pPr>
            <a:r>
              <a:rPr lang="zh-CN" altLang="en-US" sz="2400"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软件</a:t>
            </a: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在计算机系统中是一种</a:t>
            </a:r>
            <a:r>
              <a:rPr lang="zh-CN" altLang="en-US" sz="2400"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逻辑产品</a:t>
            </a: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，而</a:t>
            </a:r>
            <a:r>
              <a:rPr lang="zh-CN" altLang="en-US" sz="2400"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硬件</a:t>
            </a: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是一个</a:t>
            </a:r>
            <a:r>
              <a:rPr lang="zh-CN" altLang="en-US" sz="2400"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物理部件</a:t>
            </a: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。相对于硬件和传统的工业产品而言，软件具有明显的不同。</a:t>
            </a:r>
            <a:endParaRPr lang="en-US" altLang="zh-CN" sz="2400" dirty="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600"/>
              </a:spcBef>
              <a:buClr>
                <a:schemeClr val="bg1">
                  <a:lumMod val="50000"/>
                </a:schemeClr>
              </a:buClr>
              <a:buFont typeface="+mj-lt"/>
              <a:buAutoNum type="arabicPeriod"/>
            </a:pPr>
            <a:r>
              <a:rPr lang="zh-CN" altLang="en-US" sz="24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软件</a:t>
            </a:r>
            <a:r>
              <a:rPr lang="zh-CN" altLang="en-US" sz="2400"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产品</a:t>
            </a:r>
            <a:r>
              <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rPr>
              <a:t>的抽象性</a:t>
            </a:r>
            <a:endPar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600"/>
              </a:spcBef>
              <a:buClr>
                <a:schemeClr val="bg1">
                  <a:lumMod val="50000"/>
                </a:schemeClr>
              </a:buClr>
              <a:buFont typeface="+mj-lt"/>
              <a:buAutoNum type="arabicPeriod"/>
            </a:pPr>
            <a:r>
              <a:rPr lang="zh-CN" altLang="en-US" sz="2400" dirty="0">
                <a:solidFill>
                  <a:schemeClr val="bg2"/>
                </a:solidFill>
                <a:latin typeface="楷体" panose="02010609060101010101" pitchFamily="49" charset="-122"/>
                <a:ea typeface="楷体" panose="02010609060101010101" pitchFamily="49" charset="-122"/>
                <a:cs typeface="楷体" panose="02010609060101010101" pitchFamily="49" charset="-122"/>
              </a:rPr>
              <a:t>软件</a:t>
            </a:r>
            <a:r>
              <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rPr>
              <a:t>生产过程的特殊性</a:t>
            </a:r>
            <a:endPar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600"/>
              </a:spcBef>
              <a:buClr>
                <a:schemeClr val="bg1">
                  <a:lumMod val="50000"/>
                </a:schemeClr>
              </a:buClr>
              <a:buFont typeface="+mj-lt"/>
              <a:buAutoNum type="arabicPeriod"/>
            </a:pPr>
            <a:r>
              <a:rPr lang="zh-CN" altLang="en-US" sz="2400" dirty="0">
                <a:solidFill>
                  <a:schemeClr val="bg2"/>
                </a:solidFill>
                <a:latin typeface="楷体" panose="02010609060101010101" pitchFamily="49" charset="-122"/>
                <a:ea typeface="楷体" panose="02010609060101010101" pitchFamily="49" charset="-122"/>
                <a:cs typeface="楷体" panose="02010609060101010101" pitchFamily="49" charset="-122"/>
              </a:rPr>
              <a:t>软件</a:t>
            </a:r>
            <a:r>
              <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rPr>
              <a:t>缺陷检测的困难性</a:t>
            </a:r>
            <a:endPar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600"/>
              </a:spcBef>
              <a:buClr>
                <a:schemeClr val="bg1">
                  <a:lumMod val="50000"/>
                </a:schemeClr>
              </a:buClr>
              <a:buFont typeface="+mj-lt"/>
              <a:buAutoNum type="arabicPeriod"/>
            </a:pPr>
            <a:r>
              <a:rPr lang="zh-CN" altLang="en-US" sz="2400" dirty="0">
                <a:solidFill>
                  <a:schemeClr val="bg2"/>
                </a:solidFill>
                <a:latin typeface="楷体" panose="02010609060101010101" pitchFamily="49" charset="-122"/>
                <a:ea typeface="楷体" panose="02010609060101010101" pitchFamily="49" charset="-122"/>
                <a:cs typeface="楷体" panose="02010609060101010101" pitchFamily="49" charset="-122"/>
              </a:rPr>
              <a:t>软件</a:t>
            </a:r>
            <a:r>
              <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rPr>
              <a:t>维护的复杂性</a:t>
            </a:r>
            <a:endPar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600"/>
              </a:spcBef>
              <a:buClr>
                <a:schemeClr val="bg1">
                  <a:lumMod val="50000"/>
                </a:schemeClr>
              </a:buClr>
              <a:buFont typeface="+mj-lt"/>
              <a:buAutoNum type="arabicPeriod"/>
            </a:pPr>
            <a:r>
              <a:rPr lang="zh-CN" altLang="en-US" sz="2400" dirty="0">
                <a:solidFill>
                  <a:schemeClr val="bg2"/>
                </a:solidFill>
                <a:latin typeface="楷体" panose="02010609060101010101" pitchFamily="49" charset="-122"/>
                <a:ea typeface="楷体" panose="02010609060101010101" pitchFamily="49" charset="-122"/>
                <a:cs typeface="楷体" panose="02010609060101010101" pitchFamily="49" charset="-122"/>
              </a:rPr>
              <a:t>软件</a:t>
            </a:r>
            <a:r>
              <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rPr>
              <a:t>对环境的依赖性</a:t>
            </a:r>
            <a:endPar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600"/>
              </a:spcBef>
              <a:buClr>
                <a:schemeClr val="bg1">
                  <a:lumMod val="50000"/>
                </a:schemeClr>
              </a:buClr>
              <a:buFont typeface="+mj-lt"/>
              <a:buAutoNum type="arabicPeriod"/>
            </a:pPr>
            <a:r>
              <a:rPr lang="zh-CN" altLang="en-US" sz="2400" dirty="0">
                <a:solidFill>
                  <a:schemeClr val="bg2"/>
                </a:solidFill>
                <a:latin typeface="楷体" panose="02010609060101010101" pitchFamily="49" charset="-122"/>
                <a:ea typeface="楷体" panose="02010609060101010101" pitchFamily="49" charset="-122"/>
                <a:cs typeface="楷体" panose="02010609060101010101" pitchFamily="49" charset="-122"/>
              </a:rPr>
              <a:t>软件</a:t>
            </a:r>
            <a:r>
              <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rPr>
              <a:t>开发方式与软件发展的不对称性</a:t>
            </a:r>
            <a:endPar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600"/>
              </a:spcBef>
              <a:buClr>
                <a:schemeClr val="bg1">
                  <a:lumMod val="50000"/>
                </a:schemeClr>
              </a:buClr>
              <a:buFont typeface="+mj-lt"/>
              <a:buAutoNum type="arabicPeriod"/>
            </a:pPr>
            <a:r>
              <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rPr>
              <a:t>系统开销的主导</a:t>
            </a:r>
            <a:r>
              <a:rPr lang="zh-CN" altLang="en-US" sz="2400"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性</a:t>
            </a:r>
            <a:r>
              <a:rPr lang="en-US" altLang="zh-CN" sz="2400"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a:t>
            </a:r>
            <a:r>
              <a:rPr lang="en-US" altLang="zh-CN" sz="2400" dirty="0" smtClean="0">
                <a:solidFill>
                  <a:srgbClr val="0000FF"/>
                </a:solidFill>
                <a:ea typeface="楷体" panose="02010609060101010101" pitchFamily="49" charset="-122"/>
                <a:cs typeface="Times New Roman" panose="02020603050405020304" pitchFamily="18" charset="0"/>
              </a:rPr>
              <a:t>2-8</a:t>
            </a:r>
            <a:r>
              <a:rPr lang="zh-CN" altLang="en-US" sz="2400"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原理）</a:t>
            </a:r>
            <a:endPar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600"/>
              </a:spcBef>
              <a:buClr>
                <a:schemeClr val="bg1">
                  <a:lumMod val="50000"/>
                </a:schemeClr>
              </a:buClr>
              <a:buFont typeface="+mj-lt"/>
              <a:buAutoNum type="arabicPeriod"/>
            </a:pPr>
            <a:r>
              <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rPr>
              <a:t>与社会因素的关联性</a:t>
            </a:r>
            <a:endParaRPr lang="zh-CN" altLang="en-US" sz="2400"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62469" name="Rectangle 5"/>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1.6 走进软件与软件项目</a:t>
            </a:r>
            <a:endParaRPr kumimoji="0" lang="zh-CN" altLang="en-US"/>
          </a:p>
        </p:txBody>
      </p:sp>
      <p:sp>
        <p:nvSpPr>
          <p:cNvPr id="62470" name="Rectangle 6"/>
          <p:cNvSpPr>
            <a:spLocks noChangeArrowheads="1"/>
          </p:cNvSpPr>
          <p:nvPr/>
        </p:nvSpPr>
        <p:spPr bwMode="auto">
          <a:xfrm>
            <a:off x="153988" y="1341438"/>
            <a:ext cx="2795958" cy="523220"/>
          </a:xfrm>
          <a:prstGeom prst="rect">
            <a:avLst/>
          </a:prstGeom>
          <a:noFill/>
          <a:ln w="9525">
            <a:noFill/>
            <a:miter lim="800000"/>
          </a:ln>
        </p:spPr>
        <p:txBody>
          <a:bodyPr wrap="none">
            <a:spAutoFit/>
          </a:bodyPr>
          <a:lstStyle/>
          <a:p>
            <a:pPr algn="l"/>
            <a:r>
              <a:rPr kumimoji="0" lang="en-US" altLang="en-US" dirty="0" smtClean="0">
                <a:solidFill>
                  <a:schemeClr val="hlink"/>
                </a:solidFill>
                <a:ea typeface="楷体_GB2312" pitchFamily="49" charset="-122"/>
              </a:rPr>
              <a:t>1.6.</a:t>
            </a:r>
            <a:r>
              <a:rPr kumimoji="0" lang="en-US" altLang="zh-CN" dirty="0" smtClean="0">
                <a:solidFill>
                  <a:schemeClr val="hlink"/>
                </a:solidFill>
                <a:ea typeface="楷体_GB2312" pitchFamily="49" charset="-122"/>
              </a:rPr>
              <a:t>2</a:t>
            </a:r>
            <a:r>
              <a:rPr kumimoji="0" lang="en-US" altLang="en-US" dirty="0" smtClean="0">
                <a:solidFill>
                  <a:schemeClr val="hlink"/>
                </a:solidFill>
                <a:ea typeface="楷体_GB2312" pitchFamily="49" charset="-122"/>
              </a:rPr>
              <a:t> </a:t>
            </a:r>
            <a:r>
              <a:rPr kumimoji="0" lang="en-US" altLang="en-US" dirty="0" err="1">
                <a:solidFill>
                  <a:schemeClr val="hlink"/>
                </a:solidFill>
                <a:ea typeface="楷体_GB2312" pitchFamily="49" charset="-122"/>
              </a:rPr>
              <a:t>软件的特点</a:t>
            </a:r>
            <a:endParaRPr kumimoji="0" lang="en-US" altLang="en-US" dirty="0">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4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4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46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46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46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46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246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246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246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9"/>
          <p:cNvSpPr>
            <a:spLocks noGrp="1" noChangeArrowheads="1"/>
          </p:cNvSpPr>
          <p:nvPr>
            <p:ph type="sldNum" sz="quarter" idx="10"/>
          </p:nvPr>
        </p:nvSpPr>
        <p:spPr>
          <a:noFill/>
        </p:spPr>
        <p:txBody>
          <a:bodyPr/>
          <a:lstStyle/>
          <a:p>
            <a:r>
              <a:rPr lang="zh-CN" altLang="en-GB" smtClean="0"/>
              <a:t>  </a:t>
            </a:r>
            <a:fld id="{31CBF009-7AAA-45C2-9520-E8F106D298CF}" type="slidenum">
              <a:rPr lang="zh-CN" altLang="en-GB" smtClean="0"/>
            </a:fld>
            <a:endParaRPr lang="en-US" altLang="zh-CN" smtClean="0"/>
          </a:p>
        </p:txBody>
      </p:sp>
      <p:sp>
        <p:nvSpPr>
          <p:cNvPr id="6553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P.29</a:t>
            </a:r>
            <a:endParaRPr lang="en-US" altLang="zh-CN" sz="2400">
              <a:solidFill>
                <a:schemeClr val="bg2"/>
              </a:solidFill>
            </a:endParaRPr>
          </a:p>
        </p:txBody>
      </p:sp>
      <p:sp>
        <p:nvSpPr>
          <p:cNvPr id="65540" name="Text Box 4"/>
          <p:cNvSpPr txBox="1">
            <a:spLocks noChangeArrowheads="1"/>
          </p:cNvSpPr>
          <p:nvPr/>
        </p:nvSpPr>
        <p:spPr bwMode="auto">
          <a:xfrm>
            <a:off x="0" y="1928802"/>
            <a:ext cx="8964613" cy="4461510"/>
          </a:xfrm>
          <a:prstGeom prst="rect">
            <a:avLst/>
          </a:prstGeom>
          <a:noFill/>
          <a:ln w="9525">
            <a:noFill/>
            <a:miter lim="800000"/>
          </a:ln>
        </p:spPr>
        <p:txBody>
          <a:bodyPr>
            <a:spAutoFit/>
          </a:bodyPr>
          <a:lstStyle/>
          <a:p>
            <a:pPr algn="l">
              <a:spcBef>
                <a:spcPts val="600"/>
              </a:spcBef>
              <a:spcAft>
                <a:spcPts val="600"/>
              </a:spcAft>
              <a:buClr>
                <a:schemeClr val="hlink"/>
              </a:buClr>
            </a:pPr>
            <a:r>
              <a:rPr lang="zh-CN" altLang="en-US">
                <a:solidFill>
                  <a:schemeClr val="bg2"/>
                </a:solidFill>
                <a:latin typeface="楷体" panose="02010609060101010101" pitchFamily="49" charset="-122"/>
                <a:ea typeface="楷体" panose="02010609060101010101" pitchFamily="49" charset="-122"/>
              </a:rPr>
              <a:t>软件项目的最终成果是</a:t>
            </a:r>
            <a:r>
              <a:rPr lang="zh-CN" altLang="en-US">
                <a:solidFill>
                  <a:schemeClr val="bg1"/>
                </a:solidFill>
                <a:latin typeface="楷体" panose="02010609060101010101" pitchFamily="49" charset="-122"/>
                <a:ea typeface="楷体" panose="02010609060101010101" pitchFamily="49" charset="-122"/>
              </a:rPr>
              <a:t>软件产品</a:t>
            </a:r>
            <a:r>
              <a:rPr lang="zh-CN" altLang="en-US">
                <a:solidFill>
                  <a:schemeClr val="bg2"/>
                </a:solidFill>
                <a:latin typeface="楷体" panose="02010609060101010101" pitchFamily="49" charset="-122"/>
                <a:ea typeface="楷体" panose="02010609060101010101" pitchFamily="49" charset="-122"/>
              </a:rPr>
              <a:t>，软件产品与其他</a:t>
            </a:r>
            <a:r>
              <a:rPr lang="zh-CN" altLang="en-US" smtClean="0">
                <a:solidFill>
                  <a:schemeClr val="bg2"/>
                </a:solidFill>
                <a:latin typeface="楷体" panose="02010609060101010101" pitchFamily="49" charset="-122"/>
                <a:ea typeface="楷体" panose="02010609060101010101" pitchFamily="49" charset="-122"/>
              </a:rPr>
              <a:t>任何产品</a:t>
            </a:r>
            <a:r>
              <a:rPr lang="zh-CN" altLang="en-US">
                <a:solidFill>
                  <a:schemeClr val="bg2"/>
                </a:solidFill>
                <a:latin typeface="楷体" panose="02010609060101010101" pitchFamily="49" charset="-122"/>
                <a:ea typeface="楷体" panose="02010609060101010101" pitchFamily="49" charset="-122"/>
              </a:rPr>
              <a:t>的最大区别是</a:t>
            </a:r>
            <a:r>
              <a:rPr lang="zh-CN" altLang="en-US">
                <a:solidFill>
                  <a:srgbClr val="FF0000"/>
                </a:solidFill>
                <a:latin typeface="楷体" panose="02010609060101010101" pitchFamily="49" charset="-122"/>
                <a:ea typeface="楷体" panose="02010609060101010101" pitchFamily="49" charset="-122"/>
              </a:rPr>
              <a:t>无形和没有物理属性</a:t>
            </a:r>
            <a:r>
              <a:rPr lang="zh-CN" altLang="en-US">
                <a:solidFill>
                  <a:schemeClr val="bg2"/>
                </a:solidFill>
                <a:latin typeface="楷体" panose="02010609060101010101" pitchFamily="49" charset="-122"/>
                <a:ea typeface="楷体" panose="02010609060101010101" pitchFamily="49" charset="-122"/>
              </a:rPr>
              <a:t>，其特点体现在：</a:t>
            </a:r>
            <a:endParaRPr lang="zh-CN" altLang="en-US">
              <a:solidFill>
                <a:schemeClr val="bg2"/>
              </a:solidFill>
              <a:latin typeface="楷体" panose="02010609060101010101" pitchFamily="49" charset="-122"/>
              <a:ea typeface="楷体" panose="02010609060101010101" pitchFamily="49" charset="-122"/>
            </a:endParaRPr>
          </a:p>
          <a:p>
            <a:pPr marL="636905" lvl="2" indent="354330" algn="l">
              <a:spcBef>
                <a:spcPts val="600"/>
              </a:spcBef>
              <a:spcAft>
                <a:spcPts val="600"/>
              </a:spcAft>
              <a:buClr>
                <a:schemeClr val="bg1">
                  <a:lumMod val="50000"/>
                </a:schemeClr>
              </a:buClr>
              <a:buFont typeface="+mj-lt"/>
              <a:buAutoNum type="arabicPeriod"/>
            </a:pPr>
            <a:r>
              <a:rPr lang="zh-CN" altLang="en-US" smtClean="0">
                <a:solidFill>
                  <a:srgbClr val="0000FF"/>
                </a:solidFill>
                <a:latin typeface="楷体" panose="02010609060101010101" pitchFamily="49" charset="-122"/>
                <a:ea typeface="楷体" panose="02010609060101010101" pitchFamily="49" charset="-122"/>
              </a:rPr>
              <a:t>高度</a:t>
            </a:r>
            <a:r>
              <a:rPr lang="zh-CN" altLang="en-US">
                <a:solidFill>
                  <a:srgbClr val="0000FF"/>
                </a:solidFill>
                <a:latin typeface="楷体" panose="02010609060101010101" pitchFamily="49" charset="-122"/>
                <a:ea typeface="楷体" panose="02010609060101010101" pitchFamily="49" charset="-122"/>
              </a:rPr>
              <a:t>复杂性</a:t>
            </a:r>
            <a:endParaRPr lang="zh-CN" altLang="en-US">
              <a:solidFill>
                <a:srgbClr val="0000FF"/>
              </a:solidFill>
              <a:latin typeface="楷体" panose="02010609060101010101" pitchFamily="49" charset="-122"/>
              <a:ea typeface="楷体" panose="02010609060101010101" pitchFamily="49" charset="-122"/>
            </a:endParaRPr>
          </a:p>
          <a:p>
            <a:pPr marL="636905" lvl="2" indent="354330" algn="l">
              <a:spcBef>
                <a:spcPts val="600"/>
              </a:spcBef>
              <a:spcAft>
                <a:spcPts val="600"/>
              </a:spcAft>
              <a:buClr>
                <a:schemeClr val="bg1">
                  <a:lumMod val="50000"/>
                </a:schemeClr>
              </a:buClr>
              <a:buFont typeface="+mj-lt"/>
              <a:buAutoNum type="arabicPeriod"/>
            </a:pPr>
            <a:r>
              <a:rPr lang="zh-CN" altLang="en-US" smtClean="0">
                <a:solidFill>
                  <a:srgbClr val="0000FF"/>
                </a:solidFill>
                <a:latin typeface="楷体" panose="02010609060101010101" pitchFamily="49" charset="-122"/>
                <a:ea typeface="楷体" panose="02010609060101010101" pitchFamily="49" charset="-122"/>
              </a:rPr>
              <a:t>智力</a:t>
            </a:r>
            <a:r>
              <a:rPr lang="zh-CN" altLang="en-US">
                <a:solidFill>
                  <a:srgbClr val="0000FF"/>
                </a:solidFill>
                <a:latin typeface="楷体" panose="02010609060101010101" pitchFamily="49" charset="-122"/>
                <a:ea typeface="楷体" panose="02010609060101010101" pitchFamily="49" charset="-122"/>
              </a:rPr>
              <a:t>密集、可见性差</a:t>
            </a:r>
            <a:endParaRPr lang="zh-CN" altLang="en-US">
              <a:solidFill>
                <a:srgbClr val="0000FF"/>
              </a:solidFill>
              <a:latin typeface="楷体" panose="02010609060101010101" pitchFamily="49" charset="-122"/>
              <a:ea typeface="楷体" panose="02010609060101010101" pitchFamily="49" charset="-122"/>
            </a:endParaRPr>
          </a:p>
          <a:p>
            <a:pPr marL="636905" lvl="2" indent="354330" algn="l">
              <a:spcBef>
                <a:spcPts val="600"/>
              </a:spcBef>
              <a:spcAft>
                <a:spcPts val="600"/>
              </a:spcAft>
              <a:buClr>
                <a:schemeClr val="bg1">
                  <a:lumMod val="50000"/>
                </a:schemeClr>
              </a:buClr>
              <a:buFont typeface="+mj-lt"/>
              <a:buAutoNum type="arabicPeriod"/>
            </a:pPr>
            <a:r>
              <a:rPr lang="zh-CN" altLang="en-US" smtClean="0">
                <a:solidFill>
                  <a:srgbClr val="0000FF"/>
                </a:solidFill>
                <a:latin typeface="楷体" panose="02010609060101010101" pitchFamily="49" charset="-122"/>
                <a:ea typeface="楷体" panose="02010609060101010101" pitchFamily="49" charset="-122"/>
              </a:rPr>
              <a:t>单</a:t>
            </a:r>
            <a:r>
              <a:rPr lang="zh-CN" altLang="en-US">
                <a:solidFill>
                  <a:srgbClr val="0000FF"/>
                </a:solidFill>
                <a:latin typeface="楷体" panose="02010609060101010101" pitchFamily="49" charset="-122"/>
                <a:ea typeface="楷体" panose="02010609060101010101" pitchFamily="49" charset="-122"/>
              </a:rPr>
              <a:t>件生产、过程不规范</a:t>
            </a:r>
            <a:endParaRPr lang="zh-CN" altLang="en-US">
              <a:solidFill>
                <a:srgbClr val="0000FF"/>
              </a:solidFill>
              <a:latin typeface="楷体" panose="02010609060101010101" pitchFamily="49" charset="-122"/>
              <a:ea typeface="楷体" panose="02010609060101010101" pitchFamily="49" charset="-122"/>
            </a:endParaRPr>
          </a:p>
          <a:p>
            <a:pPr marL="636905" lvl="2" indent="354330" algn="l">
              <a:spcBef>
                <a:spcPts val="600"/>
              </a:spcBef>
              <a:spcAft>
                <a:spcPts val="600"/>
              </a:spcAft>
              <a:buClr>
                <a:schemeClr val="bg1">
                  <a:lumMod val="50000"/>
                </a:schemeClr>
              </a:buClr>
              <a:buFont typeface="+mj-lt"/>
              <a:buAutoNum type="arabicPeriod"/>
            </a:pPr>
            <a:r>
              <a:rPr lang="zh-CN" altLang="en-US" smtClean="0">
                <a:solidFill>
                  <a:srgbClr val="0000FF"/>
                </a:solidFill>
                <a:latin typeface="楷体" panose="02010609060101010101" pitchFamily="49" charset="-122"/>
                <a:ea typeface="楷体" panose="02010609060101010101" pitchFamily="49" charset="-122"/>
              </a:rPr>
              <a:t>劳动</a:t>
            </a:r>
            <a:r>
              <a:rPr lang="zh-CN" altLang="en-US">
                <a:solidFill>
                  <a:srgbClr val="0000FF"/>
                </a:solidFill>
                <a:latin typeface="楷体" panose="02010609060101010101" pitchFamily="49" charset="-122"/>
                <a:ea typeface="楷体" panose="02010609060101010101" pitchFamily="49" charset="-122"/>
              </a:rPr>
              <a:t>密集、自动化程度低</a:t>
            </a:r>
            <a:endParaRPr lang="zh-CN" altLang="en-US">
              <a:solidFill>
                <a:srgbClr val="0000FF"/>
              </a:solidFill>
              <a:latin typeface="楷体" panose="02010609060101010101" pitchFamily="49" charset="-122"/>
              <a:ea typeface="楷体" panose="02010609060101010101" pitchFamily="49" charset="-122"/>
            </a:endParaRPr>
          </a:p>
          <a:p>
            <a:pPr marL="636905" lvl="2" indent="354330" algn="l">
              <a:spcBef>
                <a:spcPts val="600"/>
              </a:spcBef>
              <a:spcAft>
                <a:spcPts val="600"/>
              </a:spcAft>
              <a:buClr>
                <a:schemeClr val="bg1">
                  <a:lumMod val="50000"/>
                </a:schemeClr>
              </a:buClr>
              <a:buFont typeface="+mj-lt"/>
              <a:buAutoNum type="arabicPeriod"/>
            </a:pPr>
            <a:r>
              <a:rPr lang="zh-CN" altLang="en-US" smtClean="0">
                <a:solidFill>
                  <a:srgbClr val="0000FF"/>
                </a:solidFill>
                <a:latin typeface="楷体" panose="02010609060101010101" pitchFamily="49" charset="-122"/>
                <a:ea typeface="楷体" panose="02010609060101010101" pitchFamily="49" charset="-122"/>
              </a:rPr>
              <a:t>开发</a:t>
            </a:r>
            <a:r>
              <a:rPr lang="zh-CN" altLang="en-US">
                <a:solidFill>
                  <a:srgbClr val="0000FF"/>
                </a:solidFill>
                <a:latin typeface="楷体" panose="02010609060101010101" pitchFamily="49" charset="-122"/>
                <a:ea typeface="楷体" panose="02010609060101010101" pitchFamily="49" charset="-122"/>
              </a:rPr>
              <a:t>工作渗透了人的因素</a:t>
            </a:r>
            <a:endParaRPr lang="zh-CN" altLang="en-US">
              <a:solidFill>
                <a:srgbClr val="0000FF"/>
              </a:solidFill>
              <a:latin typeface="楷体" panose="02010609060101010101" pitchFamily="49" charset="-122"/>
              <a:ea typeface="楷体" panose="02010609060101010101" pitchFamily="49" charset="-122"/>
            </a:endParaRPr>
          </a:p>
          <a:p>
            <a:pPr marL="636905" lvl="2" indent="354330" algn="l">
              <a:spcBef>
                <a:spcPts val="600"/>
              </a:spcBef>
              <a:spcAft>
                <a:spcPts val="600"/>
              </a:spcAft>
              <a:buClr>
                <a:schemeClr val="bg1">
                  <a:lumMod val="50000"/>
                </a:schemeClr>
              </a:buClr>
              <a:buFont typeface="+mj-lt"/>
              <a:buAutoNum type="arabicPeriod"/>
            </a:pPr>
            <a:r>
              <a:rPr lang="zh-CN" altLang="en-US" smtClean="0">
                <a:solidFill>
                  <a:srgbClr val="0000FF"/>
                </a:solidFill>
                <a:latin typeface="楷体" panose="02010609060101010101" pitchFamily="49" charset="-122"/>
                <a:ea typeface="楷体" panose="02010609060101010101" pitchFamily="49" charset="-122"/>
              </a:rPr>
              <a:t>开发</a:t>
            </a:r>
            <a:r>
              <a:rPr lang="zh-CN" altLang="en-US">
                <a:solidFill>
                  <a:srgbClr val="0000FF"/>
                </a:solidFill>
                <a:latin typeface="楷体" panose="02010609060101010101" pitchFamily="49" charset="-122"/>
                <a:ea typeface="楷体" panose="02010609060101010101" pitchFamily="49" charset="-122"/>
              </a:rPr>
              <a:t>方法多样性</a:t>
            </a:r>
            <a:endParaRPr lang="zh-CN" altLang="en-US">
              <a:solidFill>
                <a:srgbClr val="0000FF"/>
              </a:solidFill>
              <a:latin typeface="楷体" panose="02010609060101010101" pitchFamily="49" charset="-122"/>
              <a:ea typeface="楷体" panose="02010609060101010101" pitchFamily="49" charset="-122"/>
            </a:endParaRPr>
          </a:p>
        </p:txBody>
      </p:sp>
      <p:sp>
        <p:nvSpPr>
          <p:cNvPr id="65541" name="Rectangle 6"/>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1.6 走进软件与软件项目</a:t>
            </a:r>
            <a:endParaRPr kumimoji="0" lang="zh-CN" altLang="en-US"/>
          </a:p>
        </p:txBody>
      </p:sp>
      <p:sp>
        <p:nvSpPr>
          <p:cNvPr id="65542" name="Rectangle 7"/>
          <p:cNvSpPr>
            <a:spLocks noChangeArrowheads="1"/>
          </p:cNvSpPr>
          <p:nvPr/>
        </p:nvSpPr>
        <p:spPr bwMode="auto">
          <a:xfrm>
            <a:off x="153988" y="1341438"/>
            <a:ext cx="3517310" cy="523220"/>
          </a:xfrm>
          <a:prstGeom prst="rect">
            <a:avLst/>
          </a:prstGeom>
          <a:noFill/>
          <a:ln w="9525">
            <a:noFill/>
            <a:miter lim="800000"/>
          </a:ln>
        </p:spPr>
        <p:txBody>
          <a:bodyPr wrap="none">
            <a:spAutoFit/>
          </a:bodyPr>
          <a:lstStyle/>
          <a:p>
            <a:pPr algn="l"/>
            <a:r>
              <a:rPr kumimoji="0" lang="en-US" altLang="en-US">
                <a:solidFill>
                  <a:schemeClr val="hlink"/>
                </a:solidFill>
                <a:ea typeface="楷体_GB2312" pitchFamily="49" charset="-122"/>
              </a:rPr>
              <a:t>1.6.4 </a:t>
            </a:r>
            <a:r>
              <a:rPr kumimoji="0" lang="en-US" altLang="en-US" smtClean="0">
                <a:solidFill>
                  <a:schemeClr val="hlink"/>
                </a:solidFill>
                <a:ea typeface="楷体_GB2312" pitchFamily="49" charset="-122"/>
              </a:rPr>
              <a:t>软件项目的特点</a:t>
            </a:r>
            <a:endParaRPr kumimoji="0" lang="en-US" altLang="en-US">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54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54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54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54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554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554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smtClean="0"/>
              <a:t>  </a:t>
            </a:r>
            <a:fld id="{B6D6A615-618E-4DBF-9BE6-09340DC0AD1F}" type="slidenum">
              <a:rPr lang="zh-CN" altLang="en-GB" smtClean="0"/>
            </a:fld>
            <a:endParaRPr lang="en-US" altLang="zh-CN" smtClean="0"/>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819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pitchFamily="49" charset="-122"/>
                <a:ea typeface="楷体" panose="02010609060101010101" pitchFamily="49" charset="-122"/>
                <a:cs typeface="楷体" panose="02010609060101010101" pitchFamily="49" charset="-122"/>
              </a:rPr>
              <a:t>提   纲</a:t>
            </a:r>
            <a:endParaRPr lang="en-US" altLang="zh-CN" sz="4800" b="1" smtClean="0">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285720" y="1357298"/>
            <a:ext cx="8501062" cy="489267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项目与项目管理的价值</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项目的特点与定义</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项目管理的概念与知识体系</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信息技术与</a:t>
            </a:r>
            <a:r>
              <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IT</a:t>
            </a: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项目特征</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IT</a:t>
            </a: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项目管理的定义与特点</a:t>
            </a:r>
            <a:endParaRPr lang="en-US" altLang="zh-CN" sz="4400"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400" smtClean="0">
                <a:solidFill>
                  <a:srgbClr val="0000FF"/>
                </a:solidFill>
                <a:latin typeface="楷体" panose="02010609060101010101" pitchFamily="49" charset="-122"/>
                <a:ea typeface="楷体" panose="02010609060101010101" pitchFamily="49" charset="-122"/>
                <a:cs typeface="楷体" panose="02010609060101010101" pitchFamily="49" charset="-122"/>
              </a:rPr>
              <a:t>软件的定义与软件项目特点</a:t>
            </a:r>
            <a:endParaRPr lang="en-US" altLang="zh-CN" sz="440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smtClean="0">
                <a:solidFill>
                  <a:srgbClr val="FF0000"/>
                </a:solidFill>
                <a:latin typeface="楷体" panose="02010609060101010101" pitchFamily="49" charset="-122"/>
                <a:ea typeface="楷体" panose="02010609060101010101" pitchFamily="49" charset="-122"/>
                <a:cs typeface="楷体" panose="02010609060101010101" pitchFamily="49" charset="-122"/>
              </a:rPr>
              <a:t>软件项目管理的意义和重点</a:t>
            </a:r>
            <a:endParaRPr lang="zh-CN" altLang="en-US" sz="4800" dirty="0" smtClean="0">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9"/>
          <p:cNvSpPr>
            <a:spLocks noGrp="1" noChangeArrowheads="1"/>
          </p:cNvSpPr>
          <p:nvPr>
            <p:ph type="sldNum" sz="quarter" idx="10"/>
          </p:nvPr>
        </p:nvSpPr>
        <p:spPr>
          <a:noFill/>
        </p:spPr>
        <p:txBody>
          <a:bodyPr/>
          <a:lstStyle/>
          <a:p>
            <a:r>
              <a:rPr lang="zh-CN" altLang="en-GB" smtClean="0"/>
              <a:t>  </a:t>
            </a:r>
            <a:fld id="{3F54FB53-1050-4F74-A29A-80054C02A49B}" type="slidenum">
              <a:rPr lang="zh-CN" altLang="en-GB" smtClean="0"/>
            </a:fld>
            <a:endParaRPr lang="en-US" altLang="zh-CN" smtClean="0"/>
          </a:p>
        </p:txBody>
      </p:sp>
      <p:sp>
        <p:nvSpPr>
          <p:cNvPr id="6758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P.31</a:t>
            </a:r>
            <a:endParaRPr lang="en-US" altLang="zh-CN" sz="2400">
              <a:solidFill>
                <a:schemeClr val="bg2"/>
              </a:solidFill>
            </a:endParaRPr>
          </a:p>
        </p:txBody>
      </p:sp>
      <p:sp>
        <p:nvSpPr>
          <p:cNvPr id="67588" name="Text Box 4"/>
          <p:cNvSpPr txBox="1">
            <a:spLocks noChangeArrowheads="1"/>
          </p:cNvSpPr>
          <p:nvPr/>
        </p:nvSpPr>
        <p:spPr bwMode="auto">
          <a:xfrm>
            <a:off x="323850" y="1949450"/>
            <a:ext cx="8351838" cy="4584700"/>
          </a:xfrm>
          <a:prstGeom prst="rect">
            <a:avLst/>
          </a:prstGeom>
          <a:noFill/>
          <a:ln w="9525">
            <a:noFill/>
            <a:miter lim="800000"/>
          </a:ln>
        </p:spPr>
        <p:txBody>
          <a:bodyPr>
            <a:spAutoFit/>
          </a:bodyPr>
          <a:lstStyle/>
          <a:p>
            <a:pPr algn="just">
              <a:spcBef>
                <a:spcPct val="50000"/>
              </a:spcBef>
              <a:buClr>
                <a:schemeClr val="hlink"/>
              </a:buClr>
            </a:pPr>
            <a:r>
              <a:rPr lang="zh-CN" altLang="en-US" sz="3200" dirty="0">
                <a:solidFill>
                  <a:schemeClr val="bg2"/>
                </a:solidFill>
                <a:latin typeface="楷体" panose="02010609060101010101" pitchFamily="49" charset="-122"/>
                <a:ea typeface="楷体" panose="02010609060101010101" pitchFamily="49" charset="-122"/>
                <a:cs typeface="楷体" panose="02010609060101010101" pitchFamily="49" charset="-122"/>
              </a:rPr>
              <a:t>软件项目管理是为了使软件项目能够按照预定的范围、成本、进度、质量</a:t>
            </a:r>
            <a:r>
              <a:rPr lang="zh-CN" altLang="en-US" sz="3200" dirty="0">
                <a:solidFill>
                  <a:srgbClr val="FF0000"/>
                </a:solidFill>
                <a:latin typeface="楷体" panose="02010609060101010101" pitchFamily="49" charset="-122"/>
                <a:ea typeface="楷体" panose="02010609060101010101" pitchFamily="49" charset="-122"/>
                <a:cs typeface="楷体" panose="02010609060101010101" pitchFamily="49" charset="-122"/>
              </a:rPr>
              <a:t>顺利完成</a:t>
            </a:r>
            <a:r>
              <a:rPr lang="zh-CN" altLang="en-US" sz="3200" dirty="0">
                <a:solidFill>
                  <a:schemeClr val="bg2"/>
                </a:solidFill>
                <a:latin typeface="楷体" panose="02010609060101010101" pitchFamily="49" charset="-122"/>
                <a:ea typeface="楷体" panose="02010609060101010101" pitchFamily="49" charset="-122"/>
                <a:cs typeface="楷体" panose="02010609060101010101" pitchFamily="49" charset="-122"/>
              </a:rPr>
              <a:t>，而对范围、费用、时间、质量、人力资源、风险、采购等进行</a:t>
            </a:r>
            <a:r>
              <a:rPr lang="zh-CN" altLang="en-US" sz="3600" dirty="0">
                <a:solidFill>
                  <a:srgbClr val="FF0000"/>
                </a:solidFill>
                <a:latin typeface="楷体" panose="02010609060101010101" pitchFamily="49" charset="-122"/>
                <a:ea typeface="楷体" panose="02010609060101010101" pitchFamily="49" charset="-122"/>
                <a:cs typeface="楷体" panose="02010609060101010101" pitchFamily="49" charset="-122"/>
              </a:rPr>
              <a:t>分析和管理的活动</a:t>
            </a:r>
            <a:r>
              <a:rPr lang="zh-CN" altLang="en-US"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en-US" altLang="zh-CN"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just">
              <a:spcBef>
                <a:spcPct val="50000"/>
              </a:spcBef>
              <a:buClr>
                <a:schemeClr val="hlink"/>
              </a:buClr>
            </a:pPr>
            <a:r>
              <a:rPr lang="zh-CN" altLang="en-US" sz="3200" dirty="0">
                <a:solidFill>
                  <a:schemeClr val="bg2"/>
                </a:solidFill>
                <a:latin typeface="楷体" panose="02010609060101010101" pitchFamily="49" charset="-122"/>
                <a:ea typeface="楷体" panose="02010609060101010101" pitchFamily="49" charset="-122"/>
                <a:cs typeface="楷体" panose="02010609060101010101" pitchFamily="49" charset="-122"/>
              </a:rPr>
              <a:t>软件项目管理属于</a:t>
            </a:r>
            <a:r>
              <a:rPr lang="en-US" altLang="zh-CN" sz="3200" dirty="0">
                <a:solidFill>
                  <a:schemeClr val="bg2"/>
                </a:solidFill>
                <a:ea typeface="楷体" panose="02010609060101010101" pitchFamily="49" charset="-122"/>
                <a:cs typeface="Times New Roman" panose="02020603050405020304" pitchFamily="18" charset="0"/>
              </a:rPr>
              <a:t>IT</a:t>
            </a:r>
            <a:r>
              <a:rPr lang="zh-CN" altLang="en-US" sz="3200" dirty="0">
                <a:solidFill>
                  <a:schemeClr val="bg2"/>
                </a:solidFill>
                <a:latin typeface="楷体" panose="02010609060101010101" pitchFamily="49" charset="-122"/>
                <a:ea typeface="楷体" panose="02010609060101010101" pitchFamily="49" charset="-122"/>
                <a:cs typeface="楷体" panose="02010609060101010101" pitchFamily="49" charset="-122"/>
              </a:rPr>
              <a:t>管理范畴，它是</a:t>
            </a:r>
            <a:r>
              <a:rPr lang="en-US" altLang="zh-CN" sz="3200" dirty="0">
                <a:solidFill>
                  <a:schemeClr val="bg2"/>
                </a:solidFill>
                <a:ea typeface="楷体" panose="02010609060101010101" pitchFamily="49" charset="-122"/>
                <a:cs typeface="Times New Roman" panose="02020603050405020304" pitchFamily="18" charset="0"/>
              </a:rPr>
              <a:t>IT</a:t>
            </a:r>
            <a:r>
              <a:rPr lang="zh-CN" altLang="en-US" sz="3200" dirty="0">
                <a:solidFill>
                  <a:schemeClr val="bg2"/>
                </a:solidFill>
                <a:latin typeface="楷体" panose="02010609060101010101" pitchFamily="49" charset="-122"/>
                <a:ea typeface="楷体" panose="02010609060101010101" pitchFamily="49" charset="-122"/>
                <a:cs typeface="楷体" panose="02010609060101010101" pitchFamily="49" charset="-122"/>
              </a:rPr>
              <a:t>项目管理的一个核心部分</a:t>
            </a:r>
            <a:r>
              <a:rPr lang="zh-CN" altLang="en-US"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en-US" altLang="zh-CN" sz="3200"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just">
              <a:spcBef>
                <a:spcPct val="50000"/>
              </a:spcBef>
              <a:buClr>
                <a:schemeClr val="hlink"/>
              </a:buClr>
            </a:pPr>
            <a:r>
              <a:rPr lang="en-US" altLang="en-US" sz="3200" dirty="0">
                <a:solidFill>
                  <a:srgbClr val="0000FF"/>
                </a:solidFill>
                <a:ea typeface="楷体" panose="02010609060101010101" pitchFamily="49" charset="-122"/>
                <a:cs typeface="Times New Roman" panose="02020603050405020304" pitchFamily="18" charset="0"/>
              </a:rPr>
              <a:t>IT</a:t>
            </a:r>
            <a:r>
              <a:rPr lang="zh-CN" altLang="en-US" sz="3200" dirty="0">
                <a:solidFill>
                  <a:srgbClr val="0000FF"/>
                </a:solidFill>
                <a:latin typeface="楷体" panose="02010609060101010101" pitchFamily="49" charset="-122"/>
                <a:ea typeface="楷体" panose="02010609060101010101" pitchFamily="49" charset="-122"/>
                <a:cs typeface="楷体" panose="02010609060101010101" pitchFamily="49" charset="-122"/>
              </a:rPr>
              <a:t>信息化项目管理知识体系与软件工程知识体系存在较大区别</a:t>
            </a:r>
            <a:r>
              <a:rPr lang="zh-CN" altLang="en-US" sz="3200" dirty="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rPr>
              <a:t>。</a:t>
            </a:r>
            <a:endParaRPr lang="zh-CN" altLang="en-US" sz="3200" dirty="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67589" name="Rectangle 6"/>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1.7 走进软件项目管理</a:t>
            </a:r>
            <a:endParaRPr kumimoji="0" lang="zh-CN" altLang="en-US"/>
          </a:p>
        </p:txBody>
      </p:sp>
      <p:sp>
        <p:nvSpPr>
          <p:cNvPr id="67590" name="Rectangle 7"/>
          <p:cNvSpPr>
            <a:spLocks noChangeArrowheads="1"/>
          </p:cNvSpPr>
          <p:nvPr/>
        </p:nvSpPr>
        <p:spPr bwMode="auto">
          <a:xfrm>
            <a:off x="153988" y="1341438"/>
            <a:ext cx="4198937" cy="519112"/>
          </a:xfrm>
          <a:prstGeom prst="rect">
            <a:avLst/>
          </a:prstGeom>
          <a:noFill/>
          <a:ln w="9525">
            <a:noFill/>
            <a:miter lim="800000"/>
          </a:ln>
        </p:spPr>
        <p:txBody>
          <a:bodyPr wrap="none">
            <a:spAutoFit/>
          </a:bodyPr>
          <a:lstStyle/>
          <a:p>
            <a:pPr algn="l"/>
            <a:r>
              <a:rPr kumimoji="0" lang="en-US" altLang="en-US">
                <a:solidFill>
                  <a:schemeClr val="hlink"/>
                </a:solidFill>
                <a:ea typeface="楷体_GB2312" pitchFamily="49" charset="-122"/>
              </a:rPr>
              <a:t>1.7.1 软件项目管理的意义</a:t>
            </a:r>
            <a:endParaRPr kumimoji="0" lang="en-US" altLang="en-US">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8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58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9"/>
          <p:cNvSpPr>
            <a:spLocks noGrp="1" noChangeArrowheads="1"/>
          </p:cNvSpPr>
          <p:nvPr>
            <p:ph type="sldNum" sz="quarter" idx="10"/>
          </p:nvPr>
        </p:nvSpPr>
        <p:spPr>
          <a:noFill/>
        </p:spPr>
        <p:txBody>
          <a:bodyPr/>
          <a:lstStyle/>
          <a:p>
            <a:r>
              <a:rPr lang="zh-CN" altLang="en-GB" smtClean="0"/>
              <a:t>  </a:t>
            </a:r>
            <a:fld id="{3F54FB53-1050-4F74-A29A-80054C02A49B}" type="slidenum">
              <a:rPr lang="zh-CN" altLang="en-GB" smtClean="0"/>
            </a:fld>
            <a:endParaRPr lang="en-US" altLang="zh-CN" smtClean="0"/>
          </a:p>
        </p:txBody>
      </p:sp>
      <p:sp>
        <p:nvSpPr>
          <p:cNvPr id="6758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P.31</a:t>
            </a:r>
            <a:endParaRPr lang="en-US" altLang="zh-CN" sz="2400">
              <a:solidFill>
                <a:schemeClr val="bg2"/>
              </a:solidFill>
            </a:endParaRPr>
          </a:p>
        </p:txBody>
      </p:sp>
      <p:sp>
        <p:nvSpPr>
          <p:cNvPr id="67588" name="Text Box 4"/>
          <p:cNvSpPr txBox="1">
            <a:spLocks noChangeArrowheads="1"/>
          </p:cNvSpPr>
          <p:nvPr/>
        </p:nvSpPr>
        <p:spPr bwMode="auto">
          <a:xfrm>
            <a:off x="323850" y="1949450"/>
            <a:ext cx="8351838" cy="3322955"/>
          </a:xfrm>
          <a:prstGeom prst="rect">
            <a:avLst/>
          </a:prstGeom>
          <a:noFill/>
          <a:ln w="9525">
            <a:noFill/>
            <a:miter lim="800000"/>
          </a:ln>
        </p:spPr>
        <p:txBody>
          <a:bodyPr>
            <a:spAutoFit/>
          </a:bodyPr>
          <a:lstStyle/>
          <a:p>
            <a:pPr algn="l">
              <a:spcBef>
                <a:spcPct val="50000"/>
              </a:spcBef>
              <a:buClr>
                <a:schemeClr val="hlink"/>
              </a:buClr>
            </a:pPr>
            <a:r>
              <a:rPr lang="zh-CN" altLang="en-US" sz="3600" dirty="0">
                <a:solidFill>
                  <a:srgbClr val="0000FF"/>
                </a:solidFill>
                <a:latin typeface="楷体" panose="02010609060101010101" pitchFamily="49" charset="-122"/>
                <a:ea typeface="楷体" panose="02010609060101010101" pitchFamily="49" charset="-122"/>
                <a:cs typeface="楷体" panose="02010609060101010101" pitchFamily="49" charset="-122"/>
              </a:rPr>
              <a:t>多数软件失败的原因是由于管理不善引起的，而非技术原因</a:t>
            </a:r>
            <a:r>
              <a:rPr lang="zh-CN" altLang="en-US" sz="3600" dirty="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rPr>
              <a:t>。</a:t>
            </a:r>
            <a:endParaRPr lang="en-US" altLang="zh-CN" sz="3600" dirty="0"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ct val="50000"/>
              </a:spcBef>
              <a:buClr>
                <a:schemeClr val="hlink"/>
              </a:buClr>
            </a:pPr>
            <a:endParaRPr lang="zh-CN" altLang="en-US" sz="3200" dirty="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ct val="50000"/>
              </a:spcBef>
              <a:buClr>
                <a:schemeClr val="hlink"/>
              </a:buClr>
            </a:pPr>
            <a:r>
              <a:rPr lang="zh-CN" altLang="en-US" sz="36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软件是无形的</a:t>
            </a:r>
            <a:r>
              <a:rPr lang="en-US" altLang="zh-CN" sz="36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zh-CN" altLang="en-US" sz="3600"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采购软件是在购买能导致一个产品的工作。</a:t>
            </a:r>
            <a:endParaRPr lang="zh-CN" altLang="en-US" sz="3600" dirty="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67589" name="Rectangle 6"/>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1.7 走进软件项目管理</a:t>
            </a:r>
            <a:endParaRPr kumimoji="0" lang="zh-CN" altLang="en-US"/>
          </a:p>
        </p:txBody>
      </p:sp>
      <p:sp>
        <p:nvSpPr>
          <p:cNvPr id="67590" name="Rectangle 7"/>
          <p:cNvSpPr>
            <a:spLocks noChangeArrowheads="1"/>
          </p:cNvSpPr>
          <p:nvPr/>
        </p:nvSpPr>
        <p:spPr bwMode="auto">
          <a:xfrm>
            <a:off x="153988" y="1341438"/>
            <a:ext cx="4198937" cy="519112"/>
          </a:xfrm>
          <a:prstGeom prst="rect">
            <a:avLst/>
          </a:prstGeom>
          <a:noFill/>
          <a:ln w="9525">
            <a:noFill/>
            <a:miter lim="800000"/>
          </a:ln>
        </p:spPr>
        <p:txBody>
          <a:bodyPr wrap="none">
            <a:spAutoFit/>
          </a:bodyPr>
          <a:lstStyle/>
          <a:p>
            <a:pPr algn="l"/>
            <a:r>
              <a:rPr kumimoji="0" lang="en-US" altLang="en-US">
                <a:solidFill>
                  <a:schemeClr val="hlink"/>
                </a:solidFill>
                <a:ea typeface="楷体_GB2312" pitchFamily="49" charset="-122"/>
              </a:rPr>
              <a:t>1.7.1 软件项目管理的意义</a:t>
            </a:r>
            <a:endParaRPr kumimoji="0" lang="en-US" altLang="en-US">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8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9"/>
          <p:cNvSpPr>
            <a:spLocks noGrp="1" noChangeArrowheads="1"/>
          </p:cNvSpPr>
          <p:nvPr>
            <p:ph type="sldNum" sz="quarter" idx="10"/>
          </p:nvPr>
        </p:nvSpPr>
        <p:spPr>
          <a:noFill/>
        </p:spPr>
        <p:txBody>
          <a:bodyPr/>
          <a:lstStyle/>
          <a:p>
            <a:r>
              <a:rPr lang="zh-CN" altLang="en-GB" smtClean="0"/>
              <a:t>  </a:t>
            </a:r>
            <a:fld id="{069FA327-6C2E-4266-BF02-677161058C99}" type="slidenum">
              <a:rPr lang="zh-CN" altLang="en-GB" smtClean="0"/>
            </a:fld>
            <a:endParaRPr lang="en-US" altLang="zh-CN" smtClean="0"/>
          </a:p>
        </p:txBody>
      </p:sp>
      <p:sp>
        <p:nvSpPr>
          <p:cNvPr id="6861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P.31</a:t>
            </a:r>
            <a:endParaRPr lang="en-US" altLang="zh-CN" sz="2400">
              <a:solidFill>
                <a:schemeClr val="bg2"/>
              </a:solidFill>
            </a:endParaRPr>
          </a:p>
        </p:txBody>
      </p:sp>
      <p:sp>
        <p:nvSpPr>
          <p:cNvPr id="68612" name="Text Box 4"/>
          <p:cNvSpPr txBox="1">
            <a:spLocks noChangeArrowheads="1"/>
          </p:cNvSpPr>
          <p:nvPr/>
        </p:nvSpPr>
        <p:spPr bwMode="auto">
          <a:xfrm>
            <a:off x="142844" y="1865313"/>
            <a:ext cx="8858280" cy="4399915"/>
          </a:xfrm>
          <a:prstGeom prst="rect">
            <a:avLst/>
          </a:prstGeom>
          <a:noFill/>
          <a:ln w="9525">
            <a:noFill/>
            <a:miter lim="800000"/>
          </a:ln>
        </p:spPr>
        <p:txBody>
          <a:bodyPr wrap="square">
            <a:spAutoFit/>
          </a:bodyPr>
          <a:lstStyle/>
          <a:p>
            <a:pPr algn="just">
              <a:spcBef>
                <a:spcPts val="1200"/>
              </a:spcBef>
              <a:spcAft>
                <a:spcPts val="1200"/>
              </a:spcAft>
              <a:buClr>
                <a:schemeClr val="bg1"/>
              </a:buClr>
            </a:pPr>
            <a:r>
              <a:rPr lang="zh-CN" altLang="en-US" smtClean="0">
                <a:solidFill>
                  <a:schemeClr val="bg2"/>
                </a:solidFill>
                <a:latin typeface="楷体" panose="02010609060101010101" pitchFamily="49" charset="-122"/>
                <a:ea typeface="楷体" panose="02010609060101010101" pitchFamily="49" charset="-122"/>
              </a:rPr>
              <a:t>软件产品能否满足用户的需求，并在预定的费用、进度、时间和质量要求内交付产品仍然难以预料和控制。</a:t>
            </a:r>
            <a:endParaRPr lang="en-US" altLang="zh-CN" smtClean="0">
              <a:solidFill>
                <a:schemeClr val="bg2"/>
              </a:solidFill>
              <a:latin typeface="楷体" panose="02010609060101010101" pitchFamily="49" charset="-122"/>
              <a:ea typeface="楷体" panose="02010609060101010101" pitchFamily="49" charset="-122"/>
            </a:endParaRPr>
          </a:p>
          <a:p>
            <a:pPr algn="just">
              <a:spcBef>
                <a:spcPts val="1200"/>
              </a:spcBef>
              <a:spcAft>
                <a:spcPts val="1200"/>
              </a:spcAft>
              <a:buClr>
                <a:schemeClr val="bg1"/>
              </a:buClr>
            </a:pPr>
            <a:r>
              <a:rPr lang="zh-CN" altLang="en-US" smtClean="0">
                <a:solidFill>
                  <a:schemeClr val="bg2"/>
                </a:solidFill>
                <a:latin typeface="楷体" panose="02010609060101010101" pitchFamily="49" charset="-122"/>
                <a:ea typeface="楷体" panose="02010609060101010101" pitchFamily="49" charset="-122"/>
              </a:rPr>
              <a:t>这种状况对软件开发者、系统使用者和项目管理者都是严峻挑战。</a:t>
            </a:r>
            <a:endParaRPr lang="en-US" altLang="zh-CN" smtClean="0">
              <a:solidFill>
                <a:schemeClr val="bg2"/>
              </a:solidFill>
              <a:latin typeface="楷体" panose="02010609060101010101" pitchFamily="49" charset="-122"/>
              <a:ea typeface="楷体" panose="02010609060101010101" pitchFamily="49" charset="-122"/>
            </a:endParaRPr>
          </a:p>
          <a:p>
            <a:pPr algn="just">
              <a:spcBef>
                <a:spcPts val="1200"/>
              </a:spcBef>
              <a:spcAft>
                <a:spcPts val="1200"/>
              </a:spcAft>
              <a:buClr>
                <a:schemeClr val="bg1"/>
              </a:buClr>
            </a:pPr>
            <a:r>
              <a:rPr lang="zh-CN" altLang="en-US" sz="3200" smtClean="0">
                <a:solidFill>
                  <a:schemeClr val="bg2"/>
                </a:solidFill>
                <a:latin typeface="楷体" panose="02010609060101010101" pitchFamily="49" charset="-122"/>
                <a:ea typeface="楷体" panose="02010609060101010101" pitchFamily="49" charset="-122"/>
              </a:rPr>
              <a:t>根据对软件和软件项目特点的分析，</a:t>
            </a:r>
            <a:r>
              <a:rPr lang="zh-CN" altLang="en-US" sz="3200" smtClean="0">
                <a:solidFill>
                  <a:srgbClr val="0000FF"/>
                </a:solidFill>
                <a:latin typeface="楷体" panose="02010609060101010101" pitchFamily="49" charset="-122"/>
                <a:ea typeface="楷体" panose="02010609060101010101" pitchFamily="49" charset="-122"/>
              </a:rPr>
              <a:t>软件项目管理的重点</a:t>
            </a:r>
            <a:r>
              <a:rPr lang="zh-CN" altLang="en-US" sz="3200" smtClean="0">
                <a:solidFill>
                  <a:schemeClr val="bg2"/>
                </a:solidFill>
                <a:latin typeface="楷体" panose="02010609060101010101" pitchFamily="49" charset="-122"/>
                <a:ea typeface="楷体" panose="02010609060101010101" pitchFamily="49" charset="-122"/>
              </a:rPr>
              <a:t>包括</a:t>
            </a:r>
            <a:r>
              <a:rPr lang="zh-CN" altLang="en-US" sz="3200" smtClean="0">
                <a:solidFill>
                  <a:srgbClr val="0000FF"/>
                </a:solidFill>
                <a:latin typeface="楷体" panose="02010609060101010101" pitchFamily="49" charset="-122"/>
                <a:ea typeface="楷体" panose="02010609060101010101" pitchFamily="49" charset="-122"/>
              </a:rPr>
              <a:t>人员的组织与管理、软件度量、软件项目计划、风险管理、软件质量保证、软件过程能力评估和软件配置管理</a:t>
            </a:r>
            <a:r>
              <a:rPr lang="zh-CN" altLang="en-US" sz="3200" smtClean="0">
                <a:solidFill>
                  <a:schemeClr val="bg2"/>
                </a:solidFill>
                <a:latin typeface="楷体" panose="02010609060101010101" pitchFamily="49" charset="-122"/>
                <a:ea typeface="楷体" panose="02010609060101010101" pitchFamily="49" charset="-122"/>
              </a:rPr>
              <a:t>等几个方面</a:t>
            </a:r>
            <a:r>
              <a:rPr lang="zh-CN" altLang="en-US" sz="3200" smtClean="0">
                <a:solidFill>
                  <a:schemeClr val="bg1">
                    <a:lumMod val="50000"/>
                  </a:schemeClr>
                </a:solidFill>
                <a:latin typeface="楷体" panose="02010609060101010101" pitchFamily="49" charset="-122"/>
                <a:ea typeface="楷体" panose="02010609060101010101" pitchFamily="49" charset="-122"/>
              </a:rPr>
              <a:t>。</a:t>
            </a:r>
            <a:endParaRPr lang="zh-CN" altLang="en-US" sz="3200">
              <a:solidFill>
                <a:schemeClr val="bg1">
                  <a:lumMod val="50000"/>
                </a:schemeClr>
              </a:solidFill>
              <a:latin typeface="楷体" panose="02010609060101010101" pitchFamily="49" charset="-122"/>
              <a:ea typeface="楷体" panose="02010609060101010101" pitchFamily="49" charset="-122"/>
            </a:endParaRPr>
          </a:p>
        </p:txBody>
      </p:sp>
      <p:sp>
        <p:nvSpPr>
          <p:cNvPr id="68613" name="Rectangle 5"/>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1.7 走进软件项目管理</a:t>
            </a:r>
            <a:endParaRPr kumimoji="0" lang="zh-CN" altLang="en-US"/>
          </a:p>
        </p:txBody>
      </p:sp>
      <p:sp>
        <p:nvSpPr>
          <p:cNvPr id="68614" name="Rectangle 6"/>
          <p:cNvSpPr>
            <a:spLocks noChangeArrowheads="1"/>
          </p:cNvSpPr>
          <p:nvPr/>
        </p:nvSpPr>
        <p:spPr bwMode="auto">
          <a:xfrm>
            <a:off x="153988" y="1341438"/>
            <a:ext cx="4198937" cy="519112"/>
          </a:xfrm>
          <a:prstGeom prst="rect">
            <a:avLst/>
          </a:prstGeom>
          <a:noFill/>
          <a:ln w="9525">
            <a:noFill/>
            <a:miter lim="800000"/>
          </a:ln>
        </p:spPr>
        <p:txBody>
          <a:bodyPr wrap="none">
            <a:spAutoFit/>
          </a:bodyPr>
          <a:lstStyle/>
          <a:p>
            <a:pPr algn="l"/>
            <a:r>
              <a:rPr kumimoji="0" lang="en-US" altLang="en-US">
                <a:solidFill>
                  <a:schemeClr val="hlink"/>
                </a:solidFill>
                <a:ea typeface="楷体_GB2312" pitchFamily="49" charset="-122"/>
              </a:rPr>
              <a:t>1.7.2 软件项目管理的重点</a:t>
            </a:r>
            <a:endParaRPr kumimoji="0" lang="en-US" altLang="en-US">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6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9"/>
          <p:cNvSpPr>
            <a:spLocks noGrp="1" noChangeArrowheads="1"/>
          </p:cNvSpPr>
          <p:nvPr>
            <p:ph type="sldNum" sz="quarter" idx="10"/>
          </p:nvPr>
        </p:nvSpPr>
        <p:spPr>
          <a:noFill/>
        </p:spPr>
        <p:txBody>
          <a:bodyPr/>
          <a:lstStyle/>
          <a:p>
            <a:r>
              <a:rPr lang="zh-CN" altLang="en-GB" smtClean="0"/>
              <a:t>  </a:t>
            </a:r>
            <a:fld id="{171FBF9C-C076-4492-ADD3-2FF7A8C933CC}" type="slidenum">
              <a:rPr lang="zh-CN" altLang="en-GB" smtClean="0"/>
            </a:fld>
            <a:endParaRPr lang="en-US" altLang="zh-CN" smtClean="0"/>
          </a:p>
        </p:txBody>
      </p:sp>
      <p:sp>
        <p:nvSpPr>
          <p:cNvPr id="601091" name="Text Box 3"/>
          <p:cNvSpPr txBox="1">
            <a:spLocks noChangeArrowheads="1"/>
          </p:cNvSpPr>
          <p:nvPr/>
        </p:nvSpPr>
        <p:spPr bwMode="auto">
          <a:xfrm>
            <a:off x="180975" y="1514475"/>
            <a:ext cx="8928100" cy="5069840"/>
          </a:xfrm>
          <a:prstGeom prst="rect">
            <a:avLst/>
          </a:prstGeom>
          <a:noFill/>
          <a:ln w="9525">
            <a:noFill/>
            <a:miter lim="800000"/>
          </a:ln>
        </p:spPr>
        <p:txBody>
          <a:bodyPr>
            <a:spAutoFit/>
          </a:bodyPr>
          <a:lstStyle/>
          <a:p>
            <a:pPr algn="l">
              <a:spcBef>
                <a:spcPct val="60000"/>
              </a:spcBef>
              <a:buClr>
                <a:srgbClr val="990000"/>
              </a:buClr>
            </a:pPr>
            <a:r>
              <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知道项目应该是什么样子，说明你在</a:t>
            </a:r>
            <a:r>
              <a:rPr lang="zh-CN" altLang="en-US" sz="3200">
                <a:solidFill>
                  <a:srgbClr val="FF0000"/>
                </a:solidFill>
                <a:latin typeface="楷体" panose="02010609060101010101" pitchFamily="49" charset="-122"/>
                <a:ea typeface="楷体" panose="02010609060101010101" pitchFamily="49" charset="-122"/>
                <a:cs typeface="楷体" panose="02010609060101010101" pitchFamily="49" charset="-122"/>
              </a:rPr>
              <a:t>成长</a:t>
            </a:r>
            <a:r>
              <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ct val="60000"/>
              </a:spcBef>
              <a:buClr>
                <a:srgbClr val="990000"/>
              </a:buClr>
            </a:pPr>
            <a:r>
              <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知道项目实际是什么样子，说明你在</a:t>
            </a:r>
            <a:r>
              <a:rPr lang="zh-CN" altLang="en-US" sz="3200">
                <a:solidFill>
                  <a:srgbClr val="FF0000"/>
                </a:solidFill>
                <a:latin typeface="楷体" panose="02010609060101010101" pitchFamily="49" charset="-122"/>
                <a:ea typeface="楷体" panose="02010609060101010101" pitchFamily="49" charset="-122"/>
                <a:cs typeface="楷体" panose="02010609060101010101" pitchFamily="49" charset="-122"/>
              </a:rPr>
              <a:t>成熟</a:t>
            </a:r>
            <a:r>
              <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ct val="60000"/>
              </a:spcBef>
              <a:buClr>
                <a:srgbClr val="990000"/>
              </a:buClr>
            </a:pPr>
            <a:r>
              <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知道怎样把项目变得更好，说明你在</a:t>
            </a:r>
            <a:r>
              <a:rPr lang="zh-CN" altLang="en-US" sz="3200">
                <a:solidFill>
                  <a:srgbClr val="FF0000"/>
                </a:solidFill>
                <a:latin typeface="楷体" panose="02010609060101010101" pitchFamily="49" charset="-122"/>
                <a:ea typeface="楷体" panose="02010609060101010101" pitchFamily="49" charset="-122"/>
                <a:cs typeface="楷体" panose="02010609060101010101" pitchFamily="49" charset="-122"/>
              </a:rPr>
              <a:t>成功</a:t>
            </a:r>
            <a:r>
              <a:rPr lang="en-US" altLang="zh-CN">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en-US" altLang="zh-CN">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ct val="60000"/>
              </a:spcBef>
              <a:buClr>
                <a:srgbClr val="990000"/>
              </a:buClr>
            </a:pPr>
            <a:r>
              <a:rPr lang="zh-CN" altLang="en-US" sz="360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rPr>
              <a:t>有项目就有了希望，管理好了项目就能获得希望！</a:t>
            </a:r>
            <a:endParaRPr lang="zh-CN" altLang="en-US">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ct val="60000"/>
              </a:spcBef>
              <a:buClr>
                <a:srgbClr val="990000"/>
              </a:buClr>
            </a:pPr>
            <a:r>
              <a:rPr lang="zh-CN" altLang="en-US" sz="3200">
                <a:solidFill>
                  <a:srgbClr val="990000"/>
                </a:solidFill>
                <a:latin typeface="楷体" panose="02010609060101010101" pitchFamily="49" charset="-122"/>
                <a:ea typeface="楷体" panose="02010609060101010101" pitchFamily="49" charset="-122"/>
                <a:cs typeface="楷体" panose="02010609060101010101" pitchFamily="49" charset="-122"/>
              </a:rPr>
              <a:t> </a:t>
            </a:r>
            <a:r>
              <a:rPr lang="zh-CN" altLang="en-US" sz="3600">
                <a:solidFill>
                  <a:srgbClr val="FF0000"/>
                </a:solidFill>
                <a:latin typeface="楷体" panose="02010609060101010101" pitchFamily="49" charset="-122"/>
                <a:ea typeface="楷体" panose="02010609060101010101" pitchFamily="49" charset="-122"/>
                <a:cs typeface="楷体" panose="02010609060101010101" pitchFamily="49" charset="-122"/>
              </a:rPr>
              <a:t>项目无大小，成败在心中！</a:t>
            </a:r>
            <a:endParaRPr lang="zh-CN" altLang="en-US" sz="3200">
              <a:solidFill>
                <a:srgbClr val="990000"/>
              </a:solidFill>
              <a:latin typeface="楷体" panose="02010609060101010101" pitchFamily="49" charset="-122"/>
              <a:ea typeface="楷体" panose="02010609060101010101" pitchFamily="49" charset="-122"/>
              <a:cs typeface="楷体" panose="02010609060101010101" pitchFamily="49" charset="-122"/>
            </a:endParaRPr>
          </a:p>
          <a:p>
            <a:pPr algn="ctr">
              <a:spcBef>
                <a:spcPts val="2400"/>
              </a:spcBef>
              <a:buClr>
                <a:srgbClr val="990000"/>
              </a:buClr>
              <a:buFont typeface="Wingdings" panose="05000000000000000000" pitchFamily="2" charset="2"/>
              <a:buNone/>
            </a:pPr>
            <a:r>
              <a:rPr lang="zh-CN" altLang="en-US" sz="5400">
                <a:solidFill>
                  <a:srgbClr val="FF0000"/>
                </a:solidFill>
                <a:latin typeface="楷体" panose="02010609060101010101" pitchFamily="49" charset="-122"/>
                <a:ea typeface="楷体" panose="02010609060101010101" pitchFamily="49" charset="-122"/>
                <a:cs typeface="楷体" panose="02010609060101010101" pitchFamily="49" charset="-122"/>
              </a:rPr>
              <a:t>谢谢大家</a:t>
            </a:r>
            <a:endParaRPr lang="zh-CN" altLang="en-US" sz="5400">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73732" name="Rectangle 5"/>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en-US"/>
              <a:t>【感想&amp;体会 】</a:t>
            </a:r>
            <a:endParaRPr kumimoji="0" lang="en-US" altLang="en-US"/>
          </a:p>
        </p:txBody>
      </p:sp>
      <p:sp>
        <p:nvSpPr>
          <p:cNvPr id="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P.32</a:t>
            </a:r>
            <a:endParaRPr lang="en-US" altLang="zh-CN" sz="2400">
              <a:solidFill>
                <a:schemeClr val="bg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10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10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10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10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109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010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PP_MARK_KEY" val="acee04d1-0617-4913-8ae4-d55c6a140db4"/>
  <p:tag name="commondata" val="eyJoZGlkIjoiOTEyMmE4MWMyYTI0N2M3ODMzMjMyZmZmYTEzZTc3YjkifQ=="/>
</p:tagLst>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1" 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1" 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Designs\Soaring.pot</Template>
  <TotalTime>0</TotalTime>
  <Words>8725</Words>
  <Application>WPS 演示</Application>
  <PresentationFormat>全屏显示(4:3)</PresentationFormat>
  <Paragraphs>813</Paragraphs>
  <Slides>67</Slides>
  <Notes>67</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67</vt:i4>
      </vt:variant>
    </vt:vector>
  </HeadingPairs>
  <TitlesOfParts>
    <vt:vector size="83" baseType="lpstr">
      <vt:lpstr>Arial</vt:lpstr>
      <vt:lpstr>宋体</vt:lpstr>
      <vt:lpstr>Wingdings</vt:lpstr>
      <vt:lpstr>Times New Roman</vt:lpstr>
      <vt:lpstr>隶书</vt:lpstr>
      <vt:lpstr>楷体_GB2312</vt:lpstr>
      <vt:lpstr>新宋体</vt:lpstr>
      <vt:lpstr>楷体</vt:lpstr>
      <vt:lpstr>微软雅黑</vt:lpstr>
      <vt:lpstr>华文楷体</vt:lpstr>
      <vt:lpstr>Arial Unicode MS</vt:lpstr>
      <vt:lpstr>华文新魏</vt:lpstr>
      <vt:lpstr>黑体</vt:lpstr>
      <vt:lpstr>方正姚体</vt:lpstr>
      <vt:lpstr>Wingdings</vt:lpstr>
      <vt:lpstr>Soaring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wrl@hnu.cn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IT项目管理</dc:title>
  <dc:creator>王如龙</dc:creator>
  <cp:keywords>信息技术 软件 项目  管理 </cp:keywords>
  <dc:description>第2版 141015～141117 第1次修改 </dc:description>
  <dc:subject>第1章 走进IT项目管理  </dc:subject>
  <cp:category>课件</cp:category>
  <cp:lastModifiedBy>高琳琳</cp:lastModifiedBy>
  <cp:revision>840</cp:revision>
  <dcterms:created xsi:type="dcterms:W3CDTF">2113-01-01T00:00:00Z</dcterms:created>
  <dcterms:modified xsi:type="dcterms:W3CDTF">2024-03-17T23:37:15Z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AFED5916151440D1865414B957E0444D_12</vt:lpwstr>
  </property>
  <property fmtid="{D5CDD505-2E9C-101B-9397-08002B2CF9AE}" pid="3" name="KSOProductBuildVer">
    <vt:lpwstr>2052-11.8.2.10154</vt:lpwstr>
  </property>
</Properties>
</file>