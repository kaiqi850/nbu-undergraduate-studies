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57"/>
  </p:notesMasterIdLst>
  <p:handoutMasterIdLst>
    <p:handoutMasterId r:id="rId58"/>
  </p:handoutMasterIdLst>
  <p:sldIdLst>
    <p:sldId id="325" r:id="rId2"/>
    <p:sldId id="578" r:id="rId3"/>
    <p:sldId id="737" r:id="rId4"/>
    <p:sldId id="738" r:id="rId5"/>
    <p:sldId id="739" r:id="rId6"/>
    <p:sldId id="740" r:id="rId7"/>
    <p:sldId id="504" r:id="rId8"/>
    <p:sldId id="506" r:id="rId9"/>
    <p:sldId id="703" r:id="rId10"/>
    <p:sldId id="582" r:id="rId11"/>
    <p:sldId id="714" r:id="rId12"/>
    <p:sldId id="584" r:id="rId13"/>
    <p:sldId id="585" r:id="rId14"/>
    <p:sldId id="586" r:id="rId15"/>
    <p:sldId id="587" r:id="rId16"/>
    <p:sldId id="589" r:id="rId17"/>
    <p:sldId id="593" r:id="rId18"/>
    <p:sldId id="709" r:id="rId19"/>
    <p:sldId id="604" r:id="rId20"/>
    <p:sldId id="606" r:id="rId21"/>
    <p:sldId id="605" r:id="rId22"/>
    <p:sldId id="607" r:id="rId23"/>
    <p:sldId id="710" r:id="rId24"/>
    <p:sldId id="612" r:id="rId25"/>
    <p:sldId id="613" r:id="rId26"/>
    <p:sldId id="701" r:id="rId27"/>
    <p:sldId id="717" r:id="rId28"/>
    <p:sldId id="616" r:id="rId29"/>
    <p:sldId id="617" r:id="rId30"/>
    <p:sldId id="718" r:id="rId31"/>
    <p:sldId id="719" r:id="rId32"/>
    <p:sldId id="621" r:id="rId33"/>
    <p:sldId id="624" r:id="rId34"/>
    <p:sldId id="711" r:id="rId35"/>
    <p:sldId id="626" r:id="rId36"/>
    <p:sldId id="722" r:id="rId37"/>
    <p:sldId id="635" r:id="rId38"/>
    <p:sldId id="634" r:id="rId39"/>
    <p:sldId id="636" r:id="rId40"/>
    <p:sldId id="637" r:id="rId41"/>
    <p:sldId id="638" r:id="rId42"/>
    <p:sldId id="640" r:id="rId43"/>
    <p:sldId id="642" r:id="rId44"/>
    <p:sldId id="712" r:id="rId45"/>
    <p:sldId id="725" r:id="rId46"/>
    <p:sldId id="724" r:id="rId47"/>
    <p:sldId id="726" r:id="rId48"/>
    <p:sldId id="650" r:id="rId49"/>
    <p:sldId id="652" r:id="rId50"/>
    <p:sldId id="654" r:id="rId51"/>
    <p:sldId id="653" r:id="rId52"/>
    <p:sldId id="687" r:id="rId53"/>
    <p:sldId id="689" r:id="rId54"/>
    <p:sldId id="713" r:id="rId55"/>
    <p:sldId id="575" r:id="rId56"/>
  </p:sldIdLst>
  <p:sldSz cx="9144000" cy="6858000" type="screen4x3"/>
  <p:notesSz cx="6858000" cy="9144000"/>
  <p:custDataLst>
    <p:tags r:id="rId59"/>
  </p:custDataLst>
  <p:defaultTextStyle>
    <a:defPPr>
      <a:defRPr lang="en-US"/>
    </a:defPPr>
    <a:lvl1pPr algn="r" rtl="0" fontAlgn="base">
      <a:spcBef>
        <a:spcPct val="0"/>
      </a:spcBef>
      <a:spcAft>
        <a:spcPct val="0"/>
      </a:spcAft>
      <a:defRPr kumimoji="1" sz="2800" b="1" u="sng" kern="1200">
        <a:solidFill>
          <a:schemeClr val="tx1"/>
        </a:solidFill>
        <a:latin typeface="Times New Roman" panose="02020603050405020304" pitchFamily="18" charset="0"/>
        <a:ea typeface="宋体" panose="02010600030101010101" pitchFamily="2" charset="-122"/>
        <a:cs typeface="+mn-cs"/>
      </a:defRPr>
    </a:lvl1pPr>
    <a:lvl2pPr marL="457200" algn="r" rtl="0" fontAlgn="base">
      <a:spcBef>
        <a:spcPct val="0"/>
      </a:spcBef>
      <a:spcAft>
        <a:spcPct val="0"/>
      </a:spcAft>
      <a:defRPr kumimoji="1" sz="2800" b="1" u="sng" kern="1200">
        <a:solidFill>
          <a:schemeClr val="tx1"/>
        </a:solidFill>
        <a:latin typeface="Times New Roman" panose="02020603050405020304" pitchFamily="18" charset="0"/>
        <a:ea typeface="宋体" panose="02010600030101010101" pitchFamily="2" charset="-122"/>
        <a:cs typeface="+mn-cs"/>
      </a:defRPr>
    </a:lvl2pPr>
    <a:lvl3pPr marL="914400" algn="r" rtl="0" fontAlgn="base">
      <a:spcBef>
        <a:spcPct val="0"/>
      </a:spcBef>
      <a:spcAft>
        <a:spcPct val="0"/>
      </a:spcAft>
      <a:defRPr kumimoji="1" sz="2800" b="1" u="sng" kern="1200">
        <a:solidFill>
          <a:schemeClr val="tx1"/>
        </a:solidFill>
        <a:latin typeface="Times New Roman" panose="02020603050405020304" pitchFamily="18" charset="0"/>
        <a:ea typeface="宋体" panose="02010600030101010101" pitchFamily="2" charset="-122"/>
        <a:cs typeface="+mn-cs"/>
      </a:defRPr>
    </a:lvl3pPr>
    <a:lvl4pPr marL="1371600" algn="r" rtl="0" fontAlgn="base">
      <a:spcBef>
        <a:spcPct val="0"/>
      </a:spcBef>
      <a:spcAft>
        <a:spcPct val="0"/>
      </a:spcAft>
      <a:defRPr kumimoji="1" sz="2800" b="1" u="sng" kern="1200">
        <a:solidFill>
          <a:schemeClr val="tx1"/>
        </a:solidFill>
        <a:latin typeface="Times New Roman" panose="02020603050405020304" pitchFamily="18" charset="0"/>
        <a:ea typeface="宋体" panose="02010600030101010101" pitchFamily="2" charset="-122"/>
        <a:cs typeface="+mn-cs"/>
      </a:defRPr>
    </a:lvl4pPr>
    <a:lvl5pPr marL="1828800" algn="r" rtl="0" fontAlgn="base">
      <a:spcBef>
        <a:spcPct val="0"/>
      </a:spcBef>
      <a:spcAft>
        <a:spcPct val="0"/>
      </a:spcAft>
      <a:defRPr kumimoji="1" sz="2800" b="1" u="sng"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b="1" u="sng"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b="1" u="sng"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b="1" u="sng"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b="1" u="sng"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94">
          <p15:clr>
            <a:srgbClr val="A4A3A4"/>
          </p15:clr>
        </p15:guide>
        <p15:guide id="2" pos="304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FF99FF"/>
    <a:srgbClr val="339966"/>
    <a:srgbClr val="FF33CC"/>
    <a:srgbClr val="990000"/>
    <a:srgbClr val="00CC00"/>
    <a:srgbClr val="333333"/>
    <a:srgbClr val="008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538" autoAdjust="0"/>
    <p:restoredTop sz="88966" autoAdjust="0"/>
  </p:normalViewPr>
  <p:slideViewPr>
    <p:cSldViewPr showGuides="1">
      <p:cViewPr varScale="1">
        <p:scale>
          <a:sx n="100" d="100"/>
          <a:sy n="100" d="100"/>
        </p:scale>
        <p:origin x="1692" y="-18"/>
      </p:cViewPr>
      <p:guideLst>
        <p:guide orient="horz" pos="2294"/>
        <p:guide pos="304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572"/>
    </p:cViewPr>
  </p:sorterViewPr>
  <p:notesViewPr>
    <p:cSldViewPr>
      <p:cViewPr>
        <p:scale>
          <a:sx n="75" d="100"/>
          <a:sy n="75" d="100"/>
        </p:scale>
        <p:origin x="-1320" y="-6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u="none">
                <a:solidFill>
                  <a:schemeClr val="bg2"/>
                </a:solidFill>
                <a:ea typeface="楷体_GB2312" pitchFamily="49" charset="-122"/>
              </a:defRPr>
            </a:lvl1pPr>
          </a:lstStyle>
          <a:p>
            <a:pPr>
              <a:defRPr/>
            </a:pPr>
            <a:endParaRPr lang="zh-CN" altLang="en-US"/>
          </a:p>
        </p:txBody>
      </p:sp>
      <p:sp>
        <p:nvSpPr>
          <p:cNvPr id="173059"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u="none">
                <a:solidFill>
                  <a:schemeClr val="bg2"/>
                </a:solidFill>
                <a:ea typeface="楷体_GB2312" pitchFamily="49" charset="-122"/>
              </a:defRPr>
            </a:lvl1pPr>
          </a:lstStyle>
          <a:p>
            <a:pPr>
              <a:defRPr/>
            </a:pPr>
            <a:fld id="{D279E5E3-8326-498A-AB15-8A0DB95BE522}" type="datetime1">
              <a:rPr lang="zh-CN" altLang="en-US"/>
              <a:t>2024/3/25</a:t>
            </a:fld>
            <a:endParaRPr lang="en-US" altLang="zh-CN"/>
          </a:p>
        </p:txBody>
      </p:sp>
      <p:sp>
        <p:nvSpPr>
          <p:cNvPr id="173060"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u="none">
                <a:solidFill>
                  <a:schemeClr val="bg2"/>
                </a:solidFill>
                <a:ea typeface="楷体_GB2312" pitchFamily="49" charset="-122"/>
              </a:defRPr>
            </a:lvl1pPr>
          </a:lstStyle>
          <a:p>
            <a:pPr>
              <a:defRPr/>
            </a:pPr>
            <a:endParaRPr lang="en-US" altLang="zh-CN"/>
          </a:p>
        </p:txBody>
      </p:sp>
      <p:sp>
        <p:nvSpPr>
          <p:cNvPr id="173061"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u="none">
                <a:solidFill>
                  <a:schemeClr val="bg2"/>
                </a:solidFill>
                <a:ea typeface="楷体_GB2312" pitchFamily="49" charset="-122"/>
              </a:defRPr>
            </a:lvl1pPr>
          </a:lstStyle>
          <a:p>
            <a:pPr>
              <a:defRPr/>
            </a:pPr>
            <a:fld id="{2183B7F5-0544-4A51-BB8C-56C205D40537}" type="slidenum">
              <a:rPr lang="zh-CN" altLang="en-US"/>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101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lgn="l">
              <a:defRPr sz="1200" u="none">
                <a:solidFill>
                  <a:schemeClr val="bg2"/>
                </a:solidFill>
                <a:ea typeface="楷体_GB2312" pitchFamily="49" charset="-122"/>
              </a:defRPr>
            </a:lvl1pPr>
          </a:lstStyle>
          <a:p>
            <a:pPr>
              <a:defRPr/>
            </a:pPr>
            <a:endParaRPr lang="zh-CN" altLang="en-US"/>
          </a:p>
        </p:txBody>
      </p:sp>
      <p:sp>
        <p:nvSpPr>
          <p:cNvPr id="171011" name="Rectangle 3"/>
          <p:cNvSpPr>
            <a:spLocks noGrp="1" noChangeArrowheads="1"/>
          </p:cNvSpPr>
          <p:nvPr>
            <p:ph type="dt"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u="none">
                <a:solidFill>
                  <a:schemeClr val="bg2"/>
                </a:solidFill>
                <a:ea typeface="楷体_GB2312" pitchFamily="49" charset="-122"/>
              </a:defRPr>
            </a:lvl1pPr>
          </a:lstStyle>
          <a:p>
            <a:pPr>
              <a:defRPr/>
            </a:pPr>
            <a:fld id="{7F3E5F9A-B064-436B-889A-FBD3684549CE}" type="datetime1">
              <a:rPr lang="zh-CN" altLang="en-US"/>
              <a:t>2024/3/25</a:t>
            </a:fld>
            <a:endParaRPr lang="en-US" altLang="zh-CN"/>
          </a:p>
        </p:txBody>
      </p:sp>
      <p:sp>
        <p:nvSpPr>
          <p:cNvPr id="12288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p:spPr>
      </p:sp>
      <p:sp>
        <p:nvSpPr>
          <p:cNvPr id="171013" name="Rectangle 5"/>
          <p:cNvSpPr>
            <a:spLocks noGrp="1" noChangeArrowheads="1"/>
          </p:cNvSpPr>
          <p:nvPr>
            <p:ph type="body" sz="quarter" idx="3"/>
          </p:nvPr>
        </p:nvSpPr>
        <p:spPr bwMode="auto">
          <a:xfrm>
            <a:off x="914400" y="4343400"/>
            <a:ext cx="50292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71014" name="Rectangle 6"/>
          <p:cNvSpPr>
            <a:spLocks noGrp="1" noChangeArrowheads="1"/>
          </p:cNvSpPr>
          <p:nvPr>
            <p:ph type="ftr" sz="quarter" idx="4"/>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lgn="l">
              <a:defRPr sz="1200" u="none">
                <a:solidFill>
                  <a:schemeClr val="bg2"/>
                </a:solidFill>
                <a:ea typeface="楷体_GB2312" pitchFamily="49" charset="-122"/>
              </a:defRPr>
            </a:lvl1pPr>
          </a:lstStyle>
          <a:p>
            <a:pPr>
              <a:defRPr/>
            </a:pPr>
            <a:endParaRPr lang="en-US" altLang="zh-CN"/>
          </a:p>
        </p:txBody>
      </p:sp>
      <p:sp>
        <p:nvSpPr>
          <p:cNvPr id="171015" name="Rectangle 7"/>
          <p:cNvSpPr>
            <a:spLocks noGrp="1" noChangeArrowheads="1"/>
          </p:cNvSpPr>
          <p:nvPr>
            <p:ph type="sldNum" sz="quarter" idx="5"/>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u="none">
                <a:solidFill>
                  <a:schemeClr val="bg2"/>
                </a:solidFill>
                <a:ea typeface="楷体_GB2312" pitchFamily="49" charset="-122"/>
              </a:defRPr>
            </a:lvl1pPr>
          </a:lstStyle>
          <a:p>
            <a:pPr>
              <a:defRPr/>
            </a:pPr>
            <a:fld id="{45ED1268-B5C2-47BF-87F3-E79C77B7CF54}" type="slidenum">
              <a:rPr lang="zh-CN" altLang="en-US"/>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p:spPr>
        <p:txBody>
          <a:bodyPr/>
          <a:lstStyle/>
          <a:p>
            <a:fld id="{CD1D2406-E742-4652-B807-87F4149FD718}" type="slidenum">
              <a:rPr lang="zh-CN" altLang="en-US" smtClean="0"/>
              <a:t>1</a:t>
            </a:fld>
            <a:endParaRPr lang="en-US" altLang="zh-CN"/>
          </a:p>
        </p:txBody>
      </p:sp>
      <p:sp>
        <p:nvSpPr>
          <p:cNvPr id="123907" name="Rectangle 2"/>
          <p:cNvSpPr>
            <a:spLocks noGrp="1" noRot="1" noChangeAspect="1" noChangeArrowheads="1" noTextEdit="1"/>
          </p:cNvSpPr>
          <p:nvPr>
            <p:ph type="sldImg"/>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p:spPr>
        <p:txBody>
          <a:bodyPr/>
          <a:lstStyle/>
          <a:p>
            <a:fld id="{889F7DE6-2840-4FDB-8F06-5A1323F391D4}" type="slidenum">
              <a:rPr lang="zh-CN" altLang="en-US" smtClean="0"/>
              <a:t>2</a:t>
            </a:fld>
            <a:endParaRPr lang="en-US" altLang="zh-CN"/>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p:spPr>
        <p:txBody>
          <a:bodyPr/>
          <a:lstStyle/>
          <a:p>
            <a:pPr algn="just" eaLnBrk="1" hangingPunct="1"/>
            <a:r>
              <a:rPr lang="zh-CN" altLang="en-US" b="1"/>
              <a:t> </a:t>
            </a:r>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p:spPr>
        <p:txBody>
          <a:bodyPr/>
          <a:lstStyle/>
          <a:p>
            <a:fld id="{54EBA277-10C0-4CBE-88B7-EBD297102FDB}" type="slidenum">
              <a:rPr lang="zh-CN" altLang="en-US" smtClean="0"/>
              <a:t>3</a:t>
            </a:fld>
            <a:endParaRPr lang="en-US" altLang="zh-CN"/>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p:spPr>
        <p:txBody>
          <a:bodyPr/>
          <a:lstStyle/>
          <a:p>
            <a:fld id="{34EDA483-1315-4E9A-95C1-852EB5C78C02}" type="slidenum">
              <a:rPr lang="zh-CN" altLang="en-US" smtClean="0"/>
              <a:t>4</a:t>
            </a:fld>
            <a:endParaRPr lang="en-US" altLang="zh-CN"/>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p:spPr>
        <p:txBody>
          <a:bodyPr/>
          <a:lstStyle/>
          <a:p>
            <a:fld id="{2383F399-B816-4937-ADAD-7DC0C0E3C16C}" type="slidenum">
              <a:rPr lang="zh-CN" altLang="en-US" smtClean="0"/>
              <a:t>5</a:t>
            </a:fld>
            <a:endParaRPr lang="en-US" altLang="zh-CN"/>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eaLnBrk="1" hangingPunct="1"/>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p:spPr>
        <p:txBody>
          <a:bodyPr/>
          <a:lstStyle/>
          <a:p>
            <a:fld id="{F6BD1F68-84B9-4D9D-B79F-4C416AA8CF68}" type="slidenum">
              <a:rPr lang="zh-CN" altLang="en-US" smtClean="0"/>
              <a:t>6</a:t>
            </a:fld>
            <a:endParaRPr lang="en-US" altLang="zh-CN"/>
          </a:p>
        </p:txBody>
      </p:sp>
      <p:sp>
        <p:nvSpPr>
          <p:cNvPr id="141315" name="Rectangle 2"/>
          <p:cNvSpPr>
            <a:spLocks noGrp="1" noRot="1" noChangeAspect="1" noChangeArrowheads="1" noTextEdit="1"/>
          </p:cNvSpPr>
          <p:nvPr>
            <p:ph type="sldImg"/>
          </p:nvPr>
        </p:nvSpPr>
        <p:spPr/>
      </p:sp>
      <p:sp>
        <p:nvSpPr>
          <p:cNvPr id="141316" name="Rectangle 3"/>
          <p:cNvSpPr>
            <a:spLocks noGrp="1" noChangeArrowheads="1"/>
          </p:cNvSpPr>
          <p:nvPr>
            <p:ph type="body" idx="1"/>
          </p:nvPr>
        </p:nvSpPr>
        <p:spPr bwMode="auto">
          <a:xfrm>
            <a:off x="914400" y="4343400"/>
            <a:ext cx="5029200" cy="4114800"/>
          </a:xfrm>
          <a:prstGeom prst="rect">
            <a:avLst/>
          </a:prstGeom>
          <a:noFill/>
          <a:ln>
            <a:miter lim="800000"/>
          </a:ln>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p:spPr>
        <p:txBody>
          <a:bodyPr/>
          <a:lstStyle/>
          <a:p>
            <a:fld id="{2D301A95-8085-4505-930F-28945110F6E0}" type="slidenum">
              <a:rPr lang="zh-CN" altLang="en-US" smtClean="0"/>
              <a:t>7</a:t>
            </a:fld>
            <a:endParaRPr lang="en-US" altLang="zh-CN"/>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p:spPr>
        <p:txBody>
          <a:bodyPr/>
          <a:lstStyle/>
          <a:p>
            <a:fld id="{2857E77D-FC36-4BCC-8008-AA8187C843AA}" type="slidenum">
              <a:rPr lang="zh-CN" altLang="en-US" smtClean="0"/>
              <a:t>8</a:t>
            </a:fld>
            <a:endParaRPr lang="en-US" altLang="zh-CN"/>
          </a:p>
        </p:txBody>
      </p:sp>
      <p:sp>
        <p:nvSpPr>
          <p:cNvPr id="128003" name="Rectangle 2"/>
          <p:cNvSpPr>
            <a:spLocks noGrp="1" noRot="1" noChangeAspect="1" noChangeArrowheads="1" noTextEdit="1"/>
          </p:cNvSpPr>
          <p:nvPr>
            <p:ph type="sldImg"/>
          </p:nvPr>
        </p:nvSpPr>
        <p:spPr/>
      </p:sp>
      <p:sp>
        <p:nvSpPr>
          <p:cNvPr id="12800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9</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EEB9907F-5216-4261-B47B-3194E552FD3A}" type="slidenum">
              <a:rPr lang="zh-CN" altLang="en-US" smtClean="0"/>
              <a:t>10</a:t>
            </a:fld>
            <a:endParaRPr lang="en-US" altLang="zh-CN"/>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p:spPr>
        <p:txBody>
          <a:bodyPr/>
          <a:lstStyle/>
          <a:p>
            <a:fld id="{EEB9907F-5216-4261-B47B-3194E552FD3A}" type="slidenum">
              <a:rPr lang="zh-CN" altLang="en-US" smtClean="0"/>
              <a:t>11</a:t>
            </a:fld>
            <a:endParaRPr lang="en-US" altLang="zh-CN"/>
          </a:p>
        </p:txBody>
      </p:sp>
      <p:sp>
        <p:nvSpPr>
          <p:cNvPr id="132099" name="Rectangle 2"/>
          <p:cNvSpPr>
            <a:spLocks noGrp="1" noRot="1" noChangeAspect="1" noChangeArrowheads="1" noTextEdit="1"/>
          </p:cNvSpPr>
          <p:nvPr>
            <p:ph type="sldImg"/>
          </p:nvPr>
        </p:nvSpPr>
        <p:spPr/>
      </p:sp>
      <p:sp>
        <p:nvSpPr>
          <p:cNvPr id="1321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p:spPr>
        <p:txBody>
          <a:bodyPr/>
          <a:lstStyle/>
          <a:p>
            <a:fld id="{54620416-AD87-457B-937C-9CE9BA16054D}" type="slidenum">
              <a:rPr lang="zh-CN" altLang="en-US" smtClean="0"/>
              <a:t>12</a:t>
            </a:fld>
            <a:endParaRPr lang="en-US" altLang="zh-CN"/>
          </a:p>
        </p:txBody>
      </p:sp>
      <p:sp>
        <p:nvSpPr>
          <p:cNvPr id="135171" name="Rectangle 2"/>
          <p:cNvSpPr>
            <a:spLocks noGrp="1" noRot="1" noChangeAspect="1" noChangeArrowheads="1" noTextEdit="1"/>
          </p:cNvSpPr>
          <p:nvPr>
            <p:ph type="sldImg"/>
          </p:nvPr>
        </p:nvSpPr>
        <p:spPr/>
      </p:sp>
      <p:sp>
        <p:nvSpPr>
          <p:cNvPr id="13517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p:spPr>
        <p:txBody>
          <a:bodyPr/>
          <a:lstStyle/>
          <a:p>
            <a:fld id="{5B4E9303-4B79-4364-888D-3FF46695882A}" type="slidenum">
              <a:rPr lang="zh-CN" altLang="en-US" smtClean="0"/>
              <a:t>13</a:t>
            </a:fld>
            <a:endParaRPr lang="en-US" altLang="zh-CN"/>
          </a:p>
        </p:txBody>
      </p:sp>
      <p:sp>
        <p:nvSpPr>
          <p:cNvPr id="136195" name="Rectangle 2"/>
          <p:cNvSpPr>
            <a:spLocks noGrp="1" noRot="1" noChangeAspect="1" noChangeArrowheads="1" noTextEdit="1"/>
          </p:cNvSpPr>
          <p:nvPr>
            <p:ph type="sldImg"/>
          </p:nvPr>
        </p:nvSpPr>
        <p:spPr/>
      </p:sp>
      <p:sp>
        <p:nvSpPr>
          <p:cNvPr id="1361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p:spPr>
        <p:txBody>
          <a:bodyPr/>
          <a:lstStyle/>
          <a:p>
            <a:fld id="{6AA043F2-DC90-49C7-A92E-9C3BC92E3C40}" type="slidenum">
              <a:rPr lang="zh-CN" altLang="en-US" smtClean="0"/>
              <a:t>14</a:t>
            </a:fld>
            <a:endParaRPr lang="en-US" altLang="zh-CN"/>
          </a:p>
        </p:txBody>
      </p:sp>
      <p:sp>
        <p:nvSpPr>
          <p:cNvPr id="137219" name="Rectangle 2"/>
          <p:cNvSpPr>
            <a:spLocks noGrp="1" noRot="1" noChangeAspect="1" noChangeArrowheads="1" noTextEdit="1"/>
          </p:cNvSpPr>
          <p:nvPr>
            <p:ph type="sldImg"/>
          </p:nvPr>
        </p:nvSpPr>
        <p:spPr/>
      </p:sp>
      <p:sp>
        <p:nvSpPr>
          <p:cNvPr id="13722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p:spPr>
        <p:txBody>
          <a:bodyPr/>
          <a:lstStyle/>
          <a:p>
            <a:fld id="{B255243E-E93D-4125-86E0-262F8C67E125}" type="slidenum">
              <a:rPr lang="zh-CN" altLang="en-US" smtClean="0"/>
              <a:t>15</a:t>
            </a:fld>
            <a:endParaRPr lang="en-US" altLang="zh-CN"/>
          </a:p>
        </p:txBody>
      </p:sp>
      <p:sp>
        <p:nvSpPr>
          <p:cNvPr id="139267" name="Rectangle 2"/>
          <p:cNvSpPr>
            <a:spLocks noGrp="1" noRot="1" noChangeAspect="1" noChangeArrowheads="1" noTextEdit="1"/>
          </p:cNvSpPr>
          <p:nvPr>
            <p:ph type="sldImg"/>
          </p:nvPr>
        </p:nvSpPr>
        <p:spPr/>
      </p:sp>
      <p:sp>
        <p:nvSpPr>
          <p:cNvPr id="13926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p:spPr>
        <p:txBody>
          <a:bodyPr/>
          <a:lstStyle/>
          <a:p>
            <a:fld id="{894998E2-210A-4691-90F5-B5D5D35717F9}" type="slidenum">
              <a:rPr lang="zh-CN" altLang="en-US" smtClean="0"/>
              <a:t>16</a:t>
            </a:fld>
            <a:endParaRPr lang="en-US" altLang="zh-CN"/>
          </a:p>
        </p:txBody>
      </p:sp>
      <p:sp>
        <p:nvSpPr>
          <p:cNvPr id="143363" name="Rectangle 2"/>
          <p:cNvSpPr>
            <a:spLocks noGrp="1" noRot="1" noChangeAspect="1" noChangeArrowheads="1" noTextEdit="1"/>
          </p:cNvSpPr>
          <p:nvPr>
            <p:ph type="sldImg"/>
          </p:nvPr>
        </p:nvSpPr>
        <p:spPr/>
      </p:sp>
      <p:sp>
        <p:nvSpPr>
          <p:cNvPr id="14336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p:spPr>
        <p:txBody>
          <a:bodyPr/>
          <a:lstStyle/>
          <a:p>
            <a:fld id="{B8F259F6-DF2B-406C-8283-0FF9029CBDBD}" type="slidenum">
              <a:rPr lang="zh-CN" altLang="en-US" smtClean="0"/>
              <a:t>17</a:t>
            </a:fld>
            <a:endParaRPr lang="en-US" altLang="zh-CN"/>
          </a:p>
        </p:txBody>
      </p:sp>
      <p:sp>
        <p:nvSpPr>
          <p:cNvPr id="148483" name="Rectangle 2"/>
          <p:cNvSpPr>
            <a:spLocks noGrp="1" noRot="1" noChangeAspect="1" noChangeArrowheads="1" noTextEdit="1"/>
          </p:cNvSpPr>
          <p:nvPr>
            <p:ph type="sldImg"/>
          </p:nvPr>
        </p:nvSpPr>
        <p:spPr/>
      </p:sp>
      <p:sp>
        <p:nvSpPr>
          <p:cNvPr id="14848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18</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DF1B1417-DBA8-4F17-BB4E-AE80A7D9D326}" type="slidenum">
              <a:rPr lang="zh-CN" altLang="en-US" smtClean="0"/>
              <a:t>19</a:t>
            </a:fld>
            <a:endParaRPr lang="en-US" altLang="zh-CN"/>
          </a:p>
        </p:txBody>
      </p:sp>
      <p:sp>
        <p:nvSpPr>
          <p:cNvPr id="156675" name="Rectangle 2"/>
          <p:cNvSpPr>
            <a:spLocks noGrp="1" noRot="1" noChangeAspect="1" noChangeArrowheads="1" noTextEdit="1"/>
          </p:cNvSpPr>
          <p:nvPr>
            <p:ph type="sldImg"/>
          </p:nvPr>
        </p:nvSpPr>
        <p:spPr/>
      </p:sp>
      <p:sp>
        <p:nvSpPr>
          <p:cNvPr id="1566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p:spPr>
        <p:txBody>
          <a:bodyPr/>
          <a:lstStyle/>
          <a:p>
            <a:fld id="{6D1DDE6C-9E24-4541-A23C-757448BDC43F}" type="slidenum">
              <a:rPr lang="zh-CN" altLang="en-US" smtClean="0"/>
              <a:t>20</a:t>
            </a:fld>
            <a:endParaRPr lang="en-US" altLang="zh-CN"/>
          </a:p>
        </p:txBody>
      </p:sp>
      <p:sp>
        <p:nvSpPr>
          <p:cNvPr id="157699" name="Rectangle 2"/>
          <p:cNvSpPr>
            <a:spLocks noGrp="1" noRot="1" noChangeAspect="1" noChangeArrowheads="1" noTextEdit="1"/>
          </p:cNvSpPr>
          <p:nvPr>
            <p:ph type="sldImg"/>
          </p:nvPr>
        </p:nvSpPr>
        <p:spPr/>
      </p:sp>
      <p:sp>
        <p:nvSpPr>
          <p:cNvPr id="15770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p:spPr>
        <p:txBody>
          <a:bodyPr/>
          <a:lstStyle/>
          <a:p>
            <a:fld id="{5353A9B6-4FC1-46F0-9BAF-2FDE08DAAD18}" type="slidenum">
              <a:rPr lang="zh-CN" altLang="en-US" smtClean="0"/>
              <a:t>21</a:t>
            </a:fld>
            <a:endParaRPr lang="en-US" altLang="zh-CN"/>
          </a:p>
        </p:txBody>
      </p:sp>
      <p:sp>
        <p:nvSpPr>
          <p:cNvPr id="158723" name="Rectangle 2"/>
          <p:cNvSpPr>
            <a:spLocks noGrp="1" noRot="1" noChangeAspect="1" noChangeArrowheads="1" noTextEdit="1"/>
          </p:cNvSpPr>
          <p:nvPr>
            <p:ph type="sldImg"/>
          </p:nvPr>
        </p:nvSpPr>
        <p:spPr/>
      </p:sp>
      <p:sp>
        <p:nvSpPr>
          <p:cNvPr id="15872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a:spLocks noGrp="1" noChangeArrowheads="1"/>
          </p:cNvSpPr>
          <p:nvPr>
            <p:ph type="sldNum" sz="quarter" idx="5"/>
          </p:nvPr>
        </p:nvSpPr>
        <p:spPr>
          <a:noFill/>
        </p:spPr>
        <p:txBody>
          <a:bodyPr/>
          <a:lstStyle/>
          <a:p>
            <a:fld id="{82194D11-DEBC-4AF2-A20C-5F1B6AFDE8BA}" type="slidenum">
              <a:rPr lang="zh-CN" altLang="en-US" smtClean="0"/>
              <a:t>22</a:t>
            </a:fld>
            <a:endParaRPr lang="en-US" altLang="zh-CN"/>
          </a:p>
        </p:txBody>
      </p:sp>
      <p:sp>
        <p:nvSpPr>
          <p:cNvPr id="159747" name="Rectangle 2"/>
          <p:cNvSpPr>
            <a:spLocks noGrp="1" noRot="1" noChangeAspect="1" noChangeArrowheads="1" noTextEdit="1"/>
          </p:cNvSpPr>
          <p:nvPr>
            <p:ph type="sldImg"/>
          </p:nvPr>
        </p:nvSpPr>
        <p:spPr/>
      </p:sp>
      <p:sp>
        <p:nvSpPr>
          <p:cNvPr id="1597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23</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p:spPr>
        <p:txBody>
          <a:bodyPr/>
          <a:lstStyle/>
          <a:p>
            <a:fld id="{8AE7FE63-EBC8-4775-9A90-03D1347DBF38}" type="slidenum">
              <a:rPr lang="zh-CN" altLang="en-US" smtClean="0"/>
              <a:t>24</a:t>
            </a:fld>
            <a:endParaRPr lang="en-US" altLang="zh-CN"/>
          </a:p>
        </p:txBody>
      </p:sp>
      <p:sp>
        <p:nvSpPr>
          <p:cNvPr id="162819" name="Rectangle 2"/>
          <p:cNvSpPr>
            <a:spLocks noGrp="1" noRot="1" noChangeAspect="1" noChangeArrowheads="1" noTextEdit="1"/>
          </p:cNvSpPr>
          <p:nvPr>
            <p:ph type="sldImg"/>
          </p:nvPr>
        </p:nvSpPr>
        <p:spPr/>
      </p:sp>
      <p:sp>
        <p:nvSpPr>
          <p:cNvPr id="16282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p:spPr>
        <p:txBody>
          <a:bodyPr/>
          <a:lstStyle/>
          <a:p>
            <a:fld id="{97A5FB08-B93D-451F-9F83-38FAFD57EC32}" type="slidenum">
              <a:rPr lang="zh-CN" altLang="en-US" smtClean="0"/>
              <a:t>25</a:t>
            </a:fld>
            <a:endParaRPr lang="en-US" altLang="zh-CN"/>
          </a:p>
        </p:txBody>
      </p:sp>
      <p:sp>
        <p:nvSpPr>
          <p:cNvPr id="164867" name="Rectangle 2"/>
          <p:cNvSpPr>
            <a:spLocks noGrp="1" noRot="1" noChangeAspect="1" noChangeArrowheads="1" noTextEdit="1"/>
          </p:cNvSpPr>
          <p:nvPr>
            <p:ph type="sldImg"/>
          </p:nvPr>
        </p:nvSpPr>
        <p:spPr/>
      </p:sp>
      <p:sp>
        <p:nvSpPr>
          <p:cNvPr id="16486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73F5C3C1-572C-4AB2-80C3-03D75C5763F0}" type="slidenum">
              <a:rPr lang="zh-CN" altLang="en-US" smtClean="0"/>
              <a:t>26</a:t>
            </a:fld>
            <a:endParaRPr lang="en-US" altLang="zh-CN"/>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p:spPr>
        <p:txBody>
          <a:bodyPr/>
          <a:lstStyle/>
          <a:p>
            <a:fld id="{73F5C3C1-572C-4AB2-80C3-03D75C5763F0}" type="slidenum">
              <a:rPr lang="zh-CN" altLang="en-US" smtClean="0"/>
              <a:t>27</a:t>
            </a:fld>
            <a:endParaRPr lang="en-US" altLang="zh-CN"/>
          </a:p>
        </p:txBody>
      </p:sp>
      <p:sp>
        <p:nvSpPr>
          <p:cNvPr id="165891" name="Rectangle 2"/>
          <p:cNvSpPr>
            <a:spLocks noGrp="1" noRot="1" noChangeAspect="1" noChangeArrowheads="1" noTextEdit="1"/>
          </p:cNvSpPr>
          <p:nvPr>
            <p:ph type="sldImg"/>
          </p:nvPr>
        </p:nvSpPr>
        <p:spPr/>
      </p:sp>
      <p:sp>
        <p:nvSpPr>
          <p:cNvPr id="1658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p:spPr>
        <p:txBody>
          <a:bodyPr/>
          <a:lstStyle/>
          <a:p>
            <a:fld id="{B948008D-4A61-4CE6-991D-E52ADDD5EB2C}" type="slidenum">
              <a:rPr lang="zh-CN" altLang="en-US" smtClean="0"/>
              <a:t>28</a:t>
            </a:fld>
            <a:endParaRPr lang="en-US" altLang="zh-CN"/>
          </a:p>
        </p:txBody>
      </p:sp>
      <p:sp>
        <p:nvSpPr>
          <p:cNvPr id="167939" name="Rectangle 2"/>
          <p:cNvSpPr>
            <a:spLocks noGrp="1" noRot="1" noChangeAspect="1" noChangeArrowheads="1" noTextEdit="1"/>
          </p:cNvSpPr>
          <p:nvPr>
            <p:ph type="sldImg"/>
          </p:nvPr>
        </p:nvSpPr>
        <p:spPr/>
      </p:sp>
      <p:sp>
        <p:nvSpPr>
          <p:cNvPr id="16794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p:spPr>
        <p:txBody>
          <a:bodyPr/>
          <a:lstStyle/>
          <a:p>
            <a:fld id="{F0559EC2-A293-4C39-BE83-13888669623B}" type="slidenum">
              <a:rPr lang="zh-CN" altLang="en-US" smtClean="0"/>
              <a:t>29</a:t>
            </a:fld>
            <a:endParaRPr lang="en-US" altLang="zh-CN"/>
          </a:p>
        </p:txBody>
      </p:sp>
      <p:sp>
        <p:nvSpPr>
          <p:cNvPr id="169987" name="Rectangle 2"/>
          <p:cNvSpPr>
            <a:spLocks noGrp="1" noRot="1" noChangeAspect="1" noChangeArrowheads="1" noTextEdit="1"/>
          </p:cNvSpPr>
          <p:nvPr>
            <p:ph type="sldImg"/>
          </p:nvPr>
        </p:nvSpPr>
        <p:spPr/>
      </p:sp>
      <p:sp>
        <p:nvSpPr>
          <p:cNvPr id="1699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D82A301A-DA1F-43E6-94BB-418A113CA50F}" type="slidenum">
              <a:rPr lang="zh-CN" altLang="en-US" smtClean="0"/>
              <a:t>30</a:t>
            </a:fld>
            <a:endParaRPr lang="en-US" altLang="zh-CN"/>
          </a:p>
        </p:txBody>
      </p:sp>
      <p:sp>
        <p:nvSpPr>
          <p:cNvPr id="175107" name="Rectangle 2"/>
          <p:cNvSpPr>
            <a:spLocks noGrp="1" noRot="1" noChangeAspect="1" noChangeArrowheads="1" noTextEdit="1"/>
          </p:cNvSpPr>
          <p:nvPr>
            <p:ph type="sldImg"/>
          </p:nvPr>
        </p:nvSpPr>
        <p:spPr/>
      </p:sp>
      <p:sp>
        <p:nvSpPr>
          <p:cNvPr id="1751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D82A301A-DA1F-43E6-94BB-418A113CA50F}" type="slidenum">
              <a:rPr lang="zh-CN" altLang="en-US" smtClean="0"/>
              <a:t>31</a:t>
            </a:fld>
            <a:endParaRPr lang="en-US" altLang="zh-CN"/>
          </a:p>
        </p:txBody>
      </p:sp>
      <p:sp>
        <p:nvSpPr>
          <p:cNvPr id="175107" name="Rectangle 2"/>
          <p:cNvSpPr>
            <a:spLocks noGrp="1" noRot="1" noChangeAspect="1" noChangeArrowheads="1" noTextEdit="1"/>
          </p:cNvSpPr>
          <p:nvPr>
            <p:ph type="sldImg"/>
          </p:nvPr>
        </p:nvSpPr>
        <p:spPr/>
      </p:sp>
      <p:sp>
        <p:nvSpPr>
          <p:cNvPr id="1751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7"/>
          <p:cNvSpPr>
            <a:spLocks noGrp="1" noChangeArrowheads="1"/>
          </p:cNvSpPr>
          <p:nvPr>
            <p:ph type="sldNum" sz="quarter" idx="5"/>
          </p:nvPr>
        </p:nvSpPr>
        <p:spPr>
          <a:noFill/>
        </p:spPr>
        <p:txBody>
          <a:bodyPr/>
          <a:lstStyle/>
          <a:p>
            <a:fld id="{D82A301A-DA1F-43E6-94BB-418A113CA50F}" type="slidenum">
              <a:rPr lang="zh-CN" altLang="en-US" smtClean="0"/>
              <a:t>32</a:t>
            </a:fld>
            <a:endParaRPr lang="en-US" altLang="zh-CN"/>
          </a:p>
        </p:txBody>
      </p:sp>
      <p:sp>
        <p:nvSpPr>
          <p:cNvPr id="175107" name="Rectangle 2"/>
          <p:cNvSpPr>
            <a:spLocks noGrp="1" noRot="1" noChangeAspect="1" noChangeArrowheads="1" noTextEdit="1"/>
          </p:cNvSpPr>
          <p:nvPr>
            <p:ph type="sldImg"/>
          </p:nvPr>
        </p:nvSpPr>
        <p:spPr/>
      </p:sp>
      <p:sp>
        <p:nvSpPr>
          <p:cNvPr id="17510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7"/>
          <p:cNvSpPr>
            <a:spLocks noGrp="1" noChangeArrowheads="1"/>
          </p:cNvSpPr>
          <p:nvPr>
            <p:ph type="sldNum" sz="quarter" idx="5"/>
          </p:nvPr>
        </p:nvSpPr>
        <p:spPr>
          <a:noFill/>
        </p:spPr>
        <p:txBody>
          <a:bodyPr/>
          <a:lstStyle/>
          <a:p>
            <a:fld id="{5D7FD46E-E420-4DB9-BAD7-32ABAB2E6059}" type="slidenum">
              <a:rPr lang="zh-CN" altLang="en-US" smtClean="0"/>
              <a:t>33</a:t>
            </a:fld>
            <a:endParaRPr lang="en-US" altLang="zh-CN"/>
          </a:p>
        </p:txBody>
      </p:sp>
      <p:sp>
        <p:nvSpPr>
          <p:cNvPr id="178179" name="Rectangle 2"/>
          <p:cNvSpPr>
            <a:spLocks noGrp="1" noRot="1" noChangeAspect="1" noChangeArrowheads="1" noTextEdit="1"/>
          </p:cNvSpPr>
          <p:nvPr>
            <p:ph type="sldImg"/>
          </p:nvPr>
        </p:nvSpPr>
        <p:spPr/>
      </p:sp>
      <p:sp>
        <p:nvSpPr>
          <p:cNvPr id="1781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34</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7"/>
          <p:cNvSpPr>
            <a:spLocks noGrp="1" noChangeArrowheads="1"/>
          </p:cNvSpPr>
          <p:nvPr>
            <p:ph type="sldNum" sz="quarter" idx="5"/>
          </p:nvPr>
        </p:nvSpPr>
        <p:spPr>
          <a:noFill/>
        </p:spPr>
        <p:txBody>
          <a:bodyPr/>
          <a:lstStyle/>
          <a:p>
            <a:fld id="{90AE5AB9-EBE7-4AE8-9A75-C48AB0711C21}" type="slidenum">
              <a:rPr lang="zh-CN" altLang="en-US" smtClean="0"/>
              <a:t>35</a:t>
            </a:fld>
            <a:endParaRPr lang="en-US" altLang="zh-CN"/>
          </a:p>
        </p:txBody>
      </p:sp>
      <p:sp>
        <p:nvSpPr>
          <p:cNvPr id="180227" name="Rectangle 2"/>
          <p:cNvSpPr>
            <a:spLocks noGrp="1" noRot="1" noChangeAspect="1" noChangeArrowheads="1" noTextEdit="1"/>
          </p:cNvSpPr>
          <p:nvPr>
            <p:ph type="sldImg"/>
          </p:nvPr>
        </p:nvSpPr>
        <p:spPr/>
      </p:sp>
      <p:sp>
        <p:nvSpPr>
          <p:cNvPr id="18022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7"/>
          <p:cNvSpPr>
            <a:spLocks noGrp="1" noChangeArrowheads="1"/>
          </p:cNvSpPr>
          <p:nvPr>
            <p:ph type="sldNum" sz="quarter" idx="5"/>
          </p:nvPr>
        </p:nvSpPr>
        <p:spPr>
          <a:noFill/>
        </p:spPr>
        <p:txBody>
          <a:bodyPr/>
          <a:lstStyle/>
          <a:p>
            <a:fld id="{443ADDA3-A9AE-4B73-BC1D-83323634E239}" type="slidenum">
              <a:rPr lang="zh-CN" altLang="en-US" smtClean="0"/>
              <a:t>36</a:t>
            </a:fld>
            <a:endParaRPr lang="en-US" altLang="zh-CN"/>
          </a:p>
        </p:txBody>
      </p:sp>
      <p:sp>
        <p:nvSpPr>
          <p:cNvPr id="194563" name="Rectangle 2"/>
          <p:cNvSpPr>
            <a:spLocks noGrp="1" noRot="1" noChangeAspect="1" noChangeArrowheads="1" noTextEdit="1"/>
          </p:cNvSpPr>
          <p:nvPr>
            <p:ph type="sldImg"/>
          </p:nvPr>
        </p:nvSpPr>
        <p:spPr/>
      </p:sp>
      <p:sp>
        <p:nvSpPr>
          <p:cNvPr id="19456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p:spPr>
        <p:txBody>
          <a:bodyPr/>
          <a:lstStyle/>
          <a:p>
            <a:fld id="{2862C066-EDB0-4247-A04F-95FDB1136040}" type="slidenum">
              <a:rPr lang="zh-CN" altLang="en-US" smtClean="0"/>
              <a:t>37</a:t>
            </a:fld>
            <a:endParaRPr lang="en-US" altLang="zh-CN"/>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7"/>
          <p:cNvSpPr>
            <a:spLocks noGrp="1" noChangeArrowheads="1"/>
          </p:cNvSpPr>
          <p:nvPr>
            <p:ph type="sldNum" sz="quarter" idx="5"/>
          </p:nvPr>
        </p:nvSpPr>
        <p:spPr>
          <a:noFill/>
        </p:spPr>
        <p:txBody>
          <a:bodyPr/>
          <a:lstStyle/>
          <a:p>
            <a:fld id="{A557B3CA-389D-4EE0-A440-7FD2664F42C4}" type="slidenum">
              <a:rPr lang="zh-CN" altLang="en-US" smtClean="0"/>
              <a:t>38</a:t>
            </a:fld>
            <a:endParaRPr lang="en-US" altLang="zh-CN"/>
          </a:p>
        </p:txBody>
      </p:sp>
      <p:sp>
        <p:nvSpPr>
          <p:cNvPr id="189443" name="Rectangle 2"/>
          <p:cNvSpPr>
            <a:spLocks noGrp="1" noRot="1" noChangeAspect="1" noChangeArrowheads="1" noTextEdit="1"/>
          </p:cNvSpPr>
          <p:nvPr>
            <p:ph type="sldImg"/>
          </p:nvPr>
        </p:nvSpPr>
        <p:spPr/>
      </p:sp>
      <p:sp>
        <p:nvSpPr>
          <p:cNvPr id="18944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7"/>
          <p:cNvSpPr>
            <a:spLocks noGrp="1" noChangeArrowheads="1"/>
          </p:cNvSpPr>
          <p:nvPr>
            <p:ph type="sldNum" sz="quarter" idx="5"/>
          </p:nvPr>
        </p:nvSpPr>
        <p:spPr>
          <a:noFill/>
        </p:spPr>
        <p:txBody>
          <a:bodyPr/>
          <a:lstStyle/>
          <a:p>
            <a:fld id="{C48BA468-4989-4143-BFE0-44DD239962E4}" type="slidenum">
              <a:rPr lang="zh-CN" altLang="en-US" smtClean="0"/>
              <a:t>39</a:t>
            </a:fld>
            <a:endParaRPr lang="en-US" altLang="zh-CN"/>
          </a:p>
        </p:txBody>
      </p:sp>
      <p:sp>
        <p:nvSpPr>
          <p:cNvPr id="190467" name="Rectangle 2"/>
          <p:cNvSpPr>
            <a:spLocks noGrp="1" noRot="1" noChangeAspect="1" noChangeArrowheads="1" noTextEdit="1"/>
          </p:cNvSpPr>
          <p:nvPr>
            <p:ph type="sldImg"/>
          </p:nvPr>
        </p:nvSpPr>
        <p:spPr/>
      </p:sp>
      <p:sp>
        <p:nvSpPr>
          <p:cNvPr id="19046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7"/>
          <p:cNvSpPr>
            <a:spLocks noGrp="1" noChangeArrowheads="1"/>
          </p:cNvSpPr>
          <p:nvPr>
            <p:ph type="sldNum" sz="quarter" idx="5"/>
          </p:nvPr>
        </p:nvSpPr>
        <p:spPr>
          <a:noFill/>
        </p:spPr>
        <p:txBody>
          <a:bodyPr/>
          <a:lstStyle/>
          <a:p>
            <a:fld id="{8462181B-2320-4472-855B-2AC01C118896}" type="slidenum">
              <a:rPr lang="zh-CN" altLang="en-US" smtClean="0"/>
              <a:t>40</a:t>
            </a:fld>
            <a:endParaRPr lang="en-US" altLang="zh-CN"/>
          </a:p>
        </p:txBody>
      </p:sp>
      <p:sp>
        <p:nvSpPr>
          <p:cNvPr id="191491" name="Rectangle 2"/>
          <p:cNvSpPr>
            <a:spLocks noGrp="1" noRot="1" noChangeAspect="1" noChangeArrowheads="1" noTextEdit="1"/>
          </p:cNvSpPr>
          <p:nvPr>
            <p:ph type="sldImg"/>
          </p:nvPr>
        </p:nvSpPr>
        <p:spPr/>
      </p:sp>
      <p:sp>
        <p:nvSpPr>
          <p:cNvPr id="19149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7"/>
          <p:cNvSpPr>
            <a:spLocks noGrp="1" noChangeArrowheads="1"/>
          </p:cNvSpPr>
          <p:nvPr>
            <p:ph type="sldNum" sz="quarter" idx="5"/>
          </p:nvPr>
        </p:nvSpPr>
        <p:spPr>
          <a:noFill/>
        </p:spPr>
        <p:txBody>
          <a:bodyPr/>
          <a:lstStyle/>
          <a:p>
            <a:fld id="{EB47A845-02B0-4CDF-BB84-D66866B4FDDB}" type="slidenum">
              <a:rPr lang="zh-CN" altLang="en-US" smtClean="0"/>
              <a:t>41</a:t>
            </a:fld>
            <a:endParaRPr lang="en-US" altLang="zh-CN"/>
          </a:p>
        </p:txBody>
      </p:sp>
      <p:sp>
        <p:nvSpPr>
          <p:cNvPr id="192515" name="Rectangle 2"/>
          <p:cNvSpPr>
            <a:spLocks noGrp="1" noRot="1" noChangeAspect="1" noChangeArrowheads="1" noTextEdit="1"/>
          </p:cNvSpPr>
          <p:nvPr>
            <p:ph type="sldImg"/>
          </p:nvPr>
        </p:nvSpPr>
        <p:spPr/>
      </p:sp>
      <p:sp>
        <p:nvSpPr>
          <p:cNvPr id="19251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7"/>
          <p:cNvSpPr>
            <a:spLocks noGrp="1" noChangeArrowheads="1"/>
          </p:cNvSpPr>
          <p:nvPr>
            <p:ph type="sldNum" sz="quarter" idx="5"/>
          </p:nvPr>
        </p:nvSpPr>
        <p:spPr>
          <a:noFill/>
        </p:spPr>
        <p:txBody>
          <a:bodyPr/>
          <a:lstStyle/>
          <a:p>
            <a:fld id="{8B24A9FC-BC2D-476A-9D42-BD0540024CEC}" type="slidenum">
              <a:rPr lang="zh-CN" altLang="en-US" smtClean="0"/>
              <a:t>42</a:t>
            </a:fld>
            <a:endParaRPr lang="en-US" altLang="zh-CN"/>
          </a:p>
        </p:txBody>
      </p:sp>
      <p:sp>
        <p:nvSpPr>
          <p:cNvPr id="193539" name="Rectangle 2"/>
          <p:cNvSpPr>
            <a:spLocks noGrp="1" noRot="1" noChangeAspect="1" noChangeArrowheads="1" noTextEdit="1"/>
          </p:cNvSpPr>
          <p:nvPr>
            <p:ph type="sldImg"/>
          </p:nvPr>
        </p:nvSpPr>
        <p:spPr/>
      </p:sp>
      <p:sp>
        <p:nvSpPr>
          <p:cNvPr id="19354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Rectangle 7"/>
          <p:cNvSpPr>
            <a:spLocks noGrp="1" noChangeArrowheads="1"/>
          </p:cNvSpPr>
          <p:nvPr>
            <p:ph type="sldNum" sz="quarter" idx="5"/>
          </p:nvPr>
        </p:nvSpPr>
        <p:spPr>
          <a:noFill/>
        </p:spPr>
        <p:txBody>
          <a:bodyPr/>
          <a:lstStyle/>
          <a:p>
            <a:fld id="{51837DFD-E441-482D-8157-41CF2FB879C8}" type="slidenum">
              <a:rPr lang="zh-CN" altLang="en-US" smtClean="0"/>
              <a:t>43</a:t>
            </a:fld>
            <a:endParaRPr lang="en-US" altLang="zh-CN"/>
          </a:p>
        </p:txBody>
      </p:sp>
      <p:sp>
        <p:nvSpPr>
          <p:cNvPr id="195587" name="Rectangle 2"/>
          <p:cNvSpPr>
            <a:spLocks noGrp="1" noRot="1" noChangeAspect="1" noChangeArrowheads="1" noTextEdit="1"/>
          </p:cNvSpPr>
          <p:nvPr>
            <p:ph type="sldImg"/>
          </p:nvPr>
        </p:nvSpPr>
        <p:spPr/>
      </p:sp>
      <p:sp>
        <p:nvSpPr>
          <p:cNvPr id="19558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44</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8B8E0ABA-3CAA-414E-94EA-EB6E4F28F7E0}" type="slidenum">
              <a:rPr lang="zh-CN" altLang="en-US" smtClean="0"/>
              <a:t>45</a:t>
            </a:fld>
            <a:endParaRPr lang="en-US" altLang="zh-CN"/>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8B8E0ABA-3CAA-414E-94EA-EB6E4F28F7E0}" type="slidenum">
              <a:rPr lang="zh-CN" altLang="en-US" smtClean="0"/>
              <a:t>46</a:t>
            </a:fld>
            <a:endParaRPr lang="en-US" altLang="zh-CN"/>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8" name="Rectangle 7"/>
          <p:cNvSpPr>
            <a:spLocks noGrp="1" noChangeArrowheads="1"/>
          </p:cNvSpPr>
          <p:nvPr>
            <p:ph type="sldNum" sz="quarter" idx="5"/>
          </p:nvPr>
        </p:nvSpPr>
        <p:spPr>
          <a:noFill/>
        </p:spPr>
        <p:txBody>
          <a:bodyPr/>
          <a:lstStyle/>
          <a:p>
            <a:fld id="{8B8E0ABA-3CAA-414E-94EA-EB6E4F28F7E0}" type="slidenum">
              <a:rPr lang="zh-CN" altLang="en-US" smtClean="0"/>
              <a:t>47</a:t>
            </a:fld>
            <a:endParaRPr lang="en-US" altLang="zh-CN"/>
          </a:p>
        </p:txBody>
      </p:sp>
      <p:sp>
        <p:nvSpPr>
          <p:cNvPr id="203779" name="Rectangle 2"/>
          <p:cNvSpPr>
            <a:spLocks noGrp="1" noRot="1" noChangeAspect="1" noChangeArrowheads="1" noTextEdit="1"/>
          </p:cNvSpPr>
          <p:nvPr>
            <p:ph type="sldImg"/>
          </p:nvPr>
        </p:nvSpPr>
        <p:spPr/>
      </p:sp>
      <p:sp>
        <p:nvSpPr>
          <p:cNvPr id="203780"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7"/>
          <p:cNvSpPr>
            <a:spLocks noGrp="1" noChangeArrowheads="1"/>
          </p:cNvSpPr>
          <p:nvPr>
            <p:ph type="sldNum" sz="quarter" idx="5"/>
          </p:nvPr>
        </p:nvSpPr>
        <p:spPr>
          <a:noFill/>
        </p:spPr>
        <p:txBody>
          <a:bodyPr/>
          <a:lstStyle/>
          <a:p>
            <a:fld id="{B816B2FD-5D05-4D62-8AB7-F317CA99ADEE}" type="slidenum">
              <a:rPr lang="zh-CN" altLang="en-US" smtClean="0"/>
              <a:t>48</a:t>
            </a:fld>
            <a:endParaRPr lang="en-US" altLang="zh-CN"/>
          </a:p>
        </p:txBody>
      </p:sp>
      <p:sp>
        <p:nvSpPr>
          <p:cNvPr id="204803" name="Rectangle 2"/>
          <p:cNvSpPr>
            <a:spLocks noGrp="1" noRot="1" noChangeAspect="1" noChangeArrowheads="1" noTextEdit="1"/>
          </p:cNvSpPr>
          <p:nvPr>
            <p:ph type="sldImg"/>
          </p:nvPr>
        </p:nvSpPr>
        <p:spPr/>
      </p:sp>
      <p:sp>
        <p:nvSpPr>
          <p:cNvPr id="204804"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Rectangle 7"/>
          <p:cNvSpPr>
            <a:spLocks noGrp="1" noChangeArrowheads="1"/>
          </p:cNvSpPr>
          <p:nvPr>
            <p:ph type="sldNum" sz="quarter" idx="5"/>
          </p:nvPr>
        </p:nvSpPr>
        <p:spPr>
          <a:noFill/>
        </p:spPr>
        <p:txBody>
          <a:bodyPr/>
          <a:lstStyle/>
          <a:p>
            <a:fld id="{3A4C3A66-181B-4D61-B890-8FA1736B95E1}" type="slidenum">
              <a:rPr lang="zh-CN" altLang="en-US" smtClean="0"/>
              <a:t>49</a:t>
            </a:fld>
            <a:endParaRPr lang="en-US" altLang="zh-CN"/>
          </a:p>
        </p:txBody>
      </p:sp>
      <p:sp>
        <p:nvSpPr>
          <p:cNvPr id="205827" name="Rectangle 2"/>
          <p:cNvSpPr>
            <a:spLocks noGrp="1" noRot="1" noChangeAspect="1" noChangeArrowheads="1" noTextEdit="1"/>
          </p:cNvSpPr>
          <p:nvPr>
            <p:ph type="sldImg"/>
          </p:nvPr>
        </p:nvSpPr>
        <p:spPr/>
      </p:sp>
      <p:sp>
        <p:nvSpPr>
          <p:cNvPr id="20582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50" name="Rectangle 7"/>
          <p:cNvSpPr>
            <a:spLocks noGrp="1" noChangeArrowheads="1"/>
          </p:cNvSpPr>
          <p:nvPr>
            <p:ph type="sldNum" sz="quarter" idx="5"/>
          </p:nvPr>
        </p:nvSpPr>
        <p:spPr>
          <a:noFill/>
        </p:spPr>
        <p:txBody>
          <a:bodyPr/>
          <a:lstStyle/>
          <a:p>
            <a:fld id="{429FF6E9-2660-4DE5-BCD3-DD58BF4F4A55}" type="slidenum">
              <a:rPr lang="zh-CN" altLang="en-US" smtClean="0"/>
              <a:t>50</a:t>
            </a:fld>
            <a:endParaRPr lang="en-US" altLang="zh-CN"/>
          </a:p>
        </p:txBody>
      </p:sp>
      <p:sp>
        <p:nvSpPr>
          <p:cNvPr id="206851" name="Rectangle 2"/>
          <p:cNvSpPr>
            <a:spLocks noGrp="1" noRot="1" noChangeAspect="1" noChangeArrowheads="1" noTextEdit="1"/>
          </p:cNvSpPr>
          <p:nvPr>
            <p:ph type="sldImg"/>
          </p:nvPr>
        </p:nvSpPr>
        <p:spPr/>
      </p:sp>
      <p:sp>
        <p:nvSpPr>
          <p:cNvPr id="206852"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7"/>
          <p:cNvSpPr>
            <a:spLocks noGrp="1" noChangeArrowheads="1"/>
          </p:cNvSpPr>
          <p:nvPr>
            <p:ph type="sldNum" sz="quarter" idx="5"/>
          </p:nvPr>
        </p:nvSpPr>
        <p:spPr>
          <a:noFill/>
        </p:spPr>
        <p:txBody>
          <a:bodyPr/>
          <a:lstStyle/>
          <a:p>
            <a:fld id="{E1E6A1F2-A2F9-4DF4-9074-659B136E65A2}" type="slidenum">
              <a:rPr lang="zh-CN" altLang="en-US" smtClean="0"/>
              <a:t>51</a:t>
            </a:fld>
            <a:endParaRPr lang="en-US" altLang="zh-CN"/>
          </a:p>
        </p:txBody>
      </p:sp>
      <p:sp>
        <p:nvSpPr>
          <p:cNvPr id="207875" name="Rectangle 2"/>
          <p:cNvSpPr>
            <a:spLocks noGrp="1" noRot="1" noChangeAspect="1" noChangeArrowheads="1" noTextEdit="1"/>
          </p:cNvSpPr>
          <p:nvPr>
            <p:ph type="sldImg"/>
          </p:nvPr>
        </p:nvSpPr>
        <p:spPr/>
      </p:sp>
      <p:sp>
        <p:nvSpPr>
          <p:cNvPr id="20787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7"/>
          <p:cNvSpPr>
            <a:spLocks noGrp="1" noChangeArrowheads="1"/>
          </p:cNvSpPr>
          <p:nvPr>
            <p:ph type="sldNum" sz="quarter" idx="5"/>
          </p:nvPr>
        </p:nvSpPr>
        <p:spPr>
          <a:noFill/>
        </p:spPr>
        <p:txBody>
          <a:bodyPr/>
          <a:lstStyle/>
          <a:p>
            <a:fld id="{D79BBD0C-EA37-4700-9408-8A2CEF773A3A}" type="slidenum">
              <a:rPr lang="zh-CN" altLang="en-US" smtClean="0"/>
              <a:t>52</a:t>
            </a:fld>
            <a:endParaRPr lang="en-US" altLang="zh-CN"/>
          </a:p>
        </p:txBody>
      </p:sp>
      <p:sp>
        <p:nvSpPr>
          <p:cNvPr id="236547" name="Rectangle 2"/>
          <p:cNvSpPr>
            <a:spLocks noGrp="1" noRot="1" noChangeAspect="1" noChangeArrowheads="1" noTextEdit="1"/>
          </p:cNvSpPr>
          <p:nvPr>
            <p:ph type="sldImg"/>
          </p:nvPr>
        </p:nvSpPr>
        <p:spPr/>
      </p:sp>
      <p:sp>
        <p:nvSpPr>
          <p:cNvPr id="23654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4" name="Rectangle 7"/>
          <p:cNvSpPr>
            <a:spLocks noGrp="1" noChangeArrowheads="1"/>
          </p:cNvSpPr>
          <p:nvPr>
            <p:ph type="sldNum" sz="quarter" idx="5"/>
          </p:nvPr>
        </p:nvSpPr>
        <p:spPr>
          <a:noFill/>
        </p:spPr>
        <p:txBody>
          <a:bodyPr/>
          <a:lstStyle/>
          <a:p>
            <a:fld id="{82283176-2393-45C8-8757-A50841B957E8}" type="slidenum">
              <a:rPr lang="zh-CN" altLang="en-US" smtClean="0"/>
              <a:t>53</a:t>
            </a:fld>
            <a:endParaRPr lang="en-US" altLang="zh-CN"/>
          </a:p>
        </p:txBody>
      </p:sp>
      <p:sp>
        <p:nvSpPr>
          <p:cNvPr id="238595" name="Rectangle 2"/>
          <p:cNvSpPr>
            <a:spLocks noGrp="1" noRot="1" noChangeAspect="1" noChangeArrowheads="1" noTextEdit="1"/>
          </p:cNvSpPr>
          <p:nvPr>
            <p:ph type="sldImg"/>
          </p:nvPr>
        </p:nvSpPr>
        <p:spPr/>
      </p:sp>
      <p:sp>
        <p:nvSpPr>
          <p:cNvPr id="238596"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p:spPr>
        <p:txBody>
          <a:bodyPr/>
          <a:lstStyle/>
          <a:p>
            <a:fld id="{A33A79C3-7323-42AB-9B4B-B514F7955371}" type="slidenum">
              <a:rPr lang="zh-CN" altLang="en-US" smtClean="0"/>
              <a:t>54</a:t>
            </a:fld>
            <a:endParaRPr lang="en-US" altLang="zh-CN"/>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xfrm>
            <a:off x="685800" y="4343400"/>
            <a:ext cx="5486400" cy="4114800"/>
          </a:xfrm>
          <a:noFill/>
        </p:spPr>
        <p:txBody>
          <a:bodyPr/>
          <a:lstStyle/>
          <a:p>
            <a:pPr eaLnBrk="1" hangingPunct="1"/>
            <a:endParaRPr lang="en-US" altLang="zh-CN"/>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7"/>
          <p:cNvSpPr>
            <a:spLocks noGrp="1" noChangeArrowheads="1"/>
          </p:cNvSpPr>
          <p:nvPr>
            <p:ph type="sldNum" sz="quarter" idx="5"/>
          </p:nvPr>
        </p:nvSpPr>
        <p:spPr>
          <a:noFill/>
        </p:spPr>
        <p:txBody>
          <a:bodyPr/>
          <a:lstStyle/>
          <a:p>
            <a:fld id="{B4D1411D-5361-4889-93D0-7537A30CFAEF}" type="slidenum">
              <a:rPr lang="zh-CN" altLang="en-US" smtClean="0"/>
              <a:t>55</a:t>
            </a:fld>
            <a:endParaRPr lang="en-US" altLang="zh-CN"/>
          </a:p>
        </p:txBody>
      </p:sp>
      <p:sp>
        <p:nvSpPr>
          <p:cNvPr id="241667" name="Rectangle 2"/>
          <p:cNvSpPr>
            <a:spLocks noGrp="1" noRot="1" noChangeAspect="1" noChangeArrowheads="1" noTextEdit="1"/>
          </p:cNvSpPr>
          <p:nvPr>
            <p:ph type="sldImg"/>
          </p:nvPr>
        </p:nvSpPr>
        <p:spPr/>
      </p:sp>
      <p:sp>
        <p:nvSpPr>
          <p:cNvPr id="241668" name="Rectangle 3"/>
          <p:cNvSpPr>
            <a:spLocks noGrp="1" noChangeArrowheads="1"/>
          </p:cNvSpPr>
          <p:nvPr>
            <p:ph type="body" idx="1"/>
          </p:nvPr>
        </p:nvSpPr>
        <p:spPr>
          <a:noFill/>
        </p:spPr>
        <p:txBody>
          <a:bodyPr/>
          <a:lstStyle/>
          <a:p>
            <a:pPr algn="just" eaLnBrk="1" hangingPunct="1"/>
            <a:r>
              <a:rPr lang="zh-CN" altLang="en-US" b="1"/>
              <a:t> </a:t>
            </a:r>
            <a:endParaRPr lang="zh-CN" altLang="en-US"/>
          </a:p>
          <a:p>
            <a:pPr algn="just" eaLnBrk="1" hangingPunct="1"/>
            <a:r>
              <a:rPr lang="zh-CN" altLang="en-US"/>
              <a:t> </a:t>
            </a:r>
          </a:p>
          <a:p>
            <a:pPr algn="just" eaLnBrk="1" hangingPunct="1"/>
            <a:r>
              <a:rPr lang="zh-CN" altLang="en-US"/>
              <a:t> </a:t>
            </a:r>
          </a:p>
          <a:p>
            <a:pPr algn="just" eaLnBrk="1" hangingPunct="1"/>
            <a:r>
              <a:rPr lang="zh-CN" altLang="en-US"/>
              <a:t> </a:t>
            </a:r>
          </a:p>
          <a:p>
            <a:pPr algn="just" eaLnBrk="1" hangingPunct="1"/>
            <a:r>
              <a:rPr lang="zh-CN" altLang="en-US"/>
              <a:t> </a:t>
            </a:r>
          </a:p>
          <a:p>
            <a:pPr eaLnBrk="1" hangingPunct="1"/>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Line 14"/>
          <p:cNvSpPr>
            <a:spLocks noChangeShapeType="1"/>
          </p:cNvSpPr>
          <p:nvPr userDrawn="1"/>
        </p:nvSpPr>
        <p:spPr bwMode="auto">
          <a:xfrm>
            <a:off x="0" y="6453188"/>
            <a:ext cx="9144000" cy="0"/>
          </a:xfrm>
          <a:prstGeom prst="line">
            <a:avLst/>
          </a:prstGeom>
          <a:noFill/>
          <a:ln w="127000" cmpd="thinThick">
            <a:solidFill>
              <a:srgbClr val="CC9900"/>
            </a:solidFill>
            <a:round/>
          </a:ln>
          <a:effectLst/>
        </p:spPr>
        <p:txBody>
          <a:bodyPr wrap="none" anchor="ctr"/>
          <a:lstStyle/>
          <a:p>
            <a:pPr>
              <a:defRPr/>
            </a:pPr>
            <a:endParaRPr lang="zh-CN" altLang="en-US"/>
          </a:p>
        </p:txBody>
      </p:sp>
      <p:sp>
        <p:nvSpPr>
          <p:cNvPr id="3" name="Text Box 21"/>
          <p:cNvSpPr txBox="1">
            <a:spLocks noChangeArrowheads="1"/>
          </p:cNvSpPr>
          <p:nvPr userDrawn="1"/>
        </p:nvSpPr>
        <p:spPr bwMode="auto">
          <a:xfrm>
            <a:off x="0" y="0"/>
            <a:ext cx="5580063" cy="579438"/>
          </a:xfrm>
          <a:prstGeom prst="rect">
            <a:avLst/>
          </a:prstGeom>
          <a:noFill/>
          <a:ln w="9525">
            <a:noFill/>
            <a:miter lim="800000"/>
          </a:ln>
          <a:effectLst/>
        </p:spPr>
        <p:txBody>
          <a:bodyPr>
            <a:spAutoFit/>
          </a:bodyPr>
          <a:lstStyle/>
          <a:p>
            <a:pPr algn="l">
              <a:spcBef>
                <a:spcPct val="50000"/>
              </a:spcBef>
              <a:defRPr/>
            </a:pPr>
            <a:r>
              <a:rPr lang="zh-CN" altLang="en-US" sz="3200" u="none">
                <a:solidFill>
                  <a:srgbClr val="990000"/>
                </a:solidFill>
                <a:ea typeface="隶书" panose="02010509060101010101" pitchFamily="49" charset="-122"/>
              </a:rPr>
              <a:t>第</a:t>
            </a:r>
            <a:r>
              <a:rPr lang="en-GB" altLang="zh-CN" sz="3200" u="none">
                <a:solidFill>
                  <a:srgbClr val="990000"/>
                </a:solidFill>
                <a:ea typeface="隶书" panose="02010509060101010101" pitchFamily="49" charset="-122"/>
              </a:rPr>
              <a:t>2</a:t>
            </a:r>
            <a:r>
              <a:rPr lang="zh-CN" altLang="en-US" sz="3200" u="none">
                <a:solidFill>
                  <a:srgbClr val="990000"/>
                </a:solidFill>
                <a:ea typeface="隶书" panose="02010509060101010101" pitchFamily="49" charset="-122"/>
              </a:rPr>
              <a:t>章 把握环境  控制过程</a:t>
            </a:r>
          </a:p>
        </p:txBody>
      </p:sp>
      <p:sp>
        <p:nvSpPr>
          <p:cNvPr id="4" name="Rectangle 9"/>
          <p:cNvSpPr>
            <a:spLocks noGrp="1" noChangeArrowheads="1"/>
          </p:cNvSpPr>
          <p:nvPr>
            <p:ph type="sldNum" sz="quarter" idx="10"/>
          </p:nvPr>
        </p:nvSpPr>
        <p:spPr bwMode="auto">
          <a:xfrm>
            <a:off x="7562880" y="6526236"/>
            <a:ext cx="1295400" cy="260350"/>
          </a:xfrm>
          <a:prstGeom prst="rect">
            <a:avLst/>
          </a:prstGeom>
          <a:ln>
            <a:miter lim="800000"/>
          </a:ln>
        </p:spPr>
        <p:txBody>
          <a:bodyPr vert="horz" wrap="square" lIns="92075" tIns="46038" rIns="92075" bIns="46038" numCol="1" anchor="ctr" anchorCtr="0" compatLnSpc="1"/>
          <a:lstStyle>
            <a:lvl1pPr>
              <a:defRPr kumimoji="0" sz="2000" u="none">
                <a:solidFill>
                  <a:schemeClr val="bg2"/>
                </a:solidFill>
                <a:ea typeface="楷体_GB2312" pitchFamily="49" charset="-122"/>
              </a:defRPr>
            </a:lvl1pPr>
          </a:lstStyle>
          <a:p>
            <a:pPr>
              <a:defRPr/>
            </a:pPr>
            <a:r>
              <a:rPr lang="zh-CN" altLang="en-GB"/>
              <a:t>  </a:t>
            </a:r>
            <a:fld id="{5AD9C0D4-4B9C-41FF-B8AC-D96CCDEEBAC2}" type="slidenum">
              <a:rPr lang="zh-CN" altLang="en-GB" smtClean="0"/>
              <a:t>‹#›</a:t>
            </a:fld>
            <a:endParaRPr lang="en-US" altLang="zh-CN" dirty="0"/>
          </a:p>
        </p:txBody>
      </p:sp>
      <p:sp>
        <p:nvSpPr>
          <p:cNvPr id="5" name="Rectangle 9"/>
          <p:cNvSpPr txBox="1">
            <a:spLocks noChangeArrowheads="1"/>
          </p:cNvSpPr>
          <p:nvPr userDrawn="1"/>
        </p:nvSpPr>
        <p:spPr bwMode="auto">
          <a:xfrm>
            <a:off x="7920070" y="6597674"/>
            <a:ext cx="1295400" cy="260350"/>
          </a:xfrm>
          <a:prstGeom prst="rect">
            <a:avLst/>
          </a:prstGeom>
          <a:ln>
            <a:miter lim="800000"/>
          </a:ln>
        </p:spPr>
        <p:txBody>
          <a:bodyPr vert="horz" wrap="square" lIns="92075" tIns="46038" rIns="92075" bIns="46038" numCol="1" anchor="ctr" anchorCtr="0" compatLnSpc="1"/>
          <a:lstStyle>
            <a:lvl1pPr>
              <a:defRPr kumimoji="0" sz="2000" u="none">
                <a:solidFill>
                  <a:schemeClr val="bg2"/>
                </a:solidFill>
                <a:ea typeface="楷体_GB2312" pitchFamily="49"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GB" altLang="zh-CN" sz="2000" b="1" i="0" u="none" strike="noStrike" kern="1200" cap="none" spc="0" normalizeH="0" baseline="0" noProof="0">
                <a:ln>
                  <a:noFill/>
                </a:ln>
                <a:solidFill>
                  <a:schemeClr val="bg2"/>
                </a:solidFill>
                <a:effectLst/>
                <a:uLnTx/>
                <a:uFillTx/>
                <a:latin typeface="Times New Roman" panose="02020603050405020304" pitchFamily="18" charset="0"/>
                <a:ea typeface="楷体_GB2312" pitchFamily="49" charset="-122"/>
                <a:cs typeface="+mn-cs"/>
              </a:rPr>
              <a:t>/99</a:t>
            </a:r>
            <a:endParaRPr kumimoji="0" lang="en-US" altLang="zh-CN" sz="2000" b="1" i="0" u="none" strike="noStrike" kern="1200" cap="none" spc="0" normalizeH="0" baseline="0" noProof="0" dirty="0">
              <a:ln>
                <a:noFill/>
              </a:ln>
              <a:solidFill>
                <a:schemeClr val="bg2"/>
              </a:solidFill>
              <a:effectLst/>
              <a:uLnTx/>
              <a:uFillTx/>
              <a:latin typeface="Times New Roman" panose="02020603050405020304" pitchFamily="18" charset="0"/>
              <a:ea typeface="楷体_GB2312" pitchFamily="49" charset="-122"/>
              <a:cs typeface="+mn-cs"/>
            </a:endParaRPr>
          </a:p>
        </p:txBody>
      </p:sp>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p:txBody>
          <a:bodyPr/>
          <a:lstStyle>
            <a:lvl1pPr>
              <a:defRPr/>
            </a:lvl1pPr>
          </a:lstStyle>
          <a:p>
            <a:pPr>
              <a:defRPr/>
            </a:pPr>
            <a:fld id="{7B04FAEA-33A1-44F8-A2ED-5050CC8A674E}" type="datetime7">
              <a:rPr lang="zh-CN" altLang="en-US"/>
              <a:t>24.3.25</a:t>
            </a:fld>
            <a:endParaRPr lang="zh-CN" altLang="zh-CN"/>
          </a:p>
        </p:txBody>
      </p:sp>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4" cstate="print"/>
          <a:srcRect/>
          <a:stretch>
            <a:fillRect/>
          </a:stretch>
        </a:blipFill>
        <a:effectLst/>
      </p:bgPr>
    </p:bg>
    <p:spTree>
      <p:nvGrpSpPr>
        <p:cNvPr id="1" name=""/>
        <p:cNvGrpSpPr/>
        <p:nvPr/>
      </p:nvGrpSpPr>
      <p:grpSpPr>
        <a:xfrm>
          <a:off x="0" y="0"/>
          <a:ext cx="0" cy="0"/>
          <a:chOff x="0" y="0"/>
          <a:chExt cx="0" cy="0"/>
        </a:xfrm>
      </p:grpSpPr>
      <p:sp>
        <p:nvSpPr>
          <p:cNvPr id="78853" name="Rectangle 5"/>
          <p:cNvSpPr>
            <a:spLocks noGrp="1" noChangeArrowheads="1"/>
          </p:cNvSpPr>
          <p:nvPr>
            <p:ph type="title"/>
          </p:nvPr>
        </p:nvSpPr>
        <p:spPr bwMode="auto">
          <a:xfrm>
            <a:off x="685800" y="609600"/>
            <a:ext cx="7772400" cy="1143000"/>
          </a:xfrm>
          <a:prstGeom prst="rect">
            <a:avLst/>
          </a:prstGeom>
          <a:noFill/>
          <a:ln w="9525">
            <a:noFill/>
            <a:miter lim="800000"/>
          </a:ln>
          <a:effectLst/>
        </p:spPr>
        <p:txBody>
          <a:bodyPr vert="horz" wrap="square" lIns="92075" tIns="46038" rIns="92075" bIns="46038" numCol="1" anchor="ctr" anchorCtr="0" compatLnSpc="1"/>
          <a:lstStyle/>
          <a:p>
            <a:pPr lvl="0"/>
            <a:r>
              <a:rPr lang="zh-CN" altLang="en-US"/>
              <a:t>单击此处编辑母版标题样式</a:t>
            </a:r>
          </a:p>
        </p:txBody>
      </p:sp>
      <p:sp>
        <p:nvSpPr>
          <p:cNvPr id="78854" name="Rectangle 6"/>
          <p:cNvSpPr>
            <a:spLocks noGrp="1" noChangeArrowheads="1"/>
          </p:cNvSpPr>
          <p:nvPr>
            <p:ph type="dt" sz="half" idx="2"/>
          </p:nvPr>
        </p:nvSpPr>
        <p:spPr bwMode="auto">
          <a:xfrm>
            <a:off x="5795963" y="6021388"/>
            <a:ext cx="2662237" cy="720725"/>
          </a:xfrm>
          <a:prstGeom prst="rect">
            <a:avLst/>
          </a:prstGeom>
          <a:noFill/>
          <a:ln w="9525">
            <a:noFill/>
            <a:miter lim="800000"/>
          </a:ln>
          <a:effectLst/>
        </p:spPr>
        <p:txBody>
          <a:bodyPr vert="horz" wrap="square" lIns="92075" tIns="46038" rIns="92075" bIns="46038" numCol="1" anchor="ctr" anchorCtr="0" compatLnSpc="1"/>
          <a:lstStyle>
            <a:lvl1pPr>
              <a:defRPr kumimoji="0" sz="2000" u="none">
                <a:solidFill>
                  <a:schemeClr val="bg2"/>
                </a:solidFill>
              </a:defRPr>
            </a:lvl1pPr>
          </a:lstStyle>
          <a:p>
            <a:pPr>
              <a:defRPr/>
            </a:pPr>
            <a:fld id="{2B2F14F9-F6C8-47E1-BB36-3DE866F53864}" type="datetime7">
              <a:rPr lang="zh-CN" altLang="en-US"/>
              <a:t>24.3.25</a:t>
            </a:fld>
            <a:endParaRPr lang="zh-CN" altLang="zh-CN"/>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Lst>
  <p:transition>
    <p:random/>
  </p:transition>
  <p:hf sldNum="0" hdr="0" ftr="0"/>
  <p:txStyles>
    <p:titleStyle>
      <a:lvl1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accent2"/>
        </a:buClr>
        <a:buSzPct val="80000"/>
        <a:buFont typeface="Wingdings" panose="05000000000000000000" pitchFamily="2" charset="2"/>
        <a:buChar char="l"/>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0000"/>
        <a:buFont typeface="Wingdings" panose="05000000000000000000" pitchFamily="2" charset="2"/>
        <a:buChar char="l"/>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72042" name="Text Box 2058"/>
          <p:cNvSpPr txBox="1">
            <a:spLocks noChangeArrowheads="1"/>
          </p:cNvSpPr>
          <p:nvPr/>
        </p:nvSpPr>
        <p:spPr bwMode="auto">
          <a:xfrm>
            <a:off x="2627313" y="4508500"/>
            <a:ext cx="6481762" cy="583565"/>
          </a:xfrm>
          <a:prstGeom prst="rect">
            <a:avLst/>
          </a:prstGeom>
          <a:noFill/>
          <a:ln w="9525">
            <a:noFill/>
            <a:miter lim="800000"/>
          </a:ln>
          <a:effectLst/>
        </p:spPr>
        <p:txBody>
          <a:bodyPr>
            <a:spAutoFit/>
          </a:bodyPr>
          <a:lstStyle/>
          <a:p>
            <a:pPr>
              <a:spcBef>
                <a:spcPct val="50000"/>
              </a:spcBef>
              <a:defRPr/>
            </a:pPr>
            <a:r>
              <a:rPr lang="zh-CN" altLang="en-US" sz="3200" u="none" dirty="0">
                <a:solidFill>
                  <a:srgbClr val="990000"/>
                </a:solidFill>
                <a:effectLst>
                  <a:outerShdw blurRad="38100" dist="38100" dir="2700000" algn="tl">
                    <a:srgbClr val="000000"/>
                  </a:outerShdw>
                </a:effectLst>
                <a:latin typeface="楷体" panose="02010609060101010101" pitchFamily="49" charset="-122"/>
                <a:ea typeface="楷体" panose="02010609060101010101" pitchFamily="49" charset="-122"/>
                <a:cs typeface="楷体" panose="02010609060101010101" pitchFamily="49" charset="-122"/>
              </a:rPr>
              <a:t>第二章 把握环境  控制过程</a:t>
            </a:r>
          </a:p>
        </p:txBody>
      </p:sp>
      <p:grpSp>
        <p:nvGrpSpPr>
          <p:cNvPr id="18" name="组合 10"/>
          <p:cNvGrpSpPr/>
          <p:nvPr/>
        </p:nvGrpSpPr>
        <p:grpSpPr bwMode="auto">
          <a:xfrm>
            <a:off x="4139566" y="2348865"/>
            <a:ext cx="5072063" cy="1679893"/>
            <a:chOff x="4139561" y="2134569"/>
            <a:chExt cx="5072066" cy="1680601"/>
          </a:xfrm>
        </p:grpSpPr>
        <p:sp>
          <p:nvSpPr>
            <p:cNvPr id="19" name="Rectangle 2055"/>
            <p:cNvSpPr>
              <a:spLocks noChangeArrowheads="1"/>
            </p:cNvSpPr>
            <p:nvPr/>
          </p:nvSpPr>
          <p:spPr bwMode="auto">
            <a:xfrm>
              <a:off x="4427850" y="2134569"/>
              <a:ext cx="4470403" cy="922408"/>
            </a:xfrm>
            <a:prstGeom prst="rect">
              <a:avLst/>
            </a:prstGeom>
            <a:noFill/>
            <a:ln w="9525">
              <a:noFill/>
              <a:miter lim="800000"/>
            </a:ln>
            <a:effectLst>
              <a:outerShdw blurRad="50800" dist="50800" dir="5400000" algn="ctr" rotWithShape="0">
                <a:srgbClr val="EAEAEA"/>
              </a:outerShdw>
            </a:effectLst>
          </p:spPr>
          <p:txBody>
            <a:bodyPr wrap="square">
              <a:spAutoFit/>
            </a:bodyPr>
            <a:lstStyle/>
            <a:p>
              <a:pPr algn="ctr">
                <a:spcBef>
                  <a:spcPct val="55000"/>
                </a:spcBef>
                <a:defRPr/>
              </a:pPr>
              <a:r>
                <a:rPr lang="en-US" altLang="zh-CN" sz="5400" b="1" u="none" spc="800" dirty="0">
                  <a:solidFill>
                    <a:schemeClr val="bg2"/>
                  </a:solidFill>
                  <a:effectLst>
                    <a:outerShdw blurRad="38100" dist="38100" dir="2700000" algn="tl">
                      <a:srgbClr val="000000">
                        <a:alpha val="43137"/>
                      </a:srgbClr>
                    </a:outerShdw>
                  </a:effectLst>
                  <a:latin typeface="+mn-lt"/>
                  <a:ea typeface="微软雅黑" panose="020B0503020204020204" pitchFamily="34" charset="-122"/>
                  <a:cs typeface="+mn-lt"/>
                </a:rPr>
                <a:t>IT</a:t>
              </a:r>
              <a:r>
                <a:rPr lang="zh-CN" altLang="en-US" sz="5400" b="1" u="none" spc="800" dirty="0">
                  <a:solidFill>
                    <a:schemeClr val="bg2"/>
                  </a:solidFill>
                  <a:effectLst>
                    <a:outerShdw blurRad="38100" dist="38100" dir="2700000" algn="tl">
                      <a:srgbClr val="000000">
                        <a:alpha val="43137"/>
                      </a:srgbClr>
                    </a:outerShdw>
                  </a:effectLst>
                  <a:latin typeface="楷体" panose="02010609060101010101" pitchFamily="49" charset="-122"/>
                  <a:ea typeface="楷体" panose="02010609060101010101" pitchFamily="49" charset="-122"/>
                </a:rPr>
                <a:t>项目管理</a:t>
              </a:r>
            </a:p>
          </p:txBody>
        </p:sp>
        <p:sp>
          <p:nvSpPr>
            <p:cNvPr id="20" name="矩形 19"/>
            <p:cNvSpPr/>
            <p:nvPr/>
          </p:nvSpPr>
          <p:spPr>
            <a:xfrm>
              <a:off x="4139561" y="2984875"/>
              <a:ext cx="5072066" cy="830295"/>
            </a:xfrm>
            <a:prstGeom prst="rect">
              <a:avLst/>
            </a:prstGeom>
          </p:spPr>
          <p:txBody>
            <a:bodyPr>
              <a:spAutoFit/>
            </a:bodyPr>
            <a:lstStyle/>
            <a:p>
              <a:pPr algn="ctr">
                <a:defRPr/>
              </a:pPr>
              <a:r>
                <a:rPr lang="en-US" altLang="zh-CN" sz="2400" u="none"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Information    Technology  </a:t>
              </a:r>
            </a:p>
            <a:p>
              <a:pPr algn="ctr">
                <a:defRPr/>
              </a:pPr>
              <a:r>
                <a:rPr lang="en-US" altLang="zh-CN" sz="2400" u="none"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rPr>
                <a:t>  Project   Management</a:t>
              </a:r>
              <a:endParaRPr lang="zh-CN" altLang="en-US" sz="2400" u="none" dirty="0">
                <a:solidFill>
                  <a:srgbClr val="000000"/>
                </a:solidFill>
                <a:effectLst>
                  <a:outerShdw blurRad="38100" dist="38100" dir="2700000" algn="tl">
                    <a:srgbClr val="FFFFFF"/>
                  </a:outerShdw>
                </a:effectLst>
                <a:ea typeface="宋体" panose="02010600030101010101" pitchFamily="2" charset="-122"/>
                <a:cs typeface="Times New Roman" panose="02020603050405020304" pitchFamily="18" charset="0"/>
              </a:endParaRPr>
            </a:p>
          </p:txBody>
        </p:sp>
      </p:gr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ea typeface="楷体" panose="02010609060101010101" pitchFamily="49" charset="-122"/>
              </a:rPr>
              <a:t>  </a:t>
            </a:r>
            <a:fld id="{9FC2C23D-A47B-4B17-86FB-6EE985507ECE}" type="slidenum">
              <a:rPr lang="zh-CN" altLang="en-GB" smtClean="0">
                <a:latin typeface="楷体" panose="02010609060101010101" pitchFamily="49" charset="-122"/>
                <a:ea typeface="楷体" panose="02010609060101010101" pitchFamily="49" charset="-122"/>
              </a:rPr>
              <a:t>2</a:t>
            </a:fld>
            <a:endParaRPr lang="en-US" altLang="zh-CN" dirty="0">
              <a:latin typeface="楷体" panose="02010609060101010101" pitchFamily="49" charset="-122"/>
              <a:ea typeface="楷体" panose="02010609060101010101" pitchFamily="49" charset="-122"/>
            </a:endParaRPr>
          </a:p>
        </p:txBody>
      </p:sp>
      <p:sp>
        <p:nvSpPr>
          <p:cNvPr id="51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latin typeface="楷体" panose="02010609060101010101" pitchFamily="49" charset="-122"/>
              <a:ea typeface="楷体" panose="02010609060101010101" pitchFamily="49" charset="-122"/>
            </a:endParaRPr>
          </a:p>
        </p:txBody>
      </p:sp>
      <p:sp>
        <p:nvSpPr>
          <p:cNvPr id="512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latin typeface="楷体" panose="02010609060101010101" pitchFamily="49" charset="-122"/>
              <a:ea typeface="楷体" panose="02010609060101010101" pitchFamily="49" charset="-122"/>
            </a:endParaRPr>
          </a:p>
        </p:txBody>
      </p:sp>
      <p:sp>
        <p:nvSpPr>
          <p:cNvPr id="5125" name="Text Box 4"/>
          <p:cNvSpPr txBox="1">
            <a:spLocks noChangeArrowheads="1"/>
          </p:cNvSpPr>
          <p:nvPr/>
        </p:nvSpPr>
        <p:spPr bwMode="auto">
          <a:xfrm>
            <a:off x="250825" y="1579563"/>
            <a:ext cx="8677275" cy="3262432"/>
          </a:xfrm>
          <a:prstGeom prst="rect">
            <a:avLst/>
          </a:prstGeom>
          <a:noFill/>
          <a:ln w="28575">
            <a:noFill/>
            <a:miter lim="800000"/>
          </a:ln>
        </p:spPr>
        <p:txBody>
          <a:bodyPr>
            <a:spAutoFit/>
          </a:bodyPr>
          <a:lstStyle/>
          <a:p>
            <a:pPr marL="571500" indent="-571500" algn="l">
              <a:spcBef>
                <a:spcPts val="600"/>
              </a:spcBef>
              <a:spcAft>
                <a:spcPts val="600"/>
              </a:spcAft>
              <a:buClr>
                <a:srgbClr val="990000"/>
              </a:buClr>
              <a:buFont typeface="Wingdings" panose="05000000000000000000" pitchFamily="2" charset="2"/>
              <a:buChar char="l"/>
            </a:pPr>
            <a:r>
              <a:rPr lang="zh-CN" altLang="en-US" sz="4400" u="none" dirty="0">
                <a:solidFill>
                  <a:srgbClr val="0000FF"/>
                </a:solidFill>
                <a:latin typeface="楷体" panose="02010609060101010101" pitchFamily="49" charset="-122"/>
                <a:ea typeface="楷体" panose="02010609060101010101" pitchFamily="49" charset="-122"/>
              </a:rPr>
              <a:t>项目管理的价值</a:t>
            </a:r>
          </a:p>
          <a:p>
            <a:pPr marL="571500" indent="-571500" algn="l">
              <a:spcBef>
                <a:spcPts val="600"/>
              </a:spcBef>
              <a:spcAft>
                <a:spcPts val="600"/>
              </a:spcAft>
              <a:buClr>
                <a:srgbClr val="990000"/>
              </a:buClr>
              <a:buFont typeface="Wingdings" panose="05000000000000000000" pitchFamily="2" charset="2"/>
              <a:buChar char="l"/>
            </a:pPr>
            <a:r>
              <a:rPr lang="zh-CN" altLang="en-US" sz="4400" u="none" dirty="0">
                <a:solidFill>
                  <a:srgbClr val="0000FF"/>
                </a:solidFill>
                <a:latin typeface="楷体" panose="02010609060101010101" pitchFamily="49" charset="-122"/>
                <a:ea typeface="楷体" panose="02010609060101010101" pitchFamily="49" charset="-122"/>
              </a:rPr>
              <a:t>项目管理的概念</a:t>
            </a:r>
          </a:p>
          <a:p>
            <a:pPr marL="571500" indent="-571500" algn="l">
              <a:spcBef>
                <a:spcPts val="600"/>
              </a:spcBef>
              <a:spcAft>
                <a:spcPts val="600"/>
              </a:spcAft>
              <a:buClr>
                <a:srgbClr val="990000"/>
              </a:buClr>
              <a:buFont typeface="Wingdings" panose="05000000000000000000" pitchFamily="2" charset="2"/>
              <a:buChar char="l"/>
            </a:pPr>
            <a:r>
              <a:rPr lang="zh-CN" altLang="en-US" sz="4400" u="none" dirty="0">
                <a:solidFill>
                  <a:srgbClr val="0000FF"/>
                </a:solidFill>
                <a:latin typeface="楷体" panose="02010609060101010101" pitchFamily="49" charset="-122"/>
                <a:ea typeface="楷体" panose="02010609060101010101" pitchFamily="49" charset="-122"/>
              </a:rPr>
              <a:t>项目管理组织与知识体系</a:t>
            </a:r>
          </a:p>
          <a:p>
            <a:pPr marL="571500" indent="-571500" algn="l">
              <a:spcBef>
                <a:spcPts val="600"/>
              </a:spcBef>
              <a:spcAft>
                <a:spcPts val="600"/>
              </a:spcAft>
              <a:buClr>
                <a:srgbClr val="990000"/>
              </a:buClr>
              <a:buFont typeface="Wingdings" panose="05000000000000000000" pitchFamily="2" charset="2"/>
              <a:buChar char="l"/>
            </a:pPr>
            <a:r>
              <a:rPr lang="zh-CN" altLang="en-US" sz="4400" u="none" dirty="0">
                <a:solidFill>
                  <a:srgbClr val="0000FF"/>
                </a:solidFill>
                <a:latin typeface="楷体" panose="02010609060101010101" pitchFamily="49" charset="-122"/>
                <a:ea typeface="楷体" panose="02010609060101010101" pitchFamily="49" charset="-122"/>
              </a:rPr>
              <a:t>软件与软件项目管理特点</a:t>
            </a:r>
          </a:p>
        </p:txBody>
      </p:sp>
      <p:sp>
        <p:nvSpPr>
          <p:cNvPr id="5126"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latin typeface="楷体" panose="02010609060101010101" pitchFamily="49" charset="-122"/>
                <a:ea typeface="楷体" panose="02010609060101010101" pitchFamily="49" charset="-122"/>
              </a:rPr>
              <a:t>【</a:t>
            </a:r>
            <a:r>
              <a:rPr kumimoji="0" lang="zh-CN" altLang="en-US" sz="3000" u="none" dirty="0">
                <a:latin typeface="楷体" panose="02010609060101010101" pitchFamily="49" charset="-122"/>
                <a:ea typeface="楷体" panose="02010609060101010101" pitchFamily="49" charset="-122"/>
              </a:rPr>
              <a:t>课程回顾</a:t>
            </a:r>
            <a:r>
              <a:rPr kumimoji="0" lang="en-US" altLang="zh-CN" sz="3000" u="none" dirty="0">
                <a:latin typeface="楷体" panose="02010609060101010101" pitchFamily="49" charset="-122"/>
                <a:ea typeface="楷体" panose="02010609060101010101" pitchFamily="49" charset="-122"/>
              </a:rPr>
              <a:t>】</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9"/>
          <p:cNvSpPr>
            <a:spLocks noGrp="1" noChangeArrowheads="1"/>
          </p:cNvSpPr>
          <p:nvPr>
            <p:ph type="sldNum" sz="quarter" idx="10"/>
          </p:nvPr>
        </p:nvSpPr>
        <p:spPr>
          <a:noFill/>
        </p:spPr>
        <p:txBody>
          <a:bodyPr/>
          <a:lstStyle/>
          <a:p>
            <a:r>
              <a:rPr lang="zh-CN" altLang="en-GB"/>
              <a:t>  </a:t>
            </a:r>
            <a:fld id="{55DF3BEA-767D-42CB-8B44-8FC5DA9AD511}" type="slidenum">
              <a:rPr lang="zh-CN" altLang="en-GB" smtClean="0"/>
              <a:t>3</a:t>
            </a:fld>
            <a:endParaRPr lang="en-US" altLang="zh-CN"/>
          </a:p>
        </p:txBody>
      </p:sp>
      <p:sp>
        <p:nvSpPr>
          <p:cNvPr id="286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2867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a:solidFill>
                <a:schemeClr val="bg2"/>
              </a:solidFill>
            </a:endParaRPr>
          </a:p>
        </p:txBody>
      </p:sp>
      <p:sp>
        <p:nvSpPr>
          <p:cNvPr id="482308" name="Text Box 4"/>
          <p:cNvSpPr txBox="1">
            <a:spLocks noChangeArrowheads="1"/>
          </p:cNvSpPr>
          <p:nvPr/>
        </p:nvSpPr>
        <p:spPr bwMode="auto">
          <a:xfrm>
            <a:off x="181006" y="1395132"/>
            <a:ext cx="8820150" cy="3291840"/>
          </a:xfrm>
          <a:prstGeom prst="rect">
            <a:avLst/>
          </a:prstGeom>
          <a:noFill/>
          <a:ln w="28575">
            <a:noFill/>
            <a:miter lim="800000"/>
          </a:ln>
        </p:spPr>
        <p:txBody>
          <a:bodyPr>
            <a:spAutoFit/>
          </a:bodyPr>
          <a:lstStyle/>
          <a:p>
            <a:pPr algn="l">
              <a:spcBef>
                <a:spcPts val="2400"/>
              </a:spcBef>
              <a:spcAft>
                <a:spcPts val="600"/>
              </a:spcAft>
            </a:pPr>
            <a:r>
              <a:rPr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现代项目管理科学</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便是从</a:t>
            </a:r>
            <a:r>
              <a:rPr lang="en-US" altLang="en-US" sz="3600" u="none" dirty="0">
                <a:solidFill>
                  <a:srgbClr val="0000FF"/>
                </a:solidFill>
                <a:ea typeface="楷体" panose="02010609060101010101" pitchFamily="49" charset="-122"/>
                <a:cs typeface="Times New Roman" panose="02020603050405020304" pitchFamily="18" charset="0"/>
              </a:rPr>
              <a:t>CPM</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和</a:t>
            </a:r>
            <a:r>
              <a:rPr lang="en-US" altLang="en-US" sz="3600" u="none" dirty="0">
                <a:solidFill>
                  <a:srgbClr val="0000FF"/>
                </a:solidFill>
                <a:ea typeface="楷体" panose="02010609060101010101" pitchFamily="49" charset="-122"/>
                <a:cs typeface="Times New Roman" panose="02020603050405020304" pitchFamily="18" charset="0"/>
              </a:rPr>
              <a:t>PERT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这两项技术的基础上迅速发展起来的，通过融合后来发展起来的工作分解结构（</a:t>
            </a:r>
            <a:r>
              <a:rPr lang="en-US" altLang="en-US" sz="3600" u="none" dirty="0">
                <a:solidFill>
                  <a:srgbClr val="0000FF"/>
                </a:solidFill>
                <a:ea typeface="楷体" panose="02010609060101010101" pitchFamily="49" charset="-122"/>
                <a:cs typeface="Times New Roman" panose="02020603050405020304" pitchFamily="18" charset="0"/>
              </a:rPr>
              <a:t>WBS</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）、蒙特卡罗统计模拟方法（</a:t>
            </a:r>
            <a:r>
              <a:rPr lang="en-US" altLang="en-US" sz="3600" u="none" dirty="0">
                <a:solidFill>
                  <a:srgbClr val="0000FF"/>
                </a:solidFill>
                <a:ea typeface="楷体" panose="02010609060101010101" pitchFamily="49" charset="-122"/>
                <a:cs typeface="Times New Roman" panose="02020603050405020304" pitchFamily="18" charset="0"/>
              </a:rPr>
              <a:t>MCS</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）和挣值（</a:t>
            </a:r>
            <a:r>
              <a:rPr lang="en-US" altLang="en-US" sz="3600" u="none" dirty="0">
                <a:solidFill>
                  <a:srgbClr val="0000FF"/>
                </a:solidFill>
                <a:ea typeface="楷体" panose="02010609060101010101" pitchFamily="49" charset="-122"/>
                <a:cs typeface="Times New Roman" panose="02020603050405020304" pitchFamily="18" charset="0"/>
              </a:rPr>
              <a:t>EV</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）分析技术，</a:t>
            </a:r>
            <a:r>
              <a:rPr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形成了一门关于项目资金、时间、人力等资源控制的管理科学</a:t>
            </a:r>
            <a:r>
              <a:rPr lang="zh-CN" altLang="en-US" sz="32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p>
        </p:txBody>
      </p:sp>
      <p:sp>
        <p:nvSpPr>
          <p:cNvPr id="2867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P.9</a:t>
            </a:r>
          </a:p>
        </p:txBody>
      </p:sp>
      <p:sp>
        <p:nvSpPr>
          <p:cNvPr id="28679" name="Rectangle 10"/>
          <p:cNvSpPr>
            <a:spLocks noChangeArrowheads="1"/>
          </p:cNvSpPr>
          <p:nvPr/>
        </p:nvSpPr>
        <p:spPr bwMode="auto">
          <a:xfrm>
            <a:off x="107950" y="620713"/>
            <a:ext cx="6696298" cy="553998"/>
          </a:xfrm>
          <a:prstGeom prst="rect">
            <a:avLst/>
          </a:prstGeom>
          <a:noFill/>
          <a:ln w="9525">
            <a:noFill/>
            <a:miter lim="800000"/>
          </a:ln>
        </p:spPr>
        <p:txBody>
          <a:bodyPr wrap="square">
            <a:spAutoFit/>
          </a:bodyPr>
          <a:lstStyle/>
          <a:p>
            <a:pPr algn="l"/>
            <a:r>
              <a:rPr kumimoji="0" lang="zh-CN" altLang="en-US" sz="3000" u="none" dirty="0">
                <a:ea typeface="楷体" panose="02010609060101010101" pitchFamily="49" charset="-122"/>
              </a:rPr>
              <a:t>从起源理解项目管理的含义</a:t>
            </a:r>
            <a:endParaRPr kumimoji="0" lang="en-US" altLang="en-US" sz="3000" u="none" dirty="0">
              <a:ea typeface="楷体" panose="02010609060101010101" pitchFamily="49" charset="-122"/>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9"/>
          <p:cNvSpPr>
            <a:spLocks noGrp="1" noChangeArrowheads="1"/>
          </p:cNvSpPr>
          <p:nvPr>
            <p:ph type="sldNum" sz="quarter" idx="10"/>
          </p:nvPr>
        </p:nvSpPr>
        <p:spPr>
          <a:noFill/>
        </p:spPr>
        <p:txBody>
          <a:bodyPr/>
          <a:lstStyle/>
          <a:p>
            <a:r>
              <a:rPr lang="zh-CN" altLang="en-GB"/>
              <a:t>  </a:t>
            </a:r>
            <a:fld id="{2E70FD56-E1EC-4C87-8E5F-3931F761234A}" type="slidenum">
              <a:rPr lang="zh-CN" altLang="en-GB" smtClean="0"/>
              <a:t>4</a:t>
            </a:fld>
            <a:endParaRPr lang="en-US" altLang="zh-CN"/>
          </a:p>
        </p:txBody>
      </p:sp>
      <p:sp>
        <p:nvSpPr>
          <p:cNvPr id="3072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492547" name="Text Box 3"/>
          <p:cNvSpPr txBox="1">
            <a:spLocks noChangeArrowheads="1"/>
          </p:cNvSpPr>
          <p:nvPr/>
        </p:nvSpPr>
        <p:spPr bwMode="auto">
          <a:xfrm>
            <a:off x="142844" y="1857364"/>
            <a:ext cx="8569325" cy="3799840"/>
          </a:xfrm>
          <a:prstGeom prst="rect">
            <a:avLst/>
          </a:prstGeom>
          <a:noFill/>
          <a:ln w="28575">
            <a:noFill/>
            <a:miter lim="800000"/>
          </a:ln>
        </p:spPr>
        <p:txBody>
          <a:bodyPr>
            <a:spAutoFit/>
          </a:bodyPr>
          <a:lstStyle/>
          <a:p>
            <a:pPr lvl="1" algn="l">
              <a:spcBef>
                <a:spcPts val="1200"/>
              </a:spcBef>
              <a:spcAft>
                <a:spcPts val="600"/>
              </a:spcAft>
              <a:buClr>
                <a:srgbClr val="C00000"/>
              </a:buClr>
              <a:buFont typeface="Wingdings" panose="05000000000000000000" pitchFamily="2" charset="2"/>
              <a:buChar char="n"/>
            </a:pP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项目管理就是将知识、技能、工具与技术应用于项目活动，以满足项目的要求。</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rgbClr val="C00000"/>
              </a:buClr>
              <a:buFont typeface="Wingdings" panose="05000000000000000000" pitchFamily="2" charset="2"/>
              <a:buChar char="n"/>
            </a:pP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项目管理是通过合理运用和整合项目管理过程得以实现。</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rgbClr val="C00000"/>
              </a:buClr>
              <a:buFont typeface="Wingdings" panose="05000000000000000000" pitchFamily="2" charset="2"/>
              <a:buChar char="n"/>
            </a:pP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可以根据逻辑关系，把项目管理的</a:t>
            </a:r>
            <a:r>
              <a:rPr 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47</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个过程归类成</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启动、规划、执行、监控和收尾五大过程组</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1200"/>
              </a:spcBef>
              <a:spcAft>
                <a:spcPts val="600"/>
              </a:spcAft>
              <a:buClr>
                <a:srgbClr val="C00000"/>
              </a:buClr>
              <a:buFont typeface="Wingdings" panose="05000000000000000000" pitchFamily="2" charset="2"/>
              <a:buChar char="n"/>
            </a:pP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项目经理</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是负责实现项目目标的个人。</a:t>
            </a:r>
            <a:endPar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0725"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P.10</a:t>
            </a:r>
          </a:p>
        </p:txBody>
      </p:sp>
      <p:sp>
        <p:nvSpPr>
          <p:cNvPr id="30726" name="Rectangle 6"/>
          <p:cNvSpPr>
            <a:spLocks noChangeArrowheads="1"/>
          </p:cNvSpPr>
          <p:nvPr/>
        </p:nvSpPr>
        <p:spPr bwMode="auto">
          <a:xfrm>
            <a:off x="107950" y="620713"/>
            <a:ext cx="5543550" cy="553998"/>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PMI</a:t>
            </a:r>
            <a:r>
              <a:rPr kumimoji="0" lang="zh-CN" altLang="en-US" sz="3000" u="none" dirty="0">
                <a:ea typeface="楷体" panose="02010609060101010101" pitchFamily="49" charset="-122"/>
              </a:rPr>
              <a:t>对项目管理的定义</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25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254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254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9"/>
          <p:cNvSpPr>
            <a:spLocks noGrp="1" noChangeArrowheads="1"/>
          </p:cNvSpPr>
          <p:nvPr>
            <p:ph type="sldNum" sz="quarter" idx="10"/>
          </p:nvPr>
        </p:nvSpPr>
        <p:spPr>
          <a:noFill/>
        </p:spPr>
        <p:txBody>
          <a:bodyPr/>
          <a:lstStyle/>
          <a:p>
            <a:r>
              <a:rPr lang="zh-CN" altLang="en-GB"/>
              <a:t>  </a:t>
            </a:r>
            <a:fld id="{E2C377B0-DFCD-4410-B22F-3C37E98283EB}" type="slidenum">
              <a:rPr lang="zh-CN" altLang="en-GB" smtClean="0"/>
              <a:t>5</a:t>
            </a:fld>
            <a:endParaRPr lang="en-US" altLang="zh-CN"/>
          </a:p>
        </p:txBody>
      </p:sp>
      <p:sp>
        <p:nvSpPr>
          <p:cNvPr id="327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a:p>
        </p:txBody>
      </p:sp>
      <p:sp>
        <p:nvSpPr>
          <p:cNvPr id="32772" name="Text Box 3"/>
          <p:cNvSpPr txBox="1">
            <a:spLocks noChangeArrowheads="1"/>
          </p:cNvSpPr>
          <p:nvPr/>
        </p:nvSpPr>
        <p:spPr bwMode="auto">
          <a:xfrm>
            <a:off x="107504" y="1412776"/>
            <a:ext cx="3384550" cy="586105"/>
          </a:xfrm>
          <a:prstGeom prst="rect">
            <a:avLst/>
          </a:prstGeom>
          <a:noFill/>
          <a:ln w="28575">
            <a:noFill/>
            <a:miter lim="800000"/>
          </a:ln>
        </p:spPr>
        <p:txBody>
          <a:bodyPr>
            <a:spAutoFit/>
          </a:bodyPr>
          <a:lstStyle/>
          <a:p>
            <a:pPr marL="457200" indent="-457200" algn="l">
              <a:lnSpc>
                <a:spcPct val="115000"/>
              </a:lnSpc>
              <a:spcBef>
                <a:spcPct val="50000"/>
              </a:spcBef>
              <a:buClr>
                <a:srgbClr val="C00000"/>
              </a:buClr>
            </a:pPr>
            <a:r>
              <a:rPr kumimoji="0" lang="en-US" altLang="zh-CN" u="none" dirty="0">
                <a:solidFill>
                  <a:srgbClr val="FF0000"/>
                </a:solidFill>
                <a:ea typeface="黑体" panose="02010609060101010101" pitchFamily="2" charset="-122"/>
              </a:rPr>
              <a:t>PMI&amp;PMBOK</a:t>
            </a:r>
          </a:p>
        </p:txBody>
      </p:sp>
      <p:sp>
        <p:nvSpPr>
          <p:cNvPr id="32773" name="Text Box 5"/>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P.12</a:t>
            </a:r>
          </a:p>
        </p:txBody>
      </p:sp>
      <p:sp>
        <p:nvSpPr>
          <p:cNvPr id="32774" name="Text Box 6"/>
          <p:cNvSpPr txBox="1">
            <a:spLocks noChangeArrowheads="1"/>
          </p:cNvSpPr>
          <p:nvPr/>
        </p:nvSpPr>
        <p:spPr bwMode="auto">
          <a:xfrm>
            <a:off x="71438" y="2837254"/>
            <a:ext cx="9072594" cy="1814830"/>
          </a:xfrm>
          <a:prstGeom prst="rect">
            <a:avLst/>
          </a:prstGeom>
          <a:noFill/>
          <a:ln w="9525">
            <a:noFill/>
            <a:miter lim="800000"/>
          </a:ln>
        </p:spPr>
        <p:txBody>
          <a:bodyPr wrap="square">
            <a:spAutoFit/>
          </a:bodyPr>
          <a:lstStyle/>
          <a:p>
            <a:pPr algn="l">
              <a:spcBef>
                <a:spcPts val="600"/>
              </a:spcBef>
              <a:spcAft>
                <a:spcPts val="600"/>
              </a:spcAft>
            </a:pPr>
            <a:r>
              <a:rPr lang="en-US" u="none" dirty="0">
                <a:solidFill>
                  <a:schemeClr val="bg2"/>
                </a:solidFill>
                <a:ea typeface="楷体" panose="02010609060101010101" pitchFamily="49" charset="-122"/>
                <a:cs typeface="Times New Roman" panose="02020603050405020304" pitchFamily="18" charset="0"/>
              </a:rPr>
              <a:t>PMI</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于</a:t>
            </a:r>
            <a:r>
              <a:rPr lang="en-US" u="none" dirty="0">
                <a:solidFill>
                  <a:srgbClr val="0000FF"/>
                </a:solidFill>
                <a:ea typeface="楷体" panose="02010609060101010101" pitchFamily="49" charset="-122"/>
                <a:cs typeface="Times New Roman" panose="02020603050405020304" pitchFamily="18" charset="0"/>
              </a:rPr>
              <a:t>201</a:t>
            </a:r>
            <a:r>
              <a:rPr lang="en-US" altLang="zh-CN" u="none" dirty="0">
                <a:solidFill>
                  <a:srgbClr val="0000FF"/>
                </a:solidFill>
                <a:ea typeface="楷体" panose="02010609060101010101" pitchFamily="49" charset="-122"/>
                <a:cs typeface="Times New Roman" panose="02020603050405020304" pitchFamily="18" charset="0"/>
              </a:rPr>
              <a:t>6</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年发布的</a:t>
            </a:r>
            <a:r>
              <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u="none" dirty="0">
                <a:solidFill>
                  <a:srgbClr val="0000FF"/>
                </a:solidFill>
                <a:latin typeface="楷体" panose="02010609060101010101" pitchFamily="49" charset="-122"/>
                <a:ea typeface="楷体" panose="02010609060101010101" pitchFamily="49" charset="-122"/>
                <a:cs typeface="楷体" panose="02010609060101010101" pitchFamily="49" charset="-122"/>
              </a:rPr>
              <a:t>项目管理知识体系指南（第</a:t>
            </a:r>
            <a:r>
              <a:rPr lang="en-US" altLang="zh-CN" u="none" dirty="0">
                <a:solidFill>
                  <a:srgbClr val="0000FF"/>
                </a:solidFill>
                <a:ea typeface="楷体" panose="02010609060101010101" pitchFamily="49" charset="-122"/>
                <a:cs typeface="Times New Roman" panose="02020603050405020304" pitchFamily="18" charset="0"/>
              </a:rPr>
              <a:t>6</a:t>
            </a:r>
            <a:r>
              <a:rPr lang="zh-CN" altLang="en-US" u="none" dirty="0">
                <a:solidFill>
                  <a:srgbClr val="0000FF"/>
                </a:solidFill>
                <a:latin typeface="楷体" panose="02010609060101010101" pitchFamily="49" charset="-122"/>
                <a:ea typeface="楷体" panose="02010609060101010101" pitchFamily="49" charset="-122"/>
                <a:cs typeface="楷体" panose="02010609060101010101" pitchFamily="49" charset="-122"/>
              </a:rPr>
              <a:t>版）</a:t>
            </a:r>
            <a:r>
              <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把项目管理划分为</a:t>
            </a:r>
            <a:r>
              <a:rPr lang="en-US" u="none" dirty="0">
                <a:solidFill>
                  <a:schemeClr val="bg2"/>
                </a:solidFill>
                <a:ea typeface="楷体" panose="02010609060101010101" pitchFamily="49" charset="-122"/>
                <a:cs typeface="Times New Roman" panose="02020603050405020304" pitchFamily="18" charset="0"/>
              </a:rPr>
              <a:t>10</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大知识领域和</a:t>
            </a:r>
            <a:r>
              <a:rPr lang="en-US" u="none" dirty="0">
                <a:solidFill>
                  <a:schemeClr val="bg2"/>
                </a:solidFill>
                <a:ea typeface="楷体" panose="02010609060101010101" pitchFamily="49" charset="-122"/>
                <a:cs typeface="Times New Roman" panose="02020603050405020304" pitchFamily="18" charset="0"/>
              </a:rPr>
              <a:t>47</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个项目管理过程，包括</a:t>
            </a:r>
            <a:r>
              <a:rPr lang="en-US" u="none" dirty="0">
                <a:solidFill>
                  <a:srgbClr val="FF0000"/>
                </a:solidFill>
                <a:ea typeface="楷体" panose="02010609060101010101" pitchFamily="49" charset="-122"/>
                <a:cs typeface="Times New Roman" panose="02020603050405020304" pitchFamily="18" charset="0"/>
              </a:rPr>
              <a:t>4</a:t>
            </a:r>
            <a:r>
              <a:rPr lang="zh-CN" altLang="en-US"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个核心知识领域、</a:t>
            </a:r>
            <a:r>
              <a:rPr lang="en-US" altLang="en-US" u="none" dirty="0">
                <a:solidFill>
                  <a:srgbClr val="FF0000"/>
                </a:solidFill>
                <a:ea typeface="楷体" panose="02010609060101010101" pitchFamily="49" charset="-122"/>
                <a:cs typeface="Times New Roman" panose="02020603050405020304" pitchFamily="18" charset="0"/>
              </a:rPr>
              <a:t>5</a:t>
            </a:r>
            <a:r>
              <a:rPr lang="zh-CN" altLang="en-US"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个辅助知识领域以及项目整合管理</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32775" name="Rectangle 7"/>
          <p:cNvSpPr>
            <a:spLocks noChangeArrowheads="1"/>
          </p:cNvSpPr>
          <p:nvPr/>
        </p:nvSpPr>
        <p:spPr bwMode="auto">
          <a:xfrm>
            <a:off x="107950" y="620713"/>
            <a:ext cx="5543550" cy="553998"/>
          </a:xfrm>
          <a:prstGeom prst="rect">
            <a:avLst/>
          </a:prstGeom>
          <a:noFill/>
          <a:ln w="9525">
            <a:noFill/>
            <a:miter lim="800000"/>
          </a:ln>
        </p:spPr>
        <p:txBody>
          <a:bodyPr>
            <a:spAutoFit/>
          </a:bodyPr>
          <a:lstStyle/>
          <a:p>
            <a:pPr algn="l"/>
            <a:r>
              <a:rPr kumimoji="0" lang="en-US" altLang="en-US" sz="3000" u="none" dirty="0" err="1">
                <a:ea typeface="楷体" panose="02010609060101010101" pitchFamily="49" charset="-122"/>
              </a:rPr>
              <a:t>项目管理</a:t>
            </a:r>
            <a:r>
              <a:rPr kumimoji="0" lang="zh-CN" altLang="en-US" sz="3000" u="none" dirty="0">
                <a:ea typeface="楷体" panose="02010609060101010101" pitchFamily="49" charset="-122"/>
              </a:rPr>
              <a:t>组织及其知识体系</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9"/>
          <p:cNvSpPr>
            <a:spLocks noGrp="1" noChangeArrowheads="1"/>
          </p:cNvSpPr>
          <p:nvPr>
            <p:ph type="sldNum" sz="quarter" idx="10"/>
          </p:nvPr>
        </p:nvSpPr>
        <p:spPr>
          <a:noFill/>
        </p:spPr>
        <p:txBody>
          <a:bodyPr/>
          <a:lstStyle/>
          <a:p>
            <a:r>
              <a:rPr lang="zh-CN" altLang="en-GB"/>
              <a:t>  </a:t>
            </a:r>
            <a:fld id="{069FA327-6C2E-4266-BF02-677161058C99}" type="slidenum">
              <a:rPr lang="zh-CN" altLang="en-GB" smtClean="0"/>
              <a:t>6</a:t>
            </a:fld>
            <a:endParaRPr lang="en-US" altLang="zh-CN"/>
          </a:p>
        </p:txBody>
      </p:sp>
      <p:sp>
        <p:nvSpPr>
          <p:cNvPr id="68611"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a:solidFill>
                  <a:schemeClr val="bg2"/>
                </a:solidFill>
              </a:rPr>
              <a:t>P.31</a:t>
            </a:r>
          </a:p>
        </p:txBody>
      </p:sp>
      <p:sp>
        <p:nvSpPr>
          <p:cNvPr id="68612" name="Text Box 4"/>
          <p:cNvSpPr txBox="1">
            <a:spLocks noChangeArrowheads="1"/>
          </p:cNvSpPr>
          <p:nvPr/>
        </p:nvSpPr>
        <p:spPr bwMode="auto">
          <a:xfrm>
            <a:off x="142844" y="1628800"/>
            <a:ext cx="8858280" cy="4399915"/>
          </a:xfrm>
          <a:prstGeom prst="rect">
            <a:avLst/>
          </a:prstGeom>
          <a:noFill/>
          <a:ln w="9525">
            <a:noFill/>
            <a:miter lim="800000"/>
          </a:ln>
        </p:spPr>
        <p:txBody>
          <a:bodyPr wrap="square">
            <a:spAutoFit/>
          </a:bodyPr>
          <a:lstStyle/>
          <a:p>
            <a:pPr algn="just">
              <a:spcBef>
                <a:spcPts val="1200"/>
              </a:spcBef>
              <a:spcAft>
                <a:spcPts val="1200"/>
              </a:spcAft>
              <a:buClr>
                <a:schemeClr val="bg1"/>
              </a:buClr>
            </a:pPr>
            <a:r>
              <a:rPr lang="zh-CN" altLang="en-US" u="none" dirty="0">
                <a:solidFill>
                  <a:schemeClr val="bg2"/>
                </a:solidFill>
                <a:latin typeface="楷体" panose="02010609060101010101" pitchFamily="49" charset="-122"/>
                <a:ea typeface="楷体" panose="02010609060101010101" pitchFamily="49" charset="-122"/>
              </a:rPr>
              <a:t>软件产品能否满足用户的需求，并在预定的费用、进度、时间和质量要求内交付产品仍然难以预料和控制。</a:t>
            </a:r>
            <a:endParaRPr lang="en-US" altLang="zh-CN" u="none" dirty="0">
              <a:solidFill>
                <a:schemeClr val="bg2"/>
              </a:solidFill>
              <a:latin typeface="楷体" panose="02010609060101010101" pitchFamily="49" charset="-122"/>
              <a:ea typeface="楷体" panose="02010609060101010101" pitchFamily="49" charset="-122"/>
            </a:endParaRPr>
          </a:p>
          <a:p>
            <a:pPr algn="just">
              <a:spcBef>
                <a:spcPts val="1200"/>
              </a:spcBef>
              <a:spcAft>
                <a:spcPts val="1200"/>
              </a:spcAft>
              <a:buClr>
                <a:schemeClr val="bg1"/>
              </a:buClr>
            </a:pPr>
            <a:r>
              <a:rPr lang="zh-CN" altLang="en-US" u="none" dirty="0">
                <a:solidFill>
                  <a:schemeClr val="bg2"/>
                </a:solidFill>
                <a:latin typeface="楷体" panose="02010609060101010101" pitchFamily="49" charset="-122"/>
                <a:ea typeface="楷体" panose="02010609060101010101" pitchFamily="49" charset="-122"/>
              </a:rPr>
              <a:t>这种状况对软件开发者、系统使用者和项目管理者都是严峻挑战。</a:t>
            </a:r>
            <a:endParaRPr lang="en-US" altLang="zh-CN" u="none" dirty="0">
              <a:solidFill>
                <a:schemeClr val="bg2"/>
              </a:solidFill>
              <a:latin typeface="楷体" panose="02010609060101010101" pitchFamily="49" charset="-122"/>
              <a:ea typeface="楷体" panose="02010609060101010101" pitchFamily="49" charset="-122"/>
            </a:endParaRPr>
          </a:p>
          <a:p>
            <a:pPr algn="just">
              <a:spcBef>
                <a:spcPts val="1200"/>
              </a:spcBef>
              <a:spcAft>
                <a:spcPts val="1200"/>
              </a:spcAft>
              <a:buClr>
                <a:schemeClr val="bg1"/>
              </a:buClr>
            </a:pPr>
            <a:r>
              <a:rPr lang="zh-CN" altLang="en-US" sz="3200" u="none" dirty="0">
                <a:solidFill>
                  <a:schemeClr val="bg2"/>
                </a:solidFill>
                <a:latin typeface="楷体" panose="02010609060101010101" pitchFamily="49" charset="-122"/>
                <a:ea typeface="楷体" panose="02010609060101010101" pitchFamily="49" charset="-122"/>
              </a:rPr>
              <a:t>根据对软件和软件项目特点的分析，</a:t>
            </a:r>
            <a:r>
              <a:rPr lang="zh-CN" altLang="en-US" sz="3200" u="none" dirty="0">
                <a:solidFill>
                  <a:srgbClr val="0000FF"/>
                </a:solidFill>
                <a:latin typeface="楷体" panose="02010609060101010101" pitchFamily="49" charset="-122"/>
                <a:ea typeface="楷体" panose="02010609060101010101" pitchFamily="49" charset="-122"/>
              </a:rPr>
              <a:t>软件项目管理的重点包括人员的组织与管理、软件度量、软件项目计划、风险管理、软件质量保证、软件过程能力评估和软件配置管理等几个方面。</a:t>
            </a:r>
          </a:p>
        </p:txBody>
      </p:sp>
      <p:sp>
        <p:nvSpPr>
          <p:cNvPr id="68613" name="Rectangle 5"/>
          <p:cNvSpPr>
            <a:spLocks noChangeArrowheads="1"/>
          </p:cNvSpPr>
          <p:nvPr/>
        </p:nvSpPr>
        <p:spPr bwMode="auto">
          <a:xfrm>
            <a:off x="107950" y="620713"/>
            <a:ext cx="5543550" cy="553998"/>
          </a:xfrm>
          <a:prstGeom prst="rect">
            <a:avLst/>
          </a:prstGeom>
          <a:noFill/>
          <a:ln w="9525">
            <a:noFill/>
            <a:miter lim="800000"/>
          </a:ln>
        </p:spPr>
        <p:txBody>
          <a:bodyPr>
            <a:spAutoFit/>
          </a:bodyPr>
          <a:lstStyle/>
          <a:p>
            <a:pPr algn="l"/>
            <a:r>
              <a:rPr kumimoji="0" lang="en-US" altLang="en-US" sz="3000" u="none" dirty="0" err="1">
                <a:ea typeface="楷体" panose="02010609060101010101" pitchFamily="49" charset="-122"/>
              </a:rPr>
              <a:t>软件</a:t>
            </a:r>
            <a:r>
              <a:rPr kumimoji="0" lang="zh-CN" altLang="en-US" sz="3000" u="none" dirty="0">
                <a:ea typeface="楷体" panose="02010609060101010101" pitchFamily="49" charset="-122"/>
              </a:rPr>
              <a:t>特点及软件</a:t>
            </a:r>
            <a:r>
              <a:rPr kumimoji="0" lang="en-US" altLang="en-US" sz="3000" u="none" dirty="0" err="1">
                <a:ea typeface="楷体" panose="02010609060101010101" pitchFamily="49" charset="-122"/>
              </a:rPr>
              <a:t>项目管理</a:t>
            </a:r>
            <a:r>
              <a:rPr kumimoji="0" lang="zh-CN" altLang="en-US" sz="3000" u="none" dirty="0">
                <a:ea typeface="楷体" panose="02010609060101010101" pitchFamily="49" charset="-122"/>
              </a:rPr>
              <a:t>重点</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61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6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9"/>
          <p:cNvSpPr>
            <a:spLocks noGrp="1" noChangeArrowheads="1"/>
          </p:cNvSpPr>
          <p:nvPr>
            <p:ph type="sldNum" sz="quarter" idx="10"/>
          </p:nvPr>
        </p:nvSpPr>
        <p:spPr>
          <a:noFill/>
        </p:spPr>
        <p:txBody>
          <a:bodyPr/>
          <a:lstStyle/>
          <a:p>
            <a:r>
              <a:rPr lang="zh-CN" altLang="en-GB" dirty="0"/>
              <a:t>  </a:t>
            </a:r>
            <a:fld id="{8AC4C36F-4B0A-4984-9172-6457FD51BD2B}" type="slidenum">
              <a:rPr lang="zh-CN" altLang="en-GB" smtClean="0"/>
              <a:t>7</a:t>
            </a:fld>
            <a:endParaRPr lang="en-US" altLang="zh-CN" dirty="0"/>
          </a:p>
        </p:txBody>
      </p:sp>
      <p:sp>
        <p:nvSpPr>
          <p:cNvPr id="61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614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6149" name="Text Box 4"/>
          <p:cNvSpPr txBox="1">
            <a:spLocks noChangeArrowheads="1"/>
          </p:cNvSpPr>
          <p:nvPr/>
        </p:nvSpPr>
        <p:spPr bwMode="auto">
          <a:xfrm>
            <a:off x="179418" y="1585926"/>
            <a:ext cx="8821738" cy="3802380"/>
          </a:xfrm>
          <a:prstGeom prst="rect">
            <a:avLst/>
          </a:prstGeom>
          <a:noFill/>
          <a:ln w="28575">
            <a:noFill/>
            <a:miter lim="800000"/>
          </a:ln>
        </p:spPr>
        <p:txBody>
          <a:bodyPr>
            <a:spAutoFit/>
          </a:bodyPr>
          <a:lstStyle/>
          <a:p>
            <a:pPr algn="just">
              <a:spcBef>
                <a:spcPct val="35000"/>
              </a:spcBef>
              <a:buClr>
                <a:schemeClr val="hlink"/>
              </a:buClr>
            </a:pP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项目和项目管理是在一个</a:t>
            </a: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大于项目本身的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环境</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中进行的</a:t>
            </a:r>
            <a:r>
              <a:rPr kumimoji="0"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just">
              <a:spcBef>
                <a:spcPct val="35000"/>
              </a:spcBef>
              <a:buClr>
                <a:schemeClr val="hlink"/>
              </a:buClr>
            </a:pPr>
            <a:endParaRPr kumimoji="0"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ct val="35000"/>
              </a:spcBef>
              <a:buClr>
                <a:schemeClr val="hlink"/>
              </a:buClr>
            </a:pP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熟悉组织环境、运用系统原理、掌握项目阶段、理解项目组织、控制项目过程是项目成功的基础保证。</a:t>
            </a:r>
          </a:p>
        </p:txBody>
      </p:sp>
      <p:sp>
        <p:nvSpPr>
          <p:cNvPr id="6150"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P.34</a:t>
            </a:r>
          </a:p>
        </p:txBody>
      </p:sp>
      <p:sp>
        <p:nvSpPr>
          <p:cNvPr id="6151"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a:t>
            </a:r>
            <a:r>
              <a:rPr kumimoji="0" lang="zh-CN" altLang="en-US" sz="3000" u="none" dirty="0">
                <a:ea typeface="楷体" panose="02010609060101010101" pitchFamily="49" charset="-122"/>
              </a:rPr>
              <a:t>本章知识要点</a:t>
            </a:r>
            <a:r>
              <a:rPr kumimoji="0" lang="en-US" altLang="zh-CN" sz="3000" u="none" dirty="0">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9"/>
          <p:cNvSpPr>
            <a:spLocks noGrp="1" noChangeArrowheads="1"/>
          </p:cNvSpPr>
          <p:nvPr>
            <p:ph type="sldNum" sz="quarter" idx="10"/>
          </p:nvPr>
        </p:nvSpPr>
        <p:spPr>
          <a:noFill/>
        </p:spPr>
        <p:txBody>
          <a:bodyPr/>
          <a:lstStyle/>
          <a:p>
            <a:r>
              <a:rPr lang="zh-CN" altLang="en-GB" dirty="0"/>
              <a:t>  </a:t>
            </a:r>
            <a:fld id="{67F125A8-E418-4886-AC10-791B2F6E3422}" type="slidenum">
              <a:rPr lang="zh-CN" altLang="en-GB" smtClean="0"/>
              <a:t>8</a:t>
            </a:fld>
            <a:endParaRPr lang="en-US" altLang="zh-CN" dirty="0"/>
          </a:p>
        </p:txBody>
      </p:sp>
      <p:sp>
        <p:nvSpPr>
          <p:cNvPr id="71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172"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7173" name="Text Box 4"/>
          <p:cNvSpPr txBox="1">
            <a:spLocks noChangeArrowheads="1"/>
          </p:cNvSpPr>
          <p:nvPr/>
        </p:nvSpPr>
        <p:spPr bwMode="auto">
          <a:xfrm>
            <a:off x="431801" y="1400175"/>
            <a:ext cx="7426348" cy="4739005"/>
          </a:xfrm>
          <a:prstGeom prst="rect">
            <a:avLst/>
          </a:prstGeom>
          <a:noFill/>
          <a:ln w="28575">
            <a:noFill/>
            <a:miter lim="800000"/>
          </a:ln>
        </p:spPr>
        <p:txBody>
          <a:bodyPr wrap="square">
            <a:spAutoFit/>
          </a:bodyPr>
          <a:lstStyle/>
          <a:p>
            <a:pPr algn="l">
              <a:buClr>
                <a:schemeClr val="hlink"/>
              </a:buClr>
            </a:pP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学习完本章后，应当掌握如下知识</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1</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）组织的环境和组织环境的特征。</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2</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）战略计划与项目的选择。</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3</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）项目管理的系统原理与方法。</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4</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）项目阶段特征与项目生命周期。</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5</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）项目组织的特征、结构与设计原则。</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6</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）组织文化对项目组织的影响。</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7</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）项目过程组的过程、任务与成果。</a:t>
            </a: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zh-CN" sz="2400" u="none" dirty="0">
                <a:solidFill>
                  <a:schemeClr val="bg2"/>
                </a:solidFill>
                <a:ea typeface="楷体" panose="02010609060101010101" pitchFamily="49" charset="-122"/>
                <a:cs typeface="Times New Roman" panose="02020603050405020304" pitchFamily="18" charset="0"/>
              </a:rPr>
              <a:t>8</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）项目过程组之间的活动强度与交叠关系。</a:t>
            </a:r>
            <a:endParaRPr kumimoji="0" lang="en-US" altLang="zh-CN" sz="24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ct val="25000"/>
              </a:spcBef>
            </a:pP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en-US" altLang="en-US" sz="2400" u="none" dirty="0">
                <a:solidFill>
                  <a:schemeClr val="bg2"/>
                </a:solidFill>
                <a:ea typeface="楷体" panose="02010609060101010101" pitchFamily="49" charset="-122"/>
                <a:cs typeface="Times New Roman" panose="02020603050405020304" pitchFamily="18" charset="0"/>
              </a:rPr>
              <a:t>9</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IT</a:t>
            </a:r>
            <a:r>
              <a:rPr kumimoji="0"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项目管理的最佳实践模型。</a:t>
            </a:r>
          </a:p>
        </p:txBody>
      </p:sp>
      <p:sp>
        <p:nvSpPr>
          <p:cNvPr id="7174"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P.34</a:t>
            </a:r>
          </a:p>
        </p:txBody>
      </p:sp>
      <p:sp>
        <p:nvSpPr>
          <p:cNvPr id="7175" name="Rectangle 9"/>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a:t>
            </a:r>
            <a:r>
              <a:rPr kumimoji="0" lang="zh-CN" altLang="en-US" sz="3000" u="none" dirty="0">
                <a:ea typeface="楷体" panose="02010609060101010101" pitchFamily="49" charset="-122"/>
              </a:rPr>
              <a:t>本章知识要点</a:t>
            </a:r>
            <a:r>
              <a:rPr kumimoji="0" lang="en-US" altLang="zh-CN" sz="3000" u="none" dirty="0">
                <a:ea typeface="楷体" panose="02010609060101010101"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17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9</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357290" y="1333577"/>
            <a:ext cx="5715009" cy="4615815"/>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5400" u="none" dirty="0">
                <a:solidFill>
                  <a:srgbClr val="FF0000"/>
                </a:solidFill>
                <a:latin typeface="楷体" panose="02010609060101010101" pitchFamily="49" charset="-122"/>
                <a:ea typeface="楷体" panose="02010609060101010101" pitchFamily="49" charset="-122"/>
              </a:rPr>
              <a:t>把握组织环境</a:t>
            </a:r>
            <a:endParaRPr lang="en-US" altLang="zh-CN" sz="5400" u="none" dirty="0">
              <a:solidFill>
                <a:srgbClr val="FF0000"/>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掌握系统方法</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熟悉项目阶段</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了解项目组织</a:t>
            </a:r>
            <a:endParaRPr lang="zh-CN"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控制项目过程</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最佳实践模型</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Grp="1" noChangeArrowheads="1"/>
          </p:cNvSpPr>
          <p:nvPr>
            <p:ph type="sldNum" sz="quarter" idx="10"/>
          </p:nvPr>
        </p:nvSpPr>
        <p:spPr>
          <a:noFill/>
        </p:spPr>
        <p:txBody>
          <a:bodyPr/>
          <a:lstStyle/>
          <a:p>
            <a:r>
              <a:rPr lang="zh-CN" altLang="en-GB" dirty="0"/>
              <a:t>  </a:t>
            </a:r>
            <a:fld id="{A0EA704C-F39E-490E-95CF-C8D0F0D59D8D}" type="slidenum">
              <a:rPr lang="zh-CN" altLang="en-GB" smtClean="0"/>
              <a:t>10</a:t>
            </a:fld>
            <a:endParaRPr lang="en-US" altLang="zh-CN" dirty="0"/>
          </a:p>
        </p:txBody>
      </p:sp>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11269" name="Text Box 4"/>
          <p:cNvSpPr txBox="1">
            <a:spLocks noChangeArrowheads="1"/>
          </p:cNvSpPr>
          <p:nvPr/>
        </p:nvSpPr>
        <p:spPr bwMode="auto">
          <a:xfrm>
            <a:off x="107981" y="2000240"/>
            <a:ext cx="8821737" cy="3199765"/>
          </a:xfrm>
          <a:prstGeom prst="rect">
            <a:avLst/>
          </a:prstGeom>
          <a:noFill/>
          <a:ln w="28575">
            <a:noFill/>
            <a:miter lim="800000"/>
          </a:ln>
        </p:spPr>
        <p:txBody>
          <a:bodyPr wrap="square">
            <a:spAutoFit/>
          </a:bodyPr>
          <a:lstStyle/>
          <a:p>
            <a:pPr algn="l">
              <a:spcBef>
                <a:spcPts val="6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rPr>
              <a:t>任何一个组织都不可能离开</a:t>
            </a:r>
            <a:r>
              <a:rPr lang="zh-CN" altLang="en-US" sz="3200" u="none" dirty="0">
                <a:solidFill>
                  <a:schemeClr val="bg1"/>
                </a:solidFill>
                <a:latin typeface="楷体" panose="02010609060101010101" pitchFamily="49" charset="-122"/>
                <a:ea typeface="楷体" panose="02010609060101010101" pitchFamily="49" charset="-122"/>
              </a:rPr>
              <a:t>外部因素和条件</a:t>
            </a:r>
            <a:r>
              <a:rPr lang="zh-CN" altLang="en-US" sz="3200" u="none" dirty="0">
                <a:solidFill>
                  <a:schemeClr val="bg2"/>
                </a:solidFill>
                <a:latin typeface="楷体" panose="02010609060101010101" pitchFamily="49" charset="-122"/>
                <a:ea typeface="楷体" panose="02010609060101010101" pitchFamily="49" charset="-122"/>
              </a:rPr>
              <a:t>独立存在，所有的项目都是在</a:t>
            </a:r>
            <a:r>
              <a:rPr lang="zh-CN" altLang="en-US" sz="3200" u="none" dirty="0">
                <a:solidFill>
                  <a:schemeClr val="bg1"/>
                </a:solidFill>
                <a:latin typeface="楷体" panose="02010609060101010101" pitchFamily="49" charset="-122"/>
                <a:ea typeface="楷体" panose="02010609060101010101" pitchFamily="49" charset="-122"/>
              </a:rPr>
              <a:t>一定的环境背景</a:t>
            </a:r>
            <a:r>
              <a:rPr lang="zh-CN" altLang="en-US" sz="3200" u="none" dirty="0">
                <a:solidFill>
                  <a:schemeClr val="bg2"/>
                </a:solidFill>
                <a:latin typeface="楷体" panose="02010609060101010101" pitchFamily="49" charset="-122"/>
                <a:ea typeface="楷体" panose="02010609060101010101" pitchFamily="49" charset="-122"/>
              </a:rPr>
              <a:t>下规划与实施的，这些因素都会对项目产生积极或消极的影响。</a:t>
            </a:r>
            <a:endParaRPr lang="en-US" altLang="zh-CN" sz="3200" u="none"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rPr>
              <a:t>因此项目团队应该</a:t>
            </a:r>
            <a:r>
              <a:rPr lang="zh-CN" altLang="en-US" sz="3200" u="none" dirty="0">
                <a:solidFill>
                  <a:schemeClr val="bg1"/>
                </a:solidFill>
                <a:latin typeface="楷体" panose="02010609060101010101" pitchFamily="49" charset="-122"/>
                <a:ea typeface="楷体" panose="02010609060101010101" pitchFamily="49" charset="-122"/>
              </a:rPr>
              <a:t>将项目置于其所处的环境</a:t>
            </a:r>
            <a:r>
              <a:rPr lang="zh-CN" altLang="en-US" sz="3200" u="none" dirty="0">
                <a:solidFill>
                  <a:schemeClr val="bg2"/>
                </a:solidFill>
                <a:latin typeface="楷体" panose="02010609060101010101" pitchFamily="49" charset="-122"/>
                <a:ea typeface="楷体" panose="02010609060101010101" pitchFamily="49" charset="-122"/>
              </a:rPr>
              <a:t>及其</a:t>
            </a:r>
            <a:r>
              <a:rPr lang="zh-CN" altLang="en-US" sz="3200" u="none" dirty="0">
                <a:solidFill>
                  <a:schemeClr val="bg1"/>
                </a:solidFill>
                <a:latin typeface="楷体" panose="02010609060101010101" pitchFamily="49" charset="-122"/>
                <a:ea typeface="楷体" panose="02010609060101010101" pitchFamily="49" charset="-122"/>
              </a:rPr>
              <a:t>同这些环境之间的关系</a:t>
            </a:r>
            <a:r>
              <a:rPr lang="zh-CN" altLang="en-US" sz="3200" u="none" dirty="0">
                <a:solidFill>
                  <a:schemeClr val="bg2"/>
                </a:solidFill>
                <a:latin typeface="楷体" panose="02010609060101010101" pitchFamily="49" charset="-122"/>
                <a:ea typeface="楷体" panose="02010609060101010101" pitchFamily="49" charset="-122"/>
              </a:rPr>
              <a:t>中进行考虑</a:t>
            </a:r>
            <a:r>
              <a:rPr lang="zh-CN" altLang="en-US" sz="3200" b="0" u="none" dirty="0">
                <a:solidFill>
                  <a:schemeClr val="bg2"/>
                </a:solidFill>
                <a:latin typeface="楷体" panose="02010609060101010101" pitchFamily="49" charset="-122"/>
                <a:ea typeface="楷体" panose="02010609060101010101" pitchFamily="49" charset="-122"/>
              </a:rPr>
              <a:t>。</a:t>
            </a:r>
          </a:p>
        </p:txBody>
      </p:sp>
      <p:sp>
        <p:nvSpPr>
          <p:cNvPr id="11270"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P.35</a:t>
            </a:r>
          </a:p>
        </p:txBody>
      </p:sp>
      <p:sp>
        <p:nvSpPr>
          <p:cNvPr id="11271" name="Rectangle 7"/>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cs typeface="Times New Roman" panose="02020603050405020304" pitchFamily="18" charset="0"/>
              </a:rPr>
              <a:t>2.1</a:t>
            </a:r>
            <a:r>
              <a:rPr kumimoji="0" lang="en-US" altLang="zh-CN" sz="3000" u="none" dirty="0">
                <a:ea typeface="楷体" panose="02010609060101010101" pitchFamily="49" charset="-122"/>
              </a:rPr>
              <a:t> </a:t>
            </a:r>
            <a:r>
              <a:rPr kumimoji="0" lang="zh-CN" altLang="en-US" sz="3000" u="none" dirty="0">
                <a:latin typeface="楷体" panose="02010609060101010101" pitchFamily="49" charset="-122"/>
                <a:ea typeface="楷体" panose="02010609060101010101" pitchFamily="49" charset="-122"/>
              </a:rPr>
              <a:t>把握组织环境</a:t>
            </a:r>
          </a:p>
        </p:txBody>
      </p:sp>
      <p:sp>
        <p:nvSpPr>
          <p:cNvPr id="11272" name="Rectangle 8"/>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r>
              <a:rPr kumimoji="0" lang="en-US" altLang="en-US" u="none" dirty="0">
                <a:solidFill>
                  <a:srgbClr val="FF0000"/>
                </a:solidFill>
                <a:ea typeface="楷体_GB2312" pitchFamily="49" charset="-122"/>
              </a:rPr>
              <a:t>2.1.1 </a:t>
            </a:r>
            <a:r>
              <a:rPr kumimoji="0" lang="en-US" altLang="en-US" u="none" dirty="0" err="1">
                <a:solidFill>
                  <a:srgbClr val="FF0000"/>
                </a:solidFill>
                <a:latin typeface="楷体" panose="02010609060101010101" pitchFamily="49" charset="-122"/>
                <a:ea typeface="楷体" panose="02010609060101010101" pitchFamily="49" charset="-122"/>
              </a:rPr>
              <a:t>组织环境的概念</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9"/>
          <p:cNvSpPr>
            <a:spLocks noGrp="1" noChangeArrowheads="1"/>
          </p:cNvSpPr>
          <p:nvPr>
            <p:ph type="sldNum" sz="quarter" idx="10"/>
          </p:nvPr>
        </p:nvSpPr>
        <p:spPr>
          <a:noFill/>
        </p:spPr>
        <p:txBody>
          <a:bodyPr/>
          <a:lstStyle/>
          <a:p>
            <a:r>
              <a:rPr lang="zh-CN" altLang="en-GB" dirty="0"/>
              <a:t>  </a:t>
            </a:r>
            <a:fld id="{A0EA704C-F39E-490E-95CF-C8D0F0D59D8D}" type="slidenum">
              <a:rPr lang="zh-CN" altLang="en-GB" smtClean="0"/>
              <a:t>11</a:t>
            </a:fld>
            <a:endParaRPr lang="en-US" altLang="zh-CN" dirty="0"/>
          </a:p>
        </p:txBody>
      </p:sp>
      <p:sp>
        <p:nvSpPr>
          <p:cNvPr id="112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126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11269" name="Text Box 4"/>
          <p:cNvSpPr txBox="1">
            <a:spLocks noChangeArrowheads="1"/>
          </p:cNvSpPr>
          <p:nvPr/>
        </p:nvSpPr>
        <p:spPr bwMode="auto">
          <a:xfrm>
            <a:off x="71406" y="1785926"/>
            <a:ext cx="8858312" cy="3723005"/>
          </a:xfrm>
          <a:prstGeom prst="rect">
            <a:avLst/>
          </a:prstGeom>
          <a:noFill/>
          <a:ln w="28575">
            <a:noFill/>
            <a:miter lim="800000"/>
          </a:ln>
        </p:spPr>
        <p:txBody>
          <a:bodyPr wrap="square">
            <a:spAutoFit/>
          </a:bodyPr>
          <a:lstStyle/>
          <a:p>
            <a:pPr algn="l">
              <a:spcBef>
                <a:spcPts val="600"/>
              </a:spcBef>
              <a:spcAft>
                <a:spcPts val="600"/>
              </a:spcAft>
            </a:pPr>
            <a:r>
              <a:rPr lang="zh-CN" altLang="en-US" u="none" dirty="0">
                <a:solidFill>
                  <a:schemeClr val="bg2"/>
                </a:solidFill>
                <a:latin typeface="楷体" panose="02010609060101010101" pitchFamily="49" charset="-122"/>
                <a:ea typeface="楷体" panose="02010609060101010101" pitchFamily="49" charset="-122"/>
              </a:rPr>
              <a:t>人类通过社会活动，按照一定目的、任务和形式加以编制的</a:t>
            </a:r>
            <a:r>
              <a:rPr lang="zh-CN" altLang="en-US" u="none" dirty="0">
                <a:solidFill>
                  <a:schemeClr val="bg1"/>
                </a:solidFill>
                <a:latin typeface="楷体" panose="02010609060101010101" pitchFamily="49" charset="-122"/>
                <a:ea typeface="楷体" panose="02010609060101010101" pitchFamily="49" charset="-122"/>
              </a:rPr>
              <a:t>群体</a:t>
            </a:r>
            <a:r>
              <a:rPr lang="zh-CN" altLang="en-US" u="none" dirty="0">
                <a:solidFill>
                  <a:schemeClr val="bg2"/>
                </a:solidFill>
                <a:latin typeface="楷体" panose="02010609060101010101" pitchFamily="49" charset="-122"/>
                <a:ea typeface="楷体" panose="02010609060101010101" pitchFamily="49" charset="-122"/>
              </a:rPr>
              <a:t>称为</a:t>
            </a:r>
            <a:r>
              <a:rPr lang="zh-CN" altLang="en-US" u="none" dirty="0">
                <a:solidFill>
                  <a:srgbClr val="0000FF"/>
                </a:solidFill>
                <a:latin typeface="楷体" panose="02010609060101010101" pitchFamily="49" charset="-122"/>
                <a:ea typeface="楷体" panose="02010609060101010101" pitchFamily="49" charset="-122"/>
              </a:rPr>
              <a:t>组织</a:t>
            </a:r>
            <a:r>
              <a:rPr lang="zh-CN" altLang="en-US" u="none" dirty="0">
                <a:solidFill>
                  <a:schemeClr val="bg2"/>
                </a:solidFill>
                <a:latin typeface="楷体" panose="02010609060101010101" pitchFamily="49" charset="-122"/>
                <a:ea typeface="楷体" panose="02010609060101010101" pitchFamily="49" charset="-122"/>
              </a:rPr>
              <a:t>。</a:t>
            </a:r>
            <a:endParaRPr lang="en-US" altLang="zh-CN" u="none" dirty="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pPr>
            <a:r>
              <a:rPr lang="zh-CN" altLang="en-US" u="none" dirty="0">
                <a:solidFill>
                  <a:schemeClr val="bg2"/>
                </a:solidFill>
                <a:latin typeface="楷体" panose="02010609060101010101" pitchFamily="49" charset="-122"/>
                <a:ea typeface="楷体" panose="02010609060101010101" pitchFamily="49" charset="-122"/>
              </a:rPr>
              <a:t>而存在于组织外部，和组织密切联系，决定组织存在和发展的</a:t>
            </a:r>
            <a:r>
              <a:rPr lang="zh-CN" altLang="en-US" u="none" dirty="0">
                <a:solidFill>
                  <a:schemeClr val="bg1"/>
                </a:solidFill>
                <a:latin typeface="楷体" panose="02010609060101010101" pitchFamily="49" charset="-122"/>
                <a:ea typeface="楷体" panose="02010609060101010101" pitchFamily="49" charset="-122"/>
              </a:rPr>
              <a:t>自然、经济、技术、政治、社会的各种因素和条件的集合体</a:t>
            </a:r>
            <a:r>
              <a:rPr lang="zh-CN" altLang="en-US" u="none" dirty="0">
                <a:solidFill>
                  <a:schemeClr val="bg2"/>
                </a:solidFill>
                <a:latin typeface="楷体" panose="02010609060101010101" pitchFamily="49" charset="-122"/>
                <a:ea typeface="楷体" panose="02010609060101010101" pitchFamily="49" charset="-122"/>
              </a:rPr>
              <a:t>称为</a:t>
            </a:r>
            <a:r>
              <a:rPr lang="zh-CN" altLang="en-US" u="none" dirty="0">
                <a:solidFill>
                  <a:srgbClr val="0000FF"/>
                </a:solidFill>
                <a:latin typeface="楷体" panose="02010609060101010101" pitchFamily="49" charset="-122"/>
                <a:ea typeface="楷体" panose="02010609060101010101" pitchFamily="49" charset="-122"/>
              </a:rPr>
              <a:t>组织环境</a:t>
            </a:r>
            <a:r>
              <a:rPr lang="zh-CN" altLang="en-US" u="none" dirty="0">
                <a:solidFill>
                  <a:schemeClr val="bg2"/>
                </a:solidFill>
                <a:latin typeface="楷体" panose="02010609060101010101" pitchFamily="49" charset="-122"/>
                <a:ea typeface="楷体" panose="02010609060101010101" pitchFamily="49" charset="-122"/>
              </a:rPr>
              <a:t>。</a:t>
            </a:r>
            <a:endParaRPr lang="en-US" altLang="zh-CN" u="none" dirty="0">
              <a:solidFill>
                <a:schemeClr val="bg2"/>
              </a:solidFill>
              <a:latin typeface="楷体" panose="02010609060101010101" pitchFamily="49" charset="-122"/>
              <a:ea typeface="楷体" panose="02010609060101010101" pitchFamily="49" charset="-122"/>
            </a:endParaRPr>
          </a:p>
          <a:p>
            <a:pPr algn="l">
              <a:spcBef>
                <a:spcPts val="1800"/>
              </a:spcBef>
              <a:spcAft>
                <a:spcPts val="600"/>
              </a:spcAft>
            </a:pPr>
            <a:r>
              <a:rPr lang="zh-CN" altLang="en-US" u="none" dirty="0">
                <a:solidFill>
                  <a:srgbClr val="FF0000"/>
                </a:solidFill>
                <a:latin typeface="楷体" panose="02010609060101010101" pitchFamily="49" charset="-122"/>
                <a:ea typeface="楷体" panose="02010609060101010101" pitchFamily="49" charset="-122"/>
              </a:rPr>
              <a:t>组织环境</a:t>
            </a:r>
            <a:r>
              <a:rPr lang="zh-CN" altLang="en-US" u="none" dirty="0">
                <a:solidFill>
                  <a:schemeClr val="bg2"/>
                </a:solidFill>
                <a:latin typeface="楷体" panose="02010609060101010101" pitchFamily="49" charset="-122"/>
                <a:ea typeface="楷体" panose="02010609060101010101" pitchFamily="49" charset="-122"/>
              </a:rPr>
              <a:t>包括</a:t>
            </a:r>
            <a:r>
              <a:rPr lang="zh-CN" altLang="en-US" u="none" dirty="0">
                <a:solidFill>
                  <a:schemeClr val="bg1"/>
                </a:solidFill>
                <a:latin typeface="楷体" panose="02010609060101010101" pitchFamily="49" charset="-122"/>
                <a:ea typeface="楷体" panose="02010609060101010101" pitchFamily="49" charset="-122"/>
              </a:rPr>
              <a:t>自</a:t>
            </a:r>
            <a:r>
              <a:rPr lang="zh-CN" altLang="en-US" u="none" dirty="0" err="1">
                <a:solidFill>
                  <a:schemeClr val="bg1"/>
                </a:solidFill>
                <a:latin typeface="楷体" panose="02010609060101010101" pitchFamily="49" charset="-122"/>
                <a:ea typeface="楷体" panose="02010609060101010101" pitchFamily="49" charset="-122"/>
              </a:rPr>
              <a:t>然环境</a:t>
            </a:r>
            <a:r>
              <a:rPr lang="zh-CN" altLang="en-US" u="none" dirty="0">
                <a:solidFill>
                  <a:schemeClr val="bg2"/>
                </a:solidFill>
                <a:latin typeface="楷体" panose="02010609060101010101" pitchFamily="49" charset="-122"/>
                <a:ea typeface="楷体" panose="02010609060101010101" pitchFamily="49" charset="-122"/>
              </a:rPr>
              <a:t>和</a:t>
            </a:r>
            <a:r>
              <a:rPr lang="zh-CN" altLang="en-US" u="none" dirty="0">
                <a:solidFill>
                  <a:schemeClr val="bg1"/>
                </a:solidFill>
                <a:latin typeface="楷体" panose="02010609060101010101" pitchFamily="49" charset="-122"/>
                <a:ea typeface="楷体" panose="02010609060101010101" pitchFamily="49" charset="-122"/>
              </a:rPr>
              <a:t>社会环境</a:t>
            </a:r>
            <a:r>
              <a:rPr lang="zh-CN" altLang="en-US" u="none" dirty="0">
                <a:solidFill>
                  <a:schemeClr val="bg2"/>
                </a:solidFill>
                <a:latin typeface="楷体" panose="02010609060101010101" pitchFamily="49" charset="-122"/>
                <a:ea typeface="楷体" panose="02010609060101010101" pitchFamily="49" charset="-122"/>
              </a:rPr>
              <a:t>两大部分，项目管理者必须非常重视对组织环境因素的了解和认识。</a:t>
            </a:r>
          </a:p>
        </p:txBody>
      </p:sp>
      <p:sp>
        <p:nvSpPr>
          <p:cNvPr id="11270"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P.35</a:t>
            </a:r>
          </a:p>
        </p:txBody>
      </p:sp>
      <p:sp>
        <p:nvSpPr>
          <p:cNvPr id="11271"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11272" name="Rectangle 8"/>
          <p:cNvSpPr>
            <a:spLocks noChangeArrowheads="1"/>
          </p:cNvSpPr>
          <p:nvPr/>
        </p:nvSpPr>
        <p:spPr bwMode="auto">
          <a:xfrm>
            <a:off x="323850" y="1341438"/>
            <a:ext cx="3484563" cy="519112"/>
          </a:xfrm>
          <a:prstGeom prst="rect">
            <a:avLst/>
          </a:prstGeom>
          <a:noFill/>
          <a:ln w="9525">
            <a:noFill/>
            <a:miter lim="800000"/>
          </a:ln>
        </p:spPr>
        <p:txBody>
          <a:bodyPr wrap="none">
            <a:spAutoFit/>
          </a:bodyPr>
          <a:lstStyle/>
          <a:p>
            <a:pPr algn="l"/>
            <a:r>
              <a:rPr kumimoji="0" lang="en-US" altLang="en-US" u="none" dirty="0">
                <a:solidFill>
                  <a:srgbClr val="FF0000"/>
                </a:solidFill>
                <a:ea typeface="楷体_GB2312" pitchFamily="49" charset="-122"/>
              </a:rPr>
              <a:t>2.1.1 </a:t>
            </a:r>
            <a:r>
              <a:rPr kumimoji="0" lang="en-US" altLang="en-US" u="none" dirty="0" err="1">
                <a:solidFill>
                  <a:srgbClr val="FF0000"/>
                </a:solidFill>
                <a:ea typeface="楷体_GB2312" pitchFamily="49" charset="-122"/>
              </a:rPr>
              <a:t>组织环境的概念</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p:cNvSpPr>
            <a:spLocks noGrp="1" noChangeArrowheads="1"/>
          </p:cNvSpPr>
          <p:nvPr>
            <p:ph type="sldNum" sz="quarter" idx="10"/>
          </p:nvPr>
        </p:nvSpPr>
        <p:spPr>
          <a:noFill/>
        </p:spPr>
        <p:txBody>
          <a:bodyPr/>
          <a:lstStyle/>
          <a:p>
            <a:r>
              <a:rPr lang="zh-CN" altLang="en-GB" dirty="0"/>
              <a:t>  </a:t>
            </a:r>
            <a:fld id="{0D3708CC-4572-4025-AAE1-FCB2B5254E23}" type="slidenum">
              <a:rPr lang="zh-CN" altLang="en-GB" smtClean="0"/>
              <a:t>12</a:t>
            </a:fld>
            <a:endParaRPr lang="en-US" altLang="zh-CN" dirty="0"/>
          </a:p>
        </p:txBody>
      </p:sp>
      <p:sp>
        <p:nvSpPr>
          <p:cNvPr id="1433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4340"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615428" name="Text Box 4"/>
          <p:cNvSpPr txBox="1">
            <a:spLocks noChangeArrowheads="1"/>
          </p:cNvSpPr>
          <p:nvPr/>
        </p:nvSpPr>
        <p:spPr bwMode="auto">
          <a:xfrm>
            <a:off x="55262" y="1772839"/>
            <a:ext cx="9109676" cy="4786630"/>
          </a:xfrm>
          <a:prstGeom prst="rect">
            <a:avLst/>
          </a:prstGeom>
          <a:noFill/>
          <a:ln w="28575">
            <a:noFill/>
            <a:miter lim="800000"/>
          </a:ln>
        </p:spPr>
        <p:txBody>
          <a:bodyPr wrap="square">
            <a:spAutoFit/>
          </a:bodyPr>
          <a:lstStyle/>
          <a:p>
            <a:pPr marL="180975" lvl="1" indent="5080" algn="l">
              <a:lnSpc>
                <a:spcPct val="110000"/>
              </a:lnSpc>
              <a:spcBef>
                <a:spcPct val="50000"/>
              </a:spcBef>
              <a:buClr>
                <a:schemeClr val="bg1"/>
              </a:buClr>
              <a:buFont typeface="+mj-lt"/>
              <a:buAutoNum type="arabicPeriod"/>
            </a:pPr>
            <a:r>
              <a:rPr kumimoji="0" lang="zh-CN" altLang="en-US" u="none" dirty="0">
                <a:solidFill>
                  <a:srgbClr val="0000FF"/>
                </a:solidFill>
                <a:latin typeface="楷体" panose="02010609060101010101" pitchFamily="49" charset="-122"/>
                <a:ea typeface="楷体" panose="02010609060101010101" pitchFamily="49" charset="-122"/>
                <a:cs typeface="楷体" panose="02010609060101010101" pitchFamily="49" charset="-122"/>
              </a:rPr>
              <a:t>客观性</a:t>
            </a:r>
            <a:r>
              <a:rPr kumimoji="0" lang="en-US" altLang="zh-CN"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组织环境是客观存在的，它不随组织中人们的主观意志为转移，它制约着组织的活动。</a:t>
            </a:r>
            <a:r>
              <a:rPr kumimoji="0" lang="zh-CN" altLang="en-US" u="none" dirty="0">
                <a:latin typeface="楷体" panose="02010609060101010101" pitchFamily="49" charset="-122"/>
                <a:ea typeface="楷体" panose="02010609060101010101" pitchFamily="49" charset="-122"/>
                <a:cs typeface="楷体" panose="02010609060101010101" pitchFamily="49" charset="-122"/>
              </a:rPr>
              <a:t> </a:t>
            </a:r>
            <a:endPar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0975" lvl="1" indent="5080" algn="l">
              <a:lnSpc>
                <a:spcPct val="110000"/>
              </a:lnSpc>
              <a:spcBef>
                <a:spcPct val="50000"/>
              </a:spcBef>
              <a:buClr>
                <a:schemeClr val="bg1"/>
              </a:buClr>
              <a:buFont typeface="+mj-lt"/>
              <a:buAutoNum type="arabicPeriod"/>
            </a:pPr>
            <a:r>
              <a:rPr kumimoji="0" lang="zh-CN" altLang="en-US" u="none" dirty="0">
                <a:solidFill>
                  <a:srgbClr val="0000FF"/>
                </a:solidFill>
                <a:latin typeface="楷体" panose="02010609060101010101" pitchFamily="49" charset="-122"/>
                <a:ea typeface="楷体" panose="02010609060101010101" pitchFamily="49" charset="-122"/>
                <a:cs typeface="楷体" panose="02010609060101010101" pitchFamily="49" charset="-122"/>
              </a:rPr>
              <a:t>系统性</a:t>
            </a:r>
            <a:r>
              <a:rPr kumimoji="0" lang="en-US" altLang="zh-CN"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组织环境是由与组织相关的各种外部事物和条件相互有机联系所组成的</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整体</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，组织的外部环境和内部环境构成了不同层次的</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子系统</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。项目的管理活动是在这种整体性的环境背景中进行的。</a:t>
            </a:r>
            <a:endPar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180975" lvl="1" indent="5080" algn="l">
              <a:lnSpc>
                <a:spcPct val="110000"/>
              </a:lnSpc>
              <a:spcBef>
                <a:spcPct val="50000"/>
              </a:spcBef>
              <a:buClr>
                <a:schemeClr val="bg1"/>
              </a:buClr>
              <a:buFont typeface="+mj-lt"/>
              <a:buAutoNum type="arabicPeriod"/>
            </a:pPr>
            <a:r>
              <a:rPr kumimoji="0" lang="zh-CN" altLang="en-US" u="none" dirty="0">
                <a:solidFill>
                  <a:srgbClr val="0000FF"/>
                </a:solidFill>
                <a:latin typeface="楷体" panose="02010609060101010101" pitchFamily="49" charset="-122"/>
                <a:ea typeface="楷体" panose="02010609060101010101" pitchFamily="49" charset="-122"/>
                <a:cs typeface="楷体" panose="02010609060101010101" pitchFamily="49" charset="-122"/>
              </a:rPr>
              <a:t>动态性</a:t>
            </a:r>
            <a:r>
              <a:rPr kumimoji="0" lang="en-US" altLang="zh-CN"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组织环境的各种因素是不断变化的，各种组织环境因素又在不断地重新组合，不断形成新的组织环境。 </a:t>
            </a:r>
            <a:endPar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14342"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u="none">
                <a:solidFill>
                  <a:schemeClr val="bg2"/>
                </a:solidFill>
              </a:rPr>
              <a:t>P.37</a:t>
            </a:r>
          </a:p>
        </p:txBody>
      </p:sp>
      <p:sp>
        <p:nvSpPr>
          <p:cNvPr id="14343"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14344" name="Rectangle 8"/>
          <p:cNvSpPr>
            <a:spLocks noChangeArrowheads="1"/>
          </p:cNvSpPr>
          <p:nvPr/>
        </p:nvSpPr>
        <p:spPr bwMode="auto">
          <a:xfrm>
            <a:off x="323850" y="1341438"/>
            <a:ext cx="3484563" cy="519112"/>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2.1.2 组织环境的特征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54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54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542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9"/>
          <p:cNvSpPr>
            <a:spLocks noGrp="1" noChangeArrowheads="1"/>
          </p:cNvSpPr>
          <p:nvPr>
            <p:ph type="sldNum" sz="quarter" idx="10"/>
          </p:nvPr>
        </p:nvSpPr>
        <p:spPr>
          <a:noFill/>
        </p:spPr>
        <p:txBody>
          <a:bodyPr/>
          <a:lstStyle/>
          <a:p>
            <a:r>
              <a:rPr lang="zh-CN" altLang="en-GB" dirty="0"/>
              <a:t>  </a:t>
            </a:r>
            <a:fld id="{7AAA7FF3-9F6E-40EE-8BE5-723890384B21}" type="slidenum">
              <a:rPr lang="zh-CN" altLang="en-GB" smtClean="0"/>
              <a:t>13</a:t>
            </a:fld>
            <a:endParaRPr lang="en-US" altLang="zh-CN" dirty="0"/>
          </a:p>
        </p:txBody>
      </p:sp>
      <p:sp>
        <p:nvSpPr>
          <p:cNvPr id="1536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5364"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617476" name="Text Box 4"/>
          <p:cNvSpPr txBox="1">
            <a:spLocks noChangeArrowheads="1"/>
          </p:cNvSpPr>
          <p:nvPr/>
        </p:nvSpPr>
        <p:spPr bwMode="auto">
          <a:xfrm>
            <a:off x="250825" y="1989138"/>
            <a:ext cx="8532813" cy="3692525"/>
          </a:xfrm>
          <a:prstGeom prst="rect">
            <a:avLst/>
          </a:prstGeom>
          <a:noFill/>
          <a:ln w="28575">
            <a:noFill/>
            <a:miter lim="800000"/>
          </a:ln>
        </p:spPr>
        <p:txBody>
          <a:bodyPr>
            <a:spAutoFit/>
          </a:bodyPr>
          <a:lstStyle/>
          <a:p>
            <a:pPr algn="just">
              <a:spcBef>
                <a:spcPct val="50000"/>
              </a:spcBef>
              <a:buClr>
                <a:schemeClr val="hlink"/>
              </a:buClr>
            </a:pP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实践证明，一个</a:t>
            </a:r>
            <a:r>
              <a:rPr kumimoji="0" lang="en-US" altLang="zh-CN" sz="3600" u="none" dirty="0">
                <a:solidFill>
                  <a:srgbClr val="0000FF"/>
                </a:solidFill>
                <a:ea typeface="楷体" panose="02010609060101010101" pitchFamily="49" charset="-122"/>
                <a:cs typeface="Times New Roman" panose="02020603050405020304" pitchFamily="18" charset="0"/>
              </a:rPr>
              <a:t>IT</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项目的成功，</a:t>
            </a:r>
            <a:r>
              <a:rPr kumimoji="0" lang="en-US" altLang="zh-CN" sz="3600" u="none" dirty="0">
                <a:solidFill>
                  <a:srgbClr val="0000FF"/>
                </a:solidFill>
                <a:ea typeface="楷体" panose="02010609060101010101" pitchFamily="49" charset="-122"/>
                <a:cs typeface="Times New Roman" panose="02020603050405020304" pitchFamily="18" charset="0"/>
              </a:rPr>
              <a:t>30</a:t>
            </a:r>
            <a:r>
              <a:rPr kumimoji="0" lang="en-US" altLang="zh-CN"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靠项目经理的能力，</a:t>
            </a:r>
            <a:r>
              <a:rPr kumimoji="0" lang="en-US" altLang="zh-CN" sz="3600" u="none" dirty="0">
                <a:solidFill>
                  <a:srgbClr val="0000FF"/>
                </a:solidFill>
                <a:ea typeface="楷体" panose="02010609060101010101" pitchFamily="49" charset="-122"/>
                <a:cs typeface="Times New Roman" panose="02020603050405020304" pitchFamily="18" charset="0"/>
              </a:rPr>
              <a:t>70</a:t>
            </a:r>
            <a:r>
              <a:rPr kumimoji="0" lang="en-US" altLang="zh-CN"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取决于企业项目管理的环境。</a:t>
            </a:r>
          </a:p>
          <a:p>
            <a:pPr algn="just">
              <a:spcBef>
                <a:spcPct val="50000"/>
              </a:spcBef>
              <a:buClr>
                <a:schemeClr val="hlink"/>
              </a:buClr>
            </a:pP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组织必须</a:t>
            </a: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建立一个良好的项目管理环境</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，并</a:t>
            </a: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不断</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的对项目管理环境进行</a:t>
            </a: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优化</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，确保</a:t>
            </a:r>
            <a:r>
              <a:rPr kumimoji="0" lang="en-US" altLang="zh-CN" sz="3600" u="none" dirty="0">
                <a:solidFill>
                  <a:schemeClr val="bg2"/>
                </a:solidFill>
                <a:ea typeface="楷体" panose="02010609060101010101" pitchFamily="49" charset="-122"/>
                <a:cs typeface="Times New Roman" panose="02020603050405020304" pitchFamily="18" charset="0"/>
              </a:rPr>
              <a:t>IT</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项目的成功率。</a:t>
            </a:r>
            <a:r>
              <a:rPr kumimoji="0" lang="en-US" altLang="zh-CN" u="none"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endParaRPr kumimoji="0"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p:txBody>
      </p:sp>
      <p:sp>
        <p:nvSpPr>
          <p:cNvPr id="15366"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P.37</a:t>
            </a:r>
          </a:p>
        </p:txBody>
      </p:sp>
      <p:sp>
        <p:nvSpPr>
          <p:cNvPr id="15367" name="Rectangle 8"/>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15368" name="Rectangle 9"/>
          <p:cNvSpPr>
            <a:spLocks noChangeArrowheads="1"/>
          </p:cNvSpPr>
          <p:nvPr/>
        </p:nvSpPr>
        <p:spPr bwMode="auto">
          <a:xfrm>
            <a:off x="323850" y="1412875"/>
            <a:ext cx="3485515"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a:t>
            </a:r>
            <a:r>
              <a:rPr kumimoji="0" lang="en-US" altLang="zh-CN" u="none">
                <a:solidFill>
                  <a:srgbClr val="FF0000"/>
                </a:solidFill>
                <a:ea typeface="楷体_GB2312" pitchFamily="49" charset="-122"/>
              </a:rPr>
              <a:t>2</a:t>
            </a:r>
            <a:r>
              <a:rPr kumimoji="0" lang="en-US" altLang="en-US" u="none">
                <a:solidFill>
                  <a:srgbClr val="FF0000"/>
                </a:solidFill>
                <a:ea typeface="楷体_GB2312" pitchFamily="49" charset="-122"/>
              </a:rPr>
              <a:t> </a:t>
            </a:r>
            <a:r>
              <a:rPr kumimoji="0" lang="en-US" altLang="en-US" u="none">
                <a:solidFill>
                  <a:srgbClr val="FF0000"/>
                </a:solidFill>
                <a:latin typeface="楷体" panose="02010609060101010101" pitchFamily="49" charset="-122"/>
                <a:ea typeface="楷体" panose="02010609060101010101" pitchFamily="49" charset="-122"/>
              </a:rPr>
              <a:t>组织环境的</a:t>
            </a:r>
            <a:r>
              <a:rPr kumimoji="0" lang="zh-CN" altLang="en-US" u="none">
                <a:solidFill>
                  <a:srgbClr val="FF0000"/>
                </a:solidFill>
                <a:latin typeface="楷体" panose="02010609060101010101" pitchFamily="49" charset="-122"/>
                <a:ea typeface="楷体" panose="02010609060101010101" pitchFamily="49" charset="-122"/>
              </a:rPr>
              <a:t>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747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9"/>
          <p:cNvSpPr>
            <a:spLocks noGrp="1" noChangeArrowheads="1"/>
          </p:cNvSpPr>
          <p:nvPr>
            <p:ph type="sldNum" sz="quarter" idx="10"/>
          </p:nvPr>
        </p:nvSpPr>
        <p:spPr>
          <a:noFill/>
        </p:spPr>
        <p:txBody>
          <a:bodyPr/>
          <a:lstStyle/>
          <a:p>
            <a:r>
              <a:rPr lang="zh-CN" altLang="en-GB" dirty="0"/>
              <a:t>  </a:t>
            </a:r>
            <a:fld id="{9FE35AA1-00D9-4CC2-9BBB-E1A88BDE84E5}" type="slidenum">
              <a:rPr lang="zh-CN" altLang="en-GB" smtClean="0"/>
              <a:t>14</a:t>
            </a:fld>
            <a:endParaRPr lang="en-US" altLang="zh-CN" dirty="0"/>
          </a:p>
        </p:txBody>
      </p:sp>
      <p:sp>
        <p:nvSpPr>
          <p:cNvPr id="1638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6388"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619524" name="Text Box 4"/>
          <p:cNvSpPr txBox="1">
            <a:spLocks noChangeArrowheads="1"/>
          </p:cNvSpPr>
          <p:nvPr/>
        </p:nvSpPr>
        <p:spPr bwMode="auto">
          <a:xfrm>
            <a:off x="71406" y="1998543"/>
            <a:ext cx="8964612" cy="4215765"/>
          </a:xfrm>
          <a:prstGeom prst="rect">
            <a:avLst/>
          </a:prstGeom>
          <a:noFill/>
          <a:ln w="28575">
            <a:noFill/>
            <a:miter lim="800000"/>
          </a:ln>
        </p:spPr>
        <p:txBody>
          <a:bodyPr wrap="square">
            <a:spAutoFit/>
          </a:bodyPr>
          <a:lstStyle/>
          <a:p>
            <a:pPr algn="l">
              <a:spcBef>
                <a:spcPts val="600"/>
              </a:spcBef>
              <a:spcAft>
                <a:spcPts val="600"/>
              </a:spcAft>
              <a:buClr>
                <a:schemeClr val="hlink"/>
              </a:buClr>
            </a:pPr>
            <a:r>
              <a:rPr kumimoji="0" lang="en-US" altLang="zh-CN" u="none" dirty="0">
                <a:solidFill>
                  <a:schemeClr val="bg2"/>
                </a:solidFill>
                <a:ea typeface="楷体" panose="02010609060101010101" pitchFamily="49" charset="-122"/>
                <a:cs typeface="Times New Roman" panose="02020603050405020304" pitchFamily="18" charset="0"/>
              </a:rPr>
              <a:t>IT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项目最大的</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问题</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项目定义的不确定性和易动性</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，而</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缺少正确的项目需求</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是导致</a:t>
            </a:r>
            <a:r>
              <a:rPr kumimoji="0" lang="en-US" altLang="zh-CN" u="none" dirty="0">
                <a:solidFill>
                  <a:schemeClr val="bg1"/>
                </a:solidFill>
                <a:ea typeface="楷体" panose="02010609060101010101" pitchFamily="49" charset="-122"/>
                <a:cs typeface="Times New Roman" panose="02020603050405020304" pitchFamily="18" charset="0"/>
              </a:rPr>
              <a:t>IT</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项目失败的主要原因</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endPar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pPr>
            <a:r>
              <a:rPr kumimoji="0" lang="en-US" altLang="zh-CN" u="none" dirty="0">
                <a:solidFill>
                  <a:schemeClr val="bg2"/>
                </a:solidFill>
                <a:ea typeface="楷体" panose="02010609060101010101" pitchFamily="49" charset="-122"/>
                <a:cs typeface="Times New Roman" panose="02020603050405020304" pitchFamily="18" charset="0"/>
              </a:rPr>
              <a:t>IT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项目人员往往缺乏对组织的</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战略目标和</a:t>
            </a:r>
            <a:r>
              <a:rPr kumimoji="0" lang="en-US" altLang="zh-CN" u="none" dirty="0">
                <a:solidFill>
                  <a:schemeClr val="bg1"/>
                </a:solidFill>
                <a:ea typeface="楷体" panose="02010609060101010101" pitchFamily="49" charset="-122"/>
                <a:cs typeface="Times New Roman" panose="02020603050405020304" pitchFamily="18" charset="0"/>
              </a:rPr>
              <a:t>IT</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战略计划</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的全面了解。 在实施</a:t>
            </a:r>
            <a:r>
              <a:rPr kumimoji="0" lang="en-US" altLang="zh-CN" u="none" dirty="0">
                <a:solidFill>
                  <a:schemeClr val="bg2"/>
                </a:solidFill>
                <a:ea typeface="楷体" panose="02010609060101010101" pitchFamily="49" charset="-122"/>
                <a:cs typeface="Times New Roman" panose="02020603050405020304" pitchFamily="18" charset="0"/>
              </a:rPr>
              <a:t>IT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项目时，他们将</a:t>
            </a:r>
            <a:r>
              <a:rPr kumimoji="0"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更多地把视角放在技术层面上</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u="none" dirty="0">
                <a:solidFill>
                  <a:srgbClr val="FF0000"/>
                </a:solidFill>
                <a:latin typeface="楷体" panose="02010609060101010101" pitchFamily="49" charset="-122"/>
                <a:ea typeface="楷体" panose="02010609060101010101" pitchFamily="49" charset="-122"/>
                <a:cs typeface="楷体" panose="02010609060101010101" pitchFamily="49" charset="-122"/>
              </a:rPr>
              <a:t>忽略了对组织战略目标的理解能力和信息化的感悟能力</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l">
              <a:spcBef>
                <a:spcPts val="600"/>
              </a:spcBef>
              <a:spcAft>
                <a:spcPts val="600"/>
              </a:spcAft>
              <a:buClr>
                <a:schemeClr val="hlink"/>
              </a:buClr>
            </a:pPr>
            <a:r>
              <a:rPr kumimoji="0" lang="en-US" altLang="zh-CN" sz="4000" u="none" dirty="0">
                <a:solidFill>
                  <a:schemeClr val="bg2"/>
                </a:solidFill>
                <a:ea typeface="楷体" panose="02010609060101010101" pitchFamily="49" charset="-122"/>
                <a:cs typeface="Times New Roman" panose="02020603050405020304" pitchFamily="18" charset="0"/>
              </a:rPr>
              <a:t>IT</a:t>
            </a:r>
            <a:r>
              <a:rPr kumimoji="0" lang="zh-CN" altLang="en-US"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项目人员应该</a:t>
            </a:r>
            <a:r>
              <a:rPr kumimoji="0" lang="zh-CN" altLang="en-US" sz="40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将对战略计划的理解</a:t>
            </a:r>
            <a:r>
              <a:rPr kumimoji="0" lang="zh-CN" altLang="en-US"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放在</a:t>
            </a:r>
            <a:r>
              <a:rPr kumimoji="0" lang="zh-CN" altLang="en-US" sz="40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首要位置。</a:t>
            </a:r>
          </a:p>
        </p:txBody>
      </p:sp>
      <p:sp>
        <p:nvSpPr>
          <p:cNvPr id="16390" name="Text Box 6"/>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u="none">
                <a:solidFill>
                  <a:schemeClr val="bg2"/>
                </a:solidFill>
              </a:rPr>
              <a:t>P.37</a:t>
            </a:r>
          </a:p>
        </p:txBody>
      </p:sp>
      <p:sp>
        <p:nvSpPr>
          <p:cNvPr id="16391"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16392" name="Rectangle 8"/>
          <p:cNvSpPr>
            <a:spLocks noChangeArrowheads="1"/>
          </p:cNvSpPr>
          <p:nvPr/>
        </p:nvSpPr>
        <p:spPr bwMode="auto">
          <a:xfrm>
            <a:off x="323850" y="1341438"/>
            <a:ext cx="4737735"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2.1.3 </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战略计划与项目的选择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95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952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9"/>
          <p:cNvSpPr>
            <a:spLocks noGrp="1" noChangeArrowheads="1"/>
          </p:cNvSpPr>
          <p:nvPr>
            <p:ph type="sldNum" sz="quarter" idx="10"/>
          </p:nvPr>
        </p:nvSpPr>
        <p:spPr>
          <a:noFill/>
        </p:spPr>
        <p:txBody>
          <a:bodyPr/>
          <a:lstStyle/>
          <a:p>
            <a:r>
              <a:rPr lang="zh-CN" altLang="en-GB" dirty="0"/>
              <a:t>  </a:t>
            </a:r>
            <a:fld id="{5F650EE0-1BD9-4EA6-808F-FB07A724C978}" type="slidenum">
              <a:rPr lang="zh-CN" altLang="en-GB" smtClean="0"/>
              <a:t>15</a:t>
            </a:fld>
            <a:endParaRPr lang="en-US" altLang="zh-CN" dirty="0"/>
          </a:p>
        </p:txBody>
      </p:sp>
      <p:sp>
        <p:nvSpPr>
          <p:cNvPr id="1843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1843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pPr algn="l"/>
            <a:endParaRPr lang="en-US" altLang="zh-CN" sz="4000" b="0" u="none">
              <a:solidFill>
                <a:schemeClr val="bg2"/>
              </a:solidFill>
            </a:endParaRPr>
          </a:p>
        </p:txBody>
      </p:sp>
      <p:sp>
        <p:nvSpPr>
          <p:cNvPr id="18437" name="Text Box 4"/>
          <p:cNvSpPr txBox="1">
            <a:spLocks noChangeArrowheads="1"/>
          </p:cNvSpPr>
          <p:nvPr/>
        </p:nvSpPr>
        <p:spPr bwMode="auto">
          <a:xfrm>
            <a:off x="65106" y="1817969"/>
            <a:ext cx="9001156" cy="3692525"/>
          </a:xfrm>
          <a:prstGeom prst="rect">
            <a:avLst/>
          </a:prstGeom>
          <a:noFill/>
          <a:ln w="28575">
            <a:noFill/>
            <a:miter lim="800000"/>
          </a:ln>
        </p:spPr>
        <p:txBody>
          <a:bodyPr wrap="square">
            <a:spAutoFit/>
          </a:bodyPr>
          <a:lstStyle/>
          <a:p>
            <a:pPr algn="l">
              <a:spcBef>
                <a:spcPts val="600"/>
              </a:spcBef>
              <a:spcAft>
                <a:spcPts val="600"/>
              </a:spcAft>
              <a:buClr>
                <a:schemeClr val="hlink"/>
              </a:buClr>
            </a:pPr>
            <a:r>
              <a:rPr kumimoji="0" lang="zh-CN" altLang="en-US" sz="3200" u="none" dirty="0">
                <a:solidFill>
                  <a:schemeClr val="bg1"/>
                </a:solidFill>
                <a:latin typeface="楷体" panose="02010609060101010101" pitchFamily="49" charset="-122"/>
                <a:ea typeface="楷体" panose="02010609060101010101" pitchFamily="49" charset="-122"/>
              </a:rPr>
              <a:t>战略计划</a:t>
            </a:r>
            <a:r>
              <a:rPr kumimoji="0" lang="zh-CN" altLang="en-US" sz="3200" u="none" dirty="0">
                <a:solidFill>
                  <a:schemeClr val="bg2"/>
                </a:solidFill>
                <a:latin typeface="楷体" panose="02010609060101010101" pitchFamily="49" charset="-122"/>
                <a:ea typeface="楷体" panose="02010609060101010101" pitchFamily="49" charset="-122"/>
              </a:rPr>
              <a:t>是通过对</a:t>
            </a:r>
            <a:r>
              <a:rPr kumimoji="0" lang="zh-CN" altLang="en-US" sz="3200" u="none" dirty="0">
                <a:solidFill>
                  <a:schemeClr val="bg1"/>
                </a:solidFill>
                <a:latin typeface="楷体" panose="02010609060101010101" pitchFamily="49" charset="-122"/>
                <a:ea typeface="楷体" panose="02010609060101010101" pitchFamily="49" charset="-122"/>
              </a:rPr>
              <a:t>组织优势、劣势</a:t>
            </a:r>
            <a:r>
              <a:rPr kumimoji="0" lang="zh-CN" altLang="en-US" sz="3200" u="none" dirty="0">
                <a:solidFill>
                  <a:schemeClr val="bg2"/>
                </a:solidFill>
                <a:latin typeface="楷体" panose="02010609060101010101" pitchFamily="49" charset="-122"/>
                <a:ea typeface="楷体" panose="02010609060101010101" pitchFamily="49" charset="-122"/>
              </a:rPr>
              <a:t>的分析，研究</a:t>
            </a:r>
            <a:r>
              <a:rPr kumimoji="0" lang="zh-CN" altLang="en-US" sz="3200" u="none" dirty="0">
                <a:solidFill>
                  <a:schemeClr val="bg1"/>
                </a:solidFill>
                <a:latin typeface="楷体" panose="02010609060101010101" pitchFamily="49" charset="-122"/>
                <a:ea typeface="楷体" panose="02010609060101010101" pitchFamily="49" charset="-122"/>
              </a:rPr>
              <a:t>组织环境中存在的机会与挑战</a:t>
            </a:r>
            <a:r>
              <a:rPr kumimoji="0" lang="zh-CN" altLang="en-US" sz="3200" u="none" dirty="0">
                <a:solidFill>
                  <a:schemeClr val="bg2"/>
                </a:solidFill>
                <a:latin typeface="楷体" panose="02010609060101010101" pitchFamily="49" charset="-122"/>
                <a:ea typeface="楷体" panose="02010609060101010101" pitchFamily="49" charset="-122"/>
              </a:rPr>
              <a:t>，预测未来的趋势，展望新的产品和服务需求，从而确定的</a:t>
            </a:r>
            <a:r>
              <a:rPr kumimoji="0" lang="zh-CN" altLang="en-US" sz="3200" u="none" dirty="0">
                <a:solidFill>
                  <a:schemeClr val="bg1"/>
                </a:solidFill>
                <a:latin typeface="楷体" panose="02010609060101010101" pitchFamily="49" charset="-122"/>
                <a:ea typeface="楷体" panose="02010609060101010101" pitchFamily="49" charset="-122"/>
              </a:rPr>
              <a:t>长远目标规划</a:t>
            </a:r>
            <a:r>
              <a:rPr kumimoji="0" lang="zh-CN" altLang="en-US" sz="3200" u="none" dirty="0">
                <a:solidFill>
                  <a:schemeClr val="bg2"/>
                </a:solidFill>
                <a:latin typeface="楷体" panose="02010609060101010101" pitchFamily="49" charset="-122"/>
                <a:ea typeface="楷体" panose="02010609060101010101" pitchFamily="49" charset="-122"/>
              </a:rPr>
              <a:t>。</a:t>
            </a:r>
            <a:endParaRPr kumimoji="0" lang="en-US" altLang="zh-CN" sz="3200" u="none"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sz="3200" u="none" dirty="0">
                <a:solidFill>
                  <a:schemeClr val="bg2"/>
                </a:solidFill>
                <a:latin typeface="楷体" panose="02010609060101010101" pitchFamily="49" charset="-122"/>
                <a:ea typeface="楷体" panose="02010609060101010101" pitchFamily="49" charset="-122"/>
              </a:rPr>
              <a:t>项目的批准通常出于</a:t>
            </a:r>
            <a:r>
              <a:rPr kumimoji="0" lang="zh-CN" altLang="en-US" sz="3200" u="none" dirty="0">
                <a:solidFill>
                  <a:srgbClr val="0000FF"/>
                </a:solidFill>
                <a:latin typeface="楷体" panose="02010609060101010101" pitchFamily="49" charset="-122"/>
                <a:ea typeface="楷体" panose="02010609060101010101" pitchFamily="49" charset="-122"/>
              </a:rPr>
              <a:t>以下一项或多项战略考虑，</a:t>
            </a:r>
            <a:r>
              <a:rPr kumimoji="0" lang="zh-CN" altLang="en-US" sz="3200" u="none" dirty="0">
                <a:solidFill>
                  <a:schemeClr val="bg2"/>
                </a:solidFill>
                <a:latin typeface="楷体" panose="02010609060101010101" pitchFamily="49" charset="-122"/>
                <a:ea typeface="楷体" panose="02010609060101010101" pitchFamily="49" charset="-122"/>
              </a:rPr>
              <a:t>包括</a:t>
            </a:r>
            <a:r>
              <a:rPr kumimoji="0" lang="zh-CN" altLang="en-US" sz="3200" u="none" dirty="0">
                <a:solidFill>
                  <a:srgbClr val="0000FF"/>
                </a:solidFill>
                <a:latin typeface="楷体" panose="02010609060101010101" pitchFamily="49" charset="-122"/>
                <a:ea typeface="楷体" panose="02010609060101010101" pitchFamily="49" charset="-122"/>
              </a:rPr>
              <a:t>市场需求</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业务需求</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战略机会</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社会需要</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环境考虑</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客户要求</a:t>
            </a:r>
            <a:r>
              <a:rPr kumimoji="0" lang="zh-CN" altLang="en-US" sz="3200" u="none" dirty="0">
                <a:solidFill>
                  <a:schemeClr val="bg2"/>
                </a:solidFill>
                <a:latin typeface="楷体" panose="02010609060101010101" pitchFamily="49" charset="-122"/>
                <a:ea typeface="楷体" panose="02010609060101010101" pitchFamily="49" charset="-122"/>
              </a:rPr>
              <a:t>、</a:t>
            </a:r>
            <a:r>
              <a:rPr kumimoji="0" lang="zh-CN" altLang="en-US" sz="3200" u="none" dirty="0">
                <a:solidFill>
                  <a:srgbClr val="0000FF"/>
                </a:solidFill>
                <a:latin typeface="楷体" panose="02010609060101010101" pitchFamily="49" charset="-122"/>
                <a:ea typeface="楷体" panose="02010609060101010101" pitchFamily="49" charset="-122"/>
              </a:rPr>
              <a:t>技术进步</a:t>
            </a:r>
            <a:r>
              <a:rPr kumimoji="0" lang="zh-CN" altLang="en-US" sz="3200" u="none" dirty="0">
                <a:solidFill>
                  <a:schemeClr val="bg2"/>
                </a:solidFill>
                <a:latin typeface="楷体" panose="02010609060101010101" pitchFamily="49" charset="-122"/>
                <a:ea typeface="楷体" panose="02010609060101010101" pitchFamily="49" charset="-122"/>
              </a:rPr>
              <a:t>和</a:t>
            </a:r>
            <a:r>
              <a:rPr kumimoji="0" lang="zh-CN" altLang="en-US" sz="3200" u="none" dirty="0">
                <a:solidFill>
                  <a:srgbClr val="0000FF"/>
                </a:solidFill>
                <a:latin typeface="楷体" panose="02010609060101010101" pitchFamily="49" charset="-122"/>
                <a:ea typeface="楷体" panose="02010609060101010101" pitchFamily="49" charset="-122"/>
              </a:rPr>
              <a:t>法律要求</a:t>
            </a:r>
            <a:r>
              <a:rPr kumimoji="0" lang="zh-CN" altLang="en-US" sz="3200" u="none" dirty="0">
                <a:solidFill>
                  <a:schemeClr val="bg2"/>
                </a:solidFill>
                <a:latin typeface="楷体" panose="02010609060101010101" pitchFamily="49" charset="-122"/>
                <a:ea typeface="楷体" panose="02010609060101010101" pitchFamily="49" charset="-122"/>
              </a:rPr>
              <a:t>等。</a:t>
            </a:r>
          </a:p>
        </p:txBody>
      </p:sp>
      <p:sp>
        <p:nvSpPr>
          <p:cNvPr id="18438" name="Text Box 6"/>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P.38</a:t>
            </a:r>
          </a:p>
        </p:txBody>
      </p:sp>
      <p:sp>
        <p:nvSpPr>
          <p:cNvPr id="18439" name="Rectangle 7"/>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18440" name="Rectangle 8"/>
          <p:cNvSpPr>
            <a:spLocks noChangeArrowheads="1"/>
          </p:cNvSpPr>
          <p:nvPr/>
        </p:nvSpPr>
        <p:spPr bwMode="auto">
          <a:xfrm>
            <a:off x="323850" y="1341438"/>
            <a:ext cx="4646930"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2.1.3 </a:t>
            </a:r>
            <a:r>
              <a:rPr kumimoji="0" lang="en-US" altLang="en-US" u="none">
                <a:solidFill>
                  <a:srgbClr val="FF0000"/>
                </a:solidFill>
                <a:latin typeface="楷体" panose="02010609060101010101" pitchFamily="49" charset="-122"/>
                <a:ea typeface="楷体" panose="02010609060101010101" pitchFamily="49" charset="-122"/>
              </a:rPr>
              <a:t>战略计划与项目的选择</a:t>
            </a:r>
            <a:r>
              <a:rPr kumimoji="0" lang="en-US" altLang="en-US" u="none">
                <a:solidFill>
                  <a:srgbClr val="FF0000"/>
                </a:solidFill>
                <a:ea typeface="楷体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9"/>
          <p:cNvSpPr>
            <a:spLocks noGrp="1" noChangeArrowheads="1"/>
          </p:cNvSpPr>
          <p:nvPr>
            <p:ph type="sldNum" sz="quarter" idx="10"/>
          </p:nvPr>
        </p:nvSpPr>
        <p:spPr>
          <a:noFill/>
        </p:spPr>
        <p:txBody>
          <a:bodyPr/>
          <a:lstStyle/>
          <a:p>
            <a:r>
              <a:rPr lang="zh-CN" altLang="en-GB" dirty="0"/>
              <a:t>  </a:t>
            </a:r>
            <a:fld id="{DFE41EBC-2015-41A4-9A4F-D8797E24447D}" type="slidenum">
              <a:rPr lang="zh-CN" altLang="en-GB" smtClean="0"/>
              <a:t>16</a:t>
            </a:fld>
            <a:endParaRPr lang="en-US" altLang="zh-CN" dirty="0"/>
          </a:p>
        </p:txBody>
      </p:sp>
      <p:sp>
        <p:nvSpPr>
          <p:cNvPr id="2253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2253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P.38</a:t>
            </a:r>
          </a:p>
        </p:txBody>
      </p:sp>
      <p:sp>
        <p:nvSpPr>
          <p:cNvPr id="22533" name="Text Box 5"/>
          <p:cNvSpPr txBox="1">
            <a:spLocks noChangeArrowheads="1"/>
          </p:cNvSpPr>
          <p:nvPr/>
        </p:nvSpPr>
        <p:spPr bwMode="auto">
          <a:xfrm>
            <a:off x="250825" y="1971675"/>
            <a:ext cx="8642350" cy="4384675"/>
          </a:xfrm>
          <a:prstGeom prst="rect">
            <a:avLst/>
          </a:prstGeom>
          <a:noFill/>
          <a:ln w="9525">
            <a:noFill/>
            <a:miter lim="800000"/>
          </a:ln>
        </p:spPr>
        <p:txBody>
          <a:bodyPr>
            <a:spAutoFit/>
          </a:bodyPr>
          <a:lstStyle/>
          <a:p>
            <a:pPr algn="l">
              <a:lnSpc>
                <a:spcPct val="110000"/>
              </a:lnSpc>
              <a:spcBef>
                <a:spcPct val="50000"/>
              </a:spcBef>
              <a:buClr>
                <a:schemeClr val="hlink"/>
              </a:buClr>
            </a:pPr>
            <a:r>
              <a:rPr kumimoji="0" lang="en-US" altLang="zh-CN" sz="3000" u="none" dirty="0">
                <a:solidFill>
                  <a:schemeClr val="bg1"/>
                </a:solidFill>
                <a:ea typeface="楷体" panose="02010609060101010101" pitchFamily="49" charset="-122"/>
                <a:cs typeface="Times New Roman" panose="02020603050405020304" pitchFamily="18" charset="0"/>
              </a:rPr>
              <a:t>SWOT</a:t>
            </a:r>
            <a:r>
              <a:rPr kumimoji="0" lang="zh-CN" altLang="en-US" sz="3000" u="none" dirty="0">
                <a:solidFill>
                  <a:schemeClr val="bg1"/>
                </a:solidFill>
                <a:ea typeface="楷体" panose="02010609060101010101" pitchFamily="49" charset="-122"/>
                <a:cs typeface="Times New Roman" panose="02020603050405020304" pitchFamily="18" charset="0"/>
              </a:rPr>
              <a:t>分析（</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sym typeface="+mn-ea"/>
              </a:rPr>
              <a:t>态势分析</a:t>
            </a:r>
            <a:r>
              <a:rPr kumimoji="0" lang="zh-CN" altLang="en-US" sz="3000" u="none" dirty="0">
                <a:solidFill>
                  <a:schemeClr val="bg1"/>
                </a:solidFill>
                <a:ea typeface="楷体" panose="02010609060101010101" pitchFamily="49" charset="-122"/>
                <a:cs typeface="Times New Roman" panose="02020603050405020304" pitchFamily="18" charset="0"/>
              </a:rPr>
              <a:t>）：</a:t>
            </a:r>
            <a:r>
              <a:rPr kumimoji="0" lang="en-US" altLang="zh-CN" sz="3000" u="none" dirty="0">
                <a:solidFill>
                  <a:schemeClr val="bg1"/>
                </a:solidFill>
                <a:ea typeface="楷体" panose="02010609060101010101" pitchFamily="49" charset="-122"/>
                <a:cs typeface="Times New Roman" panose="02020603050405020304" pitchFamily="18" charset="0"/>
              </a:rPr>
              <a:t>IT</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项目战略计划</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提供了一个优秀的</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分析方法</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l">
              <a:lnSpc>
                <a:spcPct val="110000"/>
              </a:lnSpc>
              <a:spcBef>
                <a:spcPct val="50000"/>
              </a:spcBef>
              <a:buClr>
                <a:schemeClr val="hlink"/>
              </a:buClr>
            </a:pPr>
            <a:r>
              <a:rPr kumimoji="0" lang="en-US" altLang="zh-CN" sz="3000" u="none" dirty="0">
                <a:solidFill>
                  <a:schemeClr val="bg2"/>
                </a:solidFill>
                <a:ea typeface="楷体" panose="02010609060101010101" pitchFamily="49" charset="-122"/>
                <a:cs typeface="Times New Roman" panose="02020603050405020304" pitchFamily="18" charset="0"/>
              </a:rPr>
              <a:t>SWOT</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分析，将与研究对象密切相关的各种内部</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优势因素</a:t>
            </a:r>
            <a:r>
              <a:rPr kumimoji="0" lang="zh-CN" altLang="en-US" sz="2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sz="2600" u="none" dirty="0">
                <a:solidFill>
                  <a:srgbClr val="0000FF"/>
                </a:solidFill>
                <a:ea typeface="楷体" panose="02010609060101010101" pitchFamily="49" charset="-122"/>
                <a:cs typeface="Times New Roman" panose="02020603050405020304" pitchFamily="18" charset="0"/>
              </a:rPr>
              <a:t>S</a:t>
            </a:r>
            <a:r>
              <a:rPr kumimoji="0" lang="en-US" altLang="zh-CN" sz="2600" u="none" dirty="0">
                <a:solidFill>
                  <a:schemeClr val="bg2"/>
                </a:solidFill>
                <a:ea typeface="楷体" panose="02010609060101010101" pitchFamily="49" charset="-122"/>
                <a:cs typeface="Times New Roman" panose="02020603050405020304" pitchFamily="18" charset="0"/>
              </a:rPr>
              <a:t>trengths</a:t>
            </a:r>
            <a:r>
              <a:rPr kumimoji="0" lang="zh-CN" altLang="en-US" sz="2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弱点因素</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sz="2600" u="none" dirty="0">
                <a:solidFill>
                  <a:srgbClr val="0000FF"/>
                </a:solidFill>
                <a:ea typeface="楷体" panose="02010609060101010101" pitchFamily="49" charset="-122"/>
                <a:cs typeface="Times New Roman" panose="02020603050405020304" pitchFamily="18" charset="0"/>
              </a:rPr>
              <a:t>W</a:t>
            </a:r>
            <a:r>
              <a:rPr kumimoji="0" lang="en-US" altLang="zh-CN" sz="2600" u="none" dirty="0">
                <a:solidFill>
                  <a:schemeClr val="bg2"/>
                </a:solidFill>
                <a:ea typeface="楷体" panose="02010609060101010101" pitchFamily="49" charset="-122"/>
                <a:cs typeface="Times New Roman" panose="02020603050405020304" pitchFamily="18" charset="0"/>
              </a:rPr>
              <a:t>eaknesses</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机会因素</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en-US" altLang="zh-CN" sz="2600" u="none" dirty="0">
                <a:solidFill>
                  <a:srgbClr val="0000FF"/>
                </a:solidFill>
                <a:ea typeface="楷体" panose="02010609060101010101" pitchFamily="49" charset="-122"/>
                <a:cs typeface="Times New Roman" panose="02020603050405020304" pitchFamily="18" charset="0"/>
              </a:rPr>
              <a:t>O</a:t>
            </a:r>
            <a:r>
              <a:rPr kumimoji="0" lang="en-US" altLang="zh-CN" sz="2600" u="none" dirty="0">
                <a:solidFill>
                  <a:schemeClr val="bg2"/>
                </a:solidFill>
                <a:ea typeface="楷体" panose="02010609060101010101" pitchFamily="49" charset="-122"/>
                <a:cs typeface="Times New Roman" panose="02020603050405020304" pitchFamily="18" charset="0"/>
              </a:rPr>
              <a:t>pportunities</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）和</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威胁因素</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sym typeface="+mn-ea"/>
              </a:rPr>
              <a:t>（</a:t>
            </a:r>
            <a:r>
              <a:rPr kumimoji="0" lang="en-US" altLang="zh-CN" sz="3000" u="none" dirty="0">
                <a:solidFill>
                  <a:srgbClr val="0000FF"/>
                </a:solidFill>
                <a:ea typeface="楷体" panose="02010609060101010101" pitchFamily="49" charset="-122"/>
                <a:cs typeface="Times New Roman" panose="02020603050405020304" pitchFamily="18" charset="0"/>
                <a:sym typeface="+mn-ea"/>
              </a:rPr>
              <a:t>T</a:t>
            </a:r>
            <a:r>
              <a:rPr kumimoji="0" lang="en-US" altLang="zh-CN" sz="3000" u="none" dirty="0">
                <a:solidFill>
                  <a:schemeClr val="bg2"/>
                </a:solidFill>
                <a:ea typeface="楷体" panose="02010609060101010101" pitchFamily="49" charset="-122"/>
                <a:cs typeface="Times New Roman" panose="02020603050405020304" pitchFamily="18" charset="0"/>
                <a:sym typeface="+mn-ea"/>
              </a:rPr>
              <a:t>hreats</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sym typeface="+mn-ea"/>
              </a:rPr>
              <a:t>）</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，通过调查分析和罗列后按</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矩阵形式排列</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，并</a:t>
            </a:r>
            <a:r>
              <a:rPr kumimoji="0"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运用系统分析</a:t>
            </a:r>
            <a:r>
              <a:rPr kumimoji="0"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的原理，将各种因素相互匹配加以分析，从中得出一系列相应的结论。</a:t>
            </a:r>
          </a:p>
        </p:txBody>
      </p:sp>
      <p:sp>
        <p:nvSpPr>
          <p:cNvPr id="22534" name="Rectangle 8"/>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22535" name="Rectangle 9"/>
          <p:cNvSpPr>
            <a:spLocks noChangeArrowheads="1"/>
          </p:cNvSpPr>
          <p:nvPr/>
        </p:nvSpPr>
        <p:spPr bwMode="auto">
          <a:xfrm>
            <a:off x="323850" y="1341438"/>
            <a:ext cx="4646930"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2.1.3 </a:t>
            </a:r>
            <a:r>
              <a:rPr kumimoji="0" lang="en-US" altLang="en-US" u="none">
                <a:solidFill>
                  <a:srgbClr val="FF0000"/>
                </a:solidFill>
                <a:latin typeface="楷体" panose="02010609060101010101" pitchFamily="49" charset="-122"/>
                <a:ea typeface="楷体" panose="02010609060101010101" pitchFamily="49" charset="-122"/>
              </a:rPr>
              <a:t>战略计划与项目的选择</a:t>
            </a:r>
            <a:r>
              <a:rPr kumimoji="0" lang="en-US" altLang="en-US" u="none">
                <a:solidFill>
                  <a:srgbClr val="FF0000"/>
                </a:solidFill>
                <a:ea typeface="楷体_GB2312" pitchFamily="49" charset="-122"/>
              </a:rPr>
              <a:t> </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9"/>
          <p:cNvSpPr>
            <a:spLocks noGrp="1" noChangeArrowheads="1"/>
          </p:cNvSpPr>
          <p:nvPr>
            <p:ph type="sldNum" sz="quarter" idx="10"/>
          </p:nvPr>
        </p:nvSpPr>
        <p:spPr>
          <a:noFill/>
        </p:spPr>
        <p:txBody>
          <a:bodyPr/>
          <a:lstStyle/>
          <a:p>
            <a:r>
              <a:rPr lang="zh-CN" altLang="en-GB" dirty="0"/>
              <a:t>  </a:t>
            </a:r>
            <a:fld id="{01D7EFFB-18DB-44A9-8B30-835513279471}" type="slidenum">
              <a:rPr lang="zh-CN" altLang="en-GB" smtClean="0"/>
              <a:t>17</a:t>
            </a:fld>
            <a:endParaRPr lang="en-US" altLang="zh-CN" dirty="0"/>
          </a:p>
        </p:txBody>
      </p:sp>
      <p:sp>
        <p:nvSpPr>
          <p:cNvPr id="2765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27652" name="Text Box 4"/>
          <p:cNvSpPr txBox="1">
            <a:spLocks noChangeArrowheads="1"/>
          </p:cNvSpPr>
          <p:nvPr/>
        </p:nvSpPr>
        <p:spPr bwMode="auto">
          <a:xfrm>
            <a:off x="7740650" y="190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P.39</a:t>
            </a:r>
          </a:p>
        </p:txBody>
      </p:sp>
      <p:sp>
        <p:nvSpPr>
          <p:cNvPr id="633861" name="Text Box 5"/>
          <p:cNvSpPr txBox="1">
            <a:spLocks noChangeArrowheads="1"/>
          </p:cNvSpPr>
          <p:nvPr/>
        </p:nvSpPr>
        <p:spPr bwMode="auto">
          <a:xfrm>
            <a:off x="250825" y="1885950"/>
            <a:ext cx="8642350" cy="4415790"/>
          </a:xfrm>
          <a:prstGeom prst="rect">
            <a:avLst/>
          </a:prstGeom>
          <a:noFill/>
          <a:ln w="9525">
            <a:noFill/>
            <a:miter lim="800000"/>
          </a:ln>
        </p:spPr>
        <p:txBody>
          <a:bodyPr>
            <a:spAutoFit/>
          </a:bodyPr>
          <a:lstStyle/>
          <a:p>
            <a:pPr algn="just">
              <a:spcBef>
                <a:spcPts val="600"/>
              </a:spcBef>
              <a:spcAft>
                <a:spcPts val="600"/>
              </a:spcAft>
              <a:buClr>
                <a:schemeClr val="hlink"/>
              </a:buClr>
              <a:tabLst>
                <a:tab pos="1082675" algn="l"/>
              </a:tabLst>
            </a:pP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无论</a:t>
            </a:r>
            <a:r>
              <a:rPr lang="en-US" u="none" dirty="0">
                <a:solidFill>
                  <a:schemeClr val="bg1"/>
                </a:solidFill>
                <a:ea typeface="楷体" panose="02010609060101010101" pitchFamily="49" charset="-122"/>
                <a:cs typeface="Times New Roman" panose="02020603050405020304" pitchFamily="18" charset="0"/>
              </a:rPr>
              <a:t>IT</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是否会成为“战略型信息系统”，从</a:t>
            </a:r>
            <a:r>
              <a:rPr lang="en-US" u="none" dirty="0">
                <a:solidFill>
                  <a:schemeClr val="bg2"/>
                </a:solidFill>
                <a:ea typeface="楷体" panose="02010609060101010101" pitchFamily="49" charset="-122"/>
                <a:cs typeface="Times New Roman" panose="02020603050405020304" pitchFamily="18" charset="0"/>
              </a:rPr>
              <a:t>IT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项目计划开始就</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从组织整体的战略角度</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进行分析是非常关键的。</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ts val="600"/>
              </a:spcBef>
              <a:spcAft>
                <a:spcPts val="600"/>
              </a:spcAft>
              <a:buClr>
                <a:schemeClr val="hlink"/>
              </a:buClr>
              <a:tabLst>
                <a:tab pos="1082675" algn="l"/>
              </a:tabLst>
            </a:pP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组织</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必须</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制定一个</a:t>
            </a:r>
            <a:r>
              <a:rPr lang="en-US" u="none" dirty="0">
                <a:solidFill>
                  <a:schemeClr val="bg1"/>
                </a:solidFill>
                <a:ea typeface="楷体" panose="02010609060101010101" pitchFamily="49" charset="-122"/>
                <a:cs typeface="Times New Roman" panose="02020603050405020304" pitchFamily="18" charset="0"/>
              </a:rPr>
              <a:t>IT</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应用战略</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以明确</a:t>
            </a:r>
            <a:r>
              <a:rPr lang="en-US" u="none" dirty="0">
                <a:solidFill>
                  <a:schemeClr val="bg2"/>
                </a:solidFill>
                <a:ea typeface="楷体" panose="02010609060101010101" pitchFamily="49" charset="-122"/>
                <a:cs typeface="Times New Roman" panose="02020603050405020304" pitchFamily="18" charset="0"/>
              </a:rPr>
              <a:t>IT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应用如何才能服务于组织的整体目标。</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just">
              <a:spcBef>
                <a:spcPts val="600"/>
              </a:spcBef>
              <a:spcAft>
                <a:spcPts val="600"/>
              </a:spcAft>
              <a:buClr>
                <a:schemeClr val="hlink"/>
              </a:buClr>
              <a:tabLst>
                <a:tab pos="1082675" algn="l"/>
              </a:tabLst>
            </a:pPr>
            <a:r>
              <a:rPr lang="en-US" u="none" dirty="0">
                <a:solidFill>
                  <a:schemeClr val="bg2"/>
                </a:solidFill>
                <a:latin typeface="+mn-lt"/>
                <a:ea typeface="楷体" panose="02010609060101010101" pitchFamily="49" charset="-122"/>
                <a:cs typeface="+mn-lt"/>
              </a:rPr>
              <a:t>IT</a:t>
            </a:r>
            <a:r>
              <a:rPr lang="zh-CN" altLang="en-US" u="none" dirty="0">
                <a:solidFill>
                  <a:schemeClr val="bg2"/>
                </a:solidFill>
                <a:latin typeface="+mn-lt"/>
                <a:ea typeface="楷体" panose="02010609060101010101" pitchFamily="49" charset="-122"/>
                <a:cs typeface="+mn-lt"/>
              </a:rPr>
              <a:t>项目</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计划与战略必须要与组织的计划与战略</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相一致</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，组织的战略计划应该在</a:t>
            </a:r>
            <a:r>
              <a:rPr lang="en-US" u="none" dirty="0">
                <a:solidFill>
                  <a:schemeClr val="bg2"/>
                </a:solidFill>
                <a:ea typeface="楷体" panose="02010609060101010101" pitchFamily="49" charset="-122"/>
                <a:cs typeface="Times New Roman" panose="02020603050405020304" pitchFamily="18" charset="0"/>
              </a:rPr>
              <a:t>IT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项目的选择过程中</a:t>
            </a:r>
            <a:r>
              <a:rPr lang="zh-CN" altLang="en-US" u="none" dirty="0">
                <a:solidFill>
                  <a:schemeClr val="bg1"/>
                </a:solidFill>
                <a:latin typeface="楷体" panose="02010609060101010101" pitchFamily="49" charset="-122"/>
                <a:ea typeface="楷体" panose="02010609060101010101" pitchFamily="49" charset="-122"/>
                <a:cs typeface="楷体" panose="02010609060101010101" pitchFamily="49" charset="-122"/>
              </a:rPr>
              <a:t>发挥积极的指导作用</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ctr">
              <a:buClr>
                <a:schemeClr val="hlink"/>
              </a:buClr>
              <a:buFont typeface="Wingdings" panose="05000000000000000000" pitchFamily="2" charset="2"/>
              <a:buNone/>
              <a:tabLst>
                <a:tab pos="1082675" algn="l"/>
              </a:tabLst>
            </a:pPr>
            <a:endParaRPr kumimoji="0" lang="zh-CN" altLang="en-US" sz="3200" u="none" dirty="0">
              <a:solidFill>
                <a:srgbClr val="FF0000"/>
              </a:solidFill>
              <a:latin typeface="楷体" panose="02010609060101010101" pitchFamily="49" charset="-122"/>
              <a:ea typeface="楷体" panose="02010609060101010101" pitchFamily="49" charset="-122"/>
              <a:cs typeface="楷体" panose="02010609060101010101" pitchFamily="49" charset="-122"/>
            </a:endParaRPr>
          </a:p>
        </p:txBody>
      </p:sp>
      <p:sp>
        <p:nvSpPr>
          <p:cNvPr id="27654" name="Rectangle 6"/>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zh-CN" sz="3000" u="none" dirty="0">
                <a:ea typeface="楷体" panose="02010609060101010101" pitchFamily="49" charset="-122"/>
              </a:rPr>
              <a:t>2.1 </a:t>
            </a:r>
            <a:r>
              <a:rPr kumimoji="0" lang="zh-CN" altLang="en-US" sz="3000" u="none" dirty="0">
                <a:ea typeface="楷体" panose="02010609060101010101" pitchFamily="49" charset="-122"/>
              </a:rPr>
              <a:t>把握组织环境</a:t>
            </a:r>
          </a:p>
        </p:txBody>
      </p:sp>
      <p:sp>
        <p:nvSpPr>
          <p:cNvPr id="27655" name="Rectangle 7"/>
          <p:cNvSpPr>
            <a:spLocks noChangeArrowheads="1"/>
          </p:cNvSpPr>
          <p:nvPr/>
        </p:nvSpPr>
        <p:spPr bwMode="auto">
          <a:xfrm>
            <a:off x="323850" y="1341438"/>
            <a:ext cx="4646930"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2.1.3 </a:t>
            </a:r>
            <a:r>
              <a:rPr kumimoji="0" lang="en-US" altLang="en-US" u="none">
                <a:solidFill>
                  <a:srgbClr val="FF0000"/>
                </a:solidFill>
                <a:latin typeface="楷体" panose="02010609060101010101" pitchFamily="49" charset="-122"/>
                <a:ea typeface="楷体" panose="02010609060101010101" pitchFamily="49" charset="-122"/>
              </a:rPr>
              <a:t>战略计划与项目的选择</a:t>
            </a:r>
            <a:r>
              <a:rPr kumimoji="0" lang="en-US" altLang="en-US" u="none">
                <a:solidFill>
                  <a:schemeClr val="hlink"/>
                </a:solidFill>
                <a:ea typeface="楷体_GB2312" pitchFamily="49" charset="-122"/>
              </a:rPr>
              <a:t> </a:t>
            </a:r>
            <a:endParaRPr kumimoji="0" lang="zh-CN" altLang="en-US" u="none">
              <a:solidFill>
                <a:schemeClr val="hlink"/>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38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338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latin typeface="楷体" panose="02010609060101010101" pitchFamily="49" charset="-122"/>
                <a:ea typeface="楷体" panose="02010609060101010101" pitchFamily="49" charset="-122"/>
              </a:rPr>
              <a:t>  </a:t>
            </a:r>
            <a:fld id="{B6D6A615-618E-4DBF-9BE6-09340DC0AD1F}" type="slidenum">
              <a:rPr lang="zh-CN" altLang="en-GB" smtClean="0">
                <a:latin typeface="楷体" panose="02010609060101010101" pitchFamily="49" charset="-122"/>
                <a:ea typeface="楷体" panose="02010609060101010101" pitchFamily="49" charset="-122"/>
              </a:rPr>
              <a:t>18</a:t>
            </a:fld>
            <a:endParaRPr lang="en-US" altLang="zh-CN">
              <a:latin typeface="楷体" panose="02010609060101010101" pitchFamily="49" charset="-122"/>
              <a:ea typeface="楷体" panose="02010609060101010101" pitchFamily="49" charset="-122"/>
            </a:endParaRPr>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latin typeface="楷体" panose="02010609060101010101" pitchFamily="49" charset="-122"/>
              <a:ea typeface="楷体" panose="02010609060101010101" pitchFamily="49" charset="-122"/>
            </a:endParaRPr>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latin typeface="楷体" panose="02010609060101010101" pitchFamily="49" charset="-122"/>
              <a:ea typeface="楷体" panose="02010609060101010101" pitchFamily="49" charset="-122"/>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357290" y="1333577"/>
            <a:ext cx="5715009" cy="4616648"/>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把握组织环境</a:t>
            </a:r>
            <a:endParaRPr lang="en-US" altLang="zh-CN"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u="none" dirty="0" err="1">
                <a:solidFill>
                  <a:srgbClr val="FF0000"/>
                </a:solidFill>
                <a:latin typeface="楷体" panose="02010609060101010101" pitchFamily="49" charset="-122"/>
                <a:ea typeface="楷体" panose="02010609060101010101" pitchFamily="49" charset="-122"/>
              </a:rPr>
              <a:t>掌握系统方法</a:t>
            </a:r>
            <a:endParaRPr lang="en-US" altLang="en-US" sz="54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熟悉项目阶段</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了解项目组织</a:t>
            </a:r>
            <a:endParaRPr lang="zh-CN"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控制项目过程</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最佳实践模型</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9"/>
          <p:cNvSpPr>
            <a:spLocks noGrp="1" noChangeArrowheads="1"/>
          </p:cNvSpPr>
          <p:nvPr>
            <p:ph type="sldNum" sz="quarter" idx="10"/>
          </p:nvPr>
        </p:nvSpPr>
        <p:spPr>
          <a:noFill/>
        </p:spPr>
        <p:txBody>
          <a:bodyPr/>
          <a:lstStyle/>
          <a:p>
            <a:r>
              <a:rPr lang="zh-CN" altLang="en-GB" dirty="0"/>
              <a:t>  </a:t>
            </a:r>
            <a:fld id="{AE609EF5-F12D-4A7E-9C42-F5117D6D8FCA}" type="slidenum">
              <a:rPr lang="zh-CN" altLang="en-GB" smtClean="0"/>
              <a:t>19</a:t>
            </a:fld>
            <a:endParaRPr lang="en-US" altLang="zh-CN" dirty="0"/>
          </a:p>
        </p:txBody>
      </p:sp>
      <p:sp>
        <p:nvSpPr>
          <p:cNvPr id="358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35844"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P.40</a:t>
            </a:r>
          </a:p>
        </p:txBody>
      </p:sp>
      <p:sp>
        <p:nvSpPr>
          <p:cNvPr id="35845" name="Text Box 5"/>
          <p:cNvSpPr txBox="1">
            <a:spLocks noChangeArrowheads="1"/>
          </p:cNvSpPr>
          <p:nvPr/>
        </p:nvSpPr>
        <p:spPr bwMode="auto">
          <a:xfrm>
            <a:off x="107950" y="1773238"/>
            <a:ext cx="8785225" cy="4707890"/>
          </a:xfrm>
          <a:prstGeom prst="rect">
            <a:avLst/>
          </a:prstGeom>
          <a:noFill/>
          <a:ln w="9525">
            <a:noFill/>
            <a:miter lim="800000"/>
          </a:ln>
        </p:spPr>
        <p:txBody>
          <a:bodyPr>
            <a:spAutoFit/>
          </a:bodyPr>
          <a:lstStyle/>
          <a:p>
            <a:pPr algn="l">
              <a:spcBef>
                <a:spcPts val="600"/>
              </a:spcBef>
              <a:spcAft>
                <a:spcPts val="600"/>
              </a:spcAft>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为了有效的应对复杂的环境，</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项目经理</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需要对项目有一个全面的考虑，</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以</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系统方法</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从</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整体的视角</a:t>
            </a:r>
            <a:r>
              <a:rPr kumimoji="0"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看待项目和项目运营的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组织环境。</a:t>
            </a:r>
            <a:endParaRPr kumimoji="0" lang="zh-CN" altLang="en-US" sz="3600" u="none" dirty="0">
              <a:solidFill>
                <a:srgbClr val="990000"/>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在</a:t>
            </a:r>
            <a:r>
              <a:rPr kumimoji="0" lang="en-US" altLang="zh-CN"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IT </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项目管理中采用</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系统思维</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对项目的成功具有关键的作用。</a:t>
            </a:r>
          </a:p>
          <a:p>
            <a:pPr algn="l">
              <a:spcBef>
                <a:spcPts val="600"/>
              </a:spcBef>
              <a:spcAft>
                <a:spcPts val="600"/>
              </a:spcAft>
              <a:buClr>
                <a:schemeClr val="hlink"/>
              </a:buClr>
              <a:tabLst>
                <a:tab pos="365125" algn="l"/>
              </a:tabLst>
            </a:pP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系统思维所体现的系统方法是解决复杂问题的一个整体方法，包括</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系统观念、系统分析和系统管理</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a:t>
            </a:r>
          </a:p>
        </p:txBody>
      </p:sp>
      <p:sp>
        <p:nvSpPr>
          <p:cNvPr id="35846"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2.2 </a:t>
            </a:r>
            <a:r>
              <a:rPr kumimoji="0" lang="en-US" altLang="en-US" sz="3000" u="none" dirty="0" err="1">
                <a:latin typeface="楷体" panose="02010609060101010101" pitchFamily="49" charset="-122"/>
                <a:ea typeface="楷体" panose="02010609060101010101" pitchFamily="49" charset="-122"/>
              </a:rPr>
              <a:t>掌握系统方法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84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84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9"/>
          <p:cNvSpPr>
            <a:spLocks noGrp="1" noChangeArrowheads="1"/>
          </p:cNvSpPr>
          <p:nvPr>
            <p:ph type="sldNum" sz="quarter" idx="10"/>
          </p:nvPr>
        </p:nvSpPr>
        <p:spPr>
          <a:noFill/>
        </p:spPr>
        <p:txBody>
          <a:bodyPr/>
          <a:lstStyle/>
          <a:p>
            <a:r>
              <a:rPr lang="zh-CN" altLang="en-GB" dirty="0"/>
              <a:t>  </a:t>
            </a:r>
            <a:fld id="{9BE1E463-E88D-432F-9244-E52925A11CB1}" type="slidenum">
              <a:rPr lang="zh-CN" altLang="en-GB" smtClean="0"/>
              <a:t>20</a:t>
            </a:fld>
            <a:endParaRPr lang="en-US" altLang="zh-CN" dirty="0"/>
          </a:p>
        </p:txBody>
      </p:sp>
      <p:sp>
        <p:nvSpPr>
          <p:cNvPr id="3686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3686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P.40</a:t>
            </a:r>
          </a:p>
        </p:txBody>
      </p:sp>
      <p:sp>
        <p:nvSpPr>
          <p:cNvPr id="36869" name="Text Box 5"/>
          <p:cNvSpPr txBox="1">
            <a:spLocks noChangeArrowheads="1"/>
          </p:cNvSpPr>
          <p:nvPr/>
        </p:nvSpPr>
        <p:spPr bwMode="auto">
          <a:xfrm>
            <a:off x="107950" y="1927225"/>
            <a:ext cx="8856663" cy="4417695"/>
          </a:xfrm>
          <a:prstGeom prst="rect">
            <a:avLst/>
          </a:prstGeom>
          <a:noFill/>
          <a:ln w="9525">
            <a:noFill/>
            <a:miter lim="800000"/>
          </a:ln>
        </p:spPr>
        <p:txBody>
          <a:bodyPr>
            <a:spAutoFit/>
          </a:bodyPr>
          <a:lstStyle/>
          <a:p>
            <a:pPr algn="just">
              <a:spcBef>
                <a:spcPct val="50000"/>
              </a:spcBef>
              <a:buClr>
                <a:schemeClr val="hlink"/>
              </a:buClr>
              <a:tabLst>
                <a:tab pos="807720" algn="l"/>
              </a:tabLst>
            </a:pPr>
            <a:r>
              <a:rPr kumimoji="0" lang="zh-CN" altLang="en-US" sz="3200" u="none" dirty="0">
                <a:solidFill>
                  <a:srgbClr val="FF0000"/>
                </a:solidFill>
                <a:latin typeface="楷体" panose="02010609060101010101" pitchFamily="49" charset="-122"/>
                <a:ea typeface="楷体" panose="02010609060101010101" pitchFamily="49" charset="-122"/>
              </a:rPr>
              <a:t>系统观念</a:t>
            </a:r>
            <a:r>
              <a:rPr kumimoji="0" lang="zh-CN" altLang="en-US" sz="3200" u="none" dirty="0">
                <a:solidFill>
                  <a:schemeClr val="bg2"/>
                </a:solidFill>
                <a:latin typeface="楷体" panose="02010609060101010101" pitchFamily="49" charset="-122"/>
                <a:ea typeface="楷体" panose="02010609060101010101" pitchFamily="49" charset="-122"/>
              </a:rPr>
              <a:t>是指一整套系统地思考事物的思维模式。</a:t>
            </a:r>
            <a:endParaRPr kumimoji="0" lang="zh-CN" altLang="en-US" u="none" dirty="0">
              <a:solidFill>
                <a:schemeClr val="bg2"/>
              </a:solidFill>
              <a:latin typeface="楷体" panose="02010609060101010101" pitchFamily="49" charset="-122"/>
              <a:ea typeface="楷体" panose="02010609060101010101" pitchFamily="49" charset="-122"/>
            </a:endParaRPr>
          </a:p>
          <a:p>
            <a:pPr marL="0" lvl="1" algn="just">
              <a:spcBef>
                <a:spcPct val="30000"/>
              </a:spcBef>
              <a:buClr>
                <a:schemeClr val="bg1"/>
              </a:buClr>
              <a:tabLst>
                <a:tab pos="807720" algn="l"/>
              </a:tabLst>
            </a:pPr>
            <a:r>
              <a:rPr kumimoji="0" lang="zh-CN" altLang="en-US" u="none" dirty="0">
                <a:solidFill>
                  <a:schemeClr val="bg2"/>
                </a:solidFill>
                <a:latin typeface="楷体" panose="02010609060101010101" pitchFamily="49" charset="-122"/>
                <a:ea typeface="楷体" panose="02010609060101010101" pitchFamily="49" charset="-122"/>
              </a:rPr>
              <a:t>任何事物都是作为系统而存在的，都是按照一定结构组成的有机整体；</a:t>
            </a:r>
          </a:p>
          <a:p>
            <a:pPr marL="0" lvl="1" algn="just">
              <a:spcBef>
                <a:spcPct val="30000"/>
              </a:spcBef>
              <a:buClr>
                <a:schemeClr val="bg1"/>
              </a:buClr>
              <a:tabLst>
                <a:tab pos="807720" algn="l"/>
              </a:tabLst>
            </a:pPr>
            <a:r>
              <a:rPr kumimoji="0" lang="zh-CN" altLang="en-US" u="none" dirty="0">
                <a:solidFill>
                  <a:schemeClr val="bg2"/>
                </a:solidFill>
                <a:latin typeface="楷体" panose="02010609060101010101" pitchFamily="49" charset="-122"/>
                <a:ea typeface="楷体" panose="02010609060101010101" pitchFamily="49" charset="-122"/>
              </a:rPr>
              <a:t>系统思维要求人们必须把研究和处理的对象看作是一个完整的系统，</a:t>
            </a:r>
            <a:r>
              <a:rPr kumimoji="0" lang="zh-CN" altLang="en-US" u="none" dirty="0">
                <a:solidFill>
                  <a:schemeClr val="bg1"/>
                </a:solidFill>
                <a:latin typeface="楷体" panose="02010609060101010101" pitchFamily="49" charset="-122"/>
                <a:ea typeface="楷体" panose="02010609060101010101" pitchFamily="49" charset="-122"/>
              </a:rPr>
              <a:t>不仅要看到其中的组成部分</a:t>
            </a:r>
            <a:r>
              <a:rPr kumimoji="0" lang="zh-CN" altLang="en-US" u="none" dirty="0">
                <a:solidFill>
                  <a:schemeClr val="bg2"/>
                </a:solidFill>
                <a:latin typeface="楷体" panose="02010609060101010101" pitchFamily="49" charset="-122"/>
                <a:ea typeface="楷体" panose="02010609060101010101" pitchFamily="49" charset="-122"/>
              </a:rPr>
              <a:t>，还要辩证地对待它的</a:t>
            </a:r>
            <a:r>
              <a:rPr kumimoji="0" lang="zh-CN" altLang="en-US" u="none" dirty="0">
                <a:solidFill>
                  <a:schemeClr val="bg1"/>
                </a:solidFill>
                <a:latin typeface="楷体" panose="02010609060101010101" pitchFamily="49" charset="-122"/>
                <a:ea typeface="楷体" panose="02010609060101010101" pitchFamily="49" charset="-122"/>
              </a:rPr>
              <a:t>整体与部分、部分与部分、系统与环境</a:t>
            </a:r>
            <a:r>
              <a:rPr kumimoji="0" lang="zh-CN" altLang="en-US" u="none" dirty="0">
                <a:solidFill>
                  <a:schemeClr val="bg2"/>
                </a:solidFill>
                <a:latin typeface="楷体" panose="02010609060101010101" pitchFamily="49" charset="-122"/>
                <a:ea typeface="楷体" panose="02010609060101010101" pitchFamily="49" charset="-122"/>
              </a:rPr>
              <a:t>等的相互联系和相互作用；</a:t>
            </a:r>
          </a:p>
          <a:p>
            <a:pPr marL="0" lvl="1" algn="just">
              <a:spcBef>
                <a:spcPct val="30000"/>
              </a:spcBef>
              <a:buClr>
                <a:schemeClr val="bg1"/>
              </a:buClr>
              <a:tabLst>
                <a:tab pos="807720" algn="l"/>
              </a:tabLst>
            </a:pPr>
            <a:r>
              <a:rPr kumimoji="0" lang="zh-CN" altLang="en-US" u="none" dirty="0">
                <a:solidFill>
                  <a:srgbClr val="FF0000"/>
                </a:solidFill>
                <a:latin typeface="楷体" panose="02010609060101010101" pitchFamily="49" charset="-122"/>
                <a:ea typeface="楷体" panose="02010609060101010101" pitchFamily="49" charset="-122"/>
              </a:rPr>
              <a:t>从整体的角度</a:t>
            </a:r>
            <a:r>
              <a:rPr kumimoji="0" lang="zh-CN" altLang="en-US" u="none" dirty="0">
                <a:solidFill>
                  <a:schemeClr val="bg2"/>
                </a:solidFill>
                <a:latin typeface="楷体" panose="02010609060101010101" pitchFamily="49" charset="-122"/>
                <a:ea typeface="楷体" panose="02010609060101010101" pitchFamily="49" charset="-122"/>
              </a:rPr>
              <a:t>把系统中的各种因素进行协调和处理，以求达到对问题做出最佳地处理。</a:t>
            </a:r>
          </a:p>
        </p:txBody>
      </p:sp>
      <p:sp>
        <p:nvSpPr>
          <p:cNvPr id="36870"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2.2 </a:t>
            </a:r>
            <a:r>
              <a:rPr kumimoji="0" lang="en-US" altLang="en-US" sz="3000" u="none" dirty="0" err="1">
                <a:latin typeface="楷体" panose="02010609060101010101" pitchFamily="49" charset="-122"/>
                <a:ea typeface="楷体" panose="02010609060101010101" pitchFamily="49" charset="-122"/>
              </a:rPr>
              <a:t>掌握系统方法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86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9"/>
          <p:cNvSpPr>
            <a:spLocks noGrp="1" noChangeArrowheads="1"/>
          </p:cNvSpPr>
          <p:nvPr>
            <p:ph type="sldNum" sz="quarter" idx="10"/>
          </p:nvPr>
        </p:nvSpPr>
        <p:spPr>
          <a:noFill/>
        </p:spPr>
        <p:txBody>
          <a:bodyPr/>
          <a:lstStyle/>
          <a:p>
            <a:r>
              <a:rPr lang="zh-CN" altLang="en-GB" dirty="0"/>
              <a:t>  </a:t>
            </a:r>
            <a:fld id="{B3993276-B1AF-43EF-AF51-38DD5701FC66}" type="slidenum">
              <a:rPr lang="zh-CN" altLang="en-GB" smtClean="0"/>
              <a:t>21</a:t>
            </a:fld>
            <a:endParaRPr lang="en-US" altLang="zh-CN" dirty="0"/>
          </a:p>
        </p:txBody>
      </p:sp>
      <p:sp>
        <p:nvSpPr>
          <p:cNvPr id="3789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3789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P.40</a:t>
            </a:r>
          </a:p>
        </p:txBody>
      </p:sp>
      <p:sp>
        <p:nvSpPr>
          <p:cNvPr id="37893" name="Text Box 5"/>
          <p:cNvSpPr txBox="1">
            <a:spLocks noChangeArrowheads="1"/>
          </p:cNvSpPr>
          <p:nvPr/>
        </p:nvSpPr>
        <p:spPr bwMode="auto">
          <a:xfrm>
            <a:off x="107950" y="1928802"/>
            <a:ext cx="8785225" cy="4190365"/>
          </a:xfrm>
          <a:prstGeom prst="rect">
            <a:avLst/>
          </a:prstGeom>
          <a:noFill/>
          <a:ln w="9525">
            <a:noFill/>
            <a:miter lim="800000"/>
          </a:ln>
        </p:spPr>
        <p:txBody>
          <a:bodyPr>
            <a:spAutoFit/>
          </a:bodyPr>
          <a:lstStyle/>
          <a:p>
            <a:pPr algn="l">
              <a:buClr>
                <a:schemeClr val="hlink"/>
              </a:buClr>
              <a:tabLst>
                <a:tab pos="365125" algn="l"/>
              </a:tabLst>
            </a:pPr>
            <a:r>
              <a:rPr kumimoji="0" lang="zh-CN" altLang="en-US" sz="3600" u="none" dirty="0">
                <a:solidFill>
                  <a:srgbClr val="FF0000"/>
                </a:solidFill>
                <a:latin typeface="楷体" panose="02010609060101010101" pitchFamily="49" charset="-122"/>
                <a:ea typeface="楷体" panose="02010609060101010101" pitchFamily="49" charset="-122"/>
              </a:rPr>
              <a:t>系统分析</a:t>
            </a:r>
            <a:r>
              <a:rPr kumimoji="0" lang="zh-CN" altLang="en-US" sz="3600" u="none" dirty="0">
                <a:solidFill>
                  <a:schemeClr val="bg2"/>
                </a:solidFill>
                <a:latin typeface="楷体" panose="02010609060101010101" pitchFamily="49" charset="-122"/>
                <a:ea typeface="楷体" panose="02010609060101010101" pitchFamily="49" charset="-122"/>
              </a:rPr>
              <a:t>是一种解决问题的方法。</a:t>
            </a:r>
          </a:p>
          <a:p>
            <a:pPr marL="0" lvl="2" algn="l">
              <a:spcBef>
                <a:spcPct val="40000"/>
              </a:spcBef>
              <a:buClr>
                <a:schemeClr val="bg1"/>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rPr>
              <a:t>通过确定系统的研究范围，将其</a:t>
            </a:r>
            <a:r>
              <a:rPr kumimoji="0" lang="zh-CN" altLang="en-US" sz="3200" u="none" dirty="0">
                <a:solidFill>
                  <a:schemeClr val="bg1"/>
                </a:solidFill>
                <a:latin typeface="楷体" panose="02010609060101010101" pitchFamily="49" charset="-122"/>
                <a:ea typeface="楷体" panose="02010609060101010101" pitchFamily="49" charset="-122"/>
              </a:rPr>
              <a:t>分解</a:t>
            </a:r>
            <a:r>
              <a:rPr kumimoji="0" lang="zh-CN" altLang="en-US" sz="3200" u="none" dirty="0">
                <a:solidFill>
                  <a:schemeClr val="bg2"/>
                </a:solidFill>
                <a:latin typeface="楷体" panose="02010609060101010101" pitchFamily="49" charset="-122"/>
                <a:ea typeface="楷体" panose="02010609060101010101" pitchFamily="49" charset="-122"/>
              </a:rPr>
              <a:t>为各个组成要素；</a:t>
            </a:r>
          </a:p>
          <a:p>
            <a:pPr marL="0" lvl="2" algn="l">
              <a:spcBef>
                <a:spcPct val="40000"/>
              </a:spcBef>
              <a:buClr>
                <a:schemeClr val="bg1"/>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rPr>
              <a:t>然后识别和评价</a:t>
            </a:r>
            <a:r>
              <a:rPr kumimoji="0" lang="zh-CN" altLang="en-US" sz="3200" u="none" dirty="0">
                <a:solidFill>
                  <a:schemeClr val="bg1"/>
                </a:solidFill>
                <a:latin typeface="楷体" panose="02010609060101010101" pitchFamily="49" charset="-122"/>
                <a:ea typeface="楷体" panose="02010609060101010101" pitchFamily="49" charset="-122"/>
              </a:rPr>
              <a:t>各要素</a:t>
            </a:r>
            <a:r>
              <a:rPr kumimoji="0" lang="zh-CN" altLang="en-US" sz="3200" u="none" dirty="0">
                <a:solidFill>
                  <a:schemeClr val="bg2"/>
                </a:solidFill>
                <a:latin typeface="楷体" panose="02010609060101010101" pitchFamily="49" charset="-122"/>
                <a:ea typeface="楷体" panose="02010609060101010101" pitchFamily="49" charset="-122"/>
              </a:rPr>
              <a:t>存在的问题、机会、约束、需求；</a:t>
            </a:r>
          </a:p>
          <a:p>
            <a:pPr marL="0" lvl="2" algn="l">
              <a:spcBef>
                <a:spcPct val="40000"/>
              </a:spcBef>
              <a:buClr>
                <a:schemeClr val="bg1"/>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rPr>
              <a:t>对提出的解决方案站</a:t>
            </a:r>
            <a:r>
              <a:rPr kumimoji="0" lang="zh-CN" altLang="en-US" sz="3200" u="none" dirty="0">
                <a:solidFill>
                  <a:schemeClr val="bg1"/>
                </a:solidFill>
                <a:latin typeface="楷体" panose="02010609060101010101" pitchFamily="49" charset="-122"/>
                <a:ea typeface="楷体" panose="02010609060101010101" pitchFamily="49" charset="-122"/>
              </a:rPr>
              <a:t>在系统的高度</a:t>
            </a:r>
            <a:r>
              <a:rPr kumimoji="0" lang="zh-CN" altLang="en-US" sz="3200" u="none" dirty="0">
                <a:solidFill>
                  <a:schemeClr val="bg2"/>
                </a:solidFill>
                <a:latin typeface="楷体" panose="02010609060101010101" pitchFamily="49" charset="-122"/>
                <a:ea typeface="楷体" panose="02010609060101010101" pitchFamily="49" charset="-122"/>
              </a:rPr>
              <a:t>进行比较，筛选一个最优的方案。</a:t>
            </a:r>
          </a:p>
        </p:txBody>
      </p:sp>
      <p:sp>
        <p:nvSpPr>
          <p:cNvPr id="37894" name="Rectangle 7"/>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2.2 </a:t>
            </a:r>
            <a:r>
              <a:rPr kumimoji="0" lang="en-US" altLang="en-US" sz="3000" u="none" dirty="0" err="1">
                <a:latin typeface="楷体" panose="02010609060101010101" pitchFamily="49" charset="-122"/>
                <a:ea typeface="楷体" panose="02010609060101010101" pitchFamily="49" charset="-122"/>
              </a:rPr>
              <a:t>掌握系统方法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89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89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89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9"/>
          <p:cNvSpPr>
            <a:spLocks noGrp="1" noChangeArrowheads="1"/>
          </p:cNvSpPr>
          <p:nvPr>
            <p:ph type="sldNum" sz="quarter" idx="10"/>
          </p:nvPr>
        </p:nvSpPr>
        <p:spPr>
          <a:noFill/>
        </p:spPr>
        <p:txBody>
          <a:bodyPr/>
          <a:lstStyle/>
          <a:p>
            <a:r>
              <a:rPr lang="zh-CN" altLang="en-GB" dirty="0"/>
              <a:t>  </a:t>
            </a:r>
            <a:fld id="{5CD7B95B-B239-45DA-A60C-5BCE0021B420}" type="slidenum">
              <a:rPr lang="zh-CN" altLang="en-GB" smtClean="0"/>
              <a:t>22</a:t>
            </a:fld>
            <a:endParaRPr lang="en-US" altLang="zh-CN" dirty="0"/>
          </a:p>
        </p:txBody>
      </p:sp>
      <p:sp>
        <p:nvSpPr>
          <p:cNvPr id="3891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3891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P.40</a:t>
            </a:r>
          </a:p>
        </p:txBody>
      </p:sp>
      <p:sp>
        <p:nvSpPr>
          <p:cNvPr id="38917" name="Text Box 5"/>
          <p:cNvSpPr txBox="1">
            <a:spLocks noChangeArrowheads="1"/>
          </p:cNvSpPr>
          <p:nvPr/>
        </p:nvSpPr>
        <p:spPr bwMode="auto">
          <a:xfrm>
            <a:off x="107950" y="1927225"/>
            <a:ext cx="8785225" cy="4424680"/>
          </a:xfrm>
          <a:prstGeom prst="rect">
            <a:avLst/>
          </a:prstGeom>
          <a:noFill/>
          <a:ln w="9525">
            <a:noFill/>
            <a:miter lim="800000"/>
          </a:ln>
        </p:spPr>
        <p:txBody>
          <a:bodyPr>
            <a:spAutoFit/>
          </a:bodyPr>
          <a:lstStyle/>
          <a:p>
            <a:pPr algn="just">
              <a:spcBef>
                <a:spcPct val="40000"/>
              </a:spcBef>
              <a:buClr>
                <a:schemeClr val="hlink"/>
              </a:buClr>
              <a:tabLst>
                <a:tab pos="365125" algn="l"/>
              </a:tabLst>
            </a:pPr>
            <a:r>
              <a:rPr kumimoji="0" lang="zh-CN" altLang="en-US" sz="32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系统管理</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是在一个系统进行变革的过程中，运用系统的原理来管理和解决相关的问题。</a:t>
            </a:r>
          </a:p>
          <a:p>
            <a:pPr algn="just">
              <a:spcBef>
                <a:spcPct val="40000"/>
              </a:spcBef>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在管理一个具体的</a:t>
            </a:r>
            <a:r>
              <a:rPr kumimoji="0" lang="en-US" altLang="zh-CN" sz="3200" u="none" dirty="0">
                <a:solidFill>
                  <a:schemeClr val="bg2"/>
                </a:solidFill>
                <a:ea typeface="楷体" panose="02010609060101010101" pitchFamily="49" charset="-122"/>
                <a:cs typeface="Times New Roman" panose="02020603050405020304" pitchFamily="18" charset="0"/>
              </a:rPr>
              <a:t>IT</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项目时，人们很容易将主要精力放到项目的一些</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细节</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上，而</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忽视</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了项目对</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更大系统或组织</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运营和需求的影响。</a:t>
            </a:r>
          </a:p>
          <a:p>
            <a:pPr algn="just">
              <a:spcBef>
                <a:spcPct val="40000"/>
              </a:spcBef>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明确</a:t>
            </a:r>
            <a:r>
              <a:rPr kumimoji="0" lang="en-US" altLang="zh-CN"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IT</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关键业务、技术和组织</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以及各个</a:t>
            </a:r>
            <a:r>
              <a:rPr kumimoji="0"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项目间的相关性</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，是对高层管理人员和项目经理的基本要求和系统管理的首要任务。</a:t>
            </a:r>
          </a:p>
        </p:txBody>
      </p:sp>
      <p:sp>
        <p:nvSpPr>
          <p:cNvPr id="38918"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2.2 </a:t>
            </a:r>
            <a:r>
              <a:rPr kumimoji="0" lang="en-US" altLang="en-US" sz="3000" u="none" dirty="0" err="1">
                <a:latin typeface="楷体" panose="02010609060101010101" pitchFamily="49" charset="-122"/>
                <a:ea typeface="楷体" panose="02010609060101010101" pitchFamily="49" charset="-122"/>
              </a:rPr>
              <a:t>掌握系统方法</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91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9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23</a:t>
            </a:fld>
            <a:endParaRPr lang="en-US" altLang="zh-CN"/>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357290" y="1333577"/>
            <a:ext cx="5715009" cy="4615815"/>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把握组织环境</a:t>
            </a:r>
            <a:endParaRPr lang="en-US" altLang="zh-CN"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掌握系统方法</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u="none" dirty="0" err="1">
                <a:solidFill>
                  <a:srgbClr val="FF0000"/>
                </a:solidFill>
                <a:latin typeface="楷体" panose="02010609060101010101" pitchFamily="49" charset="-122"/>
                <a:ea typeface="楷体" panose="02010609060101010101" pitchFamily="49" charset="-122"/>
              </a:rPr>
              <a:t>熟悉项目阶段</a:t>
            </a:r>
            <a:endParaRPr lang="en-US" altLang="en-US" sz="54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了解项目组织</a:t>
            </a:r>
            <a:endParaRPr lang="zh-CN"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a:solidFill>
                  <a:srgbClr val="0000FF"/>
                </a:solidFill>
                <a:latin typeface="楷体" panose="02010609060101010101" pitchFamily="49" charset="-122"/>
                <a:ea typeface="楷体" panose="02010609060101010101" pitchFamily="49" charset="-122"/>
              </a:rPr>
              <a:t>控制项目过程</a:t>
            </a:r>
          </a:p>
          <a:p>
            <a:pPr algn="l">
              <a:spcBef>
                <a:spcPts val="0"/>
              </a:spcBef>
              <a:spcAft>
                <a:spcPts val="0"/>
              </a:spcAft>
              <a:buClr>
                <a:srgbClr val="C00000"/>
              </a:buClr>
              <a:buSzPct val="100000"/>
              <a:buFont typeface="Arial" panose="020B0604020202020204" pitchFamily="34" charset="0"/>
              <a:buChar char="◙"/>
              <a:defRPr/>
            </a:pPr>
            <a:r>
              <a:rPr lang="zh-CN" altLang="en-US" sz="4800" u="none">
                <a:solidFill>
                  <a:srgbClr val="0000FF"/>
                </a:solidFill>
                <a:latin typeface="楷体" panose="02010609060101010101" pitchFamily="49" charset="-122"/>
                <a:ea typeface="楷体" panose="02010609060101010101" pitchFamily="49" charset="-122"/>
              </a:rPr>
              <a:t>最佳</a:t>
            </a:r>
            <a:r>
              <a:rPr lang="zh-CN" altLang="en-US" sz="4800" u="none" dirty="0">
                <a:solidFill>
                  <a:srgbClr val="0000FF"/>
                </a:solidFill>
                <a:latin typeface="楷体" panose="02010609060101010101" pitchFamily="49" charset="-122"/>
                <a:ea typeface="楷体" panose="02010609060101010101" pitchFamily="49" charset="-122"/>
              </a:rPr>
              <a:t>实践模型</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9"/>
          <p:cNvSpPr>
            <a:spLocks noGrp="1" noChangeArrowheads="1"/>
          </p:cNvSpPr>
          <p:nvPr>
            <p:ph type="sldNum" sz="quarter" idx="10"/>
          </p:nvPr>
        </p:nvSpPr>
        <p:spPr>
          <a:noFill/>
        </p:spPr>
        <p:txBody>
          <a:bodyPr/>
          <a:lstStyle/>
          <a:p>
            <a:r>
              <a:rPr lang="zh-CN" altLang="en-GB" dirty="0"/>
              <a:t>  </a:t>
            </a:r>
            <a:fld id="{C39B91D4-F527-4A3E-A0A5-EFBF2FCD169F}" type="slidenum">
              <a:rPr lang="zh-CN" altLang="en-GB" smtClean="0"/>
              <a:t>24</a:t>
            </a:fld>
            <a:endParaRPr lang="en-US" altLang="zh-CN" dirty="0"/>
          </a:p>
        </p:txBody>
      </p:sp>
      <p:sp>
        <p:nvSpPr>
          <p:cNvPr id="4198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4198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P.43</a:t>
            </a:r>
          </a:p>
        </p:txBody>
      </p:sp>
      <p:sp>
        <p:nvSpPr>
          <p:cNvPr id="674821" name="Text Box 5"/>
          <p:cNvSpPr txBox="1">
            <a:spLocks noChangeArrowheads="1"/>
          </p:cNvSpPr>
          <p:nvPr/>
        </p:nvSpPr>
        <p:spPr bwMode="auto">
          <a:xfrm>
            <a:off x="-32" y="1905081"/>
            <a:ext cx="8820150" cy="3291840"/>
          </a:xfrm>
          <a:prstGeom prst="rect">
            <a:avLst/>
          </a:prstGeom>
          <a:noFill/>
          <a:ln w="9525">
            <a:noFill/>
            <a:miter lim="800000"/>
          </a:ln>
        </p:spPr>
        <p:txBody>
          <a:bodyPr>
            <a:spAutoFit/>
          </a:bodyPr>
          <a:lstStyle/>
          <a:p>
            <a:pPr algn="l">
              <a:spcBef>
                <a:spcPct val="50000"/>
              </a:spcBef>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rPr>
              <a:t>调查分析表明，项目的范围越小、项目组的规模越小、项目的工期越短，项目的风险就越小、项目越容易控制、项目的成功率越高。</a:t>
            </a:r>
            <a:endParaRPr kumimoji="0" lang="en-US" altLang="zh-CN" sz="3200" u="none" dirty="0">
              <a:solidFill>
                <a:schemeClr val="bg2"/>
              </a:solidFill>
              <a:latin typeface="楷体" panose="02010609060101010101" pitchFamily="49" charset="-122"/>
              <a:ea typeface="楷体" panose="02010609060101010101" pitchFamily="49" charset="-122"/>
            </a:endParaRPr>
          </a:p>
          <a:p>
            <a:pPr algn="l">
              <a:spcBef>
                <a:spcPct val="50000"/>
              </a:spcBef>
              <a:buClr>
                <a:schemeClr val="hlink"/>
              </a:buClr>
              <a:tabLst>
                <a:tab pos="365125" algn="l"/>
              </a:tabLst>
            </a:pPr>
            <a:r>
              <a:rPr kumimoji="0" lang="zh-CN" altLang="en-US" sz="3200" u="none" dirty="0">
                <a:solidFill>
                  <a:schemeClr val="bg2"/>
                </a:solidFill>
                <a:latin typeface="楷体" panose="02010609060101010101" pitchFamily="49" charset="-122"/>
                <a:ea typeface="楷体" panose="02010609060101010101" pitchFamily="49" charset="-122"/>
              </a:rPr>
              <a:t>将</a:t>
            </a:r>
            <a:r>
              <a:rPr kumimoji="0" lang="zh-CN" altLang="en-US" sz="3200" u="none" dirty="0">
                <a:solidFill>
                  <a:schemeClr val="bg1"/>
                </a:solidFill>
                <a:latin typeface="楷体" panose="02010609060101010101" pitchFamily="49" charset="-122"/>
                <a:ea typeface="楷体" panose="02010609060101010101" pitchFamily="49" charset="-122"/>
              </a:rPr>
              <a:t>项目划分成不同的阶段</a:t>
            </a:r>
            <a:r>
              <a:rPr kumimoji="0" lang="zh-CN" altLang="en-US" sz="3200" u="none" dirty="0">
                <a:solidFill>
                  <a:schemeClr val="bg2"/>
                </a:solidFill>
                <a:latin typeface="楷体" panose="02010609060101010101" pitchFamily="49" charset="-122"/>
                <a:ea typeface="楷体" panose="02010609060101010101" pitchFamily="49" charset="-122"/>
              </a:rPr>
              <a:t>，以简化项目的复杂度和可控性，更好的处理项目与组织的日常运营之间的关系，提高项目的成功率。</a:t>
            </a:r>
          </a:p>
        </p:txBody>
      </p:sp>
      <p:sp>
        <p:nvSpPr>
          <p:cNvPr id="41990"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latin typeface="楷体" panose="02010609060101010101" pitchFamily="49" charset="-122"/>
                <a:ea typeface="楷体" panose="02010609060101010101" pitchFamily="49" charset="-122"/>
              </a:rPr>
              <a:t>熟悉项目阶段</a:t>
            </a:r>
            <a:endParaRPr kumimoji="0" lang="zh-CN" altLang="en-US" sz="3000" u="none" dirty="0">
              <a:latin typeface="楷体" panose="02010609060101010101" pitchFamily="49" charset="-122"/>
              <a:ea typeface="楷体" panose="02010609060101010101" pitchFamily="49" charset="-122"/>
            </a:endParaRPr>
          </a:p>
        </p:txBody>
      </p:sp>
      <p:sp>
        <p:nvSpPr>
          <p:cNvPr id="41991" name="Rectangle 7"/>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r>
              <a:rPr kumimoji="0" lang="en-US" altLang="en-US" u="none" dirty="0">
                <a:solidFill>
                  <a:srgbClr val="FF0000"/>
                </a:solidFill>
                <a:ea typeface="楷体_GB2312" pitchFamily="49" charset="-122"/>
              </a:rPr>
              <a:t>2.3.1 </a:t>
            </a:r>
            <a:r>
              <a:rPr kumimoji="0" lang="en-US" altLang="en-US" u="none" dirty="0" err="1">
                <a:solidFill>
                  <a:srgbClr val="FF0000"/>
                </a:solidFill>
                <a:latin typeface="楷体" panose="02010609060101010101" pitchFamily="49" charset="-122"/>
                <a:ea typeface="楷体" panose="02010609060101010101" pitchFamily="49" charset="-122"/>
              </a:rPr>
              <a:t>项目阶段性特征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748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9"/>
          <p:cNvSpPr>
            <a:spLocks noGrp="1" noChangeArrowheads="1"/>
          </p:cNvSpPr>
          <p:nvPr>
            <p:ph type="sldNum" sz="quarter" idx="10"/>
          </p:nvPr>
        </p:nvSpPr>
        <p:spPr>
          <a:noFill/>
        </p:spPr>
        <p:txBody>
          <a:bodyPr/>
          <a:lstStyle/>
          <a:p>
            <a:r>
              <a:rPr lang="zh-CN" altLang="en-GB" dirty="0"/>
              <a:t>  </a:t>
            </a:r>
            <a:fld id="{00D7B5F0-A9BC-42D6-8F5A-EB689DE51EE4}" type="slidenum">
              <a:rPr lang="zh-CN" altLang="en-GB" smtClean="0"/>
              <a:t>25</a:t>
            </a:fld>
            <a:endParaRPr lang="en-US" altLang="zh-CN" dirty="0"/>
          </a:p>
        </p:txBody>
      </p:sp>
      <p:sp>
        <p:nvSpPr>
          <p:cNvPr id="4403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4403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P.41</a:t>
            </a:r>
          </a:p>
        </p:txBody>
      </p:sp>
      <p:pic>
        <p:nvPicPr>
          <p:cNvPr id="44037" name="Picture 6" descr="图2－3"/>
          <p:cNvPicPr>
            <a:picLocks noChangeAspect="1" noChangeArrowheads="1"/>
          </p:cNvPicPr>
          <p:nvPr/>
        </p:nvPicPr>
        <p:blipFill>
          <a:blip r:embed="rId3" cstate="print"/>
          <a:srcRect/>
          <a:stretch>
            <a:fillRect/>
          </a:stretch>
        </p:blipFill>
        <p:spPr bwMode="auto">
          <a:xfrm>
            <a:off x="144463" y="1771650"/>
            <a:ext cx="8964612" cy="4537075"/>
          </a:xfrm>
          <a:prstGeom prst="rect">
            <a:avLst/>
          </a:prstGeom>
          <a:noFill/>
          <a:ln w="9525">
            <a:noFill/>
            <a:miter lim="800000"/>
            <a:headEnd/>
            <a:tailEnd/>
          </a:ln>
        </p:spPr>
      </p:pic>
      <p:sp>
        <p:nvSpPr>
          <p:cNvPr id="44038" name="Rectangle 7"/>
          <p:cNvSpPr>
            <a:spLocks noChangeArrowheads="1"/>
          </p:cNvSpPr>
          <p:nvPr/>
        </p:nvSpPr>
        <p:spPr bwMode="auto">
          <a:xfrm>
            <a:off x="3437890" y="6505258"/>
            <a:ext cx="2499995" cy="337185"/>
          </a:xfrm>
          <a:prstGeom prst="rect">
            <a:avLst/>
          </a:prstGeom>
          <a:noFill/>
          <a:ln w="9525">
            <a:noFill/>
            <a:miter lim="800000"/>
          </a:ln>
        </p:spPr>
        <p:txBody>
          <a:bodyPr wrap="none" anchor="ctr">
            <a:spAutoFit/>
          </a:bodyPr>
          <a:lstStyle/>
          <a:p>
            <a:pPr algn="ct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图</a:t>
            </a:r>
            <a:r>
              <a:rPr kumimoji="0" lang="en-US" altLang="zh-CN" sz="1600" u="none">
                <a:solidFill>
                  <a:srgbClr val="FF0000"/>
                </a:solidFill>
                <a:ea typeface="楷体" panose="02010609060101010101" pitchFamily="49" charset="-122"/>
                <a:cs typeface="Times New Roman" panose="02020603050405020304" pitchFamily="18" charset="0"/>
              </a:rPr>
              <a:t>2-1</a:t>
            </a:r>
            <a:r>
              <a:rPr kumimoji="0" lang="en-US" altLang="zh-CN" sz="1600" u="none">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项目阶段总体架构</a:t>
            </a:r>
          </a:p>
        </p:txBody>
      </p:sp>
      <p:sp>
        <p:nvSpPr>
          <p:cNvPr id="44039" name="Rectangle 8"/>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ea typeface="楷体" panose="02010609060101010101" pitchFamily="49" charset="-122"/>
              </a:rPr>
              <a:t>熟悉项目阶段</a:t>
            </a:r>
            <a:endParaRPr kumimoji="0" lang="zh-CN" altLang="en-US" sz="3000" u="none" dirty="0">
              <a:ea typeface="楷体" panose="02010609060101010101" pitchFamily="49" charset="-122"/>
            </a:endParaRPr>
          </a:p>
        </p:txBody>
      </p:sp>
      <p:sp>
        <p:nvSpPr>
          <p:cNvPr id="44040" name="Rectangle 9"/>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2.3.1 </a:t>
            </a:r>
            <a:r>
              <a:rPr kumimoji="0" lang="en-US" altLang="en-US" u="none">
                <a:solidFill>
                  <a:srgbClr val="FF0000"/>
                </a:solidFill>
                <a:latin typeface="楷体" panose="02010609060101010101" pitchFamily="49" charset="-122"/>
                <a:ea typeface="楷体" panose="02010609060101010101" pitchFamily="49" charset="-122"/>
              </a:rPr>
              <a:t>项目阶段性特征</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p:cNvSpPr>
            <a:spLocks noGrp="1" noChangeArrowheads="1"/>
          </p:cNvSpPr>
          <p:nvPr>
            <p:ph type="sldNum" sz="quarter" idx="10"/>
          </p:nvPr>
        </p:nvSpPr>
        <p:spPr>
          <a:noFill/>
        </p:spPr>
        <p:txBody>
          <a:bodyPr/>
          <a:lstStyle/>
          <a:p>
            <a:r>
              <a:rPr lang="zh-CN" altLang="en-GB" dirty="0"/>
              <a:t>  </a:t>
            </a:r>
            <a:fld id="{28CE5C28-9E01-462C-9C2B-E18A1FC8D312}" type="slidenum">
              <a:rPr lang="zh-CN" altLang="en-GB" smtClean="0"/>
              <a:t>26</a:t>
            </a:fld>
            <a:endParaRPr lang="en-US" altLang="zh-CN" dirty="0"/>
          </a:p>
        </p:txBody>
      </p:sp>
      <p:sp>
        <p:nvSpPr>
          <p:cNvPr id="4505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45060"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P.42</a:t>
            </a:r>
          </a:p>
        </p:txBody>
      </p:sp>
      <p:sp>
        <p:nvSpPr>
          <p:cNvPr id="867332" name="Text Box 4"/>
          <p:cNvSpPr txBox="1">
            <a:spLocks noChangeArrowheads="1"/>
          </p:cNvSpPr>
          <p:nvPr/>
        </p:nvSpPr>
        <p:spPr bwMode="auto">
          <a:xfrm>
            <a:off x="215931" y="1928802"/>
            <a:ext cx="8713787" cy="4123055"/>
          </a:xfrm>
          <a:prstGeom prst="rect">
            <a:avLst/>
          </a:prstGeom>
          <a:noFill/>
          <a:ln w="9525">
            <a:noFill/>
            <a:miter lim="800000"/>
          </a:ln>
        </p:spPr>
        <p:txBody>
          <a:bodyPr>
            <a:spAutoFit/>
          </a:bodyPr>
          <a:lstStyle/>
          <a:p>
            <a:pPr algn="l">
              <a:spcBef>
                <a:spcPts val="600"/>
              </a:spcBef>
              <a:spcAft>
                <a:spcPts val="600"/>
              </a:spcAft>
            </a:pPr>
            <a:r>
              <a:rPr lang="zh-CN" altLang="en-US" sz="3600" u="none" dirty="0">
                <a:solidFill>
                  <a:srgbClr val="FF0000"/>
                </a:solidFill>
                <a:latin typeface="楷体" panose="02010609060101010101" pitchFamily="49" charset="-122"/>
                <a:ea typeface="楷体" panose="02010609060101010101" pitchFamily="49" charset="-122"/>
              </a:rPr>
              <a:t>定义阶段</a:t>
            </a:r>
            <a:r>
              <a:rPr lang="zh-CN" altLang="en-US" sz="3600" u="none" dirty="0">
                <a:solidFill>
                  <a:schemeClr val="bg2"/>
                </a:solidFill>
                <a:latin typeface="楷体" panose="02010609060101010101" pitchFamily="49" charset="-122"/>
                <a:ea typeface="楷体" panose="02010609060101010101" pitchFamily="49" charset="-122"/>
              </a:rPr>
              <a:t>的主要任务是</a:t>
            </a:r>
            <a:r>
              <a:rPr lang="zh-CN" altLang="en-US" sz="3600" u="none" dirty="0">
                <a:solidFill>
                  <a:schemeClr val="bg1"/>
                </a:solidFill>
                <a:latin typeface="楷体" panose="02010609060101010101" pitchFamily="49" charset="-122"/>
                <a:ea typeface="楷体" panose="02010609060101010101" pitchFamily="49" charset="-122"/>
              </a:rPr>
              <a:t>制定项目建议书</a:t>
            </a:r>
            <a:r>
              <a:rPr lang="zh-CN" altLang="en-US" sz="3600" u="none" dirty="0">
                <a:solidFill>
                  <a:schemeClr val="bg2"/>
                </a:solidFill>
                <a:latin typeface="楷体" panose="02010609060101010101" pitchFamily="49" charset="-122"/>
                <a:ea typeface="楷体" panose="02010609060101010101" pitchFamily="49" charset="-122"/>
              </a:rPr>
              <a:t>，它主要描述为什么要做？做什么？对于项目目标来说，项目建议书决定着其未来的蓝图与框架。</a:t>
            </a:r>
          </a:p>
          <a:p>
            <a:pPr algn="l">
              <a:spcBef>
                <a:spcPts val="600"/>
              </a:spcBef>
              <a:spcAft>
                <a:spcPts val="600"/>
              </a:spcAft>
            </a:pPr>
            <a:r>
              <a:rPr lang="zh-CN" altLang="en-US" sz="3600" u="none" dirty="0">
                <a:solidFill>
                  <a:srgbClr val="FF0000"/>
                </a:solidFill>
                <a:latin typeface="楷体" panose="02010609060101010101" pitchFamily="49" charset="-122"/>
                <a:ea typeface="楷体" panose="02010609060101010101" pitchFamily="49" charset="-122"/>
              </a:rPr>
              <a:t>开发阶段</a:t>
            </a:r>
            <a:r>
              <a:rPr lang="zh-CN" altLang="en-US" sz="3600" u="none" dirty="0">
                <a:solidFill>
                  <a:schemeClr val="bg2"/>
                </a:solidFill>
                <a:latin typeface="楷体" panose="02010609060101010101" pitchFamily="49" charset="-122"/>
                <a:ea typeface="楷体" panose="02010609060101010101" pitchFamily="49" charset="-122"/>
              </a:rPr>
              <a:t>的主要任务是规划项目怎么做？谁来做？项目组要根据项目建议书，</a:t>
            </a:r>
            <a:r>
              <a:rPr lang="zh-CN" altLang="en-US" sz="3600" u="none" dirty="0">
                <a:solidFill>
                  <a:schemeClr val="bg1"/>
                </a:solidFill>
                <a:latin typeface="楷体" panose="02010609060101010101" pitchFamily="49" charset="-122"/>
                <a:ea typeface="楷体" panose="02010609060101010101" pitchFamily="49" charset="-122"/>
              </a:rPr>
              <a:t>制定出更为详细的项目计划</a:t>
            </a:r>
            <a:r>
              <a:rPr lang="zh-CN" altLang="en-US" sz="3600" u="none" dirty="0">
                <a:solidFill>
                  <a:schemeClr val="bg2"/>
                </a:solidFill>
                <a:latin typeface="楷体" panose="02010609060101010101" pitchFamily="49" charset="-122"/>
                <a:ea typeface="楷体" panose="02010609060101010101" pitchFamily="49" charset="-122"/>
              </a:rPr>
              <a:t>。</a:t>
            </a:r>
          </a:p>
        </p:txBody>
      </p:sp>
      <p:sp>
        <p:nvSpPr>
          <p:cNvPr id="45062" name="Rectangle 5"/>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latin typeface="楷体" panose="02010609060101010101" pitchFamily="49" charset="-122"/>
                <a:ea typeface="楷体" panose="02010609060101010101" pitchFamily="49" charset="-122"/>
              </a:rPr>
              <a:t>熟悉项目阶段</a:t>
            </a:r>
          </a:p>
        </p:txBody>
      </p:sp>
      <p:sp>
        <p:nvSpPr>
          <p:cNvPr id="45063" name="Rectangle 6"/>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2.3.1 </a:t>
            </a:r>
            <a:r>
              <a:rPr kumimoji="0" lang="en-US" altLang="en-US" u="none">
                <a:solidFill>
                  <a:srgbClr val="FF0000"/>
                </a:solidFill>
                <a:latin typeface="楷体" panose="02010609060101010101" pitchFamily="49" charset="-122"/>
                <a:ea typeface="楷体" panose="02010609060101010101" pitchFamily="49" charset="-122"/>
              </a:rPr>
              <a:t>项目阶段性特征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73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9"/>
          <p:cNvSpPr>
            <a:spLocks noGrp="1" noChangeArrowheads="1"/>
          </p:cNvSpPr>
          <p:nvPr>
            <p:ph type="sldNum" sz="quarter" idx="10"/>
          </p:nvPr>
        </p:nvSpPr>
        <p:spPr>
          <a:noFill/>
        </p:spPr>
        <p:txBody>
          <a:bodyPr/>
          <a:lstStyle/>
          <a:p>
            <a:r>
              <a:rPr lang="zh-CN" altLang="en-GB" dirty="0"/>
              <a:t>  </a:t>
            </a:r>
            <a:fld id="{28CE5C28-9E01-462C-9C2B-E18A1FC8D312}" type="slidenum">
              <a:rPr lang="zh-CN" altLang="en-GB" smtClean="0"/>
              <a:t>27</a:t>
            </a:fld>
            <a:endParaRPr lang="en-US" altLang="zh-CN" dirty="0"/>
          </a:p>
        </p:txBody>
      </p:sp>
      <p:sp>
        <p:nvSpPr>
          <p:cNvPr id="4505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45060"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P.42</a:t>
            </a:r>
          </a:p>
        </p:txBody>
      </p:sp>
      <p:sp>
        <p:nvSpPr>
          <p:cNvPr id="867332" name="Text Box 4"/>
          <p:cNvSpPr txBox="1">
            <a:spLocks noChangeArrowheads="1"/>
          </p:cNvSpPr>
          <p:nvPr/>
        </p:nvSpPr>
        <p:spPr bwMode="auto">
          <a:xfrm>
            <a:off x="-32" y="1876562"/>
            <a:ext cx="8964612" cy="4123055"/>
          </a:xfrm>
          <a:prstGeom prst="rect">
            <a:avLst/>
          </a:prstGeom>
          <a:noFill/>
          <a:ln w="9525">
            <a:noFill/>
            <a:miter lim="800000"/>
          </a:ln>
        </p:spPr>
        <p:txBody>
          <a:bodyPr wrap="square">
            <a:spAutoFit/>
          </a:bodyPr>
          <a:lstStyle/>
          <a:p>
            <a:pPr algn="l">
              <a:spcBef>
                <a:spcPts val="600"/>
              </a:spcBef>
              <a:spcAft>
                <a:spcPts val="600"/>
              </a:spcAft>
            </a:pPr>
            <a:r>
              <a:rPr lang="zh-CN" altLang="en-US" sz="3600" u="none" dirty="0">
                <a:solidFill>
                  <a:srgbClr val="FF0000"/>
                </a:solidFill>
                <a:latin typeface="楷体" panose="02010609060101010101" pitchFamily="49" charset="-122"/>
                <a:ea typeface="楷体" panose="02010609060101010101" pitchFamily="49" charset="-122"/>
              </a:rPr>
              <a:t>实施阶段</a:t>
            </a:r>
            <a:r>
              <a:rPr lang="zh-CN" altLang="en-US" sz="3600" u="none" dirty="0">
                <a:solidFill>
                  <a:schemeClr val="bg2"/>
                </a:solidFill>
                <a:latin typeface="楷体" panose="02010609060101010101" pitchFamily="49" charset="-122"/>
                <a:ea typeface="楷体" panose="02010609060101010101" pitchFamily="49" charset="-122"/>
              </a:rPr>
              <a:t>的主要工作是</a:t>
            </a:r>
            <a:r>
              <a:rPr lang="zh-CN" altLang="en-US" sz="3600" u="none" dirty="0">
                <a:solidFill>
                  <a:schemeClr val="bg1"/>
                </a:solidFill>
                <a:latin typeface="楷体" panose="02010609060101010101" pitchFamily="49" charset="-122"/>
                <a:ea typeface="楷体" panose="02010609060101010101" pitchFamily="49" charset="-122"/>
              </a:rPr>
              <a:t>执行</a:t>
            </a:r>
            <a:r>
              <a:rPr lang="zh-CN" altLang="en-US" sz="3600" u="none" dirty="0">
                <a:solidFill>
                  <a:schemeClr val="bg2"/>
                </a:solidFill>
                <a:latin typeface="楷体" panose="02010609060101010101" pitchFamily="49" charset="-122"/>
                <a:ea typeface="楷体" panose="02010609060101010101" pitchFamily="49" charset="-122"/>
              </a:rPr>
              <a:t>项目计划，并进行项目的</a:t>
            </a:r>
            <a:r>
              <a:rPr lang="zh-CN" altLang="en-US" sz="3600" u="none" dirty="0">
                <a:solidFill>
                  <a:schemeClr val="bg1"/>
                </a:solidFill>
                <a:latin typeface="楷体" panose="02010609060101010101" pitchFamily="49" charset="-122"/>
                <a:ea typeface="楷体" panose="02010609060101010101" pitchFamily="49" charset="-122"/>
              </a:rPr>
              <a:t>监督和控制</a:t>
            </a:r>
            <a:r>
              <a:rPr lang="zh-CN" altLang="en-US" sz="3600" u="none" dirty="0">
                <a:solidFill>
                  <a:schemeClr val="bg2"/>
                </a:solidFill>
                <a:latin typeface="楷体" panose="02010609060101010101" pitchFamily="49" charset="-122"/>
                <a:ea typeface="楷体" panose="02010609060101010101" pitchFamily="49" charset="-122"/>
              </a:rPr>
              <a:t>。其目的就是把项目的内容完成。项目组要根据项目的执行情况，形成</a:t>
            </a:r>
            <a:r>
              <a:rPr lang="zh-CN" altLang="en-US" sz="3600" u="none" dirty="0">
                <a:solidFill>
                  <a:schemeClr val="bg1"/>
                </a:solidFill>
                <a:latin typeface="楷体" panose="02010609060101010101" pitchFamily="49" charset="-122"/>
                <a:ea typeface="楷体" panose="02010609060101010101" pitchFamily="49" charset="-122"/>
              </a:rPr>
              <a:t>项目状态报告</a:t>
            </a:r>
            <a:r>
              <a:rPr lang="zh-CN" altLang="en-US" sz="3600" u="none" dirty="0">
                <a:solidFill>
                  <a:schemeClr val="bg2"/>
                </a:solidFill>
                <a:latin typeface="楷体" panose="02010609060101010101" pitchFamily="49" charset="-122"/>
                <a:ea typeface="楷体" panose="02010609060101010101" pitchFamily="49" charset="-122"/>
              </a:rPr>
              <a:t>。</a:t>
            </a:r>
          </a:p>
          <a:p>
            <a:pPr algn="l">
              <a:spcBef>
                <a:spcPts val="600"/>
              </a:spcBef>
              <a:spcAft>
                <a:spcPts val="600"/>
              </a:spcAft>
            </a:pPr>
            <a:r>
              <a:rPr lang="zh-CN" altLang="en-US" sz="3600" u="none" dirty="0">
                <a:solidFill>
                  <a:srgbClr val="FF0000"/>
                </a:solidFill>
                <a:latin typeface="楷体" panose="02010609060101010101" pitchFamily="49" charset="-122"/>
                <a:ea typeface="楷体" panose="02010609060101010101" pitchFamily="49" charset="-122"/>
              </a:rPr>
              <a:t>收尾阶段</a:t>
            </a:r>
            <a:r>
              <a:rPr lang="zh-CN" altLang="en-US" sz="3600" u="none" dirty="0">
                <a:solidFill>
                  <a:schemeClr val="bg2"/>
                </a:solidFill>
                <a:latin typeface="楷体" panose="02010609060101010101" pitchFamily="49" charset="-122"/>
                <a:ea typeface="楷体" panose="02010609060101010101" pitchFamily="49" charset="-122"/>
              </a:rPr>
              <a:t>的主要任务是完成项目的验收与工作总结，形成项目</a:t>
            </a:r>
            <a:r>
              <a:rPr lang="zh-CN" altLang="en-US" sz="3600" u="none" dirty="0">
                <a:solidFill>
                  <a:schemeClr val="bg1"/>
                </a:solidFill>
                <a:latin typeface="楷体" panose="02010609060101010101" pitchFamily="49" charset="-122"/>
                <a:ea typeface="楷体" panose="02010609060101010101" pitchFamily="49" charset="-122"/>
              </a:rPr>
              <a:t>验收报告</a:t>
            </a:r>
            <a:r>
              <a:rPr lang="zh-CN" altLang="en-US" sz="3600" u="none" dirty="0">
                <a:solidFill>
                  <a:schemeClr val="bg2"/>
                </a:solidFill>
                <a:latin typeface="楷体" panose="02010609060101010101" pitchFamily="49" charset="-122"/>
                <a:ea typeface="楷体" panose="02010609060101010101" pitchFamily="49" charset="-122"/>
              </a:rPr>
              <a:t>与</a:t>
            </a:r>
            <a:r>
              <a:rPr lang="zh-CN" altLang="en-US" sz="3600" u="none" dirty="0">
                <a:solidFill>
                  <a:schemeClr val="bg1"/>
                </a:solidFill>
                <a:latin typeface="楷体" panose="02010609060101010101" pitchFamily="49" charset="-122"/>
                <a:ea typeface="楷体" panose="02010609060101010101" pitchFamily="49" charset="-122"/>
              </a:rPr>
              <a:t>工作总结报告</a:t>
            </a:r>
            <a:r>
              <a:rPr lang="zh-CN" altLang="en-US" sz="3600" u="none" dirty="0">
                <a:solidFill>
                  <a:schemeClr val="bg2"/>
                </a:solidFill>
                <a:latin typeface="楷体" panose="02010609060101010101" pitchFamily="49" charset="-122"/>
                <a:ea typeface="楷体" panose="02010609060101010101" pitchFamily="49" charset="-122"/>
              </a:rPr>
              <a:t>，为后续的项目提供经验、教训和帮助。</a:t>
            </a:r>
          </a:p>
        </p:txBody>
      </p:sp>
      <p:sp>
        <p:nvSpPr>
          <p:cNvPr id="45062" name="Rectangle 5"/>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cs typeface="Times New Roman" panose="02020603050405020304" pitchFamily="18" charset="0"/>
              </a:rPr>
              <a:t>2.3</a:t>
            </a:r>
            <a:r>
              <a:rPr kumimoji="0" lang="en-US" altLang="en-US" sz="3000" u="none" dirty="0">
                <a:latin typeface="楷体" panose="02010609060101010101" pitchFamily="49" charset="-122"/>
                <a:ea typeface="楷体" panose="02010609060101010101" pitchFamily="49" charset="-122"/>
                <a:cs typeface="楷体" panose="02010609060101010101" pitchFamily="49" charset="-122"/>
              </a:rPr>
              <a:t> </a:t>
            </a:r>
            <a:r>
              <a:rPr kumimoji="0" lang="en-US" altLang="en-US" sz="3000" u="none" dirty="0" err="1">
                <a:latin typeface="楷体" panose="02010609060101010101" pitchFamily="49" charset="-122"/>
                <a:ea typeface="楷体" panose="02010609060101010101" pitchFamily="49" charset="-122"/>
                <a:cs typeface="楷体" panose="02010609060101010101" pitchFamily="49" charset="-122"/>
              </a:rPr>
              <a:t>熟悉项目阶段</a:t>
            </a:r>
            <a:endParaRPr kumimoji="0" lang="zh-CN" altLang="en-US" sz="3000" u="none" dirty="0">
              <a:latin typeface="楷体" panose="02010609060101010101" pitchFamily="49" charset="-122"/>
              <a:ea typeface="楷体" panose="02010609060101010101" pitchFamily="49" charset="-122"/>
              <a:cs typeface="楷体" panose="02010609060101010101" pitchFamily="49" charset="-122"/>
            </a:endParaRPr>
          </a:p>
        </p:txBody>
      </p:sp>
      <p:sp>
        <p:nvSpPr>
          <p:cNvPr id="45063" name="Rectangle 6"/>
          <p:cNvSpPr>
            <a:spLocks noChangeArrowheads="1"/>
          </p:cNvSpPr>
          <p:nvPr/>
        </p:nvSpPr>
        <p:spPr bwMode="auto">
          <a:xfrm>
            <a:off x="323850" y="1341438"/>
            <a:ext cx="3576320"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2.3.1</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项目阶段性特征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733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9"/>
          <p:cNvSpPr>
            <a:spLocks noGrp="1" noChangeArrowheads="1"/>
          </p:cNvSpPr>
          <p:nvPr>
            <p:ph type="sldNum" sz="quarter" idx="10"/>
          </p:nvPr>
        </p:nvSpPr>
        <p:spPr>
          <a:noFill/>
        </p:spPr>
        <p:txBody>
          <a:bodyPr/>
          <a:lstStyle/>
          <a:p>
            <a:r>
              <a:rPr lang="zh-CN" altLang="en-GB" dirty="0"/>
              <a:t>  </a:t>
            </a:r>
            <a:fld id="{A8D03F76-C27B-4E5A-ABB5-6CA09BFE4189}" type="slidenum">
              <a:rPr lang="zh-CN" altLang="en-GB" smtClean="0"/>
              <a:t>28</a:t>
            </a:fld>
            <a:endParaRPr lang="en-US" altLang="zh-CN" dirty="0"/>
          </a:p>
        </p:txBody>
      </p:sp>
      <p:sp>
        <p:nvSpPr>
          <p:cNvPr id="4710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4710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P.42</a:t>
            </a:r>
          </a:p>
        </p:txBody>
      </p:sp>
      <p:sp>
        <p:nvSpPr>
          <p:cNvPr id="683013" name="Text Box 5"/>
          <p:cNvSpPr txBox="1">
            <a:spLocks noChangeArrowheads="1"/>
          </p:cNvSpPr>
          <p:nvPr/>
        </p:nvSpPr>
        <p:spPr bwMode="auto">
          <a:xfrm>
            <a:off x="215106" y="2032000"/>
            <a:ext cx="8713787" cy="3753485"/>
          </a:xfrm>
          <a:prstGeom prst="rect">
            <a:avLst/>
          </a:prstGeom>
          <a:noFill/>
          <a:ln w="9525">
            <a:noFill/>
            <a:miter lim="800000"/>
          </a:ln>
        </p:spPr>
        <p:txBody>
          <a:bodyPr>
            <a:spAutoFit/>
          </a:bodyPr>
          <a:lstStyle/>
          <a:p>
            <a:pPr algn="l">
              <a:spcBef>
                <a:spcPts val="600"/>
              </a:spcBef>
              <a:spcAft>
                <a:spcPts val="600"/>
              </a:spcAft>
              <a:buClr>
                <a:schemeClr val="hlink"/>
              </a:buClr>
            </a:pPr>
            <a:r>
              <a:rPr kumimoji="0" lang="zh-CN" altLang="en-US" u="none" dirty="0">
                <a:solidFill>
                  <a:schemeClr val="bg2"/>
                </a:solidFill>
                <a:latin typeface="楷体" panose="02010609060101010101" pitchFamily="49" charset="-122"/>
                <a:ea typeface="楷体" panose="02010609060101010101" pitchFamily="49" charset="-122"/>
              </a:rPr>
              <a:t>每个阶段都以</a:t>
            </a:r>
            <a:r>
              <a:rPr kumimoji="0" lang="zh-CN" altLang="en-US" u="none" dirty="0">
                <a:solidFill>
                  <a:srgbClr val="FF0000"/>
                </a:solidFill>
                <a:latin typeface="楷体" panose="02010609060101010101" pitchFamily="49" charset="-122"/>
                <a:ea typeface="楷体" panose="02010609060101010101" pitchFamily="49" charset="-122"/>
              </a:rPr>
              <a:t>工作成果</a:t>
            </a:r>
            <a:r>
              <a:rPr kumimoji="0" lang="zh-CN" altLang="en-US" u="none" dirty="0">
                <a:solidFill>
                  <a:schemeClr val="bg2"/>
                </a:solidFill>
                <a:latin typeface="楷体" panose="02010609060101010101" pitchFamily="49" charset="-122"/>
                <a:ea typeface="楷体" panose="02010609060101010101" pitchFamily="49" charset="-122"/>
              </a:rPr>
              <a:t>的完成为标志，这种工作成果应该是</a:t>
            </a:r>
            <a:r>
              <a:rPr kumimoji="0" lang="zh-CN" altLang="en-US" u="none" dirty="0">
                <a:solidFill>
                  <a:srgbClr val="FF0000"/>
                </a:solidFill>
                <a:latin typeface="楷体" panose="02010609060101010101" pitchFamily="49" charset="-122"/>
                <a:ea typeface="楷体" panose="02010609060101010101" pitchFamily="49" charset="-122"/>
              </a:rPr>
              <a:t>有形的</a:t>
            </a:r>
            <a:r>
              <a:rPr kumimoji="0" lang="zh-CN" altLang="en-US" u="none" dirty="0">
                <a:solidFill>
                  <a:schemeClr val="bg2"/>
                </a:solidFill>
                <a:latin typeface="楷体" panose="02010609060101010101" pitchFamily="49" charset="-122"/>
                <a:ea typeface="楷体" panose="02010609060101010101" pitchFamily="49" charset="-122"/>
              </a:rPr>
              <a:t>、</a:t>
            </a:r>
            <a:r>
              <a:rPr kumimoji="0" lang="zh-CN" altLang="en-US" u="none" dirty="0">
                <a:solidFill>
                  <a:srgbClr val="FF0000"/>
                </a:solidFill>
                <a:latin typeface="楷体" panose="02010609060101010101" pitchFamily="49" charset="-122"/>
                <a:ea typeface="楷体" panose="02010609060101010101" pitchFamily="49" charset="-122"/>
              </a:rPr>
              <a:t>可评审</a:t>
            </a:r>
            <a:r>
              <a:rPr kumimoji="0" lang="zh-CN" altLang="en-US" u="none" dirty="0">
                <a:solidFill>
                  <a:schemeClr val="bg2"/>
                </a:solidFill>
                <a:latin typeface="楷体" panose="02010609060101010101" pitchFamily="49" charset="-122"/>
                <a:ea typeface="楷体" panose="02010609060101010101" pitchFamily="49" charset="-122"/>
              </a:rPr>
              <a:t>的和</a:t>
            </a:r>
            <a:r>
              <a:rPr kumimoji="0" lang="zh-CN" altLang="en-US" u="none" dirty="0">
                <a:solidFill>
                  <a:srgbClr val="FF0000"/>
                </a:solidFill>
                <a:latin typeface="楷体" panose="02010609060101010101" pitchFamily="49" charset="-122"/>
                <a:ea typeface="楷体" panose="02010609060101010101" pitchFamily="49" charset="-122"/>
              </a:rPr>
              <a:t>可回溯的</a:t>
            </a:r>
            <a:r>
              <a:rPr kumimoji="0" lang="zh-CN" altLang="en-US" u="none" dirty="0">
                <a:solidFill>
                  <a:schemeClr val="bg2"/>
                </a:solidFill>
                <a:latin typeface="楷体" panose="02010609060101010101" pitchFamily="49" charset="-122"/>
                <a:ea typeface="楷体" panose="02010609060101010101" pitchFamily="49" charset="-122"/>
              </a:rPr>
              <a:t>。</a:t>
            </a:r>
          </a:p>
          <a:p>
            <a:pPr algn="l">
              <a:spcBef>
                <a:spcPts val="600"/>
              </a:spcBef>
              <a:spcAft>
                <a:spcPts val="600"/>
              </a:spcAft>
              <a:buClr>
                <a:schemeClr val="hlink"/>
              </a:buClr>
            </a:pPr>
            <a:r>
              <a:rPr kumimoji="0" lang="zh-CN" altLang="en-US" u="none" dirty="0">
                <a:solidFill>
                  <a:schemeClr val="bg2"/>
                </a:solidFill>
                <a:latin typeface="楷体" panose="02010609060101010101" pitchFamily="49" charset="-122"/>
                <a:ea typeface="楷体" panose="02010609060101010101" pitchFamily="49" charset="-122"/>
              </a:rPr>
              <a:t>一个项目阶段的结束通常以</a:t>
            </a:r>
            <a:r>
              <a:rPr kumimoji="0" lang="zh-CN" altLang="en-US" u="none" dirty="0">
                <a:solidFill>
                  <a:srgbClr val="FF0000"/>
                </a:solidFill>
                <a:latin typeface="楷体" panose="02010609060101010101" pitchFamily="49" charset="-122"/>
                <a:ea typeface="楷体" panose="02010609060101010101" pitchFamily="49" charset="-122"/>
              </a:rPr>
              <a:t>通过</a:t>
            </a:r>
            <a:r>
              <a:rPr kumimoji="0" lang="zh-CN" altLang="en-US" u="none" dirty="0">
                <a:solidFill>
                  <a:schemeClr val="bg2"/>
                </a:solidFill>
                <a:latin typeface="楷体" panose="02010609060101010101" pitchFamily="49" charset="-122"/>
                <a:ea typeface="楷体" panose="02010609060101010101" pitchFamily="49" charset="-122"/>
              </a:rPr>
              <a:t>工作成果的</a:t>
            </a:r>
            <a:r>
              <a:rPr kumimoji="0" lang="zh-CN" altLang="en-US" u="none" dirty="0">
                <a:solidFill>
                  <a:srgbClr val="FF0000"/>
                </a:solidFill>
                <a:latin typeface="楷体" panose="02010609060101010101" pitchFamily="49" charset="-122"/>
                <a:ea typeface="楷体" panose="02010609060101010101" pitchFamily="49" charset="-122"/>
              </a:rPr>
              <a:t>评审</a:t>
            </a:r>
            <a:r>
              <a:rPr kumimoji="0" lang="zh-CN" altLang="en-US" u="none" dirty="0">
                <a:solidFill>
                  <a:schemeClr val="bg2"/>
                </a:solidFill>
                <a:latin typeface="楷体" panose="02010609060101010101" pitchFamily="49" charset="-122"/>
                <a:ea typeface="楷体" panose="02010609060101010101" pitchFamily="49" charset="-122"/>
              </a:rPr>
              <a:t>标志。</a:t>
            </a:r>
          </a:p>
          <a:p>
            <a:pPr algn="l">
              <a:spcBef>
                <a:spcPts val="600"/>
              </a:spcBef>
              <a:spcAft>
                <a:spcPts val="600"/>
              </a:spcAft>
              <a:buClr>
                <a:schemeClr val="hlink"/>
              </a:buClr>
            </a:pPr>
            <a:endParaRPr kumimoji="0" lang="zh-CN" altLang="en-US" u="none"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buClr>
                <a:schemeClr val="hlink"/>
              </a:buClr>
            </a:pPr>
            <a:r>
              <a:rPr kumimoji="0" lang="zh-CN" altLang="en-US" u="none" dirty="0">
                <a:solidFill>
                  <a:srgbClr val="FF0000"/>
                </a:solidFill>
                <a:latin typeface="楷体" panose="02010609060101010101" pitchFamily="49" charset="-122"/>
                <a:ea typeface="楷体" panose="02010609060101010101" pitchFamily="49" charset="-122"/>
              </a:rPr>
              <a:t>阶段评审</a:t>
            </a:r>
            <a:r>
              <a:rPr kumimoji="0" lang="zh-CN" altLang="en-US" u="none" dirty="0">
                <a:solidFill>
                  <a:schemeClr val="bg2"/>
                </a:solidFill>
                <a:latin typeface="楷体" panose="02010609060101010101" pitchFamily="49" charset="-122"/>
                <a:ea typeface="楷体" panose="02010609060101010101" pitchFamily="49" charset="-122"/>
              </a:rPr>
              <a:t>的目的主要有二个：</a:t>
            </a:r>
          </a:p>
          <a:p>
            <a:pPr marL="914400" lvl="1" indent="-457200" algn="l">
              <a:spcBef>
                <a:spcPts val="600"/>
              </a:spcBef>
              <a:spcAft>
                <a:spcPts val="600"/>
              </a:spcAft>
              <a:buClr>
                <a:schemeClr val="hlink"/>
              </a:buClr>
              <a:buFont typeface="Arial" panose="020B0604020202020204" pitchFamily="34" charset="0"/>
              <a:buChar char="•"/>
            </a:pPr>
            <a:r>
              <a:rPr kumimoji="0" lang="zh-CN" altLang="en-US" sz="2400" u="none" dirty="0">
                <a:solidFill>
                  <a:schemeClr val="bg2"/>
                </a:solidFill>
                <a:latin typeface="楷体" panose="02010609060101010101" pitchFamily="49" charset="-122"/>
                <a:ea typeface="楷体" panose="02010609060101010101" pitchFamily="49" charset="-122"/>
              </a:rPr>
              <a:t>一是决定该项目是否可以进入下一个阶段；</a:t>
            </a:r>
          </a:p>
          <a:p>
            <a:pPr marL="914400" lvl="1" indent="-457200" algn="l">
              <a:spcBef>
                <a:spcPts val="600"/>
              </a:spcBef>
              <a:spcAft>
                <a:spcPts val="600"/>
              </a:spcAft>
              <a:buClr>
                <a:schemeClr val="hlink"/>
              </a:buClr>
              <a:buFont typeface="Arial" panose="020B0604020202020204" pitchFamily="34" charset="0"/>
              <a:buChar char="•"/>
            </a:pPr>
            <a:r>
              <a:rPr kumimoji="0" lang="zh-CN" altLang="en-US" sz="2400" u="none" dirty="0">
                <a:solidFill>
                  <a:schemeClr val="bg2"/>
                </a:solidFill>
                <a:latin typeface="楷体" panose="02010609060101010101" pitchFamily="49" charset="-122"/>
                <a:ea typeface="楷体" panose="02010609060101010101" pitchFamily="49" charset="-122"/>
              </a:rPr>
              <a:t>二是尽可能以较小的代价查明和纠正错误。</a:t>
            </a:r>
          </a:p>
        </p:txBody>
      </p:sp>
      <p:sp>
        <p:nvSpPr>
          <p:cNvPr id="47110"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latin typeface="楷体" panose="02010609060101010101" pitchFamily="49" charset="-122"/>
                <a:ea typeface="楷体" panose="02010609060101010101" pitchFamily="49" charset="-122"/>
              </a:rPr>
              <a:t>熟悉项目阶段</a:t>
            </a:r>
          </a:p>
        </p:txBody>
      </p:sp>
      <p:sp>
        <p:nvSpPr>
          <p:cNvPr id="47111" name="Rectangle 7"/>
          <p:cNvSpPr>
            <a:spLocks noChangeArrowheads="1"/>
          </p:cNvSpPr>
          <p:nvPr/>
        </p:nvSpPr>
        <p:spPr bwMode="auto">
          <a:xfrm>
            <a:off x="323850" y="1341438"/>
            <a:ext cx="3485515" cy="521970"/>
          </a:xfrm>
          <a:prstGeom prst="rect">
            <a:avLst/>
          </a:prstGeom>
          <a:noFill/>
          <a:ln w="9525">
            <a:noFill/>
            <a:miter lim="800000"/>
          </a:ln>
        </p:spPr>
        <p:txBody>
          <a:bodyPr wrap="none">
            <a:spAutoFit/>
          </a:bodyPr>
          <a:lstStyle/>
          <a:p>
            <a:pPr algn="l"/>
            <a:r>
              <a:rPr kumimoji="0" lang="en-US" altLang="en-US" u="none">
                <a:solidFill>
                  <a:srgbClr val="FF0000"/>
                </a:solidFill>
                <a:ea typeface="楷体_GB2312" pitchFamily="49" charset="-122"/>
              </a:rPr>
              <a:t>2.3.1 </a:t>
            </a:r>
            <a:r>
              <a:rPr kumimoji="0" lang="en-US" altLang="en-US" u="none">
                <a:solidFill>
                  <a:srgbClr val="FF0000"/>
                </a:solidFill>
                <a:latin typeface="楷体" panose="02010609060101010101" pitchFamily="49" charset="-122"/>
                <a:ea typeface="楷体" panose="02010609060101010101" pitchFamily="49" charset="-122"/>
              </a:rPr>
              <a:t>项目阶段性特征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8301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8301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8301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8301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ea typeface="楷体" panose="02010609060101010101" pitchFamily="49" charset="-122"/>
              </a:rPr>
              <a:t>  </a:t>
            </a:r>
            <a:fld id="{FA385C40-C7EE-41FD-9701-28444358944A}" type="slidenum">
              <a:rPr lang="zh-CN" altLang="en-GB" smtClean="0">
                <a:latin typeface="楷体" panose="02010609060101010101" pitchFamily="49" charset="-122"/>
                <a:ea typeface="楷体" panose="02010609060101010101" pitchFamily="49" charset="-122"/>
              </a:rPr>
              <a:t>29</a:t>
            </a:fld>
            <a:endParaRPr lang="en-US" altLang="zh-CN" dirty="0">
              <a:latin typeface="楷体" panose="02010609060101010101" pitchFamily="49" charset="-122"/>
              <a:ea typeface="楷体" panose="02010609060101010101" pitchFamily="49" charset="-122"/>
            </a:endParaRPr>
          </a:p>
        </p:txBody>
      </p:sp>
      <p:sp>
        <p:nvSpPr>
          <p:cNvPr id="4915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latin typeface="楷体" panose="02010609060101010101" pitchFamily="49" charset="-122"/>
              <a:ea typeface="楷体" panose="02010609060101010101" pitchFamily="49" charset="-122"/>
            </a:endParaRPr>
          </a:p>
        </p:txBody>
      </p:sp>
      <p:sp>
        <p:nvSpPr>
          <p:cNvPr id="49156" name="Text Box 4"/>
          <p:cNvSpPr txBox="1">
            <a:spLocks noChangeArrowheads="1"/>
          </p:cNvSpPr>
          <p:nvPr/>
        </p:nvSpPr>
        <p:spPr bwMode="auto">
          <a:xfrm>
            <a:off x="7740650" y="-26988"/>
            <a:ext cx="1295400" cy="457201"/>
          </a:xfrm>
          <a:prstGeom prst="rect">
            <a:avLst/>
          </a:prstGeom>
          <a:noFill/>
          <a:ln w="9525">
            <a:noFill/>
            <a:miter lim="800000"/>
          </a:ln>
        </p:spPr>
        <p:txBody>
          <a:bodyPr>
            <a:spAutoFit/>
          </a:bodyPr>
          <a:lstStyle/>
          <a:p>
            <a:pPr>
              <a:spcBef>
                <a:spcPct val="50000"/>
              </a:spcBef>
            </a:pPr>
            <a:r>
              <a:rPr lang="en-US" altLang="zh-CN" sz="2400" u="none">
                <a:solidFill>
                  <a:schemeClr val="bg2"/>
                </a:solidFill>
                <a:latin typeface="楷体" panose="02010609060101010101" pitchFamily="49" charset="-122"/>
                <a:ea typeface="楷体" panose="02010609060101010101" pitchFamily="49" charset="-122"/>
              </a:rPr>
              <a:t>P.42</a:t>
            </a:r>
          </a:p>
        </p:txBody>
      </p:sp>
      <p:sp>
        <p:nvSpPr>
          <p:cNvPr id="685061" name="Text Box 5"/>
          <p:cNvSpPr txBox="1">
            <a:spLocks noChangeArrowheads="1"/>
          </p:cNvSpPr>
          <p:nvPr/>
        </p:nvSpPr>
        <p:spPr bwMode="auto">
          <a:xfrm>
            <a:off x="215106" y="2096497"/>
            <a:ext cx="8713787" cy="1568450"/>
          </a:xfrm>
          <a:prstGeom prst="rect">
            <a:avLst/>
          </a:prstGeom>
          <a:noFill/>
          <a:ln w="9525">
            <a:noFill/>
            <a:miter lim="800000"/>
          </a:ln>
        </p:spPr>
        <p:txBody>
          <a:bodyPr>
            <a:spAutoFit/>
          </a:bodyPr>
          <a:lstStyle/>
          <a:p>
            <a:pPr algn="just">
              <a:spcBef>
                <a:spcPct val="50000"/>
              </a:spcBef>
              <a:buClr>
                <a:schemeClr val="hlink"/>
              </a:buClr>
            </a:pPr>
            <a:r>
              <a:rPr kumimoji="0" lang="zh-CN" altLang="en-US" sz="3200" u="none" dirty="0">
                <a:solidFill>
                  <a:srgbClr val="FF0000"/>
                </a:solidFill>
                <a:latin typeface="楷体" panose="02010609060101010101" pitchFamily="49" charset="-122"/>
                <a:ea typeface="楷体" panose="02010609060101010101" pitchFamily="49" charset="-122"/>
              </a:rPr>
              <a:t>项目</a:t>
            </a:r>
            <a:r>
              <a:rPr kumimoji="0" lang="zh-CN" altLang="en-US" sz="3200" u="none" dirty="0">
                <a:solidFill>
                  <a:schemeClr val="bg1"/>
                </a:solidFill>
                <a:latin typeface="楷体" panose="02010609060101010101" pitchFamily="49" charset="-122"/>
                <a:ea typeface="楷体" panose="02010609060101010101" pitchFamily="49" charset="-122"/>
              </a:rPr>
              <a:t>生命周期</a:t>
            </a:r>
            <a:r>
              <a:rPr kumimoji="0" lang="zh-CN" altLang="en-US" sz="3200" u="none" dirty="0">
                <a:solidFill>
                  <a:schemeClr val="bg2"/>
                </a:solidFill>
                <a:latin typeface="楷体" panose="02010609060101010101" pitchFamily="49" charset="-122"/>
                <a:ea typeface="楷体" panose="02010609060101010101" pitchFamily="49" charset="-122"/>
              </a:rPr>
              <a:t>是</a:t>
            </a:r>
            <a:r>
              <a:rPr kumimoji="0" lang="zh-CN" altLang="en-US" sz="3200" u="none" dirty="0">
                <a:solidFill>
                  <a:schemeClr val="bg1"/>
                </a:solidFill>
                <a:latin typeface="楷体" panose="02010609060101010101" pitchFamily="49" charset="-122"/>
                <a:ea typeface="楷体" panose="02010609060101010101" pitchFamily="49" charset="-122"/>
              </a:rPr>
              <a:t>项目阶段的集合</a:t>
            </a:r>
            <a:r>
              <a:rPr kumimoji="0" lang="zh-CN" altLang="en-US" sz="3200" u="none" dirty="0">
                <a:solidFill>
                  <a:schemeClr val="bg2"/>
                </a:solidFill>
                <a:latin typeface="楷体" panose="02010609060101010101" pitchFamily="49" charset="-122"/>
                <a:ea typeface="楷体" panose="02010609060101010101" pitchFamily="49" charset="-122"/>
              </a:rPr>
              <a:t>，在项目的不同阶段，项目管理的内容是不相同的，而这些内容是以项目的生命周期过程为重点展开的。</a:t>
            </a:r>
          </a:p>
        </p:txBody>
      </p:sp>
      <p:sp>
        <p:nvSpPr>
          <p:cNvPr id="49158"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cs typeface="Times New Roman" panose="02020603050405020304" pitchFamily="18" charset="0"/>
              </a:rPr>
              <a:t>2.3</a:t>
            </a:r>
            <a:r>
              <a:rPr kumimoji="0" lang="en-US" altLang="en-US" sz="3000" u="none" dirty="0">
                <a:latin typeface="楷体" panose="02010609060101010101" pitchFamily="49" charset="-122"/>
                <a:ea typeface="楷体" panose="02010609060101010101" pitchFamily="49" charset="-122"/>
                <a:cs typeface="楷体" panose="02010609060101010101" pitchFamily="49" charset="-122"/>
              </a:rPr>
              <a:t> </a:t>
            </a:r>
            <a:r>
              <a:rPr kumimoji="0" lang="en-US" altLang="en-US" sz="3000" u="none" dirty="0" err="1">
                <a:latin typeface="楷体" panose="02010609060101010101" pitchFamily="49" charset="-122"/>
                <a:ea typeface="楷体" panose="02010609060101010101" pitchFamily="49" charset="-122"/>
                <a:cs typeface="楷体" panose="02010609060101010101" pitchFamily="49" charset="-122"/>
              </a:rPr>
              <a:t>熟悉项目阶段</a:t>
            </a:r>
            <a:endParaRPr kumimoji="0" lang="zh-CN" altLang="en-US" sz="3000" u="none" dirty="0">
              <a:latin typeface="楷体" panose="02010609060101010101" pitchFamily="49" charset="-122"/>
              <a:ea typeface="楷体" panose="02010609060101010101" pitchFamily="49" charset="-122"/>
              <a:cs typeface="楷体" panose="02010609060101010101" pitchFamily="49" charset="-122"/>
            </a:endParaRPr>
          </a:p>
        </p:txBody>
      </p:sp>
      <p:sp>
        <p:nvSpPr>
          <p:cNvPr id="49159" name="Rectangle 7"/>
          <p:cNvSpPr>
            <a:spLocks noChangeArrowheads="1"/>
          </p:cNvSpPr>
          <p:nvPr/>
        </p:nvSpPr>
        <p:spPr bwMode="auto">
          <a:xfrm>
            <a:off x="323850" y="1341438"/>
            <a:ext cx="4291330"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2.3.2</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项目生命周期的特征</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a:t>  </a:t>
            </a:r>
            <a:fld id="{186D2D88-034E-43EA-AA51-517BC4968C1A}" type="slidenum">
              <a:rPr lang="zh-CN" altLang="en-GB" smtClean="0"/>
              <a:t>30</a:t>
            </a:fld>
            <a:endParaRPr lang="en-US" altLang="zh-CN" dirty="0"/>
          </a:p>
        </p:txBody>
      </p:sp>
      <p:sp>
        <p:nvSpPr>
          <p:cNvPr id="542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5427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P.43</a:t>
            </a:r>
          </a:p>
        </p:txBody>
      </p:sp>
      <p:sp>
        <p:nvSpPr>
          <p:cNvPr id="54277" name="Text Box 7"/>
          <p:cNvSpPr txBox="1">
            <a:spLocks noChangeArrowheads="1"/>
          </p:cNvSpPr>
          <p:nvPr/>
        </p:nvSpPr>
        <p:spPr bwMode="auto">
          <a:xfrm>
            <a:off x="214282" y="1939247"/>
            <a:ext cx="8642350" cy="3999865"/>
          </a:xfrm>
          <a:prstGeom prst="rect">
            <a:avLst/>
          </a:prstGeom>
          <a:noFill/>
          <a:ln w="9525">
            <a:noFill/>
            <a:miter lim="800000"/>
          </a:ln>
        </p:spPr>
        <p:txBody>
          <a:bodyPr>
            <a:spAutoFit/>
          </a:bodyPr>
          <a:lstStyle/>
          <a:p>
            <a:pPr algn="l">
              <a:spcBef>
                <a:spcPts val="1200"/>
              </a:spcBef>
              <a:spcAft>
                <a:spcPts val="600"/>
              </a:spcAft>
            </a:pPr>
            <a:r>
              <a:rPr lang="zh-CN" altLang="en-US" sz="3200" u="none" dirty="0">
                <a:solidFill>
                  <a:srgbClr val="FF0000"/>
                </a:solidFill>
                <a:latin typeface="楷体" panose="02010609060101010101" pitchFamily="49" charset="-122"/>
                <a:ea typeface="楷体" panose="02010609060101010101" pitchFamily="49" charset="-122"/>
              </a:rPr>
              <a:t>产品</a:t>
            </a:r>
            <a:r>
              <a:rPr lang="zh-CN" altLang="en-US" sz="3200" u="none" dirty="0">
                <a:solidFill>
                  <a:schemeClr val="bg1"/>
                </a:solidFill>
                <a:latin typeface="楷体" panose="02010609060101010101" pitchFamily="49" charset="-122"/>
                <a:ea typeface="楷体" panose="02010609060101010101" pitchFamily="49" charset="-122"/>
              </a:rPr>
              <a:t>的生命周期</a:t>
            </a:r>
            <a:r>
              <a:rPr lang="zh-CN" altLang="en-US" sz="3200" u="none" dirty="0">
                <a:solidFill>
                  <a:schemeClr val="bg2"/>
                </a:solidFill>
                <a:latin typeface="楷体" panose="02010609060101010101" pitchFamily="49" charset="-122"/>
                <a:ea typeface="楷体" panose="02010609060101010101" pitchFamily="49" charset="-122"/>
              </a:rPr>
              <a:t>从</a:t>
            </a:r>
            <a:r>
              <a:rPr lang="zh-CN" altLang="en-US" sz="3200" u="none" dirty="0">
                <a:solidFill>
                  <a:schemeClr val="bg1"/>
                </a:solidFill>
                <a:latin typeface="楷体" panose="02010609060101010101" pitchFamily="49" charset="-122"/>
                <a:ea typeface="楷体" panose="02010609060101010101" pitchFamily="49" charset="-122"/>
              </a:rPr>
              <a:t>提出产品研发开始</a:t>
            </a:r>
            <a:r>
              <a:rPr lang="zh-CN" altLang="en-US" sz="3200" u="none" dirty="0">
                <a:solidFill>
                  <a:schemeClr val="bg2"/>
                </a:solidFill>
                <a:latin typeface="楷体" panose="02010609060101010101" pitchFamily="49" charset="-122"/>
                <a:ea typeface="楷体" panose="02010609060101010101" pitchFamily="49" charset="-122"/>
              </a:rPr>
              <a:t>，直到最后</a:t>
            </a:r>
            <a:r>
              <a:rPr lang="zh-CN" altLang="en-US" sz="3200" u="none" dirty="0">
                <a:solidFill>
                  <a:schemeClr val="bg1"/>
                </a:solidFill>
                <a:latin typeface="楷体" panose="02010609060101010101" pitchFamily="49" charset="-122"/>
                <a:ea typeface="楷体" panose="02010609060101010101" pitchFamily="49" charset="-122"/>
              </a:rPr>
              <a:t>停止使用该产品为止</a:t>
            </a:r>
            <a:r>
              <a:rPr lang="zh-CN" altLang="en-US" sz="3200" u="none" dirty="0">
                <a:solidFill>
                  <a:schemeClr val="bg2"/>
                </a:solidFill>
                <a:latin typeface="楷体" panose="02010609060101010101" pitchFamily="49" charset="-122"/>
                <a:ea typeface="楷体" panose="02010609060101010101" pitchFamily="49" charset="-122"/>
              </a:rPr>
              <a:t>。</a:t>
            </a:r>
            <a:endParaRPr lang="en-US" altLang="zh-CN" sz="3200" u="none"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rPr>
              <a:t>对于软件企业来说，</a:t>
            </a:r>
            <a:r>
              <a:rPr lang="zh-CN" altLang="en-US" sz="3200" u="none" dirty="0">
                <a:solidFill>
                  <a:srgbClr val="FF0000"/>
                </a:solidFill>
                <a:latin typeface="楷体" panose="02010609060101010101" pitchFamily="49" charset="-122"/>
                <a:ea typeface="楷体" panose="02010609060101010101" pitchFamily="49" charset="-122"/>
              </a:rPr>
              <a:t>产品的市场成功</a:t>
            </a:r>
            <a:r>
              <a:rPr lang="zh-CN" altLang="en-US" sz="3200" u="none" dirty="0">
                <a:solidFill>
                  <a:schemeClr val="bg2"/>
                </a:solidFill>
                <a:latin typeface="楷体" panose="02010609060101010101" pitchFamily="49" charset="-122"/>
                <a:ea typeface="楷体" panose="02010609060101010101" pitchFamily="49" charset="-122"/>
              </a:rPr>
              <a:t>才是开发</a:t>
            </a:r>
            <a:r>
              <a:rPr lang="zh-CN" altLang="en-US" sz="3200" u="none" dirty="0">
                <a:solidFill>
                  <a:schemeClr val="bg1"/>
                </a:solidFill>
                <a:latin typeface="楷体" panose="02010609060101010101" pitchFamily="49" charset="-122"/>
                <a:ea typeface="楷体" panose="02010609060101010101" pitchFamily="49" charset="-122"/>
              </a:rPr>
              <a:t>项目结束的真正标志</a:t>
            </a:r>
            <a:r>
              <a:rPr lang="zh-CN" altLang="en-US" sz="3200" u="none" dirty="0">
                <a:solidFill>
                  <a:schemeClr val="bg2"/>
                </a:solidFill>
                <a:latin typeface="楷体" panose="02010609060101010101" pitchFamily="49" charset="-122"/>
                <a:ea typeface="楷体" panose="02010609060101010101" pitchFamily="49" charset="-122"/>
              </a:rPr>
              <a:t>。</a:t>
            </a:r>
            <a:endParaRPr lang="en-US" altLang="zh-CN" sz="3200" u="none" dirty="0">
              <a:solidFill>
                <a:schemeClr val="bg2"/>
              </a:solidFill>
              <a:latin typeface="楷体" panose="02010609060101010101" pitchFamily="49" charset="-122"/>
              <a:ea typeface="楷体" panose="02010609060101010101" pitchFamily="49" charset="-122"/>
            </a:endParaRPr>
          </a:p>
          <a:p>
            <a:pPr algn="l">
              <a:spcBef>
                <a:spcPts val="12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rPr>
              <a:t>对于软件产品的生命周期包括了产品项目筛选、概念形成、产品开发、产品上市以及市场增长、成熟、衰退等各个阶段组成的全过程。</a:t>
            </a:r>
          </a:p>
        </p:txBody>
      </p:sp>
      <p:sp>
        <p:nvSpPr>
          <p:cNvPr id="54278"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cs typeface="Times New Roman" panose="02020603050405020304" pitchFamily="18" charset="0"/>
              </a:rPr>
              <a:t>2.3</a:t>
            </a:r>
            <a:r>
              <a:rPr kumimoji="0" lang="en-US" altLang="en-US" sz="3000" u="none" dirty="0">
                <a:latin typeface="楷体" panose="02010609060101010101" pitchFamily="49" charset="-122"/>
                <a:ea typeface="楷体" panose="02010609060101010101" pitchFamily="49" charset="-122"/>
                <a:cs typeface="楷体" panose="02010609060101010101" pitchFamily="49" charset="-122"/>
              </a:rPr>
              <a:t> </a:t>
            </a:r>
            <a:r>
              <a:rPr kumimoji="0" lang="en-US" altLang="en-US" sz="3000" u="none" dirty="0" err="1">
                <a:latin typeface="楷体" panose="02010609060101010101" pitchFamily="49" charset="-122"/>
                <a:ea typeface="楷体" panose="02010609060101010101" pitchFamily="49" charset="-122"/>
                <a:cs typeface="楷体" panose="02010609060101010101" pitchFamily="49" charset="-122"/>
              </a:rPr>
              <a:t>熟悉项目阶段</a:t>
            </a:r>
            <a:endParaRPr kumimoji="0" lang="zh-CN" altLang="en-US" sz="3000" u="none" dirty="0">
              <a:latin typeface="楷体" panose="02010609060101010101" pitchFamily="49" charset="-122"/>
              <a:ea typeface="楷体" panose="02010609060101010101" pitchFamily="49" charset="-122"/>
              <a:cs typeface="楷体" panose="02010609060101010101" pitchFamily="49" charset="-122"/>
            </a:endParaRPr>
          </a:p>
        </p:txBody>
      </p:sp>
      <p:sp>
        <p:nvSpPr>
          <p:cNvPr id="54279" name="Rectangle 9"/>
          <p:cNvSpPr>
            <a:spLocks noChangeArrowheads="1"/>
          </p:cNvSpPr>
          <p:nvPr/>
        </p:nvSpPr>
        <p:spPr bwMode="auto">
          <a:xfrm>
            <a:off x="323850" y="1341438"/>
            <a:ext cx="6078855"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2.3.3</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项目的生命周期</a:t>
            </a:r>
            <a:r>
              <a:rPr kumimoji="0" lang="zh-CN"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与产品生命周期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a:latin typeface="楷体" panose="02010609060101010101" pitchFamily="49" charset="-122"/>
                <a:ea typeface="楷体" panose="02010609060101010101" pitchFamily="49" charset="-122"/>
              </a:rPr>
              <a:t>  </a:t>
            </a:r>
            <a:fld id="{186D2D88-034E-43EA-AA51-517BC4968C1A}" type="slidenum">
              <a:rPr lang="zh-CN" altLang="en-GB" smtClean="0">
                <a:latin typeface="楷体" panose="02010609060101010101" pitchFamily="49" charset="-122"/>
                <a:ea typeface="楷体" panose="02010609060101010101" pitchFamily="49" charset="-122"/>
              </a:rPr>
              <a:t>31</a:t>
            </a:fld>
            <a:endParaRPr lang="en-US" altLang="zh-CN" dirty="0">
              <a:latin typeface="楷体" panose="02010609060101010101" pitchFamily="49" charset="-122"/>
              <a:ea typeface="楷体" panose="02010609060101010101" pitchFamily="49" charset="-122"/>
            </a:endParaRPr>
          </a:p>
        </p:txBody>
      </p:sp>
      <p:sp>
        <p:nvSpPr>
          <p:cNvPr id="542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latin typeface="楷体" panose="02010609060101010101" pitchFamily="49" charset="-122"/>
              <a:ea typeface="楷体" panose="02010609060101010101" pitchFamily="49" charset="-122"/>
            </a:endParaRPr>
          </a:p>
        </p:txBody>
      </p:sp>
      <p:sp>
        <p:nvSpPr>
          <p:cNvPr id="5427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latin typeface="楷体" panose="02010609060101010101" pitchFamily="49" charset="-122"/>
                <a:ea typeface="楷体" panose="02010609060101010101" pitchFamily="49" charset="-122"/>
              </a:rPr>
              <a:t>P.43</a:t>
            </a:r>
          </a:p>
        </p:txBody>
      </p:sp>
      <p:sp>
        <p:nvSpPr>
          <p:cNvPr id="54277" name="Text Box 7"/>
          <p:cNvSpPr txBox="1">
            <a:spLocks noChangeArrowheads="1"/>
          </p:cNvSpPr>
          <p:nvPr/>
        </p:nvSpPr>
        <p:spPr bwMode="auto">
          <a:xfrm>
            <a:off x="-8890" y="2035810"/>
            <a:ext cx="9125585" cy="3938270"/>
          </a:xfrm>
          <a:prstGeom prst="rect">
            <a:avLst/>
          </a:prstGeom>
          <a:noFill/>
          <a:ln w="9525">
            <a:noFill/>
            <a:miter lim="800000"/>
          </a:ln>
        </p:spPr>
        <p:txBody>
          <a:bodyPr wrap="square">
            <a:spAutoFit/>
          </a:bodyPr>
          <a:lstStyle/>
          <a:p>
            <a:pPr algn="l">
              <a:spcBef>
                <a:spcPts val="600"/>
              </a:spcBef>
              <a:spcAft>
                <a:spcPts val="600"/>
              </a:spcAft>
            </a:pP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软件工程采用的生命周期方法学就是从</a:t>
            </a: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时间角度把软件开发和维护的复杂问题</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进行</a:t>
            </a: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分解</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0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软件生命周期</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划分为</a:t>
            </a: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软件定义</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软件开发</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和</a:t>
            </a: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软件运行维护</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时期，每个时期再进一步划分为若干个阶段。</a:t>
            </a:r>
            <a:endParaRPr lang="en-US" altLang="zh-CN" sz="30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marL="914400" lvl="1" indent="-457200" algn="l">
              <a:spcBef>
                <a:spcPts val="600"/>
              </a:spcBef>
              <a:spcAft>
                <a:spcPts val="600"/>
              </a:spcAft>
              <a:buFont typeface="Arial" panose="020B0604020202020204" pitchFamily="34" charset="0"/>
              <a:buChar char="•"/>
            </a:pP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软件定义</a:t>
            </a:r>
            <a:r>
              <a:rPr lang="zh-CN" altLang="en-US" sz="3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问题定义、可行性分析和需求分析阶段；</a:t>
            </a:r>
          </a:p>
          <a:p>
            <a:pPr marL="914400" lvl="1" indent="-457200" algn="l">
              <a:spcBef>
                <a:spcPts val="600"/>
              </a:spcBef>
              <a:spcAft>
                <a:spcPts val="600"/>
              </a:spcAft>
              <a:buFont typeface="Arial" panose="020B0604020202020204" pitchFamily="34" charset="0"/>
              <a:buChar char="•"/>
            </a:pP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软件开发</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：概要设计、详细设计、编码和测试阶段；</a:t>
            </a:r>
          </a:p>
          <a:p>
            <a:pPr marL="914400" lvl="1" indent="-457200" algn="l">
              <a:spcBef>
                <a:spcPts val="600"/>
              </a:spcBef>
              <a:spcAft>
                <a:spcPts val="600"/>
              </a:spcAft>
              <a:buFont typeface="Arial" panose="020B0604020202020204" pitchFamily="34" charset="0"/>
              <a:buChar char="•"/>
            </a:pPr>
            <a:r>
              <a:rPr lang="zh-CN" altLang="en-US" sz="3000" u="none" dirty="0">
                <a:solidFill>
                  <a:schemeClr val="bg1"/>
                </a:solidFill>
                <a:latin typeface="楷体" panose="02010609060101010101" pitchFamily="49" charset="-122"/>
                <a:ea typeface="楷体" panose="02010609060101010101" pitchFamily="49" charset="-122"/>
                <a:cs typeface="楷体" panose="02010609060101010101" pitchFamily="49" charset="-122"/>
              </a:rPr>
              <a:t>运行维护</a:t>
            </a:r>
            <a:r>
              <a:rPr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：系统的运行与维护。</a:t>
            </a:r>
          </a:p>
        </p:txBody>
      </p:sp>
      <p:sp>
        <p:nvSpPr>
          <p:cNvPr id="54278"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cs typeface="Times New Roman" panose="02020603050405020304" pitchFamily="18" charset="0"/>
              </a:rPr>
              <a:t>2.3</a:t>
            </a:r>
            <a:r>
              <a:rPr kumimoji="0" lang="en-US" altLang="en-US" sz="3000" u="none" dirty="0">
                <a:latin typeface="楷体" panose="02010609060101010101" pitchFamily="49" charset="-122"/>
                <a:ea typeface="楷体" panose="02010609060101010101" pitchFamily="49" charset="-122"/>
                <a:cs typeface="楷体" panose="02010609060101010101" pitchFamily="49" charset="-122"/>
              </a:rPr>
              <a:t> </a:t>
            </a:r>
            <a:r>
              <a:rPr kumimoji="0" lang="en-US" altLang="en-US" sz="3000" u="none" dirty="0" err="1">
                <a:latin typeface="楷体" panose="02010609060101010101" pitchFamily="49" charset="-122"/>
                <a:ea typeface="楷体" panose="02010609060101010101" pitchFamily="49" charset="-122"/>
                <a:cs typeface="楷体" panose="02010609060101010101" pitchFamily="49" charset="-122"/>
              </a:rPr>
              <a:t>熟悉项目阶段</a:t>
            </a:r>
            <a:endParaRPr kumimoji="0" lang="zh-CN" altLang="en-US" sz="3000" u="none" dirty="0">
              <a:latin typeface="楷体" panose="02010609060101010101" pitchFamily="49" charset="-122"/>
              <a:ea typeface="楷体" panose="02010609060101010101" pitchFamily="49" charset="-122"/>
              <a:cs typeface="楷体" panose="02010609060101010101" pitchFamily="49" charset="-122"/>
            </a:endParaRPr>
          </a:p>
        </p:txBody>
      </p:sp>
      <p:sp>
        <p:nvSpPr>
          <p:cNvPr id="54279" name="Rectangle 9"/>
          <p:cNvSpPr>
            <a:spLocks noChangeArrowheads="1"/>
          </p:cNvSpPr>
          <p:nvPr/>
        </p:nvSpPr>
        <p:spPr bwMode="auto">
          <a:xfrm>
            <a:off x="323850" y="1341438"/>
            <a:ext cx="6078855"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2.3.3</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项目的生命周期</a:t>
            </a:r>
            <a:r>
              <a:rPr kumimoji="0" lang="zh-CN"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与产品生命周期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427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427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9"/>
          <p:cNvSpPr>
            <a:spLocks noGrp="1" noChangeArrowheads="1"/>
          </p:cNvSpPr>
          <p:nvPr>
            <p:ph type="sldNum" sz="quarter" idx="10"/>
          </p:nvPr>
        </p:nvSpPr>
        <p:spPr>
          <a:noFill/>
        </p:spPr>
        <p:txBody>
          <a:bodyPr/>
          <a:lstStyle/>
          <a:p>
            <a:r>
              <a:rPr lang="zh-CN" altLang="en-GB" dirty="0"/>
              <a:t>  </a:t>
            </a:r>
            <a:fld id="{186D2D88-034E-43EA-AA51-517BC4968C1A}" type="slidenum">
              <a:rPr lang="zh-CN" altLang="en-GB" smtClean="0"/>
              <a:t>32</a:t>
            </a:fld>
            <a:endParaRPr lang="en-US" altLang="zh-CN" dirty="0"/>
          </a:p>
        </p:txBody>
      </p:sp>
      <p:sp>
        <p:nvSpPr>
          <p:cNvPr id="5427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5427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P.43</a:t>
            </a:r>
          </a:p>
        </p:txBody>
      </p:sp>
      <p:sp>
        <p:nvSpPr>
          <p:cNvPr id="54277" name="Text Box 7"/>
          <p:cNvSpPr txBox="1">
            <a:spLocks noChangeArrowheads="1"/>
          </p:cNvSpPr>
          <p:nvPr/>
        </p:nvSpPr>
        <p:spPr bwMode="auto">
          <a:xfrm>
            <a:off x="71470" y="1936988"/>
            <a:ext cx="9072562" cy="4276725"/>
          </a:xfrm>
          <a:prstGeom prst="rect">
            <a:avLst/>
          </a:prstGeom>
          <a:noFill/>
          <a:ln w="9525">
            <a:noFill/>
            <a:miter lim="800000"/>
          </a:ln>
        </p:spPr>
        <p:txBody>
          <a:bodyPr wrap="square">
            <a:spAutoFit/>
          </a:bodyPr>
          <a:lstStyle/>
          <a:p>
            <a:pPr algn="l">
              <a:spcBef>
                <a:spcPts val="600"/>
              </a:spcBef>
              <a:spcAft>
                <a:spcPts val="600"/>
              </a:spcAft>
            </a:pPr>
            <a:r>
              <a:rPr lang="zh-CN" altLang="en-US" u="none" dirty="0">
                <a:solidFill>
                  <a:schemeClr val="bg2"/>
                </a:solidFill>
                <a:latin typeface="楷体" panose="02010609060101010101" pitchFamily="49" charset="-122"/>
                <a:ea typeface="楷体" panose="02010609060101010101" pitchFamily="49" charset="-122"/>
              </a:rPr>
              <a:t>通过软件生命周期的划分，</a:t>
            </a:r>
            <a:r>
              <a:rPr lang="zh-CN" altLang="en-US" u="none" dirty="0">
                <a:solidFill>
                  <a:schemeClr val="bg1"/>
                </a:solidFill>
                <a:latin typeface="楷体" panose="02010609060101010101" pitchFamily="49" charset="-122"/>
                <a:ea typeface="楷体" panose="02010609060101010101" pitchFamily="49" charset="-122"/>
              </a:rPr>
              <a:t>确定每个阶段的任务</a:t>
            </a:r>
            <a:r>
              <a:rPr lang="zh-CN" altLang="en-US" u="none" dirty="0">
                <a:solidFill>
                  <a:schemeClr val="bg2"/>
                </a:solidFill>
                <a:latin typeface="楷体" panose="02010609060101010101" pitchFamily="49" charset="-122"/>
                <a:ea typeface="楷体" panose="02010609060101010101" pitchFamily="49" charset="-122"/>
              </a:rPr>
              <a:t>，以</a:t>
            </a:r>
            <a:r>
              <a:rPr lang="zh-CN" altLang="en-US" u="none" dirty="0">
                <a:solidFill>
                  <a:schemeClr val="bg1"/>
                </a:solidFill>
                <a:latin typeface="楷体" panose="02010609060101010101" pitchFamily="49" charset="-122"/>
                <a:ea typeface="楷体" panose="02010609060101010101" pitchFamily="49" charset="-122"/>
              </a:rPr>
              <a:t>降低</a:t>
            </a:r>
            <a:r>
              <a:rPr lang="zh-CN" altLang="en-US" u="none" dirty="0">
                <a:solidFill>
                  <a:schemeClr val="bg2"/>
                </a:solidFill>
                <a:latin typeface="楷体" panose="02010609060101010101" pitchFamily="49" charset="-122"/>
                <a:ea typeface="楷体" panose="02010609060101010101" pitchFamily="49" charset="-122"/>
              </a:rPr>
              <a:t>软件产品定义、开发和维护的</a:t>
            </a:r>
            <a:r>
              <a:rPr lang="zh-CN" altLang="en-US" u="none" dirty="0">
                <a:solidFill>
                  <a:schemeClr val="bg1"/>
                </a:solidFill>
                <a:latin typeface="楷体" panose="02010609060101010101" pitchFamily="49" charset="-122"/>
                <a:ea typeface="楷体" panose="02010609060101010101" pitchFamily="49" charset="-122"/>
              </a:rPr>
              <a:t>难度</a:t>
            </a:r>
            <a:r>
              <a:rPr lang="zh-CN" altLang="en-US" u="none" dirty="0">
                <a:solidFill>
                  <a:schemeClr val="bg2"/>
                </a:solidFill>
                <a:latin typeface="楷体" panose="02010609060101010101" pitchFamily="49" charset="-122"/>
                <a:ea typeface="楷体" panose="02010609060101010101" pitchFamily="49" charset="-122"/>
              </a:rPr>
              <a:t>，达到</a:t>
            </a:r>
            <a:r>
              <a:rPr lang="zh-CN" altLang="en-US" u="none" dirty="0">
                <a:solidFill>
                  <a:schemeClr val="bg1"/>
                </a:solidFill>
                <a:latin typeface="楷体" panose="02010609060101010101" pitchFamily="49" charset="-122"/>
                <a:ea typeface="楷体" panose="02010609060101010101" pitchFamily="49" charset="-122"/>
              </a:rPr>
              <a:t>提高</a:t>
            </a:r>
            <a:r>
              <a:rPr lang="zh-CN" altLang="en-US" u="none" dirty="0">
                <a:solidFill>
                  <a:schemeClr val="bg2"/>
                </a:solidFill>
                <a:latin typeface="楷体" panose="02010609060101010101" pitchFamily="49" charset="-122"/>
                <a:ea typeface="楷体" panose="02010609060101010101" pitchFamily="49" charset="-122"/>
              </a:rPr>
              <a:t>软件产品</a:t>
            </a:r>
            <a:r>
              <a:rPr lang="zh-CN" altLang="en-US" u="none" dirty="0">
                <a:solidFill>
                  <a:schemeClr val="bg1"/>
                </a:solidFill>
                <a:latin typeface="楷体" panose="02010609060101010101" pitchFamily="49" charset="-122"/>
                <a:ea typeface="楷体" panose="02010609060101010101" pitchFamily="49" charset="-122"/>
              </a:rPr>
              <a:t>质量</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降低</a:t>
            </a:r>
            <a:r>
              <a:rPr lang="zh-CN" altLang="en-US" u="none" dirty="0">
                <a:solidFill>
                  <a:schemeClr val="bg2"/>
                </a:solidFill>
                <a:latin typeface="楷体" panose="02010609060101010101" pitchFamily="49" charset="-122"/>
                <a:ea typeface="楷体" panose="02010609060101010101" pitchFamily="49" charset="-122"/>
              </a:rPr>
              <a:t>软件开发</a:t>
            </a:r>
            <a:r>
              <a:rPr lang="zh-CN" altLang="en-US" u="none" dirty="0">
                <a:solidFill>
                  <a:schemeClr val="bg1"/>
                </a:solidFill>
                <a:latin typeface="楷体" panose="02010609060101010101" pitchFamily="49" charset="-122"/>
                <a:ea typeface="楷体" panose="02010609060101010101" pitchFamily="49" charset="-122"/>
              </a:rPr>
              <a:t>成本</a:t>
            </a:r>
            <a:r>
              <a:rPr lang="zh-CN" altLang="en-US" u="none" dirty="0">
                <a:solidFill>
                  <a:schemeClr val="bg2"/>
                </a:solidFill>
                <a:latin typeface="楷体" panose="02010609060101010101" pitchFamily="49" charset="-122"/>
                <a:ea typeface="楷体" panose="02010609060101010101" pitchFamily="49" charset="-122"/>
              </a:rPr>
              <a:t>的目的。</a:t>
            </a:r>
            <a:endParaRPr lang="en-US" altLang="zh-CN" u="none"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u="none" dirty="0">
                <a:solidFill>
                  <a:schemeClr val="bg2"/>
                </a:solidFill>
                <a:latin typeface="楷体" panose="02010609060101010101" pitchFamily="49" charset="-122"/>
                <a:ea typeface="楷体" panose="02010609060101010101" pitchFamily="49" charset="-122"/>
              </a:rPr>
              <a:t>一些常用的</a:t>
            </a:r>
            <a:r>
              <a:rPr lang="zh-CN" altLang="en-US" u="none" dirty="0">
                <a:solidFill>
                  <a:schemeClr val="bg1"/>
                </a:solidFill>
                <a:latin typeface="楷体" panose="02010609060101010101" pitchFamily="49" charset="-122"/>
                <a:ea typeface="楷体" panose="02010609060101010101" pitchFamily="49" charset="-122"/>
              </a:rPr>
              <a:t>软件开发模型</a:t>
            </a:r>
            <a:r>
              <a:rPr lang="zh-CN" altLang="en-US" u="none" dirty="0">
                <a:solidFill>
                  <a:schemeClr val="bg2"/>
                </a:solidFill>
                <a:latin typeface="楷体" panose="02010609060101010101" pitchFamily="49" charset="-122"/>
                <a:ea typeface="楷体" panose="02010609060101010101" pitchFamily="49" charset="-122"/>
              </a:rPr>
              <a:t>包括</a:t>
            </a:r>
            <a:r>
              <a:rPr lang="zh-CN" altLang="en-US" u="none" dirty="0">
                <a:solidFill>
                  <a:schemeClr val="bg1"/>
                </a:solidFill>
                <a:latin typeface="楷体" panose="02010609060101010101" pitchFamily="49" charset="-122"/>
                <a:ea typeface="楷体" panose="02010609060101010101" pitchFamily="49" charset="-122"/>
              </a:rPr>
              <a:t>瀑布模型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螺旋模型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第四代技术模型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原型模型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构建组装模型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混合模型</a:t>
            </a:r>
            <a:r>
              <a:rPr lang="zh-CN" altLang="en-US" u="none" dirty="0">
                <a:solidFill>
                  <a:schemeClr val="bg2"/>
                </a:solidFill>
                <a:latin typeface="楷体" panose="02010609060101010101" pitchFamily="49" charset="-122"/>
                <a:ea typeface="楷体" panose="02010609060101010101" pitchFamily="49" charset="-122"/>
              </a:rPr>
              <a:t>、</a:t>
            </a:r>
            <a:r>
              <a:rPr lang="zh-CN" altLang="en-US" u="none" dirty="0">
                <a:solidFill>
                  <a:schemeClr val="bg1"/>
                </a:solidFill>
                <a:latin typeface="楷体" panose="02010609060101010101" pitchFamily="49" charset="-122"/>
                <a:ea typeface="楷体" panose="02010609060101010101" pitchFamily="49" charset="-122"/>
              </a:rPr>
              <a:t>喷泉模型</a:t>
            </a:r>
            <a:r>
              <a:rPr lang="zh-CN" altLang="en-US" u="none" dirty="0">
                <a:solidFill>
                  <a:schemeClr val="bg2"/>
                </a:solidFill>
                <a:latin typeface="楷体" panose="02010609060101010101" pitchFamily="49" charset="-122"/>
                <a:ea typeface="楷体" panose="02010609060101010101" pitchFamily="49" charset="-122"/>
              </a:rPr>
              <a:t>等。</a:t>
            </a:r>
            <a:endParaRPr lang="en-US" altLang="zh-CN" u="none" dirty="0">
              <a:solidFill>
                <a:schemeClr val="bg2"/>
              </a:solidFill>
              <a:latin typeface="楷体" panose="02010609060101010101" pitchFamily="49" charset="-122"/>
              <a:ea typeface="楷体" panose="02010609060101010101" pitchFamily="49" charset="-122"/>
            </a:endParaRPr>
          </a:p>
          <a:p>
            <a:pPr algn="l">
              <a:spcBef>
                <a:spcPts val="600"/>
              </a:spcBef>
              <a:spcAft>
                <a:spcPts val="600"/>
              </a:spcAft>
            </a:pPr>
            <a:r>
              <a:rPr lang="zh-CN" altLang="en-US" u="none" dirty="0">
                <a:solidFill>
                  <a:schemeClr val="bg2"/>
                </a:solidFill>
                <a:latin typeface="楷体" panose="02010609060101010101" pitchFamily="49" charset="-122"/>
                <a:ea typeface="楷体" panose="02010609060101010101" pitchFamily="49" charset="-122"/>
              </a:rPr>
              <a:t>这些模型都是软件产品生命周期的实例，是软件工程思想的具体化，是人们在软件开发中总结出来的开发方法和步骤。</a:t>
            </a:r>
          </a:p>
        </p:txBody>
      </p:sp>
      <p:sp>
        <p:nvSpPr>
          <p:cNvPr id="54278"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latin typeface="楷体" panose="02010609060101010101" pitchFamily="49" charset="-122"/>
                <a:ea typeface="楷体" panose="02010609060101010101" pitchFamily="49" charset="-122"/>
              </a:rPr>
              <a:t>熟悉项目阶段</a:t>
            </a:r>
          </a:p>
        </p:txBody>
      </p:sp>
      <p:sp>
        <p:nvSpPr>
          <p:cNvPr id="54279" name="Rectangle 9"/>
          <p:cNvSpPr>
            <a:spLocks noChangeArrowheads="1"/>
          </p:cNvSpPr>
          <p:nvPr/>
        </p:nvSpPr>
        <p:spPr bwMode="auto">
          <a:xfrm>
            <a:off x="323850" y="1341438"/>
            <a:ext cx="6078855"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2.3.3</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项目的生命周期</a:t>
            </a:r>
            <a:r>
              <a:rPr kumimoji="0" lang="zh-CN"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与产品生命周期</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27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427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9"/>
          <p:cNvSpPr>
            <a:spLocks noGrp="1" noChangeArrowheads="1"/>
          </p:cNvSpPr>
          <p:nvPr>
            <p:ph type="sldNum" sz="quarter" idx="10"/>
          </p:nvPr>
        </p:nvSpPr>
        <p:spPr>
          <a:noFill/>
        </p:spPr>
        <p:txBody>
          <a:bodyPr/>
          <a:lstStyle/>
          <a:p>
            <a:r>
              <a:rPr lang="zh-CN" altLang="en-GB" dirty="0"/>
              <a:t>  </a:t>
            </a:r>
            <a:fld id="{A17B8849-7909-4798-944E-B92D273F65F9}" type="slidenum">
              <a:rPr lang="zh-CN" altLang="en-GB" smtClean="0"/>
              <a:t>33</a:t>
            </a:fld>
            <a:endParaRPr lang="en-US" altLang="zh-CN" dirty="0"/>
          </a:p>
        </p:txBody>
      </p:sp>
      <p:sp>
        <p:nvSpPr>
          <p:cNvPr id="573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5734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P.44</a:t>
            </a:r>
          </a:p>
        </p:txBody>
      </p:sp>
      <p:pic>
        <p:nvPicPr>
          <p:cNvPr id="57349" name="Picture 6" descr="图2－6"/>
          <p:cNvPicPr>
            <a:picLocks noChangeAspect="1" noChangeArrowheads="1"/>
          </p:cNvPicPr>
          <p:nvPr/>
        </p:nvPicPr>
        <p:blipFill>
          <a:blip r:embed="rId3" cstate="print"/>
          <a:srcRect/>
          <a:stretch>
            <a:fillRect/>
          </a:stretch>
        </p:blipFill>
        <p:spPr bwMode="auto">
          <a:xfrm>
            <a:off x="250825" y="2017695"/>
            <a:ext cx="8642350" cy="4219592"/>
          </a:xfrm>
          <a:prstGeom prst="rect">
            <a:avLst/>
          </a:prstGeom>
          <a:solidFill>
            <a:srgbClr val="CCFFCC"/>
          </a:solidFill>
          <a:ln w="9525">
            <a:noFill/>
            <a:miter lim="800000"/>
            <a:headEnd/>
            <a:tailEnd/>
          </a:ln>
        </p:spPr>
      </p:pic>
      <p:sp>
        <p:nvSpPr>
          <p:cNvPr id="699399" name="Rectangle 7"/>
          <p:cNvSpPr>
            <a:spLocks noChangeArrowheads="1"/>
          </p:cNvSpPr>
          <p:nvPr/>
        </p:nvSpPr>
        <p:spPr bwMode="auto">
          <a:xfrm>
            <a:off x="3132138" y="2997200"/>
            <a:ext cx="1368425" cy="1152525"/>
          </a:xfrm>
          <a:prstGeom prst="rect">
            <a:avLst/>
          </a:prstGeom>
          <a:solidFill>
            <a:schemeClr val="tx1"/>
          </a:solidFill>
          <a:ln w="9525">
            <a:solidFill>
              <a:schemeClr val="tx1"/>
            </a:solidFill>
            <a:miter lim="800000"/>
          </a:ln>
        </p:spPr>
        <p:txBody>
          <a:bodyPr wrap="none" anchor="ctr"/>
          <a:lstStyle/>
          <a:p>
            <a:endParaRPr lang="zh-CN" altLang="en-US"/>
          </a:p>
        </p:txBody>
      </p:sp>
      <p:sp>
        <p:nvSpPr>
          <p:cNvPr id="57351" name="Rectangle 8"/>
          <p:cNvSpPr>
            <a:spLocks noChangeArrowheads="1"/>
          </p:cNvSpPr>
          <p:nvPr/>
        </p:nvSpPr>
        <p:spPr bwMode="auto">
          <a:xfrm>
            <a:off x="2133592" y="6487802"/>
            <a:ext cx="4733941" cy="337185"/>
          </a:xfrm>
          <a:prstGeom prst="rect">
            <a:avLst/>
          </a:prstGeom>
          <a:noFill/>
          <a:ln w="9525">
            <a:noFill/>
            <a:miter lim="800000"/>
          </a:ln>
        </p:spPr>
        <p:txBody>
          <a:bodyPr wrap="square" anchor="ctr">
            <a:spAutoFit/>
          </a:bodyPr>
          <a:lstStyle/>
          <a:p>
            <a:pPr algn="dist"/>
            <a:r>
              <a:rPr kumimoji="0" lang="zh-CN" altLang="en-US" sz="1600" u="none" dirty="0">
                <a:solidFill>
                  <a:srgbClr val="FF0000"/>
                </a:solidFill>
                <a:latin typeface="楷体" panose="02010609060101010101" pitchFamily="49" charset="-122"/>
                <a:ea typeface="楷体" panose="02010609060101010101" pitchFamily="49" charset="-122"/>
              </a:rPr>
              <a:t>图</a:t>
            </a:r>
            <a:r>
              <a:rPr kumimoji="0" lang="en-US" altLang="zh-CN" sz="1600" u="none" dirty="0">
                <a:solidFill>
                  <a:srgbClr val="FF0000"/>
                </a:solidFill>
                <a:cs typeface="Times New Roman" panose="02020603050405020304" pitchFamily="18" charset="0"/>
              </a:rPr>
              <a:t>2-4</a:t>
            </a:r>
            <a:r>
              <a:rPr kumimoji="0" lang="zh-CN" altLang="en-US" sz="1600" u="none" dirty="0">
                <a:solidFill>
                  <a:srgbClr val="FF0000"/>
                </a:solidFill>
                <a:latin typeface="楷体" panose="02010609060101010101" pitchFamily="49" charset="-122"/>
                <a:ea typeface="楷体" panose="02010609060101010101" pitchFamily="49" charset="-122"/>
              </a:rPr>
              <a:t>项目生命周期与产品生命周期的关系</a:t>
            </a:r>
          </a:p>
        </p:txBody>
      </p:sp>
      <p:sp>
        <p:nvSpPr>
          <p:cNvPr id="57352" name="Rectangle 9"/>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2.3 </a:t>
            </a:r>
            <a:r>
              <a:rPr kumimoji="0" lang="en-US" altLang="en-US" sz="3000" u="none" dirty="0" err="1">
                <a:ea typeface="楷体" panose="02010609060101010101" pitchFamily="49" charset="-122"/>
              </a:rPr>
              <a:t>熟悉项目阶段</a:t>
            </a:r>
            <a:endParaRPr kumimoji="0" lang="zh-CN" altLang="en-US" sz="3000" u="none" dirty="0">
              <a:ea typeface="楷体" panose="02010609060101010101" pitchFamily="49" charset="-122"/>
            </a:endParaRPr>
          </a:p>
        </p:txBody>
      </p:sp>
      <p:sp>
        <p:nvSpPr>
          <p:cNvPr id="10" name="Rectangle 9"/>
          <p:cNvSpPr>
            <a:spLocks noChangeArrowheads="1"/>
          </p:cNvSpPr>
          <p:nvPr/>
        </p:nvSpPr>
        <p:spPr bwMode="auto">
          <a:xfrm>
            <a:off x="323850" y="1341438"/>
            <a:ext cx="6078855" cy="521970"/>
          </a:xfrm>
          <a:prstGeom prst="rect">
            <a:avLst/>
          </a:prstGeom>
          <a:noFill/>
          <a:ln w="9525">
            <a:noFill/>
            <a:miter lim="800000"/>
          </a:ln>
        </p:spPr>
        <p:txBody>
          <a:bodyPr wrap="none">
            <a:spAutoFit/>
          </a:bodyPr>
          <a:lstStyle/>
          <a:p>
            <a:pPr algn="l"/>
            <a:r>
              <a:rPr kumimoji="0" lang="en-US" altLang="en-US" u="none">
                <a:solidFill>
                  <a:srgbClr val="FF0000"/>
                </a:solidFill>
                <a:ea typeface="楷体" panose="02010609060101010101" pitchFamily="49" charset="-122"/>
                <a:cs typeface="Times New Roman" panose="02020603050405020304" pitchFamily="18" charset="0"/>
              </a:rPr>
              <a:t>2.3.3</a:t>
            </a:r>
            <a:r>
              <a:rPr kumimoji="0" lang="en-US"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 项目的生命周期</a:t>
            </a:r>
            <a:r>
              <a:rPr kumimoji="0" lang="zh-CN" altLang="en-US" u="none">
                <a:solidFill>
                  <a:srgbClr val="FF0000"/>
                </a:solidFill>
                <a:latin typeface="楷体" panose="02010609060101010101" pitchFamily="49" charset="-122"/>
                <a:ea typeface="楷体" panose="02010609060101010101" pitchFamily="49" charset="-122"/>
                <a:cs typeface="楷体" panose="02010609060101010101" pitchFamily="49" charset="-122"/>
              </a:rPr>
              <a:t>与产品生命周期</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34</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428728" y="1357298"/>
            <a:ext cx="5715009" cy="4615815"/>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把握组织环境</a:t>
            </a:r>
            <a:endParaRPr lang="en-US" altLang="zh-CN"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掌握系统方法</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熟悉项目阶段</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u="none" dirty="0" err="1">
                <a:solidFill>
                  <a:srgbClr val="FF0000"/>
                </a:solidFill>
                <a:latin typeface="楷体" panose="02010609060101010101" pitchFamily="49" charset="-122"/>
                <a:ea typeface="楷体" panose="02010609060101010101" pitchFamily="49" charset="-122"/>
              </a:rPr>
              <a:t>了解项目组织</a:t>
            </a:r>
            <a:endParaRPr lang="zh-CN" altLang="en-US" sz="54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a:solidFill>
                  <a:srgbClr val="0000FF"/>
                </a:solidFill>
                <a:latin typeface="楷体" panose="02010609060101010101" pitchFamily="49" charset="-122"/>
                <a:ea typeface="楷体" panose="02010609060101010101" pitchFamily="49" charset="-122"/>
              </a:rPr>
              <a:t>控制项目过程</a:t>
            </a:r>
          </a:p>
          <a:p>
            <a:pPr algn="l">
              <a:spcBef>
                <a:spcPts val="0"/>
              </a:spcBef>
              <a:spcAft>
                <a:spcPts val="0"/>
              </a:spcAft>
              <a:buClr>
                <a:srgbClr val="C00000"/>
              </a:buClr>
              <a:buSzPct val="100000"/>
              <a:buFont typeface="Arial" panose="020B0604020202020204" pitchFamily="34" charset="0"/>
              <a:buChar char="◙"/>
              <a:defRPr/>
            </a:pPr>
            <a:r>
              <a:rPr lang="zh-CN" altLang="en-US" sz="4800" u="none">
                <a:solidFill>
                  <a:srgbClr val="0000FF"/>
                </a:solidFill>
                <a:latin typeface="楷体" panose="02010609060101010101" pitchFamily="49" charset="-122"/>
                <a:ea typeface="楷体" panose="02010609060101010101" pitchFamily="49" charset="-122"/>
              </a:rPr>
              <a:t>最佳</a:t>
            </a:r>
            <a:r>
              <a:rPr lang="zh-CN" altLang="en-US" sz="4800" u="none" dirty="0">
                <a:solidFill>
                  <a:srgbClr val="0000FF"/>
                </a:solidFill>
                <a:latin typeface="楷体" panose="02010609060101010101" pitchFamily="49" charset="-122"/>
                <a:ea typeface="楷体" panose="02010609060101010101" pitchFamily="49" charset="-122"/>
              </a:rPr>
              <a:t>实践模型</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9"/>
          <p:cNvSpPr>
            <a:spLocks noGrp="1" noChangeArrowheads="1"/>
          </p:cNvSpPr>
          <p:nvPr>
            <p:ph type="sldNum" sz="quarter" idx="10"/>
          </p:nvPr>
        </p:nvSpPr>
        <p:spPr>
          <a:noFill/>
        </p:spPr>
        <p:txBody>
          <a:bodyPr/>
          <a:lstStyle/>
          <a:p>
            <a:r>
              <a:rPr lang="zh-CN" altLang="en-GB" dirty="0"/>
              <a:t>  </a:t>
            </a:r>
            <a:fld id="{A71EA9E9-5197-4158-85E9-7A1D9956A378}" type="slidenum">
              <a:rPr lang="zh-CN" altLang="en-GB" smtClean="0"/>
              <a:t>35</a:t>
            </a:fld>
            <a:endParaRPr lang="en-US" altLang="zh-CN" dirty="0"/>
          </a:p>
        </p:txBody>
      </p:sp>
      <p:sp>
        <p:nvSpPr>
          <p:cNvPr id="593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5939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P.44</a:t>
            </a:r>
          </a:p>
        </p:txBody>
      </p:sp>
      <p:sp>
        <p:nvSpPr>
          <p:cNvPr id="59397" name="Text Box 5"/>
          <p:cNvSpPr txBox="1">
            <a:spLocks noChangeArrowheads="1"/>
          </p:cNvSpPr>
          <p:nvPr/>
        </p:nvSpPr>
        <p:spPr bwMode="auto">
          <a:xfrm>
            <a:off x="71406" y="1683143"/>
            <a:ext cx="8893175" cy="4030980"/>
          </a:xfrm>
          <a:prstGeom prst="rect">
            <a:avLst/>
          </a:prstGeom>
          <a:noFill/>
          <a:ln w="9525">
            <a:noFill/>
            <a:miter lim="800000"/>
          </a:ln>
        </p:spPr>
        <p:txBody>
          <a:bodyPr wrap="square">
            <a:spAutoFit/>
          </a:bodyPr>
          <a:lstStyle/>
          <a:p>
            <a:pPr algn="l">
              <a:spcBef>
                <a:spcPct val="50000"/>
              </a:spcBef>
              <a:buClr>
                <a:schemeClr val="hlink"/>
              </a:buClr>
            </a:pP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项目管理与传统组织管理的</a:t>
            </a:r>
            <a:r>
              <a:rPr kumimoji="0" lang="zh-CN" altLang="en-US" sz="32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最大区别</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在于</a:t>
            </a:r>
            <a:r>
              <a:rPr lang="zh-CN" altLang="en-US" sz="3200" u="none" dirty="0">
                <a:solidFill>
                  <a:schemeClr val="bg1"/>
                </a:solidFill>
                <a:latin typeface="楷体" panose="02010609060101010101" pitchFamily="49" charset="-122"/>
                <a:ea typeface="楷体" panose="02010609060101010101" pitchFamily="49" charset="-122"/>
              </a:rPr>
              <a:t>项目管理更强调项目经理的作用</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，强调</a:t>
            </a:r>
            <a:r>
              <a:rPr lang="zh-CN" altLang="en-US" sz="3200" u="none" dirty="0">
                <a:solidFill>
                  <a:schemeClr val="bg1"/>
                </a:solidFill>
                <a:latin typeface="楷体" panose="02010609060101010101" pitchFamily="49" charset="-122"/>
                <a:ea typeface="楷体" panose="02010609060101010101" pitchFamily="49" charset="-122"/>
              </a:rPr>
              <a:t>团队的协作精神</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，其组织形式具有</a:t>
            </a:r>
            <a:r>
              <a:rPr lang="zh-CN" altLang="en-US" sz="3200" u="none" dirty="0">
                <a:solidFill>
                  <a:schemeClr val="bg1"/>
                </a:solidFill>
                <a:latin typeface="楷体" panose="02010609060101010101" pitchFamily="49" charset="-122"/>
                <a:ea typeface="楷体" panose="02010609060101010101" pitchFamily="49" charset="-122"/>
              </a:rPr>
              <a:t>更大的灵活性和柔性</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l">
              <a:spcBef>
                <a:spcPct val="50000"/>
              </a:spcBef>
              <a:buClr>
                <a:schemeClr val="hlink"/>
              </a:buClr>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在项目实施过程中，</a:t>
            </a:r>
            <a:r>
              <a:rPr lang="zh-CN" altLang="en-US" sz="3200" u="none" dirty="0">
                <a:solidFill>
                  <a:schemeClr val="bg1"/>
                </a:solidFill>
                <a:latin typeface="楷体" panose="02010609060101010101" pitchFamily="49" charset="-122"/>
                <a:ea typeface="楷体" panose="02010609060101010101" pitchFamily="49" charset="-122"/>
              </a:rPr>
              <a:t>项目组织</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是所有活动的</a:t>
            </a:r>
            <a:r>
              <a:rPr kumimoji="0" lang="zh-CN" altLang="en-US" sz="32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焦点</a:t>
            </a: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，是所有影响项目的内部与外部的活动中心。</a:t>
            </a:r>
          </a:p>
          <a:p>
            <a:pPr algn="l">
              <a:spcBef>
                <a:spcPct val="50000"/>
              </a:spcBef>
              <a:buClr>
                <a:schemeClr val="hlink"/>
              </a:buClr>
            </a:pPr>
            <a:r>
              <a:rPr kumimoji="0"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项目组织形式和运行机制对项目的管理起到十分重要的作用。</a:t>
            </a:r>
          </a:p>
        </p:txBody>
      </p:sp>
      <p:sp>
        <p:nvSpPr>
          <p:cNvPr id="59398" name="Rectangle 7"/>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latin typeface="楷体" panose="02010609060101010101" pitchFamily="49" charset="-122"/>
                <a:ea typeface="楷体" panose="02010609060101010101" pitchFamily="49" charset="-122"/>
              </a:rPr>
              <a:t>了解项目组织</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39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39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9"/>
          <p:cNvSpPr>
            <a:spLocks noGrp="1" noChangeArrowheads="1"/>
          </p:cNvSpPr>
          <p:nvPr>
            <p:ph type="sldNum" sz="quarter" idx="10"/>
          </p:nvPr>
        </p:nvSpPr>
        <p:spPr>
          <a:noFill/>
        </p:spPr>
        <p:txBody>
          <a:bodyPr/>
          <a:lstStyle/>
          <a:p>
            <a:r>
              <a:rPr lang="zh-CN" altLang="en-GB" dirty="0"/>
              <a:t>  </a:t>
            </a:r>
            <a:fld id="{9D5B01F2-A088-45D3-ACE8-3CAB0357703C}" type="slidenum">
              <a:rPr lang="zh-CN" altLang="en-GB" smtClean="0"/>
              <a:t>36</a:t>
            </a:fld>
            <a:endParaRPr lang="en-US" altLang="zh-CN" dirty="0"/>
          </a:p>
        </p:txBody>
      </p:sp>
      <p:sp>
        <p:nvSpPr>
          <p:cNvPr id="7373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373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P.46</a:t>
            </a:r>
          </a:p>
        </p:txBody>
      </p:sp>
      <p:pic>
        <p:nvPicPr>
          <p:cNvPr id="73733" name="Picture 8" descr="表2－4"/>
          <p:cNvPicPr>
            <a:picLocks noChangeAspect="1" noChangeArrowheads="1"/>
          </p:cNvPicPr>
          <p:nvPr/>
        </p:nvPicPr>
        <p:blipFill>
          <a:blip r:embed="rId3" cstate="print"/>
          <a:srcRect/>
          <a:stretch>
            <a:fillRect/>
          </a:stretch>
        </p:blipFill>
        <p:spPr bwMode="auto">
          <a:xfrm>
            <a:off x="198438" y="1916113"/>
            <a:ext cx="8694737" cy="4249737"/>
          </a:xfrm>
          <a:prstGeom prst="rect">
            <a:avLst/>
          </a:prstGeom>
          <a:noFill/>
          <a:ln w="9525">
            <a:noFill/>
            <a:miter lim="800000"/>
            <a:headEnd/>
            <a:tailEnd/>
          </a:ln>
        </p:spPr>
      </p:pic>
      <p:sp>
        <p:nvSpPr>
          <p:cNvPr id="73734" name="Rectangle 9"/>
          <p:cNvSpPr>
            <a:spLocks noChangeArrowheads="1"/>
          </p:cNvSpPr>
          <p:nvPr/>
        </p:nvSpPr>
        <p:spPr bwMode="auto">
          <a:xfrm>
            <a:off x="2774950" y="6501519"/>
            <a:ext cx="4440256" cy="337185"/>
          </a:xfrm>
          <a:prstGeom prst="rect">
            <a:avLst/>
          </a:prstGeom>
          <a:noFill/>
          <a:ln w="9525">
            <a:noFill/>
            <a:miter lim="800000"/>
          </a:ln>
        </p:spPr>
        <p:txBody>
          <a:bodyPr wrap="square" anchor="ctr">
            <a:spAutoFit/>
          </a:bodyPr>
          <a:lstStyle/>
          <a:p>
            <a:pPr algn="dist"/>
            <a:r>
              <a:rPr kumimoji="0" lang="zh-CN" altLang="en-US" sz="1600" u="none">
                <a:solidFill>
                  <a:srgbClr val="FF0000"/>
                </a:solidFill>
                <a:latin typeface="楷体" panose="02010609060101010101" pitchFamily="49" charset="-122"/>
                <a:ea typeface="楷体" panose="02010609060101010101" pitchFamily="49" charset="-122"/>
              </a:rPr>
              <a:t>表</a:t>
            </a:r>
            <a:r>
              <a:rPr kumimoji="0" lang="en-US" altLang="zh-CN" sz="1600" u="none">
                <a:solidFill>
                  <a:srgbClr val="FF0000"/>
                </a:solidFill>
                <a:cs typeface="Times New Roman" panose="02020603050405020304" pitchFamily="18" charset="0"/>
              </a:rPr>
              <a:t>2- 3</a:t>
            </a:r>
            <a:r>
              <a:rPr kumimoji="0" lang="en-US" altLang="zh-CN" sz="1600" u="none">
                <a:solidFill>
                  <a:srgbClr val="FF0000"/>
                </a:solidFill>
                <a:latin typeface="Arial" panose="020B0604020202020204" pitchFamily="34" charset="0"/>
              </a:rPr>
              <a:t> </a:t>
            </a:r>
            <a:r>
              <a:rPr kumimoji="0" lang="zh-CN" altLang="en-US" sz="1600" u="none">
                <a:solidFill>
                  <a:srgbClr val="FF0000"/>
                </a:solidFill>
                <a:latin typeface="楷体" panose="02010609060101010101" pitchFamily="49" charset="-122"/>
                <a:ea typeface="楷体" panose="02010609060101010101" pitchFamily="49" charset="-122"/>
              </a:rPr>
              <a:t>组织结构对项目和项目经理的影响</a:t>
            </a:r>
          </a:p>
        </p:txBody>
      </p:sp>
      <p:sp>
        <p:nvSpPr>
          <p:cNvPr id="73735" name="Rectangle 10"/>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ea typeface="楷体" panose="02010609060101010101" pitchFamily="49" charset="-122"/>
              </a:rPr>
              <a:t>了解项目组织</a:t>
            </a:r>
            <a:endParaRPr kumimoji="0" lang="zh-CN" altLang="en-US" sz="3000" u="none" dirty="0">
              <a:ea typeface="楷体" panose="02010609060101010101" pitchFamily="49" charset="-122"/>
            </a:endParaRPr>
          </a:p>
        </p:txBody>
      </p:sp>
      <p:sp>
        <p:nvSpPr>
          <p:cNvPr id="73736" name="Rectangle 11"/>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9"/>
          <p:cNvSpPr>
            <a:spLocks noGrp="1" noChangeArrowheads="1"/>
          </p:cNvSpPr>
          <p:nvPr>
            <p:ph type="sldNum" sz="quarter" idx="10"/>
          </p:nvPr>
        </p:nvSpPr>
        <p:spPr>
          <a:noFill/>
        </p:spPr>
        <p:txBody>
          <a:bodyPr/>
          <a:lstStyle/>
          <a:p>
            <a:r>
              <a:rPr lang="zh-CN" altLang="en-GB" dirty="0"/>
              <a:t>  </a:t>
            </a:r>
            <a:fld id="{8D68FD0B-0CA5-4512-BE70-3C62A61456EF}" type="slidenum">
              <a:rPr lang="zh-CN" altLang="en-GB" smtClean="0"/>
              <a:t>37</a:t>
            </a:fld>
            <a:endParaRPr lang="en-US" altLang="zh-CN" dirty="0"/>
          </a:p>
        </p:txBody>
      </p:sp>
      <p:sp>
        <p:nvSpPr>
          <p:cNvPr id="6758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6758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P.46</a:t>
            </a:r>
          </a:p>
        </p:txBody>
      </p:sp>
      <p:pic>
        <p:nvPicPr>
          <p:cNvPr id="67589" name="Picture 5" descr="图2－9"/>
          <p:cNvPicPr>
            <a:picLocks noChangeAspect="1" noChangeArrowheads="1"/>
          </p:cNvPicPr>
          <p:nvPr/>
        </p:nvPicPr>
        <p:blipFill>
          <a:blip r:embed="rId3" cstate="print"/>
          <a:srcRect/>
          <a:stretch>
            <a:fillRect/>
          </a:stretch>
        </p:blipFill>
        <p:spPr bwMode="auto">
          <a:xfrm>
            <a:off x="250825" y="1844675"/>
            <a:ext cx="8497888" cy="4464050"/>
          </a:xfrm>
          <a:prstGeom prst="rect">
            <a:avLst/>
          </a:prstGeom>
          <a:noFill/>
          <a:ln w="9525">
            <a:noFill/>
            <a:miter lim="800000"/>
            <a:headEnd/>
            <a:tailEnd/>
          </a:ln>
        </p:spPr>
      </p:pic>
      <p:sp>
        <p:nvSpPr>
          <p:cNvPr id="67590" name="Rectangle 6"/>
          <p:cNvSpPr>
            <a:spLocks noChangeArrowheads="1"/>
          </p:cNvSpPr>
          <p:nvPr/>
        </p:nvSpPr>
        <p:spPr bwMode="auto">
          <a:xfrm>
            <a:off x="3287713" y="6501519"/>
            <a:ext cx="2427295" cy="33718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rPr>
              <a:t>图</a:t>
            </a:r>
            <a:r>
              <a:rPr kumimoji="0" lang="en-US" altLang="zh-CN" sz="1600" u="none">
                <a:solidFill>
                  <a:srgbClr val="FF0000"/>
                </a:solidFill>
                <a:cs typeface="Times New Roman" panose="02020603050405020304" pitchFamily="18" charset="0"/>
              </a:rPr>
              <a:t>2-5</a:t>
            </a:r>
            <a:r>
              <a:rPr kumimoji="0" lang="en-US" altLang="zh-CN" sz="1600" u="none">
                <a:solidFill>
                  <a:srgbClr val="FF0000"/>
                </a:solidFill>
                <a:latin typeface="Arial" panose="020B0604020202020204" pitchFamily="34" charset="0"/>
              </a:rPr>
              <a:t> </a:t>
            </a:r>
            <a:r>
              <a:rPr kumimoji="0" lang="zh-CN" altLang="en-US" sz="1600" u="none">
                <a:solidFill>
                  <a:srgbClr val="FF0000"/>
                </a:solidFill>
                <a:latin typeface="楷体" panose="02010609060101010101" pitchFamily="49" charset="-122"/>
                <a:ea typeface="楷体" panose="02010609060101010101" pitchFamily="49" charset="-122"/>
              </a:rPr>
              <a:t>职能型组织结构</a:t>
            </a:r>
          </a:p>
        </p:txBody>
      </p:sp>
      <p:sp>
        <p:nvSpPr>
          <p:cNvPr id="67591" name="Rectangle 8"/>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ea typeface="楷体" panose="02010609060101010101" pitchFamily="49" charset="-122"/>
              </a:rPr>
              <a:t>了解项目组织</a:t>
            </a:r>
            <a:endParaRPr kumimoji="0" lang="zh-CN" altLang="en-US" sz="3000" u="none" dirty="0">
              <a:ea typeface="楷体" panose="02010609060101010101" pitchFamily="49" charset="-122"/>
            </a:endParaRPr>
          </a:p>
        </p:txBody>
      </p:sp>
      <p:sp>
        <p:nvSpPr>
          <p:cNvPr id="67592" name="Rectangle 9"/>
          <p:cNvSpPr>
            <a:spLocks noChangeArrowheads="1"/>
          </p:cNvSpPr>
          <p:nvPr/>
        </p:nvSpPr>
        <p:spPr bwMode="auto">
          <a:xfrm>
            <a:off x="241293" y="132641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67593" name="Text Box 10"/>
          <p:cNvSpPr txBox="1">
            <a:spLocks noChangeArrowheads="1"/>
          </p:cNvSpPr>
          <p:nvPr/>
        </p:nvSpPr>
        <p:spPr bwMode="auto">
          <a:xfrm>
            <a:off x="250825" y="1791129"/>
            <a:ext cx="3384550" cy="479298"/>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zh-CN" sz="2400" u="none" dirty="0">
                <a:solidFill>
                  <a:srgbClr val="0000FF"/>
                </a:solidFill>
                <a:ea typeface="楷体" panose="02010609060101010101" pitchFamily="49" charset="-122"/>
              </a:rPr>
              <a:t>1</a:t>
            </a:r>
            <a:r>
              <a:rPr kumimoji="0" lang="zh-CN" altLang="en-US" sz="2400" u="none" dirty="0">
                <a:solidFill>
                  <a:srgbClr val="0000FF"/>
                </a:solidFill>
                <a:ea typeface="楷体" panose="02010609060101010101" pitchFamily="49" charset="-122"/>
              </a:rPr>
              <a:t>）职能型组织</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9"/>
          <p:cNvSpPr>
            <a:spLocks noGrp="1" noChangeArrowheads="1"/>
          </p:cNvSpPr>
          <p:nvPr>
            <p:ph type="sldNum" sz="quarter" idx="10"/>
          </p:nvPr>
        </p:nvSpPr>
        <p:spPr>
          <a:noFill/>
        </p:spPr>
        <p:txBody>
          <a:bodyPr/>
          <a:lstStyle/>
          <a:p>
            <a:r>
              <a:rPr lang="zh-CN" altLang="en-GB" dirty="0"/>
              <a:t>  </a:t>
            </a:r>
            <a:fld id="{5CBBCA70-E9C6-47E9-95FC-C86D8441BAE1}" type="slidenum">
              <a:rPr lang="zh-CN" altLang="en-GB" smtClean="0"/>
              <a:t>38</a:t>
            </a:fld>
            <a:endParaRPr lang="en-US" altLang="zh-CN" dirty="0"/>
          </a:p>
        </p:txBody>
      </p:sp>
      <p:sp>
        <p:nvSpPr>
          <p:cNvPr id="6861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6861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P.46</a:t>
            </a:r>
          </a:p>
        </p:txBody>
      </p:sp>
      <p:pic>
        <p:nvPicPr>
          <p:cNvPr id="68613" name="Picture 9" descr="图2－10"/>
          <p:cNvPicPr>
            <a:picLocks noChangeAspect="1" noChangeArrowheads="1"/>
          </p:cNvPicPr>
          <p:nvPr/>
        </p:nvPicPr>
        <p:blipFill>
          <a:blip r:embed="rId3" cstate="print"/>
          <a:srcRect/>
          <a:stretch>
            <a:fillRect/>
          </a:stretch>
        </p:blipFill>
        <p:spPr bwMode="auto">
          <a:xfrm>
            <a:off x="250825" y="2133600"/>
            <a:ext cx="8642350" cy="4103688"/>
          </a:xfrm>
          <a:prstGeom prst="rect">
            <a:avLst/>
          </a:prstGeom>
          <a:noFill/>
          <a:ln w="9525">
            <a:noFill/>
            <a:miter lim="800000"/>
            <a:headEnd/>
            <a:tailEnd/>
          </a:ln>
        </p:spPr>
      </p:pic>
      <p:sp>
        <p:nvSpPr>
          <p:cNvPr id="68614" name="Rectangle 10"/>
          <p:cNvSpPr>
            <a:spLocks noChangeArrowheads="1"/>
          </p:cNvSpPr>
          <p:nvPr/>
        </p:nvSpPr>
        <p:spPr bwMode="auto">
          <a:xfrm>
            <a:off x="3255614" y="6549123"/>
            <a:ext cx="2146300" cy="337185"/>
          </a:xfrm>
          <a:prstGeom prst="rect">
            <a:avLst/>
          </a:prstGeom>
          <a:noFill/>
          <a:ln w="9525">
            <a:noFill/>
            <a:miter lim="800000"/>
          </a:ln>
        </p:spPr>
        <p:txBody>
          <a:bodyPr wrap="none" anchor="ctr">
            <a:spAutoFit/>
          </a:bodyPr>
          <a:lstStyle/>
          <a:p>
            <a:pPr algn="ctr">
              <a:tabLst>
                <a:tab pos="457200" algn="l"/>
              </a:tabLst>
            </a:pPr>
            <a:r>
              <a:rPr kumimoji="0" lang="zh-CN" altLang="en-US" sz="1600" u="none">
                <a:solidFill>
                  <a:srgbClr val="FF0000"/>
                </a:solidFill>
                <a:latin typeface="Arial" panose="020B0604020202020204" pitchFamily="34" charset="0"/>
              </a:rPr>
              <a:t>图</a:t>
            </a:r>
            <a:r>
              <a:rPr kumimoji="0" lang="en-US" altLang="zh-CN" sz="1600" u="none">
                <a:solidFill>
                  <a:srgbClr val="FF0000"/>
                </a:solidFill>
                <a:cs typeface="Times New Roman" panose="02020603050405020304" pitchFamily="18" charset="0"/>
              </a:rPr>
              <a:t>2-6</a:t>
            </a:r>
            <a:r>
              <a:rPr kumimoji="0" lang="en-US" altLang="zh-CN" sz="1600" u="none">
                <a:solidFill>
                  <a:srgbClr val="FF0000"/>
                </a:solidFill>
                <a:latin typeface="Arial" panose="020B0604020202020204" pitchFamily="34" charset="0"/>
              </a:rPr>
              <a:t> </a:t>
            </a:r>
            <a:r>
              <a:rPr kumimoji="0" lang="zh-CN" altLang="en-US" sz="1600" u="none">
                <a:solidFill>
                  <a:srgbClr val="FF0000"/>
                </a:solidFill>
                <a:latin typeface="Arial" panose="020B0604020202020204" pitchFamily="34" charset="0"/>
              </a:rPr>
              <a:t>项目型组织结构</a:t>
            </a:r>
          </a:p>
        </p:txBody>
      </p:sp>
      <p:sp>
        <p:nvSpPr>
          <p:cNvPr id="68615" name="Rectangle 11"/>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ea typeface="楷体" panose="02010609060101010101" pitchFamily="49" charset="-122"/>
              </a:rPr>
              <a:t>了解项目组织</a:t>
            </a:r>
            <a:endParaRPr kumimoji="0" lang="zh-CN" altLang="en-US" sz="3000" u="none" dirty="0">
              <a:ea typeface="楷体" panose="02010609060101010101" pitchFamily="49" charset="-122"/>
            </a:endParaRPr>
          </a:p>
        </p:txBody>
      </p:sp>
      <p:sp>
        <p:nvSpPr>
          <p:cNvPr id="68616" name="Rectangle 12"/>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68617" name="Text Box 13"/>
          <p:cNvSpPr txBox="1">
            <a:spLocks noChangeArrowheads="1"/>
          </p:cNvSpPr>
          <p:nvPr/>
        </p:nvSpPr>
        <p:spPr bwMode="auto">
          <a:xfrm>
            <a:off x="285720" y="1773230"/>
            <a:ext cx="3384550" cy="479298"/>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u="none" dirty="0">
                <a:solidFill>
                  <a:srgbClr val="0000FF"/>
                </a:solidFill>
                <a:ea typeface="楷体" panose="02010609060101010101" pitchFamily="49" charset="-122"/>
              </a:rPr>
              <a:t>2）项目型组织</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9"/>
          <p:cNvSpPr>
            <a:spLocks noGrp="1" noChangeArrowheads="1"/>
          </p:cNvSpPr>
          <p:nvPr>
            <p:ph type="sldNum" sz="quarter" idx="10"/>
          </p:nvPr>
        </p:nvSpPr>
        <p:spPr>
          <a:noFill/>
        </p:spPr>
        <p:txBody>
          <a:bodyPr/>
          <a:lstStyle/>
          <a:p>
            <a:r>
              <a:rPr lang="zh-CN" altLang="en-GB" dirty="0"/>
              <a:t>  </a:t>
            </a:r>
            <a:fld id="{50ADD864-7CDE-4778-89A9-166FD56F09B0}" type="slidenum">
              <a:rPr lang="zh-CN" altLang="en-GB" smtClean="0"/>
              <a:t>39</a:t>
            </a:fld>
            <a:endParaRPr lang="en-US" altLang="zh-CN" dirty="0"/>
          </a:p>
        </p:txBody>
      </p:sp>
      <p:sp>
        <p:nvSpPr>
          <p:cNvPr id="6963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6963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P.47</a:t>
            </a:r>
          </a:p>
        </p:txBody>
      </p:sp>
      <p:pic>
        <p:nvPicPr>
          <p:cNvPr id="69637" name="Picture 9" descr="图2－11"/>
          <p:cNvPicPr>
            <a:picLocks noChangeAspect="1" noChangeArrowheads="1"/>
          </p:cNvPicPr>
          <p:nvPr/>
        </p:nvPicPr>
        <p:blipFill>
          <a:blip r:embed="rId3" cstate="print"/>
          <a:srcRect/>
          <a:stretch>
            <a:fillRect/>
          </a:stretch>
        </p:blipFill>
        <p:spPr bwMode="auto">
          <a:xfrm>
            <a:off x="396875" y="2132013"/>
            <a:ext cx="8496300" cy="4176712"/>
          </a:xfrm>
          <a:prstGeom prst="rect">
            <a:avLst/>
          </a:prstGeom>
          <a:noFill/>
          <a:ln w="9525">
            <a:noFill/>
            <a:miter lim="800000"/>
            <a:headEnd/>
            <a:tailEnd/>
          </a:ln>
        </p:spPr>
      </p:pic>
      <p:sp>
        <p:nvSpPr>
          <p:cNvPr id="69638" name="Rectangle 10"/>
          <p:cNvSpPr>
            <a:spLocks noChangeArrowheads="1"/>
          </p:cNvSpPr>
          <p:nvPr/>
        </p:nvSpPr>
        <p:spPr bwMode="auto">
          <a:xfrm>
            <a:off x="3130550" y="6501519"/>
            <a:ext cx="2655896" cy="33718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图</a:t>
            </a:r>
            <a:r>
              <a:rPr kumimoji="0" lang="en-US" altLang="zh-CN" sz="1600" u="none">
                <a:solidFill>
                  <a:srgbClr val="FF0000"/>
                </a:solidFill>
                <a:ea typeface="楷体" panose="02010609060101010101" pitchFamily="49" charset="-122"/>
                <a:cs typeface="Times New Roman" panose="02020603050405020304" pitchFamily="18" charset="0"/>
              </a:rPr>
              <a:t>2-7</a:t>
            </a: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弱矩阵型组织结构</a:t>
            </a:r>
          </a:p>
        </p:txBody>
      </p:sp>
      <p:sp>
        <p:nvSpPr>
          <p:cNvPr id="69639" name="Rectangle 11"/>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ea typeface="楷体" panose="02010609060101010101" pitchFamily="49" charset="-122"/>
              </a:rPr>
              <a:t>了解项目组织</a:t>
            </a:r>
            <a:endParaRPr kumimoji="0" lang="zh-CN" altLang="en-US" sz="3000" u="none" dirty="0">
              <a:ea typeface="楷体" panose="02010609060101010101" pitchFamily="49" charset="-122"/>
            </a:endParaRPr>
          </a:p>
        </p:txBody>
      </p:sp>
      <p:sp>
        <p:nvSpPr>
          <p:cNvPr id="69640" name="Rectangle 12"/>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69641" name="Text Box 13"/>
          <p:cNvSpPr txBox="1">
            <a:spLocks noChangeArrowheads="1"/>
          </p:cNvSpPr>
          <p:nvPr/>
        </p:nvSpPr>
        <p:spPr bwMode="auto">
          <a:xfrm>
            <a:off x="323850" y="1750553"/>
            <a:ext cx="4610100" cy="515620"/>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u="none" dirty="0">
                <a:solidFill>
                  <a:srgbClr val="0000FF"/>
                </a:solidFill>
                <a:ea typeface="楷体" panose="02010609060101010101" pitchFamily="49" charset="-122"/>
              </a:rPr>
              <a:t>3</a:t>
            </a:r>
            <a:r>
              <a:rPr kumimoji="0" lang="en-US" altLang="en-US" sz="2400" u="none" dirty="0">
                <a:solidFill>
                  <a:srgbClr val="0000FF"/>
                </a:solidFill>
                <a:latin typeface="楷体" panose="02010609060101010101" pitchFamily="49" charset="-122"/>
                <a:ea typeface="楷体" panose="02010609060101010101" pitchFamily="49" charset="-122"/>
              </a:rPr>
              <a:t>）矩阵型组织（弱矩阵型）</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9"/>
          <p:cNvSpPr>
            <a:spLocks noGrp="1" noChangeArrowheads="1"/>
          </p:cNvSpPr>
          <p:nvPr>
            <p:ph type="sldNum" sz="quarter" idx="10"/>
          </p:nvPr>
        </p:nvSpPr>
        <p:spPr>
          <a:noFill/>
        </p:spPr>
        <p:txBody>
          <a:bodyPr/>
          <a:lstStyle/>
          <a:p>
            <a:r>
              <a:rPr lang="zh-CN" altLang="en-GB" dirty="0"/>
              <a:t>  </a:t>
            </a:r>
            <a:fld id="{CA9C561D-4F01-4F56-9BF7-A2547B3BD437}" type="slidenum">
              <a:rPr lang="zh-CN" altLang="en-GB" smtClean="0"/>
              <a:t>40</a:t>
            </a:fld>
            <a:endParaRPr lang="en-US" altLang="zh-CN" dirty="0"/>
          </a:p>
        </p:txBody>
      </p:sp>
      <p:sp>
        <p:nvSpPr>
          <p:cNvPr id="7065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0660"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P.47</a:t>
            </a:r>
          </a:p>
        </p:txBody>
      </p:sp>
      <p:pic>
        <p:nvPicPr>
          <p:cNvPr id="70661" name="Picture 8" descr="图2－12"/>
          <p:cNvPicPr>
            <a:picLocks noChangeAspect="1" noChangeArrowheads="1"/>
          </p:cNvPicPr>
          <p:nvPr/>
        </p:nvPicPr>
        <p:blipFill>
          <a:blip r:embed="rId3" cstate="print"/>
          <a:srcRect/>
          <a:stretch>
            <a:fillRect/>
          </a:stretch>
        </p:blipFill>
        <p:spPr bwMode="auto">
          <a:xfrm>
            <a:off x="395288" y="2285991"/>
            <a:ext cx="8280400" cy="4067183"/>
          </a:xfrm>
          <a:prstGeom prst="rect">
            <a:avLst/>
          </a:prstGeom>
          <a:noFill/>
          <a:ln w="9525">
            <a:noFill/>
            <a:miter lim="800000"/>
            <a:headEnd/>
            <a:tailEnd/>
          </a:ln>
        </p:spPr>
      </p:pic>
      <p:sp>
        <p:nvSpPr>
          <p:cNvPr id="70662" name="Rectangle 9"/>
          <p:cNvSpPr>
            <a:spLocks noChangeArrowheads="1"/>
          </p:cNvSpPr>
          <p:nvPr/>
        </p:nvSpPr>
        <p:spPr bwMode="auto">
          <a:xfrm>
            <a:off x="3058478" y="6501519"/>
            <a:ext cx="3370275" cy="33718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Arial" panose="020B0604020202020204" pitchFamily="34" charset="0"/>
              </a:rPr>
              <a:t>图</a:t>
            </a:r>
            <a:r>
              <a:rPr kumimoji="0" lang="en-US" altLang="zh-CN" sz="1600" u="none">
                <a:solidFill>
                  <a:srgbClr val="FF0000"/>
                </a:solidFill>
                <a:cs typeface="Times New Roman" panose="02020603050405020304" pitchFamily="18" charset="0"/>
              </a:rPr>
              <a:t>2-8 </a:t>
            </a:r>
            <a:r>
              <a:rPr kumimoji="0" lang="zh-CN" altLang="en-US" sz="1600" u="none">
                <a:solidFill>
                  <a:srgbClr val="FF0000"/>
                </a:solidFill>
                <a:latin typeface="Arial" panose="020B0604020202020204" pitchFamily="34" charset="0"/>
              </a:rPr>
              <a:t>平衡矩阵型组织结构</a:t>
            </a:r>
          </a:p>
        </p:txBody>
      </p:sp>
      <p:sp>
        <p:nvSpPr>
          <p:cNvPr id="70663" name="Rectangle 10"/>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latin typeface="楷体" panose="02010609060101010101" pitchFamily="49" charset="-122"/>
                <a:ea typeface="楷体" panose="02010609060101010101" pitchFamily="49" charset="-122"/>
              </a:rPr>
              <a:t>了解项目组织</a:t>
            </a:r>
          </a:p>
        </p:txBody>
      </p:sp>
      <p:sp>
        <p:nvSpPr>
          <p:cNvPr id="70664" name="Rectangle 11"/>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70665" name="Text Box 13"/>
          <p:cNvSpPr txBox="1">
            <a:spLocks noChangeArrowheads="1"/>
          </p:cNvSpPr>
          <p:nvPr/>
        </p:nvSpPr>
        <p:spPr bwMode="auto">
          <a:xfrm>
            <a:off x="388333" y="1783553"/>
            <a:ext cx="4610100" cy="515620"/>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u="none" dirty="0">
                <a:solidFill>
                  <a:srgbClr val="0000FF"/>
                </a:solidFill>
                <a:ea typeface="楷体" panose="02010609060101010101" pitchFamily="49" charset="-122"/>
              </a:rPr>
              <a:t>3</a:t>
            </a:r>
            <a:r>
              <a:rPr kumimoji="0" lang="en-US" altLang="en-US" sz="2400" u="none" dirty="0">
                <a:solidFill>
                  <a:srgbClr val="0000FF"/>
                </a:solidFill>
                <a:latin typeface="楷体" panose="02010609060101010101" pitchFamily="49" charset="-122"/>
                <a:ea typeface="楷体" panose="02010609060101010101" pitchFamily="49" charset="-122"/>
              </a:rPr>
              <a:t>）矩阵型组织（平衡矩阵型）</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9"/>
          <p:cNvSpPr>
            <a:spLocks noGrp="1" noChangeArrowheads="1"/>
          </p:cNvSpPr>
          <p:nvPr>
            <p:ph type="sldNum" sz="quarter" idx="10"/>
          </p:nvPr>
        </p:nvSpPr>
        <p:spPr>
          <a:noFill/>
        </p:spPr>
        <p:txBody>
          <a:bodyPr/>
          <a:lstStyle/>
          <a:p>
            <a:r>
              <a:rPr lang="zh-CN" altLang="en-GB" dirty="0"/>
              <a:t>  </a:t>
            </a:r>
            <a:fld id="{68684ED1-6F14-4EC2-B699-CFC8BCF217AA}" type="slidenum">
              <a:rPr lang="zh-CN" altLang="en-GB" smtClean="0"/>
              <a:t>41</a:t>
            </a:fld>
            <a:endParaRPr lang="en-US" altLang="zh-CN" dirty="0"/>
          </a:p>
        </p:txBody>
      </p:sp>
      <p:sp>
        <p:nvSpPr>
          <p:cNvPr id="7168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1684"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P.47</a:t>
            </a:r>
          </a:p>
        </p:txBody>
      </p:sp>
      <p:pic>
        <p:nvPicPr>
          <p:cNvPr id="71685" name="Picture 8" descr="图2－13"/>
          <p:cNvPicPr>
            <a:picLocks noChangeAspect="1" noChangeArrowheads="1"/>
          </p:cNvPicPr>
          <p:nvPr/>
        </p:nvPicPr>
        <p:blipFill>
          <a:blip r:embed="rId3" cstate="print"/>
          <a:srcRect/>
          <a:stretch>
            <a:fillRect/>
          </a:stretch>
        </p:blipFill>
        <p:spPr bwMode="auto">
          <a:xfrm>
            <a:off x="692150" y="2141538"/>
            <a:ext cx="7983538" cy="4154487"/>
          </a:xfrm>
          <a:prstGeom prst="rect">
            <a:avLst/>
          </a:prstGeom>
          <a:noFill/>
          <a:ln w="9525">
            <a:noFill/>
            <a:miter lim="800000"/>
            <a:headEnd/>
            <a:tailEnd/>
          </a:ln>
        </p:spPr>
      </p:pic>
      <p:sp>
        <p:nvSpPr>
          <p:cNvPr id="71686" name="Rectangle 9"/>
          <p:cNvSpPr>
            <a:spLocks noChangeArrowheads="1"/>
          </p:cNvSpPr>
          <p:nvPr/>
        </p:nvSpPr>
        <p:spPr bwMode="auto">
          <a:xfrm>
            <a:off x="3100388" y="6501519"/>
            <a:ext cx="2614620" cy="33718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图</a:t>
            </a:r>
            <a:r>
              <a:rPr kumimoji="0" lang="en-US" altLang="zh-CN" sz="1600" u="none">
                <a:solidFill>
                  <a:srgbClr val="FF0000"/>
                </a:solidFill>
                <a:ea typeface="楷体" panose="02010609060101010101" pitchFamily="49" charset="-122"/>
                <a:cs typeface="Times New Roman" panose="02020603050405020304" pitchFamily="18" charset="0"/>
              </a:rPr>
              <a:t>2-9</a:t>
            </a:r>
            <a:r>
              <a:rPr kumimoji="0" lang="en-US" altLang="zh-CN" sz="1600" u="none">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强矩阵型组织结构 </a:t>
            </a:r>
          </a:p>
        </p:txBody>
      </p:sp>
      <p:sp>
        <p:nvSpPr>
          <p:cNvPr id="71687" name="Rectangle 10"/>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latin typeface="楷体" panose="02010609060101010101" pitchFamily="49" charset="-122"/>
                <a:ea typeface="楷体" panose="02010609060101010101" pitchFamily="49" charset="-122"/>
              </a:rPr>
              <a:t>了解项目组织</a:t>
            </a:r>
          </a:p>
        </p:txBody>
      </p:sp>
      <p:sp>
        <p:nvSpPr>
          <p:cNvPr id="71688" name="Rectangle 11"/>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71689" name="Text Box 12"/>
          <p:cNvSpPr txBox="1">
            <a:spLocks noChangeArrowheads="1"/>
          </p:cNvSpPr>
          <p:nvPr/>
        </p:nvSpPr>
        <p:spPr bwMode="auto">
          <a:xfrm>
            <a:off x="322263" y="1759938"/>
            <a:ext cx="4610100" cy="515620"/>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u="none" dirty="0">
                <a:solidFill>
                  <a:schemeClr val="bg1"/>
                </a:solidFill>
                <a:ea typeface="楷体" panose="02010609060101010101" pitchFamily="49" charset="-122"/>
              </a:rPr>
              <a:t>3</a:t>
            </a:r>
            <a:r>
              <a:rPr kumimoji="0" lang="en-US" altLang="en-US" sz="2400" u="none" dirty="0">
                <a:solidFill>
                  <a:schemeClr val="bg1"/>
                </a:solidFill>
                <a:latin typeface="楷体" panose="02010609060101010101" pitchFamily="49" charset="-122"/>
                <a:ea typeface="楷体" panose="02010609060101010101" pitchFamily="49" charset="-122"/>
              </a:rPr>
              <a:t>）矩阵型组织（强矩阵型）</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9"/>
          <p:cNvSpPr>
            <a:spLocks noGrp="1" noChangeArrowheads="1"/>
          </p:cNvSpPr>
          <p:nvPr>
            <p:ph type="sldNum" sz="quarter" idx="10"/>
          </p:nvPr>
        </p:nvSpPr>
        <p:spPr>
          <a:noFill/>
        </p:spPr>
        <p:txBody>
          <a:bodyPr/>
          <a:lstStyle/>
          <a:p>
            <a:r>
              <a:rPr lang="zh-CN" altLang="en-GB" dirty="0"/>
              <a:t>  </a:t>
            </a:r>
            <a:fld id="{F6EB3AC6-5CD7-46CD-8396-BF747CDDFCCD}" type="slidenum">
              <a:rPr lang="zh-CN" altLang="en-GB" smtClean="0"/>
              <a:t>42</a:t>
            </a:fld>
            <a:endParaRPr lang="en-US" altLang="zh-CN" dirty="0"/>
          </a:p>
        </p:txBody>
      </p:sp>
      <p:sp>
        <p:nvSpPr>
          <p:cNvPr id="7270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270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P.48</a:t>
            </a:r>
          </a:p>
        </p:txBody>
      </p:sp>
      <p:pic>
        <p:nvPicPr>
          <p:cNvPr id="72709" name="Picture 9" descr="图2－14"/>
          <p:cNvPicPr>
            <a:picLocks noChangeAspect="1" noChangeArrowheads="1"/>
          </p:cNvPicPr>
          <p:nvPr/>
        </p:nvPicPr>
        <p:blipFill>
          <a:blip r:embed="rId3" cstate="print"/>
          <a:srcRect/>
          <a:stretch>
            <a:fillRect/>
          </a:stretch>
        </p:blipFill>
        <p:spPr bwMode="auto">
          <a:xfrm>
            <a:off x="322263" y="1844675"/>
            <a:ext cx="8642350" cy="4392613"/>
          </a:xfrm>
          <a:prstGeom prst="rect">
            <a:avLst/>
          </a:prstGeom>
          <a:noFill/>
          <a:ln w="9525">
            <a:noFill/>
            <a:miter lim="800000"/>
            <a:headEnd/>
            <a:tailEnd/>
          </a:ln>
        </p:spPr>
      </p:pic>
      <p:sp>
        <p:nvSpPr>
          <p:cNvPr id="72710" name="Rectangle 10"/>
          <p:cNvSpPr>
            <a:spLocks noChangeArrowheads="1"/>
          </p:cNvSpPr>
          <p:nvPr/>
        </p:nvSpPr>
        <p:spPr bwMode="auto">
          <a:xfrm>
            <a:off x="3200400" y="6501519"/>
            <a:ext cx="2514608" cy="33718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rPr>
              <a:t>图</a:t>
            </a:r>
            <a:r>
              <a:rPr kumimoji="0" lang="en-US" altLang="zh-CN" sz="1600" u="none">
                <a:solidFill>
                  <a:srgbClr val="FF0000"/>
                </a:solidFill>
                <a:cs typeface="Times New Roman" panose="02020603050405020304" pitchFamily="18" charset="0"/>
              </a:rPr>
              <a:t>2-10</a:t>
            </a:r>
            <a:r>
              <a:rPr kumimoji="0" lang="en-US" altLang="zh-CN" sz="1600" u="none">
                <a:solidFill>
                  <a:srgbClr val="FF0000"/>
                </a:solidFill>
                <a:latin typeface="Arial" panose="020B0604020202020204" pitchFamily="34" charset="0"/>
              </a:rPr>
              <a:t> </a:t>
            </a:r>
            <a:r>
              <a:rPr kumimoji="0" lang="zh-CN" altLang="en-US" sz="1600" u="none">
                <a:solidFill>
                  <a:srgbClr val="FF0000"/>
                </a:solidFill>
                <a:latin typeface="楷体" panose="02010609060101010101" pitchFamily="49" charset="-122"/>
                <a:ea typeface="楷体" panose="02010609060101010101" pitchFamily="49" charset="-122"/>
              </a:rPr>
              <a:t>复合型组织结构</a:t>
            </a:r>
            <a:r>
              <a:rPr kumimoji="0" lang="zh-CN" altLang="en-US" sz="1600" u="none">
                <a:solidFill>
                  <a:srgbClr val="FF0000"/>
                </a:solidFill>
                <a:latin typeface="Arial" panose="020B0604020202020204" pitchFamily="34" charset="0"/>
              </a:rPr>
              <a:t> </a:t>
            </a:r>
          </a:p>
        </p:txBody>
      </p:sp>
      <p:sp>
        <p:nvSpPr>
          <p:cNvPr id="72711" name="Rectangle 11"/>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2.4 </a:t>
            </a:r>
            <a:r>
              <a:rPr kumimoji="0" lang="en-US" altLang="en-US" sz="3000" u="none" dirty="0" err="1">
                <a:latin typeface="楷体" panose="02010609060101010101" pitchFamily="49" charset="-122"/>
                <a:ea typeface="楷体" panose="02010609060101010101" pitchFamily="49" charset="-122"/>
              </a:rPr>
              <a:t>了解项目组织</a:t>
            </a:r>
          </a:p>
        </p:txBody>
      </p:sp>
      <p:sp>
        <p:nvSpPr>
          <p:cNvPr id="72712" name="Rectangle 12"/>
          <p:cNvSpPr>
            <a:spLocks noChangeArrowheads="1"/>
          </p:cNvSpPr>
          <p:nvPr/>
        </p:nvSpPr>
        <p:spPr bwMode="auto">
          <a:xfrm>
            <a:off x="323850" y="1341438"/>
            <a:ext cx="46085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rPr>
              <a:t>2.4.2 </a:t>
            </a:r>
            <a:r>
              <a:rPr kumimoji="0" lang="en-US" altLang="en-US" u="none" dirty="0" err="1">
                <a:solidFill>
                  <a:srgbClr val="FF0000"/>
                </a:solidFill>
                <a:latin typeface="楷体" panose="02010609060101010101" pitchFamily="49" charset="-122"/>
                <a:ea typeface="楷体" panose="02010609060101010101" pitchFamily="49" charset="-122"/>
              </a:rPr>
              <a:t>项目的组织结构</a:t>
            </a:r>
          </a:p>
        </p:txBody>
      </p:sp>
      <p:sp>
        <p:nvSpPr>
          <p:cNvPr id="72713" name="Text Box 13"/>
          <p:cNvSpPr txBox="1">
            <a:spLocks noChangeArrowheads="1"/>
          </p:cNvSpPr>
          <p:nvPr/>
        </p:nvSpPr>
        <p:spPr bwMode="auto">
          <a:xfrm>
            <a:off x="539552" y="1798639"/>
            <a:ext cx="4610100" cy="515620"/>
          </a:xfrm>
          <a:prstGeom prst="rect">
            <a:avLst/>
          </a:prstGeom>
          <a:noFill/>
          <a:ln w="28575">
            <a:noFill/>
            <a:miter lim="800000"/>
          </a:ln>
        </p:spPr>
        <p:txBody>
          <a:bodyPr>
            <a:spAutoFit/>
          </a:bodyPr>
          <a:lstStyle/>
          <a:p>
            <a:pPr marL="457200" indent="-457200" algn="l">
              <a:lnSpc>
                <a:spcPct val="115000"/>
              </a:lnSpc>
              <a:spcBef>
                <a:spcPct val="50000"/>
              </a:spcBef>
              <a:buClr>
                <a:schemeClr val="hlink"/>
              </a:buClr>
              <a:buFont typeface="Wingdings" panose="05000000000000000000" pitchFamily="2" charset="2"/>
              <a:buNone/>
            </a:pPr>
            <a:r>
              <a:rPr kumimoji="0" lang="en-US" altLang="en-US" sz="2400" u="none" dirty="0">
                <a:solidFill>
                  <a:srgbClr val="0000FF"/>
                </a:solidFill>
                <a:ea typeface="楷体" panose="02010609060101010101" pitchFamily="49" charset="-122"/>
              </a:rPr>
              <a:t>4</a:t>
            </a:r>
            <a:r>
              <a:rPr kumimoji="0" lang="en-US" altLang="en-US" sz="2400" u="none" dirty="0">
                <a:solidFill>
                  <a:srgbClr val="0000FF"/>
                </a:solidFill>
                <a:latin typeface="楷体" panose="02010609060101010101" pitchFamily="49" charset="-122"/>
                <a:ea typeface="楷体" panose="02010609060101010101" pitchFamily="49" charset="-122"/>
              </a:rPr>
              <a:t>）复合型组织</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9"/>
          <p:cNvSpPr>
            <a:spLocks noGrp="1" noChangeArrowheads="1"/>
          </p:cNvSpPr>
          <p:nvPr>
            <p:ph type="sldNum" sz="quarter" idx="10"/>
          </p:nvPr>
        </p:nvSpPr>
        <p:spPr>
          <a:noFill/>
        </p:spPr>
        <p:txBody>
          <a:bodyPr/>
          <a:lstStyle/>
          <a:p>
            <a:r>
              <a:rPr lang="zh-CN" altLang="en-GB" dirty="0"/>
              <a:t>  </a:t>
            </a:r>
            <a:fld id="{46E48A7F-CE52-4118-A79B-09DD8BF0F612}" type="slidenum">
              <a:rPr lang="zh-CN" altLang="en-GB" smtClean="0"/>
              <a:t>43</a:t>
            </a:fld>
            <a:endParaRPr lang="en-US" altLang="zh-CN" dirty="0"/>
          </a:p>
        </p:txBody>
      </p:sp>
      <p:sp>
        <p:nvSpPr>
          <p:cNvPr id="7475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7475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P.48</a:t>
            </a:r>
          </a:p>
        </p:txBody>
      </p:sp>
      <p:sp>
        <p:nvSpPr>
          <p:cNvPr id="736261" name="Text Box 5"/>
          <p:cNvSpPr txBox="1">
            <a:spLocks noChangeArrowheads="1"/>
          </p:cNvSpPr>
          <p:nvPr/>
        </p:nvSpPr>
        <p:spPr bwMode="auto">
          <a:xfrm>
            <a:off x="107981" y="1946870"/>
            <a:ext cx="8893175" cy="4339650"/>
          </a:xfrm>
          <a:prstGeom prst="rect">
            <a:avLst/>
          </a:prstGeom>
          <a:noFill/>
          <a:ln w="9525">
            <a:noFill/>
            <a:miter lim="800000"/>
          </a:ln>
        </p:spPr>
        <p:txBody>
          <a:bodyPr wrap="square">
            <a:spAutoFit/>
          </a:bodyPr>
          <a:lstStyle/>
          <a:p>
            <a:pPr algn="l">
              <a:spcBef>
                <a:spcPts val="6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组织具有自己的各种构成要素，要想把这些要素有机地整合，除了要有一定的</a:t>
            </a:r>
            <a:r>
              <a:rPr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正式和非正式组织形式以及规章制度</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外，还要有</a:t>
            </a:r>
            <a:r>
              <a:rPr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协调力和凝合剂</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它以一种无形的“软约束”力量构成组织有效运行的内在驱动力。这种力量就是被称为</a:t>
            </a:r>
            <a:r>
              <a:rPr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管理之魂的组织文化</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endParaRPr lang="en-US" altLang="zh-CN" sz="32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好的项目团队以</a:t>
            </a:r>
            <a:r>
              <a:rPr lang="zh-CN" altLang="en-US" sz="3200" u="none" dirty="0">
                <a:solidFill>
                  <a:schemeClr val="bg1"/>
                </a:solidFill>
                <a:latin typeface="楷体" panose="02010609060101010101" pitchFamily="49" charset="-122"/>
                <a:ea typeface="楷体" panose="02010609060101010101" pitchFamily="49" charset="-122"/>
                <a:cs typeface="楷体" panose="02010609060101010101" pitchFamily="49" charset="-122"/>
              </a:rPr>
              <a:t>组织的文化为基础</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，组织文化对项目组织的影响是潜移默化的，也是巨大的。</a:t>
            </a:r>
          </a:p>
        </p:txBody>
      </p:sp>
      <p:sp>
        <p:nvSpPr>
          <p:cNvPr id="74758"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cs typeface="Times New Roman" panose="02020603050405020304" pitchFamily="18" charset="0"/>
              </a:rPr>
              <a:t>2.4</a:t>
            </a:r>
            <a:r>
              <a:rPr kumimoji="0" lang="en-US" altLang="en-US" sz="3000" u="none" dirty="0">
                <a:latin typeface="楷体" panose="02010609060101010101" pitchFamily="49" charset="-122"/>
                <a:ea typeface="楷体" panose="02010609060101010101" pitchFamily="49" charset="-122"/>
                <a:cs typeface="楷体" panose="02010609060101010101" pitchFamily="49" charset="-122"/>
              </a:rPr>
              <a:t> </a:t>
            </a:r>
            <a:r>
              <a:rPr kumimoji="0" lang="en-US" altLang="en-US" sz="3000" u="none" dirty="0" err="1">
                <a:latin typeface="楷体" panose="02010609060101010101" pitchFamily="49" charset="-122"/>
                <a:ea typeface="楷体" panose="02010609060101010101" pitchFamily="49" charset="-122"/>
                <a:cs typeface="楷体" panose="02010609060101010101" pitchFamily="49" charset="-122"/>
              </a:rPr>
              <a:t>了解项目组织</a:t>
            </a:r>
            <a:endParaRPr kumimoji="0" lang="zh-CN" altLang="en-US" sz="3000" u="none" dirty="0">
              <a:latin typeface="楷体" panose="02010609060101010101" pitchFamily="49" charset="-122"/>
              <a:ea typeface="楷体" panose="02010609060101010101" pitchFamily="49" charset="-122"/>
              <a:cs typeface="楷体" panose="02010609060101010101" pitchFamily="49" charset="-122"/>
            </a:endParaRPr>
          </a:p>
        </p:txBody>
      </p:sp>
      <p:sp>
        <p:nvSpPr>
          <p:cNvPr id="74759" name="Rectangle 7"/>
          <p:cNvSpPr>
            <a:spLocks noChangeArrowheads="1"/>
          </p:cNvSpPr>
          <p:nvPr/>
        </p:nvSpPr>
        <p:spPr bwMode="auto">
          <a:xfrm>
            <a:off x="214282" y="1357298"/>
            <a:ext cx="5688013" cy="521970"/>
          </a:xfrm>
          <a:prstGeom prst="rect">
            <a:avLst/>
          </a:prstGeom>
          <a:noFill/>
          <a:ln w="9525">
            <a:noFill/>
            <a:miter lim="800000"/>
          </a:ln>
        </p:spPr>
        <p:txBody>
          <a:bodyPr>
            <a:spAutoFit/>
          </a:bodyPr>
          <a:lstStyle/>
          <a:p>
            <a:pPr algn="l"/>
            <a:r>
              <a:rPr kumimoji="0" lang="en-US" altLang="en-US" u="none" dirty="0">
                <a:solidFill>
                  <a:srgbClr val="FF0000"/>
                </a:solidFill>
                <a:ea typeface="楷体" panose="02010609060101010101" pitchFamily="49" charset="-122"/>
                <a:cs typeface="Times New Roman" panose="02020603050405020304" pitchFamily="18" charset="0"/>
              </a:rPr>
              <a:t>2.4.3 </a:t>
            </a:r>
            <a:r>
              <a:rPr kumimoji="0" lang="en-US" altLang="en-US" u="none" dirty="0">
                <a:solidFill>
                  <a:srgbClr val="FF0000"/>
                </a:solidFill>
                <a:latin typeface="楷体" panose="02010609060101010101" pitchFamily="49" charset="-122"/>
                <a:ea typeface="楷体" panose="02010609060101010101" pitchFamily="49" charset="-122"/>
                <a:cs typeface="楷体" panose="02010609060101010101" pitchFamily="49" charset="-122"/>
              </a:rPr>
              <a:t> </a:t>
            </a:r>
            <a:r>
              <a:rPr kumimoji="0" lang="en-US" altLang="en-US" u="none" dirty="0" err="1">
                <a:solidFill>
                  <a:srgbClr val="FF0000"/>
                </a:solidFill>
                <a:latin typeface="楷体" panose="02010609060101010101" pitchFamily="49" charset="-122"/>
                <a:ea typeface="楷体" panose="02010609060101010101" pitchFamily="49" charset="-122"/>
                <a:cs typeface="楷体" panose="02010609060101010101" pitchFamily="49" charset="-122"/>
              </a:rPr>
              <a:t>组织文化对项目组织的影响</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626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26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44</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357290" y="1333577"/>
            <a:ext cx="5715009" cy="4615815"/>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把握组织环境</a:t>
            </a:r>
            <a:endParaRPr lang="en-US" altLang="zh-CN"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掌握系统方法</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熟悉项目阶段</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了解项目组织</a:t>
            </a:r>
            <a:endParaRPr lang="zh-CN" altLang="en-US" sz="4800" u="none" dirty="0">
              <a:solidFill>
                <a:schemeClr val="bg1">
                  <a:lumMod val="50000"/>
                </a:schemeClr>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5400" u="none">
                <a:solidFill>
                  <a:srgbClr val="FF0000"/>
                </a:solidFill>
                <a:latin typeface="楷体" panose="02010609060101010101" pitchFamily="49" charset="-122"/>
                <a:ea typeface="楷体" panose="02010609060101010101" pitchFamily="49" charset="-122"/>
              </a:rPr>
              <a:t>控制项目过程</a:t>
            </a:r>
          </a:p>
          <a:p>
            <a:pPr algn="l">
              <a:spcBef>
                <a:spcPts val="0"/>
              </a:spcBef>
              <a:spcAft>
                <a:spcPts val="0"/>
              </a:spcAft>
              <a:buClr>
                <a:srgbClr val="C00000"/>
              </a:buClr>
              <a:buSzPct val="100000"/>
              <a:buFont typeface="Arial" panose="020B0604020202020204" pitchFamily="34" charset="0"/>
              <a:buChar char="◙"/>
              <a:defRPr/>
            </a:pPr>
            <a:r>
              <a:rPr lang="zh-CN" altLang="en-US" sz="4800" u="none">
                <a:solidFill>
                  <a:srgbClr val="0000FF"/>
                </a:solidFill>
                <a:latin typeface="楷体" panose="02010609060101010101" pitchFamily="49" charset="-122"/>
                <a:ea typeface="楷体" panose="02010609060101010101" pitchFamily="49" charset="-122"/>
              </a:rPr>
              <a:t>最佳</a:t>
            </a:r>
            <a:r>
              <a:rPr lang="zh-CN" altLang="en-US" sz="4800" u="none" dirty="0">
                <a:solidFill>
                  <a:srgbClr val="0000FF"/>
                </a:solidFill>
                <a:latin typeface="楷体" panose="02010609060101010101" pitchFamily="49" charset="-122"/>
                <a:ea typeface="楷体" panose="02010609060101010101" pitchFamily="49" charset="-122"/>
              </a:rPr>
              <a:t>实践模型</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9"/>
          <p:cNvSpPr>
            <a:spLocks noGrp="1" noChangeArrowheads="1"/>
          </p:cNvSpPr>
          <p:nvPr>
            <p:ph type="sldNum" sz="quarter" idx="10"/>
          </p:nvPr>
        </p:nvSpPr>
        <p:spPr>
          <a:noFill/>
        </p:spPr>
        <p:txBody>
          <a:bodyPr/>
          <a:lstStyle/>
          <a:p>
            <a:r>
              <a:rPr lang="zh-CN" altLang="en-GB" dirty="0"/>
              <a:t>  </a:t>
            </a:r>
            <a:fld id="{94942A26-2F6F-46C9-A4E0-E970CD2967DB}" type="slidenum">
              <a:rPr lang="zh-CN" altLang="en-GB" smtClean="0"/>
              <a:t>45</a:t>
            </a:fld>
            <a:endParaRPr lang="en-US" altLang="zh-CN" dirty="0"/>
          </a:p>
        </p:txBody>
      </p:sp>
      <p:sp>
        <p:nvSpPr>
          <p:cNvPr id="829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294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P.52</a:t>
            </a:r>
          </a:p>
        </p:txBody>
      </p:sp>
      <p:sp>
        <p:nvSpPr>
          <p:cNvPr id="82949" name="Text Box 7"/>
          <p:cNvSpPr txBox="1">
            <a:spLocks noChangeArrowheads="1"/>
          </p:cNvSpPr>
          <p:nvPr/>
        </p:nvSpPr>
        <p:spPr bwMode="auto">
          <a:xfrm>
            <a:off x="142844" y="1508360"/>
            <a:ext cx="8893175" cy="4461510"/>
          </a:xfrm>
          <a:prstGeom prst="rect">
            <a:avLst/>
          </a:prstGeom>
          <a:noFill/>
          <a:ln w="9525">
            <a:noFill/>
            <a:miter lim="800000"/>
          </a:ln>
        </p:spPr>
        <p:txBody>
          <a:bodyPr wrap="square">
            <a:spAutoFit/>
          </a:bodyPr>
          <a:lstStyle/>
          <a:p>
            <a:pPr algn="l">
              <a:spcBef>
                <a:spcPts val="600"/>
              </a:spcBef>
              <a:spcAft>
                <a:spcPts val="600"/>
              </a:spcAft>
            </a:pPr>
            <a:r>
              <a:rPr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过程就是一组为实现某个特定目标而进行的一系列相互联系的行动和活动。</a:t>
            </a:r>
            <a:endParaRPr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algn="l">
              <a:spcBef>
                <a:spcPts val="600"/>
              </a:spcBef>
              <a:spcAft>
                <a:spcPts val="600"/>
              </a:spcAft>
            </a:pPr>
            <a:r>
              <a:rPr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好的结果必定包含了好的过程</a:t>
            </a:r>
            <a:r>
              <a:rPr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lang="zh-CN" altLang="en-US"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 没有好的过程控制就一定不会有好的结果。</a:t>
            </a:r>
            <a:r>
              <a:rPr lang="en-US" altLang="zh-CN" sz="36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algn="l">
              <a:spcBef>
                <a:spcPts val="600"/>
              </a:spcBef>
              <a:spcAft>
                <a:spcPts val="600"/>
              </a:spcAft>
            </a:pPr>
            <a:r>
              <a:rPr lang="zh-CN" altLang="en-US"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人们在长期的项目管理实践中总结出来的这些经验说明了</a:t>
            </a:r>
            <a:r>
              <a:rPr lang="zh-CN" altLang="en-US" sz="40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项目过程的重要性和控制项目过程的必要性</a:t>
            </a:r>
            <a:r>
              <a:rPr lang="zh-CN" altLang="en-US"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p:txBody>
      </p:sp>
      <p:sp>
        <p:nvSpPr>
          <p:cNvPr id="82950"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9"/>
          <p:cNvSpPr>
            <a:spLocks noGrp="1" noChangeArrowheads="1"/>
          </p:cNvSpPr>
          <p:nvPr>
            <p:ph type="sldNum" sz="quarter" idx="10"/>
          </p:nvPr>
        </p:nvSpPr>
        <p:spPr>
          <a:noFill/>
        </p:spPr>
        <p:txBody>
          <a:bodyPr/>
          <a:lstStyle/>
          <a:p>
            <a:r>
              <a:rPr lang="zh-CN" altLang="en-GB" dirty="0"/>
              <a:t>  </a:t>
            </a:r>
            <a:fld id="{94942A26-2F6F-46C9-A4E0-E970CD2967DB}" type="slidenum">
              <a:rPr lang="zh-CN" altLang="en-GB" smtClean="0"/>
              <a:t>46</a:t>
            </a:fld>
            <a:endParaRPr lang="en-US" altLang="zh-CN" dirty="0"/>
          </a:p>
        </p:txBody>
      </p:sp>
      <p:sp>
        <p:nvSpPr>
          <p:cNvPr id="829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294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P.52</a:t>
            </a:r>
          </a:p>
        </p:txBody>
      </p:sp>
      <p:sp>
        <p:nvSpPr>
          <p:cNvPr id="82949" name="Text Box 7"/>
          <p:cNvSpPr txBox="1">
            <a:spLocks noChangeArrowheads="1"/>
          </p:cNvSpPr>
          <p:nvPr/>
        </p:nvSpPr>
        <p:spPr bwMode="auto">
          <a:xfrm>
            <a:off x="250825" y="1441156"/>
            <a:ext cx="8642350" cy="4584700"/>
          </a:xfrm>
          <a:prstGeom prst="rect">
            <a:avLst/>
          </a:prstGeom>
          <a:noFill/>
          <a:ln w="9525">
            <a:noFill/>
            <a:miter lim="800000"/>
          </a:ln>
        </p:spPr>
        <p:txBody>
          <a:bodyPr>
            <a:spAutoFit/>
          </a:bodyPr>
          <a:lstStyle/>
          <a:p>
            <a:pPr algn="l">
              <a:spcBef>
                <a:spcPts val="600"/>
              </a:spcBef>
              <a:spcAft>
                <a:spcPts val="600"/>
              </a:spcAft>
            </a:pPr>
            <a:r>
              <a:rPr lang="zh-CN" altLang="en-US"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项目的过程大致可以分为两类</a:t>
            </a:r>
            <a:r>
              <a:rPr lang="en-US" altLang="zh-CN" sz="4000"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p>
          <a:p>
            <a:pPr lvl="1" algn="l">
              <a:spcBef>
                <a:spcPts val="600"/>
              </a:spcBef>
              <a:spcAft>
                <a:spcPts val="600"/>
              </a:spcAft>
              <a:buClr>
                <a:schemeClr val="bg1">
                  <a:lumMod val="50000"/>
                </a:schemeClr>
              </a:buClr>
              <a:buFont typeface="Wingdings" panose="05000000000000000000" pitchFamily="2" charset="2"/>
              <a:buChar char="n"/>
            </a:pP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一类是</a:t>
            </a:r>
            <a:r>
              <a:rPr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产品导向型过程</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，它注重对项目产品进行具体说明并进行制造。产品导向型过程常常是通过项目生命周期来进行定义，并且在不同的应用领域会有所不同。</a:t>
            </a:r>
            <a:endParaRPr lang="en-US" altLang="zh-CN" sz="3200" u="none" dirty="0">
              <a:solidFill>
                <a:schemeClr val="bg2"/>
              </a:solidFill>
              <a:latin typeface="楷体" panose="02010609060101010101" pitchFamily="49" charset="-122"/>
              <a:ea typeface="楷体" panose="02010609060101010101" pitchFamily="49" charset="-122"/>
              <a:cs typeface="楷体" panose="02010609060101010101" pitchFamily="49" charset="-122"/>
            </a:endParaRPr>
          </a:p>
          <a:p>
            <a:pPr lvl="1" algn="l">
              <a:spcBef>
                <a:spcPts val="600"/>
              </a:spcBef>
              <a:spcAft>
                <a:spcPts val="600"/>
              </a:spcAft>
              <a:buClr>
                <a:schemeClr val="bg1">
                  <a:lumMod val="50000"/>
                </a:schemeClr>
              </a:buClr>
              <a:buFont typeface="Wingdings" panose="05000000000000000000" pitchFamily="2" charset="2"/>
              <a:buChar char="n"/>
            </a:pP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另一类是</a:t>
            </a:r>
            <a:r>
              <a:rPr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项目管理过程</a:t>
            </a:r>
            <a:r>
              <a:rPr lang="zh-CN" altLang="en-US" sz="32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，它注重对项目工作进行描述和组织，项目管理的过程在大多数时候对多数项目都是适用的。</a:t>
            </a:r>
          </a:p>
        </p:txBody>
      </p:sp>
      <p:sp>
        <p:nvSpPr>
          <p:cNvPr id="82950"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9"/>
          <p:cNvSpPr>
            <a:spLocks noGrp="1" noChangeArrowheads="1"/>
          </p:cNvSpPr>
          <p:nvPr>
            <p:ph type="sldNum" sz="quarter" idx="10"/>
          </p:nvPr>
        </p:nvSpPr>
        <p:spPr>
          <a:noFill/>
        </p:spPr>
        <p:txBody>
          <a:bodyPr/>
          <a:lstStyle/>
          <a:p>
            <a:r>
              <a:rPr lang="zh-CN" altLang="en-GB" dirty="0"/>
              <a:t>  </a:t>
            </a:r>
            <a:fld id="{94942A26-2F6F-46C9-A4E0-E970CD2967DB}" type="slidenum">
              <a:rPr lang="zh-CN" altLang="en-GB" smtClean="0"/>
              <a:t>47</a:t>
            </a:fld>
            <a:endParaRPr lang="en-US" altLang="zh-CN" dirty="0"/>
          </a:p>
        </p:txBody>
      </p:sp>
      <p:sp>
        <p:nvSpPr>
          <p:cNvPr id="82947"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2948"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P.52</a:t>
            </a:r>
          </a:p>
        </p:txBody>
      </p:sp>
      <p:sp>
        <p:nvSpPr>
          <p:cNvPr id="82949" name="Text Box 7"/>
          <p:cNvSpPr txBox="1">
            <a:spLocks noChangeArrowheads="1"/>
          </p:cNvSpPr>
          <p:nvPr/>
        </p:nvSpPr>
        <p:spPr bwMode="auto">
          <a:xfrm>
            <a:off x="250825" y="1556792"/>
            <a:ext cx="8642350" cy="4185761"/>
          </a:xfrm>
          <a:prstGeom prst="rect">
            <a:avLst/>
          </a:prstGeom>
          <a:noFill/>
          <a:ln w="9525">
            <a:noFill/>
            <a:miter lim="800000"/>
          </a:ln>
        </p:spPr>
        <p:txBody>
          <a:bodyPr>
            <a:spAutoFit/>
          </a:bodyPr>
          <a:lstStyle/>
          <a:p>
            <a:pPr algn="l">
              <a:spcBef>
                <a:spcPts val="1200"/>
              </a:spcBef>
              <a:spcAft>
                <a:spcPts val="600"/>
              </a:spcAft>
            </a:pPr>
            <a:r>
              <a:rPr lang="zh-CN" altLang="en-US" sz="3200" u="none" dirty="0">
                <a:solidFill>
                  <a:schemeClr val="bg2"/>
                </a:solidFill>
                <a:ea typeface="楷体" panose="02010609060101010101" pitchFamily="49" charset="-122"/>
              </a:rPr>
              <a:t>项目管理是一项综合的工作，它需要将项目的每个过程与其他过程</a:t>
            </a:r>
            <a:r>
              <a:rPr lang="zh-CN" altLang="en-US" sz="3600" u="none" dirty="0">
                <a:solidFill>
                  <a:srgbClr val="FF0000"/>
                </a:solidFill>
                <a:ea typeface="楷体" panose="02010609060101010101" pitchFamily="49" charset="-122"/>
              </a:rPr>
              <a:t>恰当地配合与联结</a:t>
            </a:r>
            <a:r>
              <a:rPr lang="zh-CN" altLang="en-US" sz="3200" u="none" dirty="0">
                <a:solidFill>
                  <a:schemeClr val="bg2"/>
                </a:solidFill>
                <a:ea typeface="楷体" panose="02010609060101010101" pitchFamily="49" charset="-122"/>
              </a:rPr>
              <a:t>起来。</a:t>
            </a:r>
            <a:endParaRPr lang="en-US" altLang="zh-CN" sz="3200" u="none" dirty="0">
              <a:solidFill>
                <a:schemeClr val="bg2"/>
              </a:solidFill>
              <a:ea typeface="楷体" panose="02010609060101010101" pitchFamily="49" charset="-122"/>
            </a:endParaRPr>
          </a:p>
          <a:p>
            <a:pPr algn="l">
              <a:spcBef>
                <a:spcPts val="1200"/>
              </a:spcBef>
              <a:spcAft>
                <a:spcPts val="600"/>
              </a:spcAft>
            </a:pPr>
            <a:r>
              <a:rPr lang="zh-CN" altLang="en-US" sz="3200" u="none" dirty="0">
                <a:solidFill>
                  <a:schemeClr val="bg2"/>
                </a:solidFill>
                <a:ea typeface="楷体" panose="02010609060101010101" pitchFamily="49" charset="-122"/>
              </a:rPr>
              <a:t>过程之间的这些相互作用和影响经常要求项目管理者对各种项目要求和目标</a:t>
            </a:r>
            <a:r>
              <a:rPr lang="zh-CN" altLang="en-US" sz="3600" u="none" dirty="0">
                <a:solidFill>
                  <a:srgbClr val="FF0000"/>
                </a:solidFill>
                <a:ea typeface="楷体" panose="02010609060101010101" pitchFamily="49" charset="-122"/>
              </a:rPr>
              <a:t>进行权衡</a:t>
            </a:r>
            <a:r>
              <a:rPr lang="zh-CN" altLang="en-US" sz="3200" u="none" dirty="0">
                <a:solidFill>
                  <a:schemeClr val="bg2"/>
                </a:solidFill>
                <a:ea typeface="楷体" panose="02010609060101010101" pitchFamily="49" charset="-122"/>
              </a:rPr>
              <a:t>。</a:t>
            </a:r>
            <a:endParaRPr lang="en-US" altLang="zh-CN" sz="3200" u="none" dirty="0">
              <a:solidFill>
                <a:schemeClr val="bg2"/>
              </a:solidFill>
              <a:ea typeface="楷体" panose="02010609060101010101" pitchFamily="49" charset="-122"/>
            </a:endParaRPr>
          </a:p>
          <a:p>
            <a:pPr algn="l">
              <a:spcBef>
                <a:spcPts val="1200"/>
              </a:spcBef>
              <a:spcAft>
                <a:spcPts val="600"/>
              </a:spcAft>
            </a:pPr>
            <a:r>
              <a:rPr lang="zh-CN" altLang="en-US" sz="3200" u="none" dirty="0">
                <a:solidFill>
                  <a:schemeClr val="bg2"/>
                </a:solidFill>
                <a:ea typeface="楷体" panose="02010609060101010101" pitchFamily="49" charset="-122"/>
              </a:rPr>
              <a:t>对于比较大而复杂的</a:t>
            </a:r>
            <a:r>
              <a:rPr lang="en-US" sz="3200" u="none" dirty="0">
                <a:solidFill>
                  <a:schemeClr val="bg2"/>
                </a:solidFill>
                <a:ea typeface="楷体" panose="02010609060101010101" pitchFamily="49" charset="-122"/>
              </a:rPr>
              <a:t>IT</a:t>
            </a:r>
            <a:r>
              <a:rPr lang="zh-CN" altLang="en-US" sz="3200" u="none" dirty="0">
                <a:solidFill>
                  <a:schemeClr val="bg2"/>
                </a:solidFill>
                <a:ea typeface="楷体" panose="02010609060101010101" pitchFamily="49" charset="-122"/>
              </a:rPr>
              <a:t>项目，可能要求某些过程</a:t>
            </a:r>
            <a:r>
              <a:rPr lang="zh-CN" altLang="en-US" sz="3600" u="none" dirty="0">
                <a:solidFill>
                  <a:srgbClr val="FF0000"/>
                </a:solidFill>
                <a:ea typeface="楷体" panose="02010609060101010101" pitchFamily="49" charset="-122"/>
              </a:rPr>
              <a:t>反复多次</a:t>
            </a:r>
            <a:r>
              <a:rPr lang="zh-CN" altLang="en-US" sz="3200" u="none" dirty="0">
                <a:solidFill>
                  <a:schemeClr val="bg2"/>
                </a:solidFill>
                <a:ea typeface="楷体" panose="02010609060101010101" pitchFamily="49" charset="-122"/>
              </a:rPr>
              <a:t>才能确定和满足利益相关者的要求，并就这些过程的结果达成一致意见。</a:t>
            </a:r>
            <a:endParaRPr lang="zh-CN" altLang="en-US" sz="2400" u="none" dirty="0">
              <a:solidFill>
                <a:schemeClr val="bg2"/>
              </a:solidFill>
              <a:ea typeface="楷体" panose="02010609060101010101" pitchFamily="49" charset="-122"/>
            </a:endParaRPr>
          </a:p>
        </p:txBody>
      </p:sp>
      <p:sp>
        <p:nvSpPr>
          <p:cNvPr id="82950" name="Rectangle 8"/>
          <p:cNvSpPr>
            <a:spLocks noChangeArrowheads="1"/>
          </p:cNvSpPr>
          <p:nvPr/>
        </p:nvSpPr>
        <p:spPr bwMode="auto">
          <a:xfrm>
            <a:off x="103188" y="620713"/>
            <a:ext cx="3532187" cy="54927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ea typeface="楷体" panose="02010609060101010101" pitchFamily="49" charset="-122"/>
              </a:rPr>
              <a:t>控制项目过程</a:t>
            </a:r>
            <a:endParaRPr kumimoji="0" lang="en-US" altLang="en-US" sz="3000" u="none" dirty="0">
              <a:ea typeface="楷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94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294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9"/>
          <p:cNvSpPr>
            <a:spLocks noGrp="1" noChangeArrowheads="1"/>
          </p:cNvSpPr>
          <p:nvPr>
            <p:ph type="sldNum" sz="quarter" idx="10"/>
          </p:nvPr>
        </p:nvSpPr>
        <p:spPr>
          <a:noFill/>
        </p:spPr>
        <p:txBody>
          <a:bodyPr/>
          <a:lstStyle/>
          <a:p>
            <a:r>
              <a:rPr lang="zh-CN" altLang="en-GB" dirty="0"/>
              <a:t>  </a:t>
            </a:r>
            <a:fld id="{55684ED9-C507-40E5-8C5D-B1926A2CD578}" type="slidenum">
              <a:rPr lang="zh-CN" altLang="en-GB" smtClean="0"/>
              <a:t>48</a:t>
            </a:fld>
            <a:endParaRPr lang="en-US" altLang="zh-CN" dirty="0"/>
          </a:p>
        </p:txBody>
      </p:sp>
      <p:sp>
        <p:nvSpPr>
          <p:cNvPr id="83971"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3972"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P.53</a:t>
            </a:r>
          </a:p>
        </p:txBody>
      </p:sp>
      <p:sp>
        <p:nvSpPr>
          <p:cNvPr id="83974" name="Rectangle 7"/>
          <p:cNvSpPr>
            <a:spLocks noChangeArrowheads="1"/>
          </p:cNvSpPr>
          <p:nvPr/>
        </p:nvSpPr>
        <p:spPr bwMode="auto">
          <a:xfrm>
            <a:off x="3570288" y="6399213"/>
            <a:ext cx="2716224" cy="460375"/>
          </a:xfrm>
          <a:prstGeom prst="rect">
            <a:avLst/>
          </a:prstGeom>
          <a:noFill/>
          <a:ln w="9525">
            <a:noFill/>
            <a:miter lim="800000"/>
          </a:ln>
        </p:spPr>
        <p:txBody>
          <a:bodyPr wrap="square" anchor="ctr">
            <a:spAutoFit/>
          </a:bodyPr>
          <a:lstStyle/>
          <a:p>
            <a:pPr algn="dist">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rPr>
              <a:t>图</a:t>
            </a:r>
            <a:r>
              <a:rPr kumimoji="0" lang="en-US" altLang="zh-CN" sz="1600" u="none">
                <a:solidFill>
                  <a:srgbClr val="FF0000"/>
                </a:solidFill>
                <a:cs typeface="Times New Roman" panose="02020603050405020304" pitchFamily="18" charset="0"/>
              </a:rPr>
              <a:t>2-12 </a:t>
            </a: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项目管理过程组</a:t>
            </a:r>
            <a:r>
              <a:rPr kumimoji="0" lang="zh-CN" altLang="en-US" sz="2400" b="0" u="none">
                <a:solidFill>
                  <a:srgbClr val="FF0000"/>
                </a:solidFill>
                <a:latin typeface="楷体" panose="02010609060101010101" pitchFamily="49" charset="-122"/>
                <a:ea typeface="楷体" panose="02010609060101010101" pitchFamily="49" charset="-122"/>
                <a:cs typeface="楷体" panose="02010609060101010101" pitchFamily="49" charset="-122"/>
              </a:rPr>
              <a:t> </a:t>
            </a:r>
          </a:p>
        </p:txBody>
      </p:sp>
      <p:sp>
        <p:nvSpPr>
          <p:cNvPr id="83975"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endParaRPr kumimoji="0" lang="zh-CN" altLang="en-US" sz="3000" u="none" dirty="0">
              <a:latin typeface="楷体" panose="02010609060101010101" pitchFamily="49" charset="-122"/>
              <a:ea typeface="楷体" panose="02010609060101010101" pitchFamily="49" charset="-122"/>
            </a:endParaRPr>
          </a:p>
        </p:txBody>
      </p:sp>
      <p:sp>
        <p:nvSpPr>
          <p:cNvPr id="83976" name="Rectangle 9"/>
          <p:cNvSpPr>
            <a:spLocks noChangeArrowheads="1"/>
          </p:cNvSpPr>
          <p:nvPr/>
        </p:nvSpPr>
        <p:spPr bwMode="auto">
          <a:xfrm>
            <a:off x="323850" y="1341438"/>
            <a:ext cx="5688013" cy="521970"/>
          </a:xfrm>
          <a:prstGeom prst="rect">
            <a:avLst/>
          </a:prstGeom>
          <a:noFill/>
          <a:ln w="9525">
            <a:noFill/>
            <a:miter lim="800000"/>
          </a:ln>
        </p:spPr>
        <p:txBody>
          <a:bodyPr>
            <a:spAutoFit/>
          </a:bodyPr>
          <a:lstStyle/>
          <a:p>
            <a:pPr algn="l"/>
            <a:r>
              <a:rPr kumimoji="0" lang="en-US" altLang="en-US" u="none" dirty="0">
                <a:solidFill>
                  <a:srgbClr val="FF0000"/>
                </a:solidFill>
                <a:ea typeface="楷体_GB2312" pitchFamily="49" charset="-122"/>
              </a:rPr>
              <a:t>2.5.1  </a:t>
            </a:r>
            <a:r>
              <a:rPr kumimoji="0" lang="en-US" altLang="en-US" u="none" dirty="0" err="1">
                <a:solidFill>
                  <a:srgbClr val="FF0000"/>
                </a:solidFill>
                <a:latin typeface="楷体" panose="02010609060101010101" pitchFamily="49" charset="-122"/>
                <a:ea typeface="楷体" panose="02010609060101010101" pitchFamily="49" charset="-122"/>
              </a:rPr>
              <a:t>项目管理过程组</a:t>
            </a:r>
          </a:p>
        </p:txBody>
      </p:sp>
      <p:sp>
        <p:nvSpPr>
          <p:cNvPr id="10" name="矩形 9"/>
          <p:cNvSpPr/>
          <p:nvPr/>
        </p:nvSpPr>
        <p:spPr>
          <a:xfrm>
            <a:off x="71406" y="1785926"/>
            <a:ext cx="8929718" cy="829945"/>
          </a:xfrm>
          <a:prstGeom prst="rect">
            <a:avLst/>
          </a:prstGeom>
        </p:spPr>
        <p:txBody>
          <a:bodyPr wrap="square">
            <a:spAutoFit/>
          </a:bodyPr>
          <a:lstStyle/>
          <a:p>
            <a:pPr algn="l"/>
            <a:r>
              <a:rPr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大多数项目都有共同的项目管理过程，这一过程包括启动、规划、执行、监督和结束</a:t>
            </a:r>
            <a:r>
              <a:rPr lang="en-US" sz="2400" u="none" dirty="0">
                <a:solidFill>
                  <a:schemeClr val="bg2"/>
                </a:solidFill>
                <a:ea typeface="楷体" panose="02010609060101010101" pitchFamily="49" charset="-122"/>
                <a:cs typeface="Times New Roman" panose="02020603050405020304" pitchFamily="18" charset="0"/>
              </a:rPr>
              <a:t>5</a:t>
            </a:r>
            <a:r>
              <a:rPr lang="zh-CN" altLang="en-US" sz="2400" u="none" dirty="0">
                <a:solidFill>
                  <a:schemeClr val="bg2"/>
                </a:solidFill>
                <a:latin typeface="楷体" panose="02010609060101010101" pitchFamily="49" charset="-122"/>
                <a:ea typeface="楷体" panose="02010609060101010101" pitchFamily="49" charset="-122"/>
                <a:cs typeface="楷体" panose="02010609060101010101" pitchFamily="49" charset="-122"/>
              </a:rPr>
              <a:t>个过程组。</a:t>
            </a:r>
          </a:p>
        </p:txBody>
      </p:sp>
      <p:pic>
        <p:nvPicPr>
          <p:cNvPr id="1026" name="Picture 2"/>
          <p:cNvPicPr>
            <a:picLocks noChangeAspect="1" noChangeArrowheads="1"/>
          </p:cNvPicPr>
          <p:nvPr/>
        </p:nvPicPr>
        <p:blipFill>
          <a:blip r:embed="rId3"/>
          <a:srcRect/>
          <a:stretch>
            <a:fillRect/>
          </a:stretch>
        </p:blipFill>
        <p:spPr bwMode="auto">
          <a:xfrm>
            <a:off x="0" y="2633684"/>
            <a:ext cx="9144000" cy="3867150"/>
          </a:xfrm>
          <a:prstGeom prst="rect">
            <a:avLst/>
          </a:prstGeom>
          <a:noFill/>
          <a:ln w="9525">
            <a:noFill/>
            <a:miter lim="800000"/>
            <a:headEnd/>
            <a:tailEnd/>
          </a:ln>
          <a:effec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39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4" grpId="0"/>
      <p:bldP spid="83974" grpId="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9"/>
          <p:cNvSpPr>
            <a:spLocks noGrp="1" noChangeArrowheads="1"/>
          </p:cNvSpPr>
          <p:nvPr>
            <p:ph type="sldNum" sz="quarter" idx="10"/>
          </p:nvPr>
        </p:nvSpPr>
        <p:spPr>
          <a:noFill/>
        </p:spPr>
        <p:txBody>
          <a:bodyPr/>
          <a:lstStyle/>
          <a:p>
            <a:r>
              <a:rPr lang="zh-CN" altLang="en-GB" dirty="0"/>
              <a:t>  </a:t>
            </a:r>
            <a:fld id="{FC59D044-A2DB-4795-AD2A-A139C3D7835F}" type="slidenum">
              <a:rPr lang="zh-CN" altLang="en-GB" smtClean="0"/>
              <a:t>49</a:t>
            </a:fld>
            <a:endParaRPr lang="en-US" altLang="zh-CN" dirty="0"/>
          </a:p>
        </p:txBody>
      </p:sp>
      <p:sp>
        <p:nvSpPr>
          <p:cNvPr id="849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4996"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P.53</a:t>
            </a:r>
          </a:p>
        </p:txBody>
      </p:sp>
      <p:sp>
        <p:nvSpPr>
          <p:cNvPr id="758789" name="Text Box 5"/>
          <p:cNvSpPr txBox="1">
            <a:spLocks noChangeArrowheads="1"/>
          </p:cNvSpPr>
          <p:nvPr/>
        </p:nvSpPr>
        <p:spPr bwMode="auto">
          <a:xfrm>
            <a:off x="142876" y="1897063"/>
            <a:ext cx="8929718" cy="4226560"/>
          </a:xfrm>
          <a:prstGeom prst="rect">
            <a:avLst/>
          </a:prstGeom>
          <a:noFill/>
          <a:ln w="9525">
            <a:noFill/>
            <a:miter lim="800000"/>
          </a:ln>
        </p:spPr>
        <p:txBody>
          <a:bodyPr wrap="square">
            <a:spAutoFit/>
          </a:bodyPr>
          <a:lstStyle/>
          <a:p>
            <a:pPr algn="l">
              <a:lnSpc>
                <a:spcPct val="110000"/>
              </a:lnSpc>
              <a:spcBef>
                <a:spcPct val="50000"/>
              </a:spcBef>
              <a:buClr>
                <a:schemeClr val="hlink"/>
              </a:buClr>
            </a:pP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启动过程组</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主要任务</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是确定并核准项目或项目阶段。</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主要成果</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是形成一个项目章程和选择一位项目经理。</a:t>
            </a:r>
          </a:p>
          <a:p>
            <a:pPr algn="l">
              <a:lnSpc>
                <a:spcPct val="110000"/>
              </a:lnSpc>
              <a:spcBef>
                <a:spcPct val="50000"/>
              </a:spcBef>
              <a:buClr>
                <a:schemeClr val="hlink"/>
              </a:buClr>
            </a:pP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规划过程组</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主要任务</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是确定和细化目标</a:t>
            </a:r>
            <a:r>
              <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并规划为实现项目目标和项目范围的行动方针和路线</a:t>
            </a:r>
            <a:r>
              <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确保实现项目目标。</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主要成果</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包括完成工作任务分解结构、项目进度计划和项目预算。</a:t>
            </a:r>
          </a:p>
        </p:txBody>
      </p:sp>
      <p:sp>
        <p:nvSpPr>
          <p:cNvPr id="84998" name="Rectangle 8"/>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endParaRPr kumimoji="0" lang="zh-CN" altLang="en-US" sz="3000" u="none" dirty="0">
              <a:latin typeface="楷体" panose="02010609060101010101" pitchFamily="49" charset="-122"/>
              <a:ea typeface="楷体" panose="02010609060101010101" pitchFamily="49" charset="-122"/>
            </a:endParaRPr>
          </a:p>
        </p:txBody>
      </p:sp>
      <p:sp>
        <p:nvSpPr>
          <p:cNvPr id="84999" name="Rectangle 9"/>
          <p:cNvSpPr>
            <a:spLocks noChangeArrowheads="1"/>
          </p:cNvSpPr>
          <p:nvPr/>
        </p:nvSpPr>
        <p:spPr bwMode="auto">
          <a:xfrm>
            <a:off x="323850" y="1341438"/>
            <a:ext cx="5688013" cy="521970"/>
          </a:xfrm>
          <a:prstGeom prst="rect">
            <a:avLst/>
          </a:prstGeom>
          <a:noFill/>
          <a:ln w="9525">
            <a:noFill/>
            <a:miter lim="800000"/>
          </a:ln>
        </p:spPr>
        <p:txBody>
          <a:bodyPr>
            <a:spAutoFit/>
          </a:bodyPr>
          <a:lstStyle/>
          <a:p>
            <a:pPr algn="l"/>
            <a:r>
              <a:rPr kumimoji="0" lang="en-US" altLang="en-US" u="none" dirty="0">
                <a:solidFill>
                  <a:srgbClr val="FF0000"/>
                </a:solidFill>
                <a:ea typeface="楷体_GB2312" pitchFamily="49" charset="-122"/>
              </a:rPr>
              <a:t>2.5.1  </a:t>
            </a:r>
            <a:r>
              <a:rPr kumimoji="0" lang="en-US" altLang="en-US" u="none" dirty="0" err="1">
                <a:solidFill>
                  <a:srgbClr val="FF0000"/>
                </a:solidFill>
                <a:latin typeface="楷体" panose="02010609060101010101" pitchFamily="49" charset="-122"/>
                <a:ea typeface="楷体" panose="02010609060101010101" pitchFamily="49" charset="-122"/>
              </a:rPr>
              <a:t>项目管理过程组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878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9"/>
          <p:cNvSpPr>
            <a:spLocks noGrp="1" noChangeArrowheads="1"/>
          </p:cNvSpPr>
          <p:nvPr>
            <p:ph type="sldNum" sz="quarter" idx="10"/>
          </p:nvPr>
        </p:nvSpPr>
        <p:spPr>
          <a:noFill/>
        </p:spPr>
        <p:txBody>
          <a:bodyPr/>
          <a:lstStyle/>
          <a:p>
            <a:r>
              <a:rPr lang="zh-CN" altLang="en-GB" dirty="0"/>
              <a:t>  </a:t>
            </a:r>
            <a:fld id="{A7E98050-D822-4B82-AABC-60FBC7CA8222}" type="slidenum">
              <a:rPr lang="zh-CN" altLang="en-GB" smtClean="0"/>
              <a:t>50</a:t>
            </a:fld>
            <a:endParaRPr lang="en-US" altLang="zh-CN" dirty="0"/>
          </a:p>
        </p:txBody>
      </p:sp>
      <p:sp>
        <p:nvSpPr>
          <p:cNvPr id="86019"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6020"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P.53</a:t>
            </a:r>
          </a:p>
        </p:txBody>
      </p:sp>
      <p:sp>
        <p:nvSpPr>
          <p:cNvPr id="762885" name="Text Box 5"/>
          <p:cNvSpPr txBox="1">
            <a:spLocks noChangeArrowheads="1"/>
          </p:cNvSpPr>
          <p:nvPr/>
        </p:nvSpPr>
        <p:spPr bwMode="auto">
          <a:xfrm>
            <a:off x="322263" y="1914525"/>
            <a:ext cx="8497887" cy="4431030"/>
          </a:xfrm>
          <a:prstGeom prst="rect">
            <a:avLst/>
          </a:prstGeom>
          <a:noFill/>
          <a:ln w="9525">
            <a:noFill/>
            <a:miter lim="800000"/>
          </a:ln>
        </p:spPr>
        <p:txBody>
          <a:bodyPr>
            <a:spAutoFit/>
          </a:bodyPr>
          <a:lstStyle/>
          <a:p>
            <a:pPr algn="l">
              <a:spcBef>
                <a:spcPct val="50000"/>
              </a:spcBef>
              <a:buClr>
                <a:schemeClr val="hlink"/>
              </a:buClr>
            </a:pP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执行过程组</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主要任务</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是通过采用必要的行动，协调人力资源和其他资源，整体的、有效的实施项目计划。</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主要成果</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是交付实际的项目工作。</a:t>
            </a:r>
          </a:p>
          <a:p>
            <a:pPr algn="l">
              <a:spcBef>
                <a:spcPct val="50000"/>
              </a:spcBef>
              <a:buClr>
                <a:schemeClr val="hlink"/>
              </a:buClr>
            </a:pPr>
            <a:r>
              <a:rPr kumimoji="0" lang="zh-CN" altLang="en-US" sz="3600" u="none" dirty="0">
                <a:solidFill>
                  <a:schemeClr val="bg1"/>
                </a:solidFill>
                <a:latin typeface="楷体" panose="02010609060101010101" pitchFamily="49" charset="-122"/>
                <a:ea typeface="楷体" panose="02010609060101010101" pitchFamily="49" charset="-122"/>
                <a:cs typeface="楷体" panose="02010609060101010101" pitchFamily="49" charset="-122"/>
              </a:rPr>
              <a:t> </a:t>
            </a:r>
            <a:r>
              <a:rPr kumimoji="0" lang="zh-CN" altLang="en-US" sz="3600" u="none" dirty="0">
                <a:solidFill>
                  <a:srgbClr val="0000FF"/>
                </a:solidFill>
                <a:latin typeface="楷体" panose="02010609060101010101" pitchFamily="49" charset="-122"/>
                <a:ea typeface="楷体" panose="02010609060101010101" pitchFamily="49" charset="-122"/>
                <a:cs typeface="楷体" panose="02010609060101010101" pitchFamily="49" charset="-122"/>
              </a:rPr>
              <a:t>监控过程组</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的</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主要任务</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是定期测量和实时监控项目进展情况，发现偏离项目管理计划之处，及时采取纠正措施和变更控制</a:t>
            </a:r>
            <a:r>
              <a:rPr kumimoji="0" lang="en-US" altLang="zh-CN" u="none" dirty="0">
                <a:solidFill>
                  <a:schemeClr val="bg2"/>
                </a:solidFill>
                <a:latin typeface="楷体" panose="02010609060101010101" pitchFamily="49" charset="-122"/>
                <a:ea typeface="楷体" panose="02010609060101010101" pitchFamily="49" charset="-122"/>
                <a:cs typeface="楷体" panose="02010609060101010101" pitchFamily="49" charset="-122"/>
              </a:rPr>
              <a:t>,</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确保项目目标的实现。</a:t>
            </a:r>
            <a:r>
              <a:rPr kumimoji="0" lang="zh-CN" altLang="en-US" sz="3600" u="none" dirty="0">
                <a:solidFill>
                  <a:srgbClr val="FF0000"/>
                </a:solidFill>
                <a:latin typeface="楷体" panose="02010609060101010101" pitchFamily="49" charset="-122"/>
                <a:ea typeface="楷体" panose="02010609060101010101" pitchFamily="49" charset="-122"/>
                <a:cs typeface="楷体" panose="02010609060101010101" pitchFamily="49" charset="-122"/>
              </a:rPr>
              <a:t>主要成果</a:t>
            </a:r>
            <a:r>
              <a:rPr kumimoji="0" lang="zh-CN" altLang="en-US" u="none" dirty="0">
                <a:solidFill>
                  <a:schemeClr val="bg2"/>
                </a:solidFill>
                <a:latin typeface="楷体" panose="02010609060101010101" pitchFamily="49" charset="-122"/>
                <a:ea typeface="楷体" panose="02010609060101010101" pitchFamily="49" charset="-122"/>
                <a:cs typeface="楷体" panose="02010609060101010101" pitchFamily="49" charset="-122"/>
              </a:rPr>
              <a:t>是，在要求的时间、成本和质量限制范围内获得满意的结果。</a:t>
            </a:r>
          </a:p>
        </p:txBody>
      </p:sp>
      <p:sp>
        <p:nvSpPr>
          <p:cNvPr id="86022"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p>
        </p:txBody>
      </p:sp>
      <p:sp>
        <p:nvSpPr>
          <p:cNvPr id="86023" name="Rectangle 7"/>
          <p:cNvSpPr>
            <a:spLocks noChangeArrowheads="1"/>
          </p:cNvSpPr>
          <p:nvPr/>
        </p:nvSpPr>
        <p:spPr bwMode="auto">
          <a:xfrm>
            <a:off x="323850" y="1341438"/>
            <a:ext cx="5688013" cy="521970"/>
          </a:xfrm>
          <a:prstGeom prst="rect">
            <a:avLst/>
          </a:prstGeom>
          <a:noFill/>
          <a:ln w="9525">
            <a:noFill/>
            <a:miter lim="800000"/>
          </a:ln>
        </p:spPr>
        <p:txBody>
          <a:bodyPr>
            <a:spAutoFit/>
          </a:bodyPr>
          <a:lstStyle/>
          <a:p>
            <a:pPr algn="l"/>
            <a:r>
              <a:rPr kumimoji="0" lang="en-US" altLang="en-US" u="none" dirty="0">
                <a:solidFill>
                  <a:srgbClr val="FF0000"/>
                </a:solidFill>
                <a:ea typeface="楷体_GB2312" pitchFamily="49" charset="-122"/>
              </a:rPr>
              <a:t>2.5.1  </a:t>
            </a:r>
            <a:r>
              <a:rPr kumimoji="0" lang="en-US" altLang="en-US" u="none" dirty="0" err="1">
                <a:solidFill>
                  <a:srgbClr val="FF0000"/>
                </a:solidFill>
                <a:latin typeface="楷体" panose="02010609060101010101" pitchFamily="49" charset="-122"/>
                <a:ea typeface="楷体" panose="02010609060101010101" pitchFamily="49" charset="-122"/>
              </a:rPr>
              <a:t>项目管理过程组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288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9"/>
          <p:cNvSpPr>
            <a:spLocks noGrp="1" noChangeArrowheads="1"/>
          </p:cNvSpPr>
          <p:nvPr>
            <p:ph type="sldNum" sz="quarter" idx="10"/>
          </p:nvPr>
        </p:nvSpPr>
        <p:spPr>
          <a:noFill/>
        </p:spPr>
        <p:txBody>
          <a:bodyPr/>
          <a:lstStyle/>
          <a:p>
            <a:r>
              <a:rPr lang="zh-CN" altLang="en-GB" dirty="0"/>
              <a:t>  </a:t>
            </a:r>
            <a:fld id="{10DFFA5C-71A5-4542-AB11-101308BA256A}" type="slidenum">
              <a:rPr lang="zh-CN" altLang="en-GB" smtClean="0"/>
              <a:t>51</a:t>
            </a:fld>
            <a:endParaRPr lang="en-US" altLang="zh-CN" dirty="0"/>
          </a:p>
        </p:txBody>
      </p:sp>
      <p:sp>
        <p:nvSpPr>
          <p:cNvPr id="87043"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lgn="l">
              <a:spcBef>
                <a:spcPct val="50000"/>
              </a:spcBef>
            </a:pPr>
            <a:endParaRPr lang="zh-CN" altLang="en-US" sz="2400" b="0" u="none"/>
          </a:p>
        </p:txBody>
      </p:sp>
      <p:sp>
        <p:nvSpPr>
          <p:cNvPr id="87044" name="Text Box 4"/>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P.54</a:t>
            </a:r>
          </a:p>
        </p:txBody>
      </p:sp>
      <p:sp>
        <p:nvSpPr>
          <p:cNvPr id="760837" name="Text Box 5"/>
          <p:cNvSpPr txBox="1">
            <a:spLocks noChangeArrowheads="1"/>
          </p:cNvSpPr>
          <p:nvPr/>
        </p:nvSpPr>
        <p:spPr bwMode="auto">
          <a:xfrm>
            <a:off x="250825" y="2036763"/>
            <a:ext cx="8569325" cy="3917950"/>
          </a:xfrm>
          <a:prstGeom prst="rect">
            <a:avLst/>
          </a:prstGeom>
          <a:noFill/>
          <a:ln w="9525">
            <a:noFill/>
            <a:miter lim="800000"/>
          </a:ln>
        </p:spPr>
        <p:txBody>
          <a:bodyPr>
            <a:spAutoFit/>
          </a:bodyPr>
          <a:lstStyle/>
          <a:p>
            <a:pPr algn="l">
              <a:lnSpc>
                <a:spcPct val="110000"/>
              </a:lnSpc>
              <a:spcBef>
                <a:spcPct val="50000"/>
              </a:spcBef>
              <a:buClr>
                <a:schemeClr val="hlink"/>
              </a:buClr>
            </a:pPr>
            <a:r>
              <a:rPr kumimoji="0" lang="zh-CN" altLang="en-US" sz="4000" u="none" dirty="0">
                <a:solidFill>
                  <a:srgbClr val="0000FF"/>
                </a:solidFill>
                <a:latin typeface="楷体" panose="02010609060101010101" pitchFamily="49" charset="-122"/>
                <a:ea typeface="楷体" panose="02010609060101010101" pitchFamily="49" charset="-122"/>
              </a:rPr>
              <a:t>收尾过程组</a:t>
            </a:r>
            <a:r>
              <a:rPr kumimoji="0" lang="zh-CN" altLang="en-US" sz="3200" u="none" dirty="0">
                <a:solidFill>
                  <a:schemeClr val="bg2"/>
                </a:solidFill>
                <a:latin typeface="楷体" panose="02010609060101010101" pitchFamily="49" charset="-122"/>
                <a:ea typeface="楷体" panose="02010609060101010101" pitchFamily="49" charset="-122"/>
              </a:rPr>
              <a:t>的</a:t>
            </a:r>
            <a:r>
              <a:rPr kumimoji="0" lang="zh-CN" altLang="en-US" sz="4000" u="none" dirty="0">
                <a:solidFill>
                  <a:srgbClr val="FF0000"/>
                </a:solidFill>
                <a:latin typeface="楷体" panose="02010609060101010101" pitchFamily="49" charset="-122"/>
                <a:ea typeface="楷体" panose="02010609060101010101" pitchFamily="49" charset="-122"/>
              </a:rPr>
              <a:t>主要任务</a:t>
            </a:r>
            <a:r>
              <a:rPr kumimoji="0" lang="zh-CN" altLang="en-US" sz="3200" u="none" dirty="0">
                <a:solidFill>
                  <a:schemeClr val="bg2"/>
                </a:solidFill>
                <a:latin typeface="楷体" panose="02010609060101010101" pitchFamily="49" charset="-122"/>
                <a:ea typeface="楷体" panose="02010609060101010101" pitchFamily="49" charset="-122"/>
              </a:rPr>
              <a:t>是采取正式的方式对项目成果、项目产品、项目阶段进行验收，确保项目或项目阶段有条不紊的结束。</a:t>
            </a:r>
            <a:endParaRPr kumimoji="0" lang="en-US" altLang="zh-CN" sz="3200" u="none" dirty="0">
              <a:solidFill>
                <a:schemeClr val="bg2"/>
              </a:solidFill>
              <a:latin typeface="楷体" panose="02010609060101010101" pitchFamily="49" charset="-122"/>
              <a:ea typeface="楷体" panose="02010609060101010101" pitchFamily="49" charset="-122"/>
            </a:endParaRPr>
          </a:p>
          <a:p>
            <a:pPr algn="l">
              <a:lnSpc>
                <a:spcPct val="110000"/>
              </a:lnSpc>
              <a:spcBef>
                <a:spcPct val="50000"/>
              </a:spcBef>
              <a:buClr>
                <a:schemeClr val="hlink"/>
              </a:buClr>
            </a:pPr>
            <a:r>
              <a:rPr kumimoji="0" lang="zh-CN" altLang="en-US" sz="4000" u="none" dirty="0">
                <a:solidFill>
                  <a:srgbClr val="FF0000"/>
                </a:solidFill>
                <a:latin typeface="楷体" panose="02010609060101010101" pitchFamily="49" charset="-122"/>
                <a:ea typeface="楷体" panose="02010609060101010101" pitchFamily="49" charset="-122"/>
              </a:rPr>
              <a:t>主要成果</a:t>
            </a:r>
            <a:r>
              <a:rPr kumimoji="0" lang="zh-CN" altLang="en-US" sz="3200" u="none" dirty="0">
                <a:solidFill>
                  <a:schemeClr val="bg2"/>
                </a:solidFill>
                <a:latin typeface="楷体" panose="02010609060101010101" pitchFamily="49" charset="-122"/>
                <a:ea typeface="楷体" panose="02010609060101010101" pitchFamily="49" charset="-122"/>
              </a:rPr>
              <a:t>包括项目的正式验收、项目审计报告和项目总结报告编制以及项目组成员的妥善安置。</a:t>
            </a:r>
          </a:p>
        </p:txBody>
      </p:sp>
      <p:sp>
        <p:nvSpPr>
          <p:cNvPr id="87046" name="Rectangle 6"/>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p>
        </p:txBody>
      </p:sp>
      <p:sp>
        <p:nvSpPr>
          <p:cNvPr id="87047" name="Rectangle 7"/>
          <p:cNvSpPr>
            <a:spLocks noChangeArrowheads="1"/>
          </p:cNvSpPr>
          <p:nvPr/>
        </p:nvSpPr>
        <p:spPr bwMode="auto">
          <a:xfrm>
            <a:off x="323850" y="1341438"/>
            <a:ext cx="5688013" cy="521970"/>
          </a:xfrm>
          <a:prstGeom prst="rect">
            <a:avLst/>
          </a:prstGeom>
          <a:noFill/>
          <a:ln w="9525">
            <a:noFill/>
            <a:miter lim="800000"/>
          </a:ln>
        </p:spPr>
        <p:txBody>
          <a:bodyPr>
            <a:spAutoFit/>
          </a:bodyPr>
          <a:lstStyle/>
          <a:p>
            <a:pPr algn="l"/>
            <a:r>
              <a:rPr kumimoji="0" lang="en-US" altLang="en-US" u="none" dirty="0">
                <a:solidFill>
                  <a:srgbClr val="FF0000"/>
                </a:solidFill>
                <a:ea typeface="华文中宋" panose="02010600040101010101" pitchFamily="2" charset="-122"/>
              </a:rPr>
              <a:t>2.5.1  </a:t>
            </a:r>
            <a:r>
              <a:rPr kumimoji="0" lang="en-US" altLang="en-US" u="none" dirty="0" err="1">
                <a:solidFill>
                  <a:srgbClr val="FF0000"/>
                </a:solidFill>
                <a:latin typeface="楷体" panose="02010609060101010101" pitchFamily="49" charset="-122"/>
                <a:ea typeface="楷体" panose="02010609060101010101" pitchFamily="49" charset="-122"/>
              </a:rPr>
              <a:t>项目管理过程组</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083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9"/>
          <p:cNvSpPr>
            <a:spLocks noGrp="1" noChangeArrowheads="1"/>
          </p:cNvSpPr>
          <p:nvPr>
            <p:ph type="sldNum" sz="quarter" idx="10"/>
          </p:nvPr>
        </p:nvSpPr>
        <p:spPr>
          <a:noFill/>
        </p:spPr>
        <p:txBody>
          <a:bodyPr/>
          <a:lstStyle/>
          <a:p>
            <a:r>
              <a:rPr lang="zh-CN" altLang="en-GB" dirty="0"/>
              <a:t>  </a:t>
            </a:r>
            <a:fld id="{30722829-5EE9-420C-9561-EF1C0CC7A629}" type="slidenum">
              <a:rPr lang="zh-CN" altLang="en-GB" smtClean="0"/>
              <a:t>52</a:t>
            </a:fld>
            <a:endParaRPr lang="en-US" altLang="zh-CN" dirty="0"/>
          </a:p>
        </p:txBody>
      </p:sp>
      <p:sp>
        <p:nvSpPr>
          <p:cNvPr id="115715" name="Text Box 3"/>
          <p:cNvSpPr txBox="1">
            <a:spLocks noChangeArrowheads="1"/>
          </p:cNvSpPr>
          <p:nvPr/>
        </p:nvSpPr>
        <p:spPr bwMode="auto">
          <a:xfrm>
            <a:off x="7740650" y="44450"/>
            <a:ext cx="1295400" cy="457200"/>
          </a:xfrm>
          <a:prstGeom prst="rect">
            <a:avLst/>
          </a:prstGeom>
          <a:noFill/>
          <a:ln w="9525">
            <a:noFill/>
            <a:miter lim="800000"/>
          </a:ln>
        </p:spPr>
        <p:txBody>
          <a:bodyPr>
            <a:spAutoFit/>
          </a:bodyPr>
          <a:lstStyle/>
          <a:p>
            <a:pPr>
              <a:spcBef>
                <a:spcPct val="50000"/>
              </a:spcBef>
            </a:pPr>
            <a:r>
              <a:rPr lang="en-US" altLang="zh-CN" sz="2400" u="none">
                <a:solidFill>
                  <a:schemeClr val="bg2"/>
                </a:solidFill>
              </a:rPr>
              <a:t>P.57</a:t>
            </a:r>
          </a:p>
        </p:txBody>
      </p:sp>
      <p:pic>
        <p:nvPicPr>
          <p:cNvPr id="115716" name="Picture 5" descr="图2－19"/>
          <p:cNvPicPr>
            <a:picLocks noChangeAspect="1" noChangeArrowheads="1"/>
          </p:cNvPicPr>
          <p:nvPr/>
        </p:nvPicPr>
        <p:blipFill>
          <a:blip r:embed="rId3" cstate="print"/>
          <a:srcRect/>
          <a:stretch>
            <a:fillRect/>
          </a:stretch>
        </p:blipFill>
        <p:spPr bwMode="auto">
          <a:xfrm>
            <a:off x="250825" y="1773238"/>
            <a:ext cx="8713788" cy="4608512"/>
          </a:xfrm>
          <a:prstGeom prst="rect">
            <a:avLst/>
          </a:prstGeom>
          <a:noFill/>
          <a:ln w="9525">
            <a:noFill/>
            <a:miter lim="800000"/>
            <a:headEnd/>
            <a:tailEnd/>
          </a:ln>
        </p:spPr>
      </p:pic>
      <p:sp>
        <p:nvSpPr>
          <p:cNvPr id="115717" name="Rectangle 6"/>
          <p:cNvSpPr>
            <a:spLocks noChangeArrowheads="1"/>
          </p:cNvSpPr>
          <p:nvPr/>
        </p:nvSpPr>
        <p:spPr bwMode="auto">
          <a:xfrm>
            <a:off x="2444750" y="6548121"/>
            <a:ext cx="4441825" cy="337185"/>
          </a:xfrm>
          <a:prstGeom prst="rect">
            <a:avLst/>
          </a:prstGeom>
          <a:noFill/>
          <a:ln w="9525">
            <a:noFill/>
            <a:miter lim="800000"/>
          </a:ln>
        </p:spPr>
        <p:txBody>
          <a:bodyPr wrap="none" anchor="ctr">
            <a:spAutoFit/>
          </a:bodyPr>
          <a:lstStyle/>
          <a:p>
            <a:pPr algn="ctr">
              <a:tabLst>
                <a:tab pos="457200" algn="l"/>
              </a:tabLst>
            </a:pPr>
            <a:r>
              <a:rPr kumimoji="0" lang="zh-CN" altLang="en-US" sz="1600" u="none">
                <a:solidFill>
                  <a:srgbClr val="FF0000"/>
                </a:solidFill>
                <a:latin typeface="楷体" panose="02010609060101010101" pitchFamily="49" charset="-122"/>
                <a:ea typeface="楷体" panose="02010609060101010101" pitchFamily="49" charset="-122"/>
              </a:rPr>
              <a:t>图</a:t>
            </a:r>
            <a:r>
              <a:rPr kumimoji="0" lang="en-US" altLang="zh-CN" sz="1600" u="none">
                <a:solidFill>
                  <a:srgbClr val="FF0000"/>
                </a:solidFill>
                <a:ea typeface="楷体" panose="02010609060101010101" pitchFamily="49" charset="-122"/>
                <a:cs typeface="Times New Roman" panose="02020603050405020304" pitchFamily="18" charset="0"/>
              </a:rPr>
              <a:t>2-13</a:t>
            </a:r>
            <a:r>
              <a:rPr kumimoji="0" lang="en-US" altLang="zh-CN" sz="1600" u="none">
                <a:solidFill>
                  <a:srgbClr val="FF0000"/>
                </a:solidFill>
                <a:latin typeface="楷体" panose="02010609060101010101" pitchFamily="49" charset="-122"/>
                <a:ea typeface="楷体" panose="02010609060101010101" pitchFamily="49" charset="-122"/>
              </a:rPr>
              <a:t> </a:t>
            </a:r>
            <a:r>
              <a:rPr kumimoji="0" lang="zh-CN" altLang="en-US" sz="1600" u="none">
                <a:solidFill>
                  <a:srgbClr val="FF0000"/>
                </a:solidFill>
                <a:latin typeface="楷体" panose="02010609060101010101" pitchFamily="49" charset="-122"/>
                <a:ea typeface="楷体" panose="02010609060101010101" pitchFamily="49" charset="-122"/>
                <a:cs typeface="楷体" panose="02010609060101010101" pitchFamily="49" charset="-122"/>
              </a:rPr>
              <a:t>项目管理过程组的活动强度与交叠关系 </a:t>
            </a:r>
          </a:p>
        </p:txBody>
      </p:sp>
      <p:sp>
        <p:nvSpPr>
          <p:cNvPr id="115718" name="Rectangle 7"/>
          <p:cNvSpPr>
            <a:spLocks noChangeArrowheads="1"/>
          </p:cNvSpPr>
          <p:nvPr/>
        </p:nvSpPr>
        <p:spPr bwMode="auto">
          <a:xfrm>
            <a:off x="103188" y="620713"/>
            <a:ext cx="3532187" cy="553085"/>
          </a:xfrm>
          <a:prstGeom prst="rect">
            <a:avLst/>
          </a:prstGeom>
          <a:noFill/>
          <a:ln w="9525">
            <a:noFill/>
            <a:miter lim="800000"/>
          </a:ln>
        </p:spPr>
        <p:txBody>
          <a:bodyPr>
            <a:spAutoFit/>
          </a:bodyPr>
          <a:lstStyle/>
          <a:p>
            <a:pPr algn="l"/>
            <a:r>
              <a:rPr kumimoji="0" lang="en-US" altLang="en-US" sz="3000" u="none" dirty="0">
                <a:ea typeface="楷体" panose="02010609060101010101" pitchFamily="49" charset="-122"/>
              </a:rPr>
              <a:t>2.5 </a:t>
            </a:r>
            <a:r>
              <a:rPr kumimoji="0" lang="en-US" altLang="en-US" sz="3000" u="none" dirty="0" err="1">
                <a:latin typeface="楷体" panose="02010609060101010101" pitchFamily="49" charset="-122"/>
                <a:ea typeface="楷体" panose="02010609060101010101" pitchFamily="49" charset="-122"/>
              </a:rPr>
              <a:t>控制项目过程</a:t>
            </a:r>
          </a:p>
        </p:txBody>
      </p:sp>
      <p:sp>
        <p:nvSpPr>
          <p:cNvPr id="115719" name="Rectangle 8"/>
          <p:cNvSpPr>
            <a:spLocks noChangeArrowheads="1"/>
          </p:cNvSpPr>
          <p:nvPr/>
        </p:nvSpPr>
        <p:spPr bwMode="auto">
          <a:xfrm>
            <a:off x="323850" y="1341438"/>
            <a:ext cx="5688013" cy="521970"/>
          </a:xfrm>
          <a:prstGeom prst="rect">
            <a:avLst/>
          </a:prstGeom>
          <a:noFill/>
          <a:ln w="9525">
            <a:noFill/>
            <a:miter lim="800000"/>
          </a:ln>
        </p:spPr>
        <p:txBody>
          <a:bodyPr>
            <a:spAutoFit/>
          </a:bodyPr>
          <a:lstStyle/>
          <a:p>
            <a:pPr algn="l"/>
            <a:r>
              <a:rPr kumimoji="0" lang="en-US" altLang="en-US" u="none">
                <a:solidFill>
                  <a:srgbClr val="FF0000"/>
                </a:solidFill>
                <a:ea typeface="楷体_GB2312" pitchFamily="49" charset="-122"/>
              </a:rPr>
              <a:t>2.5.7 </a:t>
            </a:r>
            <a:r>
              <a:rPr kumimoji="0" lang="en-US" altLang="en-US" u="none">
                <a:solidFill>
                  <a:srgbClr val="FF0000"/>
                </a:solidFill>
                <a:latin typeface="楷体" panose="02010609060101010101" pitchFamily="49" charset="-122"/>
                <a:ea typeface="楷体" panose="02010609060101010101" pitchFamily="49" charset="-122"/>
              </a:rPr>
              <a:t>过程组之间的关系</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9"/>
          <p:cNvSpPr>
            <a:spLocks noGrp="1" noChangeArrowheads="1"/>
          </p:cNvSpPr>
          <p:nvPr>
            <p:ph type="sldNum" sz="quarter" idx="10"/>
          </p:nvPr>
        </p:nvSpPr>
        <p:spPr>
          <a:noFill/>
        </p:spPr>
        <p:txBody>
          <a:bodyPr/>
          <a:lstStyle/>
          <a:p>
            <a:r>
              <a:rPr lang="zh-CN" altLang="en-GB" dirty="0"/>
              <a:t>  </a:t>
            </a:r>
            <a:fld id="{751BE8F9-B52D-4156-A228-1F4B93266EA9}" type="slidenum">
              <a:rPr lang="zh-CN" altLang="en-GB" smtClean="0"/>
              <a:t>53</a:t>
            </a:fld>
            <a:endParaRPr lang="en-US" altLang="zh-CN" dirty="0"/>
          </a:p>
        </p:txBody>
      </p:sp>
      <p:pic>
        <p:nvPicPr>
          <p:cNvPr id="1027" name="Picture 3"/>
          <p:cNvPicPr>
            <a:picLocks noChangeAspect="1" noChangeArrowheads="1"/>
          </p:cNvPicPr>
          <p:nvPr/>
        </p:nvPicPr>
        <p:blipFill>
          <a:blip r:embed="rId3"/>
          <a:srcRect/>
          <a:stretch>
            <a:fillRect/>
          </a:stretch>
        </p:blipFill>
        <p:spPr bwMode="auto">
          <a:xfrm>
            <a:off x="0" y="0"/>
            <a:ext cx="9143999" cy="6857999"/>
          </a:xfrm>
          <a:prstGeom prst="rect">
            <a:avLst/>
          </a:prstGeom>
          <a:noFill/>
          <a:ln w="9525">
            <a:noFill/>
            <a:miter lim="800000"/>
            <a:headEnd/>
            <a:tailEnd/>
          </a:ln>
          <a:effectLst/>
        </p:spPr>
      </p:pic>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9"/>
          <p:cNvSpPr>
            <a:spLocks noGrp="1" noChangeArrowheads="1"/>
          </p:cNvSpPr>
          <p:nvPr>
            <p:ph type="sldNum" sz="quarter" idx="10"/>
          </p:nvPr>
        </p:nvSpPr>
        <p:spPr>
          <a:noFill/>
        </p:spPr>
        <p:txBody>
          <a:bodyPr/>
          <a:lstStyle/>
          <a:p>
            <a:r>
              <a:rPr lang="zh-CN" altLang="en-GB"/>
              <a:t>  </a:t>
            </a:r>
            <a:fld id="{B6D6A615-618E-4DBF-9BE6-09340DC0AD1F}" type="slidenum">
              <a:rPr lang="zh-CN" altLang="en-GB" smtClean="0"/>
              <a:t>54</a:t>
            </a:fld>
            <a:endParaRPr lang="en-US" altLang="zh-CN"/>
          </a:p>
        </p:txBody>
      </p:sp>
      <p:sp>
        <p:nvSpPr>
          <p:cNvPr id="8195" name="Text Box 2"/>
          <p:cNvSpPr txBox="1">
            <a:spLocks noChangeArrowheads="1"/>
          </p:cNvSpPr>
          <p:nvPr/>
        </p:nvSpPr>
        <p:spPr bwMode="auto">
          <a:xfrm>
            <a:off x="1295400" y="2819400"/>
            <a:ext cx="6629400" cy="457200"/>
          </a:xfrm>
          <a:prstGeom prst="rect">
            <a:avLst/>
          </a:prstGeom>
          <a:noFill/>
          <a:ln w="9525">
            <a:noFill/>
            <a:miter lim="800000"/>
          </a:ln>
        </p:spPr>
        <p:txBody>
          <a:bodyPr>
            <a:spAutoFit/>
          </a:bodyPr>
          <a:lstStyle/>
          <a:p>
            <a:pPr>
              <a:spcBef>
                <a:spcPct val="50000"/>
              </a:spcBef>
            </a:pPr>
            <a:endParaRPr lang="zh-CN" altLang="en-US" sz="2400" b="0"/>
          </a:p>
        </p:txBody>
      </p:sp>
      <p:sp>
        <p:nvSpPr>
          <p:cNvPr id="8196" name="Text Box 3"/>
          <p:cNvSpPr txBox="1">
            <a:spLocks noChangeArrowheads="1"/>
          </p:cNvSpPr>
          <p:nvPr/>
        </p:nvSpPr>
        <p:spPr bwMode="auto">
          <a:xfrm>
            <a:off x="533400" y="2057400"/>
            <a:ext cx="8153400" cy="701675"/>
          </a:xfrm>
          <a:prstGeom prst="rect">
            <a:avLst/>
          </a:prstGeom>
          <a:noFill/>
          <a:ln w="9525">
            <a:noFill/>
            <a:miter lim="800000"/>
          </a:ln>
        </p:spPr>
        <p:txBody>
          <a:bodyPr>
            <a:spAutoFit/>
          </a:bodyPr>
          <a:lstStyle/>
          <a:p>
            <a:endParaRPr lang="en-US" altLang="zh-CN" sz="4000" b="0">
              <a:solidFill>
                <a:schemeClr val="bg2"/>
              </a:solidFill>
            </a:endParaRPr>
          </a:p>
        </p:txBody>
      </p:sp>
      <p:sp>
        <p:nvSpPr>
          <p:cNvPr id="8197" name="Rectangle 6"/>
          <p:cNvSpPr>
            <a:spLocks noGrp="1" noChangeArrowheads="1"/>
          </p:cNvSpPr>
          <p:nvPr>
            <p:ph type="subTitle" idx="4294967295"/>
          </p:nvPr>
        </p:nvSpPr>
        <p:spPr bwMode="auto">
          <a:xfrm>
            <a:off x="2143125" y="500063"/>
            <a:ext cx="3929063" cy="714375"/>
          </a:xfrm>
          <a:prstGeom prst="rect">
            <a:avLst/>
          </a:prstGeom>
          <a:noFill/>
          <a:ln>
            <a:miter lim="800000"/>
          </a:ln>
        </p:spPr>
        <p:txBody>
          <a:bodyPr/>
          <a:lstStyle/>
          <a:p>
            <a:pPr marL="0" indent="0" algn="ctr" eaLnBrk="1" hangingPunct="1">
              <a:buClr>
                <a:schemeClr val="tx1"/>
              </a:buClr>
              <a:buSzTx/>
              <a:buFont typeface="Wingdings" panose="05000000000000000000" pitchFamily="2" charset="2"/>
              <a:buNone/>
            </a:pPr>
            <a:r>
              <a:rPr lang="zh-CN" altLang="en-US" sz="4800" b="1">
                <a:latin typeface="楷体" panose="02010609060101010101" pitchFamily="49" charset="-122"/>
                <a:ea typeface="楷体" panose="02010609060101010101" pitchFamily="49" charset="-122"/>
                <a:cs typeface="楷体" panose="02010609060101010101" pitchFamily="49" charset="-122"/>
              </a:rPr>
              <a:t>提   纲</a:t>
            </a:r>
          </a:p>
        </p:txBody>
      </p:sp>
      <p:sp>
        <p:nvSpPr>
          <p:cNvPr id="7" name="TextBox 6"/>
          <p:cNvSpPr txBox="1">
            <a:spLocks noChangeArrowheads="1"/>
          </p:cNvSpPr>
          <p:nvPr/>
        </p:nvSpPr>
        <p:spPr bwMode="auto">
          <a:xfrm>
            <a:off x="1357290" y="1333577"/>
            <a:ext cx="5715009" cy="4616648"/>
          </a:xfrm>
          <a:prstGeom prst="rect">
            <a:avLst/>
          </a:prstGeom>
          <a:noFill/>
          <a:ln w="9525">
            <a:noFill/>
            <a:miter lim="800000"/>
          </a:ln>
        </p:spPr>
        <p:txBody>
          <a:bodyPr wrap="square">
            <a:spAutoFit/>
          </a:bodyPr>
          <a:lstStyle/>
          <a:p>
            <a:pPr algn="l">
              <a:spcBef>
                <a:spcPts val="0"/>
              </a:spcBef>
              <a:spcAft>
                <a:spcPts val="0"/>
              </a:spcAft>
              <a:buClr>
                <a:srgbClr val="C00000"/>
              </a:buClr>
              <a:buSzPct val="100000"/>
              <a:buFont typeface="Arial" panose="020B0604020202020204" pitchFamily="34" charset="0"/>
              <a:buChar char="◙"/>
              <a:defRPr/>
            </a:pPr>
            <a:r>
              <a:rPr lang="zh-CN" altLang="en-US" sz="4800" u="none" dirty="0">
                <a:solidFill>
                  <a:srgbClr val="0000FF"/>
                </a:solidFill>
                <a:latin typeface="楷体" panose="02010609060101010101" pitchFamily="49" charset="-122"/>
                <a:ea typeface="楷体" panose="02010609060101010101" pitchFamily="49" charset="-122"/>
              </a:rPr>
              <a:t>把握组织环境</a:t>
            </a:r>
            <a:endParaRPr lang="en-US" altLang="zh-CN"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掌握系统方法</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熟悉项目阶段</a:t>
            </a:r>
            <a:endParaRPr lang="en-US"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dirty="0" err="1">
                <a:solidFill>
                  <a:srgbClr val="0000FF"/>
                </a:solidFill>
                <a:latin typeface="楷体" panose="02010609060101010101" pitchFamily="49" charset="-122"/>
                <a:ea typeface="楷体" panose="02010609060101010101" pitchFamily="49" charset="-122"/>
              </a:rPr>
              <a:t>了解项目组织</a:t>
            </a:r>
            <a:endParaRPr lang="zh-CN" altLang="en-US" sz="4800" u="none" dirty="0">
              <a:solidFill>
                <a:srgbClr val="0000FF"/>
              </a:solidFill>
              <a:latin typeface="楷体" panose="02010609060101010101" pitchFamily="49" charset="-122"/>
              <a:ea typeface="楷体" panose="02010609060101010101" pitchFamily="49" charset="-122"/>
            </a:endParaRPr>
          </a:p>
          <a:p>
            <a:pPr algn="l">
              <a:spcBef>
                <a:spcPts val="0"/>
              </a:spcBef>
              <a:spcAft>
                <a:spcPts val="0"/>
              </a:spcAft>
              <a:buClr>
                <a:srgbClr val="C00000"/>
              </a:buClr>
              <a:buSzPct val="100000"/>
              <a:buFont typeface="Arial" panose="020B0604020202020204" pitchFamily="34" charset="0"/>
              <a:buChar char="◙"/>
              <a:defRPr/>
            </a:pPr>
            <a:r>
              <a:rPr lang="en-US" altLang="en-US" sz="4800" u="none">
                <a:solidFill>
                  <a:srgbClr val="0000FF"/>
                </a:solidFill>
                <a:latin typeface="楷体" panose="02010609060101010101" pitchFamily="49" charset="-122"/>
                <a:ea typeface="楷体" panose="02010609060101010101" pitchFamily="49" charset="-122"/>
              </a:rPr>
              <a:t>控制项目过程</a:t>
            </a:r>
          </a:p>
          <a:p>
            <a:pPr algn="l">
              <a:spcBef>
                <a:spcPts val="0"/>
              </a:spcBef>
              <a:spcAft>
                <a:spcPts val="0"/>
              </a:spcAft>
              <a:buClr>
                <a:srgbClr val="C00000"/>
              </a:buClr>
              <a:buSzPct val="100000"/>
              <a:buFont typeface="Arial" panose="020B0604020202020204" pitchFamily="34" charset="0"/>
              <a:buChar char="◙"/>
              <a:defRPr/>
            </a:pPr>
            <a:r>
              <a:rPr lang="zh-CN" altLang="en-US" sz="5400" u="none">
                <a:solidFill>
                  <a:srgbClr val="FF0000"/>
                </a:solidFill>
                <a:latin typeface="楷体" panose="02010609060101010101" pitchFamily="49" charset="-122"/>
                <a:ea typeface="楷体" panose="02010609060101010101" pitchFamily="49" charset="-122"/>
              </a:rPr>
              <a:t>最佳</a:t>
            </a:r>
            <a:r>
              <a:rPr lang="zh-CN" altLang="en-US" sz="5400" u="none" dirty="0">
                <a:solidFill>
                  <a:srgbClr val="FF0000"/>
                </a:solidFill>
                <a:latin typeface="楷体" panose="02010609060101010101" pitchFamily="49" charset="-122"/>
                <a:ea typeface="楷体" panose="02010609060101010101" pitchFamily="49" charset="-122"/>
              </a:rPr>
              <a:t>实践模型</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9"/>
          <p:cNvSpPr>
            <a:spLocks noGrp="1" noChangeArrowheads="1"/>
          </p:cNvSpPr>
          <p:nvPr>
            <p:ph type="sldNum" sz="quarter" idx="10"/>
          </p:nvPr>
        </p:nvSpPr>
        <p:spPr>
          <a:noFill/>
        </p:spPr>
        <p:txBody>
          <a:bodyPr/>
          <a:lstStyle/>
          <a:p>
            <a:r>
              <a:rPr lang="zh-CN" altLang="en-GB" dirty="0"/>
              <a:t>  </a:t>
            </a:r>
            <a:fld id="{F8757E8A-BF90-4347-858D-DA6BB7F70EEC}" type="slidenum">
              <a:rPr lang="zh-CN" altLang="en-GB" smtClean="0"/>
              <a:t>55</a:t>
            </a:fld>
            <a:endParaRPr lang="en-US" altLang="zh-CN" dirty="0"/>
          </a:p>
        </p:txBody>
      </p:sp>
      <p:sp>
        <p:nvSpPr>
          <p:cNvPr id="120836" name="Rectangle 13"/>
          <p:cNvSpPr>
            <a:spLocks noChangeArrowheads="1"/>
          </p:cNvSpPr>
          <p:nvPr/>
        </p:nvSpPr>
        <p:spPr bwMode="auto">
          <a:xfrm>
            <a:off x="71406" y="593709"/>
            <a:ext cx="4756150" cy="553085"/>
          </a:xfrm>
          <a:prstGeom prst="rect">
            <a:avLst/>
          </a:prstGeom>
          <a:noFill/>
          <a:ln w="9525">
            <a:noFill/>
            <a:miter lim="800000"/>
          </a:ln>
        </p:spPr>
        <p:txBody>
          <a:bodyPr>
            <a:spAutoFit/>
          </a:bodyPr>
          <a:lstStyle/>
          <a:p>
            <a:pPr algn="l"/>
            <a:r>
              <a:rPr kumimoji="0" lang="en-US" altLang="en-US" sz="3000" u="none" dirty="0">
                <a:latin typeface="楷体" panose="02010609060101010101" pitchFamily="49" charset="-122"/>
                <a:ea typeface="楷体" panose="02010609060101010101" pitchFamily="49" charset="-122"/>
              </a:rPr>
              <a:t>【</a:t>
            </a:r>
            <a:r>
              <a:rPr kumimoji="0" lang="zh-CN" altLang="en-US" sz="3000" u="none" dirty="0">
                <a:latin typeface="楷体" panose="02010609060101010101" pitchFamily="49" charset="-122"/>
                <a:ea typeface="楷体" panose="02010609060101010101" pitchFamily="49" charset="-122"/>
              </a:rPr>
              <a:t>推荐读物</a:t>
            </a:r>
            <a:r>
              <a:rPr kumimoji="0" lang="en-US" altLang="en-US" sz="3000" u="none" dirty="0">
                <a:latin typeface="楷体" panose="02010609060101010101" pitchFamily="49" charset="-122"/>
                <a:ea typeface="楷体" panose="02010609060101010101" pitchFamily="49" charset="-122"/>
              </a:rPr>
              <a:t>】</a:t>
            </a:r>
          </a:p>
        </p:txBody>
      </p:sp>
      <p:sp>
        <p:nvSpPr>
          <p:cNvPr id="120837" name="Text Box 4"/>
          <p:cNvSpPr txBox="1">
            <a:spLocks noChangeArrowheads="1"/>
          </p:cNvSpPr>
          <p:nvPr/>
        </p:nvSpPr>
        <p:spPr bwMode="auto">
          <a:xfrm>
            <a:off x="238125" y="2640013"/>
            <a:ext cx="7467600" cy="457200"/>
          </a:xfrm>
          <a:prstGeom prst="rect">
            <a:avLst/>
          </a:prstGeom>
          <a:noFill/>
          <a:ln w="50800">
            <a:noFill/>
            <a:miter lim="800000"/>
          </a:ln>
        </p:spPr>
        <p:txBody>
          <a:bodyPr>
            <a:spAutoFit/>
          </a:bodyPr>
          <a:lstStyle/>
          <a:p>
            <a:pPr>
              <a:spcBef>
                <a:spcPct val="50000"/>
              </a:spcBef>
              <a:buFont typeface="Wingdings" panose="05000000000000000000" pitchFamily="2" charset="2"/>
              <a:buNone/>
            </a:pPr>
            <a:endParaRPr lang="zh-CN" altLang="en-US"/>
          </a:p>
        </p:txBody>
      </p:sp>
      <p:graphicFrame>
        <p:nvGraphicFramePr>
          <p:cNvPr id="12" name="Group 76"/>
          <p:cNvGraphicFramePr>
            <a:graphicFrameLocks noGrp="1"/>
          </p:cNvGraphicFramePr>
          <p:nvPr/>
        </p:nvGraphicFramePr>
        <p:xfrm>
          <a:off x="2500298" y="1177292"/>
          <a:ext cx="6286544" cy="2608898"/>
        </p:xfrm>
        <a:graphic>
          <a:graphicData uri="http://schemas.openxmlformats.org/drawingml/2006/table">
            <a:tbl>
              <a:tblPr/>
              <a:tblGrid>
                <a:gridCol w="6286544">
                  <a:extLst>
                    <a:ext uri="{9D8B030D-6E8A-4147-A177-3AD203B41FA5}">
                      <a16:colId xmlns:a16="http://schemas.microsoft.com/office/drawing/2014/main" val="20000"/>
                    </a:ext>
                  </a:extLst>
                </a:gridCol>
              </a:tblGrid>
              <a:tr h="1295400">
                <a:tc>
                  <a:txBody>
                    <a:bodyPr/>
                    <a:lstStyle/>
                    <a:p>
                      <a:pPr marL="0" marR="0" lvl="0" indent="0" algn="ctr" defTabSz="914400" rtl="0" eaLnBrk="1" fontAlgn="base" latinLnBrk="0" hangingPunct="1">
                        <a:lnSpc>
                          <a:spcPct val="100000"/>
                        </a:lnSpc>
                        <a:spcBef>
                          <a:spcPts val="0"/>
                        </a:spcBef>
                        <a:spcAft>
                          <a:spcPct val="0"/>
                        </a:spcAft>
                        <a:buClrTx/>
                        <a:buSzTx/>
                        <a:buFontTx/>
                        <a:buNone/>
                      </a:pPr>
                      <a:r>
                        <a:rPr kumimoji="1" lang="zh-CN" altLang="en-US" sz="4800" b="1" i="0" u="none" strike="noStrike" cap="none" normalizeH="0" baseline="0" dirty="0">
                          <a:ln>
                            <a:noFill/>
                          </a:ln>
                          <a:solidFill>
                            <a:srgbClr val="FF0000"/>
                          </a:solidFill>
                          <a:effectLst/>
                          <a:latin typeface="Times New Roman" panose="02020603050405020304" pitchFamily="18" charset="0"/>
                          <a:ea typeface="楷体" panose="02010609060101010101" pitchFamily="49" charset="-122"/>
                        </a:rPr>
                        <a:t>人月神话</a:t>
                      </a:r>
                    </a:p>
                    <a:p>
                      <a:pPr marL="0" marR="0" lvl="0" indent="0" algn="l" defTabSz="914400" rtl="0" eaLnBrk="1" fontAlgn="base" latinLnBrk="0" hangingPunct="1">
                        <a:lnSpc>
                          <a:spcPct val="100000"/>
                        </a:lnSpc>
                        <a:spcBef>
                          <a:spcPts val="0"/>
                        </a:spcBef>
                        <a:spcAft>
                          <a:spcPct val="0"/>
                        </a:spcAft>
                        <a:buClrTx/>
                        <a:buSzTx/>
                        <a:buFontTx/>
                        <a:buNone/>
                      </a:pP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a:t>
                      </a:r>
                      <a:r>
                        <a:rPr kumimoji="1" lang="zh-CN" altLang="en-US"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作者</a:t>
                      </a: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a:t>
                      </a:r>
                      <a:r>
                        <a:rPr kumimoji="1" lang="zh-CN" altLang="en-US" sz="18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（美）</a:t>
                      </a:r>
                      <a:r>
                        <a:rPr kumimoji="1" lang="en-US" altLang="zh-CN" sz="18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Frederick P. Brooks</a:t>
                      </a:r>
                      <a:r>
                        <a:rPr kumimoji="1" lang="zh-CN" altLang="en-US" sz="18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a:t>
                      </a:r>
                      <a:r>
                        <a:rPr kumimoji="1" lang="zh-CN" altLang="en-US" sz="20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布鲁克斯</a:t>
                      </a:r>
                      <a:r>
                        <a:rPr kumimoji="1" lang="en-US" altLang="zh-CN" sz="18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 </a:t>
                      </a:r>
                    </a:p>
                  </a:txBody>
                  <a:tcPr anchor="ctr" horzOverflow="overflow">
                    <a:lnL cap="flat">
                      <a:noFill/>
                    </a:lnL>
                    <a:lnR cap="flat">
                      <a:noFill/>
                    </a:lnR>
                    <a:lnT cap="flat">
                      <a:noFill/>
                    </a:lnT>
                    <a:lnB>
                      <a:noFill/>
                    </a:lnB>
                    <a:lnTlToBr>
                      <a:noFill/>
                    </a:lnTlToBr>
                    <a:lnBlToTr>
                      <a:noFill/>
                    </a:lnBlToTr>
                    <a:noFill/>
                  </a:tcPr>
                </a:tc>
                <a:extLst>
                  <a:ext uri="{0D108BD9-81ED-4DB2-BD59-A6C34878D82A}">
                    <a16:rowId xmlns:a16="http://schemas.microsoft.com/office/drawing/2014/main" val="10000"/>
                  </a:ext>
                </a:extLst>
              </a:tr>
              <a:tr h="490538">
                <a:tc>
                  <a:txBody>
                    <a:bodyPr/>
                    <a:lstStyle/>
                    <a:p>
                      <a:pPr marL="0" marR="0" lvl="0" indent="0" algn="l" defTabSz="914400" rtl="0" eaLnBrk="1" fontAlgn="base" latinLnBrk="0" hangingPunct="1">
                        <a:lnSpc>
                          <a:spcPct val="100000"/>
                        </a:lnSpc>
                        <a:spcBef>
                          <a:spcPts val="0"/>
                        </a:spcBef>
                        <a:spcAft>
                          <a:spcPct val="0"/>
                        </a:spcAft>
                        <a:buClrTx/>
                        <a:buSzTx/>
                        <a:buFontTx/>
                        <a:buNone/>
                      </a:pP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a:t>
                      </a:r>
                      <a:r>
                        <a:rPr kumimoji="1" lang="zh-CN" altLang="en-US"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译者</a:t>
                      </a: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 </a:t>
                      </a:r>
                      <a:r>
                        <a:rPr kumimoji="1" lang="zh-CN" altLang="en-US" sz="20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汪颖</a:t>
                      </a:r>
                      <a:endParaRPr kumimoji="1" lang="en-US" altLang="zh-CN" sz="2800" b="1"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endParaRPr>
                    </a:p>
                  </a:txBody>
                  <a:tcPr anchor="ctr" horzOverflow="overflow">
                    <a:lnL cap="flat">
                      <a:noFill/>
                    </a:lnL>
                    <a:lnR cap="flat">
                      <a:noFill/>
                    </a:lnR>
                    <a:lnT>
                      <a:noFill/>
                    </a:lnT>
                    <a:lnB>
                      <a:noFill/>
                    </a:lnB>
                    <a:lnTlToBr>
                      <a:noFill/>
                    </a:lnTlToBr>
                    <a:lnBlToTr>
                      <a:noFill/>
                    </a:lnBlToTr>
                    <a:noFill/>
                  </a:tcPr>
                </a:tc>
                <a:extLst>
                  <a:ext uri="{0D108BD9-81ED-4DB2-BD59-A6C34878D82A}">
                    <a16:rowId xmlns:a16="http://schemas.microsoft.com/office/drawing/2014/main" val="10001"/>
                  </a:ext>
                </a:extLst>
              </a:tr>
              <a:tr h="488950">
                <a:tc>
                  <a:txBody>
                    <a:bodyPr/>
                    <a:lstStyle/>
                    <a:p>
                      <a:pPr marL="0" marR="0" lvl="0" indent="0" algn="r" defTabSz="914400" rtl="0" eaLnBrk="1" fontAlgn="base" latinLnBrk="0" hangingPunct="1">
                        <a:lnSpc>
                          <a:spcPct val="100000"/>
                        </a:lnSpc>
                        <a:spcBef>
                          <a:spcPts val="0"/>
                        </a:spcBef>
                        <a:spcAft>
                          <a:spcPct val="0"/>
                        </a:spcAft>
                        <a:buClrTx/>
                        <a:buSzTx/>
                        <a:buFontTx/>
                        <a:buNone/>
                      </a:pP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                         </a:t>
                      </a:r>
                      <a:r>
                        <a:rPr kumimoji="1" lang="zh-CN" altLang="en-US"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清华大学出版社</a:t>
                      </a:r>
                    </a:p>
                    <a:p>
                      <a:pPr marL="0" marR="0" lvl="0" indent="0" algn="r" defTabSz="914400" rtl="0" eaLnBrk="1" fontAlgn="base" latinLnBrk="0" hangingPunct="1">
                        <a:lnSpc>
                          <a:spcPct val="100000"/>
                        </a:lnSpc>
                        <a:spcBef>
                          <a:spcPts val="0"/>
                        </a:spcBef>
                        <a:spcAft>
                          <a:spcPct val="0"/>
                        </a:spcAft>
                        <a:buClrTx/>
                        <a:buSzTx/>
                        <a:buFontTx/>
                        <a:buNone/>
                      </a:pPr>
                      <a:r>
                        <a:rPr kumimoji="1" lang="en-US" altLang="zh-CN"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                               2023</a:t>
                      </a:r>
                      <a:r>
                        <a:rPr kumimoji="1" lang="zh-CN" altLang="en-US" sz="2400" b="0" i="0" u="none" strike="noStrike" cap="none" normalizeH="0" baseline="0" dirty="0">
                          <a:ln>
                            <a:noFill/>
                          </a:ln>
                          <a:solidFill>
                            <a:schemeClr val="bg2"/>
                          </a:solidFill>
                          <a:effectLst/>
                          <a:latin typeface="Times New Roman" panose="02020603050405020304" pitchFamily="18" charset="0"/>
                          <a:ea typeface="楷体" panose="02010609060101010101" pitchFamily="49" charset="-122"/>
                        </a:rPr>
                        <a:t>年</a:t>
                      </a:r>
                    </a:p>
                  </a:txBody>
                  <a:tcPr anchor="ctr" horzOverflow="overflow">
                    <a:lnL cap="flat">
                      <a:noFill/>
                    </a:lnL>
                    <a:lnR cap="flat">
                      <a:noFill/>
                    </a:lnR>
                    <a:lnT>
                      <a:noFill/>
                    </a:lnT>
                    <a:lnB cap="flat">
                      <a:noFill/>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20843" name="Line 72"/>
          <p:cNvSpPr>
            <a:spLocks noChangeShapeType="1"/>
          </p:cNvSpPr>
          <p:nvPr/>
        </p:nvSpPr>
        <p:spPr bwMode="auto">
          <a:xfrm>
            <a:off x="0" y="3714750"/>
            <a:ext cx="9144000" cy="0"/>
          </a:xfrm>
          <a:prstGeom prst="line">
            <a:avLst/>
          </a:prstGeom>
          <a:noFill/>
          <a:ln w="57150" cmpd="thinThick">
            <a:solidFill>
              <a:srgbClr val="FF0000"/>
            </a:solidFill>
            <a:round/>
          </a:ln>
        </p:spPr>
        <p:txBody>
          <a:bodyPr/>
          <a:lstStyle/>
          <a:p>
            <a:endParaRPr lang="zh-CN" altLang="en-US"/>
          </a:p>
        </p:txBody>
      </p:sp>
      <p:sp>
        <p:nvSpPr>
          <p:cNvPr id="15" name="Rectangle 67"/>
          <p:cNvSpPr>
            <a:spLocks noChangeArrowheads="1"/>
          </p:cNvSpPr>
          <p:nvPr/>
        </p:nvSpPr>
        <p:spPr bwMode="auto">
          <a:xfrm>
            <a:off x="0" y="3714750"/>
            <a:ext cx="9144000" cy="2477601"/>
          </a:xfrm>
          <a:prstGeom prst="rect">
            <a:avLst/>
          </a:prstGeom>
          <a:noFill/>
          <a:ln w="9525">
            <a:noFill/>
            <a:miter lim="800000"/>
          </a:ln>
          <a:effectLst/>
        </p:spPr>
        <p:txBody>
          <a:bodyPr wrap="square">
            <a:spAutoFit/>
          </a:bodyPr>
          <a:lstStyle/>
          <a:p>
            <a:pPr algn="l">
              <a:spcBef>
                <a:spcPts val="0"/>
              </a:spcBef>
              <a:spcAft>
                <a:spcPts val="600"/>
              </a:spcAft>
              <a:buClr>
                <a:srgbClr val="C00000"/>
              </a:buClr>
              <a:buFont typeface="Wingdings" panose="05000000000000000000" pitchFamily="2" charset="2"/>
              <a:buChar char="p"/>
              <a:defRPr/>
            </a:pPr>
            <a:r>
              <a:rPr lang="zh-CN" altLang="en-US" sz="2000" u="none" dirty="0">
                <a:solidFill>
                  <a:schemeClr val="bg2"/>
                </a:solidFill>
                <a:ea typeface="楷体" panose="02010609060101010101" pitchFamily="49" charset="-122"/>
              </a:rPr>
              <a:t>在软件领域，很少能有像</a:t>
            </a:r>
            <a:r>
              <a:rPr lang="en-US" altLang="zh-CN" sz="2000" u="none" dirty="0">
                <a:solidFill>
                  <a:schemeClr val="bg2"/>
                </a:solidFill>
                <a:ea typeface="楷体" panose="02010609060101010101" pitchFamily="49" charset="-122"/>
              </a:rPr>
              <a:t>《</a:t>
            </a:r>
            <a:r>
              <a:rPr lang="zh-CN" altLang="en-US" sz="2000" u="none" dirty="0">
                <a:solidFill>
                  <a:schemeClr val="bg2"/>
                </a:solidFill>
                <a:ea typeface="楷体" panose="02010609060101010101" pitchFamily="49" charset="-122"/>
              </a:rPr>
              <a:t>人月神话</a:t>
            </a:r>
            <a:r>
              <a:rPr lang="en-US" altLang="zh-CN" sz="2000" u="none" dirty="0">
                <a:solidFill>
                  <a:schemeClr val="bg2"/>
                </a:solidFill>
                <a:ea typeface="楷体" panose="02010609060101010101" pitchFamily="49" charset="-122"/>
              </a:rPr>
              <a:t>》</a:t>
            </a:r>
            <a:r>
              <a:rPr lang="zh-CN" altLang="en-US" sz="2000" u="none" dirty="0">
                <a:solidFill>
                  <a:schemeClr val="bg2"/>
                </a:solidFill>
                <a:ea typeface="楷体" panose="02010609060101010101" pitchFamily="49" charset="-122"/>
              </a:rPr>
              <a:t>一样具有深远影响力和畅销不衰的著作。</a:t>
            </a:r>
          </a:p>
          <a:p>
            <a:pPr algn="l">
              <a:spcBef>
                <a:spcPts val="0"/>
              </a:spcBef>
              <a:spcAft>
                <a:spcPts val="600"/>
              </a:spcAft>
              <a:buClr>
                <a:srgbClr val="C00000"/>
              </a:buClr>
              <a:buFont typeface="Wingdings" panose="05000000000000000000" pitchFamily="2" charset="2"/>
              <a:buChar char="p"/>
              <a:defRPr/>
            </a:pPr>
            <a:r>
              <a:rPr lang="zh-CN" altLang="en-US" sz="2000" u="none" dirty="0">
                <a:solidFill>
                  <a:schemeClr val="bg2"/>
                </a:solidFill>
                <a:ea typeface="楷体" panose="02010609060101010101" pitchFamily="49" charset="-122"/>
              </a:rPr>
              <a:t>布鲁克斯博士为人们</a:t>
            </a:r>
            <a:r>
              <a:rPr lang="zh-CN" altLang="en-US" sz="2000" u="none" dirty="0">
                <a:solidFill>
                  <a:schemeClr val="bg1"/>
                </a:solidFill>
                <a:ea typeface="楷体" panose="02010609060101010101" pitchFamily="49" charset="-122"/>
              </a:rPr>
              <a:t>管理复杂项目</a:t>
            </a:r>
            <a:r>
              <a:rPr lang="zh-CN" altLang="en-US" sz="2000" u="none" dirty="0">
                <a:solidFill>
                  <a:schemeClr val="bg2"/>
                </a:solidFill>
                <a:ea typeface="楷体" panose="02010609060101010101" pitchFamily="49" charset="-122"/>
              </a:rPr>
              <a:t>提供了</a:t>
            </a:r>
            <a:r>
              <a:rPr lang="zh-CN" altLang="en-US" sz="2000" u="none" dirty="0">
                <a:solidFill>
                  <a:schemeClr val="bg1"/>
                </a:solidFill>
                <a:ea typeface="楷体" panose="02010609060101010101" pitchFamily="49" charset="-122"/>
              </a:rPr>
              <a:t>最具洞察力的见解</a:t>
            </a:r>
            <a:r>
              <a:rPr lang="zh-CN" altLang="en-US" sz="2000" u="none" dirty="0">
                <a:solidFill>
                  <a:schemeClr val="bg2"/>
                </a:solidFill>
                <a:ea typeface="楷体" panose="02010609060101010101" pitchFamily="49" charset="-122"/>
              </a:rPr>
              <a:t>，既有很多发人深省的观点，又有</a:t>
            </a:r>
            <a:r>
              <a:rPr lang="zh-CN" altLang="en-US" sz="2000" u="none" dirty="0">
                <a:solidFill>
                  <a:schemeClr val="bg1"/>
                </a:solidFill>
                <a:ea typeface="楷体" panose="02010609060101010101" pitchFamily="49" charset="-122"/>
              </a:rPr>
              <a:t>大量软件工程的实践</a:t>
            </a:r>
            <a:r>
              <a:rPr lang="zh-CN" altLang="en-US" sz="2000" u="none" dirty="0">
                <a:solidFill>
                  <a:schemeClr val="bg2"/>
                </a:solidFill>
                <a:ea typeface="楷体" panose="02010609060101010101" pitchFamily="49" charset="-122"/>
              </a:rPr>
              <a:t>。</a:t>
            </a:r>
          </a:p>
          <a:p>
            <a:pPr algn="l">
              <a:spcBef>
                <a:spcPts val="0"/>
              </a:spcBef>
              <a:spcAft>
                <a:spcPts val="600"/>
              </a:spcAft>
              <a:buClr>
                <a:srgbClr val="C00000"/>
              </a:buClr>
              <a:buFont typeface="Wingdings" panose="05000000000000000000" pitchFamily="2" charset="2"/>
              <a:buChar char="p"/>
              <a:defRPr/>
            </a:pPr>
            <a:r>
              <a:rPr lang="zh-CN" altLang="en-US" sz="2000" u="none" dirty="0">
                <a:solidFill>
                  <a:schemeClr val="bg2"/>
                </a:solidFill>
                <a:ea typeface="楷体" panose="02010609060101010101" pitchFamily="49" charset="-122"/>
              </a:rPr>
              <a:t>本书内容来自</a:t>
            </a:r>
            <a:r>
              <a:rPr lang="en-US" altLang="zh-CN" sz="2000" u="none" dirty="0">
                <a:solidFill>
                  <a:schemeClr val="bg2"/>
                </a:solidFill>
                <a:ea typeface="楷体" panose="02010609060101010101" pitchFamily="49" charset="-122"/>
              </a:rPr>
              <a:t>Brooks</a:t>
            </a:r>
            <a:r>
              <a:rPr lang="zh-CN" altLang="en-US" sz="2000" u="none" dirty="0">
                <a:solidFill>
                  <a:schemeClr val="bg2"/>
                </a:solidFill>
                <a:ea typeface="楷体" panose="02010609060101010101" pitchFamily="49" charset="-122"/>
              </a:rPr>
              <a:t>博士在</a:t>
            </a:r>
            <a:r>
              <a:rPr lang="en-US" altLang="zh-CN" sz="2000" u="none" dirty="0">
                <a:solidFill>
                  <a:schemeClr val="bg2"/>
                </a:solidFill>
                <a:ea typeface="楷体" panose="02010609060101010101" pitchFamily="49" charset="-122"/>
              </a:rPr>
              <a:t>IBM</a:t>
            </a:r>
            <a:r>
              <a:rPr lang="zh-CN" altLang="en-US" sz="2000" u="none" dirty="0">
                <a:solidFill>
                  <a:schemeClr val="bg2"/>
                </a:solidFill>
                <a:ea typeface="楷体" panose="02010609060101010101" pitchFamily="49" charset="-122"/>
              </a:rPr>
              <a:t>公司</a:t>
            </a:r>
            <a:r>
              <a:rPr lang="en-US" altLang="zh-CN" sz="2000" u="none" dirty="0">
                <a:solidFill>
                  <a:schemeClr val="bg2"/>
                </a:solidFill>
                <a:ea typeface="楷体" panose="02010609060101010101" pitchFamily="49" charset="-122"/>
              </a:rPr>
              <a:t>System/360</a:t>
            </a:r>
            <a:r>
              <a:rPr lang="zh-CN" altLang="en-US" sz="2000" u="none" dirty="0">
                <a:solidFill>
                  <a:schemeClr val="bg2"/>
                </a:solidFill>
                <a:ea typeface="楷体" panose="02010609060101010101" pitchFamily="49" charset="-122"/>
              </a:rPr>
              <a:t>家族和</a:t>
            </a:r>
            <a:r>
              <a:rPr lang="en-US" altLang="zh-CN" sz="2000" u="none" dirty="0">
                <a:solidFill>
                  <a:schemeClr val="bg2"/>
                </a:solidFill>
                <a:ea typeface="楷体" panose="02010609060101010101" pitchFamily="49" charset="-122"/>
              </a:rPr>
              <a:t>OS/360</a:t>
            </a:r>
            <a:r>
              <a:rPr lang="zh-CN" altLang="en-US" sz="2000" u="none" dirty="0">
                <a:solidFill>
                  <a:schemeClr val="bg2"/>
                </a:solidFill>
                <a:ea typeface="楷体" panose="02010609060101010101" pitchFamily="49" charset="-122"/>
              </a:rPr>
              <a:t>的项目管理经验。</a:t>
            </a:r>
          </a:p>
          <a:p>
            <a:pPr algn="l">
              <a:spcBef>
                <a:spcPts val="0"/>
              </a:spcBef>
              <a:spcAft>
                <a:spcPts val="600"/>
              </a:spcAft>
              <a:buClr>
                <a:srgbClr val="C00000"/>
              </a:buClr>
              <a:buFont typeface="Wingdings" panose="05000000000000000000" pitchFamily="2" charset="2"/>
              <a:buChar char="p"/>
              <a:defRPr/>
            </a:pPr>
            <a:r>
              <a:rPr lang="zh-CN" altLang="en-US" sz="2000" u="none" dirty="0">
                <a:solidFill>
                  <a:schemeClr val="bg2"/>
                </a:solidFill>
                <a:ea typeface="楷体" panose="02010609060101010101" pitchFamily="49" charset="-122"/>
              </a:rPr>
              <a:t>在本书</a:t>
            </a:r>
            <a:r>
              <a:rPr lang="en-US" altLang="zh-CN" sz="2000" u="none" dirty="0">
                <a:solidFill>
                  <a:schemeClr val="bg2"/>
                </a:solidFill>
                <a:ea typeface="楷体" panose="02010609060101010101" pitchFamily="49" charset="-122"/>
              </a:rPr>
              <a:t>1975</a:t>
            </a:r>
            <a:r>
              <a:rPr lang="zh-CN" altLang="en-US" sz="2000" u="none" dirty="0">
                <a:solidFill>
                  <a:schemeClr val="bg2"/>
                </a:solidFill>
                <a:ea typeface="楷体" panose="02010609060101010101" pitchFamily="49" charset="-122"/>
              </a:rPr>
              <a:t>年第一次出版</a:t>
            </a:r>
            <a:r>
              <a:rPr lang="en-US" altLang="zh-CN" sz="2000" u="none" dirty="0">
                <a:solidFill>
                  <a:schemeClr val="bg2"/>
                </a:solidFill>
                <a:ea typeface="楷体" panose="02010609060101010101" pitchFamily="49" charset="-122"/>
              </a:rPr>
              <a:t>20</a:t>
            </a:r>
            <a:r>
              <a:rPr lang="zh-CN" altLang="en-US" sz="2000" u="none" dirty="0">
                <a:solidFill>
                  <a:schemeClr val="bg2"/>
                </a:solidFill>
                <a:ea typeface="楷体" panose="02010609060101010101" pitchFamily="49" charset="-122"/>
              </a:rPr>
              <a:t>年后的今天，</a:t>
            </a:r>
            <a:r>
              <a:rPr lang="en-US" altLang="zh-CN" sz="2000" u="none" dirty="0">
                <a:solidFill>
                  <a:schemeClr val="bg2"/>
                </a:solidFill>
                <a:ea typeface="楷体" panose="02010609060101010101" pitchFamily="49" charset="-122"/>
              </a:rPr>
              <a:t>Brooks</a:t>
            </a:r>
            <a:r>
              <a:rPr lang="zh-CN" altLang="en-US" sz="2000" u="none" dirty="0">
                <a:solidFill>
                  <a:schemeClr val="bg2"/>
                </a:solidFill>
                <a:ea typeface="楷体" panose="02010609060101010101" pitchFamily="49" charset="-122"/>
              </a:rPr>
              <a:t>博士重新审视了他原先的观点，增加了一些新的想法和建议。既方便了熟悉原有内容的人们，又方便了第一次阅读它的读者。 </a:t>
            </a:r>
          </a:p>
        </p:txBody>
      </p:sp>
      <p:pic>
        <p:nvPicPr>
          <p:cNvPr id="3" name="图片 2"/>
          <p:cNvPicPr>
            <a:picLocks noChangeAspect="1"/>
          </p:cNvPicPr>
          <p:nvPr/>
        </p:nvPicPr>
        <p:blipFill>
          <a:blip r:embed="rId3"/>
          <a:stretch>
            <a:fillRect/>
          </a:stretch>
        </p:blipFill>
        <p:spPr>
          <a:xfrm>
            <a:off x="178435" y="1492885"/>
            <a:ext cx="2031365" cy="2031365"/>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COMMONDATA" val="eyJoZGlkIjoiNzk3NzFiNWJmYTZkNTJiYWI5M2Q2NWZhYmFkMjA5NjYifQ=="/>
</p:tagLst>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1" lang="en-US" sz="2800" b="1"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r" defTabSz="914400" rtl="0" eaLnBrk="1" fontAlgn="base" latinLnBrk="0" hangingPunct="1">
          <a:lnSpc>
            <a:spcPct val="100000"/>
          </a:lnSpc>
          <a:spcBef>
            <a:spcPct val="0"/>
          </a:spcBef>
          <a:spcAft>
            <a:spcPct val="0"/>
          </a:spcAft>
          <a:buClrTx/>
          <a:buSzTx/>
          <a:buFontTx/>
          <a:buNone/>
          <a:defRPr kumimoji="1" lang="en-US" sz="2800" b="1" i="0" u="sng"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97</TotalTime>
  <Words>3710</Words>
  <Application>Microsoft Office PowerPoint</Application>
  <PresentationFormat>全屏显示(4:3)</PresentationFormat>
  <Paragraphs>631</Paragraphs>
  <Slides>55</Slides>
  <Notes>55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55</vt:i4>
      </vt:variant>
    </vt:vector>
  </HeadingPairs>
  <TitlesOfParts>
    <vt:vector size="60" baseType="lpstr">
      <vt:lpstr>楷体</vt:lpstr>
      <vt:lpstr>Arial</vt:lpstr>
      <vt:lpstr>Times New Roman</vt:lpstr>
      <vt:lpstr>Wingdings</vt:lpstr>
      <vt:lpstr>Soaring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wrl@hnu.cn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IT项目管理</dc:title>
  <dc:subject>第2章 把握环境  控制过程  </dc:subject>
  <dc:creator>王如龙</dc:creator>
  <cp:keywords>组织 环境 系统 阶段 过程 </cp:keywords>
  <dc:description>第2版 20141122－1130  第一次修改</dc:description>
  <cp:lastModifiedBy>yyzl-win11</cp:lastModifiedBy>
  <cp:revision>831</cp:revision>
  <dcterms:created xsi:type="dcterms:W3CDTF">2113-01-01T00:00:00Z</dcterms:created>
  <dcterms:modified xsi:type="dcterms:W3CDTF">2024-03-25T01:33:12Z</dcterms:modified>
  <cp:category>课件</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BF807A2FDBFB4F6F847637533547D994_13</vt:lpwstr>
  </property>
  <property fmtid="{D5CDD505-2E9C-101B-9397-08002B2CF9AE}" pid="3" name="KSOProductBuildVer">
    <vt:lpwstr>2052-11.8.2.10154</vt:lpwstr>
  </property>
</Properties>
</file>