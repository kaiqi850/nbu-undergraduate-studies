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61"/>
  </p:handoutMasterIdLst>
  <p:sldIdLst>
    <p:sldId id="1087" r:id="rId3"/>
    <p:sldId id="504" r:id="rId5"/>
    <p:sldId id="974" r:id="rId6"/>
    <p:sldId id="785" r:id="rId7"/>
    <p:sldId id="930" r:id="rId8"/>
    <p:sldId id="985" r:id="rId9"/>
    <p:sldId id="986" r:id="rId10"/>
    <p:sldId id="970" r:id="rId11"/>
    <p:sldId id="935" r:id="rId12"/>
    <p:sldId id="994" r:id="rId13"/>
    <p:sldId id="995" r:id="rId14"/>
    <p:sldId id="999" r:id="rId15"/>
    <p:sldId id="1000" r:id="rId16"/>
    <p:sldId id="944" r:id="rId17"/>
    <p:sldId id="1003" r:id="rId18"/>
    <p:sldId id="1019" r:id="rId19"/>
    <p:sldId id="1021" r:id="rId20"/>
    <p:sldId id="1022" r:id="rId21"/>
    <p:sldId id="1023" r:id="rId22"/>
    <p:sldId id="1024" r:id="rId23"/>
    <p:sldId id="1025" r:id="rId24"/>
    <p:sldId id="1026" r:id="rId25"/>
    <p:sldId id="1027" r:id="rId26"/>
    <p:sldId id="1028" r:id="rId27"/>
    <p:sldId id="1029" r:id="rId28"/>
    <p:sldId id="1030" r:id="rId29"/>
    <p:sldId id="1032" r:id="rId30"/>
    <p:sldId id="1033" r:id="rId31"/>
    <p:sldId id="1034" r:id="rId32"/>
    <p:sldId id="1035" r:id="rId33"/>
    <p:sldId id="1036" r:id="rId34"/>
    <p:sldId id="1037" r:id="rId35"/>
    <p:sldId id="1038" r:id="rId36"/>
    <p:sldId id="1039" r:id="rId37"/>
    <p:sldId id="1040" r:id="rId38"/>
    <p:sldId id="1041" r:id="rId39"/>
    <p:sldId id="1043" r:id="rId40"/>
    <p:sldId id="1067" r:id="rId41"/>
    <p:sldId id="1045" r:id="rId42"/>
    <p:sldId id="1046" r:id="rId43"/>
    <p:sldId id="1047" r:id="rId44"/>
    <p:sldId id="1048" r:id="rId45"/>
    <p:sldId id="1049" r:id="rId46"/>
    <p:sldId id="1050" r:id="rId47"/>
    <p:sldId id="1051" r:id="rId48"/>
    <p:sldId id="1052" r:id="rId49"/>
    <p:sldId id="1053" r:id="rId50"/>
    <p:sldId id="1054" r:id="rId51"/>
    <p:sldId id="1055" r:id="rId52"/>
    <p:sldId id="1056" r:id="rId53"/>
    <p:sldId id="1058" r:id="rId54"/>
    <p:sldId id="1059" r:id="rId55"/>
    <p:sldId id="1060" r:id="rId56"/>
    <p:sldId id="1062" r:id="rId57"/>
    <p:sldId id="1064" r:id="rId58"/>
    <p:sldId id="1065" r:id="rId59"/>
    <p:sldId id="1066" r:id="rId60"/>
  </p:sldIdLst>
  <p:sldSz cx="9144000" cy="6858000" type="screen4x3"/>
  <p:notesSz cx="6858000" cy="9144000"/>
  <p:custDataLst>
    <p:tags r:id="rId65"/>
  </p:custDataLst>
  <p:defaultTextStyle>
    <a:defPPr>
      <a:defRPr lang="en-US"/>
    </a:defPPr>
    <a:lvl1pPr algn="r" rtl="0" fontAlgn="base">
      <a:spcBef>
        <a:spcPct val="5000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r" rtl="0" fontAlgn="base">
      <a:spcBef>
        <a:spcPct val="5000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r" rtl="0" fontAlgn="base">
      <a:spcBef>
        <a:spcPct val="5000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r" rtl="0" fontAlgn="base">
      <a:spcBef>
        <a:spcPct val="5000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r" rtl="0" fontAlgn="base">
      <a:spcBef>
        <a:spcPct val="5000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5" userDrawn="1">
          <p15:clr>
            <a:srgbClr val="A4A3A4"/>
          </p15:clr>
        </p15:guide>
        <p15:guide id="2" pos="30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990000"/>
    <a:srgbClr val="00CC00"/>
    <a:srgbClr val="008000"/>
    <a:srgbClr val="339966"/>
    <a:srgbClr val="FF99FF"/>
    <a:srgbClr val="FF33CC"/>
    <a:srgbClr val="333333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4176" autoAdjust="0"/>
    <p:restoredTop sz="90783" autoAdjust="0"/>
  </p:normalViewPr>
  <p:slideViewPr>
    <p:cSldViewPr showGuides="1">
      <p:cViewPr varScale="1">
        <p:scale>
          <a:sx n="55" d="100"/>
          <a:sy n="55" d="100"/>
        </p:scale>
        <p:origin x="-620" y="-64"/>
      </p:cViewPr>
      <p:guideLst>
        <p:guide orient="horz" pos="2285"/>
        <p:guide pos="3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72"/>
    </p:cViewPr>
  </p:sorterViewPr>
  <p:notesViewPr>
    <p:cSldViewPr>
      <p:cViewPr>
        <p:scale>
          <a:sx n="75" d="100"/>
          <a:sy n="75" d="100"/>
        </p:scale>
        <p:origin x="-1320" y="-66"/>
      </p:cViewPr>
      <p:guideLst>
        <p:guide orient="horz" pos="2808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5" Type="http://schemas.openxmlformats.org/officeDocument/2006/relationships/tags" Target="tags/tag26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2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fld id="{567594BE-3CB6-4E85-883D-1A964D480906}" type="datetime1">
              <a:rPr lang="zh-CN" altLang="en-US"/>
            </a:fld>
            <a:endParaRPr lang="en-US" altLang="zh-CN"/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2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fld id="{29C09F35-AE50-4A4B-A1D9-E52BA87EBD21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defRPr sz="12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fld id="{076F687F-CA16-4EF6-9227-EBF8780D00FD}" type="datetime1">
              <a:rPr lang="zh-CN" altLang="en-US"/>
            </a:fld>
            <a:endParaRPr lang="en-US" altLang="zh-CN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71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171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1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 sz="12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fld id="{B8A40C89-3F38-4C4D-8881-ECB5EDAFD4CA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6CFF15-832D-49ED-931C-1DD60CB588D1}" type="slidenum">
              <a:rPr lang="zh-CN" altLang="en-US"/>
            </a:fld>
            <a:endParaRPr lang="en-US" altLang="zh-CN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238D1A-744F-4A8B-B22F-F76A27FEBF0E}" type="slidenum">
              <a:rPr lang="zh-CN" altLang="en-US"/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A79C3-7323-42AB-9B4B-B514F7955371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05E633-5314-4B68-A99D-BED1D03CDD23}" type="slidenum">
              <a:rPr lang="zh-CN" altLang="en-US"/>
            </a:fld>
            <a:endParaRPr lang="en-US" altLang="zh-CN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7751DB-049E-4F14-85A6-203DC8BCCA38}" type="slidenum">
              <a:rPr lang="zh-CN" altLang="en-US"/>
            </a:fld>
            <a:endParaRPr lang="en-US" altLang="zh-CN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4ED133-338E-4FF1-9EA6-AC5E61EB0FC4}" type="slidenum">
              <a:rPr lang="zh-CN" altLang="en-US"/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4ED133-338E-4FF1-9EA6-AC5E61EB0FC4}" type="slidenum">
              <a:rPr lang="zh-CN" altLang="en-US"/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4ED133-338E-4FF1-9EA6-AC5E61EB0FC4}" type="slidenum">
              <a:rPr lang="zh-CN" altLang="en-US"/>
            </a:fld>
            <a:endParaRPr lang="en-US" altLang="zh-CN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3343B2-7893-4D45-AB8B-6F3167B57E34}" type="slidenum">
              <a:rPr lang="zh-CN" altLang="en-US"/>
            </a:fld>
            <a:endParaRPr lang="en-US" altLang="zh-CN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04E9D2-4D83-4911-B5A6-54D8AD20519B}" type="slidenum">
              <a:rPr lang="zh-CN" altLang="en-US"/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04E9D2-4D83-4911-B5A6-54D8AD20519B}" type="slidenum">
              <a:rPr lang="zh-CN" altLang="en-US"/>
            </a:fld>
            <a:endParaRPr lang="en-US" altLang="zh-CN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A79C3-7323-42AB-9B4B-B514F7955371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67F98C-57AB-4C76-AB3A-68722870734F}" type="slidenum">
              <a:rPr lang="zh-CN" altLang="en-US"/>
            </a:fld>
            <a:endParaRPr lang="en-US" altLang="zh-CN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E89234-BB4B-46D5-88E3-ED269D8F4A62}" type="slidenum">
              <a:rPr lang="zh-CN" altLang="en-US"/>
            </a:fld>
            <a:endParaRPr lang="en-US" altLang="zh-CN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E89234-BB4B-46D5-88E3-ED269D8F4A62}" type="slidenum">
              <a:rPr lang="zh-CN" altLang="en-US"/>
            </a:fld>
            <a:endParaRPr lang="en-US" altLang="zh-CN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algn="just" eaLnBrk="1" hangingPunct="1"/>
            <a:endParaRPr lang="zh-CN" altLang="en-US" smtClean="0"/>
          </a:p>
          <a:p>
            <a:pPr eaLnBrk="1" hangingPunct="1"/>
            <a:endParaRPr lang="en-US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3A79C3-7323-42AB-9B4B-B514F7955371}" type="slidenum">
              <a:rPr lang="zh-CN" altLang="en-US" smtClean="0"/>
            </a:fld>
            <a:endParaRPr lang="en-US" altLang="zh-CN" smtClean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pPr eaLnBrk="1" hangingPunct="1"/>
            <a:endParaRPr lang="en-US" altLang="zh-CN"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7F4710-ADA3-4AF8-B3CF-84A7FD26B36B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7F4710-ADA3-4AF8-B3CF-84A7FD26B36B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7F4710-ADA3-4AF8-B3CF-84A7FD26B36B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706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06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4AE53373-85E2-49CF-A767-8257A3A01FD7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A58AA68-2119-491A-81B3-668745D66190}" type="slidenum">
              <a:rPr lang="en-US" altLang="zh-CN" sz="1200" smtClean="0"/>
            </a:fld>
            <a:endParaRPr lang="en-US" altLang="zh-CN" sz="120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727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270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BE519316-E310-41BE-9D9A-D84F7D80A77E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SzPct val="59000"/>
              <a:buFont typeface="Monotype Sorts" charset="0"/>
              <a:buChar char="w"/>
              <a:defRPr kumimoji="1" sz="12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fld id="{F98330F2-268D-4C7B-B03D-B883DD1A86CF}" type="slidenum">
              <a:rPr lang="en-US" altLang="zh-CN">
                <a:solidFill>
                  <a:prstClr val="black"/>
                </a:solidFill>
              </a:rPr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/>
          <p:cNvSpPr txBox="1">
            <a:spLocks noChangeArrowheads="1"/>
          </p:cNvSpPr>
          <p:nvPr userDrawn="1"/>
        </p:nvSpPr>
        <p:spPr bwMode="auto">
          <a:xfrm>
            <a:off x="6" y="-26985"/>
            <a:ext cx="5580063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第</a:t>
            </a:r>
            <a:r>
              <a:rPr lang="en-GB" altLang="zh-CN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10</a:t>
            </a:r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章 应对项目风险</a:t>
            </a:r>
            <a:endParaRPr lang="zh-CN" altLang="en-US" sz="3200" b="1" dirty="0">
              <a:solidFill>
                <a:srgbClr val="FF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Line 14"/>
          <p:cNvSpPr>
            <a:spLocks noChangeShapeType="1"/>
          </p:cNvSpPr>
          <p:nvPr userDrawn="1"/>
        </p:nvSpPr>
        <p:spPr bwMode="auto">
          <a:xfrm>
            <a:off x="0" y="6453188"/>
            <a:ext cx="9144000" cy="0"/>
          </a:xfrm>
          <a:prstGeom prst="line">
            <a:avLst/>
          </a:prstGeom>
          <a:noFill/>
          <a:ln w="127000" cmpd="thinThick">
            <a:solidFill>
              <a:srgbClr val="CC9900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Rectangle 17"/>
          <p:cNvSpPr>
            <a:spLocks noChangeArrowheads="1"/>
          </p:cNvSpPr>
          <p:nvPr/>
        </p:nvSpPr>
        <p:spPr bwMode="auto">
          <a:xfrm>
            <a:off x="250825" y="1484315"/>
            <a:ext cx="8497888" cy="4392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单击此处编辑母版文本样式</a:t>
            </a:r>
            <a:endParaRPr lang="zh-CN" altLang="en-US" sz="3200" dirty="0"/>
          </a:p>
          <a:p>
            <a:pPr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第二级</a:t>
            </a:r>
            <a:endParaRPr lang="zh-CN" altLang="en-US" sz="3200" dirty="0"/>
          </a:p>
          <a:p>
            <a:pPr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第三级</a:t>
            </a:r>
            <a:endParaRPr lang="zh-CN" altLang="en-US" sz="3200" dirty="0"/>
          </a:p>
          <a:p>
            <a:pPr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第四级</a:t>
            </a:r>
            <a:endParaRPr lang="zh-CN" altLang="en-US" sz="3200" dirty="0"/>
          </a:p>
          <a:p>
            <a:pPr algn="ctr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sz="3200" dirty="0"/>
              <a:t>第五级</a:t>
            </a:r>
            <a:endParaRPr lang="zh-CN" altLang="en-US" sz="3200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7491442" y="6500837"/>
            <a:ext cx="1295400" cy="260351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spcBef>
                <a:spcPct val="0"/>
              </a:spcBef>
              <a:defRPr kumimoji="0" sz="20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>
              <a:defRPr/>
            </a:pPr>
            <a:r>
              <a:rPr lang="zh-CN" altLang="en-GB" dirty="0"/>
              <a:t>  </a:t>
            </a:r>
            <a:fld id="{EE4933A3-1717-4CF3-8060-70FD8DE5FEB0}" type="slidenum">
              <a:rPr lang="zh-CN" altLang="en-GB" smtClean="0"/>
            </a:fld>
            <a:endParaRPr lang="en-US" altLang="zh-CN" dirty="0"/>
          </a:p>
        </p:txBody>
      </p:sp>
      <p:sp>
        <p:nvSpPr>
          <p:cNvPr id="6" name="Rectangle 9"/>
          <p:cNvSpPr txBox="1">
            <a:spLocks noChangeArrowheads="1"/>
          </p:cNvSpPr>
          <p:nvPr userDrawn="1"/>
        </p:nvSpPr>
        <p:spPr bwMode="auto">
          <a:xfrm>
            <a:off x="7848632" y="6526239"/>
            <a:ext cx="1295400" cy="260351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spcBef>
                <a:spcPct val="0"/>
              </a:spcBef>
              <a:defRPr kumimoji="0" sz="2000" b="1" smtClean="0">
                <a:solidFill>
                  <a:schemeClr val="bg2"/>
                </a:solidFill>
                <a:ea typeface="楷体_GB2312" pitchFamily="49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GB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/64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86475" y="6021388"/>
            <a:ext cx="2662238" cy="7207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F65855-D33E-486A-AF39-52C219BE894F}" type="datetime7">
              <a:rPr lang="zh-CN" altLang="en-US"/>
            </a:fld>
            <a:endParaRPr lang="zh-CN" altLang="zh-CN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.jpe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ransition>
    <p:random/>
  </p:transition>
  <p:timing>
    <p:tnLst>
      <p:par>
        <p:cTn id="1" dur="indefinite" restart="never" nodeType="tmRoot"/>
      </p:par>
    </p:tnLst>
  </p:timing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42" name="Text Box 2058"/>
          <p:cNvSpPr txBox="1">
            <a:spLocks noChangeArrowheads="1"/>
          </p:cNvSpPr>
          <p:nvPr/>
        </p:nvSpPr>
        <p:spPr bwMode="auto">
          <a:xfrm>
            <a:off x="3492506" y="4581529"/>
            <a:ext cx="5616575" cy="58356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" panose="02010609060101010101" charset="-122"/>
                <a:cs typeface="楷体" panose="02010609060101010101" charset="-122"/>
              </a:rPr>
              <a:t>第十章 应对项目风险</a:t>
            </a:r>
            <a:endParaRPr lang="zh-CN" altLang="en-US" sz="3200" b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3079" name="组合 10"/>
          <p:cNvGrpSpPr/>
          <p:nvPr/>
        </p:nvGrpSpPr>
        <p:grpSpPr bwMode="auto">
          <a:xfrm>
            <a:off x="4131951" y="2286007"/>
            <a:ext cx="4440555" cy="1943735"/>
            <a:chOff x="4131940" y="2071678"/>
            <a:chExt cx="4440558" cy="1944553"/>
          </a:xfrm>
        </p:grpSpPr>
        <p:sp>
          <p:nvSpPr>
            <p:cNvPr id="9" name="Rectangle 2055"/>
            <p:cNvSpPr>
              <a:spLocks noChangeArrowheads="1"/>
            </p:cNvSpPr>
            <p:nvPr/>
          </p:nvSpPr>
          <p:spPr bwMode="auto">
            <a:xfrm>
              <a:off x="4131940" y="2071678"/>
              <a:ext cx="4440558" cy="922408"/>
            </a:xfrm>
            <a:prstGeom prst="rect">
              <a:avLst/>
            </a:prstGeom>
            <a:noFill/>
            <a:ln w="9525">
              <a:noFill/>
              <a:miter lim="800000"/>
            </a:ln>
            <a:effectLst>
              <a:outerShdw blurRad="50800" dist="50800" dir="5400000" algn="ctr" rotWithShape="0">
                <a:srgbClr val="EAEAEA"/>
              </a:outerShdw>
            </a:effectLst>
          </p:spPr>
          <p:txBody>
            <a:bodyPr wrap="square">
              <a:spAutoFit/>
            </a:bodyPr>
            <a:lstStyle/>
            <a:p>
              <a:pPr algn="l">
                <a:spcBef>
                  <a:spcPct val="55000"/>
                </a:spcBef>
                <a:defRPr/>
              </a:pPr>
              <a:r>
                <a:rPr lang="en-US" altLang="zh-CN" sz="5400" b="1" spc="800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楷体" panose="02010609060101010101" charset="-122"/>
                  <a:cs typeface="+mn-lt"/>
                </a:rPr>
                <a:t>IT</a:t>
              </a:r>
              <a:r>
                <a:rPr lang="en-US" altLang="zh-CN" sz="5400" b="1" spc="800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楷体" panose="02010609060101010101" charset="-122"/>
                  <a:ea typeface="楷体" panose="02010609060101010101" charset="-122"/>
                  <a:cs typeface="+mn-lt"/>
                </a:rPr>
                <a:t>项目管理</a:t>
              </a:r>
              <a:endParaRPr lang="en-US" altLang="zh-CN" sz="5400" b="1" spc="8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+mn-lt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472936" y="3001074"/>
              <a:ext cx="3655697" cy="10151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" panose="02010609060101010101" charset="-122"/>
                  <a:cs typeface="Times New Roman" panose="02020603050405020304" pitchFamily="18" charset="0"/>
                </a:rPr>
                <a:t>Information    Technology  </a:t>
              </a:r>
              <a:endParaRPr lang="en-US" altLang="zh-CN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charset="-122"/>
                <a:cs typeface="Times New Roman" panose="02020603050405020304" pitchFamily="18" charset="0"/>
              </a:endParaRPr>
            </a:p>
            <a:p>
              <a:pPr algn="ctr">
                <a:defRPr/>
              </a:pPr>
              <a:r>
                <a:rPr lang="en-US" altLang="zh-CN" sz="24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ea typeface="楷体" panose="02010609060101010101" charset="-122"/>
                  <a:cs typeface="Times New Roman" panose="02020603050405020304" pitchFamily="18" charset="0"/>
                </a:rPr>
                <a:t>  Project   Management</a:t>
              </a:r>
              <a:endParaRPr lang="zh-CN" alt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ea typeface="楷体" panose="02010609060101010101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B6360270-502C-4A9C-A484-BB1F462F5288}" type="slidenum">
              <a:rPr lang="zh-CN" altLang="en-GB" smtClean="0"/>
            </a:fld>
            <a:endParaRPr lang="en-US" altLang="zh-CN" dirty="0"/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295400" y="2819404"/>
            <a:ext cx="6629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/>
            <a:endParaRPr lang="zh-CN" altLang="en-US" sz="2400"/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533400" y="2057401"/>
            <a:ext cx="8153400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endParaRPr lang="en-US" altLang="zh-CN" sz="4000">
              <a:solidFill>
                <a:schemeClr val="bg2"/>
              </a:solidFill>
            </a:endParaRPr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287344" y="1412875"/>
            <a:ext cx="8677275" cy="4677410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>
            <a:spAutoFit/>
          </a:bodyPr>
          <a:lstStyle/>
          <a:p>
            <a:pPr marL="457200" indent="-457200" algn="l">
              <a:buClr>
                <a:schemeClr val="hlink"/>
              </a:buClr>
            </a:pPr>
            <a:r>
              <a:rPr kumimoji="0" lang="zh-CN" altLang="en-US" sz="3200" b="1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学习完本章后，应当掌握如下知识：</a:t>
            </a:r>
            <a:endParaRPr kumimoji="0" lang="zh-CN" altLang="en-US" sz="3200" b="1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lvl="1" algn="l">
              <a:spcBef>
                <a:spcPts val="1200"/>
              </a:spcBef>
              <a:spcAft>
                <a:spcPts val="600"/>
              </a:spcAft>
            </a:pP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1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风险与项目风险的基本概念。</a:t>
            </a:r>
            <a:endParaRPr kumimoji="0" lang="zh-CN" altLang="en-US" b="1" dirty="0" smtClean="0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lvl="1" algn="l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2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项目风险管理的基本概念。</a:t>
            </a:r>
            <a:endParaRPr kumimoji="0" lang="zh-CN" altLang="en-US" b="1" dirty="0" smtClean="0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lvl="1" algn="l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3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IT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项目规划风险管理的过程。</a:t>
            </a:r>
            <a:endParaRPr kumimoji="0" lang="zh-CN" altLang="en-US" b="1" dirty="0" smtClean="0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lvl="1" algn="l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4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IT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项目风险识别的策略及方法。</a:t>
            </a:r>
            <a:endParaRPr kumimoji="0" lang="zh-CN" altLang="en-US" b="1" dirty="0" smtClean="0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lvl="1" algn="l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5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IT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项目风险定性与定量分析的方法。</a:t>
            </a:r>
            <a:endParaRPr kumimoji="0" lang="zh-CN" altLang="en-US" b="1" dirty="0" smtClean="0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lvl="1" algn="l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6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IT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项目风险应对的方法。</a:t>
            </a:r>
            <a:endParaRPr kumimoji="0" lang="zh-CN" altLang="en-US" b="1" dirty="0" smtClean="0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lvl="1" algn="l"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（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7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）</a:t>
            </a:r>
            <a:r>
              <a:rPr kumimoji="0" lang="en-US" altLang="en-US" b="1" dirty="0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IT</a:t>
            </a:r>
            <a:r>
              <a:rPr kumimoji="0" lang="zh-CN" altLang="en-US" b="1" dirty="0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项目风险监控的方法。</a:t>
            </a:r>
            <a:endParaRPr kumimoji="0" lang="zh-CN" altLang="en-US" b="1" dirty="0" smtClean="0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6151" name="Rectangle 8"/>
          <p:cNvSpPr>
            <a:spLocks noChangeArrowheads="1"/>
          </p:cNvSpPr>
          <p:nvPr/>
        </p:nvSpPr>
        <p:spPr bwMode="auto">
          <a:xfrm>
            <a:off x="103194" y="620713"/>
            <a:ext cx="3532187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zh-CN" sz="3000" b="1">
                <a:ea typeface="楷体" panose="02010609060101010101" charset="-122"/>
              </a:rPr>
              <a:t>【</a:t>
            </a:r>
            <a:r>
              <a:rPr kumimoji="0" lang="zh-CN" altLang="en-US" sz="3000" b="1">
                <a:ea typeface="楷体" panose="02010609060101010101" charset="-122"/>
              </a:rPr>
              <a:t>本章知识要点</a:t>
            </a:r>
            <a:r>
              <a:rPr kumimoji="0" lang="en-US" altLang="zh-CN" sz="3000" b="1">
                <a:ea typeface="楷体" panose="02010609060101010101" charset="-122"/>
              </a:rPr>
              <a:t>】</a:t>
            </a:r>
            <a:endParaRPr kumimoji="0" lang="en-US" altLang="zh-CN" sz="3000" b="1"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smtClean="0"/>
              <a:t>  </a:t>
            </a:r>
            <a:fld id="{B6D6A615-618E-4DBF-9BE6-09340DC0AD1F}" type="slidenum">
              <a:rPr lang="zh-CN" altLang="en-GB" smtClean="0"/>
            </a:fld>
            <a:endParaRPr lang="en-US" altLang="zh-CN" smtClean="0"/>
          </a:p>
        </p:txBody>
      </p:sp>
      <p:sp>
        <p:nvSpPr>
          <p:cNvPr id="8197" name="Rectangle 6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0" y="548640"/>
            <a:ext cx="3929380" cy="7143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L="0" indent="0" algn="ctr" eaLnBrk="1" hangingPunct="1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4800" b="1" smtClean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提   纲</a:t>
            </a:r>
            <a:endParaRPr lang="zh-CN" altLang="en-US" sz="4800" b="1" smtClean="0">
              <a:latin typeface="Times New Roman" panose="02020603050405020304" pitchFamily="18" charset="0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295400" y="2819404"/>
            <a:ext cx="6629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 b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4408" y="1385254"/>
            <a:ext cx="6500798" cy="38461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400" b="1" dirty="0" err="1" smtClean="0">
                <a:solidFill>
                  <a:srgbClr val="FF0000"/>
                </a:solidFill>
                <a:ea typeface="楷体" panose="02010609060101010101" charset="-122"/>
              </a:rPr>
              <a:t>项目风险</a:t>
            </a:r>
            <a:r>
              <a:rPr lang="zh-CN" altLang="en-US" sz="4400" b="1" dirty="0" smtClean="0">
                <a:solidFill>
                  <a:srgbClr val="FF0000"/>
                </a:solidFill>
                <a:ea typeface="楷体" panose="02010609060101010101" charset="-122"/>
              </a:rPr>
              <a:t>与项目</a:t>
            </a:r>
            <a:r>
              <a:rPr lang="en-US" altLang="en-US" sz="4400" b="1" dirty="0" err="1" smtClean="0">
                <a:solidFill>
                  <a:srgbClr val="FF0000"/>
                </a:solidFill>
                <a:ea typeface="楷体" panose="02010609060101010101" charset="-122"/>
              </a:rPr>
              <a:t>管理</a:t>
            </a:r>
            <a:endParaRPr lang="en-US" altLang="zh-CN" sz="4400" b="1" dirty="0">
              <a:solidFill>
                <a:srgbClr val="990000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dirty="0" err="1" smtClean="0">
                <a:solidFill>
                  <a:srgbClr val="0000FF"/>
                </a:solidFill>
                <a:ea typeface="楷体" panose="02010609060101010101" charset="-122"/>
              </a:rPr>
              <a:t>规划风险管理</a:t>
            </a:r>
            <a:endParaRPr lang="en-US" altLang="en-US" sz="4000" b="1" dirty="0">
              <a:solidFill>
                <a:srgbClr val="0000FF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dirty="0" err="1" smtClean="0">
                <a:solidFill>
                  <a:srgbClr val="0000FF"/>
                </a:solidFill>
                <a:ea typeface="楷体" panose="02010609060101010101" charset="-122"/>
              </a:rPr>
              <a:t>识别风险</a:t>
            </a:r>
            <a:endParaRPr lang="zh-CN" altLang="en-US" sz="4000" b="1" dirty="0">
              <a:solidFill>
                <a:srgbClr val="0000FF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dirty="0" err="1" smtClean="0">
                <a:solidFill>
                  <a:srgbClr val="0000FF"/>
                </a:solidFill>
                <a:ea typeface="楷体" panose="02010609060101010101" charset="-122"/>
              </a:rPr>
              <a:t>风险分析</a:t>
            </a:r>
            <a:endParaRPr lang="en-US" altLang="en-US" sz="4000" b="1" dirty="0">
              <a:solidFill>
                <a:srgbClr val="0000FF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dirty="0" err="1" smtClean="0">
                <a:solidFill>
                  <a:srgbClr val="0000FF"/>
                </a:solidFill>
                <a:ea typeface="楷体" panose="02010609060101010101" charset="-122"/>
              </a:rPr>
              <a:t>规划风险</a:t>
            </a:r>
            <a:endParaRPr lang="zh-CN" altLang="en-US" sz="4000" b="1" dirty="0">
              <a:solidFill>
                <a:srgbClr val="0000FF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zh-CN" altLang="en-US" sz="4000" b="1" dirty="0" smtClean="0">
                <a:solidFill>
                  <a:srgbClr val="0000FF"/>
                </a:solidFill>
                <a:ea typeface="楷体" panose="02010609060101010101" charset="-122"/>
              </a:rPr>
              <a:t>控制风险</a:t>
            </a:r>
            <a:endParaRPr lang="zh-CN" altLang="en-US" sz="4000" b="1" dirty="0" smtClean="0">
              <a:solidFill>
                <a:srgbClr val="0000FF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98F29CE9-B49E-4B6F-A626-C7F1B8EDE845}" type="slidenum">
              <a:rPr lang="zh-CN" altLang="en-GB" smtClean="0"/>
            </a:fld>
            <a:endParaRPr lang="en-US" altLang="zh-CN" dirty="0"/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533400" y="2057401"/>
            <a:ext cx="8153400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endParaRPr lang="en-US" altLang="zh-CN" sz="4000">
              <a:solidFill>
                <a:schemeClr val="bg2"/>
              </a:solidFill>
            </a:endParaRPr>
          </a:p>
        </p:txBody>
      </p:sp>
      <p:sp>
        <p:nvSpPr>
          <p:cNvPr id="1133571" name="Text Box 3"/>
          <p:cNvSpPr txBox="1">
            <a:spLocks noChangeArrowheads="1"/>
          </p:cNvSpPr>
          <p:nvPr/>
        </p:nvSpPr>
        <p:spPr bwMode="auto">
          <a:xfrm>
            <a:off x="179388" y="1484317"/>
            <a:ext cx="8856662" cy="4584700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由于</a:t>
            </a:r>
            <a:r>
              <a:rPr lang="en-US" b="1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IT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项目本身具有的一次性、创新性和独特性，以及项目过程所涉及的内、外部的许多关系与变数，使项目在实现过程中存在着各种各样的风险。</a:t>
            </a:r>
            <a:endParaRPr lang="en-US" altLang="zh-CN" b="1" smtClean="0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  <a:cs typeface="楷体" panose="02010609060101010101" charset="-122"/>
              </a:rPr>
              <a:t>项目风险管理是对项目中潜在的风险进行预测并实行有效的控制，从而可靠地实现项目的总体目标的过程。</a:t>
            </a:r>
            <a:endParaRPr lang="en-US" altLang="zh-CN" sz="3200" b="1" smtClean="0">
              <a:solidFill>
                <a:srgbClr val="0000FF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如果不能很好地管理项目中的风险，就会给项目相关利益主体造成损失，因此在项目管理中必须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  <a:cs typeface="楷体" panose="02010609060101010101" charset="-122"/>
              </a:rPr>
              <a:t>积极地开展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项目风险管理、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  <a:cs typeface="楷体" panose="02010609060101010101" charset="-122"/>
              </a:rPr>
              <a:t>主动地应对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项目中可能存在的风险。</a:t>
            </a:r>
            <a:endParaRPr lang="zh-CN" altLang="en-US" b="1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222" name="Rectangle 9"/>
          <p:cNvSpPr>
            <a:spLocks noChangeArrowheads="1"/>
          </p:cNvSpPr>
          <p:nvPr/>
        </p:nvSpPr>
        <p:spPr bwMode="auto">
          <a:xfrm>
            <a:off x="103188" y="620713"/>
            <a:ext cx="55483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sz="3000" b="1">
                <a:ea typeface="楷体" panose="02010609060101010101" charset="-122"/>
              </a:rPr>
              <a:t>10.1 </a:t>
            </a:r>
            <a:r>
              <a:rPr kumimoji="0" lang="en-US" altLang="en-US" sz="3000" b="1">
                <a:ea typeface="楷体" panose="02010609060101010101" charset="-122"/>
              </a:rPr>
              <a:t>项目风险与项目风险管理 </a:t>
            </a:r>
            <a:endParaRPr kumimoji="0" lang="en-US" altLang="en-US" sz="3000" b="1"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0AC59FE6-FA7D-4782-85AC-190C0AEFEFCA}" type="slidenum">
              <a:rPr lang="zh-CN" altLang="en-GB" smtClean="0"/>
            </a:fld>
            <a:endParaRPr lang="en-US" altLang="zh-CN" dirty="0"/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214283" y="1892305"/>
            <a:ext cx="8715436" cy="443103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buClr>
                <a:schemeClr val="hlink"/>
              </a:buClr>
            </a:pP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风险具有一定的特征，认识到这一点对项目经理正确把握风险，采取科学措施来防范和规避风险非常必要。风险的一般特征如下：</a:t>
            </a:r>
            <a:endParaRPr lang="zh-CN" altLang="en-US" b="1" smtClean="0">
              <a:solidFill>
                <a:schemeClr val="bg2"/>
              </a:solidFill>
              <a:ea typeface="楷体" panose="02010609060101010101" charset="-122"/>
            </a:endParaRPr>
          </a:p>
          <a:p>
            <a:pPr lvl="2" algn="l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kumimoji="0" lang="zh-CN" altLang="en-US" b="1" smtClean="0">
                <a:solidFill>
                  <a:srgbClr val="0000FF"/>
                </a:solidFill>
                <a:ea typeface="楷体" panose="02010609060101010101" charset="-122"/>
              </a:rPr>
              <a:t>风险</a:t>
            </a:r>
            <a:r>
              <a:rPr kumimoji="0" lang="zh-CN" altLang="en-US" b="1">
                <a:solidFill>
                  <a:srgbClr val="0000FF"/>
                </a:solidFill>
                <a:ea typeface="楷体" panose="02010609060101010101" charset="-122"/>
              </a:rPr>
              <a:t>的客观性</a:t>
            </a:r>
            <a:endParaRPr kumimoji="0" lang="zh-CN" altLang="en-US" b="1">
              <a:solidFill>
                <a:srgbClr val="0000FF"/>
              </a:solidFill>
              <a:ea typeface="楷体" panose="02010609060101010101" charset="-122"/>
            </a:endParaRPr>
          </a:p>
          <a:p>
            <a:pPr lvl="2" algn="l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kumimoji="0" lang="zh-CN" altLang="en-US" b="1">
                <a:solidFill>
                  <a:srgbClr val="0000FF"/>
                </a:solidFill>
                <a:ea typeface="楷体" panose="02010609060101010101" charset="-122"/>
              </a:rPr>
              <a:t>风险的不确定性</a:t>
            </a:r>
            <a:endParaRPr kumimoji="0" lang="zh-CN" altLang="en-US" b="1">
              <a:solidFill>
                <a:srgbClr val="0000FF"/>
              </a:solidFill>
              <a:ea typeface="楷体" panose="02010609060101010101" charset="-122"/>
            </a:endParaRPr>
          </a:p>
          <a:p>
            <a:pPr lvl="2" algn="l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kumimoji="0" lang="zh-CN" altLang="en-US" b="1">
                <a:solidFill>
                  <a:srgbClr val="0000FF"/>
                </a:solidFill>
                <a:ea typeface="楷体" panose="02010609060101010101" charset="-122"/>
              </a:rPr>
              <a:t>风险事件的随机性</a:t>
            </a:r>
            <a:endParaRPr kumimoji="0" lang="zh-CN" altLang="en-US" b="1">
              <a:solidFill>
                <a:srgbClr val="0000FF"/>
              </a:solidFill>
              <a:ea typeface="楷体" panose="02010609060101010101" charset="-122"/>
            </a:endParaRPr>
          </a:p>
          <a:p>
            <a:pPr lvl="2" algn="l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kumimoji="0" lang="zh-CN" altLang="en-US" b="1">
                <a:solidFill>
                  <a:srgbClr val="0000FF"/>
                </a:solidFill>
                <a:ea typeface="楷体" panose="02010609060101010101" charset="-122"/>
              </a:rPr>
              <a:t>风险的相对性</a:t>
            </a:r>
            <a:endParaRPr kumimoji="0" lang="zh-CN" altLang="en-US" b="1">
              <a:solidFill>
                <a:srgbClr val="0000FF"/>
              </a:solidFill>
              <a:ea typeface="楷体" panose="02010609060101010101" charset="-122"/>
            </a:endParaRPr>
          </a:p>
          <a:p>
            <a:pPr lvl="2" algn="l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kumimoji="0" lang="zh-CN" altLang="en-US" b="1">
                <a:solidFill>
                  <a:srgbClr val="0000FF"/>
                </a:solidFill>
                <a:ea typeface="楷体" panose="02010609060101010101" charset="-122"/>
              </a:rPr>
              <a:t>风险的可变性</a:t>
            </a:r>
            <a:endParaRPr kumimoji="0" lang="zh-CN" altLang="en-US" b="1">
              <a:solidFill>
                <a:srgbClr val="0000FF"/>
              </a:solidFill>
              <a:ea typeface="楷体" panose="02010609060101010101" charset="-122"/>
            </a:endParaRPr>
          </a:p>
          <a:p>
            <a:pPr lvl="2" algn="l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n"/>
            </a:pPr>
            <a:r>
              <a:rPr kumimoji="0" lang="zh-CN" altLang="en-US" b="1">
                <a:solidFill>
                  <a:srgbClr val="0000FF"/>
                </a:solidFill>
                <a:ea typeface="楷体" panose="02010609060101010101" charset="-122"/>
              </a:rPr>
              <a:t>风险的阶段性</a:t>
            </a:r>
            <a:endParaRPr kumimoji="0" lang="zh-CN" altLang="en-US" b="1">
              <a:solidFill>
                <a:srgbClr val="0000FF"/>
              </a:solidFill>
              <a:ea typeface="楷体" panose="02010609060101010101" charset="-122"/>
            </a:endParaRPr>
          </a:p>
        </p:txBody>
      </p:sp>
      <p:sp>
        <p:nvSpPr>
          <p:cNvPr id="11269" name="Rectangle 29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sz="3000" b="1">
                <a:ea typeface="楷体" panose="02010609060101010101" charset="-122"/>
              </a:rPr>
              <a:t>10.1 </a:t>
            </a:r>
            <a:r>
              <a:rPr kumimoji="0" lang="en-US" altLang="en-US" sz="3000" b="1">
                <a:ea typeface="楷体" panose="02010609060101010101" charset="-122"/>
                <a:cs typeface="楷体" panose="02010609060101010101" charset="-122"/>
              </a:rPr>
              <a:t>项目风险与项目风险管理 </a:t>
            </a:r>
            <a:endParaRPr kumimoji="0" lang="zh-CN" altLang="en-US" sz="3000" b="1"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1270" name="Rectangle 30"/>
          <p:cNvSpPr>
            <a:spLocks noChangeArrowheads="1"/>
          </p:cNvSpPr>
          <p:nvPr/>
        </p:nvSpPr>
        <p:spPr bwMode="auto">
          <a:xfrm>
            <a:off x="323850" y="1341439"/>
            <a:ext cx="375221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</a:rPr>
              <a:t>10.1.1 风险与项目风险 </a:t>
            </a:r>
            <a:endParaRPr kumimoji="0" lang="en-US" altLang="en-US" b="1">
              <a:solidFill>
                <a:srgbClr val="FF0000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D063677D-E6CF-4C7C-A817-6855BFFE293C}" type="slidenum">
              <a:rPr lang="zh-CN" altLang="en-GB" smtClean="0"/>
            </a:fld>
            <a:endParaRPr lang="en-US" altLang="zh-CN" dirty="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03537" y="1988810"/>
            <a:ext cx="8964612" cy="433832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项目风险是指由于项目所处环境和条件的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</a:rPr>
              <a:t>不确定性</a:t>
            </a: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，项目的最终结果与项目利害关系人的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</a:rPr>
              <a:t>期望产生背离</a:t>
            </a: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，并给项目干系人带来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</a:rPr>
              <a:t>损失的可能性</a:t>
            </a: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。</a:t>
            </a:r>
            <a:endParaRPr lang="en-US" altLang="zh-CN" sz="3200" b="1" smtClean="0">
              <a:solidFill>
                <a:schemeClr val="bg2"/>
              </a:solidFill>
              <a:ea typeface="楷体" panose="02010609060101010101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项目风险是一种不确定的事件或条件，一旦发生，就会对一个或多个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</a:rPr>
              <a:t>项目目标</a:t>
            </a: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造成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</a:rPr>
              <a:t>积极或消极</a:t>
            </a: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的影响。</a:t>
            </a:r>
            <a:endParaRPr lang="en-US" altLang="zh-CN" sz="3200" b="1" smtClean="0">
              <a:solidFill>
                <a:schemeClr val="bg2"/>
              </a:solidFill>
              <a:ea typeface="楷体" panose="02010609060101010101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项目风险涉及到对以下问题的理解：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</a:rPr>
              <a:t>项目中可能发生的潜在问题，以及它们如何妨碍项目的成功</a:t>
            </a: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。</a:t>
            </a:r>
            <a:endParaRPr kumimoji="0" lang="zh-CN" altLang="en-US" sz="4000" b="1">
              <a:solidFill>
                <a:schemeClr val="bg2"/>
              </a:solidFill>
              <a:ea typeface="楷体" panose="02010609060101010101" charset="-122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sz="3000" b="1">
                <a:ea typeface="楷体" panose="02010609060101010101" charset="-122"/>
              </a:rPr>
              <a:t>10.1 </a:t>
            </a:r>
            <a:r>
              <a:rPr kumimoji="0" lang="en-US" altLang="en-US" sz="3000" b="1">
                <a:ea typeface="楷体" panose="02010609060101010101" charset="-122"/>
                <a:cs typeface="楷体" panose="02010609060101010101" charset="-122"/>
              </a:rPr>
              <a:t>项目风险与项目风险管理 </a:t>
            </a:r>
            <a:endParaRPr kumimoji="0" lang="zh-CN" altLang="en-US" sz="3000" b="1"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323850" y="1341439"/>
            <a:ext cx="375221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</a:rPr>
              <a:t>10.1.1 </a:t>
            </a: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风险与项目风险 </a:t>
            </a:r>
            <a:endParaRPr kumimoji="0" lang="en-US" altLang="en-US" b="1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D063677D-E6CF-4C7C-A817-6855BFFE293C}" type="slidenum">
              <a:rPr lang="zh-CN" altLang="en-GB" smtClean="0"/>
            </a:fld>
            <a:endParaRPr lang="en-US" altLang="zh-CN" dirty="0"/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7740650" y="44454"/>
            <a:ext cx="1295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endParaRPr lang="en-US" altLang="zh-CN" sz="2400" b="1">
              <a:solidFill>
                <a:schemeClr val="bg2"/>
              </a:solidFill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15937" y="1950259"/>
            <a:ext cx="8713787" cy="446151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项目风险产生的原因主要是由</a:t>
            </a:r>
            <a:r>
              <a:rPr lang="zh-CN" altLang="en-US" b="1" smtClean="0">
                <a:solidFill>
                  <a:srgbClr val="0000FF"/>
                </a:solidFill>
                <a:ea typeface="楷体" panose="02010609060101010101" charset="-122"/>
              </a:rPr>
              <a:t>项目的不确定性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所造成的，而不确定性是由项目团队</a:t>
            </a:r>
            <a:r>
              <a:rPr lang="zh-CN" altLang="en-US" b="1" smtClean="0">
                <a:solidFill>
                  <a:srgbClr val="0000FF"/>
                </a:solidFill>
                <a:ea typeface="楷体" panose="02010609060101010101" charset="-122"/>
              </a:rPr>
              <a:t>无法充分认识项目未来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的发展和变化所造成的，</a:t>
            </a:r>
            <a:r>
              <a:rPr lang="zh-CN" altLang="en-US" b="1" smtClean="0">
                <a:solidFill>
                  <a:srgbClr val="0000FF"/>
                </a:solidFill>
                <a:ea typeface="楷体" panose="02010609060101010101" charset="-122"/>
              </a:rPr>
              <a:t>这种不确定性不能通过主观努力来消除，而只能通过主观努力来降低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。</a:t>
            </a:r>
            <a:endParaRPr lang="zh-CN" altLang="en-US" b="1" smtClean="0">
              <a:solidFill>
                <a:schemeClr val="bg2"/>
              </a:solidFill>
              <a:ea typeface="楷体" panose="02010609060101010101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同时，项目的一次性使其不确定性要比其他一些经济活动大许多，因而项目风险的可预测性也就差得多。</a:t>
            </a:r>
            <a:endParaRPr lang="en-US" altLang="zh-CN" b="1" smtClean="0">
              <a:solidFill>
                <a:schemeClr val="bg2"/>
              </a:solidFill>
              <a:ea typeface="楷体" panose="02010609060101010101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</a:rPr>
              <a:t>重复性的生产和业务活动若出了问题，常常可以在以后找到机会补偿，而项目一旦出了问题，则很难补救。</a:t>
            </a:r>
            <a:endParaRPr lang="zh-CN" altLang="en-US" sz="3200" b="1" smtClean="0">
              <a:solidFill>
                <a:srgbClr val="0000FF"/>
              </a:solidFill>
              <a:ea typeface="楷体" panose="02010609060101010101" charset="-122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sz="3000" b="1">
                <a:ea typeface="楷体" panose="02010609060101010101" charset="-122"/>
              </a:rPr>
              <a:t>10.1 </a:t>
            </a:r>
            <a:r>
              <a:rPr kumimoji="0" lang="en-US" altLang="en-US" sz="3000" b="1">
                <a:ea typeface="楷体" panose="02010609060101010101" charset="-122"/>
                <a:cs typeface="楷体" panose="02010609060101010101" charset="-122"/>
              </a:rPr>
              <a:t>项目风险与项目风险管理 </a:t>
            </a:r>
            <a:endParaRPr kumimoji="0" lang="zh-CN" altLang="en-US" sz="3000" b="1"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323850" y="1341439"/>
            <a:ext cx="375221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</a:rPr>
              <a:t>10.1.1 </a:t>
            </a: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风险与项目风险 </a:t>
            </a:r>
            <a:endParaRPr kumimoji="0" lang="en-US" altLang="en-US" b="1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D063677D-E6CF-4C7C-A817-6855BFFE293C}" type="slidenum">
              <a:rPr lang="zh-CN" altLang="en-GB" smtClean="0"/>
            </a:fld>
            <a:endParaRPr lang="en-US" altLang="zh-CN" dirty="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79394" y="1809754"/>
            <a:ext cx="8713787" cy="41846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项目风险贯穿整个项目生命周期，并且项目的不同阶段会有不同的风险。</a:t>
            </a:r>
            <a:endParaRPr lang="en-US" altLang="zh-CN" sz="3200" b="1" smtClean="0">
              <a:solidFill>
                <a:schemeClr val="bg2"/>
              </a:solidFill>
              <a:ea typeface="楷体" panose="02010609060101010101" charset="-122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风险随着项目的进展而变化，其不确定性一般会逐渐减少。</a:t>
            </a:r>
            <a:endParaRPr lang="en-US" altLang="zh-CN" sz="3200" b="1" smtClean="0">
              <a:solidFill>
                <a:schemeClr val="bg2"/>
              </a:solidFill>
              <a:ea typeface="楷体" panose="02010609060101010101" charset="-122"/>
            </a:endParaRP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zh-CN" altLang="en-US" sz="3600" b="1" smtClean="0">
                <a:solidFill>
                  <a:srgbClr val="0000FF"/>
                </a:solidFill>
                <a:ea typeface="楷体" panose="02010609060101010101" charset="-122"/>
              </a:rPr>
              <a:t>最大的不确定性存在于项目的早期，早期阶段做出的决策对以后阶段和项目目标的实现影响最大。</a:t>
            </a:r>
            <a:endParaRPr kumimoji="0" lang="zh-CN" altLang="en-US" sz="3600" b="1" smtClean="0">
              <a:solidFill>
                <a:srgbClr val="0000FF"/>
              </a:solidFill>
              <a:ea typeface="楷体" panose="02010609060101010101" charset="-122"/>
            </a:endParaRP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sz="3000" b="1">
                <a:ea typeface="楷体" panose="02010609060101010101" charset="-122"/>
              </a:rPr>
              <a:t>10.1 </a:t>
            </a:r>
            <a:r>
              <a:rPr kumimoji="0" lang="en-US" altLang="en-US" sz="3000" b="1">
                <a:ea typeface="楷体" panose="02010609060101010101" charset="-122"/>
                <a:cs typeface="楷体" panose="02010609060101010101" charset="-122"/>
              </a:rPr>
              <a:t>项目风险与项目风险管理 </a:t>
            </a:r>
            <a:endParaRPr kumimoji="0" lang="zh-CN" altLang="en-US" sz="3000" b="1"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323850" y="1341439"/>
            <a:ext cx="375221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</a:rPr>
              <a:t>10.1.1 风险与项目风险 </a:t>
            </a:r>
            <a:endParaRPr kumimoji="0" lang="en-US" altLang="en-US" b="1">
              <a:solidFill>
                <a:srgbClr val="FF0000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348A2CDC-8FEE-49DE-B59C-4D2C5D5E98F2}" type="slidenum">
              <a:rPr lang="zh-CN" altLang="en-GB" smtClean="0"/>
            </a:fld>
            <a:endParaRPr lang="en-US" altLang="zh-CN" dirty="0"/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sz="3000" b="1">
                <a:ea typeface="楷体" panose="02010609060101010101" charset="-122"/>
              </a:rPr>
              <a:t>10.1 </a:t>
            </a:r>
            <a:r>
              <a:rPr kumimoji="0" lang="en-US" altLang="en-US" sz="3000" b="1">
                <a:ea typeface="楷体" panose="02010609060101010101" charset="-122"/>
              </a:rPr>
              <a:t>项目风险与项目风险管理 </a:t>
            </a:r>
            <a:endParaRPr kumimoji="0" lang="zh-CN" altLang="en-US" sz="3000" b="1">
              <a:ea typeface="楷体" panose="02010609060101010101" charset="-122"/>
            </a:endParaRP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323850" y="1341439"/>
            <a:ext cx="530034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 dirty="0">
                <a:solidFill>
                  <a:srgbClr val="FF0000"/>
                </a:solidFill>
                <a:ea typeface="楷体" panose="02010609060101010101" charset="-122"/>
              </a:rPr>
              <a:t>10.1.1 </a:t>
            </a:r>
            <a:r>
              <a:rPr kumimoji="0" lang="en-US" altLang="en-US" b="1" dirty="0" err="1" smtClean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风险与项目风险</a:t>
            </a:r>
            <a:r>
              <a:rPr kumimoji="0" lang="en-US" altLang="en-US" b="1" dirty="0" smtClean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-</a:t>
            </a:r>
            <a:r>
              <a:rPr kumimoji="0" lang="zh-CN" altLang="en-US" b="1" dirty="0" smtClean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风险类型</a:t>
            </a:r>
            <a:r>
              <a:rPr kumimoji="0" lang="en-US" altLang="en-US" b="1" dirty="0" smtClean="0">
                <a:solidFill>
                  <a:srgbClr val="FF0000"/>
                </a:solidFill>
                <a:ea typeface="楷体" panose="02010609060101010101" charset="-122"/>
              </a:rPr>
              <a:t> </a:t>
            </a:r>
            <a:endParaRPr kumimoji="0" lang="en-US" altLang="en-US" b="1" dirty="0" smtClean="0">
              <a:solidFill>
                <a:srgbClr val="FF0000"/>
              </a:solidFill>
              <a:ea typeface="楷体" panose="02010609060101010101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1198880" y="2078355"/>
            <a:ext cx="7451090" cy="1896110"/>
            <a:chOff x="1853" y="3273"/>
            <a:chExt cx="11734" cy="2986"/>
          </a:xfrm>
        </p:grpSpPr>
        <p:sp>
          <p:nvSpPr>
            <p:cNvPr id="8" name="AutoShape 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gray">
            <a:xfrm>
              <a:off x="3285" y="3273"/>
              <a:ext cx="10303" cy="2987"/>
            </a:xfrm>
            <a:prstGeom prst="roundRect">
              <a:avLst>
                <a:gd name="adj" fmla="val 12727"/>
              </a:avLst>
            </a:prstGeom>
            <a:solidFill>
              <a:srgbClr val="CFD1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white">
            <a:xfrm>
              <a:off x="3825" y="3609"/>
              <a:ext cx="9045" cy="1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457200"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lvl="1" algn="l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zh-CN" altLang="en-US" sz="240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已知风险</a:t>
              </a:r>
              <a:r>
                <a:rPr lang="zh-CN" altLang="en-US" sz="240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－</a:t>
              </a:r>
              <a:r>
                <a:rPr lang="en-US" altLang="zh-CN" sz="240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Known known</a:t>
              </a:r>
              <a:endParaRPr lang="en-US" altLang="zh-CN" sz="24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  <a:p>
              <a:pPr lvl="1" algn="l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zh-CN" altLang="en-US" sz="240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可预测风险</a:t>
              </a:r>
              <a:r>
                <a:rPr lang="en-US" altLang="zh-CN" sz="240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  <a:cs typeface="Times New Roman" panose="02020603050405020304" pitchFamily="18" charset="0"/>
                </a:rPr>
                <a:t>-Known unknown </a:t>
              </a:r>
              <a:endParaRPr lang="en-US" altLang="zh-CN" sz="24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endParaRPr>
            </a:p>
            <a:p>
              <a:pPr lvl="1" algn="l">
                <a:spcBef>
                  <a:spcPct val="0"/>
                </a:spcBef>
                <a:buFont typeface="Wingdings" panose="05000000000000000000" pitchFamily="2" charset="2"/>
                <a:buChar char="Ø"/>
              </a:pPr>
              <a:r>
                <a:rPr lang="zh-CN" altLang="en-US" sz="240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不可预测风险</a:t>
              </a:r>
              <a:r>
                <a:rPr lang="en-US" altLang="zh-CN" sz="240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  <a:cs typeface="+mn-lt"/>
                </a:rPr>
                <a:t>-unknown unknown</a:t>
              </a:r>
              <a:endParaRPr lang="en-US" altLang="zh-CN" sz="24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  <a:cs typeface="+mn-lt"/>
              </a:endParaRPr>
            </a:p>
          </p:txBody>
        </p:sp>
        <p:grpSp>
          <p:nvGrpSpPr>
            <p:cNvPr id="10" name="Group 5"/>
            <p:cNvGrpSpPr/>
            <p:nvPr>
              <p:custDataLst>
                <p:tags r:id="rId4"/>
              </p:custDataLst>
            </p:nvPr>
          </p:nvGrpSpPr>
          <p:grpSpPr bwMode="auto">
            <a:xfrm rot="0">
              <a:off x="1853" y="3273"/>
              <a:ext cx="2647" cy="2827"/>
              <a:chOff x="802" y="845"/>
              <a:chExt cx="827" cy="826"/>
            </a:xfrm>
          </p:grpSpPr>
          <p:sp>
            <p:nvSpPr>
              <p:cNvPr id="11" name="Oval 6"/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gray">
              <a:xfrm>
                <a:off x="802" y="845"/>
                <a:ext cx="827" cy="826"/>
              </a:xfrm>
              <a:prstGeom prst="ellipse">
                <a:avLst/>
              </a:prstGeom>
              <a:solidFill>
                <a:srgbClr val="F8F8F8"/>
              </a:solidFill>
              <a:ln w="38100">
                <a:solidFill>
                  <a:schemeClr val="accent1"/>
                </a:solidFill>
                <a:round/>
              </a:ln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zh-CN" sz="480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Oval 7"/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gray">
              <a:xfrm>
                <a:off x="836" y="879"/>
                <a:ext cx="758" cy="758"/>
              </a:xfrm>
              <a:prstGeom prst="ellipse">
                <a:avLst/>
              </a:prstGeom>
              <a:noFill/>
              <a:ln w="38100">
                <a:solidFill>
                  <a:schemeClr val="accent1">
                    <a:alpha val="70195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zh-CN" sz="480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Oval 8"/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gray">
              <a:xfrm>
                <a:off x="870" y="915"/>
                <a:ext cx="690" cy="690"/>
              </a:xfrm>
              <a:prstGeom prst="ellipse">
                <a:avLst/>
              </a:prstGeom>
              <a:noFill/>
              <a:ln w="38100">
                <a:solidFill>
                  <a:schemeClr val="accent1">
                    <a:alpha val="30196"/>
                  </a:schemeClr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zh-CN" sz="480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" name="Text Box 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gray">
            <a:xfrm>
              <a:off x="1888" y="4359"/>
              <a:ext cx="2525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algn="ctr"/>
              <a:r>
                <a:rPr lang="zh-CN" altLang="en-US" sz="1800" b="1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预测角度</a:t>
              </a:r>
              <a:endParaRPr lang="zh-CN" altLang="en-US" sz="1800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9"/>
            </p:custDataLst>
          </p:nvPr>
        </p:nvGrpSpPr>
        <p:grpSpPr>
          <a:xfrm>
            <a:off x="1176655" y="4211955"/>
            <a:ext cx="7451725" cy="2025650"/>
            <a:chOff x="1853" y="6633"/>
            <a:chExt cx="11735" cy="3190"/>
          </a:xfrm>
        </p:grpSpPr>
        <p:grpSp>
          <p:nvGrpSpPr>
            <p:cNvPr id="4" name="组合 3"/>
            <p:cNvGrpSpPr/>
            <p:nvPr>
              <p:custDataLst>
                <p:tags r:id="rId10"/>
              </p:custDataLst>
            </p:nvPr>
          </p:nvGrpSpPr>
          <p:grpSpPr>
            <a:xfrm>
              <a:off x="1853" y="6633"/>
              <a:ext cx="11734" cy="3190"/>
              <a:chOff x="1853" y="6633"/>
              <a:chExt cx="11734" cy="3190"/>
            </a:xfrm>
          </p:grpSpPr>
          <p:sp>
            <p:nvSpPr>
              <p:cNvPr id="15" name="AutoShape 17"/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gray">
              <a:xfrm>
                <a:off x="3285" y="6713"/>
                <a:ext cx="10303" cy="3110"/>
              </a:xfrm>
              <a:prstGeom prst="roundRect">
                <a:avLst>
                  <a:gd name="adj" fmla="val 12727"/>
                </a:avLst>
              </a:prstGeom>
              <a:solidFill>
                <a:srgbClr val="EBEB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zh-CN" sz="480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6" name="Group 19"/>
              <p:cNvGrpSpPr/>
              <p:nvPr>
                <p:custDataLst>
                  <p:tags r:id="rId12"/>
                </p:custDataLst>
              </p:nvPr>
            </p:nvGrpSpPr>
            <p:grpSpPr bwMode="auto">
              <a:xfrm>
                <a:off x="1853" y="6633"/>
                <a:ext cx="2647" cy="2827"/>
                <a:chOff x="802" y="845"/>
                <a:chExt cx="827" cy="826"/>
              </a:xfrm>
            </p:grpSpPr>
            <p:sp>
              <p:nvSpPr>
                <p:cNvPr id="17" name="Oval 20"/>
                <p:cNvSpPr>
                  <a:spLocks noChangeArrowheads="1"/>
                </p:cNvSpPr>
                <p:nvPr>
                  <p:custDataLst>
                    <p:tags r:id="rId13"/>
                  </p:custDataLst>
                </p:nvPr>
              </p:nvSpPr>
              <p:spPr bwMode="gray">
                <a:xfrm>
                  <a:off x="802" y="845"/>
                  <a:ext cx="827" cy="826"/>
                </a:xfrm>
                <a:prstGeom prst="ellipse">
                  <a:avLst/>
                </a:prstGeom>
                <a:solidFill>
                  <a:srgbClr val="F8F8F8"/>
                </a:solidFill>
                <a:ln w="38100">
                  <a:solidFill>
                    <a:schemeClr val="hlink"/>
                  </a:solidFill>
                  <a:round/>
                </a:ln>
              </p:spPr>
              <p:txBody>
                <a:bodyPr wrap="none" anchor="ctr"/>
                <a:lstStyle/>
                <a:p>
                  <a:pPr algn="l">
                    <a:spcBef>
                      <a:spcPct val="0"/>
                    </a:spcBef>
                  </a:pPr>
                  <a:endParaRPr lang="zh-CN" altLang="zh-CN" sz="480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8" name="Oval 21"/>
                <p:cNvSpPr>
                  <a:spLocks noChangeArrowheads="1"/>
                </p:cNvSpPr>
                <p:nvPr>
                  <p:custDataLst>
                    <p:tags r:id="rId14"/>
                  </p:custDataLst>
                </p:nvPr>
              </p:nvSpPr>
              <p:spPr bwMode="gray">
                <a:xfrm>
                  <a:off x="836" y="879"/>
                  <a:ext cx="758" cy="758"/>
                </a:xfrm>
                <a:prstGeom prst="ellipse">
                  <a:avLst/>
                </a:prstGeom>
                <a:noFill/>
                <a:ln w="38100">
                  <a:solidFill>
                    <a:schemeClr val="hlink">
                      <a:alpha val="70195"/>
                    </a:scheme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>
                    <a:spcBef>
                      <a:spcPct val="0"/>
                    </a:spcBef>
                  </a:pPr>
                  <a:endParaRPr lang="zh-CN" altLang="zh-CN" sz="480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9" name="Oval 22"/>
                <p:cNvSpPr>
                  <a:spLocks noChangeArrowheads="1"/>
                </p:cNvSpPr>
                <p:nvPr>
                  <p:custDataLst>
                    <p:tags r:id="rId15"/>
                  </p:custDataLst>
                </p:nvPr>
              </p:nvSpPr>
              <p:spPr bwMode="gray">
                <a:xfrm>
                  <a:off x="870" y="915"/>
                  <a:ext cx="690" cy="690"/>
                </a:xfrm>
                <a:prstGeom prst="ellipse">
                  <a:avLst/>
                </a:prstGeom>
                <a:noFill/>
                <a:ln w="38100">
                  <a:solidFill>
                    <a:schemeClr val="hlink">
                      <a:alpha val="30196"/>
                    </a:schemeClr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pPr algn="l">
                    <a:spcBef>
                      <a:spcPct val="0"/>
                    </a:spcBef>
                  </a:pPr>
                  <a:endParaRPr lang="zh-CN" altLang="zh-CN" sz="480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20" name="Text Box 23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gray">
            <a:xfrm>
              <a:off x="1965" y="7669"/>
              <a:ext cx="2315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marL="742950" indent="-285750"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algn="ctr"/>
              <a:r>
                <a:rPr lang="zh-CN" altLang="en-US" sz="1800" b="1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范围角度</a:t>
              </a:r>
              <a:endParaRPr lang="zh-CN" altLang="en-US" sz="1800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endParaRPr>
            </a:p>
          </p:txBody>
        </p:sp>
        <p:sp>
          <p:nvSpPr>
            <p:cNvPr id="21" name="Text Box 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white">
            <a:xfrm>
              <a:off x="4388" y="6819"/>
              <a:ext cx="9200" cy="2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 sz="29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1pPr>
              <a:lvl2pPr indent="457200">
                <a:defRPr sz="26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2pPr>
              <a:lvl3pPr marL="1143000">
                <a:defRPr sz="23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3pPr>
              <a:lvl4pPr marL="1600200"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4pPr>
              <a:lvl5pPr marL="2057400"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5pPr>
              <a:lvl6pPr marL="2514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6pPr>
              <a:lvl7pPr marL="29718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7pPr>
              <a:lvl8pPr marL="34290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8pPr>
              <a:lvl9pPr marL="38862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D8B25C"/>
                </a:buClr>
                <a:buSzPct val="65000"/>
                <a:buFont typeface="Wingdings" panose="05000000000000000000" pitchFamily="2" charset="2"/>
                <a:buChar char=""/>
                <a:defRPr sz="2000">
                  <a:solidFill>
                    <a:schemeClr val="tx1"/>
                  </a:solidFill>
                  <a:latin typeface="Tw Cen MT" panose="020B0602020104020603" pitchFamily="34" charset="0"/>
                  <a:ea typeface="华文仿宋" panose="02010600040101010101" pitchFamily="2" charset="-122"/>
                </a:defRPr>
              </a:lvl9pPr>
            </a:lstStyle>
            <a:p>
              <a:pPr marL="0" lvl="1" algn="just" eaLnBrk="0" hangingPunct="0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400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商业风险、管理风险、人员风险、技术风险、开发环境风险、客户风险、过程风险、产品规模风险等</a:t>
              </a:r>
              <a:r>
                <a:rPr lang="zh-CN" altLang="en-US" sz="1400" b="1" smtClean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charset="-122"/>
                </a:rPr>
                <a:t>。</a:t>
              </a:r>
              <a:endParaRPr lang="en-US" altLang="zh-CN" sz="1400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32480423-ADA4-4175-B36E-CF9AD2341CBE}" type="slidenum">
              <a:rPr lang="zh-CN" altLang="en-GB" smtClean="0"/>
            </a:fld>
            <a:endParaRPr lang="en-US" altLang="zh-CN" dirty="0"/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1406" y="2214555"/>
            <a:ext cx="8929718" cy="156845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项目风险管理的</a:t>
            </a:r>
            <a:r>
              <a:rPr lang="zh-CN" altLang="en-US" sz="3200" b="1" smtClean="0">
                <a:solidFill>
                  <a:srgbClr val="0000FF"/>
                </a:solidFill>
                <a:ea typeface="楷体" panose="02010609060101010101" charset="-122"/>
              </a:rPr>
              <a:t>目标</a:t>
            </a: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在于提高项目中积极事件的概率和影响，降低项目中消极事件的概率和影响，确保项目在可控的范围内完成项目</a:t>
            </a:r>
            <a:r>
              <a:rPr lang="zh-CN" altLang="en-US" sz="3200" b="1" smtClean="0">
                <a:solidFill>
                  <a:schemeClr val="bg2"/>
                </a:solidFill>
                <a:ea typeface="楷体" panose="02010609060101010101" charset="-122"/>
              </a:rPr>
              <a:t>目标。</a:t>
            </a:r>
            <a:endParaRPr lang="zh-CN" altLang="en-US" b="1">
              <a:solidFill>
                <a:schemeClr val="bg2"/>
              </a:solidFill>
              <a:ea typeface="楷体" panose="02010609060101010101" charset="-122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sz="3000" b="1">
                <a:ea typeface="楷体" panose="02010609060101010101" charset="-122"/>
              </a:rPr>
              <a:t>10.1 </a:t>
            </a:r>
            <a:r>
              <a:rPr kumimoji="0" lang="en-US" altLang="en-US" sz="3000" b="1">
                <a:ea typeface="楷体" panose="02010609060101010101" charset="-122"/>
              </a:rPr>
              <a:t>项目风险与项目风险管理 </a:t>
            </a:r>
            <a:endParaRPr kumimoji="0" lang="zh-CN" altLang="en-US" sz="3000" b="1">
              <a:ea typeface="楷体" panose="02010609060101010101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323850" y="1341439"/>
            <a:ext cx="348361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 dirty="0" smtClean="0">
                <a:solidFill>
                  <a:srgbClr val="FF0000"/>
                </a:solidFill>
                <a:ea typeface="楷体" panose="02010609060101010101" charset="-122"/>
              </a:rPr>
              <a:t>10.1.</a:t>
            </a:r>
            <a:r>
              <a:rPr kumimoji="0" lang="en-US" altLang="zh-CN" b="1" dirty="0" smtClean="0">
                <a:solidFill>
                  <a:srgbClr val="FF0000"/>
                </a:solidFill>
                <a:ea typeface="楷体" panose="02010609060101010101" charset="-122"/>
              </a:rPr>
              <a:t>2</a:t>
            </a:r>
            <a:r>
              <a:rPr kumimoji="0" lang="en-US" altLang="en-US" b="1" dirty="0" smtClean="0">
                <a:solidFill>
                  <a:srgbClr val="FF0000"/>
                </a:solidFill>
                <a:ea typeface="楷体" panose="02010609060101010101" charset="-122"/>
              </a:rPr>
              <a:t>  </a:t>
            </a:r>
            <a:r>
              <a:rPr kumimoji="0" lang="en-US" altLang="en-US" b="1" dirty="0" err="1">
                <a:solidFill>
                  <a:srgbClr val="FF0000"/>
                </a:solidFill>
                <a:ea typeface="楷体" panose="02010609060101010101" charset="-122"/>
              </a:rPr>
              <a:t>项目风险管理</a:t>
            </a:r>
            <a:r>
              <a:rPr kumimoji="0" lang="en-US" altLang="en-US" b="1" dirty="0">
                <a:solidFill>
                  <a:srgbClr val="FF0000"/>
                </a:solidFill>
                <a:ea typeface="楷体" panose="02010609060101010101" charset="-122"/>
              </a:rPr>
              <a:t> </a:t>
            </a:r>
            <a:endParaRPr kumimoji="0" lang="en-US" altLang="en-US" b="1" dirty="0">
              <a:solidFill>
                <a:srgbClr val="FF0000"/>
              </a:solidFill>
              <a:ea typeface="楷体" panose="02010609060101010101" charset="-122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142844" y="1785930"/>
            <a:ext cx="6000792" cy="460375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 smtClean="0">
                <a:solidFill>
                  <a:srgbClr val="0000FF"/>
                </a:solidFill>
                <a:ea typeface="楷体" panose="02010609060101010101" charset="-122"/>
              </a:rPr>
              <a:t>项目风险管理的目标与主要过程</a:t>
            </a:r>
            <a:endParaRPr lang="zh-CN" altLang="en-US" sz="2400" b="1" dirty="0" smtClean="0">
              <a:solidFill>
                <a:srgbClr val="0000FF"/>
              </a:solidFill>
              <a:ea typeface="楷体" panose="02010609060101010101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3786189"/>
            <a:ext cx="9144000" cy="3071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32480423-ADA4-4175-B36E-CF9AD2341CBE}" type="slidenum">
              <a:rPr lang="zh-CN" altLang="en-GB" smtClean="0"/>
            </a:fld>
            <a:endParaRPr lang="en-US" altLang="zh-CN" dirty="0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sz="3000" b="1">
                <a:ea typeface="楷体" panose="02010609060101010101" charset="-122"/>
              </a:rPr>
              <a:t>10.1 </a:t>
            </a:r>
            <a:r>
              <a:rPr kumimoji="0" lang="en-US" altLang="en-US" sz="3000" b="1">
                <a:ea typeface="楷体" panose="02010609060101010101" charset="-122"/>
                <a:cs typeface="楷体" panose="02010609060101010101" charset="-122"/>
              </a:rPr>
              <a:t>项目风险与项目风险管理 </a:t>
            </a:r>
            <a:endParaRPr kumimoji="0" lang="zh-CN" altLang="en-US" sz="3000" b="1"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323850" y="1341439"/>
            <a:ext cx="348361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</a:rPr>
              <a:t>10.1.3  项目风险管理 </a:t>
            </a:r>
            <a:endParaRPr kumimoji="0" lang="en-US" altLang="en-US" b="1">
              <a:solidFill>
                <a:srgbClr val="FF0000"/>
              </a:solidFill>
              <a:ea typeface="楷体" panose="02010609060101010101" charset="-122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142844" y="1785930"/>
            <a:ext cx="6000792" cy="460375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 smtClean="0">
                <a:solidFill>
                  <a:schemeClr val="bg1"/>
                </a:solidFill>
                <a:ea typeface="楷体" panose="02010609060101010101" charset="-122"/>
              </a:rPr>
              <a:t>项目风险管理的目标与主要过程</a:t>
            </a:r>
            <a:endParaRPr lang="zh-CN" altLang="en-US" sz="2400" b="1" dirty="0" smtClean="0">
              <a:solidFill>
                <a:schemeClr val="bg1"/>
              </a:solidFill>
              <a:ea typeface="楷体" panose="02010609060101010101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2214557"/>
            <a:ext cx="9144000" cy="4643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smtClean="0"/>
              <a:t>  </a:t>
            </a:r>
            <a:fld id="{B6D6A615-618E-4DBF-9BE6-09340DC0AD1F}" type="slidenum">
              <a:rPr lang="zh-CN" altLang="en-GB" smtClean="0"/>
            </a:fld>
            <a:endParaRPr lang="en-US" altLang="zh-CN" smtClean="0"/>
          </a:p>
        </p:txBody>
      </p:sp>
      <p:sp>
        <p:nvSpPr>
          <p:cNvPr id="8197" name="Rectangle 6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0" y="500380"/>
            <a:ext cx="3929380" cy="7143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L="0" indent="0" algn="ctr" eaLnBrk="1" hangingPunct="1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4800" b="1" smtClean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提   纲</a:t>
            </a:r>
            <a:endParaRPr lang="zh-CN" altLang="en-US" sz="4800" b="1" smtClean="0">
              <a:latin typeface="Times New Roman" panose="02020603050405020304" pitchFamily="18" charset="0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295400" y="2819404"/>
            <a:ext cx="6629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 b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4408" y="1385253"/>
            <a:ext cx="6500798" cy="45231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项目风险</a:t>
            </a:r>
            <a:r>
              <a:rPr lang="zh-CN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与项目</a:t>
            </a:r>
            <a:r>
              <a:rPr lang="en-US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管理</a:t>
            </a:r>
            <a:endParaRPr lang="en-US" altLang="zh-CN" sz="4000" b="1" dirty="0" err="1">
              <a:solidFill>
                <a:schemeClr val="bg1">
                  <a:lumMod val="50000"/>
                </a:schemeClr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800" b="1" smtClean="0">
                <a:solidFill>
                  <a:srgbClr val="FF0000"/>
                </a:solidFill>
                <a:ea typeface="楷体" panose="02010609060101010101" charset="-122"/>
              </a:rPr>
              <a:t>规划风险管理</a:t>
            </a:r>
            <a:endParaRPr lang="en-US" altLang="en-US" sz="4800" b="1" dirty="0">
              <a:solidFill>
                <a:srgbClr val="FF0000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识别风险</a:t>
            </a:r>
            <a:endParaRPr lang="zh-CN" altLang="en-US" sz="4000" b="1" dirty="0">
              <a:solidFill>
                <a:srgbClr val="0000FF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zh-CN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实施</a:t>
            </a:r>
            <a:r>
              <a:rPr lang="en-US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定性风险分析</a:t>
            </a:r>
            <a:endParaRPr lang="en-US" altLang="en-US" sz="4000" b="1" dirty="0">
              <a:solidFill>
                <a:srgbClr val="0000FF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zh-CN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实施</a:t>
            </a:r>
            <a:r>
              <a:rPr lang="en-US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定量风险分析</a:t>
            </a:r>
            <a:endParaRPr lang="en-US" altLang="en-US" sz="4000" b="1" dirty="0">
              <a:solidFill>
                <a:srgbClr val="0000FF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规划风险应对</a:t>
            </a:r>
            <a:endParaRPr lang="zh-CN" altLang="en-US" sz="4000" b="1" dirty="0">
              <a:solidFill>
                <a:srgbClr val="0000FF"/>
              </a:solidFill>
              <a:ea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zh-CN" altLang="en-US" sz="4000" b="1" smtClean="0">
                <a:solidFill>
                  <a:srgbClr val="0000FF"/>
                </a:solidFill>
                <a:ea typeface="楷体" panose="02010609060101010101" charset="-122"/>
              </a:rPr>
              <a:t>控制风险</a:t>
            </a:r>
            <a:endParaRPr lang="zh-CN" altLang="en-US" sz="4000" b="1" dirty="0" smtClean="0">
              <a:solidFill>
                <a:srgbClr val="0000FF"/>
              </a:solidFill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E8A7EBF4-77D6-4816-B7A7-E6E6B3CF9D3A}" type="slidenum">
              <a:rPr lang="zh-CN" altLang="en-GB" smtClean="0"/>
            </a:fld>
            <a:endParaRPr lang="en-US" altLang="zh-CN" dirty="0"/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44463" y="1797054"/>
            <a:ext cx="8964612" cy="138366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风险管理规划过程应该在项目规划过程的</a:t>
            </a:r>
            <a:r>
              <a:rPr lang="zh-CN" altLang="en-US" b="1" smtClean="0">
                <a:solidFill>
                  <a:srgbClr val="0000FF"/>
                </a:solidFill>
                <a:ea typeface="楷体" panose="02010609060101010101" charset="-122"/>
                <a:cs typeface="楷体" panose="02010609060101010101" charset="-122"/>
              </a:rPr>
              <a:t>早期完成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，它对于能否成功进行项目风险管理、完成项目目标至关重要。表</a:t>
            </a:r>
            <a:r>
              <a:rPr lang="en-US" b="1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10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－</a:t>
            </a:r>
            <a:r>
              <a:rPr lang="en-US" b="1" smtClean="0">
                <a:solidFill>
                  <a:schemeClr val="bg2"/>
                </a:solidFill>
                <a:ea typeface="楷体" panose="02010609060101010101" charset="-122"/>
                <a:cs typeface="Times New Roman" panose="02020603050405020304" pitchFamily="18" charset="0"/>
              </a:rPr>
              <a:t>1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  <a:cs typeface="楷体" panose="02010609060101010101" charset="-122"/>
              </a:rPr>
              <a:t>列出了风险管理规划应该明确的问题。</a:t>
            </a:r>
            <a:endParaRPr kumimoji="0" lang="zh-CN" altLang="en-US" b="1">
              <a:solidFill>
                <a:schemeClr val="bg2"/>
              </a:solidFill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zh-CN" sz="3000" b="1" smtClean="0">
                <a:ea typeface="楷体" panose="02010609060101010101" charset="-122"/>
              </a:rPr>
              <a:t>10.2  </a:t>
            </a:r>
            <a:r>
              <a:rPr kumimoji="0" lang="zh-CN" altLang="en-US" sz="3000" b="1" smtClean="0">
                <a:ea typeface="楷体" panose="02010609060101010101" charset="-122"/>
              </a:rPr>
              <a:t>规划风险管理 </a:t>
            </a:r>
            <a:endParaRPr kumimoji="0" lang="zh-CN" altLang="en-US" sz="3000" b="1">
              <a:ea typeface="楷体" panose="02010609060101010101" charset="-122"/>
            </a:endParaRP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323851" y="1341439"/>
            <a:ext cx="44672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</a:rPr>
              <a:t>10.2.1 </a:t>
            </a: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风险管理规划的概念 </a:t>
            </a:r>
            <a:endParaRPr kumimoji="0" lang="en-US" altLang="en-US" b="1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3214685"/>
            <a:ext cx="9144000" cy="3643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0B25C0D6-CF09-4B16-8EEB-CE1C4C462D94}" type="slidenum">
              <a:rPr lang="zh-CN" altLang="en-GB" smtClean="0"/>
            </a:fld>
            <a:endParaRPr lang="en-US" altLang="zh-CN" dirty="0"/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71412" y="1857369"/>
            <a:ext cx="8893175" cy="19685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规划风险管理的主要成果是</a:t>
            </a:r>
            <a:r>
              <a:rPr lang="zh-CN" altLang="en-US" b="1" smtClean="0">
                <a:solidFill>
                  <a:srgbClr val="0000FF"/>
                </a:solidFill>
                <a:ea typeface="楷体" panose="02010609060101010101" charset="-122"/>
              </a:rPr>
              <a:t>风险管理计划</a:t>
            </a: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。</a:t>
            </a:r>
            <a:endParaRPr lang="zh-CN" altLang="en-US" b="1" smtClean="0">
              <a:solidFill>
                <a:schemeClr val="bg2"/>
              </a:solidFill>
              <a:ea typeface="楷体" panose="02010609060101010101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zh-CN" altLang="en-US" b="1" smtClean="0">
                <a:solidFill>
                  <a:schemeClr val="bg2"/>
                </a:solidFill>
                <a:ea typeface="楷体" panose="02010609060101010101" charset="-122"/>
              </a:rPr>
              <a:t>风险管理计划描述的是如何安排与实施项目风险管理，它是项目管理计划的从属计划。风险管理计划包括以下内容：</a:t>
            </a:r>
            <a:endParaRPr lang="zh-CN" altLang="en-US" sz="3200" b="1" smtClean="0">
              <a:solidFill>
                <a:schemeClr val="bg2"/>
              </a:solidFill>
              <a:ea typeface="楷体" panose="02010609060101010101" charset="-122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zh-CN" sz="3000" b="1" smtClean="0">
                <a:ea typeface="楷体" panose="02010609060101010101" charset="-122"/>
              </a:rPr>
              <a:t>10.2  </a:t>
            </a:r>
            <a:r>
              <a:rPr kumimoji="0" lang="zh-CN" altLang="en-US" sz="3000" b="1" smtClean="0">
                <a:ea typeface="楷体" panose="02010609060101010101" charset="-122"/>
              </a:rPr>
              <a:t>规划风险管理 </a:t>
            </a:r>
            <a:endParaRPr kumimoji="0" lang="zh-CN" altLang="en-US" sz="3000" b="1">
              <a:ea typeface="楷体" panose="02010609060101010101" charset="-122"/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323856" y="1341439"/>
            <a:ext cx="419862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</a:rPr>
              <a:t>10.2.2  </a:t>
            </a:r>
            <a:r>
              <a:rPr kumimoji="0" lang="en-US" altLang="en-US" b="1" smtClean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项目风险管理计划 </a:t>
            </a:r>
            <a:endParaRPr kumimoji="0" lang="en-US" altLang="en-US" b="1" smtClean="0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4939" y="3859850"/>
            <a:ext cx="3214710" cy="2928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5467" y="3931285"/>
            <a:ext cx="4000528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dirty="0"/>
              <a:t>  </a:t>
            </a:r>
            <a:fld id="{0B25C0D6-CF09-4B16-8EEB-CE1C4C462D94}" type="slidenum">
              <a:rPr lang="zh-CN" altLang="en-GB" smtClean="0"/>
            </a:fld>
            <a:endParaRPr lang="en-US" altLang="zh-CN" dirty="0"/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03188" y="620713"/>
            <a:ext cx="5332412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zh-CN" sz="3000" b="1" smtClean="0">
                <a:ea typeface="楷体" panose="02010609060101010101" charset="-122"/>
              </a:rPr>
              <a:t>10.2  </a:t>
            </a:r>
            <a:r>
              <a:rPr kumimoji="0" lang="zh-CN" altLang="en-US" sz="3000" b="1" smtClean="0">
                <a:ea typeface="楷体" panose="02010609060101010101" charset="-122"/>
              </a:rPr>
              <a:t>规划风险管理 </a:t>
            </a:r>
            <a:endParaRPr kumimoji="0" lang="zh-CN" altLang="en-US" sz="3000" b="1">
              <a:ea typeface="楷体" panose="02010609060101010101" charset="-122"/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323856" y="1341439"/>
            <a:ext cx="419862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kumimoji="0" lang="en-US" altLang="en-US" b="1">
                <a:solidFill>
                  <a:srgbClr val="FF0000"/>
                </a:solidFill>
                <a:ea typeface="楷体" panose="02010609060101010101" charset="-122"/>
              </a:rPr>
              <a:t>10.2.2  </a:t>
            </a:r>
            <a:r>
              <a:rPr kumimoji="0" lang="en-US" altLang="en-US" b="1" smtClean="0">
                <a:solidFill>
                  <a:srgbClr val="FF0000"/>
                </a:solidFill>
                <a:ea typeface="楷体" panose="02010609060101010101" charset="-122"/>
              </a:rPr>
              <a:t>项目风险管理计划 </a:t>
            </a:r>
            <a:endParaRPr kumimoji="0" lang="en-US" altLang="en-US" b="1" smtClean="0">
              <a:solidFill>
                <a:srgbClr val="FF0000"/>
              </a:solidFill>
              <a:ea typeface="楷体" panose="02010609060101010101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2000240"/>
            <a:ext cx="9144000" cy="485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9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zh-CN" altLang="en-GB" smtClean="0"/>
              <a:t>  </a:t>
            </a:r>
            <a:fld id="{B6D6A615-618E-4DBF-9BE6-09340DC0AD1F}" type="slidenum">
              <a:rPr lang="zh-CN" altLang="en-GB" smtClean="0"/>
            </a:fld>
            <a:endParaRPr lang="en-US" altLang="zh-CN" smtClean="0"/>
          </a:p>
        </p:txBody>
      </p:sp>
      <p:sp>
        <p:nvSpPr>
          <p:cNvPr id="8197" name="Rectangle 6"/>
          <p:cNvSpPr>
            <a:spLocks noGrp="1" noChangeArrowheads="1"/>
          </p:cNvSpPr>
          <p:nvPr>
            <p:ph type="subTitle" idx="4294967295"/>
          </p:nvPr>
        </p:nvSpPr>
        <p:spPr bwMode="auto">
          <a:xfrm>
            <a:off x="2555875" y="548640"/>
            <a:ext cx="3929380" cy="7143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/>
          <a:p>
            <a:pPr marL="0" indent="0" algn="ctr" eaLnBrk="1" hangingPunct="1"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4800" b="1" smtClean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提   纲</a:t>
            </a:r>
            <a:endParaRPr lang="zh-CN" altLang="en-US" sz="4800" b="1" smtClean="0">
              <a:latin typeface="Times New Roman" panose="02020603050405020304" pitchFamily="18" charset="0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295400" y="2819404"/>
            <a:ext cx="662940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400" b="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4408" y="1385252"/>
            <a:ext cx="8034056" cy="47078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dirty="0" err="1" smtClean="0">
                <a:solidFill>
                  <a:srgbClr val="0000FF"/>
                </a:solidFill>
                <a:ea typeface="楷体" panose="02010609060101010101" charset="-122"/>
                <a:cs typeface="楷体" panose="02010609060101010101" charset="-122"/>
              </a:rPr>
              <a:t>项目风险</a:t>
            </a:r>
            <a:r>
              <a:rPr lang="zh-CN" altLang="en-US" sz="4000" b="1" dirty="0" smtClean="0">
                <a:solidFill>
                  <a:srgbClr val="0000FF"/>
                </a:solidFill>
                <a:ea typeface="楷体" panose="02010609060101010101" charset="-122"/>
                <a:cs typeface="楷体" panose="02010609060101010101" charset="-122"/>
              </a:rPr>
              <a:t>与项目</a:t>
            </a:r>
            <a:r>
              <a:rPr lang="en-US" altLang="en-US" sz="4000" b="1" dirty="0" err="1" smtClean="0">
                <a:solidFill>
                  <a:srgbClr val="0000FF"/>
                </a:solidFill>
                <a:ea typeface="楷体" panose="02010609060101010101" charset="-122"/>
                <a:cs typeface="楷体" panose="02010609060101010101" charset="-122"/>
              </a:rPr>
              <a:t>管理</a:t>
            </a:r>
            <a:endParaRPr lang="en-US" altLang="zh-CN" sz="4000" b="1" dirty="0">
              <a:solidFill>
                <a:srgbClr val="0000FF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000" b="1" dirty="0" err="1" smtClean="0">
                <a:solidFill>
                  <a:srgbClr val="0000FF"/>
                </a:solidFill>
                <a:ea typeface="楷体" panose="02010609060101010101" charset="-122"/>
                <a:cs typeface="楷体" panose="02010609060101010101" charset="-122"/>
              </a:rPr>
              <a:t>规划风险管理</a:t>
            </a:r>
            <a:endParaRPr lang="en-US" altLang="en-US" sz="4000" b="1" dirty="0">
              <a:solidFill>
                <a:srgbClr val="0000FF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400" b="1" dirty="0" smtClean="0">
                <a:solidFill>
                  <a:srgbClr val="C00000"/>
                </a:solidFill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en-US" sz="4400" b="1" dirty="0" err="1" smtClean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</a:t>
            </a:r>
            <a:r>
              <a:rPr lang="zh-CN" altLang="en-US" sz="4400" b="1" dirty="0" smtClean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识别</a:t>
            </a:r>
            <a:endParaRPr lang="zh-CN" altLang="en-US" sz="4400" b="1" dirty="0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marL="571500" indent="-57150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400" b="1" dirty="0" err="1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</a:t>
            </a:r>
            <a:r>
              <a:rPr lang="zh-CN" altLang="en-US" sz="4400" b="1" dirty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评估</a:t>
            </a:r>
            <a:endParaRPr lang="en-US" altLang="en-US" sz="4400" b="1" dirty="0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marL="571500" indent="-57150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en-US" altLang="en-US" sz="4400" b="1" dirty="0" err="1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</a:t>
            </a:r>
            <a:r>
              <a:rPr lang="zh-CN" altLang="en-US" sz="4400" b="1" dirty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规划</a:t>
            </a:r>
            <a:endParaRPr lang="zh-CN" altLang="en-US" sz="4400" b="1" dirty="0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marL="571500" indent="-57150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r>
              <a:rPr lang="zh-CN" altLang="en-US" sz="4400" b="1" dirty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风险</a:t>
            </a:r>
            <a:r>
              <a:rPr lang="zh-CN" altLang="en-US" sz="4400" b="1" dirty="0" smtClean="0">
                <a:solidFill>
                  <a:srgbClr val="FF0000"/>
                </a:solidFill>
                <a:ea typeface="楷体" panose="02010609060101010101" charset="-122"/>
                <a:cs typeface="楷体" panose="02010609060101010101" charset="-122"/>
              </a:rPr>
              <a:t>控制</a:t>
            </a:r>
            <a:endParaRPr lang="en-US" altLang="zh-CN" sz="4400" b="1" dirty="0" smtClean="0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  <a:p>
            <a:pPr marL="571500" indent="-57150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◙"/>
              <a:defRPr/>
            </a:pPr>
            <a:endParaRPr lang="en-US" altLang="zh-CN" sz="4400" b="1" dirty="0" smtClean="0">
              <a:solidFill>
                <a:srgbClr val="FF0000"/>
              </a:solidFill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97840"/>
            <a:ext cx="7772400" cy="79438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 eaLnBrk="1" hangingPunct="1">
              <a:buClrTx/>
              <a:buSzTx/>
              <a:buFontTx/>
            </a:pPr>
            <a:r>
              <a:rPr lang="zh-CN" altLang="zh-CN" sz="4400" smtClean="0">
                <a:latin typeface="Times New Roman" panose="02020603050405020304" pitchFamily="18" charset="0"/>
                <a:ea typeface="楷体" panose="02010609060101010101" charset="-122"/>
              </a:rPr>
              <a:t>风险管理的四个过程</a:t>
            </a:r>
            <a:endParaRPr lang="zh-CN" altLang="zh-CN" sz="44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457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618D6395-5F0B-4A5E-9D16-55C3A439C92D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cxnSp>
        <p:nvCxnSpPr>
          <p:cNvPr id="19465" name="AutoShape 2056"/>
          <p:cNvCxnSpPr>
            <a:cxnSpLocks noChangeShapeType="1"/>
            <a:stCxn id="20485" idx="3"/>
            <a:endCxn id="20486" idx="0"/>
          </p:cNvCxnSpPr>
          <p:nvPr/>
        </p:nvCxnSpPr>
        <p:spPr bwMode="auto">
          <a:xfrm>
            <a:off x="3276600" y="2165985"/>
            <a:ext cx="723900" cy="805815"/>
          </a:xfrm>
          <a:prstGeom prst="bentConnector2">
            <a:avLst/>
          </a:prstGeom>
          <a:noFill/>
          <a:ln w="25400">
            <a:solidFill>
              <a:srgbClr val="0070C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66" name="AutoShape 2057"/>
          <p:cNvCxnSpPr>
            <a:cxnSpLocks noChangeShapeType="1"/>
            <a:endCxn id="20487" idx="0"/>
          </p:cNvCxnSpPr>
          <p:nvPr/>
        </p:nvCxnSpPr>
        <p:spPr bwMode="auto">
          <a:xfrm rot="16200000" flipH="1">
            <a:off x="4857750" y="3219451"/>
            <a:ext cx="914402" cy="723898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rgbClr val="0070C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485" name="Text Box 2052"/>
          <p:cNvSpPr txBox="1">
            <a:spLocks noChangeArrowheads="1"/>
          </p:cNvSpPr>
          <p:nvPr/>
        </p:nvSpPr>
        <p:spPr bwMode="auto">
          <a:xfrm>
            <a:off x="1371600" y="1905001"/>
            <a:ext cx="1905000" cy="52197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风险识别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6" name="Text Box 2053"/>
          <p:cNvSpPr txBox="1">
            <a:spLocks noChangeArrowheads="1"/>
          </p:cNvSpPr>
          <p:nvPr/>
        </p:nvSpPr>
        <p:spPr bwMode="auto">
          <a:xfrm>
            <a:off x="3048000" y="2971801"/>
            <a:ext cx="1905000" cy="52197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风险评估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7" name="Text Box 2054"/>
          <p:cNvSpPr txBox="1">
            <a:spLocks noChangeArrowheads="1"/>
          </p:cNvSpPr>
          <p:nvPr/>
        </p:nvSpPr>
        <p:spPr bwMode="auto">
          <a:xfrm>
            <a:off x="4724400" y="4038601"/>
            <a:ext cx="1905000" cy="52197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风险规划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8" name="Text Box 2055"/>
          <p:cNvSpPr txBox="1">
            <a:spLocks noChangeArrowheads="1"/>
          </p:cNvSpPr>
          <p:nvPr/>
        </p:nvSpPr>
        <p:spPr bwMode="auto">
          <a:xfrm>
            <a:off x="6629400" y="5105401"/>
            <a:ext cx="1905000" cy="52197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风险控制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cxnSp>
        <p:nvCxnSpPr>
          <p:cNvPr id="19467" name="AutoShape 2058"/>
          <p:cNvCxnSpPr>
            <a:cxnSpLocks noChangeShapeType="1"/>
          </p:cNvCxnSpPr>
          <p:nvPr/>
        </p:nvCxnSpPr>
        <p:spPr bwMode="auto">
          <a:xfrm>
            <a:off x="6664325" y="4267201"/>
            <a:ext cx="787400" cy="857251"/>
          </a:xfrm>
          <a:prstGeom prst="bentConnector2">
            <a:avLst/>
          </a:prstGeom>
          <a:noFill/>
          <a:ln w="25400">
            <a:solidFill>
              <a:srgbClr val="0070C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68" name="AutoShape 2059"/>
          <p:cNvCxnSpPr>
            <a:cxnSpLocks noChangeShapeType="1"/>
            <a:stCxn id="20488" idx="2"/>
            <a:endCxn id="20485" idx="1"/>
          </p:cNvCxnSpPr>
          <p:nvPr/>
        </p:nvCxnSpPr>
        <p:spPr bwMode="auto">
          <a:xfrm rot="5400000" flipH="1">
            <a:off x="2746058" y="791528"/>
            <a:ext cx="3461385" cy="6210300"/>
          </a:xfrm>
          <a:prstGeom prst="bentConnector4">
            <a:avLst>
              <a:gd name="adj1" fmla="val -6870"/>
              <a:gd name="adj2" fmla="val 103839"/>
            </a:avLst>
          </a:prstGeom>
          <a:noFill/>
          <a:ln w="25400">
            <a:solidFill>
              <a:srgbClr val="0070C0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3" name="Picture 4" descr="E:\Ygq\Media\STOPHAND.BM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250" y="1972733"/>
            <a:ext cx="5778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40385"/>
            <a:ext cx="7772400" cy="86296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 eaLnBrk="1" hangingPunct="1">
              <a:buClrTx/>
              <a:buSzTx/>
              <a:buFontTx/>
            </a:pPr>
            <a:r>
              <a:rPr lang="zh-CN" altLang="zh-CN" sz="4400" smtClean="0">
                <a:latin typeface="Times New Roman" panose="02020603050405020304" pitchFamily="18" charset="0"/>
                <a:ea typeface="楷体" panose="02010609060101010101" charset="-122"/>
              </a:rPr>
              <a:t>1--风险识别</a:t>
            </a:r>
            <a:endParaRPr lang="zh-CN" altLang="zh-CN" sz="44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560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242E4C5C-36B9-47B5-A839-1DBFEBEEA8BF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25605" name="Rectangle 1027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989455"/>
            <a:ext cx="8153400" cy="211264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风险识别是试图通过系统化地确定对项目计划的威胁，识别已知和可预测的风险。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69595"/>
            <a:ext cx="7772400" cy="83375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 eaLnBrk="1" hangingPunct="1">
              <a:buClrTx/>
              <a:buSzTx/>
              <a:buFontTx/>
            </a:pPr>
            <a:r>
              <a:rPr lang="zh-CN" altLang="zh-CN" sz="4400" smtClean="0">
                <a:latin typeface="Times New Roman" panose="02020603050405020304" pitchFamily="18" charset="0"/>
                <a:ea typeface="楷体" panose="02010609060101010101" charset="-122"/>
              </a:rPr>
              <a:t>风险识别方法</a:t>
            </a:r>
            <a:endParaRPr lang="zh-CN" altLang="zh-CN" sz="44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765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8DC4E047-1CEC-4F4F-BB2A-C58BD579092E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990600" y="1797050"/>
            <a:ext cx="8153400" cy="335915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德尔菲方法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头脑风暴法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情景分析法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利用风险条目检查表</a:t>
            </a:r>
            <a:endParaRPr lang="zh-CN" altLang="en-US" b="1" u="sng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 2" panose="05020102010507070707"/>
              <a:buChar char=""/>
              <a:defRPr/>
            </a:pPr>
            <a:endParaRPr lang="zh-CN" altLang="en-US" b="1" u="sng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 idx="4294967295"/>
          </p:nvPr>
        </p:nvSpPr>
        <p:spPr>
          <a:xfrm>
            <a:off x="0" y="466090"/>
            <a:ext cx="8153400" cy="689610"/>
          </a:xfrm>
        </p:spPr>
        <p:txBody>
          <a:bodyPr anchor="t"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zh-CN" sz="4400" smtClean="0">
                <a:latin typeface="Times New Roman" panose="02020603050405020304" pitchFamily="18" charset="0"/>
                <a:ea typeface="楷体" panose="02010609060101010101" charset="-122"/>
              </a:rPr>
              <a:t>风险条目检查表—实例</a:t>
            </a:r>
            <a:endParaRPr lang="zh-CN" altLang="zh-CN" sz="44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8677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46D7A5A3-EF33-4928-82EF-8B38E0E793F9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4294967295"/>
          </p:nvPr>
        </p:nvSpPr>
        <p:spPr>
          <a:xfrm>
            <a:off x="0" y="1701800"/>
            <a:ext cx="7772400" cy="468185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 marL="514350" indent="-51435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你以前是否曾与这个客户合作过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？</a:t>
            </a:r>
            <a:endParaRPr lang="zh-CN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该客户是否很清楚需要什么；他能否花时间把需求写出来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？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endParaRPr lang="zh-CN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该客户是否同意花时间召开正式的需求收集会议，以确定项目范围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？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endParaRPr lang="zh-CN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该客户是否愿意参加复审工作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？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endParaRPr lang="zh-CN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待开发的软件是否需要使用新的或未经证实的硬件接口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？</a:t>
            </a:r>
            <a:endParaRPr lang="zh-CN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是否有足够的人员可用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？</a:t>
            </a:r>
            <a:endParaRPr lang="zh-CN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/>
              <a:buChar char=""/>
              <a:defRPr/>
            </a:pPr>
            <a:endParaRPr lang="zh-CN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4025"/>
            <a:ext cx="7772400" cy="8540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algn="l" eaLnBrk="1" fontAlgn="auto" hangingPunct="1">
              <a:spcAft>
                <a:spcPts val="0"/>
              </a:spcAft>
              <a:buClrTx/>
              <a:buSzTx/>
              <a:buFontTx/>
              <a:defRPr/>
            </a:pPr>
            <a:r>
              <a:rPr lang="zh-CN" altLang="zh-CN" sz="4400" smtClean="0">
                <a:latin typeface="Times New Roman" panose="02020603050405020304" pitchFamily="18" charset="0"/>
                <a:ea typeface="楷体" panose="02010609060101010101" charset="-122"/>
              </a:rPr>
              <a:t>利用风险条目检查表</a:t>
            </a:r>
            <a:endParaRPr lang="zh-CN" altLang="zh-CN" sz="44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969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6A0AEE39-1624-4FE7-B8B6-23AB4FEB6BB6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450563" name="Rectangle 2051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701800"/>
            <a:ext cx="8153400" cy="4495800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利用检查表作为风险识别的工具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根据列表中的条目</a:t>
            </a: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识别风险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集中识别常见的类型中的已知和可预测的风险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Monotype Sorts" charset="0"/>
              <a:buNone/>
              <a:defRPr/>
            </a:pPr>
            <a:endParaRPr lang="en-US" altLang="zh-CN" b="1" u="sng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Monotype Sorts" charset="0"/>
              <a:buNone/>
              <a:defRPr/>
            </a:pP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有研究表明：</a:t>
            </a:r>
            <a:r>
              <a:rPr lang="en-US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IT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项目常常存在一些共同的风险源</a:t>
            </a:r>
            <a:endParaRPr lang="zh-CN" altLang="en-US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3" grpId="0" autoUpdateAnimBg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13715"/>
            <a:ext cx="7772400" cy="79438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风险识别的结果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4579" name="页脚占位符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kumimoji="1" lang="en-US" altLang="zh-CN" sz="14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endParaRPr kumimoji="1" lang="en-US" altLang="zh-CN" sz="1400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072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B3804FF9-85BB-4C05-AEBA-8E70A7063216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pic>
        <p:nvPicPr>
          <p:cNvPr id="24581" name="Picture 3" descr="jll0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8452"/>
            <a:ext cx="9144000" cy="5350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68325"/>
            <a:ext cx="7772400" cy="7397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 eaLnBrk="1" hangingPunct="1">
              <a:buClrTx/>
              <a:buSzTx/>
              <a:buFontTx/>
            </a:pPr>
            <a:r>
              <a:rPr lang="zh-CN" altLang="zh-CN" sz="4400" smtClean="0">
                <a:latin typeface="Times New Roman" panose="02020603050405020304" pitchFamily="18" charset="0"/>
                <a:ea typeface="楷体" panose="02010609060101010101" charset="-122"/>
              </a:rPr>
              <a:t>风险管理的四个过程</a:t>
            </a:r>
            <a:endParaRPr lang="zh-CN" altLang="zh-CN" sz="44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457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A49B87A1-F0EB-4223-AA61-8F21A196C201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20485" name="Text Box 2052"/>
          <p:cNvSpPr txBox="1">
            <a:spLocks noChangeArrowheads="1"/>
          </p:cNvSpPr>
          <p:nvPr/>
        </p:nvSpPr>
        <p:spPr bwMode="auto">
          <a:xfrm>
            <a:off x="1371600" y="1905001"/>
            <a:ext cx="1905000" cy="5219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风险识别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6" name="Text Box 2053"/>
          <p:cNvSpPr txBox="1">
            <a:spLocks noChangeArrowheads="1"/>
          </p:cNvSpPr>
          <p:nvPr/>
        </p:nvSpPr>
        <p:spPr bwMode="auto">
          <a:xfrm>
            <a:off x="3048000" y="2971801"/>
            <a:ext cx="1905000" cy="5219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风险评估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7" name="Text Box 2054"/>
          <p:cNvSpPr txBox="1">
            <a:spLocks noChangeArrowheads="1"/>
          </p:cNvSpPr>
          <p:nvPr/>
        </p:nvSpPr>
        <p:spPr bwMode="auto">
          <a:xfrm>
            <a:off x="4724400" y="4038601"/>
            <a:ext cx="1905000" cy="5219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风险规划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8" name="Text Box 2055"/>
          <p:cNvSpPr txBox="1">
            <a:spLocks noChangeArrowheads="1"/>
          </p:cNvSpPr>
          <p:nvPr/>
        </p:nvSpPr>
        <p:spPr bwMode="auto">
          <a:xfrm>
            <a:off x="6629400" y="5105401"/>
            <a:ext cx="1905000" cy="5219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风险控制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cxnSp>
        <p:nvCxnSpPr>
          <p:cNvPr id="25609" name="AutoShape 2056"/>
          <p:cNvCxnSpPr>
            <a:cxnSpLocks noChangeShapeType="1"/>
            <a:stCxn id="20485" idx="3"/>
            <a:endCxn id="20486" idx="0"/>
          </p:cNvCxnSpPr>
          <p:nvPr/>
        </p:nvCxnSpPr>
        <p:spPr bwMode="auto">
          <a:xfrm>
            <a:off x="3276600" y="2165985"/>
            <a:ext cx="723900" cy="805815"/>
          </a:xfrm>
          <a:prstGeom prst="bentConnector2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0" name="AutoShape 2057"/>
          <p:cNvCxnSpPr>
            <a:cxnSpLocks noChangeShapeType="1"/>
            <a:endCxn id="20487" idx="0"/>
          </p:cNvCxnSpPr>
          <p:nvPr/>
        </p:nvCxnSpPr>
        <p:spPr bwMode="auto">
          <a:xfrm rot="16200000" flipH="1">
            <a:off x="4857750" y="3219451"/>
            <a:ext cx="914402" cy="723898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1" name="AutoShape 2058"/>
          <p:cNvCxnSpPr>
            <a:cxnSpLocks noChangeShapeType="1"/>
          </p:cNvCxnSpPr>
          <p:nvPr/>
        </p:nvCxnSpPr>
        <p:spPr bwMode="auto">
          <a:xfrm>
            <a:off x="6664325" y="4267201"/>
            <a:ext cx="787400" cy="857251"/>
          </a:xfrm>
          <a:prstGeom prst="bentConnector2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12" name="AutoShape 2059"/>
          <p:cNvCxnSpPr>
            <a:cxnSpLocks noChangeShapeType="1"/>
            <a:stCxn id="20488" idx="2"/>
            <a:endCxn id="20485" idx="1"/>
          </p:cNvCxnSpPr>
          <p:nvPr/>
        </p:nvCxnSpPr>
        <p:spPr bwMode="auto">
          <a:xfrm rot="5400000" flipH="1">
            <a:off x="2746058" y="791528"/>
            <a:ext cx="3461385" cy="6210300"/>
          </a:xfrm>
          <a:prstGeom prst="bentConnector4">
            <a:avLst>
              <a:gd name="adj1" fmla="val -6870"/>
              <a:gd name="adj2" fmla="val 103839"/>
            </a:avLst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3" name="Picture 4" descr="E:\Ygq\Media\STOPHAND.BM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0" y="3136900"/>
            <a:ext cx="5778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69595"/>
            <a:ext cx="7772400" cy="83375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algn="ctr">
              <a:buClrTx/>
              <a:buSzTx/>
              <a:buFontTx/>
            </a:pPr>
            <a:r>
              <a:rPr lang="zh-CN" altLang="zh-CN" sz="4400" smtClean="0">
                <a:latin typeface="Times New Roman" panose="02020603050405020304" pitchFamily="18" charset="0"/>
                <a:ea typeface="楷体" panose="02010609060101010101" charset="-122"/>
              </a:rPr>
              <a:t>2--风险评估</a:t>
            </a:r>
            <a:endParaRPr lang="zh-CN" altLang="zh-CN" sz="44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277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C2AD2DA8-E85C-4FC7-8765-37B755BE0EE2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26629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892300"/>
            <a:ext cx="8153400" cy="259270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对风险事件发生概率的评估，对项目风险影响的评估，给出项目风险排序。</a:t>
            </a:r>
            <a:endParaRPr lang="zh-CN" altLang="en-US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 idx="4294967295"/>
          </p:nvPr>
        </p:nvSpPr>
        <p:spPr>
          <a:xfrm>
            <a:off x="0" y="495935"/>
            <a:ext cx="8153400" cy="659765"/>
          </a:xfrm>
        </p:spPr>
        <p:txBody>
          <a:bodyPr/>
          <a:lstStyle/>
          <a:p>
            <a:r>
              <a:rPr lang="zh-CN" altLang="zh-CN" smtClean="0">
                <a:latin typeface="Times New Roman" panose="02020603050405020304" pitchFamily="18" charset="0"/>
                <a:ea typeface="楷体" panose="02010609060101010101" charset="-122"/>
              </a:rPr>
              <a:t>风险评估</a:t>
            </a:r>
            <a:endParaRPr lang="zh-CN" altLang="zh-CN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fld id="{EA5B67E8-8112-4F45-BE9B-E5752594E45A}" type="slidenum">
              <a:rPr lang="en-US" altLang="zh-CN" smtClean="0"/>
            </a:fld>
            <a:endParaRPr lang="en-US" altLang="zh-CN"/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gray">
          <a:xfrm>
            <a:off x="2085975" y="1725084"/>
            <a:ext cx="6542088" cy="1896533"/>
          </a:xfrm>
          <a:prstGeom prst="roundRect">
            <a:avLst>
              <a:gd name="adj" fmla="val 12727"/>
            </a:avLst>
          </a:prstGeom>
          <a:solidFill>
            <a:srgbClr val="CFD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zh-CN" sz="480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white">
          <a:xfrm>
            <a:off x="2697163" y="1877489"/>
            <a:ext cx="589915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640080" lvl="1" indent="-274320" algn="l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风险发生的</a:t>
            </a:r>
            <a:r>
              <a:rPr lang="zh-CN" altLang="en-US" sz="24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概率（</a:t>
            </a:r>
            <a:r>
              <a:rPr lang="en-US" altLang="zh-CN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P</a:t>
            </a:r>
            <a:r>
              <a:rPr lang="zh-CN" altLang="en-US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endParaRPr lang="zh-CN" altLang="en-US" sz="2400" dirty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algn="l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风险对项目的</a:t>
            </a:r>
            <a:r>
              <a:rPr lang="zh-CN" altLang="en-US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影响（</a:t>
            </a:r>
            <a:r>
              <a:rPr lang="en-US" altLang="zh-CN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I</a:t>
            </a:r>
            <a:r>
              <a:rPr lang="zh-CN" altLang="en-US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）</a:t>
            </a:r>
            <a:endParaRPr lang="zh-CN" altLang="en-US" sz="2400" dirty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algn="l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风险值，</a:t>
            </a:r>
            <a:r>
              <a:rPr lang="en-US" altLang="zh-CN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R=F(P,I)</a:t>
            </a:r>
            <a:endParaRPr lang="en-US" altLang="zh-CN" sz="2400" dirty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grpSp>
        <p:nvGrpSpPr>
          <p:cNvPr id="8" name="Group 5"/>
          <p:cNvGrpSpPr/>
          <p:nvPr/>
        </p:nvGrpSpPr>
        <p:grpSpPr bwMode="auto">
          <a:xfrm>
            <a:off x="1176338" y="1725084"/>
            <a:ext cx="1681162" cy="1794933"/>
            <a:chOff x="802" y="845"/>
            <a:chExt cx="827" cy="826"/>
          </a:xfrm>
        </p:grpSpPr>
        <p:sp>
          <p:nvSpPr>
            <p:cNvPr id="27664" name="Oval 6"/>
            <p:cNvSpPr>
              <a:spLocks noChangeArrowheads="1"/>
            </p:cNvSpPr>
            <p:nvPr/>
          </p:nvSpPr>
          <p:spPr bwMode="gray">
            <a:xfrm>
              <a:off x="802" y="845"/>
              <a:ext cx="827" cy="826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chemeClr val="accent1"/>
              </a:solidFill>
              <a:round/>
            </a:ln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65" name="Oval 7"/>
            <p:cNvSpPr>
              <a:spLocks noChangeArrowheads="1"/>
            </p:cNvSpPr>
            <p:nvPr/>
          </p:nvSpPr>
          <p:spPr bwMode="gray">
            <a:xfrm>
              <a:off x="836" y="879"/>
              <a:ext cx="758" cy="758"/>
            </a:xfrm>
            <a:prstGeom prst="ellipse">
              <a:avLst/>
            </a:prstGeom>
            <a:noFill/>
            <a:ln w="38100">
              <a:solidFill>
                <a:schemeClr val="accent1">
                  <a:alpha val="70195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66" name="Oval 8"/>
            <p:cNvSpPr>
              <a:spLocks noChangeArrowheads="1"/>
            </p:cNvSpPr>
            <p:nvPr/>
          </p:nvSpPr>
          <p:spPr bwMode="gray">
            <a:xfrm>
              <a:off x="870" y="915"/>
              <a:ext cx="690" cy="690"/>
            </a:xfrm>
            <a:prstGeom prst="ellipse">
              <a:avLst/>
            </a:prstGeom>
            <a:noFill/>
            <a:ln w="38100">
              <a:solidFill>
                <a:schemeClr val="accent1">
                  <a:alpha val="30196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Text Box 9"/>
          <p:cNvSpPr txBox="1">
            <a:spLocks noChangeArrowheads="1"/>
          </p:cNvSpPr>
          <p:nvPr/>
        </p:nvSpPr>
        <p:spPr bwMode="gray">
          <a:xfrm>
            <a:off x="1198572" y="2415119"/>
            <a:ext cx="1603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ctr"/>
            <a:r>
              <a:rPr lang="zh-CN" altLang="en-US" sz="1800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分析</a:t>
            </a:r>
            <a:endParaRPr lang="zh-CN" altLang="en-US" sz="1800" b="1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3" name="AutoShape 17"/>
          <p:cNvSpPr>
            <a:spLocks noChangeArrowheads="1"/>
          </p:cNvSpPr>
          <p:nvPr/>
        </p:nvSpPr>
        <p:spPr bwMode="gray">
          <a:xfrm>
            <a:off x="2085975" y="3909490"/>
            <a:ext cx="6542088" cy="1974849"/>
          </a:xfrm>
          <a:prstGeom prst="roundRect">
            <a:avLst>
              <a:gd name="adj" fmla="val 12727"/>
            </a:avLst>
          </a:prstGeom>
          <a:solidFill>
            <a:srgbClr val="EBE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zh-CN" sz="480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Group 19"/>
          <p:cNvGrpSpPr/>
          <p:nvPr/>
        </p:nvGrpSpPr>
        <p:grpSpPr bwMode="auto">
          <a:xfrm>
            <a:off x="1176338" y="3858684"/>
            <a:ext cx="1681162" cy="1794933"/>
            <a:chOff x="802" y="845"/>
            <a:chExt cx="827" cy="826"/>
          </a:xfrm>
        </p:grpSpPr>
        <p:sp>
          <p:nvSpPr>
            <p:cNvPr id="27661" name="Oval 20"/>
            <p:cNvSpPr>
              <a:spLocks noChangeArrowheads="1"/>
            </p:cNvSpPr>
            <p:nvPr/>
          </p:nvSpPr>
          <p:spPr bwMode="gray">
            <a:xfrm>
              <a:off x="802" y="845"/>
              <a:ext cx="827" cy="826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chemeClr val="hlink"/>
              </a:solidFill>
              <a:round/>
            </a:ln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62" name="Oval 21"/>
            <p:cNvSpPr>
              <a:spLocks noChangeArrowheads="1"/>
            </p:cNvSpPr>
            <p:nvPr/>
          </p:nvSpPr>
          <p:spPr bwMode="gray">
            <a:xfrm>
              <a:off x="836" y="879"/>
              <a:ext cx="758" cy="758"/>
            </a:xfrm>
            <a:prstGeom prst="ellipse">
              <a:avLst/>
            </a:prstGeom>
            <a:noFill/>
            <a:ln w="38100">
              <a:solidFill>
                <a:schemeClr val="hlink">
                  <a:alpha val="70195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63" name="Oval 22"/>
            <p:cNvSpPr>
              <a:spLocks noChangeArrowheads="1"/>
            </p:cNvSpPr>
            <p:nvPr/>
          </p:nvSpPr>
          <p:spPr bwMode="gray">
            <a:xfrm>
              <a:off x="870" y="915"/>
              <a:ext cx="690" cy="690"/>
            </a:xfrm>
            <a:prstGeom prst="ellipse">
              <a:avLst/>
            </a:prstGeom>
            <a:noFill/>
            <a:ln w="38100">
              <a:solidFill>
                <a:schemeClr val="hlink">
                  <a:alpha val="30196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Text Box 23"/>
          <p:cNvSpPr txBox="1">
            <a:spLocks noChangeArrowheads="1"/>
          </p:cNvSpPr>
          <p:nvPr/>
        </p:nvSpPr>
        <p:spPr bwMode="gray">
          <a:xfrm>
            <a:off x="1176338" y="4516967"/>
            <a:ext cx="1625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ctr"/>
            <a:r>
              <a:rPr lang="zh-CN" altLang="en-US" sz="1800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确定优先次序</a:t>
            </a:r>
            <a:endParaRPr lang="zh-CN" altLang="en-US" sz="1800" b="1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white">
          <a:xfrm>
            <a:off x="2708275" y="4343406"/>
            <a:ext cx="58420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indent="4572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640080" lvl="1" indent="-274320" algn="l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按风险值排序</a:t>
            </a:r>
            <a:endParaRPr lang="zh-CN" altLang="en-US" sz="2400" dirty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algn="l" eaLnBrk="1" fontAlgn="auto" hangingPunct="1"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确定最需要关注的</a:t>
            </a:r>
            <a:r>
              <a:rPr lang="en-US" altLang="zh-CN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TOP </a:t>
            </a:r>
            <a:r>
              <a:rPr lang="zh-CN" altLang="en-US" sz="2400" dirty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</a:t>
            </a:r>
            <a:endParaRPr lang="zh-CN" altLang="en-US" sz="2400" dirty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7" grpId="0"/>
      <p:bldP spid="6" grpId="0" animBg="1"/>
      <p:bldP spid="7" grpId="1"/>
      <p:bldP spid="6" grpId="1" animBg="1"/>
      <p:bldP spid="18" grpId="0"/>
      <p:bldP spid="18" grpId="1"/>
      <p:bldP spid="19" grpId="0"/>
      <p:bldP spid="13" grpId="0" animBg="1"/>
      <p:bldP spid="19" grpId="1"/>
      <p:bldP spid="1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76580"/>
            <a:ext cx="8153400" cy="67437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charset="-122"/>
              </a:rPr>
              <a:t>试验一</a:t>
            </a:r>
            <a:endParaRPr lang="zh-CN" altLang="en-US" dirty="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481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94022C8E-68E9-41FF-8301-0A69D0F8D982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568323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892300"/>
            <a:ext cx="8153400" cy="316865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anose="05000000000000000000"/>
              <a:buNone/>
              <a:defRPr/>
            </a:pPr>
            <a:r>
              <a:rPr lang="en-US" altLang="zh-CN" sz="3200" dirty="0" smtClean="0">
                <a:latin typeface="Times New Roman" panose="02020603050405020304" pitchFamily="18" charset="0"/>
                <a:ea typeface="楷体" panose="02010609060101010101" charset="-122"/>
              </a:rPr>
              <a:t>A: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直接获得</a:t>
            </a: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100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美元</a:t>
            </a:r>
            <a:endParaRPr lang="zh-CN" altLang="en-US" sz="32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 eaLnBrk="1" fontAlgn="auto" hangingPunct="1">
              <a:spcAft>
                <a:spcPts val="0"/>
              </a:spcAft>
              <a:buFont typeface="Wingdings" panose="05000000000000000000"/>
              <a:buNone/>
              <a:defRPr/>
            </a:pPr>
            <a:endParaRPr lang="en-US" altLang="zh-CN" sz="32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 eaLnBrk="1" fontAlgn="auto" hangingPunct="1">
              <a:spcAft>
                <a:spcPts val="0"/>
              </a:spcAft>
              <a:buFont typeface="Wingdings" panose="05000000000000000000"/>
              <a:buNone/>
              <a:defRPr/>
            </a:pP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B: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投掷一次硬币</a:t>
            </a: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,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如果是正面</a:t>
            </a: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,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你会获得</a:t>
            </a: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250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美元</a:t>
            </a: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,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如果背面</a:t>
            </a: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,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你必须支付</a:t>
            </a: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50</a:t>
            </a: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美元</a:t>
            </a:r>
            <a:endParaRPr lang="zh-CN" altLang="en-US" sz="32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3" grpId="0" animBg="1" build="p"/>
      <p:bldP spid="568323" grpId="1" animBg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01015"/>
            <a:ext cx="7772400" cy="80708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风险评估的方法</a:t>
            </a:r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定性风险评估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6867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314CD656-6789-461A-916C-3828FC82F35D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6869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990600" y="1989455"/>
            <a:ext cx="8153400" cy="153479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定性评估风险概率及后果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Monotype Sorts" charset="0"/>
              <a:buNone/>
              <a:defRPr/>
            </a:pP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6575"/>
            <a:ext cx="7772400" cy="8667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风险概率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789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F17C76F3-67CE-4240-BC49-8C5BE0A2F012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532483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2660650"/>
            <a:ext cx="8153400" cy="278574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640080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高、中、低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极高、高、中、低、极低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不可能，不一定，可能和极可能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等等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95288" y="1604433"/>
            <a:ext cx="8153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286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743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2004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657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ctr">
              <a:spcBef>
                <a:spcPts val="700"/>
              </a:spcBef>
              <a:buClr>
                <a:srgbClr val="DD8047"/>
              </a:buClr>
              <a:buSzPct val="60000"/>
              <a:buFont typeface="Wingdings" panose="05000000000000000000" pitchFamily="2" charset="2"/>
              <a:buNone/>
            </a:pPr>
            <a:r>
              <a:rPr kumimoji="0" lang="zh-CN" altLang="en-US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风险概率度量：</a:t>
            </a:r>
            <a:endParaRPr kumimoji="0" lang="zh-CN" altLang="en-US" b="1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32483" grpId="0" animBg="1" build="p"/>
      <p:bldP spid="532483" grpId="1" animBg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39115"/>
            <a:ext cx="7772400" cy="76898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风险影响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891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E0326182-7307-4E02-9E5A-2AC8BE3352E7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53350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2660650"/>
            <a:ext cx="7704455" cy="278574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640080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高、中、低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极高、高、中、低、极低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灾难，严重，轻微，可忽略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等等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8313" y="1604440"/>
            <a:ext cx="6407150" cy="1056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286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743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2004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657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ctr">
              <a:spcBef>
                <a:spcPts val="700"/>
              </a:spcBef>
              <a:buClr>
                <a:srgbClr val="DD8047"/>
              </a:buClr>
              <a:buSzPct val="60000"/>
              <a:buFont typeface="Wingdings" panose="05000000000000000000" pitchFamily="2" charset="2"/>
              <a:buNone/>
            </a:pPr>
            <a:r>
              <a:rPr kumimoji="0" lang="zh-CN" altLang="en-US" sz="36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风险影响度量</a:t>
            </a:r>
            <a:endParaRPr kumimoji="0" lang="zh-CN" altLang="en-US" sz="3600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533507" grpId="0" animBg="1" build="p"/>
      <p:bldP spid="533507" grpId="1" animBg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44830"/>
            <a:ext cx="7772400" cy="76327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风险概率及后果估计</a:t>
            </a:r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矩阵图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993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071252D1-8D14-4D70-B45D-560CD83CD410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3824" name="Line 47"/>
          <p:cNvSpPr>
            <a:spLocks noChangeShapeType="1"/>
          </p:cNvSpPr>
          <p:nvPr/>
        </p:nvSpPr>
        <p:spPr bwMode="auto">
          <a:xfrm>
            <a:off x="1524000" y="1437217"/>
            <a:ext cx="91440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33825" name="Line 48"/>
          <p:cNvSpPr>
            <a:spLocks noChangeShapeType="1"/>
          </p:cNvSpPr>
          <p:nvPr/>
        </p:nvSpPr>
        <p:spPr bwMode="auto">
          <a:xfrm>
            <a:off x="1524000" y="1445684"/>
            <a:ext cx="1447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285755" name="Group 59"/>
          <p:cNvGraphicFramePr>
            <a:graphicFrameLocks noGrp="1"/>
          </p:cNvGraphicFramePr>
          <p:nvPr/>
        </p:nvGraphicFramePr>
        <p:xfrm>
          <a:off x="1498600" y="1411821"/>
          <a:ext cx="6096000" cy="44577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10759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                   P</a:t>
                      </a:r>
                      <a:endParaRPr kumimoji="1" lang="en-US" altLang="zh-CN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           R</a:t>
                      </a:r>
                      <a:endParaRPr kumimoji="1" lang="en-US" altLang="zh-CN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1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I</a:t>
                      </a:r>
                      <a:endParaRPr kumimoji="1" lang="en-US" altLang="zh-CN" sz="1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Low</a:t>
                      </a:r>
                      <a:endParaRPr kumimoji="1" lang="en-US" altLang="zh-CN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Medium</a:t>
                      </a:r>
                      <a:endParaRPr kumimoji="1" lang="en-US" altLang="zh-CN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High</a:t>
                      </a:r>
                      <a:endParaRPr kumimoji="1" lang="en-US" altLang="zh-CN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87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High</a:t>
                      </a:r>
                      <a:endParaRPr kumimoji="1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L</a:t>
                      </a:r>
                      <a:endParaRPr kumimoji="1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H</a:t>
                      </a:r>
                      <a:endParaRPr kumimoji="1" lang="en-US" altLang="zh-CN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H</a:t>
                      </a:r>
                      <a:endParaRPr kumimoji="1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endParaRPr kumimoji="1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161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Medium</a:t>
                      </a:r>
                      <a:endParaRPr kumimoji="1" lang="en-US" altLang="zh-CN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L</a:t>
                      </a:r>
                      <a:endParaRPr kumimoji="1" lang="en-US" altLang="zh-CN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H</a:t>
                      </a:r>
                      <a:endParaRPr kumimoji="1" lang="en-US" altLang="zh-CN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H</a:t>
                      </a:r>
                      <a:endParaRPr kumimoji="1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1618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Low</a:t>
                      </a:r>
                      <a:endParaRPr kumimoji="1" lang="en-US" altLang="zh-CN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L</a:t>
                      </a:r>
                      <a:endParaRPr kumimoji="1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M</a:t>
                      </a:r>
                      <a:endParaRPr kumimoji="1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55000"/>
                        <a:buFont typeface="Monotype Sorts" charset="0"/>
                        <a:buNone/>
                      </a:pPr>
                      <a:r>
                        <a:rPr kumimoji="1" lang="en-US" altLang="zh-CN" sz="3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charset="-122"/>
                        </a:rPr>
                        <a:t>M</a:t>
                      </a:r>
                      <a:endParaRPr kumimoji="1" lang="en-US" altLang="zh-CN" sz="3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charset="-122"/>
                      </a:endParaRPr>
                    </a:p>
                  </a:txBody>
                  <a:tcPr marT="45728" marB="45728" horzOverflow="overflow">
                    <a:lnL w="12700">
                      <a:solidFill>
                        <a:schemeClr val="bg2"/>
                      </a:solidFill>
                      <a:prstDash val="solid"/>
                    </a:lnL>
                    <a:lnR w="12700">
                      <a:solidFill>
                        <a:schemeClr val="bg2"/>
                      </a:solidFill>
                      <a:prstDash val="solid"/>
                    </a:lnR>
                    <a:lnT w="12700">
                      <a:solidFill>
                        <a:schemeClr val="bg2"/>
                      </a:solidFill>
                      <a:prstDash val="solid"/>
                    </a:lnT>
                    <a:lnB w="12700">
                      <a:solidFill>
                        <a:schemeClr val="bg2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85748" name="AutoShape 52"/>
          <p:cNvSpPr>
            <a:spLocks noChangeArrowheads="1"/>
          </p:cNvSpPr>
          <p:nvPr/>
        </p:nvSpPr>
        <p:spPr bwMode="auto">
          <a:xfrm>
            <a:off x="3886200" y="1894417"/>
            <a:ext cx="3581400" cy="4114800"/>
          </a:xfrm>
          <a:prstGeom prst="wedgeEllipseCallout">
            <a:avLst>
              <a:gd name="adj1" fmla="val -40426"/>
              <a:gd name="adj2" fmla="val 51259"/>
            </a:avLst>
          </a:prstGeom>
          <a:noFill/>
          <a:ln w="25400">
            <a:solidFill>
              <a:srgbClr val="FF0000"/>
            </a:solidFill>
            <a:prstDash val="dashDot"/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zh-CN" altLang="zh-CN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48" grpId="0" animBg="1"/>
      <p:bldP spid="285748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9105"/>
            <a:ext cx="7772400" cy="8509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风险评估的方法</a:t>
            </a:r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定量风险评估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096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07787EBC-0F43-4F69-9029-896C3369023E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409603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890395"/>
            <a:ext cx="4464050" cy="280860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533400" indent="-53340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盈亏平衡分析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33400" indent="-53340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模拟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33400" indent="-53340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决策树分析</a:t>
            </a:r>
            <a:endParaRPr lang="zh-CN" altLang="en-US" u="sng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 eaLnBrk="1" fontAlgn="auto" hangingPunct="1">
              <a:spcAft>
                <a:spcPts val="0"/>
              </a:spcAft>
              <a:buFont typeface="Monotype Sorts" charset="0"/>
              <a:buNone/>
              <a:defRPr/>
            </a:pPr>
            <a:endParaRPr lang="zh-CN" altLang="en-US" u="sng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pic>
        <p:nvPicPr>
          <p:cNvPr id="409604" name="Picture 4" descr="盈亏平衡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1892300"/>
            <a:ext cx="3333750" cy="2277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3" grpId="0" animBg="1" build="p"/>
      <p:bldP spid="409603" grpId="1" animBg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85140"/>
            <a:ext cx="7772400" cy="91821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决策树分析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1987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985CD6E4-ADFD-4510-9438-7E305C253E43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43110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797050"/>
            <a:ext cx="8153400" cy="335915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决策树分析是一种图表分析方法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提供项目所有可供选择的行动方案，行动方案之间的关系，行动方案的后果以及发生的概率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提供选择一个最佳的方案的依据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7" grpId="0" autoUpdateAnimBg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12140"/>
            <a:ext cx="8893810" cy="721360"/>
          </a:xfrm>
        </p:spPr>
        <p:txBody>
          <a:bodyPr anchor="t"/>
          <a:lstStyle/>
          <a:p>
            <a:pPr eaLnBrk="1" hangingPunct="1"/>
            <a:r>
              <a:rPr lang="zh-CN" altLang="en-US" sz="3600" smtClean="0">
                <a:latin typeface="Times New Roman" panose="02020603050405020304" pitchFamily="18" charset="0"/>
                <a:ea typeface="楷体" panose="02010609060101010101" charset="-122"/>
              </a:rPr>
              <a:t>决策树分析与</a:t>
            </a:r>
            <a:r>
              <a:rPr lang="en-US" altLang="zh-CN" sz="3600" smtClean="0">
                <a:latin typeface="Times New Roman" panose="02020603050405020304" pitchFamily="18" charset="0"/>
                <a:ea typeface="楷体" panose="02010609060101010101" charset="-122"/>
              </a:rPr>
              <a:t>EMV ( Expected Monetary Value)</a:t>
            </a:r>
            <a:endParaRPr lang="en-US" altLang="zh-CN" sz="36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301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F8959FE1-FDC9-406D-A32D-AA0484FA8483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43315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797050"/>
            <a:ext cx="8153400" cy="153670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32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EMV (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损益期望值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)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是决策树的一种计算值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根据结果、发生的概率计算出一种期望的损益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95288" y="3716869"/>
            <a:ext cx="8153400" cy="230505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Clr>
                <a:srgbClr val="DD8047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例如：</a:t>
            </a:r>
            <a:endParaRPr kumimoji="0" lang="zh-CN" altLang="en-US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 eaLnBrk="1" hangingPunct="1">
              <a:buClr>
                <a:srgbClr val="DD8047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    某行动方案成功的概率是</a:t>
            </a:r>
            <a:r>
              <a:rPr kumimoji="0" lang="en-US" altLang="zh-CN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50%</a:t>
            </a:r>
            <a:r>
              <a:rPr kumimoji="0" lang="zh-CN" altLang="en-US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，收益是</a:t>
            </a:r>
            <a:r>
              <a:rPr kumimoji="0" lang="en-US" altLang="zh-CN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10</a:t>
            </a:r>
            <a:endParaRPr kumimoji="0" lang="en-US" altLang="zh-CN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 eaLnBrk="1" hangingPunct="1">
              <a:buClr>
                <a:srgbClr val="DD8047"/>
              </a:buClr>
              <a:buFont typeface="Wingdings" panose="05000000000000000000" pitchFamily="2" charset="2"/>
              <a:buNone/>
              <a:defRPr/>
            </a:pPr>
            <a:r>
              <a:rPr kumimoji="0" lang="en-US" altLang="zh-CN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    EMV=10*50%=5</a:t>
            </a:r>
            <a:endParaRPr kumimoji="0" lang="en-US" altLang="zh-CN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5" grpId="0" animBg="1" build="p"/>
      <p:bldP spid="433155" grpId="1" animBg="1" build="p"/>
      <p:bldP spid="6" grpId="0" animBg="1"/>
      <p:bldP spid="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2915"/>
            <a:ext cx="7772400" cy="84518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决策树分析例子</a:t>
            </a:r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-1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403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DC561FFB-E67B-41CA-BEC2-EF1F903B212C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538627" name="AutoShape 3"/>
          <p:cNvSpPr>
            <a:spLocks noChangeArrowheads="1"/>
          </p:cNvSpPr>
          <p:nvPr/>
        </p:nvSpPr>
        <p:spPr bwMode="auto">
          <a:xfrm>
            <a:off x="1171575" y="5416551"/>
            <a:ext cx="228600" cy="228600"/>
          </a:xfrm>
          <a:prstGeom prst="flowChartConnector">
            <a:avLst/>
          </a:prstGeom>
          <a:ln>
            <a:headEnd type="none" w="sm" len="sm"/>
            <a:tailEnd type="none" w="med" len="lg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prstClr val="black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38628" name="Line 4"/>
          <p:cNvSpPr>
            <a:spLocks noChangeShapeType="1"/>
          </p:cNvSpPr>
          <p:nvPr/>
        </p:nvSpPr>
        <p:spPr bwMode="auto">
          <a:xfrm flipV="1">
            <a:off x="1323975" y="1987551"/>
            <a:ext cx="5715000" cy="3429000"/>
          </a:xfrm>
          <a:prstGeom prst="line">
            <a:avLst/>
          </a:prstGeom>
          <a:ln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38629" name="AutoShape 5"/>
          <p:cNvSpPr>
            <a:spLocks noChangeArrowheads="1"/>
          </p:cNvSpPr>
          <p:nvPr/>
        </p:nvSpPr>
        <p:spPr bwMode="auto">
          <a:xfrm>
            <a:off x="2619375" y="4502151"/>
            <a:ext cx="228600" cy="228600"/>
          </a:xfrm>
          <a:prstGeom prst="flowChartConnector">
            <a:avLst/>
          </a:prstGeom>
          <a:ln>
            <a:headEnd type="none" w="sm" len="sm"/>
            <a:tailEnd type="none" w="med" len="lg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prstClr val="black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38630" name="AutoShape 6"/>
          <p:cNvSpPr>
            <a:spLocks noChangeArrowheads="1"/>
          </p:cNvSpPr>
          <p:nvPr/>
        </p:nvSpPr>
        <p:spPr bwMode="auto">
          <a:xfrm>
            <a:off x="5133975" y="2978151"/>
            <a:ext cx="228600" cy="228600"/>
          </a:xfrm>
          <a:prstGeom prst="flowChartConnector">
            <a:avLst/>
          </a:prstGeom>
          <a:ln>
            <a:headEnd type="none" w="sm" len="sm"/>
            <a:tailEnd type="none" w="med" len="lg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prstClr val="black"/>
          </a:lnRef>
          <a:fillRef idx="2">
            <a:prstClr val="black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38631" name="Line 7"/>
          <p:cNvSpPr>
            <a:spLocks noChangeShapeType="1"/>
          </p:cNvSpPr>
          <p:nvPr/>
        </p:nvSpPr>
        <p:spPr bwMode="auto">
          <a:xfrm>
            <a:off x="1400175" y="5568951"/>
            <a:ext cx="1371600" cy="685800"/>
          </a:xfrm>
          <a:prstGeom prst="line">
            <a:avLst/>
          </a:prstGeom>
          <a:ln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38632" name="Line 8"/>
          <p:cNvSpPr>
            <a:spLocks noChangeShapeType="1"/>
          </p:cNvSpPr>
          <p:nvPr/>
        </p:nvSpPr>
        <p:spPr bwMode="auto">
          <a:xfrm>
            <a:off x="2847975" y="4654551"/>
            <a:ext cx="1676400" cy="609600"/>
          </a:xfrm>
          <a:prstGeom prst="line">
            <a:avLst/>
          </a:prstGeom>
          <a:ln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38633" name="Line 9"/>
          <p:cNvSpPr>
            <a:spLocks noChangeShapeType="1"/>
          </p:cNvSpPr>
          <p:nvPr/>
        </p:nvSpPr>
        <p:spPr bwMode="auto">
          <a:xfrm>
            <a:off x="5362575" y="3130551"/>
            <a:ext cx="2362200" cy="609600"/>
          </a:xfrm>
          <a:prstGeom prst="line">
            <a:avLst/>
          </a:prstGeom>
          <a:ln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38634" name="Text Box 10"/>
          <p:cNvSpPr txBox="1">
            <a:spLocks noChangeArrowheads="1"/>
          </p:cNvSpPr>
          <p:nvPr/>
        </p:nvSpPr>
        <p:spPr bwMode="auto">
          <a:xfrm>
            <a:off x="2771775" y="6026157"/>
            <a:ext cx="1752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EMV=0</a:t>
            </a:r>
            <a:endParaRPr lang="en-US" altLang="zh-CN" sz="24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8635" name="Text Box 11"/>
          <p:cNvSpPr txBox="1">
            <a:spLocks noChangeArrowheads="1"/>
          </p:cNvSpPr>
          <p:nvPr/>
        </p:nvSpPr>
        <p:spPr bwMode="auto">
          <a:xfrm>
            <a:off x="3744913" y="4629151"/>
            <a:ext cx="38862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失败：</a:t>
            </a:r>
            <a:r>
              <a:rPr lang="en-US" altLang="zh-CN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P=30%, </a:t>
            </a:r>
            <a:r>
              <a:rPr lang="en-US" altLang="zh-CN" sz="18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outcome= </a:t>
            </a:r>
            <a:r>
              <a:rPr lang="en-US" altLang="zh-CN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-200,000</a:t>
            </a:r>
            <a:r>
              <a:rPr lang="en-US" altLang="zh-CN" sz="18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endParaRPr lang="en-US" altLang="zh-CN" sz="20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8636" name="Text Box 12"/>
          <p:cNvSpPr txBox="1">
            <a:spLocks noChangeArrowheads="1"/>
          </p:cNvSpPr>
          <p:nvPr/>
        </p:nvSpPr>
        <p:spPr bwMode="auto">
          <a:xfrm>
            <a:off x="2162175" y="2658533"/>
            <a:ext cx="19812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成功：</a:t>
            </a:r>
            <a:r>
              <a:rPr lang="en-US" altLang="zh-CN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P=70%</a:t>
            </a:r>
            <a:endParaRPr lang="en-US" altLang="zh-CN" sz="20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8637" name="Text Box 13"/>
          <p:cNvSpPr txBox="1">
            <a:spLocks noChangeArrowheads="1"/>
          </p:cNvSpPr>
          <p:nvPr/>
        </p:nvSpPr>
        <p:spPr bwMode="auto">
          <a:xfrm>
            <a:off x="4829175" y="1703918"/>
            <a:ext cx="40640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16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高性能：</a:t>
            </a:r>
            <a:r>
              <a:rPr lang="en-US" altLang="zh-CN" sz="16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P=30%, outcome=550,000</a:t>
            </a:r>
            <a:endParaRPr lang="en-US" altLang="zh-CN" sz="16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8638" name="Text Box 14"/>
          <p:cNvSpPr txBox="1">
            <a:spLocks noChangeArrowheads="1"/>
          </p:cNvSpPr>
          <p:nvPr/>
        </p:nvSpPr>
        <p:spPr bwMode="auto">
          <a:xfrm>
            <a:off x="5649922" y="2802467"/>
            <a:ext cx="3494087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16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低性能：</a:t>
            </a:r>
            <a:r>
              <a:rPr lang="en-US" altLang="zh-CN" sz="16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P=70%, outcome=- 100,000</a:t>
            </a:r>
            <a:endParaRPr lang="en-US" altLang="zh-CN" sz="16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8639" name="Text Box 15"/>
          <p:cNvSpPr txBox="1">
            <a:spLocks noChangeArrowheads="1"/>
          </p:cNvSpPr>
          <p:nvPr/>
        </p:nvSpPr>
        <p:spPr bwMode="auto">
          <a:xfrm>
            <a:off x="1933575" y="3420532"/>
            <a:ext cx="34290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EMV=95,000*70%=66500</a:t>
            </a:r>
            <a:endParaRPr lang="en-US" altLang="zh-CN" sz="20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8640" name="Text Box 16"/>
          <p:cNvSpPr txBox="1">
            <a:spLocks noChangeArrowheads="1"/>
          </p:cNvSpPr>
          <p:nvPr/>
        </p:nvSpPr>
        <p:spPr bwMode="auto">
          <a:xfrm>
            <a:off x="1149350" y="4671695"/>
            <a:ext cx="188214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EMV=6,500</a:t>
            </a:r>
            <a:endParaRPr lang="en-US" altLang="zh-CN" sz="24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8641" name="Text Box 17"/>
          <p:cNvSpPr txBox="1">
            <a:spLocks noChangeArrowheads="1"/>
          </p:cNvSpPr>
          <p:nvPr/>
        </p:nvSpPr>
        <p:spPr bwMode="auto">
          <a:xfrm>
            <a:off x="1552575" y="6081184"/>
            <a:ext cx="12192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不实施</a:t>
            </a:r>
            <a:endParaRPr lang="zh-CN" altLang="en-US" sz="20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8642" name="Text Box 18"/>
          <p:cNvSpPr txBox="1">
            <a:spLocks noChangeArrowheads="1"/>
          </p:cNvSpPr>
          <p:nvPr/>
        </p:nvSpPr>
        <p:spPr bwMode="auto">
          <a:xfrm>
            <a:off x="4600575" y="5173133"/>
            <a:ext cx="33528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EMV=-200,000*30%=-60000</a:t>
            </a:r>
            <a:endParaRPr lang="en-US" altLang="zh-CN" sz="20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5688022" y="3348567"/>
            <a:ext cx="3494087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16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EMV=-100,000* 70%=-70000</a:t>
            </a:r>
            <a:endParaRPr lang="en-US" altLang="zh-CN" sz="16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5006975" y="2169586"/>
            <a:ext cx="40640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16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EMV=550,000* 30%=165000</a:t>
            </a:r>
            <a:endParaRPr lang="en-US" altLang="zh-CN" sz="16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195263" y="4762500"/>
            <a:ext cx="1319212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实施后</a:t>
            </a:r>
            <a:r>
              <a:rPr lang="en-US" altLang="zh-CN" sz="20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:</a:t>
            </a:r>
            <a:endParaRPr lang="en-US" altLang="zh-CN" sz="20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863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AC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3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86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AC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0AC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7" grpId="0" bldLvl="0" animBg="1"/>
      <p:bldP spid="538628" grpId="0" bldLvl="0" animBg="1"/>
      <p:bldP spid="538629" grpId="0" bldLvl="0" animBg="1"/>
      <p:bldP spid="538630" grpId="0" bldLvl="0" animBg="1"/>
      <p:bldP spid="538631" grpId="0" bldLvl="0" animBg="1"/>
      <p:bldP spid="538632" grpId="0" bldLvl="0" animBg="1"/>
      <p:bldP spid="538633" grpId="0" bldLvl="0" animBg="1"/>
      <p:bldP spid="538634" grpId="0" bldLvl="0" animBg="1"/>
      <p:bldP spid="538635" grpId="0" bldLvl="0" animBg="1"/>
      <p:bldP spid="538636" grpId="0" bldLvl="0" animBg="1"/>
      <p:bldP spid="538637" grpId="0" bldLvl="0" animBg="1"/>
      <p:bldP spid="538638" grpId="0" bldLvl="0" animBg="1"/>
      <p:bldP spid="538639" grpId="0" bldLvl="0" animBg="1" autoUpdateAnimBg="0"/>
      <p:bldP spid="538640" grpId="0" bldLvl="0" animBg="1" autoUpdateAnimBg="0"/>
      <p:bldP spid="538641" grpId="0" bldLvl="0" animBg="1"/>
      <p:bldP spid="538642" grpId="0" bldLvl="0" animBg="1" autoUpdateAnimBg="0"/>
      <p:bldP spid="22" grpId="0" bldLvl="0" animBg="1"/>
      <p:bldP spid="23" grpId="0" bldLvl="0" animBg="1"/>
      <p:bldP spid="24" grpId="0" bldLvl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02920"/>
            <a:ext cx="9144000" cy="807720"/>
          </a:xfrm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决策树分析例子</a:t>
            </a:r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-2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CA926A9F-71D4-4D0F-A7A5-E08B1AE26477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pic>
        <p:nvPicPr>
          <p:cNvPr id="3891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4303"/>
            <a:ext cx="9144000" cy="4925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15620"/>
            <a:ext cx="8153400" cy="64008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charset="-122"/>
              </a:rPr>
              <a:t>试验一结果</a:t>
            </a:r>
            <a:endParaRPr lang="zh-CN" altLang="en-US" dirty="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608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60B76EF0-98B9-437E-A9A3-2FB98A7C451B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9941" name="Text Box 3"/>
          <p:cNvSpPr txBox="1">
            <a:spLocks noChangeArrowheads="1"/>
          </p:cNvSpPr>
          <p:nvPr/>
        </p:nvSpPr>
        <p:spPr bwMode="auto">
          <a:xfrm>
            <a:off x="395288" y="3232150"/>
            <a:ext cx="143986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/>
            <a:r>
              <a:rPr lang="zh-CN" altLang="en-US" sz="2800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决策</a:t>
            </a:r>
            <a:endParaRPr lang="zh-CN" altLang="en-US" sz="2800" b="1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9942" name="Line 4"/>
          <p:cNvSpPr>
            <a:spLocks noChangeShapeType="1"/>
          </p:cNvSpPr>
          <p:nvPr/>
        </p:nvSpPr>
        <p:spPr bwMode="auto">
          <a:xfrm flipV="1">
            <a:off x="1619250" y="2493436"/>
            <a:ext cx="2089150" cy="1007533"/>
          </a:xfrm>
          <a:prstGeom prst="line">
            <a:avLst/>
          </a:prstGeom>
          <a:ln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39943" name="Line 5"/>
          <p:cNvSpPr>
            <a:spLocks noChangeShapeType="1"/>
          </p:cNvSpPr>
          <p:nvPr/>
        </p:nvSpPr>
        <p:spPr bwMode="auto">
          <a:xfrm>
            <a:off x="1619250" y="3500973"/>
            <a:ext cx="2160588" cy="1223433"/>
          </a:xfrm>
          <a:prstGeom prst="line">
            <a:avLst/>
          </a:prstGeom>
          <a:ln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39944" name="Text Box 6"/>
          <p:cNvSpPr txBox="1">
            <a:spLocks noChangeArrowheads="1"/>
          </p:cNvSpPr>
          <p:nvPr/>
        </p:nvSpPr>
        <p:spPr bwMode="auto">
          <a:xfrm>
            <a:off x="1584325" y="2453224"/>
            <a:ext cx="2159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 A:  $100</a:t>
            </a:r>
            <a:endParaRPr lang="en-US" altLang="zh-CN" sz="24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9945" name="AutoShape 7"/>
          <p:cNvSpPr>
            <a:spLocks noChangeArrowheads="1"/>
          </p:cNvSpPr>
          <p:nvPr/>
        </p:nvSpPr>
        <p:spPr bwMode="auto">
          <a:xfrm>
            <a:off x="1574800" y="3306233"/>
            <a:ext cx="287338" cy="287867"/>
          </a:xfrm>
          <a:prstGeom prst="flowChartConnector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39946" name="AutoShape 8"/>
          <p:cNvSpPr>
            <a:spLocks noChangeArrowheads="1"/>
          </p:cNvSpPr>
          <p:nvPr/>
        </p:nvSpPr>
        <p:spPr bwMode="auto">
          <a:xfrm>
            <a:off x="3708400" y="4508501"/>
            <a:ext cx="287338" cy="287867"/>
          </a:xfrm>
          <a:prstGeom prst="flowChartConnector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 type="none" w="sm" len="sm"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39947" name="Text Box 9"/>
          <p:cNvSpPr txBox="1">
            <a:spLocks noChangeArrowheads="1"/>
          </p:cNvSpPr>
          <p:nvPr/>
        </p:nvSpPr>
        <p:spPr bwMode="auto">
          <a:xfrm>
            <a:off x="1709738" y="3860806"/>
            <a:ext cx="14398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B:</a:t>
            </a:r>
            <a:endParaRPr lang="en-US" altLang="zh-CN" sz="24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75498" name="Line 10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3995747" y="4076703"/>
            <a:ext cx="1944687" cy="505884"/>
          </a:xfrm>
          <a:prstGeom prst="line">
            <a:avLst/>
          </a:prstGeom>
          <a:ln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75499" name="Line 11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3995747" y="4724400"/>
            <a:ext cx="1944687" cy="575733"/>
          </a:xfrm>
          <a:prstGeom prst="line">
            <a:avLst/>
          </a:prstGeom>
          <a:ln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  <p:sp>
        <p:nvSpPr>
          <p:cNvPr id="575500" name="Text Box 1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284663" y="3716867"/>
            <a:ext cx="2951162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P=50%, outcome=&amp;250</a:t>
            </a:r>
            <a:endParaRPr lang="en-US" altLang="zh-CN" sz="24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75501" name="Text Box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32580" y="4868545"/>
            <a:ext cx="31038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P=50%, outcome=-&amp;50</a:t>
            </a:r>
            <a:endParaRPr lang="en-US" altLang="zh-CN" sz="24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75502" name="Text Box 1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959234" y="1972735"/>
            <a:ext cx="20161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/>
            <a:r>
              <a:rPr lang="en-US" altLang="zh-CN" sz="2800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EMV=$100</a:t>
            </a:r>
            <a:endParaRPr lang="en-US" altLang="zh-CN" sz="2800" b="1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75503" name="Text Box 1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127884" y="3644906"/>
            <a:ext cx="20161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EMV=$125</a:t>
            </a:r>
            <a:endParaRPr lang="en-US" altLang="zh-CN" sz="24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75504" name="Text Box 1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127884" y="4868340"/>
            <a:ext cx="20161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EMV=-$25</a:t>
            </a:r>
            <a:endParaRPr lang="en-US" altLang="zh-CN" sz="24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75505" name="Text Box 17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227772" y="4366685"/>
            <a:ext cx="20161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l"/>
            <a:r>
              <a:rPr lang="en-US" altLang="zh-CN" sz="2800" b="1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EMV=$100</a:t>
            </a:r>
            <a:endParaRPr lang="en-US" altLang="zh-CN" sz="2800" b="1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75506" name="Oval 18"/>
          <p:cNvSpPr>
            <a:spLocks noChangeArrowheads="1"/>
          </p:cNvSpPr>
          <p:nvPr/>
        </p:nvSpPr>
        <p:spPr bwMode="auto">
          <a:xfrm>
            <a:off x="0" y="1989669"/>
            <a:ext cx="4859338" cy="1151467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4800" smtClean="0">
              <a:solidFill>
                <a:prstClr val="black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/>
      <p:bldP spid="46083" grpId="0"/>
      <p:bldP spid="39941" grpId="0" animBg="1"/>
      <p:bldP spid="39944" grpId="0" animBg="1"/>
      <p:bldP spid="39945" grpId="0" animBg="1"/>
      <p:bldP spid="39946" grpId="0" animBg="1"/>
      <p:bldP spid="39947" grpId="0" animBg="1"/>
      <p:bldP spid="575500" grpId="0" animBg="1"/>
      <p:bldP spid="575501" grpId="0" animBg="1"/>
      <p:bldP spid="575502" grpId="0" animBg="1"/>
      <p:bldP spid="575503" grpId="0" animBg="1"/>
      <p:bldP spid="575504" grpId="0" animBg="1"/>
      <p:bldP spid="575505" grpId="0" animBg="1"/>
      <p:bldP spid="575506" grpId="0" animBg="1"/>
      <p:bldP spid="46084" grpId="1"/>
      <p:bldP spid="46083" grpId="1"/>
      <p:bldP spid="39941" grpId="1" animBg="1"/>
      <p:bldP spid="39944" grpId="1" animBg="1"/>
      <p:bldP spid="39945" grpId="1" animBg="1"/>
      <p:bldP spid="39946" grpId="1" animBg="1"/>
      <p:bldP spid="39947" grpId="1" animBg="1"/>
      <p:bldP spid="575500" grpId="1" animBg="1"/>
      <p:bldP spid="575501" grpId="1" animBg="1"/>
      <p:bldP spid="575502" grpId="1" animBg="1"/>
      <p:bldP spid="575503" grpId="1" animBg="1"/>
      <p:bldP spid="575504" grpId="1" animBg="1"/>
      <p:bldP spid="575505" grpId="1" animBg="1"/>
      <p:bldP spid="575506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4185"/>
            <a:ext cx="7772400" cy="93916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课堂练习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813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DF5F72FD-7941-4700-AFEE-2F0A6DAEEDBE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56115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701800"/>
            <a:ext cx="8515350" cy="449580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 lnSpcReduction="20000"/>
          </a:bodyPr>
          <a:lstStyle/>
          <a:p>
            <a:pPr marL="0" indent="0" algn="just" eaLnBrk="1" fontAlgn="auto" hangingPunct="1">
              <a:spcAft>
                <a:spcPts val="0"/>
              </a:spcAft>
              <a:buFont typeface="Wingdings" panose="05000000000000000000"/>
              <a:buNone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利用决策树风险分析技术来分析如下两种情况的，以便决定你会选择哪种方案：（要求画出决策树）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algn="just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方案１：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随机投掷硬币两次，如果两次投掷的结果都是硬币正面朝上，你将获得１０元；投掷的结果背面每朝上一次你需要付出１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.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５元。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algn="just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方案</a:t>
            </a:r>
            <a:r>
              <a:rPr lang="zh-CN" altLang="en-US" b="1" dirty="0" smtClean="0">
                <a:solidFill>
                  <a:srgbClr val="0000FF"/>
                </a:solidFill>
                <a:uFillTx/>
                <a:latin typeface="Times New Roman" panose="02020603050405020304" pitchFamily="18" charset="0"/>
                <a:ea typeface="楷体" panose="02010609060101010101" charset="-122"/>
              </a:rPr>
              <a:t>２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：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随机投掷硬币两次，你需要付出２元；如果两次投掷的结果都是硬币正面朝上，你将获得１０元。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06730"/>
            <a:ext cx="7772400" cy="89662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课堂练习答案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33795" name="页脚占位符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5624195"/>
            <a:ext cx="5421630" cy="3638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smtClean="0">
                <a:latin typeface="Times New Roman" panose="02020603050405020304" pitchFamily="18" charset="0"/>
                <a:ea typeface="楷体" panose="02010609060101010101" charset="-122"/>
              </a:rPr>
              <a:t> chapter__11</a:t>
            </a:r>
            <a:endParaRPr lang="en-US" altLang="zh-CN" sz="140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4915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75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2AA91463-0691-41BE-BA38-74015A59E864}" type="slidenum">
              <a:rPr lang="en-US" altLang="zh-CN" sz="1400" smtClean="0">
                <a:solidFill>
                  <a:schemeClr val="tx1"/>
                </a:solidFill>
              </a:rPr>
            </a:fld>
            <a:endParaRPr lang="en-US" altLang="zh-CN" sz="1400" smtClean="0">
              <a:solidFill>
                <a:schemeClr val="tx1"/>
              </a:solidFill>
            </a:endParaRP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3143250" y="1915584"/>
            <a:ext cx="9144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562180" name="Picture 4" descr="jj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81" t="8139" r="70726" b="1851"/>
          <a:stretch>
            <a:fillRect/>
          </a:stretch>
        </p:blipFill>
        <p:spPr bwMode="auto">
          <a:xfrm>
            <a:off x="179388" y="1551517"/>
            <a:ext cx="1954212" cy="4682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2185" name="Picture 9" descr="jj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4" t="8138" r="31126" b="45799"/>
          <a:stretch>
            <a:fillRect/>
          </a:stretch>
        </p:blipFill>
        <p:spPr bwMode="auto">
          <a:xfrm>
            <a:off x="2133600" y="1551517"/>
            <a:ext cx="4495800" cy="2396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2186" name="Picture 10" descr="jj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4" t="55666" r="31126" b="1852"/>
          <a:stretch>
            <a:fillRect/>
          </a:stretch>
        </p:blipFill>
        <p:spPr bwMode="auto">
          <a:xfrm>
            <a:off x="2124075" y="3947584"/>
            <a:ext cx="4495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2188" name="Text Box 12"/>
          <p:cNvSpPr txBox="1">
            <a:spLocks noChangeArrowheads="1"/>
          </p:cNvSpPr>
          <p:nvPr/>
        </p:nvSpPr>
        <p:spPr bwMode="auto">
          <a:xfrm>
            <a:off x="6619875" y="1509185"/>
            <a:ext cx="19812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0.25*10=$2.5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1600" b="1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189" name="Text Box 13"/>
          <p:cNvSpPr txBox="1">
            <a:spLocks noChangeArrowheads="1"/>
          </p:cNvSpPr>
          <p:nvPr/>
        </p:nvSpPr>
        <p:spPr bwMode="auto">
          <a:xfrm>
            <a:off x="6724650" y="3627967"/>
            <a:ext cx="22098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000" b="1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GameA:EMV</a:t>
            </a:r>
            <a:r>
              <a:rPr lang="en-US" altLang="zh-CN" sz="20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=</a:t>
            </a:r>
            <a:r>
              <a:rPr lang="en-US" altLang="zh-CN" sz="1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1</a:t>
            </a:r>
            <a:endParaRPr lang="en-US" altLang="zh-CN" sz="1800" b="1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190" name="Text Box 14"/>
          <p:cNvSpPr txBox="1">
            <a:spLocks noChangeArrowheads="1"/>
          </p:cNvSpPr>
          <p:nvPr/>
        </p:nvSpPr>
        <p:spPr bwMode="auto">
          <a:xfrm>
            <a:off x="6764338" y="4220633"/>
            <a:ext cx="19812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0.25*8=2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1600" b="1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192" name="Text Box 16"/>
          <p:cNvSpPr txBox="1">
            <a:spLocks noChangeArrowheads="1"/>
          </p:cNvSpPr>
          <p:nvPr/>
        </p:nvSpPr>
        <p:spPr bwMode="auto">
          <a:xfrm>
            <a:off x="6704013" y="5966884"/>
            <a:ext cx="22098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2000" b="1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GameB:EMV</a:t>
            </a:r>
            <a:r>
              <a:rPr lang="en-US" altLang="zh-CN" sz="20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=</a:t>
            </a:r>
            <a:r>
              <a:rPr lang="en-US" altLang="zh-CN" sz="1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0.5</a:t>
            </a:r>
            <a:endParaRPr lang="en-US" altLang="zh-CN" sz="1800" b="1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193" name="Oval 17"/>
          <p:cNvSpPr>
            <a:spLocks noChangeArrowheads="1"/>
          </p:cNvSpPr>
          <p:nvPr/>
        </p:nvSpPr>
        <p:spPr bwMode="auto">
          <a:xfrm>
            <a:off x="838200" y="1966384"/>
            <a:ext cx="1981200" cy="1143000"/>
          </a:xfrm>
          <a:prstGeom prst="ellipse">
            <a:avLst/>
          </a:prstGeom>
          <a:noFill/>
          <a:ln w="25400">
            <a:solidFill>
              <a:srgbClr val="FF00FF"/>
            </a:solidFill>
            <a:round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2195" name="Text Box 19"/>
          <p:cNvSpPr txBox="1">
            <a:spLocks noChangeArrowheads="1"/>
          </p:cNvSpPr>
          <p:nvPr/>
        </p:nvSpPr>
        <p:spPr bwMode="auto">
          <a:xfrm>
            <a:off x="5580063" y="1509184"/>
            <a:ext cx="863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10</a:t>
            </a:r>
            <a:r>
              <a:rPr lang="zh-CN" altLang="en-US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2400">
              <a:solidFill>
                <a:srgbClr val="FF66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196" name="Text Box 20"/>
          <p:cNvSpPr txBox="1">
            <a:spLocks noChangeArrowheads="1"/>
          </p:cNvSpPr>
          <p:nvPr/>
        </p:nvSpPr>
        <p:spPr bwMode="auto">
          <a:xfrm>
            <a:off x="5580063" y="2228851"/>
            <a:ext cx="10080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-1.5</a:t>
            </a:r>
            <a:r>
              <a:rPr lang="zh-CN" altLang="en-US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2400">
              <a:solidFill>
                <a:srgbClr val="FF66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197" name="Text Box 21"/>
          <p:cNvSpPr txBox="1">
            <a:spLocks noChangeArrowheads="1"/>
          </p:cNvSpPr>
          <p:nvPr/>
        </p:nvSpPr>
        <p:spPr bwMode="auto">
          <a:xfrm>
            <a:off x="5508625" y="3957955"/>
            <a:ext cx="151257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8</a:t>
            </a:r>
            <a:r>
              <a:rPr lang="zh-CN" altLang="en-US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r>
              <a:rPr lang="en-US" altLang="zh-CN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=10-2</a:t>
            </a:r>
            <a:endParaRPr lang="en-US" altLang="zh-CN" sz="2400">
              <a:solidFill>
                <a:srgbClr val="FF66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198" name="Text Box 22"/>
          <p:cNvSpPr txBox="1">
            <a:spLocks noChangeArrowheads="1"/>
          </p:cNvSpPr>
          <p:nvPr/>
        </p:nvSpPr>
        <p:spPr bwMode="auto">
          <a:xfrm>
            <a:off x="5580063" y="4675718"/>
            <a:ext cx="8636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-2</a:t>
            </a:r>
            <a:r>
              <a:rPr lang="zh-CN" altLang="en-US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2400">
              <a:solidFill>
                <a:srgbClr val="FF66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199" name="Text Box 23"/>
          <p:cNvSpPr txBox="1">
            <a:spLocks noChangeArrowheads="1"/>
          </p:cNvSpPr>
          <p:nvPr/>
        </p:nvSpPr>
        <p:spPr bwMode="auto">
          <a:xfrm>
            <a:off x="5651500" y="5325534"/>
            <a:ext cx="8651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-2</a:t>
            </a:r>
            <a:r>
              <a:rPr lang="zh-CN" altLang="en-US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2400">
              <a:solidFill>
                <a:srgbClr val="FF66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2200" name="Text Box 24"/>
          <p:cNvSpPr txBox="1">
            <a:spLocks noChangeArrowheads="1"/>
          </p:cNvSpPr>
          <p:nvPr/>
        </p:nvSpPr>
        <p:spPr bwMode="auto">
          <a:xfrm>
            <a:off x="5580064" y="2948518"/>
            <a:ext cx="93662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-3</a:t>
            </a:r>
            <a:r>
              <a:rPr lang="zh-CN" altLang="en-US" sz="2400">
                <a:solidFill>
                  <a:srgbClr val="FF66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2400">
              <a:solidFill>
                <a:srgbClr val="FF66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6635750" y="2423585"/>
            <a:ext cx="19812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0.5*-1.5=-0.75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 </a:t>
            </a:r>
            <a:endParaRPr lang="zh-CN" altLang="en-US" sz="1600" b="1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1" name="Text Box 12"/>
          <p:cNvSpPr txBox="1">
            <a:spLocks noChangeArrowheads="1"/>
          </p:cNvSpPr>
          <p:nvPr/>
        </p:nvSpPr>
        <p:spPr bwMode="auto">
          <a:xfrm>
            <a:off x="6621463" y="3175001"/>
            <a:ext cx="19812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0.25*-3=--$0.75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元</a:t>
            </a:r>
            <a:r>
              <a:rPr lang="zh-CN" altLang="en-US" sz="160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 </a:t>
            </a:r>
            <a:endParaRPr lang="zh-CN" altLang="en-US" sz="160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6724650" y="4758267"/>
            <a:ext cx="19812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 </a:t>
            </a:r>
            <a:r>
              <a:rPr lang="en-US" altLang="zh-CN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0.5*-2=-1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1600" b="1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6764338" y="5486401"/>
            <a:ext cx="1981200" cy="337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0.25*-2=-0.5</a:t>
            </a:r>
            <a:r>
              <a:rPr lang="zh-CN" altLang="en-US" sz="1600" b="1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charset="-122"/>
              </a:rPr>
              <a:t>元</a:t>
            </a:r>
            <a:endParaRPr lang="zh-CN" altLang="en-US" sz="1600" b="1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193" grpId="0" animBg="1"/>
      <p:bldP spid="562193" grpId="1" animBg="1"/>
      <p:bldP spid="562195" grpId="0" animBg="1"/>
      <p:bldP spid="562195" grpId="1" animBg="1"/>
      <p:bldP spid="562196" grpId="0" animBg="1"/>
      <p:bldP spid="562196" grpId="1" animBg="1"/>
      <p:bldP spid="562200" grpId="0" animBg="1"/>
      <p:bldP spid="562200" grpId="1" animBg="1"/>
      <p:bldP spid="562188" grpId="0" animBg="1"/>
      <p:bldP spid="562188" grpId="1" animBg="1"/>
      <p:bldP spid="20" grpId="0" animBg="1"/>
      <p:bldP spid="20" grpId="1" animBg="1"/>
      <p:bldP spid="21" grpId="0" animBg="1"/>
      <p:bldP spid="21" grpId="1" animBg="1"/>
      <p:bldP spid="562189" grpId="0" animBg="1"/>
      <p:bldP spid="562189" grpId="1" animBg="1"/>
      <p:bldP spid="562197" grpId="0" bldLvl="0" animBg="1"/>
      <p:bldP spid="562197" grpId="1" animBg="1"/>
      <p:bldP spid="562198" grpId="0" animBg="1"/>
      <p:bldP spid="562198" grpId="1" animBg="1"/>
      <p:bldP spid="562199" grpId="0" animBg="1"/>
      <p:bldP spid="562199" grpId="1" animBg="1"/>
      <p:bldP spid="562190" grpId="0" animBg="1"/>
      <p:bldP spid="562190" grpId="1" animBg="1"/>
      <p:bldP spid="22" grpId="0" animBg="1"/>
      <p:bldP spid="22" grpId="1" animBg="1"/>
      <p:bldP spid="23" grpId="0" animBg="1"/>
      <p:bldP spid="23" grpId="1" animBg="1"/>
      <p:bldP spid="562192" grpId="0" animBg="1"/>
      <p:bldP spid="562192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87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1645"/>
            <a:ext cx="7772400" cy="89090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风险评估结果实例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017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15B058D9-A9D4-4C0C-BFC4-DA7990D15DA6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grpSp>
        <p:nvGrpSpPr>
          <p:cNvPr id="44036" name="Group 286"/>
          <p:cNvGrpSpPr/>
          <p:nvPr/>
        </p:nvGrpSpPr>
        <p:grpSpPr bwMode="auto">
          <a:xfrm>
            <a:off x="257175" y="1686990"/>
            <a:ext cx="8750300" cy="4872567"/>
            <a:chOff x="-3" y="371"/>
            <a:chExt cx="3214" cy="4551"/>
          </a:xfrm>
        </p:grpSpPr>
        <p:grpSp>
          <p:nvGrpSpPr>
            <p:cNvPr id="44037" name="Group 284"/>
            <p:cNvGrpSpPr/>
            <p:nvPr/>
          </p:nvGrpSpPr>
          <p:grpSpPr bwMode="auto">
            <a:xfrm>
              <a:off x="0" y="374"/>
              <a:ext cx="3208" cy="4545"/>
              <a:chOff x="0" y="374"/>
              <a:chExt cx="3208" cy="4545"/>
            </a:xfrm>
          </p:grpSpPr>
          <p:grpSp>
            <p:nvGrpSpPr>
              <p:cNvPr id="44039" name="Group 215"/>
              <p:cNvGrpSpPr/>
              <p:nvPr/>
            </p:nvGrpSpPr>
            <p:grpSpPr bwMode="auto">
              <a:xfrm>
                <a:off x="0" y="374"/>
                <a:ext cx="275" cy="518"/>
                <a:chOff x="0" y="374"/>
                <a:chExt cx="275" cy="518"/>
              </a:xfrm>
            </p:grpSpPr>
            <p:sp>
              <p:nvSpPr>
                <p:cNvPr id="44142" name="Rectangle 179"/>
                <p:cNvSpPr>
                  <a:spLocks noChangeArrowheads="1"/>
                </p:cNvSpPr>
                <p:nvPr/>
              </p:nvSpPr>
              <p:spPr bwMode="auto">
                <a:xfrm>
                  <a:off x="43" y="374"/>
                  <a:ext cx="18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</a:rPr>
                    <a:t>排序</a:t>
                  </a:r>
                  <a:endParaRPr lang="zh-CN" altLang="en-US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143" name="Rectangle 214"/>
                <p:cNvSpPr>
                  <a:spLocks noChangeArrowheads="1"/>
                </p:cNvSpPr>
                <p:nvPr/>
              </p:nvSpPr>
              <p:spPr bwMode="auto">
                <a:xfrm>
                  <a:off x="0" y="374"/>
                  <a:ext cx="27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0" name="Group 217"/>
              <p:cNvGrpSpPr/>
              <p:nvPr/>
            </p:nvGrpSpPr>
            <p:grpSpPr bwMode="auto">
              <a:xfrm>
                <a:off x="275" y="374"/>
                <a:ext cx="470" cy="518"/>
                <a:chOff x="275" y="374"/>
                <a:chExt cx="470" cy="518"/>
              </a:xfrm>
            </p:grpSpPr>
            <p:sp>
              <p:nvSpPr>
                <p:cNvPr id="44140" name="Rectangle 180"/>
                <p:cNvSpPr>
                  <a:spLocks noChangeArrowheads="1"/>
                </p:cNvSpPr>
                <p:nvPr/>
              </p:nvSpPr>
              <p:spPr bwMode="auto">
                <a:xfrm>
                  <a:off x="318" y="374"/>
                  <a:ext cx="38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输入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41" name="Rectangle 216"/>
                <p:cNvSpPr>
                  <a:spLocks noChangeArrowheads="1"/>
                </p:cNvSpPr>
                <p:nvPr/>
              </p:nvSpPr>
              <p:spPr bwMode="auto">
                <a:xfrm>
                  <a:off x="275" y="374"/>
                  <a:ext cx="47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1" name="Group 219"/>
              <p:cNvGrpSpPr/>
              <p:nvPr/>
            </p:nvGrpSpPr>
            <p:grpSpPr bwMode="auto">
              <a:xfrm>
                <a:off x="745" y="374"/>
                <a:ext cx="585" cy="518"/>
                <a:chOff x="745" y="374"/>
                <a:chExt cx="585" cy="518"/>
              </a:xfrm>
            </p:grpSpPr>
            <p:sp>
              <p:nvSpPr>
                <p:cNvPr id="44138" name="Rectangle 181"/>
                <p:cNvSpPr>
                  <a:spLocks noChangeArrowheads="1"/>
                </p:cNvSpPr>
                <p:nvPr/>
              </p:nvSpPr>
              <p:spPr bwMode="auto">
                <a:xfrm>
                  <a:off x="788" y="374"/>
                  <a:ext cx="49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风险事件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39" name="Rectangle 218"/>
                <p:cNvSpPr>
                  <a:spLocks noChangeArrowheads="1"/>
                </p:cNvSpPr>
                <p:nvPr/>
              </p:nvSpPr>
              <p:spPr bwMode="auto">
                <a:xfrm>
                  <a:off x="745" y="374"/>
                  <a:ext cx="58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2" name="Group 221"/>
              <p:cNvGrpSpPr/>
              <p:nvPr/>
            </p:nvGrpSpPr>
            <p:grpSpPr bwMode="auto">
              <a:xfrm>
                <a:off x="1330" y="374"/>
                <a:ext cx="412" cy="518"/>
                <a:chOff x="1330" y="374"/>
                <a:chExt cx="412" cy="518"/>
              </a:xfrm>
            </p:grpSpPr>
            <p:sp>
              <p:nvSpPr>
                <p:cNvPr id="44136" name="Rectangle 182"/>
                <p:cNvSpPr>
                  <a:spLocks noChangeArrowheads="1"/>
                </p:cNvSpPr>
                <p:nvPr/>
              </p:nvSpPr>
              <p:spPr bwMode="auto">
                <a:xfrm>
                  <a:off x="1373" y="374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可能性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37" name="Rectangle 220"/>
                <p:cNvSpPr>
                  <a:spLocks noChangeArrowheads="1"/>
                </p:cNvSpPr>
                <p:nvPr/>
              </p:nvSpPr>
              <p:spPr bwMode="auto">
                <a:xfrm>
                  <a:off x="1330" y="374"/>
                  <a:ext cx="41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3" name="Group 223"/>
              <p:cNvGrpSpPr/>
              <p:nvPr/>
            </p:nvGrpSpPr>
            <p:grpSpPr bwMode="auto">
              <a:xfrm>
                <a:off x="1742" y="374"/>
                <a:ext cx="355" cy="518"/>
                <a:chOff x="1742" y="374"/>
                <a:chExt cx="355" cy="518"/>
              </a:xfrm>
            </p:grpSpPr>
            <p:sp>
              <p:nvSpPr>
                <p:cNvPr id="44134" name="Rectangle 183"/>
                <p:cNvSpPr>
                  <a:spLocks noChangeArrowheads="1"/>
                </p:cNvSpPr>
                <p:nvPr/>
              </p:nvSpPr>
              <p:spPr bwMode="auto">
                <a:xfrm>
                  <a:off x="1785" y="374"/>
                  <a:ext cx="26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影响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35" name="Rectangle 222"/>
                <p:cNvSpPr>
                  <a:spLocks noChangeArrowheads="1"/>
                </p:cNvSpPr>
                <p:nvPr/>
              </p:nvSpPr>
              <p:spPr bwMode="auto">
                <a:xfrm>
                  <a:off x="1742" y="374"/>
                  <a:ext cx="35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4" name="Group 225"/>
              <p:cNvGrpSpPr/>
              <p:nvPr/>
            </p:nvGrpSpPr>
            <p:grpSpPr bwMode="auto">
              <a:xfrm>
                <a:off x="2097" y="374"/>
                <a:ext cx="412" cy="518"/>
                <a:chOff x="2097" y="374"/>
                <a:chExt cx="412" cy="518"/>
              </a:xfrm>
            </p:grpSpPr>
            <p:sp>
              <p:nvSpPr>
                <p:cNvPr id="44132" name="Rectangle 184"/>
                <p:cNvSpPr>
                  <a:spLocks noChangeArrowheads="1"/>
                </p:cNvSpPr>
                <p:nvPr/>
              </p:nvSpPr>
              <p:spPr bwMode="auto">
                <a:xfrm>
                  <a:off x="2140" y="374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风险值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33" name="Rectangle 224"/>
                <p:cNvSpPr>
                  <a:spLocks noChangeArrowheads="1"/>
                </p:cNvSpPr>
                <p:nvPr/>
              </p:nvSpPr>
              <p:spPr bwMode="auto">
                <a:xfrm>
                  <a:off x="2097" y="374"/>
                  <a:ext cx="41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5" name="Group 227"/>
              <p:cNvGrpSpPr/>
              <p:nvPr/>
            </p:nvGrpSpPr>
            <p:grpSpPr bwMode="auto">
              <a:xfrm>
                <a:off x="2509" y="374"/>
                <a:ext cx="699" cy="518"/>
                <a:chOff x="2509" y="374"/>
                <a:chExt cx="699" cy="518"/>
              </a:xfrm>
            </p:grpSpPr>
            <p:sp>
              <p:nvSpPr>
                <p:cNvPr id="44130" name="Rectangle 185"/>
                <p:cNvSpPr>
                  <a:spLocks noChangeArrowheads="1"/>
                </p:cNvSpPr>
                <p:nvPr/>
              </p:nvSpPr>
              <p:spPr bwMode="auto">
                <a:xfrm>
                  <a:off x="2552" y="374"/>
                  <a:ext cx="6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采取的措施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31" name="Rectangle 226"/>
                <p:cNvSpPr>
                  <a:spLocks noChangeArrowheads="1"/>
                </p:cNvSpPr>
                <p:nvPr/>
              </p:nvSpPr>
              <p:spPr bwMode="auto">
                <a:xfrm>
                  <a:off x="2509" y="374"/>
                  <a:ext cx="6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6" name="Group 229"/>
              <p:cNvGrpSpPr/>
              <p:nvPr/>
            </p:nvGrpSpPr>
            <p:grpSpPr bwMode="auto">
              <a:xfrm>
                <a:off x="0" y="892"/>
                <a:ext cx="275" cy="1093"/>
                <a:chOff x="0" y="892"/>
                <a:chExt cx="275" cy="1093"/>
              </a:xfrm>
            </p:grpSpPr>
            <p:sp>
              <p:nvSpPr>
                <p:cNvPr id="44128" name="Rectangle 186"/>
                <p:cNvSpPr>
                  <a:spLocks noChangeArrowheads="1"/>
                </p:cNvSpPr>
                <p:nvPr/>
              </p:nvSpPr>
              <p:spPr bwMode="auto">
                <a:xfrm>
                  <a:off x="43" y="892"/>
                  <a:ext cx="189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1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129" name="Rectangle 228"/>
                <p:cNvSpPr>
                  <a:spLocks noChangeArrowheads="1"/>
                </p:cNvSpPr>
                <p:nvPr/>
              </p:nvSpPr>
              <p:spPr bwMode="auto">
                <a:xfrm>
                  <a:off x="0" y="892"/>
                  <a:ext cx="275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7" name="Group 231"/>
              <p:cNvGrpSpPr/>
              <p:nvPr/>
            </p:nvGrpSpPr>
            <p:grpSpPr bwMode="auto">
              <a:xfrm>
                <a:off x="275" y="892"/>
                <a:ext cx="470" cy="1093"/>
                <a:chOff x="275" y="892"/>
                <a:chExt cx="470" cy="1093"/>
              </a:xfrm>
            </p:grpSpPr>
            <p:sp>
              <p:nvSpPr>
                <p:cNvPr id="44126" name="Rectangle 187"/>
                <p:cNvSpPr>
                  <a:spLocks noChangeArrowheads="1"/>
                </p:cNvSpPr>
                <p:nvPr/>
              </p:nvSpPr>
              <p:spPr bwMode="auto">
                <a:xfrm>
                  <a:off x="318" y="892"/>
                  <a:ext cx="384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系统设计评审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27" name="Rectangle 230"/>
                <p:cNvSpPr>
                  <a:spLocks noChangeArrowheads="1"/>
                </p:cNvSpPr>
                <p:nvPr/>
              </p:nvSpPr>
              <p:spPr bwMode="auto">
                <a:xfrm>
                  <a:off x="275" y="892"/>
                  <a:ext cx="470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8" name="Group 233"/>
              <p:cNvGrpSpPr/>
              <p:nvPr/>
            </p:nvGrpSpPr>
            <p:grpSpPr bwMode="auto">
              <a:xfrm>
                <a:off x="745" y="892"/>
                <a:ext cx="585" cy="1093"/>
                <a:chOff x="745" y="892"/>
                <a:chExt cx="585" cy="1093"/>
              </a:xfrm>
            </p:grpSpPr>
            <p:sp>
              <p:nvSpPr>
                <p:cNvPr id="44124" name="Rectangle 188"/>
                <p:cNvSpPr>
                  <a:spLocks noChangeArrowheads="1"/>
                </p:cNvSpPr>
                <p:nvPr/>
              </p:nvSpPr>
              <p:spPr bwMode="auto">
                <a:xfrm>
                  <a:off x="788" y="892"/>
                  <a:ext cx="499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没有足够的时间进行产品测试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25" name="Rectangle 232"/>
                <p:cNvSpPr>
                  <a:spLocks noChangeArrowheads="1"/>
                </p:cNvSpPr>
                <p:nvPr/>
              </p:nvSpPr>
              <p:spPr bwMode="auto">
                <a:xfrm>
                  <a:off x="745" y="892"/>
                  <a:ext cx="585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49" name="Group 235"/>
              <p:cNvGrpSpPr/>
              <p:nvPr/>
            </p:nvGrpSpPr>
            <p:grpSpPr bwMode="auto">
              <a:xfrm>
                <a:off x="1330" y="892"/>
                <a:ext cx="412" cy="1093"/>
                <a:chOff x="1330" y="892"/>
                <a:chExt cx="412" cy="1093"/>
              </a:xfrm>
            </p:grpSpPr>
            <p:sp>
              <p:nvSpPr>
                <p:cNvPr id="44122" name="Rectangle 189"/>
                <p:cNvSpPr>
                  <a:spLocks noChangeArrowheads="1"/>
                </p:cNvSpPr>
                <p:nvPr/>
              </p:nvSpPr>
              <p:spPr bwMode="auto">
                <a:xfrm>
                  <a:off x="1373" y="892"/>
                  <a:ext cx="326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70%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l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44123" name="Rectangle 234"/>
                <p:cNvSpPr>
                  <a:spLocks noChangeArrowheads="1"/>
                </p:cNvSpPr>
                <p:nvPr/>
              </p:nvSpPr>
              <p:spPr bwMode="auto">
                <a:xfrm>
                  <a:off x="1330" y="892"/>
                  <a:ext cx="412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0" name="Group 237"/>
              <p:cNvGrpSpPr/>
              <p:nvPr/>
            </p:nvGrpSpPr>
            <p:grpSpPr bwMode="auto">
              <a:xfrm>
                <a:off x="1742" y="892"/>
                <a:ext cx="355" cy="1093"/>
                <a:chOff x="1742" y="892"/>
                <a:chExt cx="355" cy="1093"/>
              </a:xfrm>
            </p:grpSpPr>
            <p:sp>
              <p:nvSpPr>
                <p:cNvPr id="44120" name="Rectangle 190"/>
                <p:cNvSpPr>
                  <a:spLocks noChangeArrowheads="1"/>
                </p:cNvSpPr>
                <p:nvPr/>
              </p:nvSpPr>
              <p:spPr bwMode="auto">
                <a:xfrm>
                  <a:off x="1785" y="892"/>
                  <a:ext cx="269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50%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44121" name="Rectangle 236"/>
                <p:cNvSpPr>
                  <a:spLocks noChangeArrowheads="1"/>
                </p:cNvSpPr>
                <p:nvPr/>
              </p:nvSpPr>
              <p:spPr bwMode="auto">
                <a:xfrm>
                  <a:off x="1742" y="892"/>
                  <a:ext cx="355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1" name="Group 239"/>
              <p:cNvGrpSpPr/>
              <p:nvPr/>
            </p:nvGrpSpPr>
            <p:grpSpPr bwMode="auto">
              <a:xfrm>
                <a:off x="2097" y="892"/>
                <a:ext cx="412" cy="1093"/>
                <a:chOff x="2097" y="892"/>
                <a:chExt cx="412" cy="1093"/>
              </a:xfrm>
            </p:grpSpPr>
            <p:sp>
              <p:nvSpPr>
                <p:cNvPr id="44118" name="Rectangle 191"/>
                <p:cNvSpPr>
                  <a:spLocks noChangeArrowheads="1"/>
                </p:cNvSpPr>
                <p:nvPr/>
              </p:nvSpPr>
              <p:spPr bwMode="auto">
                <a:xfrm>
                  <a:off x="2140" y="892"/>
                  <a:ext cx="326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35%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44119" name="Rectangle 238"/>
                <p:cNvSpPr>
                  <a:spLocks noChangeArrowheads="1"/>
                </p:cNvSpPr>
                <p:nvPr/>
              </p:nvSpPr>
              <p:spPr bwMode="auto">
                <a:xfrm>
                  <a:off x="2097" y="892"/>
                  <a:ext cx="412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2" name="Group 241"/>
              <p:cNvGrpSpPr/>
              <p:nvPr/>
            </p:nvGrpSpPr>
            <p:grpSpPr bwMode="auto">
              <a:xfrm>
                <a:off x="2509" y="892"/>
                <a:ext cx="699" cy="1093"/>
                <a:chOff x="2509" y="892"/>
                <a:chExt cx="699" cy="1093"/>
              </a:xfrm>
            </p:grpSpPr>
            <p:sp>
              <p:nvSpPr>
                <p:cNvPr id="44116" name="Rectangle 192"/>
                <p:cNvSpPr>
                  <a:spLocks noChangeArrowheads="1"/>
                </p:cNvSpPr>
                <p:nvPr/>
              </p:nvSpPr>
              <p:spPr bwMode="auto">
                <a:xfrm>
                  <a:off x="2552" y="892"/>
                  <a:ext cx="613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endParaRPr lang="zh-CN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117" name="Rectangle 240"/>
                <p:cNvSpPr>
                  <a:spLocks noChangeArrowheads="1"/>
                </p:cNvSpPr>
                <p:nvPr/>
              </p:nvSpPr>
              <p:spPr bwMode="auto">
                <a:xfrm>
                  <a:off x="2509" y="892"/>
                  <a:ext cx="699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3" name="Group 243"/>
              <p:cNvGrpSpPr/>
              <p:nvPr/>
            </p:nvGrpSpPr>
            <p:grpSpPr bwMode="auto">
              <a:xfrm>
                <a:off x="0" y="1985"/>
                <a:ext cx="275" cy="978"/>
                <a:chOff x="0" y="1985"/>
                <a:chExt cx="275" cy="978"/>
              </a:xfrm>
            </p:grpSpPr>
            <p:sp>
              <p:nvSpPr>
                <p:cNvPr id="44114" name="Rectangle 193"/>
                <p:cNvSpPr>
                  <a:spLocks noChangeArrowheads="1"/>
                </p:cNvSpPr>
                <p:nvPr/>
              </p:nvSpPr>
              <p:spPr bwMode="auto">
                <a:xfrm>
                  <a:off x="43" y="1985"/>
                  <a:ext cx="189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</a:rPr>
                    <a:t>2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115" name="Rectangle 242"/>
                <p:cNvSpPr>
                  <a:spLocks noChangeArrowheads="1"/>
                </p:cNvSpPr>
                <p:nvPr/>
              </p:nvSpPr>
              <p:spPr bwMode="auto">
                <a:xfrm>
                  <a:off x="0" y="1985"/>
                  <a:ext cx="275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4" name="Group 245"/>
              <p:cNvGrpSpPr/>
              <p:nvPr/>
            </p:nvGrpSpPr>
            <p:grpSpPr bwMode="auto">
              <a:xfrm>
                <a:off x="275" y="1985"/>
                <a:ext cx="470" cy="978"/>
                <a:chOff x="275" y="1985"/>
                <a:chExt cx="470" cy="978"/>
              </a:xfrm>
            </p:grpSpPr>
            <p:sp>
              <p:nvSpPr>
                <p:cNvPr id="44112" name="Rectangle 194"/>
                <p:cNvSpPr>
                  <a:spLocks noChangeArrowheads="1"/>
                </p:cNvSpPr>
                <p:nvPr/>
              </p:nvSpPr>
              <p:spPr bwMode="auto">
                <a:xfrm>
                  <a:off x="318" y="1985"/>
                  <a:ext cx="384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WBS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13" name="Rectangle 244"/>
                <p:cNvSpPr>
                  <a:spLocks noChangeArrowheads="1"/>
                </p:cNvSpPr>
                <p:nvPr/>
              </p:nvSpPr>
              <p:spPr bwMode="auto">
                <a:xfrm>
                  <a:off x="275" y="1985"/>
                  <a:ext cx="470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5" name="Group 247"/>
              <p:cNvGrpSpPr/>
              <p:nvPr/>
            </p:nvGrpSpPr>
            <p:grpSpPr bwMode="auto">
              <a:xfrm>
                <a:off x="745" y="1985"/>
                <a:ext cx="585" cy="978"/>
                <a:chOff x="745" y="1985"/>
                <a:chExt cx="585" cy="978"/>
              </a:xfrm>
            </p:grpSpPr>
            <p:sp>
              <p:nvSpPr>
                <p:cNvPr id="44110" name="Rectangle 195"/>
                <p:cNvSpPr>
                  <a:spLocks noChangeArrowheads="1"/>
                </p:cNvSpPr>
                <p:nvPr/>
              </p:nvSpPr>
              <p:spPr bwMode="auto">
                <a:xfrm>
                  <a:off x="788" y="1985"/>
                  <a:ext cx="499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对需求的开发式系统标准没有合适的测试案例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 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11" name="Rectangle 246"/>
                <p:cNvSpPr>
                  <a:spLocks noChangeArrowheads="1"/>
                </p:cNvSpPr>
                <p:nvPr/>
              </p:nvSpPr>
              <p:spPr bwMode="auto">
                <a:xfrm>
                  <a:off x="745" y="1985"/>
                  <a:ext cx="585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6" name="Group 249"/>
              <p:cNvGrpSpPr/>
              <p:nvPr/>
            </p:nvGrpSpPr>
            <p:grpSpPr bwMode="auto">
              <a:xfrm>
                <a:off x="1330" y="1985"/>
                <a:ext cx="412" cy="978"/>
                <a:chOff x="1330" y="1985"/>
                <a:chExt cx="412" cy="978"/>
              </a:xfrm>
            </p:grpSpPr>
            <p:sp>
              <p:nvSpPr>
                <p:cNvPr id="44108" name="Rectangle 196"/>
                <p:cNvSpPr>
                  <a:spLocks noChangeArrowheads="1"/>
                </p:cNvSpPr>
                <p:nvPr/>
              </p:nvSpPr>
              <p:spPr bwMode="auto">
                <a:xfrm>
                  <a:off x="1373" y="1985"/>
                  <a:ext cx="326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20%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09" name="Rectangle 248"/>
                <p:cNvSpPr>
                  <a:spLocks noChangeArrowheads="1"/>
                </p:cNvSpPr>
                <p:nvPr/>
              </p:nvSpPr>
              <p:spPr bwMode="auto">
                <a:xfrm>
                  <a:off x="1330" y="1985"/>
                  <a:ext cx="412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7" name="Group 251"/>
              <p:cNvGrpSpPr/>
              <p:nvPr/>
            </p:nvGrpSpPr>
            <p:grpSpPr bwMode="auto">
              <a:xfrm>
                <a:off x="1742" y="1985"/>
                <a:ext cx="355" cy="978"/>
                <a:chOff x="1742" y="1985"/>
                <a:chExt cx="355" cy="978"/>
              </a:xfrm>
            </p:grpSpPr>
            <p:sp>
              <p:nvSpPr>
                <p:cNvPr id="44106" name="Rectangle 197"/>
                <p:cNvSpPr>
                  <a:spLocks noChangeArrowheads="1"/>
                </p:cNvSpPr>
                <p:nvPr/>
              </p:nvSpPr>
              <p:spPr bwMode="auto">
                <a:xfrm>
                  <a:off x="1785" y="1985"/>
                  <a:ext cx="269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80%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107" name="Rectangle 250"/>
                <p:cNvSpPr>
                  <a:spLocks noChangeArrowheads="1"/>
                </p:cNvSpPr>
                <p:nvPr/>
              </p:nvSpPr>
              <p:spPr bwMode="auto">
                <a:xfrm>
                  <a:off x="1742" y="1985"/>
                  <a:ext cx="355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8" name="Group 253"/>
              <p:cNvGrpSpPr/>
              <p:nvPr/>
            </p:nvGrpSpPr>
            <p:grpSpPr bwMode="auto">
              <a:xfrm>
                <a:off x="2097" y="1985"/>
                <a:ext cx="412" cy="978"/>
                <a:chOff x="2097" y="1985"/>
                <a:chExt cx="412" cy="978"/>
              </a:xfrm>
            </p:grpSpPr>
            <p:sp>
              <p:nvSpPr>
                <p:cNvPr id="44104" name="Rectangle 198"/>
                <p:cNvSpPr>
                  <a:spLocks noChangeArrowheads="1"/>
                </p:cNvSpPr>
                <p:nvPr/>
              </p:nvSpPr>
              <p:spPr bwMode="auto">
                <a:xfrm>
                  <a:off x="2140" y="1985"/>
                  <a:ext cx="326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16%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l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44105" name="Rectangle 252"/>
                <p:cNvSpPr>
                  <a:spLocks noChangeArrowheads="1"/>
                </p:cNvSpPr>
                <p:nvPr/>
              </p:nvSpPr>
              <p:spPr bwMode="auto">
                <a:xfrm>
                  <a:off x="2097" y="1985"/>
                  <a:ext cx="412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59" name="Group 255"/>
              <p:cNvGrpSpPr/>
              <p:nvPr/>
            </p:nvGrpSpPr>
            <p:grpSpPr bwMode="auto">
              <a:xfrm>
                <a:off x="2509" y="1985"/>
                <a:ext cx="699" cy="978"/>
                <a:chOff x="2509" y="1985"/>
                <a:chExt cx="699" cy="978"/>
              </a:xfrm>
            </p:grpSpPr>
            <p:sp>
              <p:nvSpPr>
                <p:cNvPr id="44102" name="Rectangle 199"/>
                <p:cNvSpPr>
                  <a:spLocks noChangeArrowheads="1"/>
                </p:cNvSpPr>
                <p:nvPr/>
              </p:nvSpPr>
              <p:spPr bwMode="auto">
                <a:xfrm>
                  <a:off x="2552" y="1985"/>
                  <a:ext cx="613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endParaRPr lang="zh-CN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103" name="Rectangle 254"/>
                <p:cNvSpPr>
                  <a:spLocks noChangeArrowheads="1"/>
                </p:cNvSpPr>
                <p:nvPr/>
              </p:nvSpPr>
              <p:spPr bwMode="auto">
                <a:xfrm>
                  <a:off x="2509" y="1985"/>
                  <a:ext cx="699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0" name="Group 257"/>
              <p:cNvGrpSpPr/>
              <p:nvPr/>
            </p:nvGrpSpPr>
            <p:grpSpPr bwMode="auto">
              <a:xfrm>
                <a:off x="0" y="2963"/>
                <a:ext cx="275" cy="1438"/>
                <a:chOff x="0" y="2963"/>
                <a:chExt cx="275" cy="1438"/>
              </a:xfrm>
            </p:grpSpPr>
            <p:sp>
              <p:nvSpPr>
                <p:cNvPr id="44100" name="Rectangle 200"/>
                <p:cNvSpPr>
                  <a:spLocks noChangeArrowheads="1"/>
                </p:cNvSpPr>
                <p:nvPr/>
              </p:nvSpPr>
              <p:spPr bwMode="auto">
                <a:xfrm>
                  <a:off x="43" y="2963"/>
                  <a:ext cx="189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</a:rPr>
                    <a:t>3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101" name="Rectangle 256"/>
                <p:cNvSpPr>
                  <a:spLocks noChangeArrowheads="1"/>
                </p:cNvSpPr>
                <p:nvPr/>
              </p:nvSpPr>
              <p:spPr bwMode="auto">
                <a:xfrm>
                  <a:off x="0" y="2963"/>
                  <a:ext cx="275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1" name="Group 259"/>
              <p:cNvGrpSpPr/>
              <p:nvPr/>
            </p:nvGrpSpPr>
            <p:grpSpPr bwMode="auto">
              <a:xfrm>
                <a:off x="275" y="2963"/>
                <a:ext cx="470" cy="1438"/>
                <a:chOff x="275" y="2963"/>
                <a:chExt cx="470" cy="1438"/>
              </a:xfrm>
            </p:grpSpPr>
            <p:sp>
              <p:nvSpPr>
                <p:cNvPr id="44098" name="Rectangle 201"/>
                <p:cNvSpPr>
                  <a:spLocks noChangeArrowheads="1"/>
                </p:cNvSpPr>
                <p:nvPr/>
              </p:nvSpPr>
              <p:spPr bwMode="auto">
                <a:xfrm>
                  <a:off x="318" y="2963"/>
                  <a:ext cx="384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需求和计划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l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099" name="Rectangle 258"/>
                <p:cNvSpPr>
                  <a:spLocks noChangeArrowheads="1"/>
                </p:cNvSpPr>
                <p:nvPr/>
              </p:nvSpPr>
              <p:spPr bwMode="auto">
                <a:xfrm>
                  <a:off x="275" y="2963"/>
                  <a:ext cx="470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2" name="Group 261"/>
              <p:cNvGrpSpPr/>
              <p:nvPr/>
            </p:nvGrpSpPr>
            <p:grpSpPr bwMode="auto">
              <a:xfrm>
                <a:off x="745" y="2963"/>
                <a:ext cx="585" cy="1438"/>
                <a:chOff x="745" y="2963"/>
                <a:chExt cx="585" cy="1438"/>
              </a:xfrm>
            </p:grpSpPr>
            <p:sp>
              <p:nvSpPr>
                <p:cNvPr id="44096" name="Rectangle 202"/>
                <p:cNvSpPr>
                  <a:spLocks noChangeArrowheads="1"/>
                </p:cNvSpPr>
                <p:nvPr/>
              </p:nvSpPr>
              <p:spPr bwMode="auto">
                <a:xfrm>
                  <a:off x="788" y="2963"/>
                  <a:ext cx="499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采用新技术可可能导致进度的延期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097" name="Rectangle 260"/>
                <p:cNvSpPr>
                  <a:spLocks noChangeArrowheads="1"/>
                </p:cNvSpPr>
                <p:nvPr/>
              </p:nvSpPr>
              <p:spPr bwMode="auto">
                <a:xfrm>
                  <a:off x="745" y="2963"/>
                  <a:ext cx="585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3" name="Group 263"/>
              <p:cNvGrpSpPr/>
              <p:nvPr/>
            </p:nvGrpSpPr>
            <p:grpSpPr bwMode="auto">
              <a:xfrm>
                <a:off x="1330" y="2963"/>
                <a:ext cx="412" cy="1438"/>
                <a:chOff x="1330" y="2963"/>
                <a:chExt cx="412" cy="1438"/>
              </a:xfrm>
            </p:grpSpPr>
            <p:sp>
              <p:nvSpPr>
                <p:cNvPr id="44094" name="Rectangle 203"/>
                <p:cNvSpPr>
                  <a:spLocks noChangeArrowheads="1"/>
                </p:cNvSpPr>
                <p:nvPr/>
              </p:nvSpPr>
              <p:spPr bwMode="auto">
                <a:xfrm>
                  <a:off x="1373" y="2963"/>
                  <a:ext cx="326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50%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095" name="Rectangle 262"/>
                <p:cNvSpPr>
                  <a:spLocks noChangeArrowheads="1"/>
                </p:cNvSpPr>
                <p:nvPr/>
              </p:nvSpPr>
              <p:spPr bwMode="auto">
                <a:xfrm>
                  <a:off x="1330" y="2963"/>
                  <a:ext cx="412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4" name="Group 265"/>
              <p:cNvGrpSpPr/>
              <p:nvPr/>
            </p:nvGrpSpPr>
            <p:grpSpPr bwMode="auto">
              <a:xfrm>
                <a:off x="1742" y="2963"/>
                <a:ext cx="355" cy="1438"/>
                <a:chOff x="1742" y="2963"/>
                <a:chExt cx="355" cy="1438"/>
              </a:xfrm>
            </p:grpSpPr>
            <p:sp>
              <p:nvSpPr>
                <p:cNvPr id="44092" name="Rectangle 204"/>
                <p:cNvSpPr>
                  <a:spLocks noChangeArrowheads="1"/>
                </p:cNvSpPr>
                <p:nvPr/>
              </p:nvSpPr>
              <p:spPr bwMode="auto">
                <a:xfrm>
                  <a:off x="1785" y="2963"/>
                  <a:ext cx="269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30%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44093" name="Rectangle 264"/>
                <p:cNvSpPr>
                  <a:spLocks noChangeArrowheads="1"/>
                </p:cNvSpPr>
                <p:nvPr/>
              </p:nvSpPr>
              <p:spPr bwMode="auto">
                <a:xfrm>
                  <a:off x="1742" y="2963"/>
                  <a:ext cx="355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5" name="Group 267"/>
              <p:cNvGrpSpPr/>
              <p:nvPr/>
            </p:nvGrpSpPr>
            <p:grpSpPr bwMode="auto">
              <a:xfrm>
                <a:off x="2097" y="2963"/>
                <a:ext cx="412" cy="1438"/>
                <a:chOff x="2097" y="2963"/>
                <a:chExt cx="412" cy="1438"/>
              </a:xfrm>
            </p:grpSpPr>
            <p:sp>
              <p:nvSpPr>
                <p:cNvPr id="44090" name="Rectangle 205"/>
                <p:cNvSpPr>
                  <a:spLocks noChangeArrowheads="1"/>
                </p:cNvSpPr>
                <p:nvPr/>
              </p:nvSpPr>
              <p:spPr bwMode="auto">
                <a:xfrm>
                  <a:off x="2140" y="2963"/>
                  <a:ext cx="326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15%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44091" name="Rectangle 266"/>
                <p:cNvSpPr>
                  <a:spLocks noChangeArrowheads="1"/>
                </p:cNvSpPr>
                <p:nvPr/>
              </p:nvSpPr>
              <p:spPr bwMode="auto">
                <a:xfrm>
                  <a:off x="2097" y="2963"/>
                  <a:ext cx="412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6" name="Group 269"/>
              <p:cNvGrpSpPr/>
              <p:nvPr/>
            </p:nvGrpSpPr>
            <p:grpSpPr bwMode="auto">
              <a:xfrm>
                <a:off x="2509" y="2963"/>
                <a:ext cx="699" cy="1438"/>
                <a:chOff x="2509" y="2963"/>
                <a:chExt cx="699" cy="1438"/>
              </a:xfrm>
            </p:grpSpPr>
            <p:sp>
              <p:nvSpPr>
                <p:cNvPr id="44088" name="Rectangle 206"/>
                <p:cNvSpPr>
                  <a:spLocks noChangeArrowheads="1"/>
                </p:cNvSpPr>
                <p:nvPr/>
              </p:nvSpPr>
              <p:spPr bwMode="auto">
                <a:xfrm>
                  <a:off x="2552" y="2963"/>
                  <a:ext cx="613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>
                    <a:spcBef>
                      <a:spcPct val="0"/>
                    </a:spcBef>
                  </a:pPr>
                  <a:endParaRPr lang="zh-CN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089" name="Rectangle 268"/>
                <p:cNvSpPr>
                  <a:spLocks noChangeArrowheads="1"/>
                </p:cNvSpPr>
                <p:nvPr/>
              </p:nvSpPr>
              <p:spPr bwMode="auto">
                <a:xfrm>
                  <a:off x="2509" y="2963"/>
                  <a:ext cx="699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7" name="Group 271"/>
              <p:cNvGrpSpPr/>
              <p:nvPr/>
            </p:nvGrpSpPr>
            <p:grpSpPr bwMode="auto">
              <a:xfrm>
                <a:off x="0" y="4401"/>
                <a:ext cx="275" cy="518"/>
                <a:chOff x="0" y="4401"/>
                <a:chExt cx="275" cy="518"/>
              </a:xfrm>
            </p:grpSpPr>
            <p:sp>
              <p:nvSpPr>
                <p:cNvPr id="44086" name="Rectangle 207"/>
                <p:cNvSpPr>
                  <a:spLocks noChangeArrowheads="1"/>
                </p:cNvSpPr>
                <p:nvPr/>
              </p:nvSpPr>
              <p:spPr bwMode="auto">
                <a:xfrm>
                  <a:off x="43" y="4401"/>
                  <a:ext cx="18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</a:rPr>
                    <a:t>。。。</a:t>
                  </a:r>
                  <a:endParaRPr lang="zh-CN" altLang="en-US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087" name="Rectangle 270"/>
                <p:cNvSpPr>
                  <a:spLocks noChangeArrowheads="1"/>
                </p:cNvSpPr>
                <p:nvPr/>
              </p:nvSpPr>
              <p:spPr bwMode="auto">
                <a:xfrm>
                  <a:off x="0" y="4401"/>
                  <a:ext cx="27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8" name="Group 273"/>
              <p:cNvGrpSpPr/>
              <p:nvPr/>
            </p:nvGrpSpPr>
            <p:grpSpPr bwMode="auto">
              <a:xfrm>
                <a:off x="275" y="4401"/>
                <a:ext cx="470" cy="518"/>
                <a:chOff x="275" y="4401"/>
                <a:chExt cx="470" cy="518"/>
              </a:xfrm>
            </p:grpSpPr>
            <p:sp>
              <p:nvSpPr>
                <p:cNvPr id="44084" name="Rectangle 208"/>
                <p:cNvSpPr>
                  <a:spLocks noChangeArrowheads="1"/>
                </p:cNvSpPr>
                <p:nvPr/>
              </p:nvSpPr>
              <p:spPr bwMode="auto">
                <a:xfrm>
                  <a:off x="318" y="4401"/>
                  <a:ext cx="38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085" name="Rectangle 272"/>
                <p:cNvSpPr>
                  <a:spLocks noChangeArrowheads="1"/>
                </p:cNvSpPr>
                <p:nvPr/>
              </p:nvSpPr>
              <p:spPr bwMode="auto">
                <a:xfrm>
                  <a:off x="275" y="4401"/>
                  <a:ext cx="47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69" name="Group 275"/>
              <p:cNvGrpSpPr/>
              <p:nvPr/>
            </p:nvGrpSpPr>
            <p:grpSpPr bwMode="auto">
              <a:xfrm>
                <a:off x="745" y="4401"/>
                <a:ext cx="585" cy="518"/>
                <a:chOff x="745" y="4401"/>
                <a:chExt cx="585" cy="518"/>
              </a:xfrm>
            </p:grpSpPr>
            <p:sp>
              <p:nvSpPr>
                <p:cNvPr id="44082" name="Rectangle 209"/>
                <p:cNvSpPr>
                  <a:spLocks noChangeArrowheads="1"/>
                </p:cNvSpPr>
                <p:nvPr/>
              </p:nvSpPr>
              <p:spPr bwMode="auto">
                <a:xfrm>
                  <a:off x="788" y="4401"/>
                  <a:ext cx="49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083" name="Rectangle 274"/>
                <p:cNvSpPr>
                  <a:spLocks noChangeArrowheads="1"/>
                </p:cNvSpPr>
                <p:nvPr/>
              </p:nvSpPr>
              <p:spPr bwMode="auto">
                <a:xfrm>
                  <a:off x="745" y="4401"/>
                  <a:ext cx="58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70" name="Group 277"/>
              <p:cNvGrpSpPr/>
              <p:nvPr/>
            </p:nvGrpSpPr>
            <p:grpSpPr bwMode="auto">
              <a:xfrm>
                <a:off x="1330" y="4401"/>
                <a:ext cx="412" cy="518"/>
                <a:chOff x="1330" y="4401"/>
                <a:chExt cx="412" cy="518"/>
              </a:xfrm>
            </p:grpSpPr>
            <p:sp>
              <p:nvSpPr>
                <p:cNvPr id="44080" name="Rectangle 210"/>
                <p:cNvSpPr>
                  <a:spLocks noChangeArrowheads="1"/>
                </p:cNvSpPr>
                <p:nvPr/>
              </p:nvSpPr>
              <p:spPr bwMode="auto">
                <a:xfrm>
                  <a:off x="1373" y="440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081" name="Rectangle 276"/>
                <p:cNvSpPr>
                  <a:spLocks noChangeArrowheads="1"/>
                </p:cNvSpPr>
                <p:nvPr/>
              </p:nvSpPr>
              <p:spPr bwMode="auto">
                <a:xfrm>
                  <a:off x="1330" y="4401"/>
                  <a:ext cx="41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71" name="Group 279"/>
              <p:cNvGrpSpPr/>
              <p:nvPr/>
            </p:nvGrpSpPr>
            <p:grpSpPr bwMode="auto">
              <a:xfrm>
                <a:off x="1742" y="4401"/>
                <a:ext cx="355" cy="518"/>
                <a:chOff x="1742" y="4401"/>
                <a:chExt cx="355" cy="518"/>
              </a:xfrm>
            </p:grpSpPr>
            <p:sp>
              <p:nvSpPr>
                <p:cNvPr id="44078" name="Rectangle 211"/>
                <p:cNvSpPr>
                  <a:spLocks noChangeArrowheads="1"/>
                </p:cNvSpPr>
                <p:nvPr/>
              </p:nvSpPr>
              <p:spPr bwMode="auto">
                <a:xfrm>
                  <a:off x="1785" y="4401"/>
                  <a:ext cx="26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079" name="Rectangle 278"/>
                <p:cNvSpPr>
                  <a:spLocks noChangeArrowheads="1"/>
                </p:cNvSpPr>
                <p:nvPr/>
              </p:nvSpPr>
              <p:spPr bwMode="auto">
                <a:xfrm>
                  <a:off x="1742" y="4401"/>
                  <a:ext cx="35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72" name="Group 281"/>
              <p:cNvGrpSpPr/>
              <p:nvPr/>
            </p:nvGrpSpPr>
            <p:grpSpPr bwMode="auto">
              <a:xfrm>
                <a:off x="2097" y="4401"/>
                <a:ext cx="412" cy="518"/>
                <a:chOff x="2097" y="4401"/>
                <a:chExt cx="412" cy="518"/>
              </a:xfrm>
            </p:grpSpPr>
            <p:sp>
              <p:nvSpPr>
                <p:cNvPr id="44076" name="Rectangle 212"/>
                <p:cNvSpPr>
                  <a:spLocks noChangeArrowheads="1"/>
                </p:cNvSpPr>
                <p:nvPr/>
              </p:nvSpPr>
              <p:spPr bwMode="auto">
                <a:xfrm>
                  <a:off x="2140" y="440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077" name="Rectangle 280"/>
                <p:cNvSpPr>
                  <a:spLocks noChangeArrowheads="1"/>
                </p:cNvSpPr>
                <p:nvPr/>
              </p:nvSpPr>
              <p:spPr bwMode="auto">
                <a:xfrm>
                  <a:off x="2097" y="4401"/>
                  <a:ext cx="41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44073" name="Group 283"/>
              <p:cNvGrpSpPr/>
              <p:nvPr/>
            </p:nvGrpSpPr>
            <p:grpSpPr bwMode="auto">
              <a:xfrm>
                <a:off x="2509" y="4401"/>
                <a:ext cx="699" cy="518"/>
                <a:chOff x="2509" y="4401"/>
                <a:chExt cx="699" cy="518"/>
              </a:xfrm>
            </p:grpSpPr>
            <p:sp>
              <p:nvSpPr>
                <p:cNvPr id="44074" name="Rectangle 213"/>
                <p:cNvSpPr>
                  <a:spLocks noChangeArrowheads="1"/>
                </p:cNvSpPr>
                <p:nvPr/>
              </p:nvSpPr>
              <p:spPr bwMode="auto">
                <a:xfrm>
                  <a:off x="2552" y="4401"/>
                  <a:ext cx="6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4075" name="Rectangle 282"/>
                <p:cNvSpPr>
                  <a:spLocks noChangeArrowheads="1"/>
                </p:cNvSpPr>
                <p:nvPr/>
              </p:nvSpPr>
              <p:spPr bwMode="auto">
                <a:xfrm>
                  <a:off x="2509" y="4401"/>
                  <a:ext cx="6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</p:grpSp>
        <p:sp>
          <p:nvSpPr>
            <p:cNvPr id="44038" name="Rectangle 285"/>
            <p:cNvSpPr>
              <a:spLocks noChangeArrowheads="1"/>
            </p:cNvSpPr>
            <p:nvPr/>
          </p:nvSpPr>
          <p:spPr bwMode="auto">
            <a:xfrm>
              <a:off x="-3" y="371"/>
              <a:ext cx="3214" cy="4551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4800" smtClean="0">
                <a:solidFill>
                  <a:prstClr val="black"/>
                </a:solidFill>
                <a:latin typeface="Arial Narrow" panose="020B060602020203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5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84200"/>
            <a:ext cx="7772400" cy="7239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风险管理的四个过程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457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CFC16E15-C026-4961-BE15-7A09B711C96F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20485" name="Text Box 2052"/>
          <p:cNvSpPr txBox="1">
            <a:spLocks noChangeArrowheads="1"/>
          </p:cNvSpPr>
          <p:nvPr/>
        </p:nvSpPr>
        <p:spPr bwMode="auto">
          <a:xfrm>
            <a:off x="1371600" y="1905001"/>
            <a:ext cx="1905000" cy="5219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风险识别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6" name="Text Box 2053"/>
          <p:cNvSpPr txBox="1">
            <a:spLocks noChangeArrowheads="1"/>
          </p:cNvSpPr>
          <p:nvPr/>
        </p:nvSpPr>
        <p:spPr bwMode="auto">
          <a:xfrm>
            <a:off x="3048000" y="2971801"/>
            <a:ext cx="1905000" cy="5219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风险评估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7" name="Text Box 2054"/>
          <p:cNvSpPr txBox="1">
            <a:spLocks noChangeArrowheads="1"/>
          </p:cNvSpPr>
          <p:nvPr/>
        </p:nvSpPr>
        <p:spPr bwMode="auto">
          <a:xfrm>
            <a:off x="4724400" y="4038601"/>
            <a:ext cx="1905000" cy="5219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风险规划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20488" name="Text Box 2055"/>
          <p:cNvSpPr txBox="1">
            <a:spLocks noChangeArrowheads="1"/>
          </p:cNvSpPr>
          <p:nvPr/>
        </p:nvSpPr>
        <p:spPr bwMode="auto">
          <a:xfrm>
            <a:off x="6629400" y="5105401"/>
            <a:ext cx="1905000" cy="52197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风险控制</a:t>
            </a:r>
            <a:endParaRPr lang="zh-CN" altLang="en-US" sz="28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cxnSp>
        <p:nvCxnSpPr>
          <p:cNvPr id="45065" name="AutoShape 2056"/>
          <p:cNvCxnSpPr>
            <a:cxnSpLocks noChangeShapeType="1"/>
            <a:stCxn id="20485" idx="3"/>
            <a:endCxn id="20486" idx="0"/>
          </p:cNvCxnSpPr>
          <p:nvPr/>
        </p:nvCxnSpPr>
        <p:spPr bwMode="auto">
          <a:xfrm>
            <a:off x="3276600" y="2165985"/>
            <a:ext cx="723900" cy="805815"/>
          </a:xfrm>
          <a:prstGeom prst="bentConnector2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6" name="AutoShape 2057"/>
          <p:cNvCxnSpPr>
            <a:cxnSpLocks noChangeShapeType="1"/>
            <a:endCxn id="20487" idx="0"/>
          </p:cNvCxnSpPr>
          <p:nvPr/>
        </p:nvCxnSpPr>
        <p:spPr bwMode="auto">
          <a:xfrm rot="16200000" flipH="1">
            <a:off x="4857750" y="3219451"/>
            <a:ext cx="914402" cy="723898"/>
          </a:xfrm>
          <a:prstGeom prst="bent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7" name="AutoShape 2058"/>
          <p:cNvCxnSpPr>
            <a:cxnSpLocks noChangeShapeType="1"/>
          </p:cNvCxnSpPr>
          <p:nvPr/>
        </p:nvCxnSpPr>
        <p:spPr bwMode="auto">
          <a:xfrm>
            <a:off x="6664325" y="4267201"/>
            <a:ext cx="787400" cy="857251"/>
          </a:xfrm>
          <a:prstGeom prst="bentConnector2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8" name="AutoShape 2059"/>
          <p:cNvCxnSpPr>
            <a:cxnSpLocks noChangeShapeType="1"/>
            <a:stCxn id="20488" idx="2"/>
            <a:endCxn id="20485" idx="1"/>
          </p:cNvCxnSpPr>
          <p:nvPr/>
        </p:nvCxnSpPr>
        <p:spPr bwMode="auto">
          <a:xfrm rot="5400000" flipH="1">
            <a:off x="2746058" y="791528"/>
            <a:ext cx="3461385" cy="6210300"/>
          </a:xfrm>
          <a:prstGeom prst="bentConnector4">
            <a:avLst>
              <a:gd name="adj1" fmla="val -6870"/>
              <a:gd name="adj2" fmla="val 103839"/>
            </a:avLst>
          </a:prstGeom>
          <a:noFill/>
          <a:ln w="25400">
            <a:solidFill>
              <a:schemeClr val="tx1"/>
            </a:solidFill>
            <a:miter lim="800000"/>
            <a:headEnd type="none" w="sm" len="sm"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3" name="Picture 4" descr="E:\Ygq\Media\STOPHAND.BM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450" y="4108451"/>
            <a:ext cx="5778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8175"/>
            <a:ext cx="7772400" cy="76517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3--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风险规划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2227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DFDB643D-E340-4434-8989-47DC36892BAA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4608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989455"/>
            <a:ext cx="8348345" cy="3166745"/>
          </a:xfrm>
        </p:spPr>
        <p:txBody>
          <a:bodyPr/>
          <a:lstStyle/>
          <a:p>
            <a:pPr eaLnBrk="1" hangingPunct="1">
              <a:buFont typeface="Monotype Sorts" charset="0"/>
              <a:buNone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针对风险分析的结果，为提高实现项目目标的机会，降低风险的负面影响而制定风险应对策略和应对措施的过程，即制定一定的行动和策略来对付、减少、以至于消灭风险事件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造成的影响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67055"/>
            <a:ext cx="7772400" cy="83629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风险规划的主要策略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325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A8AEBF20-81FA-4F5F-8915-E17E6CB1F6C3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2084705"/>
            <a:ext cx="8153400" cy="249999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533400" indent="-53340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回避风险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33400" indent="-53340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转移风险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33400" indent="-53340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损失控制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33400" indent="-53340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自留风险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1" grpId="0" animBg="1" build="p"/>
      <p:bldP spid="299011" grpId="1" animBg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56590"/>
            <a:ext cx="7772400" cy="65151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回避风险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427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B14C76EA-8660-428D-8F6C-28941E6F0DA2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34851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892300"/>
            <a:ext cx="8425180" cy="268795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回避风险是对可能发生的风险尽可能的规避，采取主动放弃或者拒绝使用导致风险的方案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例如放弃采用新技术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4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 autoUpdateAnimBg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21665"/>
            <a:ext cx="7772400" cy="78168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回避风险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529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C1117B88-38B0-43D6-8E41-1A7D877523A5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44339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600200"/>
            <a:ext cx="8442325" cy="4324350"/>
          </a:xfrm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Monotype Sorts" charset="0"/>
              <a:buNone/>
              <a:defRPr/>
            </a:pP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注意事项</a:t>
            </a:r>
            <a:endParaRPr lang="zh-CN" altLang="en-US" sz="3200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对风险有足够的认识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当其他风险策略不理想的时候，可以考虑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可能产生另外的风险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不是所有的情况都适用的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q"/>
              <a:defRPr/>
            </a:pP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5" grpId="0" autoUpdateAnimBg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22605"/>
            <a:ext cx="7772400" cy="78549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转移风险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632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7754E75A-B90D-46B2-9D6A-6EE39BA02BC4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3587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797050"/>
            <a:ext cx="8153400" cy="1344295"/>
          </a:xfrm>
        </p:spPr>
        <p:txBody>
          <a:bodyPr>
            <a:normAutofit lnSpcReduction="20000"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anose="05000000000000000000"/>
              <a:buNone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转移风险是为了避免承担风险损失，有意识将损失或与损失有关的财务后果转嫁出去的方法。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2600" y="3274484"/>
            <a:ext cx="8153400" cy="25908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fontAlgn="auto" hangingPunct="1">
              <a:spcAft>
                <a:spcPts val="0"/>
              </a:spcAft>
              <a:buClr>
                <a:srgbClr val="DD8047"/>
              </a:buClr>
              <a:buFont typeface="Wingdings" panose="05000000000000000000"/>
              <a:buNone/>
              <a:defRPr/>
            </a:pPr>
            <a:r>
              <a:rPr kumimoji="0" lang="zh-CN" altLang="en-US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例如</a:t>
            </a:r>
            <a:endParaRPr kumimoji="0" lang="zh-CN" altLang="en-US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Clr>
                <a:srgbClr val="94B6D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分包</a:t>
            </a:r>
            <a:endParaRPr kumimoji="0" lang="zh-CN" altLang="en-US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Clr>
                <a:srgbClr val="94B6D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开脱责任合同</a:t>
            </a:r>
            <a:endParaRPr kumimoji="0" lang="zh-CN" altLang="en-US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Clr>
                <a:srgbClr val="94B6D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保险</a:t>
            </a:r>
            <a:endParaRPr kumimoji="0" lang="zh-CN" altLang="en-US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640080" lvl="1" indent="-274320" eaLnBrk="1" fontAlgn="auto" hangingPunct="1">
              <a:spcAft>
                <a:spcPts val="0"/>
              </a:spcAft>
              <a:buClr>
                <a:srgbClr val="94B6D2"/>
              </a:buClr>
              <a:buFont typeface="Wingdings 2" panose="05020102010507070707"/>
              <a:buChar char=""/>
              <a:defRPr/>
            </a:pPr>
            <a:endParaRPr kumimoji="0" lang="en-US" altLang="zh-CN" dirty="0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5" grpId="0" autoUpdateAnimBg="0" build="p"/>
      <p:bldP spid="6" grpId="0" animBg="1"/>
      <p:bldP spid="6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7995"/>
            <a:ext cx="7772400" cy="93535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损失控制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7347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34907247-038F-4FCB-BBA1-7A62C244B0B4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6" name="AutoShape 3"/>
          <p:cNvSpPr>
            <a:spLocks noChangeArrowheads="1"/>
          </p:cNvSpPr>
          <p:nvPr/>
        </p:nvSpPr>
        <p:spPr bwMode="gray">
          <a:xfrm>
            <a:off x="2085975" y="1725084"/>
            <a:ext cx="6542088" cy="1896533"/>
          </a:xfrm>
          <a:prstGeom prst="roundRect">
            <a:avLst>
              <a:gd name="adj" fmla="val 12727"/>
            </a:avLst>
          </a:prstGeom>
          <a:solidFill>
            <a:srgbClr val="CFD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zh-CN" sz="480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white">
          <a:xfrm>
            <a:off x="2741613" y="2184406"/>
            <a:ext cx="5899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365760" lvl="1" algn="l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例如：项目技术培训，预防技术失败</a:t>
            </a:r>
            <a:endParaRPr lang="zh-CN" altLang="en-US" sz="24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grpSp>
        <p:nvGrpSpPr>
          <p:cNvPr id="8" name="Group 5"/>
          <p:cNvGrpSpPr/>
          <p:nvPr/>
        </p:nvGrpSpPr>
        <p:grpSpPr bwMode="auto">
          <a:xfrm>
            <a:off x="1176338" y="1725084"/>
            <a:ext cx="1681162" cy="1794933"/>
            <a:chOff x="802" y="845"/>
            <a:chExt cx="827" cy="826"/>
          </a:xfrm>
        </p:grpSpPr>
        <p:sp>
          <p:nvSpPr>
            <p:cNvPr id="51216" name="Oval 6"/>
            <p:cNvSpPr>
              <a:spLocks noChangeArrowheads="1"/>
            </p:cNvSpPr>
            <p:nvPr/>
          </p:nvSpPr>
          <p:spPr bwMode="gray">
            <a:xfrm>
              <a:off x="802" y="845"/>
              <a:ext cx="827" cy="826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chemeClr val="accent1"/>
              </a:solidFill>
              <a:round/>
            </a:ln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7" name="Oval 7"/>
            <p:cNvSpPr>
              <a:spLocks noChangeArrowheads="1"/>
            </p:cNvSpPr>
            <p:nvPr/>
          </p:nvSpPr>
          <p:spPr bwMode="gray">
            <a:xfrm>
              <a:off x="836" y="879"/>
              <a:ext cx="758" cy="758"/>
            </a:xfrm>
            <a:prstGeom prst="ellipse">
              <a:avLst/>
            </a:prstGeom>
            <a:noFill/>
            <a:ln w="38100">
              <a:solidFill>
                <a:schemeClr val="accent1">
                  <a:alpha val="70195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8" name="Oval 8"/>
            <p:cNvSpPr>
              <a:spLocks noChangeArrowheads="1"/>
            </p:cNvSpPr>
            <p:nvPr/>
          </p:nvSpPr>
          <p:spPr bwMode="gray">
            <a:xfrm>
              <a:off x="870" y="915"/>
              <a:ext cx="690" cy="690"/>
            </a:xfrm>
            <a:prstGeom prst="ellipse">
              <a:avLst/>
            </a:prstGeom>
            <a:noFill/>
            <a:ln w="38100">
              <a:solidFill>
                <a:schemeClr val="accent1">
                  <a:alpha val="30196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Text Box 9"/>
          <p:cNvSpPr txBox="1">
            <a:spLocks noChangeArrowheads="1"/>
          </p:cNvSpPr>
          <p:nvPr/>
        </p:nvSpPr>
        <p:spPr bwMode="gray">
          <a:xfrm>
            <a:off x="1350963" y="2381251"/>
            <a:ext cx="1357312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ctr">
              <a:spcBef>
                <a:spcPts val="700"/>
              </a:spcBef>
              <a:buClr>
                <a:srgbClr val="DD8047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0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损失预防</a:t>
            </a:r>
            <a:endParaRPr lang="zh-CN" altLang="en-US" sz="2000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3" name="AutoShape 17"/>
          <p:cNvSpPr>
            <a:spLocks noChangeArrowheads="1"/>
          </p:cNvSpPr>
          <p:nvPr/>
        </p:nvSpPr>
        <p:spPr bwMode="gray">
          <a:xfrm>
            <a:off x="2085975" y="3909490"/>
            <a:ext cx="6542088" cy="1974849"/>
          </a:xfrm>
          <a:prstGeom prst="roundRect">
            <a:avLst>
              <a:gd name="adj" fmla="val 12727"/>
            </a:avLst>
          </a:prstGeom>
          <a:solidFill>
            <a:srgbClr val="EBE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zh-CN" sz="480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Group 19"/>
          <p:cNvGrpSpPr/>
          <p:nvPr/>
        </p:nvGrpSpPr>
        <p:grpSpPr bwMode="auto">
          <a:xfrm>
            <a:off x="1176338" y="3858684"/>
            <a:ext cx="1681162" cy="1794933"/>
            <a:chOff x="802" y="845"/>
            <a:chExt cx="827" cy="826"/>
          </a:xfrm>
        </p:grpSpPr>
        <p:sp>
          <p:nvSpPr>
            <p:cNvPr id="51213" name="Oval 20"/>
            <p:cNvSpPr>
              <a:spLocks noChangeArrowheads="1"/>
            </p:cNvSpPr>
            <p:nvPr/>
          </p:nvSpPr>
          <p:spPr bwMode="gray">
            <a:xfrm>
              <a:off x="802" y="845"/>
              <a:ext cx="827" cy="826"/>
            </a:xfrm>
            <a:prstGeom prst="ellipse">
              <a:avLst/>
            </a:prstGeom>
            <a:solidFill>
              <a:srgbClr val="F8F8F8"/>
            </a:solidFill>
            <a:ln w="38100">
              <a:solidFill>
                <a:schemeClr val="hlink"/>
              </a:solidFill>
              <a:round/>
            </a:ln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4" name="Oval 21"/>
            <p:cNvSpPr>
              <a:spLocks noChangeArrowheads="1"/>
            </p:cNvSpPr>
            <p:nvPr/>
          </p:nvSpPr>
          <p:spPr bwMode="gray">
            <a:xfrm>
              <a:off x="836" y="879"/>
              <a:ext cx="758" cy="758"/>
            </a:xfrm>
            <a:prstGeom prst="ellipse">
              <a:avLst/>
            </a:prstGeom>
            <a:noFill/>
            <a:ln w="38100">
              <a:solidFill>
                <a:schemeClr val="hlink">
                  <a:alpha val="70195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15" name="Oval 22"/>
            <p:cNvSpPr>
              <a:spLocks noChangeArrowheads="1"/>
            </p:cNvSpPr>
            <p:nvPr/>
          </p:nvSpPr>
          <p:spPr bwMode="gray">
            <a:xfrm>
              <a:off x="870" y="915"/>
              <a:ext cx="690" cy="690"/>
            </a:xfrm>
            <a:prstGeom prst="ellipse">
              <a:avLst/>
            </a:prstGeom>
            <a:noFill/>
            <a:ln w="38100">
              <a:solidFill>
                <a:schemeClr val="hlink">
                  <a:alpha val="30196"/>
                </a:scheme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zh-CN" sz="480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" name="Text Box 23"/>
          <p:cNvSpPr txBox="1">
            <a:spLocks noChangeArrowheads="1"/>
          </p:cNvSpPr>
          <p:nvPr/>
        </p:nvSpPr>
        <p:spPr bwMode="gray">
          <a:xfrm>
            <a:off x="1176338" y="4516967"/>
            <a:ext cx="1625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ctr"/>
            <a:r>
              <a:rPr lang="zh-CN" altLang="en-US" sz="18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损失抑制</a:t>
            </a:r>
            <a:endParaRPr lang="zh-CN" altLang="en-US" sz="1800" b="1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white">
          <a:xfrm>
            <a:off x="2732094" y="4343406"/>
            <a:ext cx="593407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indent="4572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8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365760" lvl="1" indent="0" algn="l" eaLnBrk="1" fontAlgn="auto" hangingPunct="1">
              <a:spcBef>
                <a:spcPct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例如：项目人员储备，抑制人员流失的损失</a:t>
            </a:r>
            <a:endParaRPr lang="zh-CN" altLang="en-US" sz="2400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6" grpId="0" animBg="1"/>
      <p:bldP spid="7" grpId="0"/>
      <p:bldP spid="6" grpId="1" animBg="1"/>
      <p:bldP spid="7" grpId="1"/>
      <p:bldP spid="18" grpId="0"/>
      <p:bldP spid="18" grpId="1"/>
      <p:bldP spid="13" grpId="0" animBg="1"/>
      <p:bldP spid="19" grpId="0"/>
      <p:bldP spid="13" grpId="1" animBg="1"/>
      <p:bldP spid="19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01650"/>
            <a:ext cx="7772400" cy="660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自留风险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837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C53930FB-879F-44E2-AC30-32978B8E4079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37923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358775" y="2179955"/>
            <a:ext cx="8785225" cy="144145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anose="05000000000000000000"/>
              <a:buNone/>
              <a:defRPr/>
            </a:pPr>
            <a:r>
              <a:rPr lang="zh-CN" altLang="en-US" sz="32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charset="-122"/>
              </a:rPr>
              <a:t>由项目组织自己承担风险事故所致损失的措施。 </a:t>
            </a:r>
            <a:endParaRPr lang="zh-CN" altLang="en-US" sz="3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Monotype Sorts" charset="0"/>
              <a:buNone/>
              <a:defRPr/>
            </a:pPr>
            <a:endParaRPr lang="zh-CN" altLang="en-US" sz="3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53720"/>
            <a:ext cx="7772400" cy="75438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风险规划实例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939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4D179488-D034-40DC-8CA2-BAD10F4F7AF1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5939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892300"/>
            <a:ext cx="8153400" cy="288099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Wingdings" panose="05000000000000000000"/>
              <a:buNone/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人员的频繁流动是一项风险，基于过去的历史和管理经验，频繁流动可能性的估计值为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70%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，开发时间增加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15%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，总成本增加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12%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，为了缓解这一风险，项目经理是采取的策略：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59435"/>
            <a:ext cx="7772400" cy="74866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实例</a:t>
            </a:r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--”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损失控制”策略的步骤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041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19776890-C5EB-4C43-B337-A9A8CFA4A962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4611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701800"/>
            <a:ext cx="8569325" cy="449580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与现有人员讨论人员流动的原因</a:t>
            </a:r>
            <a:endParaRPr lang="zh-CN" altLang="en-US" sz="24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建立良好的项目组织和通信渠道，以使大家能够了解每个有关的开发活动的信息</a:t>
            </a:r>
            <a:endParaRPr lang="zh-CN" altLang="en-US" sz="24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指定文档标准并建立相应的机制，以保证文档能够及时建立</a:t>
            </a:r>
            <a:endParaRPr lang="zh-CN" altLang="en-US" sz="24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对所有工作组织细致的评审，使大多数人能够按计划进度完成自己的工作</a:t>
            </a:r>
            <a:endParaRPr lang="zh-CN" altLang="en-US" sz="24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4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项目启动时，做好会出现人员流动的准备，采取一些技术以确保人员的一旦离开后，项目仍然能继续</a:t>
            </a:r>
            <a:endParaRPr lang="zh-CN" altLang="en-US" sz="24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/>
              <a:buChar char=""/>
              <a:defRPr/>
            </a:pPr>
            <a:endParaRPr lang="zh-CN" altLang="en-US" sz="24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Font typeface="Wingdings" panose="05000000000000000000"/>
              <a:buChar char=""/>
              <a:defRPr/>
            </a:pPr>
            <a:endParaRPr lang="zh-CN" altLang="en-US" sz="24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68630"/>
            <a:ext cx="7772400" cy="97917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风险管理应对计划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144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BE454C10-772E-4372-B0B6-8601376AE7F5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grpSp>
        <p:nvGrpSpPr>
          <p:cNvPr id="55300" name="Group 3"/>
          <p:cNvGrpSpPr/>
          <p:nvPr/>
        </p:nvGrpSpPr>
        <p:grpSpPr bwMode="auto">
          <a:xfrm>
            <a:off x="-63500" y="1604439"/>
            <a:ext cx="9136063" cy="5094817"/>
            <a:chOff x="-3" y="371"/>
            <a:chExt cx="3214" cy="4551"/>
          </a:xfrm>
        </p:grpSpPr>
        <p:grpSp>
          <p:nvGrpSpPr>
            <p:cNvPr id="55301" name="Group 4"/>
            <p:cNvGrpSpPr/>
            <p:nvPr/>
          </p:nvGrpSpPr>
          <p:grpSpPr bwMode="auto">
            <a:xfrm>
              <a:off x="0" y="374"/>
              <a:ext cx="3208" cy="4545"/>
              <a:chOff x="0" y="374"/>
              <a:chExt cx="3208" cy="4545"/>
            </a:xfrm>
          </p:grpSpPr>
          <p:grpSp>
            <p:nvGrpSpPr>
              <p:cNvPr id="55303" name="Group 5"/>
              <p:cNvGrpSpPr/>
              <p:nvPr/>
            </p:nvGrpSpPr>
            <p:grpSpPr bwMode="auto">
              <a:xfrm>
                <a:off x="0" y="374"/>
                <a:ext cx="275" cy="518"/>
                <a:chOff x="0" y="374"/>
                <a:chExt cx="275" cy="518"/>
              </a:xfrm>
            </p:grpSpPr>
            <p:sp>
              <p:nvSpPr>
                <p:cNvPr id="55406" name="Rectangle 6"/>
                <p:cNvSpPr>
                  <a:spLocks noChangeArrowheads="1"/>
                </p:cNvSpPr>
                <p:nvPr/>
              </p:nvSpPr>
              <p:spPr bwMode="auto">
                <a:xfrm>
                  <a:off x="43" y="374"/>
                  <a:ext cx="18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</a:rPr>
                    <a:t>排序</a:t>
                  </a:r>
                  <a:endParaRPr lang="zh-CN" altLang="en-US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407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374"/>
                  <a:ext cx="27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04" name="Group 8"/>
              <p:cNvGrpSpPr/>
              <p:nvPr/>
            </p:nvGrpSpPr>
            <p:grpSpPr bwMode="auto">
              <a:xfrm>
                <a:off x="275" y="374"/>
                <a:ext cx="470" cy="518"/>
                <a:chOff x="275" y="374"/>
                <a:chExt cx="470" cy="518"/>
              </a:xfrm>
            </p:grpSpPr>
            <p:sp>
              <p:nvSpPr>
                <p:cNvPr id="55404" name="Rectangle 9"/>
                <p:cNvSpPr>
                  <a:spLocks noChangeArrowheads="1"/>
                </p:cNvSpPr>
                <p:nvPr/>
              </p:nvSpPr>
              <p:spPr bwMode="auto">
                <a:xfrm>
                  <a:off x="318" y="374"/>
                  <a:ext cx="38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输入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405" name="Rectangle 10"/>
                <p:cNvSpPr>
                  <a:spLocks noChangeArrowheads="1"/>
                </p:cNvSpPr>
                <p:nvPr/>
              </p:nvSpPr>
              <p:spPr bwMode="auto">
                <a:xfrm>
                  <a:off x="275" y="374"/>
                  <a:ext cx="47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05" name="Group 11"/>
              <p:cNvGrpSpPr/>
              <p:nvPr/>
            </p:nvGrpSpPr>
            <p:grpSpPr bwMode="auto">
              <a:xfrm>
                <a:off x="745" y="374"/>
                <a:ext cx="585" cy="518"/>
                <a:chOff x="745" y="374"/>
                <a:chExt cx="585" cy="518"/>
              </a:xfrm>
            </p:grpSpPr>
            <p:sp>
              <p:nvSpPr>
                <p:cNvPr id="55402" name="Rectangle 12"/>
                <p:cNvSpPr>
                  <a:spLocks noChangeArrowheads="1"/>
                </p:cNvSpPr>
                <p:nvPr/>
              </p:nvSpPr>
              <p:spPr bwMode="auto">
                <a:xfrm>
                  <a:off x="788" y="374"/>
                  <a:ext cx="49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风险事件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403" name="Rectangle 13"/>
                <p:cNvSpPr>
                  <a:spLocks noChangeArrowheads="1"/>
                </p:cNvSpPr>
                <p:nvPr/>
              </p:nvSpPr>
              <p:spPr bwMode="auto">
                <a:xfrm>
                  <a:off x="745" y="374"/>
                  <a:ext cx="58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06" name="Group 14"/>
              <p:cNvGrpSpPr/>
              <p:nvPr/>
            </p:nvGrpSpPr>
            <p:grpSpPr bwMode="auto">
              <a:xfrm>
                <a:off x="1330" y="374"/>
                <a:ext cx="412" cy="518"/>
                <a:chOff x="1330" y="374"/>
                <a:chExt cx="412" cy="518"/>
              </a:xfrm>
            </p:grpSpPr>
            <p:sp>
              <p:nvSpPr>
                <p:cNvPr id="55400" name="Rectangle 15"/>
                <p:cNvSpPr>
                  <a:spLocks noChangeArrowheads="1"/>
                </p:cNvSpPr>
                <p:nvPr/>
              </p:nvSpPr>
              <p:spPr bwMode="auto">
                <a:xfrm>
                  <a:off x="1373" y="374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可能性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401" name="Rectangle 16"/>
                <p:cNvSpPr>
                  <a:spLocks noChangeArrowheads="1"/>
                </p:cNvSpPr>
                <p:nvPr/>
              </p:nvSpPr>
              <p:spPr bwMode="auto">
                <a:xfrm>
                  <a:off x="1330" y="374"/>
                  <a:ext cx="41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07" name="Group 17"/>
              <p:cNvGrpSpPr/>
              <p:nvPr/>
            </p:nvGrpSpPr>
            <p:grpSpPr bwMode="auto">
              <a:xfrm>
                <a:off x="1742" y="374"/>
                <a:ext cx="355" cy="518"/>
                <a:chOff x="1742" y="374"/>
                <a:chExt cx="355" cy="518"/>
              </a:xfrm>
            </p:grpSpPr>
            <p:sp>
              <p:nvSpPr>
                <p:cNvPr id="55398" name="Rectangle 18"/>
                <p:cNvSpPr>
                  <a:spLocks noChangeArrowheads="1"/>
                </p:cNvSpPr>
                <p:nvPr/>
              </p:nvSpPr>
              <p:spPr bwMode="auto">
                <a:xfrm>
                  <a:off x="1785" y="374"/>
                  <a:ext cx="26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影响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99" name="Rectangle 19"/>
                <p:cNvSpPr>
                  <a:spLocks noChangeArrowheads="1"/>
                </p:cNvSpPr>
                <p:nvPr/>
              </p:nvSpPr>
              <p:spPr bwMode="auto">
                <a:xfrm>
                  <a:off x="1742" y="374"/>
                  <a:ext cx="35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08" name="Group 20"/>
              <p:cNvGrpSpPr/>
              <p:nvPr/>
            </p:nvGrpSpPr>
            <p:grpSpPr bwMode="auto">
              <a:xfrm>
                <a:off x="2097" y="374"/>
                <a:ext cx="412" cy="518"/>
                <a:chOff x="2097" y="374"/>
                <a:chExt cx="412" cy="518"/>
              </a:xfrm>
            </p:grpSpPr>
            <p:sp>
              <p:nvSpPr>
                <p:cNvPr id="55396" name="Rectangle 21"/>
                <p:cNvSpPr>
                  <a:spLocks noChangeArrowheads="1"/>
                </p:cNvSpPr>
                <p:nvPr/>
              </p:nvSpPr>
              <p:spPr bwMode="auto">
                <a:xfrm>
                  <a:off x="2140" y="374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风险值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97" name="Rectangle 22"/>
                <p:cNvSpPr>
                  <a:spLocks noChangeArrowheads="1"/>
                </p:cNvSpPr>
                <p:nvPr/>
              </p:nvSpPr>
              <p:spPr bwMode="auto">
                <a:xfrm>
                  <a:off x="2097" y="374"/>
                  <a:ext cx="41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09" name="Group 23"/>
              <p:cNvGrpSpPr/>
              <p:nvPr/>
            </p:nvGrpSpPr>
            <p:grpSpPr bwMode="auto">
              <a:xfrm>
                <a:off x="2509" y="374"/>
                <a:ext cx="699" cy="518"/>
                <a:chOff x="2509" y="374"/>
                <a:chExt cx="699" cy="518"/>
              </a:xfrm>
            </p:grpSpPr>
            <p:sp>
              <p:nvSpPr>
                <p:cNvPr id="55394" name="Rectangle 24"/>
                <p:cNvSpPr>
                  <a:spLocks noChangeArrowheads="1"/>
                </p:cNvSpPr>
                <p:nvPr/>
              </p:nvSpPr>
              <p:spPr bwMode="auto">
                <a:xfrm>
                  <a:off x="2552" y="374"/>
                  <a:ext cx="6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采取的措施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95" name="Rectangle 25"/>
                <p:cNvSpPr>
                  <a:spLocks noChangeArrowheads="1"/>
                </p:cNvSpPr>
                <p:nvPr/>
              </p:nvSpPr>
              <p:spPr bwMode="auto">
                <a:xfrm>
                  <a:off x="2509" y="374"/>
                  <a:ext cx="6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0" name="Group 26"/>
              <p:cNvGrpSpPr/>
              <p:nvPr/>
            </p:nvGrpSpPr>
            <p:grpSpPr bwMode="auto">
              <a:xfrm>
                <a:off x="0" y="892"/>
                <a:ext cx="275" cy="1093"/>
                <a:chOff x="0" y="892"/>
                <a:chExt cx="275" cy="1093"/>
              </a:xfrm>
            </p:grpSpPr>
            <p:sp>
              <p:nvSpPr>
                <p:cNvPr id="55392" name="Rectangle 27"/>
                <p:cNvSpPr>
                  <a:spLocks noChangeArrowheads="1"/>
                </p:cNvSpPr>
                <p:nvPr/>
              </p:nvSpPr>
              <p:spPr bwMode="auto">
                <a:xfrm>
                  <a:off x="43" y="892"/>
                  <a:ext cx="189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1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93" name="Rectangle 28"/>
                <p:cNvSpPr>
                  <a:spLocks noChangeArrowheads="1"/>
                </p:cNvSpPr>
                <p:nvPr/>
              </p:nvSpPr>
              <p:spPr bwMode="auto">
                <a:xfrm>
                  <a:off x="0" y="892"/>
                  <a:ext cx="275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1" name="Group 29"/>
              <p:cNvGrpSpPr/>
              <p:nvPr/>
            </p:nvGrpSpPr>
            <p:grpSpPr bwMode="auto">
              <a:xfrm>
                <a:off x="275" y="892"/>
                <a:ext cx="470" cy="1093"/>
                <a:chOff x="275" y="892"/>
                <a:chExt cx="470" cy="1093"/>
              </a:xfrm>
            </p:grpSpPr>
            <p:sp>
              <p:nvSpPr>
                <p:cNvPr id="55390" name="Rectangle 30"/>
                <p:cNvSpPr>
                  <a:spLocks noChangeArrowheads="1"/>
                </p:cNvSpPr>
                <p:nvPr/>
              </p:nvSpPr>
              <p:spPr bwMode="auto">
                <a:xfrm>
                  <a:off x="318" y="892"/>
                  <a:ext cx="384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系统设计评审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91" name="Rectangle 31"/>
                <p:cNvSpPr>
                  <a:spLocks noChangeArrowheads="1"/>
                </p:cNvSpPr>
                <p:nvPr/>
              </p:nvSpPr>
              <p:spPr bwMode="auto">
                <a:xfrm>
                  <a:off x="275" y="892"/>
                  <a:ext cx="470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2" name="Group 32"/>
              <p:cNvGrpSpPr/>
              <p:nvPr/>
            </p:nvGrpSpPr>
            <p:grpSpPr bwMode="auto">
              <a:xfrm>
                <a:off x="745" y="892"/>
                <a:ext cx="585" cy="1093"/>
                <a:chOff x="745" y="892"/>
                <a:chExt cx="585" cy="1093"/>
              </a:xfrm>
            </p:grpSpPr>
            <p:sp>
              <p:nvSpPr>
                <p:cNvPr id="55388" name="Rectangle 33"/>
                <p:cNvSpPr>
                  <a:spLocks noChangeArrowheads="1"/>
                </p:cNvSpPr>
                <p:nvPr/>
              </p:nvSpPr>
              <p:spPr bwMode="auto">
                <a:xfrm>
                  <a:off x="788" y="892"/>
                  <a:ext cx="499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没有足够的时间进行产品测试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89" name="Rectangle 34"/>
                <p:cNvSpPr>
                  <a:spLocks noChangeArrowheads="1"/>
                </p:cNvSpPr>
                <p:nvPr/>
              </p:nvSpPr>
              <p:spPr bwMode="auto">
                <a:xfrm>
                  <a:off x="745" y="892"/>
                  <a:ext cx="585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3" name="Group 35"/>
              <p:cNvGrpSpPr/>
              <p:nvPr/>
            </p:nvGrpSpPr>
            <p:grpSpPr bwMode="auto">
              <a:xfrm>
                <a:off x="1330" y="892"/>
                <a:ext cx="412" cy="1093"/>
                <a:chOff x="1330" y="892"/>
                <a:chExt cx="412" cy="1093"/>
              </a:xfrm>
            </p:grpSpPr>
            <p:sp>
              <p:nvSpPr>
                <p:cNvPr id="55386" name="Rectangle 36"/>
                <p:cNvSpPr>
                  <a:spLocks noChangeArrowheads="1"/>
                </p:cNvSpPr>
                <p:nvPr/>
              </p:nvSpPr>
              <p:spPr bwMode="auto">
                <a:xfrm>
                  <a:off x="1373" y="892"/>
                  <a:ext cx="326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70%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l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55387" name="Rectangle 37"/>
                <p:cNvSpPr>
                  <a:spLocks noChangeArrowheads="1"/>
                </p:cNvSpPr>
                <p:nvPr/>
              </p:nvSpPr>
              <p:spPr bwMode="auto">
                <a:xfrm>
                  <a:off x="1330" y="892"/>
                  <a:ext cx="412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4" name="Group 38"/>
              <p:cNvGrpSpPr/>
              <p:nvPr/>
            </p:nvGrpSpPr>
            <p:grpSpPr bwMode="auto">
              <a:xfrm>
                <a:off x="1742" y="892"/>
                <a:ext cx="355" cy="1093"/>
                <a:chOff x="1742" y="892"/>
                <a:chExt cx="355" cy="1093"/>
              </a:xfrm>
            </p:grpSpPr>
            <p:sp>
              <p:nvSpPr>
                <p:cNvPr id="55384" name="Rectangle 39"/>
                <p:cNvSpPr>
                  <a:spLocks noChangeArrowheads="1"/>
                </p:cNvSpPr>
                <p:nvPr/>
              </p:nvSpPr>
              <p:spPr bwMode="auto">
                <a:xfrm>
                  <a:off x="1785" y="892"/>
                  <a:ext cx="269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50%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55385" name="Rectangle 40"/>
                <p:cNvSpPr>
                  <a:spLocks noChangeArrowheads="1"/>
                </p:cNvSpPr>
                <p:nvPr/>
              </p:nvSpPr>
              <p:spPr bwMode="auto">
                <a:xfrm>
                  <a:off x="1742" y="892"/>
                  <a:ext cx="355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5" name="Group 41"/>
              <p:cNvGrpSpPr/>
              <p:nvPr/>
            </p:nvGrpSpPr>
            <p:grpSpPr bwMode="auto">
              <a:xfrm>
                <a:off x="2097" y="892"/>
                <a:ext cx="412" cy="1093"/>
                <a:chOff x="2097" y="892"/>
                <a:chExt cx="412" cy="1093"/>
              </a:xfrm>
            </p:grpSpPr>
            <p:sp>
              <p:nvSpPr>
                <p:cNvPr id="55382" name="Rectangle 42"/>
                <p:cNvSpPr>
                  <a:spLocks noChangeArrowheads="1"/>
                </p:cNvSpPr>
                <p:nvPr/>
              </p:nvSpPr>
              <p:spPr bwMode="auto">
                <a:xfrm>
                  <a:off x="2140" y="892"/>
                  <a:ext cx="326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35%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55383" name="Rectangle 43"/>
                <p:cNvSpPr>
                  <a:spLocks noChangeArrowheads="1"/>
                </p:cNvSpPr>
                <p:nvPr/>
              </p:nvSpPr>
              <p:spPr bwMode="auto">
                <a:xfrm>
                  <a:off x="2097" y="892"/>
                  <a:ext cx="412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6" name="Group 44"/>
              <p:cNvGrpSpPr/>
              <p:nvPr/>
            </p:nvGrpSpPr>
            <p:grpSpPr bwMode="auto">
              <a:xfrm>
                <a:off x="2509" y="892"/>
                <a:ext cx="699" cy="1093"/>
                <a:chOff x="2509" y="892"/>
                <a:chExt cx="699" cy="1093"/>
              </a:xfrm>
            </p:grpSpPr>
            <p:sp>
              <p:nvSpPr>
                <p:cNvPr id="55380" name="Rectangle 45"/>
                <p:cNvSpPr>
                  <a:spLocks noChangeArrowheads="1"/>
                </p:cNvSpPr>
                <p:nvPr/>
              </p:nvSpPr>
              <p:spPr bwMode="auto">
                <a:xfrm>
                  <a:off x="2509" y="892"/>
                  <a:ext cx="699" cy="109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1</a:t>
                  </a: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．采取加班的方法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2</a:t>
                  </a: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．修改计划去掉一些任务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3</a:t>
                  </a: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．与客户商量延长一些时间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81" name="Rectangle 46"/>
                <p:cNvSpPr>
                  <a:spLocks noChangeArrowheads="1"/>
                </p:cNvSpPr>
                <p:nvPr/>
              </p:nvSpPr>
              <p:spPr bwMode="auto">
                <a:xfrm>
                  <a:off x="2509" y="892"/>
                  <a:ext cx="699" cy="1093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7" name="Group 47"/>
              <p:cNvGrpSpPr/>
              <p:nvPr/>
            </p:nvGrpSpPr>
            <p:grpSpPr bwMode="auto">
              <a:xfrm>
                <a:off x="0" y="1985"/>
                <a:ext cx="275" cy="978"/>
                <a:chOff x="0" y="1985"/>
                <a:chExt cx="275" cy="978"/>
              </a:xfrm>
            </p:grpSpPr>
            <p:sp>
              <p:nvSpPr>
                <p:cNvPr id="55378" name="Rectangle 48"/>
                <p:cNvSpPr>
                  <a:spLocks noChangeArrowheads="1"/>
                </p:cNvSpPr>
                <p:nvPr/>
              </p:nvSpPr>
              <p:spPr bwMode="auto">
                <a:xfrm>
                  <a:off x="43" y="1985"/>
                  <a:ext cx="189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</a:rPr>
                    <a:t>2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79" name="Rectangle 49"/>
                <p:cNvSpPr>
                  <a:spLocks noChangeArrowheads="1"/>
                </p:cNvSpPr>
                <p:nvPr/>
              </p:nvSpPr>
              <p:spPr bwMode="auto">
                <a:xfrm>
                  <a:off x="0" y="1985"/>
                  <a:ext cx="275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8" name="Group 50"/>
              <p:cNvGrpSpPr/>
              <p:nvPr/>
            </p:nvGrpSpPr>
            <p:grpSpPr bwMode="auto">
              <a:xfrm>
                <a:off x="275" y="1985"/>
                <a:ext cx="470" cy="978"/>
                <a:chOff x="275" y="1985"/>
                <a:chExt cx="470" cy="978"/>
              </a:xfrm>
            </p:grpSpPr>
            <p:sp>
              <p:nvSpPr>
                <p:cNvPr id="55376" name="Rectangle 51"/>
                <p:cNvSpPr>
                  <a:spLocks noChangeArrowheads="1"/>
                </p:cNvSpPr>
                <p:nvPr/>
              </p:nvSpPr>
              <p:spPr bwMode="auto">
                <a:xfrm>
                  <a:off x="318" y="1985"/>
                  <a:ext cx="384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WBS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77" name="Rectangle 52"/>
                <p:cNvSpPr>
                  <a:spLocks noChangeArrowheads="1"/>
                </p:cNvSpPr>
                <p:nvPr/>
              </p:nvSpPr>
              <p:spPr bwMode="auto">
                <a:xfrm>
                  <a:off x="275" y="1985"/>
                  <a:ext cx="470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19" name="Group 53"/>
              <p:cNvGrpSpPr/>
              <p:nvPr/>
            </p:nvGrpSpPr>
            <p:grpSpPr bwMode="auto">
              <a:xfrm>
                <a:off x="745" y="1985"/>
                <a:ext cx="585" cy="978"/>
                <a:chOff x="745" y="1985"/>
                <a:chExt cx="585" cy="978"/>
              </a:xfrm>
            </p:grpSpPr>
            <p:sp>
              <p:nvSpPr>
                <p:cNvPr id="55374" name="Rectangle 54"/>
                <p:cNvSpPr>
                  <a:spLocks noChangeArrowheads="1"/>
                </p:cNvSpPr>
                <p:nvPr/>
              </p:nvSpPr>
              <p:spPr bwMode="auto">
                <a:xfrm>
                  <a:off x="788" y="1985"/>
                  <a:ext cx="499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对需求的开发式系统标准没有合适的测试案例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 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75" name="Rectangle 55"/>
                <p:cNvSpPr>
                  <a:spLocks noChangeArrowheads="1"/>
                </p:cNvSpPr>
                <p:nvPr/>
              </p:nvSpPr>
              <p:spPr bwMode="auto">
                <a:xfrm>
                  <a:off x="745" y="1985"/>
                  <a:ext cx="585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0" name="Group 56"/>
              <p:cNvGrpSpPr/>
              <p:nvPr/>
            </p:nvGrpSpPr>
            <p:grpSpPr bwMode="auto">
              <a:xfrm>
                <a:off x="1330" y="1985"/>
                <a:ext cx="412" cy="978"/>
                <a:chOff x="1330" y="1985"/>
                <a:chExt cx="412" cy="978"/>
              </a:xfrm>
            </p:grpSpPr>
            <p:sp>
              <p:nvSpPr>
                <p:cNvPr id="55372" name="Rectangle 57"/>
                <p:cNvSpPr>
                  <a:spLocks noChangeArrowheads="1"/>
                </p:cNvSpPr>
                <p:nvPr/>
              </p:nvSpPr>
              <p:spPr bwMode="auto">
                <a:xfrm>
                  <a:off x="1373" y="1985"/>
                  <a:ext cx="326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20%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73" name="Rectangle 58"/>
                <p:cNvSpPr>
                  <a:spLocks noChangeArrowheads="1"/>
                </p:cNvSpPr>
                <p:nvPr/>
              </p:nvSpPr>
              <p:spPr bwMode="auto">
                <a:xfrm>
                  <a:off x="1330" y="1985"/>
                  <a:ext cx="412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1" name="Group 59"/>
              <p:cNvGrpSpPr/>
              <p:nvPr/>
            </p:nvGrpSpPr>
            <p:grpSpPr bwMode="auto">
              <a:xfrm>
                <a:off x="1742" y="1985"/>
                <a:ext cx="355" cy="978"/>
                <a:chOff x="1742" y="1985"/>
                <a:chExt cx="355" cy="978"/>
              </a:xfrm>
            </p:grpSpPr>
            <p:sp>
              <p:nvSpPr>
                <p:cNvPr id="55370" name="Rectangle 60"/>
                <p:cNvSpPr>
                  <a:spLocks noChangeArrowheads="1"/>
                </p:cNvSpPr>
                <p:nvPr/>
              </p:nvSpPr>
              <p:spPr bwMode="auto">
                <a:xfrm>
                  <a:off x="1785" y="1985"/>
                  <a:ext cx="269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80%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71" name="Rectangle 61"/>
                <p:cNvSpPr>
                  <a:spLocks noChangeArrowheads="1"/>
                </p:cNvSpPr>
                <p:nvPr/>
              </p:nvSpPr>
              <p:spPr bwMode="auto">
                <a:xfrm>
                  <a:off x="1742" y="1985"/>
                  <a:ext cx="355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2" name="Group 62"/>
              <p:cNvGrpSpPr/>
              <p:nvPr/>
            </p:nvGrpSpPr>
            <p:grpSpPr bwMode="auto">
              <a:xfrm>
                <a:off x="2097" y="1985"/>
                <a:ext cx="412" cy="978"/>
                <a:chOff x="2097" y="1985"/>
                <a:chExt cx="412" cy="978"/>
              </a:xfrm>
            </p:grpSpPr>
            <p:sp>
              <p:nvSpPr>
                <p:cNvPr id="55368" name="Rectangle 63"/>
                <p:cNvSpPr>
                  <a:spLocks noChangeArrowheads="1"/>
                </p:cNvSpPr>
                <p:nvPr/>
              </p:nvSpPr>
              <p:spPr bwMode="auto">
                <a:xfrm>
                  <a:off x="2140" y="1985"/>
                  <a:ext cx="326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16%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l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55369" name="Rectangle 64"/>
                <p:cNvSpPr>
                  <a:spLocks noChangeArrowheads="1"/>
                </p:cNvSpPr>
                <p:nvPr/>
              </p:nvSpPr>
              <p:spPr bwMode="auto">
                <a:xfrm>
                  <a:off x="2097" y="1985"/>
                  <a:ext cx="412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3" name="Group 65"/>
              <p:cNvGrpSpPr/>
              <p:nvPr/>
            </p:nvGrpSpPr>
            <p:grpSpPr bwMode="auto">
              <a:xfrm>
                <a:off x="2509" y="1985"/>
                <a:ext cx="699" cy="978"/>
                <a:chOff x="2509" y="1985"/>
                <a:chExt cx="699" cy="978"/>
              </a:xfrm>
            </p:grpSpPr>
            <p:sp>
              <p:nvSpPr>
                <p:cNvPr id="55366" name="Rectangle 66"/>
                <p:cNvSpPr>
                  <a:spLocks noChangeArrowheads="1"/>
                </p:cNvSpPr>
                <p:nvPr/>
              </p:nvSpPr>
              <p:spPr bwMode="auto">
                <a:xfrm>
                  <a:off x="2552" y="1985"/>
                  <a:ext cx="613" cy="97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找专业的测试公司完成测试工作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67" name="Rectangle 67"/>
                <p:cNvSpPr>
                  <a:spLocks noChangeArrowheads="1"/>
                </p:cNvSpPr>
                <p:nvPr/>
              </p:nvSpPr>
              <p:spPr bwMode="auto">
                <a:xfrm>
                  <a:off x="2509" y="1985"/>
                  <a:ext cx="699" cy="97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4" name="Group 68"/>
              <p:cNvGrpSpPr/>
              <p:nvPr/>
            </p:nvGrpSpPr>
            <p:grpSpPr bwMode="auto">
              <a:xfrm>
                <a:off x="0" y="2963"/>
                <a:ext cx="275" cy="1438"/>
                <a:chOff x="0" y="2963"/>
                <a:chExt cx="275" cy="1438"/>
              </a:xfrm>
            </p:grpSpPr>
            <p:sp>
              <p:nvSpPr>
                <p:cNvPr id="55364" name="Rectangle 69"/>
                <p:cNvSpPr>
                  <a:spLocks noChangeArrowheads="1"/>
                </p:cNvSpPr>
                <p:nvPr/>
              </p:nvSpPr>
              <p:spPr bwMode="auto">
                <a:xfrm>
                  <a:off x="43" y="2963"/>
                  <a:ext cx="189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</a:rPr>
                    <a:t>3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65" name="Rectangle 70"/>
                <p:cNvSpPr>
                  <a:spLocks noChangeArrowheads="1"/>
                </p:cNvSpPr>
                <p:nvPr/>
              </p:nvSpPr>
              <p:spPr bwMode="auto">
                <a:xfrm>
                  <a:off x="0" y="2963"/>
                  <a:ext cx="275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5" name="Group 71"/>
              <p:cNvGrpSpPr/>
              <p:nvPr/>
            </p:nvGrpSpPr>
            <p:grpSpPr bwMode="auto">
              <a:xfrm>
                <a:off x="275" y="2963"/>
                <a:ext cx="470" cy="1438"/>
                <a:chOff x="275" y="2963"/>
                <a:chExt cx="470" cy="1438"/>
              </a:xfrm>
            </p:grpSpPr>
            <p:sp>
              <p:nvSpPr>
                <p:cNvPr id="55362" name="Rectangle 72"/>
                <p:cNvSpPr>
                  <a:spLocks noChangeArrowheads="1"/>
                </p:cNvSpPr>
                <p:nvPr/>
              </p:nvSpPr>
              <p:spPr bwMode="auto">
                <a:xfrm>
                  <a:off x="318" y="2963"/>
                  <a:ext cx="384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需求和计划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l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63" name="Rectangle 73"/>
                <p:cNvSpPr>
                  <a:spLocks noChangeArrowheads="1"/>
                </p:cNvSpPr>
                <p:nvPr/>
              </p:nvSpPr>
              <p:spPr bwMode="auto">
                <a:xfrm>
                  <a:off x="275" y="2963"/>
                  <a:ext cx="470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6" name="Group 74"/>
              <p:cNvGrpSpPr/>
              <p:nvPr/>
            </p:nvGrpSpPr>
            <p:grpSpPr bwMode="auto">
              <a:xfrm>
                <a:off x="745" y="2963"/>
                <a:ext cx="585" cy="1438"/>
                <a:chOff x="745" y="2963"/>
                <a:chExt cx="585" cy="1438"/>
              </a:xfrm>
            </p:grpSpPr>
            <p:sp>
              <p:nvSpPr>
                <p:cNvPr id="55360" name="Rectangle 75"/>
                <p:cNvSpPr>
                  <a:spLocks noChangeArrowheads="1"/>
                </p:cNvSpPr>
                <p:nvPr/>
              </p:nvSpPr>
              <p:spPr bwMode="auto">
                <a:xfrm>
                  <a:off x="788" y="2963"/>
                  <a:ext cx="499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采用新技术可可能导致进度的延期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61" name="Rectangle 76"/>
                <p:cNvSpPr>
                  <a:spLocks noChangeArrowheads="1"/>
                </p:cNvSpPr>
                <p:nvPr/>
              </p:nvSpPr>
              <p:spPr bwMode="auto">
                <a:xfrm>
                  <a:off x="745" y="2963"/>
                  <a:ext cx="585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7" name="Group 77"/>
              <p:cNvGrpSpPr/>
              <p:nvPr/>
            </p:nvGrpSpPr>
            <p:grpSpPr bwMode="auto">
              <a:xfrm>
                <a:off x="1330" y="2963"/>
                <a:ext cx="412" cy="1438"/>
                <a:chOff x="1330" y="2963"/>
                <a:chExt cx="412" cy="1438"/>
              </a:xfrm>
            </p:grpSpPr>
            <p:sp>
              <p:nvSpPr>
                <p:cNvPr id="55358" name="Rectangle 78"/>
                <p:cNvSpPr>
                  <a:spLocks noChangeArrowheads="1"/>
                </p:cNvSpPr>
                <p:nvPr/>
              </p:nvSpPr>
              <p:spPr bwMode="auto">
                <a:xfrm>
                  <a:off x="1373" y="2963"/>
                  <a:ext cx="326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50%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59" name="Rectangle 79"/>
                <p:cNvSpPr>
                  <a:spLocks noChangeArrowheads="1"/>
                </p:cNvSpPr>
                <p:nvPr/>
              </p:nvSpPr>
              <p:spPr bwMode="auto">
                <a:xfrm>
                  <a:off x="1330" y="2963"/>
                  <a:ext cx="412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8" name="Group 80"/>
              <p:cNvGrpSpPr/>
              <p:nvPr/>
            </p:nvGrpSpPr>
            <p:grpSpPr bwMode="auto">
              <a:xfrm>
                <a:off x="1742" y="2963"/>
                <a:ext cx="355" cy="1438"/>
                <a:chOff x="1742" y="2963"/>
                <a:chExt cx="355" cy="1438"/>
              </a:xfrm>
            </p:grpSpPr>
            <p:sp>
              <p:nvSpPr>
                <p:cNvPr id="55356" name="Rectangle 81"/>
                <p:cNvSpPr>
                  <a:spLocks noChangeArrowheads="1"/>
                </p:cNvSpPr>
                <p:nvPr/>
              </p:nvSpPr>
              <p:spPr bwMode="auto">
                <a:xfrm>
                  <a:off x="1785" y="2963"/>
                  <a:ext cx="269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30%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57" name="Rectangle 82"/>
                <p:cNvSpPr>
                  <a:spLocks noChangeArrowheads="1"/>
                </p:cNvSpPr>
                <p:nvPr/>
              </p:nvSpPr>
              <p:spPr bwMode="auto">
                <a:xfrm>
                  <a:off x="1742" y="2963"/>
                  <a:ext cx="355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29" name="Group 83"/>
              <p:cNvGrpSpPr/>
              <p:nvPr/>
            </p:nvGrpSpPr>
            <p:grpSpPr bwMode="auto">
              <a:xfrm>
                <a:off x="2097" y="2963"/>
                <a:ext cx="412" cy="1438"/>
                <a:chOff x="2097" y="2963"/>
                <a:chExt cx="412" cy="1438"/>
              </a:xfrm>
            </p:grpSpPr>
            <p:sp>
              <p:nvSpPr>
                <p:cNvPr id="55354" name="Rectangle 84"/>
                <p:cNvSpPr>
                  <a:spLocks noChangeArrowheads="1"/>
                </p:cNvSpPr>
                <p:nvPr/>
              </p:nvSpPr>
              <p:spPr bwMode="auto">
                <a:xfrm>
                  <a:off x="2140" y="2963"/>
                  <a:ext cx="326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  <a:cs typeface="Arial Unicode MS" pitchFamily="34" charset="-122"/>
                    </a:rPr>
                    <a:t>15%</a:t>
                  </a: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</p:txBody>
            </p:sp>
            <p:sp>
              <p:nvSpPr>
                <p:cNvPr id="55355" name="Rectangle 85"/>
                <p:cNvSpPr>
                  <a:spLocks noChangeArrowheads="1"/>
                </p:cNvSpPr>
                <p:nvPr/>
              </p:nvSpPr>
              <p:spPr bwMode="auto">
                <a:xfrm>
                  <a:off x="2097" y="2963"/>
                  <a:ext cx="412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30" name="Group 86"/>
              <p:cNvGrpSpPr/>
              <p:nvPr/>
            </p:nvGrpSpPr>
            <p:grpSpPr bwMode="auto">
              <a:xfrm>
                <a:off x="2509" y="2963"/>
                <a:ext cx="699" cy="1438"/>
                <a:chOff x="2509" y="2963"/>
                <a:chExt cx="699" cy="1438"/>
              </a:xfrm>
            </p:grpSpPr>
            <p:sp>
              <p:nvSpPr>
                <p:cNvPr id="55352" name="Rectangle 87"/>
                <p:cNvSpPr>
                  <a:spLocks noChangeArrowheads="1"/>
                </p:cNvSpPr>
                <p:nvPr/>
              </p:nvSpPr>
              <p:spPr bwMode="auto">
                <a:xfrm>
                  <a:off x="2552" y="2963"/>
                  <a:ext cx="613" cy="14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1</a:t>
                  </a: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．培训开发人员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2</a:t>
                  </a: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．找专家作指导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3</a:t>
                  </a:r>
                  <a:r>
                    <a:rPr lang="zh-CN" altLang="en-US" sz="1200" smtClean="0">
                      <a:solidFill>
                        <a:prstClr val="black"/>
                      </a:solidFill>
                      <a:ea typeface="楷体" panose="02010609060101010101" charset="-122"/>
                    </a:rPr>
                    <a:t>．采取边开发边学习的方法，要求他们必须在规定的时间内掌握技术</a:t>
                  </a:r>
                  <a:endParaRPr lang="zh-CN" altLang="en-US" sz="1200" smtClean="0">
                    <a:solidFill>
                      <a:prstClr val="black"/>
                    </a:solidFill>
                    <a:ea typeface="楷体" panose="02010609060101010101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  <a:ea typeface="楷体" panose="02010609060101010101" charset="-122"/>
                  </a:endParaRPr>
                </a:p>
              </p:txBody>
            </p:sp>
            <p:sp>
              <p:nvSpPr>
                <p:cNvPr id="55353" name="Rectangle 88"/>
                <p:cNvSpPr>
                  <a:spLocks noChangeArrowheads="1"/>
                </p:cNvSpPr>
                <p:nvPr/>
              </p:nvSpPr>
              <p:spPr bwMode="auto">
                <a:xfrm>
                  <a:off x="2509" y="2963"/>
                  <a:ext cx="699" cy="143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31" name="Group 89"/>
              <p:cNvGrpSpPr/>
              <p:nvPr/>
            </p:nvGrpSpPr>
            <p:grpSpPr bwMode="auto">
              <a:xfrm>
                <a:off x="0" y="4401"/>
                <a:ext cx="275" cy="518"/>
                <a:chOff x="0" y="4401"/>
                <a:chExt cx="275" cy="518"/>
              </a:xfrm>
            </p:grpSpPr>
            <p:sp>
              <p:nvSpPr>
                <p:cNvPr id="55350" name="Rectangle 90"/>
                <p:cNvSpPr>
                  <a:spLocks noChangeArrowheads="1"/>
                </p:cNvSpPr>
                <p:nvPr/>
              </p:nvSpPr>
              <p:spPr bwMode="auto">
                <a:xfrm>
                  <a:off x="43" y="4401"/>
                  <a:ext cx="18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zh-CN" altLang="en-US" sz="1200" smtClean="0">
                      <a:solidFill>
                        <a:prstClr val="black"/>
                      </a:solidFill>
                    </a:rPr>
                    <a:t>。。。</a:t>
                  </a:r>
                  <a:endParaRPr lang="zh-CN" altLang="en-US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51" name="Rectangle 91"/>
                <p:cNvSpPr>
                  <a:spLocks noChangeArrowheads="1"/>
                </p:cNvSpPr>
                <p:nvPr/>
              </p:nvSpPr>
              <p:spPr bwMode="auto">
                <a:xfrm>
                  <a:off x="0" y="4401"/>
                  <a:ext cx="27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32" name="Group 92"/>
              <p:cNvGrpSpPr/>
              <p:nvPr/>
            </p:nvGrpSpPr>
            <p:grpSpPr bwMode="auto">
              <a:xfrm>
                <a:off x="275" y="4401"/>
                <a:ext cx="470" cy="518"/>
                <a:chOff x="275" y="4401"/>
                <a:chExt cx="470" cy="518"/>
              </a:xfrm>
            </p:grpSpPr>
            <p:sp>
              <p:nvSpPr>
                <p:cNvPr id="55348" name="Rectangle 93"/>
                <p:cNvSpPr>
                  <a:spLocks noChangeArrowheads="1"/>
                </p:cNvSpPr>
                <p:nvPr/>
              </p:nvSpPr>
              <p:spPr bwMode="auto">
                <a:xfrm>
                  <a:off x="318" y="4401"/>
                  <a:ext cx="384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49" name="Rectangle 94"/>
                <p:cNvSpPr>
                  <a:spLocks noChangeArrowheads="1"/>
                </p:cNvSpPr>
                <p:nvPr/>
              </p:nvSpPr>
              <p:spPr bwMode="auto">
                <a:xfrm>
                  <a:off x="275" y="4401"/>
                  <a:ext cx="470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33" name="Group 95"/>
              <p:cNvGrpSpPr/>
              <p:nvPr/>
            </p:nvGrpSpPr>
            <p:grpSpPr bwMode="auto">
              <a:xfrm>
                <a:off x="745" y="4401"/>
                <a:ext cx="585" cy="518"/>
                <a:chOff x="745" y="4401"/>
                <a:chExt cx="585" cy="518"/>
              </a:xfrm>
            </p:grpSpPr>
            <p:sp>
              <p:nvSpPr>
                <p:cNvPr id="55346" name="Rectangle 96"/>
                <p:cNvSpPr>
                  <a:spLocks noChangeArrowheads="1"/>
                </p:cNvSpPr>
                <p:nvPr/>
              </p:nvSpPr>
              <p:spPr bwMode="auto">
                <a:xfrm>
                  <a:off x="788" y="4401"/>
                  <a:ext cx="49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47" name="Rectangle 97"/>
                <p:cNvSpPr>
                  <a:spLocks noChangeArrowheads="1"/>
                </p:cNvSpPr>
                <p:nvPr/>
              </p:nvSpPr>
              <p:spPr bwMode="auto">
                <a:xfrm>
                  <a:off x="745" y="4401"/>
                  <a:ext cx="58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34" name="Group 98"/>
              <p:cNvGrpSpPr/>
              <p:nvPr/>
            </p:nvGrpSpPr>
            <p:grpSpPr bwMode="auto">
              <a:xfrm>
                <a:off x="1330" y="4401"/>
                <a:ext cx="412" cy="518"/>
                <a:chOff x="1330" y="4401"/>
                <a:chExt cx="412" cy="518"/>
              </a:xfrm>
            </p:grpSpPr>
            <p:sp>
              <p:nvSpPr>
                <p:cNvPr id="55344" name="Rectangle 99"/>
                <p:cNvSpPr>
                  <a:spLocks noChangeArrowheads="1"/>
                </p:cNvSpPr>
                <p:nvPr/>
              </p:nvSpPr>
              <p:spPr bwMode="auto">
                <a:xfrm>
                  <a:off x="1373" y="440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45" name="Rectangle 100"/>
                <p:cNvSpPr>
                  <a:spLocks noChangeArrowheads="1"/>
                </p:cNvSpPr>
                <p:nvPr/>
              </p:nvSpPr>
              <p:spPr bwMode="auto">
                <a:xfrm>
                  <a:off x="1330" y="4401"/>
                  <a:ext cx="41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35" name="Group 101"/>
              <p:cNvGrpSpPr/>
              <p:nvPr/>
            </p:nvGrpSpPr>
            <p:grpSpPr bwMode="auto">
              <a:xfrm>
                <a:off x="1742" y="4401"/>
                <a:ext cx="355" cy="518"/>
                <a:chOff x="1742" y="4401"/>
                <a:chExt cx="355" cy="518"/>
              </a:xfrm>
            </p:grpSpPr>
            <p:sp>
              <p:nvSpPr>
                <p:cNvPr id="55342" name="Rectangle 102"/>
                <p:cNvSpPr>
                  <a:spLocks noChangeArrowheads="1"/>
                </p:cNvSpPr>
                <p:nvPr/>
              </p:nvSpPr>
              <p:spPr bwMode="auto">
                <a:xfrm>
                  <a:off x="1785" y="4401"/>
                  <a:ext cx="269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43" name="Rectangle 103"/>
                <p:cNvSpPr>
                  <a:spLocks noChangeArrowheads="1"/>
                </p:cNvSpPr>
                <p:nvPr/>
              </p:nvSpPr>
              <p:spPr bwMode="auto">
                <a:xfrm>
                  <a:off x="1742" y="4401"/>
                  <a:ext cx="355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36" name="Group 104"/>
              <p:cNvGrpSpPr/>
              <p:nvPr/>
            </p:nvGrpSpPr>
            <p:grpSpPr bwMode="auto">
              <a:xfrm>
                <a:off x="2097" y="4401"/>
                <a:ext cx="412" cy="518"/>
                <a:chOff x="2097" y="4401"/>
                <a:chExt cx="412" cy="518"/>
              </a:xfrm>
            </p:grpSpPr>
            <p:sp>
              <p:nvSpPr>
                <p:cNvPr id="55340" name="Rectangle 105"/>
                <p:cNvSpPr>
                  <a:spLocks noChangeArrowheads="1"/>
                </p:cNvSpPr>
                <p:nvPr/>
              </p:nvSpPr>
              <p:spPr bwMode="auto">
                <a:xfrm>
                  <a:off x="2140" y="4401"/>
                  <a:ext cx="326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41" name="Rectangle 106"/>
                <p:cNvSpPr>
                  <a:spLocks noChangeArrowheads="1"/>
                </p:cNvSpPr>
                <p:nvPr/>
              </p:nvSpPr>
              <p:spPr bwMode="auto">
                <a:xfrm>
                  <a:off x="2097" y="4401"/>
                  <a:ext cx="412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  <p:grpSp>
            <p:nvGrpSpPr>
              <p:cNvPr id="55337" name="Group 107"/>
              <p:cNvGrpSpPr/>
              <p:nvPr/>
            </p:nvGrpSpPr>
            <p:grpSpPr bwMode="auto">
              <a:xfrm>
                <a:off x="2509" y="4401"/>
                <a:ext cx="699" cy="518"/>
                <a:chOff x="2509" y="4401"/>
                <a:chExt cx="699" cy="518"/>
              </a:xfrm>
            </p:grpSpPr>
            <p:sp>
              <p:nvSpPr>
                <p:cNvPr id="55338" name="Rectangle 108"/>
                <p:cNvSpPr>
                  <a:spLocks noChangeArrowheads="1"/>
                </p:cNvSpPr>
                <p:nvPr/>
              </p:nvSpPr>
              <p:spPr bwMode="auto">
                <a:xfrm>
                  <a:off x="2552" y="4401"/>
                  <a:ext cx="613" cy="5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med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>
                    <a:spcBef>
                      <a:spcPct val="0"/>
                    </a:spcBef>
                  </a:pPr>
                  <a:r>
                    <a:rPr lang="en-US" altLang="zh-CN" sz="1200" smtClean="0">
                      <a:solidFill>
                        <a:prstClr val="black"/>
                      </a:solidFill>
                      <a:ea typeface="Arial Unicode MS" pitchFamily="34" charset="-122"/>
                      <a:cs typeface="Arial Unicode MS" pitchFamily="34" charset="-122"/>
                    </a:rPr>
                    <a:t> </a:t>
                  </a:r>
                  <a:endParaRPr lang="en-US" altLang="zh-CN" sz="1200" smtClean="0">
                    <a:solidFill>
                      <a:prstClr val="black"/>
                    </a:solidFill>
                    <a:ea typeface="Arial Unicode MS" pitchFamily="34" charset="-122"/>
                    <a:cs typeface="Arial Unicode MS" pitchFamily="34" charset="-122"/>
                  </a:endParaRPr>
                </a:p>
                <a:p>
                  <a:pPr algn="just" eaLnBrk="0" hangingPunct="0">
                    <a:spcBef>
                      <a:spcPct val="0"/>
                    </a:spcBef>
                  </a:pPr>
                  <a:endParaRPr lang="en-US" altLang="zh-CN" sz="2400" smtClean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5339" name="Rectangle 109"/>
                <p:cNvSpPr>
                  <a:spLocks noChangeArrowheads="1"/>
                </p:cNvSpPr>
                <p:nvPr/>
              </p:nvSpPr>
              <p:spPr bwMode="auto">
                <a:xfrm>
                  <a:off x="2509" y="4401"/>
                  <a:ext cx="699" cy="518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 type="none" w="sm" len="sm"/>
                  <a:tailEnd type="non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l">
                    <a:spcBef>
                      <a:spcPct val="0"/>
                    </a:spcBef>
                  </a:pPr>
                  <a:endParaRPr lang="zh-CN" altLang="en-US" sz="4800" smtClean="0">
                    <a:solidFill>
                      <a:prstClr val="black"/>
                    </a:solidFill>
                    <a:latin typeface="Arial Narrow" panose="020B0606020202030204" pitchFamily="34" charset="0"/>
                  </a:endParaRPr>
                </a:p>
              </p:txBody>
            </p:sp>
          </p:grpSp>
        </p:grpSp>
        <p:sp>
          <p:nvSpPr>
            <p:cNvPr id="55302" name="Rectangle 110"/>
            <p:cNvSpPr>
              <a:spLocks noChangeArrowheads="1"/>
            </p:cNvSpPr>
            <p:nvPr/>
          </p:nvSpPr>
          <p:spPr bwMode="auto">
            <a:xfrm>
              <a:off x="-3" y="371"/>
              <a:ext cx="3214" cy="4551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 type="none" w="sm" len="sm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4800" smtClean="0">
                <a:solidFill>
                  <a:prstClr val="black"/>
                </a:solidFill>
                <a:latin typeface="Arial Narrow" panose="020B060602020203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35610"/>
            <a:ext cx="7772400" cy="84836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风险管理计划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3491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8B6CD7AD-10C1-4C41-AAC4-8A0EF5B4FAA0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521219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989455"/>
            <a:ext cx="8153400" cy="3749040"/>
          </a:xfrm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风险应对计划（例如</a:t>
            </a:r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TOP </a:t>
            </a:r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清单）</a:t>
            </a:r>
            <a:endParaRPr lang="zh-CN" altLang="en-US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岗位职责</a:t>
            </a:r>
            <a:endParaRPr lang="zh-CN" altLang="en-US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风险追踪</a:t>
            </a:r>
            <a:endParaRPr lang="en-US" altLang="zh-CN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。。。。</a:t>
            </a:r>
            <a:endParaRPr lang="zh-CN" altLang="en-US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1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219" grpId="0" autoUpdateAnimBg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19760"/>
            <a:ext cx="7772400" cy="84074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风险</a:t>
            </a:r>
            <a:r>
              <a:rPr lang="zh-CN" altLang="zh-CN" smtClean="0">
                <a:latin typeface="Times New Roman" panose="02020603050405020304" pitchFamily="18" charset="0"/>
                <a:ea typeface="楷体" panose="02010609060101010101" charset="-122"/>
              </a:rPr>
              <a:t>管理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计划</a:t>
            </a:r>
            <a:r>
              <a:rPr lang="en-US" altLang="zh-CN" smtClean="0">
                <a:latin typeface="Times New Roman" panose="02020603050405020304" pitchFamily="18" charset="0"/>
                <a:ea typeface="楷体" panose="02010609060101010101" charset="-122"/>
              </a:rPr>
              <a:t>--- TOP </a:t>
            </a:r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清单例子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8371" name="页脚占位符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kumimoji="1" lang="en-US" altLang="zh-CN" sz="14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 chapter__11</a:t>
            </a:r>
            <a:endParaRPr kumimoji="1" lang="en-US" altLang="zh-CN" sz="1400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451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BC7B9ACC-6468-4B9A-8F76-21DA514D4D69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pic>
        <p:nvPicPr>
          <p:cNvPr id="58374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98" r="22987" b="14844"/>
          <a:stretch>
            <a:fillRect/>
          </a:stretch>
        </p:blipFill>
        <p:spPr bwMode="auto">
          <a:xfrm>
            <a:off x="-14288" y="1411823"/>
            <a:ext cx="9158288" cy="5446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 idx="4294967295"/>
          </p:nvPr>
        </p:nvSpPr>
        <p:spPr>
          <a:xfrm>
            <a:off x="0" y="525780"/>
            <a:ext cx="8153400" cy="725170"/>
          </a:xfrm>
        </p:spPr>
        <p:txBody>
          <a:bodyPr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zh-CN" dirty="0" smtClean="0">
                <a:latin typeface="Times New Roman" panose="02020603050405020304" pitchFamily="18" charset="0"/>
                <a:ea typeface="楷体" panose="02010609060101010101" charset="-122"/>
              </a:rPr>
              <a:t>风险管理计划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charset="-122"/>
              </a:rPr>
              <a:t>-- TOP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charset="-122"/>
              </a:rPr>
              <a:t>清单例子</a:t>
            </a:r>
            <a:endParaRPr lang="zh-CN" altLang="en-US" dirty="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59395" name="页脚占位符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6309995"/>
            <a:ext cx="5420995" cy="3638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ctr"/>
            <a:r>
              <a:rPr kumimoji="1" lang="en-US" altLang="zh-CN" sz="1400" smtClean="0">
                <a:solidFill>
                  <a:prstClr val="black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chapter__11</a:t>
            </a:r>
            <a:endParaRPr kumimoji="1" lang="en-US" altLang="zh-CN" sz="1400" smtClean="0">
              <a:solidFill>
                <a:prstClr val="black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5540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4FA60024-E09A-4417-8B46-57065C13497D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pic>
        <p:nvPicPr>
          <p:cNvPr id="59397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1" t="23883" r="10629" b="7478"/>
          <a:stretch>
            <a:fillRect/>
          </a:stretch>
        </p:blipFill>
        <p:spPr>
          <a:xfrm>
            <a:off x="215900" y="1532255"/>
            <a:ext cx="8928100" cy="5349240"/>
          </a:xfrm>
          <a:noFill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med" len="lg"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58775" y="539115"/>
            <a:ext cx="8785225" cy="72009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医疗信息商务平台：项目风险计划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1443" name="页脚占位符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/>
          <a:lstStyle>
            <a:lvl1pPr>
              <a:defRPr sz="29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marL="1143000">
              <a:defRPr sz="23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marL="16002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marL="2057400"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2514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29718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34290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38862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kumimoji="1" lang="en-US" altLang="zh-CN" sz="1400" smtClean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charset="-122"/>
              </a:rPr>
              <a:t> </a:t>
            </a:r>
            <a:endParaRPr kumimoji="1" lang="en-US" altLang="zh-CN" sz="1400" smtClean="0">
              <a:solidFill>
                <a:prstClr val="black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7587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B6168143-DB2F-46E6-8B28-BE716143C2AD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4" t="9895" r="27232" b="8594"/>
          <a:stretch>
            <a:fillRect/>
          </a:stretch>
        </p:blipFill>
        <p:spPr bwMode="auto">
          <a:xfrm>
            <a:off x="35560" y="1340485"/>
            <a:ext cx="8713470" cy="5092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 idx="4294967295"/>
          </p:nvPr>
        </p:nvSpPr>
        <p:spPr>
          <a:xfrm>
            <a:off x="35560" y="476250"/>
            <a:ext cx="8153400" cy="990600"/>
          </a:xfrm>
        </p:spPr>
        <p:txBody>
          <a:bodyPr anchor="t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charset="-122"/>
              </a:rPr>
              <a:t>项目报告三</a:t>
            </a:r>
            <a:r>
              <a:rPr lang="zh-CN" altLang="zh-CN" dirty="0" smtClean="0">
                <a:latin typeface="Times New Roman" panose="02020603050405020304" pitchFamily="18" charset="0"/>
                <a:ea typeface="楷体" panose="02010609060101010101" charset="-122"/>
              </a:rPr>
              <a:t>：项目风险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charset="-122"/>
              </a:rPr>
              <a:t>管理</a:t>
            </a:r>
            <a:r>
              <a:rPr lang="zh-CN" altLang="zh-CN" dirty="0" smtClean="0">
                <a:latin typeface="Times New Roman" panose="02020603050405020304" pitchFamily="18" charset="0"/>
                <a:ea typeface="楷体" panose="02010609060101010101" charset="-122"/>
              </a:rPr>
              <a:t>计划</a:t>
            </a:r>
            <a:endParaRPr lang="zh-CN" altLang="en-US" dirty="0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9637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7065D8AC-E378-409D-BDA8-1263A398BFB6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4294967295"/>
          </p:nvPr>
        </p:nvSpPr>
        <p:spPr>
          <a:xfrm>
            <a:off x="0" y="1797050"/>
            <a:ext cx="8569325" cy="4319905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Monotype Sorts" charset="0"/>
              <a:buNone/>
              <a:defRPr/>
            </a:pP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实践目的：</a:t>
            </a: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了解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软件项目</a:t>
            </a: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计划的编制</a:t>
            </a:r>
            <a:endParaRPr lang="zh-CN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0" indent="0" eaLnBrk="1" fontAlgn="auto" hangingPunct="1">
              <a:spcAft>
                <a:spcPts val="0"/>
              </a:spcAft>
              <a:buFont typeface="Monotype Sorts" charset="0"/>
              <a:buNone/>
              <a:defRPr/>
            </a:pP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实践要求：</a:t>
            </a:r>
            <a:endParaRPr lang="zh-CN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复习风险管理过程</a:t>
            </a:r>
            <a:endParaRPr lang="zh-CN" altLang="zh-CN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0000FF"/>
              </a:buClr>
              <a:buFont typeface="+mj-lt"/>
              <a:buAutoNum type="arabicPeriod"/>
              <a:defRPr/>
            </a:pP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参照建议的模式</a:t>
            </a: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完成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已选定</a:t>
            </a: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项目</a:t>
            </a:r>
            <a:r>
              <a:rPr lang="zh-CN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的风险</a:t>
            </a:r>
            <a:r>
              <a:rPr lang="zh-CN" altLang="zh-CN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计划</a:t>
            </a:r>
            <a:endParaRPr lang="zh-CN" altLang="zh-CN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98475"/>
            <a:ext cx="8442325" cy="720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dirty="0" smtClean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建议</a:t>
            </a:r>
            <a:r>
              <a:rPr lang="en-US" altLang="zh-CN" dirty="0" smtClean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: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dirty="0" smtClean="0">
                <a:latin typeface="Times New Roman" panose="02020603050405020304" pitchFamily="18" charset="0"/>
                <a:ea typeface="楷体" panose="02010609060101010101" charset="-122"/>
                <a:cs typeface="楷体" panose="02010609060101010101" charset="-122"/>
              </a:rPr>
              <a:t>风险计划</a:t>
            </a:r>
            <a:endParaRPr lang="zh-CN" altLang="en-US" dirty="0" smtClean="0">
              <a:latin typeface="Times New Roman" panose="02020603050405020304" pitchFamily="18" charset="0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0659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39A9C766-B106-4120-9A8C-4A3FC653F929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64517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1797050"/>
            <a:ext cx="8153400" cy="958850"/>
          </a:xfrm>
        </p:spPr>
        <p:txBody>
          <a:bodyPr/>
          <a:lstStyle/>
          <a:p>
            <a:pPr eaLnBrk="1" hangingPunct="1">
              <a:buFont typeface="Monotype Sorts" charset="0"/>
              <a:buNone/>
            </a:pPr>
            <a:r>
              <a:rPr lang="en-US" altLang="zh-CN" sz="3200" b="1" smtClean="0">
                <a:latin typeface="Times New Roman" panose="02020603050405020304" pitchFamily="18" charset="0"/>
                <a:ea typeface="楷体" panose="02010609060101010101" charset="-122"/>
              </a:rPr>
              <a:t>TOP </a:t>
            </a:r>
            <a:r>
              <a:rPr lang="zh-CN" altLang="en-US" sz="3200" b="1" smtClean="0">
                <a:latin typeface="Times New Roman" panose="02020603050405020304" pitchFamily="18" charset="0"/>
                <a:ea typeface="楷体" panose="02010609060101010101" charset="-122"/>
              </a:rPr>
              <a:t>清单的形式给出</a:t>
            </a:r>
            <a:endParaRPr lang="en-US" altLang="zh-CN" sz="3200" b="1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8763" y="2755900"/>
            <a:ext cx="8153400" cy="2592917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>
            <a:lvl1pPr marL="319405" indent="-319405" algn="l" rtl="0" eaLnBrk="0" fontAlgn="base" hangingPunct="0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3050" algn="l" rtl="0" eaLnBrk="0" fontAlgn="base" hangingPunct="0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eaLnBrk="1" fontAlgn="auto" hangingPunct="1">
              <a:spcAft>
                <a:spcPts val="0"/>
              </a:spcAft>
              <a:buClr>
                <a:srgbClr val="DD8047"/>
              </a:buClr>
              <a:buFont typeface="+mj-lt"/>
              <a:buAutoNum type="arabicPeriod"/>
              <a:defRPr/>
            </a:pPr>
            <a:r>
              <a:rPr kumimoji="0" lang="zh-CN" altLang="en-US" sz="32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风险事件</a:t>
            </a:r>
            <a:endParaRPr kumimoji="0" lang="en-US" altLang="zh-CN" sz="32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DD8047"/>
              </a:buClr>
              <a:buFont typeface="+mj-lt"/>
              <a:buAutoNum type="arabicPeriod"/>
              <a:defRPr/>
            </a:pPr>
            <a:r>
              <a:rPr kumimoji="0" lang="zh-CN" altLang="en-US" sz="32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风险排序</a:t>
            </a:r>
            <a:endParaRPr kumimoji="0" lang="en-US" altLang="zh-CN" sz="32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514350" indent="-514350" eaLnBrk="1" fontAlgn="auto" hangingPunct="1">
              <a:spcAft>
                <a:spcPts val="0"/>
              </a:spcAft>
              <a:buClr>
                <a:srgbClr val="DD8047"/>
              </a:buClr>
              <a:buFont typeface="+mj-lt"/>
              <a:buAutoNum type="arabicPeriod"/>
              <a:defRPr/>
            </a:pPr>
            <a:r>
              <a:rPr kumimoji="0" lang="zh-CN" altLang="en-US" sz="3200" b="1" dirty="0" smtClean="0">
                <a:solidFill>
                  <a:srgbClr val="DD8047">
                    <a:lumMod val="75000"/>
                  </a:srgbClr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风险应对策略</a:t>
            </a:r>
            <a:endParaRPr kumimoji="0" lang="zh-CN" altLang="en-US" sz="3200" b="1" dirty="0" smtClean="0">
              <a:solidFill>
                <a:srgbClr val="DD8047">
                  <a:lumMod val="75000"/>
                </a:srgbClr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48640"/>
            <a:ext cx="7772400" cy="67183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/>
          <a:p>
            <a:pPr eaLnBrk="1" hangingPunct="1"/>
            <a:r>
              <a:rPr lang="zh-CN" altLang="en-US" smtClean="0">
                <a:latin typeface="Times New Roman" panose="02020603050405020304" pitchFamily="18" charset="0"/>
                <a:ea typeface="楷体" panose="02010609060101010101" charset="-122"/>
              </a:rPr>
              <a:t>小结</a:t>
            </a:r>
            <a:endParaRPr lang="zh-CN" altLang="en-US" smtClean="0"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  <p:sp>
        <p:nvSpPr>
          <p:cNvPr id="71683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>
            <a:normAutofit fontScale="75000" lnSpcReduction="20000"/>
          </a:bodyPr>
          <a:lstStyle>
            <a:lvl1pPr eaLnBrk="0" hangingPunct="0">
              <a:spcBef>
                <a:spcPct val="20000"/>
              </a:spcBef>
              <a:buClr>
                <a:srgbClr val="FF0000"/>
              </a:buClr>
              <a:buSzPct val="55000"/>
              <a:buFont typeface="Monotype Sorts" charset="0"/>
              <a:buChar char="n"/>
              <a:defRPr kumimoji="1" sz="28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AF39"/>
              </a:buClr>
              <a:buSzPct val="55000"/>
              <a:buFont typeface="Monotype Sorts" charset="0"/>
              <a:buChar char="l"/>
              <a:defRPr kumimoji="1" sz="2600">
                <a:solidFill>
                  <a:schemeClr val="bg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9933FF"/>
              </a:buClr>
              <a:buSzPct val="59000"/>
              <a:buFont typeface="Monotype Sorts" charset="0"/>
              <a:buChar char="s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09999"/>
              </a:buClr>
              <a:buSzPct val="64000"/>
              <a:buFont typeface="Monotype Sorts" charset="0"/>
              <a:buChar char="u"/>
              <a:defRPr kumimoji="1" sz="22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69000"/>
              <a:buFont typeface="Monotype Sorts" charset="0"/>
              <a:buChar char="w"/>
              <a:defRPr kumimoji="1" sz="200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fld id="{E2B18751-BB87-494C-8858-EB63C7C31CED}" type="slidenum">
              <a:rPr lang="en-US" altLang="zh-CN" sz="1400" smtClean="0">
                <a:solidFill>
                  <a:prstClr val="black"/>
                </a:solidFill>
              </a:rPr>
            </a:fld>
            <a:endParaRPr lang="en-US" altLang="zh-CN" sz="1400" smtClean="0">
              <a:solidFill>
                <a:prstClr val="black"/>
              </a:solidFill>
            </a:endParaRPr>
          </a:p>
        </p:txBody>
      </p:sp>
      <p:sp>
        <p:nvSpPr>
          <p:cNvPr id="71685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0" y="2084705"/>
            <a:ext cx="8153400" cy="1920240"/>
          </a:xfrm>
          <a:ln w="28575"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风险管理的四个过程</a:t>
            </a:r>
            <a:endParaRPr lang="zh-CN" altLang="en-US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  <a:p>
            <a:pPr marL="320040" indent="-320040" eaLnBrk="1" fontAlgn="auto" hangingPunct="1"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Char char="q"/>
              <a:defRPr/>
            </a:pP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charset="-122"/>
              </a:rPr>
              <a:t>风险管理计划</a:t>
            </a:r>
            <a:endParaRPr lang="zh-CN" altLang="en-US" b="1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2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3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4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6.7749606299212}"/>
</p:tagLst>
</file>

<file path=ppt/tags/tag5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6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7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8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9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10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6.7749606299212}"/>
</p:tagLst>
</file>

<file path=ppt/tags/tag11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12.xml><?xml version="1.0" encoding="utf-8"?>
<p:tagLst xmlns:p="http://schemas.openxmlformats.org/presentationml/2006/main">
  <p:tag name="KSO_WM_DIAGRAM_VIRTUALLY_FRAME" val="{&quot;height&quot;:327.50007874015745,&quot;left&quot;:92.62503937007874,&quot;top&quot;:163.62685039370078,&quot;width&quot;:586.7749606299212}"/>
</p:tagLst>
</file>

<file path=ppt/tags/tag13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14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15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16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17.xml><?xml version="1.0" encoding="utf-8"?>
<p:tagLst xmlns:p="http://schemas.openxmlformats.org/presentationml/2006/main">
  <p:tag name="KSO_WM_DIAGRAM_VIRTUALLY_FRAME" val="{&quot;height&quot;:327.52314960629917,&quot;left&quot;:92.62503937007874,&quot;top&quot;:163.62685039370078,&quot;width&quot;:588.4749606299213}"/>
</p:tagLst>
</file>

<file path=ppt/tags/tag18.xml><?xml version="1.0" encoding="utf-8"?>
<p:tagLst xmlns:p="http://schemas.openxmlformats.org/presentationml/2006/main">
  <p:tag name="KSO_WM_DIAGRAM_VIRTUALLY_FRAME" val="{&quot;height&quot;:293.36653543307085,&quot;left&quot;:311.7507086614173,&quot;top&quot;:155.33346456692914,&quot;width&quot;:408.25}"/>
</p:tagLst>
</file>

<file path=ppt/tags/tag19.xml><?xml version="1.0" encoding="utf-8"?>
<p:tagLst xmlns:p="http://schemas.openxmlformats.org/presentationml/2006/main">
  <p:tag name="KSO_WM_DIAGRAM_VIRTUALLY_FRAME" val="{&quot;height&quot;:293.36653543307085,&quot;left&quot;:311.7507086614173,&quot;top&quot;:155.33346456692914,&quot;width&quot;:408.25}"/>
</p:tagLst>
</file>

<file path=ppt/tags/tag20.xml><?xml version="1.0" encoding="utf-8"?>
<p:tagLst xmlns:p="http://schemas.openxmlformats.org/presentationml/2006/main">
  <p:tag name="KSO_WM_DIAGRAM_VIRTUALLY_FRAME" val="{&quot;height&quot;:293.36653543307085,&quot;left&quot;:311.7507086614173,&quot;top&quot;:155.33346456692914,&quot;width&quot;:408.25}"/>
</p:tagLst>
</file>

<file path=ppt/tags/tag21.xml><?xml version="1.0" encoding="utf-8"?>
<p:tagLst xmlns:p="http://schemas.openxmlformats.org/presentationml/2006/main">
  <p:tag name="KSO_WM_DIAGRAM_VIRTUALLY_FRAME" val="{&quot;height&quot;:293.36653543307085,&quot;left&quot;:311.7507086614173,&quot;top&quot;:155.33346456692914,&quot;width&quot;:408.25}"/>
</p:tagLst>
</file>

<file path=ppt/tags/tag22.xml><?xml version="1.0" encoding="utf-8"?>
<p:tagLst xmlns:p="http://schemas.openxmlformats.org/presentationml/2006/main">
  <p:tag name="KSO_WM_DIAGRAM_VIRTUALLY_FRAME" val="{&quot;height&quot;:293.36653543307085,&quot;left&quot;:311.7507086614173,&quot;top&quot;:155.33346456692914,&quot;width&quot;:408.25}"/>
</p:tagLst>
</file>

<file path=ppt/tags/tag23.xml><?xml version="1.0" encoding="utf-8"?>
<p:tagLst xmlns:p="http://schemas.openxmlformats.org/presentationml/2006/main">
  <p:tag name="KSO_WM_DIAGRAM_VIRTUALLY_FRAME" val="{&quot;height&quot;:293.36653543307085,&quot;left&quot;:311.7507086614173,&quot;top&quot;:155.33346456692914,&quot;width&quot;:408.25}"/>
</p:tagLst>
</file>

<file path=ppt/tags/tag24.xml><?xml version="1.0" encoding="utf-8"?>
<p:tagLst xmlns:p="http://schemas.openxmlformats.org/presentationml/2006/main">
  <p:tag name="KSO_WM_DIAGRAM_VIRTUALLY_FRAME" val="{&quot;height&quot;:293.36653543307085,&quot;left&quot;:311.7507086614173,&quot;top&quot;:155.33346456692914,&quot;width&quot;:408.25}"/>
</p:tagLst>
</file>

<file path=ppt/tags/tag25.xml><?xml version="1.0" encoding="utf-8"?>
<p:tagLst xmlns:p="http://schemas.openxmlformats.org/presentationml/2006/main">
  <p:tag name="KSO_WM_DIAGRAM_VIRTUALLY_FRAME" val="{&quot;height&quot;:293.36653543307085,&quot;left&quot;:311.7507086614173,&quot;top&quot;:155.33346456692914,&quot;width&quot;:408.25}"/>
</p:tagLst>
</file>

<file path=ppt/tags/tag26.xml><?xml version="1.0" encoding="utf-8"?>
<p:tagLst xmlns:p="http://schemas.openxmlformats.org/presentationml/2006/main">
  <p:tag name="commondata" val="eyJoZGlkIjoiZjc1YmY5ZjUyMDZkNDU5MDRiMDc3NWY5MmFkODIzZDgifQ=="/>
  <p:tag name="FULLTEXTBEAUTIFYED" val="1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oaring 1">
    <a:dk1>
      <a:srgbClr val="000000"/>
    </a:dk1>
    <a:lt1>
      <a:srgbClr val="FFFFFF"/>
    </a:lt1>
    <a:dk2>
      <a:srgbClr val="0000FF"/>
    </a:dk2>
    <a:lt2>
      <a:srgbClr val="FFCC66"/>
    </a:lt2>
    <a:accent1>
      <a:srgbClr val="00FFFF"/>
    </a:accent1>
    <a:accent2>
      <a:srgbClr val="3366FF"/>
    </a:accent2>
    <a:accent3>
      <a:srgbClr val="AAAAFF"/>
    </a:accent3>
    <a:accent4>
      <a:srgbClr val="DADADA"/>
    </a:accent4>
    <a:accent5>
      <a:srgbClr val="AAFFFF"/>
    </a:accent5>
    <a:accent6>
      <a:srgbClr val="2D5CE7"/>
    </a:accent6>
    <a:hlink>
      <a:srgbClr val="FF0033"/>
    </a:hlink>
    <a:folHlink>
      <a:srgbClr val="FFFF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4534</Words>
  <Application>WPS 演示</Application>
  <PresentationFormat>全屏显示(4:3)</PresentationFormat>
  <Paragraphs>816</Paragraphs>
  <Slides>57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7" baseType="lpstr">
      <vt:lpstr>Arial</vt:lpstr>
      <vt:lpstr>宋体</vt:lpstr>
      <vt:lpstr>Wingdings</vt:lpstr>
      <vt:lpstr>Times New Roman</vt:lpstr>
      <vt:lpstr>楷体</vt:lpstr>
      <vt:lpstr>楷体_GB2312</vt:lpstr>
      <vt:lpstr>新宋体</vt:lpstr>
      <vt:lpstr>微软雅黑</vt:lpstr>
      <vt:lpstr>Tw Cen MT</vt:lpstr>
      <vt:lpstr>Segoe Print</vt:lpstr>
      <vt:lpstr>华文仿宋</vt:lpstr>
      <vt:lpstr>Arial Unicode MS</vt:lpstr>
      <vt:lpstr>Monotype Sorts</vt:lpstr>
      <vt:lpstr>Wingdings</vt:lpstr>
      <vt:lpstr>Arial Narrow</vt:lpstr>
      <vt:lpstr>Wingdings 2</vt:lpstr>
      <vt:lpstr>Wingdings</vt:lpstr>
      <vt:lpstr>Wingdings 2</vt:lpstr>
      <vt:lpstr>Arial Unicode MS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风险管理的四个过程</vt:lpstr>
      <vt:lpstr>1--风险识别</vt:lpstr>
      <vt:lpstr>风险识别方法</vt:lpstr>
      <vt:lpstr>风险条目检查表—实例</vt:lpstr>
      <vt:lpstr>利用风险条目检查表</vt:lpstr>
      <vt:lpstr>风险识别的结果</vt:lpstr>
      <vt:lpstr>风险管理的四个过程</vt:lpstr>
      <vt:lpstr>2--风险评估</vt:lpstr>
      <vt:lpstr>风险评估</vt:lpstr>
      <vt:lpstr>试验一</vt:lpstr>
      <vt:lpstr>风险评估的方法-定性风险评估</vt:lpstr>
      <vt:lpstr>风险概率</vt:lpstr>
      <vt:lpstr>风险影响</vt:lpstr>
      <vt:lpstr>风险概率及后果估计-矩阵图</vt:lpstr>
      <vt:lpstr>风险评估的方法-定量风险评估</vt:lpstr>
      <vt:lpstr>决策树分析</vt:lpstr>
      <vt:lpstr>决策树分析与EMV ( Expected Monetary Value)</vt:lpstr>
      <vt:lpstr>决策树分析例子-1</vt:lpstr>
      <vt:lpstr>决策树分析例子-2</vt:lpstr>
      <vt:lpstr>试验一结果</vt:lpstr>
      <vt:lpstr>课堂练习</vt:lpstr>
      <vt:lpstr>课堂练习答案</vt:lpstr>
      <vt:lpstr>风险评估结果实例</vt:lpstr>
      <vt:lpstr>风险管理的四个过程</vt:lpstr>
      <vt:lpstr>3--风险规划</vt:lpstr>
      <vt:lpstr>风险规划的主要策略</vt:lpstr>
      <vt:lpstr>-回避风险</vt:lpstr>
      <vt:lpstr>-回避风险</vt:lpstr>
      <vt:lpstr>-转移风险</vt:lpstr>
      <vt:lpstr>-损失控制</vt:lpstr>
      <vt:lpstr>-自留风险</vt:lpstr>
      <vt:lpstr>风险规划实例</vt:lpstr>
      <vt:lpstr>实例--”损失控制”策略的步骤</vt:lpstr>
      <vt:lpstr>风险管理应对计划</vt:lpstr>
      <vt:lpstr>风险管理计划</vt:lpstr>
      <vt:lpstr>风险管理计划--- TOP 清单例子</vt:lpstr>
      <vt:lpstr>风险管理计划-- TOP 清单例子</vt:lpstr>
      <vt:lpstr>医疗信息商务平台：项目风险计划</vt:lpstr>
      <vt:lpstr>项目报告三：项目风险管理计划</vt:lpstr>
      <vt:lpstr>建议: 风险计划</vt:lpstr>
      <vt:lpstr>小结</vt:lpstr>
    </vt:vector>
  </TitlesOfParts>
  <Company>wrl@hnu.cn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IT项目管理</dc:title>
  <dc:creator>王如龙</dc:creator>
  <cp:keywords>风险  项目风险  风险管理 </cp:keywords>
  <dc:description>第2版  20141221第一次修改</dc:description>
  <dc:subject>第10章 应对项目风险</dc:subject>
  <cp:category>课件</cp:category>
  <cp:lastModifiedBy>newbq1haoytj</cp:lastModifiedBy>
  <cp:revision>896</cp:revision>
  <dcterms:created xsi:type="dcterms:W3CDTF">2113-01-01T00:00:00Z</dcterms:created>
  <dcterms:modified xsi:type="dcterms:W3CDTF">2024-05-19T23:59:23Z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D668F71B7A2D4ECC9418DFDCA0F55C8F_13</vt:lpwstr>
  </property>
  <property fmtid="{D5CDD505-2E9C-101B-9397-08002B2CF9AE}" pid="3" name="KSOProductBuildVer">
    <vt:lpwstr>2052-12.1.0.16417</vt:lpwstr>
  </property>
</Properties>
</file>