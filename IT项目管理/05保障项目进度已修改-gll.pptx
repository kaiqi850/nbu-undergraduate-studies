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75"/>
  </p:handoutMasterIdLst>
  <p:sldIdLst>
    <p:sldId id="325" r:id="rId3"/>
    <p:sldId id="578" r:id="rId5"/>
    <p:sldId id="504" r:id="rId6"/>
    <p:sldId id="834" r:id="rId7"/>
    <p:sldId id="781" r:id="rId8"/>
    <p:sldId id="780" r:id="rId9"/>
    <p:sldId id="783" r:id="rId10"/>
    <p:sldId id="841" r:id="rId11"/>
    <p:sldId id="842" r:id="rId12"/>
    <p:sldId id="845" r:id="rId13"/>
    <p:sldId id="844" r:id="rId14"/>
    <p:sldId id="847" r:id="rId15"/>
    <p:sldId id="846" r:id="rId16"/>
    <p:sldId id="850" r:id="rId17"/>
    <p:sldId id="851" r:id="rId18"/>
    <p:sldId id="849" r:id="rId19"/>
    <p:sldId id="848" r:id="rId20"/>
    <p:sldId id="843" r:id="rId21"/>
    <p:sldId id="852" r:id="rId22"/>
    <p:sldId id="787" r:id="rId23"/>
    <p:sldId id="853" r:id="rId24"/>
    <p:sldId id="788" r:id="rId25"/>
    <p:sldId id="789" r:id="rId26"/>
    <p:sldId id="791" r:id="rId27"/>
    <p:sldId id="854" r:id="rId28"/>
    <p:sldId id="795" r:id="rId29"/>
    <p:sldId id="824" r:id="rId30"/>
    <p:sldId id="797" r:id="rId31"/>
    <p:sldId id="798" r:id="rId32"/>
    <p:sldId id="796" r:id="rId33"/>
    <p:sldId id="893" r:id="rId34"/>
    <p:sldId id="856" r:id="rId35"/>
    <p:sldId id="857" r:id="rId36"/>
    <p:sldId id="858" r:id="rId37"/>
    <p:sldId id="800" r:id="rId38"/>
    <p:sldId id="860" r:id="rId39"/>
    <p:sldId id="861" r:id="rId40"/>
    <p:sldId id="859" r:id="rId41"/>
    <p:sldId id="862" r:id="rId42"/>
    <p:sldId id="863" r:id="rId43"/>
    <p:sldId id="864" r:id="rId44"/>
    <p:sldId id="866" r:id="rId45"/>
    <p:sldId id="865" r:id="rId46"/>
    <p:sldId id="867" r:id="rId47"/>
    <p:sldId id="868" r:id="rId48"/>
    <p:sldId id="869" r:id="rId49"/>
    <p:sldId id="804" r:id="rId50"/>
    <p:sldId id="870" r:id="rId51"/>
    <p:sldId id="872" r:id="rId52"/>
    <p:sldId id="871" r:id="rId53"/>
    <p:sldId id="874" r:id="rId54"/>
    <p:sldId id="873" r:id="rId55"/>
    <p:sldId id="875" r:id="rId56"/>
    <p:sldId id="876" r:id="rId57"/>
    <p:sldId id="877" r:id="rId58"/>
    <p:sldId id="878" r:id="rId59"/>
    <p:sldId id="880" r:id="rId60"/>
    <p:sldId id="881" r:id="rId61"/>
    <p:sldId id="882" r:id="rId62"/>
    <p:sldId id="894" r:id="rId63"/>
    <p:sldId id="883" r:id="rId64"/>
    <p:sldId id="887" r:id="rId65"/>
    <p:sldId id="886" r:id="rId66"/>
    <p:sldId id="885" r:id="rId67"/>
    <p:sldId id="889" r:id="rId68"/>
    <p:sldId id="888" r:id="rId69"/>
    <p:sldId id="891" r:id="rId70"/>
    <p:sldId id="890" r:id="rId71"/>
    <p:sldId id="892" r:id="rId72"/>
    <p:sldId id="806" r:id="rId73"/>
    <p:sldId id="577" r:id="rId74"/>
  </p:sldIdLst>
  <p:sldSz cx="9144000" cy="6858000" type="screen4x3"/>
  <p:notesSz cx="6858000" cy="9144000"/>
  <p:custDataLst>
    <p:tags r:id="rId79"/>
  </p:custDataLst>
  <p:defaultTextStyle>
    <a:defPPr>
      <a:defRPr lang="en-US"/>
    </a:defPPr>
    <a:lvl1pPr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CC00"/>
    <a:srgbClr val="FF99FF"/>
    <a:srgbClr val="339966"/>
    <a:srgbClr val="FF33CC"/>
    <a:srgbClr val="990000"/>
    <a:srgbClr val="333333"/>
    <a:srgbClr val="008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534" autoAdjust="0"/>
    <p:restoredTop sz="96525" autoAdjust="0"/>
  </p:normalViewPr>
  <p:slideViewPr>
    <p:cSldViewPr showGuides="1">
      <p:cViewPr varScale="1">
        <p:scale>
          <a:sx n="119" d="100"/>
          <a:sy n="119" d="100"/>
        </p:scale>
        <p:origin x="1038" y="114"/>
      </p:cViewPr>
      <p:guideLst>
        <p:guide orient="horz" pos="2256"/>
        <p:guide pos="29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320" y="-66"/>
      </p:cViewPr>
      <p:guideLst>
        <p:guide orient="horz" pos="2880"/>
        <p:guide pos="219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ea typeface="楷体_GB2312" pitchFamily="49" charset="-122"/>
              </a:defRPr>
            </a:lvl1pPr>
          </a:lstStyle>
          <a:p>
            <a:pPr>
              <a:defRPr/>
            </a:pPr>
            <a:fld id="{1B852447-2DBD-410E-8C2F-D8EB0FCB229A}" type="datetime1">
              <a:rPr lang="zh-CN" altLang="en-US"/>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ea typeface="楷体_GB2312" pitchFamily="49" charset="-122"/>
              </a:defRPr>
            </a:lvl1pPr>
          </a:lstStyle>
          <a:p>
            <a:pPr>
              <a:defRPr/>
            </a:pPr>
            <a:fld id="{C68810F8-56EA-4827-AA33-3157FDF2A33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ea typeface="楷体_GB2312" pitchFamily="49" charset="-122"/>
              </a:defRPr>
            </a:lvl1pPr>
          </a:lstStyle>
          <a:p>
            <a:pPr>
              <a:defRPr/>
            </a:pPr>
            <a:fld id="{01668767-8601-4ADD-A402-C42C3FCA0C02}" type="datetime1">
              <a:rPr lang="zh-CN" altLang="en-US"/>
            </a:fld>
            <a:endParaRPr lang="en-US" altLang="zh-CN"/>
          </a:p>
        </p:txBody>
      </p:sp>
      <p:sp>
        <p:nvSpPr>
          <p:cNvPr id="553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ea typeface="楷体_GB2312" pitchFamily="49" charset="-122"/>
              </a:defRPr>
            </a:lvl1pPr>
          </a:lstStyle>
          <a:p>
            <a:pPr>
              <a:defRPr/>
            </a:pPr>
            <a:fld id="{BAF5F5FB-F541-481B-90F8-2569E2D7D20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楷体" panose="02010609060101010101" pitchFamily="49"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楷体" panose="02010609060101010101" pitchFamily="49"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楷体" panose="02010609060101010101" pitchFamily="49"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楷体" panose="02010609060101010101" pitchFamily="49"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楷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A587455C-F025-4965-82AE-2B5364E6101E}" type="slidenum">
              <a:rPr lang="zh-CN" altLang="en-US" smtClean="0"/>
            </a:fld>
            <a:endParaRPr lang="en-US" altLang="zh-CN"/>
          </a:p>
        </p:txBody>
      </p:sp>
      <p:sp>
        <p:nvSpPr>
          <p:cNvPr id="56323" name="Rectangle 2"/>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F7ABF5BE-2A16-4CD0-B9A3-3A573DF3902C}" type="slidenum">
              <a:rPr lang="zh-CN" altLang="en-US" smtClean="0"/>
            </a:fld>
            <a:endParaRPr lang="en-US" altLang="zh-CN"/>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F42C42D-1EFC-42F9-AD05-1AAEB3B44009}" type="slidenum">
              <a:rPr lang="zh-CN" altLang="en-US" smtClean="0"/>
            </a:fld>
            <a:endParaRPr lang="en-US" altLang="zh-CN"/>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6D4836B-EDD9-4F8A-9968-0D693287EBF9}" type="slidenum">
              <a:rPr lang="zh-CN" altLang="en-US" smtClean="0"/>
            </a:fld>
            <a:endParaRPr lang="en-US" altLang="zh-CN"/>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EFD6342C-1650-4E69-851D-AFDED6930B5B}" type="slidenum">
              <a:rPr lang="zh-CN" altLang="en-US" smtClean="0"/>
            </a:fld>
            <a:endParaRPr lang="en-US" altLang="zh-CN"/>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EFD6342C-1650-4E69-851D-AFDED6930B5B}" type="slidenum">
              <a:rPr lang="zh-CN" altLang="en-US" smtClean="0"/>
            </a:fld>
            <a:endParaRPr lang="en-US" altLang="zh-CN"/>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74ED1F5-778B-4159-960A-2FD0E1FD845C}" type="slidenum">
              <a:rPr lang="zh-CN" altLang="en-US" smtClean="0"/>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74ED1F5-778B-4159-960A-2FD0E1FD845C}" type="slidenum">
              <a:rPr lang="zh-CN" altLang="en-US" smtClean="0"/>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47B64D1-27A9-4D15-BF9C-6F602B441B1F}"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algn="just" eaLnBrk="1" hangingPunct="1"/>
            <a:r>
              <a:rPr lang="zh-CN" altLang="en-US" b="1" dirty="0"/>
              <a:t> </a:t>
            </a:r>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974ED1F5-778B-4159-960A-2FD0E1FD845C}" type="slidenum">
              <a:rPr lang="zh-CN" altLang="en-US" smtClean="0"/>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A8863D1-A236-4F4C-B05F-946563801F9E}" type="slidenum">
              <a:rPr lang="zh-CN" altLang="en-US" smtClean="0"/>
            </a:fld>
            <a:endParaRPr lang="en-US" altLang="zh-CN"/>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6C0B2062-B560-452A-9295-D42C0A131337}" type="slidenum">
              <a:rPr lang="zh-CN" altLang="en-US" smtClean="0"/>
            </a:fld>
            <a:endParaRPr lang="en-US" altLang="zh-CN"/>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6C0B2062-B560-452A-9295-D42C0A131337}" type="slidenum">
              <a:rPr lang="zh-CN" altLang="en-US" smtClean="0"/>
            </a:fld>
            <a:endParaRPr lang="en-US" altLang="zh-CN"/>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EE595427-772F-4723-AA33-CB96788F2F3E}" type="slidenum">
              <a:rPr lang="zh-CN" altLang="en-US" smtClean="0"/>
            </a:fld>
            <a:endParaRPr lang="en-US" altLang="zh-CN"/>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DA56C4C2-B1B0-467E-BD78-91C61AE0A528}" type="slidenum">
              <a:rPr lang="zh-CN" altLang="en-US" smtClean="0"/>
            </a:fld>
            <a:endParaRPr lang="en-US" altLang="zh-CN"/>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8544A79-F957-4615-9AB3-E015D17B1FBC}" type="slidenum">
              <a:rPr lang="zh-CN" altLang="en-US" smtClean="0"/>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8DD0E0AD-E914-430F-82E7-E0EE9B0A3208}" type="slidenum">
              <a:rPr lang="zh-CN" altLang="en-US" smtClean="0"/>
            </a:fld>
            <a:endParaRPr lang="en-US" altLang="zh-CN"/>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8FC3F414-BD37-4F67-A996-B2709391FD7B}" type="slidenum">
              <a:rPr lang="zh-CN" altLang="en-US" smtClean="0"/>
            </a:fld>
            <a:endParaRPr lang="en-US" altLang="zh-CN"/>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5B9FBEC2-6DD2-49E6-8B9C-5F06BCAE6174}" type="slidenum">
              <a:rPr lang="zh-CN" altLang="en-US" smtClean="0"/>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BE1CF26-D19D-4034-B28D-DFA7FA9FDF8B}"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BE1CF26-D19D-4034-B28D-DFA7FA9FDF8B}"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BE1CF26-D19D-4034-B28D-DFA7FA9FDF8B}"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BE1CF26-D19D-4034-B28D-DFA7FA9FDF8B}"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71C6BD4-1408-4C68-9224-457D7F06D07A}" type="slidenum">
              <a:rPr lang="zh-CN" altLang="en-US" smtClean="0"/>
            </a:fld>
            <a:endParaRPr lang="en-US" altLang="zh-CN"/>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8544A79-F957-4615-9AB3-E015D17B1FBC}" type="slidenum">
              <a:rPr lang="zh-CN" altLang="en-US" smtClean="0"/>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8544A79-F957-4615-9AB3-E015D17B1FBC}" type="slidenum">
              <a:rPr lang="zh-CN" altLang="en-US" smtClean="0"/>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ABE40D3-D2CB-44A3-94B5-0D7D41000DE3}"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CB8F0FD-5176-40DB-BD4D-359FCCB36E40}" type="slidenum">
              <a:rPr lang="zh-CN" altLang="en-US" smtClean="0"/>
            </a:fld>
            <a:endParaRPr lang="en-US" altLang="zh-CN"/>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C854583A-B8DB-4025-8E49-3E01D886D181}" type="slidenum">
              <a:rPr lang="zh-CN" altLang="en-US" smtClean="0"/>
            </a:fld>
            <a:endParaRPr lang="en-US" altLang="zh-CN"/>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237DF0AF-F3F3-4CEE-B830-BA486B70A225}" type="slidenum">
              <a:rPr lang="zh-CN" altLang="en-US" smtClean="0"/>
            </a:fld>
            <a:endParaRPr lang="en-US" altLang="zh-CN"/>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0"/>
            <a:ext cx="5580063" cy="579438"/>
          </a:xfrm>
          <a:prstGeom prst="rect">
            <a:avLst/>
          </a:prstGeom>
          <a:noFill/>
          <a:ln w="9525">
            <a:noFill/>
            <a:miter lim="800000"/>
          </a:ln>
          <a:effectLst/>
        </p:spPr>
        <p:txBody>
          <a:bodyPr>
            <a:spAutoFit/>
          </a:bodyPr>
          <a:lstStyle/>
          <a:p>
            <a:pPr algn="l">
              <a:defRPr/>
            </a:pPr>
            <a:r>
              <a:rPr lang="zh-CN" altLang="en-US" sz="3200" b="1">
                <a:solidFill>
                  <a:srgbClr val="FF0000"/>
                </a:solidFill>
                <a:ea typeface="隶书" panose="02010509060101010101" pitchFamily="49" charset="-122"/>
              </a:rPr>
              <a:t>第</a:t>
            </a:r>
            <a:r>
              <a:rPr lang="en-GB" altLang="zh-CN" sz="3200" b="1">
                <a:solidFill>
                  <a:srgbClr val="FF0000"/>
                </a:solidFill>
                <a:ea typeface="隶书" panose="02010509060101010101" pitchFamily="49" charset="-122"/>
              </a:rPr>
              <a:t>5</a:t>
            </a:r>
            <a:r>
              <a:rPr lang="zh-CN" altLang="en-US" sz="3200" b="1">
                <a:solidFill>
                  <a:srgbClr val="FF0000"/>
                </a:solidFill>
                <a:ea typeface="隶书" panose="02010509060101010101" pitchFamily="49" charset="-122"/>
              </a:rPr>
              <a:t>章 保障项目进度</a:t>
            </a:r>
            <a:endParaRPr lang="zh-CN" altLang="en-US" sz="3200" b="1">
              <a:solidFill>
                <a:srgbClr val="FF0000"/>
              </a:solidFill>
              <a:ea typeface="隶书" panose="02010509060101010101" pitchFamily="49" charset="-122"/>
            </a:endParaRPr>
          </a:p>
        </p:txBody>
      </p:sp>
      <p:sp>
        <p:nvSpPr>
          <p:cNvPr id="3"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defRPr/>
            </a:pPr>
            <a:endParaRPr lang="zh-CN" altLang="en-US" dirty="0">
              <a:ea typeface="楷体" panose="02010609060101010101" pitchFamily="49" charset="-122"/>
            </a:endParaRPr>
          </a:p>
        </p:txBody>
      </p:sp>
      <p:sp>
        <p:nvSpPr>
          <p:cNvPr id="4" name="Rectangle 17"/>
          <p:cNvSpPr>
            <a:spLocks noChangeArrowheads="1"/>
          </p:cNvSpPr>
          <p:nvPr/>
        </p:nvSpPr>
        <p:spPr bwMode="auto">
          <a:xfrm>
            <a:off x="250825" y="1484313"/>
            <a:ext cx="8497888" cy="4392612"/>
          </a:xfrm>
          <a:prstGeom prst="rect">
            <a:avLst/>
          </a:prstGeom>
          <a:noFill/>
          <a:ln w="9525">
            <a:noFill/>
            <a:miter lim="800000"/>
          </a:ln>
          <a:effectLst/>
        </p:spPr>
        <p:txBody>
          <a:bodyPr/>
          <a:lstStyle/>
          <a:p>
            <a:pPr algn="ctr">
              <a:spcBef>
                <a:spcPct val="20000"/>
              </a:spcBef>
              <a:buClr>
                <a:schemeClr val="accent2"/>
              </a:buClr>
              <a:buSzPct val="80000"/>
              <a:buFont typeface="Wingdings" panose="05000000000000000000" pitchFamily="2" charset="2"/>
              <a:buNone/>
              <a:defRPr/>
            </a:pPr>
            <a:r>
              <a:rPr lang="zh-CN" altLang="en-US" sz="3200" dirty="0">
                <a:ea typeface="楷体" panose="02010609060101010101" pitchFamily="49" charset="-122"/>
              </a:rPr>
              <a:t>单击此处编辑母版文本样式</a:t>
            </a:r>
            <a:endParaRPr lang="zh-CN" altLang="en-US" sz="3200" dirty="0">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ea typeface="楷体" panose="02010609060101010101" pitchFamily="49" charset="-122"/>
              </a:rPr>
              <a:t>第二级</a:t>
            </a:r>
            <a:endParaRPr lang="zh-CN" altLang="en-US" sz="3200" dirty="0">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ea typeface="楷体" panose="02010609060101010101" pitchFamily="49" charset="-122"/>
              </a:rPr>
              <a:t>第三级</a:t>
            </a:r>
            <a:endParaRPr lang="zh-CN" altLang="en-US" sz="3200" dirty="0">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ea typeface="楷体" panose="02010609060101010101" pitchFamily="49" charset="-122"/>
              </a:rPr>
              <a:t>第四级</a:t>
            </a:r>
            <a:endParaRPr lang="zh-CN" altLang="en-US" sz="3200" dirty="0">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ea typeface="楷体" panose="02010609060101010101" pitchFamily="49" charset="-122"/>
              </a:rPr>
              <a:t>第五级</a:t>
            </a:r>
            <a:endParaRPr lang="zh-CN" altLang="en-US" sz="3200" dirty="0">
              <a:ea typeface="楷体" panose="02010609060101010101" pitchFamily="49" charset="-122"/>
            </a:endParaRPr>
          </a:p>
        </p:txBody>
      </p:sp>
      <p:sp>
        <p:nvSpPr>
          <p:cNvPr id="5" name="Rectangle 9"/>
          <p:cNvSpPr txBox="1">
            <a:spLocks noChangeArrowheads="1"/>
          </p:cNvSpPr>
          <p:nvPr userDrawn="1"/>
        </p:nvSpPr>
        <p:spPr bwMode="auto">
          <a:xfrm>
            <a:off x="7429520" y="6526213"/>
            <a:ext cx="1295400" cy="260350"/>
          </a:xfrm>
          <a:prstGeom prst="rect">
            <a:avLst/>
          </a:prstGeom>
          <a:ln>
            <a:miter lim="800000"/>
          </a:ln>
        </p:spPr>
        <p:txBody>
          <a:bodyPr lIns="92075" tIns="46038" rIns="92075" bIns="46038" anchor="ctr"/>
          <a:lstStyle>
            <a:lvl1pPr>
              <a:spcBef>
                <a:spcPct val="0"/>
              </a:spcBef>
              <a:defRPr kumimoji="0" sz="2000" b="1">
                <a:solidFill>
                  <a:schemeClr val="bg2"/>
                </a:solidFill>
                <a:ea typeface="楷体_GB2312" pitchFamily="49" charset="-122"/>
              </a:defRPr>
            </a:lvl1pPr>
          </a:lstStyle>
          <a:p>
            <a:pPr>
              <a:defRPr/>
            </a:pPr>
            <a:r>
              <a:rPr lang="zh-CN" altLang="en-GB" dirty="0"/>
              <a:t>  </a:t>
            </a:r>
            <a:fld id="{A8BAFFAF-338C-42B9-A991-7765419A5FE2}" type="slidenum">
              <a:rPr lang="zh-CN" altLang="en-GB" smtClean="0"/>
            </a:fld>
            <a:endParaRPr lang="en-US" altLang="zh-CN" dirty="0"/>
          </a:p>
        </p:txBody>
      </p:sp>
      <p:sp>
        <p:nvSpPr>
          <p:cNvPr id="7" name="Rectangle 9"/>
          <p:cNvSpPr txBox="1">
            <a:spLocks noChangeArrowheads="1"/>
          </p:cNvSpPr>
          <p:nvPr userDrawn="1"/>
        </p:nvSpPr>
        <p:spPr bwMode="auto">
          <a:xfrm>
            <a:off x="7858125" y="6572250"/>
            <a:ext cx="1295400" cy="260350"/>
          </a:xfrm>
          <a:prstGeom prst="rect">
            <a:avLst/>
          </a:prstGeom>
          <a:ln>
            <a:miter lim="800000"/>
          </a:ln>
        </p:spPr>
        <p:txBody>
          <a:bodyPr lIns="92075" tIns="46038" rIns="92075" bIns="46038" anchor="ctr"/>
          <a:lstStyle>
            <a:lvl1pPr>
              <a:defRPr kumimoji="0" sz="2000">
                <a:solidFill>
                  <a:schemeClr val="bg2"/>
                </a:solidFill>
                <a:ea typeface="楷体_GB2312" pitchFamily="49" charset="-122"/>
              </a:defRPr>
            </a:lvl1pPr>
          </a:lstStyle>
          <a:p>
            <a:pPr>
              <a:defRPr/>
            </a:pPr>
            <a:r>
              <a:rPr lang="en-GB" altLang="zh-CN"/>
              <a:t>/75</a:t>
            </a:r>
            <a:endParaRPr lang="en-US" altLang="zh-CN" dirty="0"/>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81564980-5CB7-464B-80B2-54D0B8836EB6}" type="datetime7">
              <a:rPr lang="zh-CN" altLang="en-US"/>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dirty="0"/>
              <a:t>单击此处编辑母版标题样式</a:t>
            </a:r>
            <a:endParaRPr lang="zh-CN" altLang="en-US" dirty="0"/>
          </a:p>
        </p:txBody>
      </p:sp>
      <p:sp>
        <p:nvSpPr>
          <p:cNvPr id="78854" name="Rectangle 6"/>
          <p:cNvSpPr>
            <a:spLocks noGrp="1" noChangeArrowheads="1"/>
          </p:cNvSpPr>
          <p:nvPr>
            <p:ph type="dt" sz="half" idx="2"/>
          </p:nvPr>
        </p:nvSpPr>
        <p:spPr bwMode="auto">
          <a:xfrm>
            <a:off x="5867400" y="6021388"/>
            <a:ext cx="2662238" cy="720725"/>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kumimoji="0" sz="2000" b="1">
                <a:solidFill>
                  <a:schemeClr val="bg2"/>
                </a:solidFill>
                <a:ea typeface="楷体" panose="02010609060101010101" pitchFamily="49" charset="-122"/>
              </a:defRPr>
            </a:lvl1pPr>
          </a:lstStyle>
          <a:p>
            <a:pPr>
              <a:defRPr/>
            </a:pPr>
            <a:fld id="{5EB33A22-F4B9-4126-882C-87AB819F5DCD}" type="datetime7">
              <a:rPr lang="zh-CN" altLang="en-US" smtClean="0"/>
            </a:fld>
            <a:endParaRPr lang="zh-CN" altLang="zh-CN"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random/>
  </p:transition>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9.GI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172042" name="Text Box 2058"/>
          <p:cNvSpPr txBox="1">
            <a:spLocks noChangeArrowheads="1"/>
          </p:cNvSpPr>
          <p:nvPr/>
        </p:nvSpPr>
        <p:spPr bwMode="auto">
          <a:xfrm>
            <a:off x="4140200" y="4649788"/>
            <a:ext cx="4968875" cy="579437"/>
          </a:xfrm>
          <a:prstGeom prst="rect">
            <a:avLst/>
          </a:prstGeom>
          <a:noFill/>
          <a:ln w="9525" algn="ctr">
            <a:noFill/>
            <a:miter lim="800000"/>
          </a:ln>
          <a:effectLst/>
        </p:spPr>
        <p:txBody>
          <a:bodyPr>
            <a:spAutoFit/>
          </a:bodyPr>
          <a:lstStyle/>
          <a:p>
            <a:pPr>
              <a:defRPr/>
            </a:pPr>
            <a:r>
              <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第五章 保障项目进度</a:t>
            </a:r>
            <a:endPar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grpSp>
        <p:nvGrpSpPr>
          <p:cNvPr id="19" name="组合 10"/>
          <p:cNvGrpSpPr/>
          <p:nvPr/>
        </p:nvGrpSpPr>
        <p:grpSpPr bwMode="auto">
          <a:xfrm>
            <a:off x="3857625" y="2286000"/>
            <a:ext cx="5072063" cy="1944351"/>
            <a:chOff x="3857620" y="2071678"/>
            <a:chExt cx="5072066" cy="1945170"/>
          </a:xfrm>
        </p:grpSpPr>
        <p:sp>
          <p:nvSpPr>
            <p:cNvPr id="20" name="Rectangle 2055"/>
            <p:cNvSpPr>
              <a:spLocks noChangeArrowheads="1"/>
            </p:cNvSpPr>
            <p:nvPr/>
          </p:nvSpPr>
          <p:spPr bwMode="auto">
            <a:xfrm>
              <a:off x="4358000" y="2071678"/>
              <a:ext cx="4398013"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l">
                <a:spcBef>
                  <a:spcPct val="55000"/>
                </a:spcBef>
                <a:defRPr/>
              </a:pPr>
              <a:r>
                <a:rPr lang="en-US" altLang="zh-CN" sz="5400" b="1" spc="800" dirty="0">
                  <a:solidFill>
                    <a:schemeClr val="bg2"/>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endParaRPr lang="zh-CN" altLang="en-US" sz="8000" b="1" dirty="0">
                <a:solidFill>
                  <a:schemeClr val="hlink"/>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21" name="矩形 20"/>
            <p:cNvSpPr/>
            <p:nvPr/>
          </p:nvSpPr>
          <p:spPr>
            <a:xfrm>
              <a:off x="3857620" y="3000757"/>
              <a:ext cx="5072066" cy="1016091"/>
            </a:xfrm>
            <a:prstGeom prst="rect">
              <a:avLst/>
            </a:prstGeom>
          </p:spPr>
          <p:txBody>
            <a:bodyPr>
              <a:spAutoFit/>
            </a:bodyPr>
            <a:lstStyle/>
            <a:p>
              <a:pPr algn="ctr">
                <a:defRPr/>
              </a:pPr>
              <a:r>
                <a:rPr lang="en-US" altLang="zh-CN" sz="2400" dirty="0">
                  <a:solidFill>
                    <a:srgbClr val="000000"/>
                  </a:solidFill>
                  <a:effectLst>
                    <a:outerShdw blurRad="38100" dist="38100" dir="2700000" algn="tl">
                      <a:srgbClr val="FFFFFF"/>
                    </a:outerShdw>
                  </a:effectLst>
                  <a:ea typeface="楷体" panose="02010609060101010101" pitchFamily="49" charset="-122"/>
                </a:rPr>
                <a:t>Information    Technology  </a:t>
              </a:r>
              <a:endParaRPr lang="en-US" altLang="zh-CN" sz="2400" dirty="0">
                <a:solidFill>
                  <a:srgbClr val="000000"/>
                </a:solidFill>
                <a:effectLst>
                  <a:outerShdw blurRad="38100" dist="38100" dir="2700000" algn="tl">
                    <a:srgbClr val="FFFFFF"/>
                  </a:outerShdw>
                </a:effectLst>
                <a:ea typeface="楷体" panose="02010609060101010101" pitchFamily="49" charset="-122"/>
              </a:endParaRPr>
            </a:p>
            <a:p>
              <a:pPr algn="ctr">
                <a:defRPr/>
              </a:pPr>
              <a:r>
                <a:rPr lang="en-US" altLang="zh-CN" sz="2400" dirty="0">
                  <a:solidFill>
                    <a:srgbClr val="000000"/>
                  </a:solidFill>
                  <a:effectLst>
                    <a:outerShdw blurRad="38100" dist="38100" dir="2700000" algn="tl">
                      <a:srgbClr val="FFFFFF"/>
                    </a:outerShdw>
                  </a:effectLst>
                  <a:ea typeface="楷体" panose="02010609060101010101" pitchFamily="49" charset="-122"/>
                </a:rPr>
                <a:t>  Project   Management</a:t>
              </a:r>
              <a:endParaRPr lang="zh-CN" altLang="en-US" sz="2400" dirty="0">
                <a:solidFill>
                  <a:srgbClr val="000000"/>
                </a:solidFill>
                <a:effectLst>
                  <a:outerShdw blurRad="38100" dist="38100" dir="2700000" algn="tl">
                    <a:srgbClr val="FFFFFF"/>
                  </a:outerShdw>
                </a:effectLst>
                <a:ea typeface="楷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8239" name="Rectangle 106"/>
          <p:cNvSpPr>
            <a:spLocks noChangeArrowheads="1"/>
          </p:cNvSpPr>
          <p:nvPr/>
        </p:nvSpPr>
        <p:spPr bwMode="auto">
          <a:xfrm>
            <a:off x="103188" y="620713"/>
            <a:ext cx="5397500" cy="554037"/>
          </a:xfrm>
          <a:prstGeom prst="rect">
            <a:avLst/>
          </a:prstGeom>
          <a:noFill/>
          <a:ln w="9525">
            <a:noFill/>
            <a:miter lim="800000"/>
          </a:ln>
        </p:spPr>
        <p:txBody>
          <a:bodyPr>
            <a:spAutoFit/>
          </a:bodyPr>
          <a:lstStyle/>
          <a:p>
            <a:pPr algn="l">
              <a:spcBef>
                <a:spcPct val="0"/>
              </a:spcBef>
            </a:pPr>
            <a:r>
              <a:rPr kumimoji="0" lang="en-US" altLang="zh-CN" sz="3000" b="1" dirty="0">
                <a:ea typeface="楷体" panose="02010609060101010101" pitchFamily="49" charset="-122"/>
              </a:rPr>
              <a:t>【</a:t>
            </a:r>
            <a:r>
              <a:rPr kumimoji="0" lang="zh-CN" altLang="en-US" sz="3000" b="1" dirty="0">
                <a:ea typeface="楷体" panose="02010609060101010101" pitchFamily="49" charset="-122"/>
              </a:rPr>
              <a:t>课程回顾</a:t>
            </a:r>
            <a:r>
              <a:rPr kumimoji="0" lang="en-US" altLang="zh-CN" sz="3000" b="1" dirty="0">
                <a:ea typeface="楷体" panose="02010609060101010101" pitchFamily="49" charset="-122"/>
              </a:rPr>
              <a:t>】</a:t>
            </a:r>
            <a:endParaRPr kumimoji="0" lang="en-US" altLang="zh-CN" sz="3000" b="1" dirty="0">
              <a:ea typeface="楷体" panose="02010609060101010101" pitchFamily="49" charset="-122"/>
            </a:endParaRPr>
          </a:p>
        </p:txBody>
      </p:sp>
      <p:pic>
        <p:nvPicPr>
          <p:cNvPr id="15" name="Picture 2"/>
          <p:cNvPicPr>
            <a:picLocks noChangeAspect="1" noChangeArrowheads="1"/>
          </p:cNvPicPr>
          <p:nvPr/>
        </p:nvPicPr>
        <p:blipFill>
          <a:blip r:embed="rId1"/>
          <a:srcRect/>
          <a:stretch>
            <a:fillRect/>
          </a:stretch>
        </p:blipFill>
        <p:spPr bwMode="auto">
          <a:xfrm>
            <a:off x="0" y="1412776"/>
            <a:ext cx="9144000" cy="5445224"/>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02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endParaRPr lang="zh-CN" altLang="en-US" sz="2400" dirty="0">
              <a:ea typeface="楷体" panose="02010609060101010101" pitchFamily="49" charset="-122"/>
            </a:endParaRPr>
          </a:p>
        </p:txBody>
      </p:sp>
      <p:sp>
        <p:nvSpPr>
          <p:cNvPr id="1024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ea typeface="楷体" panose="02010609060101010101" pitchFamily="49" charset="-122"/>
            </a:endParaRPr>
          </a:p>
        </p:txBody>
      </p:sp>
      <p:sp>
        <p:nvSpPr>
          <p:cNvPr id="10245" name="Text Box 4"/>
          <p:cNvSpPr txBox="1">
            <a:spLocks noChangeArrowheads="1"/>
          </p:cNvSpPr>
          <p:nvPr/>
        </p:nvSpPr>
        <p:spPr bwMode="auto">
          <a:xfrm>
            <a:off x="250825" y="1403350"/>
            <a:ext cx="8677275" cy="4185761"/>
          </a:xfrm>
          <a:prstGeom prst="rect">
            <a:avLst/>
          </a:prstGeom>
          <a:noFill/>
          <a:ln w="28575">
            <a:noFill/>
            <a:miter lim="800000"/>
          </a:ln>
        </p:spPr>
        <p:txBody>
          <a:bodyPr>
            <a:spAutoFit/>
          </a:bodyPr>
          <a:lstStyle/>
          <a:p>
            <a:pPr algn="l">
              <a:spcBef>
                <a:spcPts val="600"/>
              </a:spcBef>
              <a:spcAft>
                <a:spcPts val="600"/>
              </a:spcAft>
              <a:buClr>
                <a:schemeClr val="hlink"/>
              </a:buClr>
            </a:pPr>
            <a:r>
              <a:rPr kumimoji="0" lang="zh-CN" altLang="en-US" sz="3600" b="1" dirty="0">
                <a:solidFill>
                  <a:schemeClr val="bg2"/>
                </a:solidFill>
                <a:latin typeface="楷体" panose="02010609060101010101" pitchFamily="49" charset="-122"/>
                <a:ea typeface="楷体" panose="02010609060101010101" pitchFamily="49" charset="-122"/>
              </a:rPr>
              <a:t>学习完本章后，应当掌握如下知识：</a:t>
            </a:r>
            <a:endParaRPr kumimoji="0" lang="zh-CN" altLang="en-US" sz="44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1</a:t>
            </a:r>
            <a:r>
              <a:rPr lang="zh-CN" altLang="en-US" sz="3600" b="1" dirty="0">
                <a:solidFill>
                  <a:schemeClr val="bg2"/>
                </a:solidFill>
                <a:latin typeface="+mn-lt"/>
                <a:ea typeface="楷体" panose="02010609060101010101" pitchFamily="49" charset="-122"/>
              </a:rPr>
              <a:t>）项目进度管理的重要性。</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2</a:t>
            </a: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IT</a:t>
            </a:r>
            <a:r>
              <a:rPr lang="zh-CN" altLang="en-US" sz="3600" b="1" dirty="0">
                <a:solidFill>
                  <a:schemeClr val="bg2"/>
                </a:solidFill>
                <a:latin typeface="+mn-lt"/>
                <a:ea typeface="楷体" panose="02010609060101010101" pitchFamily="49" charset="-122"/>
              </a:rPr>
              <a:t>项目进度管理的主要过程与内容。</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3</a:t>
            </a: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IT</a:t>
            </a:r>
            <a:r>
              <a:rPr lang="zh-CN" altLang="en-US" sz="3600" b="1" dirty="0">
                <a:solidFill>
                  <a:schemeClr val="bg2"/>
                </a:solidFill>
                <a:latin typeface="+mn-lt"/>
                <a:ea typeface="楷体" panose="02010609060101010101" pitchFamily="49" charset="-122"/>
              </a:rPr>
              <a:t>项目进度管理工具与技术。</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4</a:t>
            </a:r>
            <a:r>
              <a:rPr lang="zh-CN" altLang="en-US" sz="3600" b="1" dirty="0">
                <a:solidFill>
                  <a:schemeClr val="bg2"/>
                </a:solidFill>
                <a:latin typeface="+mn-lt"/>
                <a:ea typeface="楷体" panose="02010609060101010101" pitchFamily="49" charset="-122"/>
              </a:rPr>
              <a:t>）建立项目网络图的方法。</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a:t>
            </a:r>
            <a:r>
              <a:rPr lang="en-US" sz="3600" b="1" dirty="0">
                <a:solidFill>
                  <a:schemeClr val="bg2"/>
                </a:solidFill>
                <a:latin typeface="+mn-lt"/>
                <a:ea typeface="楷体" panose="02010609060101010101" pitchFamily="49" charset="-122"/>
              </a:rPr>
              <a:t>5</a:t>
            </a:r>
            <a:r>
              <a:rPr lang="zh-CN" altLang="en-US" sz="3600" b="1" dirty="0">
                <a:solidFill>
                  <a:schemeClr val="bg2"/>
                </a:solidFill>
                <a:latin typeface="+mn-lt"/>
                <a:ea typeface="楷体" panose="02010609060101010101" pitchFamily="49" charset="-122"/>
              </a:rPr>
              <a:t>）项目进度控制的原则、过程与方法</a:t>
            </a:r>
            <a:r>
              <a:rPr lang="zh-CN" altLang="en-US" sz="3600" dirty="0">
                <a:solidFill>
                  <a:schemeClr val="bg2"/>
                </a:solidFill>
                <a:latin typeface="+mn-lt"/>
                <a:ea typeface="楷体" panose="02010609060101010101" pitchFamily="49" charset="-122"/>
              </a:rPr>
              <a:t>。</a:t>
            </a:r>
            <a:endParaRPr lang="zh-CN" altLang="en-US" sz="3200" dirty="0">
              <a:solidFill>
                <a:schemeClr val="bg2"/>
              </a:solidFill>
              <a:latin typeface="+mn-lt"/>
              <a:ea typeface="楷体" panose="02010609060101010101" pitchFamily="49" charset="-122"/>
            </a:endParaRPr>
          </a:p>
        </p:txBody>
      </p:sp>
      <p:sp>
        <p:nvSpPr>
          <p:cNvPr id="10246"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P.105</a:t>
            </a:r>
            <a:endParaRPr lang="en-US" altLang="zh-CN" sz="2400" b="1" dirty="0">
              <a:solidFill>
                <a:schemeClr val="bg2"/>
              </a:solidFill>
              <a:ea typeface="楷体" panose="02010609060101010101" pitchFamily="49" charset="-122"/>
            </a:endParaRPr>
          </a:p>
        </p:txBody>
      </p:sp>
      <p:sp>
        <p:nvSpPr>
          <p:cNvPr id="10247"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spcBef>
                <a:spcPct val="0"/>
              </a:spcBef>
            </a:pPr>
            <a:r>
              <a:rPr kumimoji="0" lang="en-US" altLang="zh-CN" sz="3000" b="1" dirty="0">
                <a:ea typeface="楷体" panose="02010609060101010101" pitchFamily="49" charset="-122"/>
              </a:rPr>
              <a:t>【</a:t>
            </a:r>
            <a:r>
              <a:rPr kumimoji="0" lang="zh-CN" altLang="en-US" sz="3000" b="1" dirty="0">
                <a:ea typeface="楷体" panose="02010609060101010101" pitchFamily="49" charset="-122"/>
              </a:rPr>
              <a:t>本章知识要点</a:t>
            </a:r>
            <a:r>
              <a:rPr kumimoji="0" lang="en-US" altLang="zh-CN" sz="3000" b="1" dirty="0">
                <a:ea typeface="楷体" panose="02010609060101010101" pitchFamily="49" charset="-122"/>
              </a:rPr>
              <a:t>】</a:t>
            </a:r>
            <a:endParaRPr kumimoji="0" lang="en-US" altLang="zh-CN"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dirty="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dirty="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428625" y="1214422"/>
            <a:ext cx="8501063" cy="526224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FF0000"/>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P.107</a:t>
            </a:r>
            <a:endParaRPr lang="en-US" altLang="zh-CN" sz="2400" b="1" dirty="0">
              <a:solidFill>
                <a:schemeClr val="bg2"/>
              </a:solidFill>
              <a:ea typeface="楷体" panose="02010609060101010101" pitchFamily="49" charset="-122"/>
            </a:endParaRPr>
          </a:p>
        </p:txBody>
      </p:sp>
      <p:sp>
        <p:nvSpPr>
          <p:cNvPr id="15364"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5509" name="Text Box 5"/>
          <p:cNvSpPr txBox="1">
            <a:spLocks noChangeArrowheads="1"/>
          </p:cNvSpPr>
          <p:nvPr/>
        </p:nvSpPr>
        <p:spPr bwMode="auto">
          <a:xfrm>
            <a:off x="250825" y="1857364"/>
            <a:ext cx="8713788" cy="3599815"/>
          </a:xfrm>
          <a:prstGeom prst="rect">
            <a:avLst/>
          </a:prstGeom>
          <a:noFill/>
          <a:ln w="9525" algn="ctr">
            <a:noFill/>
            <a:miter lim="800000"/>
          </a:ln>
        </p:spPr>
        <p:txBody>
          <a:bodyPr>
            <a:spAutoFit/>
          </a:bodyPr>
          <a:lstStyle/>
          <a:p>
            <a:pPr algn="l">
              <a:spcBef>
                <a:spcPts val="600"/>
              </a:spcBef>
              <a:spcAft>
                <a:spcPts val="600"/>
              </a:spcAft>
              <a:buClr>
                <a:schemeClr val="hlink"/>
              </a:buClr>
            </a:pPr>
            <a:r>
              <a:rPr lang="zh-CN" altLang="en-US" sz="3200" b="1" dirty="0">
                <a:solidFill>
                  <a:schemeClr val="bg1"/>
                </a:solidFill>
                <a:latin typeface="+mn-lt"/>
                <a:ea typeface="楷体" panose="02010609060101010101" pitchFamily="49" charset="-122"/>
              </a:rPr>
              <a:t>进度问题</a:t>
            </a:r>
            <a:r>
              <a:rPr lang="zh-CN" altLang="en-US" sz="3200" b="1" dirty="0">
                <a:solidFill>
                  <a:schemeClr val="bg2"/>
                </a:solidFill>
                <a:latin typeface="+mn-lt"/>
                <a:ea typeface="楷体" panose="02010609060101010101" pitchFamily="49" charset="-122"/>
              </a:rPr>
              <a:t>是项目生命周期内造成项目冲突的主要原因。</a:t>
            </a:r>
            <a:endParaRPr lang="en-US" altLang="zh-CN" sz="3200" b="1" dirty="0">
              <a:solidFill>
                <a:schemeClr val="bg2"/>
              </a:solidFill>
              <a:latin typeface="+mn-lt"/>
              <a:ea typeface="楷体" panose="02010609060101010101" pitchFamily="49" charset="-122"/>
            </a:endParaRPr>
          </a:p>
          <a:p>
            <a:pPr algn="l">
              <a:spcBef>
                <a:spcPts val="600"/>
              </a:spcBef>
              <a:spcAft>
                <a:spcPts val="600"/>
              </a:spcAft>
              <a:buClr>
                <a:schemeClr val="hlink"/>
              </a:buClr>
            </a:pPr>
            <a:r>
              <a:rPr lang="en-US" altLang="zh-CN" sz="3600" b="1" dirty="0">
                <a:solidFill>
                  <a:schemeClr val="bg2"/>
                </a:solidFill>
                <a:latin typeface="+mn-lt"/>
                <a:ea typeface="楷体" panose="02010609060101010101" pitchFamily="49" charset="-122"/>
              </a:rPr>
              <a:t>IT</a:t>
            </a:r>
            <a:r>
              <a:rPr lang="zh-CN" altLang="en-US" sz="3600" b="1" dirty="0">
                <a:solidFill>
                  <a:schemeClr val="bg2"/>
                </a:solidFill>
                <a:latin typeface="+mn-lt"/>
                <a:ea typeface="楷体" panose="02010609060101010101" pitchFamily="49" charset="-122"/>
              </a:rPr>
              <a:t>项目的</a:t>
            </a:r>
            <a:r>
              <a:rPr lang="zh-CN" altLang="en-US" sz="3600" b="1" dirty="0">
                <a:solidFill>
                  <a:schemeClr val="bg1"/>
                </a:solidFill>
                <a:latin typeface="+mn-lt"/>
                <a:ea typeface="楷体" panose="02010609060101010101" pitchFamily="49" charset="-122"/>
              </a:rPr>
              <a:t>按时交付</a:t>
            </a:r>
            <a:r>
              <a:rPr lang="zh-CN" altLang="en-US" sz="3600" b="1" dirty="0">
                <a:solidFill>
                  <a:schemeClr val="bg2"/>
                </a:solidFill>
                <a:latin typeface="+mn-lt"/>
                <a:ea typeface="楷体" panose="02010609060101010101" pitchFamily="49" charset="-122"/>
              </a:rPr>
              <a:t>成为了项目经理的最大挑战。</a:t>
            </a:r>
            <a:endParaRPr lang="en-US" altLang="zh-CN" sz="3600" b="1" dirty="0">
              <a:solidFill>
                <a:schemeClr val="bg2"/>
              </a:solidFill>
              <a:latin typeface="+mn-lt"/>
              <a:ea typeface="楷体" panose="02010609060101010101" pitchFamily="49" charset="-122"/>
            </a:endParaRPr>
          </a:p>
          <a:p>
            <a:pPr algn="l">
              <a:spcBef>
                <a:spcPts val="600"/>
              </a:spcBef>
              <a:spcAft>
                <a:spcPts val="600"/>
              </a:spcAft>
              <a:buClr>
                <a:schemeClr val="hlink"/>
              </a:buClr>
            </a:pPr>
            <a:r>
              <a:rPr lang="zh-CN" altLang="en-US" sz="3600" b="1" dirty="0">
                <a:solidFill>
                  <a:srgbClr val="0000FF"/>
                </a:solidFill>
                <a:latin typeface="楷体" panose="02010609060101010101" pitchFamily="49" charset="-122"/>
                <a:ea typeface="楷体" panose="02010609060101010101" pitchFamily="49" charset="-122"/>
              </a:rPr>
              <a:t>项目进度管理</a:t>
            </a:r>
            <a:r>
              <a:rPr lang="zh-CN" altLang="en-US" sz="3600" b="1" dirty="0">
                <a:solidFill>
                  <a:schemeClr val="bg2"/>
                </a:solidFill>
                <a:latin typeface="楷体" panose="02010609060101010101" pitchFamily="49" charset="-122"/>
                <a:ea typeface="楷体" panose="02010609060101010101" pitchFamily="49" charset="-122"/>
              </a:rPr>
              <a:t>在</a:t>
            </a:r>
            <a:r>
              <a:rPr lang="en-US" altLang="en-US" sz="3600" b="1" dirty="0">
                <a:solidFill>
                  <a:schemeClr val="bg2"/>
                </a:solidFill>
                <a:ea typeface="楷体" panose="02010609060101010101" pitchFamily="49" charset="-122"/>
                <a:cs typeface="Times New Roman" panose="02020603050405020304" pitchFamily="18" charset="0"/>
              </a:rPr>
              <a:t>IT</a:t>
            </a:r>
            <a:r>
              <a:rPr lang="zh-CN" altLang="en-US" sz="3600" b="1" dirty="0">
                <a:solidFill>
                  <a:schemeClr val="bg2"/>
                </a:solidFill>
                <a:latin typeface="楷体" panose="02010609060101010101" pitchFamily="49" charset="-122"/>
                <a:ea typeface="楷体" panose="02010609060101010101" pitchFamily="49" charset="-122"/>
              </a:rPr>
              <a:t>项目管理中处于</a:t>
            </a:r>
            <a:r>
              <a:rPr lang="zh-CN" altLang="en-US" sz="3600" b="1" dirty="0">
                <a:solidFill>
                  <a:srgbClr val="0000FF"/>
                </a:solidFill>
                <a:latin typeface="楷体" panose="02010609060101010101" pitchFamily="49" charset="-122"/>
                <a:ea typeface="楷体" panose="02010609060101010101" pitchFamily="49" charset="-122"/>
              </a:rPr>
              <a:t>非常关键的位置。</a:t>
            </a:r>
            <a:endParaRPr lang="zh-CN" altLang="en-US" sz="3600" b="1" dirty="0">
              <a:solidFill>
                <a:srgbClr val="0000FF"/>
              </a:solidFill>
              <a:latin typeface="楷体" panose="02010609060101010101" pitchFamily="49" charset="-122"/>
              <a:ea typeface="楷体" panose="02010609060101010101" pitchFamily="49" charset="-122"/>
            </a:endParaRPr>
          </a:p>
        </p:txBody>
      </p:sp>
      <p:sp>
        <p:nvSpPr>
          <p:cNvPr id="15366" name="Rectangle 7"/>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5.1 </a:t>
            </a:r>
            <a:r>
              <a:rPr kumimoji="0" lang="en-US" altLang="en-US" sz="3000" b="1" dirty="0" err="1">
                <a:ea typeface="楷体" panose="02010609060101010101" pitchFamily="49" charset="-122"/>
              </a:rPr>
              <a:t>项目进度管理概述</a:t>
            </a:r>
            <a:r>
              <a:rPr kumimoji="0" lang="en-US" altLang="en-US" sz="3000" b="1" dirty="0">
                <a:ea typeface="楷体" panose="02010609060101010101" pitchFamily="49" charset="-122"/>
              </a:rPr>
              <a:t> </a:t>
            </a:r>
            <a:endParaRPr kumimoji="0" lang="en-US" altLang="en-US" sz="3000" b="1" dirty="0">
              <a:ea typeface="楷体" panose="02010609060101010101" pitchFamily="49" charset="-122"/>
            </a:endParaRPr>
          </a:p>
        </p:txBody>
      </p:sp>
      <p:sp>
        <p:nvSpPr>
          <p:cNvPr id="15367" name="Rectangle 8"/>
          <p:cNvSpPr>
            <a:spLocks noChangeArrowheads="1"/>
          </p:cNvSpPr>
          <p:nvPr/>
        </p:nvSpPr>
        <p:spPr bwMode="auto">
          <a:xfrm>
            <a:off x="323850" y="1341438"/>
            <a:ext cx="4689104"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5.1.1 </a:t>
            </a:r>
            <a:r>
              <a:rPr kumimoji="0" lang="en-US" altLang="en-US" b="1" dirty="0" err="1">
                <a:solidFill>
                  <a:srgbClr val="FF0000"/>
                </a:solidFill>
                <a:latin typeface="楷体" panose="02010609060101010101" pitchFamily="49" charset="-122"/>
                <a:ea typeface="楷体" panose="02010609060101010101" pitchFamily="49" charset="-122"/>
              </a:rPr>
              <a:t>项目进度管理的重要性</a:t>
            </a:r>
            <a:r>
              <a:rPr kumimoji="0" lang="en-US" altLang="en-US" b="1" dirty="0">
                <a:solidFill>
                  <a:srgbClr val="FF0000"/>
                </a:solidFill>
                <a:ea typeface="楷体_GB2312" pitchFamily="49" charset="-122"/>
              </a:rPr>
              <a:t> </a:t>
            </a:r>
            <a:endParaRPr kumimoji="0" lang="en-US" altLang="en-US" b="1" dirty="0">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550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55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P.107</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71406" y="1875432"/>
            <a:ext cx="8786874" cy="5015865"/>
          </a:xfrm>
          <a:prstGeom prst="rect">
            <a:avLst/>
          </a:prstGeom>
          <a:noFill/>
          <a:ln w="9525" algn="ctr">
            <a:noFill/>
            <a:miter lim="800000"/>
          </a:ln>
        </p:spPr>
        <p:txBody>
          <a:bodyPr wrap="square">
            <a:spAutoFit/>
          </a:bodyPr>
          <a:lstStyle/>
          <a:p>
            <a:pPr algn="l">
              <a:spcBef>
                <a:spcPts val="600"/>
              </a:spcBef>
              <a:spcAft>
                <a:spcPts val="600"/>
              </a:spcAft>
              <a:buClr>
                <a:schemeClr val="hlink"/>
              </a:buClr>
            </a:pPr>
            <a:r>
              <a:rPr kumimoji="0" lang="zh-CN" altLang="en-US" sz="3200" b="1" dirty="0">
                <a:solidFill>
                  <a:schemeClr val="bg2"/>
                </a:solidFill>
                <a:latin typeface="楷体" panose="02010609060101010101" pitchFamily="49" charset="-122"/>
                <a:ea typeface="楷体" panose="02010609060101010101" pitchFamily="49" charset="-122"/>
              </a:rPr>
              <a:t>项目进度是</a:t>
            </a:r>
            <a:r>
              <a:rPr kumimoji="0" lang="zh-CN" altLang="en-US" sz="3200" b="1" dirty="0">
                <a:solidFill>
                  <a:schemeClr val="bg1"/>
                </a:solidFill>
                <a:latin typeface="楷体" panose="02010609060101010101" pitchFamily="49" charset="-122"/>
                <a:ea typeface="楷体" panose="02010609060101010101" pitchFamily="49" charset="-122"/>
              </a:rPr>
              <a:t>执行项目各项活动</a:t>
            </a:r>
            <a:r>
              <a:rPr kumimoji="0" lang="zh-CN" altLang="en-US" sz="3200" b="1" dirty="0">
                <a:solidFill>
                  <a:schemeClr val="bg2"/>
                </a:solidFill>
                <a:latin typeface="楷体" panose="02010609060101010101" pitchFamily="49" charset="-122"/>
                <a:ea typeface="楷体" panose="02010609060101010101" pitchFamily="49" charset="-122"/>
              </a:rPr>
              <a:t>和</a:t>
            </a:r>
            <a:r>
              <a:rPr kumimoji="0" lang="zh-CN" altLang="en-US" sz="3200" b="1" dirty="0">
                <a:solidFill>
                  <a:schemeClr val="bg1"/>
                </a:solidFill>
                <a:latin typeface="楷体" panose="02010609060101010101" pitchFamily="49" charset="-122"/>
                <a:ea typeface="楷体" panose="02010609060101010101" pitchFamily="49" charset="-122"/>
              </a:rPr>
              <a:t>到达里程碑</a:t>
            </a:r>
            <a:r>
              <a:rPr kumimoji="0" lang="zh-CN" altLang="en-US" sz="3200" b="1" dirty="0">
                <a:solidFill>
                  <a:schemeClr val="bg2"/>
                </a:solidFill>
                <a:latin typeface="楷体" panose="02010609060101010101" pitchFamily="49" charset="-122"/>
                <a:ea typeface="楷体" panose="02010609060101010101" pitchFamily="49" charset="-122"/>
              </a:rPr>
              <a:t>的</a:t>
            </a:r>
            <a:r>
              <a:rPr kumimoji="0" lang="zh-CN" altLang="en-US" sz="3200" b="1" dirty="0">
                <a:solidFill>
                  <a:schemeClr val="bg1"/>
                </a:solidFill>
                <a:latin typeface="楷体" panose="02010609060101010101" pitchFamily="49" charset="-122"/>
                <a:ea typeface="楷体" panose="02010609060101010101" pitchFamily="49" charset="-122"/>
              </a:rPr>
              <a:t>计划日期</a:t>
            </a:r>
            <a:r>
              <a:rPr kumimoji="0" lang="zh-CN" altLang="en-US" sz="3200" b="1" dirty="0">
                <a:solidFill>
                  <a:schemeClr val="bg2"/>
                </a:solidFill>
                <a:latin typeface="楷体" panose="02010609060101010101" pitchFamily="49" charset="-122"/>
                <a:ea typeface="楷体" panose="02010609060101010101" pitchFamily="49" charset="-122"/>
              </a:rPr>
              <a:t>。</a:t>
            </a:r>
            <a:endParaRPr kumimoji="0"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sz="3200" b="1" dirty="0">
                <a:solidFill>
                  <a:schemeClr val="bg2"/>
                </a:solidFill>
                <a:latin typeface="楷体" panose="02010609060101010101" pitchFamily="49" charset="-122"/>
                <a:ea typeface="楷体" panose="02010609060101010101" pitchFamily="49" charset="-122"/>
              </a:rPr>
              <a:t>进度管理就是采用</a:t>
            </a:r>
            <a:r>
              <a:rPr kumimoji="0" lang="zh-CN" altLang="en-US" sz="3200" b="1" dirty="0">
                <a:solidFill>
                  <a:schemeClr val="bg1"/>
                </a:solidFill>
                <a:latin typeface="楷体" panose="02010609060101010101" pitchFamily="49" charset="-122"/>
                <a:ea typeface="楷体" panose="02010609060101010101" pitchFamily="49" charset="-122"/>
              </a:rPr>
              <a:t>科学的方法</a:t>
            </a:r>
            <a:r>
              <a:rPr kumimoji="0" lang="zh-CN" altLang="en-US" sz="3200" b="1" dirty="0">
                <a:solidFill>
                  <a:schemeClr val="bg2"/>
                </a:solidFill>
                <a:latin typeface="楷体" panose="02010609060101010101" pitchFamily="49" charset="-122"/>
                <a:ea typeface="楷体" panose="02010609060101010101" pitchFamily="49" charset="-122"/>
              </a:rPr>
              <a:t>确定进度目标，编制进度计划和资源供应计划，进行进度控制，在与质量、费用目标协调的基础上，</a:t>
            </a:r>
            <a:r>
              <a:rPr kumimoji="0" lang="zh-CN" altLang="en-US" sz="3200" b="1" dirty="0">
                <a:solidFill>
                  <a:schemeClr val="bg1"/>
                </a:solidFill>
                <a:latin typeface="楷体" panose="02010609060101010101" pitchFamily="49" charset="-122"/>
                <a:ea typeface="楷体" panose="02010609060101010101" pitchFamily="49" charset="-122"/>
              </a:rPr>
              <a:t>实现工期目标</a:t>
            </a:r>
            <a:r>
              <a:rPr kumimoji="0" lang="zh-CN" altLang="en-US" sz="3200" b="1" dirty="0">
                <a:solidFill>
                  <a:schemeClr val="bg2"/>
                </a:solidFill>
                <a:latin typeface="楷体" panose="02010609060101010101" pitchFamily="49" charset="-122"/>
                <a:ea typeface="楷体" panose="02010609060101010101" pitchFamily="49" charset="-122"/>
              </a:rPr>
              <a:t>。</a:t>
            </a:r>
            <a:endParaRPr kumimoji="0"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sz="3200" b="1" dirty="0">
                <a:solidFill>
                  <a:schemeClr val="bg1"/>
                </a:solidFill>
                <a:latin typeface="楷体" panose="02010609060101010101" pitchFamily="49" charset="-122"/>
                <a:ea typeface="楷体" panose="02010609060101010101" pitchFamily="49" charset="-122"/>
              </a:rPr>
              <a:t>进度管理</a:t>
            </a:r>
            <a:r>
              <a:rPr kumimoji="0" lang="zh-CN" altLang="en-US" sz="3200" b="1" dirty="0">
                <a:solidFill>
                  <a:schemeClr val="bg2"/>
                </a:solidFill>
                <a:latin typeface="楷体" panose="02010609060101010101" pitchFamily="49" charset="-122"/>
                <a:ea typeface="楷体" panose="02010609060101010101" pitchFamily="49" charset="-122"/>
              </a:rPr>
              <a:t>的关键是</a:t>
            </a:r>
            <a:r>
              <a:rPr kumimoji="0" lang="zh-CN" altLang="en-US" sz="3200" b="1" dirty="0">
                <a:solidFill>
                  <a:schemeClr val="bg1"/>
                </a:solidFill>
                <a:latin typeface="楷体" panose="02010609060101010101" pitchFamily="49" charset="-122"/>
                <a:ea typeface="楷体" panose="02010609060101010101" pitchFamily="49" charset="-122"/>
              </a:rPr>
              <a:t>明确和监控</a:t>
            </a:r>
            <a:r>
              <a:rPr kumimoji="0" lang="zh-CN" altLang="en-US" sz="3200" b="1" dirty="0">
                <a:solidFill>
                  <a:srgbClr val="FF0000"/>
                </a:solidFill>
                <a:latin typeface="楷体" panose="02010609060101010101" pitchFamily="49" charset="-122"/>
                <a:ea typeface="楷体" panose="02010609060101010101" pitchFamily="49" charset="-122"/>
              </a:rPr>
              <a:t>检查点、里程碑和基线</a:t>
            </a:r>
            <a:r>
              <a:rPr kumimoji="0" lang="zh-CN" altLang="en-US" sz="3200" b="1" dirty="0">
                <a:solidFill>
                  <a:schemeClr val="bg2"/>
                </a:solidFill>
                <a:latin typeface="楷体" panose="02010609060101010101" pitchFamily="49" charset="-122"/>
                <a:ea typeface="楷体" panose="02010609060101010101" pitchFamily="49" charset="-122"/>
              </a:rPr>
              <a:t>的</a:t>
            </a:r>
            <a:r>
              <a:rPr kumimoji="0" lang="zh-CN" altLang="en-US" sz="3200" b="1" dirty="0">
                <a:solidFill>
                  <a:schemeClr val="bg1"/>
                </a:solidFill>
                <a:latin typeface="楷体" panose="02010609060101010101" pitchFamily="49" charset="-122"/>
                <a:ea typeface="楷体" panose="02010609060101010101" pitchFamily="49" charset="-122"/>
              </a:rPr>
              <a:t>状况</a:t>
            </a:r>
            <a:r>
              <a:rPr kumimoji="0" lang="zh-CN" altLang="en-US" sz="3200" b="1" dirty="0">
                <a:solidFill>
                  <a:schemeClr val="bg2"/>
                </a:solidFill>
                <a:latin typeface="楷体" panose="02010609060101010101" pitchFamily="49" charset="-122"/>
                <a:ea typeface="楷体" panose="02010609060101010101" pitchFamily="49" charset="-122"/>
              </a:rPr>
              <a:t>。</a:t>
            </a:r>
            <a:endParaRPr kumimoji="0" lang="zh-CN" altLang="en-US" sz="3200" b="1" dirty="0">
              <a:solidFill>
                <a:schemeClr val="bg2"/>
              </a:solidFill>
              <a:latin typeface="楷体" panose="02010609060101010101" pitchFamily="49" charset="-122"/>
              <a:ea typeface="楷体" panose="02010609060101010101" pitchFamily="49" charset="-122"/>
            </a:endParaRPr>
          </a:p>
          <a:p>
            <a:pPr marL="914400" lvl="1" indent="-457200" algn="l">
              <a:spcBef>
                <a:spcPts val="600"/>
              </a:spcBef>
              <a:spcAft>
                <a:spcPts val="600"/>
              </a:spcAft>
              <a:buClr>
                <a:schemeClr val="hlink"/>
              </a:buClr>
              <a:buFont typeface="Arial" panose="020B0604020202020204" pitchFamily="34" charset="0"/>
              <a:buChar char="•"/>
            </a:pPr>
            <a:r>
              <a:rPr kumimoji="0" lang="zh-CN" altLang="en-US" b="1" dirty="0">
                <a:solidFill>
                  <a:schemeClr val="bg2"/>
                </a:solidFill>
                <a:latin typeface="楷体" panose="02010609060101010101" pitchFamily="49" charset="-122"/>
                <a:ea typeface="楷体" panose="02010609060101010101" pitchFamily="49" charset="-122"/>
              </a:rPr>
              <a:t>重要检查点就是里程碑，</a:t>
            </a:r>
            <a:endParaRPr kumimoji="0" lang="zh-CN" altLang="en-US" b="1" dirty="0">
              <a:solidFill>
                <a:schemeClr val="bg2"/>
              </a:solidFill>
              <a:latin typeface="楷体" panose="02010609060101010101" pitchFamily="49" charset="-122"/>
              <a:ea typeface="楷体" panose="02010609060101010101" pitchFamily="49" charset="-122"/>
            </a:endParaRPr>
          </a:p>
          <a:p>
            <a:pPr marL="914400" lvl="1" indent="-457200" algn="l">
              <a:spcBef>
                <a:spcPts val="600"/>
              </a:spcBef>
              <a:spcAft>
                <a:spcPts val="600"/>
              </a:spcAft>
              <a:buClr>
                <a:schemeClr val="hlink"/>
              </a:buClr>
              <a:buFont typeface="Arial" panose="020B0604020202020204" pitchFamily="34" charset="0"/>
              <a:buChar char="•"/>
            </a:pPr>
            <a:r>
              <a:rPr kumimoji="0" lang="zh-CN" altLang="en-US" b="1" dirty="0">
                <a:solidFill>
                  <a:schemeClr val="bg2"/>
                </a:solidFill>
                <a:latin typeface="楷体" panose="02010609060101010101" pitchFamily="49" charset="-122"/>
                <a:ea typeface="楷体" panose="02010609060101010101" pitchFamily="49" charset="-122"/>
              </a:rPr>
              <a:t>重要里程碑就是基线。</a:t>
            </a:r>
            <a:endParaRPr kumimoji="0" lang="zh-CN" altLang="en-US" b="1" dirty="0">
              <a:solidFill>
                <a:schemeClr val="bg2"/>
              </a:solidFill>
              <a:latin typeface="楷体" panose="02010609060101010101" pitchFamily="49" charset="-122"/>
              <a:ea typeface="楷体" panose="02010609060101010101" pitchFamily="49" charset="-122"/>
            </a:endParaRPr>
          </a:p>
        </p:txBody>
      </p:sp>
      <p:sp>
        <p:nvSpPr>
          <p:cNvPr id="16390"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5.1 </a:t>
            </a:r>
            <a:r>
              <a:rPr kumimoji="0" lang="en-US" altLang="en-US" sz="3000" b="1" dirty="0" err="1">
                <a:ea typeface="楷体" panose="02010609060101010101" pitchFamily="49" charset="-122"/>
              </a:rPr>
              <a:t>项目进度管理概述</a:t>
            </a:r>
            <a:r>
              <a:rPr kumimoji="0" lang="en-US" altLang="en-US" sz="3000" b="1" dirty="0">
                <a:ea typeface="楷体" panose="02010609060101010101" pitchFamily="49" charset="-122"/>
              </a:rPr>
              <a:t> </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405912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5.1.2 </a:t>
            </a:r>
            <a:r>
              <a:rPr kumimoji="0" lang="en-US" altLang="en-US" b="1" dirty="0" err="1">
                <a:solidFill>
                  <a:srgbClr val="FF0000"/>
                </a:solidFill>
                <a:latin typeface="楷体" panose="02010609060101010101" pitchFamily="49" charset="-122"/>
                <a:ea typeface="楷体" panose="02010609060101010101" pitchFamily="49" charset="-122"/>
              </a:rPr>
              <a:t>项目进度管理</a:t>
            </a:r>
            <a:r>
              <a:rPr kumimoji="0" lang="zh-CN" altLang="en-US" b="1" dirty="0">
                <a:solidFill>
                  <a:srgbClr val="FF0000"/>
                </a:solidFill>
                <a:latin typeface="楷体" panose="02010609060101010101" pitchFamily="49" charset="-122"/>
                <a:ea typeface="楷体" panose="02010609060101010101" pitchFamily="49" charset="-122"/>
              </a:rPr>
              <a:t>过程</a:t>
            </a:r>
            <a:r>
              <a:rPr kumimoji="0" lang="en-US" altLang="en-US" b="1" dirty="0">
                <a:solidFill>
                  <a:srgbClr val="FF0000"/>
                </a:solidFill>
                <a:latin typeface="楷体" panose="02010609060101010101" pitchFamily="49" charset="-122"/>
                <a:ea typeface="楷体" panose="02010609060101010101" pitchFamily="49" charset="-122"/>
              </a:rPr>
              <a:t> </a:t>
            </a:r>
            <a:endParaRPr kumimoji="0" lang="en-US"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34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34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028"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P.107</a:t>
            </a:r>
            <a:endParaRPr lang="en-US" altLang="zh-CN" sz="2400" b="1" dirty="0">
              <a:solidFill>
                <a:schemeClr val="bg2"/>
              </a:solidFill>
              <a:ea typeface="楷体" panose="02010609060101010101" pitchFamily="49" charset="-122"/>
            </a:endParaRPr>
          </a:p>
        </p:txBody>
      </p:sp>
      <p:sp>
        <p:nvSpPr>
          <p:cNvPr id="1029"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30" name="Rectangle 7"/>
          <p:cNvSpPr>
            <a:spLocks noChangeArrowheads="1"/>
          </p:cNvSpPr>
          <p:nvPr/>
        </p:nvSpPr>
        <p:spPr bwMode="auto">
          <a:xfrm>
            <a:off x="2571736" y="6488692"/>
            <a:ext cx="4011630" cy="369332"/>
          </a:xfrm>
          <a:prstGeom prst="rect">
            <a:avLst/>
          </a:prstGeom>
          <a:noFill/>
          <a:ln w="9525">
            <a:noFill/>
            <a:miter lim="800000"/>
          </a:ln>
        </p:spPr>
        <p:txBody>
          <a:bodyPr wrap="square">
            <a:spAutoFit/>
          </a:bodyPr>
          <a:lstStyle/>
          <a:p>
            <a:pPr algn="dist">
              <a:spcBef>
                <a:spcPct val="0"/>
              </a:spcBef>
            </a:pPr>
            <a:r>
              <a:rPr kumimoji="0" lang="zh-CN" altLang="en-US" sz="1800" b="1" dirty="0">
                <a:solidFill>
                  <a:srgbClr val="FF0000"/>
                </a:solidFill>
                <a:ea typeface="楷体" panose="02010609060101010101" pitchFamily="49" charset="-122"/>
              </a:rPr>
              <a:t>图</a:t>
            </a:r>
            <a:r>
              <a:rPr kumimoji="0" lang="en-US" altLang="zh-CN" sz="1800" b="1" dirty="0">
                <a:solidFill>
                  <a:srgbClr val="FF0000"/>
                </a:solidFill>
                <a:ea typeface="楷体" panose="02010609060101010101" pitchFamily="49" charset="-122"/>
              </a:rPr>
              <a:t>5-1 </a:t>
            </a:r>
            <a:r>
              <a:rPr kumimoji="0" lang="zh-CN" altLang="en-US" sz="1800" b="1" dirty="0">
                <a:solidFill>
                  <a:srgbClr val="FF0000"/>
                </a:solidFill>
                <a:ea typeface="楷体" panose="02010609060101010101" pitchFamily="49" charset="-122"/>
              </a:rPr>
              <a:t>项目进度管理主要过程 </a:t>
            </a:r>
            <a:endParaRPr kumimoji="0" lang="zh-CN" altLang="en-US" sz="1800" b="1" dirty="0">
              <a:solidFill>
                <a:srgbClr val="FF0000"/>
              </a:solidFill>
              <a:ea typeface="楷体" panose="02010609060101010101" pitchFamily="49" charset="-122"/>
            </a:endParaRPr>
          </a:p>
        </p:txBody>
      </p:sp>
      <p:sp>
        <p:nvSpPr>
          <p:cNvPr id="1031"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5.1 </a:t>
            </a:r>
            <a:r>
              <a:rPr kumimoji="0" lang="en-US" altLang="en-US" sz="3000" b="1" dirty="0" err="1">
                <a:ea typeface="楷体" panose="02010609060101010101" pitchFamily="49" charset="-122"/>
              </a:rPr>
              <a:t>项目进度管理概述</a:t>
            </a:r>
            <a:r>
              <a:rPr kumimoji="0" lang="en-US" altLang="en-US" sz="3000" b="1" dirty="0">
                <a:ea typeface="楷体" panose="02010609060101010101" pitchFamily="49" charset="-122"/>
              </a:rPr>
              <a:t> </a:t>
            </a:r>
            <a:endParaRPr kumimoji="0" lang="en-US" altLang="en-US" sz="3000" b="1" dirty="0">
              <a:ea typeface="楷体" panose="02010609060101010101" pitchFamily="49" charset="-122"/>
            </a:endParaRPr>
          </a:p>
        </p:txBody>
      </p:sp>
      <p:sp>
        <p:nvSpPr>
          <p:cNvPr id="1032" name="Rectangle 9"/>
          <p:cNvSpPr>
            <a:spLocks noChangeArrowheads="1"/>
          </p:cNvSpPr>
          <p:nvPr/>
        </p:nvSpPr>
        <p:spPr bwMode="auto">
          <a:xfrm>
            <a:off x="323850" y="1341438"/>
            <a:ext cx="396775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5.1.3 </a:t>
            </a:r>
            <a:r>
              <a:rPr kumimoji="0" lang="en-US" altLang="en-US" b="1" dirty="0" err="1">
                <a:solidFill>
                  <a:srgbClr val="FF0000"/>
                </a:solidFill>
                <a:latin typeface="楷体" panose="02010609060101010101" pitchFamily="49" charset="-122"/>
                <a:ea typeface="楷体" panose="02010609060101010101" pitchFamily="49" charset="-122"/>
              </a:rPr>
              <a:t>项目进度管理过程</a:t>
            </a:r>
            <a:r>
              <a:rPr kumimoji="0" lang="en-US" altLang="en-US" b="1" dirty="0">
                <a:solidFill>
                  <a:srgbClr val="FF0000"/>
                </a:solidFill>
                <a:ea typeface="楷体_GB2312" pitchFamily="49" charset="-122"/>
              </a:rPr>
              <a:t> </a:t>
            </a:r>
            <a:endParaRPr kumimoji="0" lang="en-US" altLang="en-US" b="1" dirty="0">
              <a:solidFill>
                <a:srgbClr val="FF0000"/>
              </a:solidFill>
              <a:ea typeface="楷体_GB2312" pitchFamily="49" charset="-122"/>
            </a:endParaRPr>
          </a:p>
        </p:txBody>
      </p:sp>
      <p:pic>
        <p:nvPicPr>
          <p:cNvPr id="9" name="图片 8"/>
          <p:cNvPicPr/>
          <p:nvPr/>
        </p:nvPicPr>
        <p:blipFill>
          <a:blip r:embed="rId1"/>
          <a:srcRect/>
          <a:stretch>
            <a:fillRect/>
          </a:stretch>
        </p:blipFill>
        <p:spPr bwMode="auto">
          <a:xfrm>
            <a:off x="357158" y="2071678"/>
            <a:ext cx="8501122" cy="4214842"/>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P.13</a:t>
            </a:r>
            <a:endParaRPr lang="en-US" altLang="zh-CN" sz="2400" b="1" dirty="0">
              <a:solidFill>
                <a:schemeClr val="bg2"/>
              </a:solidFill>
              <a:ea typeface="楷体" panose="02010609060101010101" pitchFamily="49" charset="-122"/>
            </a:endParaRPr>
          </a:p>
        </p:txBody>
      </p:sp>
      <p:pic>
        <p:nvPicPr>
          <p:cNvPr id="104450" name="Picture 2"/>
          <p:cNvPicPr>
            <a:picLocks noChangeAspect="1" noChangeArrowheads="1"/>
          </p:cNvPicPr>
          <p:nvPr/>
        </p:nvPicPr>
        <p:blipFill>
          <a:blip r:embed="rId1"/>
          <a:srcRect/>
          <a:stretch>
            <a:fillRect/>
          </a:stretch>
        </p:blipFill>
        <p:spPr bwMode="auto">
          <a:xfrm>
            <a:off x="0" y="500042"/>
            <a:ext cx="9144000" cy="635795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5400" b="1" dirty="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843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8437" name="Text Box 5"/>
          <p:cNvSpPr txBox="1">
            <a:spLocks noChangeArrowheads="1"/>
          </p:cNvSpPr>
          <p:nvPr/>
        </p:nvSpPr>
        <p:spPr bwMode="auto">
          <a:xfrm>
            <a:off x="-32" y="1357298"/>
            <a:ext cx="8820150" cy="3846195"/>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mn-lt"/>
                <a:ea typeface="楷体" panose="02010609060101010101" pitchFamily="49" charset="-122"/>
              </a:rPr>
              <a:t>规划进度管理是为规划、编制、管理、执行和控制进度而制定政策、程序和文档的过程。</a:t>
            </a:r>
            <a:endParaRPr lang="en-US" altLang="zh-CN" sz="3200" b="1" dirty="0">
              <a:solidFill>
                <a:schemeClr val="bg2"/>
              </a:solidFill>
              <a:latin typeface="+mn-lt"/>
              <a:ea typeface="楷体" panose="02010609060101010101" pitchFamily="49" charset="-122"/>
            </a:endParaRPr>
          </a:p>
          <a:p>
            <a:pPr algn="l">
              <a:spcBef>
                <a:spcPts val="600"/>
              </a:spcBef>
              <a:spcAft>
                <a:spcPts val="600"/>
              </a:spcAft>
            </a:pPr>
            <a:r>
              <a:rPr lang="zh-CN" altLang="en-US" sz="3200" b="1" dirty="0">
                <a:solidFill>
                  <a:schemeClr val="bg2"/>
                </a:solidFill>
                <a:latin typeface="+mn-lt"/>
                <a:ea typeface="楷体" panose="02010609060101010101" pitchFamily="49" charset="-122"/>
              </a:rPr>
              <a:t>在众多的</a:t>
            </a:r>
            <a:r>
              <a:rPr lang="en-US" sz="3200" b="1" dirty="0">
                <a:solidFill>
                  <a:schemeClr val="bg2"/>
                </a:solidFill>
                <a:latin typeface="+mn-lt"/>
                <a:ea typeface="楷体" panose="02010609060101010101" pitchFamily="49" charset="-122"/>
              </a:rPr>
              <a:t>IT</a:t>
            </a:r>
            <a:r>
              <a:rPr lang="zh-CN" altLang="en-US" sz="3200" b="1" dirty="0">
                <a:solidFill>
                  <a:schemeClr val="bg2"/>
                </a:solidFill>
                <a:latin typeface="+mn-lt"/>
                <a:ea typeface="楷体" panose="02010609060101010101" pitchFamily="49" charset="-122"/>
              </a:rPr>
              <a:t>项目中，缺乏</a:t>
            </a:r>
            <a:r>
              <a:rPr lang="zh-CN" altLang="en-US" sz="3200" b="1" dirty="0">
                <a:solidFill>
                  <a:schemeClr val="bg1"/>
                </a:solidFill>
                <a:latin typeface="楷体" panose="02010609060101010101" pitchFamily="49" charset="-122"/>
                <a:ea typeface="楷体" panose="02010609060101010101" pitchFamily="49" charset="-122"/>
              </a:rPr>
              <a:t>合理的</a:t>
            </a:r>
            <a:r>
              <a:rPr lang="zh-CN" altLang="en-US" sz="3200" b="1" dirty="0">
                <a:solidFill>
                  <a:schemeClr val="bg1"/>
                </a:solidFill>
                <a:latin typeface="+mn-lt"/>
                <a:ea typeface="楷体" panose="02010609060101010101" pitchFamily="49" charset="-122"/>
              </a:rPr>
              <a:t>进度安排和管理</a:t>
            </a:r>
            <a:r>
              <a:rPr lang="zh-CN" altLang="en-US" sz="3200" b="1" dirty="0">
                <a:solidFill>
                  <a:schemeClr val="bg2"/>
                </a:solidFill>
                <a:latin typeface="+mn-lt"/>
                <a:ea typeface="楷体" panose="02010609060101010101" pitchFamily="49" charset="-122"/>
              </a:rPr>
              <a:t>是造成项目滞后的最主要的原因，它比其他所有因素加起来的影响还要大。</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200" b="1" dirty="0">
                <a:solidFill>
                  <a:srgbClr val="0000FF"/>
                </a:solidFill>
                <a:latin typeface="楷体" panose="02010609060101010101" pitchFamily="49" charset="-122"/>
                <a:ea typeface="楷体" panose="02010609060101010101" pitchFamily="49" charset="-122"/>
              </a:rPr>
              <a:t>应该很好的执行规划进度管理过程，为如何在整个项目过程中管理项目进度提供指南和方向。</a:t>
            </a:r>
            <a:endParaRPr kumimoji="0" lang="zh-CN" altLang="en-US" sz="3200" b="1" dirty="0">
              <a:solidFill>
                <a:srgbClr val="0000FF"/>
              </a:solidFill>
              <a:latin typeface="楷体" panose="02010609060101010101" pitchFamily="49" charset="-122"/>
              <a:ea typeface="楷体" panose="02010609060101010101" pitchFamily="49" charset="-122"/>
            </a:endParaRPr>
          </a:p>
        </p:txBody>
      </p:sp>
      <p:sp>
        <p:nvSpPr>
          <p:cNvPr id="1843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843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843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pic>
        <p:nvPicPr>
          <p:cNvPr id="7" name="图片 6"/>
          <p:cNvPicPr/>
          <p:nvPr/>
        </p:nvPicPr>
        <p:blipFill>
          <a:blip r:embed="rId1"/>
          <a:srcRect/>
          <a:stretch>
            <a:fillRect/>
          </a:stretch>
        </p:blipFill>
        <p:spPr bwMode="auto">
          <a:xfrm>
            <a:off x="285720" y="1428736"/>
            <a:ext cx="8429683" cy="4643470"/>
          </a:xfrm>
          <a:prstGeom prst="rect">
            <a:avLst/>
          </a:prstGeom>
          <a:noFill/>
          <a:ln w="9525">
            <a:noFill/>
            <a:miter lim="800000"/>
            <a:headEnd/>
            <a:tailEnd/>
          </a:ln>
        </p:spPr>
      </p:pic>
      <p:sp>
        <p:nvSpPr>
          <p:cNvPr id="8" name="Rectangle 7"/>
          <p:cNvSpPr>
            <a:spLocks noChangeArrowheads="1"/>
          </p:cNvSpPr>
          <p:nvPr/>
        </p:nvSpPr>
        <p:spPr bwMode="auto">
          <a:xfrm>
            <a:off x="2571736" y="6488692"/>
            <a:ext cx="4011630" cy="369332"/>
          </a:xfrm>
          <a:prstGeom prst="rect">
            <a:avLst/>
          </a:prstGeom>
          <a:noFill/>
          <a:ln w="9525">
            <a:noFill/>
            <a:miter lim="800000"/>
          </a:ln>
        </p:spPr>
        <p:txBody>
          <a:bodyPr wrap="square">
            <a:spAutoFit/>
          </a:bodyPr>
          <a:lstStyle/>
          <a:p>
            <a:pPr algn="dist">
              <a:spcBef>
                <a:spcPct val="0"/>
              </a:spcBef>
            </a:pPr>
            <a:r>
              <a:rPr kumimoji="0" lang="zh-CN" altLang="en-US" sz="1800" b="1" dirty="0">
                <a:solidFill>
                  <a:srgbClr val="FF0000"/>
                </a:solidFill>
                <a:ea typeface="楷体" panose="02010609060101010101" pitchFamily="49" charset="-122"/>
              </a:rPr>
              <a:t>图</a:t>
            </a:r>
            <a:r>
              <a:rPr kumimoji="0" lang="en-US" altLang="zh-CN" sz="1800" b="1" dirty="0">
                <a:solidFill>
                  <a:srgbClr val="FF0000"/>
                </a:solidFill>
                <a:ea typeface="楷体" panose="02010609060101010101" pitchFamily="49" charset="-122"/>
              </a:rPr>
              <a:t>5-2 </a:t>
            </a:r>
            <a:r>
              <a:rPr kumimoji="0" lang="zh-CN" altLang="en-US" sz="1800" b="1" dirty="0">
                <a:solidFill>
                  <a:srgbClr val="FF0000"/>
                </a:solidFill>
                <a:ea typeface="楷体" panose="02010609060101010101" pitchFamily="49" charset="-122"/>
              </a:rPr>
              <a:t>项目规划进度管理过程 </a:t>
            </a:r>
            <a:endParaRPr kumimoji="0" lang="zh-CN" altLang="en-US" sz="1800" b="1" dirty="0">
              <a:solidFill>
                <a:srgbClr val="FF0000"/>
              </a:solidFill>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71406" y="1922870"/>
            <a:ext cx="9072594" cy="4399915"/>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规划进度管理的依据主要包括</a:t>
            </a:r>
            <a:r>
              <a:rPr lang="zh-CN" altLang="en-US" sz="3200" b="1" dirty="0">
                <a:solidFill>
                  <a:schemeClr val="bg1"/>
                </a:solidFill>
                <a:latin typeface="楷体" panose="02010609060101010101" pitchFamily="49" charset="-122"/>
                <a:ea typeface="楷体" panose="02010609060101010101" pitchFamily="49" charset="-122"/>
              </a:rPr>
              <a:t>项目管理计划、项目章程、事业环境因素和组织过程资产</a:t>
            </a:r>
            <a:r>
              <a:rPr lang="zh-CN" altLang="en-US" sz="3200" b="1" dirty="0">
                <a:solidFill>
                  <a:schemeClr val="bg2"/>
                </a:solidFill>
                <a:latin typeface="楷体" panose="02010609060101010101" pitchFamily="49" charset="-122"/>
                <a:ea typeface="楷体" panose="02010609060101010101" pitchFamily="49" charset="-122"/>
              </a:rPr>
              <a:t>。</a:t>
            </a:r>
            <a:endParaRPr lang="zh-CN" altLang="en-US" sz="32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1"/>
                </a:solidFill>
                <a:latin typeface="+mn-lt"/>
                <a:ea typeface="楷体" panose="02010609060101010101" pitchFamily="49" charset="-122"/>
              </a:rPr>
              <a:t>项目管理计划</a:t>
            </a:r>
            <a:r>
              <a:rPr lang="zh-CN" altLang="en-US" b="1" dirty="0">
                <a:solidFill>
                  <a:schemeClr val="bg2"/>
                </a:solidFill>
                <a:latin typeface="+mn-lt"/>
                <a:ea typeface="楷体" panose="02010609060101010101" pitchFamily="49" charset="-122"/>
              </a:rPr>
              <a:t>中用于制定进度管理计划的信息主要有，</a:t>
            </a:r>
            <a:r>
              <a:rPr lang="zh-CN" altLang="en-US" b="1" dirty="0">
                <a:solidFill>
                  <a:srgbClr val="00B0F0"/>
                </a:solidFill>
                <a:latin typeface="+mn-lt"/>
                <a:ea typeface="楷体" panose="02010609060101010101" pitchFamily="49" charset="-122"/>
              </a:rPr>
              <a:t>范围基准</a:t>
            </a:r>
            <a:r>
              <a:rPr lang="zh-CN" altLang="en-US" b="1" dirty="0">
                <a:solidFill>
                  <a:schemeClr val="bg2"/>
                </a:solidFill>
                <a:latin typeface="+mn-lt"/>
                <a:ea typeface="楷体" panose="02010609060101010101" pitchFamily="49" charset="-122"/>
              </a:rPr>
              <a:t>（项目范围说明书和</a:t>
            </a:r>
            <a:r>
              <a:rPr lang="en-US" b="1" dirty="0">
                <a:solidFill>
                  <a:schemeClr val="bg2"/>
                </a:solidFill>
                <a:latin typeface="+mn-lt"/>
                <a:ea typeface="楷体" panose="02010609060101010101" pitchFamily="49" charset="-122"/>
              </a:rPr>
              <a:t>WBS</a:t>
            </a:r>
            <a:r>
              <a:rPr lang="zh-CN" altLang="en-US" b="1" dirty="0">
                <a:solidFill>
                  <a:schemeClr val="bg2"/>
                </a:solidFill>
                <a:latin typeface="+mn-lt"/>
                <a:ea typeface="楷体" panose="02010609060101010101" pitchFamily="49" charset="-122"/>
              </a:rPr>
              <a:t>详细信息，可用于定义活动、持续时间估算和进度管理）和</a:t>
            </a:r>
            <a:r>
              <a:rPr lang="zh-CN" altLang="en-US" b="1" dirty="0">
                <a:solidFill>
                  <a:srgbClr val="00B0F0"/>
                </a:solidFill>
                <a:latin typeface="+mn-lt"/>
                <a:ea typeface="楷体" panose="02010609060101010101" pitchFamily="49" charset="-122"/>
              </a:rPr>
              <a:t>其他信息</a:t>
            </a:r>
            <a:r>
              <a:rPr lang="zh-CN" altLang="en-US" b="1" dirty="0">
                <a:solidFill>
                  <a:schemeClr val="bg2"/>
                </a:solidFill>
                <a:latin typeface="+mn-lt"/>
                <a:ea typeface="楷体" panose="02010609060101010101" pitchFamily="49" charset="-122"/>
              </a:rPr>
              <a:t>（例如与进度相关的成本、风险和沟通决策等）。</a:t>
            </a:r>
            <a:endParaRPr lang="en-US" altLang="zh-CN" b="1" dirty="0">
              <a:solidFill>
                <a:schemeClr val="bg2"/>
              </a:solidFill>
              <a:latin typeface="+mn-lt"/>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1"/>
                </a:solidFill>
                <a:latin typeface="+mn-lt"/>
                <a:ea typeface="楷体" panose="02010609060101010101" pitchFamily="49" charset="-122"/>
              </a:rPr>
              <a:t>项目章程</a:t>
            </a:r>
            <a:r>
              <a:rPr lang="zh-CN" altLang="en-US" b="1" dirty="0">
                <a:solidFill>
                  <a:schemeClr val="bg2"/>
                </a:solidFill>
                <a:latin typeface="+mn-lt"/>
                <a:ea typeface="楷体" panose="02010609060101010101" pitchFamily="49" charset="-122"/>
              </a:rPr>
              <a:t>中用于制定进度管理计划的信息主要包括，规定的</a:t>
            </a:r>
            <a:r>
              <a:rPr lang="zh-CN" altLang="en-US" b="1" dirty="0">
                <a:solidFill>
                  <a:srgbClr val="00B0F0"/>
                </a:solidFill>
                <a:latin typeface="+mn-lt"/>
                <a:ea typeface="楷体" panose="02010609060101010101" pitchFamily="49" charset="-122"/>
              </a:rPr>
              <a:t>总体里程碑进度计划</a:t>
            </a:r>
            <a:r>
              <a:rPr lang="zh-CN" altLang="en-US" b="1" dirty="0">
                <a:solidFill>
                  <a:schemeClr val="bg2"/>
                </a:solidFill>
                <a:latin typeface="+mn-lt"/>
                <a:ea typeface="楷体" panose="02010609060101010101" pitchFamily="49" charset="-122"/>
              </a:rPr>
              <a:t>和</a:t>
            </a:r>
            <a:r>
              <a:rPr lang="zh-CN" altLang="en-US" b="1" dirty="0">
                <a:solidFill>
                  <a:srgbClr val="00B0F0"/>
                </a:solidFill>
                <a:latin typeface="+mn-lt"/>
                <a:ea typeface="楷体" panose="02010609060101010101" pitchFamily="49" charset="-122"/>
              </a:rPr>
              <a:t>项目审批要求</a:t>
            </a:r>
            <a:r>
              <a:rPr lang="zh-CN" altLang="en-US" b="1" dirty="0">
                <a:solidFill>
                  <a:schemeClr val="bg2"/>
                </a:solidFill>
                <a:latin typeface="+mn-lt"/>
                <a:ea typeface="楷体" panose="02010609060101010101" pitchFamily="49" charset="-122"/>
              </a:rPr>
              <a:t>等，它们都会对项目的进度管理产生约束和影响。</a:t>
            </a:r>
            <a:endParaRPr lang="zh-CN" altLang="en-US" b="1" dirty="0">
              <a:solidFill>
                <a:schemeClr val="bg2"/>
              </a:solidFill>
              <a:latin typeface="+mn-lt"/>
              <a:ea typeface="楷体" panose="02010609060101010101" pitchFamily="49" charset="-122"/>
            </a:endParaRPr>
          </a:p>
        </p:txBody>
      </p:sp>
      <p:sp>
        <p:nvSpPr>
          <p:cNvPr id="16390"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441980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5.2.1 </a:t>
            </a:r>
            <a:r>
              <a:rPr kumimoji="0" lang="zh-CN" altLang="en-US" b="1" dirty="0">
                <a:solidFill>
                  <a:srgbClr val="FF0000"/>
                </a:solidFill>
                <a:latin typeface="楷体" panose="02010609060101010101" pitchFamily="49" charset="-122"/>
                <a:ea typeface="楷体" panose="02010609060101010101" pitchFamily="49" charset="-122"/>
              </a:rPr>
              <a:t>规划</a:t>
            </a:r>
            <a:r>
              <a:rPr kumimoji="0" lang="en-US" altLang="en-US" b="1" dirty="0" err="1">
                <a:solidFill>
                  <a:srgbClr val="FF0000"/>
                </a:solidFill>
                <a:latin typeface="楷体" panose="02010609060101010101" pitchFamily="49" charset="-122"/>
                <a:ea typeface="楷体" panose="02010609060101010101" pitchFamily="49" charset="-122"/>
              </a:rPr>
              <a:t>进度管理</a:t>
            </a:r>
            <a:r>
              <a:rPr kumimoji="0" lang="zh-CN" altLang="en-US" b="1" dirty="0">
                <a:solidFill>
                  <a:srgbClr val="FF0000"/>
                </a:solidFill>
                <a:latin typeface="楷体" panose="02010609060101010101" pitchFamily="49" charset="-122"/>
                <a:ea typeface="楷体" panose="02010609060101010101" pitchFamily="49" charset="-122"/>
              </a:rPr>
              <a:t>的依据</a:t>
            </a:r>
            <a:r>
              <a:rPr kumimoji="0" lang="en-US" altLang="en-US" b="1" dirty="0">
                <a:solidFill>
                  <a:srgbClr val="FF0000"/>
                </a:solidFill>
                <a:latin typeface="楷体" panose="02010609060101010101" pitchFamily="49" charset="-122"/>
                <a:ea typeface="楷体" panose="02010609060101010101" pitchFamily="49" charset="-122"/>
              </a:rPr>
              <a:t> </a:t>
            </a:r>
            <a:endParaRPr kumimoji="0" lang="en-US"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71406" y="2285992"/>
            <a:ext cx="8786874" cy="3262432"/>
          </a:xfrm>
          <a:prstGeom prst="rect">
            <a:avLst/>
          </a:prstGeom>
          <a:noFill/>
          <a:ln w="9525" algn="ctr">
            <a:noFill/>
            <a:miter lim="800000"/>
          </a:ln>
        </p:spPr>
        <p:txBody>
          <a:bodyPr wrap="square">
            <a:spAutoFit/>
          </a:bodyPr>
          <a:lstStyle/>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1"/>
                </a:solidFill>
                <a:latin typeface="+mn-lt"/>
                <a:ea typeface="楷体" panose="02010609060101010101" pitchFamily="49" charset="-122"/>
              </a:rPr>
              <a:t>事业环境因素</a:t>
            </a:r>
            <a:r>
              <a:rPr lang="zh-CN" altLang="en-US" b="1" dirty="0">
                <a:solidFill>
                  <a:schemeClr val="bg2"/>
                </a:solidFill>
                <a:latin typeface="+mn-lt"/>
                <a:ea typeface="楷体" panose="02010609060101010101" pitchFamily="49" charset="-122"/>
              </a:rPr>
              <a:t>中用于制定进度管理计划的信息主要包括</a:t>
            </a:r>
            <a:r>
              <a:rPr lang="zh-CN" altLang="en-US" b="1" dirty="0">
                <a:solidFill>
                  <a:srgbClr val="00B0F0"/>
                </a:solidFill>
                <a:latin typeface="+mn-lt"/>
                <a:ea typeface="楷体" panose="02010609060101010101" pitchFamily="49" charset="-122"/>
              </a:rPr>
              <a:t>组织文化和组织结构、资源的可用性、项目管理工具、商业数据库和组织中的各种授权系统</a:t>
            </a:r>
            <a:r>
              <a:rPr lang="zh-CN" altLang="en-US" b="1" dirty="0">
                <a:solidFill>
                  <a:schemeClr val="bg2"/>
                </a:solidFill>
                <a:latin typeface="+mn-lt"/>
                <a:ea typeface="楷体" panose="02010609060101010101" pitchFamily="49" charset="-122"/>
              </a:rPr>
              <a:t>等。</a:t>
            </a:r>
            <a:endParaRPr lang="zh-CN" altLang="en-US" b="1" dirty="0">
              <a:solidFill>
                <a:schemeClr val="bg2"/>
              </a:solidFill>
              <a:latin typeface="+mn-lt"/>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1"/>
                </a:solidFill>
                <a:latin typeface="+mn-lt"/>
                <a:ea typeface="楷体" panose="02010609060101010101" pitchFamily="49" charset="-122"/>
              </a:rPr>
              <a:t>组织过程资产</a:t>
            </a:r>
            <a:r>
              <a:rPr lang="zh-CN" altLang="en-US" b="1" dirty="0">
                <a:solidFill>
                  <a:schemeClr val="bg2"/>
                </a:solidFill>
                <a:latin typeface="+mn-lt"/>
                <a:ea typeface="楷体" panose="02010609060101010101" pitchFamily="49" charset="-122"/>
              </a:rPr>
              <a:t>中用于制定进度管理计划的信息包括监督和报告工具、历史信息、进度控制工具、与进度控制有关的文件和模板、项目收尾指南、变更控制程序和风险控制程序等。</a:t>
            </a:r>
            <a:endParaRPr lang="zh-CN" altLang="en-US" b="1" dirty="0">
              <a:solidFill>
                <a:schemeClr val="bg2"/>
              </a:solidFill>
              <a:latin typeface="+mn-lt"/>
              <a:ea typeface="楷体" panose="02010609060101010101" pitchFamily="49" charset="-122"/>
            </a:endParaRPr>
          </a:p>
        </p:txBody>
      </p:sp>
      <p:sp>
        <p:nvSpPr>
          <p:cNvPr id="16390" name="Rectangle 6"/>
          <p:cNvSpPr>
            <a:spLocks noChangeArrowheads="1"/>
          </p:cNvSpPr>
          <p:nvPr/>
        </p:nvSpPr>
        <p:spPr bwMode="auto">
          <a:xfrm>
            <a:off x="103188" y="620713"/>
            <a:ext cx="7112018" cy="553998"/>
          </a:xfrm>
          <a:prstGeom prst="rect">
            <a:avLst/>
          </a:prstGeom>
          <a:noFill/>
          <a:ln w="9525">
            <a:noFill/>
            <a:miter lim="800000"/>
          </a:ln>
        </p:spPr>
        <p:txBody>
          <a:bodyPr wrap="square">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441980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5.2.1 </a:t>
            </a:r>
            <a:r>
              <a:rPr kumimoji="0" lang="zh-CN" altLang="en-US" b="1" dirty="0">
                <a:solidFill>
                  <a:srgbClr val="FF0000"/>
                </a:solidFill>
                <a:latin typeface="楷体" panose="02010609060101010101" pitchFamily="49" charset="-122"/>
                <a:ea typeface="楷体" panose="02010609060101010101" pitchFamily="49" charset="-122"/>
              </a:rPr>
              <a:t>规划</a:t>
            </a:r>
            <a:r>
              <a:rPr kumimoji="0" lang="en-US" altLang="en-US" b="1" dirty="0" err="1">
                <a:solidFill>
                  <a:srgbClr val="FF0000"/>
                </a:solidFill>
                <a:latin typeface="楷体" panose="02010609060101010101" pitchFamily="49" charset="-122"/>
                <a:ea typeface="楷体" panose="02010609060101010101" pitchFamily="49" charset="-122"/>
              </a:rPr>
              <a:t>进度管理</a:t>
            </a:r>
            <a:r>
              <a:rPr kumimoji="0" lang="zh-CN" altLang="en-US" b="1" dirty="0">
                <a:solidFill>
                  <a:srgbClr val="FF0000"/>
                </a:solidFill>
                <a:latin typeface="楷体" panose="02010609060101010101" pitchFamily="49" charset="-122"/>
                <a:ea typeface="楷体" panose="02010609060101010101" pitchFamily="49" charset="-122"/>
              </a:rPr>
              <a:t>的依据</a:t>
            </a:r>
            <a:r>
              <a:rPr kumimoji="0" lang="en-US" altLang="en-US" b="1" dirty="0">
                <a:solidFill>
                  <a:srgbClr val="FF0000"/>
                </a:solidFill>
                <a:latin typeface="楷体" panose="02010609060101010101" pitchFamily="49" charset="-122"/>
                <a:ea typeface="楷体" panose="02010609060101010101" pitchFamily="49" charset="-122"/>
              </a:rPr>
              <a:t> </a:t>
            </a:r>
            <a:endParaRPr kumimoji="0" lang="en-US"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214282" y="1976660"/>
            <a:ext cx="8643998" cy="4382770"/>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规划进度管理采用的技术主要包括</a:t>
            </a:r>
            <a:r>
              <a:rPr lang="zh-CN" altLang="en-US" sz="3200" b="1" dirty="0">
                <a:solidFill>
                  <a:schemeClr val="bg1"/>
                </a:solidFill>
                <a:latin typeface="楷体" panose="02010609060101010101" pitchFamily="49" charset="-122"/>
                <a:ea typeface="楷体" panose="02010609060101010101" pitchFamily="49" charset="-122"/>
              </a:rPr>
              <a:t>专家判断法</a:t>
            </a:r>
            <a:r>
              <a:rPr lang="zh-CN" altLang="en-US" sz="3200" b="1" dirty="0">
                <a:solidFill>
                  <a:schemeClr val="bg2"/>
                </a:solidFill>
                <a:latin typeface="楷体" panose="02010609060101010101" pitchFamily="49" charset="-122"/>
                <a:ea typeface="楷体" panose="02010609060101010101" pitchFamily="49" charset="-122"/>
              </a:rPr>
              <a:t>、</a:t>
            </a:r>
            <a:r>
              <a:rPr lang="zh-CN" altLang="en-US" sz="3200" b="1" dirty="0">
                <a:solidFill>
                  <a:schemeClr val="bg1"/>
                </a:solidFill>
                <a:latin typeface="楷体" panose="02010609060101010101" pitchFamily="49" charset="-122"/>
                <a:ea typeface="楷体" panose="02010609060101010101" pitchFamily="49" charset="-122"/>
              </a:rPr>
              <a:t>分析方法</a:t>
            </a:r>
            <a:r>
              <a:rPr lang="zh-CN" altLang="en-US" sz="3200" b="1" dirty="0">
                <a:solidFill>
                  <a:schemeClr val="bg2"/>
                </a:solidFill>
                <a:latin typeface="楷体" panose="02010609060101010101" pitchFamily="49" charset="-122"/>
                <a:ea typeface="楷体" panose="02010609060101010101" pitchFamily="49" charset="-122"/>
              </a:rPr>
              <a:t>和召开</a:t>
            </a:r>
            <a:r>
              <a:rPr lang="zh-CN" altLang="en-US" sz="3200" b="1" dirty="0">
                <a:solidFill>
                  <a:schemeClr val="bg1"/>
                </a:solidFill>
                <a:latin typeface="楷体" panose="02010609060101010101" pitchFamily="49" charset="-122"/>
                <a:ea typeface="楷体" panose="02010609060101010101" pitchFamily="49" charset="-122"/>
              </a:rPr>
              <a:t>有效的会议</a:t>
            </a:r>
            <a:r>
              <a:rPr lang="zh-CN" altLang="en-US" sz="3200" b="1" dirty="0">
                <a:solidFill>
                  <a:schemeClr val="bg2"/>
                </a:solidFill>
                <a:latin typeface="楷体" panose="02010609060101010101" pitchFamily="49" charset="-122"/>
                <a:ea typeface="楷体" panose="02010609060101010101" pitchFamily="49" charset="-122"/>
              </a:rPr>
              <a:t>。</a:t>
            </a:r>
            <a:endParaRPr lang="zh-CN" altLang="en-US" sz="3200" b="1" dirty="0">
              <a:solidFill>
                <a:schemeClr val="bg2"/>
              </a:solidFill>
              <a:latin typeface="楷体" panose="02010609060101010101" pitchFamily="49" charset="-122"/>
              <a:ea typeface="楷体" panose="02010609060101010101" pitchFamily="49" charset="-122"/>
            </a:endParaRPr>
          </a:p>
          <a:p>
            <a:pPr lvl="1" algn="l">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基于</a:t>
            </a:r>
            <a:r>
              <a:rPr lang="zh-CN" altLang="en-US" b="1" dirty="0">
                <a:solidFill>
                  <a:srgbClr val="00B0F0"/>
                </a:solidFill>
                <a:latin typeface="楷体" panose="02010609060101010101" pitchFamily="49" charset="-122"/>
                <a:ea typeface="楷体" panose="02010609060101010101" pitchFamily="49" charset="-122"/>
              </a:rPr>
              <a:t>历史信息和经验教训</a:t>
            </a:r>
            <a:r>
              <a:rPr lang="zh-CN" altLang="en-US" b="1" dirty="0">
                <a:solidFill>
                  <a:schemeClr val="bg2"/>
                </a:solidFill>
                <a:latin typeface="楷体" panose="02010609060101010101" pitchFamily="49" charset="-122"/>
                <a:ea typeface="楷体" panose="02010609060101010101" pitchFamily="49" charset="-122"/>
              </a:rPr>
              <a:t>，</a:t>
            </a:r>
            <a:r>
              <a:rPr lang="zh-CN" altLang="en-US" b="1" dirty="0">
                <a:solidFill>
                  <a:schemeClr val="bg1"/>
                </a:solidFill>
                <a:latin typeface="楷体" panose="02010609060101010101" pitchFamily="49" charset="-122"/>
                <a:ea typeface="楷体" panose="02010609060101010101" pitchFamily="49" charset="-122"/>
              </a:rPr>
              <a:t>专家判断</a:t>
            </a:r>
            <a:endParaRPr lang="zh-CN" altLang="en-US" b="1" dirty="0">
              <a:solidFill>
                <a:schemeClr val="bg1"/>
              </a:solidFill>
              <a:latin typeface="楷体" panose="02010609060101010101" pitchFamily="49" charset="-122"/>
              <a:ea typeface="楷体" panose="02010609060101010101" pitchFamily="49" charset="-122"/>
            </a:endParaRPr>
          </a:p>
          <a:p>
            <a:pPr marL="1371600" lvl="2" indent="-457200" algn="l">
              <a:buClr>
                <a:schemeClr val="bg1">
                  <a:lumMod val="50000"/>
                </a:schemeClr>
              </a:buClr>
              <a:buFont typeface="Wingdings" panose="05000000000000000000" charset="0"/>
              <a:buChar char="ü"/>
            </a:pPr>
            <a:r>
              <a:rPr lang="zh-CN" altLang="en-US" b="1" dirty="0">
                <a:solidFill>
                  <a:schemeClr val="bg2"/>
                </a:solidFill>
                <a:latin typeface="楷体" panose="02010609060101010101" pitchFamily="49" charset="-122"/>
                <a:ea typeface="楷体" panose="02010609060101010101" pitchFamily="49" charset="-122"/>
              </a:rPr>
              <a:t>可以对项目环境及以往类似项目的信息提供有价值的见解。</a:t>
            </a:r>
            <a:endParaRPr lang="zh-CN" altLang="en-US" b="1" dirty="0">
              <a:solidFill>
                <a:schemeClr val="bg2"/>
              </a:solidFill>
              <a:latin typeface="楷体" panose="02010609060101010101" pitchFamily="49" charset="-122"/>
              <a:ea typeface="楷体" panose="02010609060101010101" pitchFamily="49" charset="-122"/>
            </a:endParaRPr>
          </a:p>
          <a:p>
            <a:pPr marL="1371600" lvl="2" indent="-457200" algn="l">
              <a:buClr>
                <a:schemeClr val="bg1">
                  <a:lumMod val="50000"/>
                </a:schemeClr>
              </a:buClr>
              <a:buFont typeface="Wingdings" panose="05000000000000000000" charset="0"/>
              <a:buChar char="ü"/>
            </a:pPr>
            <a:r>
              <a:rPr lang="zh-CN" altLang="en-US" b="1" dirty="0">
                <a:solidFill>
                  <a:schemeClr val="bg2"/>
                </a:solidFill>
                <a:latin typeface="楷体" panose="02010609060101010101" pitchFamily="49" charset="-122"/>
                <a:ea typeface="楷体" panose="02010609060101010101" pitchFamily="49" charset="-122"/>
              </a:rPr>
              <a:t>可以对是否需要联合使用多种方法，以及如何协调方法之间的差异来进行项目进度管理提出建议。</a:t>
            </a:r>
            <a:endParaRPr lang="zh-CN" altLang="en-US" b="1" dirty="0">
              <a:solidFill>
                <a:schemeClr val="bg2"/>
              </a:solidFill>
              <a:latin typeface="+mn-lt"/>
              <a:ea typeface="楷体" panose="02010609060101010101" pitchFamily="49" charset="-122"/>
            </a:endParaRPr>
          </a:p>
        </p:txBody>
      </p:sp>
      <p:sp>
        <p:nvSpPr>
          <p:cNvPr id="16390"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602921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5.2.2 </a:t>
            </a:r>
            <a:r>
              <a:rPr kumimoji="0" lang="zh-CN" altLang="en-US" b="1" dirty="0">
                <a:solidFill>
                  <a:srgbClr val="FF0000"/>
                </a:solidFill>
                <a:latin typeface="楷体" panose="02010609060101010101" pitchFamily="49" charset="-122"/>
                <a:ea typeface="楷体" panose="02010609060101010101" pitchFamily="49" charset="-122"/>
              </a:rPr>
              <a:t>规划</a:t>
            </a:r>
            <a:r>
              <a:rPr kumimoji="0" lang="en-US" altLang="en-US" b="1" dirty="0" err="1">
                <a:solidFill>
                  <a:srgbClr val="FF0000"/>
                </a:solidFill>
                <a:latin typeface="楷体" panose="02010609060101010101" pitchFamily="49" charset="-122"/>
                <a:ea typeface="楷体" panose="02010609060101010101" pitchFamily="49" charset="-122"/>
              </a:rPr>
              <a:t>进度管理</a:t>
            </a:r>
            <a:r>
              <a:rPr kumimoji="0" lang="zh-CN" altLang="en-US" b="1" dirty="0">
                <a:solidFill>
                  <a:srgbClr val="FF0000"/>
                </a:solidFill>
                <a:latin typeface="楷体" panose="02010609060101010101" pitchFamily="49" charset="-122"/>
                <a:ea typeface="楷体" panose="02010609060101010101" pitchFamily="49" charset="-122"/>
              </a:rPr>
              <a:t>采用的工具与技术</a:t>
            </a:r>
            <a:endParaRPr kumimoji="0" lang="zh-CN"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34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32" y="1785926"/>
            <a:ext cx="9072594" cy="5046345"/>
          </a:xfrm>
          <a:prstGeom prst="rect">
            <a:avLst/>
          </a:prstGeom>
          <a:noFill/>
          <a:ln w="9525" algn="ctr">
            <a:noFill/>
            <a:miter lim="800000"/>
          </a:ln>
        </p:spPr>
        <p:txBody>
          <a:bodyPr wrap="square">
            <a:spAutoFit/>
          </a:bodyPr>
          <a:lstStyle/>
          <a:p>
            <a:pPr lvl="1" indent="0" algn="l">
              <a:spcBef>
                <a:spcPts val="600"/>
              </a:spcBef>
              <a:spcAft>
                <a:spcPts val="600"/>
              </a:spcAft>
              <a:buClr>
                <a:schemeClr val="bg1">
                  <a:lumMod val="50000"/>
                </a:schemeClr>
              </a:buClr>
              <a:buFont typeface="Wingdings" panose="05000000000000000000" pitchFamily="2" charset="2"/>
              <a:buNone/>
            </a:pPr>
            <a:r>
              <a:rPr lang="zh-CN" altLang="en-US" sz="3200" b="1" dirty="0">
                <a:solidFill>
                  <a:schemeClr val="bg2"/>
                </a:solidFill>
                <a:latin typeface="楷体" panose="02010609060101010101" pitchFamily="49" charset="-122"/>
                <a:ea typeface="楷体" panose="02010609060101010101" pitchFamily="49" charset="-122"/>
              </a:rPr>
              <a:t>进度管理计划中可能还需要详细描述对项目进度进行快速跟进或赶工的方法和策略，如并行开展工作等。但这些决策可能对项目风险产生影响</a:t>
            </a:r>
            <a:endParaRPr lang="zh-CN" altLang="en-US" sz="3200" b="1" dirty="0">
              <a:solidFill>
                <a:schemeClr val="bg2"/>
              </a:solidFill>
              <a:latin typeface="楷体" panose="02010609060101010101" pitchFamily="49" charset="-122"/>
              <a:ea typeface="楷体" panose="02010609060101010101" pitchFamily="49" charset="-122"/>
            </a:endParaRPr>
          </a:p>
          <a:p>
            <a:pPr marL="914400" lvl="1" indent="-457200" algn="l">
              <a:spcBef>
                <a:spcPts val="600"/>
              </a:spcBef>
              <a:spcAft>
                <a:spcPts val="600"/>
              </a:spcAft>
              <a:buClr>
                <a:schemeClr val="bg1">
                  <a:lumMod val="50000"/>
                </a:schemeClr>
              </a:buClr>
              <a:buFont typeface="Wingdings" panose="05000000000000000000" charset="0"/>
              <a:buChar char="n"/>
            </a:pPr>
            <a:r>
              <a:rPr lang="zh-CN" altLang="en-US" sz="3200" b="1" dirty="0">
                <a:solidFill>
                  <a:schemeClr val="bg2"/>
                </a:solidFill>
                <a:latin typeface="楷体" panose="02010609060101010101" pitchFamily="49" charset="-122"/>
                <a:ea typeface="楷体" panose="02010609060101010101" pitchFamily="49" charset="-122"/>
              </a:rPr>
              <a:t>因此，采用</a:t>
            </a:r>
            <a:r>
              <a:rPr lang="zh-CN" altLang="en-US" sz="3200" b="1" dirty="0">
                <a:solidFill>
                  <a:schemeClr val="bg1"/>
                </a:solidFill>
                <a:latin typeface="楷体" panose="02010609060101010101" pitchFamily="49" charset="-122"/>
                <a:ea typeface="楷体" panose="02010609060101010101" pitchFamily="49" charset="-122"/>
              </a:rPr>
              <a:t>分析方法</a:t>
            </a:r>
            <a:r>
              <a:rPr lang="zh-CN" altLang="en-US" sz="3200" b="1" dirty="0">
                <a:solidFill>
                  <a:schemeClr val="bg2"/>
                </a:solidFill>
                <a:latin typeface="楷体" panose="02010609060101010101" pitchFamily="49" charset="-122"/>
                <a:ea typeface="楷体" panose="02010609060101010101" pitchFamily="49" charset="-122"/>
              </a:rPr>
              <a:t>规划进度管理更显重要。</a:t>
            </a:r>
            <a:endParaRPr lang="zh-CN" altLang="en-US" sz="3200" b="1" dirty="0">
              <a:solidFill>
                <a:schemeClr val="bg2"/>
              </a:solidFill>
              <a:latin typeface="楷体" panose="02010609060101010101" pitchFamily="49" charset="-122"/>
              <a:ea typeface="楷体" panose="02010609060101010101" pitchFamily="49" charset="-122"/>
            </a:endParaRPr>
          </a:p>
          <a:p>
            <a:pPr lvl="3" indent="-457200" algn="l">
              <a:spcBef>
                <a:spcPts val="600"/>
              </a:spcBef>
              <a:spcAft>
                <a:spcPts val="600"/>
              </a:spcAft>
              <a:buClr>
                <a:schemeClr val="bg1">
                  <a:lumMod val="50000"/>
                </a:schemeClr>
              </a:buClr>
              <a:buFont typeface="Arial" panose="020B0604020202020204" pitchFamily="34" charset="0"/>
              <a:buChar char="•"/>
            </a:pPr>
            <a:r>
              <a:rPr lang="zh-CN" altLang="en-US" b="1" dirty="0">
                <a:solidFill>
                  <a:srgbClr val="00B0F0"/>
                </a:solidFill>
                <a:latin typeface="楷体" panose="02010609060101010101" pitchFamily="49" charset="-122"/>
                <a:ea typeface="楷体" panose="02010609060101010101" pitchFamily="49" charset="-122"/>
                <a:sym typeface="+mn-ea"/>
              </a:rPr>
              <a:t>进度规划方法论</a:t>
            </a:r>
            <a:endParaRPr lang="zh-CN" altLang="en-US" b="1" dirty="0">
              <a:solidFill>
                <a:schemeClr val="bg2"/>
              </a:solidFill>
              <a:latin typeface="楷体" panose="02010609060101010101" pitchFamily="49" charset="-122"/>
              <a:ea typeface="楷体" panose="02010609060101010101" pitchFamily="49" charset="-122"/>
              <a:sym typeface="+mn-ea"/>
            </a:endParaRPr>
          </a:p>
          <a:p>
            <a:pPr lvl="3" indent="-457200" algn="l">
              <a:spcBef>
                <a:spcPts val="600"/>
              </a:spcBef>
              <a:spcAft>
                <a:spcPts val="600"/>
              </a:spcAft>
              <a:buClr>
                <a:schemeClr val="bg1">
                  <a:lumMod val="50000"/>
                </a:schemeClr>
              </a:buClr>
              <a:buFont typeface="Arial" panose="020B0604020202020204" pitchFamily="34" charset="0"/>
              <a:buChar char="•"/>
            </a:pPr>
            <a:r>
              <a:rPr lang="zh-CN" altLang="en-US" b="1" dirty="0">
                <a:solidFill>
                  <a:srgbClr val="00B0F0"/>
                </a:solidFill>
                <a:latin typeface="楷体" panose="02010609060101010101" pitchFamily="49" charset="-122"/>
                <a:ea typeface="楷体" panose="02010609060101010101" pitchFamily="49" charset="-122"/>
                <a:sym typeface="+mn-ea"/>
              </a:rPr>
              <a:t>进度规划工具与技术</a:t>
            </a:r>
            <a:endParaRPr lang="zh-CN" altLang="en-US" b="1" dirty="0">
              <a:solidFill>
                <a:schemeClr val="bg2"/>
              </a:solidFill>
              <a:latin typeface="楷体" panose="02010609060101010101" pitchFamily="49" charset="-122"/>
              <a:ea typeface="楷体" panose="02010609060101010101" pitchFamily="49" charset="-122"/>
              <a:sym typeface="+mn-ea"/>
            </a:endParaRPr>
          </a:p>
          <a:p>
            <a:pPr lvl="3" indent="-457200" algn="l">
              <a:spcBef>
                <a:spcPts val="600"/>
              </a:spcBef>
              <a:spcAft>
                <a:spcPts val="600"/>
              </a:spcAft>
              <a:buClr>
                <a:schemeClr val="bg1">
                  <a:lumMod val="50000"/>
                </a:schemeClr>
              </a:buClr>
              <a:buFont typeface="Arial" panose="020B0604020202020204" pitchFamily="34" charset="0"/>
              <a:buChar char="•"/>
            </a:pPr>
            <a:r>
              <a:rPr lang="zh-CN" altLang="en-US" b="1" dirty="0">
                <a:solidFill>
                  <a:srgbClr val="00B0F0"/>
                </a:solidFill>
                <a:latin typeface="楷体" panose="02010609060101010101" pitchFamily="49" charset="-122"/>
                <a:ea typeface="楷体" panose="02010609060101010101" pitchFamily="49" charset="-122"/>
                <a:sym typeface="+mn-ea"/>
              </a:rPr>
              <a:t>估算方法</a:t>
            </a:r>
            <a:endParaRPr lang="zh-CN" altLang="en-US" b="1" dirty="0">
              <a:solidFill>
                <a:schemeClr val="bg2"/>
              </a:solidFill>
              <a:latin typeface="楷体" panose="02010609060101010101" pitchFamily="49" charset="-122"/>
              <a:ea typeface="楷体" panose="02010609060101010101" pitchFamily="49" charset="-122"/>
              <a:sym typeface="+mn-ea"/>
            </a:endParaRPr>
          </a:p>
          <a:p>
            <a:pPr lvl="3" indent="-457200" algn="l">
              <a:spcBef>
                <a:spcPts val="600"/>
              </a:spcBef>
              <a:spcAft>
                <a:spcPts val="600"/>
              </a:spcAft>
              <a:buClr>
                <a:schemeClr val="bg1">
                  <a:lumMod val="50000"/>
                </a:schemeClr>
              </a:buClr>
              <a:buFont typeface="Arial" panose="020B0604020202020204" pitchFamily="34" charset="0"/>
              <a:buChar char="•"/>
            </a:pPr>
            <a:r>
              <a:rPr lang="zh-CN" altLang="en-US" b="1" dirty="0">
                <a:solidFill>
                  <a:srgbClr val="00B0F0"/>
                </a:solidFill>
                <a:latin typeface="楷体" panose="02010609060101010101" pitchFamily="49" charset="-122"/>
                <a:ea typeface="楷体" panose="02010609060101010101" pitchFamily="49" charset="-122"/>
                <a:sym typeface="+mn-ea"/>
              </a:rPr>
              <a:t>项目管理软件</a:t>
            </a:r>
            <a:endParaRPr lang="zh-CN" altLang="en-US" b="1" dirty="0">
              <a:solidFill>
                <a:schemeClr val="bg2"/>
              </a:solidFill>
              <a:latin typeface="+mn-lt"/>
              <a:ea typeface="楷体" panose="02010609060101010101" pitchFamily="49" charset="-122"/>
            </a:endParaRPr>
          </a:p>
        </p:txBody>
      </p:sp>
      <p:sp>
        <p:nvSpPr>
          <p:cNvPr id="16390" name="Rectangle 6"/>
          <p:cNvSpPr>
            <a:spLocks noChangeArrowheads="1"/>
          </p:cNvSpPr>
          <p:nvPr/>
        </p:nvSpPr>
        <p:spPr bwMode="auto">
          <a:xfrm>
            <a:off x="103188" y="620713"/>
            <a:ext cx="5405437" cy="553998"/>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602921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5.2.2 </a:t>
            </a:r>
            <a:r>
              <a:rPr kumimoji="0" lang="zh-CN" altLang="en-US" b="1" dirty="0">
                <a:solidFill>
                  <a:srgbClr val="FF0000"/>
                </a:solidFill>
                <a:latin typeface="楷体" panose="02010609060101010101" pitchFamily="49" charset="-122"/>
                <a:ea typeface="楷体" panose="02010609060101010101" pitchFamily="49" charset="-122"/>
              </a:rPr>
              <a:t>规划</a:t>
            </a:r>
            <a:r>
              <a:rPr kumimoji="0" lang="en-US" altLang="en-US" b="1" dirty="0" err="1">
                <a:solidFill>
                  <a:srgbClr val="FF0000"/>
                </a:solidFill>
                <a:latin typeface="楷体" panose="02010609060101010101" pitchFamily="49" charset="-122"/>
                <a:ea typeface="楷体" panose="02010609060101010101" pitchFamily="49" charset="-122"/>
              </a:rPr>
              <a:t>进度管理</a:t>
            </a:r>
            <a:r>
              <a:rPr kumimoji="0" lang="zh-CN" altLang="en-US" b="1" dirty="0">
                <a:solidFill>
                  <a:srgbClr val="FF0000"/>
                </a:solidFill>
                <a:latin typeface="楷体" panose="02010609060101010101" pitchFamily="49" charset="-122"/>
                <a:ea typeface="楷体" panose="02010609060101010101" pitchFamily="49" charset="-122"/>
              </a:rPr>
              <a:t>采用的工具与技术</a:t>
            </a:r>
            <a:endParaRPr kumimoji="0" lang="zh-CN"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P.108</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71406" y="2102030"/>
            <a:ext cx="8715436" cy="3801041"/>
          </a:xfrm>
          <a:prstGeom prst="rect">
            <a:avLst/>
          </a:prstGeom>
          <a:noFill/>
          <a:ln w="9525" algn="ctr">
            <a:noFill/>
            <a:miter lim="800000"/>
          </a:ln>
        </p:spPr>
        <p:txBody>
          <a:bodyPr wrap="square">
            <a:spAutoFit/>
          </a:bodyPr>
          <a:lstStyle/>
          <a:p>
            <a:pPr lvl="1" algn="l">
              <a:buClr>
                <a:schemeClr val="bg1">
                  <a:lumMod val="50000"/>
                </a:schemeClr>
              </a:buClr>
              <a:buFont typeface="Wingdings" panose="05000000000000000000" pitchFamily="2" charset="2"/>
              <a:buChar char="n"/>
            </a:pPr>
            <a:r>
              <a:rPr lang="zh-CN" altLang="en-US" sz="3200" b="1" dirty="0">
                <a:solidFill>
                  <a:schemeClr val="bg2"/>
                </a:solidFill>
                <a:latin typeface="楷体" panose="02010609060101010101" pitchFamily="49" charset="-122"/>
                <a:ea typeface="楷体" panose="02010609060101010101" pitchFamily="49" charset="-122"/>
              </a:rPr>
              <a:t>项目团队可以通过</a:t>
            </a:r>
            <a:r>
              <a:rPr lang="zh-CN" altLang="en-US" sz="3200" b="1" dirty="0">
                <a:solidFill>
                  <a:schemeClr val="bg1"/>
                </a:solidFill>
                <a:latin typeface="楷体" panose="02010609060101010101" pitchFamily="49" charset="-122"/>
                <a:ea typeface="楷体" panose="02010609060101010101" pitchFamily="49" charset="-122"/>
              </a:rPr>
              <a:t>召开规划会议</a:t>
            </a:r>
            <a:r>
              <a:rPr lang="zh-CN" altLang="en-US" sz="3200" b="1" dirty="0">
                <a:solidFill>
                  <a:schemeClr val="bg2"/>
                </a:solidFill>
                <a:latin typeface="楷体" panose="02010609060101010101" pitchFamily="49" charset="-122"/>
                <a:ea typeface="楷体" panose="02010609060101010101" pitchFamily="49" charset="-122"/>
              </a:rPr>
              <a:t>来制定进度管理计划，达到集思广益和统一认识的目的。</a:t>
            </a:r>
            <a:endParaRPr lang="en-US" altLang="zh-CN" sz="3200" b="1" dirty="0">
              <a:solidFill>
                <a:schemeClr val="bg2"/>
              </a:solidFill>
              <a:latin typeface="楷体" panose="02010609060101010101" pitchFamily="49" charset="-122"/>
              <a:ea typeface="楷体" panose="02010609060101010101" pitchFamily="49" charset="-122"/>
            </a:endParaRPr>
          </a:p>
          <a:p>
            <a:pPr lvl="1" algn="l">
              <a:buClr>
                <a:schemeClr val="bg1">
                  <a:lumMod val="50000"/>
                </a:schemeClr>
              </a:buClr>
            </a:pPr>
            <a:r>
              <a:rPr lang="en-US" altLang="zh-CN" sz="3200" b="1" dirty="0">
                <a:solidFill>
                  <a:schemeClr val="bg2"/>
                </a:solidFill>
                <a:latin typeface="楷体" panose="02010609060101010101" pitchFamily="49" charset="-122"/>
                <a:ea typeface="楷体" panose="02010609060101010101" pitchFamily="49" charset="-122"/>
              </a:rPr>
              <a:t>   </a:t>
            </a:r>
            <a:r>
              <a:rPr lang="zh-CN" altLang="en-US" sz="3200" b="1" dirty="0">
                <a:solidFill>
                  <a:schemeClr val="bg2"/>
                </a:solidFill>
                <a:latin typeface="楷体" panose="02010609060101010101" pitchFamily="49" charset="-122"/>
                <a:ea typeface="楷体" panose="02010609060101010101" pitchFamily="49" charset="-122"/>
              </a:rPr>
              <a:t>参加会议的成员可能包括项目经理、项目发起人、选定的项目团队成员、相关项目干系人、进度规划或执行负责人，以及其他必要的人员。</a:t>
            </a:r>
            <a:endParaRPr lang="zh-CN" altLang="en-US" sz="3200"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buClr>
                <a:schemeClr val="bg1">
                  <a:lumMod val="50000"/>
                </a:schemeClr>
              </a:buClr>
              <a:buFont typeface="Wingdings" panose="05000000000000000000" pitchFamily="2" charset="2"/>
              <a:buChar char="n"/>
            </a:pPr>
            <a:endParaRPr lang="zh-CN" altLang="en-US" b="1" dirty="0">
              <a:solidFill>
                <a:schemeClr val="bg2"/>
              </a:solidFill>
              <a:latin typeface="+mn-lt"/>
              <a:ea typeface="楷体" panose="02010609060101010101" pitchFamily="49" charset="-122"/>
            </a:endParaRPr>
          </a:p>
        </p:txBody>
      </p:sp>
      <p:sp>
        <p:nvSpPr>
          <p:cNvPr id="16390"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341438"/>
            <a:ext cx="602921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5.2.2 </a:t>
            </a:r>
            <a:r>
              <a:rPr kumimoji="0" lang="zh-CN" altLang="en-US" b="1" dirty="0">
                <a:solidFill>
                  <a:srgbClr val="FF0000"/>
                </a:solidFill>
                <a:latin typeface="楷体" panose="02010609060101010101" pitchFamily="49" charset="-122"/>
                <a:ea typeface="楷体" panose="02010609060101010101" pitchFamily="49" charset="-122"/>
              </a:rPr>
              <a:t>规划</a:t>
            </a:r>
            <a:r>
              <a:rPr kumimoji="0" lang="en-US" altLang="en-US" b="1" dirty="0" err="1">
                <a:solidFill>
                  <a:srgbClr val="FF0000"/>
                </a:solidFill>
                <a:latin typeface="楷体" panose="02010609060101010101" pitchFamily="49" charset="-122"/>
                <a:ea typeface="楷体" panose="02010609060101010101" pitchFamily="49" charset="-122"/>
              </a:rPr>
              <a:t>进度管理</a:t>
            </a:r>
            <a:r>
              <a:rPr kumimoji="0" lang="zh-CN" altLang="en-US" b="1" dirty="0">
                <a:solidFill>
                  <a:srgbClr val="FF0000"/>
                </a:solidFill>
                <a:latin typeface="楷体" panose="02010609060101010101" pitchFamily="49" charset="-122"/>
                <a:ea typeface="楷体" panose="02010609060101010101" pitchFamily="49" charset="-122"/>
              </a:rPr>
              <a:t>采用的工具与技术</a:t>
            </a:r>
            <a:endParaRPr kumimoji="0" lang="zh-CN"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63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P.109</a:t>
            </a:r>
            <a:endParaRPr lang="en-US" altLang="zh-CN" sz="2400" b="1" dirty="0">
              <a:solidFill>
                <a:schemeClr val="bg2"/>
              </a:solidFill>
              <a:ea typeface="楷体" panose="02010609060101010101" pitchFamily="49" charset="-122"/>
            </a:endParaRPr>
          </a:p>
        </p:txBody>
      </p:sp>
      <p:sp>
        <p:nvSpPr>
          <p:cNvPr id="1638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43461" name="Text Box 5"/>
          <p:cNvSpPr txBox="1">
            <a:spLocks noChangeArrowheads="1"/>
          </p:cNvSpPr>
          <p:nvPr/>
        </p:nvSpPr>
        <p:spPr bwMode="auto">
          <a:xfrm>
            <a:off x="142844" y="1714908"/>
            <a:ext cx="8786874" cy="4939030"/>
          </a:xfrm>
          <a:prstGeom prst="rect">
            <a:avLst/>
          </a:prstGeom>
          <a:noFill/>
          <a:ln w="9525" algn="ctr">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进度管理计划是项目管理计划的重要组成部分，它为编制、监督和控制项目进度建立准则和明确活动。</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编制的进度管理计划一般需要明确如下规定：</a:t>
            </a:r>
            <a:endParaRPr lang="zh-CN" altLang="en-US" b="1" dirty="0">
              <a:solidFill>
                <a:schemeClr val="bg2"/>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项目进度模型制定</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准确度</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计量单位</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工作分解结构</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项目进度模型维护</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控制临界值</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绩效测量规则</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报告格式</a:t>
            </a:r>
            <a:endParaRPr lang="zh-CN" altLang="en-US" sz="2000" b="1" dirty="0">
              <a:solidFill>
                <a:srgbClr val="0000FF"/>
              </a:solidFill>
              <a:latin typeface="楷体" panose="02010609060101010101" pitchFamily="49" charset="-122"/>
              <a:ea typeface="楷体" panose="02010609060101010101" pitchFamily="49" charset="-122"/>
            </a:endParaRPr>
          </a:p>
          <a:p>
            <a:pPr marL="1371600" lvl="2" indent="-457200" algn="l">
              <a:spcBef>
                <a:spcPts val="0"/>
              </a:spcBef>
              <a:spcAft>
                <a:spcPts val="0"/>
              </a:spcAft>
              <a:buClr>
                <a:srgbClr val="0000FF"/>
              </a:buClr>
              <a:buFont typeface="+mj-ea"/>
              <a:buAutoNum type="circleNumDbPlain"/>
            </a:pPr>
            <a:r>
              <a:rPr lang="zh-CN" altLang="en-US" sz="2400" b="1" dirty="0">
                <a:solidFill>
                  <a:srgbClr val="0000FF"/>
                </a:solidFill>
                <a:latin typeface="楷体" panose="02010609060101010101" pitchFamily="49" charset="-122"/>
                <a:ea typeface="楷体" panose="02010609060101010101" pitchFamily="49" charset="-122"/>
              </a:rPr>
              <a:t>过程描述</a:t>
            </a:r>
            <a:endParaRPr lang="zh-CN" altLang="en-US" sz="2400" b="1" dirty="0">
              <a:solidFill>
                <a:srgbClr val="0000FF"/>
              </a:solidFill>
              <a:latin typeface="楷体" panose="02010609060101010101" pitchFamily="49" charset="-122"/>
              <a:ea typeface="楷体" panose="02010609060101010101" pitchFamily="49" charset="-122"/>
            </a:endParaRPr>
          </a:p>
        </p:txBody>
      </p:sp>
      <p:sp>
        <p:nvSpPr>
          <p:cNvPr id="16390" name="Rectangle 6"/>
          <p:cNvSpPr>
            <a:spLocks noChangeArrowheads="1"/>
          </p:cNvSpPr>
          <p:nvPr/>
        </p:nvSpPr>
        <p:spPr bwMode="auto">
          <a:xfrm>
            <a:off x="103188" y="620713"/>
            <a:ext cx="5405437" cy="553998"/>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5.2 </a:t>
            </a:r>
            <a:r>
              <a:rPr kumimoji="0" lang="zh-CN" altLang="en-US" sz="3000" b="1" dirty="0">
                <a:ea typeface="楷体" panose="02010609060101010101" pitchFamily="49" charset="-122"/>
              </a:rPr>
              <a:t>规划进度管理</a:t>
            </a:r>
            <a:endParaRPr kumimoji="0" lang="en-US" altLang="en-US" sz="3000" b="1" dirty="0">
              <a:ea typeface="楷体" panose="02010609060101010101" pitchFamily="49" charset="-122"/>
            </a:endParaRPr>
          </a:p>
        </p:txBody>
      </p:sp>
      <p:sp>
        <p:nvSpPr>
          <p:cNvPr id="16391" name="Rectangle 7"/>
          <p:cNvSpPr>
            <a:spLocks noChangeArrowheads="1"/>
          </p:cNvSpPr>
          <p:nvPr/>
        </p:nvSpPr>
        <p:spPr bwMode="auto">
          <a:xfrm>
            <a:off x="323850" y="1285860"/>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5.2.3 </a:t>
            </a:r>
            <a:r>
              <a:rPr kumimoji="0" lang="zh-CN" altLang="en-US" b="1" dirty="0">
                <a:solidFill>
                  <a:srgbClr val="FF0000"/>
                </a:solidFill>
                <a:latin typeface="楷体" panose="02010609060101010101" pitchFamily="49" charset="-122"/>
                <a:ea typeface="楷体" panose="02010609060101010101" pitchFamily="49" charset="-122"/>
              </a:rPr>
              <a:t>进度管理计划的编制</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46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46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346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346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346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346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346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346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4346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54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54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84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P.109</a:t>
            </a:r>
            <a:endParaRPr lang="en-US" altLang="zh-CN" sz="2400" b="1" dirty="0">
              <a:solidFill>
                <a:schemeClr val="bg2"/>
              </a:solidFill>
              <a:ea typeface="楷体" panose="02010609060101010101" pitchFamily="49" charset="-122"/>
            </a:endParaRPr>
          </a:p>
        </p:txBody>
      </p:sp>
      <p:sp>
        <p:nvSpPr>
          <p:cNvPr id="1843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8437" name="Text Box 5"/>
          <p:cNvSpPr txBox="1">
            <a:spLocks noChangeArrowheads="1"/>
          </p:cNvSpPr>
          <p:nvPr/>
        </p:nvSpPr>
        <p:spPr bwMode="auto">
          <a:xfrm>
            <a:off x="285720" y="1428736"/>
            <a:ext cx="8572560" cy="4799965"/>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1"/>
                </a:solidFill>
                <a:latin typeface="+mn-lt"/>
                <a:ea typeface="楷体" panose="02010609060101010101" pitchFamily="49" charset="-122"/>
              </a:rPr>
              <a:t>定义活动</a:t>
            </a:r>
            <a:r>
              <a:rPr lang="zh-CN" altLang="en-US" sz="3200" b="1" dirty="0">
                <a:solidFill>
                  <a:schemeClr val="bg2"/>
                </a:solidFill>
                <a:latin typeface="+mn-lt"/>
                <a:ea typeface="楷体" panose="02010609060101010101" pitchFamily="49" charset="-122"/>
              </a:rPr>
              <a:t>是识别和记录为完成项目可交付成果而需要采取的具体行动的过程。</a:t>
            </a:r>
            <a:endParaRPr lang="en-US" altLang="zh-CN" sz="3200" b="1" dirty="0">
              <a:solidFill>
                <a:schemeClr val="bg2"/>
              </a:solidFill>
              <a:latin typeface="+mn-lt"/>
              <a:ea typeface="楷体" panose="02010609060101010101" pitchFamily="49" charset="-122"/>
            </a:endParaRPr>
          </a:p>
          <a:p>
            <a:pPr marL="914400" lvl="1" indent="-457200" algn="l">
              <a:spcBef>
                <a:spcPts val="600"/>
              </a:spcBef>
              <a:spcAft>
                <a:spcPts val="600"/>
              </a:spcAft>
              <a:buFont typeface="Wingdings" panose="05000000000000000000" charset="0"/>
              <a:buChar char="ü"/>
            </a:pPr>
            <a:r>
              <a:rPr lang="zh-CN" altLang="en-US" b="1" dirty="0">
                <a:solidFill>
                  <a:schemeClr val="bg2"/>
                </a:solidFill>
                <a:latin typeface="+mn-lt"/>
                <a:ea typeface="楷体" panose="02010609060101010101" pitchFamily="49" charset="-122"/>
              </a:rPr>
              <a:t>一项</a:t>
            </a:r>
            <a:r>
              <a:rPr lang="zh-CN" altLang="en-US" b="1" dirty="0">
                <a:solidFill>
                  <a:srgbClr val="FF0000"/>
                </a:solidFill>
                <a:latin typeface="+mn-lt"/>
                <a:ea typeface="楷体" panose="02010609060101010101" pitchFamily="49" charset="-122"/>
              </a:rPr>
              <a:t>活动或任务</a:t>
            </a:r>
            <a:r>
              <a:rPr lang="zh-CN" altLang="en-US" b="1" dirty="0">
                <a:solidFill>
                  <a:schemeClr val="bg2"/>
                </a:solidFill>
                <a:latin typeface="+mn-lt"/>
                <a:ea typeface="楷体" panose="02010609060101010101" pitchFamily="49" charset="-122"/>
              </a:rPr>
              <a:t>是一个工作元素</a:t>
            </a:r>
            <a:endParaRPr lang="zh-CN" altLang="en-US" b="1" dirty="0">
              <a:solidFill>
                <a:schemeClr val="bg2"/>
              </a:solidFill>
              <a:latin typeface="+mn-lt"/>
              <a:ea typeface="楷体" panose="02010609060101010101" pitchFamily="49" charset="-122"/>
            </a:endParaRPr>
          </a:p>
          <a:p>
            <a:pPr marL="914400" lvl="1" indent="-457200" algn="l">
              <a:spcBef>
                <a:spcPts val="600"/>
              </a:spcBef>
              <a:spcAft>
                <a:spcPts val="600"/>
              </a:spcAft>
              <a:buFont typeface="Wingdings" panose="05000000000000000000" charset="0"/>
              <a:buChar char="ü"/>
            </a:pPr>
            <a:r>
              <a:rPr lang="zh-CN" altLang="en-US" b="1" dirty="0">
                <a:solidFill>
                  <a:schemeClr val="bg2"/>
                </a:solidFill>
                <a:latin typeface="+mn-lt"/>
                <a:ea typeface="楷体" panose="02010609060101010101" pitchFamily="49" charset="-122"/>
              </a:rPr>
              <a:t>通常可以在</a:t>
            </a:r>
            <a:r>
              <a:rPr lang="en-US" b="1" dirty="0">
                <a:solidFill>
                  <a:schemeClr val="bg2"/>
                </a:solidFill>
                <a:latin typeface="+mn-lt"/>
                <a:ea typeface="楷体" panose="02010609060101010101" pitchFamily="49" charset="-122"/>
              </a:rPr>
              <a:t>WBS</a:t>
            </a:r>
            <a:r>
              <a:rPr lang="zh-CN" altLang="en-US" b="1" dirty="0">
                <a:solidFill>
                  <a:schemeClr val="bg2"/>
                </a:solidFill>
                <a:latin typeface="+mn-lt"/>
                <a:ea typeface="楷体" panose="02010609060101010101" pitchFamily="49" charset="-122"/>
              </a:rPr>
              <a:t>中找到，它有一个预期历时、成本和资源要求</a:t>
            </a:r>
            <a:endParaRPr lang="zh-CN" altLang="en-US" sz="3200" b="1" dirty="0">
              <a:solidFill>
                <a:schemeClr val="bg2"/>
              </a:solidFill>
              <a:latin typeface="+mn-lt"/>
              <a:ea typeface="楷体" panose="02010609060101010101" pitchFamily="49" charset="-122"/>
            </a:endParaRPr>
          </a:p>
          <a:p>
            <a:pPr algn="l">
              <a:spcBef>
                <a:spcPts val="600"/>
              </a:spcBef>
              <a:spcAft>
                <a:spcPts val="600"/>
              </a:spcAft>
            </a:pPr>
            <a:r>
              <a:rPr lang="zh-CN" altLang="en-US" sz="3200" b="1" dirty="0">
                <a:solidFill>
                  <a:schemeClr val="bg2"/>
                </a:solidFill>
                <a:latin typeface="+mn-lt"/>
                <a:ea typeface="楷体" panose="02010609060101010101" pitchFamily="49" charset="-122"/>
              </a:rPr>
              <a:t>项目活动定义是</a:t>
            </a:r>
            <a:r>
              <a:rPr lang="zh-CN" altLang="en-US" sz="3200" b="1" dirty="0">
                <a:solidFill>
                  <a:schemeClr val="bg1"/>
                </a:solidFill>
                <a:latin typeface="+mn-lt"/>
                <a:ea typeface="楷体" panose="02010609060101010101" pitchFamily="49" charset="-122"/>
              </a:rPr>
              <a:t>为了保障项目目标实现</a:t>
            </a:r>
            <a:r>
              <a:rPr lang="zh-CN" altLang="en-US" sz="3200" b="1" dirty="0">
                <a:solidFill>
                  <a:schemeClr val="bg2"/>
                </a:solidFill>
                <a:latin typeface="+mn-lt"/>
                <a:ea typeface="楷体" panose="02010609060101010101" pitchFamily="49" charset="-122"/>
              </a:rPr>
              <a:t>而开展的对已确认的</a:t>
            </a:r>
            <a:r>
              <a:rPr lang="zh-CN" altLang="en-US" sz="3200" b="1" dirty="0">
                <a:solidFill>
                  <a:schemeClr val="bg1"/>
                </a:solidFill>
                <a:latin typeface="+mn-lt"/>
                <a:ea typeface="楷体" panose="02010609060101010101" pitchFamily="49" charset="-122"/>
              </a:rPr>
              <a:t>项目工作包的进一步分解和界定</a:t>
            </a:r>
            <a:r>
              <a:rPr lang="zh-CN" altLang="en-US" sz="3200" b="1" dirty="0">
                <a:solidFill>
                  <a:schemeClr val="bg2"/>
                </a:solidFill>
                <a:latin typeface="+mn-lt"/>
                <a:ea typeface="楷体" panose="02010609060101010101" pitchFamily="49" charset="-122"/>
              </a:rPr>
              <a:t>，并从中识别出为生成项目产出物 而必需的各种项目活动。</a:t>
            </a:r>
            <a:endParaRPr kumimoji="0" lang="zh-CN" altLang="en-US" sz="3200" b="1" dirty="0">
              <a:solidFill>
                <a:schemeClr val="bg2"/>
              </a:solidFill>
              <a:latin typeface="+mn-lt"/>
              <a:ea typeface="楷体" panose="02010609060101010101" pitchFamily="49" charset="-122"/>
            </a:endParaRPr>
          </a:p>
        </p:txBody>
      </p:sp>
      <p:sp>
        <p:nvSpPr>
          <p:cNvPr id="1843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194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P.110</a:t>
            </a:r>
            <a:endParaRPr lang="en-US" altLang="zh-CN" sz="2400" b="1" dirty="0">
              <a:solidFill>
                <a:schemeClr val="bg2"/>
              </a:solidFill>
              <a:ea typeface="楷体" panose="02010609060101010101" pitchFamily="49" charset="-122"/>
            </a:endParaRPr>
          </a:p>
        </p:txBody>
      </p:sp>
      <p:sp>
        <p:nvSpPr>
          <p:cNvPr id="19460"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9461" name="Text Box 5"/>
          <p:cNvSpPr txBox="1">
            <a:spLocks noChangeArrowheads="1"/>
          </p:cNvSpPr>
          <p:nvPr/>
        </p:nvSpPr>
        <p:spPr bwMode="auto">
          <a:xfrm>
            <a:off x="103188" y="1863682"/>
            <a:ext cx="8855075" cy="4383405"/>
          </a:xfrm>
          <a:prstGeom prst="rect">
            <a:avLst/>
          </a:prstGeom>
          <a:noFill/>
          <a:ln w="9525" algn="ctr">
            <a:noFill/>
            <a:miter lim="800000"/>
          </a:ln>
        </p:spPr>
        <p:txBody>
          <a:bodyPr>
            <a:spAutoFit/>
          </a:bodyPr>
          <a:lstStyle/>
          <a:p>
            <a:pPr algn="l">
              <a:lnSpc>
                <a:spcPct val="120000"/>
              </a:lnSpc>
              <a:buClr>
                <a:schemeClr val="hlink"/>
              </a:buClr>
            </a:pPr>
            <a:r>
              <a:rPr lang="zh-CN" altLang="en-US" b="1" dirty="0">
                <a:solidFill>
                  <a:schemeClr val="bg2"/>
                </a:solidFill>
                <a:ea typeface="楷体" panose="02010609060101010101" pitchFamily="49" charset="-122"/>
              </a:rPr>
              <a:t>对项目的活动进行定义的</a:t>
            </a:r>
            <a:r>
              <a:rPr lang="zh-CN" altLang="en-US" b="1" dirty="0">
                <a:solidFill>
                  <a:schemeClr val="bg1"/>
                </a:solidFill>
                <a:ea typeface="楷体" panose="02010609060101010101" pitchFamily="49" charset="-122"/>
              </a:rPr>
              <a:t>主要依据</a:t>
            </a:r>
            <a:r>
              <a:rPr lang="zh-CN" altLang="en-US" b="1" dirty="0">
                <a:solidFill>
                  <a:schemeClr val="bg2"/>
                </a:solidFill>
                <a:ea typeface="楷体" panose="02010609060101010101" pitchFamily="49" charset="-122"/>
              </a:rPr>
              <a:t>主要有</a:t>
            </a:r>
            <a:endParaRPr lang="zh-CN" altLang="en-US" b="1" dirty="0">
              <a:solidFill>
                <a:schemeClr val="bg2"/>
              </a:solidFill>
              <a:ea typeface="楷体" panose="02010609060101010101" pitchFamily="49" charset="-122"/>
            </a:endParaRPr>
          </a:p>
          <a:p>
            <a:pPr marL="914400" lvl="1" indent="-457200" algn="l" eaLnBrk="1" latinLnBrk="0" hangingPunct="1">
              <a:lnSpc>
                <a:spcPts val="2800"/>
              </a:lnSpc>
              <a:spcBef>
                <a:spcPts val="0"/>
              </a:spcBef>
              <a:buClr>
                <a:srgbClr val="000000"/>
              </a:buClr>
              <a:buFont typeface="Wingdings" panose="05000000000000000000" charset="0"/>
              <a:buChar char="ü"/>
            </a:pPr>
            <a:r>
              <a:rPr lang="en-US" altLang="zh-CN" sz="2400" b="1" dirty="0">
                <a:solidFill>
                  <a:schemeClr val="bg2"/>
                </a:solidFill>
                <a:ea typeface="楷体" panose="02010609060101010101" pitchFamily="49" charset="-122"/>
              </a:rPr>
              <a:t>WBS</a:t>
            </a:r>
            <a:endParaRPr lang="en-US" altLang="zh-CN" sz="2400" b="1" dirty="0">
              <a:solidFill>
                <a:schemeClr val="bg2"/>
              </a:solidFill>
              <a:ea typeface="楷体" panose="02010609060101010101" pitchFamily="49" charset="-122"/>
            </a:endParaRPr>
          </a:p>
          <a:p>
            <a:pPr marL="914400" lvl="1" indent="-457200" algn="l" eaLnBrk="1" latinLnBrk="0" hangingPunct="1">
              <a:lnSpc>
                <a:spcPts val="2800"/>
              </a:lnSpc>
              <a:spcBef>
                <a:spcPts val="0"/>
              </a:spcBef>
              <a:buClr>
                <a:srgbClr val="000000"/>
              </a:buClr>
              <a:buFont typeface="Wingdings" panose="05000000000000000000" charset="0"/>
              <a:buChar char="ü"/>
            </a:pPr>
            <a:r>
              <a:rPr lang="zh-CN" altLang="en-US" sz="2400" b="1" dirty="0">
                <a:solidFill>
                  <a:schemeClr val="bg2"/>
                </a:solidFill>
                <a:ea typeface="楷体" panose="02010609060101010101" pitchFamily="49" charset="-122"/>
              </a:rPr>
              <a:t>项目范围说明书</a:t>
            </a:r>
            <a:endParaRPr lang="zh-CN" altLang="en-US" sz="2400" b="1" dirty="0">
              <a:solidFill>
                <a:schemeClr val="bg2"/>
              </a:solidFill>
              <a:ea typeface="楷体" panose="02010609060101010101" pitchFamily="49" charset="-122"/>
            </a:endParaRPr>
          </a:p>
          <a:p>
            <a:pPr marL="914400" lvl="1" indent="-457200" algn="l" eaLnBrk="1" latinLnBrk="0" hangingPunct="1">
              <a:lnSpc>
                <a:spcPts val="2800"/>
              </a:lnSpc>
              <a:spcBef>
                <a:spcPts val="0"/>
              </a:spcBef>
              <a:buClr>
                <a:srgbClr val="000000"/>
              </a:buClr>
              <a:buFont typeface="Wingdings" panose="05000000000000000000" charset="0"/>
              <a:buChar char="ü"/>
            </a:pPr>
            <a:r>
              <a:rPr lang="zh-CN" altLang="en-US" sz="2400" b="1" dirty="0">
                <a:solidFill>
                  <a:schemeClr val="bg2"/>
                </a:solidFill>
                <a:ea typeface="楷体" panose="02010609060101010101" pitchFamily="49" charset="-122"/>
              </a:rPr>
              <a:t>事业环境因素</a:t>
            </a:r>
            <a:endParaRPr lang="zh-CN" altLang="en-US" sz="2400" b="1" dirty="0">
              <a:solidFill>
                <a:schemeClr val="bg2"/>
              </a:solidFill>
              <a:ea typeface="楷体" panose="02010609060101010101" pitchFamily="49" charset="-122"/>
            </a:endParaRPr>
          </a:p>
          <a:p>
            <a:pPr marL="914400" lvl="1" indent="-457200" algn="l" eaLnBrk="1" latinLnBrk="0" hangingPunct="1">
              <a:lnSpc>
                <a:spcPts val="2800"/>
              </a:lnSpc>
              <a:spcBef>
                <a:spcPts val="0"/>
              </a:spcBef>
              <a:buClr>
                <a:srgbClr val="000000"/>
              </a:buClr>
              <a:buFont typeface="Wingdings" panose="05000000000000000000" charset="0"/>
              <a:buChar char="ü"/>
            </a:pPr>
            <a:r>
              <a:rPr lang="zh-CN" altLang="en-US" sz="2400" b="1" dirty="0">
                <a:solidFill>
                  <a:schemeClr val="bg2"/>
                </a:solidFill>
                <a:ea typeface="楷体" panose="02010609060101010101" pitchFamily="49" charset="-122"/>
              </a:rPr>
              <a:t>组织的过程资产</a:t>
            </a:r>
            <a:endParaRPr lang="zh-CN" altLang="en-US" sz="2400" b="1" dirty="0">
              <a:solidFill>
                <a:schemeClr val="bg2"/>
              </a:solidFill>
              <a:ea typeface="楷体" panose="02010609060101010101" pitchFamily="49" charset="-122"/>
            </a:endParaRPr>
          </a:p>
          <a:p>
            <a:pPr marL="914400" lvl="1" indent="-457200" algn="l" eaLnBrk="1" latinLnBrk="0" hangingPunct="1">
              <a:lnSpc>
                <a:spcPts val="2800"/>
              </a:lnSpc>
              <a:spcBef>
                <a:spcPts val="0"/>
              </a:spcBef>
              <a:buClr>
                <a:srgbClr val="000000"/>
              </a:buClr>
              <a:buFont typeface="Wingdings" panose="05000000000000000000" charset="0"/>
              <a:buChar char="ü"/>
            </a:pPr>
            <a:r>
              <a:rPr lang="zh-CN" altLang="en-US" sz="2400" b="1" dirty="0">
                <a:solidFill>
                  <a:schemeClr val="bg2"/>
                </a:solidFill>
                <a:ea typeface="楷体" panose="02010609060101010101" pitchFamily="49" charset="-122"/>
              </a:rPr>
              <a:t>项目进度管理计划等。</a:t>
            </a:r>
            <a:endParaRPr lang="en-US" altLang="zh-CN" sz="2400" b="1" dirty="0">
              <a:solidFill>
                <a:schemeClr val="bg2"/>
              </a:solidFill>
              <a:ea typeface="楷体" panose="02010609060101010101" pitchFamily="49" charset="-122"/>
            </a:endParaRPr>
          </a:p>
          <a:p>
            <a:pPr marL="457200" indent="-457200" algn="l">
              <a:lnSpc>
                <a:spcPct val="120000"/>
              </a:lnSpc>
              <a:buClr>
                <a:schemeClr val="hlink"/>
              </a:buClr>
            </a:pPr>
            <a:r>
              <a:rPr lang="zh-CN" altLang="en-US" b="1" dirty="0">
                <a:solidFill>
                  <a:srgbClr val="0000FF"/>
                </a:solidFill>
                <a:latin typeface="楷体" panose="02010609060101010101" pitchFamily="49" charset="-122"/>
                <a:ea typeface="楷体" panose="02010609060101010101" pitchFamily="49" charset="-122"/>
              </a:rPr>
              <a:t>应该将项目工作分解为</a:t>
            </a:r>
            <a:r>
              <a:rPr lang="zh-CN" altLang="en-US" b="1" dirty="0">
                <a:solidFill>
                  <a:srgbClr val="FF0000"/>
                </a:solidFill>
                <a:latin typeface="楷体" panose="02010609060101010101" pitchFamily="49" charset="-122"/>
                <a:ea typeface="楷体" panose="02010609060101010101" pitchFamily="49" charset="-122"/>
              </a:rPr>
              <a:t>更小、更容易管理</a:t>
            </a:r>
            <a:r>
              <a:rPr lang="zh-CN" altLang="en-US" b="1" dirty="0">
                <a:solidFill>
                  <a:srgbClr val="0000FF"/>
                </a:solidFill>
                <a:latin typeface="楷体" panose="02010609060101010101" pitchFamily="49" charset="-122"/>
                <a:ea typeface="楷体" panose="02010609060101010101" pitchFamily="49" charset="-122"/>
              </a:rPr>
              <a:t>的活动或任务</a:t>
            </a:r>
            <a:endParaRPr lang="en-US" altLang="zh-CN" b="1" dirty="0">
              <a:solidFill>
                <a:srgbClr val="0000FF"/>
              </a:solidFill>
              <a:latin typeface="楷体" panose="02010609060101010101" pitchFamily="49" charset="-122"/>
              <a:ea typeface="楷体" panose="02010609060101010101" pitchFamily="49" charset="-122"/>
            </a:endParaRPr>
          </a:p>
          <a:p>
            <a:pPr algn="l">
              <a:lnSpc>
                <a:spcPct val="120000"/>
              </a:lnSpc>
              <a:buClr>
                <a:schemeClr val="hlink"/>
              </a:buClr>
            </a:pPr>
            <a:r>
              <a:rPr lang="zh-CN" altLang="en-US" b="1" dirty="0">
                <a:solidFill>
                  <a:schemeClr val="bg2"/>
                </a:solidFill>
                <a:ea typeface="楷体" panose="02010609060101010101" pitchFamily="49" charset="-122"/>
              </a:rPr>
              <a:t>这些小的活动应该是能够保障完成交付产品项目的可实施的</a:t>
            </a:r>
            <a:r>
              <a:rPr lang="zh-CN" altLang="en-US" b="1" dirty="0">
                <a:solidFill>
                  <a:srgbClr val="FF0000"/>
                </a:solidFill>
                <a:latin typeface="楷体" panose="02010609060101010101" pitchFamily="49" charset="-122"/>
                <a:ea typeface="楷体" panose="02010609060101010101" pitchFamily="49" charset="-122"/>
              </a:rPr>
              <a:t>详细任务</a:t>
            </a:r>
            <a:r>
              <a:rPr lang="zh-CN" altLang="en-US" b="1" dirty="0">
                <a:solidFill>
                  <a:schemeClr val="bg2"/>
                </a:solidFill>
                <a:ea typeface="楷体" panose="02010609060101010101" pitchFamily="49" charset="-122"/>
              </a:rPr>
              <a:t>，</a:t>
            </a:r>
            <a:r>
              <a:rPr lang="zh-CN" altLang="en-US" b="1" dirty="0">
                <a:solidFill>
                  <a:schemeClr val="bg1"/>
                </a:solidFill>
                <a:ea typeface="楷体" panose="02010609060101010101" pitchFamily="49" charset="-122"/>
              </a:rPr>
              <a:t>而不是指可交付物</a:t>
            </a:r>
            <a:r>
              <a:rPr lang="zh-CN" altLang="en-US" b="1" dirty="0">
                <a:solidFill>
                  <a:schemeClr val="bg2"/>
                </a:solidFill>
                <a:ea typeface="楷体" panose="02010609060101010101" pitchFamily="49" charset="-122"/>
              </a:rPr>
              <a:t>。</a:t>
            </a:r>
            <a:endParaRPr lang="zh-CN" altLang="en-US" b="1" dirty="0">
              <a:solidFill>
                <a:schemeClr val="bg2"/>
              </a:solidFill>
              <a:ea typeface="楷体" panose="02010609060101010101" pitchFamily="49" charset="-122"/>
            </a:endParaRPr>
          </a:p>
        </p:txBody>
      </p:sp>
      <p:sp>
        <p:nvSpPr>
          <p:cNvPr id="19462"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
        <p:nvSpPr>
          <p:cNvPr id="19463" name="Rectangle 7"/>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5.3.1 进一步分解项目工作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6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0483" name="Text Box 3"/>
          <p:cNvSpPr txBox="1">
            <a:spLocks noChangeArrowheads="1"/>
          </p:cNvSpPr>
          <p:nvPr/>
        </p:nvSpPr>
        <p:spPr bwMode="auto">
          <a:xfrm>
            <a:off x="7740650" y="-28596"/>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P.110</a:t>
            </a:r>
            <a:endParaRPr lang="en-US" altLang="zh-CN" sz="2400" b="1" dirty="0">
              <a:solidFill>
                <a:schemeClr val="bg2"/>
              </a:solidFill>
              <a:ea typeface="楷体" panose="02010609060101010101" pitchFamily="49" charset="-122"/>
            </a:endParaRPr>
          </a:p>
        </p:txBody>
      </p:sp>
      <p:sp>
        <p:nvSpPr>
          <p:cNvPr id="20484"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pic>
        <p:nvPicPr>
          <p:cNvPr id="20485" name="Picture 6" descr="图5-2 某软件项目的WBS、工作包以及活动"/>
          <p:cNvPicPr>
            <a:picLocks noChangeAspect="1" noChangeArrowheads="1"/>
          </p:cNvPicPr>
          <p:nvPr/>
        </p:nvPicPr>
        <p:blipFill>
          <a:blip r:embed="rId1" cstate="print"/>
          <a:srcRect/>
          <a:stretch>
            <a:fillRect/>
          </a:stretch>
        </p:blipFill>
        <p:spPr bwMode="auto">
          <a:xfrm>
            <a:off x="142875" y="1844675"/>
            <a:ext cx="8715405" cy="4370407"/>
          </a:xfrm>
          <a:prstGeom prst="rect">
            <a:avLst/>
          </a:prstGeom>
          <a:noFill/>
          <a:ln w="9525">
            <a:noFill/>
            <a:miter lim="800000"/>
            <a:headEnd/>
            <a:tailEnd/>
          </a:ln>
        </p:spPr>
      </p:pic>
      <p:sp>
        <p:nvSpPr>
          <p:cNvPr id="20486" name="Line 7"/>
          <p:cNvSpPr>
            <a:spLocks noChangeShapeType="1"/>
          </p:cNvSpPr>
          <p:nvPr/>
        </p:nvSpPr>
        <p:spPr bwMode="auto">
          <a:xfrm>
            <a:off x="0" y="4149725"/>
            <a:ext cx="1979613" cy="0"/>
          </a:xfrm>
          <a:prstGeom prst="line">
            <a:avLst/>
          </a:prstGeom>
          <a:noFill/>
          <a:ln w="57150">
            <a:solidFill>
              <a:srgbClr val="FF00FF"/>
            </a:solidFill>
            <a:prstDash val="dashDot"/>
            <a:round/>
          </a:ln>
        </p:spPr>
        <p:txBody>
          <a:bodyPr>
            <a:spAutoFit/>
          </a:bodyPr>
          <a:lstStyle/>
          <a:p>
            <a:endParaRPr lang="zh-CN" altLang="en-US" dirty="0">
              <a:ea typeface="楷体" panose="02010609060101010101" pitchFamily="49" charset="-122"/>
            </a:endParaRPr>
          </a:p>
        </p:txBody>
      </p:sp>
      <p:sp>
        <p:nvSpPr>
          <p:cNvPr id="20487" name="Line 8"/>
          <p:cNvSpPr>
            <a:spLocks noChangeShapeType="1"/>
          </p:cNvSpPr>
          <p:nvPr/>
        </p:nvSpPr>
        <p:spPr bwMode="auto">
          <a:xfrm>
            <a:off x="0" y="2276475"/>
            <a:ext cx="1979613" cy="0"/>
          </a:xfrm>
          <a:prstGeom prst="line">
            <a:avLst/>
          </a:prstGeom>
          <a:noFill/>
          <a:ln w="57150">
            <a:solidFill>
              <a:srgbClr val="FF00FF"/>
            </a:solidFill>
            <a:prstDash val="dashDot"/>
            <a:round/>
          </a:ln>
        </p:spPr>
        <p:txBody>
          <a:bodyPr>
            <a:spAutoFit/>
          </a:bodyPr>
          <a:lstStyle/>
          <a:p>
            <a:endParaRPr lang="zh-CN" altLang="en-US" dirty="0">
              <a:ea typeface="楷体" panose="02010609060101010101" pitchFamily="49" charset="-122"/>
            </a:endParaRPr>
          </a:p>
        </p:txBody>
      </p:sp>
      <p:sp>
        <p:nvSpPr>
          <p:cNvPr id="20488" name="Line 9"/>
          <p:cNvSpPr>
            <a:spLocks noChangeShapeType="1"/>
          </p:cNvSpPr>
          <p:nvPr/>
        </p:nvSpPr>
        <p:spPr bwMode="auto">
          <a:xfrm>
            <a:off x="0" y="3141663"/>
            <a:ext cx="1979613" cy="0"/>
          </a:xfrm>
          <a:prstGeom prst="line">
            <a:avLst/>
          </a:prstGeom>
          <a:noFill/>
          <a:ln w="57150">
            <a:solidFill>
              <a:srgbClr val="FF00FF"/>
            </a:solidFill>
            <a:prstDash val="dashDot"/>
            <a:round/>
          </a:ln>
        </p:spPr>
        <p:txBody>
          <a:bodyPr>
            <a:spAutoFit/>
          </a:bodyPr>
          <a:lstStyle/>
          <a:p>
            <a:endParaRPr lang="zh-CN" altLang="en-US" dirty="0">
              <a:ea typeface="楷体" panose="02010609060101010101" pitchFamily="49" charset="-122"/>
            </a:endParaRPr>
          </a:p>
        </p:txBody>
      </p:sp>
      <p:sp>
        <p:nvSpPr>
          <p:cNvPr id="20489" name="Line 10"/>
          <p:cNvSpPr>
            <a:spLocks noChangeShapeType="1"/>
          </p:cNvSpPr>
          <p:nvPr/>
        </p:nvSpPr>
        <p:spPr bwMode="auto">
          <a:xfrm>
            <a:off x="0" y="5229225"/>
            <a:ext cx="1979613" cy="0"/>
          </a:xfrm>
          <a:prstGeom prst="line">
            <a:avLst/>
          </a:prstGeom>
          <a:noFill/>
          <a:ln w="57150">
            <a:solidFill>
              <a:srgbClr val="FF00FF"/>
            </a:solidFill>
            <a:prstDash val="dashDot"/>
            <a:round/>
          </a:ln>
        </p:spPr>
        <p:txBody>
          <a:bodyPr>
            <a:spAutoFit/>
          </a:bodyPr>
          <a:lstStyle/>
          <a:p>
            <a:endParaRPr lang="zh-CN" altLang="en-US" dirty="0">
              <a:ea typeface="楷体" panose="02010609060101010101" pitchFamily="49" charset="-122"/>
            </a:endParaRPr>
          </a:p>
        </p:txBody>
      </p:sp>
      <p:sp>
        <p:nvSpPr>
          <p:cNvPr id="20490" name="Rectangle 11"/>
          <p:cNvSpPr>
            <a:spLocks noChangeArrowheads="1"/>
          </p:cNvSpPr>
          <p:nvPr/>
        </p:nvSpPr>
        <p:spPr bwMode="auto">
          <a:xfrm>
            <a:off x="2019317" y="6518275"/>
            <a:ext cx="4910137" cy="366713"/>
          </a:xfrm>
          <a:prstGeom prst="rect">
            <a:avLst/>
          </a:prstGeom>
          <a:noFill/>
          <a:ln w="9525" algn="ctr">
            <a:noFill/>
            <a:miter lim="800000"/>
          </a:ln>
        </p:spPr>
        <p:txBody>
          <a:bodyPr anchor="ctr">
            <a:spAutoFit/>
          </a:bodyPr>
          <a:lstStyle/>
          <a:p>
            <a:pPr algn="dist">
              <a:spcBef>
                <a:spcPct val="0"/>
              </a:spcBef>
            </a:pPr>
            <a:r>
              <a:rPr kumimoji="0" lang="zh-CN" altLang="en-US" sz="1800" b="1" dirty="0">
                <a:solidFill>
                  <a:srgbClr val="FF0000"/>
                </a:solidFill>
                <a:ea typeface="楷体" panose="02010609060101010101" pitchFamily="49" charset="-122"/>
              </a:rPr>
              <a:t>图</a:t>
            </a:r>
            <a:r>
              <a:rPr kumimoji="0" lang="en-US" altLang="zh-CN" sz="1800" b="1" dirty="0">
                <a:solidFill>
                  <a:srgbClr val="FF0000"/>
                </a:solidFill>
                <a:ea typeface="楷体" panose="02010609060101010101" pitchFamily="49" charset="-122"/>
              </a:rPr>
              <a:t>5-32 </a:t>
            </a:r>
            <a:r>
              <a:rPr kumimoji="0" lang="zh-CN" altLang="en-US" sz="1800" b="1" dirty="0">
                <a:solidFill>
                  <a:srgbClr val="FF0000"/>
                </a:solidFill>
                <a:ea typeface="楷体" panose="02010609060101010101" pitchFamily="49" charset="-122"/>
              </a:rPr>
              <a:t>软件项目的</a:t>
            </a:r>
            <a:r>
              <a:rPr kumimoji="0" lang="en-US" altLang="zh-CN" sz="1800" b="1" dirty="0">
                <a:solidFill>
                  <a:srgbClr val="FF0000"/>
                </a:solidFill>
                <a:ea typeface="楷体" panose="02010609060101010101" pitchFamily="49" charset="-122"/>
              </a:rPr>
              <a:t>WBS</a:t>
            </a:r>
            <a:r>
              <a:rPr kumimoji="0" lang="zh-CN" altLang="en-US" sz="1800" b="1" dirty="0">
                <a:solidFill>
                  <a:srgbClr val="FF0000"/>
                </a:solidFill>
                <a:ea typeface="楷体" panose="02010609060101010101" pitchFamily="49" charset="-122"/>
              </a:rPr>
              <a:t>、工作包以及活动</a:t>
            </a:r>
            <a:endParaRPr kumimoji="0" lang="zh-CN" altLang="en-US" sz="1800" b="1" dirty="0">
              <a:solidFill>
                <a:srgbClr val="FF0000"/>
              </a:solidFill>
              <a:ea typeface="楷体" panose="02010609060101010101" pitchFamily="49" charset="-122"/>
            </a:endParaRPr>
          </a:p>
        </p:txBody>
      </p:sp>
      <p:sp>
        <p:nvSpPr>
          <p:cNvPr id="20491" name="Rectangle 12"/>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
        <p:nvSpPr>
          <p:cNvPr id="20492" name="Rectangle 13"/>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5.3.1 进一步分解项目工作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0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0483" name="Text Box 3"/>
          <p:cNvSpPr txBox="1">
            <a:spLocks noChangeArrowheads="1"/>
          </p:cNvSpPr>
          <p:nvPr/>
        </p:nvSpPr>
        <p:spPr bwMode="auto">
          <a:xfrm>
            <a:off x="7740650" y="-28596"/>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P.110</a:t>
            </a:r>
            <a:endParaRPr lang="en-US" altLang="zh-CN" sz="2400" b="1" dirty="0">
              <a:solidFill>
                <a:schemeClr val="bg2"/>
              </a:solidFill>
              <a:ea typeface="楷体" panose="02010609060101010101" pitchFamily="49" charset="-122"/>
            </a:endParaRPr>
          </a:p>
        </p:txBody>
      </p:sp>
      <p:sp>
        <p:nvSpPr>
          <p:cNvPr id="20484"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0491" name="Rectangle 12"/>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
        <p:nvSpPr>
          <p:cNvPr id="20492" name="Rectangle 13"/>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5.3.1 </a:t>
            </a:r>
            <a:r>
              <a:rPr kumimoji="0" lang="en-US" altLang="en-US" b="1" dirty="0" err="1">
                <a:solidFill>
                  <a:srgbClr val="FF0000"/>
                </a:solidFill>
                <a:ea typeface="楷体_GB2312" pitchFamily="49" charset="-122"/>
              </a:rPr>
              <a:t>进一步分解项目工作</a:t>
            </a:r>
            <a:r>
              <a:rPr kumimoji="0" lang="en-US" altLang="en-US" b="1" dirty="0">
                <a:solidFill>
                  <a:schemeClr val="hlink"/>
                </a:solidFill>
                <a:ea typeface="楷体_GB2312" pitchFamily="49" charset="-122"/>
              </a:rPr>
              <a:t> </a:t>
            </a:r>
            <a:endParaRPr kumimoji="0" lang="en-US" altLang="en-US" b="1" dirty="0">
              <a:solidFill>
                <a:schemeClr val="hlink"/>
              </a:solidFill>
              <a:ea typeface="楷体_GB2312" pitchFamily="49" charset="-122"/>
            </a:endParaRPr>
          </a:p>
        </p:txBody>
      </p:sp>
      <p:sp>
        <p:nvSpPr>
          <p:cNvPr id="13" name="Text Box 5"/>
          <p:cNvSpPr txBox="1">
            <a:spLocks noChangeArrowheads="1"/>
          </p:cNvSpPr>
          <p:nvPr/>
        </p:nvSpPr>
        <p:spPr bwMode="auto">
          <a:xfrm>
            <a:off x="74643" y="1936988"/>
            <a:ext cx="9069389" cy="4278094"/>
          </a:xfrm>
          <a:prstGeom prst="rect">
            <a:avLst/>
          </a:prstGeom>
          <a:noFill/>
          <a:ln w="9525" algn="ctr">
            <a:noFill/>
            <a:miter lim="800000"/>
          </a:ln>
        </p:spPr>
        <p:txBody>
          <a:bodyPr wrap="square">
            <a:spAutoFit/>
          </a:bodyPr>
          <a:lstStyle/>
          <a:p>
            <a:pPr algn="l">
              <a:spcBef>
                <a:spcPts val="600"/>
              </a:spcBef>
              <a:spcAft>
                <a:spcPts val="600"/>
              </a:spcAft>
            </a:pPr>
            <a:r>
              <a:rPr lang="zh-CN" altLang="en-US" sz="3600" b="1" dirty="0">
                <a:solidFill>
                  <a:schemeClr val="bg2"/>
                </a:solidFill>
                <a:latin typeface="+mn-lt"/>
                <a:ea typeface="楷体" panose="02010609060101010101" pitchFamily="49" charset="-122"/>
              </a:rPr>
              <a:t>在项目实施中，要将</a:t>
            </a:r>
            <a:r>
              <a:rPr lang="zh-CN" altLang="en-US" sz="3600" b="1" dirty="0">
                <a:solidFill>
                  <a:schemeClr val="bg1"/>
                </a:solidFill>
                <a:latin typeface="+mn-lt"/>
                <a:ea typeface="楷体" panose="02010609060101010101" pitchFamily="49" charset="-122"/>
              </a:rPr>
              <a:t>所有活动</a:t>
            </a:r>
            <a:r>
              <a:rPr lang="zh-CN" altLang="en-US" sz="3600" b="1" dirty="0">
                <a:solidFill>
                  <a:schemeClr val="bg2"/>
                </a:solidFill>
                <a:latin typeface="+mn-lt"/>
                <a:ea typeface="楷体" panose="02010609060101010101" pitchFamily="49" charset="-122"/>
              </a:rPr>
              <a:t>列成一个明确的</a:t>
            </a:r>
            <a:r>
              <a:rPr lang="zh-CN" altLang="en-US" sz="3600" b="1" dirty="0">
                <a:solidFill>
                  <a:schemeClr val="bg1"/>
                </a:solidFill>
                <a:latin typeface="+mn-lt"/>
                <a:ea typeface="楷体" panose="02010609060101010101" pitchFamily="49" charset="-122"/>
              </a:rPr>
              <a:t>活动清单</a:t>
            </a:r>
            <a:r>
              <a:rPr lang="zh-CN" altLang="en-US" sz="3600" b="1" dirty="0">
                <a:solidFill>
                  <a:schemeClr val="bg2"/>
                </a:solidFill>
                <a:latin typeface="+mn-lt"/>
                <a:ea typeface="楷体" panose="02010609060101010101" pitchFamily="49" charset="-122"/>
              </a:rPr>
              <a:t>，并且让项目团队的每一个成员清楚有多少工作需要处理。</a:t>
            </a:r>
            <a:endParaRPr lang="zh-CN" altLang="en-US" sz="36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活动清单应该采取</a:t>
            </a:r>
            <a:r>
              <a:rPr lang="zh-CN" altLang="en-US" sz="3600" b="1" dirty="0">
                <a:solidFill>
                  <a:schemeClr val="bg1"/>
                </a:solidFill>
                <a:latin typeface="+mn-lt"/>
                <a:ea typeface="楷体" panose="02010609060101010101" pitchFamily="49" charset="-122"/>
              </a:rPr>
              <a:t>文档形式</a:t>
            </a:r>
            <a:r>
              <a:rPr lang="zh-CN" altLang="en-US" sz="3600" b="1" dirty="0">
                <a:solidFill>
                  <a:schemeClr val="bg2"/>
                </a:solidFill>
                <a:latin typeface="+mn-lt"/>
                <a:ea typeface="楷体" panose="02010609060101010101" pitchFamily="49" charset="-122"/>
              </a:rPr>
              <a:t>，以便于项目其他过程的使用和管理。</a:t>
            </a:r>
            <a:endParaRPr lang="en-US" altLang="zh-CN" sz="3600" b="1" dirty="0">
              <a:solidFill>
                <a:schemeClr val="bg2"/>
              </a:solidFill>
              <a:latin typeface="+mn-lt"/>
              <a:ea typeface="楷体" panose="02010609060101010101" pitchFamily="49" charset="-122"/>
            </a:endParaRPr>
          </a:p>
          <a:p>
            <a:pPr algn="l">
              <a:spcBef>
                <a:spcPts val="600"/>
              </a:spcBef>
              <a:spcAft>
                <a:spcPts val="600"/>
              </a:spcAft>
            </a:pPr>
            <a:r>
              <a:rPr lang="zh-CN" altLang="en-US" sz="3600" b="1" dirty="0">
                <a:solidFill>
                  <a:schemeClr val="bg2"/>
                </a:solidFill>
                <a:latin typeface="+mn-lt"/>
                <a:ea typeface="楷体" panose="02010609060101010101" pitchFamily="49" charset="-122"/>
              </a:rPr>
              <a:t>随着项目活动分解的深入和细化，</a:t>
            </a:r>
            <a:r>
              <a:rPr lang="en-US" sz="3200" b="1" dirty="0">
                <a:solidFill>
                  <a:schemeClr val="bg1"/>
                </a:solidFill>
                <a:latin typeface="+mn-lt"/>
                <a:ea typeface="楷体" panose="02010609060101010101" pitchFamily="49" charset="-122"/>
              </a:rPr>
              <a:t>WBS</a:t>
            </a:r>
            <a:r>
              <a:rPr lang="zh-CN" altLang="en-US" sz="3600" b="1" dirty="0">
                <a:solidFill>
                  <a:schemeClr val="bg1"/>
                </a:solidFill>
                <a:latin typeface="+mn-lt"/>
                <a:ea typeface="楷体" panose="02010609060101010101" pitchFamily="49" charset="-122"/>
              </a:rPr>
              <a:t>可能会需要修改</a:t>
            </a:r>
            <a:r>
              <a:rPr lang="zh-CN" altLang="en-US" sz="3600" b="1" dirty="0">
                <a:solidFill>
                  <a:schemeClr val="bg2"/>
                </a:solidFill>
                <a:latin typeface="+mn-lt"/>
                <a:ea typeface="楷体" panose="02010609060101010101" pitchFamily="49" charset="-122"/>
              </a:rPr>
              <a:t>，这也会影响项目的其他部分。</a:t>
            </a:r>
            <a:endParaRPr lang="zh-CN" altLang="en-US" sz="3600" b="1" dirty="0">
              <a:solidFill>
                <a:schemeClr val="bg2"/>
              </a:solidFill>
              <a:latin typeface="+mn-lt"/>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6072206"/>
            <a:ext cx="9144000" cy="523220"/>
          </a:xfrm>
          <a:prstGeom prst="rect">
            <a:avLst/>
          </a:prstGeom>
          <a:solidFill>
            <a:schemeClr val="tx1"/>
          </a:solidFill>
        </p:spPr>
        <p:txBody>
          <a:bodyPr wrap="square" rtlCol="0">
            <a:spAutoFit/>
          </a:bodyPr>
          <a:lstStyle/>
          <a:p>
            <a:endParaRPr lang="zh-CN" altLang="en-US" dirty="0">
              <a:ea typeface="楷体" panose="02010609060101010101" pitchFamily="49" charset="-122"/>
            </a:endParaRPr>
          </a:p>
        </p:txBody>
      </p:sp>
      <p:sp>
        <p:nvSpPr>
          <p:cNvPr id="2150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1507" name="Text Box 3"/>
          <p:cNvSpPr txBox="1">
            <a:spLocks noChangeArrowheads="1"/>
          </p:cNvSpPr>
          <p:nvPr/>
        </p:nvSpPr>
        <p:spPr bwMode="auto">
          <a:xfrm>
            <a:off x="7740650" y="-24"/>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P.1106</a:t>
            </a:r>
            <a:endParaRPr lang="en-US" altLang="zh-CN" sz="2400" b="1" dirty="0">
              <a:solidFill>
                <a:schemeClr val="bg2"/>
              </a:solidFill>
              <a:ea typeface="楷体" panose="02010609060101010101" pitchFamily="49" charset="-122"/>
            </a:endParaRPr>
          </a:p>
        </p:txBody>
      </p:sp>
      <p:sp>
        <p:nvSpPr>
          <p:cNvPr id="2150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1509" name="Text Box 5"/>
          <p:cNvSpPr txBox="1">
            <a:spLocks noChangeArrowheads="1"/>
          </p:cNvSpPr>
          <p:nvPr/>
        </p:nvSpPr>
        <p:spPr bwMode="auto">
          <a:xfrm>
            <a:off x="71406" y="1643050"/>
            <a:ext cx="8963025" cy="5074920"/>
          </a:xfrm>
          <a:prstGeom prst="rect">
            <a:avLst/>
          </a:prstGeom>
          <a:noFill/>
          <a:ln w="9525" algn="ctr">
            <a:noFill/>
            <a:miter lim="800000"/>
          </a:ln>
        </p:spPr>
        <p:txBody>
          <a:bodyPr wrap="square">
            <a:spAutoFit/>
          </a:bodyPr>
          <a:lstStyle/>
          <a:p>
            <a:pPr algn="l">
              <a:spcBef>
                <a:spcPct val="15000"/>
              </a:spcBef>
              <a:buClr>
                <a:schemeClr val="hlink"/>
              </a:buClr>
            </a:pPr>
            <a:r>
              <a:rPr kumimoji="0" lang="zh-CN" altLang="en-US" sz="2400" b="1" dirty="0">
                <a:solidFill>
                  <a:schemeClr val="bg2"/>
                </a:solidFill>
                <a:latin typeface="楷体" panose="02010609060101010101" pitchFamily="49" charset="-122"/>
                <a:ea typeface="楷体" panose="02010609060101010101" pitchFamily="49" charset="-122"/>
              </a:rPr>
              <a:t>要在</a:t>
            </a:r>
            <a:r>
              <a:rPr kumimoji="0" lang="en-US" altLang="zh-CN" sz="2400" b="1" dirty="0">
                <a:solidFill>
                  <a:schemeClr val="bg2"/>
                </a:solidFill>
                <a:ea typeface="楷体" panose="02010609060101010101" pitchFamily="49" charset="-122"/>
                <a:cs typeface="Times New Roman" panose="02020603050405020304" pitchFamily="18" charset="0"/>
              </a:rPr>
              <a:t>WBS</a:t>
            </a:r>
            <a:r>
              <a:rPr kumimoji="0" lang="zh-CN" altLang="en-US" sz="2400" b="1" dirty="0">
                <a:solidFill>
                  <a:schemeClr val="bg2"/>
                </a:solidFill>
                <a:latin typeface="楷体" panose="02010609060101010101" pitchFamily="49" charset="-122"/>
                <a:ea typeface="楷体" panose="02010609060101010101" pitchFamily="49" charset="-122"/>
              </a:rPr>
              <a:t>中很好地识别出项目的活动，需要清楚项目活动的特征：</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对于需要执行的活动，应以动词或形容词加名词方式描述。</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如果一个资源分配给一项活动，应该由一个人管理交付输出。</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每一项活动要定义好一个开始点。</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一项活动存在一个有形的输出或完成的产品。</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活动在逻辑上应与</a:t>
            </a:r>
            <a:r>
              <a:rPr kumimoji="0" lang="en-US" altLang="zh-CN" sz="2400" b="1" dirty="0">
                <a:solidFill>
                  <a:schemeClr val="bg2"/>
                </a:solidFill>
                <a:ea typeface="楷体" panose="02010609060101010101" pitchFamily="49" charset="-122"/>
                <a:cs typeface="Times New Roman" panose="02020603050405020304" pitchFamily="18" charset="0"/>
              </a:rPr>
              <a:t>WBS</a:t>
            </a:r>
            <a:r>
              <a:rPr kumimoji="0" lang="zh-CN" altLang="en-US" sz="2400" b="1" dirty="0">
                <a:solidFill>
                  <a:schemeClr val="bg2"/>
                </a:solidFill>
                <a:latin typeface="楷体" panose="02010609060101010101" pitchFamily="49" charset="-122"/>
                <a:ea typeface="楷体" panose="02010609060101010101" pitchFamily="49" charset="-122"/>
              </a:rPr>
              <a:t>元素相符。</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对于每一项活动要有充足的控制量和时间。</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开始和结束点要充分定义，并能汇报活动的开始和完成时间。</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从活动或包含活动的工作包中能够计算出实际成本。</a:t>
            </a:r>
            <a:endParaRPr kumimoji="0" lang="zh-CN" altLang="en-US"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活动反映了除细微或偶发的活动外的项目目标的重要工作。</a:t>
            </a:r>
            <a:endParaRPr kumimoji="0" lang="en-US" altLang="zh-CN" sz="2400" b="1" dirty="0">
              <a:solidFill>
                <a:schemeClr val="bg2"/>
              </a:solidFill>
              <a:latin typeface="楷体" panose="02010609060101010101" pitchFamily="49" charset="-122"/>
              <a:ea typeface="楷体" panose="02010609060101010101" pitchFamily="49" charset="-122"/>
            </a:endParaRPr>
          </a:p>
          <a:p>
            <a:pPr lvl="1" algn="l">
              <a:spcBef>
                <a:spcPct val="15000"/>
              </a:spcBef>
              <a:buClr>
                <a:schemeClr val="bg1"/>
              </a:buClr>
              <a:buFontTx/>
              <a:buAutoNum type="circleNumDbPlain"/>
            </a:pPr>
            <a:r>
              <a:rPr kumimoji="0" lang="zh-CN" altLang="en-US" sz="2400" b="1" dirty="0">
                <a:solidFill>
                  <a:schemeClr val="bg2"/>
                </a:solidFill>
                <a:latin typeface="楷体" panose="02010609060101010101" pitchFamily="49" charset="-122"/>
                <a:ea typeface="楷体" panose="02010609060101010101" pitchFamily="49" charset="-122"/>
              </a:rPr>
              <a:t>零持续时间活动是里程碑或事件，代表了另一项活动或一组活动的开始或完成。</a:t>
            </a:r>
            <a:endParaRPr kumimoji="0" lang="zh-CN" altLang="en-US" sz="2400" b="1" dirty="0">
              <a:solidFill>
                <a:schemeClr val="bg2"/>
              </a:solidFill>
              <a:latin typeface="楷体" panose="02010609060101010101" pitchFamily="49" charset="-122"/>
              <a:ea typeface="楷体" panose="02010609060101010101" pitchFamily="49" charset="-122"/>
            </a:endParaRPr>
          </a:p>
        </p:txBody>
      </p:sp>
      <p:sp>
        <p:nvSpPr>
          <p:cNvPr id="21510"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
        <p:nvSpPr>
          <p:cNvPr id="21511" name="Rectangle 7"/>
          <p:cNvSpPr>
            <a:spLocks noChangeArrowheads="1"/>
          </p:cNvSpPr>
          <p:nvPr/>
        </p:nvSpPr>
        <p:spPr bwMode="auto">
          <a:xfrm>
            <a:off x="323850" y="1254125"/>
            <a:ext cx="36633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5.3.2  </a:t>
            </a:r>
            <a:r>
              <a:rPr kumimoji="0" lang="en-US" altLang="en-US" b="1">
                <a:solidFill>
                  <a:srgbClr val="FF0000"/>
                </a:solidFill>
                <a:latin typeface="楷体" panose="02010609060101010101" pitchFamily="49" charset="-122"/>
                <a:ea typeface="楷体" panose="02010609060101010101" pitchFamily="49" charset="-122"/>
              </a:rPr>
              <a:t>项目活动</a:t>
            </a:r>
            <a:r>
              <a:rPr kumimoji="0" lang="zh-CN" altLang="en-US" b="1">
                <a:solidFill>
                  <a:srgbClr val="FF0000"/>
                </a:solidFill>
                <a:latin typeface="楷体" panose="02010609060101010101" pitchFamily="49" charset="-122"/>
                <a:ea typeface="楷体" panose="02010609060101010101" pitchFamily="49" charset="-122"/>
              </a:rPr>
              <a:t>的</a:t>
            </a:r>
            <a:r>
              <a:rPr kumimoji="0" lang="en-US" altLang="en-US" b="1">
                <a:solidFill>
                  <a:srgbClr val="FF0000"/>
                </a:solidFill>
                <a:latin typeface="楷体" panose="02010609060101010101" pitchFamily="49" charset="-122"/>
                <a:ea typeface="楷体" panose="02010609060101010101" pitchFamily="49" charset="-122"/>
              </a:rPr>
              <a:t>特征</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0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0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0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50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50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253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P.111</a:t>
            </a:r>
            <a:endParaRPr lang="en-US" altLang="zh-CN" sz="2400" b="1" dirty="0">
              <a:solidFill>
                <a:schemeClr val="bg2"/>
              </a:solidFill>
              <a:ea typeface="楷体" panose="02010609060101010101" pitchFamily="49" charset="-122"/>
            </a:endParaRPr>
          </a:p>
        </p:txBody>
      </p:sp>
      <p:sp>
        <p:nvSpPr>
          <p:cNvPr id="22532"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1068037" name="Text Box 5"/>
          <p:cNvSpPr txBox="1">
            <a:spLocks noChangeArrowheads="1"/>
          </p:cNvSpPr>
          <p:nvPr/>
        </p:nvSpPr>
        <p:spPr bwMode="auto">
          <a:xfrm>
            <a:off x="1109668" y="2071678"/>
            <a:ext cx="4248150" cy="4092575"/>
          </a:xfrm>
          <a:prstGeom prst="rect">
            <a:avLst/>
          </a:prstGeom>
          <a:noFill/>
          <a:ln w="9525" algn="ctr">
            <a:noFill/>
            <a:miter lim="800000"/>
          </a:ln>
        </p:spPr>
        <p:txBody>
          <a:bodyPr>
            <a:spAutoFit/>
          </a:bodyPr>
          <a:lstStyle/>
          <a:p>
            <a:pPr marL="922655" lvl="1" indent="-742950" algn="l">
              <a:spcBef>
                <a:spcPts val="600"/>
              </a:spcBef>
              <a:spcAft>
                <a:spcPts val="1200"/>
              </a:spcAft>
              <a:buClr>
                <a:srgbClr val="000000"/>
              </a:buClr>
              <a:buFont typeface="Wingdings" panose="05000000000000000000" charset="0"/>
              <a:buChar char="p"/>
            </a:pPr>
            <a:r>
              <a:rPr kumimoji="0" lang="zh-CN" altLang="en-US" sz="4000" b="1" dirty="0">
                <a:solidFill>
                  <a:schemeClr val="bg1"/>
                </a:solidFill>
                <a:latin typeface="楷体" panose="02010609060101010101" pitchFamily="49" charset="-122"/>
                <a:ea typeface="楷体" panose="02010609060101010101" pitchFamily="49" charset="-122"/>
              </a:rPr>
              <a:t>项目活动清单</a:t>
            </a:r>
            <a:endParaRPr kumimoji="0" lang="zh-CN" altLang="en-US" sz="4000" b="1" dirty="0">
              <a:solidFill>
                <a:schemeClr val="bg1"/>
              </a:solidFill>
              <a:latin typeface="楷体" panose="02010609060101010101" pitchFamily="49" charset="-122"/>
              <a:ea typeface="楷体" panose="02010609060101010101" pitchFamily="49" charset="-122"/>
            </a:endParaRPr>
          </a:p>
          <a:p>
            <a:pPr marL="922655" lvl="1" indent="-742950" algn="l">
              <a:spcBef>
                <a:spcPts val="600"/>
              </a:spcBef>
              <a:spcAft>
                <a:spcPts val="1200"/>
              </a:spcAft>
              <a:buClr>
                <a:srgbClr val="000000"/>
              </a:buClr>
              <a:buFont typeface="Wingdings" panose="05000000000000000000" charset="0"/>
              <a:buChar char="p"/>
            </a:pPr>
            <a:r>
              <a:rPr kumimoji="0" lang="zh-CN" altLang="en-US" sz="4000" b="1" dirty="0">
                <a:solidFill>
                  <a:schemeClr val="bg1"/>
                </a:solidFill>
                <a:latin typeface="楷体" panose="02010609060101010101" pitchFamily="49" charset="-122"/>
                <a:ea typeface="楷体" panose="02010609060101010101" pitchFamily="49" charset="-122"/>
              </a:rPr>
              <a:t>相关支持信息</a:t>
            </a:r>
            <a:endParaRPr kumimoji="0" lang="zh-CN" altLang="en-US" sz="4000" b="1" dirty="0">
              <a:solidFill>
                <a:schemeClr val="bg1"/>
              </a:solidFill>
              <a:latin typeface="楷体" panose="02010609060101010101" pitchFamily="49" charset="-122"/>
              <a:ea typeface="楷体" panose="02010609060101010101" pitchFamily="49" charset="-122"/>
            </a:endParaRPr>
          </a:p>
          <a:p>
            <a:pPr marL="922655" lvl="1" indent="-742950" algn="l">
              <a:spcBef>
                <a:spcPts val="600"/>
              </a:spcBef>
              <a:spcAft>
                <a:spcPts val="1200"/>
              </a:spcAft>
              <a:buClr>
                <a:srgbClr val="000000"/>
              </a:buClr>
              <a:buFont typeface="Wingdings" panose="05000000000000000000" charset="0"/>
              <a:buChar char="p"/>
            </a:pPr>
            <a:r>
              <a:rPr kumimoji="0" lang="zh-CN" altLang="en-US" sz="4000" b="1" dirty="0">
                <a:solidFill>
                  <a:schemeClr val="bg1"/>
                </a:solidFill>
                <a:latin typeface="楷体" panose="02010609060101010101" pitchFamily="49" charset="-122"/>
                <a:ea typeface="楷体" panose="02010609060101010101" pitchFamily="49" charset="-122"/>
              </a:rPr>
              <a:t>活动属性</a:t>
            </a:r>
            <a:endParaRPr kumimoji="0" lang="zh-CN" altLang="en-US" sz="4000" b="1" dirty="0">
              <a:solidFill>
                <a:schemeClr val="bg1"/>
              </a:solidFill>
              <a:latin typeface="楷体" panose="02010609060101010101" pitchFamily="49" charset="-122"/>
              <a:ea typeface="楷体" panose="02010609060101010101" pitchFamily="49" charset="-122"/>
            </a:endParaRPr>
          </a:p>
          <a:p>
            <a:pPr marL="922655" lvl="1" indent="-742950" algn="l">
              <a:spcBef>
                <a:spcPts val="600"/>
              </a:spcBef>
              <a:spcAft>
                <a:spcPts val="1200"/>
              </a:spcAft>
              <a:buClr>
                <a:srgbClr val="000000"/>
              </a:buClr>
              <a:buFont typeface="Wingdings" panose="05000000000000000000" charset="0"/>
              <a:buChar char="p"/>
            </a:pPr>
            <a:r>
              <a:rPr kumimoji="0" lang="zh-CN" altLang="en-US" sz="4000" b="1" dirty="0">
                <a:solidFill>
                  <a:schemeClr val="bg1"/>
                </a:solidFill>
                <a:latin typeface="楷体" panose="02010609060101010101" pitchFamily="49" charset="-122"/>
                <a:ea typeface="楷体" panose="02010609060101010101" pitchFamily="49" charset="-122"/>
              </a:rPr>
              <a:t>更新的</a:t>
            </a:r>
            <a:r>
              <a:rPr kumimoji="0" lang="en-US" altLang="zh-CN" sz="4000" b="1" dirty="0">
                <a:solidFill>
                  <a:schemeClr val="bg1"/>
                </a:solidFill>
                <a:ea typeface="楷体" panose="02010609060101010101" pitchFamily="49" charset="-122"/>
                <a:cs typeface="Times New Roman" panose="02020603050405020304" pitchFamily="18" charset="0"/>
              </a:rPr>
              <a:t>WBS</a:t>
            </a:r>
            <a:endParaRPr kumimoji="0" lang="en-US" altLang="zh-CN" sz="4000" b="1" dirty="0">
              <a:solidFill>
                <a:schemeClr val="bg1"/>
              </a:solidFill>
              <a:latin typeface="楷体" panose="02010609060101010101" pitchFamily="49" charset="-122"/>
              <a:ea typeface="楷体" panose="02010609060101010101" pitchFamily="49" charset="-122"/>
            </a:endParaRPr>
          </a:p>
          <a:p>
            <a:pPr marL="922655" lvl="1" indent="-742950" algn="l">
              <a:spcBef>
                <a:spcPts val="600"/>
              </a:spcBef>
              <a:spcAft>
                <a:spcPts val="1200"/>
              </a:spcAft>
              <a:buClr>
                <a:srgbClr val="000000"/>
              </a:buClr>
              <a:buFont typeface="Wingdings" panose="05000000000000000000" charset="0"/>
              <a:buChar char="p"/>
            </a:pPr>
            <a:r>
              <a:rPr kumimoji="0" lang="zh-CN" altLang="en-US" sz="4000" b="1" dirty="0">
                <a:solidFill>
                  <a:schemeClr val="bg1"/>
                </a:solidFill>
                <a:latin typeface="楷体" panose="02010609060101010101" pitchFamily="49" charset="-122"/>
                <a:ea typeface="楷体" panose="02010609060101010101" pitchFamily="49" charset="-122"/>
              </a:rPr>
              <a:t>里程碑清单</a:t>
            </a:r>
            <a:endParaRPr kumimoji="0" lang="zh-CN" altLang="en-US" sz="4000" b="1" dirty="0">
              <a:solidFill>
                <a:schemeClr val="bg1"/>
              </a:solidFill>
              <a:latin typeface="楷体" panose="02010609060101010101" pitchFamily="49" charset="-122"/>
              <a:ea typeface="楷体" panose="02010609060101010101" pitchFamily="49" charset="-122"/>
            </a:endParaRPr>
          </a:p>
        </p:txBody>
      </p:sp>
      <p:sp>
        <p:nvSpPr>
          <p:cNvPr id="22535" name="Rectangle 7"/>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活动定义</a:t>
            </a:r>
            <a:endParaRPr kumimoji="0" lang="en-US" altLang="en-US" sz="3000" b="1" dirty="0">
              <a:ea typeface="楷体" panose="02010609060101010101" pitchFamily="49" charset="-122"/>
            </a:endParaRPr>
          </a:p>
        </p:txBody>
      </p:sp>
      <p:sp>
        <p:nvSpPr>
          <p:cNvPr id="22536" name="Rectangle 8"/>
          <p:cNvSpPr>
            <a:spLocks noChangeArrowheads="1"/>
          </p:cNvSpPr>
          <p:nvPr/>
        </p:nvSpPr>
        <p:spPr bwMode="auto">
          <a:xfrm>
            <a:off x="323850" y="1341438"/>
            <a:ext cx="4418197"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5.3.3  项目活动定义的结果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680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80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80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80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80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华文新魏" panose="02010800040101010101" pitchFamily="2" charset="-122"/>
                <a:ea typeface="华文新魏" panose="02010800040101010101" pitchFamily="2" charset="-122"/>
              </a:rPr>
              <a:t>提   纲</a:t>
            </a:r>
            <a:endParaRPr lang="en-US" altLang="zh-CN" sz="4800" b="1">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355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P.112</a:t>
            </a:r>
            <a:endParaRPr lang="en-US" altLang="zh-CN" sz="2400" b="1" dirty="0">
              <a:solidFill>
                <a:schemeClr val="bg2"/>
              </a:solidFill>
              <a:ea typeface="楷体" panose="02010609060101010101" pitchFamily="49" charset="-122"/>
            </a:endParaRPr>
          </a:p>
        </p:txBody>
      </p:sp>
      <p:sp>
        <p:nvSpPr>
          <p:cNvPr id="2355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3557" name="Rectangle 5"/>
          <p:cNvSpPr>
            <a:spLocks noChangeArrowheads="1"/>
          </p:cNvSpPr>
          <p:nvPr/>
        </p:nvSpPr>
        <p:spPr bwMode="auto">
          <a:xfrm>
            <a:off x="285720" y="1989138"/>
            <a:ext cx="8572560" cy="3692525"/>
          </a:xfrm>
          <a:prstGeom prst="rect">
            <a:avLst/>
          </a:prstGeom>
          <a:noFill/>
          <a:ln w="9525" algn="ctr">
            <a:noFill/>
            <a:miter lim="800000"/>
          </a:ln>
        </p:spPr>
        <p:txBody>
          <a:bodyPr wrap="square">
            <a:spAutoFit/>
          </a:bodyPr>
          <a:lstStyle/>
          <a:p>
            <a:pPr algn="l">
              <a:spcBef>
                <a:spcPts val="600"/>
              </a:spcBef>
              <a:spcAft>
                <a:spcPts val="600"/>
              </a:spcAft>
              <a:buClr>
                <a:schemeClr val="hlink"/>
              </a:buClr>
            </a:pPr>
            <a:r>
              <a:rPr lang="zh-CN" altLang="en-US" sz="3200" b="1" dirty="0">
                <a:solidFill>
                  <a:schemeClr val="bg2"/>
                </a:solidFill>
                <a:latin typeface="楷体" panose="02010609060101010101" pitchFamily="49" charset="-122"/>
                <a:ea typeface="楷体" panose="02010609060101010101" pitchFamily="49" charset="-122"/>
              </a:rPr>
              <a:t>项目活动排序：通过识别项目活动清单中各项</a:t>
            </a:r>
            <a:r>
              <a:rPr lang="zh-CN" altLang="en-US" sz="3200" b="1" dirty="0">
                <a:solidFill>
                  <a:schemeClr val="bg1"/>
                </a:solidFill>
                <a:latin typeface="楷体" panose="02010609060101010101" pitchFamily="49" charset="-122"/>
                <a:ea typeface="楷体" panose="02010609060101010101" pitchFamily="49" charset="-122"/>
              </a:rPr>
              <a:t>活动的</a:t>
            </a:r>
            <a:r>
              <a:rPr lang="zh-CN" altLang="en-US" sz="3200" b="1" dirty="0">
                <a:solidFill>
                  <a:srgbClr val="0000FF"/>
                </a:solidFill>
                <a:latin typeface="楷体" panose="02010609060101010101" pitchFamily="49" charset="-122"/>
                <a:ea typeface="楷体" panose="02010609060101010101" pitchFamily="49" charset="-122"/>
              </a:rPr>
              <a:t>相互关联</a:t>
            </a:r>
            <a:r>
              <a:rPr lang="zh-CN" altLang="en-US" sz="3200" b="1" dirty="0">
                <a:solidFill>
                  <a:schemeClr val="bg2"/>
                </a:solidFill>
                <a:latin typeface="楷体" panose="02010609060101010101" pitchFamily="49" charset="-122"/>
                <a:ea typeface="楷体" panose="02010609060101010101" pitchFamily="49" charset="-122"/>
              </a:rPr>
              <a:t>和</a:t>
            </a:r>
            <a:r>
              <a:rPr lang="zh-CN" altLang="en-US" sz="3200" b="1" dirty="0">
                <a:solidFill>
                  <a:srgbClr val="0000FF"/>
                </a:solidFill>
                <a:latin typeface="楷体" panose="02010609060101010101" pitchFamily="49" charset="-122"/>
                <a:ea typeface="楷体" panose="02010609060101010101" pitchFamily="49" charset="-122"/>
              </a:rPr>
              <a:t>依赖关系</a:t>
            </a:r>
            <a:r>
              <a:rPr lang="zh-CN" altLang="en-US" sz="3200" b="1" dirty="0">
                <a:solidFill>
                  <a:schemeClr val="bg2"/>
                </a:solidFill>
                <a:latin typeface="楷体" panose="02010609060101010101" pitchFamily="49" charset="-122"/>
                <a:ea typeface="楷体" panose="02010609060101010101" pitchFamily="49" charset="-122"/>
              </a:rPr>
              <a:t>，安排并确定项目各项活动的</a:t>
            </a:r>
            <a:r>
              <a:rPr lang="zh-CN" altLang="en-US" sz="3200" b="1" dirty="0">
                <a:solidFill>
                  <a:srgbClr val="0000FF"/>
                </a:solidFill>
                <a:latin typeface="楷体" panose="02010609060101010101" pitchFamily="49" charset="-122"/>
                <a:ea typeface="楷体" panose="02010609060101010101" pitchFamily="49" charset="-122"/>
              </a:rPr>
              <a:t>先后顺序</a:t>
            </a:r>
            <a:r>
              <a:rPr lang="zh-CN" altLang="en-US" sz="3200" b="1" dirty="0">
                <a:solidFill>
                  <a:schemeClr val="bg2"/>
                </a:solidFill>
                <a:latin typeface="楷体" panose="02010609060101010101" pitchFamily="49" charset="-122"/>
                <a:ea typeface="楷体" panose="02010609060101010101" pitchFamily="49" charset="-122"/>
              </a:rPr>
              <a:t>，并形成文档。</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3200" b="1" dirty="0">
                <a:solidFill>
                  <a:schemeClr val="bg2"/>
                </a:solidFill>
                <a:latin typeface="楷体" panose="02010609060101010101" pitchFamily="49" charset="-122"/>
                <a:ea typeface="楷体" panose="02010609060101010101" pitchFamily="49" charset="-122"/>
              </a:rPr>
              <a:t>要想制定出切实可行的进度计划，必须</a:t>
            </a:r>
            <a:r>
              <a:rPr lang="zh-CN" altLang="en-US" sz="3200" b="1" dirty="0">
                <a:solidFill>
                  <a:srgbClr val="0000FF"/>
                </a:solidFill>
                <a:latin typeface="楷体" panose="02010609060101010101" pitchFamily="49" charset="-122"/>
                <a:ea typeface="楷体" panose="02010609060101010101" pitchFamily="49" charset="-122"/>
              </a:rPr>
              <a:t>准确</a:t>
            </a:r>
            <a:r>
              <a:rPr lang="zh-CN" altLang="en-US" sz="3200" b="1" dirty="0">
                <a:solidFill>
                  <a:schemeClr val="bg2"/>
                </a:solidFill>
                <a:latin typeface="楷体" panose="02010609060101010101" pitchFamily="49" charset="-122"/>
                <a:ea typeface="楷体" panose="02010609060101010101" pitchFamily="49" charset="-122"/>
              </a:rPr>
              <a:t>、</a:t>
            </a:r>
            <a:r>
              <a:rPr lang="zh-CN" altLang="en-US" sz="3200" b="1" dirty="0">
                <a:solidFill>
                  <a:srgbClr val="0000FF"/>
                </a:solidFill>
                <a:latin typeface="楷体" panose="02010609060101010101" pitchFamily="49" charset="-122"/>
                <a:ea typeface="楷体" panose="02010609060101010101" pitchFamily="49" charset="-122"/>
              </a:rPr>
              <a:t>合理</a:t>
            </a:r>
            <a:r>
              <a:rPr lang="zh-CN" altLang="en-US" sz="3200" b="1" dirty="0">
                <a:solidFill>
                  <a:schemeClr val="bg2"/>
                </a:solidFill>
                <a:latin typeface="楷体" panose="02010609060101010101" pitchFamily="49" charset="-122"/>
                <a:ea typeface="楷体" panose="02010609060101010101" pitchFamily="49" charset="-122"/>
              </a:rPr>
              <a:t>地安排并确定项目各项活动的</a:t>
            </a:r>
            <a:r>
              <a:rPr lang="zh-CN" altLang="en-US" sz="3200" b="1" dirty="0">
                <a:solidFill>
                  <a:srgbClr val="0000FF"/>
                </a:solidFill>
                <a:latin typeface="楷体" panose="02010609060101010101" pitchFamily="49" charset="-122"/>
                <a:ea typeface="楷体" panose="02010609060101010101" pitchFamily="49" charset="-122"/>
              </a:rPr>
              <a:t>先后顺序</a:t>
            </a:r>
            <a:r>
              <a:rPr lang="zh-CN" altLang="en-US" sz="3200" b="1" dirty="0">
                <a:solidFill>
                  <a:schemeClr val="bg2"/>
                </a:solidFill>
                <a:latin typeface="楷体" panose="02010609060101010101" pitchFamily="49" charset="-122"/>
                <a:ea typeface="楷体" panose="02010609060101010101" pitchFamily="49" charset="-122"/>
              </a:rPr>
              <a:t>，并依据这些顺序排列所生成的</a:t>
            </a:r>
            <a:r>
              <a:rPr lang="zh-CN" altLang="en-US" sz="3200" b="1" dirty="0">
                <a:solidFill>
                  <a:schemeClr val="bg1"/>
                </a:solidFill>
                <a:latin typeface="楷体" panose="02010609060101010101" pitchFamily="49" charset="-122"/>
                <a:ea typeface="楷体" panose="02010609060101010101" pitchFamily="49" charset="-122"/>
              </a:rPr>
              <a:t>各条</a:t>
            </a:r>
            <a:r>
              <a:rPr lang="zh-CN" altLang="en-US" sz="3200" b="1" dirty="0">
                <a:solidFill>
                  <a:srgbClr val="0000FF"/>
                </a:solidFill>
                <a:latin typeface="楷体" panose="02010609060101010101" pitchFamily="49" charset="-122"/>
                <a:ea typeface="楷体" panose="02010609060101010101" pitchFamily="49" charset="-122"/>
              </a:rPr>
              <a:t>活动路径</a:t>
            </a:r>
            <a:r>
              <a:rPr lang="zh-CN" altLang="en-US" sz="3200" b="1" dirty="0">
                <a:solidFill>
                  <a:schemeClr val="bg2"/>
                </a:solidFill>
                <a:latin typeface="楷体" panose="02010609060101010101" pitchFamily="49" charset="-122"/>
                <a:ea typeface="楷体" panose="02010609060101010101" pitchFamily="49" charset="-122"/>
              </a:rPr>
              <a:t>构成</a:t>
            </a:r>
            <a:r>
              <a:rPr lang="zh-CN" altLang="en-US" sz="3200" b="1" dirty="0">
                <a:solidFill>
                  <a:srgbClr val="0000FF"/>
                </a:solidFill>
                <a:latin typeface="楷体" panose="02010609060101010101" pitchFamily="49" charset="-122"/>
                <a:ea typeface="楷体" panose="02010609060101010101" pitchFamily="49" charset="-122"/>
              </a:rPr>
              <a:t>项目活动网络</a:t>
            </a:r>
            <a:r>
              <a:rPr lang="zh-CN" altLang="en-US" sz="3200" b="1" dirty="0">
                <a:solidFill>
                  <a:schemeClr val="bg2"/>
                </a:solidFill>
                <a:latin typeface="楷体" panose="02010609060101010101" pitchFamily="49" charset="-122"/>
                <a:ea typeface="楷体" panose="02010609060101010101" pitchFamily="49" charset="-122"/>
              </a:rPr>
              <a:t>。</a:t>
            </a:r>
            <a:r>
              <a:rPr lang="zh-CN" altLang="en-US" sz="3200" dirty="0">
                <a:latin typeface="楷体" panose="02010609060101010101" pitchFamily="49" charset="-122"/>
                <a:ea typeface="楷体" panose="02010609060101010101" pitchFamily="49" charset="-122"/>
              </a:rPr>
              <a:t> </a:t>
            </a:r>
            <a:endParaRPr lang="zh-CN" altLang="en-US" sz="3200" dirty="0">
              <a:latin typeface="楷体" panose="02010609060101010101" pitchFamily="49" charset="-122"/>
              <a:ea typeface="楷体" panose="02010609060101010101" pitchFamily="49" charset="-122"/>
            </a:endParaRPr>
          </a:p>
        </p:txBody>
      </p:sp>
      <p:sp>
        <p:nvSpPr>
          <p:cNvPr id="2355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3559" name="Rectangle 7"/>
          <p:cNvSpPr>
            <a:spLocks noChangeArrowheads="1"/>
          </p:cNvSpPr>
          <p:nvPr/>
        </p:nvSpPr>
        <p:spPr bwMode="auto">
          <a:xfrm>
            <a:off x="323850" y="1341438"/>
            <a:ext cx="3696846"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5.4.1  活动排序的依据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45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P.112</a:t>
            </a:r>
            <a:endParaRPr lang="en-US" altLang="zh-CN" sz="2400" b="1" dirty="0">
              <a:solidFill>
                <a:schemeClr val="bg2"/>
              </a:solidFill>
              <a:ea typeface="楷体" panose="02010609060101010101" pitchFamily="49" charset="-122"/>
            </a:endParaRPr>
          </a:p>
        </p:txBody>
      </p:sp>
      <p:sp>
        <p:nvSpPr>
          <p:cNvPr id="24580"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4581" name="Rectangle 5"/>
          <p:cNvSpPr>
            <a:spLocks noChangeArrowheads="1"/>
          </p:cNvSpPr>
          <p:nvPr/>
        </p:nvSpPr>
        <p:spPr bwMode="auto">
          <a:xfrm>
            <a:off x="250825" y="2011815"/>
            <a:ext cx="8642350" cy="3630930"/>
          </a:xfrm>
          <a:prstGeom prst="rect">
            <a:avLst/>
          </a:prstGeom>
          <a:noFill/>
          <a:ln w="9525" algn="ctr">
            <a:noFill/>
            <a:miter lim="800000"/>
          </a:ln>
        </p:spPr>
        <p:txBody>
          <a:bodyPr>
            <a:spAutoFit/>
          </a:bodyPr>
          <a:lstStyle/>
          <a:p>
            <a:pPr marL="1200150" lvl="1" indent="-742950" algn="l">
              <a:spcBef>
                <a:spcPts val="600"/>
              </a:spcBef>
              <a:spcAft>
                <a:spcPts val="600"/>
              </a:spcAft>
              <a:buClr>
                <a:srgbClr val="0000FF"/>
              </a:buClr>
              <a:buFont typeface="+mj-ea"/>
              <a:buAutoNum type="circleNumDbPlain"/>
            </a:pPr>
            <a:r>
              <a:rPr kumimoji="0" lang="zh-CN" altLang="en-US" sz="4000" b="1" dirty="0">
                <a:solidFill>
                  <a:srgbClr val="0000FF"/>
                </a:solidFill>
                <a:latin typeface="楷体" panose="02010609060101010101" pitchFamily="49" charset="-122"/>
                <a:ea typeface="楷体" panose="02010609060101010101" pitchFamily="49" charset="-122"/>
              </a:rPr>
              <a:t>项目活动清单及相关支持信息</a:t>
            </a:r>
            <a:endParaRPr kumimoji="0" lang="zh-CN" altLang="en-US" sz="4000" b="1" dirty="0">
              <a:solidFill>
                <a:srgbClr val="0000FF"/>
              </a:solidFill>
              <a:latin typeface="楷体" panose="02010609060101010101" pitchFamily="49" charset="-122"/>
              <a:ea typeface="楷体" panose="02010609060101010101" pitchFamily="49" charset="-122"/>
            </a:endParaRPr>
          </a:p>
          <a:p>
            <a:pPr marL="1200150" lvl="1" indent="-742950" algn="l">
              <a:spcBef>
                <a:spcPts val="600"/>
              </a:spcBef>
              <a:spcAft>
                <a:spcPts val="600"/>
              </a:spcAft>
              <a:buClr>
                <a:srgbClr val="0000FF"/>
              </a:buClr>
              <a:buFont typeface="+mj-ea"/>
              <a:buAutoNum type="circleNumDbPlain"/>
            </a:pPr>
            <a:r>
              <a:rPr kumimoji="0" lang="zh-CN" altLang="en-US" sz="4000" b="1" dirty="0">
                <a:solidFill>
                  <a:srgbClr val="0000FF"/>
                </a:solidFill>
                <a:latin typeface="楷体" panose="02010609060101010101" pitchFamily="49" charset="-122"/>
                <a:ea typeface="楷体" panose="02010609060101010101" pitchFamily="49" charset="-122"/>
              </a:rPr>
              <a:t>项目范围说明书</a:t>
            </a:r>
            <a:endParaRPr kumimoji="0" lang="zh-CN" altLang="en-US" sz="4000" b="1" dirty="0">
              <a:solidFill>
                <a:srgbClr val="0000FF"/>
              </a:solidFill>
              <a:latin typeface="楷体" panose="02010609060101010101" pitchFamily="49" charset="-122"/>
              <a:ea typeface="楷体" panose="02010609060101010101" pitchFamily="49" charset="-122"/>
            </a:endParaRPr>
          </a:p>
          <a:p>
            <a:pPr marL="1200150" lvl="1" indent="-742950" algn="l">
              <a:spcBef>
                <a:spcPts val="600"/>
              </a:spcBef>
              <a:spcAft>
                <a:spcPts val="600"/>
              </a:spcAft>
              <a:buClr>
                <a:srgbClr val="0000FF"/>
              </a:buClr>
              <a:buFont typeface="+mj-ea"/>
              <a:buAutoNum type="circleNumDbPlain"/>
            </a:pPr>
            <a:r>
              <a:rPr kumimoji="0" lang="zh-CN" altLang="en-US" sz="4000" b="1" dirty="0">
                <a:solidFill>
                  <a:srgbClr val="0000FF"/>
                </a:solidFill>
                <a:latin typeface="楷体" panose="02010609060101010101" pitchFamily="49" charset="-122"/>
                <a:ea typeface="楷体" panose="02010609060101010101" pitchFamily="49" charset="-122"/>
              </a:rPr>
              <a:t>里程碑清单</a:t>
            </a:r>
            <a:endParaRPr kumimoji="0" lang="zh-CN" altLang="en-US" sz="4000" b="1" dirty="0">
              <a:solidFill>
                <a:srgbClr val="0000FF"/>
              </a:solidFill>
              <a:latin typeface="楷体" panose="02010609060101010101" pitchFamily="49" charset="-122"/>
              <a:ea typeface="楷体" panose="02010609060101010101" pitchFamily="49" charset="-122"/>
            </a:endParaRPr>
          </a:p>
          <a:p>
            <a:pPr marL="1200150" lvl="1" indent="-742950" algn="l">
              <a:spcBef>
                <a:spcPts val="600"/>
              </a:spcBef>
              <a:spcAft>
                <a:spcPts val="600"/>
              </a:spcAft>
              <a:buClr>
                <a:srgbClr val="0000FF"/>
              </a:buClr>
              <a:buFont typeface="+mj-ea"/>
              <a:buAutoNum type="circleNumDbPlain"/>
            </a:pPr>
            <a:r>
              <a:rPr kumimoji="0" lang="zh-CN" altLang="en-US" sz="4000" b="1" dirty="0">
                <a:solidFill>
                  <a:srgbClr val="0000FF"/>
                </a:solidFill>
                <a:latin typeface="楷体" panose="02010609060101010101" pitchFamily="49" charset="-122"/>
                <a:ea typeface="楷体" panose="02010609060101010101" pitchFamily="49" charset="-122"/>
              </a:rPr>
              <a:t>排序应确定的各种关系、限制和假设</a:t>
            </a:r>
            <a:endParaRPr kumimoji="0" lang="zh-CN" altLang="en-US" sz="4000" b="1" dirty="0">
              <a:solidFill>
                <a:srgbClr val="0000FF"/>
              </a:solidFill>
              <a:latin typeface="楷体" panose="02010609060101010101" pitchFamily="49" charset="-122"/>
              <a:ea typeface="楷体" panose="02010609060101010101" pitchFamily="49" charset="-122"/>
            </a:endParaRPr>
          </a:p>
        </p:txBody>
      </p:sp>
      <p:sp>
        <p:nvSpPr>
          <p:cNvPr id="24582"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4583" name="Rectangle 7"/>
          <p:cNvSpPr>
            <a:spLocks noChangeArrowheads="1"/>
          </p:cNvSpPr>
          <p:nvPr/>
        </p:nvSpPr>
        <p:spPr bwMode="auto">
          <a:xfrm>
            <a:off x="323850" y="1341438"/>
            <a:ext cx="3696846"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5.4.1  活动排序的依据 </a:t>
            </a:r>
            <a:endParaRPr kumimoji="0" lang="en-US" altLang="en-US" b="1">
              <a:solidFill>
                <a:schemeClr val="hlink"/>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560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P.113</a:t>
            </a:r>
            <a:endParaRPr lang="en-US" altLang="zh-CN" sz="2400" b="1" dirty="0">
              <a:solidFill>
                <a:schemeClr val="bg2"/>
              </a:solidFill>
              <a:ea typeface="楷体" panose="02010609060101010101" pitchFamily="49" charset="-122"/>
            </a:endParaRPr>
          </a:p>
        </p:txBody>
      </p:sp>
      <p:sp>
        <p:nvSpPr>
          <p:cNvPr id="25604"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5605" name="Rectangle 5"/>
          <p:cNvSpPr>
            <a:spLocks noChangeArrowheads="1"/>
          </p:cNvSpPr>
          <p:nvPr/>
        </p:nvSpPr>
        <p:spPr bwMode="auto">
          <a:xfrm>
            <a:off x="142876" y="3357562"/>
            <a:ext cx="8929718" cy="2760980"/>
          </a:xfrm>
          <a:prstGeom prst="rect">
            <a:avLst/>
          </a:prstGeom>
          <a:noFill/>
          <a:ln w="9525" algn="ctr">
            <a:noFill/>
            <a:miter lim="800000"/>
          </a:ln>
        </p:spPr>
        <p:txBody>
          <a:bodyPr wrap="square">
            <a:spAutoFit/>
          </a:bodyPr>
          <a:lstStyle/>
          <a:p>
            <a:pPr algn="l">
              <a:spcBef>
                <a:spcPct val="30000"/>
              </a:spcBef>
              <a:buClr>
                <a:schemeClr val="hlink"/>
              </a:buClr>
            </a:pPr>
            <a:r>
              <a:rPr kumimoji="0" lang="zh-CN" altLang="en-US" b="1" dirty="0">
                <a:solidFill>
                  <a:schemeClr val="bg2"/>
                </a:solidFill>
                <a:ea typeface="楷体" panose="02010609060101010101" pitchFamily="49" charset="-122"/>
              </a:rPr>
              <a:t> 前导图法是一种用</a:t>
            </a:r>
            <a:r>
              <a:rPr kumimoji="0" lang="zh-CN" altLang="en-US" b="1" dirty="0">
                <a:solidFill>
                  <a:schemeClr val="bg1"/>
                </a:solidFill>
                <a:ea typeface="楷体" panose="02010609060101010101" pitchFamily="49" charset="-122"/>
              </a:rPr>
              <a:t>节点表示活动</a:t>
            </a:r>
            <a:r>
              <a:rPr kumimoji="0" lang="zh-CN" altLang="en-US" b="1" dirty="0">
                <a:solidFill>
                  <a:schemeClr val="bg2"/>
                </a:solidFill>
                <a:ea typeface="楷体" panose="02010609060101010101" pitchFamily="49" charset="-122"/>
              </a:rPr>
              <a:t>、</a:t>
            </a:r>
            <a:r>
              <a:rPr kumimoji="0" lang="zh-CN" altLang="en-US" b="1" dirty="0">
                <a:solidFill>
                  <a:schemeClr val="bg1"/>
                </a:solidFill>
                <a:ea typeface="楷体" panose="02010609060101010101" pitchFamily="49" charset="-122"/>
              </a:rPr>
              <a:t>箭线表示活动关系</a:t>
            </a:r>
            <a:r>
              <a:rPr kumimoji="0" lang="zh-CN" altLang="en-US" b="1" dirty="0">
                <a:solidFill>
                  <a:schemeClr val="bg2"/>
                </a:solidFill>
                <a:ea typeface="楷体" panose="02010609060101010101" pitchFamily="49" charset="-122"/>
              </a:rPr>
              <a:t>的项目网络图，是大多数项目管理软件包所使用的方法。</a:t>
            </a:r>
            <a:endParaRPr kumimoji="0" lang="zh-CN" altLang="en-US" b="1" dirty="0">
              <a:solidFill>
                <a:schemeClr val="bg2"/>
              </a:solidFill>
              <a:ea typeface="楷体" panose="02010609060101010101" pitchFamily="49" charset="-122"/>
            </a:endParaRPr>
          </a:p>
          <a:p>
            <a:pPr marL="914400" lvl="1" indent="-457200" algn="l">
              <a:spcBef>
                <a:spcPct val="30000"/>
              </a:spcBef>
              <a:buClr>
                <a:schemeClr val="hlink"/>
              </a:buClr>
              <a:buFont typeface="Wingdings" panose="05000000000000000000" charset="0"/>
              <a:buChar char="ü"/>
            </a:pPr>
            <a:r>
              <a:rPr kumimoji="0" lang="zh-CN" altLang="en-US" sz="2400" b="1" dirty="0">
                <a:solidFill>
                  <a:schemeClr val="bg2"/>
                </a:solidFill>
                <a:ea typeface="楷体" panose="02010609060101010101" pitchFamily="49" charset="-122"/>
              </a:rPr>
              <a:t>每项活动有</a:t>
            </a:r>
            <a:r>
              <a:rPr kumimoji="0" lang="zh-CN" altLang="en-US" sz="2400" b="1" dirty="0">
                <a:solidFill>
                  <a:schemeClr val="bg1"/>
                </a:solidFill>
                <a:ea typeface="楷体" panose="02010609060101010101" pitchFamily="49" charset="-122"/>
              </a:rPr>
              <a:t>惟一的活动号</a:t>
            </a:r>
            <a:endParaRPr kumimoji="0" lang="zh-CN" altLang="en-US" sz="2400" b="1" dirty="0">
              <a:solidFill>
                <a:schemeClr val="bg2"/>
              </a:solidFill>
              <a:ea typeface="楷体" panose="02010609060101010101" pitchFamily="49" charset="-122"/>
            </a:endParaRPr>
          </a:p>
          <a:p>
            <a:pPr marL="914400" lvl="1" indent="-457200" algn="l">
              <a:spcBef>
                <a:spcPct val="30000"/>
              </a:spcBef>
              <a:buClr>
                <a:schemeClr val="hlink"/>
              </a:buClr>
              <a:buFont typeface="Wingdings" panose="05000000000000000000" charset="0"/>
              <a:buChar char="ü"/>
            </a:pPr>
            <a:r>
              <a:rPr kumimoji="0" lang="zh-CN" altLang="en-US" sz="2400" b="1" dirty="0">
                <a:solidFill>
                  <a:schemeClr val="bg2"/>
                </a:solidFill>
                <a:ea typeface="楷体" panose="02010609060101010101" pitchFamily="49" charset="-122"/>
              </a:rPr>
              <a:t>每项活动都注明了</a:t>
            </a:r>
            <a:r>
              <a:rPr kumimoji="0" lang="zh-CN" altLang="en-US" sz="2400" b="1" dirty="0">
                <a:solidFill>
                  <a:schemeClr val="bg1"/>
                </a:solidFill>
                <a:ea typeface="楷体" panose="02010609060101010101" pitchFamily="49" charset="-122"/>
              </a:rPr>
              <a:t>预计的工期</a:t>
            </a:r>
            <a:endParaRPr kumimoji="0" lang="zh-CN" altLang="en-US" sz="2400" b="1" dirty="0">
              <a:solidFill>
                <a:schemeClr val="bg1"/>
              </a:solidFill>
              <a:ea typeface="楷体" panose="02010609060101010101" pitchFamily="49" charset="-122"/>
            </a:endParaRPr>
          </a:p>
          <a:p>
            <a:pPr marL="914400" lvl="1" indent="-457200" algn="l">
              <a:spcBef>
                <a:spcPct val="30000"/>
              </a:spcBef>
              <a:buClr>
                <a:schemeClr val="hlink"/>
              </a:buClr>
              <a:buFont typeface="Wingdings" panose="05000000000000000000" charset="0"/>
              <a:buChar char="ü"/>
            </a:pPr>
            <a:r>
              <a:rPr kumimoji="0" lang="zh-CN" altLang="en-US" sz="2400" b="1" dirty="0">
                <a:solidFill>
                  <a:schemeClr val="bg2"/>
                </a:solidFill>
                <a:ea typeface="楷体" panose="02010609060101010101" pitchFamily="49" charset="-122"/>
              </a:rPr>
              <a:t>每个节点的活动会有如下几个时间：</a:t>
            </a:r>
            <a:r>
              <a:rPr kumimoji="0" lang="zh-CN" altLang="en-US" sz="2400" b="1" dirty="0">
                <a:solidFill>
                  <a:schemeClr val="bg1"/>
                </a:solidFill>
                <a:ea typeface="楷体" panose="02010609060101010101" pitchFamily="49" charset="-122"/>
              </a:rPr>
              <a:t>最早开始时间、最迟开始时间、最早结束时间和最迟结束时间</a:t>
            </a:r>
            <a:r>
              <a:rPr kumimoji="0" lang="zh-CN" altLang="en-US" sz="2400" b="1" dirty="0">
                <a:solidFill>
                  <a:schemeClr val="bg2"/>
                </a:solidFill>
                <a:ea typeface="楷体" panose="02010609060101010101" pitchFamily="49" charset="-122"/>
              </a:rPr>
              <a:t>。</a:t>
            </a:r>
            <a:endParaRPr kumimoji="0" lang="zh-CN" altLang="en-US" sz="2400" b="1" dirty="0">
              <a:solidFill>
                <a:schemeClr val="bg2"/>
              </a:solidFill>
              <a:ea typeface="楷体" panose="02010609060101010101" pitchFamily="49" charset="-122"/>
            </a:endParaRPr>
          </a:p>
        </p:txBody>
      </p:sp>
      <p:sp>
        <p:nvSpPr>
          <p:cNvPr id="25606"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5607" name="Rectangle 9"/>
          <p:cNvSpPr>
            <a:spLocks noChangeArrowheads="1"/>
          </p:cNvSpPr>
          <p:nvPr/>
        </p:nvSpPr>
        <p:spPr bwMode="auto">
          <a:xfrm>
            <a:off x="-32" y="1285860"/>
            <a:ext cx="4658360"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latin typeface="楷体" panose="02010609060101010101" pitchFamily="49" charset="-122"/>
                <a:ea typeface="楷体" panose="02010609060101010101" pitchFamily="49" charset="-122"/>
              </a:rPr>
              <a:t>5.4.2 </a:t>
            </a:r>
            <a:r>
              <a:rPr kumimoji="0" lang="en-US" altLang="en-US" b="1" dirty="0" err="1">
                <a:solidFill>
                  <a:srgbClr val="FF0000"/>
                </a:solidFill>
                <a:latin typeface="楷体" panose="02010609060101010101" pitchFamily="49" charset="-122"/>
                <a:ea typeface="楷体" panose="02010609060101010101" pitchFamily="49" charset="-122"/>
              </a:rPr>
              <a:t>前导图法与箭线图法</a:t>
            </a:r>
            <a:r>
              <a:rPr kumimoji="0" lang="en-US" altLang="en-US" b="1" dirty="0">
                <a:solidFill>
                  <a:srgbClr val="FF0000"/>
                </a:solidFill>
                <a:latin typeface="楷体" panose="02010609060101010101" pitchFamily="49" charset="-122"/>
                <a:ea typeface="楷体" panose="02010609060101010101" pitchFamily="49" charset="-122"/>
              </a:rPr>
              <a:t> </a:t>
            </a:r>
            <a:endParaRPr kumimoji="0" lang="en-US" altLang="en-US" b="1" dirty="0">
              <a:solidFill>
                <a:srgbClr val="FF0000"/>
              </a:solidFill>
              <a:latin typeface="楷体" panose="02010609060101010101" pitchFamily="49" charset="-122"/>
              <a:ea typeface="楷体" panose="02010609060101010101" pitchFamily="49" charset="-122"/>
            </a:endParaRPr>
          </a:p>
        </p:txBody>
      </p:sp>
      <p:sp>
        <p:nvSpPr>
          <p:cNvPr id="25608" name="Text Box 10"/>
          <p:cNvSpPr txBox="1">
            <a:spLocks noChangeArrowheads="1"/>
          </p:cNvSpPr>
          <p:nvPr/>
        </p:nvSpPr>
        <p:spPr bwMode="auto">
          <a:xfrm>
            <a:off x="428596" y="2701924"/>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rgbClr val="0000FF"/>
                </a:solidFill>
                <a:latin typeface="楷体" panose="02010609060101010101" pitchFamily="49" charset="-122"/>
                <a:ea typeface="楷体" panose="02010609060101010101" pitchFamily="49" charset="-122"/>
              </a:rPr>
              <a:t>1）前导图法（</a:t>
            </a:r>
            <a:r>
              <a:rPr kumimoji="0" lang="en-US" altLang="en-US" sz="2400" b="1" dirty="0">
                <a:solidFill>
                  <a:srgbClr val="0000FF"/>
                </a:solidFill>
                <a:ea typeface="楷体" panose="02010609060101010101" pitchFamily="49" charset="-122"/>
                <a:cs typeface="Times New Roman" panose="02020603050405020304" pitchFamily="18" charset="0"/>
              </a:rPr>
              <a:t>PDM</a:t>
            </a:r>
            <a:r>
              <a:rPr kumimoji="0" lang="en-US" altLang="en-US" sz="2400" b="1" dirty="0">
                <a:solidFill>
                  <a:srgbClr val="0000FF"/>
                </a:solidFill>
                <a:latin typeface="楷体" panose="02010609060101010101" pitchFamily="49" charset="-122"/>
                <a:ea typeface="楷体" panose="02010609060101010101" pitchFamily="49" charset="-122"/>
              </a:rPr>
              <a:t>）</a:t>
            </a:r>
            <a:endParaRPr kumimoji="0" lang="en-US" altLang="en-US" sz="2400" b="1" dirty="0">
              <a:solidFill>
                <a:srgbClr val="0000FF"/>
              </a:solidFill>
              <a:latin typeface="楷体" panose="02010609060101010101" pitchFamily="49" charset="-122"/>
              <a:ea typeface="楷体" panose="02010609060101010101" pitchFamily="49" charset="-122"/>
            </a:endParaRPr>
          </a:p>
        </p:txBody>
      </p:sp>
      <p:sp>
        <p:nvSpPr>
          <p:cNvPr id="9" name="Rectangle 5"/>
          <p:cNvSpPr>
            <a:spLocks noChangeArrowheads="1"/>
          </p:cNvSpPr>
          <p:nvPr/>
        </p:nvSpPr>
        <p:spPr bwMode="auto">
          <a:xfrm>
            <a:off x="-32" y="1785926"/>
            <a:ext cx="8786874" cy="954107"/>
          </a:xfrm>
          <a:prstGeom prst="rect">
            <a:avLst/>
          </a:prstGeom>
          <a:noFill/>
          <a:ln w="9525" algn="ctr">
            <a:noFill/>
            <a:miter lim="800000"/>
          </a:ln>
        </p:spPr>
        <p:txBody>
          <a:bodyPr wrap="square">
            <a:spAutoFit/>
          </a:bodyPr>
          <a:lstStyle/>
          <a:p>
            <a:pPr algn="l"/>
            <a:r>
              <a:rPr lang="zh-CN" altLang="en-US" b="1" dirty="0">
                <a:solidFill>
                  <a:schemeClr val="bg2"/>
                </a:solidFill>
                <a:latin typeface="楷体" panose="02010609060101010101" pitchFamily="49" charset="-122"/>
                <a:ea typeface="楷体" panose="02010609060101010101" pitchFamily="49" charset="-122"/>
              </a:rPr>
              <a:t>编排和描述活动顺序关系的方法和工具主要有前导图法和箭线图法。</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7651"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P.113</a:t>
            </a:r>
            <a:endParaRPr lang="en-US" altLang="zh-CN" b="1" dirty="0">
              <a:solidFill>
                <a:schemeClr val="bg2"/>
              </a:solidFill>
              <a:ea typeface="楷体" panose="02010609060101010101" pitchFamily="49" charset="-122"/>
            </a:endParaRPr>
          </a:p>
        </p:txBody>
      </p:sp>
      <p:sp>
        <p:nvSpPr>
          <p:cNvPr id="27652"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7653" name="Rectangle 8"/>
          <p:cNvSpPr>
            <a:spLocks noChangeArrowheads="1"/>
          </p:cNvSpPr>
          <p:nvPr/>
        </p:nvSpPr>
        <p:spPr bwMode="auto">
          <a:xfrm>
            <a:off x="395288" y="2428868"/>
            <a:ext cx="8424862" cy="3862596"/>
          </a:xfrm>
          <a:prstGeom prst="rect">
            <a:avLst/>
          </a:prstGeom>
          <a:noFill/>
          <a:ln w="9525" algn="ctr">
            <a:noFill/>
            <a:miter lim="800000"/>
          </a:ln>
        </p:spPr>
        <p:txBody>
          <a:bodyPr>
            <a:spAutoFit/>
          </a:bodyPr>
          <a:lstStyle/>
          <a:p>
            <a:pPr algn="l">
              <a:buClr>
                <a:schemeClr val="hlink"/>
              </a:buClr>
            </a:pPr>
            <a:r>
              <a:rPr kumimoji="0" lang="zh-CN" altLang="en-US" sz="3200" b="1" dirty="0">
                <a:solidFill>
                  <a:schemeClr val="bg2"/>
                </a:solidFill>
                <a:latin typeface="楷体" panose="02010609060101010101" pitchFamily="49" charset="-122"/>
                <a:ea typeface="楷体" panose="02010609060101010101" pitchFamily="49" charset="-122"/>
              </a:rPr>
              <a:t>绘制前导图时，需要遵守下列规则：</a:t>
            </a:r>
            <a:endParaRPr kumimoji="0" lang="zh-CN" altLang="en-US" sz="32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前导图必须正确表达项目中活动之间的逻辑关系。</a:t>
            </a:r>
            <a:endParaRPr kumimoji="0"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在图中</a:t>
            </a:r>
            <a:r>
              <a:rPr kumimoji="0" lang="zh-CN" altLang="en-US" b="1" dirty="0">
                <a:solidFill>
                  <a:schemeClr val="bg1"/>
                </a:solidFill>
                <a:latin typeface="楷体" panose="02010609060101010101" pitchFamily="49" charset="-122"/>
                <a:ea typeface="楷体" panose="02010609060101010101" pitchFamily="49" charset="-122"/>
              </a:rPr>
              <a:t>不能够出现循环回路</a:t>
            </a:r>
            <a:r>
              <a:rPr kumimoji="0" lang="zh-CN" altLang="en-US" b="1" dirty="0">
                <a:solidFill>
                  <a:schemeClr val="bg2"/>
                </a:solidFill>
                <a:latin typeface="楷体" panose="02010609060101010101" pitchFamily="49" charset="-122"/>
                <a:ea typeface="楷体" panose="02010609060101010101" pitchFamily="49" charset="-122"/>
              </a:rPr>
              <a:t>。</a:t>
            </a:r>
            <a:endParaRPr kumimoji="0"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在图中</a:t>
            </a:r>
            <a:r>
              <a:rPr kumimoji="0" lang="zh-CN" altLang="en-US" b="1" dirty="0">
                <a:solidFill>
                  <a:schemeClr val="bg1"/>
                </a:solidFill>
                <a:latin typeface="楷体" panose="02010609060101010101" pitchFamily="49" charset="-122"/>
                <a:ea typeface="楷体" panose="02010609060101010101" pitchFamily="49" charset="-122"/>
              </a:rPr>
              <a:t>不能出现双向箭头或无箭头的连线</a:t>
            </a:r>
            <a:r>
              <a:rPr kumimoji="0" lang="zh-CN" altLang="en-US" b="1" dirty="0">
                <a:solidFill>
                  <a:schemeClr val="bg2"/>
                </a:solidFill>
                <a:latin typeface="楷体" panose="02010609060101010101" pitchFamily="49" charset="-122"/>
                <a:ea typeface="楷体" panose="02010609060101010101" pitchFamily="49" charset="-122"/>
              </a:rPr>
              <a:t>。</a:t>
            </a:r>
            <a:endParaRPr kumimoji="0"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图中不能出现</a:t>
            </a:r>
            <a:r>
              <a:rPr kumimoji="0" lang="zh-CN" altLang="en-US" b="1" dirty="0">
                <a:solidFill>
                  <a:schemeClr val="bg1"/>
                </a:solidFill>
                <a:latin typeface="楷体" panose="02010609060101010101" pitchFamily="49" charset="-122"/>
                <a:ea typeface="楷体" panose="02010609060101010101" pitchFamily="49" charset="-122"/>
              </a:rPr>
              <a:t>无箭尾节点的箭线或无箭头节点的箭线</a:t>
            </a:r>
            <a:r>
              <a:rPr kumimoji="0" lang="zh-CN" altLang="en-US" b="1" dirty="0">
                <a:solidFill>
                  <a:schemeClr val="bg2"/>
                </a:solidFill>
                <a:latin typeface="楷体" panose="02010609060101010101" pitchFamily="49" charset="-122"/>
                <a:ea typeface="楷体" panose="02010609060101010101" pitchFamily="49" charset="-122"/>
              </a:rPr>
              <a:t>。</a:t>
            </a:r>
            <a:endParaRPr kumimoji="0"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图中</a:t>
            </a:r>
            <a:r>
              <a:rPr kumimoji="0" lang="zh-CN" altLang="en-US" b="1" dirty="0">
                <a:solidFill>
                  <a:schemeClr val="bg1"/>
                </a:solidFill>
                <a:latin typeface="楷体" panose="02010609060101010101" pitchFamily="49" charset="-122"/>
                <a:ea typeface="楷体" panose="02010609060101010101" pitchFamily="49" charset="-122"/>
              </a:rPr>
              <a:t>只能有一个起始节点和一个终止节点</a:t>
            </a:r>
            <a:r>
              <a:rPr kumimoji="0" lang="zh-CN" altLang="en-US" b="1" dirty="0">
                <a:solidFill>
                  <a:schemeClr val="bg2"/>
                </a:solidFill>
                <a:latin typeface="楷体" panose="02010609060101010101" pitchFamily="49" charset="-122"/>
                <a:ea typeface="楷体" panose="02010609060101010101" pitchFamily="49" charset="-122"/>
              </a:rPr>
              <a:t>。</a:t>
            </a:r>
            <a:r>
              <a:rPr kumimoji="0" lang="zh-CN" altLang="en-US" dirty="0">
                <a:solidFill>
                  <a:schemeClr val="bg2"/>
                </a:solidFill>
                <a:latin typeface="楷体" panose="02010609060101010101" pitchFamily="49" charset="-122"/>
                <a:ea typeface="楷体" panose="02010609060101010101" pitchFamily="49" charset="-122"/>
              </a:rPr>
              <a:t> </a:t>
            </a:r>
            <a:endParaRPr kumimoji="0" lang="zh-CN" altLang="en-US" dirty="0">
              <a:solidFill>
                <a:schemeClr val="bg2"/>
              </a:solidFill>
              <a:latin typeface="楷体" panose="02010609060101010101" pitchFamily="49" charset="-122"/>
              <a:ea typeface="楷体" panose="02010609060101010101" pitchFamily="49" charset="-122"/>
            </a:endParaRPr>
          </a:p>
        </p:txBody>
      </p:sp>
      <p:sp>
        <p:nvSpPr>
          <p:cNvPr id="27654" name="Rectangle 11"/>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7655" name="Rectangle 12"/>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a:t>
            </a:r>
            <a:r>
              <a:rPr kumimoji="0" lang="en-US" altLang="en-US" b="1">
                <a:solidFill>
                  <a:srgbClr val="FF0000"/>
                </a:solidFill>
                <a:latin typeface="楷体" panose="02010609060101010101" pitchFamily="49" charset="-122"/>
                <a:ea typeface="楷体" panose="02010609060101010101" pitchFamily="49" charset="-122"/>
              </a:rPr>
              <a:t>前导图法与箭线图法</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
        <p:nvSpPr>
          <p:cNvPr id="27656" name="Text Box 13"/>
          <p:cNvSpPr txBox="1">
            <a:spLocks noChangeArrowheads="1"/>
          </p:cNvSpPr>
          <p:nvPr/>
        </p:nvSpPr>
        <p:spPr bwMode="auto">
          <a:xfrm>
            <a:off x="500034" y="1894611"/>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1）前导图法（</a:t>
            </a:r>
            <a:r>
              <a:rPr kumimoji="0" lang="en-US" altLang="en-US" sz="2400" b="1" dirty="0">
                <a:solidFill>
                  <a:schemeClr val="bg1"/>
                </a:solidFill>
                <a:ea typeface="楷体" panose="02010609060101010101" pitchFamily="49" charset="-122"/>
                <a:cs typeface="Times New Roman" panose="02020603050405020304" pitchFamily="18" charset="0"/>
              </a:rPr>
              <a:t>PDM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5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65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6627"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P.114</a:t>
            </a:r>
            <a:endParaRPr lang="en-US" altLang="zh-CN" b="1" dirty="0">
              <a:solidFill>
                <a:schemeClr val="bg2"/>
              </a:solidFill>
              <a:ea typeface="楷体" panose="02010609060101010101" pitchFamily="49" charset="-122"/>
            </a:endParaRPr>
          </a:p>
        </p:txBody>
      </p:sp>
      <p:sp>
        <p:nvSpPr>
          <p:cNvPr id="2662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pic>
        <p:nvPicPr>
          <p:cNvPr id="26629" name="Picture 7" descr="表5-2 前导图法中活动之间的四种依赖关系"/>
          <p:cNvPicPr>
            <a:picLocks noChangeAspect="1" noChangeArrowheads="1"/>
          </p:cNvPicPr>
          <p:nvPr/>
        </p:nvPicPr>
        <p:blipFill>
          <a:blip r:embed="rId1" cstate="print"/>
          <a:srcRect/>
          <a:stretch>
            <a:fillRect/>
          </a:stretch>
        </p:blipFill>
        <p:spPr bwMode="auto">
          <a:xfrm>
            <a:off x="0" y="2181246"/>
            <a:ext cx="9144000" cy="4176712"/>
          </a:xfrm>
          <a:prstGeom prst="rect">
            <a:avLst/>
          </a:prstGeom>
          <a:noFill/>
          <a:ln w="9525">
            <a:noFill/>
            <a:miter lim="800000"/>
            <a:headEnd/>
            <a:tailEnd/>
          </a:ln>
        </p:spPr>
      </p:pic>
      <p:sp>
        <p:nvSpPr>
          <p:cNvPr id="26630" name="Text Box 8"/>
          <p:cNvSpPr txBox="1">
            <a:spLocks noChangeArrowheads="1"/>
          </p:cNvSpPr>
          <p:nvPr/>
        </p:nvSpPr>
        <p:spPr bwMode="auto">
          <a:xfrm>
            <a:off x="2268538" y="6477000"/>
            <a:ext cx="4679950" cy="366713"/>
          </a:xfrm>
          <a:prstGeom prst="rect">
            <a:avLst/>
          </a:prstGeom>
          <a:noFill/>
          <a:ln w="9525">
            <a:noFill/>
            <a:miter lim="800000"/>
          </a:ln>
        </p:spPr>
        <p:txBody>
          <a:bodyPr>
            <a:spAutoFit/>
          </a:bodyPr>
          <a:lstStyle/>
          <a:p>
            <a:pPr algn="ctr"/>
            <a:r>
              <a:rPr kumimoji="0" lang="zh-CN" altLang="en-US" sz="1800" b="1" dirty="0">
                <a:solidFill>
                  <a:srgbClr val="FF0000"/>
                </a:solidFill>
                <a:ea typeface="楷体" panose="02010609060101010101" pitchFamily="49" charset="-122"/>
              </a:rPr>
              <a:t>表</a:t>
            </a:r>
            <a:r>
              <a:rPr kumimoji="0" lang="en-US" altLang="zh-CN" sz="1800" b="1" dirty="0">
                <a:solidFill>
                  <a:srgbClr val="FF0000"/>
                </a:solidFill>
                <a:ea typeface="楷体" panose="02010609060101010101" pitchFamily="49" charset="-122"/>
              </a:rPr>
              <a:t>5-2 </a:t>
            </a:r>
            <a:r>
              <a:rPr kumimoji="0" lang="zh-CN" altLang="en-US" sz="1800" b="1" dirty="0">
                <a:solidFill>
                  <a:srgbClr val="FF0000"/>
                </a:solidFill>
                <a:ea typeface="楷体" panose="02010609060101010101" pitchFamily="49" charset="-122"/>
              </a:rPr>
              <a:t>前导图法中活动之间的四种依赖关系</a:t>
            </a:r>
            <a:endParaRPr kumimoji="0" lang="zh-CN" altLang="en-US" sz="1800" b="1" dirty="0">
              <a:solidFill>
                <a:srgbClr val="FF0000"/>
              </a:solidFill>
              <a:ea typeface="楷体" panose="02010609060101010101" pitchFamily="49" charset="-122"/>
            </a:endParaRPr>
          </a:p>
        </p:txBody>
      </p:sp>
      <p:sp>
        <p:nvSpPr>
          <p:cNvPr id="26631" name="Rectangle 9"/>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6632" name="Rectangle 10"/>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前导图法与箭线图法 </a:t>
            </a:r>
            <a:endParaRPr kumimoji="0" lang="en-US" altLang="en-US" b="1">
              <a:solidFill>
                <a:srgbClr val="FF0000"/>
              </a:solidFill>
              <a:ea typeface="楷体_GB2312" pitchFamily="49" charset="-122"/>
            </a:endParaRPr>
          </a:p>
        </p:txBody>
      </p:sp>
      <p:sp>
        <p:nvSpPr>
          <p:cNvPr id="26633" name="Text Box 11"/>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1）前导图法（</a:t>
            </a:r>
            <a:r>
              <a:rPr kumimoji="0" lang="en-US" altLang="en-US" sz="2400" b="1" dirty="0">
                <a:solidFill>
                  <a:schemeClr val="bg1"/>
                </a:solidFill>
                <a:ea typeface="楷体" panose="02010609060101010101" pitchFamily="49" charset="-122"/>
                <a:cs typeface="Times New Roman" panose="02020603050405020304" pitchFamily="18" charset="0"/>
              </a:rPr>
              <a:t>PDM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2852936"/>
            <a:ext cx="3744415" cy="3243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6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6627"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P.114</a:t>
            </a:r>
            <a:endParaRPr lang="en-US" altLang="zh-CN" b="1" dirty="0">
              <a:solidFill>
                <a:schemeClr val="bg2"/>
              </a:solidFill>
              <a:ea typeface="楷体" panose="02010609060101010101" pitchFamily="49" charset="-122"/>
            </a:endParaRPr>
          </a:p>
        </p:txBody>
      </p:sp>
      <p:sp>
        <p:nvSpPr>
          <p:cNvPr id="2662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pic>
        <p:nvPicPr>
          <p:cNvPr id="26629" name="Picture 7" descr="表5-2 前导图法中活动之间的四种依赖关系"/>
          <p:cNvPicPr>
            <a:picLocks noChangeAspect="1" noChangeArrowheads="1"/>
          </p:cNvPicPr>
          <p:nvPr/>
        </p:nvPicPr>
        <p:blipFill>
          <a:blip r:embed="rId1" cstate="print"/>
          <a:srcRect/>
          <a:stretch>
            <a:fillRect/>
          </a:stretch>
        </p:blipFill>
        <p:spPr bwMode="auto">
          <a:xfrm>
            <a:off x="0" y="2181246"/>
            <a:ext cx="9144000" cy="4176712"/>
          </a:xfrm>
          <a:prstGeom prst="rect">
            <a:avLst/>
          </a:prstGeom>
          <a:noFill/>
          <a:ln w="9525">
            <a:noFill/>
            <a:miter lim="800000"/>
            <a:headEnd/>
            <a:tailEnd/>
          </a:ln>
        </p:spPr>
      </p:pic>
      <p:sp>
        <p:nvSpPr>
          <p:cNvPr id="26630" name="Text Box 8"/>
          <p:cNvSpPr txBox="1">
            <a:spLocks noChangeArrowheads="1"/>
          </p:cNvSpPr>
          <p:nvPr/>
        </p:nvSpPr>
        <p:spPr bwMode="auto">
          <a:xfrm>
            <a:off x="2268538" y="6477000"/>
            <a:ext cx="4679950" cy="366713"/>
          </a:xfrm>
          <a:prstGeom prst="rect">
            <a:avLst/>
          </a:prstGeom>
          <a:noFill/>
          <a:ln w="9525">
            <a:noFill/>
            <a:miter lim="800000"/>
          </a:ln>
        </p:spPr>
        <p:txBody>
          <a:bodyPr>
            <a:spAutoFit/>
          </a:bodyPr>
          <a:lstStyle/>
          <a:p>
            <a:pPr algn="ctr"/>
            <a:r>
              <a:rPr kumimoji="0" lang="zh-CN" altLang="en-US" sz="1800" b="1" dirty="0">
                <a:solidFill>
                  <a:srgbClr val="990000"/>
                </a:solidFill>
                <a:ea typeface="楷体" panose="02010609060101010101" pitchFamily="49" charset="-122"/>
              </a:rPr>
              <a:t>表</a:t>
            </a:r>
            <a:r>
              <a:rPr kumimoji="0" lang="en-US" altLang="zh-CN" sz="1800" b="1" dirty="0">
                <a:solidFill>
                  <a:srgbClr val="990000"/>
                </a:solidFill>
                <a:ea typeface="楷体" panose="02010609060101010101" pitchFamily="49" charset="-122"/>
              </a:rPr>
              <a:t>5-2 </a:t>
            </a:r>
            <a:r>
              <a:rPr kumimoji="0" lang="zh-CN" altLang="en-US" sz="1800" b="1" dirty="0">
                <a:solidFill>
                  <a:srgbClr val="990000"/>
                </a:solidFill>
                <a:ea typeface="楷体" panose="02010609060101010101" pitchFamily="49" charset="-122"/>
              </a:rPr>
              <a:t>前导图法中活动之间的四种依赖关系</a:t>
            </a:r>
            <a:endParaRPr kumimoji="0" lang="en-US" altLang="zh-CN" sz="1800" b="1" dirty="0">
              <a:solidFill>
                <a:srgbClr val="990000"/>
              </a:solidFill>
              <a:ea typeface="楷体" panose="02010609060101010101" pitchFamily="49" charset="-122"/>
            </a:endParaRPr>
          </a:p>
        </p:txBody>
      </p:sp>
      <p:sp>
        <p:nvSpPr>
          <p:cNvPr id="26631" name="Rectangle 9"/>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6632" name="Rectangle 10"/>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5.4.2 前导图法与箭线图法 </a:t>
            </a:r>
            <a:endParaRPr kumimoji="0" lang="en-US" altLang="en-US" b="1">
              <a:solidFill>
                <a:schemeClr val="hlink"/>
              </a:solidFill>
              <a:ea typeface="楷体_GB2312" pitchFamily="49" charset="-122"/>
            </a:endParaRPr>
          </a:p>
        </p:txBody>
      </p:sp>
      <p:sp>
        <p:nvSpPr>
          <p:cNvPr id="26633" name="Text Box 11"/>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1）前导图法（</a:t>
            </a:r>
            <a:r>
              <a:rPr kumimoji="0" lang="en-US" altLang="en-US" sz="2400" b="1" dirty="0">
                <a:solidFill>
                  <a:schemeClr val="bg1"/>
                </a:solidFill>
                <a:ea typeface="楷体" panose="02010609060101010101" pitchFamily="49" charset="-122"/>
                <a:cs typeface="Times New Roman" panose="02020603050405020304" pitchFamily="18" charset="0"/>
              </a:rPr>
              <a:t>PDM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6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6627"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P.114</a:t>
            </a:r>
            <a:endParaRPr lang="en-US" altLang="zh-CN" b="1" dirty="0">
              <a:solidFill>
                <a:schemeClr val="bg2"/>
              </a:solidFill>
              <a:ea typeface="楷体" panose="02010609060101010101" pitchFamily="49" charset="-122"/>
            </a:endParaRPr>
          </a:p>
        </p:txBody>
      </p:sp>
      <p:sp>
        <p:nvSpPr>
          <p:cNvPr id="2662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6631" name="Rectangle 9"/>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6632" name="Rectangle 10"/>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前导图法与箭线图法 </a:t>
            </a:r>
            <a:endParaRPr kumimoji="0" lang="en-US" altLang="en-US" b="1">
              <a:solidFill>
                <a:srgbClr val="FF0000"/>
              </a:solidFill>
              <a:ea typeface="楷体_GB2312" pitchFamily="49" charset="-122"/>
            </a:endParaRPr>
          </a:p>
        </p:txBody>
      </p:sp>
      <p:sp>
        <p:nvSpPr>
          <p:cNvPr id="26633" name="Text Box 11"/>
          <p:cNvSpPr txBox="1">
            <a:spLocks noChangeArrowheads="1"/>
          </p:cNvSpPr>
          <p:nvPr/>
        </p:nvSpPr>
        <p:spPr bwMode="auto">
          <a:xfrm>
            <a:off x="285720" y="1819978"/>
            <a:ext cx="8572560" cy="1494155"/>
          </a:xfrm>
          <a:prstGeom prst="rect">
            <a:avLst/>
          </a:prstGeom>
          <a:noFill/>
          <a:ln w="28575">
            <a:noFill/>
            <a:miter lim="800000"/>
          </a:ln>
        </p:spPr>
        <p:txBody>
          <a:bodyPr wrap="square">
            <a:spAutoFit/>
          </a:bodyPr>
          <a:lstStyle/>
          <a:p>
            <a:pPr marL="457200" indent="-457200" algn="l">
              <a:lnSpc>
                <a:spcPct val="115000"/>
              </a:lnSpc>
              <a:spcBef>
                <a:spcPts val="0"/>
              </a:spcBef>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1）前导图法（</a:t>
            </a:r>
            <a:r>
              <a:rPr kumimoji="0" lang="en-US" altLang="en-US" sz="2400" b="1" dirty="0">
                <a:solidFill>
                  <a:schemeClr val="bg1"/>
                </a:solidFill>
                <a:ea typeface="楷体" panose="02010609060101010101" pitchFamily="49" charset="-122"/>
                <a:cs typeface="Times New Roman" panose="02020603050405020304" pitchFamily="18" charset="0"/>
              </a:rPr>
              <a:t>PDM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a:p>
            <a:pPr algn="ctr">
              <a:spcBef>
                <a:spcPts val="0"/>
              </a:spcBef>
            </a:pPr>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例</a:t>
            </a:r>
            <a:r>
              <a:rPr kumimoji="0" lang="en-US" altLang="en-US" sz="2400" b="1" dirty="0">
                <a:solidFill>
                  <a:srgbClr val="0000FF"/>
                </a:solidFill>
                <a:latin typeface="楷体" panose="02010609060101010101" pitchFamily="49" charset="-122"/>
                <a:ea typeface="楷体" panose="02010609060101010101" pitchFamily="49" charset="-122"/>
              </a:rPr>
              <a:t>5-1</a:t>
            </a:r>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某项目的活动列表如表</a:t>
            </a:r>
            <a:r>
              <a:rPr kumimoji="0" lang="en-US" altLang="en-US" sz="2400" b="1" dirty="0">
                <a:solidFill>
                  <a:srgbClr val="0000FF"/>
                </a:solidFill>
                <a:latin typeface="楷体" panose="02010609060101010101" pitchFamily="49" charset="-122"/>
                <a:ea typeface="楷体" panose="02010609060101010101" pitchFamily="49" charset="-122"/>
              </a:rPr>
              <a:t>5-3</a:t>
            </a:r>
            <a:r>
              <a:rPr kumimoji="0" lang="zh-CN" altLang="en-US" sz="2400" b="1" dirty="0">
                <a:solidFill>
                  <a:srgbClr val="0000FF"/>
                </a:solidFill>
                <a:latin typeface="楷体" panose="02010609060101010101" pitchFamily="49" charset="-122"/>
                <a:ea typeface="楷体" panose="02010609060101010101" pitchFamily="49" charset="-122"/>
              </a:rPr>
              <a:t>所示，要求绘制前导图。</a:t>
            </a:r>
            <a:endParaRPr lang="zh-CN" altLang="en-US" sz="2400" dirty="0">
              <a:solidFill>
                <a:srgbClr val="00CC00"/>
              </a:solidFill>
              <a:ea typeface="楷体" panose="02010609060101010101" pitchFamily="49" charset="-122"/>
            </a:endParaRPr>
          </a:p>
          <a:p>
            <a:pPr marL="457200" indent="-457200" algn="l">
              <a:lnSpc>
                <a:spcPct val="115000"/>
              </a:lnSpc>
              <a:buClr>
                <a:schemeClr val="hlink"/>
              </a:buClr>
              <a:buFont typeface="Wingdings" panose="05000000000000000000" pitchFamily="2" charset="2"/>
              <a:buNone/>
            </a:pP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105474" name="Picture 2"/>
          <p:cNvPicPr>
            <a:picLocks noChangeAspect="1" noChangeArrowheads="1"/>
          </p:cNvPicPr>
          <p:nvPr/>
        </p:nvPicPr>
        <p:blipFill>
          <a:blip r:embed="rId1"/>
          <a:srcRect/>
          <a:stretch>
            <a:fillRect/>
          </a:stretch>
        </p:blipFill>
        <p:spPr bwMode="auto">
          <a:xfrm>
            <a:off x="0" y="2714620"/>
            <a:ext cx="9144000" cy="414338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5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6627"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P.114</a:t>
            </a:r>
            <a:endParaRPr lang="en-US" altLang="zh-CN" b="1" dirty="0">
              <a:solidFill>
                <a:schemeClr val="bg2"/>
              </a:solidFill>
              <a:ea typeface="楷体" panose="02010609060101010101" pitchFamily="49" charset="-122"/>
            </a:endParaRPr>
          </a:p>
        </p:txBody>
      </p:sp>
      <p:sp>
        <p:nvSpPr>
          <p:cNvPr id="26628"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6631" name="Rectangle 9"/>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5.3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6632" name="Rectangle 10"/>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5.4.2 前导图法与箭线图法 </a:t>
            </a:r>
            <a:endParaRPr kumimoji="0" lang="en-US" altLang="en-US" b="1">
              <a:solidFill>
                <a:schemeClr val="hlink"/>
              </a:solidFill>
              <a:ea typeface="楷体_GB2312" pitchFamily="49" charset="-122"/>
            </a:endParaRPr>
          </a:p>
        </p:txBody>
      </p:sp>
      <p:sp>
        <p:nvSpPr>
          <p:cNvPr id="26633" name="Text Box 11"/>
          <p:cNvSpPr txBox="1">
            <a:spLocks noChangeArrowheads="1"/>
          </p:cNvSpPr>
          <p:nvPr/>
        </p:nvSpPr>
        <p:spPr bwMode="auto">
          <a:xfrm>
            <a:off x="285720" y="1819978"/>
            <a:ext cx="8572560" cy="885190"/>
          </a:xfrm>
          <a:prstGeom prst="rect">
            <a:avLst/>
          </a:prstGeom>
          <a:noFill/>
          <a:ln w="28575">
            <a:noFill/>
            <a:miter lim="800000"/>
          </a:ln>
        </p:spPr>
        <p:txBody>
          <a:bodyPr wrap="square">
            <a:spAutoFit/>
          </a:bodyPr>
          <a:lstStyle/>
          <a:p>
            <a:pPr marL="457200" indent="-457200" algn="l">
              <a:lnSpc>
                <a:spcPct val="115000"/>
              </a:lnSpc>
              <a:spcBef>
                <a:spcPts val="0"/>
              </a:spcBef>
              <a:buClr>
                <a:schemeClr val="hlink"/>
              </a:buClr>
              <a:buFont typeface="Wingdings" panose="05000000000000000000" pitchFamily="2" charset="2"/>
              <a:buNone/>
            </a:pPr>
            <a:r>
              <a:rPr kumimoji="0" lang="en-US" altLang="en-US" sz="2400" b="1" dirty="0">
                <a:solidFill>
                  <a:srgbClr val="0000FF"/>
                </a:solidFill>
                <a:latin typeface="楷体" panose="02010609060101010101" pitchFamily="49" charset="-122"/>
                <a:ea typeface="楷体" panose="02010609060101010101" pitchFamily="49" charset="-122"/>
              </a:rPr>
              <a:t>1）前导图法（</a:t>
            </a:r>
            <a:r>
              <a:rPr kumimoji="0" lang="en-US" altLang="en-US" sz="2400" b="1" dirty="0">
                <a:solidFill>
                  <a:srgbClr val="0000FF"/>
                </a:solidFill>
                <a:ea typeface="楷体" panose="02010609060101010101" pitchFamily="49" charset="-122"/>
                <a:cs typeface="Times New Roman" panose="02020603050405020304" pitchFamily="18" charset="0"/>
              </a:rPr>
              <a:t>PDM</a:t>
            </a:r>
            <a:r>
              <a:rPr kumimoji="0" lang="en-US" altLang="en-US" sz="2400" b="1" dirty="0">
                <a:solidFill>
                  <a:srgbClr val="0000FF"/>
                </a:solidFill>
                <a:latin typeface="楷体" panose="02010609060101010101" pitchFamily="49" charset="-122"/>
                <a:ea typeface="楷体" panose="02010609060101010101" pitchFamily="49" charset="-122"/>
              </a:rPr>
              <a:t>）</a:t>
            </a:r>
            <a:endParaRPr kumimoji="0" lang="en-US" altLang="en-US" sz="2400" b="1" dirty="0">
              <a:solidFill>
                <a:srgbClr val="0000FF"/>
              </a:solidFill>
              <a:latin typeface="楷体" panose="02010609060101010101" pitchFamily="49" charset="-122"/>
              <a:ea typeface="楷体" panose="02010609060101010101" pitchFamily="49" charset="-122"/>
            </a:endParaRPr>
          </a:p>
          <a:p>
            <a:pPr algn="ctr">
              <a:spcBef>
                <a:spcPts val="0"/>
              </a:spcBef>
            </a:pPr>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例</a:t>
            </a:r>
            <a:r>
              <a:rPr kumimoji="0" lang="en-US" altLang="en-US" sz="2400" b="1" dirty="0">
                <a:solidFill>
                  <a:srgbClr val="0000FF"/>
                </a:solidFill>
                <a:latin typeface="楷体" panose="02010609060101010101" pitchFamily="49" charset="-122"/>
                <a:ea typeface="楷体" panose="02010609060101010101" pitchFamily="49" charset="-122"/>
              </a:rPr>
              <a:t>5-1</a:t>
            </a:r>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某项目的活动列表如表</a:t>
            </a:r>
            <a:r>
              <a:rPr kumimoji="0" lang="en-US" altLang="en-US" sz="2400" b="1" dirty="0">
                <a:solidFill>
                  <a:srgbClr val="0000FF"/>
                </a:solidFill>
                <a:latin typeface="楷体" panose="02010609060101010101" pitchFamily="49" charset="-122"/>
                <a:ea typeface="楷体" panose="02010609060101010101" pitchFamily="49" charset="-122"/>
              </a:rPr>
              <a:t>5-3</a:t>
            </a:r>
            <a:r>
              <a:rPr kumimoji="0" lang="zh-CN" altLang="en-US" sz="2400" b="1" dirty="0">
                <a:solidFill>
                  <a:srgbClr val="0000FF"/>
                </a:solidFill>
                <a:latin typeface="楷体" panose="02010609060101010101" pitchFamily="49" charset="-122"/>
                <a:ea typeface="楷体" panose="02010609060101010101" pitchFamily="49" charset="-122"/>
              </a:rPr>
              <a:t>所示，要求绘制前导图。</a:t>
            </a:r>
            <a:endParaRPr kumimoji="0" lang="zh-CN" altLang="en-US" sz="2400" b="1" dirty="0">
              <a:solidFill>
                <a:srgbClr val="0000FF"/>
              </a:solidFill>
              <a:latin typeface="楷体" panose="02010609060101010101" pitchFamily="49" charset="-122"/>
              <a:ea typeface="楷体" panose="02010609060101010101" pitchFamily="49" charset="-122"/>
            </a:endParaRPr>
          </a:p>
        </p:txBody>
      </p:sp>
      <p:pic>
        <p:nvPicPr>
          <p:cNvPr id="106498" name="Picture 2"/>
          <p:cNvPicPr>
            <a:picLocks noChangeAspect="1" noChangeArrowheads="1"/>
          </p:cNvPicPr>
          <p:nvPr/>
        </p:nvPicPr>
        <p:blipFill>
          <a:blip r:embed="rId1"/>
          <a:srcRect/>
          <a:stretch>
            <a:fillRect/>
          </a:stretch>
        </p:blipFill>
        <p:spPr bwMode="auto">
          <a:xfrm>
            <a:off x="0" y="2714620"/>
            <a:ext cx="9144000" cy="414338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6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P.114</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179388" y="2276475"/>
            <a:ext cx="8785225" cy="3970318"/>
          </a:xfrm>
          <a:prstGeom prst="rect">
            <a:avLst/>
          </a:prstGeom>
          <a:noFill/>
          <a:ln w="9525" algn="ctr">
            <a:noFill/>
            <a:miter lim="800000"/>
          </a:ln>
        </p:spPr>
        <p:txBody>
          <a:bodyPr>
            <a:spAutoFit/>
          </a:bodyPr>
          <a:lstStyle/>
          <a:p>
            <a:pPr algn="l">
              <a:spcBef>
                <a:spcPts val="600"/>
              </a:spcBef>
              <a:spcAft>
                <a:spcPts val="600"/>
              </a:spcAft>
              <a:buClr>
                <a:schemeClr val="hlink"/>
              </a:buClr>
            </a:pPr>
            <a:r>
              <a:rPr kumimoji="0" lang="en-US" altLang="zh-CN" b="1" dirty="0">
                <a:solidFill>
                  <a:schemeClr val="bg2"/>
                </a:solidFill>
                <a:latin typeface="+mn-lt"/>
                <a:ea typeface="楷体" panose="02010609060101010101" pitchFamily="49" charset="-122"/>
              </a:rPr>
              <a:t>ADM</a:t>
            </a:r>
            <a:r>
              <a:rPr kumimoji="0" lang="zh-CN" altLang="en-US" b="1" dirty="0">
                <a:solidFill>
                  <a:schemeClr val="bg2"/>
                </a:solidFill>
                <a:latin typeface="+mn-lt"/>
                <a:ea typeface="楷体" panose="02010609060101010101" pitchFamily="49" charset="-122"/>
              </a:rPr>
              <a:t>法是一种用箭线表示活动、节点表示活动排序的网络图方法。</a:t>
            </a:r>
            <a:endParaRPr kumimoji="0" lang="zh-CN" altLang="en-US" b="1" dirty="0">
              <a:solidFill>
                <a:schemeClr val="bg2"/>
              </a:solidFill>
              <a:latin typeface="+mn-lt"/>
              <a:ea typeface="楷体" panose="02010609060101010101" pitchFamily="49" charset="-122"/>
            </a:endParaRPr>
          </a:p>
          <a:p>
            <a:pPr algn="l">
              <a:spcBef>
                <a:spcPts val="600"/>
              </a:spcBef>
              <a:spcAft>
                <a:spcPts val="600"/>
              </a:spcAft>
              <a:buClr>
                <a:schemeClr val="hlink"/>
              </a:buClr>
            </a:pPr>
            <a:r>
              <a:rPr kumimoji="0" lang="zh-CN" altLang="en-US" b="1" dirty="0">
                <a:solidFill>
                  <a:schemeClr val="bg2"/>
                </a:solidFill>
                <a:latin typeface="+mn-lt"/>
                <a:ea typeface="楷体" panose="02010609060101010101" pitchFamily="49" charset="-122"/>
              </a:rPr>
              <a:t>在</a:t>
            </a:r>
            <a:r>
              <a:rPr kumimoji="0" lang="en-US" altLang="zh-CN" b="1" dirty="0">
                <a:solidFill>
                  <a:schemeClr val="bg2"/>
                </a:solidFill>
                <a:latin typeface="+mn-lt"/>
                <a:ea typeface="楷体" panose="02010609060101010101" pitchFamily="49" charset="-122"/>
              </a:rPr>
              <a:t>ADM</a:t>
            </a:r>
            <a:r>
              <a:rPr kumimoji="0" lang="zh-CN" altLang="en-US" b="1" dirty="0">
                <a:solidFill>
                  <a:schemeClr val="bg2"/>
                </a:solidFill>
                <a:latin typeface="+mn-lt"/>
                <a:ea typeface="楷体" panose="02010609060101010101" pitchFamily="49" charset="-122"/>
              </a:rPr>
              <a:t>中，每一项活动都用一根箭线和两个节点来表示，每个节点有个号码，箭线的箭尾节点和箭头节点是该项活动的起点和终点。</a:t>
            </a:r>
            <a:endParaRPr kumimoji="0" lang="zh-CN" altLang="en-US" b="1" dirty="0">
              <a:solidFill>
                <a:schemeClr val="bg2"/>
              </a:solidFill>
              <a:latin typeface="+mn-lt"/>
              <a:ea typeface="楷体" panose="02010609060101010101" pitchFamily="49" charset="-122"/>
            </a:endParaRPr>
          </a:p>
          <a:p>
            <a:pPr algn="l">
              <a:spcBef>
                <a:spcPts val="600"/>
              </a:spcBef>
              <a:spcAft>
                <a:spcPts val="600"/>
              </a:spcAft>
              <a:buClr>
                <a:schemeClr val="hlink"/>
              </a:buClr>
            </a:pPr>
            <a:r>
              <a:rPr kumimoji="0" lang="zh-CN" altLang="en-US" b="1" dirty="0">
                <a:solidFill>
                  <a:schemeClr val="bg2"/>
                </a:solidFill>
                <a:latin typeface="+mn-lt"/>
                <a:ea typeface="楷体" panose="02010609060101010101" pitchFamily="49" charset="-122"/>
              </a:rPr>
              <a:t>箭线表示项目中独立存在、需要一定时间或资源完成的活动。在箭线图中，依据是否需消耗时间或资源，可将活动分为实活动或虚活动。</a:t>
            </a:r>
            <a:endParaRPr kumimoji="0" lang="zh-CN" altLang="en-US" b="1" dirty="0">
              <a:solidFill>
                <a:schemeClr val="bg2"/>
              </a:solidFill>
              <a:latin typeface="+mn-lt"/>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前导图法与箭线图法 </a:t>
            </a:r>
            <a:endParaRPr kumimoji="0" lang="en-US" altLang="en-US" b="1">
              <a:solidFill>
                <a:srgbClr val="FF0000"/>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179388" y="2276475"/>
            <a:ext cx="8785225" cy="2246769"/>
          </a:xfrm>
          <a:prstGeom prst="rect">
            <a:avLst/>
          </a:prstGeom>
          <a:noFill/>
          <a:ln w="9525" algn="ctr">
            <a:noFill/>
            <a:miter lim="800000"/>
          </a:ln>
        </p:spPr>
        <p:txBody>
          <a:bodyPr>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实活动是需要消耗时间和资源的活动。在箭线图中用实箭线表示，如图</a:t>
            </a:r>
            <a:r>
              <a:rPr lang="en-US" b="1" dirty="0">
                <a:solidFill>
                  <a:schemeClr val="bg2"/>
                </a:solidFill>
                <a:latin typeface="楷体" panose="02010609060101010101" pitchFamily="49" charset="-122"/>
                <a:ea typeface="楷体" panose="02010609060101010101" pitchFamily="49" charset="-122"/>
              </a:rPr>
              <a:t>5-5</a:t>
            </a:r>
            <a:r>
              <a:rPr lang="zh-CN" altLang="en-US" b="1" dirty="0">
                <a:solidFill>
                  <a:schemeClr val="bg2"/>
                </a:solidFill>
                <a:latin typeface="楷体" panose="02010609060101010101" pitchFamily="49" charset="-122"/>
                <a:ea typeface="楷体" panose="02010609060101010101" pitchFamily="49" charset="-122"/>
              </a:rPr>
              <a:t>所示，在箭线上方标出活动的名称，如果明确了活动时间，则在箭线下方标出活动的持续时间，箭尾表示活动的开始，箭头表示活动的结束，相应节点的号码表示该活动的代号。</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a:t>
            </a:r>
            <a:r>
              <a:rPr kumimoji="0" lang="en-US" altLang="en-US" b="1">
                <a:solidFill>
                  <a:srgbClr val="FF0000"/>
                </a:solidFill>
                <a:latin typeface="楷体" panose="02010609060101010101" pitchFamily="49" charset="-122"/>
                <a:ea typeface="楷体" panose="02010609060101010101" pitchFamily="49" charset="-122"/>
              </a:rPr>
              <a:t>前导图法与箭线图法</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74755" name="Picture 3"/>
          <p:cNvPicPr>
            <a:picLocks noChangeAspect="1" noChangeArrowheads="1"/>
          </p:cNvPicPr>
          <p:nvPr/>
        </p:nvPicPr>
        <p:blipFill>
          <a:blip r:embed="rId1"/>
          <a:srcRect/>
          <a:stretch>
            <a:fillRect/>
          </a:stretch>
        </p:blipFill>
        <p:spPr bwMode="auto">
          <a:xfrm>
            <a:off x="357158" y="4643446"/>
            <a:ext cx="8358246" cy="150019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179388" y="2276475"/>
            <a:ext cx="8785225" cy="3662541"/>
          </a:xfrm>
          <a:prstGeom prst="rect">
            <a:avLst/>
          </a:prstGeom>
          <a:noFill/>
          <a:ln w="9525" algn="ctr">
            <a:noFill/>
            <a:miter lim="800000"/>
          </a:ln>
        </p:spPr>
        <p:txBody>
          <a:bodyPr>
            <a:spAutoFit/>
          </a:bodyPr>
          <a:lstStyle/>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虚活动是既不消耗时间，也不消耗资源的活动，它只表示相邻活动之间的逻辑关系，在箭线图中用虚线表示。</a:t>
            </a:r>
            <a:endParaRPr lang="en-US" altLang="zh-CN" sz="3200"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rPr>
              <a:t>当出现下列情况时，需要定义虚活动：</a:t>
            </a:r>
            <a:endParaRPr lang="zh-CN" altLang="en-US" sz="3200" dirty="0">
              <a:solidFill>
                <a:schemeClr val="bg2"/>
              </a:solidFill>
              <a:latin typeface="楷体" panose="02010609060101010101" pitchFamily="49" charset="-122"/>
              <a:ea typeface="楷体" panose="02010609060101010101" pitchFamily="49" charset="-122"/>
            </a:endParaRPr>
          </a:p>
          <a:p>
            <a:pPr marL="447675" lvl="1" indent="9525" algn="l">
              <a:spcBef>
                <a:spcPts val="600"/>
              </a:spcBef>
              <a:spcAft>
                <a:spcPts val="600"/>
              </a:spcAft>
              <a:buClr>
                <a:schemeClr val="bg1">
                  <a:lumMod val="50000"/>
                </a:schemeClr>
              </a:buClr>
              <a:buFont typeface="+mj-ea"/>
              <a:buAutoNum type="circleNumDbPlain"/>
            </a:pPr>
            <a:r>
              <a:rPr lang="zh-CN" altLang="en-US" b="1" dirty="0">
                <a:solidFill>
                  <a:schemeClr val="bg1">
                    <a:lumMod val="50000"/>
                  </a:schemeClr>
                </a:solidFill>
                <a:latin typeface="楷体" panose="02010609060101010101" pitchFamily="49" charset="-122"/>
                <a:ea typeface="楷体" panose="02010609060101010101" pitchFamily="49" charset="-122"/>
              </a:rPr>
              <a:t>平等作业</a:t>
            </a:r>
            <a:r>
              <a:rPr lang="en-US" b="1" dirty="0">
                <a:solidFill>
                  <a:schemeClr val="bg1">
                    <a:lumMod val="50000"/>
                  </a:schemeClr>
                </a:solidFill>
                <a:latin typeface="楷体" panose="02010609060101010101" pitchFamily="49" charset="-122"/>
                <a:ea typeface="楷体" panose="02010609060101010101" pitchFamily="49" charset="-122"/>
              </a:rPr>
              <a:t>  </a:t>
            </a:r>
            <a:r>
              <a:rPr lang="zh-CN" altLang="en-US" b="1" dirty="0">
                <a:solidFill>
                  <a:schemeClr val="bg2"/>
                </a:solidFill>
                <a:latin typeface="+mn-lt"/>
                <a:ea typeface="楷体" panose="02010609060101010101" pitchFamily="49" charset="-122"/>
              </a:rPr>
              <a:t>如图</a:t>
            </a:r>
            <a:r>
              <a:rPr lang="en-US" b="1" dirty="0">
                <a:solidFill>
                  <a:schemeClr val="bg2"/>
                </a:solidFill>
                <a:latin typeface="+mn-lt"/>
                <a:ea typeface="楷体" panose="02010609060101010101" pitchFamily="49" charset="-122"/>
              </a:rPr>
              <a:t>5-6 (a)</a:t>
            </a:r>
            <a:r>
              <a:rPr lang="zh-CN" altLang="en-US" b="1" dirty="0">
                <a:solidFill>
                  <a:schemeClr val="bg2"/>
                </a:solidFill>
                <a:latin typeface="+mn-lt"/>
                <a:ea typeface="楷体" panose="02010609060101010101" pitchFamily="49" charset="-122"/>
              </a:rPr>
              <a:t>所示，活动</a:t>
            </a:r>
            <a:r>
              <a:rPr lang="en-US" b="1" dirty="0">
                <a:solidFill>
                  <a:schemeClr val="bg2"/>
                </a:solidFill>
                <a:latin typeface="+mn-lt"/>
                <a:ea typeface="楷体" panose="02010609060101010101" pitchFamily="49" charset="-122"/>
              </a:rPr>
              <a:t>A</a:t>
            </a:r>
            <a:r>
              <a:rPr lang="zh-CN" altLang="en-US" b="1" dirty="0">
                <a:solidFill>
                  <a:schemeClr val="bg2"/>
                </a:solidFill>
                <a:latin typeface="+mn-lt"/>
                <a:ea typeface="楷体" panose="02010609060101010101" pitchFamily="49" charset="-122"/>
              </a:rPr>
              <a:t>和活动</a:t>
            </a:r>
            <a:r>
              <a:rPr lang="en-US" b="1" dirty="0">
                <a:solidFill>
                  <a:schemeClr val="bg2"/>
                </a:solidFill>
                <a:latin typeface="+mn-lt"/>
                <a:ea typeface="楷体" panose="02010609060101010101" pitchFamily="49" charset="-122"/>
              </a:rPr>
              <a:t>B</a:t>
            </a:r>
            <a:r>
              <a:rPr lang="zh-CN" altLang="en-US" b="1" dirty="0">
                <a:solidFill>
                  <a:schemeClr val="bg2"/>
                </a:solidFill>
                <a:latin typeface="+mn-lt"/>
                <a:ea typeface="楷体" panose="02010609060101010101" pitchFamily="49" charset="-122"/>
              </a:rPr>
              <a:t>完成后才能够转入活动</a:t>
            </a:r>
            <a:r>
              <a:rPr lang="en-US" b="1" dirty="0">
                <a:solidFill>
                  <a:schemeClr val="bg2"/>
                </a:solidFill>
                <a:latin typeface="+mn-lt"/>
                <a:ea typeface="楷体" panose="02010609060101010101" pitchFamily="49" charset="-122"/>
              </a:rPr>
              <a:t>C</a:t>
            </a:r>
            <a:r>
              <a:rPr lang="zh-CN" altLang="en-US" b="1" dirty="0">
                <a:solidFill>
                  <a:schemeClr val="bg2"/>
                </a:solidFill>
                <a:latin typeface="+mn-lt"/>
                <a:ea typeface="楷体" panose="02010609060101010101" pitchFamily="49" charset="-122"/>
              </a:rPr>
              <a:t>，为了说明活动</a:t>
            </a:r>
            <a:r>
              <a:rPr lang="en-US" b="1" dirty="0">
                <a:solidFill>
                  <a:schemeClr val="bg2"/>
                </a:solidFill>
                <a:latin typeface="+mn-lt"/>
                <a:ea typeface="楷体" panose="02010609060101010101" pitchFamily="49" charset="-122"/>
              </a:rPr>
              <a:t>B</a:t>
            </a:r>
            <a:r>
              <a:rPr lang="zh-CN" altLang="en-US" b="1" dirty="0">
                <a:solidFill>
                  <a:schemeClr val="bg2"/>
                </a:solidFill>
                <a:latin typeface="+mn-lt"/>
                <a:ea typeface="楷体" panose="02010609060101010101" pitchFamily="49" charset="-122"/>
              </a:rPr>
              <a:t>、</a:t>
            </a:r>
            <a:r>
              <a:rPr lang="en-US" b="1" dirty="0">
                <a:solidFill>
                  <a:schemeClr val="bg2"/>
                </a:solidFill>
                <a:latin typeface="+mn-lt"/>
                <a:ea typeface="楷体" panose="02010609060101010101" pitchFamily="49" charset="-122"/>
              </a:rPr>
              <a:t>C</a:t>
            </a:r>
            <a:r>
              <a:rPr lang="zh-CN" altLang="en-US" b="1" dirty="0">
                <a:solidFill>
                  <a:schemeClr val="bg2"/>
                </a:solidFill>
                <a:latin typeface="+mn-lt"/>
                <a:ea typeface="楷体" panose="02010609060101010101" pitchFamily="49" charset="-122"/>
              </a:rPr>
              <a:t>之间的关系，需要在节点</a:t>
            </a:r>
            <a:r>
              <a:rPr lang="en-US" b="1" dirty="0">
                <a:solidFill>
                  <a:schemeClr val="bg2"/>
                </a:solidFill>
                <a:latin typeface="+mn-lt"/>
                <a:ea typeface="楷体" panose="02010609060101010101" pitchFamily="49" charset="-122"/>
              </a:rPr>
              <a:t>2</a:t>
            </a:r>
            <a:r>
              <a:rPr lang="zh-CN" altLang="en-US" b="1" dirty="0">
                <a:solidFill>
                  <a:schemeClr val="bg2"/>
                </a:solidFill>
                <a:latin typeface="+mn-lt"/>
                <a:ea typeface="楷体" panose="02010609060101010101" pitchFamily="49" charset="-122"/>
              </a:rPr>
              <a:t>、</a:t>
            </a:r>
            <a:r>
              <a:rPr lang="en-US" b="1" dirty="0">
                <a:solidFill>
                  <a:schemeClr val="bg2"/>
                </a:solidFill>
                <a:latin typeface="+mn-lt"/>
                <a:ea typeface="楷体" panose="02010609060101010101" pitchFamily="49" charset="-122"/>
              </a:rPr>
              <a:t>3</a:t>
            </a:r>
            <a:r>
              <a:rPr lang="zh-CN" altLang="en-US" b="1" dirty="0">
                <a:solidFill>
                  <a:schemeClr val="bg2"/>
                </a:solidFill>
                <a:latin typeface="+mn-lt"/>
                <a:ea typeface="楷体" panose="02010609060101010101" pitchFamily="49" charset="-122"/>
              </a:rPr>
              <a:t>之间定义虚活动。</a:t>
            </a:r>
            <a:endParaRPr lang="zh-CN" altLang="en-US" b="1" dirty="0">
              <a:solidFill>
                <a:schemeClr val="bg2"/>
              </a:solidFill>
              <a:latin typeface="+mn-lt"/>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a:t>
            </a:r>
            <a:r>
              <a:rPr kumimoji="0" lang="en-US" altLang="en-US" b="1">
                <a:solidFill>
                  <a:srgbClr val="FF0000"/>
                </a:solidFill>
                <a:latin typeface="楷体" panose="02010609060101010101" pitchFamily="49" charset="-122"/>
                <a:ea typeface="楷体" panose="02010609060101010101" pitchFamily="49" charset="-122"/>
              </a:rPr>
              <a:t>前导图法与箭线图法</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179388" y="2452584"/>
            <a:ext cx="8785225" cy="3693319"/>
          </a:xfrm>
          <a:prstGeom prst="rect">
            <a:avLst/>
          </a:prstGeom>
          <a:noFill/>
          <a:ln w="9525" algn="ctr">
            <a:noFill/>
            <a:miter lim="800000"/>
          </a:ln>
        </p:spPr>
        <p:txBody>
          <a:bodyPr>
            <a:spAutoFit/>
          </a:bodyPr>
          <a:lstStyle/>
          <a:p>
            <a:pPr marL="447675" lvl="1" indent="9525" algn="l">
              <a:spcBef>
                <a:spcPts val="600"/>
              </a:spcBef>
              <a:spcAft>
                <a:spcPts val="600"/>
              </a:spcAft>
              <a:buClr>
                <a:schemeClr val="bg1">
                  <a:lumMod val="50000"/>
                </a:schemeClr>
              </a:buClr>
              <a:buFont typeface="+mj-ea"/>
              <a:buAutoNum type="circleNumDbPlain" startAt="2"/>
            </a:pPr>
            <a:r>
              <a:rPr lang="zh-CN" altLang="en-US" b="1" dirty="0">
                <a:solidFill>
                  <a:srgbClr val="0000FF"/>
                </a:solidFill>
                <a:latin typeface="楷体" panose="02010609060101010101" pitchFamily="49" charset="-122"/>
                <a:ea typeface="楷体" panose="02010609060101010101" pitchFamily="49" charset="-122"/>
              </a:rPr>
              <a:t>交叉作业</a:t>
            </a:r>
            <a:r>
              <a:rPr lang="en-US" altLang="en-US" b="1" dirty="0">
                <a:solidFill>
                  <a:srgbClr val="0000FF"/>
                </a:solidFill>
                <a:latin typeface="楷体" panose="02010609060101010101" pitchFamily="49" charset="-122"/>
                <a:ea typeface="楷体" panose="02010609060101010101" pitchFamily="49" charset="-122"/>
              </a:rPr>
              <a:t> </a:t>
            </a:r>
            <a:r>
              <a:rPr lang="en-US" altLang="en-US" b="1" dirty="0">
                <a:solidFill>
                  <a:schemeClr val="bg1">
                    <a:lumMod val="50000"/>
                  </a:schemeClr>
                </a:solidFill>
                <a:latin typeface="楷体" panose="02010609060101010101" pitchFamily="49" charset="-122"/>
                <a:ea typeface="楷体" panose="02010609060101010101" pitchFamily="49" charset="-122"/>
              </a:rPr>
              <a:t> </a:t>
            </a:r>
            <a:r>
              <a:rPr lang="zh-CN" altLang="en-US" b="1" dirty="0">
                <a:solidFill>
                  <a:schemeClr val="bg2"/>
                </a:solidFill>
                <a:latin typeface="+mn-lt"/>
                <a:ea typeface="楷体" panose="02010609060101010101" pitchFamily="49" charset="-122"/>
              </a:rPr>
              <a:t>如图</a:t>
            </a:r>
            <a:r>
              <a:rPr lang="en-US" b="1" dirty="0">
                <a:solidFill>
                  <a:schemeClr val="bg2"/>
                </a:solidFill>
                <a:latin typeface="+mn-lt"/>
                <a:ea typeface="楷体" panose="02010609060101010101" pitchFamily="49" charset="-122"/>
              </a:rPr>
              <a:t>5-6 (c)</a:t>
            </a:r>
            <a:r>
              <a:rPr lang="zh-CN" altLang="en-US" b="1" dirty="0">
                <a:solidFill>
                  <a:schemeClr val="bg2"/>
                </a:solidFill>
                <a:latin typeface="+mn-lt"/>
                <a:ea typeface="楷体" panose="02010609060101010101" pitchFamily="49" charset="-122"/>
              </a:rPr>
              <a:t>所示，要求</a:t>
            </a:r>
            <a:r>
              <a:rPr lang="en-US" b="1" dirty="0">
                <a:solidFill>
                  <a:schemeClr val="bg2"/>
                </a:solidFill>
                <a:latin typeface="+mn-lt"/>
                <a:ea typeface="楷体" panose="02010609060101010101" pitchFamily="49" charset="-122"/>
              </a:rPr>
              <a:t>a1</a:t>
            </a:r>
            <a:r>
              <a:rPr lang="zh-CN" altLang="en-US" b="1" dirty="0">
                <a:solidFill>
                  <a:schemeClr val="bg2"/>
                </a:solidFill>
                <a:latin typeface="+mn-lt"/>
                <a:ea typeface="楷体" panose="02010609060101010101" pitchFamily="49" charset="-122"/>
              </a:rPr>
              <a:t>完成后，才开始</a:t>
            </a:r>
            <a:r>
              <a:rPr lang="en-US" b="1" dirty="0">
                <a:solidFill>
                  <a:schemeClr val="bg2"/>
                </a:solidFill>
                <a:latin typeface="+mn-lt"/>
                <a:ea typeface="楷体" panose="02010609060101010101" pitchFamily="49" charset="-122"/>
              </a:rPr>
              <a:t>b1</a:t>
            </a:r>
            <a:r>
              <a:rPr lang="zh-CN" altLang="en-US" b="1" dirty="0">
                <a:solidFill>
                  <a:schemeClr val="bg2"/>
                </a:solidFill>
                <a:latin typeface="+mn-lt"/>
                <a:ea typeface="楷体" panose="02010609060101010101" pitchFamily="49" charset="-122"/>
              </a:rPr>
              <a:t>，</a:t>
            </a:r>
            <a:r>
              <a:rPr lang="en-US" b="1" dirty="0">
                <a:solidFill>
                  <a:schemeClr val="bg2"/>
                </a:solidFill>
                <a:latin typeface="+mn-lt"/>
                <a:ea typeface="楷体" panose="02010609060101010101" pitchFamily="49" charset="-122"/>
              </a:rPr>
              <a:t>a2</a:t>
            </a:r>
            <a:r>
              <a:rPr lang="zh-CN" altLang="en-US" b="1" dirty="0">
                <a:solidFill>
                  <a:schemeClr val="bg2"/>
                </a:solidFill>
                <a:latin typeface="+mn-lt"/>
                <a:ea typeface="楷体" panose="02010609060101010101" pitchFamily="49" charset="-122"/>
              </a:rPr>
              <a:t>完成后，才开始</a:t>
            </a:r>
            <a:r>
              <a:rPr lang="en-US" b="1" dirty="0">
                <a:solidFill>
                  <a:schemeClr val="bg2"/>
                </a:solidFill>
                <a:latin typeface="+mn-lt"/>
                <a:ea typeface="楷体" panose="02010609060101010101" pitchFamily="49" charset="-122"/>
              </a:rPr>
              <a:t>b2</a:t>
            </a:r>
            <a:r>
              <a:rPr lang="zh-CN" altLang="en-US" b="1" dirty="0">
                <a:solidFill>
                  <a:schemeClr val="bg2"/>
                </a:solidFill>
                <a:latin typeface="+mn-lt"/>
                <a:ea typeface="楷体" panose="02010609060101010101" pitchFamily="49" charset="-122"/>
              </a:rPr>
              <a:t>，</a:t>
            </a:r>
            <a:r>
              <a:rPr lang="en-US" b="1" dirty="0">
                <a:solidFill>
                  <a:schemeClr val="bg2"/>
                </a:solidFill>
                <a:latin typeface="+mn-lt"/>
                <a:ea typeface="楷体" panose="02010609060101010101" pitchFamily="49" charset="-122"/>
              </a:rPr>
              <a:t>a3</a:t>
            </a:r>
            <a:r>
              <a:rPr lang="zh-CN" altLang="en-US" b="1" dirty="0">
                <a:solidFill>
                  <a:schemeClr val="bg2"/>
                </a:solidFill>
                <a:latin typeface="+mn-lt"/>
                <a:ea typeface="楷体" panose="02010609060101010101" pitchFamily="49" charset="-122"/>
              </a:rPr>
              <a:t>完成后，才开始</a:t>
            </a:r>
            <a:r>
              <a:rPr lang="en-US" b="1" dirty="0">
                <a:solidFill>
                  <a:schemeClr val="bg2"/>
                </a:solidFill>
                <a:latin typeface="+mn-lt"/>
                <a:ea typeface="楷体" panose="02010609060101010101" pitchFamily="49" charset="-122"/>
              </a:rPr>
              <a:t>b3</a:t>
            </a:r>
            <a:r>
              <a:rPr lang="zh-CN" altLang="en-US" b="1" dirty="0">
                <a:solidFill>
                  <a:schemeClr val="bg2"/>
                </a:solidFill>
                <a:latin typeface="+mn-lt"/>
                <a:ea typeface="楷体" panose="02010609060101010101" pitchFamily="49" charset="-122"/>
              </a:rPr>
              <a:t>，因此，需要在节点</a:t>
            </a:r>
            <a:r>
              <a:rPr lang="en-US" b="1" dirty="0">
                <a:solidFill>
                  <a:schemeClr val="bg2"/>
                </a:solidFill>
                <a:latin typeface="+mn-lt"/>
                <a:ea typeface="楷体" panose="02010609060101010101" pitchFamily="49" charset="-122"/>
              </a:rPr>
              <a:t>2</a:t>
            </a:r>
            <a:r>
              <a:rPr lang="zh-CN" altLang="en-US" b="1" dirty="0">
                <a:solidFill>
                  <a:schemeClr val="bg2"/>
                </a:solidFill>
                <a:latin typeface="+mn-lt"/>
                <a:ea typeface="楷体" panose="02010609060101010101" pitchFamily="49" charset="-122"/>
              </a:rPr>
              <a:t>和节点</a:t>
            </a:r>
            <a:r>
              <a:rPr lang="en-US" b="1" dirty="0">
                <a:solidFill>
                  <a:schemeClr val="bg2"/>
                </a:solidFill>
                <a:latin typeface="+mn-lt"/>
                <a:ea typeface="楷体" panose="02010609060101010101" pitchFamily="49" charset="-122"/>
              </a:rPr>
              <a:t>3</a:t>
            </a:r>
            <a:r>
              <a:rPr lang="zh-CN" altLang="en-US" b="1" dirty="0">
                <a:solidFill>
                  <a:schemeClr val="bg2"/>
                </a:solidFill>
                <a:latin typeface="+mn-lt"/>
                <a:ea typeface="楷体" panose="02010609060101010101" pitchFamily="49" charset="-122"/>
              </a:rPr>
              <a:t>、节点</a:t>
            </a:r>
            <a:r>
              <a:rPr lang="en-US" b="1" dirty="0">
                <a:solidFill>
                  <a:schemeClr val="bg2"/>
                </a:solidFill>
                <a:latin typeface="+mn-lt"/>
                <a:ea typeface="楷体" panose="02010609060101010101" pitchFamily="49" charset="-122"/>
              </a:rPr>
              <a:t>4</a:t>
            </a:r>
            <a:r>
              <a:rPr lang="zh-CN" altLang="en-US" b="1" dirty="0">
                <a:solidFill>
                  <a:schemeClr val="bg2"/>
                </a:solidFill>
                <a:latin typeface="+mn-lt"/>
                <a:ea typeface="楷体" panose="02010609060101010101" pitchFamily="49" charset="-122"/>
              </a:rPr>
              <a:t>和节点</a:t>
            </a:r>
            <a:r>
              <a:rPr lang="en-US" b="1" dirty="0">
                <a:solidFill>
                  <a:schemeClr val="bg2"/>
                </a:solidFill>
                <a:latin typeface="+mn-lt"/>
                <a:ea typeface="楷体" panose="02010609060101010101" pitchFamily="49" charset="-122"/>
              </a:rPr>
              <a:t>5</a:t>
            </a:r>
            <a:r>
              <a:rPr lang="zh-CN" altLang="en-US" b="1" dirty="0">
                <a:solidFill>
                  <a:schemeClr val="bg2"/>
                </a:solidFill>
                <a:latin typeface="+mn-lt"/>
                <a:ea typeface="楷体" panose="02010609060101010101" pitchFamily="49" charset="-122"/>
              </a:rPr>
              <a:t>、节点</a:t>
            </a:r>
            <a:r>
              <a:rPr lang="en-US" b="1" dirty="0">
                <a:solidFill>
                  <a:schemeClr val="bg2"/>
                </a:solidFill>
                <a:latin typeface="+mn-lt"/>
                <a:ea typeface="楷体" panose="02010609060101010101" pitchFamily="49" charset="-122"/>
              </a:rPr>
              <a:t>6</a:t>
            </a:r>
            <a:r>
              <a:rPr lang="zh-CN" altLang="en-US" b="1" dirty="0">
                <a:solidFill>
                  <a:schemeClr val="bg2"/>
                </a:solidFill>
                <a:latin typeface="+mn-lt"/>
                <a:ea typeface="楷体" panose="02010609060101010101" pitchFamily="49" charset="-122"/>
              </a:rPr>
              <a:t>和节点</a:t>
            </a:r>
            <a:r>
              <a:rPr lang="en-US" b="1" dirty="0">
                <a:solidFill>
                  <a:schemeClr val="bg2"/>
                </a:solidFill>
                <a:latin typeface="+mn-lt"/>
                <a:ea typeface="楷体" panose="02010609060101010101" pitchFamily="49" charset="-122"/>
              </a:rPr>
              <a:t>7</a:t>
            </a:r>
            <a:r>
              <a:rPr lang="zh-CN" altLang="en-US" b="1" dirty="0">
                <a:solidFill>
                  <a:schemeClr val="bg2"/>
                </a:solidFill>
                <a:latin typeface="+mn-lt"/>
                <a:ea typeface="楷体" panose="02010609060101010101" pitchFamily="49" charset="-122"/>
              </a:rPr>
              <a:t>之间建立虚活动。</a:t>
            </a:r>
            <a:endParaRPr lang="en-US" altLang="zh-CN" b="1" dirty="0">
              <a:solidFill>
                <a:schemeClr val="bg2"/>
              </a:solidFill>
              <a:latin typeface="+mn-lt"/>
              <a:ea typeface="楷体" panose="02010609060101010101" pitchFamily="49" charset="-122"/>
            </a:endParaRPr>
          </a:p>
          <a:p>
            <a:pPr marL="447675" lvl="1" indent="9525" algn="l">
              <a:spcBef>
                <a:spcPts val="600"/>
              </a:spcBef>
              <a:spcAft>
                <a:spcPts val="600"/>
              </a:spcAft>
              <a:buClr>
                <a:schemeClr val="bg1">
                  <a:lumMod val="50000"/>
                </a:schemeClr>
              </a:buClr>
              <a:buFont typeface="+mj-ea"/>
              <a:buAutoNum type="circleNumDbPlain" startAt="2"/>
            </a:pPr>
            <a:r>
              <a:rPr lang="zh-CN" altLang="en-US" b="1" dirty="0">
                <a:solidFill>
                  <a:srgbClr val="0000FF"/>
                </a:solidFill>
                <a:latin typeface="楷体" panose="02010609060101010101" pitchFamily="49" charset="-122"/>
                <a:ea typeface="楷体" panose="02010609060101010101" pitchFamily="49" charset="-122"/>
              </a:rPr>
              <a:t>多个起点或终点</a:t>
            </a:r>
            <a:r>
              <a:rPr lang="zh-CN" altLang="en-US" b="1" dirty="0">
                <a:solidFill>
                  <a:schemeClr val="bg1">
                    <a:lumMod val="50000"/>
                  </a:schemeClr>
                </a:solidFill>
                <a:latin typeface="楷体" panose="02010609060101010101" pitchFamily="49" charset="-122"/>
                <a:ea typeface="楷体" panose="02010609060101010101" pitchFamily="49" charset="-122"/>
              </a:rPr>
              <a:t>  </a:t>
            </a:r>
            <a:r>
              <a:rPr lang="zh-CN" altLang="en-US" b="1" dirty="0">
                <a:solidFill>
                  <a:schemeClr val="bg2"/>
                </a:solidFill>
                <a:latin typeface="+mn-lt"/>
                <a:ea typeface="楷体" panose="02010609060101010101" pitchFamily="49" charset="-122"/>
              </a:rPr>
              <a:t>在复杂的箭线图中，为避免多个起点或终点引起的混淆，也可以用虚活动来解决，即用虚活动与所有能立即开始的节点连接，如图</a:t>
            </a:r>
            <a:r>
              <a:rPr lang="en-US" b="1" dirty="0">
                <a:solidFill>
                  <a:schemeClr val="bg2"/>
                </a:solidFill>
                <a:latin typeface="+mn-lt"/>
                <a:ea typeface="楷体" panose="02010609060101010101" pitchFamily="49" charset="-122"/>
              </a:rPr>
              <a:t>5-6 (b)</a:t>
            </a:r>
            <a:r>
              <a:rPr lang="zh-CN" altLang="en-US" b="1" dirty="0">
                <a:solidFill>
                  <a:schemeClr val="bg2"/>
                </a:solidFill>
                <a:latin typeface="+mn-lt"/>
                <a:ea typeface="楷体" panose="02010609060101010101" pitchFamily="49" charset="-122"/>
              </a:rPr>
              <a:t>所示。</a:t>
            </a:r>
            <a:endParaRPr lang="zh-CN" altLang="en-US" b="1" dirty="0">
              <a:solidFill>
                <a:schemeClr val="bg2"/>
              </a:solidFill>
              <a:latin typeface="+mn-lt"/>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前导图法与箭线图法 </a:t>
            </a:r>
            <a:endParaRPr kumimoji="0" lang="en-US" altLang="en-US" b="1">
              <a:solidFill>
                <a:srgbClr val="FF0000"/>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5.4.2 前导图法与箭线图法 </a:t>
            </a:r>
            <a:endParaRPr kumimoji="0" lang="en-US" altLang="en-US" b="1">
              <a:solidFill>
                <a:srgbClr val="FF0000"/>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107522" name="Picture 2"/>
          <p:cNvPicPr>
            <a:picLocks noChangeAspect="1" noChangeArrowheads="1"/>
          </p:cNvPicPr>
          <p:nvPr/>
        </p:nvPicPr>
        <p:blipFill>
          <a:blip r:embed="rId1"/>
          <a:srcRect/>
          <a:stretch>
            <a:fillRect/>
          </a:stretch>
        </p:blipFill>
        <p:spPr bwMode="auto">
          <a:xfrm>
            <a:off x="142844" y="2285992"/>
            <a:ext cx="8858312" cy="4071966"/>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179388" y="2357430"/>
            <a:ext cx="8785225" cy="3554819"/>
          </a:xfrm>
          <a:prstGeom prst="rect">
            <a:avLst/>
          </a:prstGeom>
          <a:noFill/>
          <a:ln w="9525" algn="ctr">
            <a:noFill/>
            <a:miter lim="800000"/>
          </a:ln>
        </p:spPr>
        <p:txBody>
          <a:bodyPr>
            <a:spAutoFit/>
          </a:bodyPr>
          <a:lstStyle/>
          <a:p>
            <a:pPr algn="l"/>
            <a:r>
              <a:rPr lang="zh-CN" altLang="en-US" sz="3200" b="1" dirty="0">
                <a:solidFill>
                  <a:schemeClr val="bg2"/>
                </a:solidFill>
                <a:latin typeface="楷体" panose="02010609060101010101" pitchFamily="49" charset="-122"/>
                <a:ea typeface="楷体" panose="02010609060101010101" pitchFamily="49" charset="-122"/>
              </a:rPr>
              <a:t>在箭线图表示法中，有三个基本原则：</a:t>
            </a:r>
            <a:endParaRPr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箭线图中每一事件必须有唯一的一个代号，即箭线图中不会有相同的代号；</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任两项活动的紧前事件和紧后事件至少有一个不相同，节点序号沿箭线方向越来越大；</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流入（流出）同一节点的活动，均有共同的后继活动（或先行活动）。</a:t>
            </a:r>
            <a:endParaRPr lang="zh-CN" altLang="en-US" sz="2400" b="1" dirty="0">
              <a:solidFill>
                <a:schemeClr val="bg2"/>
              </a:solidFill>
              <a:latin typeface="楷体" panose="02010609060101010101" pitchFamily="49" charset="-122"/>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5.4.2 前导图法与箭线图法 </a:t>
            </a:r>
            <a:endParaRPr kumimoji="0" lang="en-US" altLang="en-US" b="1">
              <a:solidFill>
                <a:schemeClr val="hlink"/>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7" name="Rectangle 6"/>
          <p:cNvSpPr>
            <a:spLocks noChangeArrowheads="1"/>
          </p:cNvSpPr>
          <p:nvPr/>
        </p:nvSpPr>
        <p:spPr bwMode="auto">
          <a:xfrm>
            <a:off x="71406" y="2285992"/>
            <a:ext cx="8785225" cy="461665"/>
          </a:xfrm>
          <a:prstGeom prst="rect">
            <a:avLst/>
          </a:prstGeom>
          <a:noFill/>
          <a:ln w="9525" algn="ctr">
            <a:noFill/>
            <a:miter lim="800000"/>
          </a:ln>
        </p:spPr>
        <p:txBody>
          <a:bodyPr>
            <a:spAutoFit/>
          </a:bodyPr>
          <a:lstStyle/>
          <a:p>
            <a:pPr algn="l"/>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例</a:t>
            </a:r>
            <a:r>
              <a:rPr kumimoji="0" lang="en-US" altLang="en-US" sz="2400" b="1" dirty="0">
                <a:solidFill>
                  <a:srgbClr val="0000FF"/>
                </a:solidFill>
                <a:latin typeface="楷体" panose="02010609060101010101" pitchFamily="49" charset="-122"/>
                <a:ea typeface="楷体" panose="02010609060101010101" pitchFamily="49" charset="-122"/>
              </a:rPr>
              <a:t>5-2</a:t>
            </a:r>
            <a:r>
              <a:rPr kumimoji="0" lang="en-US" altLang="zh-CN" sz="2400" b="1" dirty="0">
                <a:solidFill>
                  <a:srgbClr val="0000FF"/>
                </a:solidFill>
                <a:latin typeface="楷体" panose="02010609060101010101" pitchFamily="49" charset="-122"/>
                <a:ea typeface="楷体" panose="02010609060101010101" pitchFamily="49" charset="-122"/>
              </a:rPr>
              <a:t>】</a:t>
            </a:r>
            <a:r>
              <a:rPr kumimoji="0" lang="zh-CN" altLang="en-US" sz="2400" b="1" dirty="0">
                <a:solidFill>
                  <a:srgbClr val="0000FF"/>
                </a:solidFill>
                <a:latin typeface="楷体" panose="02010609060101010101" pitchFamily="49" charset="-122"/>
                <a:ea typeface="楷体" panose="02010609060101010101" pitchFamily="49" charset="-122"/>
              </a:rPr>
              <a:t>某项目活动列表如表</a:t>
            </a:r>
            <a:r>
              <a:rPr kumimoji="0" lang="en-US" altLang="en-US" sz="2400" b="1" dirty="0">
                <a:solidFill>
                  <a:srgbClr val="0000FF"/>
                </a:solidFill>
                <a:latin typeface="楷体" panose="02010609060101010101" pitchFamily="49" charset="-122"/>
                <a:ea typeface="楷体" panose="02010609060101010101" pitchFamily="49" charset="-122"/>
              </a:rPr>
              <a:t>5-4</a:t>
            </a:r>
            <a:r>
              <a:rPr kumimoji="0" lang="zh-CN" altLang="en-US" sz="2400" b="1" dirty="0">
                <a:solidFill>
                  <a:srgbClr val="0000FF"/>
                </a:solidFill>
                <a:latin typeface="楷体" panose="02010609060101010101" pitchFamily="49" charset="-122"/>
                <a:ea typeface="楷体" panose="02010609060101010101" pitchFamily="49" charset="-122"/>
              </a:rPr>
              <a:t>所示，绘出该项目的箭线图。</a:t>
            </a:r>
            <a:endParaRPr kumimoji="0" lang="zh-CN" altLang="en-US" sz="2400" b="1" dirty="0">
              <a:solidFill>
                <a:srgbClr val="0000FF"/>
              </a:solidFill>
              <a:latin typeface="楷体" panose="02010609060101010101" pitchFamily="49" charset="-122"/>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5.4.2 前导图法与箭线图法 </a:t>
            </a:r>
            <a:endParaRPr kumimoji="0" lang="en-US" altLang="en-US" b="1">
              <a:solidFill>
                <a:schemeClr val="hlink"/>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108546" name="Picture 2"/>
          <p:cNvPicPr>
            <a:picLocks noChangeAspect="1" noChangeArrowheads="1"/>
          </p:cNvPicPr>
          <p:nvPr/>
        </p:nvPicPr>
        <p:blipFill>
          <a:blip r:embed="rId1"/>
          <a:srcRect/>
          <a:stretch>
            <a:fillRect/>
          </a:stretch>
        </p:blipFill>
        <p:spPr bwMode="auto">
          <a:xfrm>
            <a:off x="285720" y="2928934"/>
            <a:ext cx="8643998" cy="3429024"/>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8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8675" name="Text Box 3"/>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P.115</a:t>
            </a:r>
            <a:endParaRPr lang="en-US" altLang="zh-CN" b="1" dirty="0">
              <a:solidFill>
                <a:schemeClr val="bg2"/>
              </a:solidFill>
              <a:ea typeface="楷体" panose="02010609060101010101" pitchFamily="49" charset="-122"/>
            </a:endParaRPr>
          </a:p>
        </p:txBody>
      </p:sp>
      <p:sp>
        <p:nvSpPr>
          <p:cNvPr id="2867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8678" name="Rectangle 8"/>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8679" name="Rectangle 9"/>
          <p:cNvSpPr>
            <a:spLocks noChangeArrowheads="1"/>
          </p:cNvSpPr>
          <p:nvPr/>
        </p:nvSpPr>
        <p:spPr bwMode="auto">
          <a:xfrm>
            <a:off x="323850" y="1341438"/>
            <a:ext cx="4328429"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5.4.2 前导图法与箭线图法 </a:t>
            </a:r>
            <a:endParaRPr kumimoji="0" lang="en-US" altLang="en-US" b="1">
              <a:solidFill>
                <a:schemeClr val="hlink"/>
              </a:solidFill>
              <a:ea typeface="楷体_GB2312" pitchFamily="49" charset="-122"/>
            </a:endParaRPr>
          </a:p>
        </p:txBody>
      </p:sp>
      <p:sp>
        <p:nvSpPr>
          <p:cNvPr id="28680" name="Text Box 10"/>
          <p:cNvSpPr txBox="1">
            <a:spLocks noChangeArrowheads="1"/>
          </p:cNvSpPr>
          <p:nvPr/>
        </p:nvSpPr>
        <p:spPr bwMode="auto">
          <a:xfrm>
            <a:off x="214282" y="1785926"/>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dirty="0">
                <a:solidFill>
                  <a:schemeClr val="bg1"/>
                </a:solidFill>
                <a:latin typeface="楷体" panose="02010609060101010101" pitchFamily="49" charset="-122"/>
                <a:ea typeface="楷体" panose="02010609060101010101" pitchFamily="49" charset="-122"/>
              </a:rPr>
              <a:t>2）箭线图法（</a:t>
            </a:r>
            <a:r>
              <a:rPr kumimoji="0" lang="en-US" altLang="en-US" sz="2400" b="1" dirty="0">
                <a:solidFill>
                  <a:schemeClr val="bg1"/>
                </a:solidFill>
                <a:ea typeface="楷体" panose="02010609060101010101" pitchFamily="49" charset="-122"/>
                <a:cs typeface="Times New Roman" panose="02020603050405020304" pitchFamily="18" charset="0"/>
              </a:rPr>
              <a:t>ADM</a:t>
            </a:r>
            <a:r>
              <a:rPr kumimoji="0" lang="en-US" altLang="en-US" sz="2400" b="1" dirty="0">
                <a:solidFill>
                  <a:schemeClr val="bg1"/>
                </a:solidFill>
                <a:latin typeface="楷体" panose="02010609060101010101" pitchFamily="49" charset="-122"/>
                <a:ea typeface="楷体" panose="02010609060101010101" pitchFamily="49" charset="-122"/>
              </a:rPr>
              <a:t>）</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109570" name="Picture 2"/>
          <p:cNvPicPr>
            <a:picLocks noChangeAspect="1" noChangeArrowheads="1"/>
          </p:cNvPicPr>
          <p:nvPr/>
        </p:nvPicPr>
        <p:blipFill>
          <a:blip r:embed="rId1"/>
          <a:srcRect/>
          <a:stretch>
            <a:fillRect/>
          </a:stretch>
        </p:blipFill>
        <p:spPr bwMode="auto">
          <a:xfrm>
            <a:off x="71438" y="2343150"/>
            <a:ext cx="8929718" cy="394337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9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355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sz="2400" b="1" dirty="0">
              <a:solidFill>
                <a:schemeClr val="bg2"/>
              </a:solidFill>
              <a:ea typeface="楷体" panose="02010609060101010101" pitchFamily="49" charset="-122"/>
            </a:endParaRPr>
          </a:p>
        </p:txBody>
      </p:sp>
      <p:sp>
        <p:nvSpPr>
          <p:cNvPr id="2355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3557" name="Rectangle 5"/>
          <p:cNvSpPr>
            <a:spLocks noChangeArrowheads="1"/>
          </p:cNvSpPr>
          <p:nvPr/>
        </p:nvSpPr>
        <p:spPr bwMode="auto">
          <a:xfrm>
            <a:off x="285720" y="1500174"/>
            <a:ext cx="8572560" cy="4755148"/>
          </a:xfrm>
          <a:prstGeom prst="rect">
            <a:avLst/>
          </a:prstGeom>
          <a:noFill/>
          <a:ln w="9525" algn="ctr">
            <a:noFill/>
            <a:miter lim="800000"/>
          </a:ln>
        </p:spPr>
        <p:txBody>
          <a:bodyPr wrap="square">
            <a:spAutoFit/>
          </a:bodyPr>
          <a:lstStyle/>
          <a:p>
            <a:pPr algn="l">
              <a:spcBef>
                <a:spcPts val="12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项目活动排序的结果是得到一张描述项目各项活动之间相互关系的</a:t>
            </a:r>
            <a:r>
              <a:rPr lang="zh-CN" altLang="en-US" sz="3600" b="1" dirty="0">
                <a:solidFill>
                  <a:srgbClr val="FF0000"/>
                </a:solidFill>
                <a:latin typeface="楷体" panose="02010609060101010101" pitchFamily="49" charset="-122"/>
                <a:ea typeface="楷体" panose="02010609060101010101" pitchFamily="49" charset="-122"/>
              </a:rPr>
              <a:t>项目网络图</a:t>
            </a:r>
            <a:r>
              <a:rPr lang="zh-CN" altLang="en-US" sz="3600" b="1" dirty="0">
                <a:solidFill>
                  <a:schemeClr val="bg2"/>
                </a:solidFill>
                <a:latin typeface="楷体" panose="02010609060101010101" pitchFamily="49" charset="-122"/>
                <a:ea typeface="楷体" panose="02010609060101010101" pitchFamily="49" charset="-122"/>
              </a:rPr>
              <a:t>和可能需要更新的活动清单、活动属性、里程碑清单、风险登记册等项目文件。</a:t>
            </a:r>
            <a:endParaRPr lang="zh-CN" altLang="en-US" sz="36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项目网络图是表示项目各项活动以及活动之间的逻辑关系和依赖关系的示意图，它可以包括整个项目的全部细节，也可以只包括项目的主要活动及其状况。</a:t>
            </a:r>
            <a:endParaRPr lang="zh-CN" altLang="en-US" sz="3600" b="1" dirty="0">
              <a:solidFill>
                <a:schemeClr val="bg2"/>
              </a:solidFill>
              <a:latin typeface="楷体" panose="02010609060101010101" pitchFamily="49" charset="-122"/>
              <a:ea typeface="楷体" panose="02010609060101010101" pitchFamily="49" charset="-122"/>
            </a:endParaRPr>
          </a:p>
        </p:txBody>
      </p:sp>
      <p:sp>
        <p:nvSpPr>
          <p:cNvPr id="2355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355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sz="2400" b="1" dirty="0">
              <a:solidFill>
                <a:schemeClr val="bg2"/>
              </a:solidFill>
              <a:ea typeface="楷体" panose="02010609060101010101" pitchFamily="49" charset="-122"/>
            </a:endParaRPr>
          </a:p>
        </p:txBody>
      </p:sp>
      <p:sp>
        <p:nvSpPr>
          <p:cNvPr id="23556"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3557" name="Rectangle 5"/>
          <p:cNvSpPr>
            <a:spLocks noChangeArrowheads="1"/>
          </p:cNvSpPr>
          <p:nvPr/>
        </p:nvSpPr>
        <p:spPr bwMode="auto">
          <a:xfrm>
            <a:off x="285720" y="1989138"/>
            <a:ext cx="8572560" cy="4338320"/>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项目网络图通常附有简要的文字说明，并且对于特别的排序都应该有更详细的说明。</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在项目活动定义和项目活动排序的过程中，可能会发现原来的项目</a:t>
            </a:r>
            <a:r>
              <a:rPr lang="en-US" sz="3200" b="1" dirty="0">
                <a:solidFill>
                  <a:schemeClr val="bg2"/>
                </a:solidFill>
                <a:ea typeface="楷体" panose="02010609060101010101" pitchFamily="49" charset="-122"/>
                <a:cs typeface="Times New Roman" panose="02020603050405020304" pitchFamily="18" charset="0"/>
              </a:rPr>
              <a:t>WBS</a:t>
            </a:r>
            <a:r>
              <a:rPr lang="zh-CN" altLang="en-US" sz="3200" b="1" dirty="0">
                <a:solidFill>
                  <a:schemeClr val="bg2"/>
                </a:solidFill>
                <a:latin typeface="楷体" panose="02010609060101010101" pitchFamily="49" charset="-122"/>
                <a:ea typeface="楷体" panose="02010609060101010101" pitchFamily="49" charset="-122"/>
              </a:rPr>
              <a:t>中存在的各种问题，</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因此需要对一些活动进行再分解或重新定义，这就要求及时对项目活动清单进行更新，也就可能会对项目管理计划及项目范围说明进行调整，形成新的版本。</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23558"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5.4 </a:t>
            </a:r>
            <a:r>
              <a:rPr kumimoji="0" lang="en-US" altLang="en-US" sz="3000" b="1" dirty="0" err="1">
                <a:ea typeface="楷体" panose="02010609060101010101" pitchFamily="49" charset="-122"/>
              </a:rPr>
              <a:t>活动排序</a:t>
            </a:r>
            <a:endParaRPr kumimoji="0" lang="en-US" altLang="en-US" sz="3000" b="1" dirty="0">
              <a:ea typeface="楷体" panose="02010609060101010101" pitchFamily="49" charset="-122"/>
            </a:endParaRPr>
          </a:p>
        </p:txBody>
      </p:sp>
      <p:sp>
        <p:nvSpPr>
          <p:cNvPr id="23559" name="Rectangle 7"/>
          <p:cNvSpPr>
            <a:spLocks noChangeArrowheads="1"/>
          </p:cNvSpPr>
          <p:nvPr/>
        </p:nvSpPr>
        <p:spPr bwMode="auto">
          <a:xfrm>
            <a:off x="323850" y="1341438"/>
            <a:ext cx="375412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5.4.1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活动排序的依据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rPr>
              <a:t>与</a:t>
            </a: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5400" b="1" dirty="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214282" y="1428736"/>
            <a:ext cx="8569325" cy="4755148"/>
          </a:xfrm>
          <a:prstGeom prst="rect">
            <a:avLst/>
          </a:prstGeom>
          <a:noFill/>
          <a:ln w="9525">
            <a:noFill/>
            <a:miter lim="800000"/>
          </a:ln>
        </p:spPr>
        <p:txBody>
          <a:bodyPr>
            <a:spAutoFit/>
          </a:bodyPr>
          <a:lstStyle/>
          <a:p>
            <a:pPr algn="l">
              <a:spcBef>
                <a:spcPts val="1200"/>
              </a:spcBef>
              <a:spcAft>
                <a:spcPts val="600"/>
              </a:spcAft>
            </a:pPr>
            <a:r>
              <a:rPr lang="zh-CN" altLang="en-US" sz="3600" b="1" dirty="0">
                <a:solidFill>
                  <a:srgbClr val="FF0000"/>
                </a:solidFill>
                <a:latin typeface="楷体" panose="02010609060101010101" pitchFamily="49" charset="-122"/>
                <a:ea typeface="楷体" panose="02010609060101010101" pitchFamily="49" charset="-122"/>
              </a:rPr>
              <a:t>活动资源估算</a:t>
            </a:r>
            <a:r>
              <a:rPr lang="zh-CN" altLang="en-US" sz="3600" b="1" dirty="0">
                <a:solidFill>
                  <a:schemeClr val="bg2"/>
                </a:solidFill>
                <a:latin typeface="楷体" panose="02010609060101010101" pitchFamily="49" charset="-122"/>
                <a:ea typeface="楷体" panose="02010609060101010101" pitchFamily="49" charset="-122"/>
              </a:rPr>
              <a:t>包括决定需要什么资源（人力、设备、原料）和每一种资源应该需要多少，以及何时使用资源来有效地执行项目活动。</a:t>
            </a:r>
            <a:endParaRPr lang="zh-CN" altLang="en-US" sz="36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600" b="1" dirty="0">
                <a:solidFill>
                  <a:srgbClr val="FF0000"/>
                </a:solidFill>
                <a:latin typeface="楷体" panose="02010609060101010101" pitchFamily="49" charset="-122"/>
                <a:ea typeface="楷体" panose="02010609060101010101" pitchFamily="49" charset="-122"/>
              </a:rPr>
              <a:t>活动持续时间估算</a:t>
            </a:r>
            <a:r>
              <a:rPr lang="zh-CN" altLang="en-US" sz="3600" b="1" dirty="0">
                <a:solidFill>
                  <a:schemeClr val="bg2"/>
                </a:solidFill>
                <a:latin typeface="楷体" panose="02010609060101010101" pitchFamily="49" charset="-122"/>
                <a:ea typeface="楷体" panose="02010609060101010101" pitchFamily="49" charset="-122"/>
              </a:rPr>
              <a:t>是项目制定计划的一项重要工作，它直接关系到各事项、各工作网络时间的计算和完成整个项目任务所需要的总时间。</a:t>
            </a:r>
            <a:endParaRPr lang="zh-CN" altLang="en-US" sz="36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724370"/>
          </a:xfrm>
          <a:prstGeom prst="rect">
            <a:avLst/>
          </a:prstGeom>
          <a:noFill/>
          <a:ln w="9525">
            <a:noFill/>
            <a:miter lim="800000"/>
          </a:ln>
        </p:spPr>
        <p:txBody>
          <a:bodyPr>
            <a:spAutoFit/>
          </a:bodyPr>
          <a:lstStyle/>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活动资源估算的方法有专家判断法、多方案分析法、自下而上的估算方法、使用估算软件等。</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如果某项活动存在替代的方案，或提供的资源有替代支持的可能，则可制定相应的替换决策。</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项目管理软件可以帮助计划、组织和管理备用资源，并对资源进行估算。</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依靠软件的强大功能，可以定义资源可用性、费率以及不同的资源日历。</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3216910"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5.5.1 </a:t>
            </a:r>
            <a:r>
              <a:rPr kumimoji="0" lang="en-US" altLang="en-US" b="1" dirty="0" err="1">
                <a:solidFill>
                  <a:srgbClr val="FF0000"/>
                </a:solidFill>
                <a:latin typeface="楷体" panose="02010609060101010101" pitchFamily="49" charset="-122"/>
                <a:ea typeface="楷体" panose="02010609060101010101" pitchFamily="49" charset="-122"/>
              </a:rPr>
              <a:t>活动资源估算</a:t>
            </a:r>
            <a:r>
              <a:rPr kumimoji="0" lang="en-US" altLang="en-US" b="1" dirty="0">
                <a:solidFill>
                  <a:schemeClr val="hlink"/>
                </a:solidFill>
                <a:ea typeface="楷体_GB2312" pitchFamily="49" charset="-122"/>
              </a:rPr>
              <a:t> </a:t>
            </a:r>
            <a:endParaRPr kumimoji="0" lang="en-US" altLang="en-US" b="1" dirty="0">
              <a:solidFill>
                <a:schemeClr val="hlink"/>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339650"/>
          </a:xfrm>
          <a:prstGeom prst="rect">
            <a:avLst/>
          </a:prstGeom>
          <a:noFill/>
          <a:ln w="9525">
            <a:noFill/>
            <a:miter lim="800000"/>
          </a:ln>
        </p:spPr>
        <p:txBody>
          <a:bodyPr>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复杂的活动需要被分解得更细以便于资源估算。将每个工作所需要的资源估算出来，然后汇总起来即是整个活动所需要的资源数量。</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活动之间可能有关联或没有关联，都将影响这些资源的使用。</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如果是关联的，这种资源的估算活动和使用需要被记录，这就是资源估算中的自下而上的估算。</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321691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5.5.1 </a:t>
            </a:r>
            <a:r>
              <a:rPr kumimoji="0" lang="en-US" altLang="en-US" b="1">
                <a:solidFill>
                  <a:srgbClr val="FF0000"/>
                </a:solidFill>
                <a:latin typeface="楷体" panose="02010609060101010101" pitchFamily="49" charset="-122"/>
                <a:ea typeface="楷体" panose="02010609060101010101" pitchFamily="49" charset="-122"/>
              </a:rPr>
              <a:t>活动资源估算</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493538"/>
          </a:xfrm>
          <a:prstGeom prst="rect">
            <a:avLst/>
          </a:prstGeom>
          <a:noFill/>
          <a:ln w="9525">
            <a:noFill/>
            <a:miter lim="800000"/>
          </a:ln>
        </p:spPr>
        <p:txBody>
          <a:bodyPr>
            <a:spAutoFit/>
          </a:bodyPr>
          <a:lstStyle/>
          <a:p>
            <a:pPr algn="l">
              <a:spcBef>
                <a:spcPts val="1200"/>
              </a:spcBef>
              <a:spcAft>
                <a:spcPts val="600"/>
              </a:spcAft>
            </a:pPr>
            <a:r>
              <a:rPr lang="zh-CN" altLang="en-US" sz="3200" b="1" dirty="0">
                <a:solidFill>
                  <a:schemeClr val="bg2"/>
                </a:solidFill>
                <a:latin typeface="+mn-lt"/>
                <a:ea typeface="楷体" panose="02010609060101010101" pitchFamily="49" charset="-122"/>
              </a:rPr>
              <a:t>活动资源估算过程的输出是识别和说明工作包中的每一个计划活动所需要的资源类型和数量，这些资源汇总即决定每个工作包所需要的资源。</a:t>
            </a:r>
            <a:endParaRPr lang="en-US" altLang="zh-CN" sz="3200" b="1" dirty="0">
              <a:solidFill>
                <a:schemeClr val="bg2"/>
              </a:solidFill>
              <a:latin typeface="+mn-lt"/>
              <a:ea typeface="楷体" panose="02010609060101010101" pitchFamily="49" charset="-122"/>
            </a:endParaRPr>
          </a:p>
          <a:p>
            <a:pPr algn="l">
              <a:spcBef>
                <a:spcPts val="1200"/>
              </a:spcBef>
              <a:spcAft>
                <a:spcPts val="600"/>
              </a:spcAft>
            </a:pPr>
            <a:r>
              <a:rPr lang="en-US" sz="3200" b="1" dirty="0">
                <a:solidFill>
                  <a:schemeClr val="bg2"/>
                </a:solidFill>
                <a:latin typeface="+mn-lt"/>
                <a:ea typeface="楷体" panose="02010609060101010101" pitchFamily="49" charset="-122"/>
              </a:rPr>
              <a:t>WBS</a:t>
            </a:r>
            <a:r>
              <a:rPr lang="zh-CN" altLang="en-US" sz="3200" b="1" dirty="0">
                <a:solidFill>
                  <a:schemeClr val="bg2"/>
                </a:solidFill>
                <a:latin typeface="+mn-lt"/>
                <a:ea typeface="楷体" panose="02010609060101010101" pitchFamily="49" charset="-122"/>
              </a:rPr>
              <a:t>中高层工作的资源需求可以由底层工作的资源估算汇总得出。</a:t>
            </a:r>
            <a:endParaRPr lang="en-US" altLang="zh-CN" sz="3200" b="1" dirty="0">
              <a:solidFill>
                <a:schemeClr val="bg2"/>
              </a:solidFill>
              <a:latin typeface="+mn-lt"/>
              <a:ea typeface="楷体" panose="02010609060101010101" pitchFamily="49" charset="-122"/>
            </a:endParaRPr>
          </a:p>
          <a:p>
            <a:pPr algn="l">
              <a:spcBef>
                <a:spcPts val="1200"/>
              </a:spcBef>
              <a:spcAft>
                <a:spcPts val="600"/>
              </a:spcAft>
            </a:pPr>
            <a:r>
              <a:rPr lang="zh-CN" altLang="en-US" sz="3200" b="1" dirty="0">
                <a:solidFill>
                  <a:schemeClr val="bg2"/>
                </a:solidFill>
                <a:latin typeface="+mn-lt"/>
                <a:ea typeface="楷体" panose="02010609060101010101" pitchFamily="49" charset="-122"/>
              </a:rPr>
              <a:t>资源要求的文件可能包括资源估算的依据，所需资源的类型、资源可用情况及使用时所做的假设。</a:t>
            </a:r>
            <a:endParaRPr lang="zh-CN" altLang="en-US" sz="3200" b="1" dirty="0">
              <a:solidFill>
                <a:schemeClr val="bg2"/>
              </a:solidFill>
              <a:latin typeface="+mn-lt"/>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P.116</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321691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5.5.1 </a:t>
            </a:r>
            <a:r>
              <a:rPr kumimoji="0" lang="en-US" altLang="en-US" b="1">
                <a:solidFill>
                  <a:srgbClr val="FF0000"/>
                </a:solidFill>
                <a:latin typeface="楷体" panose="02010609060101010101" pitchFamily="49" charset="-122"/>
                <a:ea typeface="楷体" panose="02010609060101010101" pitchFamily="49" charset="-122"/>
              </a:rPr>
              <a:t>活动资源估算</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154984"/>
          </a:xfrm>
          <a:prstGeom prst="rect">
            <a:avLst/>
          </a:prstGeom>
          <a:noFill/>
          <a:ln w="9525">
            <a:noFill/>
            <a:miter lim="800000"/>
          </a:ln>
        </p:spPr>
        <p:txBody>
          <a:bodyPr>
            <a:spAutoFit/>
          </a:bodyPr>
          <a:lstStyle/>
          <a:p>
            <a:pPr algn="l">
              <a:spcBef>
                <a:spcPts val="1200"/>
              </a:spcBef>
              <a:spcAft>
                <a:spcPts val="1200"/>
              </a:spcAft>
            </a:pPr>
            <a:r>
              <a:rPr lang="zh-CN" altLang="en-US" b="1" dirty="0">
                <a:solidFill>
                  <a:schemeClr val="bg2"/>
                </a:solidFill>
                <a:ea typeface="楷体" panose="02010609060101010101" pitchFamily="49" charset="-122"/>
              </a:rPr>
              <a:t>项目活动持续时间的估算主要依据项目活动清单、项目的约束条件和假设前提、项目资源的要求、组织的过程资产、项目成本估算及风险记录等。</a:t>
            </a:r>
            <a:endParaRPr lang="zh-CN" altLang="en-US" b="1" dirty="0">
              <a:solidFill>
                <a:schemeClr val="bg2"/>
              </a:solidFill>
              <a:ea typeface="楷体" panose="02010609060101010101" pitchFamily="49" charset="-122"/>
            </a:endParaRPr>
          </a:p>
          <a:p>
            <a:pPr algn="l">
              <a:spcBef>
                <a:spcPts val="1200"/>
              </a:spcBef>
              <a:spcAft>
                <a:spcPts val="1200"/>
              </a:spcAft>
            </a:pPr>
            <a:r>
              <a:rPr lang="zh-CN" altLang="en-US" b="1" dirty="0">
                <a:solidFill>
                  <a:schemeClr val="bg2"/>
                </a:solidFill>
                <a:ea typeface="楷体" panose="02010609060101010101" pitchFamily="49" charset="-122"/>
              </a:rPr>
              <a:t>活动的估算资源要求对计划活动的持续时间有较大的影响，因为分配给计划活动的资源以及这些资源能否可用，将大大影响大多数项目的持续时间。</a:t>
            </a:r>
            <a:endParaRPr lang="en-US" altLang="zh-CN" b="1" dirty="0">
              <a:solidFill>
                <a:schemeClr val="bg2"/>
              </a:solidFill>
              <a:ea typeface="楷体" panose="02010609060101010101" pitchFamily="49" charset="-122"/>
            </a:endParaRPr>
          </a:p>
          <a:p>
            <a:pPr algn="l">
              <a:spcBef>
                <a:spcPts val="1200"/>
              </a:spcBef>
              <a:spcAft>
                <a:spcPts val="1200"/>
              </a:spcAft>
            </a:pPr>
            <a:r>
              <a:rPr lang="zh-CN" altLang="en-US" b="1" dirty="0">
                <a:solidFill>
                  <a:schemeClr val="bg2"/>
                </a:solidFill>
                <a:ea typeface="楷体" panose="02010609060101010101" pitchFamily="49" charset="-122"/>
              </a:rPr>
              <a:t>对于</a:t>
            </a:r>
            <a:r>
              <a:rPr lang="en-US" b="1" dirty="0">
                <a:solidFill>
                  <a:schemeClr val="bg2"/>
                </a:solidFill>
                <a:ea typeface="楷体" panose="02010609060101010101" pitchFamily="49" charset="-122"/>
              </a:rPr>
              <a:t>IT</a:t>
            </a:r>
            <a:r>
              <a:rPr lang="zh-CN" altLang="en-US" b="1" dirty="0">
                <a:solidFill>
                  <a:schemeClr val="bg2"/>
                </a:solidFill>
                <a:ea typeface="楷体" panose="02010609060101010101" pitchFamily="49" charset="-122"/>
              </a:rPr>
              <a:t>项目来说，其项目活动的时间还会受到资源的数量多少和质量高低的影响。</a:t>
            </a:r>
            <a:endParaRPr lang="zh-CN" altLang="en-US" b="1" dirty="0">
              <a:solidFill>
                <a:schemeClr val="bg2"/>
              </a:solidFill>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5.5.3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的依据</a:t>
            </a:r>
            <a:r>
              <a:rPr kumimoji="0" lang="en-US" altLang="en-US" b="1">
                <a:solidFill>
                  <a:schemeClr val="hlink"/>
                </a:solidFill>
                <a:ea typeface="楷体_GB2312" pitchFamily="49" charset="-122"/>
              </a:rPr>
              <a:t> </a:t>
            </a:r>
            <a:endParaRPr kumimoji="0" lang="en-US" altLang="en-US" b="1">
              <a:solidFill>
                <a:schemeClr val="hlink"/>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093428"/>
          </a:xfrm>
          <a:prstGeom prst="rect">
            <a:avLst/>
          </a:prstGeom>
          <a:noFill/>
          <a:ln w="9525">
            <a:noFill/>
            <a:miter lim="800000"/>
          </a:ln>
        </p:spPr>
        <p:txBody>
          <a:bodyPr>
            <a:spAutoFit/>
          </a:bodyPr>
          <a:lstStyle/>
          <a:p>
            <a:pPr algn="l">
              <a:spcBef>
                <a:spcPts val="1200"/>
              </a:spcBef>
              <a:spcAft>
                <a:spcPts val="1200"/>
              </a:spcAft>
            </a:pPr>
            <a:r>
              <a:rPr lang="zh-CN" altLang="en-US" sz="4000" b="1" dirty="0">
                <a:solidFill>
                  <a:schemeClr val="bg2"/>
                </a:solidFill>
                <a:latin typeface="楷体" panose="02010609060101010101" pitchFamily="49" charset="-122"/>
                <a:ea typeface="楷体" panose="02010609060101010101" pitchFamily="49" charset="-122"/>
              </a:rPr>
              <a:t>已识别的项目风险对于项目的活动持续时间估算有着重要的影响。</a:t>
            </a:r>
            <a:endParaRPr lang="en-US" altLang="zh-CN" sz="4000" b="1" dirty="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4000" b="1" dirty="0">
                <a:solidFill>
                  <a:schemeClr val="bg2"/>
                </a:solidFill>
                <a:latin typeface="楷体" panose="02010609060101010101" pitchFamily="49" charset="-122"/>
                <a:ea typeface="楷体" panose="02010609060101010101" pitchFamily="49" charset="-122"/>
              </a:rPr>
              <a:t>对于每一个计划活动，项目团队都要考虑在基准的持续时间估算中加入风险的后果，特别是发生概率或后果评定分数高的那些风险。</a:t>
            </a:r>
            <a:endParaRPr lang="zh-CN" altLang="en-US" sz="40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5.5.2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的依据</a:t>
            </a:r>
            <a:r>
              <a:rPr kumimoji="0" lang="en-US" altLang="en-US" b="1">
                <a:solidFill>
                  <a:schemeClr val="hlink"/>
                </a:solidFill>
                <a:ea typeface="楷体_GB2312" pitchFamily="49" charset="-122"/>
              </a:rPr>
              <a:t> </a:t>
            </a:r>
            <a:endParaRPr kumimoji="0" lang="en-US" altLang="en-US" b="1">
              <a:solidFill>
                <a:schemeClr val="hlink"/>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339650"/>
          </a:xfrm>
          <a:prstGeom prst="rect">
            <a:avLst/>
          </a:prstGeom>
          <a:noFill/>
          <a:ln w="9525">
            <a:noFill/>
            <a:miter lim="800000"/>
          </a:ln>
        </p:spPr>
        <p:txBody>
          <a:bodyPr>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估算活动持续时间的方法有专家评估法、类比估算法、历时的三点估算法等。</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类比估算法是以过去类似项目活动的实际时间为基础，通过类比来推测估算当前项目活动所需的时间。</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当项目相关性的资料和信息有限，而先前活动与当前活动又有本质上的类似性时，用这种方法来估算项目活动历时是一种较为常用的方法。</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5.5.3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的方法</a:t>
            </a:r>
            <a:endParaRPr kumimoji="0" lang="en-US" altLang="en-US" b="1">
              <a:solidFill>
                <a:schemeClr val="hlin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001095"/>
          </a:xfrm>
          <a:prstGeom prst="rect">
            <a:avLst/>
          </a:prstGeom>
          <a:noFill/>
          <a:ln w="9525">
            <a:noFill/>
            <a:miter lim="800000"/>
          </a:ln>
        </p:spPr>
        <p:txBody>
          <a:bodyPr>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历时的三点估算法是一种模拟估算，以一定的假设条件为前提，估算多种活动时间的方法。最常用的方法是三点估算法。</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其步骤是：首先估计出项目各个活动的三种可能时间，即最乐观时间</a:t>
            </a:r>
            <a:r>
              <a:rPr lang="en-US" b="1" dirty="0">
                <a:solidFill>
                  <a:schemeClr val="bg2"/>
                </a:solidFill>
                <a:latin typeface="楷体" panose="02010609060101010101" pitchFamily="49" charset="-122"/>
                <a:ea typeface="楷体" panose="02010609060101010101" pitchFamily="49" charset="-122"/>
              </a:rPr>
              <a:t>Ta</a:t>
            </a:r>
            <a:r>
              <a:rPr lang="zh-CN" altLang="en-US" b="1" dirty="0">
                <a:solidFill>
                  <a:schemeClr val="bg2"/>
                </a:solidFill>
                <a:latin typeface="楷体" panose="02010609060101010101" pitchFamily="49" charset="-122"/>
                <a:ea typeface="楷体" panose="02010609060101010101" pitchFamily="49" charset="-122"/>
              </a:rPr>
              <a:t>、最悲观时间</a:t>
            </a:r>
            <a:r>
              <a:rPr lang="en-US" b="1" dirty="0">
                <a:solidFill>
                  <a:schemeClr val="bg2"/>
                </a:solidFill>
                <a:latin typeface="楷体" panose="02010609060101010101" pitchFamily="49" charset="-122"/>
                <a:ea typeface="楷体" panose="02010609060101010101" pitchFamily="49" charset="-122"/>
              </a:rPr>
              <a:t>Tb</a:t>
            </a:r>
            <a:r>
              <a:rPr lang="zh-CN" altLang="en-US" b="1" dirty="0">
                <a:solidFill>
                  <a:schemeClr val="bg2"/>
                </a:solidFill>
                <a:latin typeface="楷体" panose="02010609060101010101" pitchFamily="49" charset="-122"/>
                <a:ea typeface="楷体" panose="02010609060101010101" pitchFamily="49" charset="-122"/>
              </a:rPr>
              <a:t>和正常时间</a:t>
            </a:r>
            <a:r>
              <a:rPr lang="en-US" b="1" dirty="0">
                <a:solidFill>
                  <a:schemeClr val="bg2"/>
                </a:solidFill>
                <a:latin typeface="楷体" panose="02010609060101010101" pitchFamily="49" charset="-122"/>
                <a:ea typeface="楷体" panose="02010609060101010101" pitchFamily="49" charset="-122"/>
              </a:rPr>
              <a:t>Tm</a:t>
            </a:r>
            <a:r>
              <a:rPr lang="zh-CN" altLang="en-US" b="1" dirty="0">
                <a:solidFill>
                  <a:schemeClr val="bg2"/>
                </a:solidFill>
                <a:latin typeface="楷体" panose="02010609060101010101" pitchFamily="49" charset="-122"/>
                <a:ea typeface="楷体" panose="02010609060101010101" pitchFamily="49" charset="-122"/>
              </a:rPr>
              <a:t>，然后运用下列公式求得各项活动历时的平均值。</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其计算公式为：</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endParaRPr lang="zh-CN" altLang="en-US"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5.5.3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的方法</a:t>
            </a:r>
            <a:endParaRPr kumimoji="0" lang="en-US" altLang="en-US" b="1">
              <a:solidFill>
                <a:schemeClr val="hlink"/>
              </a:solidFill>
              <a:latin typeface="楷体" panose="02010609060101010101" pitchFamily="49" charset="-122"/>
              <a:ea typeface="楷体" panose="02010609060101010101" pitchFamily="49" charset="-122"/>
            </a:endParaRPr>
          </a:p>
        </p:txBody>
      </p:sp>
      <p:pic>
        <p:nvPicPr>
          <p:cNvPr id="164866" name="Picture 2"/>
          <p:cNvPicPr>
            <a:picLocks noChangeAspect="1" noChangeArrowheads="1"/>
          </p:cNvPicPr>
          <p:nvPr/>
        </p:nvPicPr>
        <p:blipFill>
          <a:blip r:embed="rId1"/>
          <a:srcRect/>
          <a:stretch>
            <a:fillRect/>
          </a:stretch>
        </p:blipFill>
        <p:spPr bwMode="auto">
          <a:xfrm>
            <a:off x="3357554" y="5072074"/>
            <a:ext cx="3357586" cy="1214446"/>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323850" y="1819241"/>
            <a:ext cx="8569325" cy="4431983"/>
          </a:xfrm>
          <a:prstGeom prst="rect">
            <a:avLst/>
          </a:prstGeom>
          <a:noFill/>
          <a:ln w="9525">
            <a:noFill/>
            <a:miter lim="800000"/>
          </a:ln>
        </p:spPr>
        <p:txBody>
          <a:bodyPr>
            <a:spAutoFit/>
          </a:bodyPr>
          <a:lstStyle/>
          <a:p>
            <a:pPr algn="l">
              <a:spcBef>
                <a:spcPts val="600"/>
              </a:spcBef>
              <a:spcAft>
                <a:spcPts val="600"/>
              </a:spcAft>
            </a:pPr>
            <a:r>
              <a:rPr lang="zh-CN" altLang="en-US" sz="3200" b="1" dirty="0">
                <a:solidFill>
                  <a:schemeClr val="bg2"/>
                </a:solidFill>
                <a:latin typeface="+mn-lt"/>
                <a:ea typeface="楷体" panose="02010609060101010101" pitchFamily="49" charset="-122"/>
              </a:rPr>
              <a:t>专家评估法和类比估算法对于一般的工程类项目，由于活动识别、资源估算特别是人力资源估算、技术要求等内容容易确定，而且同类型项目的重复率较高，所以评估的结果与实际值差别较小。</a:t>
            </a:r>
            <a:endParaRPr lang="en-US" altLang="zh-CN" sz="3200" b="1" dirty="0">
              <a:solidFill>
                <a:schemeClr val="bg2"/>
              </a:solidFill>
              <a:latin typeface="+mn-lt"/>
              <a:ea typeface="楷体" panose="02010609060101010101" pitchFamily="49" charset="-122"/>
            </a:endParaRPr>
          </a:p>
          <a:p>
            <a:pPr algn="l">
              <a:spcBef>
                <a:spcPts val="600"/>
              </a:spcBef>
              <a:spcAft>
                <a:spcPts val="600"/>
              </a:spcAft>
            </a:pPr>
            <a:r>
              <a:rPr lang="zh-CN" altLang="en-US" b="1" dirty="0">
                <a:solidFill>
                  <a:schemeClr val="bg2"/>
                </a:solidFill>
                <a:latin typeface="+mn-lt"/>
                <a:ea typeface="楷体" panose="02010609060101010101" pitchFamily="49" charset="-122"/>
              </a:rPr>
              <a:t>对于</a:t>
            </a:r>
            <a:r>
              <a:rPr lang="en-US" b="1" dirty="0">
                <a:solidFill>
                  <a:schemeClr val="bg2"/>
                </a:solidFill>
                <a:latin typeface="+mn-lt"/>
                <a:ea typeface="楷体" panose="02010609060101010101" pitchFamily="49" charset="-122"/>
              </a:rPr>
              <a:t>IT</a:t>
            </a:r>
            <a:r>
              <a:rPr lang="zh-CN" altLang="en-US" b="1" dirty="0">
                <a:solidFill>
                  <a:schemeClr val="bg2"/>
                </a:solidFill>
                <a:latin typeface="+mn-lt"/>
                <a:ea typeface="楷体" panose="02010609060101010101" pitchFamily="49" charset="-122"/>
              </a:rPr>
              <a:t>项目特别是软件项目，由于项目所涉及领域的差异、开发技术的改变、开发环境的不同，同类型项目的重复率较低，而且即使前面的因素变化不大，单独人的因素也会使项目的估算存在很大的差异。</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5.5.3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的方法</a:t>
            </a:r>
            <a:endParaRPr kumimoji="0" lang="en-US" altLang="en-US" b="1">
              <a:solidFill>
                <a:schemeClr val="hlin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29699"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29700" name="Text Box 4"/>
          <p:cNvSpPr txBox="1">
            <a:spLocks noChangeArrowheads="1"/>
          </p:cNvSpPr>
          <p:nvPr/>
        </p:nvSpPr>
        <p:spPr bwMode="auto">
          <a:xfrm>
            <a:off x="142844" y="1855951"/>
            <a:ext cx="8569325" cy="3016210"/>
          </a:xfrm>
          <a:prstGeom prst="rect">
            <a:avLst/>
          </a:prstGeom>
          <a:noFill/>
          <a:ln w="9525">
            <a:noFill/>
            <a:miter lim="800000"/>
          </a:ln>
        </p:spPr>
        <p:txBody>
          <a:bodyPr>
            <a:spAutoFit/>
          </a:bodyPr>
          <a:lstStyle/>
          <a:p>
            <a:pPr algn="l">
              <a:spcBef>
                <a:spcPts val="6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活动持续时间估算结果是对完成某一工作可能需要的工作时间数据的定时估算。</a:t>
            </a:r>
            <a:endParaRPr lang="en-US" altLang="zh-CN" sz="36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注意，这个估算时间一定要处理间歇时间，因此，活动持续时间估算的计算如下面公式所示。</a:t>
            </a:r>
            <a:endParaRPr lang="zh-CN" altLang="en-US" sz="3600" b="1" dirty="0">
              <a:solidFill>
                <a:schemeClr val="bg2"/>
              </a:solidFill>
              <a:latin typeface="楷体" panose="02010609060101010101" pitchFamily="49" charset="-122"/>
              <a:ea typeface="楷体" panose="02010609060101010101" pitchFamily="49" charset="-122"/>
            </a:endParaRPr>
          </a:p>
        </p:txBody>
      </p:sp>
      <p:sp>
        <p:nvSpPr>
          <p:cNvPr id="29701"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P.117</a:t>
            </a:r>
            <a:endParaRPr lang="en-US" altLang="zh-CN" b="1" dirty="0">
              <a:solidFill>
                <a:schemeClr val="bg2"/>
              </a:solidFill>
              <a:ea typeface="楷体" panose="02010609060101010101" pitchFamily="49" charset="-122"/>
            </a:endParaRPr>
          </a:p>
        </p:txBody>
      </p:sp>
      <p:sp>
        <p:nvSpPr>
          <p:cNvPr id="29702"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5.5 </a:t>
            </a:r>
            <a:r>
              <a:rPr kumimoji="0" lang="en-US" altLang="en-US" sz="3000" b="1" dirty="0" err="1">
                <a:ea typeface="楷体" panose="02010609060101010101" pitchFamily="49" charset="-122"/>
              </a:rPr>
              <a:t>活动资源和活动持续时间估算</a:t>
            </a:r>
            <a:endParaRPr kumimoji="0" lang="en-US" altLang="en-US" sz="3000" b="1" dirty="0">
              <a:ea typeface="楷体" panose="02010609060101010101" pitchFamily="49" charset="-122"/>
            </a:endParaRPr>
          </a:p>
        </p:txBody>
      </p:sp>
      <p:sp>
        <p:nvSpPr>
          <p:cNvPr id="29703" name="Rectangle 7"/>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5.5.3 </a:t>
            </a:r>
            <a:r>
              <a:rPr kumimoji="0" lang="en-US" altLang="en-US" b="1">
                <a:solidFill>
                  <a:schemeClr val="hlink"/>
                </a:solidFill>
                <a:latin typeface="楷体" panose="02010609060101010101" pitchFamily="49" charset="-122"/>
                <a:ea typeface="楷体" panose="02010609060101010101" pitchFamily="49" charset="-122"/>
              </a:rPr>
              <a:t>活动</a:t>
            </a:r>
            <a:r>
              <a:rPr kumimoji="0" lang="zh-CN" altLang="en-US" b="1">
                <a:solidFill>
                  <a:schemeClr val="hlink"/>
                </a:solidFill>
                <a:latin typeface="楷体" panose="02010609060101010101" pitchFamily="49" charset="-122"/>
                <a:ea typeface="楷体" panose="02010609060101010101" pitchFamily="49" charset="-122"/>
              </a:rPr>
              <a:t>时间</a:t>
            </a:r>
            <a:r>
              <a:rPr kumimoji="0" lang="en-US" altLang="en-US" b="1">
                <a:solidFill>
                  <a:schemeClr val="hlink"/>
                </a:solidFill>
                <a:latin typeface="楷体" panose="02010609060101010101" pitchFamily="49" charset="-122"/>
                <a:ea typeface="楷体" panose="02010609060101010101" pitchFamily="49" charset="-122"/>
              </a:rPr>
              <a:t>估算</a:t>
            </a:r>
            <a:r>
              <a:rPr kumimoji="0" lang="zh-CN" altLang="en-US" b="1">
                <a:solidFill>
                  <a:schemeClr val="hlink"/>
                </a:solidFill>
                <a:latin typeface="楷体" panose="02010609060101010101" pitchFamily="49" charset="-122"/>
                <a:ea typeface="楷体" panose="02010609060101010101" pitchFamily="49" charset="-122"/>
              </a:rPr>
              <a:t>的方法</a:t>
            </a:r>
            <a:endParaRPr kumimoji="0" lang="en-US" altLang="en-US" b="1">
              <a:solidFill>
                <a:schemeClr val="hlink"/>
              </a:solidFill>
              <a:latin typeface="楷体" panose="02010609060101010101" pitchFamily="49" charset="-122"/>
              <a:ea typeface="楷体" panose="02010609060101010101" pitchFamily="49" charset="-122"/>
            </a:endParaRPr>
          </a:p>
        </p:txBody>
      </p:sp>
      <p:pic>
        <p:nvPicPr>
          <p:cNvPr id="165890" name="Picture 2"/>
          <p:cNvPicPr>
            <a:picLocks noChangeAspect="1" noChangeArrowheads="1"/>
          </p:cNvPicPr>
          <p:nvPr/>
        </p:nvPicPr>
        <p:blipFill>
          <a:blip r:embed="rId1"/>
          <a:srcRect/>
          <a:stretch>
            <a:fillRect/>
          </a:stretch>
        </p:blipFill>
        <p:spPr bwMode="auto">
          <a:xfrm>
            <a:off x="1000100" y="4929198"/>
            <a:ext cx="7572428" cy="1143007"/>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5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323850" y="2143678"/>
            <a:ext cx="8569325" cy="3785652"/>
          </a:xfrm>
          <a:prstGeom prst="rect">
            <a:avLst/>
          </a:prstGeom>
          <a:noFill/>
          <a:ln w="9525">
            <a:noFill/>
            <a:miter lim="800000"/>
          </a:ln>
        </p:spPr>
        <p:txBody>
          <a:bodyPr wrap="square">
            <a:spAutoFit/>
          </a:bodyPr>
          <a:lstStyle/>
          <a:p>
            <a:pPr marL="1362075" lvl="2" indent="-447675" algn="l">
              <a:spcBef>
                <a:spcPts val="600"/>
              </a:spcBef>
              <a:spcAft>
                <a:spcPts val="600"/>
              </a:spcAft>
              <a:buFont typeface="+mj-lt"/>
              <a:buAutoNum type="arabicPeriod"/>
            </a:pPr>
            <a:r>
              <a:rPr lang="zh-CN" altLang="en-US" sz="4000" b="1" dirty="0">
                <a:solidFill>
                  <a:srgbClr val="0000FF"/>
                </a:solidFill>
                <a:latin typeface="+mn-lt"/>
                <a:ea typeface="楷体" panose="02010609060101010101" pitchFamily="49" charset="-122"/>
              </a:rPr>
              <a:t>项目综合进度计划</a:t>
            </a:r>
            <a:endParaRPr lang="zh-CN" altLang="en-US" sz="4000" b="1" dirty="0">
              <a:solidFill>
                <a:srgbClr val="0000FF"/>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4000" b="1" dirty="0">
                <a:solidFill>
                  <a:srgbClr val="FF0000"/>
                </a:solidFill>
                <a:latin typeface="+mn-lt"/>
                <a:ea typeface="楷体" panose="02010609060101010101" pitchFamily="49" charset="-122"/>
              </a:rPr>
              <a:t>项目实施进度计划</a:t>
            </a:r>
            <a:endParaRPr lang="zh-CN" altLang="en-US" sz="4000" b="1" dirty="0">
              <a:solidFill>
                <a:srgbClr val="0000FF"/>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4000" b="1" dirty="0">
                <a:solidFill>
                  <a:srgbClr val="0000FF"/>
                </a:solidFill>
                <a:latin typeface="+mn-lt"/>
                <a:ea typeface="楷体" panose="02010609060101010101" pitchFamily="49" charset="-122"/>
              </a:rPr>
              <a:t>项目采购的进度计划</a:t>
            </a:r>
            <a:endParaRPr lang="zh-CN" altLang="en-US" sz="4000" b="1" dirty="0">
              <a:solidFill>
                <a:srgbClr val="0000FF"/>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4000" b="1" dirty="0">
                <a:solidFill>
                  <a:srgbClr val="0000FF"/>
                </a:solidFill>
                <a:latin typeface="+mn-lt"/>
                <a:ea typeface="楷体" panose="02010609060101010101" pitchFamily="49" charset="-122"/>
              </a:rPr>
              <a:t>项目验收进度计划</a:t>
            </a:r>
            <a:endParaRPr lang="zh-CN" altLang="en-US" sz="4000" b="1" dirty="0">
              <a:solidFill>
                <a:srgbClr val="0000FF"/>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4000" b="1" dirty="0">
                <a:solidFill>
                  <a:srgbClr val="0000FF"/>
                </a:solidFill>
                <a:latin typeface="+mn-lt"/>
                <a:ea typeface="楷体" panose="02010609060101010101" pitchFamily="49" charset="-122"/>
              </a:rPr>
              <a:t>项目的维护计划</a:t>
            </a:r>
            <a:endParaRPr kumimoji="0" lang="zh-CN" altLang="en-US" sz="4000" b="1" dirty="0">
              <a:solidFill>
                <a:srgbClr val="0000FF"/>
              </a:solidFill>
              <a:latin typeface="+mn-lt"/>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P.118</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5.6 </a:t>
            </a:r>
            <a:r>
              <a:rPr kumimoji="0" lang="zh-CN" altLang="en-US" sz="3000" b="1" dirty="0">
                <a:ea typeface="楷体" panose="02010609060101010101" pitchFamily="49" charset="-122"/>
              </a:rPr>
              <a:t>项目进度计划的编制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517310" cy="52322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5.6.1 </a:t>
            </a:r>
            <a:r>
              <a:rPr kumimoji="0" lang="zh-CN" altLang="en-US" b="1">
                <a:solidFill>
                  <a:schemeClr val="hlink"/>
                </a:solidFill>
                <a:ea typeface="楷体_GB2312" pitchFamily="49" charset="-122"/>
              </a:rPr>
              <a:t>进度计划的内容</a:t>
            </a:r>
            <a:endParaRPr kumimoji="0" lang="en-US" altLang="en-US" b="1">
              <a:solidFill>
                <a:schemeClr val="hlink"/>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323851" y="1957883"/>
            <a:ext cx="7034232" cy="4185761"/>
          </a:xfrm>
          <a:prstGeom prst="rect">
            <a:avLst/>
          </a:prstGeom>
          <a:noFill/>
          <a:ln w="9525">
            <a:noFill/>
            <a:miter lim="800000"/>
          </a:ln>
        </p:spPr>
        <p:txBody>
          <a:bodyPr wrap="square">
            <a:spAutoFit/>
          </a:bodyPr>
          <a:lstStyle/>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项目网络图</a:t>
            </a:r>
            <a:endParaRPr lang="zh-CN" altLang="en-US" sz="3200" b="1" dirty="0">
              <a:solidFill>
                <a:schemeClr val="bg1"/>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项目活动持续时间估算</a:t>
            </a:r>
            <a:endParaRPr lang="zh-CN" altLang="en-US" sz="3200" b="1" dirty="0">
              <a:solidFill>
                <a:schemeClr val="bg1"/>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资源的可用性</a:t>
            </a:r>
            <a:endParaRPr lang="zh-CN" altLang="en-US" sz="3200" b="1" dirty="0">
              <a:solidFill>
                <a:schemeClr val="bg1"/>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约束条件</a:t>
            </a:r>
            <a:endParaRPr lang="zh-CN" altLang="en-US" sz="3200" b="1" dirty="0">
              <a:solidFill>
                <a:schemeClr val="bg1"/>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风险记录</a:t>
            </a:r>
            <a:endParaRPr lang="zh-CN" altLang="en-US" sz="3200" b="1" dirty="0">
              <a:solidFill>
                <a:schemeClr val="bg1"/>
              </a:solidFill>
              <a:latin typeface="+mn-lt"/>
              <a:ea typeface="楷体" panose="02010609060101010101" pitchFamily="49" charset="-122"/>
            </a:endParaRPr>
          </a:p>
          <a:p>
            <a:pPr marL="1362075" lvl="2"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项目团队的作息制度</a:t>
            </a:r>
            <a:endParaRPr lang="zh-CN" altLang="en-US" sz="3600" b="1" dirty="0">
              <a:solidFill>
                <a:schemeClr val="bg1"/>
              </a:solidFill>
              <a:latin typeface="+mn-lt"/>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P.119</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5.6 </a:t>
            </a:r>
            <a:r>
              <a:rPr kumimoji="0" lang="zh-CN" altLang="en-US" sz="3000" b="1" dirty="0">
                <a:ea typeface="楷体" panose="02010609060101010101" pitchFamily="49" charset="-122"/>
              </a:rPr>
              <a:t>项目进度计划的编制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4238661"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5.6.2 </a:t>
            </a:r>
            <a:r>
              <a:rPr kumimoji="0" lang="zh-CN" altLang="en-US" b="1">
                <a:solidFill>
                  <a:srgbClr val="FF0000"/>
                </a:solidFill>
                <a:ea typeface="楷体_GB2312" pitchFamily="49" charset="-122"/>
              </a:rPr>
              <a:t>进度计划编制的依据</a:t>
            </a:r>
            <a:endParaRPr kumimoji="0" lang="zh-CN"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571472" y="2000240"/>
            <a:ext cx="8501122" cy="3970318"/>
          </a:xfrm>
          <a:prstGeom prst="rect">
            <a:avLst/>
          </a:prstGeom>
          <a:noFill/>
          <a:ln w="9525">
            <a:noFill/>
            <a:miter lim="800000"/>
          </a:ln>
        </p:spPr>
        <p:txBody>
          <a:bodyPr wrap="square">
            <a:spAutoFit/>
          </a:bodyPr>
          <a:lstStyle/>
          <a:p>
            <a:pPr marL="904875" lvl="1"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关键路线法</a:t>
            </a:r>
            <a:r>
              <a:rPr lang="en-US" altLang="en-US" sz="3600" b="1" dirty="0">
                <a:solidFill>
                  <a:schemeClr val="bg1"/>
                </a:solidFill>
                <a:latin typeface="+mn-lt"/>
                <a:ea typeface="楷体" panose="02010609060101010101" pitchFamily="49" charset="-122"/>
              </a:rPr>
              <a:t> </a:t>
            </a:r>
            <a:r>
              <a:rPr lang="en-US" altLang="en-US" b="1" dirty="0">
                <a:solidFill>
                  <a:schemeClr val="bg1"/>
                </a:solidFill>
                <a:latin typeface="+mn-lt"/>
                <a:ea typeface="楷体" panose="02010609060101010101" pitchFamily="49" charset="-122"/>
              </a:rPr>
              <a:t>( Critical Path Method</a:t>
            </a:r>
            <a:r>
              <a:rPr lang="zh-CN" altLang="en-US" b="1" dirty="0">
                <a:solidFill>
                  <a:schemeClr val="bg1"/>
                </a:solidFill>
                <a:latin typeface="+mn-lt"/>
                <a:ea typeface="楷体" panose="02010609060101010101" pitchFamily="49" charset="-122"/>
              </a:rPr>
              <a:t>，</a:t>
            </a:r>
            <a:r>
              <a:rPr lang="en-US" altLang="en-US" sz="3200" b="1" dirty="0">
                <a:solidFill>
                  <a:srgbClr val="FF0000"/>
                </a:solidFill>
                <a:latin typeface="+mn-lt"/>
                <a:ea typeface="楷体" panose="02010609060101010101" pitchFamily="49" charset="-122"/>
              </a:rPr>
              <a:t>CPM </a:t>
            </a:r>
            <a:r>
              <a:rPr lang="en-US" altLang="en-US" b="1" dirty="0">
                <a:solidFill>
                  <a:schemeClr val="bg1"/>
                </a:solidFill>
                <a:latin typeface="+mn-lt"/>
                <a:ea typeface="楷体" panose="02010609060101010101" pitchFamily="49" charset="-122"/>
              </a:rPr>
              <a:t>)</a:t>
            </a:r>
            <a:endParaRPr lang="en-US" altLang="en-US" sz="3600" b="1" dirty="0">
              <a:solidFill>
                <a:schemeClr val="bg1"/>
              </a:solidFill>
              <a:latin typeface="+mn-lt"/>
              <a:ea typeface="楷体" panose="02010609060101010101" pitchFamily="49" charset="-122"/>
            </a:endParaRPr>
          </a:p>
          <a:p>
            <a:pPr marL="904875" lvl="1"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计划评审技术</a:t>
            </a:r>
            <a:r>
              <a:rPr lang="en-US" altLang="en-US" b="1" dirty="0">
                <a:solidFill>
                  <a:schemeClr val="bg1"/>
                </a:solidFill>
                <a:latin typeface="+mn-lt"/>
                <a:ea typeface="楷体" panose="02010609060101010101" pitchFamily="49" charset="-122"/>
              </a:rPr>
              <a:t>( Program Evaluation and Review Technique</a:t>
            </a:r>
            <a:r>
              <a:rPr lang="zh-CN" altLang="en-US" b="1" dirty="0">
                <a:solidFill>
                  <a:schemeClr val="bg1"/>
                </a:solidFill>
                <a:latin typeface="+mn-lt"/>
                <a:ea typeface="楷体" panose="02010609060101010101" pitchFamily="49" charset="-122"/>
              </a:rPr>
              <a:t>，</a:t>
            </a:r>
            <a:r>
              <a:rPr lang="en-US" altLang="en-US" sz="3200" b="1" dirty="0">
                <a:solidFill>
                  <a:srgbClr val="FF0000"/>
                </a:solidFill>
                <a:latin typeface="+mn-lt"/>
                <a:ea typeface="楷体" panose="02010609060101010101" pitchFamily="49" charset="-122"/>
              </a:rPr>
              <a:t>PERT</a:t>
            </a:r>
            <a:r>
              <a:rPr lang="en-US" altLang="en-US" sz="3200" b="1" dirty="0">
                <a:solidFill>
                  <a:schemeClr val="bg1"/>
                </a:solidFill>
                <a:latin typeface="+mn-lt"/>
                <a:ea typeface="楷体" panose="02010609060101010101" pitchFamily="49" charset="-122"/>
              </a:rPr>
              <a:t> </a:t>
            </a:r>
            <a:r>
              <a:rPr lang="en-US" altLang="en-US" b="1" dirty="0">
                <a:solidFill>
                  <a:schemeClr val="bg1"/>
                </a:solidFill>
                <a:latin typeface="+mn-lt"/>
                <a:ea typeface="楷体" panose="02010609060101010101" pitchFamily="49" charset="-122"/>
              </a:rPr>
              <a:t>)</a:t>
            </a:r>
            <a:endParaRPr lang="zh-CN" altLang="en-US" b="1" dirty="0">
              <a:solidFill>
                <a:schemeClr val="bg1"/>
              </a:solidFill>
              <a:latin typeface="+mn-lt"/>
              <a:ea typeface="楷体" panose="02010609060101010101" pitchFamily="49" charset="-122"/>
            </a:endParaRPr>
          </a:p>
          <a:p>
            <a:pPr marL="904875" lvl="1"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持续时间的压缩技术</a:t>
            </a:r>
            <a:endParaRPr lang="zh-CN" altLang="en-US" sz="3600" b="1" dirty="0">
              <a:solidFill>
                <a:schemeClr val="bg1"/>
              </a:solidFill>
              <a:latin typeface="+mn-lt"/>
              <a:ea typeface="楷体" panose="02010609060101010101" pitchFamily="49" charset="-122"/>
            </a:endParaRPr>
          </a:p>
          <a:p>
            <a:pPr marL="904875" lvl="1"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资源平衡技术</a:t>
            </a:r>
            <a:endParaRPr lang="en-US" altLang="zh-CN" sz="3600" b="1" dirty="0">
              <a:solidFill>
                <a:schemeClr val="bg1"/>
              </a:solidFill>
              <a:latin typeface="+mn-lt"/>
              <a:ea typeface="楷体" panose="02010609060101010101" pitchFamily="49" charset="-122"/>
            </a:endParaRPr>
          </a:p>
          <a:p>
            <a:pPr marL="904875" lvl="1" indent="-447675" algn="l">
              <a:spcBef>
                <a:spcPts val="600"/>
              </a:spcBef>
              <a:spcAft>
                <a:spcPts val="600"/>
              </a:spcAft>
              <a:buFont typeface="+mj-lt"/>
              <a:buAutoNum type="arabicPeriod"/>
            </a:pPr>
            <a:r>
              <a:rPr lang="zh-CN" altLang="en-US" sz="3600" b="1" dirty="0">
                <a:solidFill>
                  <a:schemeClr val="bg1"/>
                </a:solidFill>
                <a:latin typeface="+mn-lt"/>
                <a:ea typeface="楷体" panose="02010609060101010101" pitchFamily="49" charset="-122"/>
              </a:rPr>
              <a:t>项目管理软件</a:t>
            </a:r>
            <a:endParaRPr lang="zh-CN" altLang="en-US" sz="3600" b="1" dirty="0">
              <a:solidFill>
                <a:schemeClr val="bg1"/>
              </a:solidFill>
              <a:latin typeface="+mn-lt"/>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P.120</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5.6 </a:t>
            </a:r>
            <a:r>
              <a:rPr kumimoji="0" lang="zh-CN" altLang="en-US" sz="3000" b="1" dirty="0">
                <a:ea typeface="楷体" panose="02010609060101010101" pitchFamily="49" charset="-122"/>
              </a:rPr>
              <a:t>项目进度计划的编制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4238661"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5.6.3 </a:t>
            </a:r>
            <a:r>
              <a:rPr kumimoji="0" lang="zh-CN" altLang="en-US" b="1">
                <a:solidFill>
                  <a:srgbClr val="FF0000"/>
                </a:solidFill>
                <a:ea typeface="楷体_GB2312" pitchFamily="49" charset="-122"/>
              </a:rPr>
              <a:t>进度计划编制的方法</a:t>
            </a:r>
            <a:endParaRPr kumimoji="0" lang="zh-CN"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844" y="3429000"/>
            <a:ext cx="8953698" cy="298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285720" y="1936988"/>
            <a:ext cx="8501122" cy="4278094"/>
          </a:xfrm>
          <a:prstGeom prst="rect">
            <a:avLst/>
          </a:prstGeom>
          <a:noFill/>
          <a:ln w="9525">
            <a:noFill/>
            <a:miter lim="800000"/>
          </a:ln>
        </p:spPr>
        <p:txBody>
          <a:bodyPr wrap="square">
            <a:spAutoFit/>
          </a:bodyPr>
          <a:lstStyle/>
          <a:p>
            <a:pPr marL="0" lvl="1" algn="l">
              <a:spcBef>
                <a:spcPts val="600"/>
              </a:spcBef>
              <a:spcAft>
                <a:spcPts val="600"/>
              </a:spcAft>
            </a:pPr>
            <a:r>
              <a:rPr lang="zh-CN" altLang="en-US" sz="3600" b="1" dirty="0">
                <a:solidFill>
                  <a:srgbClr val="FF0000"/>
                </a:solidFill>
                <a:latin typeface="楷体" panose="02010609060101010101" pitchFamily="49" charset="-122"/>
                <a:ea typeface="楷体" panose="02010609060101010101" pitchFamily="49" charset="-122"/>
              </a:rPr>
              <a:t>项目进度计划</a:t>
            </a:r>
            <a:r>
              <a:rPr lang="zh-CN" altLang="en-US" sz="3600" b="1" dirty="0">
                <a:solidFill>
                  <a:schemeClr val="bg2"/>
                </a:solidFill>
                <a:latin typeface="楷体" panose="02010609060101010101" pitchFamily="49" charset="-122"/>
                <a:ea typeface="楷体" panose="02010609060101010101" pitchFamily="49" charset="-122"/>
              </a:rPr>
              <a:t>至少包括每一项详细活动的计划开始日期和预期完成日期。</a:t>
            </a:r>
            <a:endParaRPr lang="en-US" altLang="zh-CN" sz="3600" b="1" dirty="0">
              <a:solidFill>
                <a:schemeClr val="bg2"/>
              </a:solidFill>
              <a:latin typeface="楷体" panose="02010609060101010101" pitchFamily="49" charset="-122"/>
              <a:ea typeface="楷体" panose="02010609060101010101" pitchFamily="49" charset="-122"/>
            </a:endParaRPr>
          </a:p>
          <a:p>
            <a:pPr marL="0" lvl="1" algn="l">
              <a:spcBef>
                <a:spcPts val="6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项目进度计划可用简要的文字形式描述，也可用图表的形式给出，图表的常用表示形式为带日期信息的</a:t>
            </a:r>
            <a:endParaRPr lang="en-US" altLang="zh-CN" sz="3600" b="1" dirty="0">
              <a:solidFill>
                <a:schemeClr val="bg2"/>
              </a:solidFill>
              <a:latin typeface="楷体" panose="02010609060101010101" pitchFamily="49" charset="-122"/>
              <a:ea typeface="楷体" panose="02010609060101010101" pitchFamily="49" charset="-122"/>
            </a:endParaRPr>
          </a:p>
          <a:p>
            <a:pPr marL="0" lvl="1" algn="l">
              <a:spcBef>
                <a:spcPts val="600"/>
              </a:spcBef>
              <a:spcAft>
                <a:spcPts val="600"/>
              </a:spcAft>
            </a:pPr>
            <a:r>
              <a:rPr lang="zh-CN" altLang="en-US" sz="3600" b="1" dirty="0">
                <a:solidFill>
                  <a:srgbClr val="0000FF"/>
                </a:solidFill>
                <a:latin typeface="楷体" panose="02010609060101010101" pitchFamily="49" charset="-122"/>
                <a:ea typeface="楷体" panose="02010609060101010101" pitchFamily="49" charset="-122"/>
              </a:rPr>
              <a:t>项目网络图、甘特图、里程碑图和项目进度计划表</a:t>
            </a:r>
            <a:r>
              <a:rPr lang="zh-CN" altLang="en-US" sz="3600" b="1" dirty="0">
                <a:solidFill>
                  <a:schemeClr val="bg2"/>
                </a:solidFill>
                <a:latin typeface="楷体" panose="02010609060101010101" pitchFamily="49" charset="-122"/>
                <a:ea typeface="楷体" panose="02010609060101010101" pitchFamily="49" charset="-122"/>
              </a:rPr>
              <a:t>。</a:t>
            </a:r>
            <a:endParaRPr lang="zh-CN" altLang="en-US" sz="3600" b="1" dirty="0">
              <a:solidFill>
                <a:schemeClr val="bg2"/>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P.123</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5.6 </a:t>
            </a:r>
            <a:r>
              <a:rPr kumimoji="0" lang="zh-CN" altLang="en-US" sz="3000" b="1" dirty="0">
                <a:ea typeface="楷体" panose="02010609060101010101" pitchFamily="49" charset="-122"/>
              </a:rPr>
              <a:t>项目进度计划的编制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5.6.3 </a:t>
            </a:r>
            <a:r>
              <a:rPr kumimoji="0" lang="zh-CN" altLang="en-US" b="1">
                <a:solidFill>
                  <a:srgbClr val="FF0000"/>
                </a:solidFill>
                <a:latin typeface="楷体" panose="02010609060101010101" pitchFamily="49" charset="-122"/>
                <a:ea typeface="楷体" panose="02010609060101010101" pitchFamily="49" charset="-122"/>
              </a:rPr>
              <a:t>进度计划编制的结果</a:t>
            </a:r>
            <a:endParaRPr kumimoji="0" lang="zh-CN"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P.123</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5.6 </a:t>
            </a:r>
            <a:r>
              <a:rPr kumimoji="0" lang="zh-CN" altLang="en-US" sz="3000" b="1" dirty="0">
                <a:ea typeface="楷体" panose="02010609060101010101" pitchFamily="49" charset="-122"/>
              </a:rPr>
              <a:t>项目进度计划的编制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5.6.</a:t>
            </a:r>
            <a:r>
              <a:rPr kumimoji="0" lang="en-US" altLang="zh-CN" b="1" dirty="0">
                <a:solidFill>
                  <a:srgbClr val="FF0000"/>
                </a:solidFill>
                <a:ea typeface="楷体_GB2312" pitchFamily="49" charset="-122"/>
              </a:rPr>
              <a:t>4</a:t>
            </a:r>
            <a:r>
              <a:rPr kumimoji="0" lang="en-US" altLang="en-US" b="1" dirty="0">
                <a:solidFill>
                  <a:srgbClr val="FF0000"/>
                </a:solidFill>
                <a:ea typeface="楷体_GB2312" pitchFamily="49" charset="-122"/>
              </a:rPr>
              <a:t> </a:t>
            </a:r>
            <a:r>
              <a:rPr kumimoji="0" lang="zh-CN" altLang="en-US" b="1" dirty="0">
                <a:solidFill>
                  <a:srgbClr val="FF0000"/>
                </a:solidFill>
                <a:latin typeface="楷体" panose="02010609060101010101" pitchFamily="49" charset="-122"/>
                <a:ea typeface="楷体" panose="02010609060101010101" pitchFamily="49" charset="-122"/>
              </a:rPr>
              <a:t>甘特图的绘制</a:t>
            </a:r>
            <a:endParaRPr kumimoji="0" lang="zh-CN" altLang="en-US" b="1" dirty="0">
              <a:solidFill>
                <a:srgbClr val="FF0000"/>
              </a:solidFill>
              <a:latin typeface="楷体" panose="02010609060101010101" pitchFamily="49" charset="-122"/>
              <a:ea typeface="楷体" panose="02010609060101010101" pitchFamily="49" charset="-122"/>
            </a:endParaRPr>
          </a:p>
        </p:txBody>
      </p:sp>
      <p:pic>
        <p:nvPicPr>
          <p:cNvPr id="2" name="图片 1"/>
          <p:cNvPicPr>
            <a:picLocks noChangeAspect="1"/>
          </p:cNvPicPr>
          <p:nvPr/>
        </p:nvPicPr>
        <p:blipFill>
          <a:blip r:embed="rId1"/>
          <a:stretch>
            <a:fillRect/>
          </a:stretch>
        </p:blipFill>
        <p:spPr>
          <a:xfrm>
            <a:off x="755576" y="1849723"/>
            <a:ext cx="8042076" cy="4467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华文新魏" panose="02010800040101010101" pitchFamily="2" charset="-122"/>
                <a:ea typeface="华文新魏" panose="02010800040101010101" pitchFamily="2" charset="-122"/>
              </a:rPr>
              <a:t>提   纲</a:t>
            </a:r>
            <a:endParaRPr lang="en-US" altLang="zh-CN" sz="4800" b="1">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428625" y="1214422"/>
            <a:ext cx="8501063" cy="5354320"/>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项目进度管理概述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规划进度管理</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项目活动定义</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项目活动排序</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活动资源</a:t>
            </a: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持续时间估算</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编制项目进度计划</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项目进度控制</a:t>
            </a:r>
            <a:endPar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71406" y="1285861"/>
            <a:ext cx="9072594" cy="5293757"/>
          </a:xfrm>
          <a:prstGeom prst="rect">
            <a:avLst/>
          </a:prstGeom>
          <a:noFill/>
          <a:ln w="9525">
            <a:noFill/>
            <a:miter lim="800000"/>
          </a:ln>
        </p:spPr>
        <p:txBody>
          <a:bodyPr wrap="square">
            <a:spAutoFit/>
          </a:bodyPr>
          <a:lstStyle/>
          <a:p>
            <a:pPr algn="l">
              <a:spcBef>
                <a:spcPts val="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项目进度计划实施过程中，由于外部环境、内部环境、人为因素或其他技术等原因，项目的实际进度经常会与计划进度发生偏差，若不及时纠正这些偏差，就可能导致项目延期，影响项目目标的实现。</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对于进度控制工作，应该明确一个基本原则：</a:t>
            </a:r>
            <a:r>
              <a:rPr lang="zh-CN" altLang="en-US" sz="3200" b="1" dirty="0">
                <a:solidFill>
                  <a:srgbClr val="0000FF"/>
                </a:solidFill>
                <a:latin typeface="楷体" panose="02010609060101010101" pitchFamily="49" charset="-122"/>
                <a:ea typeface="楷体" panose="02010609060101010101" pitchFamily="49" charset="-122"/>
              </a:rPr>
              <a:t>计划的不变是相对的，变是绝对的。</a:t>
            </a:r>
            <a:endParaRPr lang="en-US" altLang="zh-CN" sz="3600" b="1" dirty="0">
              <a:solidFill>
                <a:schemeClr val="bg1">
                  <a:lumMod val="50000"/>
                </a:schemeClr>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项目进度控制的关键是监控项目的实际进度，及时地将它与计划进度进行比较，采取必要的措施纠正</a:t>
            </a:r>
            <a:r>
              <a:rPr lang="zh-CN" altLang="en-US" sz="3200" b="1" dirty="0">
                <a:solidFill>
                  <a:srgbClr val="0000FF"/>
                </a:solidFill>
                <a:latin typeface="楷体" panose="02010609060101010101" pitchFamily="49" charset="-122"/>
                <a:ea typeface="楷体" panose="02010609060101010101" pitchFamily="49" charset="-122"/>
              </a:rPr>
              <a:t>偏差</a:t>
            </a:r>
            <a:r>
              <a:rPr lang="zh-CN" altLang="en-US" sz="3200" b="1" dirty="0">
                <a:solidFill>
                  <a:schemeClr val="bg2"/>
                </a:solidFill>
                <a:latin typeface="楷体" panose="02010609060101010101" pitchFamily="49" charset="-122"/>
                <a:ea typeface="楷体" panose="02010609060101010101" pitchFamily="49" charset="-122"/>
              </a:rPr>
              <a:t>。</a:t>
            </a:r>
            <a:endParaRPr lang="zh-CN" altLang="en-US" sz="3200" b="1" dirty="0">
              <a:solidFill>
                <a:schemeClr val="bg1">
                  <a:lumMod val="50000"/>
                </a:schemeClr>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P.124</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285720" y="1478712"/>
            <a:ext cx="8501122" cy="4093428"/>
          </a:xfrm>
          <a:prstGeom prst="rect">
            <a:avLst/>
          </a:prstGeom>
          <a:noFill/>
          <a:ln w="9525">
            <a:noFill/>
            <a:miter lim="800000"/>
          </a:ln>
        </p:spPr>
        <p:txBody>
          <a:bodyPr wrap="square">
            <a:spAutoFit/>
          </a:bodyPr>
          <a:lstStyle/>
          <a:p>
            <a:pPr algn="l">
              <a:spcBef>
                <a:spcPts val="1200"/>
              </a:spcBef>
              <a:spcAft>
                <a:spcPts val="1200"/>
              </a:spcAft>
            </a:pPr>
            <a:r>
              <a:rPr lang="zh-CN" altLang="en-US" sz="4000" b="1" dirty="0">
                <a:solidFill>
                  <a:schemeClr val="bg2"/>
                </a:solidFill>
                <a:latin typeface="楷体" panose="02010609060101010101" pitchFamily="49" charset="-122"/>
                <a:ea typeface="楷体" panose="02010609060101010101" pitchFamily="49" charset="-122"/>
              </a:rPr>
              <a:t>进度控制的内容主要包括：</a:t>
            </a:r>
            <a:endParaRPr lang="en-US" altLang="zh-CN" sz="4000" b="1" dirty="0">
              <a:solidFill>
                <a:schemeClr val="bg2"/>
              </a:solidFill>
              <a:latin typeface="楷体" panose="02010609060101010101" pitchFamily="49" charset="-122"/>
              <a:ea typeface="楷体" panose="02010609060101010101" pitchFamily="49" charset="-122"/>
            </a:endParaRPr>
          </a:p>
          <a:p>
            <a:pPr lvl="1" algn="l">
              <a:spcBef>
                <a:spcPts val="1200"/>
              </a:spcBef>
              <a:spcAft>
                <a:spcPts val="1200"/>
              </a:spcAft>
            </a:pPr>
            <a:r>
              <a:rPr lang="zh-CN" altLang="en-US" sz="3600" b="1" dirty="0">
                <a:solidFill>
                  <a:schemeClr val="bg2"/>
                </a:solidFill>
                <a:latin typeface="楷体" panose="02010609060101010101" pitchFamily="49" charset="-122"/>
                <a:ea typeface="楷体" panose="02010609060101010101" pitchFamily="49" charset="-122"/>
              </a:rPr>
              <a:t>确定项目的进度是否发生变化，找出变化的原因，采取有效的措施纠正偏差；</a:t>
            </a:r>
            <a:endParaRPr lang="en-US" altLang="zh-CN" sz="3600" b="1" dirty="0">
              <a:solidFill>
                <a:schemeClr val="bg2"/>
              </a:solidFill>
              <a:latin typeface="楷体" panose="02010609060101010101" pitchFamily="49" charset="-122"/>
              <a:ea typeface="楷体" panose="02010609060101010101" pitchFamily="49" charset="-122"/>
            </a:endParaRPr>
          </a:p>
          <a:p>
            <a:pPr lvl="1" algn="l">
              <a:spcBef>
                <a:spcPts val="1200"/>
              </a:spcBef>
              <a:spcAft>
                <a:spcPts val="1200"/>
              </a:spcAft>
            </a:pPr>
            <a:r>
              <a:rPr lang="zh-CN" altLang="en-US" sz="3600" b="1" dirty="0">
                <a:solidFill>
                  <a:schemeClr val="bg2"/>
                </a:solidFill>
                <a:latin typeface="楷体" panose="02010609060101010101" pitchFamily="49" charset="-122"/>
                <a:ea typeface="楷体" panose="02010609060101010101" pitchFamily="49" charset="-122"/>
              </a:rPr>
              <a:t>对影响项目进度变化的因素进行控制，从而确保这些变化朝着有利于项目目标实现的方向发展。</a:t>
            </a:r>
            <a:endParaRPr lang="zh-CN" altLang="en-US" sz="3600" b="1" dirty="0">
              <a:solidFill>
                <a:schemeClr val="bg2"/>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P.124</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285720" y="1936988"/>
            <a:ext cx="8501122" cy="3508653"/>
          </a:xfrm>
          <a:prstGeom prst="rect">
            <a:avLst/>
          </a:prstGeom>
          <a:noFill/>
          <a:ln w="9525">
            <a:noFill/>
            <a:miter lim="800000"/>
          </a:ln>
        </p:spPr>
        <p:txBody>
          <a:bodyPr wrap="square">
            <a:spAutoFit/>
          </a:bodyPr>
          <a:lstStyle/>
          <a:p>
            <a:pPr marL="1657350" lvl="2" indent="-742950" algn="l">
              <a:spcBef>
                <a:spcPts val="600"/>
              </a:spcBef>
              <a:spcAft>
                <a:spcPts val="600"/>
              </a:spcAft>
              <a:buFont typeface="+mj-lt"/>
              <a:buAutoNum type="arabicPeriod"/>
            </a:pPr>
            <a:r>
              <a:rPr lang="zh-CN" altLang="en-US" sz="4800" b="1" dirty="0">
                <a:solidFill>
                  <a:srgbClr val="0000FF"/>
                </a:solidFill>
                <a:latin typeface="+mn-lt"/>
                <a:ea typeface="楷体" panose="02010609060101010101" pitchFamily="49" charset="-122"/>
              </a:rPr>
              <a:t>动态原则</a:t>
            </a:r>
            <a:endParaRPr lang="zh-CN" altLang="en-US" sz="4400" b="1" dirty="0">
              <a:solidFill>
                <a:srgbClr val="0000FF"/>
              </a:solidFill>
              <a:latin typeface="+mn-lt"/>
              <a:ea typeface="楷体" panose="02010609060101010101" pitchFamily="49" charset="-122"/>
            </a:endParaRPr>
          </a:p>
          <a:p>
            <a:pPr marL="1657350" lvl="2" indent="-742950" algn="l">
              <a:spcBef>
                <a:spcPts val="600"/>
              </a:spcBef>
              <a:spcAft>
                <a:spcPts val="600"/>
              </a:spcAft>
              <a:buFont typeface="+mj-lt"/>
              <a:buAutoNum type="arabicPeriod"/>
            </a:pPr>
            <a:r>
              <a:rPr lang="zh-CN" altLang="en-US" sz="4800" b="1" dirty="0">
                <a:solidFill>
                  <a:srgbClr val="0000FF"/>
                </a:solidFill>
                <a:latin typeface="+mn-lt"/>
                <a:ea typeface="楷体" panose="02010609060101010101" pitchFamily="49" charset="-122"/>
              </a:rPr>
              <a:t>系统原则</a:t>
            </a:r>
            <a:endParaRPr lang="zh-CN" altLang="en-US" sz="4400" b="1" dirty="0">
              <a:solidFill>
                <a:srgbClr val="0000FF"/>
              </a:solidFill>
              <a:latin typeface="+mn-lt"/>
              <a:ea typeface="楷体" panose="02010609060101010101" pitchFamily="49" charset="-122"/>
            </a:endParaRPr>
          </a:p>
          <a:p>
            <a:pPr marL="1657350" lvl="2" indent="-742950" algn="l">
              <a:spcBef>
                <a:spcPts val="600"/>
              </a:spcBef>
              <a:spcAft>
                <a:spcPts val="600"/>
              </a:spcAft>
              <a:buFont typeface="+mj-lt"/>
              <a:buAutoNum type="arabicPeriod"/>
            </a:pPr>
            <a:r>
              <a:rPr lang="zh-CN" altLang="en-US" sz="4800" b="1" dirty="0">
                <a:solidFill>
                  <a:srgbClr val="0000FF"/>
                </a:solidFill>
                <a:latin typeface="+mn-lt"/>
                <a:ea typeface="楷体" panose="02010609060101010101" pitchFamily="49" charset="-122"/>
              </a:rPr>
              <a:t>循环原则</a:t>
            </a:r>
            <a:endParaRPr lang="zh-CN" altLang="en-US" sz="4400" b="1" dirty="0">
              <a:solidFill>
                <a:srgbClr val="0000FF"/>
              </a:solidFill>
              <a:latin typeface="+mn-lt"/>
              <a:ea typeface="楷体" panose="02010609060101010101" pitchFamily="49" charset="-122"/>
            </a:endParaRPr>
          </a:p>
          <a:p>
            <a:pPr marL="1657350" lvl="2" indent="-742950" algn="l">
              <a:spcBef>
                <a:spcPts val="600"/>
              </a:spcBef>
              <a:spcAft>
                <a:spcPts val="600"/>
              </a:spcAft>
              <a:buFont typeface="+mj-lt"/>
              <a:buAutoNum type="arabicPeriod"/>
            </a:pPr>
            <a:r>
              <a:rPr lang="zh-CN" altLang="en-US" sz="4800" b="1" dirty="0">
                <a:solidFill>
                  <a:srgbClr val="0000FF"/>
                </a:solidFill>
                <a:latin typeface="+mn-lt"/>
                <a:ea typeface="楷体" panose="02010609060101010101" pitchFamily="49" charset="-122"/>
              </a:rPr>
              <a:t>弹性原则</a:t>
            </a:r>
            <a:endParaRPr lang="zh-CN" altLang="en-US" sz="4800" b="1" dirty="0">
              <a:solidFill>
                <a:srgbClr val="0000FF"/>
              </a:solidFill>
              <a:latin typeface="+mn-lt"/>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P.124</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41116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5.7.1</a:t>
            </a:r>
            <a:r>
              <a:rPr kumimoji="0" lang="zh-CN" altLang="en-US" b="1">
                <a:solidFill>
                  <a:schemeClr val="hlink"/>
                </a:solidFill>
                <a:latin typeface="楷体" panose="02010609060101010101" pitchFamily="49" charset="-122"/>
                <a:ea typeface="楷体" panose="02010609060101010101" pitchFamily="49" charset="-122"/>
                <a:cs typeface="楷体" panose="02010609060101010101" pitchFamily="49" charset="-122"/>
              </a:rPr>
              <a:t>项目进度控制的原则</a:t>
            </a:r>
            <a:endParaRPr kumimoji="0" lang="en-US" altLang="en-US" b="1">
              <a:solidFill>
                <a:schemeClr val="hlink"/>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285720" y="2199869"/>
            <a:ext cx="8501122" cy="2800767"/>
          </a:xfrm>
          <a:prstGeom prst="rect">
            <a:avLst/>
          </a:prstGeom>
          <a:noFill/>
          <a:ln w="9525">
            <a:noFill/>
            <a:miter lim="800000"/>
          </a:ln>
        </p:spPr>
        <p:txBody>
          <a:bodyPr wrap="square">
            <a:spAutoFit/>
          </a:bodyPr>
          <a:lstStyle/>
          <a:p>
            <a:pPr marL="815975" lvl="1" indent="-358775" algn="l">
              <a:buClr>
                <a:schemeClr val="bg1">
                  <a:lumMod val="50000"/>
                </a:schemeClr>
              </a:buClr>
              <a:buFont typeface="+mj-lt"/>
              <a:buAutoNum type="arabicPeriod"/>
            </a:pPr>
            <a:r>
              <a:rPr lang="zh-CN" altLang="en-US" sz="4400" b="1" dirty="0">
                <a:solidFill>
                  <a:srgbClr val="0000FF"/>
                </a:solidFill>
                <a:latin typeface="楷体" panose="02010609060101010101" pitchFamily="49" charset="-122"/>
                <a:ea typeface="楷体" panose="02010609060101010101" pitchFamily="49" charset="-122"/>
              </a:rPr>
              <a:t>低估了项目实现的条件</a:t>
            </a:r>
            <a:endParaRPr lang="en-US" altLang="zh-CN" sz="4000" b="1" dirty="0">
              <a:solidFill>
                <a:srgbClr val="0000FF"/>
              </a:solidFill>
              <a:latin typeface="楷体" panose="02010609060101010101" pitchFamily="49" charset="-122"/>
              <a:ea typeface="楷体" panose="02010609060101010101" pitchFamily="49" charset="-122"/>
            </a:endParaRPr>
          </a:p>
          <a:p>
            <a:pPr marL="815975" lvl="1" indent="-358775" algn="l">
              <a:buClr>
                <a:schemeClr val="bg1">
                  <a:lumMod val="50000"/>
                </a:schemeClr>
              </a:buClr>
              <a:buFont typeface="+mj-lt"/>
              <a:buAutoNum type="arabicPeriod"/>
            </a:pPr>
            <a:r>
              <a:rPr lang="zh-CN" altLang="en-US" sz="4400" b="1" dirty="0">
                <a:solidFill>
                  <a:srgbClr val="0000FF"/>
                </a:solidFill>
                <a:latin typeface="楷体" panose="02010609060101010101" pitchFamily="49" charset="-122"/>
                <a:ea typeface="楷体" panose="02010609060101010101" pitchFamily="49" charset="-122"/>
              </a:rPr>
              <a:t>项目参与者的问题</a:t>
            </a:r>
            <a:endParaRPr lang="en-US" altLang="zh-CN" sz="4400" b="1" dirty="0">
              <a:solidFill>
                <a:srgbClr val="0000FF"/>
              </a:solidFill>
              <a:latin typeface="楷体" panose="02010609060101010101" pitchFamily="49" charset="-122"/>
              <a:ea typeface="楷体" panose="02010609060101010101" pitchFamily="49" charset="-122"/>
            </a:endParaRPr>
          </a:p>
          <a:p>
            <a:pPr marL="815975" lvl="1" indent="-358775" algn="l">
              <a:buClr>
                <a:schemeClr val="bg1">
                  <a:lumMod val="50000"/>
                </a:schemeClr>
              </a:buClr>
              <a:buFont typeface="+mj-lt"/>
              <a:buAutoNum type="arabicPeriod"/>
            </a:pPr>
            <a:r>
              <a:rPr lang="zh-CN" altLang="en-US" sz="4400" b="1" dirty="0">
                <a:solidFill>
                  <a:srgbClr val="0000FF"/>
                </a:solidFill>
                <a:latin typeface="楷体" panose="02010609060101010101" pitchFamily="49" charset="-122"/>
                <a:ea typeface="楷体" panose="02010609060101010101" pitchFamily="49" charset="-122"/>
              </a:rPr>
              <a:t>不可预见的事件的发生</a:t>
            </a:r>
            <a:endParaRPr lang="zh-CN" altLang="en-US" sz="4400" b="1" dirty="0">
              <a:solidFill>
                <a:srgbClr val="0000FF"/>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P.125</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5.7.2 </a:t>
            </a:r>
            <a:r>
              <a:rPr kumimoji="0" lang="zh-CN" altLang="en-US" b="1">
                <a:solidFill>
                  <a:schemeClr val="hlink"/>
                </a:solidFill>
                <a:latin typeface="楷体" panose="02010609060101010101" pitchFamily="49" charset="-122"/>
                <a:ea typeface="楷体" panose="02010609060101010101" pitchFamily="49" charset="-122"/>
              </a:rPr>
              <a:t>影响项目进度的因素</a:t>
            </a:r>
            <a:endParaRPr kumimoji="0" lang="en-US" altLang="en-US" b="1">
              <a:solidFill>
                <a:schemeClr val="hlin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285720" y="1857364"/>
            <a:ext cx="8501122" cy="4262705"/>
          </a:xfrm>
          <a:prstGeom prst="rect">
            <a:avLst/>
          </a:prstGeom>
          <a:noFill/>
          <a:ln w="9525">
            <a:noFill/>
            <a:miter lim="800000"/>
          </a:ln>
        </p:spPr>
        <p:txBody>
          <a:bodyPr wrap="square">
            <a:spAutoFit/>
          </a:bodyPr>
          <a:lstStyle/>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的进度控制是一个动态的过程，在项目开发过程中由于需求的变更、项目开发环境的变化、关键资源的流失或不可抗拒的非人为因素，使得项目实际的进度与计划不相符，原有的进度计划已经不能再继续执行，</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项目经理要及时、准确地分析各种干扰因素，确定排除干扰的对策并及时修改项目的进度计划，按新的进度计划继续对项目进行控制。</a:t>
            </a:r>
            <a:endParaRPr lang="zh-CN" altLang="en-US" sz="4400" b="1" dirty="0">
              <a:solidFill>
                <a:schemeClr val="bg1">
                  <a:lumMod val="50000"/>
                </a:schemeClr>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P.126</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93192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5.7.3  </a:t>
            </a:r>
            <a:r>
              <a:rPr kumimoji="0" lang="zh-CN" altLang="en-US" b="1">
                <a:solidFill>
                  <a:srgbClr val="FF0000"/>
                </a:solidFill>
                <a:latin typeface="楷体" panose="02010609060101010101" pitchFamily="49" charset="-122"/>
                <a:ea typeface="楷体" panose="02010609060101010101" pitchFamily="49" charset="-122"/>
              </a:rPr>
              <a:t>项目进度控制过程</a:t>
            </a:r>
            <a:endParaRPr kumimoji="0" lang="zh-CN"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71406" y="1785926"/>
            <a:ext cx="8858280" cy="4555093"/>
          </a:xfrm>
          <a:prstGeom prst="rect">
            <a:avLst/>
          </a:prstGeom>
          <a:noFill/>
          <a:ln w="9525">
            <a:noFill/>
            <a:miter lim="800000"/>
          </a:ln>
        </p:spPr>
        <p:txBody>
          <a:bodyPr wrap="square">
            <a:spAutoFit/>
          </a:bodyPr>
          <a:lstStyle/>
          <a:p>
            <a:pPr algn="l">
              <a:spcBef>
                <a:spcPts val="600"/>
              </a:spcBef>
              <a:spcAft>
                <a:spcPts val="600"/>
              </a:spcAft>
            </a:pPr>
            <a:r>
              <a:rPr lang="zh-CN" altLang="en-US" sz="4000" b="1" dirty="0">
                <a:solidFill>
                  <a:schemeClr val="bg2"/>
                </a:solidFill>
                <a:latin typeface="楷体" panose="02010609060101010101" pitchFamily="49" charset="-122"/>
                <a:ea typeface="楷体" panose="02010609060101010101" pitchFamily="49" charset="-122"/>
              </a:rPr>
              <a:t>只要项目没有结束，项目的干扰因素就会存在，进度的调整就会发生，因此，进度的控制是一个循环的过程。</a:t>
            </a:r>
            <a:endParaRPr lang="zh-CN" altLang="en-US" sz="36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4000" b="1" dirty="0">
                <a:solidFill>
                  <a:schemeClr val="bg2"/>
                </a:solidFill>
                <a:latin typeface="楷体" panose="02010609060101010101" pitchFamily="49" charset="-122"/>
                <a:ea typeface="楷体" panose="02010609060101010101" pitchFamily="49" charset="-122"/>
              </a:rPr>
              <a:t>项目进度中实施控制是项目管理的关键，如果各分项目或各阶段在实施过程中没有把握好进度，则整个项目的进度会受到影响。</a:t>
            </a:r>
            <a:endParaRPr lang="zh-CN" altLang="en-US" sz="5400" b="1" dirty="0">
              <a:solidFill>
                <a:schemeClr val="bg1">
                  <a:lumMod val="50000"/>
                </a:schemeClr>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P.126</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967753" cy="52322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5.7.3  </a:t>
            </a:r>
            <a:r>
              <a:rPr kumimoji="0" lang="zh-CN" altLang="en-US" b="1">
                <a:solidFill>
                  <a:srgbClr val="FF0000"/>
                </a:solidFill>
                <a:ea typeface="楷体_GB2312" pitchFamily="49" charset="-122"/>
              </a:rPr>
              <a:t>项目进度控制过程</a:t>
            </a:r>
            <a:endParaRPr kumimoji="0" lang="zh-CN" altLang="en-US" b="1">
              <a:solidFill>
                <a:srgbClr val="FF0000"/>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142844" y="1857364"/>
            <a:ext cx="8858280" cy="4308872"/>
          </a:xfrm>
          <a:prstGeom prst="rect">
            <a:avLst/>
          </a:prstGeom>
          <a:noFill/>
          <a:ln w="952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对项目实施期间的进度控制，应该注意以下几点：</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b="1" dirty="0">
                <a:solidFill>
                  <a:schemeClr val="bg2"/>
                </a:solidFill>
                <a:latin typeface="楷体" panose="02010609060101010101" pitchFamily="49" charset="-122"/>
                <a:ea typeface="楷体" panose="02010609060101010101" pitchFamily="49" charset="-122"/>
              </a:rPr>
              <a:t>(1) </a:t>
            </a:r>
            <a:r>
              <a:rPr lang="zh-CN" altLang="en-US" b="1" dirty="0">
                <a:solidFill>
                  <a:schemeClr val="bg2"/>
                </a:solidFill>
                <a:latin typeface="楷体" panose="02010609060101010101" pitchFamily="49" charset="-122"/>
                <a:ea typeface="楷体" panose="02010609060101010101" pitchFamily="49" charset="-122"/>
              </a:rPr>
              <a:t>实行项目经理负责制，并强调每个人对自己承担工作的进度负责。</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b="1" dirty="0">
                <a:solidFill>
                  <a:schemeClr val="bg2"/>
                </a:solidFill>
                <a:latin typeface="楷体" panose="02010609060101010101" pitchFamily="49" charset="-122"/>
                <a:ea typeface="楷体" panose="02010609060101010101" pitchFamily="49" charset="-122"/>
              </a:rPr>
              <a:t>(2) </a:t>
            </a:r>
            <a:r>
              <a:rPr lang="zh-CN" altLang="en-US" b="1" dirty="0">
                <a:solidFill>
                  <a:schemeClr val="bg2"/>
                </a:solidFill>
                <a:latin typeface="楷体" panose="02010609060101010101" pitchFamily="49" charset="-122"/>
                <a:ea typeface="楷体" panose="02010609060101010101" pitchFamily="49" charset="-122"/>
              </a:rPr>
              <a:t>强化资源的储备及特殊资源的获取方式或途径；</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b="1" dirty="0">
                <a:solidFill>
                  <a:schemeClr val="bg2"/>
                </a:solidFill>
                <a:latin typeface="楷体" panose="02010609060101010101" pitchFamily="49" charset="-122"/>
                <a:ea typeface="楷体" panose="02010609060101010101" pitchFamily="49" charset="-122"/>
              </a:rPr>
              <a:t>(3) </a:t>
            </a:r>
            <a:r>
              <a:rPr lang="zh-CN" altLang="en-US" b="1" dirty="0">
                <a:solidFill>
                  <a:schemeClr val="bg2"/>
                </a:solidFill>
                <a:latin typeface="楷体" panose="02010609060101010101" pitchFamily="49" charset="-122"/>
                <a:ea typeface="楷体" panose="02010609060101010101" pitchFamily="49" charset="-122"/>
              </a:rPr>
              <a:t>识别风险并制定定相应的技术措施；</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b="1" dirty="0">
                <a:solidFill>
                  <a:schemeClr val="bg2"/>
                </a:solidFill>
                <a:latin typeface="楷体" panose="02010609060101010101" pitchFamily="49" charset="-122"/>
                <a:ea typeface="楷体" panose="02010609060101010101" pitchFamily="49" charset="-122"/>
              </a:rPr>
              <a:t>(4) </a:t>
            </a:r>
            <a:r>
              <a:rPr lang="zh-CN" altLang="en-US" b="1" dirty="0">
                <a:solidFill>
                  <a:schemeClr val="bg2"/>
                </a:solidFill>
                <a:latin typeface="楷体" panose="02010609060101010101" pitchFamily="49" charset="-122"/>
                <a:ea typeface="楷体" panose="02010609060101010101" pitchFamily="49" charset="-122"/>
              </a:rPr>
              <a:t>制定管理制度，确定投标方法，规范评标及合同的签订等的过程；</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b="1" dirty="0">
                <a:solidFill>
                  <a:schemeClr val="bg2"/>
                </a:solidFill>
                <a:latin typeface="楷体" panose="02010609060101010101" pitchFamily="49" charset="-122"/>
                <a:ea typeface="楷体" panose="02010609060101010101" pitchFamily="49" charset="-122"/>
              </a:rPr>
              <a:t>(5) </a:t>
            </a:r>
            <a:r>
              <a:rPr lang="zh-CN" altLang="en-US" b="1" dirty="0">
                <a:solidFill>
                  <a:schemeClr val="bg2"/>
                </a:solidFill>
                <a:latin typeface="楷体" panose="02010609060101010101" pitchFamily="49" charset="-122"/>
                <a:ea typeface="楷体" panose="02010609060101010101" pitchFamily="49" charset="-122"/>
              </a:rPr>
              <a:t>加强项目人员的招聘和培训。</a:t>
            </a:r>
            <a:endParaRPr lang="zh-CN" altLang="en-US" sz="4000" b="1" dirty="0">
              <a:solidFill>
                <a:schemeClr val="bg1">
                  <a:lumMod val="50000"/>
                </a:schemeClr>
              </a:solidFill>
              <a:latin typeface="楷体" panose="02010609060101010101" pitchFamily="49" charset="-122"/>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P.126</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93192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5.7.3  </a:t>
            </a:r>
            <a:r>
              <a:rPr kumimoji="0" lang="zh-CN" altLang="en-US" b="1">
                <a:solidFill>
                  <a:srgbClr val="FF0000"/>
                </a:solidFill>
                <a:latin typeface="楷体" panose="02010609060101010101" pitchFamily="49" charset="-122"/>
                <a:ea typeface="楷体" panose="02010609060101010101" pitchFamily="49" charset="-122"/>
              </a:rPr>
              <a:t>项目进度控制过程</a:t>
            </a:r>
            <a:endParaRPr kumimoji="0" lang="zh-CN"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0723"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0724" name="Text Box 4"/>
          <p:cNvSpPr txBox="1">
            <a:spLocks noChangeArrowheads="1"/>
          </p:cNvSpPr>
          <p:nvPr/>
        </p:nvSpPr>
        <p:spPr bwMode="auto">
          <a:xfrm>
            <a:off x="785786" y="1952518"/>
            <a:ext cx="6715172" cy="3262432"/>
          </a:xfrm>
          <a:prstGeom prst="rect">
            <a:avLst/>
          </a:prstGeom>
          <a:noFill/>
          <a:ln w="9525">
            <a:noFill/>
            <a:miter lim="800000"/>
          </a:ln>
        </p:spPr>
        <p:txBody>
          <a:bodyPr wrap="square">
            <a:spAutoFit/>
          </a:bodyPr>
          <a:lstStyle/>
          <a:p>
            <a:pPr marL="971550" lvl="1" indent="-514350" algn="l">
              <a:spcBef>
                <a:spcPts val="600"/>
              </a:spcBef>
              <a:spcAft>
                <a:spcPts val="600"/>
              </a:spcAft>
              <a:buClr>
                <a:schemeClr val="bg1">
                  <a:lumMod val="50000"/>
                </a:schemeClr>
              </a:buClr>
              <a:buFont typeface="+mj-lt"/>
              <a:buAutoNum type="arabicPeriod"/>
            </a:pPr>
            <a:r>
              <a:rPr lang="zh-CN" altLang="en-US" sz="4400" b="1" dirty="0">
                <a:solidFill>
                  <a:srgbClr val="0000FF"/>
                </a:solidFill>
                <a:latin typeface="+mn-lt"/>
                <a:ea typeface="楷体" panose="02010609060101010101" pitchFamily="49" charset="-122"/>
              </a:rPr>
              <a:t>进度报告</a:t>
            </a:r>
            <a:endParaRPr lang="en-US" altLang="zh-CN" sz="4400" b="1" dirty="0">
              <a:solidFill>
                <a:srgbClr val="0000FF"/>
              </a:solidFill>
              <a:latin typeface="+mn-lt"/>
              <a:ea typeface="楷体" panose="02010609060101010101" pitchFamily="49" charset="-122"/>
            </a:endParaRPr>
          </a:p>
          <a:p>
            <a:pPr marL="971550" lvl="1" indent="-514350" algn="l">
              <a:spcBef>
                <a:spcPts val="600"/>
              </a:spcBef>
              <a:spcAft>
                <a:spcPts val="600"/>
              </a:spcAft>
              <a:buClr>
                <a:schemeClr val="bg1">
                  <a:lumMod val="50000"/>
                </a:schemeClr>
              </a:buClr>
              <a:buFont typeface="+mj-lt"/>
              <a:buAutoNum type="arabicPeriod"/>
            </a:pPr>
            <a:r>
              <a:rPr lang="zh-CN" altLang="en-US" sz="4400" b="1" dirty="0">
                <a:solidFill>
                  <a:srgbClr val="0000FF"/>
                </a:solidFill>
                <a:latin typeface="+mn-lt"/>
                <a:ea typeface="楷体" panose="02010609060101010101" pitchFamily="49" charset="-122"/>
              </a:rPr>
              <a:t>进度变更控制系统</a:t>
            </a:r>
            <a:endParaRPr lang="en-US" altLang="zh-CN" sz="4400" b="1" dirty="0">
              <a:solidFill>
                <a:srgbClr val="0000FF"/>
              </a:solidFill>
              <a:latin typeface="+mn-lt"/>
              <a:ea typeface="楷体" panose="02010609060101010101" pitchFamily="49" charset="-122"/>
            </a:endParaRPr>
          </a:p>
          <a:p>
            <a:pPr marL="971550" lvl="1" indent="-514350" algn="l">
              <a:spcBef>
                <a:spcPts val="600"/>
              </a:spcBef>
              <a:spcAft>
                <a:spcPts val="600"/>
              </a:spcAft>
              <a:buClr>
                <a:schemeClr val="bg1">
                  <a:lumMod val="50000"/>
                </a:schemeClr>
              </a:buClr>
              <a:buFont typeface="+mj-lt"/>
              <a:buAutoNum type="arabicPeriod"/>
            </a:pPr>
            <a:r>
              <a:rPr lang="zh-CN" altLang="en-US" sz="4400" b="1" dirty="0">
                <a:solidFill>
                  <a:srgbClr val="0000FF"/>
                </a:solidFill>
                <a:latin typeface="+mn-lt"/>
                <a:ea typeface="楷体" panose="02010609060101010101" pitchFamily="49" charset="-122"/>
              </a:rPr>
              <a:t>进度控制软件</a:t>
            </a:r>
            <a:endParaRPr lang="en-US" altLang="zh-CN" sz="4400" b="1" dirty="0">
              <a:solidFill>
                <a:srgbClr val="0000FF"/>
              </a:solidFill>
              <a:latin typeface="+mn-lt"/>
              <a:ea typeface="楷体" panose="02010609060101010101" pitchFamily="49" charset="-122"/>
            </a:endParaRPr>
          </a:p>
          <a:p>
            <a:pPr marL="971550" lvl="1" indent="-514350" algn="l">
              <a:spcBef>
                <a:spcPts val="600"/>
              </a:spcBef>
              <a:spcAft>
                <a:spcPts val="600"/>
              </a:spcAft>
              <a:buClr>
                <a:schemeClr val="bg1">
                  <a:lumMod val="50000"/>
                </a:schemeClr>
              </a:buClr>
              <a:buFont typeface="+mj-lt"/>
              <a:buAutoNum type="arabicPeriod"/>
            </a:pPr>
            <a:r>
              <a:rPr lang="zh-CN" altLang="en-US" sz="4400" b="1" dirty="0">
                <a:solidFill>
                  <a:srgbClr val="0000FF"/>
                </a:solidFill>
                <a:latin typeface="+mn-lt"/>
                <a:ea typeface="楷体" panose="02010609060101010101" pitchFamily="49" charset="-122"/>
              </a:rPr>
              <a:t>项目进度比较</a:t>
            </a:r>
            <a:endParaRPr lang="zh-CN" altLang="en-US" sz="4400" b="1" dirty="0">
              <a:solidFill>
                <a:srgbClr val="0000FF"/>
              </a:solidFill>
              <a:latin typeface="+mn-lt"/>
              <a:ea typeface="楷体" panose="02010609060101010101" pitchFamily="49" charset="-122"/>
            </a:endParaRPr>
          </a:p>
        </p:txBody>
      </p:sp>
      <p:sp>
        <p:nvSpPr>
          <p:cNvPr id="30725" name="Text Box 5"/>
          <p:cNvSpPr txBox="1">
            <a:spLocks noChangeArrowheads="1"/>
          </p:cNvSpPr>
          <p:nvPr/>
        </p:nvSpPr>
        <p:spPr bwMode="auto">
          <a:xfrm>
            <a:off x="7885113" y="44450"/>
            <a:ext cx="1150937" cy="457200"/>
          </a:xfrm>
          <a:prstGeom prst="rect">
            <a:avLst/>
          </a:prstGeom>
          <a:noFill/>
          <a:ln w="9525">
            <a:noFill/>
            <a:miter lim="800000"/>
          </a:ln>
        </p:spPr>
        <p:txBody>
          <a:bodyPr>
            <a:spAutoFit/>
          </a:bodyPr>
          <a:lstStyle/>
          <a:p>
            <a:r>
              <a:rPr lang="en-US" altLang="zh-CN" sz="2400" b="1" dirty="0">
                <a:solidFill>
                  <a:schemeClr val="bg2"/>
                </a:solidFill>
                <a:ea typeface="楷体" panose="02010609060101010101" pitchFamily="49" charset="-122"/>
              </a:rPr>
              <a:t>P.126</a:t>
            </a:r>
            <a:endParaRPr lang="en-US" altLang="zh-CN" b="1" dirty="0">
              <a:solidFill>
                <a:schemeClr val="bg2"/>
              </a:solidFill>
              <a:ea typeface="楷体" panose="02010609060101010101" pitchFamily="49" charset="-122"/>
            </a:endParaRPr>
          </a:p>
        </p:txBody>
      </p:sp>
      <p:sp>
        <p:nvSpPr>
          <p:cNvPr id="30726" name="Rectangle 14"/>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5.7 </a:t>
            </a:r>
            <a:r>
              <a:rPr kumimoji="0" lang="zh-CN" altLang="en-US" sz="3000" b="1" dirty="0">
                <a:ea typeface="楷体" panose="02010609060101010101" pitchFamily="49" charset="-122"/>
              </a:rPr>
              <a:t>项目进度控制</a:t>
            </a:r>
            <a:endParaRPr kumimoji="0" lang="en-US" altLang="en-US" sz="3000" b="1" dirty="0">
              <a:ea typeface="楷体" panose="02010609060101010101" pitchFamily="49" charset="-122"/>
            </a:endParaRPr>
          </a:p>
        </p:txBody>
      </p:sp>
      <p:sp>
        <p:nvSpPr>
          <p:cNvPr id="30727" name="Rectangle 15"/>
          <p:cNvSpPr>
            <a:spLocks noChangeArrowheads="1"/>
          </p:cNvSpPr>
          <p:nvPr/>
        </p:nvSpPr>
        <p:spPr bwMode="auto">
          <a:xfrm>
            <a:off x="323850" y="1341438"/>
            <a:ext cx="3931920" cy="521970"/>
          </a:xfrm>
          <a:prstGeom prst="rect">
            <a:avLst/>
          </a:prstGeom>
          <a:noFill/>
          <a:ln w="9525">
            <a:noFill/>
            <a:miter lim="800000"/>
          </a:ln>
        </p:spPr>
        <p:txBody>
          <a:bodyPr wrap="none">
            <a:spAutoFit/>
          </a:bodyPr>
          <a:lstStyle/>
          <a:p>
            <a:pPr algn="l">
              <a:spcBef>
                <a:spcPct val="0"/>
              </a:spcBef>
            </a:pPr>
            <a:r>
              <a:rPr kumimoji="0" lang="en-US" altLang="en-US" b="1">
                <a:solidFill>
                  <a:schemeClr val="hlink"/>
                </a:solidFill>
                <a:ea typeface="楷体_GB2312" pitchFamily="49" charset="-122"/>
              </a:rPr>
              <a:t>5.7.4  </a:t>
            </a:r>
            <a:r>
              <a:rPr kumimoji="0" lang="zh-CN" altLang="en-US" b="1">
                <a:solidFill>
                  <a:schemeClr val="hlink"/>
                </a:solidFill>
                <a:latin typeface="楷体" panose="02010609060101010101" pitchFamily="49" charset="-122"/>
                <a:ea typeface="楷体" panose="02010609060101010101" pitchFamily="49" charset="-122"/>
              </a:rPr>
              <a:t>项目进度控制方法</a:t>
            </a:r>
            <a:endParaRPr kumimoji="0" lang="zh-CN" altLang="en-US" b="1">
              <a:solidFill>
                <a:schemeClr val="hlin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4294967295"/>
          </p:nvPr>
        </p:nvSpPr>
        <p:spPr>
          <a:xfrm>
            <a:off x="8643938" y="6429375"/>
            <a:ext cx="500062" cy="312738"/>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32771" name="Rectangle 3"/>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ea typeface="楷体" panose="02010609060101010101" pitchFamily="49" charset="-122"/>
            </a:endParaRPr>
          </a:p>
        </p:txBody>
      </p:sp>
      <p:sp>
        <p:nvSpPr>
          <p:cNvPr id="32772" name="Text Box 4"/>
          <p:cNvSpPr txBox="1">
            <a:spLocks noChangeArrowheads="1"/>
          </p:cNvSpPr>
          <p:nvPr/>
        </p:nvSpPr>
        <p:spPr bwMode="auto">
          <a:xfrm>
            <a:off x="250825" y="1508360"/>
            <a:ext cx="8642350" cy="4247317"/>
          </a:xfrm>
          <a:prstGeom prst="rect">
            <a:avLst/>
          </a:prstGeom>
          <a:noFill/>
          <a:ln w="9525">
            <a:noFill/>
            <a:miter lim="800000"/>
          </a:ln>
        </p:spPr>
        <p:txBody>
          <a:bodyPr>
            <a:spAutoFit/>
          </a:bodyPr>
          <a:lstStyle/>
          <a:p>
            <a:pPr algn="l">
              <a:spcBef>
                <a:spcPts val="1200"/>
              </a:spcBef>
              <a:spcAft>
                <a:spcPts val="600"/>
              </a:spcAft>
              <a:buClr>
                <a:schemeClr val="hlink"/>
              </a:buClr>
            </a:pPr>
            <a:r>
              <a:rPr lang="zh-CN" altLang="en-US" sz="3600" b="1" dirty="0">
                <a:solidFill>
                  <a:schemeClr val="bg2"/>
                </a:solidFill>
                <a:latin typeface="楷体" panose="02010609060101010101" pitchFamily="49" charset="-122"/>
                <a:ea typeface="楷体" panose="02010609060101010101" pitchFamily="49" charset="-122"/>
              </a:rPr>
              <a:t>谁负责的工作，就应该由谁来做计划，这是计划</a:t>
            </a:r>
            <a:r>
              <a:rPr lang="zh-CN" altLang="en-US" sz="4400" b="1" dirty="0">
                <a:solidFill>
                  <a:srgbClr val="FF0000"/>
                </a:solidFill>
                <a:latin typeface="楷体" panose="02010609060101010101" pitchFamily="49" charset="-122"/>
                <a:ea typeface="楷体" panose="02010609060101010101" pitchFamily="49" charset="-122"/>
              </a:rPr>
              <a:t>可用的基础</a:t>
            </a:r>
            <a:r>
              <a:rPr lang="zh-CN" altLang="en-US" sz="3600" b="1" dirty="0">
                <a:solidFill>
                  <a:schemeClr val="accent4">
                    <a:lumMod val="10000"/>
                  </a:schemeClr>
                </a:solidFill>
                <a:ea typeface="楷体" panose="02010609060101010101" pitchFamily="49" charset="-122"/>
              </a:rPr>
              <a:t>。</a:t>
            </a:r>
            <a:endParaRPr lang="en-US" altLang="zh-CN" sz="3600" b="1" dirty="0">
              <a:solidFill>
                <a:srgbClr val="990000"/>
              </a:solidFill>
              <a:ea typeface="楷体" panose="02010609060101010101" pitchFamily="49" charset="-122"/>
            </a:endParaRPr>
          </a:p>
          <a:p>
            <a:pPr algn="l">
              <a:spcBef>
                <a:spcPts val="1200"/>
              </a:spcBef>
              <a:spcAft>
                <a:spcPts val="600"/>
              </a:spcAft>
              <a:buClr>
                <a:schemeClr val="hlink"/>
              </a:buClr>
            </a:pPr>
            <a:r>
              <a:rPr lang="zh-CN" altLang="en-US" sz="3600" b="1" dirty="0">
                <a:solidFill>
                  <a:schemeClr val="bg2"/>
                </a:solidFill>
                <a:latin typeface="楷体" panose="02010609060101010101" pitchFamily="49" charset="-122"/>
                <a:ea typeface="楷体" panose="02010609060101010101" pitchFamily="49" charset="-122"/>
              </a:rPr>
              <a:t>关键的项目干系人对项目进度计划的一致认可</a:t>
            </a:r>
            <a:r>
              <a:rPr lang="zh-CN" altLang="en-US" sz="3600" b="1" dirty="0">
                <a:solidFill>
                  <a:schemeClr val="bg2"/>
                </a:solidFill>
                <a:ea typeface="楷体" panose="02010609060101010101" pitchFamily="49" charset="-122"/>
              </a:rPr>
              <a:t>，</a:t>
            </a:r>
            <a:r>
              <a:rPr lang="zh-CN" altLang="en-US" sz="3600" b="1" dirty="0">
                <a:solidFill>
                  <a:schemeClr val="bg2"/>
                </a:solidFill>
                <a:latin typeface="楷体" panose="02010609060101010101" pitchFamily="49" charset="-122"/>
                <a:ea typeface="楷体" panose="02010609060101010101" pitchFamily="49" charset="-122"/>
              </a:rPr>
              <a:t>是计划</a:t>
            </a:r>
            <a:r>
              <a:rPr lang="zh-CN" altLang="en-US" sz="4400" b="1" dirty="0">
                <a:solidFill>
                  <a:srgbClr val="FF0000"/>
                </a:solidFill>
                <a:latin typeface="楷体" panose="02010609060101010101" pitchFamily="49" charset="-122"/>
                <a:ea typeface="楷体" panose="02010609060101010101" pitchFamily="49" charset="-122"/>
              </a:rPr>
              <a:t>可行的基础</a:t>
            </a:r>
            <a:r>
              <a:rPr lang="zh-CN" altLang="en-US" sz="3600" b="1" dirty="0">
                <a:solidFill>
                  <a:schemeClr val="bg2"/>
                </a:solidFill>
                <a:ea typeface="楷体" panose="02010609060101010101" pitchFamily="49" charset="-122"/>
              </a:rPr>
              <a:t>。</a:t>
            </a:r>
            <a:endParaRPr lang="zh-CN" altLang="en-US" sz="3600" b="1" dirty="0">
              <a:solidFill>
                <a:schemeClr val="bg2"/>
              </a:solidFill>
              <a:ea typeface="楷体" panose="02010609060101010101" pitchFamily="49" charset="-122"/>
            </a:endParaRPr>
          </a:p>
          <a:p>
            <a:pPr algn="l">
              <a:spcBef>
                <a:spcPts val="1200"/>
              </a:spcBef>
              <a:spcAft>
                <a:spcPts val="600"/>
              </a:spcAft>
              <a:buClr>
                <a:schemeClr val="hlink"/>
              </a:buClr>
            </a:pPr>
            <a:r>
              <a:rPr lang="zh-CN" altLang="en-US" sz="3600" b="1" dirty="0">
                <a:solidFill>
                  <a:schemeClr val="bg2"/>
                </a:solidFill>
                <a:latin typeface="楷体" panose="02010609060101010101" pitchFamily="49" charset="-122"/>
                <a:ea typeface="楷体" panose="02010609060101010101" pitchFamily="49" charset="-122"/>
              </a:rPr>
              <a:t>项目者清楚而如实地汇报项目状态，是计划</a:t>
            </a:r>
            <a:r>
              <a:rPr lang="zh-CN" altLang="en-US" sz="4400" b="1" dirty="0">
                <a:solidFill>
                  <a:srgbClr val="FF0000"/>
                </a:solidFill>
                <a:latin typeface="楷体" panose="02010609060101010101" pitchFamily="49" charset="-122"/>
                <a:ea typeface="楷体" panose="02010609060101010101" pitchFamily="49" charset="-122"/>
              </a:rPr>
              <a:t>可控的基础</a:t>
            </a:r>
            <a:r>
              <a:rPr lang="zh-CN" altLang="en-US" sz="3200" b="1" dirty="0">
                <a:solidFill>
                  <a:schemeClr val="bg2"/>
                </a:solidFill>
                <a:ea typeface="楷体" panose="02010609060101010101" pitchFamily="49" charset="-122"/>
              </a:rPr>
              <a:t>。</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6" name="Rectangle 6"/>
          <p:cNvSpPr>
            <a:spLocks noChangeArrowheads="1"/>
          </p:cNvSpPr>
          <p:nvPr/>
        </p:nvSpPr>
        <p:spPr bwMode="auto">
          <a:xfrm>
            <a:off x="103189" y="620713"/>
            <a:ext cx="3254366" cy="549275"/>
          </a:xfrm>
          <a:prstGeom prst="rect">
            <a:avLst/>
          </a:prstGeom>
          <a:noFill/>
          <a:ln w="9525">
            <a:noFill/>
            <a:miter lim="800000"/>
          </a:ln>
        </p:spPr>
        <p:txBody>
          <a:bodyPr wrap="square">
            <a:spAutoFit/>
          </a:bodyPr>
          <a:lstStyle/>
          <a:p>
            <a:pPr algn="l">
              <a:spcBef>
                <a:spcPct val="0"/>
              </a:spcBef>
            </a:pPr>
            <a:r>
              <a:rPr kumimoji="0" lang="en-US" altLang="en-US" sz="3000" b="1" dirty="0">
                <a:ea typeface="楷体" panose="02010609060101010101" pitchFamily="49" charset="-122"/>
              </a:rPr>
              <a:t>【</a:t>
            </a:r>
            <a:r>
              <a:rPr kumimoji="0" lang="en-US" altLang="en-US" sz="3000" b="1" dirty="0" err="1">
                <a:ea typeface="楷体" panose="02010609060101010101" pitchFamily="49" charset="-122"/>
              </a:rPr>
              <a:t>感想&amp;体会</a:t>
            </a:r>
            <a:r>
              <a:rPr kumimoji="0" lang="en-US" altLang="en-US" sz="3000" b="1" dirty="0">
                <a:ea typeface="楷体" panose="02010609060101010101" pitchFamily="49" charset="-122"/>
              </a:rPr>
              <a:t>】</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4294967295"/>
          </p:nvPr>
        </p:nvSpPr>
        <p:spPr>
          <a:xfrm>
            <a:off x="6500813" y="6572250"/>
            <a:ext cx="2643187" cy="285750"/>
          </a:xfrm>
          <a:prstGeom prst="rect">
            <a:avLst/>
          </a:prstGeom>
          <a:noFill/>
        </p:spPr>
        <p:txBody>
          <a:bodyPr/>
          <a:lstStyle/>
          <a:p>
            <a:r>
              <a:rPr lang="zh-CN" altLang="en-GB" dirty="0">
                <a:ea typeface="楷体" panose="02010609060101010101" pitchFamily="49" charset="-122"/>
              </a:rPr>
              <a:t>  </a:t>
            </a:r>
            <a:endParaRPr lang="en-US" altLang="zh-CN" dirty="0">
              <a:ea typeface="楷体" panose="02010609060101010101" pitchFamily="49" charset="-122"/>
            </a:endParaRPr>
          </a:p>
        </p:txBody>
      </p:sp>
      <p:sp>
        <p:nvSpPr>
          <p:cNvPr id="601091" name="Text Box 3"/>
          <p:cNvSpPr txBox="1">
            <a:spLocks noChangeArrowheads="1"/>
          </p:cNvSpPr>
          <p:nvPr/>
        </p:nvSpPr>
        <p:spPr bwMode="auto">
          <a:xfrm>
            <a:off x="71406" y="1565397"/>
            <a:ext cx="8928100" cy="4707890"/>
          </a:xfrm>
          <a:prstGeom prst="rect">
            <a:avLst/>
          </a:prstGeom>
          <a:noFill/>
          <a:ln w="9525">
            <a:noFill/>
            <a:miter lim="800000"/>
          </a:ln>
        </p:spPr>
        <p:txBody>
          <a:bodyPr wrap="square">
            <a:spAutoFit/>
          </a:bodyPr>
          <a:lstStyle/>
          <a:p>
            <a:pPr algn="l">
              <a:spcBef>
                <a:spcPts val="600"/>
              </a:spcBef>
              <a:spcAft>
                <a:spcPts val="600"/>
              </a:spcAft>
              <a:buClr>
                <a:srgbClr val="990000"/>
              </a:buClr>
            </a:pPr>
            <a:r>
              <a:rPr lang="zh-CN" altLang="en-US" b="1" dirty="0">
                <a:solidFill>
                  <a:schemeClr val="bg2"/>
                </a:solidFill>
                <a:latin typeface="楷体" panose="02010609060101010101" pitchFamily="49" charset="-122"/>
                <a:ea typeface="楷体" panose="02010609060101010101" pitchFamily="49" charset="-122"/>
              </a:rPr>
              <a:t>世界上唯一公平的资源就是时间，如果你感到幸福，说明你的时间管理得不错！</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b="1" dirty="0">
                <a:solidFill>
                  <a:schemeClr val="bg2"/>
                </a:solidFill>
                <a:latin typeface="楷体" panose="02010609060101010101" pitchFamily="49" charset="-122"/>
                <a:ea typeface="楷体" panose="02010609060101010101" pitchFamily="49" charset="-122"/>
              </a:rPr>
              <a:t>项目工作一定要有时间表，没有时间表的计划都是空谈。</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能够充分地利用自己的时间，说明你在</a:t>
            </a:r>
            <a:r>
              <a:rPr lang="zh-CN" altLang="en-US" sz="3600" b="1" dirty="0">
                <a:solidFill>
                  <a:srgbClr val="FF0000"/>
                </a:solidFill>
                <a:latin typeface="楷体" panose="02010609060101010101" pitchFamily="49" charset="-122"/>
                <a:ea typeface="楷体" panose="02010609060101010101" pitchFamily="49" charset="-122"/>
              </a:rPr>
              <a:t>成长</a:t>
            </a:r>
            <a:r>
              <a:rPr lang="zh-CN" altLang="en-US" b="1" dirty="0">
                <a:solidFill>
                  <a:schemeClr val="bg2"/>
                </a:solidFill>
                <a:latin typeface="楷体" panose="02010609060101010101" pitchFamily="49" charset="-122"/>
                <a:ea typeface="楷体" panose="02010609060101010101" pitchFamily="49" charset="-122"/>
              </a:rPr>
              <a:t>；</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能够有效的控制项目的时间，说明你在</a:t>
            </a:r>
            <a:r>
              <a:rPr lang="zh-CN" altLang="en-US" sz="3600" b="1" dirty="0">
                <a:solidFill>
                  <a:srgbClr val="FF0000"/>
                </a:solidFill>
                <a:latin typeface="楷体" panose="02010609060101010101" pitchFamily="49" charset="-122"/>
                <a:ea typeface="楷体" panose="02010609060101010101" pitchFamily="49" charset="-122"/>
              </a:rPr>
              <a:t>成熟</a:t>
            </a:r>
            <a:r>
              <a:rPr lang="zh-CN" altLang="en-US" b="1" dirty="0">
                <a:solidFill>
                  <a:schemeClr val="bg2"/>
                </a:solidFill>
                <a:latin typeface="楷体" panose="02010609060101010101" pitchFamily="49" charset="-122"/>
                <a:ea typeface="楷体" panose="02010609060101010101" pitchFamily="49" charset="-122"/>
              </a:rPr>
              <a:t>。</a:t>
            </a:r>
            <a:endParaRPr lang="zh-CN" altLang="en-US" b="1" dirty="0">
              <a:solidFill>
                <a:schemeClr val="bg2"/>
              </a:solidFill>
              <a:latin typeface="楷体" panose="02010609060101010101" pitchFamily="49" charset="-122"/>
              <a:ea typeface="楷体" panose="02010609060101010101" pitchFamily="49" charset="-122"/>
            </a:endParaRPr>
          </a:p>
          <a:p>
            <a:pPr algn="ctr">
              <a:spcBef>
                <a:spcPts val="1800"/>
              </a:spcBef>
              <a:spcAft>
                <a:spcPts val="600"/>
              </a:spcAft>
              <a:buClr>
                <a:srgbClr val="990000"/>
              </a:buClr>
              <a:buFont typeface="Wingdings" panose="05000000000000000000" pitchFamily="2" charset="2"/>
              <a:buNone/>
            </a:pPr>
            <a:r>
              <a:rPr lang="zh-CN" altLang="en-US" sz="3600" b="1" dirty="0">
                <a:solidFill>
                  <a:srgbClr val="990000"/>
                </a:solidFill>
                <a:ea typeface="楷体" panose="02010609060101010101" pitchFamily="49" charset="-122"/>
              </a:rPr>
              <a:t>       </a:t>
            </a:r>
            <a:r>
              <a:rPr lang="zh-CN" altLang="en-US" sz="3600" b="1" dirty="0">
                <a:solidFill>
                  <a:srgbClr val="FF0000"/>
                </a:solidFill>
                <a:ea typeface="楷体" panose="02010609060101010101" pitchFamily="49" charset="-122"/>
              </a:rPr>
              <a:t> </a:t>
            </a:r>
            <a:r>
              <a:rPr lang="zh-CN" altLang="en-US" sz="4000" b="1" dirty="0">
                <a:solidFill>
                  <a:srgbClr val="FF0000"/>
                </a:solidFill>
                <a:latin typeface="楷体" panose="02010609060101010101" pitchFamily="49" charset="-122"/>
                <a:ea typeface="楷体" panose="02010609060101010101" pitchFamily="49" charset="-122"/>
                <a:cs typeface="楷体" panose="02010609060101010101" pitchFamily="49" charset="-122"/>
              </a:rPr>
              <a:t>争取时间，获得先机；</a:t>
            </a:r>
            <a:endParaRPr lang="zh-CN" altLang="en-US" sz="40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ctr">
              <a:spcBef>
                <a:spcPts val="600"/>
              </a:spcBef>
              <a:spcAft>
                <a:spcPts val="600"/>
              </a:spcAft>
              <a:buClr>
                <a:srgbClr val="990000"/>
              </a:buClr>
              <a:buFont typeface="Wingdings" panose="05000000000000000000" pitchFamily="2" charset="2"/>
              <a:buNone/>
            </a:pPr>
            <a:r>
              <a:rPr lang="zh-CN" altLang="en-US" sz="4000" b="1" dirty="0">
                <a:solidFill>
                  <a:srgbClr val="FF0000"/>
                </a:solidFill>
                <a:latin typeface="楷体" panose="02010609060101010101" pitchFamily="49" charset="-122"/>
                <a:ea typeface="楷体" panose="02010609060101010101" pitchFamily="49" charset="-122"/>
                <a:cs typeface="楷体" panose="02010609060101010101" pitchFamily="49" charset="-122"/>
              </a:rPr>
              <a:t>    控制进度，掌握成功！</a:t>
            </a:r>
            <a:r>
              <a:rPr lang="zh-CN" altLang="en-US" b="1" dirty="0">
                <a:solidFill>
                  <a:schemeClr val="bg2"/>
                </a:solidFill>
                <a:ea typeface="楷体" panose="02010609060101010101" pitchFamily="49" charset="-122"/>
              </a:rPr>
              <a:t> </a:t>
            </a:r>
            <a:r>
              <a:rPr lang="zh-CN" altLang="en-US" sz="4400" b="1" dirty="0">
                <a:solidFill>
                  <a:schemeClr val="bg1"/>
                </a:solidFill>
                <a:ea typeface="华文琥珀" panose="02010800040101010101" pitchFamily="2" charset="-122"/>
              </a:rPr>
              <a:t>                     </a:t>
            </a:r>
            <a:endParaRPr lang="zh-CN" altLang="en-US" sz="4400" b="1" dirty="0">
              <a:solidFill>
                <a:srgbClr val="000066"/>
              </a:solidFill>
              <a:ea typeface="华文琥珀" panose="02010800040101010101" pitchFamily="2" charset="-122"/>
            </a:endParaRPr>
          </a:p>
        </p:txBody>
      </p:sp>
      <p:sp>
        <p:nvSpPr>
          <p:cNvPr id="54276" name="Rectangle 6"/>
          <p:cNvSpPr>
            <a:spLocks noChangeArrowheads="1"/>
          </p:cNvSpPr>
          <p:nvPr/>
        </p:nvSpPr>
        <p:spPr bwMode="auto">
          <a:xfrm>
            <a:off x="103188" y="620713"/>
            <a:ext cx="6340475" cy="549275"/>
          </a:xfrm>
          <a:prstGeom prst="rect">
            <a:avLst/>
          </a:prstGeom>
          <a:noFill/>
          <a:ln w="9525">
            <a:noFill/>
            <a:miter lim="800000"/>
          </a:ln>
        </p:spPr>
        <p:txBody>
          <a:bodyPr>
            <a:spAutoFit/>
          </a:bodyPr>
          <a:lstStyle/>
          <a:p>
            <a:pPr algn="l">
              <a:spcBef>
                <a:spcPct val="0"/>
              </a:spcBef>
            </a:pPr>
            <a:r>
              <a:rPr kumimoji="0" lang="en-US" altLang="en-US" sz="3000" b="1" dirty="0">
                <a:ea typeface="楷体" panose="02010609060101010101" pitchFamily="49" charset="-122"/>
              </a:rPr>
              <a:t>【</a:t>
            </a:r>
            <a:r>
              <a:rPr kumimoji="0" lang="en-US" altLang="en-US" sz="3000" b="1" dirty="0" err="1">
                <a:ea typeface="楷体" panose="02010609060101010101" pitchFamily="49" charset="-122"/>
              </a:rPr>
              <a:t>感想&amp;体会</a:t>
            </a:r>
            <a:r>
              <a:rPr kumimoji="0" lang="en-US" altLang="en-US" sz="3000" b="1" dirty="0">
                <a:ea typeface="楷体" panose="02010609060101010101" pitchFamily="49" charset="-122"/>
              </a:rPr>
              <a:t>】</a:t>
            </a:r>
            <a:endParaRPr kumimoji="0" lang="en-US" altLang="en-US" sz="3000" b="1" dirty="0">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1091">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10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TEyMmE4MWMyYTI0N2M3ODMzMjMyZmZmYTEzZTc3Yjk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8525</Words>
  <Application>WPS 演示</Application>
  <PresentationFormat>全屏显示(4:3)</PresentationFormat>
  <Paragraphs>836</Paragraphs>
  <Slides>71</Slides>
  <Notes>72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71</vt:i4>
      </vt:variant>
    </vt:vector>
  </HeadingPairs>
  <TitlesOfParts>
    <vt:vector size="85" baseType="lpstr">
      <vt:lpstr>Arial</vt:lpstr>
      <vt:lpstr>宋体</vt:lpstr>
      <vt:lpstr>Wingdings</vt:lpstr>
      <vt:lpstr>Times New Roman</vt:lpstr>
      <vt:lpstr>楷体</vt:lpstr>
      <vt:lpstr>隶书</vt:lpstr>
      <vt:lpstr>楷体_GB2312</vt:lpstr>
      <vt:lpstr>新宋体</vt:lpstr>
      <vt:lpstr>微软雅黑</vt:lpstr>
      <vt:lpstr>Arial Unicode MS</vt:lpstr>
      <vt:lpstr>华文新魏</vt:lpstr>
      <vt:lpstr>华文琥珀</vt:lpstr>
      <vt:lpstr>Wingdings</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保障 项目 进度 活动  </cp:keywords>
  <dc:description>第2版     20141207于福州第一次修改</dc:description>
  <dc:subject>第5章  保障项目进度</dc:subject>
  <cp:category>课件</cp:category>
  <cp:lastModifiedBy>高琳琳</cp:lastModifiedBy>
  <cp:revision>828</cp:revision>
  <dcterms:created xsi:type="dcterms:W3CDTF">2113-01-01T00:00:00Z</dcterms:created>
  <dcterms:modified xsi:type="dcterms:W3CDTF">2024-04-28T11:43:50Z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99EEB333DC1E4B33AE565AACC144A30A_13</vt:lpwstr>
  </property>
  <property fmtid="{D5CDD505-2E9C-101B-9397-08002B2CF9AE}" pid="3" name="KSOProductBuildVer">
    <vt:lpwstr>2052-11.8.2.10154</vt:lpwstr>
  </property>
</Properties>
</file>