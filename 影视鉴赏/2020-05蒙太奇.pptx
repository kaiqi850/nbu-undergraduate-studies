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9"/>
  </p:notesMasterIdLst>
  <p:sldIdLst>
    <p:sldId id="303" r:id="rId3"/>
    <p:sldId id="257" r:id="rId4"/>
    <p:sldId id="408" r:id="rId5"/>
    <p:sldId id="352" r:id="rId6"/>
    <p:sldId id="260" r:id="rId7"/>
    <p:sldId id="358" r:id="rId8"/>
    <p:sldId id="258" r:id="rId9"/>
    <p:sldId id="350" r:id="rId10"/>
    <p:sldId id="264" r:id="rId11"/>
    <p:sldId id="263" r:id="rId12"/>
    <p:sldId id="265" r:id="rId13"/>
    <p:sldId id="414" r:id="rId14"/>
    <p:sldId id="360" r:id="rId15"/>
    <p:sldId id="464" r:id="rId16"/>
    <p:sldId id="467" r:id="rId17"/>
    <p:sldId id="468" r:id="rId18"/>
    <p:sldId id="466" r:id="rId19"/>
    <p:sldId id="519" r:id="rId20"/>
    <p:sldId id="472" r:id="rId21"/>
    <p:sldId id="471" r:id="rId22"/>
    <p:sldId id="473" r:id="rId23"/>
    <p:sldId id="470" r:id="rId24"/>
    <p:sldId id="476" r:id="rId25"/>
    <p:sldId id="477" r:id="rId26"/>
    <p:sldId id="415" r:id="rId27"/>
    <p:sldId id="409" r:id="rId28"/>
    <p:sldId id="416" r:id="rId29"/>
    <p:sldId id="520" r:id="rId30"/>
    <p:sldId id="417" r:id="rId31"/>
    <p:sldId id="418" r:id="rId32"/>
    <p:sldId id="421" r:id="rId33"/>
    <p:sldId id="410" r:id="rId34"/>
    <p:sldId id="411" r:id="rId35"/>
    <p:sldId id="412" r:id="rId36"/>
    <p:sldId id="266" r:id="rId37"/>
    <p:sldId id="267" r:id="rId38"/>
    <p:sldId id="268" r:id="rId39"/>
    <p:sldId id="269" r:id="rId40"/>
    <p:sldId id="270" r:id="rId41"/>
    <p:sldId id="271" r:id="rId42"/>
    <p:sldId id="272" r:id="rId43"/>
    <p:sldId id="273" r:id="rId44"/>
    <p:sldId id="274" r:id="rId45"/>
    <p:sldId id="275" r:id="rId46"/>
    <p:sldId id="276" r:id="rId47"/>
    <p:sldId id="277" r:id="rId48"/>
    <p:sldId id="278" r:id="rId49"/>
    <p:sldId id="279" r:id="rId50"/>
    <p:sldId id="280" r:id="rId51"/>
    <p:sldId id="281" r:id="rId52"/>
    <p:sldId id="282" r:id="rId53"/>
    <p:sldId id="283" r:id="rId54"/>
    <p:sldId id="284" r:id="rId55"/>
    <p:sldId id="285" r:id="rId56"/>
    <p:sldId id="286" r:id="rId57"/>
    <p:sldId id="287" r:id="rId58"/>
    <p:sldId id="288" r:id="rId59"/>
    <p:sldId id="289" r:id="rId60"/>
    <p:sldId id="290" r:id="rId61"/>
    <p:sldId id="291" r:id="rId62"/>
    <p:sldId id="292" r:id="rId63"/>
    <p:sldId id="293" r:id="rId64"/>
    <p:sldId id="295" r:id="rId65"/>
    <p:sldId id="294" r:id="rId66"/>
    <p:sldId id="296" r:id="rId67"/>
    <p:sldId id="302" r:id="rId6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1pPr>
    <a:lvl2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2pPr>
    <a:lvl3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3pPr>
    <a:lvl4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4pPr>
    <a:lvl5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5pPr>
    <a:lvl6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6pPr>
    <a:lvl7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7pPr>
    <a:lvl8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8pPr>
    <a:lvl9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0" y="1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5.xml"/><Relationship Id="rId69" Type="http://schemas.openxmlformats.org/officeDocument/2006/relationships/notesMaster" Target="notesMasters/notesMaster1.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9" name="Shape 149"/>
          <p:cNvSpPr>
            <a:spLocks noGrp="1" noRot="1" noChangeAspect="1"/>
          </p:cNvSpPr>
          <p:nvPr>
            <p:ph type="sldImg"/>
          </p:nvPr>
        </p:nvSpPr>
        <p:spPr>
          <a:xfrm>
            <a:off x="1143000" y="685800"/>
            <a:ext cx="4572000" cy="3429000"/>
          </a:xfrm>
          <a:prstGeom prst="rect">
            <a:avLst/>
          </a:prstGeom>
        </p:spPr>
        <p:txBody>
          <a:bodyPr/>
          <a:lstStyle/>
          <a:p/>
        </p:txBody>
      </p:sp>
      <p:sp>
        <p:nvSpPr>
          <p:cNvPr id="150" name="Shape 150"/>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panose="020F0502020204030204"/>
      </a:defRPr>
    </a:lvl1pPr>
    <a:lvl2pPr indent="228600" latinLnBrk="0">
      <a:defRPr sz="1200">
        <a:latin typeface="+mn-lt"/>
        <a:ea typeface="+mn-ea"/>
        <a:cs typeface="+mn-cs"/>
        <a:sym typeface="Calibri" panose="020F0502020204030204"/>
      </a:defRPr>
    </a:lvl2pPr>
    <a:lvl3pPr indent="457200" latinLnBrk="0">
      <a:defRPr sz="1200">
        <a:latin typeface="+mn-lt"/>
        <a:ea typeface="+mn-ea"/>
        <a:cs typeface="+mn-cs"/>
        <a:sym typeface="Calibri" panose="020F0502020204030204"/>
      </a:defRPr>
    </a:lvl3pPr>
    <a:lvl4pPr indent="685800" latinLnBrk="0">
      <a:defRPr sz="1200">
        <a:latin typeface="+mn-lt"/>
        <a:ea typeface="+mn-ea"/>
        <a:cs typeface="+mn-cs"/>
        <a:sym typeface="Calibri" panose="020F0502020204030204"/>
      </a:defRPr>
    </a:lvl4pPr>
    <a:lvl5pPr indent="914400" latinLnBrk="0">
      <a:defRPr sz="1200">
        <a:latin typeface="+mn-lt"/>
        <a:ea typeface="+mn-ea"/>
        <a:cs typeface="+mn-cs"/>
        <a:sym typeface="Calibri" panose="020F0502020204030204"/>
      </a:defRPr>
    </a:lvl5pPr>
    <a:lvl6pPr indent="1143000" latinLnBrk="0">
      <a:defRPr sz="1200">
        <a:latin typeface="+mn-lt"/>
        <a:ea typeface="+mn-ea"/>
        <a:cs typeface="+mn-cs"/>
        <a:sym typeface="Calibri" panose="020F0502020204030204"/>
      </a:defRPr>
    </a:lvl6pPr>
    <a:lvl7pPr indent="1371600" latinLnBrk="0">
      <a:defRPr sz="1200">
        <a:latin typeface="+mn-lt"/>
        <a:ea typeface="+mn-ea"/>
        <a:cs typeface="+mn-cs"/>
        <a:sym typeface="Calibri" panose="020F0502020204030204"/>
      </a:defRPr>
    </a:lvl7pPr>
    <a:lvl8pPr indent="1600200" latinLnBrk="0">
      <a:defRPr sz="1200">
        <a:latin typeface="+mn-lt"/>
        <a:ea typeface="+mn-ea"/>
        <a:cs typeface="+mn-cs"/>
        <a:sym typeface="Calibri" panose="020F0502020204030204"/>
      </a:defRPr>
    </a:lvl8pPr>
    <a:lvl9pPr indent="1828800" latinLnBrk="0">
      <a:defRPr sz="1200">
        <a:latin typeface="+mn-lt"/>
        <a:ea typeface="+mn-ea"/>
        <a:cs typeface="+mn-cs"/>
        <a:sym typeface="Calibri" panose="020F0502020204030204"/>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1" name="标题文本"/>
          <p:cNvSpPr txBox="1">
            <a:spLocks noGrp="1"/>
          </p:cNvSpPr>
          <p:nvPr>
            <p:ph type="title" hasCustomPrompt="1"/>
          </p:nvPr>
        </p:nvSpPr>
        <p:spPr>
          <a:xfrm>
            <a:off x="1524000" y="1122362"/>
            <a:ext cx="9144000" cy="2387601"/>
          </a:xfrm>
          <a:prstGeom prst="rect">
            <a:avLst/>
          </a:prstGeom>
        </p:spPr>
        <p:txBody>
          <a:bodyPr anchor="b"/>
          <a:lstStyle>
            <a:lvl1pPr algn="ctr">
              <a:defRPr sz="6000"/>
            </a:lvl1pPr>
          </a:lstStyle>
          <a:p>
            <a:r>
              <a:t>标题文本</a:t>
            </a:r>
          </a:p>
        </p:txBody>
      </p:sp>
      <p:sp>
        <p:nvSpPr>
          <p:cNvPr id="12" name="正文级别 1…"/>
          <p:cNvSpPr txBox="1">
            <a:spLocks noGrp="1"/>
          </p:cNvSpPr>
          <p:nvPr>
            <p:ph type="body" sz="quarter" idx="1" hasCustomPrompt="1"/>
          </p:nvPr>
        </p:nvSpPr>
        <p:spPr>
          <a:xfrm>
            <a:off x="1524000" y="3602037"/>
            <a:ext cx="9144000" cy="1655771"/>
          </a:xfrm>
          <a:prstGeom prst="rect">
            <a:avLst/>
          </a:prstGeom>
        </p:spPr>
        <p:txBody>
          <a:bodyPr/>
          <a:lstStyle>
            <a:lvl1pPr marL="0" indent="0" algn="ctr">
              <a:buSzTx/>
              <a:buFontTx/>
              <a:buNone/>
              <a:defRPr sz="2400"/>
            </a:lvl1pPr>
            <a:lvl2pPr marL="0" indent="0" algn="ctr">
              <a:buSzTx/>
              <a:buFontTx/>
              <a:buNone/>
              <a:defRPr sz="2400"/>
            </a:lvl2pPr>
            <a:lvl3pPr marL="0" indent="0" algn="ctr">
              <a:buSzTx/>
              <a:buFontTx/>
              <a:buNone/>
              <a:defRPr sz="2400"/>
            </a:lvl3pPr>
            <a:lvl4pPr marL="0" indent="0" algn="ctr">
              <a:buSzTx/>
              <a:buFontTx/>
              <a:buNone/>
              <a:defRPr sz="2400"/>
            </a:lvl4pPr>
            <a:lvl5pPr marL="0" indent="0" algn="ctr">
              <a:buSzTx/>
              <a:buFontTx/>
              <a:buNone/>
              <a:defRPr sz="2400"/>
            </a:lvl5pPr>
          </a:lstStyle>
          <a:p>
            <a:r>
              <a:t>正文级别 1</a:t>
            </a:r>
          </a:p>
          <a:p>
            <a:pPr lvl="1"/>
            <a:r>
              <a:t>正文级别 2</a:t>
            </a:r>
          </a:p>
          <a:p>
            <a:pPr lvl="2"/>
            <a:r>
              <a:t>正文级别 3</a:t>
            </a:r>
          </a:p>
          <a:p>
            <a:pPr lvl="3"/>
            <a:r>
              <a:t>正文级别 4</a:t>
            </a:r>
          </a:p>
          <a:p>
            <a:pPr lvl="4"/>
            <a:r>
              <a:t>正文级别 5</a:t>
            </a:r>
          </a:p>
        </p:txBody>
      </p:sp>
      <p:sp>
        <p:nvSpPr>
          <p:cNvPr id="13"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和内容">
    <p:spTree>
      <p:nvGrpSpPr>
        <p:cNvPr id="1" name=""/>
        <p:cNvGrpSpPr/>
        <p:nvPr/>
      </p:nvGrpSpPr>
      <p:grpSpPr>
        <a:xfrm>
          <a:off x="0" y="0"/>
          <a:ext cx="0" cy="0"/>
          <a:chOff x="0" y="0"/>
          <a:chExt cx="0" cy="0"/>
        </a:xfrm>
      </p:grpSpPr>
      <p:sp>
        <p:nvSpPr>
          <p:cNvPr id="20" name="标题文本"/>
          <p:cNvSpPr txBox="1">
            <a:spLocks noGrp="1"/>
          </p:cNvSpPr>
          <p:nvPr>
            <p:ph type="title" hasCustomPrompt="1"/>
          </p:nvPr>
        </p:nvSpPr>
        <p:spPr>
          <a:prstGeom prst="rect">
            <a:avLst/>
          </a:prstGeom>
        </p:spPr>
        <p:txBody>
          <a:bodyPr/>
          <a:lstStyle/>
          <a:p>
            <a:r>
              <a:t>标题文本</a:t>
            </a:r>
          </a:p>
        </p:txBody>
      </p:sp>
      <p:sp>
        <p:nvSpPr>
          <p:cNvPr id="21" name="正文级别 1…"/>
          <p:cNvSpPr txBox="1">
            <a:spLocks noGrp="1"/>
          </p:cNvSpPr>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22"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节标题">
    <p:spTree>
      <p:nvGrpSpPr>
        <p:cNvPr id="1" name=""/>
        <p:cNvGrpSpPr/>
        <p:nvPr/>
      </p:nvGrpSpPr>
      <p:grpSpPr>
        <a:xfrm>
          <a:off x="0" y="0"/>
          <a:ext cx="0" cy="0"/>
          <a:chOff x="0" y="0"/>
          <a:chExt cx="0" cy="0"/>
        </a:xfrm>
      </p:grpSpPr>
      <p:sp>
        <p:nvSpPr>
          <p:cNvPr id="29" name="标题文本"/>
          <p:cNvSpPr txBox="1">
            <a:spLocks noGrp="1"/>
          </p:cNvSpPr>
          <p:nvPr>
            <p:ph type="title" hasCustomPrompt="1"/>
          </p:nvPr>
        </p:nvSpPr>
        <p:spPr>
          <a:xfrm>
            <a:off x="831850" y="1709738"/>
            <a:ext cx="10515600" cy="2852737"/>
          </a:xfrm>
          <a:prstGeom prst="rect">
            <a:avLst/>
          </a:prstGeom>
        </p:spPr>
        <p:txBody>
          <a:bodyPr anchor="b"/>
          <a:lstStyle>
            <a:lvl1pPr>
              <a:defRPr sz="6000"/>
            </a:lvl1pPr>
          </a:lstStyle>
          <a:p>
            <a:r>
              <a:t>标题文本</a:t>
            </a:r>
          </a:p>
        </p:txBody>
      </p:sp>
      <p:sp>
        <p:nvSpPr>
          <p:cNvPr id="30" name="正文级别 1…"/>
          <p:cNvSpPr txBox="1">
            <a:spLocks noGrp="1"/>
          </p:cNvSpPr>
          <p:nvPr>
            <p:ph type="body" sz="quarter" idx="1" hasCustomPrompt="1"/>
          </p:nvPr>
        </p:nvSpPr>
        <p:spPr>
          <a:xfrm>
            <a:off x="831850" y="4589462"/>
            <a:ext cx="10515600" cy="1500196"/>
          </a:xfrm>
          <a:prstGeom prst="rect">
            <a:avLst/>
          </a:prstGeom>
        </p:spPr>
        <p:txBody>
          <a:bodyPr/>
          <a:lstStyle>
            <a:lvl1pPr marL="0" indent="0">
              <a:buSzTx/>
              <a:buFontTx/>
              <a:buNone/>
              <a:defRPr sz="2400">
                <a:solidFill>
                  <a:srgbClr val="888888"/>
                </a:solidFill>
              </a:defRPr>
            </a:lvl1pPr>
            <a:lvl2pPr marL="0" indent="0">
              <a:buSzTx/>
              <a:buFontTx/>
              <a:buNone/>
              <a:defRPr sz="2400">
                <a:solidFill>
                  <a:srgbClr val="888888"/>
                </a:solidFill>
              </a:defRPr>
            </a:lvl2pPr>
            <a:lvl3pPr marL="0" indent="0">
              <a:buSzTx/>
              <a:buFontTx/>
              <a:buNone/>
              <a:defRPr sz="2400">
                <a:solidFill>
                  <a:srgbClr val="888888"/>
                </a:solidFill>
              </a:defRPr>
            </a:lvl3pPr>
            <a:lvl4pPr marL="0" indent="0">
              <a:buSzTx/>
              <a:buFontTx/>
              <a:buNone/>
              <a:defRPr sz="2400">
                <a:solidFill>
                  <a:srgbClr val="888888"/>
                </a:solidFill>
              </a:defRPr>
            </a:lvl4pPr>
            <a:lvl5pPr marL="0" indent="0">
              <a:buSzTx/>
              <a:buFontTx/>
              <a:buNone/>
              <a:defRPr sz="2400">
                <a:solidFill>
                  <a:srgbClr val="888888"/>
                </a:solidFill>
              </a:defRPr>
            </a:lvl5pPr>
          </a:lstStyle>
          <a:p>
            <a:r>
              <a:t>正文级别 1</a:t>
            </a:r>
          </a:p>
          <a:p>
            <a:pPr lvl="1"/>
            <a:r>
              <a:t>正文级别 2</a:t>
            </a:r>
          </a:p>
          <a:p>
            <a:pPr lvl="2"/>
            <a:r>
              <a:t>正文级别 3</a:t>
            </a:r>
          </a:p>
          <a:p>
            <a:pPr lvl="3"/>
            <a:r>
              <a:t>正文级别 4</a:t>
            </a:r>
          </a:p>
          <a:p>
            <a:pPr lvl="4"/>
            <a:r>
              <a:t>正文级别 5</a:t>
            </a:r>
          </a:p>
        </p:txBody>
      </p:sp>
      <p:sp>
        <p:nvSpPr>
          <p:cNvPr id="31"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两栏内容">
    <p:spTree>
      <p:nvGrpSpPr>
        <p:cNvPr id="1" name=""/>
        <p:cNvGrpSpPr/>
        <p:nvPr/>
      </p:nvGrpSpPr>
      <p:grpSpPr>
        <a:xfrm>
          <a:off x="0" y="0"/>
          <a:ext cx="0" cy="0"/>
          <a:chOff x="0" y="0"/>
          <a:chExt cx="0" cy="0"/>
        </a:xfrm>
      </p:grpSpPr>
      <p:sp>
        <p:nvSpPr>
          <p:cNvPr id="38" name="标题文本"/>
          <p:cNvSpPr txBox="1">
            <a:spLocks noGrp="1"/>
          </p:cNvSpPr>
          <p:nvPr>
            <p:ph type="title" hasCustomPrompt="1"/>
          </p:nvPr>
        </p:nvSpPr>
        <p:spPr>
          <a:prstGeom prst="rect">
            <a:avLst/>
          </a:prstGeom>
        </p:spPr>
        <p:txBody>
          <a:bodyPr/>
          <a:lstStyle/>
          <a:p>
            <a:r>
              <a:t>标题文本</a:t>
            </a:r>
          </a:p>
        </p:txBody>
      </p:sp>
      <p:sp>
        <p:nvSpPr>
          <p:cNvPr id="39" name="正文级别 1…"/>
          <p:cNvSpPr txBox="1">
            <a:spLocks noGrp="1"/>
          </p:cNvSpPr>
          <p:nvPr>
            <p:ph type="body" sz="half" idx="1" hasCustomPrompt="1"/>
          </p:nvPr>
        </p:nvSpPr>
        <p:spPr>
          <a:xfrm>
            <a:off x="838200" y="1825625"/>
            <a:ext cx="5181600" cy="4351338"/>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40"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比较">
    <p:spTree>
      <p:nvGrpSpPr>
        <p:cNvPr id="1" name=""/>
        <p:cNvGrpSpPr/>
        <p:nvPr/>
      </p:nvGrpSpPr>
      <p:grpSpPr>
        <a:xfrm>
          <a:off x="0" y="0"/>
          <a:ext cx="0" cy="0"/>
          <a:chOff x="0" y="0"/>
          <a:chExt cx="0" cy="0"/>
        </a:xfrm>
      </p:grpSpPr>
      <p:sp>
        <p:nvSpPr>
          <p:cNvPr id="47" name="标题文本"/>
          <p:cNvSpPr txBox="1">
            <a:spLocks noGrp="1"/>
          </p:cNvSpPr>
          <p:nvPr>
            <p:ph type="title" hasCustomPrompt="1"/>
          </p:nvPr>
        </p:nvSpPr>
        <p:spPr>
          <a:xfrm>
            <a:off x="839787" y="365125"/>
            <a:ext cx="10515601" cy="1325563"/>
          </a:xfrm>
          <a:prstGeom prst="rect">
            <a:avLst/>
          </a:prstGeom>
        </p:spPr>
        <p:txBody>
          <a:bodyPr/>
          <a:lstStyle/>
          <a:p>
            <a:r>
              <a:t>标题文本</a:t>
            </a:r>
          </a:p>
        </p:txBody>
      </p:sp>
      <p:sp>
        <p:nvSpPr>
          <p:cNvPr id="48" name="正文级别 1…"/>
          <p:cNvSpPr txBox="1">
            <a:spLocks noGrp="1"/>
          </p:cNvSpPr>
          <p:nvPr>
            <p:ph type="body" sz="quarter" idx="1" hasCustomPrompt="1"/>
          </p:nvPr>
        </p:nvSpPr>
        <p:spPr>
          <a:xfrm>
            <a:off x="839787" y="1681163"/>
            <a:ext cx="5157790" cy="823921"/>
          </a:xfrm>
          <a:prstGeom prst="rect">
            <a:avLst/>
          </a:prstGeom>
        </p:spPr>
        <p:txBody>
          <a:bodyPr anchor="b"/>
          <a:lstStyle>
            <a:lvl1pPr marL="0" indent="0">
              <a:buSzTx/>
              <a:buFontTx/>
              <a:buNone/>
              <a:defRPr sz="2400" b="1"/>
            </a:lvl1pPr>
            <a:lvl2pPr marL="0" indent="0">
              <a:buSzTx/>
              <a:buFontTx/>
              <a:buNone/>
              <a:defRPr sz="2400" b="1"/>
            </a:lvl2pPr>
            <a:lvl3pPr marL="0" indent="0">
              <a:buSzTx/>
              <a:buFontTx/>
              <a:buNone/>
              <a:defRPr sz="2400" b="1"/>
            </a:lvl3pPr>
            <a:lvl4pPr marL="0" indent="0">
              <a:buSzTx/>
              <a:buFontTx/>
              <a:buNone/>
              <a:defRPr sz="2400" b="1"/>
            </a:lvl4pPr>
            <a:lvl5pPr marL="0" indent="0">
              <a:buSzTx/>
              <a:buFontTx/>
              <a:buNone/>
              <a:defRPr sz="2400" b="1"/>
            </a:lvl5pPr>
          </a:lstStyle>
          <a:p>
            <a:r>
              <a:t>正文级别 1</a:t>
            </a:r>
          </a:p>
          <a:p>
            <a:pPr lvl="1"/>
            <a:r>
              <a:t>正文级别 2</a:t>
            </a:r>
          </a:p>
          <a:p>
            <a:pPr lvl="2"/>
            <a:r>
              <a:t>正文级别 3</a:t>
            </a:r>
          </a:p>
          <a:p>
            <a:pPr lvl="3"/>
            <a:r>
              <a:t>正文级别 4</a:t>
            </a:r>
          </a:p>
          <a:p>
            <a:pPr lvl="4"/>
            <a:r>
              <a:t>正文级别 5</a:t>
            </a:r>
          </a:p>
        </p:txBody>
      </p:sp>
      <p:sp>
        <p:nvSpPr>
          <p:cNvPr id="49" name="Shape 49"/>
          <p:cNvSpPr>
            <a:spLocks noGrp="1"/>
          </p:cNvSpPr>
          <p:nvPr>
            <p:ph type="body" sz="quarter" idx="13"/>
          </p:nvPr>
        </p:nvSpPr>
        <p:spPr>
          <a:xfrm>
            <a:off x="6172200" y="1681163"/>
            <a:ext cx="5183188" cy="823914"/>
          </a:xfrm>
          <a:prstGeom prst="rect">
            <a:avLst/>
          </a:prstGeom>
        </p:spPr>
        <p:txBody>
          <a:bodyPr anchor="b"/>
          <a:lstStyle/>
          <a:p/>
        </p:txBody>
      </p:sp>
      <p:sp>
        <p:nvSpPr>
          <p:cNvPr id="50"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仅标题">
    <p:spTree>
      <p:nvGrpSpPr>
        <p:cNvPr id="1" name=""/>
        <p:cNvGrpSpPr/>
        <p:nvPr/>
      </p:nvGrpSpPr>
      <p:grpSpPr>
        <a:xfrm>
          <a:off x="0" y="0"/>
          <a:ext cx="0" cy="0"/>
          <a:chOff x="0" y="0"/>
          <a:chExt cx="0" cy="0"/>
        </a:xfrm>
      </p:grpSpPr>
      <p:sp>
        <p:nvSpPr>
          <p:cNvPr id="57" name="标题文本"/>
          <p:cNvSpPr txBox="1">
            <a:spLocks noGrp="1"/>
          </p:cNvSpPr>
          <p:nvPr>
            <p:ph type="title" hasCustomPrompt="1"/>
          </p:nvPr>
        </p:nvSpPr>
        <p:spPr>
          <a:prstGeom prst="rect">
            <a:avLst/>
          </a:prstGeom>
        </p:spPr>
        <p:txBody>
          <a:bodyPr/>
          <a:lstStyle/>
          <a:p>
            <a:r>
              <a:t>标题文本</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65"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内容与标题">
    <p:spTree>
      <p:nvGrpSpPr>
        <p:cNvPr id="1" name=""/>
        <p:cNvGrpSpPr/>
        <p:nvPr/>
      </p:nvGrpSpPr>
      <p:grpSpPr>
        <a:xfrm>
          <a:off x="0" y="0"/>
          <a:ext cx="0" cy="0"/>
          <a:chOff x="0" y="0"/>
          <a:chExt cx="0" cy="0"/>
        </a:xfrm>
      </p:grpSpPr>
      <p:sp>
        <p:nvSpPr>
          <p:cNvPr id="72" name="标题文本"/>
          <p:cNvSpPr txBox="1">
            <a:spLocks noGrp="1"/>
          </p:cNvSpPr>
          <p:nvPr>
            <p:ph type="title" hasCustomPrompt="1"/>
          </p:nvPr>
        </p:nvSpPr>
        <p:spPr>
          <a:xfrm>
            <a:off x="839787" y="457200"/>
            <a:ext cx="3932240" cy="1600200"/>
          </a:xfrm>
          <a:prstGeom prst="rect">
            <a:avLst/>
          </a:prstGeom>
        </p:spPr>
        <p:txBody>
          <a:bodyPr anchor="b"/>
          <a:lstStyle>
            <a:lvl1pPr>
              <a:defRPr sz="3200"/>
            </a:lvl1pPr>
          </a:lstStyle>
          <a:p>
            <a:r>
              <a:t>标题文本</a:t>
            </a:r>
          </a:p>
        </p:txBody>
      </p:sp>
      <p:sp>
        <p:nvSpPr>
          <p:cNvPr id="73" name="正文级别 1…"/>
          <p:cNvSpPr txBox="1">
            <a:spLocks noGrp="1"/>
          </p:cNvSpPr>
          <p:nvPr>
            <p:ph type="body" sz="half" idx="1" hasCustomPrompt="1"/>
          </p:nvPr>
        </p:nvSpPr>
        <p:spPr>
          <a:xfrm>
            <a:off x="5183187" y="987425"/>
            <a:ext cx="6172204" cy="4873625"/>
          </a:xfrm>
          <a:prstGeom prst="rect">
            <a:avLst/>
          </a:prstGeom>
        </p:spPr>
        <p:txBody>
          <a:bodyPr/>
          <a:lstStyle>
            <a:lvl1pPr>
              <a:defRPr sz="3200"/>
            </a:lvl1pPr>
            <a:lvl2pPr marL="718185" indent="-260985">
              <a:defRPr sz="3200"/>
            </a:lvl2pPr>
            <a:lvl3pPr marL="1219200" indent="-304800">
              <a:defRPr sz="3200"/>
            </a:lvl3pPr>
            <a:lvl4pPr marL="1737360" indent="-365760">
              <a:defRPr sz="3200"/>
            </a:lvl4pPr>
            <a:lvl5pPr marL="2194560" indent="-365760">
              <a:defRPr sz="3200"/>
            </a:lvl5pPr>
          </a:lstStyle>
          <a:p>
            <a:r>
              <a:t>正文级别 1</a:t>
            </a:r>
          </a:p>
          <a:p>
            <a:pPr lvl="1"/>
            <a:r>
              <a:t>正文级别 2</a:t>
            </a:r>
          </a:p>
          <a:p>
            <a:pPr lvl="2"/>
            <a:r>
              <a:t>正文级别 3</a:t>
            </a:r>
          </a:p>
          <a:p>
            <a:pPr lvl="3"/>
            <a:r>
              <a:t>正文级别 4</a:t>
            </a:r>
          </a:p>
          <a:p>
            <a:pPr lvl="4"/>
            <a:r>
              <a:t>正文级别 5</a:t>
            </a:r>
          </a:p>
        </p:txBody>
      </p:sp>
      <p:sp>
        <p:nvSpPr>
          <p:cNvPr id="74" name="Shape 74"/>
          <p:cNvSpPr>
            <a:spLocks noGrp="1"/>
          </p:cNvSpPr>
          <p:nvPr>
            <p:ph type="body" sz="quarter" idx="13"/>
          </p:nvPr>
        </p:nvSpPr>
        <p:spPr>
          <a:xfrm>
            <a:off x="839781" y="2057400"/>
            <a:ext cx="3932253" cy="3811588"/>
          </a:xfrm>
          <a:prstGeom prst="rect">
            <a:avLst/>
          </a:prstGeom>
        </p:spPr>
        <p:txBody>
          <a:bodyPr/>
          <a:lstStyle/>
          <a:p/>
        </p:txBody>
      </p:sp>
      <p:sp>
        <p:nvSpPr>
          <p:cNvPr id="75"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图片与标题">
    <p:spTree>
      <p:nvGrpSpPr>
        <p:cNvPr id="1" name=""/>
        <p:cNvGrpSpPr/>
        <p:nvPr/>
      </p:nvGrpSpPr>
      <p:grpSpPr>
        <a:xfrm>
          <a:off x="0" y="0"/>
          <a:ext cx="0" cy="0"/>
          <a:chOff x="0" y="0"/>
          <a:chExt cx="0" cy="0"/>
        </a:xfrm>
      </p:grpSpPr>
      <p:sp>
        <p:nvSpPr>
          <p:cNvPr id="82" name="标题文本"/>
          <p:cNvSpPr txBox="1">
            <a:spLocks noGrp="1"/>
          </p:cNvSpPr>
          <p:nvPr>
            <p:ph type="title" hasCustomPrompt="1"/>
          </p:nvPr>
        </p:nvSpPr>
        <p:spPr>
          <a:xfrm>
            <a:off x="839787" y="457200"/>
            <a:ext cx="3932240" cy="1600200"/>
          </a:xfrm>
          <a:prstGeom prst="rect">
            <a:avLst/>
          </a:prstGeom>
        </p:spPr>
        <p:txBody>
          <a:bodyPr anchor="b"/>
          <a:lstStyle>
            <a:lvl1pPr>
              <a:defRPr sz="3200"/>
            </a:lvl1pPr>
          </a:lstStyle>
          <a:p>
            <a:r>
              <a:t>标题文本</a:t>
            </a:r>
          </a:p>
        </p:txBody>
      </p:sp>
      <p:sp>
        <p:nvSpPr>
          <p:cNvPr id="83" name="Shape 83"/>
          <p:cNvSpPr>
            <a:spLocks noGrp="1"/>
          </p:cNvSpPr>
          <p:nvPr>
            <p:ph type="pic" sz="half" idx="13"/>
          </p:nvPr>
        </p:nvSpPr>
        <p:spPr>
          <a:xfrm>
            <a:off x="5183187" y="987425"/>
            <a:ext cx="6172204" cy="4873625"/>
          </a:xfrm>
          <a:prstGeom prst="rect">
            <a:avLst/>
          </a:prstGeom>
        </p:spPr>
        <p:txBody>
          <a:bodyPr lIns="91439" tIns="45719" rIns="91439" bIns="45719">
            <a:noAutofit/>
          </a:bodyPr>
          <a:lstStyle/>
          <a:p/>
        </p:txBody>
      </p:sp>
      <p:sp>
        <p:nvSpPr>
          <p:cNvPr id="84" name="正文级别 1…"/>
          <p:cNvSpPr txBox="1">
            <a:spLocks noGrp="1"/>
          </p:cNvSpPr>
          <p:nvPr>
            <p:ph type="body" sz="quarter" idx="1" hasCustomPrompt="1"/>
          </p:nvPr>
        </p:nvSpPr>
        <p:spPr>
          <a:xfrm>
            <a:off x="839787" y="2057400"/>
            <a:ext cx="3932240" cy="3811588"/>
          </a:xfrm>
          <a:prstGeom prst="rect">
            <a:avLst/>
          </a:prstGeom>
        </p:spPr>
        <p:txBody>
          <a:bodyPr/>
          <a:lstStyle>
            <a:lvl1pPr marL="0" indent="0">
              <a:buSzTx/>
              <a:buFontTx/>
              <a:buNone/>
              <a:defRPr sz="1600"/>
            </a:lvl1pPr>
            <a:lvl2pPr marL="0" indent="0">
              <a:buSzTx/>
              <a:buFontTx/>
              <a:buNone/>
              <a:defRPr sz="1600"/>
            </a:lvl2pPr>
            <a:lvl3pPr marL="0" indent="0">
              <a:buSzTx/>
              <a:buFontTx/>
              <a:buNone/>
              <a:defRPr sz="1600"/>
            </a:lvl3pPr>
            <a:lvl4pPr marL="0" indent="0">
              <a:buSzTx/>
              <a:buFontTx/>
              <a:buNone/>
              <a:defRPr sz="1600"/>
            </a:lvl4pPr>
            <a:lvl5pPr marL="0" indent="0">
              <a:buSzTx/>
              <a:buFontTx/>
              <a:buNone/>
              <a:defRPr sz="1600"/>
            </a:lvl5pPr>
          </a:lstStyle>
          <a:p>
            <a:r>
              <a:t>正文级别 1</a:t>
            </a:r>
          </a:p>
          <a:p>
            <a:pPr lvl="1"/>
            <a:r>
              <a:t>正文级别 2</a:t>
            </a:r>
          </a:p>
          <a:p>
            <a:pPr lvl="2"/>
            <a:r>
              <a:t>正文级别 3</a:t>
            </a:r>
          </a:p>
          <a:p>
            <a:pPr lvl="3"/>
            <a:r>
              <a:t>正文级别 4</a:t>
            </a:r>
          </a:p>
          <a:p>
            <a:pPr lvl="4"/>
            <a:r>
              <a:t>正文级别 5</a:t>
            </a:r>
          </a:p>
        </p:txBody>
      </p:sp>
      <p:sp>
        <p:nvSpPr>
          <p:cNvPr id="85"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标题和竖排文字">
    <p:spTree>
      <p:nvGrpSpPr>
        <p:cNvPr id="1" name=""/>
        <p:cNvGrpSpPr/>
        <p:nvPr/>
      </p:nvGrpSpPr>
      <p:grpSpPr>
        <a:xfrm>
          <a:off x="0" y="0"/>
          <a:ext cx="0" cy="0"/>
          <a:chOff x="0" y="0"/>
          <a:chExt cx="0" cy="0"/>
        </a:xfrm>
      </p:grpSpPr>
      <p:sp>
        <p:nvSpPr>
          <p:cNvPr id="92" name="标题文本"/>
          <p:cNvSpPr txBox="1">
            <a:spLocks noGrp="1"/>
          </p:cNvSpPr>
          <p:nvPr>
            <p:ph type="title" hasCustomPrompt="1"/>
          </p:nvPr>
        </p:nvSpPr>
        <p:spPr>
          <a:prstGeom prst="rect">
            <a:avLst/>
          </a:prstGeom>
        </p:spPr>
        <p:txBody>
          <a:bodyPr/>
          <a:lstStyle/>
          <a:p>
            <a:r>
              <a:t>标题文本</a:t>
            </a:r>
          </a:p>
        </p:txBody>
      </p:sp>
      <p:sp>
        <p:nvSpPr>
          <p:cNvPr id="93" name="正文级别 1…"/>
          <p:cNvSpPr txBox="1">
            <a:spLocks noGrp="1"/>
          </p:cNvSpPr>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94"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垂直排列标题与&#10;文本">
    <p:spTree>
      <p:nvGrpSpPr>
        <p:cNvPr id="1" name=""/>
        <p:cNvGrpSpPr/>
        <p:nvPr/>
      </p:nvGrpSpPr>
      <p:grpSpPr>
        <a:xfrm>
          <a:off x="0" y="0"/>
          <a:ext cx="0" cy="0"/>
          <a:chOff x="0" y="0"/>
          <a:chExt cx="0" cy="0"/>
        </a:xfrm>
      </p:grpSpPr>
      <p:sp>
        <p:nvSpPr>
          <p:cNvPr id="101" name="标题文本"/>
          <p:cNvSpPr txBox="1">
            <a:spLocks noGrp="1"/>
          </p:cNvSpPr>
          <p:nvPr>
            <p:ph type="title" hasCustomPrompt="1"/>
          </p:nvPr>
        </p:nvSpPr>
        <p:spPr>
          <a:xfrm>
            <a:off x="8724900" y="365125"/>
            <a:ext cx="2628900" cy="5811838"/>
          </a:xfrm>
          <a:prstGeom prst="rect">
            <a:avLst/>
          </a:prstGeom>
        </p:spPr>
        <p:txBody>
          <a:bodyPr/>
          <a:lstStyle/>
          <a:p>
            <a:r>
              <a:t>标题文本</a:t>
            </a:r>
          </a:p>
        </p:txBody>
      </p:sp>
      <p:sp>
        <p:nvSpPr>
          <p:cNvPr id="102" name="正文级别 1…"/>
          <p:cNvSpPr txBox="1">
            <a:spLocks noGrp="1"/>
          </p:cNvSpPr>
          <p:nvPr>
            <p:ph type="body" idx="1" hasCustomPrompt="1"/>
          </p:nvPr>
        </p:nvSpPr>
        <p:spPr>
          <a:xfrm>
            <a:off x="838200" y="365125"/>
            <a:ext cx="7734300" cy="5811838"/>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103"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Defaul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0" name="幻灯片编号"/>
          <p:cNvSpPr txBox="1">
            <a:spLocks noGrp="1"/>
          </p:cNvSpPr>
          <p:nvPr>
            <p:ph type="sldNum" sz="quarter" idx="2"/>
          </p:nvPr>
        </p:nvSpPr>
        <p:spPr>
          <a:xfrm>
            <a:off x="9928867" y="6245225"/>
            <a:ext cx="281937" cy="287083"/>
          </a:xfrm>
          <a:prstGeom prst="rect">
            <a:avLst/>
          </a:prstGeom>
        </p:spPr>
        <p:txBody>
          <a:bodyPr anchor="t"/>
          <a:lstStyle>
            <a:lvl1pPr defTabSz="457200">
              <a:defRPr sz="1400">
                <a:solidFill>
                  <a:srgbClr val="000000"/>
                </a:solidFill>
                <a:latin typeface="Times New Roman" panose="02020503050405090304"/>
                <a:ea typeface="Times New Roman" panose="02020503050405090304"/>
                <a:cs typeface="Times New Roman" panose="02020503050405090304"/>
                <a:sym typeface="Times New Roman" panose="02020503050405090304"/>
              </a:defRPr>
            </a:lvl1pPr>
          </a:lstStyle>
          <a:p>
            <a:fld id="{86CB4B4D-7CA3-9044-876B-883B54F8677D}" type="slidenum">
              <a:rPr/>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Defaul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7" name="幻灯片编号"/>
          <p:cNvSpPr txBox="1">
            <a:spLocks noGrp="1"/>
          </p:cNvSpPr>
          <p:nvPr>
            <p:ph type="sldNum" sz="quarter" idx="2"/>
          </p:nvPr>
        </p:nvSpPr>
        <p:spPr>
          <a:xfrm>
            <a:off x="9928867" y="6245225"/>
            <a:ext cx="281937" cy="287083"/>
          </a:xfrm>
          <a:prstGeom prst="rect">
            <a:avLst/>
          </a:prstGeom>
        </p:spPr>
        <p:txBody>
          <a:bodyPr anchor="t"/>
          <a:lstStyle>
            <a:lvl1pPr defTabSz="457200">
              <a:defRPr sz="1400">
                <a:solidFill>
                  <a:srgbClr val="000000"/>
                </a:solidFill>
                <a:latin typeface="Times New Roman" panose="02020503050405090304"/>
                <a:ea typeface="Times New Roman" panose="02020503050405090304"/>
                <a:cs typeface="Times New Roman" panose="02020503050405090304"/>
                <a:sym typeface="Times New Roman" panose="02020503050405090304"/>
              </a:defRPr>
            </a:lvl1pPr>
          </a:lstStyle>
          <a:p>
            <a:fld id="{86CB4B4D-7CA3-9044-876B-883B54F8677D}" type="slidenum">
              <a:rPr/>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Default">
    <p:bg>
      <p:bgPr>
        <a:solidFill>
          <a:srgbClr val="FFFFFF"/>
        </a:solidFill>
        <a:effectLst/>
      </p:bgPr>
    </p:bg>
    <p:spTree>
      <p:nvGrpSpPr>
        <p:cNvPr id="1" name=""/>
        <p:cNvGrpSpPr/>
        <p:nvPr/>
      </p:nvGrpSpPr>
      <p:grpSpPr>
        <a:xfrm>
          <a:off x="0" y="0"/>
          <a:ext cx="0" cy="0"/>
          <a:chOff x="0" y="0"/>
          <a:chExt cx="0" cy="0"/>
        </a:xfrm>
      </p:grpSpPr>
      <p:sp>
        <p:nvSpPr>
          <p:cNvPr id="124" name="线条"/>
          <p:cNvSpPr/>
          <p:nvPr/>
        </p:nvSpPr>
        <p:spPr>
          <a:xfrm flipH="1">
            <a:off x="10286999" y="-1"/>
            <a:ext cx="2" cy="6858002"/>
          </a:xfrm>
          <a:prstGeom prst="line">
            <a:avLst/>
          </a:prstGeom>
          <a:ln w="38100">
            <a:solidFill>
              <a:srgbClr val="BCCEBD">
                <a:alpha val="92939"/>
              </a:srgbClr>
            </a:solidFill>
          </a:ln>
        </p:spPr>
        <p:txBody>
          <a:bodyPr lIns="45718" tIns="45718" rIns="45718" bIns="45718"/>
          <a:lstStyle/>
          <a:p/>
        </p:txBody>
      </p:sp>
      <p:sp>
        <p:nvSpPr>
          <p:cNvPr id="125" name="线条"/>
          <p:cNvSpPr/>
          <p:nvPr/>
        </p:nvSpPr>
        <p:spPr>
          <a:xfrm flipH="1">
            <a:off x="1600199" y="0"/>
            <a:ext cx="3" cy="6858001"/>
          </a:xfrm>
          <a:prstGeom prst="line">
            <a:avLst/>
          </a:prstGeom>
          <a:ln w="50800">
            <a:solidFill>
              <a:srgbClr val="BCCEBD"/>
            </a:solidFill>
          </a:ln>
        </p:spPr>
        <p:txBody>
          <a:bodyPr lIns="45718" tIns="45718" rIns="45718" bIns="45718"/>
          <a:lstStyle/>
          <a:p/>
        </p:txBody>
      </p:sp>
      <p:sp>
        <p:nvSpPr>
          <p:cNvPr id="126" name="线条"/>
          <p:cNvSpPr/>
          <p:nvPr/>
        </p:nvSpPr>
        <p:spPr>
          <a:xfrm flipH="1">
            <a:off x="10515599" y="-1"/>
            <a:ext cx="2" cy="6858002"/>
          </a:xfrm>
          <a:prstGeom prst="line">
            <a:avLst/>
          </a:prstGeom>
          <a:ln w="12700">
            <a:solidFill>
              <a:srgbClr val="72A376"/>
            </a:solidFill>
          </a:ln>
        </p:spPr>
        <p:txBody>
          <a:bodyPr lIns="45718" tIns="45718" rIns="45718" bIns="45718"/>
          <a:lstStyle/>
          <a:p/>
        </p:txBody>
      </p:sp>
      <p:sp>
        <p:nvSpPr>
          <p:cNvPr id="127" name="矩形"/>
          <p:cNvSpPr/>
          <p:nvPr/>
        </p:nvSpPr>
        <p:spPr>
          <a:xfrm>
            <a:off x="10363200" y="0"/>
            <a:ext cx="304800" cy="6858000"/>
          </a:xfrm>
          <a:prstGeom prst="rect">
            <a:avLst/>
          </a:prstGeom>
          <a:solidFill>
            <a:srgbClr val="BCCEBD">
              <a:alpha val="87057"/>
            </a:srgbClr>
          </a:solidFill>
          <a:ln w="12700">
            <a:miter lim="400000"/>
          </a:ln>
        </p:spPr>
        <p:txBody>
          <a:bodyPr lIns="45718" tIns="45718" rIns="45718" bIns="45718" anchor="ctr"/>
          <a:lstStyle/>
          <a:p>
            <a:pPr algn="ctr">
              <a:defRPr>
                <a:solidFill>
                  <a:srgbClr val="FFFFFF"/>
                </a:solidFill>
                <a:latin typeface="Century Schoolbook" panose="02040604050505020304"/>
                <a:ea typeface="Century Schoolbook" panose="02040604050505020304"/>
                <a:cs typeface="Century Schoolbook" panose="02040604050505020304"/>
                <a:sym typeface="Century Schoolbook" panose="02040604050505020304"/>
              </a:defRPr>
            </a:pPr>
          </a:p>
        </p:txBody>
      </p:sp>
      <p:sp>
        <p:nvSpPr>
          <p:cNvPr id="128" name="线条"/>
          <p:cNvSpPr/>
          <p:nvPr/>
        </p:nvSpPr>
        <p:spPr>
          <a:xfrm flipH="1">
            <a:off x="10439399" y="-1"/>
            <a:ext cx="2" cy="6858002"/>
          </a:xfrm>
          <a:prstGeom prst="line">
            <a:avLst/>
          </a:prstGeom>
          <a:ln w="3175">
            <a:solidFill>
              <a:srgbClr val="72A376"/>
            </a:solidFill>
          </a:ln>
        </p:spPr>
        <p:txBody>
          <a:bodyPr lIns="45718" tIns="45718" rIns="45718" bIns="45718"/>
          <a:lstStyle/>
          <a:p/>
        </p:txBody>
      </p:sp>
      <p:sp>
        <p:nvSpPr>
          <p:cNvPr id="129" name="圆形"/>
          <p:cNvSpPr/>
          <p:nvPr/>
        </p:nvSpPr>
        <p:spPr>
          <a:xfrm>
            <a:off x="9680574" y="5714999"/>
            <a:ext cx="549278" cy="549278"/>
          </a:xfrm>
          <a:prstGeom prst="ellipse">
            <a:avLst/>
          </a:prstGeom>
          <a:solidFill>
            <a:srgbClr val="72A376"/>
          </a:solidFill>
          <a:ln w="12700">
            <a:miter lim="400000"/>
          </a:ln>
        </p:spPr>
        <p:txBody>
          <a:bodyPr lIns="45718" tIns="45718" rIns="45718" bIns="45718" anchor="ctr"/>
          <a:lstStyle/>
          <a:p>
            <a:pPr algn="ctr">
              <a:defRPr>
                <a:solidFill>
                  <a:srgbClr val="FFFFFF"/>
                </a:solidFill>
                <a:latin typeface="Century Schoolbook" panose="02040604050505020304"/>
                <a:ea typeface="Century Schoolbook" panose="02040604050505020304"/>
                <a:cs typeface="Century Schoolbook" panose="02040604050505020304"/>
                <a:sym typeface="Century Schoolbook" panose="02040604050505020304"/>
              </a:defRPr>
            </a:pPr>
          </a:p>
        </p:txBody>
      </p:sp>
      <p:sp>
        <p:nvSpPr>
          <p:cNvPr id="130" name="幻灯片编号"/>
          <p:cNvSpPr txBox="1">
            <a:spLocks noGrp="1"/>
          </p:cNvSpPr>
          <p:nvPr>
            <p:ph type="sldNum" sz="quarter" idx="2"/>
          </p:nvPr>
        </p:nvSpPr>
        <p:spPr>
          <a:xfrm>
            <a:off x="9804222" y="5840730"/>
            <a:ext cx="308331" cy="307339"/>
          </a:xfrm>
          <a:prstGeom prst="rect">
            <a:avLst/>
          </a:prstGeom>
        </p:spPr>
        <p:txBody>
          <a:bodyPr lIns="45718" tIns="45718" rIns="45718" bIns="45718"/>
          <a:lstStyle>
            <a:lvl1pPr algn="ctr">
              <a:defRPr sz="1400" b="1">
                <a:solidFill>
                  <a:srgbClr val="FFFFFF"/>
                </a:solidFill>
                <a:latin typeface="Century Schoolbook" panose="02040604050505020304"/>
                <a:ea typeface="Century Schoolbook" panose="02040604050505020304"/>
                <a:cs typeface="Century Schoolbook" panose="02040604050505020304"/>
                <a:sym typeface="Century Schoolbook" panose="02040604050505020304"/>
              </a:defRPr>
            </a:lvl1pPr>
          </a:lstStyle>
          <a:p>
            <a:fld id="{86CB4B4D-7CA3-9044-876B-883B54F8677D}" type="slidenum">
              <a:rPr/>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Default">
    <p:bg>
      <p:bgPr>
        <a:solidFill>
          <a:srgbClr val="FFFFFF"/>
        </a:solidFill>
        <a:effectLst/>
      </p:bgPr>
    </p:bg>
    <p:spTree>
      <p:nvGrpSpPr>
        <p:cNvPr id="1" name=""/>
        <p:cNvGrpSpPr/>
        <p:nvPr/>
      </p:nvGrpSpPr>
      <p:grpSpPr>
        <a:xfrm>
          <a:off x="0" y="0"/>
          <a:ext cx="0" cy="0"/>
          <a:chOff x="0" y="0"/>
          <a:chExt cx="0" cy="0"/>
        </a:xfrm>
      </p:grpSpPr>
      <p:sp>
        <p:nvSpPr>
          <p:cNvPr id="137" name="线条"/>
          <p:cNvSpPr/>
          <p:nvPr/>
        </p:nvSpPr>
        <p:spPr>
          <a:xfrm flipH="1">
            <a:off x="10286999" y="-1"/>
            <a:ext cx="2" cy="6858002"/>
          </a:xfrm>
          <a:prstGeom prst="line">
            <a:avLst/>
          </a:prstGeom>
          <a:ln w="38100">
            <a:solidFill>
              <a:srgbClr val="BCCEBD">
                <a:alpha val="92939"/>
              </a:srgbClr>
            </a:solidFill>
          </a:ln>
        </p:spPr>
        <p:txBody>
          <a:bodyPr lIns="45718" tIns="45718" rIns="45718" bIns="45718"/>
          <a:lstStyle/>
          <a:p/>
        </p:txBody>
      </p:sp>
      <p:sp>
        <p:nvSpPr>
          <p:cNvPr id="138" name="线条"/>
          <p:cNvSpPr/>
          <p:nvPr/>
        </p:nvSpPr>
        <p:spPr>
          <a:xfrm flipH="1">
            <a:off x="1600199" y="0"/>
            <a:ext cx="3" cy="6858001"/>
          </a:xfrm>
          <a:prstGeom prst="line">
            <a:avLst/>
          </a:prstGeom>
          <a:ln w="50800">
            <a:solidFill>
              <a:srgbClr val="BCCEBD"/>
            </a:solidFill>
          </a:ln>
        </p:spPr>
        <p:txBody>
          <a:bodyPr lIns="45718" tIns="45718" rIns="45718" bIns="45718"/>
          <a:lstStyle/>
          <a:p/>
        </p:txBody>
      </p:sp>
      <p:sp>
        <p:nvSpPr>
          <p:cNvPr id="139" name="线条"/>
          <p:cNvSpPr/>
          <p:nvPr/>
        </p:nvSpPr>
        <p:spPr>
          <a:xfrm flipH="1">
            <a:off x="10515599" y="-1"/>
            <a:ext cx="2" cy="6858002"/>
          </a:xfrm>
          <a:prstGeom prst="line">
            <a:avLst/>
          </a:prstGeom>
          <a:ln w="12700">
            <a:solidFill>
              <a:srgbClr val="72A376"/>
            </a:solidFill>
          </a:ln>
        </p:spPr>
        <p:txBody>
          <a:bodyPr lIns="45718" tIns="45718" rIns="45718" bIns="45718"/>
          <a:lstStyle/>
          <a:p/>
        </p:txBody>
      </p:sp>
      <p:sp>
        <p:nvSpPr>
          <p:cNvPr id="140" name="矩形"/>
          <p:cNvSpPr/>
          <p:nvPr/>
        </p:nvSpPr>
        <p:spPr>
          <a:xfrm>
            <a:off x="10363200" y="0"/>
            <a:ext cx="304800" cy="6858000"/>
          </a:xfrm>
          <a:prstGeom prst="rect">
            <a:avLst/>
          </a:prstGeom>
          <a:solidFill>
            <a:srgbClr val="BCCEBD">
              <a:alpha val="87057"/>
            </a:srgbClr>
          </a:solidFill>
          <a:ln w="12700">
            <a:miter lim="400000"/>
          </a:ln>
        </p:spPr>
        <p:txBody>
          <a:bodyPr lIns="45718" tIns="45718" rIns="45718" bIns="45718" anchor="ctr"/>
          <a:lstStyle/>
          <a:p>
            <a:pPr algn="ctr">
              <a:defRPr>
                <a:solidFill>
                  <a:srgbClr val="FFFFFF"/>
                </a:solidFill>
                <a:latin typeface="Century Schoolbook" panose="02040604050505020304"/>
                <a:ea typeface="Century Schoolbook" panose="02040604050505020304"/>
                <a:cs typeface="Century Schoolbook" panose="02040604050505020304"/>
                <a:sym typeface="Century Schoolbook" panose="02040604050505020304"/>
              </a:defRPr>
            </a:pPr>
          </a:p>
        </p:txBody>
      </p:sp>
      <p:sp>
        <p:nvSpPr>
          <p:cNvPr id="141" name="线条"/>
          <p:cNvSpPr/>
          <p:nvPr/>
        </p:nvSpPr>
        <p:spPr>
          <a:xfrm flipH="1">
            <a:off x="10439399" y="-1"/>
            <a:ext cx="2" cy="6858002"/>
          </a:xfrm>
          <a:prstGeom prst="line">
            <a:avLst/>
          </a:prstGeom>
          <a:ln w="3175">
            <a:solidFill>
              <a:srgbClr val="72A376"/>
            </a:solidFill>
          </a:ln>
        </p:spPr>
        <p:txBody>
          <a:bodyPr lIns="45718" tIns="45718" rIns="45718" bIns="45718"/>
          <a:lstStyle/>
          <a:p/>
        </p:txBody>
      </p:sp>
      <p:sp>
        <p:nvSpPr>
          <p:cNvPr id="142" name="圆形"/>
          <p:cNvSpPr/>
          <p:nvPr/>
        </p:nvSpPr>
        <p:spPr>
          <a:xfrm>
            <a:off x="9680574" y="5714999"/>
            <a:ext cx="549278" cy="549278"/>
          </a:xfrm>
          <a:prstGeom prst="ellipse">
            <a:avLst/>
          </a:prstGeom>
          <a:solidFill>
            <a:srgbClr val="72A376"/>
          </a:solidFill>
          <a:ln w="12700">
            <a:miter lim="400000"/>
          </a:ln>
        </p:spPr>
        <p:txBody>
          <a:bodyPr lIns="45718" tIns="45718" rIns="45718" bIns="45718" anchor="ctr"/>
          <a:lstStyle/>
          <a:p>
            <a:pPr algn="ctr">
              <a:defRPr>
                <a:solidFill>
                  <a:srgbClr val="FFFFFF"/>
                </a:solidFill>
                <a:latin typeface="Century Schoolbook" panose="02040604050505020304"/>
                <a:ea typeface="Century Schoolbook" panose="02040604050505020304"/>
                <a:cs typeface="Century Schoolbook" panose="02040604050505020304"/>
                <a:sym typeface="Century Schoolbook" panose="02040604050505020304"/>
              </a:defRPr>
            </a:pPr>
          </a:p>
        </p:txBody>
      </p:sp>
      <p:sp>
        <p:nvSpPr>
          <p:cNvPr id="143" name="幻灯片编号"/>
          <p:cNvSpPr txBox="1">
            <a:spLocks noGrp="1"/>
          </p:cNvSpPr>
          <p:nvPr>
            <p:ph type="sldNum" sz="quarter" idx="2"/>
          </p:nvPr>
        </p:nvSpPr>
        <p:spPr>
          <a:xfrm>
            <a:off x="9804222" y="5840730"/>
            <a:ext cx="308331" cy="307339"/>
          </a:xfrm>
          <a:prstGeom prst="rect">
            <a:avLst/>
          </a:prstGeom>
        </p:spPr>
        <p:txBody>
          <a:bodyPr lIns="45718" tIns="45718" rIns="45718" bIns="45718"/>
          <a:lstStyle>
            <a:lvl1pPr algn="ctr">
              <a:defRPr sz="1400" b="1">
                <a:solidFill>
                  <a:srgbClr val="FFFFFF"/>
                </a:solidFill>
                <a:latin typeface="Century Schoolbook" panose="02040604050505020304"/>
                <a:ea typeface="Century Schoolbook" panose="02040604050505020304"/>
                <a:cs typeface="Century Schoolbook" panose="02040604050505020304"/>
                <a:sym typeface="Century Schoolbook" panose="02040604050505020304"/>
              </a:defRPr>
            </a:lvl1pPr>
          </a:lstStyle>
          <a:p>
            <a:fld id="{86CB4B4D-7CA3-9044-876B-883B54F8677D}" type="slidenum">
              <a:rPr/>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838200" y="365125"/>
            <a:ext cx="10515600" cy="1325563"/>
          </a:xfrm>
          <a:prstGeom prst="rect">
            <a:avLst/>
          </a:prstGeom>
          <a:ln w="12700">
            <a:miter lim="400000"/>
          </a:ln>
        </p:spPr>
        <p:txBody>
          <a:bodyPr lIns="45718" tIns="45718" rIns="45718" bIns="45718" anchor="ctr">
            <a:normAutofit/>
          </a:bodyPr>
          <a:lstStyle/>
          <a:p>
            <a:r>
              <a:t>标题文本</a:t>
            </a:r>
          </a:p>
        </p:txBody>
      </p:sp>
      <p:sp>
        <p:nvSpPr>
          <p:cNvPr id="3" name="正文级别 1…"/>
          <p:cNvSpPr txBox="1">
            <a:spLocks noGrp="1"/>
          </p:cNvSpPr>
          <p:nvPr>
            <p:ph type="body" idx="1"/>
          </p:nvPr>
        </p:nvSpPr>
        <p:spPr>
          <a:xfrm>
            <a:off x="838200" y="1825625"/>
            <a:ext cx="10515600" cy="4351338"/>
          </a:xfrm>
          <a:prstGeom prst="rect">
            <a:avLst/>
          </a:prstGeom>
          <a:ln w="12700">
            <a:miter lim="400000"/>
          </a:ln>
        </p:spPr>
        <p:txBody>
          <a:bodyPr lIns="45718" tIns="45718" rIns="45718" bIns="45718">
            <a:normAutofit/>
          </a:bodyPr>
          <a:lstStyle/>
          <a:p>
            <a:r>
              <a:t>正文级别 1</a:t>
            </a:r>
          </a:p>
          <a:p>
            <a:pPr lvl="1"/>
            <a:r>
              <a:t>正文级别 2</a:t>
            </a:r>
          </a:p>
          <a:p>
            <a:pPr lvl="2"/>
            <a:r>
              <a:t>正文级别 3</a:t>
            </a:r>
          </a:p>
          <a:p>
            <a:pPr lvl="3"/>
            <a:r>
              <a:t>正文级别 4</a:t>
            </a:r>
          </a:p>
          <a:p>
            <a:pPr lvl="4"/>
            <a:r>
              <a:t>正文级别 5</a:t>
            </a:r>
          </a:p>
        </p:txBody>
      </p:sp>
      <p:sp>
        <p:nvSpPr>
          <p:cNvPr id="4" name="幻灯片编号"/>
          <p:cNvSpPr txBox="1">
            <a:spLocks noGrp="1"/>
          </p:cNvSpPr>
          <p:nvPr>
            <p:ph type="sldNum" sz="quarter" idx="2"/>
          </p:nvPr>
        </p:nvSpPr>
        <p:spPr>
          <a:xfrm>
            <a:off x="11089827" y="6404294"/>
            <a:ext cx="263979" cy="269237"/>
          </a:xfrm>
          <a:prstGeom prst="rect">
            <a:avLst/>
          </a:prstGeom>
          <a:ln w="12700">
            <a:miter lim="400000"/>
          </a:ln>
        </p:spPr>
        <p:txBody>
          <a:bodyPr wrap="none" lIns="45718" tIns="45718" rIns="45718" bIns="45718" anchor="ctr">
            <a:spAutoFit/>
          </a:bodyPr>
          <a:lstStyle>
            <a:lvl1pPr algn="r">
              <a:defRPr sz="1200">
                <a:solidFill>
                  <a:srgbClr val="888888"/>
                </a:solidFill>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spd="med"/>
  <p:txStyles>
    <p:titleStyle>
      <a:lvl1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1pPr>
      <a:lvl2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2pPr>
      <a:lvl3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3pPr>
      <a:lvl4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4pPr>
      <a:lvl5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5pPr>
      <a:lvl6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6pPr>
      <a:lvl7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7pPr>
      <a:lvl8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8pPr>
      <a:lvl9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9pPr>
    </p:titleStyle>
    <p:bodyStyle>
      <a:lvl1pPr marL="228600" marR="0" indent="-228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panose="020F0502020204030204"/>
        </a:defRPr>
      </a:lvl1pPr>
      <a:lvl2pPr marL="723900" marR="0" indent="-2667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panose="020F0502020204030204"/>
        </a:defRPr>
      </a:lvl2pPr>
      <a:lvl3pPr marL="1234440" marR="0" indent="-32004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panose="020F0502020204030204"/>
        </a:defRPr>
      </a:lvl3pPr>
      <a:lvl4pPr marL="17272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panose="020F0502020204030204"/>
        </a:defRPr>
      </a:lvl4pPr>
      <a:lvl5pPr marL="21844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panose="020F0502020204030204"/>
        </a:defRPr>
      </a:lvl5pPr>
      <a:lvl6pPr marL="26416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panose="020F0502020204030204"/>
        </a:defRPr>
      </a:lvl6pPr>
      <a:lvl7pPr marL="30988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panose="020F0502020204030204"/>
        </a:defRPr>
      </a:lvl7pPr>
      <a:lvl8pPr marL="35560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panose="020F0502020204030204"/>
        </a:defRPr>
      </a:lvl8pPr>
      <a:lvl9pPr marL="4013200" marR="0" indent="-355600" algn="l" defTabSz="914400" rtl="0" latinLnBrk="0">
        <a:lnSpc>
          <a:spcPct val="90000"/>
        </a:lnSpc>
        <a:spcBef>
          <a:spcPts val="1000"/>
        </a:spcBef>
        <a:spcAft>
          <a:spcPts val="0"/>
        </a:spcAft>
        <a:buClrTx/>
        <a:buSzPct val="100000"/>
        <a:buFont typeface="Arial" panose="020B0604020202090204"/>
        <a:buChar char="•"/>
        <a:defRPr sz="2800" b="0" i="0" u="none" strike="noStrike" cap="none" spc="0" baseline="0">
          <a:solidFill>
            <a:srgbClr val="000000"/>
          </a:solidFill>
          <a:uFillTx/>
          <a:latin typeface="+mn-lt"/>
          <a:ea typeface="+mn-ea"/>
          <a:cs typeface="+mn-cs"/>
          <a:sym typeface="Calibri" panose="020F0502020204030204"/>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1pPr>
      <a:lvl2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2pPr>
      <a:lvl3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3pPr>
      <a:lvl4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4pPr>
      <a:lvl5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5pPr>
      <a:lvl6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6pPr>
      <a:lvl7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7pPr>
      <a:lvl8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8pPr>
      <a:lvl9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4.png"/><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7.jpe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16.png"/><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17.png"/><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18.jpeg"/><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4.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5.jpeg"/></Relationships>
</file>

<file path=ppt/slides/_rels/slide40.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42.xml.rels><?xml version="1.0" encoding="UTF-8" standalone="yes"?>
<Relationships xmlns="http://schemas.openxmlformats.org/package/2006/relationships"><Relationship Id="rId9" Type="http://schemas.openxmlformats.org/officeDocument/2006/relationships/slideLayout" Target="../slideLayouts/slideLayout8.xml"/><Relationship Id="rId8" Type="http://schemas.openxmlformats.org/officeDocument/2006/relationships/image" Target="../media/image42.png"/><Relationship Id="rId7" Type="http://schemas.openxmlformats.org/officeDocument/2006/relationships/image" Target="../media/image41.png"/><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5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5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54.png"/><Relationship Id="rId1" Type="http://schemas.openxmlformats.org/officeDocument/2006/relationships/image" Target="../media/image53.png"/></Relationships>
</file>

<file path=ppt/slides/_rels/slide56.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58.png"/><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60.png"/><Relationship Id="rId1" Type="http://schemas.openxmlformats.org/officeDocument/2006/relationships/image" Target="../media/image5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 name="p2584064467.jpg" descr="p2584064467.jpg"/>
          <p:cNvPicPr>
            <a:picLocks noChangeAspect="1"/>
          </p:cNvPicPr>
          <p:nvPr/>
        </p:nvPicPr>
        <p:blipFill>
          <a:blip r:embed="rId1"/>
          <a:stretch>
            <a:fillRect/>
          </a:stretch>
        </p:blipFill>
        <p:spPr>
          <a:xfrm>
            <a:off x="706240" y="-60276"/>
            <a:ext cx="12195764" cy="6978689"/>
          </a:xfrm>
          <a:prstGeom prst="rect">
            <a:avLst/>
          </a:prstGeom>
          <a:ln w="12700">
            <a:miter lim="400000"/>
            <a:headEnd/>
            <a:tailEnd/>
          </a:ln>
        </p:spPr>
      </p:pic>
      <p:sp>
        <p:nvSpPr>
          <p:cNvPr id="122" name="矩形"/>
          <p:cNvSpPr/>
          <p:nvPr/>
        </p:nvSpPr>
        <p:spPr>
          <a:xfrm>
            <a:off x="1548971" y="4701672"/>
            <a:ext cx="3275468" cy="1136190"/>
          </a:xfrm>
          <a:prstGeom prst="rect">
            <a:avLst/>
          </a:prstGeom>
          <a:solidFill>
            <a:schemeClr val="accent1">
              <a:alpha val="80000"/>
            </a:schemeClr>
          </a:solidFill>
          <a:ln w="12700">
            <a:miter lim="400000"/>
          </a:ln>
        </p:spPr>
        <p:txBody>
          <a:bodyPr lIns="34287" tIns="34287" rIns="34287" bIns="34287" anchor="ctr"/>
          <a:lstStyle/>
          <a:p>
            <a:pPr algn="ctr">
              <a:defRPr>
                <a:solidFill>
                  <a:srgbClr val="FF9300"/>
                </a:solidFill>
              </a:defRPr>
            </a:pPr>
            <a:endParaRPr sz="1265"/>
          </a:p>
        </p:txBody>
      </p:sp>
      <p:sp>
        <p:nvSpPr>
          <p:cNvPr id="123" name="矩形"/>
          <p:cNvSpPr/>
          <p:nvPr/>
        </p:nvSpPr>
        <p:spPr>
          <a:xfrm>
            <a:off x="4828727" y="4701672"/>
            <a:ext cx="5909062" cy="1136190"/>
          </a:xfrm>
          <a:prstGeom prst="rect">
            <a:avLst/>
          </a:prstGeom>
          <a:solidFill>
            <a:srgbClr val="FFFFFF">
              <a:alpha val="51332"/>
            </a:srgbClr>
          </a:solidFill>
          <a:ln w="12700">
            <a:miter lim="400000"/>
          </a:ln>
        </p:spPr>
        <p:txBody>
          <a:bodyPr lIns="34287" tIns="34287" rIns="34287" bIns="34287" anchor="ctr"/>
          <a:lstStyle/>
          <a:p>
            <a:pPr algn="ctr">
              <a:defRPr>
                <a:solidFill>
                  <a:srgbClr val="FFFFFF"/>
                </a:solidFill>
              </a:defRPr>
            </a:pPr>
            <a:endParaRPr sz="1265"/>
          </a:p>
        </p:txBody>
      </p:sp>
      <p:sp>
        <p:nvSpPr>
          <p:cNvPr id="124" name="手机摄影"/>
          <p:cNvSpPr txBox="1"/>
          <p:nvPr/>
        </p:nvSpPr>
        <p:spPr>
          <a:xfrm>
            <a:off x="1712999" y="4887217"/>
            <a:ext cx="3194439" cy="673100"/>
          </a:xfrm>
          <a:prstGeom prst="rect">
            <a:avLst/>
          </a:prstGeom>
          <a:ln w="12700">
            <a:miter lim="400000"/>
          </a:ln>
        </p:spPr>
        <p:txBody>
          <a:bodyPr lIns="34287" tIns="34287" rIns="34287" bIns="34287">
            <a:spAutoFit/>
          </a:bodyPr>
          <a:lstStyle>
            <a:lvl1pPr algn="ctr">
              <a:defRPr sz="56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sz="3940"/>
              <a:t>影  视  鉴  赏</a:t>
            </a:r>
            <a:endParaRPr sz="3940"/>
          </a:p>
        </p:txBody>
      </p:sp>
      <p:sp>
        <p:nvSpPr>
          <p:cNvPr id="125" name="宁波大学潘天寿艺术学院  涂慧"/>
          <p:cNvSpPr txBox="1"/>
          <p:nvPr/>
        </p:nvSpPr>
        <p:spPr>
          <a:xfrm>
            <a:off x="1875475" y="5506107"/>
            <a:ext cx="2869488" cy="261620"/>
          </a:xfrm>
          <a:prstGeom prst="rect">
            <a:avLst/>
          </a:prstGeom>
          <a:ln w="12700">
            <a:miter lim="400000"/>
          </a:ln>
        </p:spPr>
        <p:txBody>
          <a:bodyPr lIns="34287" tIns="34287" rIns="34287" bIns="34287">
            <a:spAutoFit/>
          </a:bodyPr>
          <a:lstStyle>
            <a:lvl1pPr>
              <a:defRPr sz="18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sz="1265"/>
              <a:t>宁波大学潘天寿建筑与艺术学院  涂慧</a:t>
            </a:r>
            <a:endParaRPr sz="1265"/>
          </a:p>
        </p:txBody>
      </p:sp>
      <p:sp>
        <p:nvSpPr>
          <p:cNvPr id="126" name="20190326"/>
          <p:cNvSpPr txBox="1"/>
          <p:nvPr/>
        </p:nvSpPr>
        <p:spPr>
          <a:xfrm>
            <a:off x="3883025" y="5198745"/>
            <a:ext cx="3911600" cy="633730"/>
          </a:xfrm>
          <a:prstGeom prst="rect">
            <a:avLst/>
          </a:prstGeom>
          <a:ln w="12700">
            <a:miter lim="400000"/>
          </a:ln>
        </p:spPr>
        <p:txBody>
          <a:bodyPr wrap="square" lIns="34287" tIns="34287" rIns="34287" bIns="34287">
            <a:spAutoFit/>
          </a:bodyPr>
          <a:lstStyle/>
          <a:p>
            <a:pPr indent="1024255">
              <a:spcBef>
                <a:spcPts val="700"/>
              </a:spcBef>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545"/>
          </a:p>
          <a:p>
            <a:pPr indent="1024255">
              <a:spcBef>
                <a:spcPts val="700"/>
              </a:spcBef>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545"/>
              <a:t>       202</a:t>
            </a:r>
            <a:r>
              <a:rPr lang="en-US" sz="1545"/>
              <a:t>0</a:t>
            </a:r>
            <a:r>
              <a:rPr sz="1545"/>
              <a:t>-202</a:t>
            </a:r>
            <a:r>
              <a:rPr lang="en-US" sz="1545"/>
              <a:t>1</a:t>
            </a:r>
            <a:endParaRPr lang="en-US" sz="1545"/>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1" nodeType="afterEffect">
                                  <p:stCondLst>
                                    <p:cond delay="0"/>
                                  </p:stCondLst>
                                  <p:childTnLst>
                                    <p:set>
                                      <p:cBhvr>
                                        <p:cTn id="6" dur="indefinite" fill="hold"/>
                                        <p:tgtEl>
                                          <p:spTgt spid="122"/>
                                        </p:tgtEl>
                                        <p:attrNameLst>
                                          <p:attrName>style.visibility</p:attrName>
                                        </p:attrNameLst>
                                      </p:cBhvr>
                                      <p:to>
                                        <p:strVal val="visible"/>
                                      </p:to>
                                    </p:set>
                                    <p:animEffect transition="in" filter="wipe(right)">
                                      <p:cBhvr>
                                        <p:cTn id="7" dur="1000"/>
                                        <p:tgtEl>
                                          <p:spTgt spid="122"/>
                                        </p:tgtEl>
                                      </p:cBhvr>
                                    </p:animEffect>
                                  </p:childTnLst>
                                </p:cTn>
                              </p:par>
                            </p:childTnLst>
                          </p:cTn>
                        </p:par>
                        <p:par>
                          <p:cTn id="8" fill="hold">
                            <p:stCondLst>
                              <p:cond delay="1000"/>
                            </p:stCondLst>
                            <p:childTnLst>
                              <p:par>
                                <p:cTn id="9" presetID="22" presetClass="entr" presetSubtype="8" fill="hold" grpId="2" nodeType="afterEffect">
                                  <p:stCondLst>
                                    <p:cond delay="0"/>
                                  </p:stCondLst>
                                  <p:childTnLst>
                                    <p:set>
                                      <p:cBhvr>
                                        <p:cTn id="10" dur="indefinite" fill="hold"/>
                                        <p:tgtEl>
                                          <p:spTgt spid="123"/>
                                        </p:tgtEl>
                                        <p:attrNameLst>
                                          <p:attrName>style.visibility</p:attrName>
                                        </p:attrNameLst>
                                      </p:cBhvr>
                                      <p:to>
                                        <p:strVal val="visible"/>
                                      </p:to>
                                    </p:set>
                                    <p:animEffect transition="in" filter="wipe(left)">
                                      <p:cBhvr>
                                        <p:cTn id="11" dur="1000"/>
                                        <p:tgtEl>
                                          <p:spTgt spid="123"/>
                                        </p:tgtEl>
                                      </p:cBhvr>
                                    </p:animEffect>
                                  </p:childTnLst>
                                </p:cTn>
                              </p:par>
                            </p:childTnLst>
                          </p:cTn>
                        </p:par>
                        <p:par>
                          <p:cTn id="12" fill="hold">
                            <p:stCondLst>
                              <p:cond delay="2000"/>
                            </p:stCondLst>
                            <p:childTnLst>
                              <p:par>
                                <p:cTn id="13" presetID="9" presetClass="entr" presetSubtype="0" fill="hold" grpId="3" nodeType="afterEffect">
                                  <p:stCondLst>
                                    <p:cond delay="0"/>
                                  </p:stCondLst>
                                  <p:childTnLst>
                                    <p:set>
                                      <p:cBhvr>
                                        <p:cTn id="14" dur="indefinite" fill="hold"/>
                                        <p:tgtEl>
                                          <p:spTgt spid="124"/>
                                        </p:tgtEl>
                                        <p:attrNameLst>
                                          <p:attrName>style.visibility</p:attrName>
                                        </p:attrNameLst>
                                      </p:cBhvr>
                                      <p:to>
                                        <p:strVal val="visible"/>
                                      </p:to>
                                    </p:set>
                                    <p:animEffect transition="in" filter="dissolve">
                                      <p:cBhvr>
                                        <p:cTn id="15" dur="1000"/>
                                        <p:tgtEl>
                                          <p:spTgt spid="124"/>
                                        </p:tgtEl>
                                      </p:cBhvr>
                                    </p:animEffect>
                                  </p:childTnLst>
                                </p:cTn>
                              </p:par>
                            </p:childTnLst>
                          </p:cTn>
                        </p:par>
                        <p:par>
                          <p:cTn id="16" fill="hold">
                            <p:stCondLst>
                              <p:cond delay="3000"/>
                            </p:stCondLst>
                            <p:childTnLst>
                              <p:par>
                                <p:cTn id="17" presetID="9" presetClass="entr" presetSubtype="0" fill="hold" grpId="4" nodeType="afterEffect">
                                  <p:stCondLst>
                                    <p:cond delay="0"/>
                                  </p:stCondLst>
                                  <p:childTnLst>
                                    <p:set>
                                      <p:cBhvr>
                                        <p:cTn id="18" dur="indefinite" fill="hold"/>
                                        <p:tgtEl>
                                          <p:spTgt spid="125"/>
                                        </p:tgtEl>
                                        <p:attrNameLst>
                                          <p:attrName>style.visibility</p:attrName>
                                        </p:attrNameLst>
                                      </p:cBhvr>
                                      <p:to>
                                        <p:strVal val="visible"/>
                                      </p:to>
                                    </p:set>
                                    <p:animEffect transition="in" filter="dissolve">
                                      <p:cBhvr>
                                        <p:cTn id="19" dur="1000"/>
                                        <p:tgtEl>
                                          <p:spTgt spid="125"/>
                                        </p:tgtEl>
                                      </p:cBhvr>
                                    </p:animEffect>
                                  </p:childTnLst>
                                </p:cTn>
                              </p:par>
                            </p:childTnLst>
                          </p:cTn>
                        </p:par>
                        <p:par>
                          <p:cTn id="20" fill="hold">
                            <p:stCondLst>
                              <p:cond delay="4000"/>
                            </p:stCondLst>
                            <p:childTnLst>
                              <p:par>
                                <p:cTn id="21" presetID="2" presetClass="entr" presetSubtype="2" fill="hold" grpId="5" nodeType="afterEffect">
                                  <p:stCondLst>
                                    <p:cond delay="0"/>
                                  </p:stCondLst>
                                  <p:childTnLst>
                                    <p:set>
                                      <p:cBhvr>
                                        <p:cTn id="22" dur="indefinite" fill="hold"/>
                                        <p:tgtEl>
                                          <p:spTgt spid="126"/>
                                        </p:tgtEl>
                                        <p:attrNameLst>
                                          <p:attrName>style.visibility</p:attrName>
                                        </p:attrNameLst>
                                      </p:cBhvr>
                                      <p:to>
                                        <p:strVal val="visible"/>
                                      </p:to>
                                    </p:set>
                                    <p:anim calcmode="lin" valueType="num">
                                      <p:cBhvr>
                                        <p:cTn id="23" dur="1000" fill="hold"/>
                                        <p:tgtEl>
                                          <p:spTgt spid="126"/>
                                        </p:tgtEl>
                                        <p:attrNameLst>
                                          <p:attrName>ppt_x</p:attrName>
                                        </p:attrNameLst>
                                      </p:cBhvr>
                                      <p:tavLst>
                                        <p:tav tm="0">
                                          <p:val>
                                            <p:strVal val="1+#ppt_w/2"/>
                                          </p:val>
                                        </p:tav>
                                        <p:tav tm="100000">
                                          <p:val>
                                            <p:strVal val="#ppt_x"/>
                                          </p:val>
                                        </p:tav>
                                      </p:tavLst>
                                    </p:anim>
                                    <p:anim calcmode="lin" valueType="num">
                                      <p:cBhvr>
                                        <p:cTn id="24" dur="1000" fill="hold"/>
                                        <p:tgtEl>
                                          <p:spTgt spid="1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1" bldLvl="0" animBg="1" advAuto="0"/>
      <p:bldP spid="123" grpId="2" bldLvl="0" animBg="1" advAuto="0"/>
      <p:bldP spid="124" grpId="3" animBg="1" advAuto="0"/>
      <p:bldP spid="125" grpId="4" animBg="1" advAuto="0"/>
      <p:bldP spid="126" grpId="5" animBg="1" advAuto="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认 识 镜 头"/>
          <p:cNvSpPr txBox="1">
            <a:spLocks noGrp="1"/>
          </p:cNvSpPr>
          <p:nvPr>
            <p:ph type="ctrTitle"/>
          </p:nvPr>
        </p:nvSpPr>
        <p:spPr>
          <a:xfrm>
            <a:off x="3886835" y="1643059"/>
            <a:ext cx="9144000" cy="2387608"/>
          </a:xfrm>
          <a:prstGeom prst="rect">
            <a:avLst/>
          </a:prstGeom>
        </p:spPr>
        <p:txBody>
          <a:bodyPr/>
          <a:lstStyle>
            <a:lvl1pPr algn="l">
              <a:defRPr sz="4400"/>
            </a:lvl1pPr>
          </a:lstStyle>
          <a:p>
            <a:r>
              <a:t>电 影 的 </a:t>
            </a:r>
            <a:r>
              <a:rPr lang="zh-CN">
                <a:ea typeface="宋体" panose="02010600030101010101" pitchFamily="2" charset="-122"/>
              </a:rPr>
              <a:t>蒙 太 奇</a:t>
            </a:r>
            <a:endParaRPr lang="zh-CN">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 name="image2.png" descr="image2.png"/>
          <p:cNvPicPr>
            <a:picLocks noChangeAspect="1"/>
          </p:cNvPicPr>
          <p:nvPr/>
        </p:nvPicPr>
        <p:blipFill>
          <a:blip r:embed="rId1"/>
          <a:srcRect t="33436" b="43385"/>
          <a:stretch>
            <a:fillRect/>
          </a:stretch>
        </p:blipFill>
        <p:spPr>
          <a:xfrm>
            <a:off x="1383665" y="632698"/>
            <a:ext cx="9144000" cy="1156648"/>
          </a:xfrm>
          <a:prstGeom prst="rect">
            <a:avLst/>
          </a:prstGeom>
          <a:ln w="12700">
            <a:miter lim="400000"/>
            <a:headEnd/>
            <a:tailEnd/>
          </a:ln>
        </p:spPr>
      </p:pic>
      <p:sp>
        <p:nvSpPr>
          <p:cNvPr id="137" name="矩形"/>
          <p:cNvSpPr/>
          <p:nvPr/>
        </p:nvSpPr>
        <p:spPr>
          <a:xfrm>
            <a:off x="1383551" y="647302"/>
            <a:ext cx="2262117" cy="1156649"/>
          </a:xfrm>
          <a:prstGeom prst="rect">
            <a:avLst/>
          </a:prstGeom>
          <a:solidFill>
            <a:schemeClr val="accent1">
              <a:alpha val="80000"/>
            </a:schemeClr>
          </a:solidFill>
          <a:ln w="12700">
            <a:miter lim="400000"/>
          </a:ln>
        </p:spPr>
        <p:txBody>
          <a:bodyPr lIns="45719" rIns="45719" anchor="ctr"/>
          <a:lstStyle/>
          <a:p>
            <a:pPr algn="ctr">
              <a:defRPr sz="1300">
                <a:solidFill>
                  <a:srgbClr val="FFFFFF"/>
                </a:solidFill>
              </a:defRPr>
            </a:pPr>
            <a:endParaRPr sz="1800"/>
          </a:p>
        </p:txBody>
      </p:sp>
      <p:sp>
        <p:nvSpPr>
          <p:cNvPr id="138" name="色彩构成"/>
          <p:cNvSpPr txBox="1"/>
          <p:nvPr/>
        </p:nvSpPr>
        <p:spPr>
          <a:xfrm>
            <a:off x="1685024" y="1037972"/>
            <a:ext cx="1960161" cy="645160"/>
          </a:xfrm>
          <a:prstGeom prst="rect">
            <a:avLst/>
          </a:prstGeom>
          <a:ln w="12700">
            <a:miter lim="400000"/>
          </a:ln>
        </p:spPr>
        <p:txBody>
          <a:bodyPr lIns="45719" rIns="45719">
            <a:spAutoFit/>
          </a:bodyPr>
          <a:lstStyle/>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sp>
        <p:nvSpPr>
          <p:cNvPr id="139" name="课程目标：…"/>
          <p:cNvSpPr txBox="1"/>
          <p:nvPr/>
        </p:nvSpPr>
        <p:spPr>
          <a:xfrm>
            <a:off x="2090420" y="2553335"/>
            <a:ext cx="8011795" cy="2840990"/>
          </a:xfrm>
          <a:prstGeom prst="rect">
            <a:avLst/>
          </a:prstGeom>
          <a:ln w="12700">
            <a:miter lim="400000"/>
          </a:ln>
        </p:spPr>
        <p:txBody>
          <a:bodyPr wrap="square" lIns="45719" rIns="45719">
            <a:spAutoFit/>
          </a:bodyPr>
          <a:lstStyle/>
          <a:p>
            <a:pPr lvl="1">
              <a:lnSpc>
                <a:spcPct val="150000"/>
              </a:lnSpc>
              <a:spcBef>
                <a:spcPts val="1000"/>
              </a:spcBef>
              <a:defRPr sz="1600">
                <a:latin typeface="凸版文久見出しゴシック" panose="020B0900000000000000" charset="-128"/>
                <a:ea typeface="凸版文久見出しゴシック" panose="020B0900000000000000" charset="-128"/>
                <a:cs typeface="凸版文久見出しゴシック" panose="020B0900000000000000" charset="-128"/>
                <a:sym typeface="凸版文久見出しゴシック" panose="020B0900000000000000" charset="-128"/>
              </a:defRPr>
            </a:pPr>
            <a:r>
              <a:rPr sz="1800" b="1"/>
              <a:t>课程目标：</a:t>
            </a:r>
            <a:endParaRPr sz="1800" b="1"/>
          </a:p>
          <a:p>
            <a:pPr lvl="0">
              <a:lnSpc>
                <a:spcPct val="150000"/>
              </a:lnSpc>
              <a:spcBef>
                <a:spcPts val="1000"/>
              </a:spcBef>
              <a:defRPr sz="1600">
                <a:latin typeface="凸版文久見出しゴシック" panose="020B0900000000000000" charset="-128"/>
                <a:ea typeface="凸版文久見出しゴシック" panose="020B0900000000000000" charset="-128"/>
                <a:cs typeface="凸版文久見出しゴシック" panose="020B0900000000000000" charset="-128"/>
                <a:sym typeface="凸版文久見出しゴシック" panose="020B0900000000000000" charset="-128"/>
              </a:defRPr>
            </a:pPr>
            <a:r>
              <a:rPr sz="1800"/>
              <a:t>       </a:t>
            </a:r>
            <a:r>
              <a:rPr sz="1800" b="1">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了解</a:t>
            </a:r>
            <a:r>
              <a:rPr lang="zh-CN" sz="1800" b="1">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蒙太奇概念，理解蒙太奇在电影中的功能。赏析好莱坞经典剪辑。</a:t>
            </a:r>
            <a:endParaRPr lang="zh-CN" sz="1800">
              <a:ea typeface="宋体" panose="02010600030101010101" pitchFamily="2" charset="-122"/>
            </a:endParaRPr>
          </a:p>
          <a:p>
            <a:pPr lvl="1">
              <a:lnSpc>
                <a:spcPct val="150000"/>
              </a:lnSpc>
              <a:spcBef>
                <a:spcPts val="1000"/>
              </a:spcBef>
              <a:defRPr sz="1600">
                <a:latin typeface="凸版文久見出しゴシック" panose="020B0900000000000000" charset="-128"/>
                <a:ea typeface="凸版文久見出しゴシック" panose="020B0900000000000000" charset="-128"/>
                <a:cs typeface="凸版文久見出しゴシック" panose="020B0900000000000000" charset="-128"/>
                <a:sym typeface="凸版文久見出しゴシック" panose="020B0900000000000000" charset="-128"/>
              </a:defRPr>
            </a:pPr>
            <a:r>
              <a:rPr sz="1800" b="1">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     </a:t>
            </a:r>
            <a:r>
              <a:rPr sz="18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      </a:t>
            </a:r>
            <a:r>
              <a:rPr sz="1800">
                <a:latin typeface="凸版文久見出しゴシック" panose="020B0900000000000000" charset="-128"/>
                <a:ea typeface="凸版文久見出しゴシック" panose="020B0900000000000000" charset="-128"/>
                <a:cs typeface="凸版文久見出しゴシック" panose="020B0900000000000000" charset="-128"/>
                <a:sym typeface="凸版文久見出しゴシック" panose="020B0900000000000000" charset="-128"/>
              </a:rPr>
              <a:t>  </a:t>
            </a:r>
            <a:r>
              <a:rPr lang="zh-CN" sz="1800">
                <a:latin typeface="凸版文久見出しゴシック" panose="020B0900000000000000" charset="-128"/>
                <a:ea typeface="凸版文久見出しゴシック" panose="020B0900000000000000" charset="-128"/>
                <a:cs typeface="凸版文久見出しゴシック" panose="020B0900000000000000" charset="-128"/>
                <a:sym typeface="凸版文久見出しゴシック" panose="020B0900000000000000" charset="-128"/>
              </a:rPr>
              <a:t>拉片</a:t>
            </a:r>
            <a:r>
              <a:rPr sz="1800">
                <a:latin typeface="凸版文久見出しゴシック" panose="020B0900000000000000" charset="-128"/>
                <a:ea typeface="凸版文久見出しゴシック" panose="020B0900000000000000" charset="-128"/>
                <a:cs typeface="凸版文久見出しゴシック" panose="020B0900000000000000" charset="-128"/>
                <a:sym typeface="凸版文久見出しゴシック" panose="020B0900000000000000" charset="-128"/>
              </a:rPr>
              <a:t>案例分析：</a:t>
            </a:r>
            <a:r>
              <a:rPr lang="zh-CN" sz="1800">
                <a:latin typeface="凸版文久見出しゴシック" panose="020B0900000000000000" charset="-128"/>
                <a:ea typeface="宋体" panose="02010600030101010101" pitchFamily="2" charset="-122"/>
                <a:cs typeface="凸版文久見出しゴシック" panose="020B0900000000000000" charset="-128"/>
                <a:sym typeface="凸版文久見出しゴシック" panose="020B0900000000000000" charset="-128"/>
              </a:rPr>
              <a:t>《鸟人》</a:t>
            </a:r>
            <a:r>
              <a:rPr sz="18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       </a:t>
            </a:r>
            <a:r>
              <a:rPr sz="1800">
                <a:latin typeface="凸版文久見出しゴシック" panose="020B0900000000000000" charset="-128"/>
                <a:ea typeface="凸版文久見出しゴシック" panose="020B0900000000000000" charset="-128"/>
                <a:cs typeface="凸版文久見出しゴシック" panose="020B0900000000000000" charset="-128"/>
                <a:sym typeface="凸版文久見出しゴシック" panose="020B0900000000000000" charset="-128"/>
              </a:rPr>
              <a:t>  </a:t>
            </a:r>
            <a:endParaRPr sz="1800">
              <a:latin typeface="凸版文久見出しゴシック" panose="020B0900000000000000" charset="-128"/>
              <a:ea typeface="凸版文久見出しゴシック" panose="020B0900000000000000" charset="-128"/>
              <a:cs typeface="凸版文久見出しゴシック" panose="020B0900000000000000" charset="-128"/>
              <a:sym typeface="凸版文久見出しゴシック" panose="020B0900000000000000" charset="-128"/>
            </a:endParaRPr>
          </a:p>
          <a:p>
            <a:pPr marR="15875" indent="57150" algn="just" defTabSz="266700">
              <a:lnSpc>
                <a:spcPct val="150000"/>
              </a:lnSpc>
              <a:tabLst>
                <a:tab pos="4635500" algn="l"/>
              </a:tabLst>
              <a:defRPr sz="1600">
                <a:uFill>
                  <a:solidFill>
                    <a:srgbClr val="000000"/>
                  </a:solidFill>
                </a:uFill>
                <a:latin typeface="Times New Roman" panose="02020503050405090304"/>
                <a:ea typeface="Times New Roman" panose="02020503050405090304"/>
                <a:cs typeface="Times New Roman" panose="02020503050405090304"/>
                <a:sym typeface="Times New Roman" panose="02020503050405090304"/>
              </a:defRPr>
            </a:pPr>
            <a:r>
              <a:rPr sz="1800">
                <a:latin typeface="凸版文久見出しゴシック" panose="020B0900000000000000" charset="-128"/>
                <a:ea typeface="凸版文久見出しゴシック" panose="020B0900000000000000" charset="-128"/>
                <a:cs typeface="凸版文久見出しゴシック" panose="020B0900000000000000" charset="-128"/>
                <a:sym typeface="凸版文久見出しゴシック" panose="020B0900000000000000" charset="-128"/>
              </a:rPr>
              <a:t>       知识链接：</a:t>
            </a:r>
            <a:r>
              <a:rPr sz="1800">
                <a:sym typeface="+mn-ea"/>
              </a:rPr>
              <a:t>  https://v.qq.com/x/cover/tlvwiitova3d9m1.html</a:t>
            </a:r>
            <a:endParaRPr sz="1800">
              <a:sym typeface="+mn-ea"/>
            </a:endParaRPr>
          </a:p>
          <a:p>
            <a:pPr marR="15875" indent="57150" algn="just" defTabSz="266700">
              <a:lnSpc>
                <a:spcPct val="150000"/>
              </a:lnSpc>
              <a:tabLst>
                <a:tab pos="4635500" algn="l"/>
              </a:tabLst>
              <a:defRPr sz="1600">
                <a:uFill>
                  <a:solidFill>
                    <a:srgbClr val="000000"/>
                  </a:solidFill>
                </a:uFill>
                <a:latin typeface="Times New Roman" panose="02020503050405090304"/>
                <a:ea typeface="Times New Roman" panose="02020503050405090304"/>
                <a:cs typeface="Times New Roman" panose="02020503050405090304"/>
                <a:sym typeface="Times New Roman" panose="02020503050405090304"/>
              </a:defRPr>
            </a:pPr>
            <a:r>
              <a:rPr sz="18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     </a:t>
            </a:r>
            <a:endParaRPr sz="1800">
              <a:latin typeface="凸版文久見出しゴシック" panose="020B0900000000000000" charset="-128"/>
              <a:ea typeface="凸版文久見出しゴシック" panose="020B0900000000000000" charset="-128"/>
              <a:cs typeface="凸版文久見出しゴシック" panose="020B0900000000000000" charset="-128"/>
              <a:sym typeface="凸版文久見出しゴシック" panose="020B0900000000000000" charset="-128"/>
            </a:endParaRPr>
          </a:p>
          <a:p>
            <a:pPr marL="914400" marR="15875" indent="-857250" algn="just" defTabSz="266700">
              <a:lnSpc>
                <a:spcPct val="150000"/>
              </a:lnSpc>
              <a:tabLst>
                <a:tab pos="4635500" algn="l"/>
              </a:tabLst>
              <a:defRPr sz="1600">
                <a:uFill>
                  <a:solidFill>
                    <a:srgbClr val="000000"/>
                  </a:solidFill>
                </a:uFill>
                <a:latin typeface="Times New Roman" panose="02020503050405090304"/>
                <a:ea typeface="Times New Roman" panose="02020503050405090304"/>
                <a:cs typeface="Times New Roman" panose="02020503050405090304"/>
                <a:sym typeface="Times New Roman" panose="02020503050405090304"/>
              </a:defRPr>
            </a:pPr>
            <a:r>
              <a:rPr sz="1800">
                <a:latin typeface="凸版文久見出しゴシック" panose="020B0900000000000000" charset="-128"/>
                <a:ea typeface="凸版文久見出しゴシック" panose="020B0900000000000000" charset="-128"/>
                <a:cs typeface="凸版文久見出しゴシック" panose="020B0900000000000000" charset="-128"/>
                <a:sym typeface="凸版文久見出しゴシック" panose="020B0900000000000000" charset="-128"/>
              </a:rPr>
              <a:t>                  </a:t>
            </a:r>
            <a:endParaRPr sz="18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7"/>
                                        </p:tgtEl>
                                        <p:attrNameLst>
                                          <p:attrName>style.visibility</p:attrName>
                                        </p:attrNameLst>
                                      </p:cBhvr>
                                      <p:to>
                                        <p:strVal val="visible"/>
                                      </p:to>
                                    </p:set>
                                    <p:anim calcmode="lin" valueType="num">
                                      <p:cBhvr>
                                        <p:cTn id="7" dur="1000" fill="hold"/>
                                        <p:tgtEl>
                                          <p:spTgt spid="137"/>
                                        </p:tgtEl>
                                        <p:attrNameLst>
                                          <p:attrName>ppt_x</p:attrName>
                                        </p:attrNameLst>
                                      </p:cBhvr>
                                      <p:tavLst>
                                        <p:tav tm="0">
                                          <p:val>
                                            <p:strVal val="1+#ppt_w/2"/>
                                          </p:val>
                                        </p:tav>
                                        <p:tav tm="100000">
                                          <p:val>
                                            <p:strVal val="#ppt_x"/>
                                          </p:val>
                                        </p:tav>
                                      </p:tavLst>
                                    </p:anim>
                                    <p:anim calcmode="lin" valueType="num">
                                      <p:cBhvr>
                                        <p:cTn id="8" dur="1000" fill="hold"/>
                                        <p:tgtEl>
                                          <p:spTgt spid="13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138"/>
                                        </p:tgtEl>
                                        <p:attrNameLst>
                                          <p:attrName>style.visibility</p:attrName>
                                        </p:attrNameLst>
                                      </p:cBhvr>
                                      <p:to>
                                        <p:strVal val="visible"/>
                                      </p:to>
                                    </p:set>
                                    <p:animEffect transition="in" filter="dissolve">
                                      <p:cBhvr>
                                        <p:cTn id="12" dur="10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7" grpId="1" bldLvl="0" animBg="1" advAuto="0"/>
      <p:bldP spid="138" grpId="2"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本讲要点"/>
          <p:cNvSpPr txBox="1">
            <a:spLocks noGrp="1"/>
          </p:cNvSpPr>
          <p:nvPr>
            <p:ph type="title"/>
          </p:nvPr>
        </p:nvSpPr>
        <p:spPr>
          <a:xfrm>
            <a:off x="1188544" y="-294210"/>
            <a:ext cx="3932242" cy="1600202"/>
          </a:xfrm>
          <a:prstGeom prst="rect">
            <a:avLst/>
          </a:prstGeom>
        </p:spPr>
        <p:txBody>
          <a:bodyPr/>
          <a:lstStyle>
            <a:lvl1pPr>
              <a:defRPr>
                <a:solidFill>
                  <a:srgbClr val="FF0000"/>
                </a:solidFill>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本讲要点</a:t>
            </a:r>
          </a:p>
        </p:txBody>
      </p:sp>
      <p:sp>
        <p:nvSpPr>
          <p:cNvPr id="169" name="影视声音播放技术的发展…"/>
          <p:cNvSpPr txBox="1">
            <a:spLocks noGrp="1"/>
          </p:cNvSpPr>
          <p:nvPr>
            <p:ph type="body" sz="half" idx="1"/>
          </p:nvPr>
        </p:nvSpPr>
        <p:spPr>
          <a:xfrm>
            <a:off x="5121421" y="1286526"/>
            <a:ext cx="7740015" cy="4284345"/>
          </a:xfrm>
          <a:prstGeom prst="rect">
            <a:avLst/>
          </a:prstGeom>
        </p:spPr>
        <p:txBody>
          <a:bodyPr>
            <a:normAutofit lnSpcReduction="10000"/>
          </a:bodyPr>
          <a:lstStyle/>
          <a:p>
            <a:pPr defTabSz="758825">
              <a:spcBef>
                <a:spcPts val="800"/>
              </a:spcBef>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endParaRPr dirty="0"/>
          </a:p>
          <a:p>
            <a:pPr marL="170180" indent="-170180" defTabSz="758825">
              <a:lnSpc>
                <a:spcPct val="200000"/>
              </a:lnSpc>
              <a:spcBef>
                <a:spcPts val="800"/>
              </a:spcBef>
              <a:buSzPct val="60000"/>
              <a:buBlip>
                <a:blip r:embed="rId1"/>
              </a:buBlip>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dirty="0"/>
              <a:t> </a:t>
            </a:r>
            <a:r>
              <a:rPr sz="2800" dirty="0">
                <a:solidFill>
                  <a:srgbClr val="FF0000"/>
                </a:solidFill>
              </a:rPr>
              <a:t> </a:t>
            </a:r>
            <a:r>
              <a:rPr lang="zh-CN" sz="2800" b="1">
                <a:solidFill>
                  <a:srgbClr val="FF0000"/>
                </a:solidFill>
                <a:sym typeface="宋体" panose="02010600030101010101" pitchFamily="2" charset="-122"/>
              </a:rPr>
              <a:t>蒙太奇</a:t>
            </a:r>
            <a:r>
              <a:rPr lang="zh-CN" sz="2800" dirty="0" err="1">
                <a:solidFill>
                  <a:srgbClr val="FF0000"/>
                </a:solidFill>
              </a:rPr>
              <a:t>的概念</a:t>
            </a:r>
            <a:endParaRPr sz="2800" dirty="0">
              <a:solidFill>
                <a:srgbClr val="FF0000"/>
              </a:solidFill>
            </a:endParaRPr>
          </a:p>
          <a:p>
            <a:pPr marL="170180" indent="-170180" defTabSz="758825">
              <a:lnSpc>
                <a:spcPct val="200000"/>
              </a:lnSpc>
              <a:spcBef>
                <a:spcPts val="800"/>
              </a:spcBef>
              <a:buSzPct val="60000"/>
              <a:buBlip>
                <a:blip r:embed="rId1"/>
              </a:buBlip>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sz="2800" dirty="0">
                <a:solidFill>
                  <a:srgbClr val="FF0000"/>
                </a:solidFill>
              </a:rPr>
              <a:t>  </a:t>
            </a:r>
            <a:r>
              <a:rPr lang="zh-CN" sz="2800" dirty="0" err="1">
                <a:solidFill>
                  <a:schemeClr val="tx1"/>
                </a:solidFill>
                <a:effectLst>
                  <a:outerShdw blurRad="38100" dist="19050" dir="2700000" algn="tl" rotWithShape="0">
                    <a:schemeClr val="dk1">
                      <a:alpha val="40000"/>
                    </a:schemeClr>
                  </a:outerShdw>
                </a:effectLst>
              </a:rPr>
              <a:t>动画剪辑与影视剪辑的异同</a:t>
            </a:r>
            <a:endParaRPr lang="zh-CN" sz="2800" dirty="0" err="1">
              <a:solidFill>
                <a:srgbClr val="FF0000"/>
              </a:solidFill>
            </a:endParaRPr>
          </a:p>
          <a:p>
            <a:pPr marL="170180" indent="-170180" defTabSz="758825">
              <a:lnSpc>
                <a:spcPct val="200000"/>
              </a:lnSpc>
              <a:spcBef>
                <a:spcPts val="800"/>
              </a:spcBef>
              <a:buSzPct val="60000"/>
              <a:buBlip>
                <a:blip r:embed="rId1"/>
              </a:buBlip>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lang="zh-CN" sz="2800" b="1">
                <a:sym typeface="宋体" panose="02010600030101010101" pitchFamily="2" charset="-122"/>
              </a:rPr>
              <a:t>  </a:t>
            </a:r>
            <a:r>
              <a:rPr lang="zh-CN" sz="2800" b="1">
                <a:solidFill>
                  <a:srgbClr val="FF0000"/>
                </a:solidFill>
                <a:sym typeface="宋体" panose="02010600030101010101" pitchFamily="2" charset="-122"/>
              </a:rPr>
              <a:t>蒙太奇的功能</a:t>
            </a:r>
            <a:endParaRPr lang="zh-CN" sz="2800" b="1">
              <a:sym typeface="宋体" panose="02010600030101010101" pitchFamily="2" charset="-122"/>
            </a:endParaRPr>
          </a:p>
          <a:p>
            <a:pPr marL="170180" indent="-170180" defTabSz="758825">
              <a:lnSpc>
                <a:spcPct val="200000"/>
              </a:lnSpc>
              <a:spcBef>
                <a:spcPts val="800"/>
              </a:spcBef>
              <a:buSzPct val="60000"/>
              <a:buBlip>
                <a:blip r:embed="rId1"/>
              </a:buBlip>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lang="zh-CN" sz="2800" b="1">
                <a:sym typeface="宋体" panose="02010600030101010101" pitchFamily="2" charset="-122"/>
              </a:rPr>
              <a:t>  好莱坞经典剪辑赏析</a:t>
            </a:r>
            <a:endParaRPr lang="zh-CN" sz="2800" dirty="0">
              <a:solidFill>
                <a:srgbClr val="FF0000"/>
              </a:solidFill>
            </a:endParaRPr>
          </a:p>
        </p:txBody>
      </p:sp>
      <p:sp>
        <p:nvSpPr>
          <p:cNvPr id="170" name="电 影 声 音"/>
          <p:cNvSpPr txBox="1"/>
          <p:nvPr/>
        </p:nvSpPr>
        <p:spPr>
          <a:xfrm>
            <a:off x="1961078" y="2924512"/>
            <a:ext cx="2758440" cy="643890"/>
          </a:xfrm>
          <a:prstGeom prst="rect">
            <a:avLst/>
          </a:prstGeom>
          <a:ln w="12700">
            <a:miter lim="400000"/>
          </a:ln>
        </p:spPr>
        <p:txBody>
          <a:bodyPr wrap="none" lIns="45718" tIns="45718" rIns="45718" bIns="45718">
            <a:spAutoFit/>
          </a:bodyPr>
          <a:lstStyle>
            <a:lvl1pPr algn="ctr">
              <a:lnSpc>
                <a:spcPct val="90000"/>
              </a:lnSpc>
              <a:defRPr sz="4000">
                <a:latin typeface="Calibri Light" panose="020F0302020204030204"/>
                <a:ea typeface="Calibri Light" panose="020F0302020204030204"/>
                <a:cs typeface="Calibri Light" panose="020F0302020204030204"/>
                <a:sym typeface="Calibri Light" panose="020F0302020204030204"/>
              </a:defRPr>
            </a:lvl1pPr>
          </a:lstStyle>
          <a:p>
            <a:pPr algn="ctr"/>
            <a:r>
              <a:rPr b="1"/>
              <a:t>电 影</a:t>
            </a:r>
            <a:r>
              <a:rPr lang="zh-CN" b="1">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蒙太奇</a:t>
            </a:r>
            <a:endParaRPr b="1"/>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超大特写…"/>
          <p:cNvSpPr txBox="1">
            <a:spLocks noGrp="1"/>
          </p:cNvSpPr>
          <p:nvPr>
            <p:ph type="subTitle" sz="half" idx="1"/>
          </p:nvPr>
        </p:nvSpPr>
        <p:spPr>
          <a:xfrm>
            <a:off x="1118235" y="1805940"/>
            <a:ext cx="9955530" cy="4032885"/>
          </a:xfrm>
          <a:prstGeom prst="rect">
            <a:avLst/>
          </a:prstGeom>
        </p:spPr>
        <p:txBody>
          <a:bodyPr>
            <a:normAutofit fontScale="60000"/>
          </a:bodyPr>
          <a:lstStyle>
            <a:lvl1pPr algn="l" defTabSz="457200">
              <a:lnSpc>
                <a:spcPct val="150000"/>
              </a:lnSpc>
              <a:spcBef>
                <a:spcPts val="0"/>
              </a:spcBef>
              <a:defRPr sz="2100">
                <a:latin typeface="+mj-lt"/>
                <a:ea typeface="+mj-ea"/>
                <a:cs typeface="+mj-cs"/>
                <a:sym typeface="Helvetica"/>
              </a:defRPr>
            </a:lvl1pPr>
          </a:lstStyle>
          <a:p>
            <a:pPr>
              <a:lnSpc>
                <a:spcPct val="200000"/>
              </a:lnSpc>
            </a:pPr>
            <a:r>
              <a:rPr dirty="0"/>
              <a:t>     </a:t>
            </a:r>
            <a:r>
              <a:rPr lang="en-US" dirty="0" smtClean="0"/>
              <a:t>       </a:t>
            </a:r>
            <a:r>
              <a:rPr dirty="0" smtClean="0"/>
              <a:t> </a:t>
            </a:r>
            <a:r>
              <a:rPr lang="en-US" dirty="0" smtClean="0"/>
              <a:t> </a:t>
            </a:r>
            <a:r>
              <a:rPr sz="4000" dirty="0">
                <a:ln w="22225">
                  <a:solidFill>
                    <a:schemeClr val="accent2"/>
                  </a:solidFill>
                  <a:prstDash val="solid"/>
                </a:ln>
                <a:solidFill>
                  <a:schemeClr val="accent2">
                    <a:lumMod val="40000"/>
                    <a:lumOff val="60000"/>
                  </a:schemeClr>
                </a:solidFill>
                <a:effectLst/>
              </a:rPr>
              <a:t>蒙太奇</a:t>
            </a:r>
            <a:r>
              <a:rPr sz="4000" dirty="0"/>
              <a:t>(Montage)在法语是"剪接"的意思，但到了俄国它被发展成一种电影中镜头组合的理论，在涂料、涂装行业蒙太奇也是独树一帜的艺术手法和自由式涂装的含义。当不同镜头拼接在一起时，往往又会产生各个镜头单独存在时所不具有的特定含义。写作时采用这种方法写作的方式也叫蒙太奇手法。</a:t>
            </a:r>
            <a:endParaRPr sz="4000" dirty="0"/>
          </a:p>
          <a:p>
            <a:pPr>
              <a:lnSpc>
                <a:spcPct val="200000"/>
              </a:lnSpc>
            </a:pPr>
            <a:endParaRPr sz="4000" dirty="0"/>
          </a:p>
        </p:txBody>
      </p:sp>
      <p:pic>
        <p:nvPicPr>
          <p:cNvPr id="2" name="image2.png" descr="image2.png"/>
          <p:cNvPicPr>
            <a:picLocks noChangeAspect="1"/>
          </p:cNvPicPr>
          <p:nvPr/>
        </p:nvPicPr>
        <p:blipFill>
          <a:blip r:embed="rId1"/>
          <a:srcRect t="33436" b="43385"/>
          <a:stretch>
            <a:fillRect/>
          </a:stretch>
        </p:blipFill>
        <p:spPr>
          <a:xfrm>
            <a:off x="1019810" y="302895"/>
            <a:ext cx="10658475" cy="762635"/>
          </a:xfrm>
          <a:prstGeom prst="rect">
            <a:avLst/>
          </a:prstGeom>
          <a:ln w="12700">
            <a:miter lim="400000"/>
            <a:headEnd/>
            <a:tailEnd/>
          </a:ln>
        </p:spPr>
      </p:pic>
      <p:sp>
        <p:nvSpPr>
          <p:cNvPr id="137" name="矩形"/>
          <p:cNvSpPr/>
          <p:nvPr/>
        </p:nvSpPr>
        <p:spPr>
          <a:xfrm>
            <a:off x="612775"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3" name="色彩构成"/>
          <p:cNvSpPr txBox="1"/>
          <p:nvPr/>
        </p:nvSpPr>
        <p:spPr>
          <a:xfrm>
            <a:off x="1502410" y="56324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166">
                                            <p:txEl>
                                              <p:pRg st="0" end="0"/>
                                            </p:txEl>
                                          </p:spTgt>
                                        </p:tgtEl>
                                        <p:attrNameLst>
                                          <p:attrName>style.visibility</p:attrName>
                                        </p:attrNameLst>
                                      </p:cBhvr>
                                      <p:to>
                                        <p:strVal val="visible"/>
                                      </p:to>
                                    </p:set>
                                    <p:animEffect transition="in" filter="wipe(left)">
                                      <p:cBhvr>
                                        <p:cTn id="7" dur="500"/>
                                        <p:tgtEl>
                                          <p:spTgt spid="166">
                                            <p:txEl>
                                              <p:pRg st="0" end="0"/>
                                            </p:txEl>
                                          </p:spTgt>
                                        </p:tgtEl>
                                      </p:cBhvr>
                                    </p:animEffect>
                                  </p:childTnLst>
                                </p:cTn>
                              </p:par>
                            </p:childTnLst>
                          </p:cTn>
                        </p:par>
                        <p:par>
                          <p:cTn id="8" fill="hold">
                            <p:stCondLst>
                              <p:cond delay="500"/>
                            </p:stCondLst>
                            <p:childTnLst>
                              <p:par>
                                <p:cTn id="9" presetID="2" presetClass="entr" presetSubtype="2" fill="hold" grpId="1" nodeType="afterEffect">
                                  <p:stCondLst>
                                    <p:cond delay="0"/>
                                  </p:stCondLst>
                                  <p:iterate type="el">
                                    <p:tmAbs val="0"/>
                                  </p:iterate>
                                  <p:childTnLst>
                                    <p:set>
                                      <p:cBhvr>
                                        <p:cTn id="10" dur="indefinite" fill="hold"/>
                                        <p:tgtEl>
                                          <p:spTgt spid="137"/>
                                        </p:tgtEl>
                                        <p:attrNameLst>
                                          <p:attrName>style.visibility</p:attrName>
                                        </p:attrNameLst>
                                      </p:cBhvr>
                                      <p:to>
                                        <p:strVal val="visible"/>
                                      </p:to>
                                    </p:set>
                                    <p:anim calcmode="lin" valueType="num">
                                      <p:cBhvr>
                                        <p:cTn id="11" dur="1000" fill="hold"/>
                                        <p:tgtEl>
                                          <p:spTgt spid="137"/>
                                        </p:tgtEl>
                                        <p:attrNameLst>
                                          <p:attrName>ppt_x</p:attrName>
                                        </p:attrNameLst>
                                      </p:cBhvr>
                                      <p:tavLst>
                                        <p:tav tm="0">
                                          <p:val>
                                            <p:strVal val="1+#ppt_w/2"/>
                                          </p:val>
                                        </p:tav>
                                        <p:tav tm="100000">
                                          <p:val>
                                            <p:strVal val="#ppt_x"/>
                                          </p:val>
                                        </p:tav>
                                      </p:tavLst>
                                    </p:anim>
                                    <p:anim calcmode="lin" valueType="num">
                                      <p:cBhvr>
                                        <p:cTn id="12" dur="1000" fill="hold"/>
                                        <p:tgtEl>
                                          <p:spTgt spid="137"/>
                                        </p:tgtEl>
                                        <p:attrNameLst>
                                          <p:attrName>ppt_y</p:attrName>
                                        </p:attrNameLst>
                                      </p:cBhvr>
                                      <p:tavLst>
                                        <p:tav tm="0">
                                          <p:val>
                                            <p:strVal val="#ppt_y"/>
                                          </p:val>
                                        </p:tav>
                                        <p:tav tm="100000">
                                          <p:val>
                                            <p:strVal val="#ppt_y"/>
                                          </p:val>
                                        </p:tav>
                                      </p:tavLst>
                                    </p:anim>
                                  </p:childTnLst>
                                </p:cTn>
                              </p:par>
                            </p:childTnLst>
                          </p:cTn>
                        </p:par>
                        <p:par>
                          <p:cTn id="13" fill="hold">
                            <p:stCondLst>
                              <p:cond delay="1500"/>
                            </p:stCondLst>
                            <p:childTnLst>
                              <p:par>
                                <p:cTn id="14" presetID="9" presetClass="entr" presetSubtype="0" fill="hold" grpId="2" nodeType="afterEffect">
                                  <p:stCondLst>
                                    <p:cond delay="0"/>
                                  </p:stCondLst>
                                  <p:iterate type="el">
                                    <p:tmAbs val="0"/>
                                  </p:iterate>
                                  <p:childTnLst>
                                    <p:set>
                                      <p:cBhvr>
                                        <p:cTn id="15" dur="indefinite" fill="hold"/>
                                        <p:tgtEl>
                                          <p:spTgt spid="3"/>
                                        </p:tgtEl>
                                        <p:attrNameLst>
                                          <p:attrName>style.visibility</p:attrName>
                                        </p:attrNameLst>
                                      </p:cBhvr>
                                      <p:to>
                                        <p:strVal val="visible"/>
                                      </p:to>
                                    </p:set>
                                    <p:animEffect transition="in" filter="dissolve">
                                      <p:cBhvr>
                                        <p:cTn id="16" dur="1000"/>
                                        <p:tgtEl>
                                          <p:spTgt spid="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66" grpId="1" bldLvl="5" animBg="1" advAuto="0" build="p"/>
      <p:bldP spid="137" grpId="1" bldLvl="0" animBg="1" advAuto="0"/>
      <p:bldP spid="3" grpId="2"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7390" y="1501140"/>
            <a:ext cx="10515600" cy="1325563"/>
          </a:xfrm>
        </p:spPr>
        <p:txBody>
          <a:bodyPr/>
          <a:lstStyle/>
          <a:p>
            <a:r>
              <a:rPr lang="zh-CN" b="1">
                <a:solidFill>
                  <a:srgbClr val="FF0000"/>
                </a:solidFill>
                <a:sym typeface="宋体" panose="02010600030101010101" pitchFamily="2" charset="-122"/>
              </a:rPr>
              <a:t>蒙太奇的</a:t>
            </a:r>
            <a:r>
              <a:rPr lang="zh-CN" dirty="0" err="1">
                <a:solidFill>
                  <a:srgbClr val="FF0000"/>
                </a:solidFill>
                <a:sym typeface="+mn-ea"/>
              </a:rPr>
              <a:t>概念理解</a:t>
            </a:r>
            <a:endParaRPr lang="zh-CN" altLang="en-US" dirty="0"/>
          </a:p>
        </p:txBody>
      </p:sp>
      <p:sp>
        <p:nvSpPr>
          <p:cNvPr id="3" name="文本占位符 2"/>
          <p:cNvSpPr>
            <a:spLocks noGrp="1"/>
          </p:cNvSpPr>
          <p:nvPr>
            <p:ph type="body" idx="1"/>
          </p:nvPr>
        </p:nvSpPr>
        <p:spPr>
          <a:xfrm>
            <a:off x="1855470" y="2564130"/>
            <a:ext cx="8987155" cy="4599305"/>
          </a:xfrm>
        </p:spPr>
        <p:txBody>
          <a:bodyPr>
            <a:normAutofit/>
          </a:bodyPr>
          <a:lstStyle/>
          <a:p>
            <a:pPr lvl="0">
              <a:lnSpc>
                <a:spcPct val="160000"/>
              </a:lnSpc>
            </a:pPr>
            <a:r>
              <a:rPr lang="zh-CN" altLang="zh-CN" dirty="0">
                <a:solidFill>
                  <a:schemeClr val="tx1"/>
                </a:solidFill>
                <a:latin typeface="宋体" panose="02010600030101010101" pitchFamily="2" charset="-122"/>
                <a:ea typeface="宋体" panose="02010600030101010101" pitchFamily="2" charset="-122"/>
              </a:rPr>
              <a:t>第一层 微观上讲指影视的剪辑技巧。</a:t>
            </a:r>
            <a:endParaRPr lang="zh-CN" altLang="zh-CN" dirty="0">
              <a:solidFill>
                <a:schemeClr val="tx1"/>
              </a:solidFill>
              <a:latin typeface="宋体" panose="02010600030101010101" pitchFamily="2" charset="-122"/>
              <a:ea typeface="宋体" panose="02010600030101010101" pitchFamily="2" charset="-122"/>
            </a:endParaRPr>
          </a:p>
          <a:p>
            <a:pPr lvl="0">
              <a:lnSpc>
                <a:spcPct val="160000"/>
              </a:lnSpc>
            </a:pPr>
            <a:r>
              <a:rPr lang="zh-CN" altLang="zh-CN" dirty="0">
                <a:solidFill>
                  <a:schemeClr val="tx1"/>
                </a:solidFill>
                <a:latin typeface="宋体" panose="02010600030101010101" pitchFamily="2" charset="-122"/>
                <a:ea typeface="宋体" panose="02010600030101010101" pitchFamily="2" charset="-122"/>
              </a:rPr>
              <a:t>第二层 中观层面讲对影视作品叙事和结构的安排。</a:t>
            </a:r>
            <a:endParaRPr lang="zh-CN" altLang="zh-CN" dirty="0">
              <a:solidFill>
                <a:schemeClr val="tx1"/>
              </a:solidFill>
              <a:latin typeface="宋体" panose="02010600030101010101" pitchFamily="2" charset="-122"/>
              <a:ea typeface="宋体" panose="02010600030101010101" pitchFamily="2" charset="-122"/>
            </a:endParaRPr>
          </a:p>
          <a:p>
            <a:pPr lvl="0">
              <a:lnSpc>
                <a:spcPct val="160000"/>
              </a:lnSpc>
            </a:pPr>
            <a:r>
              <a:rPr lang="zh-CN" altLang="zh-CN" dirty="0">
                <a:solidFill>
                  <a:schemeClr val="tx1"/>
                </a:solidFill>
                <a:latin typeface="宋体" panose="02010600030101010101" pitchFamily="2" charset="-122"/>
                <a:ea typeface="宋体" panose="02010600030101010101" pitchFamily="2" charset="-122"/>
              </a:rPr>
              <a:t>第三层 宏观层面讲是一种蒙太奇思维，即对时间和空间的分解与重组。这是影视艺术相对于其他艺术所独有的一种艺术思维方式。</a:t>
            </a:r>
            <a:endParaRPr lang="en-US" altLang="zh-CN" dirty="0" smtClean="0">
              <a:solidFill>
                <a:srgbClr val="FF0000"/>
              </a:solidFill>
            </a:endParaRPr>
          </a:p>
        </p:txBody>
      </p:sp>
      <p:pic>
        <p:nvPicPr>
          <p:cNvPr id="5" name="image2.png" descr="image2.png"/>
          <p:cNvPicPr>
            <a:picLocks noChangeAspect="1"/>
          </p:cNvPicPr>
          <p:nvPr/>
        </p:nvPicPr>
        <p:blipFill>
          <a:blip r:embed="rId1"/>
          <a:srcRect t="33436" b="43385"/>
          <a:stretch>
            <a:fillRect/>
          </a:stretch>
        </p:blipFill>
        <p:spPr>
          <a:xfrm>
            <a:off x="1019810" y="302895"/>
            <a:ext cx="10658475" cy="762635"/>
          </a:xfrm>
          <a:prstGeom prst="rect">
            <a:avLst/>
          </a:prstGeom>
          <a:ln w="12700">
            <a:miter lim="400000"/>
            <a:headEnd/>
            <a:tailEnd/>
          </a:ln>
        </p:spPr>
      </p:pic>
      <p:sp>
        <p:nvSpPr>
          <p:cNvPr id="6" name="矩形"/>
          <p:cNvSpPr/>
          <p:nvPr/>
        </p:nvSpPr>
        <p:spPr>
          <a:xfrm>
            <a:off x="612775"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7" name="色彩构成"/>
          <p:cNvSpPr txBox="1"/>
          <p:nvPr/>
        </p:nvSpPr>
        <p:spPr>
          <a:xfrm>
            <a:off x="1502410" y="56324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6"/>
                                        </p:tgtEl>
                                        <p:attrNameLst>
                                          <p:attrName>style.visibility</p:attrName>
                                        </p:attrNameLst>
                                      </p:cBhvr>
                                      <p:to>
                                        <p:strVal val="visible"/>
                                      </p:to>
                                    </p:set>
                                    <p:anim calcmode="lin" valueType="num">
                                      <p:cBhvr>
                                        <p:cTn id="7" dur="1000" fill="hold"/>
                                        <p:tgtEl>
                                          <p:spTgt spid="6"/>
                                        </p:tgtEl>
                                        <p:attrNameLst>
                                          <p:attrName>ppt_x</p:attrName>
                                        </p:attrNameLst>
                                      </p:cBhvr>
                                      <p:tavLst>
                                        <p:tav tm="0">
                                          <p:val>
                                            <p:strVal val="1+#ppt_w/2"/>
                                          </p:val>
                                        </p:tav>
                                        <p:tav tm="100000">
                                          <p:val>
                                            <p:strVal val="#ppt_x"/>
                                          </p:val>
                                        </p:tav>
                                      </p:tavLst>
                                    </p:anim>
                                    <p:anim calcmode="lin" valueType="num">
                                      <p:cBhvr>
                                        <p:cTn id="8" dur="10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7"/>
                                        </p:tgtEl>
                                        <p:attrNameLst>
                                          <p:attrName>style.visibility</p:attrName>
                                        </p:attrNameLst>
                                      </p:cBhvr>
                                      <p:to>
                                        <p:strVal val="visible"/>
                                      </p:to>
                                    </p:set>
                                    <p:animEffect transition="in" filter="dissolve">
                                      <p:cBhvr>
                                        <p:cTn id="12" dur="1000"/>
                                        <p:tgtEl>
                                          <p:spTgt spid="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6" grpId="1" bldLvl="0" animBg="1" advAuto="0"/>
      <p:bldP spid="7" grpId="2"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全景组"/>
          <p:cNvSpPr txBox="1">
            <a:spLocks noGrp="1"/>
          </p:cNvSpPr>
          <p:nvPr>
            <p:ph type="ctrTitle"/>
          </p:nvPr>
        </p:nvSpPr>
        <p:spPr>
          <a:xfrm>
            <a:off x="1393190" y="989330"/>
            <a:ext cx="9144000" cy="1455420"/>
          </a:xfrm>
          <a:prstGeom prst="rect">
            <a:avLst/>
          </a:prstGeom>
        </p:spPr>
        <p:txBody>
          <a:bodyPr/>
          <a:lstStyle>
            <a:lvl1pPr>
              <a:defRPr sz="4900">
                <a:latin typeface="楷体_GB2312"/>
                <a:ea typeface="楷体_GB2312"/>
                <a:cs typeface="楷体_GB2312"/>
                <a:sym typeface="楷体_GB2312"/>
              </a:defRPr>
            </a:lvl1pPr>
          </a:lstStyle>
          <a:p>
            <a:r>
              <a:rPr dirty="0">
                <a:sym typeface="+mn-ea"/>
              </a:rPr>
              <a:t>构   成</a:t>
            </a:r>
            <a:endParaRPr dirty="0">
              <a:sym typeface="+mn-ea"/>
            </a:endParaRPr>
          </a:p>
        </p:txBody>
      </p:sp>
      <p:sp>
        <p:nvSpPr>
          <p:cNvPr id="162" name="人全full-length shot——人的全身…"/>
          <p:cNvSpPr txBox="1">
            <a:spLocks noGrp="1"/>
          </p:cNvSpPr>
          <p:nvPr>
            <p:ph type="subTitle" sz="half" idx="1"/>
          </p:nvPr>
        </p:nvSpPr>
        <p:spPr>
          <a:xfrm>
            <a:off x="1202690" y="2061210"/>
            <a:ext cx="10150475" cy="4509135"/>
          </a:xfrm>
          <a:prstGeom prst="rect">
            <a:avLst/>
          </a:prstGeom>
        </p:spPr>
        <p:txBody>
          <a:bodyPr>
            <a:normAutofit/>
          </a:bodyPr>
          <a:lstStyle/>
          <a:p>
            <a:pPr algn="l" defTabSz="219710">
              <a:lnSpc>
                <a:spcPct val="100000"/>
              </a:lnSpc>
              <a:spcBef>
                <a:spcPts val="0"/>
              </a:spcBef>
              <a:defRPr sz="1800" baseline="-6000">
                <a:solidFill>
                  <a:srgbClr val="333333"/>
                </a:solidFill>
                <a:latin typeface="Arial" panose="020B0604020202090204"/>
                <a:ea typeface="Arial" panose="020B0604020202090204"/>
                <a:cs typeface="Arial" panose="020B0604020202090204"/>
                <a:sym typeface="Arial" panose="020B0604020202090204"/>
              </a:defRPr>
            </a:pPr>
            <a:endParaRPr sz="1000" dirty="0"/>
          </a:p>
          <a:p>
            <a:pPr algn="l" defTabSz="219710">
              <a:lnSpc>
                <a:spcPct val="200000"/>
              </a:lnSpc>
              <a:spcBef>
                <a:spcPts val="0"/>
              </a:spcBef>
              <a:defRPr sz="1800">
                <a:solidFill>
                  <a:srgbClr val="333333"/>
                </a:solidFill>
                <a:latin typeface="Arial" panose="020B0604020202090204"/>
                <a:ea typeface="Arial" panose="020B0604020202090204"/>
                <a:cs typeface="Arial" panose="020B0604020202090204"/>
                <a:sym typeface="Arial" panose="020B0604020202090204"/>
              </a:defRPr>
            </a:pPr>
            <a:r>
              <a:rPr dirty="0"/>
              <a:t>      </a:t>
            </a:r>
            <a:endParaRPr dirty="0"/>
          </a:p>
          <a:p>
            <a:pPr algn="l" defTabSz="219710">
              <a:lnSpc>
                <a:spcPct val="200000"/>
              </a:lnSpc>
              <a:spcBef>
                <a:spcPts val="0"/>
              </a:spcBef>
              <a:defRPr sz="1800">
                <a:solidFill>
                  <a:srgbClr val="333333"/>
                </a:solidFill>
                <a:latin typeface="Arial" panose="020B0604020202090204"/>
                <a:ea typeface="Arial" panose="020B0604020202090204"/>
                <a:cs typeface="Arial" panose="020B0604020202090204"/>
                <a:sym typeface="Arial" panose="020B0604020202090204"/>
              </a:defRPr>
            </a:pPr>
            <a:r>
              <a:rPr dirty="0"/>
              <a:t>蒙太奇一般包括画面剪辑和画面合成两方面。画面合成:由许多画面或图样并列或叠化而成的一个统一图画作品。画面剪辑:制作这种艺术组合的方式或过程是将电影一系列在不同地点，从不同距离和角度，以不同方法拍摄的镜头排列组合起来，叙述情节，刻画人物。</a:t>
            </a:r>
            <a:endParaRPr dirty="0"/>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162">
                                            <p:txEl>
                                              <p:pRg st="0" end="0"/>
                                            </p:txEl>
                                          </p:spTgt>
                                        </p:tgtEl>
                                        <p:attrNameLst>
                                          <p:attrName>style.visibility</p:attrName>
                                        </p:attrNameLst>
                                      </p:cBhvr>
                                      <p:to>
                                        <p:strVal val="visible"/>
                                      </p:to>
                                    </p:set>
                                    <p:animEffect transition="in" filter="wipe(left)">
                                      <p:cBhvr>
                                        <p:cTn id="7" dur="500"/>
                                        <p:tgtEl>
                                          <p:spTgt spid="1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162">
                                            <p:txEl>
                                              <p:pRg st="1" end="1"/>
                                            </p:txEl>
                                          </p:spTgt>
                                        </p:tgtEl>
                                        <p:attrNameLst>
                                          <p:attrName>style.visibility</p:attrName>
                                        </p:attrNameLst>
                                      </p:cBhvr>
                                      <p:to>
                                        <p:strVal val="visible"/>
                                      </p:to>
                                    </p:set>
                                    <p:animEffect transition="in" filter="wipe(left)">
                                      <p:cBhvr>
                                        <p:cTn id="12" dur="500"/>
                                        <p:tgtEl>
                                          <p:spTgt spid="16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indefinite" fill="hold"/>
                                        <p:tgtEl>
                                          <p:spTgt spid="162">
                                            <p:txEl>
                                              <p:pRg st="2" end="2"/>
                                            </p:txEl>
                                          </p:spTgt>
                                        </p:tgtEl>
                                        <p:attrNameLst>
                                          <p:attrName>style.visibility</p:attrName>
                                        </p:attrNameLst>
                                      </p:cBhvr>
                                      <p:to>
                                        <p:strVal val="visible"/>
                                      </p:to>
                                    </p:set>
                                    <p:animEffect transition="in" filter="wipe(left)">
                                      <p:cBhvr>
                                        <p:cTn id="17" dur="500"/>
                                        <p:tgtEl>
                                          <p:spTgt spid="16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 grpId="1" bldLvl="5" animBg="1" advAuto="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517" y="977265"/>
            <a:ext cx="10515601" cy="1325563"/>
          </a:xfrm>
        </p:spPr>
        <p:txBody>
          <a:bodyPr/>
          <a:lstStyle/>
          <a:p>
            <a:r>
              <a:rPr lang="zh-CN" dirty="0" err="1">
                <a:solidFill>
                  <a:schemeClr val="tx1"/>
                </a:solidFill>
                <a:effectLst>
                  <a:outerShdw blurRad="38100" dist="19050" dir="2700000" algn="tl" rotWithShape="0">
                    <a:schemeClr val="dk1">
                      <a:alpha val="40000"/>
                    </a:schemeClr>
                  </a:outerShdw>
                </a:effectLst>
                <a:sym typeface="+mn-ea"/>
              </a:rPr>
              <a:t>动画剪辑与影视剪辑的异同</a:t>
            </a:r>
            <a:endParaRPr lang="zh-CN" altLang="en-US" dirty="0"/>
          </a:p>
        </p:txBody>
      </p:sp>
      <p:pic>
        <p:nvPicPr>
          <p:cNvPr id="3" name="image2.png" descr="image2.png"/>
          <p:cNvPicPr>
            <a:picLocks noChangeAspect="1"/>
          </p:cNvPicPr>
          <p:nvPr/>
        </p:nvPicPr>
        <p:blipFill>
          <a:blip r:embed="rId1"/>
          <a:srcRect t="33436" b="43385"/>
          <a:stretch>
            <a:fillRect/>
          </a:stretch>
        </p:blipFill>
        <p:spPr>
          <a:xfrm>
            <a:off x="1005205" y="302895"/>
            <a:ext cx="10658475" cy="762635"/>
          </a:xfrm>
          <a:prstGeom prst="rect">
            <a:avLst/>
          </a:prstGeom>
          <a:ln w="12700">
            <a:miter lim="400000"/>
            <a:headEnd/>
            <a:tailEnd/>
          </a:ln>
        </p:spPr>
      </p:pic>
      <p:sp>
        <p:nvSpPr>
          <p:cNvPr id="137" name="矩形"/>
          <p:cNvSpPr/>
          <p:nvPr/>
        </p:nvSpPr>
        <p:spPr>
          <a:xfrm>
            <a:off x="598170"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4" name="色彩构成"/>
          <p:cNvSpPr txBox="1"/>
          <p:nvPr/>
        </p:nvSpPr>
        <p:spPr>
          <a:xfrm>
            <a:off x="1487805" y="56324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7"/>
                                        </p:tgtEl>
                                        <p:attrNameLst>
                                          <p:attrName>style.visibility</p:attrName>
                                        </p:attrNameLst>
                                      </p:cBhvr>
                                      <p:to>
                                        <p:strVal val="visible"/>
                                      </p:to>
                                    </p:set>
                                    <p:anim calcmode="lin" valueType="num">
                                      <p:cBhvr>
                                        <p:cTn id="7" dur="1000" fill="hold"/>
                                        <p:tgtEl>
                                          <p:spTgt spid="137"/>
                                        </p:tgtEl>
                                        <p:attrNameLst>
                                          <p:attrName>ppt_x</p:attrName>
                                        </p:attrNameLst>
                                      </p:cBhvr>
                                      <p:tavLst>
                                        <p:tav tm="0">
                                          <p:val>
                                            <p:strVal val="1+#ppt_w/2"/>
                                          </p:val>
                                        </p:tav>
                                        <p:tav tm="100000">
                                          <p:val>
                                            <p:strVal val="#ppt_x"/>
                                          </p:val>
                                        </p:tav>
                                      </p:tavLst>
                                    </p:anim>
                                    <p:anim calcmode="lin" valueType="num">
                                      <p:cBhvr>
                                        <p:cTn id="8" dur="1000" fill="hold"/>
                                        <p:tgtEl>
                                          <p:spTgt spid="13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4"/>
                                        </p:tgtEl>
                                        <p:attrNameLst>
                                          <p:attrName>style.visibility</p:attrName>
                                        </p:attrNameLst>
                                      </p:cBhvr>
                                      <p:to>
                                        <p:strVal val="visible"/>
                                      </p:to>
                                    </p:set>
                                    <p:animEffect transition="in" filter="dissolve">
                                      <p:cBhvr>
                                        <p:cTn id="12" dur="1000"/>
                                        <p:tgtEl>
                                          <p:spTgt spid="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7" grpId="1" bldLvl="0" animBg="1" advAuto="0"/>
      <p:bldP spid="4" grpId="2"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音响概述"/>
          <p:cNvSpPr txBox="1">
            <a:spLocks noGrp="1"/>
          </p:cNvSpPr>
          <p:nvPr>
            <p:ph type="title"/>
          </p:nvPr>
        </p:nvSpPr>
        <p:spPr>
          <a:xfrm>
            <a:off x="2738755" y="1416685"/>
            <a:ext cx="6713855" cy="726440"/>
          </a:xfrm>
          <a:prstGeom prst="rect">
            <a:avLst/>
          </a:prstGeom>
        </p:spPr>
        <p:txBody>
          <a:bodyPr>
            <a:normAutofit fontScale="90000"/>
          </a:bodyPr>
          <a:lstStyle>
            <a:lvl1pPr>
              <a:defRPr sz="4600">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rPr lang="zh-CN" b="1">
                <a:solidFill>
                  <a:schemeClr val="tx1"/>
                </a:solidFill>
                <a:effectLst>
                  <a:outerShdw blurRad="38100" dist="19050" dir="2700000" algn="tl" rotWithShape="0">
                    <a:schemeClr val="dk1">
                      <a:alpha val="40000"/>
                    </a:schemeClr>
                  </a:outerShdw>
                </a:effectLst>
                <a:sym typeface="宋体" panose="02010600030101010101" pitchFamily="2" charset="-122"/>
              </a:rPr>
              <a:t>三、蒙太奇的功能</a:t>
            </a:r>
            <a:endParaRPr lang="zh-CN" b="1">
              <a:solidFill>
                <a:schemeClr val="tx1"/>
              </a:solidFill>
              <a:effectLst>
                <a:outerShdw blurRad="38100" dist="19050" dir="2700000" algn="tl" rotWithShape="0">
                  <a:schemeClr val="dk1">
                    <a:alpha val="40000"/>
                  </a:schemeClr>
                </a:outerShdw>
              </a:effectLst>
              <a:sym typeface="宋体" panose="02010600030101010101" pitchFamily="2" charset="-122"/>
            </a:endParaRPr>
          </a:p>
        </p:txBody>
      </p:sp>
      <p:sp>
        <p:nvSpPr>
          <p:cNvPr id="183" name="概念：视听艺术作品中除语言及音乐之外的一切自然界及人类活动产生的声音统称“音响”。…"/>
          <p:cNvSpPr txBox="1">
            <a:spLocks noGrp="1"/>
          </p:cNvSpPr>
          <p:nvPr>
            <p:ph type="body" sz="half" idx="1"/>
          </p:nvPr>
        </p:nvSpPr>
        <p:spPr>
          <a:xfrm>
            <a:off x="3787140" y="2021840"/>
            <a:ext cx="7789545" cy="4203065"/>
          </a:xfrm>
          <a:prstGeom prst="rect">
            <a:avLst/>
          </a:prstGeom>
        </p:spPr>
        <p:txBody>
          <a:bodyPr>
            <a:normAutofit fontScale="80000"/>
          </a:bodyPr>
          <a:lstStyle/>
          <a:p>
            <a:pPr marL="457200" indent="-457200" defTabSz="648970">
              <a:spcBef>
                <a:spcPts val="700"/>
              </a:spcBef>
              <a:buAutoNum type="arabicPeriod"/>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457200" indent="-457200" defTabSz="648970">
              <a:lnSpc>
                <a:spcPct val="200000"/>
              </a:lnSpc>
              <a:spcBef>
                <a:spcPts val="700"/>
              </a:spcBef>
              <a:buAutoNum type="arabicPeriod"/>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lang="zh-CN" sz="2800">
                <a:solidFill>
                  <a:srgbClr val="FF0000"/>
                </a:solidFill>
              </a:rPr>
              <a:t>完成叙事：</a:t>
            </a:r>
            <a:r>
              <a:rPr lang="zh-CN" sz="2800">
                <a:solidFill>
                  <a:srgbClr val="FF0000"/>
                </a:solidFill>
                <a:sym typeface="+mn-ea"/>
              </a:rPr>
              <a:t>叙事蒙太奇</a:t>
            </a:r>
            <a:endParaRPr lang="zh-CN" sz="2800">
              <a:solidFill>
                <a:srgbClr val="FF0000"/>
              </a:solidFill>
              <a:sym typeface="+mn-ea"/>
            </a:endParaRPr>
          </a:p>
          <a:p>
            <a:pPr marL="457200" indent="-457200" defTabSz="648970">
              <a:lnSpc>
                <a:spcPct val="200000"/>
              </a:lnSpc>
              <a:spcBef>
                <a:spcPts val="700"/>
              </a:spcBef>
              <a:buAutoNum type="arabicPeriod"/>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lang="zh-CN" sz="2800">
                <a:solidFill>
                  <a:srgbClr val="FF0000"/>
                </a:solidFill>
                <a:sym typeface="+mn-ea"/>
              </a:rPr>
              <a:t>创造意义：表现蒙太奇</a:t>
            </a:r>
            <a:endParaRPr lang="zh-CN" sz="2800">
              <a:solidFill>
                <a:srgbClr val="FF0000"/>
              </a:solidFill>
              <a:sym typeface="+mn-ea"/>
            </a:endParaRPr>
          </a:p>
          <a:p>
            <a:pPr marL="457200" indent="-457200" defTabSz="648970">
              <a:lnSpc>
                <a:spcPct val="200000"/>
              </a:lnSpc>
              <a:spcBef>
                <a:spcPts val="700"/>
              </a:spcBef>
              <a:buAutoNum type="arabicPeriod"/>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lang="zh-CN" sz="2800">
                <a:solidFill>
                  <a:srgbClr val="FF0000"/>
                </a:solidFill>
                <a:sym typeface="+mn-ea"/>
              </a:rPr>
              <a:t>重组电影时空</a:t>
            </a:r>
            <a:endParaRPr lang="zh-CN" sz="2800">
              <a:solidFill>
                <a:srgbClr val="FF0000"/>
              </a:solidFill>
              <a:sym typeface="+mn-ea"/>
            </a:endParaRPr>
          </a:p>
          <a:p>
            <a:pPr marL="457200" indent="-457200" defTabSz="648970">
              <a:lnSpc>
                <a:spcPct val="200000"/>
              </a:lnSpc>
              <a:spcBef>
                <a:spcPts val="700"/>
              </a:spcBef>
              <a:buAutoNum type="arabicPeriod"/>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lang="zh-CN" sz="2800">
                <a:solidFill>
                  <a:srgbClr val="FF0000"/>
                </a:solidFill>
                <a:sym typeface="+mn-ea"/>
              </a:rPr>
              <a:t>创造叙事结构</a:t>
            </a:r>
            <a:endParaRPr lang="zh-CN" sz="2800">
              <a:solidFill>
                <a:srgbClr val="FF0000"/>
              </a:solidFill>
              <a:sym typeface="+mn-ea"/>
            </a:endParaRPr>
          </a:p>
          <a:p>
            <a:pPr marL="457200" indent="-457200" defTabSz="648970">
              <a:lnSpc>
                <a:spcPct val="200000"/>
              </a:lnSpc>
              <a:spcBef>
                <a:spcPts val="700"/>
              </a:spcBef>
              <a:buAutoNum type="arabicPeriod"/>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lang="zh-CN" sz="2800">
                <a:solidFill>
                  <a:srgbClr val="FF0000"/>
                </a:solidFill>
                <a:sym typeface="+mn-ea"/>
              </a:rPr>
              <a:t>创造节奏与韵律</a:t>
            </a:r>
            <a:endParaRPr lang="zh-CN" sz="2800">
              <a:solidFill>
                <a:srgbClr val="FF0000"/>
              </a:solidFill>
              <a:sym typeface="+mn-ea"/>
            </a:endParaRPr>
          </a:p>
          <a:p>
            <a:pPr marL="457200" indent="-457200" defTabSz="648970">
              <a:spcBef>
                <a:spcPts val="700"/>
              </a:spcBef>
              <a:buNone/>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457200" indent="-457200" defTabSz="648970">
              <a:spcBef>
                <a:spcPts val="700"/>
              </a:spcBef>
              <a:buAutoNum type="arabicPeriod"/>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p:txBody>
      </p:sp>
      <p:pic>
        <p:nvPicPr>
          <p:cNvPr id="2" name="image2.png" descr="image2.png"/>
          <p:cNvPicPr>
            <a:picLocks noChangeAspect="1"/>
          </p:cNvPicPr>
          <p:nvPr/>
        </p:nvPicPr>
        <p:blipFill>
          <a:blip r:embed="rId1"/>
          <a:srcRect t="33436" b="43385"/>
          <a:stretch>
            <a:fillRect/>
          </a:stretch>
        </p:blipFill>
        <p:spPr>
          <a:xfrm>
            <a:off x="1019810" y="302895"/>
            <a:ext cx="10658475" cy="762635"/>
          </a:xfrm>
          <a:prstGeom prst="rect">
            <a:avLst/>
          </a:prstGeom>
          <a:ln w="12700">
            <a:miter lim="400000"/>
            <a:headEnd/>
            <a:tailEnd/>
          </a:ln>
        </p:spPr>
      </p:pic>
      <p:sp>
        <p:nvSpPr>
          <p:cNvPr id="137" name="矩形"/>
          <p:cNvSpPr/>
          <p:nvPr/>
        </p:nvSpPr>
        <p:spPr>
          <a:xfrm>
            <a:off x="612775"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3" name="色彩构成"/>
          <p:cNvSpPr txBox="1"/>
          <p:nvPr/>
        </p:nvSpPr>
        <p:spPr>
          <a:xfrm>
            <a:off x="1502410" y="56324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7"/>
                                        </p:tgtEl>
                                        <p:attrNameLst>
                                          <p:attrName>style.visibility</p:attrName>
                                        </p:attrNameLst>
                                      </p:cBhvr>
                                      <p:to>
                                        <p:strVal val="visible"/>
                                      </p:to>
                                    </p:set>
                                    <p:anim calcmode="lin" valueType="num">
                                      <p:cBhvr>
                                        <p:cTn id="7" dur="1000" fill="hold"/>
                                        <p:tgtEl>
                                          <p:spTgt spid="137"/>
                                        </p:tgtEl>
                                        <p:attrNameLst>
                                          <p:attrName>ppt_x</p:attrName>
                                        </p:attrNameLst>
                                      </p:cBhvr>
                                      <p:tavLst>
                                        <p:tav tm="0">
                                          <p:val>
                                            <p:strVal val="1+#ppt_w/2"/>
                                          </p:val>
                                        </p:tav>
                                        <p:tav tm="100000">
                                          <p:val>
                                            <p:strVal val="#ppt_x"/>
                                          </p:val>
                                        </p:tav>
                                      </p:tavLst>
                                    </p:anim>
                                    <p:anim calcmode="lin" valueType="num">
                                      <p:cBhvr>
                                        <p:cTn id="8" dur="1000" fill="hold"/>
                                        <p:tgtEl>
                                          <p:spTgt spid="13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3"/>
                                        </p:tgtEl>
                                        <p:attrNameLst>
                                          <p:attrName>style.visibility</p:attrName>
                                        </p:attrNameLst>
                                      </p:cBhvr>
                                      <p:to>
                                        <p:strVal val="visible"/>
                                      </p:to>
                                    </p:set>
                                    <p:animEffect transition="in" filter="dissolve">
                                      <p:cBhvr>
                                        <p:cTn id="12" dur="1000"/>
                                        <p:tgtEl>
                                          <p:spTgt spid="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7" grpId="1" bldLvl="0" animBg="1" advAuto="0"/>
      <p:bldP spid="3" grpId="2"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二、视听艺术中“声”的三大要素"/>
          <p:cNvSpPr txBox="1">
            <a:spLocks noGrp="1"/>
          </p:cNvSpPr>
          <p:nvPr>
            <p:ph type="title"/>
          </p:nvPr>
        </p:nvSpPr>
        <p:spPr>
          <a:xfrm>
            <a:off x="2626461" y="1065777"/>
            <a:ext cx="8191239" cy="1600203"/>
          </a:xfrm>
          <a:prstGeom prst="rect">
            <a:avLst/>
          </a:prstGeom>
        </p:spPr>
        <p:txBody>
          <a:bodyPr/>
          <a:lstStyle/>
          <a:p>
            <a:pPr>
              <a:defRPr>
                <a:latin typeface="华文楷体" panose="02010600040101010101" charset="-122"/>
                <a:ea typeface="华文楷体" panose="02010600040101010101" charset="-122"/>
                <a:cs typeface="华文楷体" panose="02010600040101010101" charset="-122"/>
                <a:sym typeface="华文楷体" panose="02010600040101010101" charset="-122"/>
              </a:defRPr>
            </a:pPr>
            <a:r>
              <a:rPr lang="zh-CN">
                <a:solidFill>
                  <a:srgbClr val="FF0000"/>
                </a:solidFill>
              </a:rPr>
              <a:t>一</a:t>
            </a:r>
            <a:r>
              <a:rPr>
                <a:solidFill>
                  <a:srgbClr val="FF0000"/>
                </a:solidFill>
              </a:rPr>
              <a:t>、</a:t>
            </a:r>
            <a:r>
              <a:rPr lang="zh-CN">
                <a:solidFill>
                  <a:srgbClr val="FF0000"/>
                </a:solidFill>
                <a:sym typeface="+mn-ea"/>
              </a:rPr>
              <a:t>完成叙事：叙事蒙太奇</a:t>
            </a:r>
            <a:br>
              <a:rPr lang="zh-CN">
                <a:solidFill>
                  <a:srgbClr val="FF0000"/>
                </a:solidFill>
                <a:sym typeface="+mn-ea"/>
              </a:rPr>
            </a:br>
            <a:endParaRPr>
              <a:solidFill>
                <a:srgbClr val="FF0000"/>
              </a:solidFill>
            </a:endParaRPr>
          </a:p>
        </p:txBody>
      </p:sp>
      <p:sp>
        <p:nvSpPr>
          <p:cNvPr id="180" name="音效：给观众真实的带入感。…"/>
          <p:cNvSpPr txBox="1">
            <a:spLocks noGrp="1"/>
          </p:cNvSpPr>
          <p:nvPr>
            <p:ph type="body" sz="half" idx="1"/>
          </p:nvPr>
        </p:nvSpPr>
        <p:spPr>
          <a:xfrm>
            <a:off x="1593215" y="2508885"/>
            <a:ext cx="9006205" cy="4932045"/>
          </a:xfrm>
          <a:prstGeom prst="rect">
            <a:avLst/>
          </a:prstGeom>
        </p:spPr>
        <p:txBody>
          <a:bodyPr/>
          <a:lstStyle/>
          <a:p>
            <a:pPr marL="0" indent="0">
              <a:lnSpc>
                <a:spcPct val="150000"/>
              </a:lnSpc>
              <a:buFontTx/>
              <a:buNone/>
              <a:defRPr sz="28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叙事蒙太奇由美国电影大师格里菲斯率先使用，是影视片中最常用的一种叙事方法</a:t>
            </a:r>
            <a:r>
              <a:rPr lang="zh-CN"/>
              <a:t>。</a:t>
            </a:r>
            <a:r>
              <a:t>它的特征是以交代情节、展示事件为主旨，按照情节发展的时间流程、因果关系来分切组合镜头、场面和段落，从而引导观众理解剧情。这种蒙太奇组接脉络清楚，逻辑连贯，明白易懂。</a:t>
            </a:r>
          </a:p>
        </p:txBody>
      </p:sp>
      <p:pic>
        <p:nvPicPr>
          <p:cNvPr id="2" name="image2.png" descr="image2.png"/>
          <p:cNvPicPr>
            <a:picLocks noChangeAspect="1"/>
          </p:cNvPicPr>
          <p:nvPr/>
        </p:nvPicPr>
        <p:blipFill>
          <a:blip r:embed="rId1"/>
          <a:srcRect t="33436" b="43385"/>
          <a:stretch>
            <a:fillRect/>
          </a:stretch>
        </p:blipFill>
        <p:spPr>
          <a:xfrm>
            <a:off x="1019810" y="302895"/>
            <a:ext cx="10658475" cy="762635"/>
          </a:xfrm>
          <a:prstGeom prst="rect">
            <a:avLst/>
          </a:prstGeom>
          <a:ln w="12700">
            <a:miter lim="400000"/>
            <a:headEnd/>
            <a:tailEnd/>
          </a:ln>
        </p:spPr>
      </p:pic>
      <p:sp>
        <p:nvSpPr>
          <p:cNvPr id="137" name="矩形"/>
          <p:cNvSpPr/>
          <p:nvPr/>
        </p:nvSpPr>
        <p:spPr>
          <a:xfrm>
            <a:off x="612775"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3" name="色彩构成"/>
          <p:cNvSpPr txBox="1"/>
          <p:nvPr/>
        </p:nvSpPr>
        <p:spPr>
          <a:xfrm>
            <a:off x="1502410" y="56324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7"/>
                                        </p:tgtEl>
                                        <p:attrNameLst>
                                          <p:attrName>style.visibility</p:attrName>
                                        </p:attrNameLst>
                                      </p:cBhvr>
                                      <p:to>
                                        <p:strVal val="visible"/>
                                      </p:to>
                                    </p:set>
                                    <p:anim calcmode="lin" valueType="num">
                                      <p:cBhvr>
                                        <p:cTn id="7" dur="1000" fill="hold"/>
                                        <p:tgtEl>
                                          <p:spTgt spid="137"/>
                                        </p:tgtEl>
                                        <p:attrNameLst>
                                          <p:attrName>ppt_x</p:attrName>
                                        </p:attrNameLst>
                                      </p:cBhvr>
                                      <p:tavLst>
                                        <p:tav tm="0">
                                          <p:val>
                                            <p:strVal val="1+#ppt_w/2"/>
                                          </p:val>
                                        </p:tav>
                                        <p:tav tm="100000">
                                          <p:val>
                                            <p:strVal val="#ppt_x"/>
                                          </p:val>
                                        </p:tav>
                                      </p:tavLst>
                                    </p:anim>
                                    <p:anim calcmode="lin" valueType="num">
                                      <p:cBhvr>
                                        <p:cTn id="8" dur="1000" fill="hold"/>
                                        <p:tgtEl>
                                          <p:spTgt spid="13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3"/>
                                        </p:tgtEl>
                                        <p:attrNameLst>
                                          <p:attrName>style.visibility</p:attrName>
                                        </p:attrNameLst>
                                      </p:cBhvr>
                                      <p:to>
                                        <p:strVal val="visible"/>
                                      </p:to>
                                    </p:set>
                                    <p:animEffect transition="in" filter="dissolve">
                                      <p:cBhvr>
                                        <p:cTn id="12" dur="1000"/>
                                        <p:tgtEl>
                                          <p:spTgt spid="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7" grpId="1" bldLvl="0" animBg="1" advAuto="0"/>
      <p:bldP spid="3" grpId="2"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音效认识的误区（不成熟的音响观念）"/>
          <p:cNvSpPr txBox="1">
            <a:spLocks noGrp="1"/>
          </p:cNvSpPr>
          <p:nvPr>
            <p:ph type="title"/>
          </p:nvPr>
        </p:nvSpPr>
        <p:spPr>
          <a:xfrm>
            <a:off x="1867535" y="3055620"/>
            <a:ext cx="3823970" cy="747395"/>
          </a:xfrm>
          <a:prstGeom prst="rect">
            <a:avLst/>
          </a:prstGeom>
        </p:spPr>
        <p:txBody>
          <a:bodyPr/>
          <a:lstStyle>
            <a:lvl1pPr>
              <a:defRPr>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rPr lang="zh-CN">
                <a:solidFill>
                  <a:srgbClr val="FF0000"/>
                </a:solidFill>
                <a:sym typeface="+mn-ea"/>
              </a:rPr>
              <a:t>叙事蒙太奇</a:t>
            </a:r>
            <a:endParaRPr lang="zh-CN">
              <a:solidFill>
                <a:srgbClr val="FF0000"/>
              </a:solidFill>
              <a:sym typeface="+mn-ea"/>
            </a:endParaRPr>
          </a:p>
        </p:txBody>
      </p:sp>
      <p:sp>
        <p:nvSpPr>
          <p:cNvPr id="186" name="音乐替代音响的功能…"/>
          <p:cNvSpPr txBox="1">
            <a:spLocks noGrp="1"/>
          </p:cNvSpPr>
          <p:nvPr>
            <p:ph type="body" sz="half" idx="1"/>
          </p:nvPr>
        </p:nvSpPr>
        <p:spPr>
          <a:xfrm>
            <a:off x="4883150" y="2268220"/>
            <a:ext cx="5429250" cy="3578225"/>
          </a:xfrm>
          <a:prstGeom prst="rect">
            <a:avLst/>
          </a:prstGeom>
        </p:spPr>
        <p:txBody>
          <a:bodyPr>
            <a:normAutofit lnSpcReduction="10000"/>
          </a:bodyPr>
          <a:lstStyle/>
          <a:p>
            <a:pPr marL="237490" indent="-237490" defTabSz="795655">
              <a:lnSpc>
                <a:spcPct val="150000"/>
              </a:lnSpc>
              <a:spcBef>
                <a:spcPts val="800"/>
              </a:spcBef>
              <a:buSzTx/>
              <a:buNone/>
              <a:defRPr sz="2700"/>
            </a:pPr>
            <a:r>
              <a:t>1.</a:t>
            </a:r>
            <a:r>
              <a:rPr>
                <a:sym typeface="+mn-ea"/>
              </a:rPr>
              <a:t>连续</a:t>
            </a:r>
            <a:r>
              <a:rPr lang="zh-CN">
                <a:sym typeface="+mn-ea"/>
              </a:rPr>
              <a:t>式</a:t>
            </a:r>
            <a:r>
              <a:rPr>
                <a:sym typeface="+mn-ea"/>
              </a:rPr>
              <a:t>蒙太奇</a:t>
            </a:r>
            <a:r>
              <a:t>   </a:t>
            </a:r>
            <a:endParaRPr sz="1700">
              <a:solidFill>
                <a:srgbClr val="C00000"/>
              </a:solidFill>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0" indent="0" defTabSz="795655">
              <a:lnSpc>
                <a:spcPct val="150000"/>
              </a:lnSpc>
              <a:spcBef>
                <a:spcPts val="800"/>
              </a:spcBef>
              <a:buNone/>
              <a:defRPr sz="2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lang="en-US"/>
              <a:t>2</a:t>
            </a:r>
            <a:r>
              <a:t>.</a:t>
            </a:r>
            <a:r>
              <a:rPr>
                <a:sym typeface="+mn-ea"/>
              </a:rPr>
              <a:t>平行</a:t>
            </a:r>
            <a:r>
              <a:rPr lang="zh-CN">
                <a:sym typeface="+mn-ea"/>
              </a:rPr>
              <a:t>式</a:t>
            </a:r>
            <a:r>
              <a:rPr>
                <a:sym typeface="+mn-ea"/>
              </a:rPr>
              <a:t>蒙太奇</a:t>
            </a:r>
            <a:endParaRPr>
              <a:sym typeface="+mn-ea"/>
            </a:endParaRPr>
          </a:p>
          <a:p>
            <a:pPr marL="0" indent="0" defTabSz="795655">
              <a:lnSpc>
                <a:spcPct val="150000"/>
              </a:lnSpc>
              <a:spcBef>
                <a:spcPts val="800"/>
              </a:spcBef>
              <a:buNone/>
              <a:defRPr sz="2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lang="en-US">
                <a:sym typeface="+mn-ea"/>
              </a:rPr>
              <a:t>3</a:t>
            </a:r>
            <a:r>
              <a:rPr>
                <a:sym typeface="+mn-ea"/>
              </a:rPr>
              <a:t>.交叉</a:t>
            </a:r>
            <a:r>
              <a:rPr lang="zh-CN">
                <a:sym typeface="+mn-ea"/>
              </a:rPr>
              <a:t>式</a:t>
            </a:r>
            <a:r>
              <a:rPr>
                <a:sym typeface="+mn-ea"/>
              </a:rPr>
              <a:t>蒙太奇  </a:t>
            </a:r>
            <a:endParaRPr>
              <a:sym typeface="+mn-ea"/>
            </a:endParaRPr>
          </a:p>
          <a:p>
            <a:pPr marL="0" indent="0" defTabSz="795655">
              <a:lnSpc>
                <a:spcPct val="150000"/>
              </a:lnSpc>
              <a:spcBef>
                <a:spcPts val="800"/>
              </a:spcBef>
              <a:buNone/>
              <a:defRPr sz="2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a:sym typeface="+mn-ea"/>
              </a:rPr>
              <a:t> </a:t>
            </a:r>
            <a:r>
              <a:rPr lang="en-US"/>
              <a:t>4</a:t>
            </a:r>
            <a:r>
              <a:t>.</a:t>
            </a:r>
            <a:r>
              <a:rPr lang="zh-CN"/>
              <a:t>累积式</a:t>
            </a:r>
            <a:r>
              <a:t>蒙太奇</a:t>
            </a:r>
          </a:p>
          <a:p>
            <a:pPr marL="0" indent="0" defTabSz="795655">
              <a:lnSpc>
                <a:spcPct val="150000"/>
              </a:lnSpc>
              <a:spcBef>
                <a:spcPts val="800"/>
              </a:spcBef>
              <a:buNone/>
              <a:defRPr sz="2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lang="en-US" altLang="zh-CN"/>
              <a:t>5 </a:t>
            </a:r>
            <a:r>
              <a:rPr lang="zh-CN" altLang="en-US"/>
              <a:t>重复式</a:t>
            </a:r>
            <a:r>
              <a:rPr>
                <a:sym typeface="+mn-ea"/>
              </a:rPr>
              <a:t>蒙太奇</a:t>
            </a:r>
            <a:endParaRPr lang="zh-CN" altLang="en-US"/>
          </a:p>
        </p:txBody>
      </p:sp>
      <p:pic>
        <p:nvPicPr>
          <p:cNvPr id="2" name="image2.png" descr="image2.png"/>
          <p:cNvPicPr>
            <a:picLocks noChangeAspect="1"/>
          </p:cNvPicPr>
          <p:nvPr/>
        </p:nvPicPr>
        <p:blipFill>
          <a:blip r:embed="rId1"/>
          <a:srcRect t="33436" b="43385"/>
          <a:stretch>
            <a:fillRect/>
          </a:stretch>
        </p:blipFill>
        <p:spPr>
          <a:xfrm>
            <a:off x="1019810" y="302895"/>
            <a:ext cx="10658475" cy="762635"/>
          </a:xfrm>
          <a:prstGeom prst="rect">
            <a:avLst/>
          </a:prstGeom>
          <a:ln w="12700">
            <a:miter lim="400000"/>
            <a:headEnd/>
            <a:tailEnd/>
          </a:ln>
        </p:spPr>
      </p:pic>
      <p:sp>
        <p:nvSpPr>
          <p:cNvPr id="137" name="矩形"/>
          <p:cNvSpPr/>
          <p:nvPr/>
        </p:nvSpPr>
        <p:spPr>
          <a:xfrm>
            <a:off x="612775"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3" name="色彩构成"/>
          <p:cNvSpPr txBox="1"/>
          <p:nvPr/>
        </p:nvSpPr>
        <p:spPr>
          <a:xfrm>
            <a:off x="1502410" y="56324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7"/>
                                        </p:tgtEl>
                                        <p:attrNameLst>
                                          <p:attrName>style.visibility</p:attrName>
                                        </p:attrNameLst>
                                      </p:cBhvr>
                                      <p:to>
                                        <p:strVal val="visible"/>
                                      </p:to>
                                    </p:set>
                                    <p:anim calcmode="lin" valueType="num">
                                      <p:cBhvr>
                                        <p:cTn id="7" dur="1000" fill="hold"/>
                                        <p:tgtEl>
                                          <p:spTgt spid="137"/>
                                        </p:tgtEl>
                                        <p:attrNameLst>
                                          <p:attrName>ppt_x</p:attrName>
                                        </p:attrNameLst>
                                      </p:cBhvr>
                                      <p:tavLst>
                                        <p:tav tm="0">
                                          <p:val>
                                            <p:strVal val="1+#ppt_w/2"/>
                                          </p:val>
                                        </p:tav>
                                        <p:tav tm="100000">
                                          <p:val>
                                            <p:strVal val="#ppt_x"/>
                                          </p:val>
                                        </p:tav>
                                      </p:tavLst>
                                    </p:anim>
                                    <p:anim calcmode="lin" valueType="num">
                                      <p:cBhvr>
                                        <p:cTn id="8" dur="1000" fill="hold"/>
                                        <p:tgtEl>
                                          <p:spTgt spid="13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3"/>
                                        </p:tgtEl>
                                        <p:attrNameLst>
                                          <p:attrName>style.visibility</p:attrName>
                                        </p:attrNameLst>
                                      </p:cBhvr>
                                      <p:to>
                                        <p:strVal val="visible"/>
                                      </p:to>
                                    </p:set>
                                    <p:animEffect transition="in" filter="dissolve">
                                      <p:cBhvr>
                                        <p:cTn id="12" dur="1000"/>
                                        <p:tgtEl>
                                          <p:spTgt spid="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7" grpId="1" bldLvl="0" animBg="1" advAuto="0"/>
      <p:bldP spid="3" grpId="2"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5351" y="450360"/>
            <a:ext cx="6490403" cy="1592705"/>
          </a:xfrm>
        </p:spPr>
        <p:txBody>
          <a:bodyPr>
            <a:normAutofit/>
          </a:bodyPr>
          <a:lstStyle/>
          <a:p>
            <a:r>
              <a:rPr>
                <a:sym typeface="+mn-ea"/>
              </a:rPr>
              <a:t>连续</a:t>
            </a:r>
            <a:r>
              <a:rPr lang="zh-CN">
                <a:sym typeface="+mn-ea"/>
              </a:rPr>
              <a:t>式</a:t>
            </a:r>
            <a:r>
              <a:rPr>
                <a:sym typeface="+mn-ea"/>
              </a:rPr>
              <a:t>蒙太奇</a:t>
            </a:r>
            <a:br>
              <a:rPr lang="en-US" altLang="zh-CN" b="1" dirty="0">
                <a:solidFill>
                  <a:srgbClr val="FF0000"/>
                </a:solidFill>
                <a:latin typeface="宋体" panose="02010600030101010101" pitchFamily="2" charset="-122"/>
                <a:ea typeface="宋体" panose="02010600030101010101" pitchFamily="2" charset="-122"/>
              </a:rPr>
            </a:br>
            <a:endParaRPr lang="zh-CN" altLang="en-US" sz="1200" dirty="0">
              <a:solidFill>
                <a:schemeClr val="tx1"/>
              </a:solidFill>
              <a:latin typeface="宋体" panose="02010600030101010101" pitchFamily="2" charset="-122"/>
              <a:ea typeface="宋体" panose="02010600030101010101" pitchFamily="2" charset="-122"/>
            </a:endParaRPr>
          </a:p>
        </p:txBody>
      </p:sp>
      <p:pic>
        <p:nvPicPr>
          <p:cNvPr id="5" name="图片占位符 4"/>
          <p:cNvPicPr>
            <a:picLocks noGrp="1" noChangeAspect="1"/>
          </p:cNvPicPr>
          <p:nvPr>
            <p:ph type="pic" sz="half" idx="13"/>
          </p:nvPr>
        </p:nvPicPr>
        <p:blipFill>
          <a:blip r:embed="rId1" cstate="print">
            <a:extLst>
              <a:ext uri="{28A0092B-C50C-407E-A947-70E740481C1C}">
                <a14:useLocalDpi xmlns:a14="http://schemas.microsoft.com/office/drawing/2010/main" val="0"/>
              </a:ext>
            </a:extLst>
          </a:blip>
          <a:srcRect l="2583" r="2583"/>
          <a:stretch>
            <a:fillRect/>
          </a:stretch>
        </p:blipFill>
        <p:spPr>
          <a:xfrm>
            <a:off x="7848130" y="681615"/>
            <a:ext cx="3830255" cy="6176404"/>
          </a:xfrm>
        </p:spPr>
      </p:pic>
      <p:sp>
        <p:nvSpPr>
          <p:cNvPr id="4" name="文本占位符 3"/>
          <p:cNvSpPr>
            <a:spLocks noGrp="1"/>
          </p:cNvSpPr>
          <p:nvPr>
            <p:ph type="body" sz="quarter" idx="1"/>
          </p:nvPr>
        </p:nvSpPr>
        <p:spPr>
          <a:xfrm>
            <a:off x="990600" y="2138680"/>
            <a:ext cx="6338570" cy="4024630"/>
          </a:xfrm>
        </p:spPr>
        <p:txBody>
          <a:bodyPr>
            <a:noAutofit/>
          </a:bodyPr>
          <a:lstStyle/>
          <a:p>
            <a:pPr marL="285750" indent="-285750">
              <a:lnSpc>
                <a:spcPct val="150000"/>
              </a:lnSpc>
              <a:buFont typeface="Arial" panose="020B0604020202090204" pitchFamily="34" charset="0"/>
              <a:buChar char="•"/>
            </a:pPr>
            <a:r>
              <a:rPr sz="1800" dirty="0"/>
              <a:t>沿着一条单一的情节线索，按照</a:t>
            </a:r>
            <a:r>
              <a:rPr lang="zh-CN" sz="1800" dirty="0"/>
              <a:t>时间顺序进行镜头的组接，保持时空关系的完整性和</a:t>
            </a:r>
            <a:r>
              <a:rPr sz="1800" dirty="0"/>
              <a:t>事件的逻辑顺序，有节奏地连续叙事。</a:t>
            </a:r>
            <a:r>
              <a:rPr lang="zh-CN" sz="1800" dirty="0"/>
              <a:t>它</a:t>
            </a:r>
            <a:r>
              <a:rPr sz="1800" dirty="0"/>
              <a:t>叙事自然流畅，朴实平顺</a:t>
            </a:r>
            <a:r>
              <a:rPr lang="zh-CN" sz="1800" dirty="0">
                <a:ea typeface="宋体" charset="0"/>
              </a:rPr>
              <a:t>。最常见的一种剪辑方式。</a:t>
            </a:r>
            <a:endParaRPr lang="zh-CN" sz="1800" dirty="0">
              <a:ea typeface="宋体" charset="0"/>
            </a:endParaRPr>
          </a:p>
          <a:p>
            <a:pPr marL="285750" indent="-285750">
              <a:lnSpc>
                <a:spcPct val="150000"/>
              </a:lnSpc>
              <a:buFont typeface="Arial" panose="020B0604020202090204" pitchFamily="34" charset="0"/>
              <a:buChar char="•"/>
            </a:pPr>
            <a:r>
              <a:rPr sz="1800" dirty="0"/>
              <a:t>但由于缺乏时空与场面的变换，无法直接展示同时发生的情节，难于突出各条情节线之间的对列关系，不利于概括，易有拖沓冗长，平铺直叙之感。因此，在一部影片中绝少单独使用，多与平行、交叉蒙太奇手交混使用，相辅相成。</a:t>
            </a:r>
            <a:endParaRPr sz="1800" dirty="0"/>
          </a:p>
        </p:txBody>
      </p:sp>
      <p:pic>
        <p:nvPicPr>
          <p:cNvPr id="3" name="image2.png" descr="image2.png"/>
          <p:cNvPicPr>
            <a:picLocks noChangeAspect="1"/>
          </p:cNvPicPr>
          <p:nvPr/>
        </p:nvPicPr>
        <p:blipFill>
          <a:blip r:embed="rId2"/>
          <a:srcRect t="33436" b="43385"/>
          <a:stretch>
            <a:fillRect/>
          </a:stretch>
        </p:blipFill>
        <p:spPr>
          <a:xfrm>
            <a:off x="1019810" y="317500"/>
            <a:ext cx="10658475" cy="762635"/>
          </a:xfrm>
          <a:prstGeom prst="rect">
            <a:avLst/>
          </a:prstGeom>
          <a:ln w="12700">
            <a:miter lim="400000"/>
            <a:headEnd/>
            <a:tailEnd/>
          </a:ln>
        </p:spPr>
      </p:pic>
      <p:sp>
        <p:nvSpPr>
          <p:cNvPr id="137" name="矩形"/>
          <p:cNvSpPr/>
          <p:nvPr/>
        </p:nvSpPr>
        <p:spPr>
          <a:xfrm>
            <a:off x="598170"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6" name="色彩构成"/>
          <p:cNvSpPr txBox="1"/>
          <p:nvPr/>
        </p:nvSpPr>
        <p:spPr>
          <a:xfrm>
            <a:off x="1487805" y="56324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7"/>
                                        </p:tgtEl>
                                        <p:attrNameLst>
                                          <p:attrName>style.visibility</p:attrName>
                                        </p:attrNameLst>
                                      </p:cBhvr>
                                      <p:to>
                                        <p:strVal val="visible"/>
                                      </p:to>
                                    </p:set>
                                    <p:anim calcmode="lin" valueType="num">
                                      <p:cBhvr>
                                        <p:cTn id="7" dur="1000" fill="hold"/>
                                        <p:tgtEl>
                                          <p:spTgt spid="137"/>
                                        </p:tgtEl>
                                        <p:attrNameLst>
                                          <p:attrName>ppt_x</p:attrName>
                                        </p:attrNameLst>
                                      </p:cBhvr>
                                      <p:tavLst>
                                        <p:tav tm="0">
                                          <p:val>
                                            <p:strVal val="1+#ppt_w/2"/>
                                          </p:val>
                                        </p:tav>
                                        <p:tav tm="100000">
                                          <p:val>
                                            <p:strVal val="#ppt_x"/>
                                          </p:val>
                                        </p:tav>
                                      </p:tavLst>
                                    </p:anim>
                                    <p:anim calcmode="lin" valueType="num">
                                      <p:cBhvr>
                                        <p:cTn id="8" dur="1000" fill="hold"/>
                                        <p:tgtEl>
                                          <p:spTgt spid="13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6"/>
                                        </p:tgtEl>
                                        <p:attrNameLst>
                                          <p:attrName>style.visibility</p:attrName>
                                        </p:attrNameLst>
                                      </p:cBhvr>
                                      <p:to>
                                        <p:strVal val="visible"/>
                                      </p:to>
                                    </p:set>
                                    <p:animEffect transition="in" filter="dissolve">
                                      <p:cBhvr>
                                        <p:cTn id="12" dur="1000"/>
                                        <p:tgtEl>
                                          <p:spTgt spid="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7" grpId="1" bldLvl="0" animBg="1" advAuto="0"/>
      <p:bldP spid="6" grpId="2"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5351" y="450360"/>
            <a:ext cx="6490403" cy="1592705"/>
          </a:xfrm>
        </p:spPr>
        <p:txBody>
          <a:bodyPr>
            <a:normAutofit/>
          </a:bodyPr>
          <a:lstStyle/>
          <a:p>
            <a:r>
              <a:rPr>
                <a:sym typeface="+mn-ea"/>
              </a:rPr>
              <a:t>平行</a:t>
            </a:r>
            <a:r>
              <a:rPr lang="zh-CN">
                <a:ea typeface="宋体" panose="02010600030101010101" pitchFamily="2" charset="-122"/>
                <a:sym typeface="+mn-ea"/>
              </a:rPr>
              <a:t>式</a:t>
            </a:r>
            <a:r>
              <a:rPr>
                <a:sym typeface="+mn-ea"/>
              </a:rPr>
              <a:t>蒙太奇</a:t>
            </a:r>
            <a:br>
              <a:rPr lang="en-US" altLang="zh-CN" b="1" dirty="0">
                <a:solidFill>
                  <a:srgbClr val="FF0000"/>
                </a:solidFill>
                <a:latin typeface="宋体" panose="02010600030101010101" pitchFamily="2" charset="-122"/>
                <a:ea typeface="宋体" panose="02010600030101010101" pitchFamily="2" charset="-122"/>
              </a:rPr>
            </a:b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 name="文本占位符 3"/>
          <p:cNvSpPr>
            <a:spLocks noGrp="1"/>
          </p:cNvSpPr>
          <p:nvPr>
            <p:ph type="body" sz="quarter" idx="1"/>
          </p:nvPr>
        </p:nvSpPr>
        <p:spPr>
          <a:xfrm>
            <a:off x="842645" y="2148840"/>
            <a:ext cx="6296025" cy="4285615"/>
          </a:xfrm>
        </p:spPr>
        <p:txBody>
          <a:bodyPr>
            <a:normAutofit/>
          </a:bodyPr>
          <a:lstStyle/>
          <a:p>
            <a:pPr>
              <a:lnSpc>
                <a:spcPct val="150000"/>
              </a:lnSpc>
            </a:pPr>
            <a:r>
              <a:rPr dirty="0"/>
              <a:t>这种蒙太奇常以不同时空(或同时异地)发生的两条或两条以上的情节线并列表现，分头叙述而统一在一个完整的结构之中。格里菲斯、希区柯克都是极善于运用这种蒙太奇的大师。平行蒙太奇应用广泛</a:t>
            </a:r>
            <a:r>
              <a:rPr lang="zh-CN" dirty="0">
                <a:ea typeface="宋体" charset="0"/>
              </a:rPr>
              <a:t>。</a:t>
            </a:r>
            <a:endParaRPr dirty="0"/>
          </a:p>
          <a:p>
            <a:pPr>
              <a:lnSpc>
                <a:spcPct val="150000"/>
              </a:lnSpc>
            </a:pPr>
            <a:r>
              <a:rPr lang="en-US" dirty="0"/>
              <a:t>1</a:t>
            </a:r>
            <a:r>
              <a:rPr lang="zh-CN" altLang="en-US" dirty="0">
                <a:ea typeface="宋体" charset="0"/>
              </a:rPr>
              <a:t>、</a:t>
            </a:r>
            <a:r>
              <a:rPr lang="zh-CN" altLang="en-US" dirty="0">
                <a:ln w="22225">
                  <a:solidFill>
                    <a:schemeClr val="accent2"/>
                  </a:solidFill>
                  <a:prstDash val="solid"/>
                </a:ln>
                <a:solidFill>
                  <a:schemeClr val="accent2">
                    <a:lumMod val="40000"/>
                    <a:lumOff val="60000"/>
                  </a:schemeClr>
                </a:solidFill>
                <a:effectLst/>
                <a:ea typeface="宋体" charset="0"/>
              </a:rPr>
              <a:t>同时异地</a:t>
            </a:r>
            <a:r>
              <a:rPr lang="zh-CN" altLang="en-US" dirty="0">
                <a:ea typeface="宋体" charset="0"/>
              </a:rPr>
              <a:t>，平行情节线，比较常用。</a:t>
            </a:r>
            <a:r>
              <a:rPr dirty="0">
                <a:sym typeface="+mn-ea"/>
              </a:rPr>
              <a:t>如影片《南征北战》中，导演用平行蒙太奇表现敌我双方抢占摩天岭的场面，造成了紧张的节奏扣人心弦。</a:t>
            </a:r>
            <a:r>
              <a:rPr lang="zh-CN" altLang="en-US" dirty="0">
                <a:ea typeface="宋体" charset="0"/>
              </a:rPr>
              <a:t>《八佰》、《向左走、向右走》</a:t>
            </a:r>
            <a:r>
              <a:rPr lang="en-US" altLang="zh-CN" dirty="0">
                <a:ea typeface="宋体" charset="0"/>
              </a:rPr>
              <a:t>2003</a:t>
            </a:r>
            <a:r>
              <a:rPr lang="zh-CN" altLang="en-US" dirty="0">
                <a:ea typeface="宋体" charset="0"/>
              </a:rPr>
              <a:t>年。</a:t>
            </a:r>
            <a:endParaRPr dirty="0"/>
          </a:p>
          <a:p>
            <a:pPr>
              <a:lnSpc>
                <a:spcPct val="150000"/>
              </a:lnSpc>
            </a:pPr>
            <a:r>
              <a:rPr lang="en-US" dirty="0"/>
              <a:t>2</a:t>
            </a:r>
            <a:r>
              <a:rPr lang="zh-CN" altLang="en-US" dirty="0">
                <a:ea typeface="宋体" charset="0"/>
              </a:rPr>
              <a:t>、</a:t>
            </a:r>
            <a:r>
              <a:rPr lang="zh-CN" dirty="0">
                <a:ln w="22225">
                  <a:solidFill>
                    <a:schemeClr val="accent2"/>
                  </a:solidFill>
                  <a:prstDash val="solid"/>
                </a:ln>
                <a:solidFill>
                  <a:schemeClr val="accent2">
                    <a:lumMod val="40000"/>
                    <a:lumOff val="60000"/>
                  </a:schemeClr>
                </a:solidFill>
                <a:effectLst/>
              </a:rPr>
              <a:t>异时异地</a:t>
            </a:r>
            <a:r>
              <a:rPr dirty="0"/>
              <a:t>，</a:t>
            </a:r>
            <a:r>
              <a:rPr lang="zh-CN" dirty="0"/>
              <a:t>平时情节线。如《党同伐异》、《云图》</a:t>
            </a:r>
            <a:r>
              <a:rPr lang="en-US" altLang="zh-CN" dirty="0"/>
              <a:t>2012</a:t>
            </a:r>
            <a:r>
              <a:rPr lang="zh-CN" dirty="0"/>
              <a:t>票房惨败</a:t>
            </a:r>
            <a:r>
              <a:rPr dirty="0"/>
              <a:t>。</a:t>
            </a:r>
            <a:r>
              <a:rPr lang="zh-CN" dirty="0">
                <a:ea typeface="宋体" charset="0"/>
              </a:rPr>
              <a:t>《无问西东》</a:t>
            </a:r>
            <a:r>
              <a:rPr lang="en-US" altLang="zh-CN" dirty="0">
                <a:ea typeface="宋体" charset="0"/>
              </a:rPr>
              <a:t>2018</a:t>
            </a:r>
            <a:r>
              <a:rPr lang="zh-CN" altLang="en-US" dirty="0">
                <a:ea typeface="宋体" charset="0"/>
              </a:rPr>
              <a:t>年</a:t>
            </a:r>
            <a:endParaRPr lang="zh-CN" altLang="en-US" dirty="0">
              <a:ea typeface="宋体" charset="0"/>
            </a:endParaRPr>
          </a:p>
        </p:txBody>
      </p:sp>
      <p:pic>
        <p:nvPicPr>
          <p:cNvPr id="3" name="image2.png" descr="image2.png"/>
          <p:cNvPicPr>
            <a:picLocks noChangeAspect="1"/>
          </p:cNvPicPr>
          <p:nvPr/>
        </p:nvPicPr>
        <p:blipFill>
          <a:blip r:embed="rId1"/>
          <a:srcRect t="33436" b="43385"/>
          <a:stretch>
            <a:fillRect/>
          </a:stretch>
        </p:blipFill>
        <p:spPr>
          <a:xfrm>
            <a:off x="1019810" y="317500"/>
            <a:ext cx="10658475" cy="762635"/>
          </a:xfrm>
          <a:prstGeom prst="rect">
            <a:avLst/>
          </a:prstGeom>
          <a:ln w="12700">
            <a:miter lim="400000"/>
            <a:headEnd/>
            <a:tailEnd/>
          </a:ln>
        </p:spPr>
      </p:pic>
      <p:sp>
        <p:nvSpPr>
          <p:cNvPr id="137" name="矩形"/>
          <p:cNvSpPr/>
          <p:nvPr/>
        </p:nvSpPr>
        <p:spPr>
          <a:xfrm>
            <a:off x="598170"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6" name="色彩构成"/>
          <p:cNvSpPr txBox="1"/>
          <p:nvPr/>
        </p:nvSpPr>
        <p:spPr>
          <a:xfrm>
            <a:off x="1487805" y="56324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pic>
        <p:nvPicPr>
          <p:cNvPr id="8" name="图片 7" descr="13181607482939_.pic_hd"/>
          <p:cNvPicPr>
            <a:picLocks noChangeAspect="1"/>
          </p:cNvPicPr>
          <p:nvPr/>
        </p:nvPicPr>
        <p:blipFill>
          <a:blip r:embed="rId2"/>
          <a:stretch>
            <a:fillRect/>
          </a:stretch>
        </p:blipFill>
        <p:spPr>
          <a:xfrm>
            <a:off x="7328535" y="1281430"/>
            <a:ext cx="3752850" cy="5066030"/>
          </a:xfrm>
          <a:prstGeom prst="rect">
            <a:avLst/>
          </a:prstGeom>
        </p:spPr>
      </p:pic>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7"/>
                                        </p:tgtEl>
                                        <p:attrNameLst>
                                          <p:attrName>style.visibility</p:attrName>
                                        </p:attrNameLst>
                                      </p:cBhvr>
                                      <p:to>
                                        <p:strVal val="visible"/>
                                      </p:to>
                                    </p:set>
                                    <p:anim calcmode="lin" valueType="num">
                                      <p:cBhvr>
                                        <p:cTn id="7" dur="1000" fill="hold"/>
                                        <p:tgtEl>
                                          <p:spTgt spid="137"/>
                                        </p:tgtEl>
                                        <p:attrNameLst>
                                          <p:attrName>ppt_x</p:attrName>
                                        </p:attrNameLst>
                                      </p:cBhvr>
                                      <p:tavLst>
                                        <p:tav tm="0">
                                          <p:val>
                                            <p:strVal val="1+#ppt_w/2"/>
                                          </p:val>
                                        </p:tav>
                                        <p:tav tm="100000">
                                          <p:val>
                                            <p:strVal val="#ppt_x"/>
                                          </p:val>
                                        </p:tav>
                                      </p:tavLst>
                                    </p:anim>
                                    <p:anim calcmode="lin" valueType="num">
                                      <p:cBhvr>
                                        <p:cTn id="8" dur="1000" fill="hold"/>
                                        <p:tgtEl>
                                          <p:spTgt spid="13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6"/>
                                        </p:tgtEl>
                                        <p:attrNameLst>
                                          <p:attrName>style.visibility</p:attrName>
                                        </p:attrNameLst>
                                      </p:cBhvr>
                                      <p:to>
                                        <p:strVal val="visible"/>
                                      </p:to>
                                    </p:set>
                                    <p:animEffect transition="in" filter="dissolve">
                                      <p:cBhvr>
                                        <p:cTn id="12" dur="1000"/>
                                        <p:tgtEl>
                                          <p:spTgt spid="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7" grpId="1" bldLvl="0" animBg="1" advAuto="0"/>
      <p:bldP spid="6" grpId="2"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光圈"/>
          <p:cNvSpPr txBox="1"/>
          <p:nvPr/>
        </p:nvSpPr>
        <p:spPr>
          <a:xfrm>
            <a:off x="5584110" y="5917854"/>
            <a:ext cx="5808707" cy="369570"/>
          </a:xfrm>
          <a:prstGeom prst="rect">
            <a:avLst/>
          </a:prstGeom>
          <a:ln w="12700">
            <a:miter lim="400000"/>
          </a:ln>
        </p:spPr>
        <p:txBody>
          <a:bodyPr lIns="34287" tIns="34287" rIns="34287" bIns="34287">
            <a:spAutoFit/>
          </a:bodyPr>
          <a:lstStyle>
            <a:lvl1pPr algn="ctr">
              <a:defRPr sz="2800">
                <a:latin typeface="微软雅黑"/>
                <a:ea typeface="微软雅黑"/>
                <a:cs typeface="微软雅黑"/>
                <a:sym typeface="微软雅黑"/>
              </a:defRPr>
            </a:lvl1pPr>
          </a:lstStyle>
          <a:p>
            <a:r>
              <a:rPr sz="1970"/>
              <a:t>看电影</a:t>
            </a:r>
            <a:endParaRPr sz="1970"/>
          </a:p>
        </p:txBody>
      </p:sp>
      <p:grpSp>
        <p:nvGrpSpPr>
          <p:cNvPr id="249" name="成组"/>
          <p:cNvGrpSpPr/>
          <p:nvPr/>
        </p:nvGrpSpPr>
        <p:grpSpPr>
          <a:xfrm>
            <a:off x="1242992" y="528318"/>
            <a:ext cx="3840498" cy="500380"/>
            <a:chOff x="-1" y="-2"/>
            <a:chExt cx="5462039" cy="711650"/>
          </a:xfrm>
        </p:grpSpPr>
        <p:sp>
          <p:nvSpPr>
            <p:cNvPr id="247" name="矩形"/>
            <p:cNvSpPr/>
            <p:nvPr/>
          </p:nvSpPr>
          <p:spPr>
            <a:xfrm>
              <a:off x="-1" y="16373"/>
              <a:ext cx="1048159" cy="497420"/>
            </a:xfrm>
            <a:prstGeom prst="rect">
              <a:avLst/>
            </a:prstGeom>
            <a:solidFill>
              <a:schemeClr val="accent1"/>
            </a:solidFill>
            <a:ln w="12700" cap="flat">
              <a:noFill/>
              <a:miter lim="400000"/>
            </a:ln>
            <a:effectLst/>
          </p:spPr>
          <p:txBody>
            <a:bodyPr wrap="square" lIns="34287" tIns="34287" rIns="34287" bIns="34287" numCol="1" anchor="ctr">
              <a:noAutofit/>
            </a:bodyPr>
            <a:lstStyle/>
            <a:p>
              <a:pPr algn="ctr">
                <a:defRPr>
                  <a:solidFill>
                    <a:srgbClr val="FFFFFF"/>
                  </a:solidFill>
                </a:defRPr>
              </a:pPr>
              <a:endParaRPr sz="1265"/>
            </a:p>
          </p:txBody>
        </p:sp>
        <p:sp>
          <p:nvSpPr>
            <p:cNvPr id="248" name="影像的分享…"/>
            <p:cNvSpPr txBox="1"/>
            <p:nvPr/>
          </p:nvSpPr>
          <p:spPr>
            <a:xfrm>
              <a:off x="1048150" y="-2"/>
              <a:ext cx="4413888" cy="711650"/>
            </a:xfrm>
            <a:prstGeom prst="rect">
              <a:avLst/>
            </a:prstGeom>
            <a:noFill/>
            <a:ln w="12700" cap="flat">
              <a:noFill/>
              <a:miter lim="400000"/>
            </a:ln>
            <a:effectLst/>
          </p:spPr>
          <p:txBody>
            <a:bodyPr wrap="square" lIns="34287" tIns="34287" rIns="34287" bIns="34287" numCol="1" anchor="t">
              <a:spAutoFit/>
            </a:bodyPr>
            <a:lstStyle/>
            <a:p>
              <a:pPr>
                <a:defRPr sz="2200">
                  <a:latin typeface="微软雅黑"/>
                  <a:ea typeface="微软雅黑"/>
                  <a:cs typeface="微软雅黑"/>
                  <a:sym typeface="微软雅黑"/>
                </a:defRPr>
              </a:pPr>
              <a:r>
                <a:rPr sz="1545"/>
                <a:t>影像的分享</a:t>
              </a:r>
              <a:endParaRPr sz="1545"/>
            </a:p>
            <a:p>
              <a:pPr>
                <a:defRPr sz="1800">
                  <a:latin typeface="微软雅黑"/>
                  <a:ea typeface="微软雅黑"/>
                  <a:cs typeface="微软雅黑"/>
                  <a:sym typeface="微软雅黑"/>
                </a:defRPr>
              </a:pPr>
              <a:r>
                <a:rPr sz="1265"/>
                <a:t>Image sharing</a:t>
              </a:r>
              <a:endParaRPr sz="1265"/>
            </a:p>
          </p:txBody>
        </p:sp>
      </p:grpSp>
      <p:grpSp>
        <p:nvGrpSpPr>
          <p:cNvPr id="253" name="成组"/>
          <p:cNvGrpSpPr/>
          <p:nvPr/>
        </p:nvGrpSpPr>
        <p:grpSpPr>
          <a:xfrm>
            <a:off x="9365770" y="5864273"/>
            <a:ext cx="854243" cy="532928"/>
            <a:chOff x="-1" y="-1"/>
            <a:chExt cx="1214922" cy="757941"/>
          </a:xfrm>
        </p:grpSpPr>
        <p:sp>
          <p:nvSpPr>
            <p:cNvPr id="250" name="成组"/>
            <p:cNvSpPr/>
            <p:nvPr/>
          </p:nvSpPr>
          <p:spPr>
            <a:xfrm flipH="1">
              <a:off x="-2" y="-2"/>
              <a:ext cx="1214924" cy="75794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34287" tIns="34287" rIns="34287" bIns="34287" numCol="1" anchor="ctr">
              <a:noAutofit/>
            </a:bodyPr>
            <a:lstStyle/>
            <a:p>
              <a:pPr>
                <a:defRPr>
                  <a:solidFill>
                    <a:srgbClr val="FFFFFF"/>
                  </a:solidFill>
                  <a:latin typeface="微软雅黑"/>
                  <a:ea typeface="微软雅黑"/>
                  <a:cs typeface="微软雅黑"/>
                  <a:sym typeface="微软雅黑"/>
                </a:defRPr>
              </a:pPr>
              <a:endParaRPr sz="1265"/>
            </a:p>
          </p:txBody>
        </p:sp>
        <p:sp>
          <p:nvSpPr>
            <p:cNvPr id="251" name="线条"/>
            <p:cNvSpPr/>
            <p:nvPr/>
          </p:nvSpPr>
          <p:spPr>
            <a:xfrm>
              <a:off x="1047719" y="196016"/>
              <a:ext cx="8" cy="369834"/>
            </a:xfrm>
            <a:prstGeom prst="line">
              <a:avLst/>
            </a:prstGeom>
            <a:solidFill>
              <a:schemeClr val="accent1"/>
            </a:solidFill>
            <a:ln w="139700" cap="flat">
              <a:solidFill>
                <a:srgbClr val="404040"/>
              </a:solidFill>
              <a:prstDash val="solid"/>
              <a:miter lim="800000"/>
            </a:ln>
            <a:effectLst/>
          </p:spPr>
          <p:txBody>
            <a:bodyPr wrap="square" lIns="32145" tIns="32145" rIns="32145" bIns="32145" numCol="1" anchor="t">
              <a:noAutofit/>
            </a:bodyPr>
            <a:lstStyle/>
            <a:p>
              <a:endParaRPr sz="1265"/>
            </a:p>
          </p:txBody>
        </p:sp>
        <p:sp>
          <p:nvSpPr>
            <p:cNvPr id="252" name="线条"/>
            <p:cNvSpPr/>
            <p:nvPr/>
          </p:nvSpPr>
          <p:spPr>
            <a:xfrm>
              <a:off x="869383" y="196016"/>
              <a:ext cx="9" cy="369834"/>
            </a:xfrm>
            <a:prstGeom prst="line">
              <a:avLst/>
            </a:prstGeom>
            <a:solidFill>
              <a:schemeClr val="accent1"/>
            </a:solidFill>
            <a:ln w="139700" cap="flat">
              <a:solidFill>
                <a:srgbClr val="404040"/>
              </a:solidFill>
              <a:prstDash val="solid"/>
              <a:miter lim="800000"/>
            </a:ln>
            <a:effectLst/>
          </p:spPr>
          <p:txBody>
            <a:bodyPr wrap="square" lIns="32145" tIns="32145" rIns="32145" bIns="32145" numCol="1" anchor="t">
              <a:noAutofit/>
            </a:bodyPr>
            <a:lstStyle/>
            <a:p>
              <a:endParaRPr sz="1265"/>
            </a:p>
          </p:txBody>
        </p:sp>
      </p:grpSp>
      <p:sp>
        <p:nvSpPr>
          <p:cNvPr id="254" name="三个大时代、四个时空交叉的故事，构建百年近代风华：…"/>
          <p:cNvSpPr txBox="1"/>
          <p:nvPr/>
        </p:nvSpPr>
        <p:spPr>
          <a:xfrm>
            <a:off x="1979295" y="1469390"/>
            <a:ext cx="8401050" cy="4375785"/>
          </a:xfrm>
          <a:prstGeom prst="rect">
            <a:avLst/>
          </a:prstGeom>
          <a:ln w="12700">
            <a:miter lim="400000"/>
          </a:ln>
        </p:spPr>
        <p:txBody>
          <a:bodyPr wrap="square" lIns="34287" tIns="34287" rIns="34287" bIns="34287">
            <a:spAutoFit/>
          </a:bodyPr>
          <a:lstStyle/>
          <a:p>
            <a:pPr defTabSz="457200">
              <a:lnSpc>
                <a:spcPct val="100000"/>
              </a:lnSpc>
              <a:defRPr sz="1900" b="1">
                <a:solidFill>
                  <a:srgbClr val="111111"/>
                </a:solidFill>
                <a:latin typeface="+mj-lt"/>
                <a:ea typeface="+mj-ea"/>
                <a:cs typeface="+mj-cs"/>
                <a:sym typeface="Helvetica"/>
              </a:defRPr>
            </a:pPr>
            <a:r>
              <a:rPr sz="2000"/>
              <a:t>三个大时代、四个时空交叉的故事，构建</a:t>
            </a:r>
            <a:r>
              <a:rPr lang="zh-CN" altLang="en-US" sz="2000"/>
              <a:t>清华</a:t>
            </a:r>
            <a:r>
              <a:rPr sz="2000"/>
              <a:t>百年近代风华：</a:t>
            </a:r>
            <a:endParaRPr sz="2000"/>
          </a:p>
          <a:p>
            <a:pPr defTabSz="457200">
              <a:lnSpc>
                <a:spcPct val="100000"/>
              </a:lnSpc>
              <a:defRPr sz="1900">
                <a:solidFill>
                  <a:srgbClr val="111111"/>
                </a:solidFill>
                <a:latin typeface="+mj-lt"/>
                <a:ea typeface="+mj-ea"/>
                <a:cs typeface="+mj-cs"/>
                <a:sym typeface="Helvetica"/>
              </a:defRPr>
            </a:pPr>
            <a:endParaRPr sz="2000"/>
          </a:p>
          <a:p>
            <a:pPr defTabSz="457200">
              <a:lnSpc>
                <a:spcPct val="100000"/>
              </a:lnSpc>
              <a:defRPr sz="1900">
                <a:solidFill>
                  <a:srgbClr val="111111"/>
                </a:solidFill>
                <a:latin typeface="+mj-lt"/>
                <a:ea typeface="+mj-ea"/>
                <a:cs typeface="+mj-cs"/>
                <a:sym typeface="Helvetica"/>
              </a:defRPr>
            </a:pPr>
            <a:r>
              <a:rPr sz="2000"/>
              <a:t>1920年代的清华学子吴岭澜面临人生理想的抉择，最终在梅校长和泰戈尔的感召下走上文学道路；</a:t>
            </a:r>
            <a:endParaRPr sz="2000"/>
          </a:p>
          <a:p>
            <a:pPr defTabSz="457200">
              <a:lnSpc>
                <a:spcPct val="100000"/>
              </a:lnSpc>
              <a:defRPr sz="1900">
                <a:solidFill>
                  <a:srgbClr val="111111"/>
                </a:solidFill>
                <a:latin typeface="+mj-lt"/>
                <a:ea typeface="+mj-ea"/>
                <a:cs typeface="+mj-cs"/>
                <a:sym typeface="Helvetica"/>
              </a:defRPr>
            </a:pPr>
            <a:endParaRPr sz="2000"/>
          </a:p>
          <a:p>
            <a:pPr defTabSz="457200">
              <a:lnSpc>
                <a:spcPct val="100000"/>
              </a:lnSpc>
              <a:defRPr sz="1900">
                <a:solidFill>
                  <a:srgbClr val="111111"/>
                </a:solidFill>
                <a:latin typeface="+mj-lt"/>
                <a:ea typeface="+mj-ea"/>
                <a:cs typeface="+mj-cs"/>
                <a:sym typeface="Helvetica"/>
              </a:defRPr>
            </a:pPr>
            <a:r>
              <a:rPr sz="2000"/>
              <a:t>1940年代，西南联大时期，沈光耀，满腔爱国选择违背父母意愿，一冲飞天，以身殉国；</a:t>
            </a:r>
            <a:endParaRPr sz="2000"/>
          </a:p>
          <a:p>
            <a:pPr defTabSz="457200">
              <a:lnSpc>
                <a:spcPct val="100000"/>
              </a:lnSpc>
              <a:defRPr sz="1900">
                <a:solidFill>
                  <a:srgbClr val="111111"/>
                </a:solidFill>
                <a:latin typeface="+mj-lt"/>
                <a:ea typeface="+mj-ea"/>
                <a:cs typeface="+mj-cs"/>
                <a:sym typeface="Helvetica"/>
              </a:defRPr>
            </a:pPr>
            <a:endParaRPr sz="2000"/>
          </a:p>
          <a:p>
            <a:pPr defTabSz="457200">
              <a:lnSpc>
                <a:spcPct val="100000"/>
              </a:lnSpc>
              <a:defRPr sz="1900">
                <a:solidFill>
                  <a:srgbClr val="111111"/>
                </a:solidFill>
                <a:latin typeface="+mj-lt"/>
                <a:ea typeface="+mj-ea"/>
                <a:cs typeface="+mj-cs"/>
                <a:sym typeface="Helvetica"/>
              </a:defRPr>
            </a:pPr>
            <a:r>
              <a:rPr sz="2000"/>
              <a:t>1960年代，靠着沈光耀们的空投救济活下来的新中国大学生陈鹏，同时面临着爱情和时代浪潮的冲击，他救下政治风波中的爱人，投身中国的核弹事业；</a:t>
            </a:r>
            <a:endParaRPr sz="2000"/>
          </a:p>
          <a:p>
            <a:pPr defTabSz="457200">
              <a:lnSpc>
                <a:spcPct val="100000"/>
              </a:lnSpc>
              <a:defRPr sz="1900">
                <a:solidFill>
                  <a:srgbClr val="111111"/>
                </a:solidFill>
                <a:latin typeface="+mj-lt"/>
                <a:ea typeface="+mj-ea"/>
                <a:cs typeface="+mj-cs"/>
                <a:sym typeface="Helvetica"/>
              </a:defRPr>
            </a:pPr>
            <a:endParaRPr sz="2000"/>
          </a:p>
          <a:p>
            <a:pPr defTabSz="457200">
              <a:lnSpc>
                <a:spcPct val="100000"/>
              </a:lnSpc>
              <a:defRPr sz="1900">
                <a:solidFill>
                  <a:srgbClr val="111111"/>
                </a:solidFill>
                <a:latin typeface="+mj-lt"/>
                <a:ea typeface="+mj-ea"/>
                <a:cs typeface="+mj-cs"/>
                <a:sym typeface="Helvetica"/>
              </a:defRPr>
            </a:pPr>
            <a:r>
              <a:rPr sz="2000"/>
              <a:t>2012年，广告公司高管张果果在商业角力的过程中走进四胞胎困难家庭的生活，最终在尔虞我诈的职场做出了跟随内心的选择。</a:t>
            </a:r>
            <a:endParaRPr sz="2000"/>
          </a:p>
        </p:txBody>
      </p:sp>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253"/>
                                        </p:tgtEl>
                                        <p:attrNameLst>
                                          <p:attrName>style.visibility</p:attrName>
                                        </p:attrNameLst>
                                      </p:cBhvr>
                                      <p:to>
                                        <p:strVal val="visible"/>
                                      </p:to>
                                    </p:set>
                                    <p:anim calcmode="lin" valueType="num">
                                      <p:cBhvr>
                                        <p:cTn id="7" dur="750" fill="hold"/>
                                        <p:tgtEl>
                                          <p:spTgt spid="253"/>
                                        </p:tgtEl>
                                        <p:attrNameLst>
                                          <p:attrName>ppt_x</p:attrName>
                                        </p:attrNameLst>
                                      </p:cBhvr>
                                      <p:tavLst>
                                        <p:tav tm="0">
                                          <p:val>
                                            <p:strVal val="1+#ppt_w/2"/>
                                          </p:val>
                                        </p:tav>
                                        <p:tav tm="100000">
                                          <p:val>
                                            <p:strVal val="#ppt_x"/>
                                          </p:val>
                                        </p:tav>
                                      </p:tavLst>
                                    </p:anim>
                                    <p:anim calcmode="lin" valueType="num">
                                      <p:cBhvr>
                                        <p:cTn id="8" dur="750" fill="hold"/>
                                        <p:tgtEl>
                                          <p:spTgt spid="253"/>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246"/>
                                        </p:tgtEl>
                                        <p:attrNameLst>
                                          <p:attrName>style.visibility</p:attrName>
                                        </p:attrNameLst>
                                      </p:cBhvr>
                                      <p:to>
                                        <p:strVal val="visible"/>
                                      </p:to>
                                    </p:set>
                                    <p:animEffect transition="in" filter="wipe(right)">
                                      <p:cBhvr>
                                        <p:cTn id="12" dur="1000"/>
                                        <p:tgtEl>
                                          <p:spTgt spid="2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253" grpId="1" bldLvl="0" animBg="1" advAuto="0"/>
      <p:bldP spid="246" grpId="2"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光圈"/>
          <p:cNvSpPr txBox="1"/>
          <p:nvPr/>
        </p:nvSpPr>
        <p:spPr>
          <a:xfrm>
            <a:off x="5584110" y="5917854"/>
            <a:ext cx="5808707" cy="369570"/>
          </a:xfrm>
          <a:prstGeom prst="rect">
            <a:avLst/>
          </a:prstGeom>
          <a:ln w="12700">
            <a:miter lim="400000"/>
          </a:ln>
        </p:spPr>
        <p:txBody>
          <a:bodyPr lIns="34287" tIns="34287" rIns="34287" bIns="34287">
            <a:spAutoFit/>
          </a:bodyPr>
          <a:lstStyle>
            <a:lvl1pPr algn="ctr">
              <a:defRPr sz="2800">
                <a:latin typeface="微软雅黑"/>
                <a:ea typeface="微软雅黑"/>
                <a:cs typeface="微软雅黑"/>
                <a:sym typeface="微软雅黑"/>
              </a:defRPr>
            </a:lvl1pPr>
          </a:lstStyle>
          <a:p>
            <a:r>
              <a:rPr sz="1970"/>
              <a:t>看电影</a:t>
            </a:r>
            <a:endParaRPr sz="1970"/>
          </a:p>
        </p:txBody>
      </p:sp>
      <p:grpSp>
        <p:nvGrpSpPr>
          <p:cNvPr id="209" name="成组"/>
          <p:cNvGrpSpPr/>
          <p:nvPr/>
        </p:nvGrpSpPr>
        <p:grpSpPr>
          <a:xfrm>
            <a:off x="1803062" y="539113"/>
            <a:ext cx="3840498" cy="500380"/>
            <a:chOff x="-1" y="-2"/>
            <a:chExt cx="5462039" cy="711650"/>
          </a:xfrm>
        </p:grpSpPr>
        <p:sp>
          <p:nvSpPr>
            <p:cNvPr id="207" name="矩形"/>
            <p:cNvSpPr/>
            <p:nvPr/>
          </p:nvSpPr>
          <p:spPr>
            <a:xfrm>
              <a:off x="-1" y="16373"/>
              <a:ext cx="1048159" cy="497420"/>
            </a:xfrm>
            <a:prstGeom prst="rect">
              <a:avLst/>
            </a:prstGeom>
            <a:solidFill>
              <a:schemeClr val="accent1"/>
            </a:solidFill>
            <a:ln w="12700" cap="flat">
              <a:noFill/>
              <a:miter lim="400000"/>
            </a:ln>
            <a:effectLst/>
          </p:spPr>
          <p:txBody>
            <a:bodyPr wrap="square" lIns="34287" tIns="34287" rIns="34287" bIns="34287" numCol="1" anchor="ctr">
              <a:noAutofit/>
            </a:bodyPr>
            <a:lstStyle/>
            <a:p>
              <a:pPr algn="ctr">
                <a:defRPr>
                  <a:solidFill>
                    <a:srgbClr val="FFFFFF"/>
                  </a:solidFill>
                </a:defRPr>
              </a:pPr>
              <a:endParaRPr sz="1265"/>
            </a:p>
          </p:txBody>
        </p:sp>
        <p:sp>
          <p:nvSpPr>
            <p:cNvPr id="208" name="影像的分享…"/>
            <p:cNvSpPr txBox="1"/>
            <p:nvPr/>
          </p:nvSpPr>
          <p:spPr>
            <a:xfrm>
              <a:off x="1048150" y="-2"/>
              <a:ext cx="4413888" cy="711650"/>
            </a:xfrm>
            <a:prstGeom prst="rect">
              <a:avLst/>
            </a:prstGeom>
            <a:noFill/>
            <a:ln w="12700" cap="flat">
              <a:noFill/>
              <a:miter lim="400000"/>
            </a:ln>
            <a:effectLst/>
          </p:spPr>
          <p:txBody>
            <a:bodyPr wrap="square" lIns="34287" tIns="34287" rIns="34287" bIns="34287" numCol="1" anchor="t">
              <a:spAutoFit/>
            </a:bodyPr>
            <a:lstStyle/>
            <a:p>
              <a:pPr>
                <a:defRPr sz="2200">
                  <a:latin typeface="微软雅黑"/>
                  <a:ea typeface="微软雅黑"/>
                  <a:cs typeface="微软雅黑"/>
                  <a:sym typeface="微软雅黑"/>
                </a:defRPr>
              </a:pPr>
              <a:r>
                <a:rPr sz="1545"/>
                <a:t>影像的分享</a:t>
              </a:r>
              <a:endParaRPr sz="1545"/>
            </a:p>
            <a:p>
              <a:pPr>
                <a:defRPr sz="1800">
                  <a:latin typeface="微软雅黑"/>
                  <a:ea typeface="微软雅黑"/>
                  <a:cs typeface="微软雅黑"/>
                  <a:sym typeface="微软雅黑"/>
                </a:defRPr>
              </a:pPr>
              <a:r>
                <a:rPr sz="1265"/>
                <a:t>Image sharing</a:t>
              </a:r>
              <a:endParaRPr sz="1265"/>
            </a:p>
          </p:txBody>
        </p:sp>
      </p:grpSp>
      <p:grpSp>
        <p:nvGrpSpPr>
          <p:cNvPr id="213" name="成组"/>
          <p:cNvGrpSpPr/>
          <p:nvPr/>
        </p:nvGrpSpPr>
        <p:grpSpPr>
          <a:xfrm>
            <a:off x="9365770" y="5864273"/>
            <a:ext cx="854243" cy="532928"/>
            <a:chOff x="-1" y="-1"/>
            <a:chExt cx="1214922" cy="757941"/>
          </a:xfrm>
        </p:grpSpPr>
        <p:sp>
          <p:nvSpPr>
            <p:cNvPr id="210" name="成组"/>
            <p:cNvSpPr/>
            <p:nvPr/>
          </p:nvSpPr>
          <p:spPr>
            <a:xfrm flipH="1">
              <a:off x="-2" y="-2"/>
              <a:ext cx="1214924" cy="75794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34287" tIns="34287" rIns="34287" bIns="34287" numCol="1" anchor="ctr">
              <a:noAutofit/>
            </a:bodyPr>
            <a:lstStyle/>
            <a:p>
              <a:pPr>
                <a:defRPr>
                  <a:solidFill>
                    <a:srgbClr val="FFFFFF"/>
                  </a:solidFill>
                  <a:latin typeface="微软雅黑"/>
                  <a:ea typeface="微软雅黑"/>
                  <a:cs typeface="微软雅黑"/>
                  <a:sym typeface="微软雅黑"/>
                </a:defRPr>
              </a:pPr>
              <a:endParaRPr sz="1265"/>
            </a:p>
          </p:txBody>
        </p:sp>
        <p:sp>
          <p:nvSpPr>
            <p:cNvPr id="211" name="线条"/>
            <p:cNvSpPr/>
            <p:nvPr/>
          </p:nvSpPr>
          <p:spPr>
            <a:xfrm>
              <a:off x="1047719" y="196016"/>
              <a:ext cx="8" cy="369834"/>
            </a:xfrm>
            <a:prstGeom prst="line">
              <a:avLst/>
            </a:prstGeom>
            <a:solidFill>
              <a:schemeClr val="accent1"/>
            </a:solidFill>
            <a:ln w="139700" cap="flat">
              <a:solidFill>
                <a:srgbClr val="404040"/>
              </a:solidFill>
              <a:prstDash val="solid"/>
              <a:miter lim="800000"/>
            </a:ln>
            <a:effectLst/>
          </p:spPr>
          <p:txBody>
            <a:bodyPr wrap="square" lIns="32145" tIns="32145" rIns="32145" bIns="32145" numCol="1" anchor="t">
              <a:noAutofit/>
            </a:bodyPr>
            <a:lstStyle/>
            <a:p>
              <a:endParaRPr sz="1265"/>
            </a:p>
          </p:txBody>
        </p:sp>
        <p:sp>
          <p:nvSpPr>
            <p:cNvPr id="212" name="线条"/>
            <p:cNvSpPr/>
            <p:nvPr/>
          </p:nvSpPr>
          <p:spPr>
            <a:xfrm>
              <a:off x="869383" y="196016"/>
              <a:ext cx="9" cy="369834"/>
            </a:xfrm>
            <a:prstGeom prst="line">
              <a:avLst/>
            </a:prstGeom>
            <a:solidFill>
              <a:schemeClr val="accent1"/>
            </a:solidFill>
            <a:ln w="139700" cap="flat">
              <a:solidFill>
                <a:srgbClr val="404040"/>
              </a:solidFill>
              <a:prstDash val="solid"/>
              <a:miter lim="800000"/>
            </a:ln>
            <a:effectLst/>
          </p:spPr>
          <p:txBody>
            <a:bodyPr wrap="square" lIns="32145" tIns="32145" rIns="32145" bIns="32145" numCol="1" anchor="t">
              <a:noAutofit/>
            </a:bodyPr>
            <a:lstStyle/>
            <a:p>
              <a:endParaRPr sz="1265"/>
            </a:p>
          </p:txBody>
        </p:sp>
      </p:grpSp>
      <p:pic>
        <p:nvPicPr>
          <p:cNvPr id="214" name="屏幕快照 2019-09-05 15.58.59.png" descr="屏幕快照 2019-09-05 15.58.59.png"/>
          <p:cNvPicPr>
            <a:picLocks noChangeAspect="1"/>
          </p:cNvPicPr>
          <p:nvPr/>
        </p:nvPicPr>
        <p:blipFill>
          <a:blip r:embed="rId1"/>
          <a:srcRect l="15527" t="29731" r="15527" b="22855"/>
          <a:stretch>
            <a:fillRect/>
          </a:stretch>
        </p:blipFill>
        <p:spPr>
          <a:xfrm>
            <a:off x="1990137" y="1891625"/>
            <a:ext cx="8385384" cy="3604219"/>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213"/>
                                        </p:tgtEl>
                                        <p:attrNameLst>
                                          <p:attrName>style.visibility</p:attrName>
                                        </p:attrNameLst>
                                      </p:cBhvr>
                                      <p:to>
                                        <p:strVal val="visible"/>
                                      </p:to>
                                    </p:set>
                                    <p:anim calcmode="lin" valueType="num">
                                      <p:cBhvr>
                                        <p:cTn id="7" dur="750" fill="hold"/>
                                        <p:tgtEl>
                                          <p:spTgt spid="213"/>
                                        </p:tgtEl>
                                        <p:attrNameLst>
                                          <p:attrName>ppt_x</p:attrName>
                                        </p:attrNameLst>
                                      </p:cBhvr>
                                      <p:tavLst>
                                        <p:tav tm="0">
                                          <p:val>
                                            <p:strVal val="1+#ppt_w/2"/>
                                          </p:val>
                                        </p:tav>
                                        <p:tav tm="100000">
                                          <p:val>
                                            <p:strVal val="#ppt_x"/>
                                          </p:val>
                                        </p:tav>
                                      </p:tavLst>
                                    </p:anim>
                                    <p:anim calcmode="lin" valueType="num">
                                      <p:cBhvr>
                                        <p:cTn id="8" dur="750" fill="hold"/>
                                        <p:tgtEl>
                                          <p:spTgt spid="213"/>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206"/>
                                        </p:tgtEl>
                                        <p:attrNameLst>
                                          <p:attrName>style.visibility</p:attrName>
                                        </p:attrNameLst>
                                      </p:cBhvr>
                                      <p:to>
                                        <p:strVal val="visible"/>
                                      </p:to>
                                    </p:set>
                                    <p:animEffect transition="in" filter="wipe(right)">
                                      <p:cBhvr>
                                        <p:cTn id="12" dur="1000"/>
                                        <p:tgtEl>
                                          <p:spTgt spid="2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206" grpId="2" animBg="1" advAuto="0"/>
      <p:bldP spid="213" grpId="1" bldLvl="0"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光圈"/>
          <p:cNvSpPr txBox="1"/>
          <p:nvPr/>
        </p:nvSpPr>
        <p:spPr>
          <a:xfrm>
            <a:off x="5584110" y="5917854"/>
            <a:ext cx="5808707" cy="369570"/>
          </a:xfrm>
          <a:prstGeom prst="rect">
            <a:avLst/>
          </a:prstGeom>
          <a:ln w="12700">
            <a:miter lim="400000"/>
          </a:ln>
        </p:spPr>
        <p:txBody>
          <a:bodyPr lIns="34287" tIns="34287" rIns="34287" bIns="34287">
            <a:spAutoFit/>
          </a:bodyPr>
          <a:lstStyle>
            <a:lvl1pPr algn="ctr">
              <a:defRPr sz="2800">
                <a:latin typeface="微软雅黑"/>
                <a:ea typeface="微软雅黑"/>
                <a:cs typeface="微软雅黑"/>
                <a:sym typeface="微软雅黑"/>
              </a:defRPr>
            </a:lvl1pPr>
          </a:lstStyle>
          <a:p>
            <a:r>
              <a:rPr sz="1970"/>
              <a:t>看电影</a:t>
            </a:r>
            <a:endParaRPr sz="1970"/>
          </a:p>
        </p:txBody>
      </p:sp>
      <p:grpSp>
        <p:nvGrpSpPr>
          <p:cNvPr id="219" name="成组"/>
          <p:cNvGrpSpPr/>
          <p:nvPr/>
        </p:nvGrpSpPr>
        <p:grpSpPr>
          <a:xfrm>
            <a:off x="1803062" y="539113"/>
            <a:ext cx="3840498" cy="500380"/>
            <a:chOff x="-1" y="-2"/>
            <a:chExt cx="5462039" cy="711650"/>
          </a:xfrm>
        </p:grpSpPr>
        <p:sp>
          <p:nvSpPr>
            <p:cNvPr id="217" name="矩形"/>
            <p:cNvSpPr/>
            <p:nvPr/>
          </p:nvSpPr>
          <p:spPr>
            <a:xfrm>
              <a:off x="-1" y="16373"/>
              <a:ext cx="1048159" cy="497420"/>
            </a:xfrm>
            <a:prstGeom prst="rect">
              <a:avLst/>
            </a:prstGeom>
            <a:solidFill>
              <a:schemeClr val="accent1"/>
            </a:solidFill>
            <a:ln w="12700" cap="flat">
              <a:noFill/>
              <a:miter lim="400000"/>
            </a:ln>
            <a:effectLst/>
          </p:spPr>
          <p:txBody>
            <a:bodyPr wrap="square" lIns="34287" tIns="34287" rIns="34287" bIns="34287" numCol="1" anchor="ctr">
              <a:noAutofit/>
            </a:bodyPr>
            <a:lstStyle/>
            <a:p>
              <a:pPr algn="ctr">
                <a:defRPr>
                  <a:solidFill>
                    <a:srgbClr val="FFFFFF"/>
                  </a:solidFill>
                </a:defRPr>
              </a:pPr>
              <a:endParaRPr sz="1265"/>
            </a:p>
          </p:txBody>
        </p:sp>
        <p:sp>
          <p:nvSpPr>
            <p:cNvPr id="218" name="影像的分享…"/>
            <p:cNvSpPr txBox="1"/>
            <p:nvPr/>
          </p:nvSpPr>
          <p:spPr>
            <a:xfrm>
              <a:off x="1048150" y="-2"/>
              <a:ext cx="4413888" cy="711650"/>
            </a:xfrm>
            <a:prstGeom prst="rect">
              <a:avLst/>
            </a:prstGeom>
            <a:noFill/>
            <a:ln w="12700" cap="flat">
              <a:noFill/>
              <a:miter lim="400000"/>
            </a:ln>
            <a:effectLst/>
          </p:spPr>
          <p:txBody>
            <a:bodyPr wrap="square" lIns="34287" tIns="34287" rIns="34287" bIns="34287" numCol="1" anchor="t">
              <a:spAutoFit/>
            </a:bodyPr>
            <a:lstStyle/>
            <a:p>
              <a:pPr>
                <a:defRPr sz="2200">
                  <a:latin typeface="微软雅黑"/>
                  <a:ea typeface="微软雅黑"/>
                  <a:cs typeface="微软雅黑"/>
                  <a:sym typeface="微软雅黑"/>
                </a:defRPr>
              </a:pPr>
              <a:r>
                <a:rPr sz="1545"/>
                <a:t>影像的分享</a:t>
              </a:r>
              <a:endParaRPr sz="1545"/>
            </a:p>
            <a:p>
              <a:pPr>
                <a:defRPr sz="1800">
                  <a:latin typeface="微软雅黑"/>
                  <a:ea typeface="微软雅黑"/>
                  <a:cs typeface="微软雅黑"/>
                  <a:sym typeface="微软雅黑"/>
                </a:defRPr>
              </a:pPr>
              <a:r>
                <a:rPr sz="1265"/>
                <a:t>Image sharing</a:t>
              </a:r>
              <a:endParaRPr sz="1265"/>
            </a:p>
          </p:txBody>
        </p:sp>
      </p:grpSp>
      <p:grpSp>
        <p:nvGrpSpPr>
          <p:cNvPr id="223" name="成组"/>
          <p:cNvGrpSpPr/>
          <p:nvPr/>
        </p:nvGrpSpPr>
        <p:grpSpPr>
          <a:xfrm>
            <a:off x="9365770" y="5864273"/>
            <a:ext cx="854243" cy="532928"/>
            <a:chOff x="-1" y="-1"/>
            <a:chExt cx="1214922" cy="757941"/>
          </a:xfrm>
        </p:grpSpPr>
        <p:sp>
          <p:nvSpPr>
            <p:cNvPr id="220" name="成组"/>
            <p:cNvSpPr/>
            <p:nvPr/>
          </p:nvSpPr>
          <p:spPr>
            <a:xfrm flipH="1">
              <a:off x="-2" y="-2"/>
              <a:ext cx="1214924" cy="75794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34287" tIns="34287" rIns="34287" bIns="34287" numCol="1" anchor="ctr">
              <a:noAutofit/>
            </a:bodyPr>
            <a:lstStyle/>
            <a:p>
              <a:pPr>
                <a:defRPr>
                  <a:solidFill>
                    <a:srgbClr val="FFFFFF"/>
                  </a:solidFill>
                  <a:latin typeface="微软雅黑"/>
                  <a:ea typeface="微软雅黑"/>
                  <a:cs typeface="微软雅黑"/>
                  <a:sym typeface="微软雅黑"/>
                </a:defRPr>
              </a:pPr>
              <a:endParaRPr sz="1265"/>
            </a:p>
          </p:txBody>
        </p:sp>
        <p:sp>
          <p:nvSpPr>
            <p:cNvPr id="221" name="线条"/>
            <p:cNvSpPr/>
            <p:nvPr/>
          </p:nvSpPr>
          <p:spPr>
            <a:xfrm>
              <a:off x="1047719" y="196016"/>
              <a:ext cx="8" cy="369834"/>
            </a:xfrm>
            <a:prstGeom prst="line">
              <a:avLst/>
            </a:prstGeom>
            <a:solidFill>
              <a:schemeClr val="accent1"/>
            </a:solidFill>
            <a:ln w="139700" cap="flat">
              <a:solidFill>
                <a:srgbClr val="404040"/>
              </a:solidFill>
              <a:prstDash val="solid"/>
              <a:miter lim="800000"/>
            </a:ln>
            <a:effectLst/>
          </p:spPr>
          <p:txBody>
            <a:bodyPr wrap="square" lIns="32145" tIns="32145" rIns="32145" bIns="32145" numCol="1" anchor="t">
              <a:noAutofit/>
            </a:bodyPr>
            <a:lstStyle/>
            <a:p>
              <a:endParaRPr sz="1265"/>
            </a:p>
          </p:txBody>
        </p:sp>
        <p:sp>
          <p:nvSpPr>
            <p:cNvPr id="222" name="线条"/>
            <p:cNvSpPr/>
            <p:nvPr/>
          </p:nvSpPr>
          <p:spPr>
            <a:xfrm>
              <a:off x="869383" y="196016"/>
              <a:ext cx="9" cy="369834"/>
            </a:xfrm>
            <a:prstGeom prst="line">
              <a:avLst/>
            </a:prstGeom>
            <a:solidFill>
              <a:schemeClr val="accent1"/>
            </a:solidFill>
            <a:ln w="139700" cap="flat">
              <a:solidFill>
                <a:srgbClr val="404040"/>
              </a:solidFill>
              <a:prstDash val="solid"/>
              <a:miter lim="800000"/>
            </a:ln>
            <a:effectLst/>
          </p:spPr>
          <p:txBody>
            <a:bodyPr wrap="square" lIns="32145" tIns="32145" rIns="32145" bIns="32145" numCol="1" anchor="t">
              <a:noAutofit/>
            </a:bodyPr>
            <a:lstStyle/>
            <a:p>
              <a:endParaRPr sz="1265"/>
            </a:p>
          </p:txBody>
        </p:sp>
      </p:grpSp>
      <p:pic>
        <p:nvPicPr>
          <p:cNvPr id="224" name="屏幕快照 2019-09-05 15.59.07.png" descr="屏幕快照 2019-09-05 15.59.07.png"/>
          <p:cNvPicPr>
            <a:picLocks noChangeAspect="1"/>
          </p:cNvPicPr>
          <p:nvPr/>
        </p:nvPicPr>
        <p:blipFill>
          <a:blip r:embed="rId1"/>
          <a:srcRect l="15507" t="29485" r="15507" b="23382"/>
          <a:stretch>
            <a:fillRect/>
          </a:stretch>
        </p:blipFill>
        <p:spPr>
          <a:xfrm>
            <a:off x="2027733" y="1933342"/>
            <a:ext cx="8336537" cy="3559684"/>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223"/>
                                        </p:tgtEl>
                                        <p:attrNameLst>
                                          <p:attrName>style.visibility</p:attrName>
                                        </p:attrNameLst>
                                      </p:cBhvr>
                                      <p:to>
                                        <p:strVal val="visible"/>
                                      </p:to>
                                    </p:set>
                                    <p:anim calcmode="lin" valueType="num">
                                      <p:cBhvr>
                                        <p:cTn id="7" dur="750" fill="hold"/>
                                        <p:tgtEl>
                                          <p:spTgt spid="223"/>
                                        </p:tgtEl>
                                        <p:attrNameLst>
                                          <p:attrName>ppt_x</p:attrName>
                                        </p:attrNameLst>
                                      </p:cBhvr>
                                      <p:tavLst>
                                        <p:tav tm="0">
                                          <p:val>
                                            <p:strVal val="1+#ppt_w/2"/>
                                          </p:val>
                                        </p:tav>
                                        <p:tav tm="100000">
                                          <p:val>
                                            <p:strVal val="#ppt_x"/>
                                          </p:val>
                                        </p:tav>
                                      </p:tavLst>
                                    </p:anim>
                                    <p:anim calcmode="lin" valueType="num">
                                      <p:cBhvr>
                                        <p:cTn id="8" dur="750" fill="hold"/>
                                        <p:tgtEl>
                                          <p:spTgt spid="223"/>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216"/>
                                        </p:tgtEl>
                                        <p:attrNameLst>
                                          <p:attrName>style.visibility</p:attrName>
                                        </p:attrNameLst>
                                      </p:cBhvr>
                                      <p:to>
                                        <p:strVal val="visible"/>
                                      </p:to>
                                    </p:set>
                                    <p:animEffect transition="in" filter="wipe(right)">
                                      <p:cBhvr>
                                        <p:cTn id="12" dur="1000"/>
                                        <p:tgtEl>
                                          <p:spTgt spid="2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216" grpId="2" animBg="1" advAuto="0"/>
      <p:bldP spid="223" grpId="1" bldLvl="0"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 name="屏幕快照 2019-09-05 15.59.45.png" descr="屏幕快照 2019-09-05 15.59.45.png"/>
          <p:cNvPicPr>
            <a:picLocks noChangeAspect="1"/>
          </p:cNvPicPr>
          <p:nvPr/>
        </p:nvPicPr>
        <p:blipFill>
          <a:blip r:embed="rId1"/>
          <a:srcRect l="15521" t="29504" r="15521" b="23197"/>
          <a:stretch>
            <a:fillRect/>
          </a:stretch>
        </p:blipFill>
        <p:spPr>
          <a:xfrm>
            <a:off x="1473488" y="1570141"/>
            <a:ext cx="9244910" cy="3963175"/>
          </a:xfrm>
          <a:prstGeom prst="rect">
            <a:avLst/>
          </a:prstGeom>
          <a:ln w="12700">
            <a:miter lim="400000"/>
            <a:headEnd/>
            <a:tailEnd/>
          </a:ln>
        </p:spPr>
      </p:pic>
      <p:sp>
        <p:nvSpPr>
          <p:cNvPr id="196" name="光圈"/>
          <p:cNvSpPr txBox="1"/>
          <p:nvPr/>
        </p:nvSpPr>
        <p:spPr>
          <a:xfrm>
            <a:off x="5584110" y="5917854"/>
            <a:ext cx="5808707" cy="369570"/>
          </a:xfrm>
          <a:prstGeom prst="rect">
            <a:avLst/>
          </a:prstGeom>
          <a:ln w="12700">
            <a:miter lim="400000"/>
          </a:ln>
        </p:spPr>
        <p:txBody>
          <a:bodyPr lIns="34287" tIns="34287" rIns="34287" bIns="34287">
            <a:spAutoFit/>
          </a:bodyPr>
          <a:lstStyle>
            <a:lvl1pPr algn="ctr">
              <a:defRPr sz="2800">
                <a:latin typeface="微软雅黑"/>
                <a:ea typeface="微软雅黑"/>
                <a:cs typeface="微软雅黑"/>
                <a:sym typeface="微软雅黑"/>
              </a:defRPr>
            </a:lvl1pPr>
          </a:lstStyle>
          <a:p>
            <a:r>
              <a:rPr sz="1970"/>
              <a:t>看电影</a:t>
            </a:r>
            <a:endParaRPr sz="1970"/>
          </a:p>
        </p:txBody>
      </p:sp>
      <p:grpSp>
        <p:nvGrpSpPr>
          <p:cNvPr id="199" name="成组"/>
          <p:cNvGrpSpPr/>
          <p:nvPr/>
        </p:nvGrpSpPr>
        <p:grpSpPr>
          <a:xfrm>
            <a:off x="1770547" y="625823"/>
            <a:ext cx="3840498" cy="500380"/>
            <a:chOff x="-1" y="-2"/>
            <a:chExt cx="5462039" cy="711650"/>
          </a:xfrm>
        </p:grpSpPr>
        <p:sp>
          <p:nvSpPr>
            <p:cNvPr id="197" name="矩形"/>
            <p:cNvSpPr/>
            <p:nvPr/>
          </p:nvSpPr>
          <p:spPr>
            <a:xfrm>
              <a:off x="-1" y="16373"/>
              <a:ext cx="1048159" cy="497418"/>
            </a:xfrm>
            <a:prstGeom prst="rect">
              <a:avLst/>
            </a:prstGeom>
            <a:solidFill>
              <a:schemeClr val="accent1"/>
            </a:solidFill>
            <a:ln w="12700" cap="flat">
              <a:noFill/>
              <a:miter lim="400000"/>
            </a:ln>
            <a:effectLst/>
          </p:spPr>
          <p:txBody>
            <a:bodyPr wrap="square" lIns="34287" tIns="34287" rIns="34287" bIns="34287" numCol="1" anchor="ctr">
              <a:noAutofit/>
            </a:bodyPr>
            <a:lstStyle/>
            <a:p>
              <a:pPr algn="ctr">
                <a:defRPr>
                  <a:solidFill>
                    <a:srgbClr val="FFFFFF"/>
                  </a:solidFill>
                </a:defRPr>
              </a:pPr>
              <a:endParaRPr sz="1265"/>
            </a:p>
          </p:txBody>
        </p:sp>
        <p:sp>
          <p:nvSpPr>
            <p:cNvPr id="198" name="影像的分享…"/>
            <p:cNvSpPr txBox="1"/>
            <p:nvPr/>
          </p:nvSpPr>
          <p:spPr>
            <a:xfrm>
              <a:off x="1048150" y="-2"/>
              <a:ext cx="4413888" cy="711650"/>
            </a:xfrm>
            <a:prstGeom prst="rect">
              <a:avLst/>
            </a:prstGeom>
            <a:noFill/>
            <a:ln w="12700" cap="flat">
              <a:noFill/>
              <a:miter lim="400000"/>
            </a:ln>
            <a:effectLst/>
          </p:spPr>
          <p:txBody>
            <a:bodyPr wrap="square" lIns="34287" tIns="34287" rIns="34287" bIns="34287" numCol="1" anchor="t">
              <a:spAutoFit/>
            </a:bodyPr>
            <a:lstStyle/>
            <a:p>
              <a:pPr>
                <a:defRPr sz="2200">
                  <a:latin typeface="微软雅黑"/>
                  <a:ea typeface="微软雅黑"/>
                  <a:cs typeface="微软雅黑"/>
                  <a:sym typeface="微软雅黑"/>
                </a:defRPr>
              </a:pPr>
              <a:r>
                <a:rPr sz="1545"/>
                <a:t>影像的分享</a:t>
              </a:r>
              <a:endParaRPr sz="1545"/>
            </a:p>
            <a:p>
              <a:pPr>
                <a:defRPr sz="1800">
                  <a:latin typeface="微软雅黑"/>
                  <a:ea typeface="微软雅黑"/>
                  <a:cs typeface="微软雅黑"/>
                  <a:sym typeface="微软雅黑"/>
                </a:defRPr>
              </a:pPr>
              <a:r>
                <a:rPr sz="1265"/>
                <a:t>Image sharing</a:t>
              </a:r>
              <a:endParaRPr sz="1265"/>
            </a:p>
          </p:txBody>
        </p:sp>
      </p:grpSp>
      <p:grpSp>
        <p:nvGrpSpPr>
          <p:cNvPr id="203" name="成组"/>
          <p:cNvGrpSpPr/>
          <p:nvPr/>
        </p:nvGrpSpPr>
        <p:grpSpPr>
          <a:xfrm>
            <a:off x="9365770" y="5864273"/>
            <a:ext cx="854243" cy="532928"/>
            <a:chOff x="-1" y="-1"/>
            <a:chExt cx="1214922" cy="757941"/>
          </a:xfrm>
        </p:grpSpPr>
        <p:sp>
          <p:nvSpPr>
            <p:cNvPr id="200" name="成组"/>
            <p:cNvSpPr/>
            <p:nvPr/>
          </p:nvSpPr>
          <p:spPr>
            <a:xfrm flipH="1">
              <a:off x="-2" y="-2"/>
              <a:ext cx="1214924" cy="75794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34287" tIns="34287" rIns="34287" bIns="34287" numCol="1" anchor="ctr">
              <a:noAutofit/>
            </a:bodyPr>
            <a:lstStyle/>
            <a:p>
              <a:pPr>
                <a:defRPr>
                  <a:solidFill>
                    <a:srgbClr val="FFFFFF"/>
                  </a:solidFill>
                  <a:latin typeface="微软雅黑"/>
                  <a:ea typeface="微软雅黑"/>
                  <a:cs typeface="微软雅黑"/>
                  <a:sym typeface="微软雅黑"/>
                </a:defRPr>
              </a:pPr>
              <a:endParaRPr sz="1265"/>
            </a:p>
          </p:txBody>
        </p:sp>
        <p:sp>
          <p:nvSpPr>
            <p:cNvPr id="201" name="线条"/>
            <p:cNvSpPr/>
            <p:nvPr/>
          </p:nvSpPr>
          <p:spPr>
            <a:xfrm>
              <a:off x="1047719" y="196016"/>
              <a:ext cx="8" cy="369834"/>
            </a:xfrm>
            <a:prstGeom prst="line">
              <a:avLst/>
            </a:prstGeom>
            <a:solidFill>
              <a:schemeClr val="accent1"/>
            </a:solidFill>
            <a:ln w="139700" cap="flat">
              <a:solidFill>
                <a:srgbClr val="404040"/>
              </a:solidFill>
              <a:prstDash val="solid"/>
              <a:miter lim="800000"/>
            </a:ln>
            <a:effectLst/>
          </p:spPr>
          <p:txBody>
            <a:bodyPr wrap="square" lIns="32145" tIns="32145" rIns="32145" bIns="32145" numCol="1" anchor="t">
              <a:noAutofit/>
            </a:bodyPr>
            <a:lstStyle/>
            <a:p>
              <a:endParaRPr sz="1265"/>
            </a:p>
          </p:txBody>
        </p:sp>
        <p:sp>
          <p:nvSpPr>
            <p:cNvPr id="202" name="线条"/>
            <p:cNvSpPr/>
            <p:nvPr/>
          </p:nvSpPr>
          <p:spPr>
            <a:xfrm>
              <a:off x="869383" y="196016"/>
              <a:ext cx="9" cy="369834"/>
            </a:xfrm>
            <a:prstGeom prst="line">
              <a:avLst/>
            </a:prstGeom>
            <a:solidFill>
              <a:schemeClr val="accent1"/>
            </a:solidFill>
            <a:ln w="139700" cap="flat">
              <a:solidFill>
                <a:srgbClr val="404040"/>
              </a:solidFill>
              <a:prstDash val="solid"/>
              <a:miter lim="800000"/>
            </a:ln>
            <a:effectLst/>
          </p:spPr>
          <p:txBody>
            <a:bodyPr wrap="square" lIns="32145" tIns="32145" rIns="32145" bIns="32145" numCol="1" anchor="t">
              <a:noAutofit/>
            </a:bodyPr>
            <a:lstStyle/>
            <a:p>
              <a:endParaRPr sz="1265"/>
            </a:p>
          </p:txBody>
        </p:sp>
      </p:grpSp>
      <p:sp>
        <p:nvSpPr>
          <p:cNvPr id="204" name="“如果提前了解了你所要面对的人生，你是否还会有勇气前来？”…"/>
          <p:cNvSpPr txBox="1"/>
          <p:nvPr/>
        </p:nvSpPr>
        <p:spPr>
          <a:xfrm>
            <a:off x="3911468" y="2083713"/>
            <a:ext cx="5127625" cy="509905"/>
          </a:xfrm>
          <a:prstGeom prst="rect">
            <a:avLst/>
          </a:prstGeom>
          <a:ln w="12700">
            <a:miter lim="400000"/>
          </a:ln>
        </p:spPr>
        <p:txBody>
          <a:bodyPr wrap="none" lIns="34287" tIns="34287" rIns="34287" bIns="34287">
            <a:spAutoFit/>
          </a:bodyPr>
          <a:lstStyle/>
          <a:p>
            <a:pPr defTabSz="457200">
              <a:lnSpc>
                <a:spcPct val="120000"/>
              </a:lnSpc>
              <a:defRPr sz="2000" b="1">
                <a:solidFill>
                  <a:srgbClr val="111111"/>
                </a:solidFill>
                <a:latin typeface="+mj-lt"/>
                <a:ea typeface="+mj-ea"/>
                <a:cs typeface="+mj-cs"/>
                <a:sym typeface="Helvetica"/>
              </a:defRPr>
            </a:pPr>
            <a:r>
              <a:rPr sz="1405"/>
              <a:t>“</a:t>
            </a:r>
            <a:r>
              <a:rPr sz="1405">
                <a:solidFill>
                  <a:srgbClr val="FFFFFF"/>
                </a:solidFill>
              </a:rPr>
              <a:t>如果提前了解了你所要面对的人生，你是否还会有勇气前来？”</a:t>
            </a:r>
            <a:endParaRPr sz="1405">
              <a:solidFill>
                <a:srgbClr val="FFFFFF"/>
              </a:solidFill>
            </a:endParaRPr>
          </a:p>
          <a:p>
            <a:pPr algn="r" defTabSz="457200">
              <a:lnSpc>
                <a:spcPct val="120000"/>
              </a:lnSpc>
              <a:defRPr sz="1400">
                <a:solidFill>
                  <a:srgbClr val="FFFFFF"/>
                </a:solidFill>
                <a:latin typeface="+mj-lt"/>
                <a:ea typeface="+mj-ea"/>
                <a:cs typeface="+mj-cs"/>
                <a:sym typeface="Helvetica"/>
              </a:defRPr>
            </a:pPr>
            <a:r>
              <a:rPr sz="985"/>
              <a:t>这是《无问西东》电影中的开篇之问。</a:t>
            </a:r>
            <a:endParaRPr sz="985"/>
          </a:p>
        </p:txBody>
      </p:sp>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203"/>
                                        </p:tgtEl>
                                        <p:attrNameLst>
                                          <p:attrName>style.visibility</p:attrName>
                                        </p:attrNameLst>
                                      </p:cBhvr>
                                      <p:to>
                                        <p:strVal val="visible"/>
                                      </p:to>
                                    </p:set>
                                    <p:anim calcmode="lin" valueType="num">
                                      <p:cBhvr>
                                        <p:cTn id="7" dur="750" fill="hold"/>
                                        <p:tgtEl>
                                          <p:spTgt spid="203"/>
                                        </p:tgtEl>
                                        <p:attrNameLst>
                                          <p:attrName>ppt_x</p:attrName>
                                        </p:attrNameLst>
                                      </p:cBhvr>
                                      <p:tavLst>
                                        <p:tav tm="0">
                                          <p:val>
                                            <p:strVal val="1+#ppt_w/2"/>
                                          </p:val>
                                        </p:tav>
                                        <p:tav tm="100000">
                                          <p:val>
                                            <p:strVal val="#ppt_x"/>
                                          </p:val>
                                        </p:tav>
                                      </p:tavLst>
                                    </p:anim>
                                    <p:anim calcmode="lin" valueType="num">
                                      <p:cBhvr>
                                        <p:cTn id="8" dur="750" fill="hold"/>
                                        <p:tgtEl>
                                          <p:spTgt spid="203"/>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196"/>
                                        </p:tgtEl>
                                        <p:attrNameLst>
                                          <p:attrName>style.visibility</p:attrName>
                                        </p:attrNameLst>
                                      </p:cBhvr>
                                      <p:to>
                                        <p:strVal val="visible"/>
                                      </p:to>
                                    </p:set>
                                    <p:animEffect transition="in" filter="wipe(right)">
                                      <p:cBhvr>
                                        <p:cTn id="12" dur="1000"/>
                                        <p:tgtEl>
                                          <p:spTgt spid="1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203" grpId="1" bldLvl="0" animBg="1" advAuto="0"/>
      <p:bldP spid="196" grpId="2"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光圈"/>
          <p:cNvSpPr txBox="1"/>
          <p:nvPr/>
        </p:nvSpPr>
        <p:spPr>
          <a:xfrm>
            <a:off x="5584110" y="5917854"/>
            <a:ext cx="5808707" cy="369570"/>
          </a:xfrm>
          <a:prstGeom prst="rect">
            <a:avLst/>
          </a:prstGeom>
          <a:ln w="12700">
            <a:miter lim="400000"/>
          </a:ln>
        </p:spPr>
        <p:txBody>
          <a:bodyPr lIns="34287" tIns="34287" rIns="34287" bIns="34287">
            <a:spAutoFit/>
          </a:bodyPr>
          <a:lstStyle>
            <a:lvl1pPr algn="ctr">
              <a:defRPr sz="2800">
                <a:latin typeface="微软雅黑"/>
                <a:ea typeface="微软雅黑"/>
                <a:cs typeface="微软雅黑"/>
                <a:sym typeface="微软雅黑"/>
              </a:defRPr>
            </a:lvl1pPr>
          </a:lstStyle>
          <a:p>
            <a:r>
              <a:rPr sz="1970"/>
              <a:t>看电影</a:t>
            </a:r>
            <a:endParaRPr sz="1970"/>
          </a:p>
        </p:txBody>
      </p:sp>
      <p:grpSp>
        <p:nvGrpSpPr>
          <p:cNvPr id="239" name="成组"/>
          <p:cNvGrpSpPr/>
          <p:nvPr/>
        </p:nvGrpSpPr>
        <p:grpSpPr>
          <a:xfrm>
            <a:off x="1803062" y="539113"/>
            <a:ext cx="3840498" cy="500380"/>
            <a:chOff x="-1" y="-2"/>
            <a:chExt cx="5462039" cy="711650"/>
          </a:xfrm>
        </p:grpSpPr>
        <p:sp>
          <p:nvSpPr>
            <p:cNvPr id="237" name="矩形"/>
            <p:cNvSpPr/>
            <p:nvPr/>
          </p:nvSpPr>
          <p:spPr>
            <a:xfrm>
              <a:off x="-1" y="16373"/>
              <a:ext cx="1048159" cy="497420"/>
            </a:xfrm>
            <a:prstGeom prst="rect">
              <a:avLst/>
            </a:prstGeom>
            <a:solidFill>
              <a:schemeClr val="accent1"/>
            </a:solidFill>
            <a:ln w="12700" cap="flat">
              <a:noFill/>
              <a:miter lim="400000"/>
            </a:ln>
            <a:effectLst/>
          </p:spPr>
          <p:txBody>
            <a:bodyPr wrap="square" lIns="34287" tIns="34287" rIns="34287" bIns="34287" numCol="1" anchor="ctr">
              <a:noAutofit/>
            </a:bodyPr>
            <a:lstStyle/>
            <a:p>
              <a:pPr algn="ctr">
                <a:defRPr>
                  <a:solidFill>
                    <a:srgbClr val="FFFFFF"/>
                  </a:solidFill>
                </a:defRPr>
              </a:pPr>
              <a:endParaRPr sz="1265"/>
            </a:p>
          </p:txBody>
        </p:sp>
        <p:sp>
          <p:nvSpPr>
            <p:cNvPr id="238" name="影像的分享…"/>
            <p:cNvSpPr txBox="1"/>
            <p:nvPr/>
          </p:nvSpPr>
          <p:spPr>
            <a:xfrm>
              <a:off x="1048150" y="-2"/>
              <a:ext cx="4413888" cy="711650"/>
            </a:xfrm>
            <a:prstGeom prst="rect">
              <a:avLst/>
            </a:prstGeom>
            <a:noFill/>
            <a:ln w="12700" cap="flat">
              <a:noFill/>
              <a:miter lim="400000"/>
            </a:ln>
            <a:effectLst/>
          </p:spPr>
          <p:txBody>
            <a:bodyPr wrap="square" lIns="34287" tIns="34287" rIns="34287" bIns="34287" numCol="1" anchor="t">
              <a:spAutoFit/>
            </a:bodyPr>
            <a:lstStyle/>
            <a:p>
              <a:pPr>
                <a:defRPr sz="2200">
                  <a:latin typeface="微软雅黑"/>
                  <a:ea typeface="微软雅黑"/>
                  <a:cs typeface="微软雅黑"/>
                  <a:sym typeface="微软雅黑"/>
                </a:defRPr>
              </a:pPr>
              <a:r>
                <a:rPr sz="1545"/>
                <a:t>影像的分享</a:t>
              </a:r>
              <a:endParaRPr sz="1545"/>
            </a:p>
            <a:p>
              <a:pPr>
                <a:defRPr sz="1800">
                  <a:latin typeface="微软雅黑"/>
                  <a:ea typeface="微软雅黑"/>
                  <a:cs typeface="微软雅黑"/>
                  <a:sym typeface="微软雅黑"/>
                </a:defRPr>
              </a:pPr>
              <a:r>
                <a:rPr sz="1265"/>
                <a:t>Image sharing</a:t>
              </a:r>
              <a:endParaRPr sz="1265"/>
            </a:p>
          </p:txBody>
        </p:sp>
      </p:grpSp>
      <p:grpSp>
        <p:nvGrpSpPr>
          <p:cNvPr id="243" name="成组"/>
          <p:cNvGrpSpPr/>
          <p:nvPr/>
        </p:nvGrpSpPr>
        <p:grpSpPr>
          <a:xfrm>
            <a:off x="9365770" y="5864273"/>
            <a:ext cx="854243" cy="532928"/>
            <a:chOff x="-1" y="-1"/>
            <a:chExt cx="1214922" cy="757941"/>
          </a:xfrm>
        </p:grpSpPr>
        <p:sp>
          <p:nvSpPr>
            <p:cNvPr id="240" name="成组"/>
            <p:cNvSpPr/>
            <p:nvPr/>
          </p:nvSpPr>
          <p:spPr>
            <a:xfrm flipH="1">
              <a:off x="-2" y="-2"/>
              <a:ext cx="1214924" cy="75794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34287" tIns="34287" rIns="34287" bIns="34287" numCol="1" anchor="ctr">
              <a:noAutofit/>
            </a:bodyPr>
            <a:lstStyle/>
            <a:p>
              <a:pPr>
                <a:defRPr>
                  <a:solidFill>
                    <a:srgbClr val="FFFFFF"/>
                  </a:solidFill>
                  <a:latin typeface="微软雅黑"/>
                  <a:ea typeface="微软雅黑"/>
                  <a:cs typeface="微软雅黑"/>
                  <a:sym typeface="微软雅黑"/>
                </a:defRPr>
              </a:pPr>
              <a:endParaRPr sz="1265"/>
            </a:p>
          </p:txBody>
        </p:sp>
        <p:sp>
          <p:nvSpPr>
            <p:cNvPr id="241" name="线条"/>
            <p:cNvSpPr/>
            <p:nvPr/>
          </p:nvSpPr>
          <p:spPr>
            <a:xfrm>
              <a:off x="1047719" y="196016"/>
              <a:ext cx="8" cy="369834"/>
            </a:xfrm>
            <a:prstGeom prst="line">
              <a:avLst/>
            </a:prstGeom>
            <a:solidFill>
              <a:schemeClr val="accent1"/>
            </a:solidFill>
            <a:ln w="139700" cap="flat">
              <a:solidFill>
                <a:srgbClr val="404040"/>
              </a:solidFill>
              <a:prstDash val="solid"/>
              <a:miter lim="800000"/>
            </a:ln>
            <a:effectLst/>
          </p:spPr>
          <p:txBody>
            <a:bodyPr wrap="square" lIns="32145" tIns="32145" rIns="32145" bIns="32145" numCol="1" anchor="t">
              <a:noAutofit/>
            </a:bodyPr>
            <a:lstStyle/>
            <a:p>
              <a:endParaRPr sz="1265"/>
            </a:p>
          </p:txBody>
        </p:sp>
        <p:sp>
          <p:nvSpPr>
            <p:cNvPr id="242" name="线条"/>
            <p:cNvSpPr/>
            <p:nvPr/>
          </p:nvSpPr>
          <p:spPr>
            <a:xfrm>
              <a:off x="869383" y="196016"/>
              <a:ext cx="9" cy="369834"/>
            </a:xfrm>
            <a:prstGeom prst="line">
              <a:avLst/>
            </a:prstGeom>
            <a:solidFill>
              <a:schemeClr val="accent1"/>
            </a:solidFill>
            <a:ln w="139700" cap="flat">
              <a:solidFill>
                <a:srgbClr val="404040"/>
              </a:solidFill>
              <a:prstDash val="solid"/>
              <a:miter lim="800000"/>
            </a:ln>
            <a:effectLst/>
          </p:spPr>
          <p:txBody>
            <a:bodyPr wrap="square" lIns="32145" tIns="32145" rIns="32145" bIns="32145" numCol="1" anchor="t">
              <a:noAutofit/>
            </a:bodyPr>
            <a:lstStyle/>
            <a:p>
              <a:endParaRPr sz="1265"/>
            </a:p>
          </p:txBody>
        </p:sp>
      </p:grpSp>
      <p:pic>
        <p:nvPicPr>
          <p:cNvPr id="3" name="图片 2" descr="屏幕快照 2020-12-09 14.57.23"/>
          <p:cNvPicPr>
            <a:picLocks noChangeAspect="1"/>
          </p:cNvPicPr>
          <p:nvPr/>
        </p:nvPicPr>
        <p:blipFill>
          <a:blip r:embed="rId1"/>
          <a:stretch>
            <a:fillRect/>
          </a:stretch>
        </p:blipFill>
        <p:spPr>
          <a:xfrm>
            <a:off x="1802765" y="1515110"/>
            <a:ext cx="9393555" cy="40112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243"/>
                                        </p:tgtEl>
                                        <p:attrNameLst>
                                          <p:attrName>style.visibility</p:attrName>
                                        </p:attrNameLst>
                                      </p:cBhvr>
                                      <p:to>
                                        <p:strVal val="visible"/>
                                      </p:to>
                                    </p:set>
                                    <p:anim calcmode="lin" valueType="num">
                                      <p:cBhvr>
                                        <p:cTn id="7" dur="750" fill="hold"/>
                                        <p:tgtEl>
                                          <p:spTgt spid="243"/>
                                        </p:tgtEl>
                                        <p:attrNameLst>
                                          <p:attrName>ppt_x</p:attrName>
                                        </p:attrNameLst>
                                      </p:cBhvr>
                                      <p:tavLst>
                                        <p:tav tm="0">
                                          <p:val>
                                            <p:strVal val="1+#ppt_w/2"/>
                                          </p:val>
                                        </p:tav>
                                        <p:tav tm="100000">
                                          <p:val>
                                            <p:strVal val="#ppt_x"/>
                                          </p:val>
                                        </p:tav>
                                      </p:tavLst>
                                    </p:anim>
                                    <p:anim calcmode="lin" valueType="num">
                                      <p:cBhvr>
                                        <p:cTn id="8" dur="750" fill="hold"/>
                                        <p:tgtEl>
                                          <p:spTgt spid="243"/>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236"/>
                                        </p:tgtEl>
                                        <p:attrNameLst>
                                          <p:attrName>style.visibility</p:attrName>
                                        </p:attrNameLst>
                                      </p:cBhvr>
                                      <p:to>
                                        <p:strVal val="visible"/>
                                      </p:to>
                                    </p:set>
                                    <p:animEffect transition="in" filter="wipe(right)">
                                      <p:cBhvr>
                                        <p:cTn id="12" dur="1000"/>
                                        <p:tgtEl>
                                          <p:spTgt spid="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243" grpId="1" bldLvl="0" animBg="1" advAuto="0"/>
      <p:bldP spid="236" grpId="2"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光圈"/>
          <p:cNvSpPr txBox="1"/>
          <p:nvPr/>
        </p:nvSpPr>
        <p:spPr>
          <a:xfrm>
            <a:off x="5584110" y="5917854"/>
            <a:ext cx="5808707" cy="369570"/>
          </a:xfrm>
          <a:prstGeom prst="rect">
            <a:avLst/>
          </a:prstGeom>
          <a:ln w="12700">
            <a:miter lim="400000"/>
          </a:ln>
        </p:spPr>
        <p:txBody>
          <a:bodyPr lIns="34287" tIns="34287" rIns="34287" bIns="34287">
            <a:spAutoFit/>
          </a:bodyPr>
          <a:lstStyle>
            <a:lvl1pPr algn="ctr">
              <a:defRPr sz="2800">
                <a:latin typeface="微软雅黑"/>
                <a:ea typeface="微软雅黑"/>
                <a:cs typeface="微软雅黑"/>
                <a:sym typeface="微软雅黑"/>
              </a:defRPr>
            </a:lvl1pPr>
          </a:lstStyle>
          <a:p>
            <a:r>
              <a:rPr sz="1970"/>
              <a:t>看电影</a:t>
            </a:r>
            <a:endParaRPr sz="1970"/>
          </a:p>
        </p:txBody>
      </p:sp>
      <p:grpSp>
        <p:nvGrpSpPr>
          <p:cNvPr id="280" name="成组"/>
          <p:cNvGrpSpPr/>
          <p:nvPr/>
        </p:nvGrpSpPr>
        <p:grpSpPr>
          <a:xfrm>
            <a:off x="1803062" y="539113"/>
            <a:ext cx="3840498" cy="500380"/>
            <a:chOff x="-1" y="-2"/>
            <a:chExt cx="5462039" cy="711650"/>
          </a:xfrm>
        </p:grpSpPr>
        <p:sp>
          <p:nvSpPr>
            <p:cNvPr id="278" name="矩形"/>
            <p:cNvSpPr/>
            <p:nvPr/>
          </p:nvSpPr>
          <p:spPr>
            <a:xfrm>
              <a:off x="-1" y="16373"/>
              <a:ext cx="1048159" cy="497420"/>
            </a:xfrm>
            <a:prstGeom prst="rect">
              <a:avLst/>
            </a:prstGeom>
            <a:solidFill>
              <a:schemeClr val="accent1"/>
            </a:solidFill>
            <a:ln w="12700" cap="flat">
              <a:noFill/>
              <a:miter lim="400000"/>
            </a:ln>
            <a:effectLst/>
          </p:spPr>
          <p:txBody>
            <a:bodyPr wrap="square" lIns="34287" tIns="34287" rIns="34287" bIns="34287" numCol="1" anchor="ctr">
              <a:noAutofit/>
            </a:bodyPr>
            <a:lstStyle/>
            <a:p>
              <a:pPr algn="ctr">
                <a:defRPr>
                  <a:solidFill>
                    <a:srgbClr val="FFFFFF"/>
                  </a:solidFill>
                </a:defRPr>
              </a:pPr>
              <a:endParaRPr sz="1265"/>
            </a:p>
          </p:txBody>
        </p:sp>
        <p:sp>
          <p:nvSpPr>
            <p:cNvPr id="279" name="影像的分享…"/>
            <p:cNvSpPr txBox="1"/>
            <p:nvPr/>
          </p:nvSpPr>
          <p:spPr>
            <a:xfrm>
              <a:off x="1048150" y="-2"/>
              <a:ext cx="4413888" cy="711650"/>
            </a:xfrm>
            <a:prstGeom prst="rect">
              <a:avLst/>
            </a:prstGeom>
            <a:noFill/>
            <a:ln w="12700" cap="flat">
              <a:noFill/>
              <a:miter lim="400000"/>
            </a:ln>
            <a:effectLst/>
          </p:spPr>
          <p:txBody>
            <a:bodyPr wrap="square" lIns="34287" tIns="34287" rIns="34287" bIns="34287" numCol="1" anchor="t">
              <a:spAutoFit/>
            </a:bodyPr>
            <a:lstStyle/>
            <a:p>
              <a:pPr>
                <a:defRPr sz="2200">
                  <a:latin typeface="微软雅黑"/>
                  <a:ea typeface="微软雅黑"/>
                  <a:cs typeface="微软雅黑"/>
                  <a:sym typeface="微软雅黑"/>
                </a:defRPr>
              </a:pPr>
              <a:r>
                <a:rPr sz="1545"/>
                <a:t>影像的分享</a:t>
              </a:r>
              <a:endParaRPr sz="1545"/>
            </a:p>
            <a:p>
              <a:pPr>
                <a:defRPr sz="1800">
                  <a:latin typeface="微软雅黑"/>
                  <a:ea typeface="微软雅黑"/>
                  <a:cs typeface="微软雅黑"/>
                  <a:sym typeface="微软雅黑"/>
                </a:defRPr>
              </a:pPr>
              <a:r>
                <a:rPr sz="1265"/>
                <a:t>Image sharing</a:t>
              </a:r>
              <a:endParaRPr sz="1265"/>
            </a:p>
          </p:txBody>
        </p:sp>
      </p:grpSp>
      <p:grpSp>
        <p:nvGrpSpPr>
          <p:cNvPr id="284" name="成组"/>
          <p:cNvGrpSpPr/>
          <p:nvPr/>
        </p:nvGrpSpPr>
        <p:grpSpPr>
          <a:xfrm>
            <a:off x="9365770" y="5864273"/>
            <a:ext cx="854243" cy="532928"/>
            <a:chOff x="-1" y="-1"/>
            <a:chExt cx="1214922" cy="757941"/>
          </a:xfrm>
        </p:grpSpPr>
        <p:sp>
          <p:nvSpPr>
            <p:cNvPr id="281" name="成组"/>
            <p:cNvSpPr/>
            <p:nvPr/>
          </p:nvSpPr>
          <p:spPr>
            <a:xfrm flipH="1">
              <a:off x="-2" y="-2"/>
              <a:ext cx="1214924" cy="75794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34287" tIns="34287" rIns="34287" bIns="34287" numCol="1" anchor="ctr">
              <a:noAutofit/>
            </a:bodyPr>
            <a:lstStyle/>
            <a:p>
              <a:pPr>
                <a:defRPr>
                  <a:solidFill>
                    <a:srgbClr val="FFFFFF"/>
                  </a:solidFill>
                  <a:latin typeface="微软雅黑"/>
                  <a:ea typeface="微软雅黑"/>
                  <a:cs typeface="微软雅黑"/>
                  <a:sym typeface="微软雅黑"/>
                </a:defRPr>
              </a:pPr>
              <a:endParaRPr sz="1265"/>
            </a:p>
          </p:txBody>
        </p:sp>
        <p:sp>
          <p:nvSpPr>
            <p:cNvPr id="282" name="线条"/>
            <p:cNvSpPr/>
            <p:nvPr/>
          </p:nvSpPr>
          <p:spPr>
            <a:xfrm>
              <a:off x="1047719" y="196016"/>
              <a:ext cx="8" cy="369834"/>
            </a:xfrm>
            <a:prstGeom prst="line">
              <a:avLst/>
            </a:prstGeom>
            <a:solidFill>
              <a:schemeClr val="accent1"/>
            </a:solidFill>
            <a:ln w="139700" cap="flat">
              <a:solidFill>
                <a:srgbClr val="404040"/>
              </a:solidFill>
              <a:prstDash val="solid"/>
              <a:miter lim="800000"/>
            </a:ln>
            <a:effectLst/>
          </p:spPr>
          <p:txBody>
            <a:bodyPr wrap="square" lIns="32145" tIns="32145" rIns="32145" bIns="32145" numCol="1" anchor="t">
              <a:noAutofit/>
            </a:bodyPr>
            <a:lstStyle/>
            <a:p>
              <a:endParaRPr sz="1265"/>
            </a:p>
          </p:txBody>
        </p:sp>
        <p:sp>
          <p:nvSpPr>
            <p:cNvPr id="283" name="线条"/>
            <p:cNvSpPr/>
            <p:nvPr/>
          </p:nvSpPr>
          <p:spPr>
            <a:xfrm>
              <a:off x="869383" y="196016"/>
              <a:ext cx="9" cy="369834"/>
            </a:xfrm>
            <a:prstGeom prst="line">
              <a:avLst/>
            </a:prstGeom>
            <a:solidFill>
              <a:schemeClr val="accent1"/>
            </a:solidFill>
            <a:ln w="139700" cap="flat">
              <a:solidFill>
                <a:srgbClr val="404040"/>
              </a:solidFill>
              <a:prstDash val="solid"/>
              <a:miter lim="800000"/>
            </a:ln>
            <a:effectLst/>
          </p:spPr>
          <p:txBody>
            <a:bodyPr wrap="square" lIns="32145" tIns="32145" rIns="32145" bIns="32145" numCol="1" anchor="t">
              <a:noAutofit/>
            </a:bodyPr>
            <a:lstStyle/>
            <a:p>
              <a:endParaRPr sz="1265"/>
            </a:p>
          </p:txBody>
        </p:sp>
      </p:grpSp>
      <p:sp>
        <p:nvSpPr>
          <p:cNvPr id="285" name="生而为真——吴岭澜…"/>
          <p:cNvSpPr txBox="1"/>
          <p:nvPr/>
        </p:nvSpPr>
        <p:spPr>
          <a:xfrm>
            <a:off x="3820276" y="980824"/>
            <a:ext cx="5808706" cy="2240915"/>
          </a:xfrm>
          <a:prstGeom prst="rect">
            <a:avLst/>
          </a:prstGeom>
          <a:ln w="12700">
            <a:miter lim="400000"/>
          </a:ln>
        </p:spPr>
        <p:txBody>
          <a:bodyPr lIns="34287" tIns="34287" rIns="34287" bIns="34287">
            <a:spAutoFit/>
          </a:bodyPr>
          <a:lstStyle/>
          <a:p>
            <a:pPr defTabSz="457200">
              <a:lnSpc>
                <a:spcPts val="5100"/>
              </a:lnSpc>
              <a:spcBef>
                <a:spcPts val="1200"/>
              </a:spcBef>
              <a:defRPr sz="28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pPr>
            <a:r>
              <a:rPr sz="1970"/>
              <a:t>生而为真——</a:t>
            </a:r>
            <a:r>
              <a:rPr sz="1690"/>
              <a:t>吴岭澜</a:t>
            </a:r>
            <a:endParaRPr sz="1690"/>
          </a:p>
          <a:p>
            <a:pPr defTabSz="457200">
              <a:defRPr sz="1400">
                <a:solidFill>
                  <a:srgbClr val="111111"/>
                </a:solidFill>
                <a:latin typeface="+mj-lt"/>
                <a:ea typeface="+mj-ea"/>
                <a:cs typeface="+mj-cs"/>
                <a:sym typeface="Helvetica"/>
              </a:defRPr>
            </a:pPr>
            <a:endParaRPr sz="985"/>
          </a:p>
          <a:p>
            <a:pPr defTabSz="457200">
              <a:defRPr sz="1400">
                <a:solidFill>
                  <a:srgbClr val="111111"/>
                </a:solidFill>
                <a:latin typeface="+mj-lt"/>
                <a:ea typeface="+mj-ea"/>
                <a:cs typeface="+mj-cs"/>
                <a:sym typeface="Helvetica"/>
              </a:defRPr>
            </a:pPr>
            <a:r>
              <a:rPr sz="985"/>
              <a:t>1923年民国时期的北平，五四之风迎来新青年，每一个学生都想要投身于实科的研习中，一部分为救国之义，一部分也为世事之俗。清华学子吴岭澜，原以为读书仅出于一己之心的平静，经校长梅贻琦一问，便陷入深深的思索当中。</a:t>
            </a:r>
            <a:endParaRPr sz="985"/>
          </a:p>
          <a:p>
            <a:pPr defTabSz="457200">
              <a:defRPr sz="1400">
                <a:solidFill>
                  <a:srgbClr val="111111"/>
                </a:solidFill>
                <a:latin typeface="+mj-lt"/>
                <a:ea typeface="+mj-ea"/>
                <a:cs typeface="+mj-cs"/>
                <a:sym typeface="Helvetica"/>
              </a:defRPr>
            </a:pPr>
            <a:r>
              <a:rPr sz="985"/>
              <a:t>梅校长问他</a:t>
            </a:r>
            <a:r>
              <a:rPr sz="985" b="1"/>
              <a:t>“读书是为了什么？”</a:t>
            </a:r>
            <a:endParaRPr sz="985" b="1"/>
          </a:p>
          <a:p>
            <a:pPr defTabSz="457200">
              <a:defRPr sz="1400">
                <a:solidFill>
                  <a:srgbClr val="111111"/>
                </a:solidFill>
                <a:latin typeface="+mj-lt"/>
                <a:ea typeface="+mj-ea"/>
                <a:cs typeface="+mj-cs"/>
                <a:sym typeface="Helvetica"/>
              </a:defRPr>
            </a:pPr>
            <a:r>
              <a:rPr sz="985"/>
              <a:t>换一个说法就是---</a:t>
            </a:r>
            <a:r>
              <a:rPr sz="985" b="1"/>
              <a:t>“生而为何”</a:t>
            </a:r>
            <a:r>
              <a:rPr sz="985"/>
              <a:t>？</a:t>
            </a:r>
            <a:endParaRPr sz="985"/>
          </a:p>
          <a:p>
            <a:pPr defTabSz="457200">
              <a:defRPr sz="1400">
                <a:solidFill>
                  <a:srgbClr val="111111"/>
                </a:solidFill>
                <a:latin typeface="+mj-lt"/>
                <a:ea typeface="+mj-ea"/>
                <a:cs typeface="+mj-cs"/>
                <a:sym typeface="Helvetica"/>
              </a:defRPr>
            </a:pPr>
            <a:r>
              <a:rPr sz="985"/>
              <a:t>泰戈尔1924年访华，正值迷茫期的吴岭澜有幸聆听了大师的演讲：</a:t>
            </a:r>
            <a:endParaRPr sz="985"/>
          </a:p>
          <a:p>
            <a:pPr defTabSz="457200">
              <a:defRPr sz="1400">
                <a:solidFill>
                  <a:srgbClr val="111111"/>
                </a:solidFill>
                <a:latin typeface="+mj-lt"/>
                <a:ea typeface="+mj-ea"/>
                <a:cs typeface="+mj-cs"/>
                <a:sym typeface="Helvetica"/>
              </a:defRPr>
            </a:pPr>
            <a:r>
              <a:rPr sz="985"/>
              <a:t>我竭我的至诚恳求你们，不要错走路，不要惶惑，不要忘记你们的天职，不要理会那恶俗力量的引诱，诞妄的巨体的叫唤。保持那凡事必求美满的理想，你们一切的工作，一切的行动都应得本着于那惟一的标准，不要忘记你们的真心。于是，吴岭澜找到了心中的答案---生而为真。</a:t>
            </a:r>
            <a:endParaRPr sz="985"/>
          </a:p>
        </p:txBody>
      </p:sp>
      <p:pic>
        <p:nvPicPr>
          <p:cNvPr id="286" name="3007866.jpg" descr="3007866.jpg"/>
          <p:cNvPicPr>
            <a:picLocks noChangeAspect="1"/>
          </p:cNvPicPr>
          <p:nvPr/>
        </p:nvPicPr>
        <p:blipFill>
          <a:blip r:embed="rId1"/>
          <a:stretch>
            <a:fillRect/>
          </a:stretch>
        </p:blipFill>
        <p:spPr>
          <a:xfrm>
            <a:off x="3867129" y="3365051"/>
            <a:ext cx="5715001" cy="2428879"/>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284"/>
                                        </p:tgtEl>
                                        <p:attrNameLst>
                                          <p:attrName>style.visibility</p:attrName>
                                        </p:attrNameLst>
                                      </p:cBhvr>
                                      <p:to>
                                        <p:strVal val="visible"/>
                                      </p:to>
                                    </p:set>
                                    <p:anim calcmode="lin" valueType="num">
                                      <p:cBhvr>
                                        <p:cTn id="7" dur="750" fill="hold"/>
                                        <p:tgtEl>
                                          <p:spTgt spid="284"/>
                                        </p:tgtEl>
                                        <p:attrNameLst>
                                          <p:attrName>ppt_x</p:attrName>
                                        </p:attrNameLst>
                                      </p:cBhvr>
                                      <p:tavLst>
                                        <p:tav tm="0">
                                          <p:val>
                                            <p:strVal val="1+#ppt_w/2"/>
                                          </p:val>
                                        </p:tav>
                                        <p:tav tm="100000">
                                          <p:val>
                                            <p:strVal val="#ppt_x"/>
                                          </p:val>
                                        </p:tav>
                                      </p:tavLst>
                                    </p:anim>
                                    <p:anim calcmode="lin" valueType="num">
                                      <p:cBhvr>
                                        <p:cTn id="8" dur="750" fill="hold"/>
                                        <p:tgtEl>
                                          <p:spTgt spid="284"/>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277"/>
                                        </p:tgtEl>
                                        <p:attrNameLst>
                                          <p:attrName>style.visibility</p:attrName>
                                        </p:attrNameLst>
                                      </p:cBhvr>
                                      <p:to>
                                        <p:strVal val="visible"/>
                                      </p:to>
                                    </p:set>
                                    <p:animEffect transition="in" filter="wipe(right)">
                                      <p:cBhvr>
                                        <p:cTn id="12" dur="1000"/>
                                        <p:tgtEl>
                                          <p:spTgt spid="2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277" grpId="2" animBg="1" advAuto="0"/>
      <p:bldP spid="284" grpId="1" bldLvl="0" animBg="1" advAuto="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光圈"/>
          <p:cNvSpPr txBox="1"/>
          <p:nvPr/>
        </p:nvSpPr>
        <p:spPr>
          <a:xfrm>
            <a:off x="5584110" y="5917854"/>
            <a:ext cx="5808707" cy="369570"/>
          </a:xfrm>
          <a:prstGeom prst="rect">
            <a:avLst/>
          </a:prstGeom>
          <a:ln w="12700">
            <a:miter lim="400000"/>
          </a:ln>
        </p:spPr>
        <p:txBody>
          <a:bodyPr lIns="34287" tIns="34287" rIns="34287" bIns="34287">
            <a:spAutoFit/>
          </a:bodyPr>
          <a:lstStyle>
            <a:lvl1pPr algn="ctr">
              <a:defRPr sz="2800">
                <a:latin typeface="微软雅黑"/>
                <a:ea typeface="微软雅黑"/>
                <a:cs typeface="微软雅黑"/>
                <a:sym typeface="微软雅黑"/>
              </a:defRPr>
            </a:lvl1pPr>
          </a:lstStyle>
          <a:p>
            <a:r>
              <a:rPr sz="1970"/>
              <a:t>看电影</a:t>
            </a:r>
            <a:endParaRPr sz="1970"/>
          </a:p>
        </p:txBody>
      </p:sp>
      <p:grpSp>
        <p:nvGrpSpPr>
          <p:cNvPr id="269" name="成组"/>
          <p:cNvGrpSpPr/>
          <p:nvPr/>
        </p:nvGrpSpPr>
        <p:grpSpPr>
          <a:xfrm>
            <a:off x="1803062" y="539113"/>
            <a:ext cx="3840498" cy="500380"/>
            <a:chOff x="-1" y="-2"/>
            <a:chExt cx="5462039" cy="711650"/>
          </a:xfrm>
        </p:grpSpPr>
        <p:sp>
          <p:nvSpPr>
            <p:cNvPr id="267" name="矩形"/>
            <p:cNvSpPr/>
            <p:nvPr/>
          </p:nvSpPr>
          <p:spPr>
            <a:xfrm>
              <a:off x="-1" y="16373"/>
              <a:ext cx="1048159" cy="497420"/>
            </a:xfrm>
            <a:prstGeom prst="rect">
              <a:avLst/>
            </a:prstGeom>
            <a:solidFill>
              <a:schemeClr val="accent1"/>
            </a:solidFill>
            <a:ln w="12700" cap="flat">
              <a:noFill/>
              <a:miter lim="400000"/>
            </a:ln>
            <a:effectLst/>
          </p:spPr>
          <p:txBody>
            <a:bodyPr wrap="square" lIns="34287" tIns="34287" rIns="34287" bIns="34287" numCol="1" anchor="ctr">
              <a:noAutofit/>
            </a:bodyPr>
            <a:lstStyle/>
            <a:p>
              <a:pPr algn="ctr">
                <a:defRPr>
                  <a:solidFill>
                    <a:srgbClr val="FFFFFF"/>
                  </a:solidFill>
                </a:defRPr>
              </a:pPr>
              <a:endParaRPr sz="1265"/>
            </a:p>
          </p:txBody>
        </p:sp>
        <p:sp>
          <p:nvSpPr>
            <p:cNvPr id="268" name="影像的分享…"/>
            <p:cNvSpPr txBox="1"/>
            <p:nvPr/>
          </p:nvSpPr>
          <p:spPr>
            <a:xfrm>
              <a:off x="1048150" y="-2"/>
              <a:ext cx="4413888" cy="711650"/>
            </a:xfrm>
            <a:prstGeom prst="rect">
              <a:avLst/>
            </a:prstGeom>
            <a:noFill/>
            <a:ln w="12700" cap="flat">
              <a:noFill/>
              <a:miter lim="400000"/>
            </a:ln>
            <a:effectLst/>
          </p:spPr>
          <p:txBody>
            <a:bodyPr wrap="square" lIns="34287" tIns="34287" rIns="34287" bIns="34287" numCol="1" anchor="t">
              <a:spAutoFit/>
            </a:bodyPr>
            <a:lstStyle/>
            <a:p>
              <a:pPr>
                <a:defRPr sz="2200">
                  <a:latin typeface="微软雅黑"/>
                  <a:ea typeface="微软雅黑"/>
                  <a:cs typeface="微软雅黑"/>
                  <a:sym typeface="微软雅黑"/>
                </a:defRPr>
              </a:pPr>
              <a:r>
                <a:rPr sz="1545"/>
                <a:t>影像的分享</a:t>
              </a:r>
              <a:endParaRPr sz="1545"/>
            </a:p>
            <a:p>
              <a:pPr>
                <a:defRPr sz="1800">
                  <a:latin typeface="微软雅黑"/>
                  <a:ea typeface="微软雅黑"/>
                  <a:cs typeface="微软雅黑"/>
                  <a:sym typeface="微软雅黑"/>
                </a:defRPr>
              </a:pPr>
              <a:r>
                <a:rPr sz="1265"/>
                <a:t>Image sharing</a:t>
              </a:r>
              <a:endParaRPr sz="1265"/>
            </a:p>
          </p:txBody>
        </p:sp>
      </p:grpSp>
      <p:grpSp>
        <p:nvGrpSpPr>
          <p:cNvPr id="273" name="成组"/>
          <p:cNvGrpSpPr/>
          <p:nvPr/>
        </p:nvGrpSpPr>
        <p:grpSpPr>
          <a:xfrm>
            <a:off x="9365770" y="5864273"/>
            <a:ext cx="854243" cy="532928"/>
            <a:chOff x="-1" y="-1"/>
            <a:chExt cx="1214922" cy="757941"/>
          </a:xfrm>
        </p:grpSpPr>
        <p:sp>
          <p:nvSpPr>
            <p:cNvPr id="270" name="成组"/>
            <p:cNvSpPr/>
            <p:nvPr/>
          </p:nvSpPr>
          <p:spPr>
            <a:xfrm flipH="1">
              <a:off x="-2" y="-2"/>
              <a:ext cx="1214924" cy="75794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34287" tIns="34287" rIns="34287" bIns="34287" numCol="1" anchor="ctr">
              <a:noAutofit/>
            </a:bodyPr>
            <a:lstStyle/>
            <a:p>
              <a:pPr>
                <a:defRPr>
                  <a:solidFill>
                    <a:srgbClr val="FFFFFF"/>
                  </a:solidFill>
                  <a:latin typeface="微软雅黑"/>
                  <a:ea typeface="微软雅黑"/>
                  <a:cs typeface="微软雅黑"/>
                  <a:sym typeface="微软雅黑"/>
                </a:defRPr>
              </a:pPr>
              <a:endParaRPr sz="1265"/>
            </a:p>
          </p:txBody>
        </p:sp>
        <p:sp>
          <p:nvSpPr>
            <p:cNvPr id="271" name="线条"/>
            <p:cNvSpPr/>
            <p:nvPr/>
          </p:nvSpPr>
          <p:spPr>
            <a:xfrm>
              <a:off x="1047719" y="196016"/>
              <a:ext cx="8" cy="369834"/>
            </a:xfrm>
            <a:prstGeom prst="line">
              <a:avLst/>
            </a:prstGeom>
            <a:solidFill>
              <a:schemeClr val="accent1"/>
            </a:solidFill>
            <a:ln w="139700" cap="flat">
              <a:solidFill>
                <a:srgbClr val="404040"/>
              </a:solidFill>
              <a:prstDash val="solid"/>
              <a:miter lim="800000"/>
            </a:ln>
            <a:effectLst/>
          </p:spPr>
          <p:txBody>
            <a:bodyPr wrap="square" lIns="32145" tIns="32145" rIns="32145" bIns="32145" numCol="1" anchor="t">
              <a:noAutofit/>
            </a:bodyPr>
            <a:lstStyle/>
            <a:p>
              <a:endParaRPr sz="1265"/>
            </a:p>
          </p:txBody>
        </p:sp>
        <p:sp>
          <p:nvSpPr>
            <p:cNvPr id="272" name="线条"/>
            <p:cNvSpPr/>
            <p:nvPr/>
          </p:nvSpPr>
          <p:spPr>
            <a:xfrm>
              <a:off x="869383" y="196016"/>
              <a:ext cx="9" cy="369834"/>
            </a:xfrm>
            <a:prstGeom prst="line">
              <a:avLst/>
            </a:prstGeom>
            <a:solidFill>
              <a:schemeClr val="accent1"/>
            </a:solidFill>
            <a:ln w="139700" cap="flat">
              <a:solidFill>
                <a:srgbClr val="404040"/>
              </a:solidFill>
              <a:prstDash val="solid"/>
              <a:miter lim="800000"/>
            </a:ln>
            <a:effectLst/>
          </p:spPr>
          <p:txBody>
            <a:bodyPr wrap="square" lIns="32145" tIns="32145" rIns="32145" bIns="32145" numCol="1" anchor="t">
              <a:noAutofit/>
            </a:bodyPr>
            <a:lstStyle/>
            <a:p>
              <a:endParaRPr sz="1265"/>
            </a:p>
          </p:txBody>
        </p:sp>
      </p:grpSp>
      <p:sp>
        <p:nvSpPr>
          <p:cNvPr id="274" name="生而为善——沈光耀…"/>
          <p:cNvSpPr txBox="1"/>
          <p:nvPr/>
        </p:nvSpPr>
        <p:spPr>
          <a:xfrm>
            <a:off x="3137455" y="1663934"/>
            <a:ext cx="6485853" cy="1480820"/>
          </a:xfrm>
          <a:prstGeom prst="rect">
            <a:avLst/>
          </a:prstGeom>
          <a:ln w="12700">
            <a:miter lim="400000"/>
          </a:ln>
        </p:spPr>
        <p:txBody>
          <a:bodyPr lIns="34287" tIns="34287" rIns="34287" bIns="34287">
            <a:spAutoFit/>
          </a:bodyPr>
          <a:lstStyle/>
          <a:p>
            <a:pPr defTabSz="457200">
              <a:lnSpc>
                <a:spcPts val="5100"/>
              </a:lnSpc>
              <a:spcBef>
                <a:spcPts val="1200"/>
              </a:spcBef>
              <a:defRPr sz="28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pPr>
            <a:r>
              <a:rPr sz="1970"/>
              <a:t>生而为善</a:t>
            </a:r>
            <a:r>
              <a:rPr sz="1900"/>
              <a:t>——</a:t>
            </a:r>
            <a:r>
              <a:rPr sz="1690"/>
              <a:t>沈光耀</a:t>
            </a:r>
            <a:endParaRPr sz="1690"/>
          </a:p>
          <a:p>
            <a:pPr defTabSz="457200">
              <a:defRPr sz="1400">
                <a:solidFill>
                  <a:srgbClr val="111111"/>
                </a:solidFill>
                <a:latin typeface="+mj-lt"/>
                <a:ea typeface="+mj-ea"/>
                <a:cs typeface="+mj-cs"/>
                <a:sym typeface="Helvetica"/>
              </a:defRPr>
            </a:pPr>
            <a:r>
              <a:rPr sz="985"/>
              <a:t>1938年抗战时期的昆明，三校组合成为西南联大，在云南黄土高原上搭棚建校，在炮火连天中继续学习。</a:t>
            </a:r>
            <a:endParaRPr sz="985"/>
          </a:p>
          <a:p>
            <a:pPr defTabSz="457200">
              <a:defRPr sz="1400">
                <a:solidFill>
                  <a:srgbClr val="111111"/>
                </a:solidFill>
                <a:latin typeface="+mj-lt"/>
                <a:ea typeface="+mj-ea"/>
                <a:cs typeface="+mj-cs"/>
                <a:sym typeface="Helvetica"/>
              </a:defRPr>
            </a:pPr>
            <a:r>
              <a:rPr sz="985"/>
              <a:t>清华学子沈光耀，是三代武将世家的后人，在国情危殆将倾之时，在母亲面前跪拜一字一句背诵家训之时，在眼见身边同族至亲相继死于炮火之中之时，光耀深切思考</a:t>
            </a:r>
            <a:r>
              <a:rPr sz="985" b="1"/>
              <a:t>生而为何</a:t>
            </a:r>
            <a:r>
              <a:rPr sz="985"/>
              <a:t>？</a:t>
            </a:r>
            <a:endParaRPr sz="985"/>
          </a:p>
          <a:p>
            <a:pPr defTabSz="457200">
              <a:defRPr sz="1400">
                <a:solidFill>
                  <a:srgbClr val="111111"/>
                </a:solidFill>
                <a:latin typeface="+mj-lt"/>
                <a:ea typeface="+mj-ea"/>
                <a:cs typeface="+mj-cs"/>
                <a:sym typeface="Helvetica"/>
              </a:defRPr>
            </a:pPr>
            <a:r>
              <a:rPr sz="985"/>
              <a:t>国家危难，民不聊生，国之痛乃切肤之痛，民之泪乃自身之泪，怎能弃水深火热于不顾，苟安乐又何言幸福，怀着悲悯与同情，他选择</a:t>
            </a:r>
            <a:r>
              <a:rPr sz="985" b="1"/>
              <a:t>“生而为善”</a:t>
            </a:r>
            <a:endParaRPr sz="985" b="1"/>
          </a:p>
        </p:txBody>
      </p:sp>
      <p:pic>
        <p:nvPicPr>
          <p:cNvPr id="275" name="3007869.jpg" descr="3007869.jpg"/>
          <p:cNvPicPr>
            <a:picLocks noChangeAspect="1"/>
          </p:cNvPicPr>
          <p:nvPr/>
        </p:nvPicPr>
        <p:blipFill>
          <a:blip r:embed="rId1"/>
          <a:stretch>
            <a:fillRect/>
          </a:stretch>
        </p:blipFill>
        <p:spPr>
          <a:xfrm>
            <a:off x="3237386" y="3253168"/>
            <a:ext cx="5912779" cy="2518846"/>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273"/>
                                        </p:tgtEl>
                                        <p:attrNameLst>
                                          <p:attrName>style.visibility</p:attrName>
                                        </p:attrNameLst>
                                      </p:cBhvr>
                                      <p:to>
                                        <p:strVal val="visible"/>
                                      </p:to>
                                    </p:set>
                                    <p:anim calcmode="lin" valueType="num">
                                      <p:cBhvr>
                                        <p:cTn id="7" dur="750" fill="hold"/>
                                        <p:tgtEl>
                                          <p:spTgt spid="273"/>
                                        </p:tgtEl>
                                        <p:attrNameLst>
                                          <p:attrName>ppt_x</p:attrName>
                                        </p:attrNameLst>
                                      </p:cBhvr>
                                      <p:tavLst>
                                        <p:tav tm="0">
                                          <p:val>
                                            <p:strVal val="1+#ppt_w/2"/>
                                          </p:val>
                                        </p:tav>
                                        <p:tav tm="100000">
                                          <p:val>
                                            <p:strVal val="#ppt_x"/>
                                          </p:val>
                                        </p:tav>
                                      </p:tavLst>
                                    </p:anim>
                                    <p:anim calcmode="lin" valueType="num">
                                      <p:cBhvr>
                                        <p:cTn id="8" dur="750" fill="hold"/>
                                        <p:tgtEl>
                                          <p:spTgt spid="273"/>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266"/>
                                        </p:tgtEl>
                                        <p:attrNameLst>
                                          <p:attrName>style.visibility</p:attrName>
                                        </p:attrNameLst>
                                      </p:cBhvr>
                                      <p:to>
                                        <p:strVal val="visible"/>
                                      </p:to>
                                    </p:set>
                                    <p:animEffect transition="in" filter="wipe(right)">
                                      <p:cBhvr>
                                        <p:cTn id="12" dur="1000"/>
                                        <p:tgtEl>
                                          <p:spTgt spid="2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266" grpId="2" animBg="1" advAuto="0"/>
      <p:bldP spid="273" grpId="1" bldLvl="0" animBg="1"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光圈"/>
          <p:cNvSpPr txBox="1"/>
          <p:nvPr/>
        </p:nvSpPr>
        <p:spPr>
          <a:xfrm>
            <a:off x="5584110" y="5917854"/>
            <a:ext cx="5808707" cy="369570"/>
          </a:xfrm>
          <a:prstGeom prst="rect">
            <a:avLst/>
          </a:prstGeom>
          <a:ln w="12700">
            <a:miter lim="400000"/>
          </a:ln>
        </p:spPr>
        <p:txBody>
          <a:bodyPr lIns="34287" tIns="34287" rIns="34287" bIns="34287">
            <a:spAutoFit/>
          </a:bodyPr>
          <a:lstStyle>
            <a:lvl1pPr algn="ctr">
              <a:defRPr sz="2800">
                <a:latin typeface="微软雅黑"/>
                <a:ea typeface="微软雅黑"/>
                <a:cs typeface="微软雅黑"/>
                <a:sym typeface="微软雅黑"/>
              </a:defRPr>
            </a:lvl1pPr>
          </a:lstStyle>
          <a:p>
            <a:r>
              <a:rPr sz="1970"/>
              <a:t>看电影</a:t>
            </a:r>
            <a:endParaRPr sz="1970"/>
          </a:p>
        </p:txBody>
      </p:sp>
      <p:grpSp>
        <p:nvGrpSpPr>
          <p:cNvPr id="291" name="成组"/>
          <p:cNvGrpSpPr/>
          <p:nvPr/>
        </p:nvGrpSpPr>
        <p:grpSpPr>
          <a:xfrm>
            <a:off x="1803062" y="539113"/>
            <a:ext cx="3840498" cy="500380"/>
            <a:chOff x="-1" y="-2"/>
            <a:chExt cx="5462039" cy="711650"/>
          </a:xfrm>
        </p:grpSpPr>
        <p:sp>
          <p:nvSpPr>
            <p:cNvPr id="289" name="矩形"/>
            <p:cNvSpPr/>
            <p:nvPr/>
          </p:nvSpPr>
          <p:spPr>
            <a:xfrm>
              <a:off x="-1" y="16373"/>
              <a:ext cx="1048159" cy="497420"/>
            </a:xfrm>
            <a:prstGeom prst="rect">
              <a:avLst/>
            </a:prstGeom>
            <a:solidFill>
              <a:schemeClr val="accent1"/>
            </a:solidFill>
            <a:ln w="12700" cap="flat">
              <a:noFill/>
              <a:miter lim="400000"/>
            </a:ln>
            <a:effectLst/>
          </p:spPr>
          <p:txBody>
            <a:bodyPr wrap="square" lIns="34287" tIns="34287" rIns="34287" bIns="34287" numCol="1" anchor="ctr">
              <a:noAutofit/>
            </a:bodyPr>
            <a:lstStyle/>
            <a:p>
              <a:pPr algn="ctr">
                <a:defRPr>
                  <a:solidFill>
                    <a:srgbClr val="FFFFFF"/>
                  </a:solidFill>
                </a:defRPr>
              </a:pPr>
              <a:endParaRPr sz="1265"/>
            </a:p>
          </p:txBody>
        </p:sp>
        <p:sp>
          <p:nvSpPr>
            <p:cNvPr id="290" name="影像的分享…"/>
            <p:cNvSpPr txBox="1"/>
            <p:nvPr/>
          </p:nvSpPr>
          <p:spPr>
            <a:xfrm>
              <a:off x="1048150" y="-2"/>
              <a:ext cx="4413888" cy="711650"/>
            </a:xfrm>
            <a:prstGeom prst="rect">
              <a:avLst/>
            </a:prstGeom>
            <a:noFill/>
            <a:ln w="12700" cap="flat">
              <a:noFill/>
              <a:miter lim="400000"/>
            </a:ln>
            <a:effectLst/>
          </p:spPr>
          <p:txBody>
            <a:bodyPr wrap="square" lIns="34287" tIns="34287" rIns="34287" bIns="34287" numCol="1" anchor="t">
              <a:spAutoFit/>
            </a:bodyPr>
            <a:lstStyle/>
            <a:p>
              <a:pPr>
                <a:defRPr sz="2200">
                  <a:latin typeface="微软雅黑"/>
                  <a:ea typeface="微软雅黑"/>
                  <a:cs typeface="微软雅黑"/>
                  <a:sym typeface="微软雅黑"/>
                </a:defRPr>
              </a:pPr>
              <a:r>
                <a:rPr sz="1545"/>
                <a:t>影像的分享</a:t>
              </a:r>
              <a:endParaRPr sz="1545"/>
            </a:p>
            <a:p>
              <a:pPr>
                <a:defRPr sz="1800">
                  <a:latin typeface="微软雅黑"/>
                  <a:ea typeface="微软雅黑"/>
                  <a:cs typeface="微软雅黑"/>
                  <a:sym typeface="微软雅黑"/>
                </a:defRPr>
              </a:pPr>
              <a:r>
                <a:rPr sz="1265"/>
                <a:t>Image sharing</a:t>
              </a:r>
              <a:endParaRPr sz="1265"/>
            </a:p>
          </p:txBody>
        </p:sp>
      </p:grpSp>
      <p:grpSp>
        <p:nvGrpSpPr>
          <p:cNvPr id="295" name="成组"/>
          <p:cNvGrpSpPr/>
          <p:nvPr/>
        </p:nvGrpSpPr>
        <p:grpSpPr>
          <a:xfrm>
            <a:off x="9365770" y="5864273"/>
            <a:ext cx="854243" cy="532928"/>
            <a:chOff x="-1" y="-1"/>
            <a:chExt cx="1214922" cy="757941"/>
          </a:xfrm>
        </p:grpSpPr>
        <p:sp>
          <p:nvSpPr>
            <p:cNvPr id="292" name="成组"/>
            <p:cNvSpPr/>
            <p:nvPr/>
          </p:nvSpPr>
          <p:spPr>
            <a:xfrm flipH="1">
              <a:off x="-2" y="-2"/>
              <a:ext cx="1214924" cy="75794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34287" tIns="34287" rIns="34287" bIns="34287" numCol="1" anchor="ctr">
              <a:noAutofit/>
            </a:bodyPr>
            <a:lstStyle/>
            <a:p>
              <a:pPr>
                <a:defRPr>
                  <a:solidFill>
                    <a:srgbClr val="FFFFFF"/>
                  </a:solidFill>
                  <a:latin typeface="微软雅黑"/>
                  <a:ea typeface="微软雅黑"/>
                  <a:cs typeface="微软雅黑"/>
                  <a:sym typeface="微软雅黑"/>
                </a:defRPr>
              </a:pPr>
              <a:endParaRPr sz="1265"/>
            </a:p>
          </p:txBody>
        </p:sp>
        <p:sp>
          <p:nvSpPr>
            <p:cNvPr id="293" name="线条"/>
            <p:cNvSpPr/>
            <p:nvPr/>
          </p:nvSpPr>
          <p:spPr>
            <a:xfrm>
              <a:off x="1047719" y="196016"/>
              <a:ext cx="8" cy="369834"/>
            </a:xfrm>
            <a:prstGeom prst="line">
              <a:avLst/>
            </a:prstGeom>
            <a:solidFill>
              <a:schemeClr val="accent1"/>
            </a:solidFill>
            <a:ln w="139700" cap="flat">
              <a:solidFill>
                <a:srgbClr val="404040"/>
              </a:solidFill>
              <a:prstDash val="solid"/>
              <a:miter lim="800000"/>
            </a:ln>
            <a:effectLst/>
          </p:spPr>
          <p:txBody>
            <a:bodyPr wrap="square" lIns="32145" tIns="32145" rIns="32145" bIns="32145" numCol="1" anchor="t">
              <a:noAutofit/>
            </a:bodyPr>
            <a:lstStyle/>
            <a:p>
              <a:endParaRPr sz="1265"/>
            </a:p>
          </p:txBody>
        </p:sp>
        <p:sp>
          <p:nvSpPr>
            <p:cNvPr id="294" name="线条"/>
            <p:cNvSpPr/>
            <p:nvPr/>
          </p:nvSpPr>
          <p:spPr>
            <a:xfrm>
              <a:off x="869383" y="196016"/>
              <a:ext cx="9" cy="369834"/>
            </a:xfrm>
            <a:prstGeom prst="line">
              <a:avLst/>
            </a:prstGeom>
            <a:solidFill>
              <a:schemeClr val="accent1"/>
            </a:solidFill>
            <a:ln w="139700" cap="flat">
              <a:solidFill>
                <a:srgbClr val="404040"/>
              </a:solidFill>
              <a:prstDash val="solid"/>
              <a:miter lim="800000"/>
            </a:ln>
            <a:effectLst/>
          </p:spPr>
          <p:txBody>
            <a:bodyPr wrap="square" lIns="32145" tIns="32145" rIns="32145" bIns="32145" numCol="1" anchor="t">
              <a:noAutofit/>
            </a:bodyPr>
            <a:lstStyle/>
            <a:p>
              <a:endParaRPr sz="1265"/>
            </a:p>
          </p:txBody>
        </p:sp>
      </p:grpSp>
      <p:sp>
        <p:nvSpPr>
          <p:cNvPr id="296" name="生而为爱——陈鹏…"/>
          <p:cNvSpPr txBox="1"/>
          <p:nvPr/>
        </p:nvSpPr>
        <p:spPr>
          <a:xfrm>
            <a:off x="3776921" y="948596"/>
            <a:ext cx="6000879" cy="2240915"/>
          </a:xfrm>
          <a:prstGeom prst="rect">
            <a:avLst/>
          </a:prstGeom>
          <a:ln w="12700">
            <a:miter lim="400000"/>
          </a:ln>
        </p:spPr>
        <p:txBody>
          <a:bodyPr lIns="34287" tIns="34287" rIns="34287" bIns="34287">
            <a:spAutoFit/>
          </a:bodyPr>
          <a:lstStyle/>
          <a:p>
            <a:pPr defTabSz="457200">
              <a:lnSpc>
                <a:spcPts val="5100"/>
              </a:lnSpc>
              <a:spcBef>
                <a:spcPts val="1200"/>
              </a:spcBef>
              <a:defRPr sz="28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pPr>
            <a:r>
              <a:rPr sz="1970"/>
              <a:t>生而为爱</a:t>
            </a:r>
            <a:r>
              <a:rPr sz="1900"/>
              <a:t>——</a:t>
            </a:r>
            <a:r>
              <a:rPr sz="1970"/>
              <a:t>陈鹏</a:t>
            </a:r>
            <a:endParaRPr sz="1970"/>
          </a:p>
          <a:p>
            <a:pPr defTabSz="457200">
              <a:defRPr sz="1400">
                <a:solidFill>
                  <a:srgbClr val="111111"/>
                </a:solidFill>
                <a:latin typeface="+mj-lt"/>
                <a:ea typeface="+mj-ea"/>
                <a:cs typeface="+mj-cs"/>
                <a:sym typeface="Helvetica"/>
              </a:defRPr>
            </a:pPr>
            <a:r>
              <a:rPr sz="985"/>
              <a:t>1962年特殊时期的中国，局势紧张。国人思想披上了镣铐，怯懦焦虑，活在集体无意识的狂欢之中，带着虚假的面具。当每一个人都不可免俗地将自己的精神与物质生活与主流整齐划一时，清华学子陈鹏择心之所爱，想要照顾另一个人一生一世。</a:t>
            </a:r>
            <a:endParaRPr sz="985"/>
          </a:p>
          <a:p>
            <a:pPr defTabSz="457200">
              <a:defRPr sz="1400">
                <a:solidFill>
                  <a:srgbClr val="111111"/>
                </a:solidFill>
                <a:latin typeface="+mj-lt"/>
                <a:ea typeface="+mj-ea"/>
                <a:cs typeface="+mj-cs"/>
                <a:sym typeface="Helvetica"/>
              </a:defRPr>
            </a:pPr>
            <a:r>
              <a:rPr sz="985"/>
              <a:t>然而那个时代却容不下另类的声音，当每一个人都坚决地与反叛分子划清界限的时候，陈鹏却奔向她，尽己之力救她、照顾她、爱着她。如果要问陈鹏</a:t>
            </a:r>
            <a:r>
              <a:rPr sz="985" b="1"/>
              <a:t>生而为何</a:t>
            </a:r>
            <a:r>
              <a:rPr sz="985"/>
              <a:t>，他的答案是</a:t>
            </a:r>
            <a:r>
              <a:rPr sz="985" b="1"/>
              <a:t>“生而为爱”。</a:t>
            </a:r>
            <a:endParaRPr sz="985" b="1"/>
          </a:p>
          <a:p>
            <a:pPr defTabSz="457200">
              <a:defRPr sz="1400">
                <a:solidFill>
                  <a:srgbClr val="111111"/>
                </a:solidFill>
                <a:latin typeface="+mj-lt"/>
                <a:ea typeface="+mj-ea"/>
                <a:cs typeface="+mj-cs"/>
                <a:sym typeface="Helvetica"/>
              </a:defRPr>
            </a:pPr>
            <a:r>
              <a:rPr sz="985"/>
              <a:t>这是一个爱的信念，因爱而让生命有了希望，因爱而被赋予了莫大的勇气。爱是彼此的护佑，爱是心中的神，毫无利己之心地服务和记挂着爱，于艰难的生活中升起平静和喜乐。</a:t>
            </a:r>
            <a:endParaRPr sz="985"/>
          </a:p>
          <a:p>
            <a:pPr defTabSz="457200">
              <a:defRPr sz="1400">
                <a:solidFill>
                  <a:srgbClr val="111111"/>
                </a:solidFill>
                <a:latin typeface="+mj-lt"/>
                <a:ea typeface="+mj-ea"/>
                <a:cs typeface="+mj-cs"/>
                <a:sym typeface="Helvetica"/>
              </a:defRPr>
            </a:pPr>
            <a:r>
              <a:rPr sz="985"/>
              <a:t>虔信瑜伽Bhakti Yoga的核心是爱，一切行为如果渗入了爱，整个行动就发生了神奇的变化，因为爱，使得所有委屈得到抚慰，苦难也受到祝福。在命运魔鬼般的胁迫之下，陈鹏用爱托住了王敏佳，他用“核”来形容爱的巨大推动力，所谓“精诚所至，金石为开”。</a:t>
            </a:r>
            <a:endParaRPr sz="985"/>
          </a:p>
        </p:txBody>
      </p:sp>
      <p:pic>
        <p:nvPicPr>
          <p:cNvPr id="297" name="3007871.jpg" descr="3007871.jpg"/>
          <p:cNvPicPr>
            <a:picLocks noChangeAspect="1"/>
          </p:cNvPicPr>
          <p:nvPr/>
        </p:nvPicPr>
        <p:blipFill>
          <a:blip r:embed="rId1"/>
          <a:stretch>
            <a:fillRect/>
          </a:stretch>
        </p:blipFill>
        <p:spPr>
          <a:xfrm>
            <a:off x="3848360" y="3431050"/>
            <a:ext cx="5715004" cy="2428878"/>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295"/>
                                        </p:tgtEl>
                                        <p:attrNameLst>
                                          <p:attrName>style.visibility</p:attrName>
                                        </p:attrNameLst>
                                      </p:cBhvr>
                                      <p:to>
                                        <p:strVal val="visible"/>
                                      </p:to>
                                    </p:set>
                                    <p:anim calcmode="lin" valueType="num">
                                      <p:cBhvr>
                                        <p:cTn id="7" dur="750" fill="hold"/>
                                        <p:tgtEl>
                                          <p:spTgt spid="295"/>
                                        </p:tgtEl>
                                        <p:attrNameLst>
                                          <p:attrName>ppt_x</p:attrName>
                                        </p:attrNameLst>
                                      </p:cBhvr>
                                      <p:tavLst>
                                        <p:tav tm="0">
                                          <p:val>
                                            <p:strVal val="1+#ppt_w/2"/>
                                          </p:val>
                                        </p:tav>
                                        <p:tav tm="100000">
                                          <p:val>
                                            <p:strVal val="#ppt_x"/>
                                          </p:val>
                                        </p:tav>
                                      </p:tavLst>
                                    </p:anim>
                                    <p:anim calcmode="lin" valueType="num">
                                      <p:cBhvr>
                                        <p:cTn id="8" dur="750" fill="hold"/>
                                        <p:tgtEl>
                                          <p:spTgt spid="295"/>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288"/>
                                        </p:tgtEl>
                                        <p:attrNameLst>
                                          <p:attrName>style.visibility</p:attrName>
                                        </p:attrNameLst>
                                      </p:cBhvr>
                                      <p:to>
                                        <p:strVal val="visible"/>
                                      </p:to>
                                    </p:set>
                                    <p:animEffect transition="in" filter="wipe(right)">
                                      <p:cBhvr>
                                        <p:cTn id="12" dur="1000"/>
                                        <p:tgtEl>
                                          <p:spTgt spid="2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295" grpId="1" bldLvl="0" animBg="1" advAuto="0"/>
      <p:bldP spid="288" grpId="2" animBg="1"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光圈"/>
          <p:cNvSpPr txBox="1"/>
          <p:nvPr/>
        </p:nvSpPr>
        <p:spPr>
          <a:xfrm>
            <a:off x="5584110" y="5917854"/>
            <a:ext cx="5808707" cy="369570"/>
          </a:xfrm>
          <a:prstGeom prst="rect">
            <a:avLst/>
          </a:prstGeom>
          <a:ln w="12700">
            <a:miter lim="400000"/>
          </a:ln>
        </p:spPr>
        <p:txBody>
          <a:bodyPr lIns="34287" tIns="34287" rIns="34287" bIns="34287">
            <a:spAutoFit/>
          </a:bodyPr>
          <a:lstStyle>
            <a:lvl1pPr algn="ctr">
              <a:defRPr sz="2800">
                <a:latin typeface="微软雅黑"/>
                <a:ea typeface="微软雅黑"/>
                <a:cs typeface="微软雅黑"/>
                <a:sym typeface="微软雅黑"/>
              </a:defRPr>
            </a:lvl1pPr>
          </a:lstStyle>
          <a:p>
            <a:r>
              <a:rPr sz="1970"/>
              <a:t>看电影</a:t>
            </a:r>
            <a:endParaRPr sz="1970"/>
          </a:p>
        </p:txBody>
      </p:sp>
      <p:grpSp>
        <p:nvGrpSpPr>
          <p:cNvPr id="239" name="成组"/>
          <p:cNvGrpSpPr/>
          <p:nvPr/>
        </p:nvGrpSpPr>
        <p:grpSpPr>
          <a:xfrm>
            <a:off x="1803062" y="539113"/>
            <a:ext cx="3840498" cy="500380"/>
            <a:chOff x="-1" y="-2"/>
            <a:chExt cx="5462039" cy="711650"/>
          </a:xfrm>
        </p:grpSpPr>
        <p:sp>
          <p:nvSpPr>
            <p:cNvPr id="237" name="矩形"/>
            <p:cNvSpPr/>
            <p:nvPr/>
          </p:nvSpPr>
          <p:spPr>
            <a:xfrm>
              <a:off x="-1" y="16373"/>
              <a:ext cx="1048159" cy="497420"/>
            </a:xfrm>
            <a:prstGeom prst="rect">
              <a:avLst/>
            </a:prstGeom>
            <a:solidFill>
              <a:schemeClr val="accent1"/>
            </a:solidFill>
            <a:ln w="12700" cap="flat">
              <a:noFill/>
              <a:miter lim="400000"/>
            </a:ln>
            <a:effectLst/>
          </p:spPr>
          <p:txBody>
            <a:bodyPr wrap="square" lIns="34287" tIns="34287" rIns="34287" bIns="34287" numCol="1" anchor="ctr">
              <a:noAutofit/>
            </a:bodyPr>
            <a:lstStyle/>
            <a:p>
              <a:pPr algn="ctr">
                <a:defRPr>
                  <a:solidFill>
                    <a:srgbClr val="FFFFFF"/>
                  </a:solidFill>
                </a:defRPr>
              </a:pPr>
              <a:endParaRPr sz="1265"/>
            </a:p>
          </p:txBody>
        </p:sp>
        <p:sp>
          <p:nvSpPr>
            <p:cNvPr id="238" name="影像的分享…"/>
            <p:cNvSpPr txBox="1"/>
            <p:nvPr/>
          </p:nvSpPr>
          <p:spPr>
            <a:xfrm>
              <a:off x="1048150" y="-2"/>
              <a:ext cx="4413888" cy="711650"/>
            </a:xfrm>
            <a:prstGeom prst="rect">
              <a:avLst/>
            </a:prstGeom>
            <a:noFill/>
            <a:ln w="12700" cap="flat">
              <a:noFill/>
              <a:miter lim="400000"/>
            </a:ln>
            <a:effectLst/>
          </p:spPr>
          <p:txBody>
            <a:bodyPr wrap="square" lIns="34287" tIns="34287" rIns="34287" bIns="34287" numCol="1" anchor="t">
              <a:spAutoFit/>
            </a:bodyPr>
            <a:lstStyle/>
            <a:p>
              <a:pPr>
                <a:defRPr sz="2200">
                  <a:latin typeface="微软雅黑"/>
                  <a:ea typeface="微软雅黑"/>
                  <a:cs typeface="微软雅黑"/>
                  <a:sym typeface="微软雅黑"/>
                </a:defRPr>
              </a:pPr>
              <a:r>
                <a:rPr sz="1545"/>
                <a:t>影像的分享</a:t>
              </a:r>
              <a:endParaRPr sz="1545"/>
            </a:p>
            <a:p>
              <a:pPr>
                <a:defRPr sz="1800">
                  <a:latin typeface="微软雅黑"/>
                  <a:ea typeface="微软雅黑"/>
                  <a:cs typeface="微软雅黑"/>
                  <a:sym typeface="微软雅黑"/>
                </a:defRPr>
              </a:pPr>
              <a:r>
                <a:rPr sz="1265"/>
                <a:t>Image sharing</a:t>
              </a:r>
              <a:endParaRPr sz="1265"/>
            </a:p>
          </p:txBody>
        </p:sp>
      </p:grpSp>
      <p:grpSp>
        <p:nvGrpSpPr>
          <p:cNvPr id="243" name="成组"/>
          <p:cNvGrpSpPr/>
          <p:nvPr/>
        </p:nvGrpSpPr>
        <p:grpSpPr>
          <a:xfrm>
            <a:off x="9365770" y="5864273"/>
            <a:ext cx="854243" cy="532928"/>
            <a:chOff x="-1" y="-1"/>
            <a:chExt cx="1214922" cy="757941"/>
          </a:xfrm>
        </p:grpSpPr>
        <p:sp>
          <p:nvSpPr>
            <p:cNvPr id="240" name="成组"/>
            <p:cNvSpPr/>
            <p:nvPr/>
          </p:nvSpPr>
          <p:spPr>
            <a:xfrm flipH="1">
              <a:off x="-2" y="-2"/>
              <a:ext cx="1214924" cy="757943"/>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34287" tIns="34287" rIns="34287" bIns="34287" numCol="1" anchor="ctr">
              <a:noAutofit/>
            </a:bodyPr>
            <a:lstStyle/>
            <a:p>
              <a:pPr>
                <a:defRPr>
                  <a:solidFill>
                    <a:srgbClr val="FFFFFF"/>
                  </a:solidFill>
                  <a:latin typeface="微软雅黑"/>
                  <a:ea typeface="微软雅黑"/>
                  <a:cs typeface="微软雅黑"/>
                  <a:sym typeface="微软雅黑"/>
                </a:defRPr>
              </a:pPr>
              <a:endParaRPr sz="1265"/>
            </a:p>
          </p:txBody>
        </p:sp>
        <p:sp>
          <p:nvSpPr>
            <p:cNvPr id="241" name="线条"/>
            <p:cNvSpPr/>
            <p:nvPr/>
          </p:nvSpPr>
          <p:spPr>
            <a:xfrm>
              <a:off x="1047719" y="196016"/>
              <a:ext cx="8" cy="369834"/>
            </a:xfrm>
            <a:prstGeom prst="line">
              <a:avLst/>
            </a:prstGeom>
            <a:solidFill>
              <a:schemeClr val="accent1"/>
            </a:solidFill>
            <a:ln w="139700" cap="flat">
              <a:solidFill>
                <a:srgbClr val="404040"/>
              </a:solidFill>
              <a:prstDash val="solid"/>
              <a:miter lim="800000"/>
            </a:ln>
            <a:effectLst/>
          </p:spPr>
          <p:txBody>
            <a:bodyPr wrap="square" lIns="32145" tIns="32145" rIns="32145" bIns="32145" numCol="1" anchor="t">
              <a:noAutofit/>
            </a:bodyPr>
            <a:lstStyle/>
            <a:p>
              <a:endParaRPr sz="1265"/>
            </a:p>
          </p:txBody>
        </p:sp>
        <p:sp>
          <p:nvSpPr>
            <p:cNvPr id="242" name="线条"/>
            <p:cNvSpPr/>
            <p:nvPr/>
          </p:nvSpPr>
          <p:spPr>
            <a:xfrm>
              <a:off x="869383" y="196016"/>
              <a:ext cx="9" cy="369834"/>
            </a:xfrm>
            <a:prstGeom prst="line">
              <a:avLst/>
            </a:prstGeom>
            <a:solidFill>
              <a:schemeClr val="accent1"/>
            </a:solidFill>
            <a:ln w="139700" cap="flat">
              <a:solidFill>
                <a:srgbClr val="404040"/>
              </a:solidFill>
              <a:prstDash val="solid"/>
              <a:miter lim="800000"/>
            </a:ln>
            <a:effectLst/>
          </p:spPr>
          <p:txBody>
            <a:bodyPr wrap="square" lIns="32145" tIns="32145" rIns="32145" bIns="32145" numCol="1" anchor="t">
              <a:noAutofit/>
            </a:bodyPr>
            <a:lstStyle/>
            <a:p>
              <a:endParaRPr sz="1265"/>
            </a:p>
          </p:txBody>
        </p:sp>
      </p:grpSp>
      <p:pic>
        <p:nvPicPr>
          <p:cNvPr id="2" name="图片 1" descr="屏幕快照 2020-12-09 14.53.54"/>
          <p:cNvPicPr>
            <a:picLocks noChangeAspect="1"/>
          </p:cNvPicPr>
          <p:nvPr/>
        </p:nvPicPr>
        <p:blipFill>
          <a:blip r:embed="rId1"/>
          <a:stretch>
            <a:fillRect/>
          </a:stretch>
        </p:blipFill>
        <p:spPr>
          <a:xfrm>
            <a:off x="1933575" y="2254885"/>
            <a:ext cx="8657590" cy="32950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243"/>
                                        </p:tgtEl>
                                        <p:attrNameLst>
                                          <p:attrName>style.visibility</p:attrName>
                                        </p:attrNameLst>
                                      </p:cBhvr>
                                      <p:to>
                                        <p:strVal val="visible"/>
                                      </p:to>
                                    </p:set>
                                    <p:anim calcmode="lin" valueType="num">
                                      <p:cBhvr>
                                        <p:cTn id="7" dur="750" fill="hold"/>
                                        <p:tgtEl>
                                          <p:spTgt spid="243"/>
                                        </p:tgtEl>
                                        <p:attrNameLst>
                                          <p:attrName>ppt_x</p:attrName>
                                        </p:attrNameLst>
                                      </p:cBhvr>
                                      <p:tavLst>
                                        <p:tav tm="0">
                                          <p:val>
                                            <p:strVal val="1+#ppt_w/2"/>
                                          </p:val>
                                        </p:tav>
                                        <p:tav tm="100000">
                                          <p:val>
                                            <p:strVal val="#ppt_x"/>
                                          </p:val>
                                        </p:tav>
                                      </p:tavLst>
                                    </p:anim>
                                    <p:anim calcmode="lin" valueType="num">
                                      <p:cBhvr>
                                        <p:cTn id="8" dur="750" fill="hold"/>
                                        <p:tgtEl>
                                          <p:spTgt spid="243"/>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236"/>
                                        </p:tgtEl>
                                        <p:attrNameLst>
                                          <p:attrName>style.visibility</p:attrName>
                                        </p:attrNameLst>
                                      </p:cBhvr>
                                      <p:to>
                                        <p:strVal val="visible"/>
                                      </p:to>
                                    </p:set>
                                    <p:animEffect transition="in" filter="wipe(right)">
                                      <p:cBhvr>
                                        <p:cTn id="12" dur="1000"/>
                                        <p:tgtEl>
                                          <p:spTgt spid="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243" grpId="1" bldLvl="0" animBg="1" advAuto="0"/>
      <p:bldP spid="236" grpId="2" animBg="1" advAuto="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5351" y="450360"/>
            <a:ext cx="6490403" cy="1592705"/>
          </a:xfrm>
        </p:spPr>
        <p:txBody>
          <a:bodyPr>
            <a:normAutofit/>
          </a:bodyPr>
          <a:lstStyle/>
          <a:p>
            <a:r>
              <a:rPr>
                <a:sym typeface="+mn-ea"/>
              </a:rPr>
              <a:t>交叉</a:t>
            </a:r>
            <a:r>
              <a:rPr lang="zh-CN">
                <a:ea typeface="宋体" panose="02010600030101010101" pitchFamily="2" charset="-122"/>
                <a:sym typeface="+mn-ea"/>
              </a:rPr>
              <a:t>式</a:t>
            </a:r>
            <a:r>
              <a:rPr>
                <a:sym typeface="+mn-ea"/>
              </a:rPr>
              <a:t>蒙太奇  </a:t>
            </a:r>
            <a:br>
              <a:rPr lang="en-US" altLang="zh-CN" b="1" dirty="0">
                <a:solidFill>
                  <a:srgbClr val="FF0000"/>
                </a:solidFill>
                <a:latin typeface="宋体" panose="02010600030101010101" pitchFamily="2" charset="-122"/>
                <a:ea typeface="宋体" panose="02010600030101010101" pitchFamily="2" charset="-122"/>
              </a:rPr>
            </a:b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 name="文本占位符 3"/>
          <p:cNvSpPr>
            <a:spLocks noGrp="1"/>
          </p:cNvSpPr>
          <p:nvPr>
            <p:ph type="body" sz="quarter" idx="1"/>
          </p:nvPr>
        </p:nvSpPr>
        <p:spPr>
          <a:xfrm>
            <a:off x="990600" y="2138680"/>
            <a:ext cx="6338570" cy="4024630"/>
          </a:xfrm>
        </p:spPr>
        <p:txBody>
          <a:bodyPr>
            <a:normAutofit/>
          </a:bodyPr>
          <a:lstStyle/>
          <a:p>
            <a:pPr>
              <a:lnSpc>
                <a:spcPct val="150000"/>
              </a:lnSpc>
            </a:pPr>
            <a:r>
              <a:rPr dirty="0"/>
              <a:t>交叉蒙太奇又称交替蒙太奇，它将同</a:t>
            </a:r>
            <a:r>
              <a:rPr lang="zh-CN" dirty="0"/>
              <a:t>一时空，且有紧密的因果关联，并最终汇聚到一起的手法。</a:t>
            </a:r>
            <a:r>
              <a:rPr dirty="0"/>
              <a:t>域发生的两条或数条情节线迅速而频繁地交替剪接在一起，其中一条线索的发展往往影响另外线索，各条线索相互依存，最后汇合在一起。这种剪辑技巧极易引起悬念，造成紧张激烈的气氛，加强矛盾冲突的尖锐性，是掌握观众情绪的有力手法，惊险片、恐怖片和战争片常用此法造成追逐和惊险的场面。如《南征北战》中抢渡大沙河一段，将我军和敌军急行军奔赴大沙河以及游击队炸水坝三条线索交替剪接在一起，表现了那场惊心动魄的战斗。</a:t>
            </a:r>
            <a:endParaRPr dirty="0"/>
          </a:p>
        </p:txBody>
      </p:sp>
      <p:pic>
        <p:nvPicPr>
          <p:cNvPr id="3" name="image2.png" descr="image2.png"/>
          <p:cNvPicPr>
            <a:picLocks noChangeAspect="1"/>
          </p:cNvPicPr>
          <p:nvPr/>
        </p:nvPicPr>
        <p:blipFill>
          <a:blip r:embed="rId1"/>
          <a:srcRect t="33436" b="43385"/>
          <a:stretch>
            <a:fillRect/>
          </a:stretch>
        </p:blipFill>
        <p:spPr>
          <a:xfrm>
            <a:off x="1019810" y="317500"/>
            <a:ext cx="10658475" cy="762635"/>
          </a:xfrm>
          <a:prstGeom prst="rect">
            <a:avLst/>
          </a:prstGeom>
          <a:ln w="12700">
            <a:miter lim="400000"/>
            <a:headEnd/>
            <a:tailEnd/>
          </a:ln>
        </p:spPr>
      </p:pic>
      <p:sp>
        <p:nvSpPr>
          <p:cNvPr id="137" name="矩形"/>
          <p:cNvSpPr/>
          <p:nvPr/>
        </p:nvSpPr>
        <p:spPr>
          <a:xfrm>
            <a:off x="598170"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6" name="色彩构成"/>
          <p:cNvSpPr txBox="1"/>
          <p:nvPr/>
        </p:nvSpPr>
        <p:spPr>
          <a:xfrm>
            <a:off x="1487805" y="56324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pic>
        <p:nvPicPr>
          <p:cNvPr id="192" name="屏幕快照 2019-09-05 16.14.06.png" descr="屏幕快照 2019-09-05 16.14.06.png"/>
          <p:cNvPicPr>
            <a:picLocks noChangeAspect="1"/>
          </p:cNvPicPr>
          <p:nvPr>
            <p:ph type="pic" sz="half" idx="13"/>
          </p:nvPr>
        </p:nvPicPr>
        <p:blipFill>
          <a:blip r:embed="rId2"/>
          <a:srcRect l="45059"/>
          <a:stretch>
            <a:fillRect/>
          </a:stretch>
        </p:blipFill>
        <p:spPr>
          <a:xfrm>
            <a:off x="7329170" y="1461135"/>
            <a:ext cx="3529965" cy="4912360"/>
          </a:xfrm>
          <a:prstGeom prst="rect">
            <a:avLst/>
          </a:prstGeom>
          <a:ln w="12700">
            <a:miter lim="400000"/>
            <a:headEnd/>
            <a:tailEnd/>
          </a:ln>
        </p:spPr>
      </p:pic>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7"/>
                                        </p:tgtEl>
                                        <p:attrNameLst>
                                          <p:attrName>style.visibility</p:attrName>
                                        </p:attrNameLst>
                                      </p:cBhvr>
                                      <p:to>
                                        <p:strVal val="visible"/>
                                      </p:to>
                                    </p:set>
                                    <p:anim calcmode="lin" valueType="num">
                                      <p:cBhvr>
                                        <p:cTn id="7" dur="1000" fill="hold"/>
                                        <p:tgtEl>
                                          <p:spTgt spid="137"/>
                                        </p:tgtEl>
                                        <p:attrNameLst>
                                          <p:attrName>ppt_x</p:attrName>
                                        </p:attrNameLst>
                                      </p:cBhvr>
                                      <p:tavLst>
                                        <p:tav tm="0">
                                          <p:val>
                                            <p:strVal val="1+#ppt_w/2"/>
                                          </p:val>
                                        </p:tav>
                                        <p:tav tm="100000">
                                          <p:val>
                                            <p:strVal val="#ppt_x"/>
                                          </p:val>
                                        </p:tav>
                                      </p:tavLst>
                                    </p:anim>
                                    <p:anim calcmode="lin" valueType="num">
                                      <p:cBhvr>
                                        <p:cTn id="8" dur="1000" fill="hold"/>
                                        <p:tgtEl>
                                          <p:spTgt spid="13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6"/>
                                        </p:tgtEl>
                                        <p:attrNameLst>
                                          <p:attrName>style.visibility</p:attrName>
                                        </p:attrNameLst>
                                      </p:cBhvr>
                                      <p:to>
                                        <p:strVal val="visible"/>
                                      </p:to>
                                    </p:set>
                                    <p:animEffect transition="in" filter="dissolve">
                                      <p:cBhvr>
                                        <p:cTn id="12" dur="1000"/>
                                        <p:tgtEl>
                                          <p:spTgt spid="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7" grpId="1" bldLvl="0" animBg="1" advAuto="0"/>
      <p:bldP spid="6" grpId="2"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88121" y="1608600"/>
            <a:ext cx="6490403" cy="1592705"/>
          </a:xfrm>
        </p:spPr>
        <p:txBody>
          <a:bodyPr>
            <a:normAutofit/>
          </a:bodyPr>
          <a:lstStyle/>
          <a:p>
            <a:r>
              <a:rPr lang="zh-CN">
                <a:sym typeface="+mn-ea"/>
              </a:rPr>
              <a:t>累积式</a:t>
            </a:r>
            <a:r>
              <a:rPr>
                <a:sym typeface="+mn-ea"/>
              </a:rPr>
              <a:t>蒙太奇  </a:t>
            </a:r>
            <a:br>
              <a:rPr lang="en-US" altLang="zh-CN" b="1" dirty="0">
                <a:solidFill>
                  <a:srgbClr val="FF0000"/>
                </a:solidFill>
                <a:latin typeface="宋体" panose="02010600030101010101" pitchFamily="2" charset="-122"/>
                <a:ea typeface="宋体" panose="02010600030101010101" pitchFamily="2" charset="-122"/>
              </a:rPr>
            </a:b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 name="文本占位符 3"/>
          <p:cNvSpPr>
            <a:spLocks noGrp="1"/>
          </p:cNvSpPr>
          <p:nvPr>
            <p:ph type="body" sz="quarter" idx="1"/>
          </p:nvPr>
        </p:nvSpPr>
        <p:spPr>
          <a:xfrm>
            <a:off x="1294130" y="4385945"/>
            <a:ext cx="9881235" cy="1844675"/>
          </a:xfrm>
        </p:spPr>
        <p:txBody>
          <a:bodyPr>
            <a:normAutofit lnSpcReduction="10000"/>
          </a:bodyPr>
          <a:lstStyle/>
          <a:p>
            <a:pPr>
              <a:lnSpc>
                <a:spcPct val="150000"/>
              </a:lnSpc>
            </a:pPr>
            <a:r>
              <a:rPr lang="zh-CN" sz="2400" dirty="0"/>
              <a:t>将若干性质相同的镜头积累在一起，造成特定的气氛，起到强调作用。比如将炮火纷飞、士兵冲锋累加在一起</a:t>
            </a:r>
            <a:r>
              <a:rPr sz="2400" dirty="0"/>
              <a:t>。</a:t>
            </a:r>
            <a:r>
              <a:rPr lang="zh-CN" sz="2400" dirty="0">
                <a:ea typeface="宋体" charset="0"/>
              </a:rPr>
              <a:t>《八佰》、《黑店狂想曲》。</a:t>
            </a:r>
            <a:endParaRPr lang="zh-CN" sz="2400" dirty="0">
              <a:ea typeface="宋体" charset="0"/>
            </a:endParaRPr>
          </a:p>
          <a:p>
            <a:pPr>
              <a:lnSpc>
                <a:spcPct val="150000"/>
              </a:lnSpc>
            </a:pPr>
            <a:r>
              <a:rPr lang="zh-CN" sz="2400" dirty="0">
                <a:ea typeface="宋体" charset="0"/>
              </a:rPr>
              <a:t>《少林寺》</a:t>
            </a:r>
            <a:r>
              <a:rPr lang="en-US" altLang="zh-CN" sz="2400" dirty="0">
                <a:ea typeface="宋体" charset="0"/>
              </a:rPr>
              <a:t>1982</a:t>
            </a:r>
            <a:r>
              <a:rPr lang="zh-CN" altLang="en-US" sz="2400" dirty="0">
                <a:ea typeface="宋体" charset="0"/>
              </a:rPr>
              <a:t>，冬练三九、夏练三伏。</a:t>
            </a:r>
            <a:endParaRPr lang="zh-CN" altLang="en-US" sz="2400" dirty="0">
              <a:ea typeface="宋体" charset="0"/>
            </a:endParaRPr>
          </a:p>
        </p:txBody>
      </p:sp>
      <p:pic>
        <p:nvPicPr>
          <p:cNvPr id="3" name="image2.png" descr="image2.png"/>
          <p:cNvPicPr>
            <a:picLocks noChangeAspect="1"/>
          </p:cNvPicPr>
          <p:nvPr/>
        </p:nvPicPr>
        <p:blipFill>
          <a:blip r:embed="rId1"/>
          <a:srcRect t="33436" b="43385"/>
          <a:stretch>
            <a:fillRect/>
          </a:stretch>
        </p:blipFill>
        <p:spPr>
          <a:xfrm>
            <a:off x="1019810" y="317500"/>
            <a:ext cx="10658475" cy="762635"/>
          </a:xfrm>
          <a:prstGeom prst="rect">
            <a:avLst/>
          </a:prstGeom>
          <a:ln w="12700">
            <a:miter lim="400000"/>
            <a:headEnd/>
            <a:tailEnd/>
          </a:ln>
        </p:spPr>
      </p:pic>
      <p:sp>
        <p:nvSpPr>
          <p:cNvPr id="137" name="矩形"/>
          <p:cNvSpPr/>
          <p:nvPr/>
        </p:nvSpPr>
        <p:spPr>
          <a:xfrm>
            <a:off x="729615"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6" name="色彩构成"/>
          <p:cNvSpPr txBox="1"/>
          <p:nvPr/>
        </p:nvSpPr>
        <p:spPr>
          <a:xfrm>
            <a:off x="1487805" y="43497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pic>
        <p:nvPicPr>
          <p:cNvPr id="7" name="图片 6" descr="屏幕快照 2020-12-09 15.06.21"/>
          <p:cNvPicPr>
            <a:picLocks noChangeAspect="1"/>
          </p:cNvPicPr>
          <p:nvPr/>
        </p:nvPicPr>
        <p:blipFill>
          <a:blip r:embed="rId2"/>
          <a:srcRect l="-1203" t="9122" r="1203" b="6944"/>
          <a:stretch>
            <a:fillRect/>
          </a:stretch>
        </p:blipFill>
        <p:spPr>
          <a:xfrm>
            <a:off x="5655945" y="1613535"/>
            <a:ext cx="6022340" cy="2772410"/>
          </a:xfrm>
          <a:prstGeom prst="rect">
            <a:avLst/>
          </a:prstGeom>
        </p:spPr>
      </p:pic>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7"/>
                                        </p:tgtEl>
                                        <p:attrNameLst>
                                          <p:attrName>style.visibility</p:attrName>
                                        </p:attrNameLst>
                                      </p:cBhvr>
                                      <p:to>
                                        <p:strVal val="visible"/>
                                      </p:to>
                                    </p:set>
                                    <p:anim calcmode="lin" valueType="num">
                                      <p:cBhvr>
                                        <p:cTn id="7" dur="1000" fill="hold"/>
                                        <p:tgtEl>
                                          <p:spTgt spid="137"/>
                                        </p:tgtEl>
                                        <p:attrNameLst>
                                          <p:attrName>ppt_x</p:attrName>
                                        </p:attrNameLst>
                                      </p:cBhvr>
                                      <p:tavLst>
                                        <p:tav tm="0">
                                          <p:val>
                                            <p:strVal val="1+#ppt_w/2"/>
                                          </p:val>
                                        </p:tav>
                                        <p:tav tm="100000">
                                          <p:val>
                                            <p:strVal val="#ppt_x"/>
                                          </p:val>
                                        </p:tav>
                                      </p:tavLst>
                                    </p:anim>
                                    <p:anim calcmode="lin" valueType="num">
                                      <p:cBhvr>
                                        <p:cTn id="8" dur="1000" fill="hold"/>
                                        <p:tgtEl>
                                          <p:spTgt spid="13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6"/>
                                        </p:tgtEl>
                                        <p:attrNameLst>
                                          <p:attrName>style.visibility</p:attrName>
                                        </p:attrNameLst>
                                      </p:cBhvr>
                                      <p:to>
                                        <p:strVal val="visible"/>
                                      </p:to>
                                    </p:set>
                                    <p:animEffect transition="in" filter="dissolve">
                                      <p:cBhvr>
                                        <p:cTn id="12" dur="1000"/>
                                        <p:tgtEl>
                                          <p:spTgt spid="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7" grpId="1" bldLvl="0" animBg="1" advAuto="0"/>
      <p:bldP spid="6" grpId="2" animBg="1" advAuto="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5351" y="805325"/>
            <a:ext cx="6490403" cy="1592705"/>
          </a:xfrm>
        </p:spPr>
        <p:txBody>
          <a:bodyPr>
            <a:normAutofit/>
          </a:bodyPr>
          <a:lstStyle/>
          <a:p>
            <a:r>
              <a:rPr lang="zh-CN">
                <a:sym typeface="+mn-ea"/>
              </a:rPr>
              <a:t>重复式</a:t>
            </a:r>
            <a:r>
              <a:rPr>
                <a:sym typeface="+mn-ea"/>
              </a:rPr>
              <a:t>蒙太奇</a:t>
            </a:r>
            <a:br>
              <a:rPr lang="en-US" altLang="zh-CN" b="1" dirty="0">
                <a:solidFill>
                  <a:srgbClr val="FF0000"/>
                </a:solidFill>
                <a:latin typeface="宋体" panose="02010600030101010101" pitchFamily="2" charset="-122"/>
                <a:ea typeface="宋体" panose="02010600030101010101" pitchFamily="2" charset="-122"/>
              </a:rPr>
            </a:b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 name="文本占位符 3"/>
          <p:cNvSpPr>
            <a:spLocks noGrp="1"/>
          </p:cNvSpPr>
          <p:nvPr>
            <p:ph type="body" sz="quarter" idx="1"/>
          </p:nvPr>
        </p:nvSpPr>
        <p:spPr>
          <a:xfrm>
            <a:off x="1927225" y="2397760"/>
            <a:ext cx="4466590" cy="4024630"/>
          </a:xfrm>
        </p:spPr>
        <p:txBody>
          <a:bodyPr>
            <a:normAutofit/>
          </a:bodyPr>
          <a:lstStyle/>
          <a:p>
            <a:pPr>
              <a:lnSpc>
                <a:spcPct val="150000"/>
              </a:lnSpc>
            </a:pPr>
            <a:r>
              <a:rPr lang="zh-CN" dirty="0"/>
              <a:t>为了强调特定主题，将具有戏剧效果的各种电影元素如人物、场面、景物、对话、道具、细节、动作、角度、音乐等反复表现，构成强调对比。《魂断蓝桥》</a:t>
            </a:r>
            <a:r>
              <a:rPr lang="en-US" altLang="zh-CN" dirty="0"/>
              <a:t>1940</a:t>
            </a:r>
            <a:r>
              <a:rPr lang="zh-CN" altLang="en-US" dirty="0"/>
              <a:t>年，出现</a:t>
            </a:r>
            <a:r>
              <a:rPr lang="en-US" altLang="zh-CN" dirty="0"/>
              <a:t>6</a:t>
            </a:r>
            <a:r>
              <a:rPr lang="zh-CN" altLang="en-US" dirty="0"/>
              <a:t>次的玛拉的吉祥符。《花样年华》周慕云与苏丽珍多次在小巷擦肩而过。同样的场景，同样的音乐，同样的婚姻状态。</a:t>
            </a:r>
            <a:endParaRPr lang="zh-CN" altLang="en-US" dirty="0"/>
          </a:p>
        </p:txBody>
      </p:sp>
      <p:pic>
        <p:nvPicPr>
          <p:cNvPr id="3" name="image2.png" descr="image2.png"/>
          <p:cNvPicPr>
            <a:picLocks noChangeAspect="1"/>
          </p:cNvPicPr>
          <p:nvPr/>
        </p:nvPicPr>
        <p:blipFill>
          <a:blip r:embed="rId1"/>
          <a:srcRect t="33436" b="43385"/>
          <a:stretch>
            <a:fillRect/>
          </a:stretch>
        </p:blipFill>
        <p:spPr>
          <a:xfrm>
            <a:off x="1019810" y="317500"/>
            <a:ext cx="10658475" cy="762635"/>
          </a:xfrm>
          <a:prstGeom prst="rect">
            <a:avLst/>
          </a:prstGeom>
          <a:ln w="12700">
            <a:miter lim="400000"/>
            <a:headEnd/>
            <a:tailEnd/>
          </a:ln>
        </p:spPr>
      </p:pic>
      <p:sp>
        <p:nvSpPr>
          <p:cNvPr id="137" name="矩形"/>
          <p:cNvSpPr/>
          <p:nvPr/>
        </p:nvSpPr>
        <p:spPr>
          <a:xfrm>
            <a:off x="586740"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6" name="色彩构成"/>
          <p:cNvSpPr txBox="1"/>
          <p:nvPr/>
        </p:nvSpPr>
        <p:spPr>
          <a:xfrm>
            <a:off x="1019810" y="37655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pic>
        <p:nvPicPr>
          <p:cNvPr id="7" name="图片 6" descr="13201607499159_.pic_hd"/>
          <p:cNvPicPr>
            <a:picLocks noChangeAspect="1"/>
          </p:cNvPicPr>
          <p:nvPr/>
        </p:nvPicPr>
        <p:blipFill>
          <a:blip r:embed="rId2"/>
          <a:stretch>
            <a:fillRect/>
          </a:stretch>
        </p:blipFill>
        <p:spPr>
          <a:xfrm>
            <a:off x="8165465" y="1208405"/>
            <a:ext cx="3512820" cy="5241925"/>
          </a:xfrm>
          <a:prstGeom prst="rect">
            <a:avLst/>
          </a:prstGeom>
        </p:spPr>
      </p:pic>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7"/>
                                        </p:tgtEl>
                                        <p:attrNameLst>
                                          <p:attrName>style.visibility</p:attrName>
                                        </p:attrNameLst>
                                      </p:cBhvr>
                                      <p:to>
                                        <p:strVal val="visible"/>
                                      </p:to>
                                    </p:set>
                                    <p:anim calcmode="lin" valueType="num">
                                      <p:cBhvr>
                                        <p:cTn id="7" dur="1000" fill="hold"/>
                                        <p:tgtEl>
                                          <p:spTgt spid="137"/>
                                        </p:tgtEl>
                                        <p:attrNameLst>
                                          <p:attrName>ppt_x</p:attrName>
                                        </p:attrNameLst>
                                      </p:cBhvr>
                                      <p:tavLst>
                                        <p:tav tm="0">
                                          <p:val>
                                            <p:strVal val="1+#ppt_w/2"/>
                                          </p:val>
                                        </p:tav>
                                        <p:tav tm="100000">
                                          <p:val>
                                            <p:strVal val="#ppt_x"/>
                                          </p:val>
                                        </p:tav>
                                      </p:tavLst>
                                    </p:anim>
                                    <p:anim calcmode="lin" valueType="num">
                                      <p:cBhvr>
                                        <p:cTn id="8" dur="1000" fill="hold"/>
                                        <p:tgtEl>
                                          <p:spTgt spid="13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6"/>
                                        </p:tgtEl>
                                        <p:attrNameLst>
                                          <p:attrName>style.visibility</p:attrName>
                                        </p:attrNameLst>
                                      </p:cBhvr>
                                      <p:to>
                                        <p:strVal val="visible"/>
                                      </p:to>
                                    </p:set>
                                    <p:animEffect transition="in" filter="dissolve">
                                      <p:cBhvr>
                                        <p:cTn id="12" dur="1000"/>
                                        <p:tgtEl>
                                          <p:spTgt spid="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7" grpId="1" bldLvl="0" animBg="1" advAuto="0"/>
      <p:bldP spid="6" grpId="2" animBg="1" advAuto="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音效认识的误区（不成熟的音响观念）"/>
          <p:cNvSpPr txBox="1">
            <a:spLocks noGrp="1"/>
          </p:cNvSpPr>
          <p:nvPr>
            <p:ph type="title"/>
          </p:nvPr>
        </p:nvSpPr>
        <p:spPr>
          <a:xfrm>
            <a:off x="1502410" y="1629410"/>
            <a:ext cx="6460490" cy="747395"/>
          </a:xfrm>
          <a:prstGeom prst="rect">
            <a:avLst/>
          </a:prstGeom>
        </p:spPr>
        <p:txBody>
          <a:bodyPr>
            <a:normAutofit/>
          </a:bodyPr>
          <a:lstStyle>
            <a:lvl1pPr>
              <a:defRPr>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rPr lang="zh-CN">
                <a:solidFill>
                  <a:srgbClr val="FF0000"/>
                </a:solidFill>
                <a:sym typeface="+mn-ea"/>
              </a:rPr>
              <a:t>二、创造意义：表现蒙太奇</a:t>
            </a:r>
            <a:endParaRPr lang="zh-CN">
              <a:solidFill>
                <a:srgbClr val="FF0000"/>
              </a:solidFill>
              <a:sym typeface="+mn-ea"/>
            </a:endParaRPr>
          </a:p>
        </p:txBody>
      </p:sp>
      <p:sp>
        <p:nvSpPr>
          <p:cNvPr id="186" name="音乐替代音响的功能…"/>
          <p:cNvSpPr txBox="1">
            <a:spLocks noGrp="1"/>
          </p:cNvSpPr>
          <p:nvPr>
            <p:ph type="body" sz="half" idx="1"/>
          </p:nvPr>
        </p:nvSpPr>
        <p:spPr>
          <a:xfrm>
            <a:off x="4333240" y="2796540"/>
            <a:ext cx="5429250" cy="3359785"/>
          </a:xfrm>
          <a:prstGeom prst="rect">
            <a:avLst/>
          </a:prstGeom>
        </p:spPr>
        <p:txBody>
          <a:bodyPr>
            <a:normAutofit/>
          </a:bodyPr>
          <a:lstStyle/>
          <a:p>
            <a:pPr marL="237490" indent="-237490" defTabSz="795655">
              <a:spcBef>
                <a:spcPts val="800"/>
              </a:spcBef>
              <a:buSzTx/>
              <a:buNone/>
              <a:defRPr sz="2700"/>
            </a:pPr>
            <a:r>
              <a:t>1.对比蒙太奇</a:t>
            </a:r>
          </a:p>
          <a:p>
            <a:pPr marL="237490" indent="-237490" defTabSz="795655">
              <a:spcBef>
                <a:spcPts val="800"/>
              </a:spcBef>
              <a:buSzTx/>
              <a:buNone/>
              <a:defRPr sz="2700"/>
            </a:pPr>
            <a:r>
              <a:t>2.心理蒙太奇</a:t>
            </a:r>
          </a:p>
          <a:p>
            <a:pPr marL="237490" indent="-237490" defTabSz="795655">
              <a:spcBef>
                <a:spcPts val="800"/>
              </a:spcBef>
              <a:buSzTx/>
              <a:buNone/>
              <a:defRPr sz="2700"/>
            </a:pPr>
            <a:r>
              <a:rPr lang="en-US"/>
              <a:t>3</a:t>
            </a:r>
            <a:r>
              <a:t>.隐喻蒙太奇</a:t>
            </a:r>
          </a:p>
          <a:p>
            <a:pPr marL="237490" indent="-237490" defTabSz="795655">
              <a:spcBef>
                <a:spcPts val="800"/>
              </a:spcBef>
              <a:buSzTx/>
              <a:buNone/>
              <a:defRPr sz="2700"/>
            </a:pPr>
            <a:r>
              <a:rPr lang="en-US"/>
              <a:t>4</a:t>
            </a:r>
            <a:r>
              <a:t>.</a:t>
            </a:r>
            <a:r>
              <a:rPr>
                <a:sym typeface="+mn-ea"/>
              </a:rPr>
              <a:t>抒情蒙太奇</a:t>
            </a:r>
            <a:endParaRPr>
              <a:sym typeface="+mn-ea"/>
            </a:endParaRPr>
          </a:p>
          <a:p>
            <a:pPr marL="237490" indent="-237490" defTabSz="795655">
              <a:spcBef>
                <a:spcPts val="800"/>
              </a:spcBef>
              <a:buSzTx/>
              <a:buNone/>
              <a:defRPr sz="2700"/>
            </a:pPr>
          </a:p>
        </p:txBody>
      </p:sp>
      <p:pic>
        <p:nvPicPr>
          <p:cNvPr id="2" name="image2.png" descr="image2.png"/>
          <p:cNvPicPr>
            <a:picLocks noChangeAspect="1"/>
          </p:cNvPicPr>
          <p:nvPr/>
        </p:nvPicPr>
        <p:blipFill>
          <a:blip r:embed="rId1"/>
          <a:srcRect t="33436" b="43385"/>
          <a:stretch>
            <a:fillRect/>
          </a:stretch>
        </p:blipFill>
        <p:spPr>
          <a:xfrm>
            <a:off x="1019810" y="302895"/>
            <a:ext cx="10658475" cy="762635"/>
          </a:xfrm>
          <a:prstGeom prst="rect">
            <a:avLst/>
          </a:prstGeom>
          <a:ln w="12700">
            <a:miter lim="400000"/>
            <a:headEnd/>
            <a:tailEnd/>
          </a:ln>
        </p:spPr>
      </p:pic>
      <p:sp>
        <p:nvSpPr>
          <p:cNvPr id="137" name="矩形"/>
          <p:cNvSpPr/>
          <p:nvPr/>
        </p:nvSpPr>
        <p:spPr>
          <a:xfrm>
            <a:off x="612775"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3" name="色彩构成"/>
          <p:cNvSpPr txBox="1"/>
          <p:nvPr/>
        </p:nvSpPr>
        <p:spPr>
          <a:xfrm>
            <a:off x="1502410" y="56324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7"/>
                                        </p:tgtEl>
                                        <p:attrNameLst>
                                          <p:attrName>style.visibility</p:attrName>
                                        </p:attrNameLst>
                                      </p:cBhvr>
                                      <p:to>
                                        <p:strVal val="visible"/>
                                      </p:to>
                                    </p:set>
                                    <p:anim calcmode="lin" valueType="num">
                                      <p:cBhvr>
                                        <p:cTn id="7" dur="1000" fill="hold"/>
                                        <p:tgtEl>
                                          <p:spTgt spid="137"/>
                                        </p:tgtEl>
                                        <p:attrNameLst>
                                          <p:attrName>ppt_x</p:attrName>
                                        </p:attrNameLst>
                                      </p:cBhvr>
                                      <p:tavLst>
                                        <p:tav tm="0">
                                          <p:val>
                                            <p:strVal val="1+#ppt_w/2"/>
                                          </p:val>
                                        </p:tav>
                                        <p:tav tm="100000">
                                          <p:val>
                                            <p:strVal val="#ppt_x"/>
                                          </p:val>
                                        </p:tav>
                                      </p:tavLst>
                                    </p:anim>
                                    <p:anim calcmode="lin" valueType="num">
                                      <p:cBhvr>
                                        <p:cTn id="8" dur="1000" fill="hold"/>
                                        <p:tgtEl>
                                          <p:spTgt spid="13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3"/>
                                        </p:tgtEl>
                                        <p:attrNameLst>
                                          <p:attrName>style.visibility</p:attrName>
                                        </p:attrNameLst>
                                      </p:cBhvr>
                                      <p:to>
                                        <p:strVal val="visible"/>
                                      </p:to>
                                    </p:set>
                                    <p:animEffect transition="in" filter="dissolve">
                                      <p:cBhvr>
                                        <p:cTn id="12" dur="1000"/>
                                        <p:tgtEl>
                                          <p:spTgt spid="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7" grpId="1" bldLvl="0" animBg="1" advAuto="0"/>
      <p:bldP spid="3" grpId="2" animBg="1" advAuto="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5351" y="2381395"/>
            <a:ext cx="6490403" cy="1592705"/>
          </a:xfrm>
        </p:spPr>
        <p:txBody>
          <a:bodyPr>
            <a:normAutofit/>
          </a:bodyPr>
          <a:lstStyle/>
          <a:p>
            <a:r>
              <a:rPr>
                <a:sym typeface="+mn-ea"/>
              </a:rPr>
              <a:t>对比蒙太奇</a:t>
            </a:r>
            <a:br>
              <a:rPr lang="en-US" altLang="zh-CN" b="1" dirty="0">
                <a:solidFill>
                  <a:srgbClr val="FF0000"/>
                </a:solidFill>
                <a:latin typeface="宋体" panose="02010600030101010101" pitchFamily="2" charset="-122"/>
                <a:ea typeface="宋体" panose="02010600030101010101" pitchFamily="2" charset="-122"/>
              </a:rPr>
            </a:br>
            <a:endParaRPr lang="zh-CN" altLang="en-US" sz="1200" dirty="0">
              <a:solidFill>
                <a:schemeClr val="tx1"/>
              </a:solidFill>
              <a:latin typeface="宋体" panose="02010600030101010101" pitchFamily="2" charset="-122"/>
              <a:ea typeface="宋体" panose="02010600030101010101" pitchFamily="2" charset="-122"/>
            </a:endParaRPr>
          </a:p>
        </p:txBody>
      </p:sp>
      <p:pic>
        <p:nvPicPr>
          <p:cNvPr id="3" name="image2.png" descr="image2.png"/>
          <p:cNvPicPr>
            <a:picLocks noChangeAspect="1"/>
          </p:cNvPicPr>
          <p:nvPr/>
        </p:nvPicPr>
        <p:blipFill>
          <a:blip r:embed="rId1"/>
          <a:srcRect t="33436" b="43385"/>
          <a:stretch>
            <a:fillRect/>
          </a:stretch>
        </p:blipFill>
        <p:spPr>
          <a:xfrm>
            <a:off x="1019810" y="317500"/>
            <a:ext cx="10658475" cy="762635"/>
          </a:xfrm>
          <a:prstGeom prst="rect">
            <a:avLst/>
          </a:prstGeom>
          <a:ln w="12700">
            <a:miter lim="400000"/>
            <a:headEnd/>
            <a:tailEnd/>
          </a:ln>
        </p:spPr>
      </p:pic>
      <p:sp>
        <p:nvSpPr>
          <p:cNvPr id="137" name="矩形"/>
          <p:cNvSpPr/>
          <p:nvPr/>
        </p:nvSpPr>
        <p:spPr>
          <a:xfrm>
            <a:off x="598170"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6" name="色彩构成"/>
          <p:cNvSpPr txBox="1"/>
          <p:nvPr/>
        </p:nvSpPr>
        <p:spPr>
          <a:xfrm>
            <a:off x="1487805" y="56324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pic>
        <p:nvPicPr>
          <p:cNvPr id="8" name="图片 7" descr="屏幕快照 2020-12-09 15.42.48"/>
          <p:cNvPicPr>
            <a:picLocks noChangeAspect="1"/>
          </p:cNvPicPr>
          <p:nvPr/>
        </p:nvPicPr>
        <p:blipFill>
          <a:blip r:embed="rId2"/>
          <a:srcRect t="16586" b="16778"/>
          <a:stretch>
            <a:fillRect/>
          </a:stretch>
        </p:blipFill>
        <p:spPr>
          <a:xfrm>
            <a:off x="3641090" y="3246120"/>
            <a:ext cx="8352790" cy="3595370"/>
          </a:xfrm>
          <a:prstGeom prst="rect">
            <a:avLst/>
          </a:prstGeom>
        </p:spPr>
      </p:pic>
      <p:pic>
        <p:nvPicPr>
          <p:cNvPr id="9" name="图片 8" descr="屏幕快照 2020-12-09 15.42.25"/>
          <p:cNvPicPr>
            <a:picLocks noChangeAspect="1"/>
          </p:cNvPicPr>
          <p:nvPr/>
        </p:nvPicPr>
        <p:blipFill>
          <a:blip r:embed="rId3"/>
          <a:stretch>
            <a:fillRect/>
          </a:stretch>
        </p:blipFill>
        <p:spPr>
          <a:xfrm>
            <a:off x="3641090" y="48260"/>
            <a:ext cx="8353425" cy="3558540"/>
          </a:xfrm>
          <a:prstGeom prst="rect">
            <a:avLst/>
          </a:prstGeom>
        </p:spPr>
      </p:pic>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7"/>
                                        </p:tgtEl>
                                        <p:attrNameLst>
                                          <p:attrName>style.visibility</p:attrName>
                                        </p:attrNameLst>
                                      </p:cBhvr>
                                      <p:to>
                                        <p:strVal val="visible"/>
                                      </p:to>
                                    </p:set>
                                    <p:anim calcmode="lin" valueType="num">
                                      <p:cBhvr>
                                        <p:cTn id="7" dur="1000" fill="hold"/>
                                        <p:tgtEl>
                                          <p:spTgt spid="137"/>
                                        </p:tgtEl>
                                        <p:attrNameLst>
                                          <p:attrName>ppt_x</p:attrName>
                                        </p:attrNameLst>
                                      </p:cBhvr>
                                      <p:tavLst>
                                        <p:tav tm="0">
                                          <p:val>
                                            <p:strVal val="1+#ppt_w/2"/>
                                          </p:val>
                                        </p:tav>
                                        <p:tav tm="100000">
                                          <p:val>
                                            <p:strVal val="#ppt_x"/>
                                          </p:val>
                                        </p:tav>
                                      </p:tavLst>
                                    </p:anim>
                                    <p:anim calcmode="lin" valueType="num">
                                      <p:cBhvr>
                                        <p:cTn id="8" dur="1000" fill="hold"/>
                                        <p:tgtEl>
                                          <p:spTgt spid="13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6"/>
                                        </p:tgtEl>
                                        <p:attrNameLst>
                                          <p:attrName>style.visibility</p:attrName>
                                        </p:attrNameLst>
                                      </p:cBhvr>
                                      <p:to>
                                        <p:strVal val="visible"/>
                                      </p:to>
                                    </p:set>
                                    <p:animEffect transition="in" filter="dissolve">
                                      <p:cBhvr>
                                        <p:cTn id="12" dur="1000"/>
                                        <p:tgtEl>
                                          <p:spTgt spid="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7" grpId="1" bldLvl="0" animBg="1" advAuto="0"/>
      <p:bldP spid="6" grpId="2" animBg="1" advAuto="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20126" y="1737505"/>
            <a:ext cx="6490403" cy="1592705"/>
          </a:xfrm>
        </p:spPr>
        <p:txBody>
          <a:bodyPr>
            <a:normAutofit/>
          </a:bodyPr>
          <a:lstStyle/>
          <a:p>
            <a:r>
              <a:rPr>
                <a:sym typeface="+mn-ea"/>
              </a:rPr>
              <a:t>对比蒙太奇</a:t>
            </a:r>
            <a:br>
              <a:rPr lang="en-US" altLang="zh-CN" b="1" dirty="0">
                <a:solidFill>
                  <a:srgbClr val="FF0000"/>
                </a:solidFill>
                <a:latin typeface="宋体" panose="02010600030101010101" pitchFamily="2" charset="-122"/>
                <a:ea typeface="宋体" panose="02010600030101010101" pitchFamily="2" charset="-122"/>
              </a:rPr>
            </a:b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 name="文本占位符 3"/>
          <p:cNvSpPr>
            <a:spLocks noGrp="1"/>
          </p:cNvSpPr>
          <p:nvPr>
            <p:ph type="body" sz="quarter" idx="1"/>
          </p:nvPr>
        </p:nvSpPr>
        <p:spPr>
          <a:xfrm>
            <a:off x="990600" y="3477895"/>
            <a:ext cx="9903460" cy="2685415"/>
          </a:xfrm>
        </p:spPr>
        <p:txBody>
          <a:bodyPr>
            <a:normAutofit fontScale="90000"/>
          </a:bodyPr>
          <a:lstStyle/>
          <a:p>
            <a:pPr>
              <a:lnSpc>
                <a:spcPct val="150000"/>
              </a:lnSpc>
            </a:pPr>
            <a:r>
              <a:rPr sz="2800" dirty="0"/>
              <a:t>类似文学中的对比描写，即通过镜头或场面之间在内容(如贫与富、苦与乐、生与死，高尚与卑下，胜利与失败等)或形式(如景别大小、色彩冷暖，声音强弱、动静等)的强烈对比，产生相互冲突的作用，以表达创作者的某种寓意或强化所表现的内容和思想。</a:t>
            </a:r>
            <a:endParaRPr dirty="0"/>
          </a:p>
          <a:p>
            <a:pPr>
              <a:lnSpc>
                <a:spcPct val="150000"/>
              </a:lnSpc>
            </a:pPr>
            <a:endParaRPr dirty="0"/>
          </a:p>
        </p:txBody>
      </p:sp>
      <p:pic>
        <p:nvPicPr>
          <p:cNvPr id="3" name="image2.png" descr="image2.png"/>
          <p:cNvPicPr>
            <a:picLocks noChangeAspect="1"/>
          </p:cNvPicPr>
          <p:nvPr/>
        </p:nvPicPr>
        <p:blipFill>
          <a:blip r:embed="rId1"/>
          <a:srcRect t="33436" b="43385"/>
          <a:stretch>
            <a:fillRect/>
          </a:stretch>
        </p:blipFill>
        <p:spPr>
          <a:xfrm>
            <a:off x="1019810" y="317500"/>
            <a:ext cx="10658475" cy="762635"/>
          </a:xfrm>
          <a:prstGeom prst="rect">
            <a:avLst/>
          </a:prstGeom>
          <a:ln w="12700">
            <a:miter lim="400000"/>
            <a:headEnd/>
            <a:tailEnd/>
          </a:ln>
        </p:spPr>
      </p:pic>
      <p:sp>
        <p:nvSpPr>
          <p:cNvPr id="137" name="矩形"/>
          <p:cNvSpPr/>
          <p:nvPr/>
        </p:nvSpPr>
        <p:spPr>
          <a:xfrm>
            <a:off x="598170"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6" name="色彩构成"/>
          <p:cNvSpPr txBox="1"/>
          <p:nvPr/>
        </p:nvSpPr>
        <p:spPr>
          <a:xfrm>
            <a:off x="1487805" y="56324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7"/>
                                        </p:tgtEl>
                                        <p:attrNameLst>
                                          <p:attrName>style.visibility</p:attrName>
                                        </p:attrNameLst>
                                      </p:cBhvr>
                                      <p:to>
                                        <p:strVal val="visible"/>
                                      </p:to>
                                    </p:set>
                                    <p:anim calcmode="lin" valueType="num">
                                      <p:cBhvr>
                                        <p:cTn id="7" dur="1000" fill="hold"/>
                                        <p:tgtEl>
                                          <p:spTgt spid="137"/>
                                        </p:tgtEl>
                                        <p:attrNameLst>
                                          <p:attrName>ppt_x</p:attrName>
                                        </p:attrNameLst>
                                      </p:cBhvr>
                                      <p:tavLst>
                                        <p:tav tm="0">
                                          <p:val>
                                            <p:strVal val="1+#ppt_w/2"/>
                                          </p:val>
                                        </p:tav>
                                        <p:tav tm="100000">
                                          <p:val>
                                            <p:strVal val="#ppt_x"/>
                                          </p:val>
                                        </p:tav>
                                      </p:tavLst>
                                    </p:anim>
                                    <p:anim calcmode="lin" valueType="num">
                                      <p:cBhvr>
                                        <p:cTn id="8" dur="1000" fill="hold"/>
                                        <p:tgtEl>
                                          <p:spTgt spid="13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6"/>
                                        </p:tgtEl>
                                        <p:attrNameLst>
                                          <p:attrName>style.visibility</p:attrName>
                                        </p:attrNameLst>
                                      </p:cBhvr>
                                      <p:to>
                                        <p:strVal val="visible"/>
                                      </p:to>
                                    </p:set>
                                    <p:animEffect transition="in" filter="dissolve">
                                      <p:cBhvr>
                                        <p:cTn id="12" dur="1000"/>
                                        <p:tgtEl>
                                          <p:spTgt spid="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7" grpId="1" bldLvl="0" animBg="1" advAuto="0"/>
      <p:bldP spid="6" grpId="2" animBg="1" advAuto="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20126" y="1347615"/>
            <a:ext cx="6490403" cy="1592705"/>
          </a:xfrm>
        </p:spPr>
        <p:txBody>
          <a:bodyPr>
            <a:normAutofit/>
          </a:bodyPr>
          <a:lstStyle/>
          <a:p>
            <a:r>
              <a:rPr dirty="0">
                <a:sym typeface="+mn-ea"/>
              </a:rPr>
              <a:t>心理蒙太奇</a:t>
            </a:r>
            <a:br>
              <a:rPr dirty="0"/>
            </a:br>
            <a:br>
              <a:rPr lang="en-US" altLang="zh-CN" b="1" dirty="0">
                <a:solidFill>
                  <a:srgbClr val="FF0000"/>
                </a:solidFill>
                <a:latin typeface="宋体" panose="02010600030101010101" pitchFamily="2" charset="-122"/>
                <a:ea typeface="宋体" panose="02010600030101010101" pitchFamily="2" charset="-122"/>
              </a:rPr>
            </a:b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 name="文本占位符 3"/>
          <p:cNvSpPr>
            <a:spLocks noGrp="1"/>
          </p:cNvSpPr>
          <p:nvPr>
            <p:ph type="body" sz="quarter" idx="1"/>
          </p:nvPr>
        </p:nvSpPr>
        <p:spPr>
          <a:xfrm>
            <a:off x="838835" y="2225675"/>
            <a:ext cx="10838815" cy="3937635"/>
          </a:xfrm>
        </p:spPr>
        <p:txBody>
          <a:bodyPr>
            <a:noAutofit/>
          </a:bodyPr>
          <a:lstStyle/>
          <a:p>
            <a:pPr>
              <a:lnSpc>
                <a:spcPct val="150000"/>
              </a:lnSpc>
            </a:pPr>
            <a:endParaRPr sz="2400" dirty="0"/>
          </a:p>
          <a:p>
            <a:pPr>
              <a:lnSpc>
                <a:spcPct val="150000"/>
              </a:lnSpc>
            </a:pPr>
            <a:r>
              <a:rPr sz="2400" dirty="0"/>
              <a:t>是人物心理描写的重要手段，它通过画面镜头组接或声画有机结合，形象生动地展示出人物的内心世界，常用于表现人物的梦境、回忆、闪念，幻觉、遐想、思索等精神活动。这种蒙太奇在剪接技巧上多用交叉穿插等手法，特点是画面和声音形象的片段性、叙述的不连贯性和节奏的跳跃性，声画形象带有剧中人强烈的主观性。</a:t>
            </a:r>
            <a:endParaRPr sz="2400" dirty="0"/>
          </a:p>
        </p:txBody>
      </p:sp>
      <p:pic>
        <p:nvPicPr>
          <p:cNvPr id="3" name="image2.png" descr="image2.png"/>
          <p:cNvPicPr>
            <a:picLocks noChangeAspect="1"/>
          </p:cNvPicPr>
          <p:nvPr/>
        </p:nvPicPr>
        <p:blipFill>
          <a:blip r:embed="rId1"/>
          <a:srcRect t="33436" b="43385"/>
          <a:stretch>
            <a:fillRect/>
          </a:stretch>
        </p:blipFill>
        <p:spPr>
          <a:xfrm>
            <a:off x="1019810" y="317500"/>
            <a:ext cx="10658475" cy="762635"/>
          </a:xfrm>
          <a:prstGeom prst="rect">
            <a:avLst/>
          </a:prstGeom>
          <a:ln w="12700">
            <a:miter lim="400000"/>
            <a:headEnd/>
            <a:tailEnd/>
          </a:ln>
        </p:spPr>
      </p:pic>
      <p:sp>
        <p:nvSpPr>
          <p:cNvPr id="137" name="矩形"/>
          <p:cNvSpPr/>
          <p:nvPr/>
        </p:nvSpPr>
        <p:spPr>
          <a:xfrm>
            <a:off x="598170"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6" name="色彩构成"/>
          <p:cNvSpPr txBox="1"/>
          <p:nvPr/>
        </p:nvSpPr>
        <p:spPr>
          <a:xfrm>
            <a:off x="1487805" y="56324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7"/>
                                        </p:tgtEl>
                                        <p:attrNameLst>
                                          <p:attrName>style.visibility</p:attrName>
                                        </p:attrNameLst>
                                      </p:cBhvr>
                                      <p:to>
                                        <p:strVal val="visible"/>
                                      </p:to>
                                    </p:set>
                                    <p:anim calcmode="lin" valueType="num">
                                      <p:cBhvr>
                                        <p:cTn id="7" dur="1000" fill="hold"/>
                                        <p:tgtEl>
                                          <p:spTgt spid="137"/>
                                        </p:tgtEl>
                                        <p:attrNameLst>
                                          <p:attrName>ppt_x</p:attrName>
                                        </p:attrNameLst>
                                      </p:cBhvr>
                                      <p:tavLst>
                                        <p:tav tm="0">
                                          <p:val>
                                            <p:strVal val="1+#ppt_w/2"/>
                                          </p:val>
                                        </p:tav>
                                        <p:tav tm="100000">
                                          <p:val>
                                            <p:strVal val="#ppt_x"/>
                                          </p:val>
                                        </p:tav>
                                      </p:tavLst>
                                    </p:anim>
                                    <p:anim calcmode="lin" valueType="num">
                                      <p:cBhvr>
                                        <p:cTn id="8" dur="1000" fill="hold"/>
                                        <p:tgtEl>
                                          <p:spTgt spid="13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6"/>
                                        </p:tgtEl>
                                        <p:attrNameLst>
                                          <p:attrName>style.visibility</p:attrName>
                                        </p:attrNameLst>
                                      </p:cBhvr>
                                      <p:to>
                                        <p:strVal val="visible"/>
                                      </p:to>
                                    </p:set>
                                    <p:animEffect transition="in" filter="dissolve">
                                      <p:cBhvr>
                                        <p:cTn id="12" dur="1000"/>
                                        <p:tgtEl>
                                          <p:spTgt spid="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7" grpId="1" bldLvl="0" animBg="1" advAuto="0"/>
      <p:bldP spid="6" grpId="2" animBg="1" advAuto="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20126" y="829455"/>
            <a:ext cx="6490403" cy="1592705"/>
          </a:xfrm>
        </p:spPr>
        <p:txBody>
          <a:bodyPr>
            <a:normAutofit/>
          </a:bodyPr>
          <a:lstStyle/>
          <a:p>
            <a:r>
              <a:rPr>
                <a:sym typeface="+mn-ea"/>
              </a:rPr>
              <a:t>隐喻蒙太奇</a:t>
            </a:r>
            <a:br>
              <a:rPr>
                <a:sym typeface="+mn-ea"/>
              </a:rPr>
            </a:br>
            <a:br>
              <a:rPr lang="en-US" altLang="zh-CN" b="1" dirty="0">
                <a:solidFill>
                  <a:srgbClr val="FF0000"/>
                </a:solidFill>
                <a:latin typeface="宋体" panose="02010600030101010101" pitchFamily="2" charset="-122"/>
                <a:ea typeface="宋体" panose="02010600030101010101" pitchFamily="2" charset="-122"/>
              </a:rPr>
            </a:b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 name="文本占位符 3"/>
          <p:cNvSpPr>
            <a:spLocks noGrp="1"/>
          </p:cNvSpPr>
          <p:nvPr>
            <p:ph type="body" sz="quarter" idx="1"/>
          </p:nvPr>
        </p:nvSpPr>
        <p:spPr>
          <a:xfrm>
            <a:off x="990600" y="2138680"/>
            <a:ext cx="9677400" cy="4024630"/>
          </a:xfrm>
        </p:spPr>
        <p:txBody>
          <a:bodyPr>
            <a:noAutofit/>
          </a:bodyPr>
          <a:lstStyle/>
          <a:p>
            <a:pPr>
              <a:lnSpc>
                <a:spcPct val="150000"/>
              </a:lnSpc>
            </a:pPr>
            <a:r>
              <a:rPr sz="2400" dirty="0"/>
              <a:t>通过镜头或场面的对列进行类比，含蓄而形象地表达创作者的某种寓意。这种手法往往将不同事物之间某种相似的特征突现出来，以引起观众的联想，领会导演的寓意和领略事件的情绪色彩。如普多夫金在《母亲》一片中将工人示威游行的镜头与春天冰河水解冻的镜头组接在一起，用以比喻革命运动势不可挡。隐喻蒙太奇将巨大的概括力和极度简洁的表现手法相结合，往往具有强烈的情绪感染力。</a:t>
            </a:r>
            <a:endParaRPr sz="2400" dirty="0"/>
          </a:p>
        </p:txBody>
      </p:sp>
      <p:pic>
        <p:nvPicPr>
          <p:cNvPr id="3" name="image2.png" descr="image2.png"/>
          <p:cNvPicPr>
            <a:picLocks noChangeAspect="1"/>
          </p:cNvPicPr>
          <p:nvPr/>
        </p:nvPicPr>
        <p:blipFill>
          <a:blip r:embed="rId1"/>
          <a:srcRect t="33436" b="43385"/>
          <a:stretch>
            <a:fillRect/>
          </a:stretch>
        </p:blipFill>
        <p:spPr>
          <a:xfrm>
            <a:off x="1019810" y="317500"/>
            <a:ext cx="10658475" cy="762635"/>
          </a:xfrm>
          <a:prstGeom prst="rect">
            <a:avLst/>
          </a:prstGeom>
          <a:ln w="12700">
            <a:miter lim="400000"/>
            <a:headEnd/>
            <a:tailEnd/>
          </a:ln>
        </p:spPr>
      </p:pic>
      <p:sp>
        <p:nvSpPr>
          <p:cNvPr id="137" name="矩形"/>
          <p:cNvSpPr/>
          <p:nvPr/>
        </p:nvSpPr>
        <p:spPr>
          <a:xfrm>
            <a:off x="598170"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6" name="色彩构成"/>
          <p:cNvSpPr txBox="1"/>
          <p:nvPr/>
        </p:nvSpPr>
        <p:spPr>
          <a:xfrm>
            <a:off x="1487805" y="56324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7"/>
                                        </p:tgtEl>
                                        <p:attrNameLst>
                                          <p:attrName>style.visibility</p:attrName>
                                        </p:attrNameLst>
                                      </p:cBhvr>
                                      <p:to>
                                        <p:strVal val="visible"/>
                                      </p:to>
                                    </p:set>
                                    <p:anim calcmode="lin" valueType="num">
                                      <p:cBhvr>
                                        <p:cTn id="7" dur="1000" fill="hold"/>
                                        <p:tgtEl>
                                          <p:spTgt spid="137"/>
                                        </p:tgtEl>
                                        <p:attrNameLst>
                                          <p:attrName>ppt_x</p:attrName>
                                        </p:attrNameLst>
                                      </p:cBhvr>
                                      <p:tavLst>
                                        <p:tav tm="0">
                                          <p:val>
                                            <p:strVal val="1+#ppt_w/2"/>
                                          </p:val>
                                        </p:tav>
                                        <p:tav tm="100000">
                                          <p:val>
                                            <p:strVal val="#ppt_x"/>
                                          </p:val>
                                        </p:tav>
                                      </p:tavLst>
                                    </p:anim>
                                    <p:anim calcmode="lin" valueType="num">
                                      <p:cBhvr>
                                        <p:cTn id="8" dur="1000" fill="hold"/>
                                        <p:tgtEl>
                                          <p:spTgt spid="13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6"/>
                                        </p:tgtEl>
                                        <p:attrNameLst>
                                          <p:attrName>style.visibility</p:attrName>
                                        </p:attrNameLst>
                                      </p:cBhvr>
                                      <p:to>
                                        <p:strVal val="visible"/>
                                      </p:to>
                                    </p:set>
                                    <p:animEffect transition="in" filter="dissolve">
                                      <p:cBhvr>
                                        <p:cTn id="12" dur="1000"/>
                                        <p:tgtEl>
                                          <p:spTgt spid="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7" grpId="1" bldLvl="0" animBg="1" advAuto="0"/>
      <p:bldP spid="6" grpId="2" animBg="1" advAuto="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20126" y="829455"/>
            <a:ext cx="6490403" cy="1592705"/>
          </a:xfrm>
        </p:spPr>
        <p:txBody>
          <a:bodyPr>
            <a:normAutofit/>
          </a:bodyPr>
          <a:lstStyle/>
          <a:p>
            <a:r>
              <a:rPr>
                <a:sym typeface="+mn-ea"/>
              </a:rPr>
              <a:t>抒情蒙太奇</a:t>
            </a:r>
            <a:br>
              <a:rPr>
                <a:sym typeface="+mn-ea"/>
              </a:rPr>
            </a:br>
            <a:br>
              <a:rPr lang="en-US" altLang="zh-CN" b="1" dirty="0">
                <a:solidFill>
                  <a:srgbClr val="FF0000"/>
                </a:solidFill>
                <a:latin typeface="宋体" panose="02010600030101010101" pitchFamily="2" charset="-122"/>
                <a:ea typeface="宋体" panose="02010600030101010101" pitchFamily="2" charset="-122"/>
              </a:rPr>
            </a:b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 name="文本占位符 3"/>
          <p:cNvSpPr>
            <a:spLocks noGrp="1"/>
          </p:cNvSpPr>
          <p:nvPr>
            <p:ph type="body" sz="quarter" idx="1"/>
          </p:nvPr>
        </p:nvSpPr>
        <p:spPr>
          <a:xfrm>
            <a:off x="990600" y="2138680"/>
            <a:ext cx="9190990" cy="4024630"/>
          </a:xfrm>
        </p:spPr>
        <p:txBody>
          <a:bodyPr>
            <a:normAutofit/>
          </a:bodyPr>
          <a:lstStyle/>
          <a:p>
            <a:pPr>
              <a:lnSpc>
                <a:spcPct val="150000"/>
              </a:lnSpc>
            </a:pPr>
            <a:r>
              <a:rPr dirty="0"/>
              <a:t>是一种在保证叙事和描写的连贯性的同时，表现超越剧情之上的思想和情感。让·米特里指出:它的本意既是叙述故事，亦是绘声绘色的渲染，并且更偏重于后者。意义重大的事件被分解成一系列近景或特写，从不同的侧面和角度捕捉事物的本质含义，渲染事物的特征。最常见，最易被观众感受到的抒情蒙太奇，往往在一段叙事场面之后，恰当地切入象征情绪情感的空镜头。如苏联影片《乡村女教师》中，瓦尔瓦拉和马尔蒂诺夫相爱了，马尔蒂诺夫试探地问她是否永远等待他。她一往深情地答道:"永远!"紧接着画面中切入两个盛开的花枝的镜头。它本与剧情并无直接关系，但却恰当地抒发了作者与人物的情感。</a:t>
            </a:r>
            <a:endParaRPr dirty="0"/>
          </a:p>
        </p:txBody>
      </p:sp>
      <p:pic>
        <p:nvPicPr>
          <p:cNvPr id="3" name="image2.png" descr="image2.png"/>
          <p:cNvPicPr>
            <a:picLocks noChangeAspect="1"/>
          </p:cNvPicPr>
          <p:nvPr/>
        </p:nvPicPr>
        <p:blipFill>
          <a:blip r:embed="rId1"/>
          <a:srcRect t="33436" b="43385"/>
          <a:stretch>
            <a:fillRect/>
          </a:stretch>
        </p:blipFill>
        <p:spPr>
          <a:xfrm>
            <a:off x="1019810" y="317500"/>
            <a:ext cx="10658475" cy="762635"/>
          </a:xfrm>
          <a:prstGeom prst="rect">
            <a:avLst/>
          </a:prstGeom>
          <a:ln w="12700">
            <a:miter lim="400000"/>
            <a:headEnd/>
            <a:tailEnd/>
          </a:ln>
        </p:spPr>
      </p:pic>
      <p:sp>
        <p:nvSpPr>
          <p:cNvPr id="137" name="矩形"/>
          <p:cNvSpPr/>
          <p:nvPr/>
        </p:nvSpPr>
        <p:spPr>
          <a:xfrm>
            <a:off x="598170"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6" name="色彩构成"/>
          <p:cNvSpPr txBox="1"/>
          <p:nvPr/>
        </p:nvSpPr>
        <p:spPr>
          <a:xfrm>
            <a:off x="1487805" y="56324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7"/>
                                        </p:tgtEl>
                                        <p:attrNameLst>
                                          <p:attrName>style.visibility</p:attrName>
                                        </p:attrNameLst>
                                      </p:cBhvr>
                                      <p:to>
                                        <p:strVal val="visible"/>
                                      </p:to>
                                    </p:set>
                                    <p:anim calcmode="lin" valueType="num">
                                      <p:cBhvr>
                                        <p:cTn id="7" dur="1000" fill="hold"/>
                                        <p:tgtEl>
                                          <p:spTgt spid="137"/>
                                        </p:tgtEl>
                                        <p:attrNameLst>
                                          <p:attrName>ppt_x</p:attrName>
                                        </p:attrNameLst>
                                      </p:cBhvr>
                                      <p:tavLst>
                                        <p:tav tm="0">
                                          <p:val>
                                            <p:strVal val="1+#ppt_w/2"/>
                                          </p:val>
                                        </p:tav>
                                        <p:tav tm="100000">
                                          <p:val>
                                            <p:strVal val="#ppt_x"/>
                                          </p:val>
                                        </p:tav>
                                      </p:tavLst>
                                    </p:anim>
                                    <p:anim calcmode="lin" valueType="num">
                                      <p:cBhvr>
                                        <p:cTn id="8" dur="1000" fill="hold"/>
                                        <p:tgtEl>
                                          <p:spTgt spid="13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6"/>
                                        </p:tgtEl>
                                        <p:attrNameLst>
                                          <p:attrName>style.visibility</p:attrName>
                                        </p:attrNameLst>
                                      </p:cBhvr>
                                      <p:to>
                                        <p:strVal val="visible"/>
                                      </p:to>
                                    </p:set>
                                    <p:animEffect transition="in" filter="dissolve">
                                      <p:cBhvr>
                                        <p:cTn id="12" dur="1000"/>
                                        <p:tgtEl>
                                          <p:spTgt spid="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7" grpId="1" bldLvl="0" animBg="1" advAuto="0"/>
      <p:bldP spid="6" grpId="2" animBg="1" advAuto="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音效认识的误区（不成熟的音响观念）"/>
          <p:cNvSpPr txBox="1">
            <a:spLocks noGrp="1"/>
          </p:cNvSpPr>
          <p:nvPr>
            <p:ph type="title"/>
          </p:nvPr>
        </p:nvSpPr>
        <p:spPr>
          <a:xfrm>
            <a:off x="1502410" y="1629410"/>
            <a:ext cx="6460490" cy="747395"/>
          </a:xfrm>
          <a:prstGeom prst="rect">
            <a:avLst/>
          </a:prstGeom>
        </p:spPr>
        <p:txBody>
          <a:bodyPr>
            <a:normAutofit/>
          </a:bodyPr>
          <a:lstStyle>
            <a:lvl1pPr>
              <a:defRPr>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rPr lang="zh-CN">
                <a:solidFill>
                  <a:srgbClr val="FF0000"/>
                </a:solidFill>
                <a:sym typeface="+mn-ea"/>
              </a:rPr>
              <a:t>三、重组电影时空</a:t>
            </a:r>
            <a:endParaRPr lang="zh-CN">
              <a:solidFill>
                <a:srgbClr val="FF0000"/>
              </a:solidFill>
              <a:sym typeface="+mn-ea"/>
            </a:endParaRPr>
          </a:p>
        </p:txBody>
      </p:sp>
      <p:sp>
        <p:nvSpPr>
          <p:cNvPr id="186" name="音乐替代音响的功能…"/>
          <p:cNvSpPr txBox="1">
            <a:spLocks noGrp="1"/>
          </p:cNvSpPr>
          <p:nvPr>
            <p:ph type="body" sz="half" idx="1"/>
          </p:nvPr>
        </p:nvSpPr>
        <p:spPr>
          <a:xfrm>
            <a:off x="3634105" y="2665730"/>
            <a:ext cx="5429250" cy="3578225"/>
          </a:xfrm>
          <a:prstGeom prst="rect">
            <a:avLst/>
          </a:prstGeom>
        </p:spPr>
        <p:txBody>
          <a:bodyPr>
            <a:normAutofit/>
          </a:bodyPr>
          <a:lstStyle/>
          <a:p>
            <a:pPr marL="237490" indent="-237490" defTabSz="795655">
              <a:spcBef>
                <a:spcPts val="800"/>
              </a:spcBef>
              <a:buSzTx/>
              <a:buNone/>
              <a:defRPr sz="2700"/>
            </a:pPr>
            <a:r>
              <a:t>1.</a:t>
            </a:r>
            <a:r>
              <a:rPr lang="zh-CN">
                <a:ea typeface="宋体" panose="02010600030101010101" pitchFamily="2" charset="-122"/>
              </a:rPr>
              <a:t>重组创造空间</a:t>
            </a:r>
            <a:endParaRPr lang="zh-CN">
              <a:ea typeface="宋体" panose="02010600030101010101" pitchFamily="2" charset="-122"/>
            </a:endParaRPr>
          </a:p>
          <a:p>
            <a:pPr marL="237490" indent="-237490" defTabSz="795655">
              <a:spcBef>
                <a:spcPts val="800"/>
              </a:spcBef>
              <a:buSzTx/>
              <a:buNone/>
              <a:defRPr sz="2700"/>
            </a:pPr>
            <a:r>
              <a:t>2.</a:t>
            </a:r>
            <a:r>
              <a:rPr lang="zh-CN">
                <a:ea typeface="宋体" panose="02010600030101010101" pitchFamily="2" charset="-122"/>
              </a:rPr>
              <a:t>创造完全虚拟的非现实空间</a:t>
            </a:r>
            <a:endParaRPr lang="zh-CN">
              <a:ea typeface="宋体" panose="02010600030101010101" pitchFamily="2" charset="-122"/>
            </a:endParaRPr>
          </a:p>
          <a:p>
            <a:pPr marL="237490" indent="-237490" defTabSz="795655">
              <a:spcBef>
                <a:spcPts val="800"/>
              </a:spcBef>
              <a:buSzTx/>
              <a:buNone/>
              <a:defRPr sz="2700"/>
            </a:pPr>
            <a:r>
              <a:rPr lang="en-US"/>
              <a:t>3</a:t>
            </a:r>
            <a:r>
              <a:t>.</a:t>
            </a:r>
            <a:r>
              <a:rPr lang="zh-CN">
                <a:ea typeface="宋体" panose="02010600030101010101" pitchFamily="2" charset="-122"/>
              </a:rPr>
              <a:t>重构时间</a:t>
            </a:r>
            <a:endParaRPr lang="zh-CN">
              <a:ea typeface="宋体" panose="02010600030101010101" pitchFamily="2" charset="-122"/>
            </a:endParaRPr>
          </a:p>
          <a:p>
            <a:pPr marL="237490" indent="-237490" defTabSz="795655">
              <a:spcBef>
                <a:spcPts val="800"/>
              </a:spcBef>
              <a:buSzTx/>
              <a:buNone/>
              <a:defRPr sz="2700"/>
            </a:pPr>
          </a:p>
        </p:txBody>
      </p:sp>
      <p:pic>
        <p:nvPicPr>
          <p:cNvPr id="2" name="image2.png" descr="image2.png"/>
          <p:cNvPicPr>
            <a:picLocks noChangeAspect="1"/>
          </p:cNvPicPr>
          <p:nvPr/>
        </p:nvPicPr>
        <p:blipFill>
          <a:blip r:embed="rId1"/>
          <a:srcRect t="33436" b="43385"/>
          <a:stretch>
            <a:fillRect/>
          </a:stretch>
        </p:blipFill>
        <p:spPr>
          <a:xfrm>
            <a:off x="1019810" y="302895"/>
            <a:ext cx="10658475" cy="762635"/>
          </a:xfrm>
          <a:prstGeom prst="rect">
            <a:avLst/>
          </a:prstGeom>
          <a:ln w="12700">
            <a:miter lim="400000"/>
            <a:headEnd/>
            <a:tailEnd/>
          </a:ln>
        </p:spPr>
      </p:pic>
      <p:sp>
        <p:nvSpPr>
          <p:cNvPr id="137" name="矩形"/>
          <p:cNvSpPr/>
          <p:nvPr/>
        </p:nvSpPr>
        <p:spPr>
          <a:xfrm>
            <a:off x="612775"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3" name="色彩构成"/>
          <p:cNvSpPr txBox="1"/>
          <p:nvPr/>
        </p:nvSpPr>
        <p:spPr>
          <a:xfrm>
            <a:off x="1502410" y="56324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7"/>
                                        </p:tgtEl>
                                        <p:attrNameLst>
                                          <p:attrName>style.visibility</p:attrName>
                                        </p:attrNameLst>
                                      </p:cBhvr>
                                      <p:to>
                                        <p:strVal val="visible"/>
                                      </p:to>
                                    </p:set>
                                    <p:anim calcmode="lin" valueType="num">
                                      <p:cBhvr>
                                        <p:cTn id="7" dur="1000" fill="hold"/>
                                        <p:tgtEl>
                                          <p:spTgt spid="137"/>
                                        </p:tgtEl>
                                        <p:attrNameLst>
                                          <p:attrName>ppt_x</p:attrName>
                                        </p:attrNameLst>
                                      </p:cBhvr>
                                      <p:tavLst>
                                        <p:tav tm="0">
                                          <p:val>
                                            <p:strVal val="1+#ppt_w/2"/>
                                          </p:val>
                                        </p:tav>
                                        <p:tav tm="100000">
                                          <p:val>
                                            <p:strVal val="#ppt_x"/>
                                          </p:val>
                                        </p:tav>
                                      </p:tavLst>
                                    </p:anim>
                                    <p:anim calcmode="lin" valueType="num">
                                      <p:cBhvr>
                                        <p:cTn id="8" dur="1000" fill="hold"/>
                                        <p:tgtEl>
                                          <p:spTgt spid="13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3"/>
                                        </p:tgtEl>
                                        <p:attrNameLst>
                                          <p:attrName>style.visibility</p:attrName>
                                        </p:attrNameLst>
                                      </p:cBhvr>
                                      <p:to>
                                        <p:strVal val="visible"/>
                                      </p:to>
                                    </p:set>
                                    <p:animEffect transition="in" filter="dissolve">
                                      <p:cBhvr>
                                        <p:cTn id="12" dur="1000"/>
                                        <p:tgtEl>
                                          <p:spTgt spid="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7" grpId="1" bldLvl="0" animBg="1" advAuto="0"/>
      <p:bldP spid="3" grpId="2" animBg="1" advAuto="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音效认识的误区（不成熟的音响观念）"/>
          <p:cNvSpPr txBox="1">
            <a:spLocks noGrp="1"/>
          </p:cNvSpPr>
          <p:nvPr>
            <p:ph type="title"/>
          </p:nvPr>
        </p:nvSpPr>
        <p:spPr>
          <a:xfrm>
            <a:off x="1502410" y="1629410"/>
            <a:ext cx="6460490" cy="747395"/>
          </a:xfrm>
          <a:prstGeom prst="rect">
            <a:avLst/>
          </a:prstGeom>
        </p:spPr>
        <p:txBody>
          <a:bodyPr>
            <a:normAutofit/>
          </a:bodyPr>
          <a:lstStyle>
            <a:lvl1pPr>
              <a:defRPr>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rPr lang="zh-CN">
                <a:solidFill>
                  <a:srgbClr val="FF0000"/>
                </a:solidFill>
                <a:sym typeface="+mn-ea"/>
              </a:rPr>
              <a:t>四、创造叙事结构</a:t>
            </a:r>
            <a:endParaRPr lang="zh-CN">
              <a:solidFill>
                <a:srgbClr val="FF0000"/>
              </a:solidFill>
              <a:sym typeface="+mn-ea"/>
            </a:endParaRPr>
          </a:p>
        </p:txBody>
      </p:sp>
      <p:sp>
        <p:nvSpPr>
          <p:cNvPr id="186" name="音乐替代音响的功能…"/>
          <p:cNvSpPr txBox="1">
            <a:spLocks noGrp="1"/>
          </p:cNvSpPr>
          <p:nvPr>
            <p:ph type="body" sz="half" idx="1"/>
          </p:nvPr>
        </p:nvSpPr>
        <p:spPr>
          <a:xfrm>
            <a:off x="3634105" y="2665730"/>
            <a:ext cx="5429250" cy="3578225"/>
          </a:xfrm>
          <a:prstGeom prst="rect">
            <a:avLst/>
          </a:prstGeom>
        </p:spPr>
        <p:txBody>
          <a:bodyPr>
            <a:normAutofit/>
          </a:bodyPr>
          <a:lstStyle/>
          <a:p>
            <a:pPr marL="237490" indent="-237490" defTabSz="795655">
              <a:spcBef>
                <a:spcPts val="800"/>
              </a:spcBef>
              <a:buSzTx/>
              <a:buNone/>
              <a:defRPr sz="2700"/>
            </a:pPr>
            <a:r>
              <a:t>1.</a:t>
            </a:r>
            <a:r>
              <a:rPr lang="zh-CN">
                <a:ea typeface="宋体" panose="02010600030101010101" pitchFamily="2" charset="-122"/>
              </a:rPr>
              <a:t>重组创造空间</a:t>
            </a:r>
            <a:endParaRPr lang="zh-CN">
              <a:ea typeface="宋体" panose="02010600030101010101" pitchFamily="2" charset="-122"/>
            </a:endParaRPr>
          </a:p>
          <a:p>
            <a:pPr marL="237490" indent="-237490" defTabSz="795655">
              <a:spcBef>
                <a:spcPts val="800"/>
              </a:spcBef>
              <a:buSzTx/>
              <a:buNone/>
              <a:defRPr sz="2700"/>
            </a:pPr>
            <a:r>
              <a:t>2.</a:t>
            </a:r>
            <a:r>
              <a:rPr lang="zh-CN">
                <a:ea typeface="宋体" panose="02010600030101010101" pitchFamily="2" charset="-122"/>
              </a:rPr>
              <a:t>创造完全虚拟的非现实空间</a:t>
            </a:r>
            <a:endParaRPr lang="zh-CN">
              <a:ea typeface="宋体" panose="02010600030101010101" pitchFamily="2" charset="-122"/>
            </a:endParaRPr>
          </a:p>
          <a:p>
            <a:pPr marL="237490" indent="-237490" defTabSz="795655">
              <a:spcBef>
                <a:spcPts val="800"/>
              </a:spcBef>
              <a:buSzTx/>
              <a:buNone/>
              <a:defRPr sz="2700"/>
            </a:pPr>
            <a:r>
              <a:rPr lang="en-US"/>
              <a:t>3</a:t>
            </a:r>
            <a:r>
              <a:t>.</a:t>
            </a:r>
            <a:r>
              <a:rPr lang="zh-CN">
                <a:ea typeface="宋体" panose="02010600030101010101" pitchFamily="2" charset="-122"/>
              </a:rPr>
              <a:t>重构时间</a:t>
            </a:r>
            <a:endParaRPr lang="zh-CN">
              <a:ea typeface="宋体" panose="02010600030101010101" pitchFamily="2" charset="-122"/>
            </a:endParaRPr>
          </a:p>
          <a:p>
            <a:pPr marL="237490" indent="-237490" defTabSz="795655">
              <a:spcBef>
                <a:spcPts val="800"/>
              </a:spcBef>
              <a:buSzTx/>
              <a:buNone/>
              <a:defRPr sz="2700"/>
            </a:pPr>
          </a:p>
        </p:txBody>
      </p:sp>
      <p:pic>
        <p:nvPicPr>
          <p:cNvPr id="2" name="image2.png" descr="image2.png"/>
          <p:cNvPicPr>
            <a:picLocks noChangeAspect="1"/>
          </p:cNvPicPr>
          <p:nvPr/>
        </p:nvPicPr>
        <p:blipFill>
          <a:blip r:embed="rId1"/>
          <a:srcRect t="33436" b="43385"/>
          <a:stretch>
            <a:fillRect/>
          </a:stretch>
        </p:blipFill>
        <p:spPr>
          <a:xfrm>
            <a:off x="1019810" y="302895"/>
            <a:ext cx="10658475" cy="762635"/>
          </a:xfrm>
          <a:prstGeom prst="rect">
            <a:avLst/>
          </a:prstGeom>
          <a:ln w="12700">
            <a:miter lim="400000"/>
            <a:headEnd/>
            <a:tailEnd/>
          </a:ln>
        </p:spPr>
      </p:pic>
      <p:sp>
        <p:nvSpPr>
          <p:cNvPr id="137" name="矩形"/>
          <p:cNvSpPr/>
          <p:nvPr/>
        </p:nvSpPr>
        <p:spPr>
          <a:xfrm>
            <a:off x="612775"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3" name="色彩构成"/>
          <p:cNvSpPr txBox="1"/>
          <p:nvPr/>
        </p:nvSpPr>
        <p:spPr>
          <a:xfrm>
            <a:off x="1502410" y="56324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7"/>
                                        </p:tgtEl>
                                        <p:attrNameLst>
                                          <p:attrName>style.visibility</p:attrName>
                                        </p:attrNameLst>
                                      </p:cBhvr>
                                      <p:to>
                                        <p:strVal val="visible"/>
                                      </p:to>
                                    </p:set>
                                    <p:anim calcmode="lin" valueType="num">
                                      <p:cBhvr>
                                        <p:cTn id="7" dur="1000" fill="hold"/>
                                        <p:tgtEl>
                                          <p:spTgt spid="137"/>
                                        </p:tgtEl>
                                        <p:attrNameLst>
                                          <p:attrName>ppt_x</p:attrName>
                                        </p:attrNameLst>
                                      </p:cBhvr>
                                      <p:tavLst>
                                        <p:tav tm="0">
                                          <p:val>
                                            <p:strVal val="1+#ppt_w/2"/>
                                          </p:val>
                                        </p:tav>
                                        <p:tav tm="100000">
                                          <p:val>
                                            <p:strVal val="#ppt_x"/>
                                          </p:val>
                                        </p:tav>
                                      </p:tavLst>
                                    </p:anim>
                                    <p:anim calcmode="lin" valueType="num">
                                      <p:cBhvr>
                                        <p:cTn id="8" dur="1000" fill="hold"/>
                                        <p:tgtEl>
                                          <p:spTgt spid="13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3"/>
                                        </p:tgtEl>
                                        <p:attrNameLst>
                                          <p:attrName>style.visibility</p:attrName>
                                        </p:attrNameLst>
                                      </p:cBhvr>
                                      <p:to>
                                        <p:strVal val="visible"/>
                                      </p:to>
                                    </p:set>
                                    <p:animEffect transition="in" filter="dissolve">
                                      <p:cBhvr>
                                        <p:cTn id="12" dur="1000"/>
                                        <p:tgtEl>
                                          <p:spTgt spid="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7" grpId="1" bldLvl="0" animBg="1" advAuto="0"/>
      <p:bldP spid="3" grpId="2" animBg="1" advAuto="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音效认识的误区（不成熟的音响观念）"/>
          <p:cNvSpPr txBox="1">
            <a:spLocks noGrp="1"/>
          </p:cNvSpPr>
          <p:nvPr>
            <p:ph type="title"/>
          </p:nvPr>
        </p:nvSpPr>
        <p:spPr>
          <a:xfrm>
            <a:off x="1502410" y="1629410"/>
            <a:ext cx="6460490" cy="747395"/>
          </a:xfrm>
          <a:prstGeom prst="rect">
            <a:avLst/>
          </a:prstGeom>
        </p:spPr>
        <p:txBody>
          <a:bodyPr>
            <a:normAutofit/>
          </a:bodyPr>
          <a:lstStyle>
            <a:lvl1pPr>
              <a:defRPr>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rPr lang="zh-CN">
                <a:solidFill>
                  <a:srgbClr val="FF0000"/>
                </a:solidFill>
                <a:sym typeface="+mn-ea"/>
              </a:rPr>
              <a:t>五、创造节奏与韵律</a:t>
            </a:r>
            <a:endParaRPr lang="zh-CN">
              <a:solidFill>
                <a:srgbClr val="FF0000"/>
              </a:solidFill>
              <a:sym typeface="+mn-ea"/>
            </a:endParaRPr>
          </a:p>
        </p:txBody>
      </p:sp>
      <p:pic>
        <p:nvPicPr>
          <p:cNvPr id="2" name="image2.png" descr="image2.png"/>
          <p:cNvPicPr>
            <a:picLocks noChangeAspect="1"/>
          </p:cNvPicPr>
          <p:nvPr/>
        </p:nvPicPr>
        <p:blipFill>
          <a:blip r:embed="rId1"/>
          <a:srcRect t="33436" b="43385"/>
          <a:stretch>
            <a:fillRect/>
          </a:stretch>
        </p:blipFill>
        <p:spPr>
          <a:xfrm>
            <a:off x="1019810" y="302895"/>
            <a:ext cx="10658475" cy="762635"/>
          </a:xfrm>
          <a:prstGeom prst="rect">
            <a:avLst/>
          </a:prstGeom>
          <a:ln w="12700">
            <a:miter lim="400000"/>
            <a:headEnd/>
            <a:tailEnd/>
          </a:ln>
        </p:spPr>
      </p:pic>
      <p:sp>
        <p:nvSpPr>
          <p:cNvPr id="137" name="矩形"/>
          <p:cNvSpPr/>
          <p:nvPr/>
        </p:nvSpPr>
        <p:spPr>
          <a:xfrm>
            <a:off x="612775" y="317500"/>
            <a:ext cx="3042920" cy="762635"/>
          </a:xfrm>
          <a:prstGeom prst="rect">
            <a:avLst/>
          </a:prstGeom>
          <a:solidFill>
            <a:schemeClr val="accent1">
              <a:alpha val="80000"/>
            </a:schemeClr>
          </a:solidFill>
          <a:ln w="12700">
            <a:miter lim="400000"/>
          </a:ln>
        </p:spPr>
        <p:txBody>
          <a:bodyPr lIns="45719" rIns="45719" anchor="ctr"/>
          <a:p>
            <a:pPr algn="ctr">
              <a:defRPr sz="1300">
                <a:solidFill>
                  <a:srgbClr val="FFFFFF"/>
                </a:solidFill>
              </a:defRPr>
            </a:pPr>
            <a:endParaRPr sz="1800"/>
          </a:p>
        </p:txBody>
      </p:sp>
      <p:sp>
        <p:nvSpPr>
          <p:cNvPr id="3" name="色彩构成"/>
          <p:cNvSpPr txBox="1"/>
          <p:nvPr/>
        </p:nvSpPr>
        <p:spPr>
          <a:xfrm>
            <a:off x="1502410" y="563245"/>
            <a:ext cx="2284730" cy="645160"/>
          </a:xfrm>
          <a:prstGeom prst="rect">
            <a:avLst/>
          </a:prstGeom>
          <a:ln w="12700">
            <a:miter lim="400000"/>
          </a:ln>
        </p:spPr>
        <p:txBody>
          <a:bodyPr wrap="square" lIns="45719" rIns="45719">
            <a:spAutoFit/>
          </a:bodyPr>
          <a:p>
            <a:pPr>
              <a:defRPr sz="2400">
                <a:solidFill>
                  <a:srgbClr val="31517D"/>
                </a:solidFill>
              </a:defRPr>
            </a:pPr>
            <a:r>
              <a:rPr lang="zh-CN" sz="1800" b="1">
                <a:ea typeface="宋体" panose="02010600030101010101" pitchFamily="2" charset="-122"/>
                <a:sym typeface="+mn-ea"/>
              </a:rPr>
              <a:t>蒙 太 奇</a:t>
            </a:r>
            <a:endParaRPr lang="zh-CN" sz="1800" b="1">
              <a:ea typeface="宋体" panose="02010600030101010101" pitchFamily="2" charset="-122"/>
            </a:endParaRPr>
          </a:p>
          <a:p>
            <a:pPr>
              <a:defRPr sz="2400">
                <a:solidFill>
                  <a:srgbClr val="31517D"/>
                </a:solidFill>
              </a:defRPr>
            </a:pPr>
            <a:endParaRPr sz="1800" b="1">
              <a:latin typeface="黑体" panose="02010800040101010101" charset="-122"/>
              <a:ea typeface="黑体" panose="02010800040101010101" charset="-122"/>
              <a:cs typeface="黑体" panose="02010800040101010101" charset="-122"/>
              <a:sym typeface="黑体" panose="02010800040101010101" charset="-122"/>
            </a:endParaRPr>
          </a:p>
        </p:txBody>
      </p:sp>
      <p:sp>
        <p:nvSpPr>
          <p:cNvPr id="4" name="文本占位符 3"/>
          <p:cNvSpPr/>
          <p:nvPr>
            <p:ph type="body" sz="half" idx="1"/>
          </p:nvPr>
        </p:nvSpPr>
        <p:spPr>
          <a:xfrm>
            <a:off x="2051050" y="2865755"/>
            <a:ext cx="8940165" cy="3534410"/>
          </a:xfrm>
        </p:spPr>
        <p:txBody>
          <a:bodyPr/>
          <a:p>
            <a:endParaRPr lang="zh-CN" altLang="en-US"/>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7"/>
                                        </p:tgtEl>
                                        <p:attrNameLst>
                                          <p:attrName>style.visibility</p:attrName>
                                        </p:attrNameLst>
                                      </p:cBhvr>
                                      <p:to>
                                        <p:strVal val="visible"/>
                                      </p:to>
                                    </p:set>
                                    <p:anim calcmode="lin" valueType="num">
                                      <p:cBhvr>
                                        <p:cTn id="7" dur="1000" fill="hold"/>
                                        <p:tgtEl>
                                          <p:spTgt spid="137"/>
                                        </p:tgtEl>
                                        <p:attrNameLst>
                                          <p:attrName>ppt_x</p:attrName>
                                        </p:attrNameLst>
                                      </p:cBhvr>
                                      <p:tavLst>
                                        <p:tav tm="0">
                                          <p:val>
                                            <p:strVal val="1+#ppt_w/2"/>
                                          </p:val>
                                        </p:tav>
                                        <p:tav tm="100000">
                                          <p:val>
                                            <p:strVal val="#ppt_x"/>
                                          </p:val>
                                        </p:tav>
                                      </p:tavLst>
                                    </p:anim>
                                    <p:anim calcmode="lin" valueType="num">
                                      <p:cBhvr>
                                        <p:cTn id="8" dur="1000" fill="hold"/>
                                        <p:tgtEl>
                                          <p:spTgt spid="13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3"/>
                                        </p:tgtEl>
                                        <p:attrNameLst>
                                          <p:attrName>style.visibility</p:attrName>
                                        </p:attrNameLst>
                                      </p:cBhvr>
                                      <p:to>
                                        <p:strVal val="visible"/>
                                      </p:to>
                                    </p:set>
                                    <p:animEffect transition="in" filter="dissolve">
                                      <p:cBhvr>
                                        <p:cTn id="12" dur="1000"/>
                                        <p:tgtEl>
                                          <p:spTgt spid="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7" grpId="1" bldLvl="0" animBg="1" advAuto="0"/>
      <p:bldP spid="3" grpId="2" animBg="1" advAuto="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音效的时空属性"/>
          <p:cNvSpPr txBox="1">
            <a:spLocks noGrp="1"/>
          </p:cNvSpPr>
          <p:nvPr>
            <p:ph type="title"/>
          </p:nvPr>
        </p:nvSpPr>
        <p:spPr>
          <a:xfrm>
            <a:off x="1144868" y="2200523"/>
            <a:ext cx="3932242" cy="1600202"/>
          </a:xfrm>
          <a:prstGeom prst="rect">
            <a:avLst/>
          </a:prstGeom>
        </p:spPr>
        <p:txBody>
          <a:bodyPr/>
          <a:lstStyle>
            <a:lvl1pPr>
              <a:defRPr>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音效的时空属性</a:t>
            </a:r>
          </a:p>
        </p:txBody>
      </p:sp>
      <p:sp>
        <p:nvSpPr>
          <p:cNvPr id="189" name="声音生理心理学给音效制作带来的启示…"/>
          <p:cNvSpPr txBox="1">
            <a:spLocks noGrp="1"/>
          </p:cNvSpPr>
          <p:nvPr>
            <p:ph type="body" sz="half" idx="1"/>
          </p:nvPr>
        </p:nvSpPr>
        <p:spPr>
          <a:xfrm>
            <a:off x="4571046" y="1482725"/>
            <a:ext cx="6172206" cy="4873625"/>
          </a:xfrm>
          <a:prstGeom prst="rect">
            <a:avLst/>
          </a:prstGeom>
        </p:spPr>
        <p:txBody>
          <a:bodyPr/>
          <a:lstStyle/>
          <a:p>
            <a:pPr marL="237490" indent="-237490" defTabSz="795655">
              <a:spcBef>
                <a:spcPts val="8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声音生理心理学给音效制作带来的启示</a:t>
            </a:r>
          </a:p>
          <a:p>
            <a:pPr marL="237490" indent="-237490" defTabSz="795655">
              <a:spcBef>
                <a:spcPts val="8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方位感：在空间移动的声波能使人们清楚地判断出声源物体的前后左右的具体方位。</a:t>
            </a:r>
          </a:p>
          <a:p>
            <a:pPr marL="237490" indent="-237490" defTabSz="795655">
              <a:spcBef>
                <a:spcPts val="8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距离感：声波的振幅、音量等的变化能使人们比较准确地判断声源物体的远近距离。</a:t>
            </a:r>
          </a:p>
          <a:p>
            <a:pPr marL="237490" indent="-237490" defTabSz="795655">
              <a:spcBef>
                <a:spcPts val="8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运动感：根据声波在时间维的连续性和在空间维的方向性，听觉器官可以辨认出物体自身运动，特别是物体方位移动的过程。</a:t>
            </a:r>
          </a:p>
          <a:p>
            <a:pPr marL="237490" indent="-237490" defTabSz="795655">
              <a:spcBef>
                <a:spcPts val="8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声像感：音响的组合可以使人们听出声源物体规模大小。</a:t>
            </a:r>
          </a:p>
          <a:p>
            <a:pPr marL="237490" indent="-237490" defTabSz="795655">
              <a:spcBef>
                <a:spcPts val="8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层次感：现场多种声音会同时传入人耳，但由于声源物体的振率不同，彼此远近距离不同，自然会在人的听觉器官中形成远、近和高、低不同层次的音响感觉。</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音效对画面的拓展和深化"/>
          <p:cNvSpPr txBox="1">
            <a:spLocks noGrp="1"/>
          </p:cNvSpPr>
          <p:nvPr>
            <p:ph type="title"/>
          </p:nvPr>
        </p:nvSpPr>
        <p:spPr>
          <a:xfrm>
            <a:off x="1827670" y="544365"/>
            <a:ext cx="2890617" cy="3407766"/>
          </a:xfrm>
          <a:prstGeom prst="rect">
            <a:avLst/>
          </a:prstGeom>
        </p:spPr>
        <p:txBody>
          <a:bodyPr/>
          <a:lstStyle>
            <a:lvl1pPr>
              <a:defRPr>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音效对画面的拓展和深化</a:t>
            </a:r>
          </a:p>
        </p:txBody>
      </p:sp>
      <p:sp>
        <p:nvSpPr>
          <p:cNvPr id="192" name="音效的特殊用法/艺术化用法…"/>
          <p:cNvSpPr txBox="1">
            <a:spLocks noGrp="1"/>
          </p:cNvSpPr>
          <p:nvPr>
            <p:ph type="body" sz="half" idx="1"/>
          </p:nvPr>
        </p:nvSpPr>
        <p:spPr>
          <a:xfrm>
            <a:off x="5546378" y="992186"/>
            <a:ext cx="6172206" cy="4873628"/>
          </a:xfrm>
          <a:prstGeom prst="rect">
            <a:avLst/>
          </a:prstGeom>
        </p:spPr>
        <p:txBody>
          <a:bodyPr/>
          <a:lstStyle/>
          <a:p>
            <a:pPr marL="162560" indent="-162560" defTabSz="648970">
              <a:spcBef>
                <a:spcPts val="700"/>
              </a:spcBef>
              <a:buChar char="■"/>
              <a:defRPr sz="2200"/>
            </a:pP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音效的特殊用法</a:t>
            </a:r>
            <a:r>
              <a:rPr>
                <a:latin typeface="+mn-lt"/>
                <a:ea typeface="+mn-ea"/>
                <a:cs typeface="+mn-cs"/>
                <a:sym typeface="Calibri" panose="020F0502020204030204"/>
              </a:rPr>
              <a:t>/</a:t>
            </a:r>
            <a:r>
              <a:t>艺术化用法</a:t>
            </a: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只闻其声，不见其人（物）</a:t>
            </a: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扩大画面和想象空间</a:t>
            </a: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减少制作工作量</a:t>
            </a: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主观超现实（存在与不存在的对置）</a:t>
            </a: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表现出角色内心感受</a:t>
            </a: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营造环境氛围</a:t>
            </a:r>
          </a:p>
          <a:p>
            <a:pPr marL="162560" indent="-162560" defTabSz="648970">
              <a:spcBef>
                <a:spcPts val="700"/>
              </a:spcBef>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加强作品的表现力和感染力</a:t>
            </a: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音效的分类"/>
          <p:cNvSpPr txBox="1">
            <a:spLocks noGrp="1"/>
          </p:cNvSpPr>
          <p:nvPr>
            <p:ph type="title"/>
          </p:nvPr>
        </p:nvSpPr>
        <p:spPr>
          <a:xfrm>
            <a:off x="4631514" y="-995571"/>
            <a:ext cx="3932242" cy="1600202"/>
          </a:xfrm>
          <a:prstGeom prst="rect">
            <a:avLst/>
          </a:prstGeom>
        </p:spPr>
        <p:txBody>
          <a:bodyPr/>
          <a:lstStyle>
            <a:lvl1pPr>
              <a:defRPr>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音效的分类</a:t>
            </a:r>
          </a:p>
        </p:txBody>
      </p:sp>
      <p:sp>
        <p:nvSpPr>
          <p:cNvPr id="195" name="概念：处在背景层上的一切自然界和人类社会活动所产生的各种声音。…"/>
          <p:cNvSpPr txBox="1">
            <a:spLocks noGrp="1"/>
          </p:cNvSpPr>
          <p:nvPr>
            <p:ph type="body" sz="half" idx="1"/>
          </p:nvPr>
        </p:nvSpPr>
        <p:spPr>
          <a:xfrm>
            <a:off x="737711" y="1621002"/>
            <a:ext cx="6172207" cy="4873628"/>
          </a:xfrm>
          <a:prstGeom prst="rect">
            <a:avLst/>
          </a:prstGeom>
        </p:spPr>
        <p:txBody>
          <a:bodyPr/>
          <a:lstStyle/>
          <a:p>
            <a:pPr marL="259080" indent="-259080" defTabSz="868680">
              <a:spcBef>
                <a:spcPts val="900"/>
              </a:spcBef>
              <a:buChar char="○"/>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概念：处在背景层上的一切自然界和人类社会活动所产生的各种声音。</a:t>
            </a:r>
          </a:p>
          <a:p>
            <a:pPr marL="259080" indent="-259080" defTabSz="868680">
              <a:spcBef>
                <a:spcPts val="900"/>
              </a:spcBef>
              <a:buChar char="○"/>
              <a:defRPr sz="1700"/>
            </a:pPr>
          </a:p>
          <a:p>
            <a:pPr marL="259080" indent="-259080" defTabSz="868680">
              <a:spcBef>
                <a:spcPts val="900"/>
              </a:spcBef>
              <a:buChar char="○"/>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特点：</a:t>
            </a:r>
          </a:p>
          <a:p>
            <a:pPr marL="259080" indent="-259080" defTabSz="868680">
              <a:spcBef>
                <a:spcPts val="900"/>
              </a:spcBef>
              <a:buChar char="➢"/>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非视觉核心</a:t>
            </a:r>
          </a:p>
          <a:p>
            <a:pPr marL="259080" indent="-259080" defTabSz="868680">
              <a:spcBef>
                <a:spcPts val="900"/>
              </a:spcBef>
              <a:buChar char="➢"/>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画外空间（无源）</a:t>
            </a:r>
          </a:p>
          <a:p>
            <a:pPr marL="259080" indent="-259080" defTabSz="868680">
              <a:spcBef>
                <a:spcPts val="900"/>
              </a:spcBef>
              <a:buChar char="➢"/>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连续不断、恒定的</a:t>
            </a:r>
          </a:p>
          <a:p>
            <a:pPr marL="259080" indent="-259080" defTabSz="868680">
              <a:spcBef>
                <a:spcPts val="900"/>
              </a:spcBef>
              <a:buChar char="➢"/>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背景层上的</a:t>
            </a:r>
            <a:r>
              <a:rPr>
                <a:latin typeface="+mn-lt"/>
                <a:ea typeface="+mn-ea"/>
                <a:cs typeface="+mn-cs"/>
                <a:sym typeface="Calibri" panose="020F0502020204030204"/>
              </a:rPr>
              <a:t>“</a:t>
            </a:r>
            <a:r>
              <a:t>全景</a:t>
            </a:r>
            <a:r>
              <a:rPr>
                <a:latin typeface="+mn-lt"/>
                <a:ea typeface="+mn-ea"/>
                <a:cs typeface="+mn-cs"/>
                <a:sym typeface="Calibri" panose="020F0502020204030204"/>
              </a:rPr>
              <a:t>”</a:t>
            </a:r>
            <a:endParaRPr>
              <a:latin typeface="+mn-lt"/>
              <a:ea typeface="+mn-ea"/>
              <a:cs typeface="+mn-cs"/>
              <a:sym typeface="Calibri" panose="020F0502020204030204"/>
            </a:endParaRPr>
          </a:p>
          <a:p>
            <a:pPr marL="259080" indent="-259080" defTabSz="868680">
              <a:spcBef>
                <a:spcPts val="900"/>
              </a:spcBef>
              <a:buChar char="○"/>
              <a:defRPr sz="1700"/>
            </a:pPr>
            <a:endParaRPr>
              <a:latin typeface="+mn-lt"/>
              <a:ea typeface="+mn-ea"/>
              <a:cs typeface="+mn-cs"/>
              <a:sym typeface="Calibri" panose="020F0502020204030204"/>
            </a:endParaRPr>
          </a:p>
          <a:p>
            <a:pPr marL="259080" indent="-259080" defTabSz="868680">
              <a:spcBef>
                <a:spcPts val="900"/>
              </a:spcBef>
              <a:buChar char="○"/>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作用：构建画面的真实声音环境</a:t>
            </a:r>
          </a:p>
          <a:p>
            <a:pPr marL="259080" indent="-259080" defTabSz="868680">
              <a:spcBef>
                <a:spcPts val="900"/>
              </a:spcBef>
              <a:buChar char="○"/>
              <a:defRPr sz="1700"/>
            </a:pPr>
          </a:p>
          <a:p>
            <a:pPr marL="259080" indent="-259080" defTabSz="868680">
              <a:spcBef>
                <a:spcPts val="900"/>
              </a:spcBef>
              <a:buChar char="○"/>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制作：拾取</a:t>
            </a:r>
            <a:r>
              <a:rPr>
                <a:latin typeface="+mn-lt"/>
                <a:ea typeface="+mn-ea"/>
                <a:cs typeface="+mn-cs"/>
                <a:sym typeface="Calibri" panose="020F0502020204030204"/>
              </a:rPr>
              <a:t>/</a:t>
            </a:r>
            <a:r>
              <a:t>剪辑，重现真实环境</a:t>
            </a:r>
          </a:p>
          <a:p>
            <a:pPr marL="259080" indent="-259080" defTabSz="868680">
              <a:spcBef>
                <a:spcPts val="900"/>
              </a:spcBef>
              <a:buSzTx/>
              <a:buNone/>
              <a:defRPr sz="17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               模拟主观超现实音效</a:t>
            </a:r>
          </a:p>
        </p:txBody>
      </p:sp>
      <p:sp>
        <p:nvSpPr>
          <p:cNvPr id="196" name="概念：动作音响的听感效果，指被拍摄的对象活动所产生的各种声音。…"/>
          <p:cNvSpPr txBox="1"/>
          <p:nvPr/>
        </p:nvSpPr>
        <p:spPr>
          <a:xfrm>
            <a:off x="7074854" y="1990526"/>
            <a:ext cx="3751900" cy="4533901"/>
          </a:xfrm>
          <a:prstGeom prst="rect">
            <a:avLst/>
          </a:prstGeom>
          <a:ln w="12700">
            <a:miter lim="400000"/>
          </a:ln>
        </p:spPr>
        <p:txBody>
          <a:bodyPr lIns="45718" tIns="45718" rIns="45718" bIns="45718">
            <a:normAutofit/>
          </a:bodyPr>
          <a:lstStyle/>
          <a:p>
            <a:pPr marL="254000" indent="-254000" defTabSz="850265">
              <a:lnSpc>
                <a:spcPct val="90000"/>
              </a:lnSpc>
              <a:spcBef>
                <a:spcPts val="500"/>
              </a:spcBef>
              <a:buClr>
                <a:srgbClr val="72A376"/>
              </a:buClr>
              <a:buSzPct val="70000"/>
              <a:buChar char="○"/>
              <a:defRPr sz="16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概念：动作音响的听感效果，指被拍摄的对象活动所产生的各种声音。</a:t>
            </a: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Char char="○"/>
              <a:defRPr sz="1600">
                <a:latin typeface="Century Schoolbook" panose="02040604050505020304"/>
                <a:ea typeface="Century Schoolbook" panose="02040604050505020304"/>
                <a:cs typeface="Century Schoolbook" panose="02040604050505020304"/>
                <a:sym typeface="Century Schoolbook" panose="02040604050505020304"/>
              </a:defRPr>
            </a:pP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Char char="○"/>
              <a:defRPr sz="16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特点：</a:t>
            </a: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Font typeface="Helvetica"/>
              <a:buChar char="➢"/>
              <a:defRPr sz="16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可视</a:t>
            </a: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Font typeface="Helvetica"/>
              <a:buChar char="➢"/>
              <a:defRPr sz="16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画内空间（有源）</a:t>
            </a: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Font typeface="Helvetica"/>
              <a:buChar char="➢"/>
              <a:defRPr sz="16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间断的、律动的</a:t>
            </a: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Font typeface="Helvetica"/>
              <a:buChar char="➢"/>
              <a:defRPr sz="16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动效则是前景</a:t>
            </a:r>
            <a:r>
              <a:rPr>
                <a:latin typeface="Century Schoolbook" panose="02040604050505020304"/>
                <a:ea typeface="Century Schoolbook" panose="02040604050505020304"/>
                <a:cs typeface="Century Schoolbook" panose="02040604050505020304"/>
                <a:sym typeface="Century Schoolbook" panose="02040604050505020304"/>
              </a:rPr>
              <a:t>“</a:t>
            </a:r>
            <a:r>
              <a:t>近景</a:t>
            </a:r>
            <a:r>
              <a:rPr>
                <a:latin typeface="Century Schoolbook" panose="02040604050505020304"/>
                <a:ea typeface="Century Schoolbook" panose="02040604050505020304"/>
                <a:cs typeface="Century Schoolbook" panose="02040604050505020304"/>
                <a:sym typeface="Century Schoolbook" panose="02040604050505020304"/>
              </a:rPr>
              <a:t>”</a:t>
            </a:r>
            <a:r>
              <a:t>或</a:t>
            </a:r>
            <a:r>
              <a:rPr>
                <a:latin typeface="Century Schoolbook" panose="02040604050505020304"/>
                <a:ea typeface="Century Schoolbook" panose="02040604050505020304"/>
                <a:cs typeface="Century Schoolbook" panose="02040604050505020304"/>
                <a:sym typeface="Century Schoolbook" panose="02040604050505020304"/>
              </a:rPr>
              <a:t>“</a:t>
            </a:r>
            <a:r>
              <a:t>特写</a:t>
            </a:r>
            <a:r>
              <a:rPr>
                <a:latin typeface="Century Schoolbook" panose="02040604050505020304"/>
                <a:ea typeface="Century Schoolbook" panose="02040604050505020304"/>
                <a:cs typeface="Century Schoolbook" panose="02040604050505020304"/>
                <a:sym typeface="Century Schoolbook" panose="02040604050505020304"/>
              </a:rPr>
              <a:t>”</a:t>
            </a: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Font typeface="Century Schoolbook" panose="02040604050505020304"/>
              <a:buChar char="➢"/>
              <a:defRPr sz="1600">
                <a:latin typeface="Century Schoolbook" panose="02040604050505020304"/>
                <a:ea typeface="Century Schoolbook" panose="02040604050505020304"/>
                <a:cs typeface="Century Schoolbook" panose="02040604050505020304"/>
                <a:sym typeface="Century Schoolbook" panose="02040604050505020304"/>
              </a:defRPr>
            </a:pP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Char char="○"/>
              <a:defRPr sz="16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作用：反映出声音的特征和定位</a:t>
            </a: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Char char="○"/>
              <a:defRPr sz="1600">
                <a:latin typeface="Century Schoolbook" panose="02040604050505020304"/>
                <a:ea typeface="Century Schoolbook" panose="02040604050505020304"/>
                <a:cs typeface="Century Schoolbook" panose="02040604050505020304"/>
                <a:sym typeface="Century Schoolbook" panose="02040604050505020304"/>
              </a:defRPr>
            </a:pP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buClr>
                <a:srgbClr val="72A376"/>
              </a:buClr>
              <a:buSzPct val="70000"/>
              <a:buChar char="○"/>
              <a:defRPr sz="16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制作：拾取</a:t>
            </a:r>
            <a:r>
              <a:rPr>
                <a:latin typeface="Century Schoolbook" panose="02040604050505020304"/>
                <a:ea typeface="Century Schoolbook" panose="02040604050505020304"/>
                <a:cs typeface="Century Schoolbook" panose="02040604050505020304"/>
                <a:sym typeface="Century Schoolbook" panose="02040604050505020304"/>
              </a:rPr>
              <a:t>/</a:t>
            </a:r>
            <a:r>
              <a:t>剪辑</a:t>
            </a:r>
            <a:endParaRPr>
              <a:latin typeface="Century Schoolbook" panose="02040604050505020304"/>
              <a:ea typeface="Century Schoolbook" panose="02040604050505020304"/>
              <a:cs typeface="Century Schoolbook" panose="02040604050505020304"/>
              <a:sym typeface="Century Schoolbook" panose="02040604050505020304"/>
            </a:endParaRPr>
          </a:p>
          <a:p>
            <a:pPr marL="254000" indent="-254000" defTabSz="850265">
              <a:lnSpc>
                <a:spcPct val="90000"/>
              </a:lnSpc>
              <a:spcBef>
                <a:spcPts val="500"/>
              </a:spcBef>
              <a:defRPr sz="1600">
                <a:latin typeface="Century Schoolbook" panose="02040604050505020304"/>
                <a:ea typeface="Century Schoolbook" panose="02040604050505020304"/>
                <a:cs typeface="Century Schoolbook" panose="02040604050505020304"/>
                <a:sym typeface="Century Schoolbook" panose="02040604050505020304"/>
              </a:defRPr>
            </a:pPr>
            <a:r>
              <a:t>               </a:t>
            </a:r>
            <a:r>
              <a:rPr>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拟音</a:t>
            </a:r>
            <a:r>
              <a:t>/</a:t>
            </a:r>
            <a:r>
              <a:rPr>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剪辑</a:t>
            </a:r>
            <a:endParaRPr>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endParaRPr>
          </a:p>
        </p:txBody>
      </p:sp>
      <p:sp>
        <p:nvSpPr>
          <p:cNvPr id="197" name="环境音响"/>
          <p:cNvSpPr txBox="1"/>
          <p:nvPr/>
        </p:nvSpPr>
        <p:spPr>
          <a:xfrm>
            <a:off x="778972" y="757446"/>
            <a:ext cx="3593307" cy="594519"/>
          </a:xfrm>
          <a:prstGeom prst="rect">
            <a:avLst/>
          </a:prstGeom>
          <a:solidFill>
            <a:srgbClr val="72A376"/>
          </a:solidFill>
          <a:ln w="12700">
            <a:miter lim="400000"/>
          </a:ln>
        </p:spPr>
        <p:txBody>
          <a:bodyPr lIns="45718" tIns="45718" rIns="45718" bIns="45718" anchor="ctr">
            <a:normAutofit/>
          </a:bodyPr>
          <a:lstStyle>
            <a:lvl1pPr algn="ctr">
              <a:spcBef>
                <a:spcPts val="600"/>
              </a:spcBef>
              <a:defRPr sz="2800">
                <a:solidFill>
                  <a:srgbClr val="FFFFFF"/>
                </a:solidFill>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环境音响</a:t>
            </a:r>
          </a:p>
        </p:txBody>
      </p:sp>
      <p:sp>
        <p:nvSpPr>
          <p:cNvPr id="198" name="动效"/>
          <p:cNvSpPr txBox="1"/>
          <p:nvPr/>
        </p:nvSpPr>
        <p:spPr>
          <a:xfrm>
            <a:off x="7309694" y="757446"/>
            <a:ext cx="3593306" cy="594519"/>
          </a:xfrm>
          <a:prstGeom prst="rect">
            <a:avLst/>
          </a:prstGeom>
          <a:solidFill>
            <a:srgbClr val="72A376"/>
          </a:solidFill>
          <a:ln w="12700">
            <a:miter lim="400000"/>
          </a:ln>
        </p:spPr>
        <p:txBody>
          <a:bodyPr lIns="45718" tIns="45718" rIns="45718" bIns="45718" anchor="ctr">
            <a:normAutofit/>
          </a:bodyPr>
          <a:lstStyle>
            <a:lvl1pPr algn="ctr">
              <a:spcBef>
                <a:spcPts val="600"/>
              </a:spcBef>
              <a:defRPr sz="2800">
                <a:solidFill>
                  <a:srgbClr val="FFFFFF"/>
                </a:solidFill>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动效</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0" name="E:\电影笔记\金刚\声音的艺术_插图\图3_采录飞机音效.jpg" descr="E:\电影笔记\金刚\声音的艺术_插图\图3_采录飞机音效.jpg"/>
          <p:cNvPicPr>
            <a:picLocks noChangeAspect="1"/>
          </p:cNvPicPr>
          <p:nvPr/>
        </p:nvPicPr>
        <p:blipFill>
          <a:blip r:embed="rId1"/>
          <a:stretch>
            <a:fillRect/>
          </a:stretch>
        </p:blipFill>
        <p:spPr>
          <a:xfrm>
            <a:off x="6725828" y="3810491"/>
            <a:ext cx="4297365" cy="2517777"/>
          </a:xfrm>
          <a:prstGeom prst="rect">
            <a:avLst/>
          </a:prstGeom>
          <a:ln w="12700">
            <a:miter lim="400000"/>
            <a:headEnd/>
            <a:tailEnd/>
          </a:ln>
        </p:spPr>
      </p:pic>
      <p:pic>
        <p:nvPicPr>
          <p:cNvPr id="201" name="E:\电影笔记\金刚\声音的艺术_插图\图4_采录枪械音效.jpg" descr="E:\电影笔记\金刚\声音的艺术_插图\图4_采录枪械音效.jpg"/>
          <p:cNvPicPr>
            <a:picLocks noChangeAspect="1"/>
          </p:cNvPicPr>
          <p:nvPr/>
        </p:nvPicPr>
        <p:blipFill>
          <a:blip r:embed="rId2"/>
          <a:stretch>
            <a:fillRect/>
          </a:stretch>
        </p:blipFill>
        <p:spPr>
          <a:xfrm>
            <a:off x="1833946" y="1429857"/>
            <a:ext cx="4229103" cy="2481266"/>
          </a:xfrm>
          <a:prstGeom prst="rect">
            <a:avLst/>
          </a:prstGeom>
          <a:ln w="12700">
            <a:miter lim="400000"/>
            <a:headEnd/>
            <a:tailEnd/>
          </a:ln>
        </p:spPr>
      </p:pic>
      <p:pic>
        <p:nvPicPr>
          <p:cNvPr id="202" name="image.png" descr="image.png"/>
          <p:cNvPicPr>
            <a:picLocks noChangeAspect="1"/>
          </p:cNvPicPr>
          <p:nvPr/>
        </p:nvPicPr>
        <p:blipFill>
          <a:blip r:embed="rId3"/>
          <a:stretch>
            <a:fillRect/>
          </a:stretch>
        </p:blipFill>
        <p:spPr>
          <a:xfrm>
            <a:off x="644933" y="4189486"/>
            <a:ext cx="2481265" cy="1096964"/>
          </a:xfrm>
          <a:prstGeom prst="rect">
            <a:avLst/>
          </a:prstGeom>
          <a:ln w="12700">
            <a:miter lim="400000"/>
            <a:headEnd/>
            <a:tailEnd/>
          </a:ln>
        </p:spPr>
      </p:pic>
      <p:pic>
        <p:nvPicPr>
          <p:cNvPr id="203" name="image.png" descr="image.png"/>
          <p:cNvPicPr>
            <a:picLocks noChangeAspect="1"/>
          </p:cNvPicPr>
          <p:nvPr/>
        </p:nvPicPr>
        <p:blipFill>
          <a:blip r:embed="rId4"/>
          <a:stretch>
            <a:fillRect/>
          </a:stretch>
        </p:blipFill>
        <p:spPr>
          <a:xfrm>
            <a:off x="6895251" y="2302230"/>
            <a:ext cx="2798765" cy="1317627"/>
          </a:xfrm>
          <a:prstGeom prst="rect">
            <a:avLst/>
          </a:prstGeom>
          <a:ln w="12700">
            <a:miter lim="400000"/>
            <a:headEnd/>
            <a:tailEnd/>
          </a:ln>
        </p:spPr>
      </p:pic>
      <p:sp>
        <p:nvSpPr>
          <p:cNvPr id="204" name="实录"/>
          <p:cNvSpPr txBox="1"/>
          <p:nvPr/>
        </p:nvSpPr>
        <p:spPr>
          <a:xfrm>
            <a:off x="5953271" y="450359"/>
            <a:ext cx="815339" cy="599439"/>
          </a:xfrm>
          <a:prstGeom prst="rect">
            <a:avLst/>
          </a:prstGeom>
          <a:ln w="12700">
            <a:miter lim="400000"/>
          </a:ln>
        </p:spPr>
        <p:txBody>
          <a:bodyPr wrap="none" lIns="45718" tIns="45718" rIns="45718" bIns="45718">
            <a:spAutoFit/>
          </a:bodyPr>
          <a:lstStyle>
            <a:lvl1pPr>
              <a:defRPr sz="2800">
                <a:latin typeface="楷体" panose="02010609060101010101" charset="-122"/>
                <a:ea typeface="楷体" panose="02010609060101010101" charset="-122"/>
                <a:cs typeface="楷体" panose="02010609060101010101" charset="-122"/>
                <a:sym typeface="楷体" panose="02010609060101010101" charset="-122"/>
              </a:defRPr>
            </a:lvl1pPr>
          </a:lstStyle>
          <a:p>
            <a:r>
              <a:t>实录</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 name="《快乐的大脚》制作花絮[20100419-1759005].JPG" descr="《快乐的大脚》制作花絮[20100419-1759005].JPG"/>
          <p:cNvPicPr>
            <a:picLocks noChangeAspect="1"/>
          </p:cNvPicPr>
          <p:nvPr/>
        </p:nvPicPr>
        <p:blipFill>
          <a:blip r:embed="rId1"/>
          <a:srcRect l="7030" t="5195" r="7030" b="5195"/>
          <a:stretch>
            <a:fillRect/>
          </a:stretch>
        </p:blipFill>
        <p:spPr>
          <a:xfrm>
            <a:off x="2556783" y="2007986"/>
            <a:ext cx="5221364" cy="4082450"/>
          </a:xfrm>
          <a:prstGeom prst="rect">
            <a:avLst/>
          </a:prstGeom>
          <a:ln w="12700">
            <a:miter lim="400000"/>
            <a:headEnd/>
            <a:tailEnd/>
          </a:ln>
        </p:spPr>
      </p:pic>
      <p:sp>
        <p:nvSpPr>
          <p:cNvPr id="207" name="动画电影《快乐的大脚》：录制企鹅的“舞步”音效"/>
          <p:cNvSpPr txBox="1"/>
          <p:nvPr/>
        </p:nvSpPr>
        <p:spPr>
          <a:xfrm>
            <a:off x="2520257" y="1369323"/>
            <a:ext cx="5082663" cy="408939"/>
          </a:xfrm>
          <a:prstGeom prst="rect">
            <a:avLst/>
          </a:prstGeom>
          <a:ln w="12700">
            <a:miter lim="400000"/>
          </a:ln>
        </p:spPr>
        <p:txBody>
          <a:bodyPr wrap="none" lIns="45718" tIns="45718" rIns="45718" bIns="45718">
            <a:spAutoFit/>
          </a:bodyPr>
          <a:lstStyle/>
          <a:p>
            <a:pPr>
              <a:defRPr>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动画电影《快乐的大脚》：录制企鹅的</a:t>
            </a:r>
            <a:r>
              <a:rPr>
                <a:latin typeface="Century Schoolbook" panose="02040604050505020304"/>
                <a:ea typeface="Century Schoolbook" panose="02040604050505020304"/>
                <a:cs typeface="Century Schoolbook" panose="02040604050505020304"/>
                <a:sym typeface="Century Schoolbook" panose="02040604050505020304"/>
              </a:rPr>
              <a:t>“</a:t>
            </a:r>
            <a:r>
              <a:t>舞步</a:t>
            </a:r>
            <a:r>
              <a:rPr>
                <a:latin typeface="Century Schoolbook" panose="02040604050505020304"/>
                <a:ea typeface="Century Schoolbook" panose="02040604050505020304"/>
                <a:cs typeface="Century Schoolbook" panose="02040604050505020304"/>
                <a:sym typeface="Century Schoolbook" panose="02040604050505020304"/>
              </a:rPr>
              <a:t>”</a:t>
            </a:r>
            <a:r>
              <a:t>音效</a:t>
            </a:r>
          </a:p>
        </p:txBody>
      </p:sp>
      <p:sp>
        <p:nvSpPr>
          <p:cNvPr id="208" name="拟     音"/>
          <p:cNvSpPr txBox="1"/>
          <p:nvPr/>
        </p:nvSpPr>
        <p:spPr>
          <a:xfrm>
            <a:off x="9338223" y="1274073"/>
            <a:ext cx="1309325" cy="599439"/>
          </a:xfrm>
          <a:prstGeom prst="rect">
            <a:avLst/>
          </a:prstGeom>
          <a:ln w="12700">
            <a:miter lim="400000"/>
          </a:ln>
        </p:spPr>
        <p:txBody>
          <a:bodyPr wrap="none" lIns="45718" tIns="45718" rIns="45718" bIns="45718">
            <a:spAutoFit/>
          </a:bodyPr>
          <a:lstStyle>
            <a:lvl1pPr>
              <a:defRPr sz="2800">
                <a:latin typeface="楷体" panose="02010609060101010101" charset="-122"/>
                <a:ea typeface="楷体" panose="02010609060101010101" charset="-122"/>
                <a:cs typeface="楷体" panose="02010609060101010101" charset="-122"/>
                <a:sym typeface="楷体" panose="02010609060101010101" charset="-122"/>
              </a:defRPr>
            </a:lvl1pPr>
          </a:lstStyle>
          <a:p>
            <a:r>
              <a:t>拟     音</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0" name="image.png" descr="image.png"/>
          <p:cNvPicPr>
            <a:picLocks noChangeAspect="1"/>
          </p:cNvPicPr>
          <p:nvPr/>
        </p:nvPicPr>
        <p:blipFill>
          <a:blip r:embed="rId1"/>
          <a:stretch>
            <a:fillRect/>
          </a:stretch>
        </p:blipFill>
        <p:spPr>
          <a:xfrm>
            <a:off x="1228588" y="333802"/>
            <a:ext cx="3378203" cy="4187827"/>
          </a:xfrm>
          <a:prstGeom prst="rect">
            <a:avLst/>
          </a:prstGeom>
          <a:ln w="12700">
            <a:miter lim="400000"/>
            <a:headEnd/>
            <a:tailEnd/>
          </a:ln>
        </p:spPr>
      </p:pic>
      <p:pic>
        <p:nvPicPr>
          <p:cNvPr id="211" name="image.png" descr="image.png"/>
          <p:cNvPicPr>
            <a:picLocks noChangeAspect="1"/>
          </p:cNvPicPr>
          <p:nvPr/>
        </p:nvPicPr>
        <p:blipFill>
          <a:blip r:embed="rId2"/>
          <a:stretch>
            <a:fillRect/>
          </a:stretch>
        </p:blipFill>
        <p:spPr>
          <a:xfrm>
            <a:off x="5312276" y="2727617"/>
            <a:ext cx="5468939" cy="1730377"/>
          </a:xfrm>
          <a:prstGeom prst="rect">
            <a:avLst/>
          </a:prstGeom>
          <a:ln w="12700">
            <a:miter lim="400000"/>
            <a:headEnd/>
            <a:tailEnd/>
          </a:ln>
        </p:spPr>
      </p:pic>
      <p:pic>
        <p:nvPicPr>
          <p:cNvPr id="212" name="image.png" descr="image.png"/>
          <p:cNvPicPr>
            <a:picLocks noChangeAspect="1"/>
          </p:cNvPicPr>
          <p:nvPr/>
        </p:nvPicPr>
        <p:blipFill>
          <a:blip r:embed="rId3"/>
          <a:stretch>
            <a:fillRect/>
          </a:stretch>
        </p:blipFill>
        <p:spPr>
          <a:xfrm>
            <a:off x="3880403" y="774364"/>
            <a:ext cx="4730753" cy="1004890"/>
          </a:xfrm>
          <a:prstGeom prst="rect">
            <a:avLst/>
          </a:prstGeom>
          <a:ln w="12700">
            <a:miter lim="400000"/>
            <a:headEnd/>
            <a:tailEnd/>
          </a:ln>
        </p:spPr>
      </p:pic>
      <p:grpSp>
        <p:nvGrpSpPr>
          <p:cNvPr id="215" name="成组"/>
          <p:cNvGrpSpPr/>
          <p:nvPr/>
        </p:nvGrpSpPr>
        <p:grpSpPr>
          <a:xfrm>
            <a:off x="828602" y="4324923"/>
            <a:ext cx="2841628" cy="1968502"/>
            <a:chOff x="0" y="0"/>
            <a:chExt cx="2841626" cy="1968500"/>
          </a:xfrm>
        </p:grpSpPr>
        <p:pic>
          <p:nvPicPr>
            <p:cNvPr id="213" name="image.png" descr="image.png"/>
            <p:cNvPicPr>
              <a:picLocks noChangeAspect="1"/>
            </p:cNvPicPr>
            <p:nvPr/>
          </p:nvPicPr>
          <p:blipFill>
            <a:blip r:embed="rId4"/>
            <a:stretch>
              <a:fillRect/>
            </a:stretch>
          </p:blipFill>
          <p:spPr>
            <a:xfrm>
              <a:off x="-1" y="0"/>
              <a:ext cx="2841628" cy="1968501"/>
            </a:xfrm>
            <a:prstGeom prst="rect">
              <a:avLst/>
            </a:prstGeom>
            <a:ln w="12700" cap="flat">
              <a:noFill/>
              <a:miter lim="400000"/>
              <a:headEnd/>
              <a:tailEnd/>
            </a:ln>
            <a:effectLst/>
          </p:spPr>
        </p:pic>
        <p:sp>
          <p:nvSpPr>
            <p:cNvPr id="214" name="电影《星球大战》中激光炮的音效"/>
            <p:cNvSpPr txBox="1"/>
            <p:nvPr/>
          </p:nvSpPr>
          <p:spPr>
            <a:xfrm>
              <a:off x="483869" y="608330"/>
              <a:ext cx="1681800" cy="1043939"/>
            </a:xfrm>
            <a:prstGeom prst="rect">
              <a:avLst/>
            </a:prstGeom>
            <a:noFill/>
            <a:ln w="12700" cap="flat">
              <a:noFill/>
              <a:miter lim="400000"/>
            </a:ln>
            <a:effectLst/>
          </p:spPr>
          <p:txBody>
            <a:bodyPr wrap="square" lIns="45718" tIns="45718" rIns="45718" bIns="45718" numCol="1" anchor="ctr">
              <a:spAutoFit/>
            </a:bodyPr>
            <a:lstStyle>
              <a:lvl1pPr algn="ctr">
                <a:defRPr>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电影《星球大战》中激光炮的音效</a:t>
              </a:r>
            </a:p>
          </p:txBody>
        </p:sp>
      </p:grpSp>
      <p:pic>
        <p:nvPicPr>
          <p:cNvPr id="216" name="image.png" descr="image.png"/>
          <p:cNvPicPr>
            <a:picLocks noChangeAspect="1"/>
          </p:cNvPicPr>
          <p:nvPr/>
        </p:nvPicPr>
        <p:blipFill>
          <a:blip r:embed="rId5"/>
          <a:stretch>
            <a:fillRect/>
          </a:stretch>
        </p:blipFill>
        <p:spPr>
          <a:xfrm>
            <a:off x="6969979" y="4290729"/>
            <a:ext cx="2676527" cy="1792291"/>
          </a:xfrm>
          <a:prstGeom prst="rect">
            <a:avLst/>
          </a:prstGeom>
          <a:ln w="12700">
            <a:miter lim="400000"/>
            <a:headEnd/>
            <a:tailEnd/>
          </a:ln>
        </p:spPr>
      </p:pic>
      <p:sp>
        <p:nvSpPr>
          <p:cNvPr id="217" name="拟    音"/>
          <p:cNvSpPr txBox="1"/>
          <p:nvPr/>
        </p:nvSpPr>
        <p:spPr>
          <a:xfrm>
            <a:off x="9556139" y="857135"/>
            <a:ext cx="1210527" cy="599439"/>
          </a:xfrm>
          <a:prstGeom prst="rect">
            <a:avLst/>
          </a:prstGeom>
          <a:ln w="12700">
            <a:miter lim="400000"/>
          </a:ln>
        </p:spPr>
        <p:txBody>
          <a:bodyPr wrap="none" lIns="45718" tIns="45718" rIns="45718" bIns="45718">
            <a:spAutoFit/>
          </a:bodyPr>
          <a:lstStyle>
            <a:lvl1pPr>
              <a:defRPr sz="2800">
                <a:latin typeface="楷体" panose="02010609060101010101" charset="-122"/>
                <a:ea typeface="楷体" panose="02010609060101010101" charset="-122"/>
                <a:cs typeface="楷体" panose="02010609060101010101" charset="-122"/>
                <a:sym typeface="楷体" panose="02010609060101010101" charset="-122"/>
              </a:defRPr>
            </a:lvl1pPr>
          </a:lstStyle>
          <a:p>
            <a:r>
              <a:t>拟    音</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9" name="image.png" descr="image.png"/>
          <p:cNvPicPr>
            <a:picLocks noChangeAspect="1"/>
          </p:cNvPicPr>
          <p:nvPr/>
        </p:nvPicPr>
        <p:blipFill>
          <a:blip r:embed="rId1"/>
          <a:stretch>
            <a:fillRect/>
          </a:stretch>
        </p:blipFill>
        <p:spPr>
          <a:xfrm>
            <a:off x="1981200" y="476250"/>
            <a:ext cx="2444750" cy="5589588"/>
          </a:xfrm>
          <a:prstGeom prst="rect">
            <a:avLst/>
          </a:prstGeom>
          <a:ln w="12700">
            <a:miter lim="400000"/>
            <a:headEnd/>
            <a:tailEnd/>
          </a:ln>
        </p:spPr>
      </p:pic>
      <p:pic>
        <p:nvPicPr>
          <p:cNvPr id="220" name="image.png" descr="image.png"/>
          <p:cNvPicPr>
            <a:picLocks noChangeAspect="1"/>
          </p:cNvPicPr>
          <p:nvPr/>
        </p:nvPicPr>
        <p:blipFill>
          <a:blip r:embed="rId2"/>
          <a:stretch>
            <a:fillRect/>
          </a:stretch>
        </p:blipFill>
        <p:spPr>
          <a:xfrm>
            <a:off x="4251283" y="463548"/>
            <a:ext cx="3900490" cy="1268415"/>
          </a:xfrm>
          <a:prstGeom prst="rect">
            <a:avLst/>
          </a:prstGeom>
          <a:ln w="12700">
            <a:miter lim="400000"/>
            <a:headEnd/>
            <a:tailEnd/>
          </a:ln>
        </p:spPr>
      </p:pic>
      <p:pic>
        <p:nvPicPr>
          <p:cNvPr id="221" name="E:\电影笔记\金刚\声音的艺术_插图\图1_采录原木音效.jpg" descr="E:\电影笔记\金刚\声音的艺术_插图\图1_采录原木音效.jpg"/>
          <p:cNvPicPr>
            <a:picLocks noChangeAspect="1"/>
          </p:cNvPicPr>
          <p:nvPr/>
        </p:nvPicPr>
        <p:blipFill>
          <a:blip r:embed="rId3"/>
          <a:stretch>
            <a:fillRect/>
          </a:stretch>
        </p:blipFill>
        <p:spPr>
          <a:xfrm>
            <a:off x="5415255" y="3606558"/>
            <a:ext cx="4297364" cy="2517777"/>
          </a:xfrm>
          <a:prstGeom prst="rect">
            <a:avLst/>
          </a:prstGeom>
          <a:ln w="12700">
            <a:miter lim="400000"/>
            <a:headEnd/>
            <a:tailEnd/>
          </a:ln>
        </p:spPr>
      </p:pic>
      <p:pic>
        <p:nvPicPr>
          <p:cNvPr id="222" name="image.png" descr="image.png"/>
          <p:cNvPicPr>
            <a:picLocks noChangeAspect="1"/>
          </p:cNvPicPr>
          <p:nvPr/>
        </p:nvPicPr>
        <p:blipFill>
          <a:blip r:embed="rId4"/>
          <a:stretch>
            <a:fillRect/>
          </a:stretch>
        </p:blipFill>
        <p:spPr>
          <a:xfrm>
            <a:off x="7479579" y="2327755"/>
            <a:ext cx="2505077" cy="1481138"/>
          </a:xfrm>
          <a:prstGeom prst="rect">
            <a:avLst/>
          </a:prstGeom>
          <a:ln w="12700">
            <a:miter lim="400000"/>
            <a:headEnd/>
            <a:tailEnd/>
          </a:ln>
        </p:spPr>
      </p:pic>
      <p:sp>
        <p:nvSpPr>
          <p:cNvPr id="223" name="拟  音"/>
          <p:cNvSpPr txBox="1"/>
          <p:nvPr/>
        </p:nvSpPr>
        <p:spPr>
          <a:xfrm>
            <a:off x="10151774" y="798037"/>
            <a:ext cx="1012934" cy="599439"/>
          </a:xfrm>
          <a:prstGeom prst="rect">
            <a:avLst/>
          </a:prstGeom>
          <a:ln w="12700">
            <a:miter lim="400000"/>
          </a:ln>
        </p:spPr>
        <p:txBody>
          <a:bodyPr wrap="none" lIns="45718" tIns="45718" rIns="45718" bIns="45718">
            <a:spAutoFit/>
          </a:bodyPr>
          <a:lstStyle>
            <a:lvl1pPr>
              <a:defRPr sz="2800">
                <a:latin typeface="楷体" panose="02010609060101010101" charset="-122"/>
                <a:ea typeface="楷体" panose="02010609060101010101" charset="-122"/>
                <a:cs typeface="楷体" panose="02010609060101010101" charset="-122"/>
                <a:sym typeface="楷体" panose="02010609060101010101" charset="-122"/>
              </a:defRPr>
            </a:lvl1pPr>
          </a:lstStyle>
          <a:p>
            <a:r>
              <a:t>拟  音</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 name="image.png" descr="image.png"/>
          <p:cNvPicPr>
            <a:picLocks noChangeAspect="1"/>
          </p:cNvPicPr>
          <p:nvPr/>
        </p:nvPicPr>
        <p:blipFill>
          <a:blip r:embed="rId1"/>
          <a:stretch>
            <a:fillRect/>
          </a:stretch>
        </p:blipFill>
        <p:spPr>
          <a:xfrm>
            <a:off x="1547812" y="115887"/>
            <a:ext cx="3517902" cy="2517776"/>
          </a:xfrm>
          <a:prstGeom prst="rect">
            <a:avLst/>
          </a:prstGeom>
          <a:ln w="12700">
            <a:miter lim="400000"/>
            <a:headEnd/>
            <a:tailEnd/>
          </a:ln>
        </p:spPr>
      </p:pic>
      <p:pic>
        <p:nvPicPr>
          <p:cNvPr id="226" name="image.png" descr="image.png"/>
          <p:cNvPicPr>
            <a:picLocks noChangeAspect="1"/>
          </p:cNvPicPr>
          <p:nvPr/>
        </p:nvPicPr>
        <p:blipFill>
          <a:blip r:embed="rId2"/>
          <a:stretch>
            <a:fillRect/>
          </a:stretch>
        </p:blipFill>
        <p:spPr>
          <a:xfrm>
            <a:off x="7339011" y="2547936"/>
            <a:ext cx="3017839" cy="4157664"/>
          </a:xfrm>
          <a:prstGeom prst="rect">
            <a:avLst/>
          </a:prstGeom>
          <a:ln w="12700">
            <a:miter lim="400000"/>
            <a:headEnd/>
            <a:tailEnd/>
          </a:ln>
        </p:spPr>
      </p:pic>
      <p:pic>
        <p:nvPicPr>
          <p:cNvPr id="227" name="image.png" descr="image.png"/>
          <p:cNvPicPr>
            <a:picLocks noChangeAspect="1"/>
          </p:cNvPicPr>
          <p:nvPr/>
        </p:nvPicPr>
        <p:blipFill>
          <a:blip r:embed="rId3"/>
          <a:stretch>
            <a:fillRect/>
          </a:stretch>
        </p:blipFill>
        <p:spPr>
          <a:xfrm>
            <a:off x="4906962" y="115887"/>
            <a:ext cx="2878139" cy="2017714"/>
          </a:xfrm>
          <a:prstGeom prst="rect">
            <a:avLst/>
          </a:prstGeom>
          <a:ln w="12700">
            <a:miter lim="400000"/>
            <a:headEnd/>
            <a:tailEnd/>
          </a:ln>
        </p:spPr>
      </p:pic>
      <p:pic>
        <p:nvPicPr>
          <p:cNvPr id="228" name="1.jpg" descr="1.jpg"/>
          <p:cNvPicPr>
            <a:picLocks noChangeAspect="1"/>
          </p:cNvPicPr>
          <p:nvPr/>
        </p:nvPicPr>
        <p:blipFill>
          <a:blip r:embed="rId4"/>
          <a:stretch>
            <a:fillRect/>
          </a:stretch>
        </p:blipFill>
        <p:spPr>
          <a:xfrm>
            <a:off x="1620837" y="4114800"/>
            <a:ext cx="4371977" cy="2663825"/>
          </a:xfrm>
          <a:prstGeom prst="rect">
            <a:avLst/>
          </a:prstGeom>
          <a:ln w="12700">
            <a:miter lim="400000"/>
            <a:headEnd/>
            <a:tailEnd/>
          </a:ln>
        </p:spPr>
      </p:pic>
      <p:pic>
        <p:nvPicPr>
          <p:cNvPr id="229" name="image.png" descr="image.png"/>
          <p:cNvPicPr>
            <a:picLocks noChangeAspect="1"/>
          </p:cNvPicPr>
          <p:nvPr/>
        </p:nvPicPr>
        <p:blipFill>
          <a:blip r:embed="rId5"/>
          <a:stretch>
            <a:fillRect/>
          </a:stretch>
        </p:blipFill>
        <p:spPr>
          <a:xfrm>
            <a:off x="4608512" y="2395536"/>
            <a:ext cx="2835277" cy="1695452"/>
          </a:xfrm>
          <a:prstGeom prst="rect">
            <a:avLst/>
          </a:prstGeom>
          <a:ln w="12700">
            <a:miter lim="400000"/>
            <a:headEnd/>
            <a:tailEnd/>
          </a:ln>
        </p:spPr>
      </p:pic>
      <p:pic>
        <p:nvPicPr>
          <p:cNvPr id="230" name="image.png" descr="image.png"/>
          <p:cNvPicPr>
            <a:picLocks noChangeAspect="1"/>
          </p:cNvPicPr>
          <p:nvPr/>
        </p:nvPicPr>
        <p:blipFill>
          <a:blip r:embed="rId6"/>
          <a:stretch>
            <a:fillRect/>
          </a:stretch>
        </p:blipFill>
        <p:spPr>
          <a:xfrm>
            <a:off x="1463675" y="2481261"/>
            <a:ext cx="3211514" cy="1103314"/>
          </a:xfrm>
          <a:prstGeom prst="rect">
            <a:avLst/>
          </a:prstGeom>
          <a:ln w="12700">
            <a:miter lim="400000"/>
            <a:headEnd/>
            <a:tailEnd/>
          </a:ln>
        </p:spPr>
      </p:pic>
      <p:pic>
        <p:nvPicPr>
          <p:cNvPr id="231" name="image.png" descr="image.png"/>
          <p:cNvPicPr>
            <a:picLocks noChangeAspect="1"/>
          </p:cNvPicPr>
          <p:nvPr/>
        </p:nvPicPr>
        <p:blipFill>
          <a:blip r:embed="rId7"/>
          <a:stretch>
            <a:fillRect/>
          </a:stretch>
        </p:blipFill>
        <p:spPr>
          <a:xfrm>
            <a:off x="7894636" y="822325"/>
            <a:ext cx="2120902" cy="1719264"/>
          </a:xfrm>
          <a:prstGeom prst="rect">
            <a:avLst/>
          </a:prstGeom>
          <a:ln w="12700">
            <a:miter lim="400000"/>
            <a:headEnd/>
            <a:tailEnd/>
          </a:ln>
        </p:spPr>
      </p:pic>
      <p:pic>
        <p:nvPicPr>
          <p:cNvPr id="232" name="image.png" descr="image.png"/>
          <p:cNvPicPr>
            <a:picLocks noChangeAspect="1"/>
          </p:cNvPicPr>
          <p:nvPr/>
        </p:nvPicPr>
        <p:blipFill>
          <a:blip r:embed="rId8"/>
          <a:stretch>
            <a:fillRect/>
          </a:stretch>
        </p:blipFill>
        <p:spPr>
          <a:xfrm>
            <a:off x="5834062" y="4535487"/>
            <a:ext cx="1536702" cy="1792289"/>
          </a:xfrm>
          <a:prstGeom prst="rect">
            <a:avLst/>
          </a:prstGeom>
          <a:ln w="12700">
            <a:miter lim="400000"/>
            <a:headEnd/>
            <a:tailEnd/>
          </a:ln>
        </p:spPr>
      </p:pic>
      <p:sp>
        <p:nvSpPr>
          <p:cNvPr id="233" name="拟音"/>
          <p:cNvSpPr txBox="1"/>
          <p:nvPr/>
        </p:nvSpPr>
        <p:spPr>
          <a:xfrm>
            <a:off x="10689298" y="406776"/>
            <a:ext cx="815339" cy="599439"/>
          </a:xfrm>
          <a:prstGeom prst="rect">
            <a:avLst/>
          </a:prstGeom>
          <a:ln w="12700">
            <a:miter lim="400000"/>
          </a:ln>
        </p:spPr>
        <p:txBody>
          <a:bodyPr wrap="none" lIns="45718" tIns="45718" rIns="45718" bIns="45718">
            <a:spAutoFit/>
          </a:bodyPr>
          <a:lstStyle>
            <a:lvl1pPr>
              <a:defRPr sz="2800">
                <a:latin typeface="楷体" panose="02010609060101010101" charset="-122"/>
                <a:ea typeface="楷体" panose="02010609060101010101" charset="-122"/>
                <a:cs typeface="楷体" panose="02010609060101010101" charset="-122"/>
                <a:sym typeface="楷体" panose="02010609060101010101" charset="-122"/>
              </a:defRPr>
            </a:lvl1pPr>
          </a:lstStyle>
          <a:p>
            <a:r>
              <a:t>拟音</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 name="2.jpg" descr="2.jpg"/>
          <p:cNvPicPr>
            <a:picLocks noChangeAspect="1"/>
          </p:cNvPicPr>
          <p:nvPr/>
        </p:nvPicPr>
        <p:blipFill>
          <a:blip r:embed="rId1"/>
          <a:stretch>
            <a:fillRect/>
          </a:stretch>
        </p:blipFill>
        <p:spPr>
          <a:xfrm>
            <a:off x="1039728" y="392299"/>
            <a:ext cx="5902328" cy="3352803"/>
          </a:xfrm>
          <a:prstGeom prst="rect">
            <a:avLst/>
          </a:prstGeom>
          <a:ln w="12700">
            <a:miter lim="400000"/>
            <a:headEnd/>
            <a:tailEnd/>
          </a:ln>
        </p:spPr>
      </p:pic>
      <p:pic>
        <p:nvPicPr>
          <p:cNvPr id="236" name="3.jpg" descr="3.jpg"/>
          <p:cNvPicPr>
            <a:picLocks noChangeAspect="1"/>
          </p:cNvPicPr>
          <p:nvPr/>
        </p:nvPicPr>
        <p:blipFill>
          <a:blip r:embed="rId2"/>
          <a:stretch>
            <a:fillRect/>
          </a:stretch>
        </p:blipFill>
        <p:spPr>
          <a:xfrm>
            <a:off x="3603366" y="4086904"/>
            <a:ext cx="5900740" cy="2341564"/>
          </a:xfrm>
          <a:prstGeom prst="rect">
            <a:avLst/>
          </a:prstGeom>
          <a:ln w="12700">
            <a:miter lim="400000"/>
            <a:headEnd/>
            <a:tailEnd/>
          </a:ln>
        </p:spPr>
      </p:pic>
      <p:pic>
        <p:nvPicPr>
          <p:cNvPr id="237" name="image.png" descr="image.png"/>
          <p:cNvPicPr>
            <a:picLocks noChangeAspect="1"/>
          </p:cNvPicPr>
          <p:nvPr/>
        </p:nvPicPr>
        <p:blipFill>
          <a:blip r:embed="rId3"/>
          <a:stretch>
            <a:fillRect/>
          </a:stretch>
        </p:blipFill>
        <p:spPr>
          <a:xfrm>
            <a:off x="6291629" y="992667"/>
            <a:ext cx="2616202" cy="1766890"/>
          </a:xfrm>
          <a:prstGeom prst="rect">
            <a:avLst/>
          </a:prstGeom>
          <a:ln w="12700">
            <a:miter lim="400000"/>
            <a:headEnd/>
            <a:tailEnd/>
          </a:ln>
        </p:spPr>
      </p:pic>
      <p:pic>
        <p:nvPicPr>
          <p:cNvPr id="238" name="image.png" descr="image.png"/>
          <p:cNvPicPr>
            <a:picLocks noChangeAspect="1"/>
          </p:cNvPicPr>
          <p:nvPr/>
        </p:nvPicPr>
        <p:blipFill>
          <a:blip r:embed="rId4"/>
          <a:stretch>
            <a:fillRect/>
          </a:stretch>
        </p:blipFill>
        <p:spPr>
          <a:xfrm>
            <a:off x="1473012" y="4933469"/>
            <a:ext cx="2444751" cy="1193801"/>
          </a:xfrm>
          <a:prstGeom prst="rect">
            <a:avLst/>
          </a:prstGeom>
          <a:ln w="12700">
            <a:miter lim="400000"/>
            <a:headEnd/>
            <a:tailEnd/>
          </a:ln>
        </p:spPr>
      </p:pic>
      <p:sp>
        <p:nvSpPr>
          <p:cNvPr id="239" name="拟  音"/>
          <p:cNvSpPr txBox="1"/>
          <p:nvPr/>
        </p:nvSpPr>
        <p:spPr>
          <a:xfrm>
            <a:off x="10427800" y="508470"/>
            <a:ext cx="1012933" cy="599439"/>
          </a:xfrm>
          <a:prstGeom prst="rect">
            <a:avLst/>
          </a:prstGeom>
          <a:ln w="12700">
            <a:miter lim="400000"/>
          </a:ln>
        </p:spPr>
        <p:txBody>
          <a:bodyPr wrap="none" lIns="45718" tIns="45718" rIns="45718" bIns="45718">
            <a:spAutoFit/>
          </a:bodyPr>
          <a:lstStyle>
            <a:lvl1pPr>
              <a:defRPr sz="2800">
                <a:latin typeface="楷体" panose="02010609060101010101" charset="-122"/>
                <a:ea typeface="楷体" panose="02010609060101010101" charset="-122"/>
                <a:cs typeface="楷体" panose="02010609060101010101" charset="-122"/>
                <a:sym typeface="楷体" panose="02010609060101010101" charset="-122"/>
              </a:defRPr>
            </a:lvl1pPr>
          </a:lstStyle>
          <a:p>
            <a:r>
              <a:t>拟  音</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拟音方法介绍"/>
          <p:cNvSpPr txBox="1">
            <a:spLocks noGrp="1"/>
          </p:cNvSpPr>
          <p:nvPr>
            <p:ph type="title"/>
          </p:nvPr>
        </p:nvSpPr>
        <p:spPr>
          <a:xfrm>
            <a:off x="925439" y="2128100"/>
            <a:ext cx="3932242" cy="1600202"/>
          </a:xfrm>
          <a:prstGeom prst="rect">
            <a:avLst/>
          </a:prstGeom>
        </p:spPr>
        <p:txBody>
          <a:bodyPr/>
          <a:lstStyle>
            <a:lvl1pPr>
              <a:defRPr>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拟音方法介绍</a:t>
            </a:r>
          </a:p>
        </p:txBody>
      </p:sp>
      <p:sp>
        <p:nvSpPr>
          <p:cNvPr id="242" name="骨折/怪兽咬嚼和破坏东西/冻莴笋：贴着话筒猛嚼芹菜/掰断芹菜…"/>
          <p:cNvSpPr txBox="1">
            <a:spLocks noGrp="1"/>
          </p:cNvSpPr>
          <p:nvPr>
            <p:ph type="body" idx="1"/>
          </p:nvPr>
        </p:nvSpPr>
        <p:spPr>
          <a:xfrm>
            <a:off x="3610610" y="833755"/>
            <a:ext cx="8213725" cy="6486525"/>
          </a:xfrm>
          <a:prstGeom prst="rect">
            <a:avLst/>
          </a:prstGeom>
        </p:spPr>
        <p:txBody>
          <a:bodyPr/>
          <a:lstStyle/>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骨折</a:t>
            </a:r>
            <a:r>
              <a:rPr>
                <a:latin typeface="+mn-lt"/>
                <a:ea typeface="+mn-ea"/>
                <a:cs typeface="+mn-cs"/>
                <a:sym typeface="Calibri" panose="020F0502020204030204"/>
              </a:rPr>
              <a:t>/</a:t>
            </a:r>
            <a:r>
              <a:t>怪兽咬嚼和破坏东西</a:t>
            </a:r>
            <a:r>
              <a:rPr>
                <a:latin typeface="+mn-lt"/>
                <a:ea typeface="+mn-ea"/>
                <a:cs typeface="+mn-cs"/>
                <a:sym typeface="Calibri" panose="020F0502020204030204"/>
              </a:rPr>
              <a:t>/</a:t>
            </a:r>
            <a:r>
              <a:t>冻莴笋：贴着话筒猛嚼芹菜</a:t>
            </a:r>
            <a:r>
              <a:rPr>
                <a:latin typeface="+mn-lt"/>
                <a:ea typeface="+mn-ea"/>
                <a:cs typeface="+mn-cs"/>
                <a:sym typeface="Calibri" panose="020F0502020204030204"/>
              </a:rPr>
              <a:t>/</a:t>
            </a:r>
            <a:r>
              <a:t>掰断芹菜</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胃被击中：打枕头</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烟花点燃：在锅里煎肥肉</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渔夫在疾风中撒网：用长长的塑料布包住沾过水的绳子在空中挥舞</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渔夫的防护衣稀里哗啦的声音：挤捏并拉扯一张薄薄的塑料布</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在木制的船头拖绳子：用自行车链条绕着桌子拖动来模拟。</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火焰燃烧：用树叶的沙沙模拟（图）</a:t>
            </a:r>
            <a:r>
              <a:rPr>
                <a:latin typeface="+mn-lt"/>
                <a:ea typeface="+mn-ea"/>
                <a:cs typeface="+mn-cs"/>
                <a:sym typeface="Calibri" panose="020F0502020204030204"/>
              </a:rPr>
              <a:t> </a:t>
            </a:r>
            <a:endParaRPr>
              <a:latin typeface="+mn-lt"/>
              <a:ea typeface="+mn-ea"/>
              <a:cs typeface="+mn-cs"/>
              <a:sym typeface="Calibri" panose="020F0502020204030204"/>
            </a:endParaRP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开激光枪（星战激光炮）：铁锤打在天线塔上电线的声音。</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同一个物体（或同一个动作）的人造音效是几个不同的声音，各自需被修改成不同的声音，增加这个音效的多样性。（如果在看星战，无论片中的光剑怎么挥舞，听到只是一种声音的不断重复，很不爽）</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踩雪嚓嚓声：玉米浆装在皮革袋子中。</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鸟拍翅膀：手套</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物体飞速移动（呼呼声）：小木棍做成的剑。</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吱嘎吱嘎：破椅子。</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敲击人头</a:t>
            </a:r>
            <a:r>
              <a:rPr>
                <a:latin typeface="+mn-lt"/>
                <a:ea typeface="+mn-ea"/>
                <a:cs typeface="+mn-cs"/>
                <a:sym typeface="Calibri" panose="020F0502020204030204"/>
              </a:rPr>
              <a:t>/</a:t>
            </a:r>
            <a:r>
              <a:t>破裂：瓜</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尖锐的金属声：钉耙刮蹭金属表面。</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搓湿的气球可以做一些搞怪音效。</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马蹄声：在切成对半的椰子壳中填充不同的材料敲击，是声音不会单薄和空洞。</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火焰的噼啪声：玻璃纸</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与木船有关的音效：木门放在大木板上。</a:t>
            </a:r>
          </a:p>
          <a:p>
            <a:pPr marL="211455" indent="-211455" defTabSz="768350">
              <a:lnSpc>
                <a:spcPct val="80000"/>
              </a:lnSpc>
              <a:spcBef>
                <a:spcPts val="800"/>
              </a:spcBef>
              <a:buChar char="○"/>
              <a:defRPr sz="1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打架声</a:t>
            </a:r>
            <a:r>
              <a:rPr>
                <a:latin typeface="+mn-lt"/>
                <a:ea typeface="+mn-ea"/>
                <a:cs typeface="+mn-cs"/>
                <a:sym typeface="Calibri" panose="020F0502020204030204"/>
              </a:rPr>
              <a:t>/</a:t>
            </a:r>
            <a:r>
              <a:t>身体碰撞音效：将很重的大书卷起用胶带粘好。</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人    声（语言）"/>
          <p:cNvSpPr txBox="1">
            <a:spLocks noGrp="1"/>
          </p:cNvSpPr>
          <p:nvPr>
            <p:ph type="title"/>
          </p:nvPr>
        </p:nvSpPr>
        <p:spPr>
          <a:xfrm>
            <a:off x="1250112" y="2202207"/>
            <a:ext cx="3932242" cy="1600202"/>
          </a:xfrm>
          <a:prstGeom prst="rect">
            <a:avLst/>
          </a:prstGeom>
        </p:spPr>
        <p:txBody>
          <a:bodyPr/>
          <a:lstStyle>
            <a:lvl1pPr>
              <a:defRPr>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人    声（语言）</a:t>
            </a:r>
          </a:p>
        </p:txBody>
      </p:sp>
      <p:sp>
        <p:nvSpPr>
          <p:cNvPr id="245" name="角色语言：演剧类作品中的有声语言定义为角色语言。…"/>
          <p:cNvSpPr txBox="1">
            <a:spLocks noGrp="1"/>
          </p:cNvSpPr>
          <p:nvPr>
            <p:ph type="body" sz="half" idx="1"/>
          </p:nvPr>
        </p:nvSpPr>
        <p:spPr>
          <a:xfrm>
            <a:off x="4847906" y="1395095"/>
            <a:ext cx="6172206" cy="4873625"/>
          </a:xfrm>
          <a:prstGeom prst="rect">
            <a:avLst/>
          </a:prstGeom>
        </p:spPr>
        <p:txBody>
          <a:bodyPr/>
          <a:lstStyle/>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角色语言：演剧类作品中的有声语言定义为角色语言。</a:t>
            </a:r>
          </a:p>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构成：对白和画外音（独白、旁白、</a:t>
            </a:r>
            <a:r>
              <a:rPr u="sng"/>
              <a:t>群杂</a:t>
            </a:r>
            <a:r>
              <a:t>）</a:t>
            </a:r>
          </a:p>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作用：</a:t>
            </a:r>
          </a:p>
          <a:p>
            <a:pPr marL="164465" indent="-164465" defTabSz="658495">
              <a:spcBef>
                <a:spcPts val="700"/>
              </a:spcBef>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配合影像交待说明，推动叙事</a:t>
            </a:r>
          </a:p>
          <a:p>
            <a:pPr marL="164465" indent="-164465" defTabSz="658495">
              <a:spcBef>
                <a:spcPts val="700"/>
              </a:spcBef>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表现人物的心境和情感</a:t>
            </a:r>
          </a:p>
          <a:p>
            <a:pPr marL="164465" indent="-164465" defTabSz="658495">
              <a:spcBef>
                <a:spcPts val="700"/>
              </a:spcBef>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塑造人物的性格</a:t>
            </a:r>
          </a:p>
          <a:p>
            <a:pPr marL="164465" indent="-164465" defTabSz="658495">
              <a:spcBef>
                <a:spcPts val="700"/>
              </a:spcBef>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直接表达创作者的观点和作品的主题</a:t>
            </a:r>
          </a:p>
          <a:p>
            <a:pPr marL="164465" indent="-164465" defTabSz="658495">
              <a:spcBef>
                <a:spcPts val="700"/>
              </a:spcBef>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64465" indent="-164465" defTabSz="658495">
              <a:spcBef>
                <a:spcPts val="700"/>
              </a:spcBef>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语言的意义存在于语境、副言语、超语意特征中。</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副言语"/>
          <p:cNvSpPr txBox="1">
            <a:spLocks noGrp="1"/>
          </p:cNvSpPr>
          <p:nvPr>
            <p:ph type="title"/>
          </p:nvPr>
        </p:nvSpPr>
        <p:spPr>
          <a:xfrm>
            <a:off x="1711448" y="1997135"/>
            <a:ext cx="3932242" cy="1600202"/>
          </a:xfrm>
          <a:prstGeom prst="rect">
            <a:avLst/>
          </a:prstGeom>
        </p:spPr>
        <p:txBody>
          <a:bodyPr/>
          <a:lstStyle>
            <a:lvl1pPr>
              <a:defRPr sz="5400">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副言语</a:t>
            </a:r>
          </a:p>
        </p:txBody>
      </p:sp>
      <p:sp>
        <p:nvSpPr>
          <p:cNvPr id="248" name="副言语：是角色在说话时表现出来的语音特点，有声语言最大的特点集中体现在副言语上。…"/>
          <p:cNvSpPr txBox="1">
            <a:spLocks noGrp="1"/>
          </p:cNvSpPr>
          <p:nvPr>
            <p:ph type="body" idx="1"/>
          </p:nvPr>
        </p:nvSpPr>
        <p:spPr>
          <a:xfrm>
            <a:off x="4921687" y="992186"/>
            <a:ext cx="6382461" cy="5339252"/>
          </a:xfrm>
          <a:prstGeom prst="rect">
            <a:avLst/>
          </a:prstGeom>
        </p:spPr>
        <p:txBody>
          <a:bodyPr/>
          <a:lstStyle/>
          <a:p>
            <a:pPr marL="210185" indent="-210185" defTabSz="841375">
              <a:spcBef>
                <a:spcPts val="900"/>
              </a:spcBef>
              <a:buChar char="○"/>
              <a:defRPr sz="2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副言语：是角色在说话时表现出来的语音特点，有声语言最大的特点集中体现在副言语上。</a:t>
            </a:r>
          </a:p>
          <a:p>
            <a:pPr marL="210185" indent="-210185" defTabSz="841375">
              <a:spcBef>
                <a:spcPts val="900"/>
              </a:spcBef>
              <a:buChar char="➢"/>
              <a:defRPr sz="2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说话时的语气、音色（音质</a:t>
            </a:r>
            <a:r>
              <a:rPr>
                <a:latin typeface="+mn-lt"/>
                <a:ea typeface="+mn-ea"/>
                <a:cs typeface="+mn-cs"/>
                <a:sym typeface="Calibri" panose="020F0502020204030204"/>
              </a:rPr>
              <a:t>/</a:t>
            </a:r>
            <a:r>
              <a:t>语调）、力度（音量）、速度、节奏。</a:t>
            </a:r>
          </a:p>
          <a:p>
            <a:pPr marL="210185" indent="-210185" defTabSz="841375">
              <a:spcBef>
                <a:spcPts val="900"/>
              </a:spcBef>
              <a:buChar char="➢"/>
              <a:defRPr sz="2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说话时的独特方式（口音和发音习惯） </a:t>
            </a:r>
          </a:p>
          <a:p>
            <a:pPr marL="210185" indent="-210185" defTabSz="841375">
              <a:spcBef>
                <a:spcPts val="900"/>
              </a:spcBef>
              <a:buChar char="➢"/>
              <a:defRPr sz="2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面部表情和肢体语言。</a:t>
            </a:r>
          </a:p>
          <a:p>
            <a:pPr marL="210185" indent="-210185" defTabSz="841375">
              <a:spcBef>
                <a:spcPts val="900"/>
              </a:spcBef>
              <a:buChar char="➢"/>
              <a:defRPr sz="2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由此体现出角色的社会文化内涵（经历、职业、文化背景）。</a:t>
            </a: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0" name="pi.jpg" descr="pi.jpg"/>
          <p:cNvPicPr>
            <a:picLocks noChangeAspect="1"/>
          </p:cNvPicPr>
          <p:nvPr/>
        </p:nvPicPr>
        <p:blipFill>
          <a:blip r:embed="rId1"/>
          <a:stretch>
            <a:fillRect/>
          </a:stretch>
        </p:blipFill>
        <p:spPr>
          <a:xfrm>
            <a:off x="1942420" y="2233131"/>
            <a:ext cx="3535365" cy="4516439"/>
          </a:xfrm>
          <a:prstGeom prst="rect">
            <a:avLst/>
          </a:prstGeom>
          <a:ln w="12700">
            <a:miter lim="400000"/>
            <a:headEnd/>
            <a:tailEnd/>
          </a:ln>
        </p:spPr>
      </p:pic>
      <p:pic>
        <p:nvPicPr>
          <p:cNvPr id="251" name="py.jpg" descr="py.jpg"/>
          <p:cNvPicPr>
            <a:picLocks noChangeAspect="1"/>
          </p:cNvPicPr>
          <p:nvPr/>
        </p:nvPicPr>
        <p:blipFill>
          <a:blip r:embed="rId2"/>
          <a:stretch>
            <a:fillRect/>
          </a:stretch>
        </p:blipFill>
        <p:spPr>
          <a:xfrm>
            <a:off x="6090756" y="174384"/>
            <a:ext cx="4090989" cy="2566990"/>
          </a:xfrm>
          <a:prstGeom prst="rect">
            <a:avLst/>
          </a:prstGeom>
          <a:ln w="12700">
            <a:miter lim="400000"/>
            <a:headEnd/>
            <a:tailEnd/>
          </a:ln>
        </p:spPr>
      </p:pic>
      <p:pic>
        <p:nvPicPr>
          <p:cNvPr id="252" name="image.png" descr="image.png"/>
          <p:cNvPicPr>
            <a:picLocks noChangeAspect="1"/>
          </p:cNvPicPr>
          <p:nvPr/>
        </p:nvPicPr>
        <p:blipFill>
          <a:blip r:embed="rId3"/>
          <a:stretch>
            <a:fillRect/>
          </a:stretch>
        </p:blipFill>
        <p:spPr>
          <a:xfrm>
            <a:off x="5053012" y="4248150"/>
            <a:ext cx="4389438" cy="1616075"/>
          </a:xfrm>
          <a:prstGeom prst="rect">
            <a:avLst/>
          </a:prstGeom>
          <a:ln w="12700">
            <a:miter lim="400000"/>
            <a:headEnd/>
            <a:tailEnd/>
          </a:ln>
        </p:spPr>
      </p:pic>
      <p:pic>
        <p:nvPicPr>
          <p:cNvPr id="253" name="image.png" descr="image.png"/>
          <p:cNvPicPr>
            <a:picLocks noChangeAspect="1"/>
          </p:cNvPicPr>
          <p:nvPr/>
        </p:nvPicPr>
        <p:blipFill>
          <a:blip r:embed="rId4"/>
          <a:stretch>
            <a:fillRect/>
          </a:stretch>
        </p:blipFill>
        <p:spPr>
          <a:xfrm>
            <a:off x="2336267" y="536575"/>
            <a:ext cx="4029077" cy="1298575"/>
          </a:xfrm>
          <a:prstGeom prst="rect">
            <a:avLst/>
          </a:prstGeom>
          <a:ln w="12700">
            <a:miter lim="400000"/>
            <a:headEnd/>
            <a:tailEnd/>
          </a:ln>
        </p:spPr>
      </p:pic>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录音方式"/>
          <p:cNvSpPr txBox="1">
            <a:spLocks noGrp="1"/>
          </p:cNvSpPr>
          <p:nvPr>
            <p:ph type="title"/>
          </p:nvPr>
        </p:nvSpPr>
        <p:spPr>
          <a:xfrm>
            <a:off x="1871253" y="1706580"/>
            <a:ext cx="3932242" cy="1600202"/>
          </a:xfrm>
          <a:prstGeom prst="rect">
            <a:avLst/>
          </a:prstGeom>
        </p:spPr>
        <p:txBody>
          <a:bodyPr/>
          <a:lstStyle>
            <a:lvl1pPr>
              <a:defRPr sz="4200">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录音方式</a:t>
            </a:r>
          </a:p>
        </p:txBody>
      </p:sp>
      <p:sp>
        <p:nvSpPr>
          <p:cNvPr id="256" name="根据拍摄类型选择录音方式…"/>
          <p:cNvSpPr txBox="1">
            <a:spLocks noGrp="1"/>
          </p:cNvSpPr>
          <p:nvPr>
            <p:ph type="body" sz="half" idx="1"/>
          </p:nvPr>
        </p:nvSpPr>
        <p:spPr>
          <a:xfrm>
            <a:off x="5183186" y="987425"/>
            <a:ext cx="6172206" cy="4873625"/>
          </a:xfrm>
          <a:prstGeom prst="rect">
            <a:avLst/>
          </a:prstGeom>
        </p:spPr>
        <p:txBody>
          <a:bodyPr/>
          <a:lstStyle/>
          <a:p>
            <a:pPr marL="180340" indent="-180340" defTabSz="722630">
              <a:spcBef>
                <a:spcPts val="7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根据拍摄类型选择录音方式</a:t>
            </a:r>
          </a:p>
          <a:p>
            <a:pPr marL="180340" indent="-180340" defTabSz="722630">
              <a:spcBef>
                <a:spcPts val="7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前期录音：动画片、歌舞片、</a:t>
            </a:r>
            <a:r>
              <a:rPr>
                <a:latin typeface="+mn-lt"/>
                <a:ea typeface="+mn-ea"/>
                <a:cs typeface="+mn-cs"/>
                <a:sym typeface="Calibri" panose="020F0502020204030204"/>
              </a:rPr>
              <a:t>MTV</a:t>
            </a:r>
            <a:r>
              <a:t>。</a:t>
            </a:r>
          </a:p>
          <a:p>
            <a:pPr marL="180340" indent="-180340" defTabSz="722630">
              <a:spcBef>
                <a:spcPts val="7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同期录音：纪录片、直播节目、故事片等。</a:t>
            </a:r>
          </a:p>
          <a:p>
            <a:pPr marL="180340" indent="-180340" defTabSz="722630">
              <a:spcBef>
                <a:spcPts val="7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后期配音：宏大场面的战争片、科幻片、武侠片等。</a:t>
            </a:r>
          </a:p>
          <a:p>
            <a:pPr marL="180340" indent="-180340" defTabSz="722630">
              <a:spcBef>
                <a:spcPts val="7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80340" indent="-180340" defTabSz="722630">
              <a:spcBef>
                <a:spcPts val="7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现场配音：后期配音都在原拍摄场的实景中进行录制，以获得真实的空间环境感。</a:t>
            </a:r>
          </a:p>
          <a:p>
            <a:pPr marL="180340" indent="-180340" defTabSz="722630">
              <a:spcBef>
                <a:spcPts val="7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混合录音方式</a:t>
            </a: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自动对白替换（ADR）"/>
          <p:cNvSpPr txBox="1">
            <a:spLocks noGrp="1"/>
          </p:cNvSpPr>
          <p:nvPr>
            <p:ph type="title"/>
          </p:nvPr>
        </p:nvSpPr>
        <p:spPr>
          <a:xfrm>
            <a:off x="1290144" y="2628899"/>
            <a:ext cx="3932242" cy="1600203"/>
          </a:xfrm>
          <a:prstGeom prst="rect">
            <a:avLst/>
          </a:prstGeom>
        </p:spPr>
        <p:txBody>
          <a:bodyPr/>
          <a:lstStyle/>
          <a:p>
            <a:pPr>
              <a:defRPr>
                <a:latin typeface="华文楷体" panose="02010600040101010101" charset="-122"/>
                <a:ea typeface="华文楷体" panose="02010600040101010101" charset="-122"/>
                <a:cs typeface="华文楷体" panose="02010600040101010101" charset="-122"/>
                <a:sym typeface="华文楷体" panose="02010600040101010101" charset="-122"/>
              </a:defRPr>
            </a:pPr>
            <a:r>
              <a:t>自动对白替换（</a:t>
            </a:r>
            <a:r>
              <a:rPr>
                <a:latin typeface="Calibri Light" panose="020F0302020204030204"/>
                <a:ea typeface="Calibri Light" panose="020F0302020204030204"/>
                <a:cs typeface="Calibri Light" panose="020F0302020204030204"/>
                <a:sym typeface="Calibri Light" panose="020F0302020204030204"/>
              </a:rPr>
              <a:t>ADR</a:t>
            </a:r>
            <a:r>
              <a:t>）</a:t>
            </a:r>
          </a:p>
        </p:txBody>
      </p:sp>
      <p:sp>
        <p:nvSpPr>
          <p:cNvPr id="259" name="Automated Dialogue Replacement…"/>
          <p:cNvSpPr txBox="1">
            <a:spLocks noGrp="1"/>
          </p:cNvSpPr>
          <p:nvPr>
            <p:ph type="body" sz="half" idx="1"/>
          </p:nvPr>
        </p:nvSpPr>
        <p:spPr>
          <a:xfrm>
            <a:off x="5183186" y="1132700"/>
            <a:ext cx="6172206" cy="4873628"/>
          </a:xfrm>
          <a:prstGeom prst="rect">
            <a:avLst/>
          </a:prstGeom>
        </p:spPr>
        <p:txBody>
          <a:bodyPr/>
          <a:lstStyle/>
          <a:p>
            <a:pPr marL="273050" indent="-273050">
              <a:buChar char="○"/>
              <a:defRPr sz="2200"/>
            </a:pPr>
            <a:r>
              <a:t>Automated Dialogue Replacement</a:t>
            </a:r>
          </a:p>
          <a:p>
            <a:pPr marL="273050" indent="-273050">
              <a:buChar char="○"/>
              <a:defRPr sz="22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外景拍摄现场的同期录音其作用常常是为了后期配音时制作</a:t>
            </a:r>
            <a:r>
              <a:rPr>
                <a:latin typeface="+mn-lt"/>
                <a:ea typeface="+mn-ea"/>
                <a:cs typeface="+mn-cs"/>
                <a:sym typeface="Calibri" panose="020F0502020204030204"/>
              </a:rPr>
              <a:t>“</a:t>
            </a:r>
            <a:r>
              <a:t>自动对白替换</a:t>
            </a:r>
            <a:r>
              <a:rPr>
                <a:latin typeface="+mn-lt"/>
                <a:ea typeface="+mn-ea"/>
                <a:cs typeface="+mn-cs"/>
                <a:sym typeface="Calibri" panose="020F0502020204030204"/>
              </a:rPr>
              <a:t>”</a:t>
            </a:r>
            <a:r>
              <a:t>提供参考，以提高影片的对比质量。</a:t>
            </a:r>
          </a:p>
        </p:txBody>
      </p:sp>
      <p:pic>
        <p:nvPicPr>
          <p:cNvPr id="260" name="E:\电影笔记\金刚\声音的艺术_插图\图7_ADR二次录音.jpg" descr="E:\电影笔记\金刚\声音的艺术_插图\图7_ADR二次录音.jpg"/>
          <p:cNvPicPr>
            <a:picLocks noChangeAspect="1"/>
          </p:cNvPicPr>
          <p:nvPr/>
        </p:nvPicPr>
        <p:blipFill>
          <a:blip r:embed="rId1"/>
          <a:stretch>
            <a:fillRect/>
          </a:stretch>
        </p:blipFill>
        <p:spPr>
          <a:xfrm>
            <a:off x="5271122" y="3071864"/>
            <a:ext cx="5254627" cy="3054352"/>
          </a:xfrm>
          <a:prstGeom prst="rect">
            <a:avLst/>
          </a:prstGeom>
          <a:ln w="12700">
            <a:miter lim="400000"/>
            <a:headEnd/>
            <a:tailEnd/>
          </a:ln>
        </p:spPr>
      </p:pic>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角色语言的艺术加工和创新"/>
          <p:cNvSpPr txBox="1">
            <a:spLocks noGrp="1"/>
          </p:cNvSpPr>
          <p:nvPr>
            <p:ph type="title"/>
          </p:nvPr>
        </p:nvSpPr>
        <p:spPr>
          <a:xfrm>
            <a:off x="1638809" y="442672"/>
            <a:ext cx="3029653" cy="3226849"/>
          </a:xfrm>
          <a:prstGeom prst="rect">
            <a:avLst/>
          </a:prstGeom>
        </p:spPr>
        <p:txBody>
          <a:bodyPr/>
          <a:lstStyle>
            <a:lvl1pPr>
              <a:defRPr>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角色语言的艺术加工和创新</a:t>
            </a:r>
          </a:p>
        </p:txBody>
      </p:sp>
      <p:sp>
        <p:nvSpPr>
          <p:cNvPr id="263" name="《海底总动员》的大鲨鱼，《卑鄙的我》中的minis ，经过多种变调和变速处理。…"/>
          <p:cNvSpPr txBox="1">
            <a:spLocks noGrp="1"/>
          </p:cNvSpPr>
          <p:nvPr>
            <p:ph type="body" sz="half" idx="1"/>
          </p:nvPr>
        </p:nvSpPr>
        <p:spPr>
          <a:xfrm>
            <a:off x="5415629" y="1239157"/>
            <a:ext cx="5214342" cy="4873628"/>
          </a:xfrm>
          <a:prstGeom prst="rect">
            <a:avLst/>
          </a:prstGeom>
        </p:spPr>
        <p:txBody>
          <a:bodyPr/>
          <a:lstStyle/>
          <a:p>
            <a:pPr marL="141605" indent="-141605" defTabSz="567055">
              <a:spcBef>
                <a:spcPts val="6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《海底总动员》的大鲨鱼，《卑鄙的我》中的</a:t>
            </a:r>
            <a:r>
              <a:rPr>
                <a:latin typeface="+mn-lt"/>
                <a:ea typeface="+mn-ea"/>
                <a:cs typeface="+mn-cs"/>
                <a:sym typeface="Calibri" panose="020F0502020204030204"/>
              </a:rPr>
              <a:t>minis </a:t>
            </a:r>
            <a:r>
              <a:t>，经过多种变调和变速处理。</a:t>
            </a:r>
          </a:p>
          <a:p>
            <a:pPr marL="141605" indent="-141605" defTabSz="567055">
              <a:spcBef>
                <a:spcPts val="6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41605" indent="-141605" defTabSz="567055">
              <a:spcBef>
                <a:spcPts val="6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《星球大战》的</a:t>
            </a:r>
            <a:r>
              <a:rPr>
                <a:latin typeface="+mn-lt"/>
                <a:ea typeface="+mn-ea"/>
                <a:cs typeface="+mn-cs"/>
                <a:sym typeface="Calibri" panose="020F0502020204030204"/>
              </a:rPr>
              <a:t>Geonosis</a:t>
            </a:r>
            <a:r>
              <a:t>星球人：菲利普岛的企鹅和狐蝠的混合声，澳洲野狗的声音，糖厂的机械声。</a:t>
            </a:r>
          </a:p>
          <a:p>
            <a:pPr marL="141605" indent="-141605" defTabSz="567055">
              <a:spcBef>
                <a:spcPts val="6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41605" indent="-141605" defTabSz="567055">
              <a:spcBef>
                <a:spcPts val="6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《阿凡达》的纳威语：影片中纳威人的语言体系拥有非常规范的语法规则和语言结构。其中包含有</a:t>
            </a:r>
            <a:r>
              <a:rPr>
                <a:latin typeface="+mn-lt"/>
                <a:ea typeface="+mn-ea"/>
                <a:cs typeface="+mn-cs"/>
                <a:sym typeface="Calibri" panose="020F0502020204030204"/>
              </a:rPr>
              <a:t>30</a:t>
            </a:r>
            <a:r>
              <a:t>个左右的纳威语词根。结合了印第安语，非洲，中亚以及高加索等地区的语言创造出纳威语。</a:t>
            </a:r>
          </a:p>
          <a:p>
            <a:pPr marL="141605" indent="-141605" defTabSz="567055">
              <a:spcBef>
                <a:spcPts val="600"/>
              </a:spcBef>
              <a:buChar char="○"/>
              <a:defRPr sz="19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41605" indent="-141605" defTabSz="567055">
              <a:spcBef>
                <a:spcPts val="600"/>
              </a:spcBef>
              <a:buChar char="○"/>
              <a:defRPr sz="1900"/>
            </a:pPr>
            <a:r>
              <a:t>……</a:t>
            </a: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音   乐"/>
          <p:cNvSpPr txBox="1">
            <a:spLocks noGrp="1"/>
          </p:cNvSpPr>
          <p:nvPr>
            <p:ph type="title"/>
          </p:nvPr>
        </p:nvSpPr>
        <p:spPr>
          <a:xfrm>
            <a:off x="4689626" y="239283"/>
            <a:ext cx="3932242" cy="1600203"/>
          </a:xfrm>
          <a:prstGeom prst="rect">
            <a:avLst/>
          </a:prstGeom>
        </p:spPr>
        <p:txBody>
          <a:bodyPr/>
          <a:lstStyle>
            <a:lvl1pPr>
              <a:defRPr sz="5300">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音   乐</a:t>
            </a:r>
          </a:p>
        </p:txBody>
      </p:sp>
      <p:pic>
        <p:nvPicPr>
          <p:cNvPr id="266" name="image.png" descr="image.png"/>
          <p:cNvPicPr>
            <a:picLocks noChangeAspect="1"/>
          </p:cNvPicPr>
          <p:nvPr/>
        </p:nvPicPr>
        <p:blipFill>
          <a:blip r:embed="rId1"/>
          <a:stretch>
            <a:fillRect/>
          </a:stretch>
        </p:blipFill>
        <p:spPr>
          <a:xfrm>
            <a:off x="1143835" y="1031060"/>
            <a:ext cx="9210087" cy="5876093"/>
          </a:xfrm>
          <a:prstGeom prst="rect">
            <a:avLst/>
          </a:prstGeom>
          <a:ln w="12700">
            <a:miter lim="400000"/>
            <a:headEnd/>
            <a:tailEnd/>
          </a:ln>
        </p:spPr>
      </p:pic>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音画关系"/>
          <p:cNvSpPr txBox="1">
            <a:spLocks noGrp="1"/>
          </p:cNvSpPr>
          <p:nvPr>
            <p:ph type="title"/>
          </p:nvPr>
        </p:nvSpPr>
        <p:spPr>
          <a:xfrm>
            <a:off x="712465" y="2144725"/>
            <a:ext cx="3932241" cy="1600202"/>
          </a:xfrm>
          <a:prstGeom prst="rect">
            <a:avLst/>
          </a:prstGeom>
        </p:spPr>
        <p:txBody>
          <a:bodyPr/>
          <a:lstStyle>
            <a:lvl1pPr>
              <a:defRPr sz="5200">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rPr dirty="0" err="1"/>
              <a:t>音画关系</a:t>
            </a:r>
            <a:endParaRPr dirty="0"/>
          </a:p>
        </p:txBody>
      </p:sp>
      <p:sp>
        <p:nvSpPr>
          <p:cNvPr id="269" name="音画同步：音乐和画面处于同一种运动节奏之中，或者是表现同一种形象和情绪色彩。…"/>
          <p:cNvSpPr txBox="1">
            <a:spLocks noGrp="1"/>
          </p:cNvSpPr>
          <p:nvPr>
            <p:ph type="body" idx="1"/>
          </p:nvPr>
        </p:nvSpPr>
        <p:spPr>
          <a:xfrm>
            <a:off x="3747541" y="539645"/>
            <a:ext cx="7781031" cy="6318355"/>
          </a:xfrm>
          <a:prstGeom prst="rect">
            <a:avLst/>
          </a:prstGeom>
        </p:spPr>
        <p:txBody>
          <a:bodyPr numCol="1">
            <a:normAutofit fontScale="85000" lnSpcReduction="10000"/>
          </a:bodyPr>
          <a:lstStyle/>
          <a:p>
            <a:pPr marL="259080" indent="-259080" defTabSz="868680">
              <a:lnSpc>
                <a:spcPct val="150000"/>
              </a:lnSpc>
              <a:spcBef>
                <a:spcPts val="900"/>
              </a:spcBef>
              <a:buChar char="○"/>
              <a:defRPr sz="20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dirty="0" err="1"/>
              <a:t>音画同步：音乐和画面处于同一种运动节奏之中，或者是表现同一种形象和情绪色彩</a:t>
            </a:r>
            <a:r>
              <a:rPr dirty="0"/>
              <a:t>。</a:t>
            </a:r>
            <a:endParaRPr b="1" dirty="0">
              <a:latin typeface="Century Schoolbook" panose="02040604050505020304"/>
              <a:ea typeface="Century Schoolbook" panose="02040604050505020304"/>
              <a:cs typeface="Century Schoolbook" panose="02040604050505020304"/>
              <a:sym typeface="Century Schoolbook" panose="02040604050505020304"/>
            </a:endParaRPr>
          </a:p>
          <a:p>
            <a:pPr marL="259080" indent="-259080" defTabSz="868680">
              <a:lnSpc>
                <a:spcPct val="150000"/>
              </a:lnSpc>
              <a:spcBef>
                <a:spcPts val="900"/>
              </a:spcBef>
              <a:defRPr sz="2000"/>
            </a:pPr>
            <a:r>
              <a:rPr dirty="0" err="1"/>
              <a:t>音乐只起着渲染、烘托气氛的作用，并不能给作品</a:t>
            </a:r>
            <a:r>
              <a:rPr dirty="0"/>
              <a:t>  </a:t>
            </a:r>
            <a:r>
              <a:rPr lang="zh-CN" altLang="en-US" dirty="0" smtClean="0"/>
              <a:t>，</a:t>
            </a:r>
            <a:r>
              <a:rPr dirty="0" smtClean="0"/>
              <a:t> </a:t>
            </a:r>
            <a:r>
              <a:rPr dirty="0" err="1" smtClean="0"/>
              <a:t>增加更多的叙事意义</a:t>
            </a:r>
            <a:r>
              <a:rPr dirty="0"/>
              <a:t>。</a:t>
            </a:r>
            <a:endParaRPr dirty="0">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259080" indent="-259080" defTabSz="868680">
              <a:lnSpc>
                <a:spcPct val="150000"/>
              </a:lnSpc>
              <a:spcBef>
                <a:spcPts val="900"/>
              </a:spcBef>
              <a:defRPr sz="2000">
                <a:latin typeface="华文楷体" panose="02010600040101010101" charset="-122"/>
                <a:ea typeface="华文楷体" panose="02010600040101010101" charset="-122"/>
                <a:cs typeface="华文楷体" panose="02010600040101010101" charset="-122"/>
                <a:sym typeface="华文楷体" panose="02010600040101010101" charset="-122"/>
              </a:defRPr>
            </a:pPr>
            <a:endParaRPr dirty="0">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259080" indent="-259080" defTabSz="868680">
              <a:lnSpc>
                <a:spcPct val="150000"/>
              </a:lnSpc>
              <a:spcBef>
                <a:spcPts val="900"/>
              </a:spcBef>
              <a:buChar char="○"/>
              <a:defRPr sz="20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dirty="0" err="1"/>
              <a:t>音画并行：音乐与画面所表达的内容有各自相对的独立性，呈平行发展关系</a:t>
            </a:r>
            <a:r>
              <a:rPr dirty="0"/>
              <a:t>。</a:t>
            </a:r>
            <a:endParaRPr b="1" dirty="0">
              <a:latin typeface="Century Schoolbook" panose="02040604050505020304"/>
              <a:ea typeface="Century Schoolbook" panose="02040604050505020304"/>
              <a:cs typeface="Century Schoolbook" panose="02040604050505020304"/>
              <a:sym typeface="Century Schoolbook" panose="02040604050505020304"/>
            </a:endParaRPr>
          </a:p>
          <a:p>
            <a:pPr marL="259080" indent="-259080" defTabSz="868680">
              <a:lnSpc>
                <a:spcPct val="150000"/>
              </a:lnSpc>
              <a:spcBef>
                <a:spcPts val="900"/>
              </a:spcBef>
              <a:defRPr sz="2000"/>
            </a:pPr>
            <a:r>
              <a:rPr dirty="0" err="1"/>
              <a:t>音乐超越于具体的画面、人物行为、甚至具体情节，以音乐的方式表现作品的主旨、某种象征性含义、某种哲理性感悟等</a:t>
            </a:r>
            <a:r>
              <a:rPr dirty="0"/>
              <a:t>。</a:t>
            </a:r>
            <a:endParaRPr dirty="0">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259080" indent="-259080" defTabSz="868680">
              <a:lnSpc>
                <a:spcPct val="150000"/>
              </a:lnSpc>
              <a:spcBef>
                <a:spcPts val="900"/>
              </a:spcBef>
              <a:defRPr sz="2000"/>
            </a:pPr>
            <a:r>
              <a:rPr dirty="0" err="1"/>
              <a:t>另一个意义上的并行也指专题片中的“中性”配乐，音乐是不折不扣的背景音乐，只具有形式美的功能</a:t>
            </a:r>
            <a:r>
              <a:rPr dirty="0"/>
              <a:t>。</a:t>
            </a:r>
            <a:endParaRPr dirty="0">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259080" indent="-259080" defTabSz="868680">
              <a:lnSpc>
                <a:spcPct val="150000"/>
              </a:lnSpc>
              <a:spcBef>
                <a:spcPts val="900"/>
              </a:spcBef>
              <a:defRPr sz="2000">
                <a:latin typeface="华文楷体" panose="02010600040101010101" charset="-122"/>
                <a:ea typeface="华文楷体" panose="02010600040101010101" charset="-122"/>
                <a:cs typeface="华文楷体" panose="02010600040101010101" charset="-122"/>
                <a:sym typeface="华文楷体" panose="02010600040101010101" charset="-122"/>
              </a:defRPr>
            </a:pPr>
            <a:endParaRPr dirty="0">
              <a:latin typeface="华文楷体" panose="02010600040101010101" charset="-122"/>
              <a:ea typeface="华文楷体" panose="02010600040101010101" charset="-122"/>
              <a:cs typeface="华文楷体" panose="02010600040101010101" charset="-122"/>
              <a:sym typeface="华文楷体" panose="02010600040101010101" charset="-122"/>
            </a:endParaRPr>
          </a:p>
          <a:p>
            <a:pPr marL="259080" indent="-259080" defTabSz="868680">
              <a:lnSpc>
                <a:spcPct val="150000"/>
              </a:lnSpc>
              <a:spcBef>
                <a:spcPts val="900"/>
              </a:spcBef>
              <a:buChar char="○"/>
              <a:defRPr sz="20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dirty="0" err="1"/>
              <a:t>音画对位：音乐与画面在情绪情感上是一种对比、对抗的关系，以强烈的反差产生震撼人心的艺术效果</a:t>
            </a:r>
            <a:r>
              <a:rPr dirty="0"/>
              <a:t>。</a:t>
            </a:r>
            <a:endParaRPr b="1" dirty="0">
              <a:latin typeface="Century Schoolbook" panose="02040604050505020304"/>
              <a:ea typeface="Century Schoolbook" panose="02040604050505020304"/>
              <a:cs typeface="Century Schoolbook" panose="02040604050505020304"/>
              <a:sym typeface="Century Schoolbook" panose="02040604050505020304"/>
            </a:endParaRPr>
          </a:p>
          <a:p>
            <a:pPr marL="259080" indent="-259080" defTabSz="868680">
              <a:lnSpc>
                <a:spcPct val="150000"/>
              </a:lnSpc>
              <a:spcBef>
                <a:spcPts val="900"/>
              </a:spcBef>
              <a:defRPr sz="2000"/>
            </a:pPr>
            <a:r>
              <a:rPr dirty="0" err="1"/>
              <a:t>如哀与乐、严肃与滑稽、崇高与卑微、紧张与松弛、虚与实的对位等待</a:t>
            </a:r>
            <a:r>
              <a:rPr dirty="0"/>
              <a:t>。</a:t>
            </a:r>
            <a:endParaRPr dirty="0"/>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音画同步的应用"/>
          <p:cNvSpPr txBox="1">
            <a:spLocks noGrp="1"/>
          </p:cNvSpPr>
          <p:nvPr>
            <p:ph type="title"/>
          </p:nvPr>
        </p:nvSpPr>
        <p:spPr>
          <a:xfrm>
            <a:off x="897897" y="2273161"/>
            <a:ext cx="3932242" cy="1600202"/>
          </a:xfrm>
          <a:prstGeom prst="rect">
            <a:avLst/>
          </a:prstGeom>
        </p:spPr>
        <p:txBody>
          <a:bodyPr/>
          <a:lstStyle>
            <a:lvl1pPr>
              <a:defRPr sz="4000">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音画同步的应用</a:t>
            </a:r>
          </a:p>
        </p:txBody>
      </p:sp>
      <p:sp>
        <p:nvSpPr>
          <p:cNvPr id="272" name="以音乐为依据编辑画面…"/>
          <p:cNvSpPr txBox="1">
            <a:spLocks noGrp="1"/>
          </p:cNvSpPr>
          <p:nvPr>
            <p:ph type="body" sz="half" idx="1"/>
          </p:nvPr>
        </p:nvSpPr>
        <p:spPr>
          <a:xfrm>
            <a:off x="5502795" y="992186"/>
            <a:ext cx="6172206" cy="4873628"/>
          </a:xfrm>
          <a:prstGeom prst="rect">
            <a:avLst/>
          </a:prstGeom>
        </p:spPr>
        <p:txBody>
          <a:bodyPr/>
          <a:lstStyle/>
          <a:p>
            <a:pPr marL="185420" indent="-185420" defTabSz="740410">
              <a:spcBef>
                <a:spcPts val="8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以音乐为依据编辑画面</a:t>
            </a:r>
          </a:p>
          <a:p>
            <a:pPr marL="185420" indent="-185420" defTabSz="740410">
              <a:spcBef>
                <a:spcPts val="8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音乐与画面长短一致</a:t>
            </a:r>
          </a:p>
          <a:p>
            <a:pPr marL="185420" indent="-185420" defTabSz="740410">
              <a:spcBef>
                <a:spcPts val="8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（粗）段落的一致</a:t>
            </a:r>
          </a:p>
          <a:p>
            <a:pPr marL="185420" indent="-185420" defTabSz="740410">
              <a:spcBef>
                <a:spcPts val="8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（细）乐句起伏、乐句长短、节奏、情绪与画面蒙太奇结构完全一致。</a:t>
            </a:r>
          </a:p>
          <a:p>
            <a:pPr marL="185420" indent="-185420" defTabSz="740410">
              <a:spcBef>
                <a:spcPts val="8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音画天衣无缝的巧妙协调，达到音画完美一致的满足与享受。</a:t>
            </a:r>
          </a:p>
          <a:p>
            <a:pPr marL="185420" indent="-185420" defTabSz="740410">
              <a:spcBef>
                <a:spcPts val="800"/>
              </a:spcBef>
              <a:buChar char="➢"/>
              <a:defRPr sz="25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85420" indent="-185420" defTabSz="740410">
              <a:spcBef>
                <a:spcPts val="800"/>
              </a:spcBef>
              <a:buChar char="◆"/>
              <a:defRPr sz="2500"/>
            </a:pPr>
            <a:r>
              <a:t>Logo</a:t>
            </a:r>
            <a:r>
              <a:rPr>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、片头、广告、动画片、</a:t>
            </a:r>
            <a:r>
              <a:t>mtv</a:t>
            </a:r>
            <a:r>
              <a:rPr>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对音画同步的要求最高。</a:t>
            </a:r>
            <a:endParaRPr>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endParaRPr>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声音的剪辑功能"/>
          <p:cNvSpPr txBox="1">
            <a:spLocks noGrp="1"/>
          </p:cNvSpPr>
          <p:nvPr>
            <p:ph type="title"/>
          </p:nvPr>
        </p:nvSpPr>
        <p:spPr>
          <a:xfrm>
            <a:off x="956008" y="2215051"/>
            <a:ext cx="3932242" cy="1600202"/>
          </a:xfrm>
          <a:prstGeom prst="rect">
            <a:avLst/>
          </a:prstGeom>
        </p:spPr>
        <p:txBody>
          <a:bodyPr/>
          <a:lstStyle>
            <a:lvl1pPr>
              <a:defRPr sz="3900">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t>声音的剪辑功能</a:t>
            </a:r>
          </a:p>
        </p:txBody>
      </p:sp>
      <p:sp>
        <p:nvSpPr>
          <p:cNvPr id="275" name="声音蒙太奇：声音的剪辑功能、组织画面功能。…"/>
          <p:cNvSpPr txBox="1">
            <a:spLocks noGrp="1"/>
          </p:cNvSpPr>
          <p:nvPr>
            <p:ph type="body" sz="half" idx="1"/>
          </p:nvPr>
        </p:nvSpPr>
        <p:spPr>
          <a:xfrm>
            <a:off x="4776411" y="906893"/>
            <a:ext cx="6339728" cy="5044214"/>
          </a:xfrm>
          <a:prstGeom prst="rect">
            <a:avLst/>
          </a:prstGeom>
        </p:spPr>
        <p:txBody>
          <a:bodyPr/>
          <a:lstStyle/>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声音蒙太奇：声音的剪辑功能、组织画面功能。</a:t>
            </a:r>
          </a:p>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声音作为剪辑的结构线索。</a:t>
            </a:r>
          </a:p>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声音作为剪辑点，在前一画面段落结束时的声音与后一段落开始时的声音一致或类似，以此作为画面时空转换的依据。</a:t>
            </a:r>
          </a:p>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p>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声音为画面提供一个统一的</a:t>
            </a:r>
            <a:r>
              <a:rPr>
                <a:latin typeface="+mn-lt"/>
                <a:ea typeface="+mn-ea"/>
                <a:cs typeface="+mn-cs"/>
                <a:sym typeface="Calibri" panose="020F0502020204030204"/>
              </a:rPr>
              <a:t>“</a:t>
            </a:r>
            <a:r>
              <a:t>背景</a:t>
            </a:r>
            <a:r>
              <a:rPr>
                <a:latin typeface="+mn-lt"/>
                <a:ea typeface="+mn-ea"/>
                <a:cs typeface="+mn-cs"/>
                <a:sym typeface="Calibri" panose="020F0502020204030204"/>
              </a:rPr>
              <a:t>”</a:t>
            </a:r>
            <a:r>
              <a:t>，把时空跳跃的画面组接，获得时空转换的逻辑性。</a:t>
            </a:r>
          </a:p>
          <a:p>
            <a:pPr marL="164465" indent="-164465" defTabSz="658495">
              <a:spcBef>
                <a:spcPts val="700"/>
              </a:spcBef>
              <a:buChar char="➢"/>
              <a:defRPr sz="23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顺时空</a:t>
            </a:r>
            <a:r>
              <a:rPr>
                <a:latin typeface="+mn-lt"/>
                <a:ea typeface="+mn-ea"/>
                <a:cs typeface="+mn-cs"/>
                <a:sym typeface="Calibri" panose="020F0502020204030204"/>
              </a:rPr>
              <a:t>/</a:t>
            </a:r>
            <a:r>
              <a:t>逆时空</a:t>
            </a:r>
            <a:r>
              <a:rPr>
                <a:latin typeface="+mn-lt"/>
                <a:ea typeface="+mn-ea"/>
                <a:cs typeface="+mn-cs"/>
                <a:sym typeface="Calibri" panose="020F0502020204030204"/>
              </a:rPr>
              <a:t>/</a:t>
            </a:r>
            <a:r>
              <a:t>超时空</a:t>
            </a:r>
            <a:r>
              <a:rPr>
                <a:latin typeface="+mn-lt"/>
                <a:ea typeface="+mn-ea"/>
                <a:cs typeface="+mn-cs"/>
                <a:sym typeface="Calibri" panose="020F0502020204030204"/>
              </a:rPr>
              <a:t>/</a:t>
            </a:r>
            <a:r>
              <a:t>交叉时空</a:t>
            </a: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声音与镜头的关系-同步"/>
          <p:cNvSpPr txBox="1">
            <a:spLocks noGrp="1"/>
          </p:cNvSpPr>
          <p:nvPr>
            <p:ph type="title"/>
          </p:nvPr>
        </p:nvSpPr>
        <p:spPr>
          <a:xfrm>
            <a:off x="2103696" y="602476"/>
            <a:ext cx="8334076" cy="1790595"/>
          </a:xfrm>
          <a:prstGeom prst="rect">
            <a:avLst/>
          </a:prstGeom>
        </p:spPr>
        <p:txBody>
          <a:bodyPr/>
          <a:lstStyle/>
          <a:p>
            <a:pPr>
              <a:defRPr sz="5200">
                <a:latin typeface="华文楷体" panose="02010600040101010101" charset="-122"/>
                <a:ea typeface="华文楷体" panose="02010600040101010101" charset="-122"/>
                <a:cs typeface="华文楷体" panose="02010600040101010101" charset="-122"/>
                <a:sym typeface="华文楷体" panose="02010600040101010101" charset="-122"/>
              </a:defRPr>
            </a:pPr>
            <a:r>
              <a:t>声音与镜头的关系</a:t>
            </a:r>
            <a:r>
              <a:rPr>
                <a:latin typeface="Calibri Light" panose="020F0302020204030204"/>
                <a:ea typeface="Calibri Light" panose="020F0302020204030204"/>
                <a:cs typeface="Calibri Light" panose="020F0302020204030204"/>
                <a:sym typeface="Calibri Light" panose="020F0302020204030204"/>
              </a:rPr>
              <a:t>-</a:t>
            </a:r>
            <a:r>
              <a:t>同步</a:t>
            </a:r>
          </a:p>
        </p:txBody>
      </p:sp>
      <p:grpSp>
        <p:nvGrpSpPr>
          <p:cNvPr id="299" name="成组"/>
          <p:cNvGrpSpPr/>
          <p:nvPr/>
        </p:nvGrpSpPr>
        <p:grpSpPr>
          <a:xfrm>
            <a:off x="2268366" y="2976205"/>
            <a:ext cx="6386834" cy="2090930"/>
            <a:chOff x="0" y="0"/>
            <a:chExt cx="6386833" cy="2090929"/>
          </a:xfrm>
        </p:grpSpPr>
        <p:grpSp>
          <p:nvGrpSpPr>
            <p:cNvPr id="285" name="成组"/>
            <p:cNvGrpSpPr/>
            <p:nvPr/>
          </p:nvGrpSpPr>
          <p:grpSpPr>
            <a:xfrm>
              <a:off x="1310002" y="652461"/>
              <a:ext cx="5073658" cy="215903"/>
              <a:chOff x="-1" y="-1"/>
              <a:chExt cx="5073656" cy="215902"/>
            </a:xfrm>
          </p:grpSpPr>
          <p:sp>
            <p:nvSpPr>
              <p:cNvPr id="278" name="线条"/>
              <p:cNvSpPr/>
              <p:nvPr/>
            </p:nvSpPr>
            <p:spPr>
              <a:xfrm>
                <a:off x="1587" y="214312"/>
                <a:ext cx="5070480" cy="1590"/>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79" name="线条"/>
              <p:cNvSpPr/>
              <p:nvPr/>
            </p:nvSpPr>
            <p:spPr>
              <a:xfrm flipH="1">
                <a:off x="-2" y="1588"/>
                <a:ext cx="1590" cy="21272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80" name="线条"/>
              <p:cNvSpPr/>
              <p:nvPr/>
            </p:nvSpPr>
            <p:spPr>
              <a:xfrm flipH="1">
                <a:off x="428626" y="-2"/>
                <a:ext cx="1590"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81" name="线条"/>
              <p:cNvSpPr/>
              <p:nvPr/>
            </p:nvSpPr>
            <p:spPr>
              <a:xfrm flipH="1">
                <a:off x="1785939" y="-2"/>
                <a:ext cx="1590"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82" name="线条"/>
              <p:cNvSpPr/>
              <p:nvPr/>
            </p:nvSpPr>
            <p:spPr>
              <a:xfrm flipH="1">
                <a:off x="2428877" y="-2"/>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83" name="线条"/>
              <p:cNvSpPr/>
              <p:nvPr/>
            </p:nvSpPr>
            <p:spPr>
              <a:xfrm flipH="1">
                <a:off x="3857628" y="-2"/>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84" name="线条"/>
              <p:cNvSpPr/>
              <p:nvPr/>
            </p:nvSpPr>
            <p:spPr>
              <a:xfrm flipH="1">
                <a:off x="5072066" y="-2"/>
                <a:ext cx="1590"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grpSp>
        <p:grpSp>
          <p:nvGrpSpPr>
            <p:cNvPr id="293" name="成组"/>
            <p:cNvGrpSpPr/>
            <p:nvPr/>
          </p:nvGrpSpPr>
          <p:grpSpPr>
            <a:xfrm>
              <a:off x="1311589" y="1223961"/>
              <a:ext cx="5075245" cy="215904"/>
              <a:chOff x="0" y="0"/>
              <a:chExt cx="5075244" cy="215903"/>
            </a:xfrm>
          </p:grpSpPr>
          <p:sp>
            <p:nvSpPr>
              <p:cNvPr id="286" name="线条"/>
              <p:cNvSpPr/>
              <p:nvPr/>
            </p:nvSpPr>
            <p:spPr>
              <a:xfrm>
                <a:off x="1589" y="214313"/>
                <a:ext cx="5072066" cy="1590"/>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87" name="线条"/>
              <p:cNvSpPr/>
              <p:nvPr/>
            </p:nvSpPr>
            <p:spPr>
              <a:xfrm flipH="1">
                <a:off x="-1" y="1587"/>
                <a:ext cx="1591" cy="212729"/>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88" name="线条"/>
              <p:cNvSpPr/>
              <p:nvPr/>
            </p:nvSpPr>
            <p:spPr>
              <a:xfrm flipH="1">
                <a:off x="430214" y="-1"/>
                <a:ext cx="1589"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89" name="线条"/>
              <p:cNvSpPr/>
              <p:nvPr/>
            </p:nvSpPr>
            <p:spPr>
              <a:xfrm flipH="1">
                <a:off x="1787527" y="-1"/>
                <a:ext cx="1590"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90" name="线条"/>
              <p:cNvSpPr/>
              <p:nvPr/>
            </p:nvSpPr>
            <p:spPr>
              <a:xfrm flipH="1">
                <a:off x="2430465" y="-1"/>
                <a:ext cx="1589"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91" name="线条"/>
              <p:cNvSpPr/>
              <p:nvPr/>
            </p:nvSpPr>
            <p:spPr>
              <a:xfrm flipH="1">
                <a:off x="3859216" y="-1"/>
                <a:ext cx="1589"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292" name="线条"/>
              <p:cNvSpPr/>
              <p:nvPr/>
            </p:nvSpPr>
            <p:spPr>
              <a:xfrm flipH="1">
                <a:off x="5073654" y="-1"/>
                <a:ext cx="1590"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grpSp>
        <p:sp>
          <p:nvSpPr>
            <p:cNvPr id="294" name="线条"/>
            <p:cNvSpPr/>
            <p:nvPr/>
          </p:nvSpPr>
          <p:spPr>
            <a:xfrm>
              <a:off x="740092" y="652462"/>
              <a:ext cx="260352" cy="78581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5635" y="0"/>
                    <a:pt x="10800" y="267"/>
                    <a:pt x="10800" y="596"/>
                  </a:cubicBezTo>
                  <a:lnTo>
                    <a:pt x="10800" y="10204"/>
                  </a:lnTo>
                  <a:cubicBezTo>
                    <a:pt x="10800" y="10533"/>
                    <a:pt x="5965" y="10800"/>
                    <a:pt x="0" y="10800"/>
                  </a:cubicBezTo>
                  <a:cubicBezTo>
                    <a:pt x="5965" y="10800"/>
                    <a:pt x="10800" y="11067"/>
                    <a:pt x="10800" y="11396"/>
                  </a:cubicBezTo>
                  <a:lnTo>
                    <a:pt x="10800" y="21004"/>
                  </a:lnTo>
                  <a:cubicBezTo>
                    <a:pt x="10800" y="21333"/>
                    <a:pt x="15635" y="21600"/>
                    <a:pt x="21600" y="21600"/>
                  </a:cubicBezTo>
                </a:path>
              </a:pathLst>
            </a:custGeom>
            <a:noFill/>
            <a:ln w="25400" cap="flat">
              <a:solidFill>
                <a:srgbClr val="B0CCB0"/>
              </a:solidFill>
              <a:prstDash val="solid"/>
              <a:round/>
            </a:ln>
            <a:effectLst>
              <a:outerShdw blurRad="50800" dist="12700" dir="5400000" rotWithShape="0">
                <a:srgbClr val="000000">
                  <a:alpha val="39999"/>
                </a:srgbClr>
              </a:outerShdw>
            </a:effectLst>
          </p:spPr>
          <p:txBody>
            <a:bodyPr wrap="square" lIns="45718" tIns="45718" rIns="45718" bIns="45718" numCol="1" anchor="ctr">
              <a:noAutofit/>
            </a:bodyPr>
            <a:lstStyle/>
            <a:p>
              <a:pPr algn="ctr">
                <a:defRPr>
                  <a:latin typeface="Century Schoolbook" panose="02040604050505020304"/>
                  <a:ea typeface="Century Schoolbook" panose="02040604050505020304"/>
                  <a:cs typeface="Century Schoolbook" panose="02040604050505020304"/>
                  <a:sym typeface="Century Schoolbook" panose="02040604050505020304"/>
                </a:defRPr>
              </a:pPr>
            </a:p>
          </p:txBody>
        </p:sp>
        <p:sp>
          <p:nvSpPr>
            <p:cNvPr id="295" name="画面"/>
            <p:cNvSpPr txBox="1"/>
            <p:nvPr/>
          </p:nvSpPr>
          <p:spPr>
            <a:xfrm>
              <a:off x="0" y="581024"/>
              <a:ext cx="554968" cy="408939"/>
            </a:xfrm>
            <a:prstGeom prst="rect">
              <a:avLst/>
            </a:prstGeom>
            <a:noFill/>
            <a:ln w="12700" cap="flat">
              <a:noFill/>
              <a:miter lim="400000"/>
            </a:ln>
            <a:effectLst/>
          </p:spPr>
          <p:txBody>
            <a:bodyPr wrap="square" lIns="45718" tIns="45718" rIns="45718" bIns="45718" numCol="1" anchor="t">
              <a:spAutoFit/>
            </a:bodyPr>
            <a:lstStyle>
              <a:lvl1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画面</a:t>
              </a:r>
            </a:p>
          </p:txBody>
        </p:sp>
        <p:sp>
          <p:nvSpPr>
            <p:cNvPr id="296" name="声音"/>
            <p:cNvSpPr txBox="1"/>
            <p:nvPr/>
          </p:nvSpPr>
          <p:spPr>
            <a:xfrm>
              <a:off x="0" y="1140383"/>
              <a:ext cx="554968" cy="408939"/>
            </a:xfrm>
            <a:prstGeom prst="rect">
              <a:avLst/>
            </a:prstGeom>
            <a:noFill/>
            <a:ln w="12700" cap="flat">
              <a:noFill/>
              <a:miter lim="400000"/>
            </a:ln>
            <a:effectLst/>
          </p:spPr>
          <p:txBody>
            <a:bodyPr wrap="square" lIns="45718" tIns="45718" rIns="45718" bIns="45718" numCol="1" anchor="t">
              <a:spAutoFit/>
            </a:bodyPr>
            <a:lstStyle>
              <a:lvl1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声音</a:t>
              </a:r>
            </a:p>
          </p:txBody>
        </p:sp>
        <p:pic>
          <p:nvPicPr>
            <p:cNvPr id="297" name="image.png" descr="image.png"/>
            <p:cNvPicPr>
              <a:picLocks noChangeAspect="1"/>
            </p:cNvPicPr>
            <p:nvPr/>
          </p:nvPicPr>
          <p:blipFill>
            <a:blip r:embed="rId1"/>
            <a:stretch>
              <a:fillRect/>
            </a:stretch>
          </p:blipFill>
          <p:spPr>
            <a:xfrm>
              <a:off x="3057714" y="-1"/>
              <a:ext cx="1341123" cy="609602"/>
            </a:xfrm>
            <a:prstGeom prst="rect">
              <a:avLst/>
            </a:prstGeom>
            <a:ln w="12700" cap="flat">
              <a:noFill/>
              <a:miter lim="400000"/>
              <a:headEnd/>
              <a:tailEnd/>
            </a:ln>
            <a:effectLst/>
          </p:spPr>
        </p:pic>
        <p:pic>
          <p:nvPicPr>
            <p:cNvPr id="298" name="image.png" descr="image.png"/>
            <p:cNvPicPr>
              <a:picLocks noChangeAspect="1"/>
            </p:cNvPicPr>
            <p:nvPr/>
          </p:nvPicPr>
          <p:blipFill>
            <a:blip r:embed="rId2"/>
            <a:stretch>
              <a:fillRect/>
            </a:stretch>
          </p:blipFill>
          <p:spPr>
            <a:xfrm>
              <a:off x="3088195" y="1517903"/>
              <a:ext cx="1164339" cy="573027"/>
            </a:xfrm>
            <a:prstGeom prst="rect">
              <a:avLst/>
            </a:prstGeom>
            <a:ln w="12700" cap="flat">
              <a:noFill/>
              <a:miter lim="400000"/>
              <a:headEnd/>
              <a:tailEnd/>
            </a:ln>
            <a:effectLst/>
          </p:spPr>
        </p:pic>
      </p:gr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声音与镜头的关系-非同步"/>
          <p:cNvSpPr txBox="1">
            <a:spLocks noGrp="1"/>
          </p:cNvSpPr>
          <p:nvPr>
            <p:ph type="title"/>
          </p:nvPr>
        </p:nvSpPr>
        <p:spPr>
          <a:xfrm>
            <a:off x="2394249" y="79478"/>
            <a:ext cx="8612508" cy="1715006"/>
          </a:xfrm>
          <a:prstGeom prst="rect">
            <a:avLst/>
          </a:prstGeom>
        </p:spPr>
        <p:txBody>
          <a:bodyPr/>
          <a:lstStyle/>
          <a:p>
            <a:pPr>
              <a:defRPr sz="4600">
                <a:latin typeface="华文楷体" panose="02010600040101010101" charset="-122"/>
                <a:ea typeface="华文楷体" panose="02010600040101010101" charset="-122"/>
                <a:cs typeface="华文楷体" panose="02010600040101010101" charset="-122"/>
                <a:sym typeface="华文楷体" panose="02010600040101010101" charset="-122"/>
              </a:defRPr>
            </a:pPr>
            <a:r>
              <a:t>声音与镜头的关系</a:t>
            </a:r>
            <a:r>
              <a:rPr>
                <a:latin typeface="Calibri Light" panose="020F0302020204030204"/>
                <a:ea typeface="Calibri Light" panose="020F0302020204030204"/>
                <a:cs typeface="Calibri Light" panose="020F0302020204030204"/>
                <a:sym typeface="Calibri Light" panose="020F0302020204030204"/>
              </a:rPr>
              <a:t>-</a:t>
            </a:r>
            <a:r>
              <a:t>非同步</a:t>
            </a:r>
          </a:p>
        </p:txBody>
      </p:sp>
      <p:grpSp>
        <p:nvGrpSpPr>
          <p:cNvPr id="319" name="成组"/>
          <p:cNvGrpSpPr/>
          <p:nvPr/>
        </p:nvGrpSpPr>
        <p:grpSpPr>
          <a:xfrm>
            <a:off x="2210255" y="2174670"/>
            <a:ext cx="8254112" cy="2891322"/>
            <a:chOff x="0" y="0"/>
            <a:chExt cx="8254111" cy="2891320"/>
          </a:xfrm>
        </p:grpSpPr>
        <p:sp>
          <p:nvSpPr>
            <p:cNvPr id="302" name="线条"/>
            <p:cNvSpPr/>
            <p:nvPr/>
          </p:nvSpPr>
          <p:spPr>
            <a:xfrm>
              <a:off x="1693003" y="1214728"/>
              <a:ext cx="6554953" cy="205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03" name="线条"/>
            <p:cNvSpPr/>
            <p:nvPr/>
          </p:nvSpPr>
          <p:spPr>
            <a:xfrm flipH="1">
              <a:off x="1693003" y="939809"/>
              <a:ext cx="2053" cy="276973"/>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04" name="线条"/>
            <p:cNvSpPr/>
            <p:nvPr/>
          </p:nvSpPr>
          <p:spPr>
            <a:xfrm flipH="1">
              <a:off x="3172226" y="937758"/>
              <a:ext cx="2055" cy="276972"/>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05" name="线条"/>
            <p:cNvSpPr/>
            <p:nvPr/>
          </p:nvSpPr>
          <p:spPr>
            <a:xfrm flipH="1">
              <a:off x="5572631" y="937758"/>
              <a:ext cx="2054" cy="276972"/>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06" name="线条"/>
            <p:cNvSpPr/>
            <p:nvPr/>
          </p:nvSpPr>
          <p:spPr>
            <a:xfrm flipH="1">
              <a:off x="8247955" y="937758"/>
              <a:ext cx="2054" cy="276972"/>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07" name="线条"/>
            <p:cNvSpPr/>
            <p:nvPr/>
          </p:nvSpPr>
          <p:spPr>
            <a:xfrm>
              <a:off x="1697106" y="1953315"/>
              <a:ext cx="6554954" cy="205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08" name="线条"/>
            <p:cNvSpPr/>
            <p:nvPr/>
          </p:nvSpPr>
          <p:spPr>
            <a:xfrm flipH="1">
              <a:off x="1695054" y="1678396"/>
              <a:ext cx="2054" cy="276973"/>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09" name="线条"/>
            <p:cNvSpPr/>
            <p:nvPr/>
          </p:nvSpPr>
          <p:spPr>
            <a:xfrm flipH="1">
              <a:off x="2710611" y="1676345"/>
              <a:ext cx="2053" cy="276972"/>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10" name="线条"/>
            <p:cNvSpPr/>
            <p:nvPr/>
          </p:nvSpPr>
          <p:spPr>
            <a:xfrm flipH="1">
              <a:off x="6034248" y="1676345"/>
              <a:ext cx="2053" cy="276972"/>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11" name="线条"/>
            <p:cNvSpPr/>
            <p:nvPr/>
          </p:nvSpPr>
          <p:spPr>
            <a:xfrm flipH="1">
              <a:off x="8252057" y="1676345"/>
              <a:ext cx="2055" cy="276972"/>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12" name="线条"/>
            <p:cNvSpPr/>
            <p:nvPr/>
          </p:nvSpPr>
          <p:spPr>
            <a:xfrm>
              <a:off x="956468" y="937758"/>
              <a:ext cx="336470" cy="101555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5635" y="0"/>
                    <a:pt x="10800" y="267"/>
                    <a:pt x="10800" y="596"/>
                  </a:cubicBezTo>
                  <a:lnTo>
                    <a:pt x="10800" y="10204"/>
                  </a:lnTo>
                  <a:cubicBezTo>
                    <a:pt x="10800" y="10533"/>
                    <a:pt x="5965" y="10800"/>
                    <a:pt x="0" y="10800"/>
                  </a:cubicBezTo>
                  <a:cubicBezTo>
                    <a:pt x="5965" y="10800"/>
                    <a:pt x="10800" y="11067"/>
                    <a:pt x="10800" y="11396"/>
                  </a:cubicBezTo>
                  <a:lnTo>
                    <a:pt x="10800" y="21004"/>
                  </a:lnTo>
                  <a:cubicBezTo>
                    <a:pt x="10800" y="21333"/>
                    <a:pt x="15635" y="21600"/>
                    <a:pt x="21600" y="21600"/>
                  </a:cubicBezTo>
                </a:path>
              </a:pathLst>
            </a:custGeom>
            <a:noFill/>
            <a:ln w="25400" cap="flat">
              <a:solidFill>
                <a:srgbClr val="B0CCB0"/>
              </a:solidFill>
              <a:prstDash val="solid"/>
              <a:round/>
            </a:ln>
            <a:effectLst>
              <a:outerShdw blurRad="50800" dist="12700" dir="5400000" rotWithShape="0">
                <a:srgbClr val="000000">
                  <a:alpha val="39999"/>
                </a:srgbClr>
              </a:outerShdw>
            </a:effectLst>
          </p:spPr>
          <p:txBody>
            <a:bodyPr wrap="square" lIns="45718" tIns="45718" rIns="45718" bIns="45718" numCol="1" anchor="ctr">
              <a:noAutofit/>
            </a:bodyPr>
            <a:lstStyle/>
            <a:p>
              <a:pPr algn="ctr">
                <a:defRPr>
                  <a:latin typeface="Century Schoolbook" panose="02040604050505020304"/>
                  <a:ea typeface="Century Schoolbook" panose="02040604050505020304"/>
                  <a:cs typeface="Century Schoolbook" panose="02040604050505020304"/>
                  <a:sym typeface="Century Schoolbook" panose="02040604050505020304"/>
                </a:defRPr>
              </a:pPr>
            </a:p>
          </p:txBody>
        </p:sp>
        <p:sp>
          <p:nvSpPr>
            <p:cNvPr id="313" name="画面"/>
            <p:cNvSpPr txBox="1"/>
            <p:nvPr/>
          </p:nvSpPr>
          <p:spPr>
            <a:xfrm>
              <a:off x="0" y="845435"/>
              <a:ext cx="725457" cy="408939"/>
            </a:xfrm>
            <a:prstGeom prst="rect">
              <a:avLst/>
            </a:prstGeom>
            <a:noFill/>
            <a:ln w="12700" cap="flat">
              <a:noFill/>
              <a:miter lim="400000"/>
            </a:ln>
            <a:effectLst/>
          </p:spPr>
          <p:txBody>
            <a:bodyPr wrap="square" lIns="45718" tIns="45718" rIns="45718" bIns="45718" numCol="1" anchor="t">
              <a:spAutoFit/>
            </a:bodyPr>
            <a:lstStyle>
              <a:lvl1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画面</a:t>
              </a:r>
            </a:p>
          </p:txBody>
        </p:sp>
        <p:sp>
          <p:nvSpPr>
            <p:cNvPr id="314" name="声音"/>
            <p:cNvSpPr txBox="1"/>
            <p:nvPr/>
          </p:nvSpPr>
          <p:spPr>
            <a:xfrm>
              <a:off x="0" y="1568330"/>
              <a:ext cx="725457" cy="408939"/>
            </a:xfrm>
            <a:prstGeom prst="rect">
              <a:avLst/>
            </a:prstGeom>
            <a:noFill/>
            <a:ln w="12700" cap="flat">
              <a:noFill/>
              <a:miter lim="400000"/>
            </a:ln>
            <a:effectLst/>
          </p:spPr>
          <p:txBody>
            <a:bodyPr wrap="square" lIns="45718" tIns="45718" rIns="45718" bIns="45718" numCol="1" anchor="t">
              <a:spAutoFit/>
            </a:bodyPr>
            <a:lstStyle>
              <a:lvl1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声音</a:t>
              </a:r>
            </a:p>
          </p:txBody>
        </p:sp>
        <p:pic>
          <p:nvPicPr>
            <p:cNvPr id="315" name="image.png" descr="image.png"/>
            <p:cNvPicPr>
              <a:picLocks noChangeAspect="1"/>
            </p:cNvPicPr>
            <p:nvPr/>
          </p:nvPicPr>
          <p:blipFill>
            <a:blip r:embed="rId1"/>
            <a:stretch>
              <a:fillRect/>
            </a:stretch>
          </p:blipFill>
          <p:spPr>
            <a:xfrm>
              <a:off x="5519453" y="0"/>
              <a:ext cx="1733217" cy="787826"/>
            </a:xfrm>
            <a:prstGeom prst="rect">
              <a:avLst/>
            </a:prstGeom>
            <a:ln w="12700" cap="flat">
              <a:noFill/>
              <a:miter lim="400000"/>
              <a:headEnd/>
              <a:tailEnd/>
            </a:ln>
            <a:effectLst/>
          </p:spPr>
        </p:pic>
        <p:pic>
          <p:nvPicPr>
            <p:cNvPr id="316" name="image.png" descr="image.png"/>
            <p:cNvPicPr>
              <a:picLocks noChangeAspect="1"/>
            </p:cNvPicPr>
            <p:nvPr/>
          </p:nvPicPr>
          <p:blipFill>
            <a:blip r:embed="rId2"/>
            <a:stretch>
              <a:fillRect/>
            </a:stretch>
          </p:blipFill>
          <p:spPr>
            <a:xfrm>
              <a:off x="2699039" y="2150764"/>
              <a:ext cx="1504749" cy="740557"/>
            </a:xfrm>
            <a:prstGeom prst="rect">
              <a:avLst/>
            </a:prstGeom>
            <a:ln w="12700" cap="flat">
              <a:noFill/>
              <a:miter lim="400000"/>
              <a:headEnd/>
              <a:tailEnd/>
            </a:ln>
            <a:effectLst/>
          </p:spPr>
        </p:pic>
        <p:pic>
          <p:nvPicPr>
            <p:cNvPr id="317" name="image.png" descr="image.png"/>
            <p:cNvPicPr>
              <a:picLocks noChangeAspect="1"/>
            </p:cNvPicPr>
            <p:nvPr/>
          </p:nvPicPr>
          <p:blipFill>
            <a:blip r:embed="rId3"/>
            <a:stretch>
              <a:fillRect/>
            </a:stretch>
          </p:blipFill>
          <p:spPr>
            <a:xfrm>
              <a:off x="5929122" y="2150764"/>
              <a:ext cx="1504748" cy="740557"/>
            </a:xfrm>
            <a:prstGeom prst="rect">
              <a:avLst/>
            </a:prstGeom>
            <a:ln w="12700" cap="flat">
              <a:noFill/>
              <a:miter lim="400000"/>
              <a:headEnd/>
              <a:tailEnd/>
            </a:ln>
            <a:effectLst/>
          </p:spPr>
        </p:pic>
        <p:pic>
          <p:nvPicPr>
            <p:cNvPr id="318" name="image.png" descr="image.png"/>
            <p:cNvPicPr>
              <a:picLocks noChangeAspect="1"/>
            </p:cNvPicPr>
            <p:nvPr/>
          </p:nvPicPr>
          <p:blipFill>
            <a:blip r:embed="rId4"/>
            <a:stretch>
              <a:fillRect/>
            </a:stretch>
          </p:blipFill>
          <p:spPr>
            <a:xfrm>
              <a:off x="3211125" y="0"/>
              <a:ext cx="1733218" cy="787826"/>
            </a:xfrm>
            <a:prstGeom prst="rect">
              <a:avLst/>
            </a:prstGeom>
            <a:ln w="12700" cap="flat">
              <a:noFill/>
              <a:miter lim="400000"/>
              <a:headEnd/>
              <a:tailEnd/>
            </a:ln>
            <a:effectLst/>
          </p:spPr>
        </p:pic>
      </p:grpSp>
      <p:sp>
        <p:nvSpPr>
          <p:cNvPr id="320" name="也可以是声音在画面后入，声音先于画面结束。"/>
          <p:cNvSpPr txBox="1"/>
          <p:nvPr/>
        </p:nvSpPr>
        <p:spPr>
          <a:xfrm>
            <a:off x="3376929" y="5446179"/>
            <a:ext cx="5438139" cy="447039"/>
          </a:xfrm>
          <a:prstGeom prst="rect">
            <a:avLst/>
          </a:prstGeom>
          <a:ln w="12700">
            <a:miter lim="400000"/>
          </a:ln>
        </p:spPr>
        <p:txBody>
          <a:bodyPr wrap="none" lIns="45718" tIns="45718" rIns="45718" bIns="45718">
            <a:spAutoFit/>
          </a:bodyPr>
          <a:lstStyle>
            <a:lvl1pPr>
              <a:defRPr sz="20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也可以是声音在画面后入，声音先于画面结束。</a:t>
            </a: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声音与镜头的关系-持续的声音对应于多个镜头"/>
          <p:cNvSpPr txBox="1">
            <a:spLocks noGrp="1"/>
          </p:cNvSpPr>
          <p:nvPr>
            <p:ph type="title"/>
          </p:nvPr>
        </p:nvSpPr>
        <p:spPr>
          <a:xfrm>
            <a:off x="1544346" y="-271511"/>
            <a:ext cx="10614188" cy="1600203"/>
          </a:xfrm>
          <a:prstGeom prst="rect">
            <a:avLst/>
          </a:prstGeom>
        </p:spPr>
        <p:txBody>
          <a:bodyPr/>
          <a:lstStyle/>
          <a:p>
            <a:pPr>
              <a:defRPr sz="3700">
                <a:latin typeface="华文楷体" panose="02010600040101010101" charset="-122"/>
                <a:ea typeface="华文楷体" panose="02010600040101010101" charset="-122"/>
                <a:cs typeface="华文楷体" panose="02010600040101010101" charset="-122"/>
                <a:sym typeface="华文楷体" panose="02010600040101010101" charset="-122"/>
              </a:defRPr>
            </a:pPr>
            <a:r>
              <a:t>声音与镜头的关系</a:t>
            </a:r>
            <a:r>
              <a:rPr>
                <a:latin typeface="Calibri Light" panose="020F0302020204030204"/>
                <a:ea typeface="Calibri Light" panose="020F0302020204030204"/>
                <a:cs typeface="Calibri Light" panose="020F0302020204030204"/>
                <a:sym typeface="Calibri Light" panose="020F0302020204030204"/>
              </a:rPr>
              <a:t>-</a:t>
            </a:r>
            <a:r>
              <a:t>持续的声音对应于多个镜头</a:t>
            </a:r>
          </a:p>
        </p:txBody>
      </p:sp>
      <p:sp>
        <p:nvSpPr>
          <p:cNvPr id="323" name="Shape 74"/>
          <p:cNvSpPr txBox="1">
            <a:spLocks noGrp="1"/>
          </p:cNvSpPr>
          <p:nvPr>
            <p:ph type="body" sz="quarter" idx="1"/>
          </p:nvPr>
        </p:nvSpPr>
        <p:spPr>
          <a:xfrm>
            <a:off x="1507130" y="3608387"/>
            <a:ext cx="3932250" cy="3811590"/>
          </a:xfrm>
          <a:prstGeom prst="rect">
            <a:avLst/>
          </a:prstGeom>
        </p:spPr>
        <p:txBody>
          <a:bodyPr/>
          <a:lstStyle/>
          <a:p>
            <a:pPr>
              <a:defRPr sz="2800"/>
            </a:pPr>
          </a:p>
        </p:txBody>
      </p:sp>
      <p:sp>
        <p:nvSpPr>
          <p:cNvPr id="324" name="线条"/>
          <p:cNvSpPr/>
          <p:nvPr/>
        </p:nvSpPr>
        <p:spPr>
          <a:xfrm>
            <a:off x="3808412" y="2285999"/>
            <a:ext cx="5072064" cy="1590"/>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25" name="线条"/>
          <p:cNvSpPr/>
          <p:nvPr/>
        </p:nvSpPr>
        <p:spPr>
          <a:xfrm flipH="1">
            <a:off x="3806824" y="20716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26" name="线条"/>
          <p:cNvSpPr/>
          <p:nvPr/>
        </p:nvSpPr>
        <p:spPr>
          <a:xfrm flipH="1">
            <a:off x="4524374" y="20716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27" name="线条"/>
          <p:cNvSpPr/>
          <p:nvPr/>
        </p:nvSpPr>
        <p:spPr>
          <a:xfrm flipH="1">
            <a:off x="5881687" y="20716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28" name="线条"/>
          <p:cNvSpPr/>
          <p:nvPr/>
        </p:nvSpPr>
        <p:spPr>
          <a:xfrm flipH="1">
            <a:off x="7238999" y="2071686"/>
            <a:ext cx="1590"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29" name="线条"/>
          <p:cNvSpPr/>
          <p:nvPr/>
        </p:nvSpPr>
        <p:spPr>
          <a:xfrm flipH="1">
            <a:off x="7666036" y="20716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30" name="线条"/>
          <p:cNvSpPr/>
          <p:nvPr/>
        </p:nvSpPr>
        <p:spPr>
          <a:xfrm flipH="1">
            <a:off x="8880474" y="2071686"/>
            <a:ext cx="1590"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31" name="线条"/>
          <p:cNvSpPr/>
          <p:nvPr/>
        </p:nvSpPr>
        <p:spPr>
          <a:xfrm>
            <a:off x="3809998" y="2857499"/>
            <a:ext cx="5073652" cy="1589"/>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32" name="线条"/>
          <p:cNvSpPr/>
          <p:nvPr/>
        </p:nvSpPr>
        <p:spPr>
          <a:xfrm flipH="1">
            <a:off x="3809999" y="26431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33" name="线条"/>
          <p:cNvSpPr/>
          <p:nvPr/>
        </p:nvSpPr>
        <p:spPr>
          <a:xfrm flipH="1">
            <a:off x="4238624" y="26431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34" name="线条"/>
          <p:cNvSpPr/>
          <p:nvPr/>
        </p:nvSpPr>
        <p:spPr>
          <a:xfrm flipH="1">
            <a:off x="5595937" y="26431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35" name="线条"/>
          <p:cNvSpPr/>
          <p:nvPr/>
        </p:nvSpPr>
        <p:spPr>
          <a:xfrm flipH="1">
            <a:off x="6240462" y="26431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36" name="线条"/>
          <p:cNvSpPr/>
          <p:nvPr/>
        </p:nvSpPr>
        <p:spPr>
          <a:xfrm flipH="1">
            <a:off x="7669211" y="26431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37" name="线条"/>
          <p:cNvSpPr/>
          <p:nvPr/>
        </p:nvSpPr>
        <p:spPr>
          <a:xfrm flipH="1">
            <a:off x="8883649" y="2643186"/>
            <a:ext cx="1590"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38" name="线条"/>
          <p:cNvSpPr/>
          <p:nvPr/>
        </p:nvSpPr>
        <p:spPr>
          <a:xfrm>
            <a:off x="3238500" y="2071686"/>
            <a:ext cx="260351" cy="78581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5635" y="0"/>
                  <a:pt x="10800" y="267"/>
                  <a:pt x="10800" y="596"/>
                </a:cubicBezTo>
                <a:lnTo>
                  <a:pt x="10800" y="10204"/>
                </a:lnTo>
                <a:cubicBezTo>
                  <a:pt x="10800" y="10533"/>
                  <a:pt x="5965" y="10800"/>
                  <a:pt x="0" y="10800"/>
                </a:cubicBezTo>
                <a:cubicBezTo>
                  <a:pt x="5965" y="10800"/>
                  <a:pt x="10800" y="11067"/>
                  <a:pt x="10800" y="11396"/>
                </a:cubicBezTo>
                <a:lnTo>
                  <a:pt x="10800" y="21004"/>
                </a:lnTo>
                <a:cubicBezTo>
                  <a:pt x="10800" y="21333"/>
                  <a:pt x="15635" y="21600"/>
                  <a:pt x="21600" y="21600"/>
                </a:cubicBezTo>
              </a:path>
            </a:pathLst>
          </a:custGeom>
          <a:ln w="25400">
            <a:solidFill>
              <a:srgbClr val="B0CCB0"/>
            </a:solidFill>
          </a:ln>
          <a:effectLst>
            <a:outerShdw blurRad="50800" dist="12700" dir="5400000" rotWithShape="0">
              <a:srgbClr val="000000">
                <a:alpha val="39999"/>
              </a:srgbClr>
            </a:outerShdw>
          </a:effectLst>
        </p:spPr>
        <p:txBody>
          <a:bodyPr lIns="45718" tIns="45718" rIns="45718" bIns="45718" anchor="ctr"/>
          <a:lstStyle/>
          <a:p>
            <a:pPr algn="ctr">
              <a:defRPr>
                <a:latin typeface="Century Schoolbook" panose="02040604050505020304"/>
                <a:ea typeface="Century Schoolbook" panose="02040604050505020304"/>
                <a:cs typeface="Century Schoolbook" panose="02040604050505020304"/>
                <a:sym typeface="Century Schoolbook" panose="02040604050505020304"/>
              </a:defRPr>
            </a:pPr>
          </a:p>
        </p:txBody>
      </p:sp>
      <p:sp>
        <p:nvSpPr>
          <p:cNvPr id="339" name="画面"/>
          <p:cNvSpPr txBox="1"/>
          <p:nvPr/>
        </p:nvSpPr>
        <p:spPr>
          <a:xfrm>
            <a:off x="2498406" y="2000250"/>
            <a:ext cx="554675" cy="408939"/>
          </a:xfrm>
          <a:prstGeom prst="rect">
            <a:avLst/>
          </a:prstGeom>
          <a:ln w="12700">
            <a:miter lim="400000"/>
          </a:ln>
        </p:spPr>
        <p:txBody>
          <a:bodyPr lIns="45718" tIns="45718" rIns="45718" bIns="45718">
            <a:spAutoFit/>
          </a:bodyPr>
          <a:lstStyle>
            <a:lvl1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画面</a:t>
            </a:r>
          </a:p>
        </p:txBody>
      </p:sp>
      <p:sp>
        <p:nvSpPr>
          <p:cNvPr id="340" name="声音"/>
          <p:cNvSpPr txBox="1"/>
          <p:nvPr/>
        </p:nvSpPr>
        <p:spPr>
          <a:xfrm>
            <a:off x="2498406" y="2559050"/>
            <a:ext cx="554675" cy="408939"/>
          </a:xfrm>
          <a:prstGeom prst="rect">
            <a:avLst/>
          </a:prstGeom>
          <a:ln w="12700">
            <a:miter lim="400000"/>
          </a:ln>
        </p:spPr>
        <p:txBody>
          <a:bodyPr lIns="45718" tIns="45718" rIns="45718" bIns="45718">
            <a:spAutoFit/>
          </a:bodyPr>
          <a:lstStyle>
            <a:lvl1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声音</a:t>
            </a:r>
          </a:p>
        </p:txBody>
      </p:sp>
      <p:pic>
        <p:nvPicPr>
          <p:cNvPr id="341" name="image.png" descr="image.png"/>
          <p:cNvPicPr>
            <a:picLocks noChangeAspect="1"/>
          </p:cNvPicPr>
          <p:nvPr/>
        </p:nvPicPr>
        <p:blipFill>
          <a:blip r:embed="rId1"/>
          <a:stretch>
            <a:fillRect/>
          </a:stretch>
        </p:blipFill>
        <p:spPr>
          <a:xfrm>
            <a:off x="5913437" y="1414462"/>
            <a:ext cx="1341439" cy="500063"/>
          </a:xfrm>
          <a:prstGeom prst="rect">
            <a:avLst/>
          </a:prstGeom>
          <a:ln w="12700">
            <a:miter lim="400000"/>
            <a:headEnd/>
            <a:tailEnd/>
          </a:ln>
        </p:spPr>
      </p:pic>
      <p:pic>
        <p:nvPicPr>
          <p:cNvPr id="342" name="image.png" descr="image.png"/>
          <p:cNvPicPr>
            <a:picLocks noChangeAspect="1"/>
          </p:cNvPicPr>
          <p:nvPr/>
        </p:nvPicPr>
        <p:blipFill>
          <a:blip r:embed="rId2"/>
          <a:stretch>
            <a:fillRect/>
          </a:stretch>
        </p:blipFill>
        <p:spPr>
          <a:xfrm>
            <a:off x="5585617" y="3028997"/>
            <a:ext cx="1311277" cy="573089"/>
          </a:xfrm>
          <a:prstGeom prst="rect">
            <a:avLst/>
          </a:prstGeom>
          <a:ln w="12700">
            <a:miter lim="400000"/>
            <a:headEnd/>
            <a:tailEnd/>
          </a:ln>
        </p:spPr>
      </p:pic>
      <p:sp>
        <p:nvSpPr>
          <p:cNvPr id="343" name="线条"/>
          <p:cNvSpPr/>
          <p:nvPr/>
        </p:nvSpPr>
        <p:spPr>
          <a:xfrm flipH="1">
            <a:off x="8024811" y="2071686"/>
            <a:ext cx="1589" cy="214315"/>
          </a:xfrm>
          <a:prstGeom prst="line">
            <a:avLst/>
          </a:prstGeom>
          <a:ln w="25400">
            <a:solidFill>
              <a:srgbClr val="72A376"/>
            </a:solidFill>
          </a:ln>
          <a:effectLst>
            <a:outerShdw blurRad="50800" dist="12700" dir="5400000" rotWithShape="0">
              <a:srgbClr val="000000">
                <a:alpha val="41999"/>
              </a:srgbClr>
            </a:outerShdw>
          </a:effectLst>
        </p:spPr>
        <p:txBody>
          <a:bodyPr lIns="45718" tIns="45718" rIns="45718" bIns="45718"/>
          <a:lstStyle/>
          <a:p/>
        </p:txBody>
      </p:sp>
      <p:sp>
        <p:nvSpPr>
          <p:cNvPr id="344" name="多层时空关系"/>
          <p:cNvSpPr txBox="1"/>
          <p:nvPr/>
        </p:nvSpPr>
        <p:spPr>
          <a:xfrm>
            <a:off x="2169073" y="3608388"/>
            <a:ext cx="1475739" cy="408939"/>
          </a:xfrm>
          <a:prstGeom prst="rect">
            <a:avLst/>
          </a:prstGeom>
          <a:ln w="12700">
            <a:miter lim="400000"/>
          </a:ln>
        </p:spPr>
        <p:txBody>
          <a:bodyPr wrap="none" lIns="45718" tIns="45718" rIns="45718" bIns="45718">
            <a:spAutoFit/>
          </a:bodyPr>
          <a:lstStyle>
            <a:lvl1pPr>
              <a:defRPr>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多层时空关系</a:t>
            </a:r>
          </a:p>
        </p:txBody>
      </p:sp>
      <p:grpSp>
        <p:nvGrpSpPr>
          <p:cNvPr id="375" name="成组"/>
          <p:cNvGrpSpPr/>
          <p:nvPr/>
        </p:nvGrpSpPr>
        <p:grpSpPr>
          <a:xfrm>
            <a:off x="2284095" y="4344987"/>
            <a:ext cx="6599557" cy="1695248"/>
            <a:chOff x="0" y="0"/>
            <a:chExt cx="6599556" cy="1695247"/>
          </a:xfrm>
        </p:grpSpPr>
        <p:sp>
          <p:nvSpPr>
            <p:cNvPr id="345" name="线条"/>
            <p:cNvSpPr/>
            <p:nvPr/>
          </p:nvSpPr>
          <p:spPr>
            <a:xfrm>
              <a:off x="1525904" y="298450"/>
              <a:ext cx="5072066" cy="1588"/>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46" name="线条"/>
            <p:cNvSpPr/>
            <p:nvPr/>
          </p:nvSpPr>
          <p:spPr>
            <a:xfrm flipH="1">
              <a:off x="1524316" y="84137"/>
              <a:ext cx="3177"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47" name="线条"/>
            <p:cNvSpPr/>
            <p:nvPr/>
          </p:nvSpPr>
          <p:spPr>
            <a:xfrm flipH="1">
              <a:off x="2241867" y="84137"/>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48" name="线条"/>
            <p:cNvSpPr/>
            <p:nvPr/>
          </p:nvSpPr>
          <p:spPr>
            <a:xfrm flipH="1">
              <a:off x="3599179" y="84137"/>
              <a:ext cx="1590"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49" name="线条"/>
            <p:cNvSpPr/>
            <p:nvPr/>
          </p:nvSpPr>
          <p:spPr>
            <a:xfrm flipH="1">
              <a:off x="5240655" y="84137"/>
              <a:ext cx="1590"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0" name="线条"/>
            <p:cNvSpPr/>
            <p:nvPr/>
          </p:nvSpPr>
          <p:spPr>
            <a:xfrm flipH="1">
              <a:off x="6597967" y="84137"/>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1" name="线条"/>
            <p:cNvSpPr/>
            <p:nvPr/>
          </p:nvSpPr>
          <p:spPr>
            <a:xfrm flipH="1">
              <a:off x="5742304" y="84137"/>
              <a:ext cx="1590"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2" name="线条"/>
            <p:cNvSpPr/>
            <p:nvPr/>
          </p:nvSpPr>
          <p:spPr>
            <a:xfrm>
              <a:off x="1525904" y="1154112"/>
              <a:ext cx="5072066" cy="1590"/>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3" name="线条"/>
            <p:cNvSpPr/>
            <p:nvPr/>
          </p:nvSpPr>
          <p:spPr>
            <a:xfrm flipH="1">
              <a:off x="1524317" y="939801"/>
              <a:ext cx="3177" cy="214313"/>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4" name="线条"/>
            <p:cNvSpPr/>
            <p:nvPr/>
          </p:nvSpPr>
          <p:spPr>
            <a:xfrm flipH="1">
              <a:off x="2883217" y="941388"/>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5" name="线条"/>
            <p:cNvSpPr/>
            <p:nvPr/>
          </p:nvSpPr>
          <p:spPr>
            <a:xfrm flipH="1">
              <a:off x="3311842" y="941388"/>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6" name="线条"/>
            <p:cNvSpPr/>
            <p:nvPr/>
          </p:nvSpPr>
          <p:spPr>
            <a:xfrm flipH="1">
              <a:off x="4454841" y="941388"/>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7" name="线条"/>
            <p:cNvSpPr/>
            <p:nvPr/>
          </p:nvSpPr>
          <p:spPr>
            <a:xfrm flipH="1">
              <a:off x="6597968" y="939801"/>
              <a:ext cx="1589" cy="214313"/>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8" name="线条"/>
            <p:cNvSpPr/>
            <p:nvPr/>
          </p:nvSpPr>
          <p:spPr>
            <a:xfrm flipH="1">
              <a:off x="5597842" y="941388"/>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59" name="线条"/>
            <p:cNvSpPr/>
            <p:nvPr/>
          </p:nvSpPr>
          <p:spPr>
            <a:xfrm>
              <a:off x="1524317" y="725486"/>
              <a:ext cx="5072065" cy="1591"/>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0" name="线条"/>
            <p:cNvSpPr/>
            <p:nvPr/>
          </p:nvSpPr>
          <p:spPr>
            <a:xfrm flipH="1">
              <a:off x="1522729" y="511174"/>
              <a:ext cx="1590"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1" name="线条"/>
            <p:cNvSpPr/>
            <p:nvPr/>
          </p:nvSpPr>
          <p:spPr>
            <a:xfrm flipH="1">
              <a:off x="2240280" y="511174"/>
              <a:ext cx="1590"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2" name="线条"/>
            <p:cNvSpPr/>
            <p:nvPr/>
          </p:nvSpPr>
          <p:spPr>
            <a:xfrm flipH="1">
              <a:off x="3597593" y="511174"/>
              <a:ext cx="1589"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3" name="线条"/>
            <p:cNvSpPr/>
            <p:nvPr/>
          </p:nvSpPr>
          <p:spPr>
            <a:xfrm flipH="1">
              <a:off x="5239069" y="511174"/>
              <a:ext cx="1589"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4" name="线条"/>
            <p:cNvSpPr/>
            <p:nvPr/>
          </p:nvSpPr>
          <p:spPr>
            <a:xfrm flipH="1">
              <a:off x="6596380" y="511174"/>
              <a:ext cx="1590"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5" name="线条"/>
            <p:cNvSpPr/>
            <p:nvPr/>
          </p:nvSpPr>
          <p:spPr>
            <a:xfrm flipH="1">
              <a:off x="5740718" y="511174"/>
              <a:ext cx="1589"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6" name="线条"/>
            <p:cNvSpPr/>
            <p:nvPr/>
          </p:nvSpPr>
          <p:spPr>
            <a:xfrm>
              <a:off x="1525904" y="1584327"/>
              <a:ext cx="5072066" cy="1588"/>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7" name="线条"/>
            <p:cNvSpPr/>
            <p:nvPr/>
          </p:nvSpPr>
          <p:spPr>
            <a:xfrm flipH="1">
              <a:off x="1524316" y="1370014"/>
              <a:ext cx="3177"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8" name="线条"/>
            <p:cNvSpPr/>
            <p:nvPr/>
          </p:nvSpPr>
          <p:spPr>
            <a:xfrm flipH="1">
              <a:off x="3883342" y="1370014"/>
              <a:ext cx="1589"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69" name="线条"/>
            <p:cNvSpPr/>
            <p:nvPr/>
          </p:nvSpPr>
          <p:spPr>
            <a:xfrm flipH="1">
              <a:off x="6597967" y="1370014"/>
              <a:ext cx="1589"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70" name="线条"/>
            <p:cNvSpPr/>
            <p:nvPr/>
          </p:nvSpPr>
          <p:spPr>
            <a:xfrm flipH="1">
              <a:off x="5955030" y="1370014"/>
              <a:ext cx="1590" cy="214314"/>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71" name="画面"/>
            <p:cNvSpPr txBox="1"/>
            <p:nvPr/>
          </p:nvSpPr>
          <p:spPr>
            <a:xfrm>
              <a:off x="214312" y="-1"/>
              <a:ext cx="554888" cy="408939"/>
            </a:xfrm>
            <a:prstGeom prst="rect">
              <a:avLst/>
            </a:prstGeom>
            <a:noFill/>
            <a:ln w="12700" cap="flat">
              <a:noFill/>
              <a:miter lim="400000"/>
            </a:ln>
            <a:effectLst/>
          </p:spPr>
          <p:txBody>
            <a:bodyPr wrap="square" lIns="45718" tIns="45718" rIns="45718" bIns="45718" numCol="1" anchor="t">
              <a:spAutoFit/>
            </a:bodyPr>
            <a:lstStyle>
              <a:lvl1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画面</a:t>
              </a:r>
            </a:p>
          </p:txBody>
        </p:sp>
        <p:sp>
          <p:nvSpPr>
            <p:cNvPr id="372" name="第一层声音"/>
            <p:cNvSpPr txBox="1"/>
            <p:nvPr/>
          </p:nvSpPr>
          <p:spPr>
            <a:xfrm>
              <a:off x="0" y="369453"/>
              <a:ext cx="1408748" cy="408939"/>
            </a:xfrm>
            <a:prstGeom prst="rect">
              <a:avLst/>
            </a:prstGeom>
            <a:noFill/>
            <a:ln w="12700" cap="flat">
              <a:noFill/>
              <a:miter lim="400000"/>
            </a:ln>
            <a:effectLst/>
          </p:spPr>
          <p:txBody>
            <a:bodyPr wrap="square" lIns="45718" tIns="45718" rIns="45718" bIns="45718" numCol="1" anchor="t">
              <a:spAutoFit/>
            </a:bodyPr>
            <a:lstStyle>
              <a:lvl1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第一层声音</a:t>
              </a:r>
            </a:p>
          </p:txBody>
        </p:sp>
        <p:sp>
          <p:nvSpPr>
            <p:cNvPr id="373" name="第二层声音"/>
            <p:cNvSpPr txBox="1"/>
            <p:nvPr/>
          </p:nvSpPr>
          <p:spPr>
            <a:xfrm>
              <a:off x="0" y="798223"/>
              <a:ext cx="1408748" cy="408939"/>
            </a:xfrm>
            <a:prstGeom prst="rect">
              <a:avLst/>
            </a:prstGeom>
            <a:noFill/>
            <a:ln w="12700" cap="flat">
              <a:noFill/>
              <a:miter lim="400000"/>
            </a:ln>
            <a:effectLst/>
          </p:spPr>
          <p:txBody>
            <a:bodyPr wrap="square" lIns="45718" tIns="45718" rIns="45718" bIns="45718" numCol="1" anchor="t">
              <a:spAutoFit/>
            </a:bodyPr>
            <a:lstStyle>
              <a:lvl1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第二层声音</a:t>
              </a:r>
            </a:p>
          </p:txBody>
        </p:sp>
        <p:sp>
          <p:nvSpPr>
            <p:cNvPr id="374" name="第n层声音"/>
            <p:cNvSpPr txBox="1"/>
            <p:nvPr/>
          </p:nvSpPr>
          <p:spPr>
            <a:xfrm>
              <a:off x="0" y="1286309"/>
              <a:ext cx="1408748" cy="408939"/>
            </a:xfrm>
            <a:prstGeom prst="rect">
              <a:avLst/>
            </a:prstGeom>
            <a:noFill/>
            <a:ln w="12700" cap="flat">
              <a:noFill/>
              <a:miter lim="400000"/>
            </a:ln>
            <a:effectLst/>
          </p:spPr>
          <p:txBody>
            <a:bodyPr wrap="square" lIns="45718" tIns="45718" rIns="45718" bIns="45718" numCol="1" anchor="t">
              <a:spAutoFit/>
            </a:bodyPr>
            <a:lstStyle/>
            <a:p>
              <a:pPr>
                <a:defRPr>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t>第</a:t>
              </a:r>
              <a:r>
                <a:rPr>
                  <a:latin typeface="Century Schoolbook" panose="02040604050505020304"/>
                  <a:ea typeface="Century Schoolbook" panose="02040604050505020304"/>
                  <a:cs typeface="Century Schoolbook" panose="02040604050505020304"/>
                  <a:sym typeface="Century Schoolbook" panose="02040604050505020304"/>
                </a:rPr>
                <a:t>n</a:t>
              </a:r>
              <a:r>
                <a:t>层声音</a:t>
              </a:r>
            </a:p>
          </p:txBody>
        </p:sp>
      </p:gr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声音与镜头的关系-声画无确定的对应关系"/>
          <p:cNvSpPr txBox="1">
            <a:spLocks noGrp="1"/>
          </p:cNvSpPr>
          <p:nvPr>
            <p:ph type="title"/>
          </p:nvPr>
        </p:nvSpPr>
        <p:spPr>
          <a:xfrm>
            <a:off x="1580698" y="471726"/>
            <a:ext cx="10096749" cy="1764888"/>
          </a:xfrm>
          <a:prstGeom prst="rect">
            <a:avLst/>
          </a:prstGeom>
        </p:spPr>
        <p:txBody>
          <a:bodyPr/>
          <a:lstStyle/>
          <a:p>
            <a:pPr>
              <a:defRPr sz="3800">
                <a:latin typeface="华文楷体" panose="02010600040101010101" charset="-122"/>
                <a:ea typeface="华文楷体" panose="02010600040101010101" charset="-122"/>
                <a:cs typeface="华文楷体" panose="02010600040101010101" charset="-122"/>
                <a:sym typeface="华文楷体" panose="02010600040101010101" charset="-122"/>
              </a:defRPr>
            </a:pPr>
            <a:r>
              <a:t>声音与镜头的关系</a:t>
            </a:r>
            <a:r>
              <a:rPr>
                <a:latin typeface="Calibri Light" panose="020F0302020204030204"/>
                <a:ea typeface="Calibri Light" panose="020F0302020204030204"/>
                <a:cs typeface="Calibri Light" panose="020F0302020204030204"/>
                <a:sym typeface="Calibri Light" panose="020F0302020204030204"/>
              </a:rPr>
              <a:t>-</a:t>
            </a:r>
            <a:r>
              <a:t>声画无确定的对应关系</a:t>
            </a:r>
          </a:p>
        </p:txBody>
      </p:sp>
      <p:grpSp>
        <p:nvGrpSpPr>
          <p:cNvPr id="395" name="成组"/>
          <p:cNvGrpSpPr/>
          <p:nvPr/>
        </p:nvGrpSpPr>
        <p:grpSpPr>
          <a:xfrm>
            <a:off x="2303425" y="3569493"/>
            <a:ext cx="7169472" cy="787404"/>
            <a:chOff x="0" y="-1"/>
            <a:chExt cx="7169469" cy="787403"/>
          </a:xfrm>
        </p:grpSpPr>
        <p:grpSp>
          <p:nvGrpSpPr>
            <p:cNvPr id="391" name="成组"/>
            <p:cNvGrpSpPr/>
            <p:nvPr/>
          </p:nvGrpSpPr>
          <p:grpSpPr>
            <a:xfrm>
              <a:off x="2089468" y="-2"/>
              <a:ext cx="5080002" cy="787405"/>
              <a:chOff x="0" y="-1"/>
              <a:chExt cx="5080001" cy="787403"/>
            </a:xfrm>
          </p:grpSpPr>
          <p:sp>
            <p:nvSpPr>
              <p:cNvPr id="378" name="线条"/>
              <p:cNvSpPr/>
              <p:nvPr/>
            </p:nvSpPr>
            <p:spPr>
              <a:xfrm>
                <a:off x="1586" y="214313"/>
                <a:ext cx="5072066" cy="1588"/>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79" name="线条"/>
              <p:cNvSpPr/>
              <p:nvPr/>
            </p:nvSpPr>
            <p:spPr>
              <a:xfrm flipH="1">
                <a:off x="-1" y="1586"/>
                <a:ext cx="1588"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0" name="线条"/>
              <p:cNvSpPr/>
              <p:nvPr/>
            </p:nvSpPr>
            <p:spPr>
              <a:xfrm flipH="1">
                <a:off x="790575" y="-2"/>
                <a:ext cx="1589"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1" name="线条"/>
              <p:cNvSpPr/>
              <p:nvPr/>
            </p:nvSpPr>
            <p:spPr>
              <a:xfrm flipH="1">
                <a:off x="2219324" y="-2"/>
                <a:ext cx="1589"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2" name="线条"/>
              <p:cNvSpPr/>
              <p:nvPr/>
            </p:nvSpPr>
            <p:spPr>
              <a:xfrm flipH="1">
                <a:off x="3648075" y="-2"/>
                <a:ext cx="1589"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3" name="线条"/>
              <p:cNvSpPr/>
              <p:nvPr/>
            </p:nvSpPr>
            <p:spPr>
              <a:xfrm flipH="1">
                <a:off x="4148137" y="-2"/>
                <a:ext cx="1590"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4" name="线条"/>
              <p:cNvSpPr/>
              <p:nvPr/>
            </p:nvSpPr>
            <p:spPr>
              <a:xfrm flipH="1">
                <a:off x="5073650" y="-2"/>
                <a:ext cx="1589" cy="214316"/>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5" name="线条"/>
              <p:cNvSpPr/>
              <p:nvPr/>
            </p:nvSpPr>
            <p:spPr>
              <a:xfrm>
                <a:off x="6349" y="785815"/>
                <a:ext cx="5072064" cy="1588"/>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6" name="线条"/>
              <p:cNvSpPr/>
              <p:nvPr/>
            </p:nvSpPr>
            <p:spPr>
              <a:xfrm flipH="1">
                <a:off x="4760" y="571500"/>
                <a:ext cx="1590"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7" name="线条"/>
              <p:cNvSpPr/>
              <p:nvPr/>
            </p:nvSpPr>
            <p:spPr>
              <a:xfrm flipH="1">
                <a:off x="576261" y="571500"/>
                <a:ext cx="1590"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8" name="线条"/>
              <p:cNvSpPr/>
              <p:nvPr/>
            </p:nvSpPr>
            <p:spPr>
              <a:xfrm flipH="1">
                <a:off x="2219324" y="571500"/>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89" name="线条"/>
              <p:cNvSpPr/>
              <p:nvPr/>
            </p:nvSpPr>
            <p:spPr>
              <a:xfrm flipH="1">
                <a:off x="3863975" y="571500"/>
                <a:ext cx="1589"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sp>
            <p:nvSpPr>
              <p:cNvPr id="390" name="线条"/>
              <p:cNvSpPr/>
              <p:nvPr/>
            </p:nvSpPr>
            <p:spPr>
              <a:xfrm flipH="1">
                <a:off x="5078412" y="571500"/>
                <a:ext cx="1590" cy="214315"/>
              </a:xfrm>
              <a:prstGeom prst="line">
                <a:avLst/>
              </a:prstGeom>
              <a:noFill/>
              <a:ln w="25400" cap="flat">
                <a:solidFill>
                  <a:srgbClr val="72A376"/>
                </a:solidFill>
                <a:prstDash val="solid"/>
                <a:round/>
              </a:ln>
              <a:effectLst>
                <a:outerShdw blurRad="50800" dist="12700" dir="5400000" rotWithShape="0">
                  <a:srgbClr val="000000">
                    <a:alpha val="41999"/>
                  </a:srgbClr>
                </a:outerShdw>
              </a:effectLst>
            </p:spPr>
            <p:txBody>
              <a:bodyPr wrap="square" lIns="45718" tIns="45718" rIns="45718" bIns="45718" numCol="1" anchor="t">
                <a:noAutofit/>
              </a:bodyPr>
              <a:lstStyle/>
              <a:p/>
            </p:txBody>
          </p:sp>
        </p:grpSp>
        <p:sp>
          <p:nvSpPr>
            <p:cNvPr id="392" name="线条"/>
            <p:cNvSpPr/>
            <p:nvPr/>
          </p:nvSpPr>
          <p:spPr>
            <a:xfrm>
              <a:off x="1479868" y="-1"/>
              <a:ext cx="260352" cy="78581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5635" y="0"/>
                    <a:pt x="10800" y="267"/>
                    <a:pt x="10800" y="596"/>
                  </a:cubicBezTo>
                  <a:lnTo>
                    <a:pt x="10800" y="10204"/>
                  </a:lnTo>
                  <a:cubicBezTo>
                    <a:pt x="10800" y="10533"/>
                    <a:pt x="5965" y="10800"/>
                    <a:pt x="0" y="10800"/>
                  </a:cubicBezTo>
                  <a:cubicBezTo>
                    <a:pt x="5965" y="10800"/>
                    <a:pt x="10800" y="11067"/>
                    <a:pt x="10800" y="11396"/>
                  </a:cubicBezTo>
                  <a:lnTo>
                    <a:pt x="10800" y="21004"/>
                  </a:lnTo>
                  <a:cubicBezTo>
                    <a:pt x="10800" y="21333"/>
                    <a:pt x="15635" y="21600"/>
                    <a:pt x="21600" y="21600"/>
                  </a:cubicBezTo>
                </a:path>
              </a:pathLst>
            </a:custGeom>
            <a:noFill/>
            <a:ln w="25400" cap="flat">
              <a:solidFill>
                <a:srgbClr val="B0CCB0"/>
              </a:solidFill>
              <a:prstDash val="solid"/>
              <a:round/>
            </a:ln>
            <a:effectLst>
              <a:outerShdw blurRad="50800" dist="12700" dir="5400000" rotWithShape="0">
                <a:srgbClr val="000000">
                  <a:alpha val="39999"/>
                </a:srgbClr>
              </a:outerShdw>
            </a:effectLst>
          </p:spPr>
          <p:txBody>
            <a:bodyPr wrap="square" lIns="45718" tIns="45718" rIns="45718" bIns="45718" numCol="1" anchor="ctr">
              <a:noAutofit/>
            </a:bodyPr>
            <a:lstStyle/>
            <a:p>
              <a:pPr algn="ctr">
                <a:defRPr>
                  <a:latin typeface="Century Schoolbook" panose="02040604050505020304"/>
                  <a:ea typeface="Century Schoolbook" panose="02040604050505020304"/>
                  <a:cs typeface="Century Schoolbook" panose="02040604050505020304"/>
                  <a:sym typeface="Century Schoolbook" panose="02040604050505020304"/>
                </a:defRPr>
              </a:pPr>
            </a:p>
          </p:txBody>
        </p:sp>
        <p:sp>
          <p:nvSpPr>
            <p:cNvPr id="393" name="画面"/>
            <p:cNvSpPr txBox="1"/>
            <p:nvPr/>
          </p:nvSpPr>
          <p:spPr>
            <a:xfrm>
              <a:off x="0" y="-1"/>
              <a:ext cx="1480186" cy="345439"/>
            </a:xfrm>
            <a:prstGeom prst="rect">
              <a:avLst/>
            </a:prstGeom>
            <a:noFill/>
            <a:ln w="12700" cap="flat">
              <a:noFill/>
              <a:miter lim="400000"/>
            </a:ln>
            <a:effectLst/>
          </p:spPr>
          <p:txBody>
            <a:bodyPr wrap="square" lIns="45718" tIns="45718" rIns="45718" bIns="45718" numCol="1" anchor="t">
              <a:spAutoFit/>
            </a:bodyPr>
            <a:lstStyle>
              <a:lvl1pPr>
                <a:defRPr sz="1400">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画面</a:t>
              </a:r>
            </a:p>
          </p:txBody>
        </p:sp>
        <p:sp>
          <p:nvSpPr>
            <p:cNvPr id="394" name="超叙事时空的声音"/>
            <p:cNvSpPr txBox="1"/>
            <p:nvPr/>
          </p:nvSpPr>
          <p:spPr>
            <a:xfrm>
              <a:off x="-1" y="428624"/>
              <a:ext cx="1694500" cy="345439"/>
            </a:xfrm>
            <a:prstGeom prst="rect">
              <a:avLst/>
            </a:prstGeom>
            <a:noFill/>
            <a:ln w="12700" cap="flat">
              <a:noFill/>
              <a:miter lim="400000"/>
            </a:ln>
            <a:effectLst/>
          </p:spPr>
          <p:txBody>
            <a:bodyPr wrap="square" lIns="45718" tIns="45718" rIns="45718" bIns="45718" numCol="1" anchor="t">
              <a:spAutoFit/>
            </a:bodyPr>
            <a:lstStyle>
              <a:lvl1pPr>
                <a:defRPr sz="1400">
                  <a:solidFill>
                    <a:srgbClr val="0070C0"/>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超叙事时空的声音</a:t>
              </a:r>
            </a:p>
          </p:txBody>
        </p:sp>
      </p:gr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中近景medium close shot——腰以上…"/>
          <p:cNvSpPr txBox="1">
            <a:spLocks noGrp="1"/>
          </p:cNvSpPr>
          <p:nvPr>
            <p:ph type="subTitle" idx="1"/>
          </p:nvPr>
        </p:nvSpPr>
        <p:spPr>
          <a:xfrm>
            <a:off x="1485896" y="1953786"/>
            <a:ext cx="9858432" cy="5514488"/>
          </a:xfrm>
          <a:prstGeom prst="rect">
            <a:avLst/>
          </a:prstGeom>
        </p:spPr>
        <p:txBody>
          <a:bodyPr/>
          <a:lstStyle>
            <a:lvl1pPr algn="l" defTabSz="457200">
              <a:lnSpc>
                <a:spcPct val="100000"/>
              </a:lnSpc>
              <a:spcBef>
                <a:spcPts val="0"/>
              </a:spcBef>
              <a:defRPr sz="2900">
                <a:solidFill>
                  <a:srgbClr val="333333"/>
                </a:solidFill>
                <a:latin typeface="Arial" panose="020B0604020202090204"/>
                <a:ea typeface="Arial" panose="020B0604020202090204"/>
                <a:cs typeface="Arial" panose="020B0604020202090204"/>
                <a:sym typeface="Arial" panose="020B0604020202090204"/>
              </a:defRPr>
            </a:lvl1pPr>
          </a:lstStyle>
          <a:p>
            <a:r>
              <a:t>       —部影片的绝大部分声音都由客观写实性声音构成，它主要有声画同步、声音提前、声音滞后、声音转换、声音的淡出淡入和声音的切出切入等几种具体的技巧。</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397">
                                            <p:txEl>
                                              <p:pRg st="0" end="0"/>
                                            </p:txEl>
                                          </p:spTgt>
                                        </p:tgtEl>
                                        <p:attrNameLst>
                                          <p:attrName>style.visibility</p:attrName>
                                        </p:attrNameLst>
                                      </p:cBhvr>
                                      <p:to>
                                        <p:strVal val="visible"/>
                                      </p:to>
                                    </p:set>
                                    <p:animEffect transition="in" filter="wipe(left)">
                                      <p:cBhvr>
                                        <p:cTn id="7" dur="500"/>
                                        <p:tgtEl>
                                          <p:spTgt spid="39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 grpId="1" animBg="1" advAuto="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中景组"/>
          <p:cNvSpPr txBox="1">
            <a:spLocks noGrp="1"/>
          </p:cNvSpPr>
          <p:nvPr>
            <p:ph type="ctrTitle"/>
          </p:nvPr>
        </p:nvSpPr>
        <p:spPr>
          <a:xfrm>
            <a:off x="1503988" y="-223006"/>
            <a:ext cx="9144000" cy="2387601"/>
          </a:xfrm>
          <a:prstGeom prst="rect">
            <a:avLst/>
          </a:prstGeom>
        </p:spPr>
        <p:txBody>
          <a:bodyPr/>
          <a:lstStyle>
            <a:lvl1pPr defTabSz="457200">
              <a:lnSpc>
                <a:spcPct val="100000"/>
              </a:lnSpc>
              <a:defRPr sz="4800">
                <a:solidFill>
                  <a:srgbClr val="333333"/>
                </a:solidFill>
                <a:latin typeface="Verdana" panose="020B0604030504040204"/>
                <a:ea typeface="Verdana" panose="020B0604030504040204"/>
                <a:cs typeface="Verdana" panose="020B0604030504040204"/>
                <a:sym typeface="Verdana" panose="020B0604030504040204"/>
              </a:defRPr>
            </a:lvl1pPr>
          </a:lstStyle>
          <a:p>
            <a:r>
              <a:rPr dirty="0" err="1"/>
              <a:t>声画同步</a:t>
            </a:r>
            <a:endParaRPr dirty="0"/>
          </a:p>
        </p:txBody>
      </p:sp>
      <p:sp>
        <p:nvSpPr>
          <p:cNvPr id="400" name="中近景medium close shot——腰以上…"/>
          <p:cNvSpPr txBox="1">
            <a:spLocks noGrp="1"/>
          </p:cNvSpPr>
          <p:nvPr>
            <p:ph type="subTitle" sz="half" idx="1"/>
          </p:nvPr>
        </p:nvSpPr>
        <p:spPr>
          <a:xfrm>
            <a:off x="1503988" y="2977813"/>
            <a:ext cx="9995152" cy="2494715"/>
          </a:xfrm>
          <a:prstGeom prst="rect">
            <a:avLst/>
          </a:prstGeom>
        </p:spPr>
        <p:txBody>
          <a:bodyPr/>
          <a:lstStyle/>
          <a:p>
            <a:pPr algn="l" defTabSz="434340">
              <a:lnSpc>
                <a:spcPct val="150000"/>
              </a:lnSpc>
              <a:spcBef>
                <a:spcPts val="0"/>
              </a:spcBef>
              <a:defRPr sz="1700">
                <a:solidFill>
                  <a:srgbClr val="333333"/>
                </a:solidFill>
                <a:latin typeface="Verdana" panose="020B0604030504040204"/>
                <a:ea typeface="Verdana" panose="020B0604030504040204"/>
                <a:cs typeface="Verdana" panose="020B0604030504040204"/>
                <a:sym typeface="Verdana" panose="020B0604030504040204"/>
              </a:defRPr>
            </a:pPr>
            <a:endParaRPr dirty="0"/>
          </a:p>
          <a:p>
            <a:pPr algn="l" defTabSz="434340">
              <a:lnSpc>
                <a:spcPct val="150000"/>
              </a:lnSpc>
              <a:spcBef>
                <a:spcPts val="0"/>
              </a:spcBef>
              <a:defRPr sz="1900">
                <a:solidFill>
                  <a:srgbClr val="333333"/>
                </a:solidFill>
                <a:latin typeface="Arial" panose="020B0604020202090204"/>
                <a:ea typeface="Arial" panose="020B0604020202090204"/>
                <a:cs typeface="Arial" panose="020B0604020202090204"/>
                <a:sym typeface="Arial" panose="020B0604020202090204"/>
              </a:defRPr>
            </a:pPr>
            <a:r>
              <a:rPr dirty="0"/>
              <a:t>声音与画面的内容同步出现，使得声画的时空完全一致。主要用来表现影片的真实性。如画面段落表现的是一个热闹的集市，就相应出现厂集市特有的叫卖声音。在处理剧情时，可展示叙事内容的真实环境，有利于观众产生真实感。但平铺直叙，有时会让观众产生拖沓的感觉。</a:t>
            </a:r>
            <a:endParaRPr dirty="0"/>
          </a:p>
          <a:p>
            <a:pPr algn="l" defTabSz="434340">
              <a:lnSpc>
                <a:spcPct val="150000"/>
              </a:lnSpc>
              <a:spcBef>
                <a:spcPts val="0"/>
              </a:spcBef>
              <a:defRPr sz="1900">
                <a:solidFill>
                  <a:srgbClr val="333333"/>
                </a:solidFill>
                <a:latin typeface="Arial" panose="020B0604020202090204"/>
                <a:ea typeface="Arial" panose="020B0604020202090204"/>
                <a:cs typeface="Arial" panose="020B0604020202090204"/>
                <a:sym typeface="Arial" panose="020B0604020202090204"/>
              </a:defRPr>
            </a:pPr>
            <a:r>
              <a:rPr dirty="0"/>
              <a:t>38.07</a:t>
            </a:r>
            <a:endParaRPr dirty="0"/>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400">
                                            <p:txEl>
                                              <p:pRg st="1" end="1"/>
                                            </p:txEl>
                                          </p:spTgt>
                                        </p:tgtEl>
                                        <p:attrNameLst>
                                          <p:attrName>style.visibility</p:attrName>
                                        </p:attrNameLst>
                                      </p:cBhvr>
                                      <p:to>
                                        <p:strVal val="visible"/>
                                      </p:to>
                                    </p:set>
                                    <p:animEffect transition="in" filter="wipe(left)">
                                      <p:cBhvr>
                                        <p:cTn id="7" dur="500"/>
                                        <p:tgtEl>
                                          <p:spTgt spid="40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400">
                                            <p:txEl>
                                              <p:pRg st="2" end="2"/>
                                            </p:txEl>
                                          </p:spTgt>
                                        </p:tgtEl>
                                        <p:attrNameLst>
                                          <p:attrName>style.visibility</p:attrName>
                                        </p:attrNameLst>
                                      </p:cBhvr>
                                      <p:to>
                                        <p:strVal val="visible"/>
                                      </p:to>
                                    </p:set>
                                    <p:animEffect transition="in" filter="wipe(left)">
                                      <p:cBhvr>
                                        <p:cTn id="12" dur="500"/>
                                        <p:tgtEl>
                                          <p:spTgt spid="40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 grpId="1" bldLvl="5" animBg="1" advAuto="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 name="中景的功能"/>
          <p:cNvSpPr txBox="1">
            <a:spLocks noGrp="1"/>
          </p:cNvSpPr>
          <p:nvPr>
            <p:ph type="ctrTitle"/>
          </p:nvPr>
        </p:nvSpPr>
        <p:spPr>
          <a:xfrm>
            <a:off x="1524000" y="741362"/>
            <a:ext cx="9144000" cy="2387601"/>
          </a:xfrm>
          <a:prstGeom prst="rect">
            <a:avLst/>
          </a:prstGeom>
        </p:spPr>
        <p:txBody>
          <a:bodyPr/>
          <a:lstStyle>
            <a:lvl1pPr defTabSz="457200">
              <a:lnSpc>
                <a:spcPct val="100000"/>
              </a:lnSpc>
              <a:defRPr sz="4800">
                <a:solidFill>
                  <a:srgbClr val="333333"/>
                </a:solidFill>
                <a:latin typeface="Verdana" panose="020B0604030504040204"/>
                <a:ea typeface="Verdana" panose="020B0604030504040204"/>
                <a:cs typeface="Verdana" panose="020B0604030504040204"/>
                <a:sym typeface="Verdana" panose="020B0604030504040204"/>
              </a:defRPr>
            </a:lvl1pPr>
          </a:lstStyle>
          <a:p>
            <a:r>
              <a:t>声音提前</a:t>
            </a:r>
          </a:p>
        </p:txBody>
      </p:sp>
      <p:sp>
        <p:nvSpPr>
          <p:cNvPr id="403" name="数量最多，最常见的叙事性景别…"/>
          <p:cNvSpPr txBox="1">
            <a:spLocks noGrp="1"/>
          </p:cNvSpPr>
          <p:nvPr>
            <p:ph type="subTitle" sz="half" idx="1"/>
          </p:nvPr>
        </p:nvSpPr>
        <p:spPr>
          <a:xfrm>
            <a:off x="1625600" y="2700334"/>
            <a:ext cx="9144000" cy="3256419"/>
          </a:xfrm>
          <a:prstGeom prst="rect">
            <a:avLst/>
          </a:prstGeom>
        </p:spPr>
        <p:txBody>
          <a:bodyPr/>
          <a:lstStyle/>
          <a:p>
            <a:pPr marL="262255" indent="-262255" defTabSz="699770">
              <a:spcBef>
                <a:spcPts val="700"/>
              </a:spcBef>
              <a:buSzPct val="100000"/>
              <a:buChar char="•"/>
              <a:defRPr sz="2500">
                <a:latin typeface="楷体_GB2312"/>
                <a:ea typeface="楷体_GB2312"/>
                <a:cs typeface="楷体_GB2312"/>
                <a:sym typeface="楷体_GB2312"/>
              </a:defRPr>
            </a:pPr>
          </a:p>
          <a:p>
            <a:pPr algn="l" defTabSz="411480">
              <a:lnSpc>
                <a:spcPct val="100000"/>
              </a:lnSpc>
              <a:spcBef>
                <a:spcPts val="0"/>
              </a:spcBef>
              <a:defRPr sz="1600">
                <a:solidFill>
                  <a:srgbClr val="333333"/>
                </a:solidFill>
                <a:latin typeface="Verdana" panose="020B0604030504040204"/>
                <a:ea typeface="Verdana" panose="020B0604030504040204"/>
                <a:cs typeface="Verdana" panose="020B0604030504040204"/>
                <a:sym typeface="Verdana" panose="020B0604030504040204"/>
              </a:defRPr>
            </a:pPr>
          </a:p>
          <a:p>
            <a:pPr algn="l" defTabSz="411480">
              <a:lnSpc>
                <a:spcPct val="100000"/>
              </a:lnSpc>
              <a:spcBef>
                <a:spcPts val="0"/>
              </a:spcBef>
              <a:defRPr sz="2100">
                <a:solidFill>
                  <a:srgbClr val="333333"/>
                </a:solidFill>
                <a:latin typeface="Arial" panose="020B0604020202090204"/>
                <a:ea typeface="Arial" panose="020B0604020202090204"/>
                <a:cs typeface="Arial" panose="020B0604020202090204"/>
                <a:sym typeface="Arial" panose="020B0604020202090204"/>
              </a:defRPr>
            </a:pPr>
            <a:r>
              <a:t>又叫声音导前。是指在画面段落转换时。后一个画面段落的声音提前出现在前一个画面段落的尾部，造成一种先声夺人的特殊心理效果。常用来衔接两个画面段落之间的时空关系。如将后一个画面段落中的火车鸣笛声提前到前一个宁静的画面中，强调了即将到来的时空变化，预示着事件的发展。声音提前能提示即将发生的事件，造成激动和紧张的气氛，引起悬念。</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403">
                                            <p:txEl>
                                              <p:pRg st="1" end="1"/>
                                            </p:txEl>
                                          </p:spTgt>
                                        </p:tgtEl>
                                        <p:attrNameLst>
                                          <p:attrName>style.visibility</p:attrName>
                                        </p:attrNameLst>
                                      </p:cBhvr>
                                      <p:to>
                                        <p:strVal val="visible"/>
                                      </p:to>
                                    </p:set>
                                    <p:animEffect transition="in" filter="wipe(left)">
                                      <p:cBhvr>
                                        <p:cTn id="7" dur="500"/>
                                        <p:tgtEl>
                                          <p:spTgt spid="40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403">
                                            <p:txEl>
                                              <p:pRg st="2" end="2"/>
                                            </p:txEl>
                                          </p:spTgt>
                                        </p:tgtEl>
                                        <p:attrNameLst>
                                          <p:attrName>style.visibility</p:attrName>
                                        </p:attrNameLst>
                                      </p:cBhvr>
                                      <p:to>
                                        <p:strVal val="visible"/>
                                      </p:to>
                                    </p:set>
                                    <p:animEffect transition="in" filter="wipe(left)">
                                      <p:cBhvr>
                                        <p:cTn id="12" dur="500"/>
                                        <p:tgtEl>
                                          <p:spTgt spid="4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 grpId="1" bldLvl="5" animBg="1" advAuto="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中景的局限性"/>
          <p:cNvSpPr txBox="1">
            <a:spLocks noGrp="1"/>
          </p:cNvSpPr>
          <p:nvPr>
            <p:ph type="ctrTitle"/>
          </p:nvPr>
        </p:nvSpPr>
        <p:spPr>
          <a:xfrm>
            <a:off x="1494019" y="-265894"/>
            <a:ext cx="9144000" cy="2387601"/>
          </a:xfrm>
          <a:prstGeom prst="rect">
            <a:avLst/>
          </a:prstGeom>
        </p:spPr>
        <p:txBody>
          <a:bodyPr/>
          <a:lstStyle>
            <a:lvl1pPr defTabSz="457200">
              <a:lnSpc>
                <a:spcPct val="100000"/>
              </a:lnSpc>
              <a:defRPr sz="4800">
                <a:solidFill>
                  <a:srgbClr val="333333"/>
                </a:solidFill>
                <a:latin typeface="Verdana" panose="020B0604030504040204"/>
                <a:ea typeface="Verdana" panose="020B0604030504040204"/>
                <a:cs typeface="Verdana" panose="020B0604030504040204"/>
                <a:sym typeface="Verdana" panose="020B0604030504040204"/>
              </a:defRPr>
            </a:lvl1pPr>
          </a:lstStyle>
          <a:p>
            <a:r>
              <a:rPr dirty="0" err="1"/>
              <a:t>声音滞后</a:t>
            </a:r>
            <a:endParaRPr dirty="0"/>
          </a:p>
        </p:txBody>
      </p:sp>
      <p:sp>
        <p:nvSpPr>
          <p:cNvPr id="406" name="缺乏感染力…"/>
          <p:cNvSpPr txBox="1">
            <a:spLocks noGrp="1"/>
          </p:cNvSpPr>
          <p:nvPr>
            <p:ph type="subTitle" sz="half" idx="1"/>
          </p:nvPr>
        </p:nvSpPr>
        <p:spPr>
          <a:xfrm>
            <a:off x="1625600" y="2245515"/>
            <a:ext cx="9144000" cy="3405592"/>
          </a:xfrm>
          <a:prstGeom prst="rect">
            <a:avLst/>
          </a:prstGeom>
        </p:spPr>
        <p:txBody>
          <a:bodyPr/>
          <a:lstStyle/>
          <a:p>
            <a:pPr algn="l" defTabSz="448310">
              <a:lnSpc>
                <a:spcPct val="100000"/>
              </a:lnSpc>
              <a:spcBef>
                <a:spcPts val="0"/>
              </a:spcBef>
              <a:defRPr sz="1100">
                <a:solidFill>
                  <a:srgbClr val="136EC2"/>
                </a:solidFill>
                <a:latin typeface="Arial" panose="020B0604020202090204"/>
                <a:ea typeface="Arial" panose="020B0604020202090204"/>
                <a:cs typeface="Arial" panose="020B0604020202090204"/>
                <a:sym typeface="Arial" panose="020B0604020202090204"/>
              </a:defRPr>
            </a:pPr>
            <a:endParaRPr dirty="0"/>
          </a:p>
          <a:p>
            <a:pPr algn="l" defTabSz="448310">
              <a:lnSpc>
                <a:spcPct val="100000"/>
              </a:lnSpc>
              <a:spcBef>
                <a:spcPts val="0"/>
              </a:spcBef>
              <a:defRPr sz="1100">
                <a:solidFill>
                  <a:srgbClr val="136EC2"/>
                </a:solidFill>
                <a:latin typeface="Arial" panose="020B0604020202090204"/>
                <a:ea typeface="Arial" panose="020B0604020202090204"/>
                <a:cs typeface="Arial" panose="020B0604020202090204"/>
                <a:sym typeface="Arial" panose="020B0604020202090204"/>
              </a:defRPr>
            </a:pPr>
            <a:endParaRPr dirty="0"/>
          </a:p>
          <a:p>
            <a:pPr algn="l" defTabSz="448310">
              <a:lnSpc>
                <a:spcPct val="150000"/>
              </a:lnSpc>
              <a:spcBef>
                <a:spcPts val="0"/>
              </a:spcBef>
              <a:defRPr sz="1100">
                <a:solidFill>
                  <a:srgbClr val="136EC2"/>
                </a:solidFill>
                <a:latin typeface="Arial" panose="020B0604020202090204"/>
                <a:ea typeface="Arial" panose="020B0604020202090204"/>
                <a:cs typeface="Arial" panose="020B0604020202090204"/>
                <a:sym typeface="Arial" panose="020B0604020202090204"/>
              </a:defRPr>
            </a:pPr>
            <a:endParaRPr sz="1800" dirty="0"/>
          </a:p>
          <a:p>
            <a:pPr algn="l" defTabSz="448310">
              <a:lnSpc>
                <a:spcPct val="150000"/>
              </a:lnSpc>
              <a:spcBef>
                <a:spcPts val="0"/>
              </a:spcBef>
              <a:defRPr sz="1700">
                <a:solidFill>
                  <a:srgbClr val="333333"/>
                </a:solidFill>
                <a:latin typeface="Verdana" panose="020B0604030504040204"/>
                <a:ea typeface="Verdana" panose="020B0604030504040204"/>
                <a:cs typeface="Verdana" panose="020B0604030504040204"/>
                <a:sym typeface="Verdana" panose="020B0604030504040204"/>
              </a:defRPr>
            </a:pPr>
            <a:endParaRPr sz="1800" dirty="0"/>
          </a:p>
          <a:p>
            <a:pPr algn="l" defTabSz="448310">
              <a:lnSpc>
                <a:spcPct val="150000"/>
              </a:lnSpc>
              <a:spcBef>
                <a:spcPts val="0"/>
              </a:spcBef>
              <a:defRPr sz="2300">
                <a:solidFill>
                  <a:srgbClr val="333333"/>
                </a:solidFill>
                <a:latin typeface="Arial" panose="020B0604020202090204"/>
                <a:ea typeface="Arial" panose="020B0604020202090204"/>
                <a:cs typeface="Arial" panose="020B0604020202090204"/>
                <a:sym typeface="Arial" panose="020B0604020202090204"/>
              </a:defRPr>
            </a:pPr>
            <a:r>
              <a:rPr sz="1800" dirty="0"/>
              <a:t>又叫声音延续。是指在画面段落转换后，前一个画面段落中出现的声音以画外音的形式滞后出现在后一个画面段落的开始处，以此将二个画面段落之间的时空关系进行衔接。如将前一场面段落中打仗的枪炮声滞后延续到后一个宁静的山村画面中，虽然时空发生了变化，但暗示警战争还在继续。声音滞后可使画面的转换变得流畅连贯，并且暗示前后两个画面段落的关系。</a:t>
            </a:r>
            <a:endParaRPr sz="1800" dirty="0"/>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406">
                                            <p:txEl>
                                              <p:pRg st="1" end="1"/>
                                            </p:txEl>
                                          </p:spTgt>
                                        </p:tgtEl>
                                        <p:attrNameLst>
                                          <p:attrName>style.visibility</p:attrName>
                                        </p:attrNameLst>
                                      </p:cBhvr>
                                      <p:to>
                                        <p:strVal val="visible"/>
                                      </p:to>
                                    </p:set>
                                    <p:animEffect transition="in" filter="wipe(left)">
                                      <p:cBhvr>
                                        <p:cTn id="7" dur="500"/>
                                        <p:tgtEl>
                                          <p:spTgt spid="40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406">
                                            <p:txEl>
                                              <p:pRg st="2" end="2"/>
                                            </p:txEl>
                                          </p:spTgt>
                                        </p:tgtEl>
                                        <p:attrNameLst>
                                          <p:attrName>style.visibility</p:attrName>
                                        </p:attrNameLst>
                                      </p:cBhvr>
                                      <p:to>
                                        <p:strVal val="visible"/>
                                      </p:to>
                                    </p:set>
                                    <p:animEffect transition="in" filter="wipe(left)">
                                      <p:cBhvr>
                                        <p:cTn id="12" dur="500"/>
                                        <p:tgtEl>
                                          <p:spTgt spid="40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indefinite" fill="hold"/>
                                        <p:tgtEl>
                                          <p:spTgt spid="406">
                                            <p:txEl>
                                              <p:pRg st="3" end="3"/>
                                            </p:txEl>
                                          </p:spTgt>
                                        </p:tgtEl>
                                        <p:attrNameLst>
                                          <p:attrName>style.visibility</p:attrName>
                                        </p:attrNameLst>
                                      </p:cBhvr>
                                      <p:to>
                                        <p:strVal val="visible"/>
                                      </p:to>
                                    </p:set>
                                    <p:animEffect transition="in" filter="wipe(left)">
                                      <p:cBhvr>
                                        <p:cTn id="17" dur="500"/>
                                        <p:tgtEl>
                                          <p:spTgt spid="40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1" nodeType="clickEffect">
                                  <p:stCondLst>
                                    <p:cond delay="0"/>
                                  </p:stCondLst>
                                  <p:childTnLst>
                                    <p:set>
                                      <p:cBhvr>
                                        <p:cTn id="21" dur="indefinite" fill="hold"/>
                                        <p:tgtEl>
                                          <p:spTgt spid="406">
                                            <p:txEl>
                                              <p:pRg st="4" end="4"/>
                                            </p:txEl>
                                          </p:spTgt>
                                        </p:tgtEl>
                                        <p:attrNameLst>
                                          <p:attrName>style.visibility</p:attrName>
                                        </p:attrNameLst>
                                      </p:cBhvr>
                                      <p:to>
                                        <p:strVal val="visible"/>
                                      </p:to>
                                    </p:set>
                                    <p:animEffect transition="in" filter="wipe(left)">
                                      <p:cBhvr>
                                        <p:cTn id="22" dur="500"/>
                                        <p:tgtEl>
                                          <p:spTgt spid="40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 grpId="1" bldLvl="5" animBg="1" advAuto="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全景的局限性"/>
          <p:cNvSpPr txBox="1">
            <a:spLocks noGrp="1"/>
          </p:cNvSpPr>
          <p:nvPr>
            <p:ph type="ctrTitle"/>
          </p:nvPr>
        </p:nvSpPr>
        <p:spPr>
          <a:xfrm>
            <a:off x="1359109" y="-254026"/>
            <a:ext cx="9144000" cy="2387601"/>
          </a:xfrm>
          <a:prstGeom prst="rect">
            <a:avLst/>
          </a:prstGeom>
        </p:spPr>
        <p:txBody>
          <a:bodyPr/>
          <a:lstStyle>
            <a:lvl1pPr defTabSz="457200">
              <a:lnSpc>
                <a:spcPct val="100000"/>
              </a:lnSpc>
              <a:defRPr sz="4800">
                <a:solidFill>
                  <a:srgbClr val="333333"/>
                </a:solidFill>
                <a:latin typeface="Verdana" panose="020B0604030504040204"/>
                <a:ea typeface="Verdana" panose="020B0604030504040204"/>
                <a:cs typeface="Verdana" panose="020B0604030504040204"/>
                <a:sym typeface="Verdana" panose="020B0604030504040204"/>
              </a:defRPr>
            </a:lvl1pPr>
          </a:lstStyle>
          <a:p>
            <a:r>
              <a:rPr dirty="0" err="1"/>
              <a:t>声音的淡出淡入</a:t>
            </a:r>
            <a:r>
              <a:rPr dirty="0"/>
              <a:t> </a:t>
            </a:r>
            <a:endParaRPr dirty="0"/>
          </a:p>
        </p:txBody>
      </p:sp>
      <p:sp>
        <p:nvSpPr>
          <p:cNvPr id="412" name="镜头不能过短…"/>
          <p:cNvSpPr txBox="1">
            <a:spLocks noGrp="1"/>
          </p:cNvSpPr>
          <p:nvPr>
            <p:ph type="subTitle" sz="half" idx="1"/>
          </p:nvPr>
        </p:nvSpPr>
        <p:spPr>
          <a:xfrm>
            <a:off x="1638300" y="2967034"/>
            <a:ext cx="9144000" cy="3385748"/>
          </a:xfrm>
          <a:prstGeom prst="rect">
            <a:avLst/>
          </a:prstGeom>
        </p:spPr>
        <p:txBody>
          <a:bodyPr>
            <a:normAutofit/>
          </a:bodyPr>
          <a:lstStyle/>
          <a:p>
            <a:pPr algn="l" defTabSz="457200">
              <a:lnSpc>
                <a:spcPct val="150000"/>
              </a:lnSpc>
              <a:spcBef>
                <a:spcPts val="0"/>
              </a:spcBef>
              <a:defRPr>
                <a:solidFill>
                  <a:srgbClr val="333333"/>
                </a:solidFill>
                <a:latin typeface="Arial" panose="020B0604020202090204"/>
                <a:ea typeface="Arial" panose="020B0604020202090204"/>
                <a:cs typeface="Arial" panose="020B0604020202090204"/>
                <a:sym typeface="Arial" panose="020B0604020202090204"/>
              </a:defRPr>
            </a:pPr>
            <a:r>
              <a:rPr dirty="0" smtClean="0"/>
              <a:t>又被称为声音的渐隐渐显</a:t>
            </a:r>
            <a:r>
              <a:rPr dirty="0"/>
              <a:t>。指前一个画面段落的声音逐渐消失，后一个画面段落的声音逐渐出现。主要用来表现时空关系的转换或叠置。一般和画面的渐隐渐显一起表现。如前一个画面段落中的现实生活的声音淡出，后一个画面段落的过去生活的声音淡入，表现了人物对往事的追忆，它它可以制造声音的运动感，表现不同的时空环境。</a:t>
            </a:r>
            <a:endParaRPr dirty="0"/>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412">
                                            <p:txEl>
                                              <p:pRg st="0" end="0"/>
                                            </p:txEl>
                                          </p:spTgt>
                                        </p:tgtEl>
                                        <p:attrNameLst>
                                          <p:attrName>style.visibility</p:attrName>
                                        </p:attrNameLst>
                                      </p:cBhvr>
                                      <p:to>
                                        <p:strVal val="visible"/>
                                      </p:to>
                                    </p:set>
                                    <p:animEffect transition="in" filter="wipe(left)">
                                      <p:cBhvr>
                                        <p:cTn id="7" dur="500"/>
                                        <p:tgtEl>
                                          <p:spTgt spid="4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 grpId="1" bldLvl="5" animBg="1" advAuto="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全景的功能"/>
          <p:cNvSpPr txBox="1">
            <a:spLocks noGrp="1"/>
          </p:cNvSpPr>
          <p:nvPr>
            <p:ph type="ctrTitle"/>
          </p:nvPr>
        </p:nvSpPr>
        <p:spPr>
          <a:xfrm>
            <a:off x="1369101" y="0"/>
            <a:ext cx="9144000" cy="2387601"/>
          </a:xfrm>
          <a:prstGeom prst="rect">
            <a:avLst/>
          </a:prstGeom>
        </p:spPr>
        <p:txBody>
          <a:bodyPr/>
          <a:lstStyle>
            <a:lvl1pPr>
              <a:defRPr>
                <a:latin typeface="楷体_GB2312"/>
                <a:ea typeface="楷体_GB2312"/>
                <a:cs typeface="楷体_GB2312"/>
                <a:sym typeface="楷体_GB2312"/>
              </a:defRPr>
            </a:lvl1pPr>
          </a:lstStyle>
          <a:p>
            <a:r>
              <a:rPr dirty="0" err="1"/>
              <a:t>声音转换</a:t>
            </a:r>
            <a:endParaRPr dirty="0"/>
          </a:p>
        </p:txBody>
      </p:sp>
      <p:sp>
        <p:nvSpPr>
          <p:cNvPr id="409" name="展示环境，交代景物关系…"/>
          <p:cNvSpPr txBox="1">
            <a:spLocks noGrp="1"/>
          </p:cNvSpPr>
          <p:nvPr>
            <p:ph type="subTitle" sz="quarter" idx="1"/>
          </p:nvPr>
        </p:nvSpPr>
        <p:spPr>
          <a:xfrm>
            <a:off x="1524000" y="2387601"/>
            <a:ext cx="8834203" cy="4088149"/>
          </a:xfrm>
          <a:prstGeom prst="rect">
            <a:avLst/>
          </a:prstGeom>
        </p:spPr>
        <p:txBody>
          <a:bodyPr>
            <a:normAutofit/>
          </a:bodyPr>
          <a:lstStyle/>
          <a:p>
            <a:pPr marL="219710" indent="-219710" defTabSz="585470">
              <a:spcBef>
                <a:spcPts val="600"/>
              </a:spcBef>
              <a:buSzPct val="100000"/>
              <a:buChar char="•"/>
              <a:defRPr sz="2100">
                <a:latin typeface="楷体_GB2312"/>
                <a:ea typeface="楷体_GB2312"/>
                <a:cs typeface="楷体_GB2312"/>
                <a:sym typeface="楷体_GB2312"/>
              </a:defRPr>
            </a:pPr>
            <a:endParaRPr dirty="0"/>
          </a:p>
          <a:p>
            <a:pPr algn="l" defTabSz="457200">
              <a:lnSpc>
                <a:spcPct val="100000"/>
              </a:lnSpc>
              <a:spcBef>
                <a:spcPts val="0"/>
              </a:spcBef>
              <a:defRPr sz="1200">
                <a:solidFill>
                  <a:srgbClr val="136EC2"/>
                </a:solidFill>
                <a:latin typeface="Arial" panose="020B0604020202090204"/>
                <a:ea typeface="Arial" panose="020B0604020202090204"/>
                <a:cs typeface="Arial" panose="020B0604020202090204"/>
                <a:sym typeface="Arial" panose="020B0604020202090204"/>
              </a:defRPr>
            </a:pPr>
            <a:endParaRPr dirty="0"/>
          </a:p>
          <a:p>
            <a:pPr algn="l" defTabSz="457200">
              <a:lnSpc>
                <a:spcPct val="150000"/>
              </a:lnSpc>
              <a:spcBef>
                <a:spcPts val="0"/>
              </a:spcBef>
              <a:defRPr sz="1800">
                <a:solidFill>
                  <a:srgbClr val="333333"/>
                </a:solidFill>
                <a:latin typeface="Verdana" panose="020B0604030504040204"/>
                <a:ea typeface="Verdana" panose="020B0604030504040204"/>
                <a:cs typeface="Verdana" panose="020B0604030504040204"/>
                <a:sym typeface="Verdana" panose="020B0604030504040204"/>
              </a:defRPr>
            </a:pPr>
            <a:endParaRPr dirty="0"/>
          </a:p>
          <a:p>
            <a:pPr algn="l" defTabSz="457200">
              <a:lnSpc>
                <a:spcPct val="150000"/>
              </a:lnSpc>
              <a:spcBef>
                <a:spcPts val="0"/>
              </a:spcBef>
              <a:defRPr sz="1400">
                <a:solidFill>
                  <a:srgbClr val="333333"/>
                </a:solidFill>
                <a:latin typeface="Arial" panose="020B0604020202090204"/>
                <a:ea typeface="Arial" panose="020B0604020202090204"/>
                <a:cs typeface="Arial" panose="020B0604020202090204"/>
                <a:sym typeface="Arial" panose="020B0604020202090204"/>
              </a:defRPr>
            </a:pPr>
            <a:r>
              <a:rPr sz="1800" dirty="0"/>
              <a:t>声音转换就是通过声音来衔接画面段落的转换。出现在前一面面段落结束时的声音与后一个段落开始时的声音是一致的或类似的，以此作为画面段落时空转换的依据。如用做报告为声音衔接媒介，将开大会的画面段落转换成了一个小会议室的画面段落。声音转换用声音来带动画面段落的转换显得生动、流畅，同时加快了叙事的节奏。40.30</a:t>
            </a:r>
            <a:endParaRPr sz="1800" dirty="0"/>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409">
                                            <p:txEl>
                                              <p:pRg st="1" end="1"/>
                                            </p:txEl>
                                          </p:spTgt>
                                        </p:tgtEl>
                                        <p:attrNameLst>
                                          <p:attrName>style.visibility</p:attrName>
                                        </p:attrNameLst>
                                      </p:cBhvr>
                                      <p:to>
                                        <p:strVal val="visible"/>
                                      </p:to>
                                    </p:set>
                                    <p:animEffect transition="in" filter="wipe(left)">
                                      <p:cBhvr>
                                        <p:cTn id="7" dur="500"/>
                                        <p:tgtEl>
                                          <p:spTgt spid="40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409">
                                            <p:txEl>
                                              <p:pRg st="2" end="2"/>
                                            </p:txEl>
                                          </p:spTgt>
                                        </p:tgtEl>
                                        <p:attrNameLst>
                                          <p:attrName>style.visibility</p:attrName>
                                        </p:attrNameLst>
                                      </p:cBhvr>
                                      <p:to>
                                        <p:strVal val="visible"/>
                                      </p:to>
                                    </p:set>
                                    <p:animEffect transition="in" filter="wipe(left)">
                                      <p:cBhvr>
                                        <p:cTn id="12" dur="500"/>
                                        <p:tgtEl>
                                          <p:spTgt spid="40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indefinite" fill="hold"/>
                                        <p:tgtEl>
                                          <p:spTgt spid="409">
                                            <p:txEl>
                                              <p:pRg st="3" end="3"/>
                                            </p:txEl>
                                          </p:spTgt>
                                        </p:tgtEl>
                                        <p:attrNameLst>
                                          <p:attrName>style.visibility</p:attrName>
                                        </p:attrNameLst>
                                      </p:cBhvr>
                                      <p:to>
                                        <p:strVal val="visible"/>
                                      </p:to>
                                    </p:set>
                                    <p:animEffect transition="in" filter="wipe(left)">
                                      <p:cBhvr>
                                        <p:cTn id="17" dur="500"/>
                                        <p:tgtEl>
                                          <p:spTgt spid="40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 grpId="1" bldLvl="5" animBg="1" advAuto="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景别小结"/>
          <p:cNvSpPr txBox="1">
            <a:spLocks noGrp="1"/>
          </p:cNvSpPr>
          <p:nvPr>
            <p:ph type="ctrTitle"/>
          </p:nvPr>
        </p:nvSpPr>
        <p:spPr>
          <a:xfrm>
            <a:off x="1568970" y="-249238"/>
            <a:ext cx="9144000" cy="2387601"/>
          </a:xfrm>
          <a:prstGeom prst="rect">
            <a:avLst/>
          </a:prstGeom>
        </p:spPr>
        <p:txBody>
          <a:bodyPr/>
          <a:lstStyle>
            <a:lvl1pPr defTabSz="457200">
              <a:lnSpc>
                <a:spcPct val="100000"/>
              </a:lnSpc>
              <a:defRPr sz="4800">
                <a:solidFill>
                  <a:srgbClr val="333333"/>
                </a:solidFill>
                <a:latin typeface="Verdana" panose="020B0604030504040204"/>
                <a:ea typeface="Verdana" panose="020B0604030504040204"/>
                <a:cs typeface="Verdana" panose="020B0604030504040204"/>
                <a:sym typeface="Verdana" panose="020B0604030504040204"/>
              </a:defRPr>
            </a:lvl1pPr>
          </a:lstStyle>
          <a:p>
            <a:r>
              <a:rPr dirty="0" err="1"/>
              <a:t>声音的切出切入</a:t>
            </a:r>
            <a:endParaRPr dirty="0"/>
          </a:p>
        </p:txBody>
      </p:sp>
      <p:sp>
        <p:nvSpPr>
          <p:cNvPr id="415" name="景别种类很多，源于工作实际…"/>
          <p:cNvSpPr txBox="1">
            <a:spLocks noGrp="1"/>
          </p:cNvSpPr>
          <p:nvPr>
            <p:ph type="subTitle" sz="half" idx="1"/>
          </p:nvPr>
        </p:nvSpPr>
        <p:spPr>
          <a:xfrm>
            <a:off x="1989111" y="2138363"/>
            <a:ext cx="9144000" cy="3394880"/>
          </a:xfrm>
          <a:prstGeom prst="rect">
            <a:avLst/>
          </a:prstGeom>
        </p:spPr>
        <p:txBody>
          <a:bodyPr>
            <a:normAutofit fontScale="92500" lnSpcReduction="10000"/>
          </a:bodyPr>
          <a:lstStyle/>
          <a:p>
            <a:pPr marL="174625" indent="-174625" defTabSz="466090">
              <a:lnSpc>
                <a:spcPct val="150000"/>
              </a:lnSpc>
              <a:spcBef>
                <a:spcPts val="500"/>
              </a:spcBef>
              <a:buSzPct val="100000"/>
              <a:buChar char="•"/>
              <a:defRPr sz="1700">
                <a:latin typeface="楷体_GB2312"/>
                <a:ea typeface="楷体_GB2312"/>
                <a:cs typeface="楷体_GB2312"/>
                <a:sym typeface="楷体_GB2312"/>
              </a:defRPr>
            </a:pPr>
            <a:endParaRPr dirty="0"/>
          </a:p>
          <a:p>
            <a:pPr algn="l" defTabSz="457200">
              <a:lnSpc>
                <a:spcPct val="150000"/>
              </a:lnSpc>
              <a:spcBef>
                <a:spcPts val="0"/>
              </a:spcBef>
              <a:defRPr sz="1200">
                <a:solidFill>
                  <a:srgbClr val="136EC2"/>
                </a:solidFill>
                <a:latin typeface="Arial" panose="020B0604020202090204"/>
                <a:ea typeface="Arial" panose="020B0604020202090204"/>
                <a:cs typeface="Arial" panose="020B0604020202090204"/>
                <a:sym typeface="Arial" panose="020B0604020202090204"/>
              </a:defRPr>
            </a:pPr>
            <a:endParaRPr dirty="0"/>
          </a:p>
          <a:p>
            <a:pPr algn="l" defTabSz="457200">
              <a:lnSpc>
                <a:spcPct val="150000"/>
              </a:lnSpc>
              <a:spcBef>
                <a:spcPts val="0"/>
              </a:spcBef>
              <a:defRPr sz="1800">
                <a:solidFill>
                  <a:srgbClr val="333333"/>
                </a:solidFill>
                <a:latin typeface="Verdana" panose="020B0604030504040204"/>
                <a:ea typeface="Verdana" panose="020B0604030504040204"/>
                <a:cs typeface="Verdana" panose="020B0604030504040204"/>
                <a:sym typeface="Verdana" panose="020B0604030504040204"/>
              </a:defRPr>
            </a:pPr>
            <a:endParaRPr dirty="0"/>
          </a:p>
          <a:p>
            <a:pPr algn="l" defTabSz="457200">
              <a:lnSpc>
                <a:spcPct val="150000"/>
              </a:lnSpc>
              <a:spcBef>
                <a:spcPts val="0"/>
              </a:spcBef>
              <a:defRPr>
                <a:solidFill>
                  <a:srgbClr val="333333"/>
                </a:solidFill>
                <a:latin typeface="Arial" panose="020B0604020202090204"/>
                <a:ea typeface="Arial" panose="020B0604020202090204"/>
                <a:cs typeface="Arial" panose="020B0604020202090204"/>
                <a:sym typeface="Arial" panose="020B0604020202090204"/>
              </a:defRPr>
            </a:pPr>
            <a:r>
              <a:rPr dirty="0"/>
              <a:t>       指声音在画面段落中的突然消失和突然出现。通常与画面内容和段落的切换一致，有时也可用来进行特殊的声音时空转换。如同一地点不同时间的两个画面组接时，用收音机广播报时声的切出切入，来表现时间的转场，告诉观众事件的时间段已发生变，它可使画面内容的组接变得快捷、果断。</a:t>
            </a:r>
            <a:endParaRPr dirty="0"/>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indefinite" fill="hold"/>
                                        <p:tgtEl>
                                          <p:spTgt spid="415">
                                            <p:txEl>
                                              <p:pRg st="1" end="1"/>
                                            </p:txEl>
                                          </p:spTgt>
                                        </p:tgtEl>
                                        <p:attrNameLst>
                                          <p:attrName>style.visibility</p:attrName>
                                        </p:attrNameLst>
                                      </p:cBhvr>
                                      <p:to>
                                        <p:strVal val="visible"/>
                                      </p:to>
                                    </p:set>
                                    <p:animEffect transition="in" filter="wipe(left)">
                                      <p:cBhvr>
                                        <p:cTn id="7" dur="500"/>
                                        <p:tgtEl>
                                          <p:spTgt spid="41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indefinite" fill="hold"/>
                                        <p:tgtEl>
                                          <p:spTgt spid="415">
                                            <p:txEl>
                                              <p:pRg st="2" end="2"/>
                                            </p:txEl>
                                          </p:spTgt>
                                        </p:tgtEl>
                                        <p:attrNameLst>
                                          <p:attrName>style.visibility</p:attrName>
                                        </p:attrNameLst>
                                      </p:cBhvr>
                                      <p:to>
                                        <p:strVal val="visible"/>
                                      </p:to>
                                    </p:set>
                                    <p:animEffect transition="in" filter="wipe(left)">
                                      <p:cBhvr>
                                        <p:cTn id="12" dur="500"/>
                                        <p:tgtEl>
                                          <p:spTgt spid="4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indefinite" fill="hold"/>
                                        <p:tgtEl>
                                          <p:spTgt spid="415">
                                            <p:txEl>
                                              <p:pRg st="3" end="3"/>
                                            </p:txEl>
                                          </p:spTgt>
                                        </p:tgtEl>
                                        <p:attrNameLst>
                                          <p:attrName>style.visibility</p:attrName>
                                        </p:attrNameLst>
                                      </p:cBhvr>
                                      <p:to>
                                        <p:strVal val="visible"/>
                                      </p:to>
                                    </p:set>
                                    <p:animEffect transition="in" filter="wipe(left)">
                                      <p:cBhvr>
                                        <p:cTn id="17" dur="500"/>
                                        <p:tgtEl>
                                          <p:spTgt spid="4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 grpId="1" bldLvl="5" animBg="1" advAuto="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7" name="image7.png" descr="image7.png"/>
          <p:cNvPicPr>
            <a:picLocks noChangeAspect="1"/>
          </p:cNvPicPr>
          <p:nvPr/>
        </p:nvPicPr>
        <p:blipFill>
          <a:blip r:embed="rId1"/>
          <a:stretch>
            <a:fillRect/>
          </a:stretch>
        </p:blipFill>
        <p:spPr>
          <a:xfrm>
            <a:off x="0" y="0"/>
            <a:ext cx="12192000" cy="6858000"/>
          </a:xfrm>
          <a:prstGeom prst="rect">
            <a:avLst/>
          </a:prstGeom>
          <a:ln w="12700">
            <a:miter lim="400000"/>
            <a:headEnd/>
            <a:tailEnd/>
          </a:ln>
        </p:spPr>
      </p:pic>
      <p:sp>
        <p:nvSpPr>
          <p:cNvPr id="438" name="Shape 773"/>
          <p:cNvSpPr/>
          <p:nvPr/>
        </p:nvSpPr>
        <p:spPr>
          <a:xfrm>
            <a:off x="7824716" y="3125334"/>
            <a:ext cx="4367288" cy="1514912"/>
          </a:xfrm>
          <a:prstGeom prst="rect">
            <a:avLst/>
          </a:prstGeom>
          <a:solidFill>
            <a:schemeClr val="accent1">
              <a:alpha val="80000"/>
            </a:schemeClr>
          </a:solidFill>
          <a:ln w="12700">
            <a:miter lim="400000"/>
          </a:ln>
        </p:spPr>
        <p:txBody>
          <a:bodyPr lIns="45718" tIns="45718" rIns="45718" bIns="45718" anchor="ctr"/>
          <a:lstStyle/>
          <a:p>
            <a:pPr algn="ctr">
              <a:defRPr>
                <a:solidFill>
                  <a:srgbClr val="FFFFFF"/>
                </a:solidFill>
              </a:defRPr>
            </a:pPr>
          </a:p>
        </p:txBody>
      </p:sp>
      <p:sp>
        <p:nvSpPr>
          <p:cNvPr id="439" name="Shape 774"/>
          <p:cNvSpPr/>
          <p:nvPr/>
        </p:nvSpPr>
        <p:spPr>
          <a:xfrm>
            <a:off x="-1" y="3125334"/>
            <a:ext cx="7824717" cy="1514912"/>
          </a:xfrm>
          <a:prstGeom prst="rect">
            <a:avLst/>
          </a:prstGeom>
          <a:solidFill>
            <a:srgbClr val="FFFFFF">
              <a:alpha val="70000"/>
            </a:srgbClr>
          </a:solidFill>
          <a:ln w="12700">
            <a:miter lim="400000"/>
          </a:ln>
        </p:spPr>
        <p:txBody>
          <a:bodyPr lIns="45718" tIns="45718" rIns="45718" bIns="45718" anchor="ctr"/>
          <a:lstStyle/>
          <a:p>
            <a:pPr algn="ctr">
              <a:defRPr>
                <a:solidFill>
                  <a:srgbClr val="FFFFFF"/>
                </a:solidFill>
              </a:defRPr>
            </a:pPr>
          </a:p>
        </p:txBody>
      </p:sp>
      <p:sp>
        <p:nvSpPr>
          <p:cNvPr id="440" name="Shape 775"/>
          <p:cNvSpPr txBox="1"/>
          <p:nvPr/>
        </p:nvSpPr>
        <p:spPr>
          <a:xfrm>
            <a:off x="7933900" y="3412699"/>
            <a:ext cx="3991405" cy="828037"/>
          </a:xfrm>
          <a:prstGeom prst="rect">
            <a:avLst/>
          </a:prstGeom>
          <a:ln w="12700">
            <a:miter lim="400000"/>
          </a:ln>
        </p:spPr>
        <p:txBody>
          <a:bodyPr lIns="45718" tIns="45718" rIns="45718" bIns="45718">
            <a:spAutoFit/>
          </a:bodyPr>
          <a:lstStyle>
            <a:lvl1pPr>
              <a:defRPr sz="48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THANKS</a:t>
            </a:r>
          </a:p>
        </p:txBody>
      </p:sp>
      <p:sp>
        <p:nvSpPr>
          <p:cNvPr id="441" name="Shape 776"/>
          <p:cNvSpPr txBox="1"/>
          <p:nvPr/>
        </p:nvSpPr>
        <p:spPr>
          <a:xfrm>
            <a:off x="7933900" y="4137547"/>
            <a:ext cx="3991405" cy="370837"/>
          </a:xfrm>
          <a:prstGeom prst="rect">
            <a:avLst/>
          </a:prstGeom>
          <a:ln w="12700">
            <a:miter lim="400000"/>
          </a:ln>
        </p:spPr>
        <p:txBody>
          <a:bodyPr lIns="45718" tIns="45718" rIns="45718" bIns="45718">
            <a:spAutoFit/>
          </a:bodyPr>
          <a:lstStyle>
            <a:lvl1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FOR YOUR WATCHING</a:t>
            </a:r>
          </a:p>
        </p:txBody>
      </p:sp>
      <p:sp>
        <p:nvSpPr>
          <p:cNvPr id="442" name="Shape 777"/>
          <p:cNvSpPr txBox="1"/>
          <p:nvPr/>
        </p:nvSpPr>
        <p:spPr>
          <a:xfrm>
            <a:off x="1750035" y="3722049"/>
            <a:ext cx="6129282" cy="853437"/>
          </a:xfrm>
          <a:prstGeom prst="rect">
            <a:avLst/>
          </a:prstGeom>
          <a:ln w="12700">
            <a:miter lim="400000"/>
          </a:ln>
        </p:spPr>
        <p:txBody>
          <a:bodyPr lIns="45718" tIns="45718" rIns="45718" bIns="45718">
            <a:spAutoFit/>
          </a:bodyPr>
          <a:lstStyle/>
          <a:p>
            <a:pPr algn="r">
              <a:defRPr sz="1600" u="sng">
                <a:solidFill>
                  <a:srgbClr val="0000FF"/>
                </a:solidFill>
                <a:uFill>
                  <a:solidFill>
                    <a:srgbClr val="0000FF"/>
                  </a:solidFill>
                </a:uFill>
                <a:latin typeface="微软雅黑" panose="020B0503020204020204" charset="-122"/>
                <a:ea typeface="微软雅黑" panose="020B0503020204020204" charset="-122"/>
                <a:cs typeface="微软雅黑" panose="020B0503020204020204" charset="-122"/>
                <a:sym typeface="微软雅黑" panose="020B0503020204020204" charset="-122"/>
              </a:defRPr>
            </a:pPr>
            <a:r>
              <a:t>tuhui2003@163.com</a:t>
            </a:r>
            <a:endParaRPr>
              <a:solidFill>
                <a:srgbClr val="0563C1"/>
              </a:solidFill>
              <a:uFill>
                <a:solidFill>
                  <a:srgbClr val="0563C1"/>
                </a:solidFill>
              </a:uFill>
            </a:endParaRPr>
          </a:p>
          <a:p>
            <a:pPr algn="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t>15606622077</a:t>
            </a:r>
          </a:p>
          <a:p>
            <a:pPr algn="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r>
              <a:t>三条鱼365</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1" nodeType="afterEffect">
                                  <p:stCondLst>
                                    <p:cond delay="0"/>
                                  </p:stCondLst>
                                  <p:childTnLst>
                                    <p:set>
                                      <p:cBhvr>
                                        <p:cTn id="6" dur="indefinite" fill="hold"/>
                                        <p:tgtEl>
                                          <p:spTgt spid="438"/>
                                        </p:tgtEl>
                                        <p:attrNameLst>
                                          <p:attrName>style.visibility</p:attrName>
                                        </p:attrNameLst>
                                      </p:cBhvr>
                                      <p:to>
                                        <p:strVal val="visible"/>
                                      </p:to>
                                    </p:set>
                                    <p:animEffect transition="in" filter="wipe(right)">
                                      <p:cBhvr>
                                        <p:cTn id="7" dur="1000"/>
                                        <p:tgtEl>
                                          <p:spTgt spid="438"/>
                                        </p:tgtEl>
                                      </p:cBhvr>
                                    </p:animEffect>
                                  </p:childTnLst>
                                </p:cTn>
                              </p:par>
                            </p:childTnLst>
                          </p:cTn>
                        </p:par>
                        <p:par>
                          <p:cTn id="8" fill="hold">
                            <p:stCondLst>
                              <p:cond delay="1000"/>
                            </p:stCondLst>
                            <p:childTnLst>
                              <p:par>
                                <p:cTn id="9" presetID="22" presetClass="entr" presetSubtype="8" fill="hold" grpId="2" nodeType="afterEffect">
                                  <p:stCondLst>
                                    <p:cond delay="0"/>
                                  </p:stCondLst>
                                  <p:childTnLst>
                                    <p:set>
                                      <p:cBhvr>
                                        <p:cTn id="10" dur="indefinite" fill="hold"/>
                                        <p:tgtEl>
                                          <p:spTgt spid="439"/>
                                        </p:tgtEl>
                                        <p:attrNameLst>
                                          <p:attrName>style.visibility</p:attrName>
                                        </p:attrNameLst>
                                      </p:cBhvr>
                                      <p:to>
                                        <p:strVal val="visible"/>
                                      </p:to>
                                    </p:set>
                                    <p:animEffect transition="in" filter="wipe(left)">
                                      <p:cBhvr>
                                        <p:cTn id="11" dur="1000"/>
                                        <p:tgtEl>
                                          <p:spTgt spid="439"/>
                                        </p:tgtEl>
                                      </p:cBhvr>
                                    </p:animEffect>
                                  </p:childTnLst>
                                </p:cTn>
                              </p:par>
                            </p:childTnLst>
                          </p:cTn>
                        </p:par>
                        <p:par>
                          <p:cTn id="12" fill="hold">
                            <p:stCondLst>
                              <p:cond delay="2000"/>
                            </p:stCondLst>
                            <p:childTnLst>
                              <p:par>
                                <p:cTn id="13" presetID="9" presetClass="entr" presetSubtype="0" fill="hold" grpId="3" nodeType="afterEffect">
                                  <p:stCondLst>
                                    <p:cond delay="0"/>
                                  </p:stCondLst>
                                  <p:childTnLst>
                                    <p:set>
                                      <p:cBhvr>
                                        <p:cTn id="14" dur="indefinite" fill="hold"/>
                                        <p:tgtEl>
                                          <p:spTgt spid="440"/>
                                        </p:tgtEl>
                                        <p:attrNameLst>
                                          <p:attrName>style.visibility</p:attrName>
                                        </p:attrNameLst>
                                      </p:cBhvr>
                                      <p:to>
                                        <p:strVal val="visible"/>
                                      </p:to>
                                    </p:set>
                                    <p:animEffect transition="in" filter="dissolve">
                                      <p:cBhvr>
                                        <p:cTn id="15" dur="1000"/>
                                        <p:tgtEl>
                                          <p:spTgt spid="440"/>
                                        </p:tgtEl>
                                      </p:cBhvr>
                                    </p:animEffect>
                                  </p:childTnLst>
                                </p:cTn>
                              </p:par>
                            </p:childTnLst>
                          </p:cTn>
                        </p:par>
                        <p:par>
                          <p:cTn id="16" fill="hold">
                            <p:stCondLst>
                              <p:cond delay="3000"/>
                            </p:stCondLst>
                            <p:childTnLst>
                              <p:par>
                                <p:cTn id="17" presetID="9" presetClass="entr" presetSubtype="0" fill="hold" grpId="4" nodeType="afterEffect">
                                  <p:stCondLst>
                                    <p:cond delay="0"/>
                                  </p:stCondLst>
                                  <p:childTnLst>
                                    <p:set>
                                      <p:cBhvr>
                                        <p:cTn id="18" dur="indefinite" fill="hold"/>
                                        <p:tgtEl>
                                          <p:spTgt spid="441"/>
                                        </p:tgtEl>
                                        <p:attrNameLst>
                                          <p:attrName>style.visibility</p:attrName>
                                        </p:attrNameLst>
                                      </p:cBhvr>
                                      <p:to>
                                        <p:strVal val="visible"/>
                                      </p:to>
                                    </p:set>
                                    <p:animEffect transition="in" filter="dissolve">
                                      <p:cBhvr>
                                        <p:cTn id="19" dur="1000"/>
                                        <p:tgtEl>
                                          <p:spTgt spid="441"/>
                                        </p:tgtEl>
                                      </p:cBhvr>
                                    </p:animEffect>
                                  </p:childTnLst>
                                </p:cTn>
                              </p:par>
                            </p:childTnLst>
                          </p:cTn>
                        </p:par>
                        <p:par>
                          <p:cTn id="20" fill="hold">
                            <p:stCondLst>
                              <p:cond delay="4000"/>
                            </p:stCondLst>
                            <p:childTnLst>
                              <p:par>
                                <p:cTn id="21" presetID="2" presetClass="entr" presetSubtype="8" fill="hold" grpId="5" nodeType="afterEffect">
                                  <p:stCondLst>
                                    <p:cond delay="0"/>
                                  </p:stCondLst>
                                  <p:childTnLst>
                                    <p:set>
                                      <p:cBhvr>
                                        <p:cTn id="22" dur="indefinite" fill="hold"/>
                                        <p:tgtEl>
                                          <p:spTgt spid="442"/>
                                        </p:tgtEl>
                                        <p:attrNameLst>
                                          <p:attrName>style.visibility</p:attrName>
                                        </p:attrNameLst>
                                      </p:cBhvr>
                                      <p:to>
                                        <p:strVal val="visible"/>
                                      </p:to>
                                    </p:set>
                                    <p:anim calcmode="lin" valueType="num">
                                      <p:cBhvr>
                                        <p:cTn id="23" dur="1000" fill="hold"/>
                                        <p:tgtEl>
                                          <p:spTgt spid="442"/>
                                        </p:tgtEl>
                                        <p:attrNameLst>
                                          <p:attrName>ppt_x</p:attrName>
                                        </p:attrNameLst>
                                      </p:cBhvr>
                                      <p:tavLst>
                                        <p:tav tm="0">
                                          <p:val>
                                            <p:strVal val="0-#ppt_w/2"/>
                                          </p:val>
                                        </p:tav>
                                        <p:tav tm="100000">
                                          <p:val>
                                            <p:strVal val="#ppt_x"/>
                                          </p:val>
                                        </p:tav>
                                      </p:tavLst>
                                    </p:anim>
                                    <p:anim calcmode="lin" valueType="num">
                                      <p:cBhvr>
                                        <p:cTn id="24" dur="1000" fill="hold"/>
                                        <p:tgtEl>
                                          <p:spTgt spid="4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 grpId="1" animBg="1" advAuto="0"/>
      <p:bldP spid="439" grpId="2" animBg="1" advAuto="0"/>
      <p:bldP spid="440" grpId="3" animBg="1" advAuto="0"/>
      <p:bldP spid="441" grpId="4" animBg="1" advAuto="0"/>
      <p:bldP spid="442" grpId="5" animBg="1" advAuto="0"/>
    </p:bldLst>
  </p:timing>
</p:sld>
</file>

<file path=ppt/theme/theme1.xml><?xml version="1.0" encoding="utf-8"?>
<a:theme xmlns:a="http://schemas.openxmlformats.org/drawingml/2006/main" name="Office 主题">
  <a:themeElements>
    <a:clrScheme name="Office 主题">
      <a:dk1>
        <a:srgbClr val="000000"/>
      </a:dk1>
      <a:lt1>
        <a:srgbClr val="F8F8F8"/>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主题">
      <a:majorFont>
        <a:latin typeface="Helvetica"/>
        <a:ea typeface="Helvetica"/>
        <a:cs typeface="Helvetica"/>
      </a:majorFont>
      <a:minorFont>
        <a:latin typeface="Calibri"/>
        <a:ea typeface="Calibri"/>
        <a:cs typeface="Calibri"/>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8F8F8"/>
        </a:solidFill>
        <a:ln w="25400" cap="flat">
          <a:solidFill>
            <a:schemeClr val="accent1"/>
          </a:solidFill>
          <a:prstDash val="solid"/>
          <a:round/>
        </a:ln>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主题">
      <a:majorFont>
        <a:latin typeface="Helvetica"/>
        <a:ea typeface="Helvetica"/>
        <a:cs typeface="Helvetica"/>
      </a:majorFont>
      <a:minorFont>
        <a:latin typeface="Calibri"/>
        <a:ea typeface="Calibri"/>
        <a:cs typeface="Calibri"/>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8F8F8"/>
        </a:solidFill>
        <a:ln w="25400" cap="flat">
          <a:solidFill>
            <a:schemeClr val="accent1"/>
          </a:solidFill>
          <a:prstDash val="solid"/>
          <a:round/>
        </a:ln>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7624</Words>
  <Application>WPS 演示</Application>
  <PresentationFormat>宽屏</PresentationFormat>
  <Paragraphs>521</Paragraphs>
  <Slides>66</Slides>
  <Notes>0</Notes>
  <HiddenSlides>0</HiddenSlides>
  <MMClips>0</MMClips>
  <ScaleCrop>false</ScaleCrop>
  <HeadingPairs>
    <vt:vector size="6" baseType="variant">
      <vt:variant>
        <vt:lpstr>已用的字体</vt:lpstr>
      </vt:variant>
      <vt:variant>
        <vt:i4>29</vt:i4>
      </vt:variant>
      <vt:variant>
        <vt:lpstr>主题</vt:lpstr>
      </vt:variant>
      <vt:variant>
        <vt:i4>1</vt:i4>
      </vt:variant>
      <vt:variant>
        <vt:lpstr>幻灯片标题</vt:lpstr>
      </vt:variant>
      <vt:variant>
        <vt:i4>66</vt:i4>
      </vt:variant>
    </vt:vector>
  </HeadingPairs>
  <TitlesOfParts>
    <vt:vector size="96" baseType="lpstr">
      <vt:lpstr>Arial</vt:lpstr>
      <vt:lpstr>方正书宋_GBK</vt:lpstr>
      <vt:lpstr>Wingdings</vt:lpstr>
      <vt:lpstr>Calibri</vt:lpstr>
      <vt:lpstr>Helvetica Neue</vt:lpstr>
      <vt:lpstr>Calibri Light</vt:lpstr>
      <vt:lpstr>Arial</vt:lpstr>
      <vt:lpstr>Times New Roman</vt:lpstr>
      <vt:lpstr>Century Schoolbook</vt:lpstr>
      <vt:lpstr>华文宋体</vt:lpstr>
      <vt:lpstr>微软雅黑</vt:lpstr>
      <vt:lpstr>汉仪旗黑</vt:lpstr>
      <vt:lpstr>宋体</vt:lpstr>
      <vt:lpstr>汉仪书宋二KW</vt:lpstr>
      <vt:lpstr>黑体</vt:lpstr>
      <vt:lpstr>凸版文久見出しゴシック</vt:lpstr>
      <vt:lpstr>华文楷体</vt:lpstr>
      <vt:lpstr>Helvetica</vt:lpstr>
      <vt:lpstr>楷体_GB2312</vt:lpstr>
      <vt:lpstr>汉仪楷体简</vt:lpstr>
      <vt:lpstr>宋体</vt:lpstr>
      <vt:lpstr>微软雅黑</vt:lpstr>
      <vt:lpstr>Arial Unicode MS</vt:lpstr>
      <vt:lpstr>楷体</vt:lpstr>
      <vt:lpstr>汉仪楷体KW</vt:lpstr>
      <vt:lpstr>Verdana</vt:lpstr>
      <vt:lpstr>冬青黑体简体中文</vt:lpstr>
      <vt:lpstr>Helvetica</vt:lpstr>
      <vt:lpstr>Calibri</vt:lpstr>
      <vt:lpstr>Office 主题</vt:lpstr>
      <vt:lpstr>PowerPoint 演示文稿</vt:lpstr>
      <vt:lpstr>电 影 的 蒙 太 奇</vt:lpstr>
      <vt:lpstr>PowerPoint 演示文稿</vt:lpstr>
      <vt:lpstr>本讲要点</vt:lpstr>
      <vt:lpstr>PowerPoint 演示文稿</vt:lpstr>
      <vt:lpstr>蒙太奇的概念理解</vt:lpstr>
      <vt:lpstr>构   成</vt:lpstr>
      <vt:lpstr>动画剪辑与影视剪辑的异同</vt:lpstr>
      <vt:lpstr>三、蒙太奇的功能</vt:lpstr>
      <vt:lpstr>一、完成叙事：叙事蒙太奇 </vt:lpstr>
      <vt:lpstr>叙事蒙太奇</vt:lpstr>
      <vt:lpstr>连续式蒙太奇 </vt:lpstr>
      <vt:lpstr>平行式蒙太奇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交叉式蒙太奇   </vt:lpstr>
      <vt:lpstr>累积式蒙太奇   </vt:lpstr>
      <vt:lpstr>颠倒蒙太奇 </vt:lpstr>
      <vt:lpstr>二、创造意义：表现蒙太奇</vt:lpstr>
      <vt:lpstr>对比蒙太奇 </vt:lpstr>
      <vt:lpstr>对比蒙太奇 </vt:lpstr>
      <vt:lpstr>心理蒙太奇  </vt:lpstr>
      <vt:lpstr>隐喻蒙太奇  </vt:lpstr>
      <vt:lpstr>抒情蒙太奇  </vt:lpstr>
      <vt:lpstr>三、重组电影时空</vt:lpstr>
      <vt:lpstr>四、创造叙事结构</vt:lpstr>
      <vt:lpstr>五、创造节奏与韵律</vt:lpstr>
      <vt:lpstr>音效的时空属性</vt:lpstr>
      <vt:lpstr>音效对画面的拓展和深化</vt:lpstr>
      <vt:lpstr>音效的分类</vt:lpstr>
      <vt:lpstr>PowerPoint 演示文稿</vt:lpstr>
      <vt:lpstr>PowerPoint 演示文稿</vt:lpstr>
      <vt:lpstr>PowerPoint 演示文稿</vt:lpstr>
      <vt:lpstr>PowerPoint 演示文稿</vt:lpstr>
      <vt:lpstr>PowerPoint 演示文稿</vt:lpstr>
      <vt:lpstr>PowerPoint 演示文稿</vt:lpstr>
      <vt:lpstr>拟音方法介绍</vt:lpstr>
      <vt:lpstr>人    声（语言）</vt:lpstr>
      <vt:lpstr>副言语</vt:lpstr>
      <vt:lpstr>PowerPoint 演示文稿</vt:lpstr>
      <vt:lpstr>录音方式</vt:lpstr>
      <vt:lpstr>自动对白替换（ADR）</vt:lpstr>
      <vt:lpstr>角色语言的艺术加工和创新</vt:lpstr>
      <vt:lpstr>音   乐</vt:lpstr>
      <vt:lpstr>音画关系</vt:lpstr>
      <vt:lpstr>音画同步的应用</vt:lpstr>
      <vt:lpstr>声音的剪辑功能</vt:lpstr>
      <vt:lpstr>声音与镜头的关系-同步</vt:lpstr>
      <vt:lpstr>声音与镜头的关系-非同步</vt:lpstr>
      <vt:lpstr>声音与镜头的关系-持续的声音对应于多个镜头</vt:lpstr>
      <vt:lpstr>声音与镜头的关系-声画无确定的对应关系</vt:lpstr>
      <vt:lpstr>PowerPoint 演示文稿</vt:lpstr>
      <vt:lpstr>声画同步</vt:lpstr>
      <vt:lpstr>声音提前</vt:lpstr>
      <vt:lpstr>声音滞后</vt:lpstr>
      <vt:lpstr>声音的淡出淡入 </vt:lpstr>
      <vt:lpstr>声音转换</vt:lpstr>
      <vt:lpstr>声音的切出切入</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tuhui</cp:lastModifiedBy>
  <cp:revision>13</cp:revision>
  <dcterms:created xsi:type="dcterms:W3CDTF">2020-12-09T07:53:39Z</dcterms:created>
  <dcterms:modified xsi:type="dcterms:W3CDTF">2020-12-09T07:53:39Z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2052-2.4.0.3964</vt:lpwstr>
  </property>
</Properties>
</file>