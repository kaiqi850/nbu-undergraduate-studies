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1pPr>
    <a:lvl2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2pPr>
    <a:lvl3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3pPr>
    <a:lvl4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4pPr>
    <a:lvl5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5pPr>
    <a:lvl6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6pPr>
    <a:lvl7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7pPr>
    <a:lvl8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8pPr>
    <a:lvl9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9" name="Shape 109"/>
          <p:cNvSpPr/>
          <p:nvPr>
            <p:ph type="sldImg"/>
          </p:nvPr>
        </p:nvSpPr>
        <p:spPr>
          <a:xfrm>
            <a:off x="1143000" y="685800"/>
            <a:ext cx="4572000" cy="3429000"/>
          </a:xfrm>
          <a:prstGeom prst="rect">
            <a:avLst/>
          </a:prstGeom>
        </p:spPr>
        <p:txBody>
          <a:bodyPr/>
          <a:lstStyle/>
          <a:p/>
        </p:txBody>
      </p:sp>
      <p:sp>
        <p:nvSpPr>
          <p:cNvPr id="110" name="Shape 110"/>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1300480" latinLnBrk="0">
      <a:defRPr sz="1600">
        <a:latin typeface="+mj-lt"/>
        <a:ea typeface="+mj-ea"/>
        <a:cs typeface="+mj-cs"/>
        <a:sym typeface="Calibri" panose="020F0502020204030204"/>
      </a:defRPr>
    </a:lvl1pPr>
    <a:lvl2pPr indent="228600" defTabSz="1300480" latinLnBrk="0">
      <a:defRPr sz="1600">
        <a:latin typeface="+mj-lt"/>
        <a:ea typeface="+mj-ea"/>
        <a:cs typeface="+mj-cs"/>
        <a:sym typeface="Calibri" panose="020F0502020204030204"/>
      </a:defRPr>
    </a:lvl2pPr>
    <a:lvl3pPr indent="457200" defTabSz="1300480" latinLnBrk="0">
      <a:defRPr sz="1600">
        <a:latin typeface="+mj-lt"/>
        <a:ea typeface="+mj-ea"/>
        <a:cs typeface="+mj-cs"/>
        <a:sym typeface="Calibri" panose="020F0502020204030204"/>
      </a:defRPr>
    </a:lvl3pPr>
    <a:lvl4pPr indent="685800" defTabSz="1300480" latinLnBrk="0">
      <a:defRPr sz="1600">
        <a:latin typeface="+mj-lt"/>
        <a:ea typeface="+mj-ea"/>
        <a:cs typeface="+mj-cs"/>
        <a:sym typeface="Calibri" panose="020F0502020204030204"/>
      </a:defRPr>
    </a:lvl4pPr>
    <a:lvl5pPr indent="914400" defTabSz="1300480" latinLnBrk="0">
      <a:defRPr sz="1600">
        <a:latin typeface="+mj-lt"/>
        <a:ea typeface="+mj-ea"/>
        <a:cs typeface="+mj-cs"/>
        <a:sym typeface="Calibri" panose="020F0502020204030204"/>
      </a:defRPr>
    </a:lvl5pPr>
    <a:lvl6pPr indent="1143000" defTabSz="1300480" latinLnBrk="0">
      <a:defRPr sz="1600">
        <a:latin typeface="+mj-lt"/>
        <a:ea typeface="+mj-ea"/>
        <a:cs typeface="+mj-cs"/>
        <a:sym typeface="Calibri" panose="020F0502020204030204"/>
      </a:defRPr>
    </a:lvl6pPr>
    <a:lvl7pPr indent="1371600" defTabSz="1300480" latinLnBrk="0">
      <a:defRPr sz="1600">
        <a:latin typeface="+mj-lt"/>
        <a:ea typeface="+mj-ea"/>
        <a:cs typeface="+mj-cs"/>
        <a:sym typeface="Calibri" panose="020F0502020204030204"/>
      </a:defRPr>
    </a:lvl7pPr>
    <a:lvl8pPr indent="1600200" defTabSz="1300480" latinLnBrk="0">
      <a:defRPr sz="1600">
        <a:latin typeface="+mj-lt"/>
        <a:ea typeface="+mj-ea"/>
        <a:cs typeface="+mj-cs"/>
        <a:sym typeface="Calibri" panose="020F0502020204030204"/>
      </a:defRPr>
    </a:lvl8pPr>
    <a:lvl9pPr indent="1828800" defTabSz="1300480" latinLnBrk="0">
      <a:defRPr sz="1600">
        <a:latin typeface="+mj-lt"/>
        <a:ea typeface="+mj-ea"/>
        <a:cs typeface="+mj-cs"/>
        <a:sym typeface="Calibri" panose="020F050202020403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1" name="标题文本"/>
          <p:cNvSpPr txBox="1"/>
          <p:nvPr>
            <p:ph type="title" hasCustomPrompt="1"/>
          </p:nvPr>
        </p:nvSpPr>
        <p:spPr>
          <a:xfrm>
            <a:off x="1625599" y="2416386"/>
            <a:ext cx="9753604" cy="2546776"/>
          </a:xfrm>
          <a:prstGeom prst="rect">
            <a:avLst/>
          </a:prstGeom>
        </p:spPr>
        <p:txBody>
          <a:bodyPr anchor="b"/>
          <a:lstStyle>
            <a:lvl1pPr algn="ctr">
              <a:defRPr sz="8400"/>
            </a:lvl1pPr>
          </a:lstStyle>
          <a:p>
            <a:r>
              <a:t>标题文本</a:t>
            </a:r>
          </a:p>
        </p:txBody>
      </p:sp>
      <p:sp>
        <p:nvSpPr>
          <p:cNvPr id="12" name="正文级别 1…"/>
          <p:cNvSpPr txBox="1"/>
          <p:nvPr>
            <p:ph type="body" sz="quarter" idx="1" hasCustomPrompt="1"/>
          </p:nvPr>
        </p:nvSpPr>
        <p:spPr>
          <a:xfrm>
            <a:off x="1625599" y="5061372"/>
            <a:ext cx="9753604" cy="1766151"/>
          </a:xfrm>
          <a:prstGeom prst="rect">
            <a:avLst/>
          </a:prstGeom>
        </p:spPr>
        <p:txBody>
          <a:bodyPr/>
          <a:lstStyle>
            <a:lvl1pPr marL="0" indent="0" algn="ctr">
              <a:buSzTx/>
              <a:buFontTx/>
              <a:buNone/>
              <a:defRPr sz="3400"/>
            </a:lvl1pPr>
            <a:lvl2pPr marL="0" indent="0" algn="ctr">
              <a:buSzTx/>
              <a:buFontTx/>
              <a:buNone/>
              <a:defRPr sz="3400"/>
            </a:lvl2pPr>
            <a:lvl3pPr marL="0" indent="0" algn="ctr">
              <a:buSzTx/>
              <a:buFontTx/>
              <a:buNone/>
              <a:defRPr sz="3400"/>
            </a:lvl3pPr>
            <a:lvl4pPr marL="0" indent="0" algn="ctr">
              <a:buSzTx/>
              <a:buFontTx/>
              <a:buNone/>
              <a:defRPr sz="3400"/>
            </a:lvl4pPr>
            <a:lvl5pPr marL="0" indent="0" algn="ctr">
              <a:buSzTx/>
              <a:buFontTx/>
              <a:buNone/>
              <a:defRPr sz="3400"/>
            </a:lvl5pPr>
          </a:lstStyle>
          <a:p>
            <a:r>
              <a:t>正文级别 1</a:t>
            </a:r>
          </a:p>
          <a:p>
            <a:pPr lvl="1"/>
            <a:r>
              <a:t>正文级别 2</a:t>
            </a:r>
          </a:p>
          <a:p>
            <a:pPr lvl="2"/>
            <a:r>
              <a:t>正文级别 3</a:t>
            </a:r>
          </a:p>
          <a:p>
            <a:pPr lvl="3"/>
            <a:r>
              <a:t>正文级别 4</a:t>
            </a:r>
          </a:p>
          <a:p>
            <a:pPr lvl="4"/>
            <a:r>
              <a:t>正文级别 5</a:t>
            </a:r>
          </a:p>
        </p:txBody>
      </p:sp>
      <p:sp>
        <p:nvSpPr>
          <p:cNvPr id="13"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20" name="标题文本"/>
          <p:cNvSpPr txBox="1"/>
          <p:nvPr>
            <p:ph type="title" hasCustomPrompt="1"/>
          </p:nvPr>
        </p:nvSpPr>
        <p:spPr>
          <a:prstGeom prst="rect">
            <a:avLst/>
          </a:prstGeom>
        </p:spPr>
        <p:txBody>
          <a:bodyPr/>
          <a:lstStyle/>
          <a:p>
            <a:r>
              <a:t>标题文本</a:t>
            </a:r>
          </a:p>
        </p:txBody>
      </p:sp>
      <p:sp>
        <p:nvSpPr>
          <p:cNvPr id="21" name="正文级别 1…"/>
          <p:cNvSpPr txBox="1"/>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22"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节标题">
    <p:spTree>
      <p:nvGrpSpPr>
        <p:cNvPr id="1" name=""/>
        <p:cNvGrpSpPr/>
        <p:nvPr/>
      </p:nvGrpSpPr>
      <p:grpSpPr>
        <a:xfrm>
          <a:off x="0" y="0"/>
          <a:ext cx="0" cy="0"/>
          <a:chOff x="0" y="0"/>
          <a:chExt cx="0" cy="0"/>
        </a:xfrm>
      </p:grpSpPr>
      <p:sp>
        <p:nvSpPr>
          <p:cNvPr id="29" name="标题文本"/>
          <p:cNvSpPr txBox="1"/>
          <p:nvPr>
            <p:ph type="title" hasCustomPrompt="1"/>
          </p:nvPr>
        </p:nvSpPr>
        <p:spPr>
          <a:xfrm>
            <a:off x="887306" y="3042920"/>
            <a:ext cx="11216642" cy="3042925"/>
          </a:xfrm>
          <a:prstGeom prst="rect">
            <a:avLst/>
          </a:prstGeom>
        </p:spPr>
        <p:txBody>
          <a:bodyPr anchor="b"/>
          <a:lstStyle>
            <a:lvl1pPr>
              <a:defRPr sz="8400"/>
            </a:lvl1pPr>
          </a:lstStyle>
          <a:p>
            <a:r>
              <a:t>标题文本</a:t>
            </a:r>
          </a:p>
        </p:txBody>
      </p:sp>
      <p:sp>
        <p:nvSpPr>
          <p:cNvPr id="30" name="正文级别 1…"/>
          <p:cNvSpPr txBox="1"/>
          <p:nvPr>
            <p:ph type="body" sz="quarter" idx="1" hasCustomPrompt="1"/>
          </p:nvPr>
        </p:nvSpPr>
        <p:spPr>
          <a:xfrm>
            <a:off x="887306" y="6114624"/>
            <a:ext cx="11216642" cy="1600210"/>
          </a:xfrm>
          <a:prstGeom prst="rect">
            <a:avLst/>
          </a:prstGeom>
        </p:spPr>
        <p:txBody>
          <a:bodyPr/>
          <a:lstStyle>
            <a:lvl1pPr marL="0" indent="0">
              <a:buSzTx/>
              <a:buFontTx/>
              <a:buNone/>
              <a:defRPr sz="3400">
                <a:solidFill>
                  <a:srgbClr val="888888"/>
                </a:solidFill>
              </a:defRPr>
            </a:lvl1pPr>
            <a:lvl2pPr marL="0" indent="0">
              <a:buSzTx/>
              <a:buFontTx/>
              <a:buNone/>
              <a:defRPr sz="3400">
                <a:solidFill>
                  <a:srgbClr val="888888"/>
                </a:solidFill>
              </a:defRPr>
            </a:lvl2pPr>
            <a:lvl3pPr marL="0" indent="0">
              <a:buSzTx/>
              <a:buFontTx/>
              <a:buNone/>
              <a:defRPr sz="3400">
                <a:solidFill>
                  <a:srgbClr val="888888"/>
                </a:solidFill>
              </a:defRPr>
            </a:lvl3pPr>
            <a:lvl4pPr marL="0" indent="0">
              <a:buSzTx/>
              <a:buFontTx/>
              <a:buNone/>
              <a:defRPr sz="3400">
                <a:solidFill>
                  <a:srgbClr val="888888"/>
                </a:solidFill>
              </a:defRPr>
            </a:lvl4pPr>
            <a:lvl5pPr marL="0" indent="0">
              <a:buSzTx/>
              <a:buFontTx/>
              <a:buNone/>
              <a:defRPr sz="3400">
                <a:solidFill>
                  <a:srgbClr val="888888"/>
                </a:solidFill>
              </a:defRPr>
            </a:lvl5pPr>
          </a:lstStyle>
          <a:p>
            <a:r>
              <a:t>正文级别 1</a:t>
            </a:r>
          </a:p>
          <a:p>
            <a:pPr lvl="1"/>
            <a:r>
              <a:t>正文级别 2</a:t>
            </a:r>
          </a:p>
          <a:p>
            <a:pPr lvl="2"/>
            <a:r>
              <a:t>正文级别 3</a:t>
            </a:r>
          </a:p>
          <a:p>
            <a:pPr lvl="3"/>
            <a:r>
              <a:t>正文级别 4</a:t>
            </a:r>
          </a:p>
          <a:p>
            <a:pPr lvl="4"/>
            <a:r>
              <a:t>正文级别 5</a:t>
            </a:r>
          </a:p>
        </p:txBody>
      </p:sp>
      <p:sp>
        <p:nvSpPr>
          <p:cNvPr id="31"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
        <p:nvSpPr>
          <p:cNvPr id="38" name="标题文本"/>
          <p:cNvSpPr txBox="1"/>
          <p:nvPr>
            <p:ph type="title" hasCustomPrompt="1"/>
          </p:nvPr>
        </p:nvSpPr>
        <p:spPr>
          <a:prstGeom prst="rect">
            <a:avLst/>
          </a:prstGeom>
        </p:spPr>
        <p:txBody>
          <a:bodyPr/>
          <a:lstStyle/>
          <a:p>
            <a:r>
              <a:t>标题文本</a:t>
            </a:r>
          </a:p>
        </p:txBody>
      </p:sp>
      <p:sp>
        <p:nvSpPr>
          <p:cNvPr id="39" name="正文级别 1…"/>
          <p:cNvSpPr txBox="1"/>
          <p:nvPr>
            <p:ph type="body" sz="half" idx="1" hasCustomPrompt="1"/>
          </p:nvPr>
        </p:nvSpPr>
        <p:spPr>
          <a:xfrm>
            <a:off x="894077" y="3166533"/>
            <a:ext cx="5527046" cy="4641430"/>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40"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比较">
    <p:spTree>
      <p:nvGrpSpPr>
        <p:cNvPr id="1" name=""/>
        <p:cNvGrpSpPr/>
        <p:nvPr/>
      </p:nvGrpSpPr>
      <p:grpSpPr>
        <a:xfrm>
          <a:off x="0" y="0"/>
          <a:ext cx="0" cy="0"/>
          <a:chOff x="0" y="0"/>
          <a:chExt cx="0" cy="0"/>
        </a:xfrm>
      </p:grpSpPr>
      <p:sp>
        <p:nvSpPr>
          <p:cNvPr id="47" name="标题文本"/>
          <p:cNvSpPr txBox="1"/>
          <p:nvPr>
            <p:ph type="title" hasCustomPrompt="1"/>
          </p:nvPr>
        </p:nvSpPr>
        <p:spPr>
          <a:xfrm>
            <a:off x="895771" y="1608664"/>
            <a:ext cx="11216645" cy="1413940"/>
          </a:xfrm>
          <a:prstGeom prst="rect">
            <a:avLst/>
          </a:prstGeom>
        </p:spPr>
        <p:txBody>
          <a:bodyPr/>
          <a:lstStyle/>
          <a:p>
            <a:r>
              <a:t>标题文本</a:t>
            </a:r>
          </a:p>
        </p:txBody>
      </p:sp>
      <p:sp>
        <p:nvSpPr>
          <p:cNvPr id="48" name="正文级别 1…"/>
          <p:cNvSpPr txBox="1"/>
          <p:nvPr>
            <p:ph type="body" sz="quarter" idx="1" hasCustomPrompt="1"/>
          </p:nvPr>
        </p:nvSpPr>
        <p:spPr>
          <a:xfrm>
            <a:off x="895771" y="3012438"/>
            <a:ext cx="5501646" cy="878846"/>
          </a:xfrm>
          <a:prstGeom prst="rect">
            <a:avLst/>
          </a:prstGeom>
        </p:spPr>
        <p:txBody>
          <a:bodyPr anchor="b"/>
          <a:lstStyle>
            <a:lvl1pPr marL="0" indent="0">
              <a:buSzTx/>
              <a:buFontTx/>
              <a:buNone/>
              <a:defRPr sz="3400" b="1"/>
            </a:lvl1pPr>
            <a:lvl2pPr marL="0" indent="0">
              <a:buSzTx/>
              <a:buFontTx/>
              <a:buNone/>
              <a:defRPr sz="3400" b="1"/>
            </a:lvl2pPr>
            <a:lvl3pPr marL="0" indent="0">
              <a:buSzTx/>
              <a:buFontTx/>
              <a:buNone/>
              <a:defRPr sz="3400" b="1"/>
            </a:lvl3pPr>
            <a:lvl4pPr marL="0" indent="0">
              <a:buSzTx/>
              <a:buFontTx/>
              <a:buNone/>
              <a:defRPr sz="3400" b="1"/>
            </a:lvl4pPr>
            <a:lvl5pPr marL="0" indent="0">
              <a:buSzTx/>
              <a:buFontTx/>
              <a:buNone/>
              <a:defRPr sz="3400" b="1"/>
            </a:lvl5pPr>
          </a:lstStyle>
          <a:p>
            <a:r>
              <a:t>正文级别 1</a:t>
            </a:r>
          </a:p>
          <a:p>
            <a:pPr lvl="1"/>
            <a:r>
              <a:t>正文级别 2</a:t>
            </a:r>
          </a:p>
          <a:p>
            <a:pPr lvl="2"/>
            <a:r>
              <a:t>正文级别 3</a:t>
            </a:r>
          </a:p>
          <a:p>
            <a:pPr lvl="3"/>
            <a:r>
              <a:t>正文级别 4</a:t>
            </a:r>
          </a:p>
          <a:p>
            <a:pPr lvl="4"/>
            <a:r>
              <a:t>正文级别 5</a:t>
            </a:r>
          </a:p>
        </p:txBody>
      </p:sp>
      <p:sp>
        <p:nvSpPr>
          <p:cNvPr id="49" name="矩形"/>
          <p:cNvSpPr/>
          <p:nvPr>
            <p:ph type="body" sz="quarter" idx="13"/>
          </p:nvPr>
        </p:nvSpPr>
        <p:spPr>
          <a:xfrm>
            <a:off x="6583680" y="3012438"/>
            <a:ext cx="5528741" cy="878843"/>
          </a:xfrm>
          <a:prstGeom prst="rect">
            <a:avLst/>
          </a:prstGeom>
        </p:spPr>
        <p:txBody>
          <a:bodyPr anchor="b"/>
          <a:lstStyle/>
          <a:p/>
        </p:txBody>
      </p:sp>
      <p:sp>
        <p:nvSpPr>
          <p:cNvPr id="50"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57" name="标题文本"/>
          <p:cNvSpPr txBox="1"/>
          <p:nvPr>
            <p:ph type="title" hasCustomPrompt="1"/>
          </p:nvPr>
        </p:nvSpPr>
        <p:spPr>
          <a:prstGeom prst="rect">
            <a:avLst/>
          </a:prstGeom>
        </p:spPr>
        <p:txBody>
          <a:bodyPr/>
          <a:lstStyle/>
          <a:p>
            <a:r>
              <a:t>标题文本</a:t>
            </a:r>
          </a:p>
        </p:txBody>
      </p:sp>
      <p:sp>
        <p:nvSpPr>
          <p:cNvPr id="58"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65"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内容与标题">
    <p:spTree>
      <p:nvGrpSpPr>
        <p:cNvPr id="1" name=""/>
        <p:cNvGrpSpPr/>
        <p:nvPr/>
      </p:nvGrpSpPr>
      <p:grpSpPr>
        <a:xfrm>
          <a:off x="0" y="0"/>
          <a:ext cx="0" cy="0"/>
          <a:chOff x="0" y="0"/>
          <a:chExt cx="0" cy="0"/>
        </a:xfrm>
      </p:grpSpPr>
      <p:sp>
        <p:nvSpPr>
          <p:cNvPr id="72" name="标题文本"/>
          <p:cNvSpPr txBox="1"/>
          <p:nvPr>
            <p:ph type="title" hasCustomPrompt="1"/>
          </p:nvPr>
        </p:nvSpPr>
        <p:spPr>
          <a:xfrm>
            <a:off x="895771" y="1706877"/>
            <a:ext cx="4194393" cy="1706885"/>
          </a:xfrm>
          <a:prstGeom prst="rect">
            <a:avLst/>
          </a:prstGeom>
        </p:spPr>
        <p:txBody>
          <a:bodyPr anchor="b"/>
          <a:lstStyle>
            <a:lvl1pPr>
              <a:defRPr sz="4400"/>
            </a:lvl1pPr>
          </a:lstStyle>
          <a:p>
            <a:r>
              <a:t>标题文本</a:t>
            </a:r>
          </a:p>
        </p:txBody>
      </p:sp>
      <p:sp>
        <p:nvSpPr>
          <p:cNvPr id="73" name="正文级别 1…"/>
          <p:cNvSpPr txBox="1"/>
          <p:nvPr>
            <p:ph type="body" sz="half" idx="1" hasCustomPrompt="1"/>
          </p:nvPr>
        </p:nvSpPr>
        <p:spPr>
          <a:xfrm>
            <a:off x="5528731" y="2272451"/>
            <a:ext cx="6583686" cy="5198537"/>
          </a:xfrm>
          <a:prstGeom prst="rect">
            <a:avLst/>
          </a:prstGeom>
        </p:spPr>
        <p:txBody>
          <a:bodyPr/>
          <a:lstStyle>
            <a:lvl1pPr marL="314325" indent="-314325">
              <a:defRPr sz="4400"/>
            </a:lvl1pPr>
            <a:lvl2pPr marL="816610" indent="-359410">
              <a:defRPr sz="4400"/>
            </a:lvl2pPr>
            <a:lvl3pPr marL="1333500" indent="-419100">
              <a:defRPr sz="4400"/>
            </a:lvl3pPr>
            <a:lvl4pPr marL="1874520" indent="-502920">
              <a:defRPr sz="4400"/>
            </a:lvl4pPr>
            <a:lvl5pPr marL="2331720" indent="-502920">
              <a:defRPr sz="4400"/>
            </a:lvl5pPr>
          </a:lstStyle>
          <a:p>
            <a:r>
              <a:t>正文级别 1</a:t>
            </a:r>
          </a:p>
          <a:p>
            <a:pPr lvl="1"/>
            <a:r>
              <a:t>正文级别 2</a:t>
            </a:r>
          </a:p>
          <a:p>
            <a:pPr lvl="2"/>
            <a:r>
              <a:t>正文级别 3</a:t>
            </a:r>
          </a:p>
          <a:p>
            <a:pPr lvl="3"/>
            <a:r>
              <a:t>正文级别 4</a:t>
            </a:r>
          </a:p>
          <a:p>
            <a:pPr lvl="4"/>
            <a:r>
              <a:t>正文级别 5</a:t>
            </a:r>
          </a:p>
        </p:txBody>
      </p:sp>
      <p:sp>
        <p:nvSpPr>
          <p:cNvPr id="74" name="矩形"/>
          <p:cNvSpPr/>
          <p:nvPr>
            <p:ph type="body" sz="quarter" idx="13"/>
          </p:nvPr>
        </p:nvSpPr>
        <p:spPr>
          <a:xfrm>
            <a:off x="895771" y="3413759"/>
            <a:ext cx="4194393" cy="4065695"/>
          </a:xfrm>
          <a:prstGeom prst="rect">
            <a:avLst/>
          </a:prstGeom>
        </p:spPr>
        <p:txBody>
          <a:bodyPr/>
          <a:lstStyle/>
          <a:p/>
        </p:txBody>
      </p:sp>
      <p:sp>
        <p:nvSpPr>
          <p:cNvPr id="75"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图片与标题">
    <p:spTree>
      <p:nvGrpSpPr>
        <p:cNvPr id="1" name=""/>
        <p:cNvGrpSpPr/>
        <p:nvPr/>
      </p:nvGrpSpPr>
      <p:grpSpPr>
        <a:xfrm>
          <a:off x="0" y="0"/>
          <a:ext cx="0" cy="0"/>
          <a:chOff x="0" y="0"/>
          <a:chExt cx="0" cy="0"/>
        </a:xfrm>
      </p:grpSpPr>
      <p:sp>
        <p:nvSpPr>
          <p:cNvPr id="82" name="标题文本"/>
          <p:cNvSpPr txBox="1"/>
          <p:nvPr>
            <p:ph type="title" hasCustomPrompt="1"/>
          </p:nvPr>
        </p:nvSpPr>
        <p:spPr>
          <a:xfrm>
            <a:off x="895771" y="1706877"/>
            <a:ext cx="4194393" cy="1706885"/>
          </a:xfrm>
          <a:prstGeom prst="rect">
            <a:avLst/>
          </a:prstGeom>
        </p:spPr>
        <p:txBody>
          <a:bodyPr anchor="b"/>
          <a:lstStyle>
            <a:lvl1pPr>
              <a:defRPr sz="4400"/>
            </a:lvl1pPr>
          </a:lstStyle>
          <a:p>
            <a:r>
              <a:t>标题文本</a:t>
            </a:r>
          </a:p>
        </p:txBody>
      </p:sp>
      <p:sp>
        <p:nvSpPr>
          <p:cNvPr id="83" name="图像"/>
          <p:cNvSpPr/>
          <p:nvPr>
            <p:ph type="pic" sz="half" idx="13"/>
          </p:nvPr>
        </p:nvSpPr>
        <p:spPr>
          <a:xfrm>
            <a:off x="5528731" y="2272451"/>
            <a:ext cx="6583686" cy="5198537"/>
          </a:xfrm>
          <a:prstGeom prst="rect">
            <a:avLst/>
          </a:prstGeom>
        </p:spPr>
        <p:txBody>
          <a:bodyPr lIns="91439" tIns="45719" rIns="91439" bIns="45719">
            <a:noAutofit/>
          </a:bodyPr>
          <a:lstStyle/>
          <a:p/>
        </p:txBody>
      </p:sp>
      <p:sp>
        <p:nvSpPr>
          <p:cNvPr id="84" name="正文级别 1…"/>
          <p:cNvSpPr txBox="1"/>
          <p:nvPr>
            <p:ph type="body" sz="quarter" idx="1" hasCustomPrompt="1"/>
          </p:nvPr>
        </p:nvSpPr>
        <p:spPr>
          <a:xfrm>
            <a:off x="895771" y="3413759"/>
            <a:ext cx="4194393" cy="4065695"/>
          </a:xfrm>
          <a:prstGeom prst="rect">
            <a:avLst/>
          </a:prstGeom>
        </p:spPr>
        <p:txBody>
          <a:bodyPr/>
          <a:lstStyle>
            <a:lvl1pPr marL="0" indent="0">
              <a:buSzTx/>
              <a:buFontTx/>
              <a:buNone/>
              <a:defRPr sz="2200"/>
            </a:lvl1pPr>
            <a:lvl2pPr marL="0" indent="0">
              <a:buSzTx/>
              <a:buFontTx/>
              <a:buNone/>
              <a:defRPr sz="2200"/>
            </a:lvl2pPr>
            <a:lvl3pPr marL="0" indent="0">
              <a:buSzTx/>
              <a:buFontTx/>
              <a:buNone/>
              <a:defRPr sz="2200"/>
            </a:lvl3pPr>
            <a:lvl4pPr marL="0" indent="0">
              <a:buSzTx/>
              <a:buFontTx/>
              <a:buNone/>
              <a:defRPr sz="2200"/>
            </a:lvl4pPr>
            <a:lvl5pPr marL="0" indent="0">
              <a:buSzTx/>
              <a:buFontTx/>
              <a:buNone/>
              <a:defRPr sz="2200"/>
            </a:lvl5pPr>
          </a:lstStyle>
          <a:p>
            <a:r>
              <a:t>正文级别 1</a:t>
            </a:r>
          </a:p>
          <a:p>
            <a:pPr lvl="1"/>
            <a:r>
              <a:t>正文级别 2</a:t>
            </a:r>
          </a:p>
          <a:p>
            <a:pPr lvl="2"/>
            <a:r>
              <a:t>正文级别 3</a:t>
            </a:r>
          </a:p>
          <a:p>
            <a:pPr lvl="3"/>
            <a:r>
              <a:t>正文级别 4</a:t>
            </a:r>
          </a:p>
          <a:p>
            <a:pPr lvl="4"/>
            <a:r>
              <a:t>正文级别 5</a:t>
            </a:r>
          </a:p>
        </p:txBody>
      </p:sp>
      <p:sp>
        <p:nvSpPr>
          <p:cNvPr id="85"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标题和竖排文字">
    <p:spTree>
      <p:nvGrpSpPr>
        <p:cNvPr id="1" name=""/>
        <p:cNvGrpSpPr/>
        <p:nvPr/>
      </p:nvGrpSpPr>
      <p:grpSpPr>
        <a:xfrm>
          <a:off x="0" y="0"/>
          <a:ext cx="0" cy="0"/>
          <a:chOff x="0" y="0"/>
          <a:chExt cx="0" cy="0"/>
        </a:xfrm>
      </p:grpSpPr>
      <p:sp>
        <p:nvSpPr>
          <p:cNvPr id="92" name="标题文本"/>
          <p:cNvSpPr txBox="1"/>
          <p:nvPr>
            <p:ph type="title" hasCustomPrompt="1"/>
          </p:nvPr>
        </p:nvSpPr>
        <p:spPr>
          <a:prstGeom prst="rect">
            <a:avLst/>
          </a:prstGeom>
        </p:spPr>
        <p:txBody>
          <a:bodyPr/>
          <a:lstStyle/>
          <a:p>
            <a:r>
              <a:t>标题文本</a:t>
            </a:r>
          </a:p>
        </p:txBody>
      </p:sp>
      <p:sp>
        <p:nvSpPr>
          <p:cNvPr id="93" name="正文级别 1…"/>
          <p:cNvSpPr txBox="1"/>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94"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垂直排列标题与&#10;文本">
    <p:spTree>
      <p:nvGrpSpPr>
        <p:cNvPr id="1" name=""/>
        <p:cNvGrpSpPr/>
        <p:nvPr/>
      </p:nvGrpSpPr>
      <p:grpSpPr>
        <a:xfrm>
          <a:off x="0" y="0"/>
          <a:ext cx="0" cy="0"/>
          <a:chOff x="0" y="0"/>
          <a:chExt cx="0" cy="0"/>
        </a:xfrm>
      </p:grpSpPr>
      <p:sp>
        <p:nvSpPr>
          <p:cNvPr id="101" name="标题文本"/>
          <p:cNvSpPr txBox="1"/>
          <p:nvPr>
            <p:ph type="title" hasCustomPrompt="1"/>
          </p:nvPr>
        </p:nvSpPr>
        <p:spPr>
          <a:xfrm>
            <a:off x="9306559" y="1608664"/>
            <a:ext cx="2804164" cy="6199298"/>
          </a:xfrm>
          <a:prstGeom prst="rect">
            <a:avLst/>
          </a:prstGeom>
        </p:spPr>
        <p:txBody>
          <a:bodyPr/>
          <a:lstStyle/>
          <a:p>
            <a:r>
              <a:t>标题文本</a:t>
            </a:r>
          </a:p>
        </p:txBody>
      </p:sp>
      <p:sp>
        <p:nvSpPr>
          <p:cNvPr id="102" name="正文级别 1…"/>
          <p:cNvSpPr txBox="1"/>
          <p:nvPr>
            <p:ph type="body" idx="1" hasCustomPrompt="1"/>
          </p:nvPr>
        </p:nvSpPr>
        <p:spPr>
          <a:xfrm>
            <a:off x="894077" y="1608664"/>
            <a:ext cx="8249926" cy="619929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03"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标题文本"/>
          <p:cNvSpPr txBox="1"/>
          <p:nvPr>
            <p:ph type="title"/>
          </p:nvPr>
        </p:nvSpPr>
        <p:spPr>
          <a:xfrm>
            <a:off x="894077" y="1608664"/>
            <a:ext cx="11216645" cy="1413940"/>
          </a:xfrm>
          <a:prstGeom prst="rect">
            <a:avLst/>
          </a:prstGeom>
          <a:ln w="12700">
            <a:miter lim="400000"/>
          </a:ln>
        </p:spPr>
        <p:txBody>
          <a:bodyPr lIns="48765" tIns="48765" rIns="48765" bIns="48765" anchor="ctr">
            <a:normAutofit/>
          </a:bodyPr>
          <a:lstStyle/>
          <a:p>
            <a:r>
              <a:t>标题文本</a:t>
            </a:r>
          </a:p>
        </p:txBody>
      </p:sp>
      <p:sp>
        <p:nvSpPr>
          <p:cNvPr id="3" name="正文级别 1…"/>
          <p:cNvSpPr txBox="1"/>
          <p:nvPr>
            <p:ph type="body" idx="1"/>
          </p:nvPr>
        </p:nvSpPr>
        <p:spPr>
          <a:xfrm>
            <a:off x="894077" y="3166533"/>
            <a:ext cx="11216645" cy="4641430"/>
          </a:xfrm>
          <a:prstGeom prst="rect">
            <a:avLst/>
          </a:prstGeom>
          <a:ln w="12700">
            <a:miter lim="400000"/>
          </a:ln>
        </p:spPr>
        <p:txBody>
          <a:bodyPr lIns="48765" tIns="48765" rIns="48765" bIns="48765">
            <a:normAutofit/>
          </a:bodyPr>
          <a:lstStyle/>
          <a:p>
            <a:r>
              <a:t>正文级别 1</a:t>
            </a:r>
          </a:p>
          <a:p>
            <a:pPr lvl="1"/>
            <a:r>
              <a:t>正文级别 2</a:t>
            </a:r>
          </a:p>
          <a:p>
            <a:pPr lvl="2"/>
            <a:r>
              <a:t>正文级别 3</a:t>
            </a:r>
          </a:p>
          <a:p>
            <a:pPr lvl="3"/>
            <a:r>
              <a:t>正文级别 4</a:t>
            </a:r>
          </a:p>
          <a:p>
            <a:pPr lvl="4"/>
            <a:r>
              <a:t>正文级别 5</a:t>
            </a:r>
          </a:p>
        </p:txBody>
      </p:sp>
      <p:sp>
        <p:nvSpPr>
          <p:cNvPr id="4" name="幻灯片编号"/>
          <p:cNvSpPr txBox="1"/>
          <p:nvPr>
            <p:ph type="sldNum" sz="quarter" idx="2"/>
          </p:nvPr>
        </p:nvSpPr>
        <p:spPr>
          <a:xfrm>
            <a:off x="11787370" y="8024625"/>
            <a:ext cx="323353" cy="338831"/>
          </a:xfrm>
          <a:prstGeom prst="rect">
            <a:avLst/>
          </a:prstGeom>
          <a:ln w="12700">
            <a:miter lim="400000"/>
          </a:ln>
        </p:spPr>
        <p:txBody>
          <a:bodyPr wrap="none" lIns="48765" tIns="48765" rIns="48765" bIns="48765" anchor="ctr">
            <a:spAutoFit/>
          </a:bodyPr>
          <a:lstStyle>
            <a:lvl1pPr algn="r">
              <a:defRPr sz="1600">
                <a:solidFill>
                  <a:srgbClr val="888888"/>
                </a:solidFill>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1pPr>
      <a:lvl2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2pPr>
      <a:lvl3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3pPr>
      <a:lvl4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4pPr>
      <a:lvl5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5pPr>
      <a:lvl6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6pPr>
      <a:lvl7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7pPr>
      <a:lvl8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8pPr>
      <a:lvl9pPr marL="0" marR="0" indent="0" algn="l" defTabSz="1300480" rtl="0" latinLnBrk="0">
        <a:lnSpc>
          <a:spcPct val="90000"/>
        </a:lnSpc>
        <a:spcBef>
          <a:spcPts val="0"/>
        </a:spcBef>
        <a:spcAft>
          <a:spcPts val="0"/>
        </a:spcAft>
        <a:buClrTx/>
        <a:buSzTx/>
        <a:buFontTx/>
        <a:buNone/>
        <a:defRPr sz="62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9pPr>
    </p:titleStyle>
    <p:bodyStyle>
      <a:lvl1pPr marL="310515" marR="0" indent="-310515"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1pPr>
      <a:lvl2pPr marL="819150" marR="0" indent="-36195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2pPr>
      <a:lvl3pPr marL="1348740" marR="0" indent="-43434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3pPr>
      <a:lvl4pPr marL="18542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4pPr>
      <a:lvl5pPr marL="23114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5pPr>
      <a:lvl6pPr marL="27686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6pPr>
      <a:lvl7pPr marL="32258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7pPr>
      <a:lvl8pPr marL="36830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8pPr>
      <a:lvl9pPr marL="4140200" marR="0" indent="-482600" algn="l" defTabSz="1300480" rtl="0" latinLnBrk="0">
        <a:lnSpc>
          <a:spcPct val="90000"/>
        </a:lnSpc>
        <a:spcBef>
          <a:spcPts val="1400"/>
        </a:spcBef>
        <a:spcAft>
          <a:spcPts val="0"/>
        </a:spcAft>
        <a:buClrTx/>
        <a:buSzPct val="100000"/>
        <a:buFont typeface="Arial" panose="020B0604020202020204"/>
        <a:buChar char="•"/>
        <a:defRPr sz="3800" b="0" i="0" u="none" strike="noStrike" cap="none" spc="0" baseline="0">
          <a:solidFill>
            <a:srgbClr val="000000"/>
          </a:solidFill>
          <a:uFillTx/>
          <a:latin typeface="+mj-lt"/>
          <a:ea typeface="+mj-ea"/>
          <a:cs typeface="+mj-cs"/>
          <a:sym typeface="Calibri" panose="020F0502020204030204"/>
        </a:defRPr>
      </a:lvl9pPr>
    </p:bodyStyle>
    <p:otherStyle>
      <a:lvl1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1pPr>
      <a:lvl2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2pPr>
      <a:lvl3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3pPr>
      <a:lvl4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4pPr>
      <a:lvl5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5pPr>
      <a:lvl6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6pPr>
      <a:lvl7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7pPr>
      <a:lvl8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8pPr>
      <a:lvl9pPr marL="0" marR="0" indent="0" algn="r" defTabSz="1300480" rtl="0" latinLnBrk="0">
        <a:lnSpc>
          <a:spcPct val="100000"/>
        </a:lnSpc>
        <a:spcBef>
          <a:spcPts val="0"/>
        </a:spcBef>
        <a:spcAft>
          <a:spcPts val="0"/>
        </a:spcAft>
        <a:buClrTx/>
        <a:buSzTx/>
        <a:buFontTx/>
        <a:buNone/>
        <a:defRPr sz="1600" b="0" i="0" u="none" strike="noStrike" cap="none" spc="0" baseline="0">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image1.png" descr="image1.png"/>
          <p:cNvPicPr>
            <a:picLocks noChangeAspect="1"/>
          </p:cNvPicPr>
          <p:nvPr/>
        </p:nvPicPr>
        <p:blipFill>
          <a:blip r:embed="rId1"/>
          <a:stretch>
            <a:fillRect/>
          </a:stretch>
        </p:blipFill>
        <p:spPr>
          <a:xfrm>
            <a:off x="28809" y="1219199"/>
            <a:ext cx="13004808" cy="7315201"/>
          </a:xfrm>
          <a:prstGeom prst="rect">
            <a:avLst/>
          </a:prstGeom>
          <a:ln w="12700">
            <a:miter lim="400000"/>
            <a:headEnd/>
            <a:tailEnd/>
          </a:ln>
        </p:spPr>
      </p:pic>
      <p:sp>
        <p:nvSpPr>
          <p:cNvPr id="113" name="矩形"/>
          <p:cNvSpPr/>
          <p:nvPr/>
        </p:nvSpPr>
        <p:spPr>
          <a:xfrm>
            <a:off x="-1" y="5397008"/>
            <a:ext cx="4658437" cy="1615905"/>
          </a:xfrm>
          <a:prstGeom prst="rect">
            <a:avLst/>
          </a:prstGeom>
          <a:solidFill>
            <a:schemeClr val="accent1">
              <a:alpha val="80000"/>
            </a:schemeClr>
          </a:solidFill>
          <a:ln w="12700">
            <a:miter lim="400000"/>
          </a:ln>
        </p:spPr>
        <p:txBody>
          <a:bodyPr lIns="48765" tIns="48765" rIns="48765" bIns="48765" anchor="ctr"/>
          <a:lstStyle/>
          <a:p>
            <a:pPr algn="ctr">
              <a:defRPr>
                <a:solidFill>
                  <a:srgbClr val="FFFFFF"/>
                </a:solidFill>
              </a:defRPr>
            </a:pPr>
          </a:p>
        </p:txBody>
      </p:sp>
      <p:sp>
        <p:nvSpPr>
          <p:cNvPr id="114" name="矩形"/>
          <p:cNvSpPr/>
          <p:nvPr/>
        </p:nvSpPr>
        <p:spPr>
          <a:xfrm>
            <a:off x="4562750" y="5397008"/>
            <a:ext cx="8403994" cy="1615905"/>
          </a:xfrm>
          <a:prstGeom prst="rect">
            <a:avLst/>
          </a:prstGeom>
          <a:solidFill>
            <a:srgbClr val="FFFFFF">
              <a:alpha val="51332"/>
            </a:srgbClr>
          </a:solidFill>
          <a:ln w="12700">
            <a:miter lim="400000"/>
          </a:ln>
        </p:spPr>
        <p:txBody>
          <a:bodyPr lIns="48765" tIns="48765" rIns="48765" bIns="48765" anchor="ctr"/>
          <a:lstStyle/>
          <a:p>
            <a:pPr algn="ctr">
              <a:defRPr>
                <a:solidFill>
                  <a:srgbClr val="FFFFFF"/>
                </a:solidFill>
              </a:defRPr>
            </a:pPr>
          </a:p>
        </p:txBody>
      </p:sp>
      <p:sp>
        <p:nvSpPr>
          <p:cNvPr id="115" name="手机摄影"/>
          <p:cNvSpPr txBox="1"/>
          <p:nvPr/>
        </p:nvSpPr>
        <p:spPr>
          <a:xfrm>
            <a:off x="57621" y="5464752"/>
            <a:ext cx="4543193" cy="1088131"/>
          </a:xfrm>
          <a:prstGeom prst="rect">
            <a:avLst/>
          </a:prstGeom>
          <a:ln w="12700">
            <a:miter lim="400000"/>
          </a:ln>
        </p:spPr>
        <p:txBody>
          <a:bodyPr lIns="48765" tIns="48765" rIns="48765" bIns="48765">
            <a:spAutoFit/>
          </a:bodyPr>
          <a:lstStyle>
            <a:lvl1pPr algn="ctr">
              <a:defRPr sz="5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影 视 鉴 赏</a:t>
            </a:r>
          </a:p>
        </p:txBody>
      </p:sp>
      <p:sp>
        <p:nvSpPr>
          <p:cNvPr id="116" name="宁波大学潘天寿艺术学院  涂慧"/>
          <p:cNvSpPr txBox="1"/>
          <p:nvPr/>
        </p:nvSpPr>
        <p:spPr>
          <a:xfrm>
            <a:off x="654545" y="6501253"/>
            <a:ext cx="4081039" cy="415031"/>
          </a:xfrm>
          <a:prstGeom prst="rect">
            <a:avLst/>
          </a:prstGeom>
          <a:ln w="12700">
            <a:miter lim="400000"/>
          </a:ln>
        </p:spPr>
        <p:txBody>
          <a:bodyPr lIns="48765" tIns="48765" rIns="48765" bIns="48765">
            <a:spAutoFit/>
          </a:bodyPr>
          <a:lstStyle>
            <a:lvl1pPr>
              <a:defRPr sz="1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宁波大学潘天寿艺术学院  涂慧</a:t>
            </a:r>
          </a:p>
        </p:txBody>
      </p:sp>
      <p:sp>
        <p:nvSpPr>
          <p:cNvPr id="117" name="20190326"/>
          <p:cNvSpPr txBox="1"/>
          <p:nvPr/>
        </p:nvSpPr>
        <p:spPr>
          <a:xfrm>
            <a:off x="3324860" y="6101715"/>
            <a:ext cx="5746115" cy="862965"/>
          </a:xfrm>
          <a:prstGeom prst="rect">
            <a:avLst/>
          </a:prstGeom>
          <a:ln w="12700">
            <a:miter lim="400000"/>
          </a:ln>
        </p:spPr>
        <p:txBody>
          <a:bodyPr wrap="square" lIns="48765" tIns="48765" rIns="48765" bIns="48765">
            <a:spAutoFit/>
          </a:bodyPr>
          <a:lstStyle/>
          <a:p>
            <a:pPr indent="1024255">
              <a:spcBef>
                <a:spcPts val="700"/>
              </a:spcBef>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p>
          <a:p>
            <a:pPr indent="1024255">
              <a:spcBef>
                <a:spcPts val="700"/>
              </a:spcBef>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       20</a:t>
            </a:r>
            <a:r>
              <a:rPr lang="en-US"/>
              <a:t>2001</a:t>
            </a:r>
            <a:r>
              <a:t>-20</a:t>
            </a:r>
            <a:r>
              <a:rPr lang="en-US"/>
              <a:t>21</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1" nodeType="afterEffect">
                                  <p:stCondLst>
                                    <p:cond delay="0"/>
                                  </p:stCondLst>
                                  <p:iterate type="el">
                                    <p:tmAbs val="0"/>
                                  </p:iterate>
                                  <p:childTnLst>
                                    <p:set>
                                      <p:cBhvr>
                                        <p:cTn id="6" dur="indefinite" fill="hold"/>
                                        <p:tgtEl>
                                          <p:spTgt spid="113"/>
                                        </p:tgtEl>
                                        <p:attrNameLst>
                                          <p:attrName>style.visibility</p:attrName>
                                        </p:attrNameLst>
                                      </p:cBhvr>
                                      <p:to>
                                        <p:strVal val="visible"/>
                                      </p:to>
                                    </p:set>
                                    <p:animEffect transition="in" filter="wipe(right)">
                                      <p:cBhvr>
                                        <p:cTn id="7" dur="1000"/>
                                        <p:tgtEl>
                                          <p:spTgt spid="113"/>
                                        </p:tgtEl>
                                      </p:cBhvr>
                                    </p:animEffect>
                                  </p:childTnLst>
                                </p:cTn>
                              </p:par>
                            </p:childTnLst>
                          </p:cTn>
                        </p:par>
                        <p:par>
                          <p:cTn id="8" fill="hold">
                            <p:stCondLst>
                              <p:cond delay="1000"/>
                            </p:stCondLst>
                            <p:childTnLst>
                              <p:par>
                                <p:cTn id="9" presetID="22" presetClass="entr" presetSubtype="8" fill="hold" grpId="2" nodeType="afterEffect">
                                  <p:stCondLst>
                                    <p:cond delay="0"/>
                                  </p:stCondLst>
                                  <p:iterate type="el">
                                    <p:tmAbs val="0"/>
                                  </p:iterate>
                                  <p:childTnLst>
                                    <p:set>
                                      <p:cBhvr>
                                        <p:cTn id="10" dur="indefinite" fill="hold"/>
                                        <p:tgtEl>
                                          <p:spTgt spid="114"/>
                                        </p:tgtEl>
                                        <p:attrNameLst>
                                          <p:attrName>style.visibility</p:attrName>
                                        </p:attrNameLst>
                                      </p:cBhvr>
                                      <p:to>
                                        <p:strVal val="visible"/>
                                      </p:to>
                                    </p:set>
                                    <p:animEffect transition="in" filter="wipe(left)">
                                      <p:cBhvr>
                                        <p:cTn id="11" dur="1000"/>
                                        <p:tgtEl>
                                          <p:spTgt spid="114"/>
                                        </p:tgtEl>
                                      </p:cBhvr>
                                    </p:animEffect>
                                  </p:childTnLst>
                                </p:cTn>
                              </p:par>
                            </p:childTnLst>
                          </p:cTn>
                        </p:par>
                        <p:par>
                          <p:cTn id="12" fill="hold">
                            <p:stCondLst>
                              <p:cond delay="2000"/>
                            </p:stCondLst>
                            <p:childTnLst>
                              <p:par>
                                <p:cTn id="13" presetID="9" presetClass="entr" presetSubtype="0" fill="hold" grpId="3" nodeType="afterEffect">
                                  <p:stCondLst>
                                    <p:cond delay="0"/>
                                  </p:stCondLst>
                                  <p:iterate type="el">
                                    <p:tmAbs val="0"/>
                                  </p:iterate>
                                  <p:childTnLst>
                                    <p:set>
                                      <p:cBhvr>
                                        <p:cTn id="14" dur="indefinite" fill="hold"/>
                                        <p:tgtEl>
                                          <p:spTgt spid="115"/>
                                        </p:tgtEl>
                                        <p:attrNameLst>
                                          <p:attrName>style.visibility</p:attrName>
                                        </p:attrNameLst>
                                      </p:cBhvr>
                                      <p:to>
                                        <p:strVal val="visible"/>
                                      </p:to>
                                    </p:set>
                                    <p:animEffect transition="in" filter="dissolve">
                                      <p:cBhvr>
                                        <p:cTn id="15" dur="1000"/>
                                        <p:tgtEl>
                                          <p:spTgt spid="115"/>
                                        </p:tgtEl>
                                      </p:cBhvr>
                                    </p:animEffect>
                                  </p:childTnLst>
                                </p:cTn>
                              </p:par>
                            </p:childTnLst>
                          </p:cTn>
                        </p:par>
                        <p:par>
                          <p:cTn id="16" fill="hold">
                            <p:stCondLst>
                              <p:cond delay="3000"/>
                            </p:stCondLst>
                            <p:childTnLst>
                              <p:par>
                                <p:cTn id="17" presetID="9" presetClass="entr" presetSubtype="0" fill="hold" grpId="4" nodeType="afterEffect">
                                  <p:stCondLst>
                                    <p:cond delay="0"/>
                                  </p:stCondLst>
                                  <p:iterate type="el">
                                    <p:tmAbs val="0"/>
                                  </p:iterate>
                                  <p:childTnLst>
                                    <p:set>
                                      <p:cBhvr>
                                        <p:cTn id="18" dur="indefinite" fill="hold"/>
                                        <p:tgtEl>
                                          <p:spTgt spid="116"/>
                                        </p:tgtEl>
                                        <p:attrNameLst>
                                          <p:attrName>style.visibility</p:attrName>
                                        </p:attrNameLst>
                                      </p:cBhvr>
                                      <p:to>
                                        <p:strVal val="visible"/>
                                      </p:to>
                                    </p:set>
                                    <p:animEffect transition="in" filter="dissolve">
                                      <p:cBhvr>
                                        <p:cTn id="19" dur="1000"/>
                                        <p:tgtEl>
                                          <p:spTgt spid="116"/>
                                        </p:tgtEl>
                                      </p:cBhvr>
                                    </p:animEffect>
                                  </p:childTnLst>
                                </p:cTn>
                              </p:par>
                            </p:childTnLst>
                          </p:cTn>
                        </p:par>
                        <p:par>
                          <p:cTn id="20" fill="hold">
                            <p:stCondLst>
                              <p:cond delay="4000"/>
                            </p:stCondLst>
                            <p:childTnLst>
                              <p:par>
                                <p:cTn id="21" presetID="2" presetClass="entr" presetSubtype="2" fill="hold" grpId="5" nodeType="afterEffect">
                                  <p:stCondLst>
                                    <p:cond delay="0"/>
                                  </p:stCondLst>
                                  <p:iterate type="el">
                                    <p:tmAbs val="0"/>
                                  </p:iterate>
                                  <p:childTnLst>
                                    <p:set>
                                      <p:cBhvr>
                                        <p:cTn id="22" dur="indefinite" fill="hold"/>
                                        <p:tgtEl>
                                          <p:spTgt spid="117"/>
                                        </p:tgtEl>
                                        <p:attrNameLst>
                                          <p:attrName>style.visibility</p:attrName>
                                        </p:attrNameLst>
                                      </p:cBhvr>
                                      <p:to>
                                        <p:strVal val="visible"/>
                                      </p:to>
                                    </p:set>
                                    <p:anim calcmode="lin" valueType="num">
                                      <p:cBhvr>
                                        <p:cTn id="23" dur="1000" fill="hold"/>
                                        <p:tgtEl>
                                          <p:spTgt spid="117"/>
                                        </p:tgtEl>
                                        <p:attrNameLst>
                                          <p:attrName>ppt_x</p:attrName>
                                        </p:attrNameLst>
                                      </p:cBhvr>
                                      <p:tavLst>
                                        <p:tav tm="0">
                                          <p:val>
                                            <p:strVal val="1+#ppt_w/2"/>
                                          </p:val>
                                        </p:tav>
                                        <p:tav tm="100000">
                                          <p:val>
                                            <p:strVal val="#ppt_x"/>
                                          </p:val>
                                        </p:tav>
                                      </p:tavLst>
                                    </p:anim>
                                    <p:anim calcmode="lin" valueType="num">
                                      <p:cBhvr>
                                        <p:cTn id="24" dur="1000" fill="hold"/>
                                        <p:tgtEl>
                                          <p:spTgt spid="1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spid="116" grpId="4" animBg="1" advAuto="0"/>
      <p:bldP spid="113" grpId="1" animBg="1" advAuto="0"/>
      <p:bldP spid="114" grpId="2" animBg="1" advAuto="0"/>
      <p:bldP spid="115" grpId="3" animBg="1" advAuto="0"/>
      <p:bldP spid="117" grpId="5"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光圈"/>
          <p:cNvSpPr txBox="1"/>
          <p:nvPr/>
        </p:nvSpPr>
        <p:spPr>
          <a:xfrm>
            <a:off x="5545778" y="75402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认识电影</a:t>
            </a:r>
          </a:p>
        </p:txBody>
      </p:sp>
      <p:grpSp>
        <p:nvGrpSpPr>
          <p:cNvPr id="122" name="成组"/>
          <p:cNvGrpSpPr/>
          <p:nvPr/>
        </p:nvGrpSpPr>
        <p:grpSpPr>
          <a:xfrm>
            <a:off x="396887" y="766739"/>
            <a:ext cx="5462043" cy="757931"/>
            <a:chOff x="-1" y="-1"/>
            <a:chExt cx="5462041" cy="757929"/>
          </a:xfrm>
        </p:grpSpPr>
        <p:sp>
          <p:nvSpPr>
            <p:cNvPr id="120" name="矩形"/>
            <p:cNvSpPr/>
            <p:nvPr/>
          </p:nvSpPr>
          <p:spPr>
            <a:xfrm>
              <a:off x="-2" y="16374"/>
              <a:ext cx="1048160" cy="497422"/>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121"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126" name="成组"/>
          <p:cNvGrpSpPr/>
          <p:nvPr/>
        </p:nvGrpSpPr>
        <p:grpSpPr>
          <a:xfrm>
            <a:off x="10924139" y="7463997"/>
            <a:ext cx="1214926" cy="757945"/>
            <a:chOff x="-1" y="0"/>
            <a:chExt cx="1214925" cy="757943"/>
          </a:xfrm>
        </p:grpSpPr>
        <p:sp>
          <p:nvSpPr>
            <p:cNvPr id="123"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124"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125"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127" name="第一章   认识电影…"/>
          <p:cNvSpPr txBox="1"/>
          <p:nvPr/>
        </p:nvSpPr>
        <p:spPr>
          <a:xfrm>
            <a:off x="4204923" y="3099371"/>
            <a:ext cx="5720633" cy="3030214"/>
          </a:xfrm>
          <a:prstGeom prst="rect">
            <a:avLst/>
          </a:prstGeom>
          <a:ln w="12700">
            <a:miter lim="400000"/>
          </a:ln>
        </p:spPr>
        <p:txBody>
          <a:bodyPr lIns="48765" tIns="48765" rIns="48765" bIns="48765">
            <a:spAutoFit/>
          </a:bodyPr>
          <a:lstStyle/>
          <a:p>
            <a:pPr defTabSz="457200">
              <a:lnSpc>
                <a:spcPts val="5100"/>
              </a:lnSpc>
              <a:spcBef>
                <a:spcPts val="1200"/>
              </a:spcBef>
              <a:defRPr sz="28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第五章   中国电影 </a:t>
            </a:r>
            <a:endParaRPr>
              <a:latin typeface="Times"/>
              <a:ea typeface="Times"/>
              <a:cs typeface="Times"/>
              <a:sym typeface="Times"/>
            </a:endParaRPr>
          </a:p>
          <a:p>
            <a:pPr defTabSz="457200">
              <a:lnSpc>
                <a:spcPts val="4800"/>
              </a:lnSpc>
              <a:spcBef>
                <a:spcPts val="1200"/>
              </a:spcBef>
              <a:defRPr sz="2800">
                <a:latin typeface="Times"/>
                <a:ea typeface="Times"/>
                <a:cs typeface="Times"/>
                <a:sym typeface="Times"/>
              </a:defRPr>
            </a:pPr>
            <a:r>
              <a:t>5.1中国内地的六代导演</a:t>
            </a:r>
          </a:p>
          <a:p>
            <a:pPr defTabSz="457200">
              <a:lnSpc>
                <a:spcPts val="4800"/>
              </a:lnSpc>
              <a:spcBef>
                <a:spcPts val="1200"/>
              </a:spcBef>
              <a:defRPr sz="2800">
                <a:latin typeface="Times"/>
                <a:ea typeface="Times"/>
                <a:cs typeface="Times"/>
                <a:sym typeface="Times"/>
              </a:defRPr>
            </a:pPr>
            <a:r>
              <a:t>5.2香港电影的多元化</a:t>
            </a:r>
          </a:p>
          <a:p>
            <a:pPr defTabSz="457200">
              <a:lnSpc>
                <a:spcPts val="4800"/>
              </a:lnSpc>
              <a:spcBef>
                <a:spcPts val="1200"/>
              </a:spcBef>
              <a:defRPr sz="2800">
                <a:latin typeface="Times"/>
                <a:ea typeface="Times"/>
                <a:cs typeface="Times"/>
                <a:sym typeface="Times"/>
              </a:defRPr>
            </a:pPr>
            <a:r>
              <a:t>5.3台湾电影的民族性</a:t>
            </a: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26"/>
                                        </p:tgtEl>
                                        <p:attrNameLst>
                                          <p:attrName>style.visibility</p:attrName>
                                        </p:attrNameLst>
                                      </p:cBhvr>
                                      <p:to>
                                        <p:strVal val="visible"/>
                                      </p:to>
                                    </p:set>
                                    <p:anim calcmode="lin" valueType="num">
                                      <p:cBhvr>
                                        <p:cTn id="7" dur="750" fill="hold"/>
                                        <p:tgtEl>
                                          <p:spTgt spid="126"/>
                                        </p:tgtEl>
                                        <p:attrNameLst>
                                          <p:attrName>ppt_x</p:attrName>
                                        </p:attrNameLst>
                                      </p:cBhvr>
                                      <p:tavLst>
                                        <p:tav tm="0">
                                          <p:val>
                                            <p:strVal val="1+#ppt_w/2"/>
                                          </p:val>
                                        </p:tav>
                                        <p:tav tm="100000">
                                          <p:val>
                                            <p:strVal val="#ppt_x"/>
                                          </p:val>
                                        </p:tav>
                                      </p:tavLst>
                                    </p:anim>
                                    <p:anim calcmode="lin" valueType="num">
                                      <p:cBhvr>
                                        <p:cTn id="8" dur="750" fill="hold"/>
                                        <p:tgtEl>
                                          <p:spTgt spid="126"/>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119"/>
                                        </p:tgtEl>
                                        <p:attrNameLst>
                                          <p:attrName>style.visibility</p:attrName>
                                        </p:attrNameLst>
                                      </p:cBhvr>
                                      <p:to>
                                        <p:strVal val="visible"/>
                                      </p:to>
                                    </p:set>
                                    <p:animEffect transition="in" filter="wipe(right)">
                                      <p:cBhvr>
                                        <p:cTn id="12" dur="10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26" grpId="1" animBg="1" advAuto="0"/>
      <p:bldP spid="119" grpId="2"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 name="image2.png" descr="image2.png"/>
          <p:cNvPicPr>
            <a:picLocks noChangeAspect="1"/>
          </p:cNvPicPr>
          <p:nvPr/>
        </p:nvPicPr>
        <p:blipFill>
          <a:blip r:embed="rId1"/>
          <a:srcRect t="33436" b="43384"/>
          <a:stretch>
            <a:fillRect/>
          </a:stretch>
        </p:blipFill>
        <p:spPr>
          <a:xfrm>
            <a:off x="2835643" y="1201786"/>
            <a:ext cx="9694072" cy="1226231"/>
          </a:xfrm>
          <a:prstGeom prst="rect">
            <a:avLst/>
          </a:prstGeom>
          <a:ln w="12700">
            <a:miter lim="400000"/>
            <a:headEnd/>
            <a:tailEnd/>
          </a:ln>
        </p:spPr>
      </p:pic>
      <p:sp>
        <p:nvSpPr>
          <p:cNvPr id="130" name="矩形"/>
          <p:cNvSpPr/>
          <p:nvPr/>
        </p:nvSpPr>
        <p:spPr>
          <a:xfrm>
            <a:off x="475085" y="1201827"/>
            <a:ext cx="3217243" cy="1226268"/>
          </a:xfrm>
          <a:prstGeom prst="rect">
            <a:avLst/>
          </a:prstGeom>
          <a:solidFill>
            <a:schemeClr val="accent1">
              <a:alpha val="80000"/>
            </a:schemeClr>
          </a:solidFill>
          <a:ln w="12700">
            <a:miter lim="400000"/>
          </a:ln>
        </p:spPr>
        <p:txBody>
          <a:bodyPr lIns="48765" tIns="48765" rIns="48765" bIns="48765" anchor="ctr"/>
          <a:lstStyle/>
          <a:p>
            <a:pPr algn="ctr">
              <a:defRPr>
                <a:solidFill>
                  <a:srgbClr val="FFFFFF"/>
                </a:solidFill>
              </a:defRPr>
            </a:pPr>
          </a:p>
        </p:txBody>
      </p:sp>
      <p:sp>
        <p:nvSpPr>
          <p:cNvPr id="131" name="个人简介"/>
          <p:cNvSpPr txBox="1"/>
          <p:nvPr/>
        </p:nvSpPr>
        <p:spPr>
          <a:xfrm>
            <a:off x="551285" y="1419873"/>
            <a:ext cx="2787794" cy="884931"/>
          </a:xfrm>
          <a:prstGeom prst="rect">
            <a:avLst/>
          </a:prstGeom>
          <a:ln w="12700">
            <a:miter lim="400000"/>
          </a:ln>
        </p:spPr>
        <p:txBody>
          <a:bodyPr lIns="48765" tIns="48765" rIns="48765" bIns="48765">
            <a:spAutoFit/>
          </a:bodyPr>
          <a:lstStyle>
            <a:lvl1pPr>
              <a:defRPr sz="4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拉  片：</a:t>
            </a:r>
          </a:p>
        </p:txBody>
      </p:sp>
      <p:sp>
        <p:nvSpPr>
          <p:cNvPr id="132" name="《中国电影史》 钟大丰  舒晓鸣  著  中国广播电视出版社   2012年2月…"/>
          <p:cNvSpPr txBox="1"/>
          <p:nvPr/>
        </p:nvSpPr>
        <p:spPr>
          <a:xfrm>
            <a:off x="2327606" y="3326134"/>
            <a:ext cx="8661449" cy="4801020"/>
          </a:xfrm>
          <a:prstGeom prst="rect">
            <a:avLst/>
          </a:prstGeom>
          <a:ln w="12700">
            <a:miter lim="400000"/>
          </a:ln>
        </p:spPr>
        <p:txBody>
          <a:bodyPr lIns="48765" tIns="48765" rIns="48765" bIns="48765">
            <a:spAutoFit/>
          </a:bodyPr>
          <a:lstStyle/>
          <a:p>
            <a:pPr defTabSz="457200">
              <a:defRPr sz="2700">
                <a:solidFill>
                  <a:srgbClr val="333333"/>
                </a:solidFill>
                <a:latin typeface="Arial" panose="020B0604020202020204"/>
                <a:ea typeface="Arial" panose="020B0604020202020204"/>
                <a:cs typeface="Arial" panose="020B0604020202020204"/>
                <a:sym typeface="Arial" panose="020B0604020202020204"/>
              </a:defRPr>
            </a:pPr>
            <a:r>
              <a:t>《霸王别姬》</a:t>
            </a:r>
          </a:p>
          <a:p>
            <a:pPr defTabSz="457200">
              <a:defRPr sz="1400">
                <a:solidFill>
                  <a:srgbClr val="333333"/>
                </a:solidFill>
                <a:latin typeface="Arial" panose="020B0604020202020204"/>
                <a:ea typeface="Arial" panose="020B0604020202020204"/>
                <a:cs typeface="Arial" panose="020B0604020202020204"/>
                <a:sym typeface="Arial" panose="020B0604020202020204"/>
              </a:defRPr>
            </a:pPr>
            <a:r>
              <a:t>       </a:t>
            </a:r>
          </a:p>
          <a:p>
            <a:pPr defTabSz="457200">
              <a:lnSpc>
                <a:spcPct val="150000"/>
              </a:lnSpc>
              <a:defRPr sz="1400">
                <a:solidFill>
                  <a:srgbClr val="333333"/>
                </a:solidFill>
                <a:latin typeface="Arial" panose="020B0604020202020204"/>
                <a:ea typeface="Arial" panose="020B0604020202020204"/>
                <a:cs typeface="Arial" panose="020B0604020202020204"/>
                <a:sym typeface="Arial" panose="020B0604020202020204"/>
              </a:defRPr>
            </a:pPr>
            <a:r>
              <a:t>   1993年《霸王别姬》是汤臣电影有限公司出品的文艺片，该片改编自</a:t>
            </a:r>
            <a:r>
              <a:rPr u="sng">
                <a:solidFill>
                  <a:srgbClr val="0000FF"/>
                </a:solidFill>
                <a:uFill>
                  <a:solidFill>
                    <a:srgbClr val="0000FF"/>
                  </a:solidFill>
                </a:uFill>
              </a:rPr>
              <a:t>李碧华</a:t>
            </a:r>
            <a:r>
              <a:t>的同名小说，由</a:t>
            </a:r>
            <a:r>
              <a:rPr u="sng">
                <a:solidFill>
                  <a:srgbClr val="0000FF"/>
                </a:solidFill>
                <a:uFill>
                  <a:solidFill>
                    <a:srgbClr val="0000FF"/>
                  </a:solidFill>
                </a:uFill>
              </a:rPr>
              <a:t>陈凯歌</a:t>
            </a:r>
            <a:r>
              <a:t>执导。</a:t>
            </a:r>
          </a:p>
          <a:p>
            <a:pPr defTabSz="457200">
              <a:lnSpc>
                <a:spcPct val="150000"/>
              </a:lnSpc>
              <a:defRPr sz="1400">
                <a:solidFill>
                  <a:srgbClr val="333333"/>
                </a:solidFill>
                <a:latin typeface="Arial" panose="020B0604020202020204"/>
                <a:ea typeface="Arial" panose="020B0604020202020204"/>
                <a:cs typeface="Arial" panose="020B0604020202020204"/>
                <a:sym typeface="Arial" panose="020B0604020202020204"/>
              </a:defRPr>
            </a:pPr>
            <a:r>
              <a:t>                 李碧华、</a:t>
            </a:r>
            <a:r>
              <a:rPr u="sng">
                <a:solidFill>
                  <a:srgbClr val="0000FF"/>
                </a:solidFill>
                <a:uFill>
                  <a:solidFill>
                    <a:srgbClr val="0000FF"/>
                  </a:solidFill>
                </a:uFill>
              </a:rPr>
              <a:t>芦苇</a:t>
            </a:r>
            <a:r>
              <a:t>编剧；</a:t>
            </a:r>
          </a:p>
          <a:p>
            <a:pPr defTabSz="457200">
              <a:lnSpc>
                <a:spcPct val="150000"/>
              </a:lnSpc>
              <a:defRPr sz="1400">
                <a:solidFill>
                  <a:srgbClr val="333333"/>
                </a:solidFill>
                <a:latin typeface="Arial" panose="020B0604020202020204"/>
                <a:ea typeface="Arial" panose="020B0604020202020204"/>
                <a:cs typeface="Arial" panose="020B0604020202020204"/>
                <a:sym typeface="Arial" panose="020B0604020202020204"/>
              </a:defRPr>
            </a:pPr>
            <a:r>
              <a:t>                 </a:t>
            </a:r>
            <a:r>
              <a:rPr u="sng">
                <a:solidFill>
                  <a:srgbClr val="0000FF"/>
                </a:solidFill>
                <a:uFill>
                  <a:solidFill>
                    <a:srgbClr val="0000FF"/>
                  </a:solidFill>
                </a:uFill>
              </a:rPr>
              <a:t>张国荣</a:t>
            </a:r>
            <a:r>
              <a:t>、</a:t>
            </a:r>
            <a:r>
              <a:rPr u="sng">
                <a:solidFill>
                  <a:srgbClr val="0000FF"/>
                </a:solidFill>
                <a:uFill>
                  <a:solidFill>
                    <a:srgbClr val="0000FF"/>
                  </a:solidFill>
                </a:uFill>
              </a:rPr>
              <a:t>巩俐</a:t>
            </a:r>
            <a:r>
              <a:t>、</a:t>
            </a:r>
            <a:r>
              <a:rPr u="sng">
                <a:solidFill>
                  <a:srgbClr val="0000FF"/>
                </a:solidFill>
                <a:uFill>
                  <a:solidFill>
                    <a:srgbClr val="0000FF"/>
                  </a:solidFill>
                </a:uFill>
              </a:rPr>
              <a:t>张丰毅</a:t>
            </a:r>
            <a:r>
              <a:t>领衔主演。</a:t>
            </a:r>
          </a:p>
          <a:p>
            <a:pPr defTabSz="457200">
              <a:lnSpc>
                <a:spcPct val="150000"/>
              </a:lnSpc>
              <a:defRPr sz="1400">
                <a:solidFill>
                  <a:srgbClr val="333333"/>
                </a:solidFill>
                <a:latin typeface="Arial" panose="020B0604020202020204"/>
                <a:ea typeface="Arial" panose="020B0604020202020204"/>
                <a:cs typeface="Arial" panose="020B0604020202020204"/>
                <a:sym typeface="Arial" panose="020B0604020202020204"/>
              </a:defRPr>
            </a:pPr>
            <a:r>
              <a:t>     影片围绕两位京剧伶人半个世纪的</a:t>
            </a:r>
            <a:r>
              <a:rPr u="sng">
                <a:solidFill>
                  <a:srgbClr val="0000FF"/>
                </a:solidFill>
                <a:uFill>
                  <a:solidFill>
                    <a:srgbClr val="0000FF"/>
                  </a:solidFill>
                </a:uFill>
              </a:rPr>
              <a:t>悲欢离合</a:t>
            </a:r>
            <a:r>
              <a:t>，展现了对传统文化、人的生存状态及人性的思考与领悟。1993年该片在中国内地以及中国香港上映，此后在世界多个国家和地区公映，并且打破中国内地文艺片在美国的票房纪录。</a:t>
            </a:r>
            <a:r>
              <a:rPr sz="1000">
                <a:solidFill>
                  <a:srgbClr val="3366CC"/>
                </a:solidFill>
              </a:rPr>
              <a:t> [1]</a:t>
            </a:r>
            <a:r>
              <a:rPr sz="1200">
                <a:solidFill>
                  <a:srgbClr val="136EC2"/>
                </a:solidFill>
              </a:rPr>
              <a:t> </a:t>
            </a:r>
            <a:endParaRPr sz="1200">
              <a:solidFill>
                <a:srgbClr val="136EC2"/>
              </a:solidFill>
            </a:endParaRPr>
          </a:p>
          <a:p>
            <a:pPr defTabSz="457200">
              <a:lnSpc>
                <a:spcPct val="150000"/>
              </a:lnSpc>
              <a:defRPr sz="1400">
                <a:solidFill>
                  <a:srgbClr val="333333"/>
                </a:solidFill>
                <a:latin typeface="Arial" panose="020B0604020202020204"/>
                <a:ea typeface="Arial" panose="020B0604020202020204"/>
                <a:cs typeface="Arial" panose="020B0604020202020204"/>
                <a:sym typeface="Arial" panose="020B0604020202020204"/>
              </a:defRPr>
            </a:pPr>
            <a:r>
              <a:t>        1993年该片荣获法国</a:t>
            </a:r>
            <a:r>
              <a:rPr u="sng">
                <a:solidFill>
                  <a:srgbClr val="0000FF"/>
                </a:solidFill>
                <a:uFill>
                  <a:solidFill>
                    <a:srgbClr val="0000FF"/>
                  </a:solidFill>
                </a:uFill>
              </a:rPr>
              <a:t>戛纳国际电影节</a:t>
            </a:r>
            <a:r>
              <a:t>最高奖项金棕榈大奖，成为首部获此殊荣的中国影片</a:t>
            </a:r>
            <a:r>
              <a:rPr sz="1000">
                <a:solidFill>
                  <a:srgbClr val="3366CC"/>
                </a:solidFill>
              </a:rPr>
              <a:t> [2]</a:t>
            </a:r>
            <a:r>
              <a:rPr sz="1200">
                <a:solidFill>
                  <a:srgbClr val="136EC2"/>
                </a:solidFill>
              </a:rPr>
              <a:t> </a:t>
            </a:r>
            <a:r>
              <a:t> ；此外这部电影还获得了美国</a:t>
            </a:r>
            <a:r>
              <a:rPr u="sng">
                <a:solidFill>
                  <a:srgbClr val="0000FF"/>
                </a:solidFill>
                <a:uFill>
                  <a:solidFill>
                    <a:srgbClr val="0000FF"/>
                  </a:solidFill>
                </a:uFill>
              </a:rPr>
              <a:t>金球奖</a:t>
            </a:r>
            <a:r>
              <a:t>最佳外语片奖、国际影评人联盟大奖等多项国际大奖，并且是唯一一部同时获得戛纳国际电影节金棕榈大奖、美国金球奖最佳外语片的华语电影</a:t>
            </a:r>
            <a:r>
              <a:rPr sz="1000">
                <a:solidFill>
                  <a:srgbClr val="3366CC"/>
                </a:solidFill>
              </a:rPr>
              <a:t> [3]</a:t>
            </a:r>
            <a:r>
              <a:rPr sz="1200">
                <a:solidFill>
                  <a:srgbClr val="136EC2"/>
                </a:solidFill>
              </a:rPr>
              <a:t> </a:t>
            </a:r>
            <a:r>
              <a:t> 。1994年张国荣凭借此片获得第4届</a:t>
            </a:r>
            <a:r>
              <a:rPr u="sng">
                <a:solidFill>
                  <a:srgbClr val="0000FF"/>
                </a:solidFill>
                <a:uFill>
                  <a:solidFill>
                    <a:srgbClr val="0000FF"/>
                  </a:solidFill>
                </a:uFill>
              </a:rPr>
              <a:t>中国电影表演艺术学会</a:t>
            </a:r>
            <a:r>
              <a:t>特别贡献奖。2005年《霸王别姬》入选美国《</a:t>
            </a:r>
            <a:r>
              <a:rPr u="sng">
                <a:solidFill>
                  <a:srgbClr val="0000FF"/>
                </a:solidFill>
                <a:uFill>
                  <a:solidFill>
                    <a:srgbClr val="0000FF"/>
                  </a:solidFill>
                </a:uFill>
              </a:rPr>
              <a:t>时代周刊</a:t>
            </a:r>
            <a:r>
              <a:t>》评出的“全球史上百部最佳电影”。</a:t>
            </a:r>
            <a:r>
              <a:rPr sz="1000">
                <a:solidFill>
                  <a:srgbClr val="3366CC"/>
                </a:solidFill>
              </a:rPr>
              <a:t> [4]</a:t>
            </a:r>
            <a:r>
              <a:rPr sz="1200">
                <a:solidFill>
                  <a:srgbClr val="136EC2"/>
                </a:solidFill>
              </a:rPr>
              <a:t> </a:t>
            </a:r>
            <a:endParaRPr sz="1000">
              <a:solidFill>
                <a:srgbClr val="3366CC"/>
              </a:solidFill>
            </a:endParaRP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30"/>
                                        </p:tgtEl>
                                        <p:attrNameLst>
                                          <p:attrName>style.visibility</p:attrName>
                                        </p:attrNameLst>
                                      </p:cBhvr>
                                      <p:to>
                                        <p:strVal val="visible"/>
                                      </p:to>
                                    </p:set>
                                    <p:anim calcmode="lin" valueType="num">
                                      <p:cBhvr>
                                        <p:cTn id="7" dur="1000" fill="hold"/>
                                        <p:tgtEl>
                                          <p:spTgt spid="130"/>
                                        </p:tgtEl>
                                        <p:attrNameLst>
                                          <p:attrName>ppt_x</p:attrName>
                                        </p:attrNameLst>
                                      </p:cBhvr>
                                      <p:tavLst>
                                        <p:tav tm="0">
                                          <p:val>
                                            <p:strVal val="1+#ppt_w/2"/>
                                          </p:val>
                                        </p:tav>
                                        <p:tav tm="100000">
                                          <p:val>
                                            <p:strVal val="#ppt_x"/>
                                          </p:val>
                                        </p:tav>
                                      </p:tavLst>
                                    </p:anim>
                                    <p:anim calcmode="lin" valueType="num">
                                      <p:cBhvr>
                                        <p:cTn id="8" dur="1000" fill="hold"/>
                                        <p:tgtEl>
                                          <p:spTgt spid="13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9" presetClass="entr" presetSubtype="0" fill="hold" grpId="2" nodeType="afterEffect">
                                  <p:stCondLst>
                                    <p:cond delay="0"/>
                                  </p:stCondLst>
                                  <p:iterate type="el">
                                    <p:tmAbs val="0"/>
                                  </p:iterate>
                                  <p:childTnLst>
                                    <p:set>
                                      <p:cBhvr>
                                        <p:cTn id="11" dur="indefinite" fill="hold"/>
                                        <p:tgtEl>
                                          <p:spTgt spid="131"/>
                                        </p:tgtEl>
                                        <p:attrNameLst>
                                          <p:attrName>style.visibility</p:attrName>
                                        </p:attrNameLst>
                                      </p:cBhvr>
                                      <p:to>
                                        <p:strVal val="visible"/>
                                      </p:to>
                                    </p:set>
                                    <p:animEffect transition="in" filter="dissolve">
                                      <p:cBhvr>
                                        <p:cTn id="12" dur="10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30" grpId="1" animBg="1" advAuto="0"/>
      <p:bldP spid="131" grpId="2"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光圈"/>
          <p:cNvSpPr txBox="1"/>
          <p:nvPr/>
        </p:nvSpPr>
        <p:spPr>
          <a:xfrm>
            <a:off x="5774378" y="84165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看电影</a:t>
            </a:r>
          </a:p>
        </p:txBody>
      </p:sp>
      <p:grpSp>
        <p:nvGrpSpPr>
          <p:cNvPr id="137" name="成组"/>
          <p:cNvGrpSpPr/>
          <p:nvPr/>
        </p:nvGrpSpPr>
        <p:grpSpPr>
          <a:xfrm>
            <a:off x="396887" y="766739"/>
            <a:ext cx="5462043" cy="757931"/>
            <a:chOff x="-1" y="-1"/>
            <a:chExt cx="5462041" cy="757929"/>
          </a:xfrm>
        </p:grpSpPr>
        <p:sp>
          <p:nvSpPr>
            <p:cNvPr id="135" name="矩形"/>
            <p:cNvSpPr/>
            <p:nvPr/>
          </p:nvSpPr>
          <p:spPr>
            <a:xfrm>
              <a:off x="-2" y="16374"/>
              <a:ext cx="1048160" cy="497422"/>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136"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141" name="成组"/>
          <p:cNvGrpSpPr/>
          <p:nvPr/>
        </p:nvGrpSpPr>
        <p:grpSpPr>
          <a:xfrm>
            <a:off x="11152739" y="8340297"/>
            <a:ext cx="1214926" cy="757945"/>
            <a:chOff x="-1" y="0"/>
            <a:chExt cx="1214925" cy="757943"/>
          </a:xfrm>
        </p:grpSpPr>
        <p:sp>
          <p:nvSpPr>
            <p:cNvPr id="138"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139"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140"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142" name="三个大时代、四个时空交叉的故事，构建百年近代风华：…"/>
          <p:cNvSpPr txBox="1"/>
          <p:nvPr/>
        </p:nvSpPr>
        <p:spPr>
          <a:xfrm>
            <a:off x="1826200" y="2105596"/>
            <a:ext cx="10044615" cy="6029828"/>
          </a:xfrm>
          <a:prstGeom prst="rect">
            <a:avLst/>
          </a:prstGeom>
          <a:ln w="12700">
            <a:miter lim="400000"/>
          </a:ln>
        </p:spPr>
        <p:txBody>
          <a:bodyPr lIns="48765" tIns="48765" rIns="48765" bIns="48765">
            <a:spAutoFit/>
          </a:bodyPr>
          <a:lstStyle/>
          <a:p>
            <a:pPr defTabSz="457200">
              <a:lnSpc>
                <a:spcPct val="150000"/>
              </a:lnSpc>
              <a:defRPr sz="2800">
                <a:solidFill>
                  <a:srgbClr val="333333"/>
                </a:solidFill>
                <a:latin typeface="Arial" panose="020B0604020202020204"/>
                <a:ea typeface="Arial" panose="020B0604020202020204"/>
                <a:cs typeface="Arial" panose="020B0604020202020204"/>
                <a:sym typeface="Arial" panose="020B0604020202020204"/>
              </a:defRPr>
            </a:pPr>
            <a:r>
              <a:t>       中国</a:t>
            </a:r>
            <a:r>
              <a:rPr u="sng">
                <a:solidFill>
                  <a:srgbClr val="0000FF"/>
                </a:solidFill>
                <a:uFill>
                  <a:solidFill>
                    <a:srgbClr val="0000FF"/>
                  </a:solidFill>
                </a:uFill>
              </a:rPr>
              <a:t>电影</a:t>
            </a:r>
            <a:r>
              <a:t>从无声、单机、黑白影片到高科技、大投入、环绕立体声</a:t>
            </a:r>
            <a:r>
              <a:rPr u="sng">
                <a:solidFill>
                  <a:srgbClr val="0000FF"/>
                </a:solidFill>
                <a:uFill>
                  <a:solidFill>
                    <a:srgbClr val="0000FF"/>
                  </a:solidFill>
                </a:uFill>
              </a:rPr>
              <a:t>巨幕电影</a:t>
            </a:r>
            <a:r>
              <a:t>，乃至全球最有影响力的电影节，以武术及以尚武崇德的侠义思想为主题的电影占据了中国电影的重要地位。</a:t>
            </a:r>
          </a:p>
          <a:p>
            <a:pPr defTabSz="457200">
              <a:lnSpc>
                <a:spcPct val="150000"/>
              </a:lnSpc>
              <a:defRPr sz="2800">
                <a:solidFill>
                  <a:srgbClr val="333333"/>
                </a:solidFill>
                <a:latin typeface="Arial" panose="020B0604020202020204"/>
                <a:ea typeface="Arial" panose="020B0604020202020204"/>
                <a:cs typeface="Arial" panose="020B0604020202020204"/>
                <a:sym typeface="Arial" panose="020B0604020202020204"/>
              </a:defRPr>
            </a:pPr>
            <a:r>
              <a:t>       1905年，中国第一部电影《</a:t>
            </a:r>
            <a:r>
              <a:rPr u="sng">
                <a:solidFill>
                  <a:srgbClr val="0000FF"/>
                </a:solidFill>
                <a:uFill>
                  <a:solidFill>
                    <a:srgbClr val="0000FF"/>
                  </a:solidFill>
                </a:uFill>
              </a:rPr>
              <a:t>定军山</a:t>
            </a:r>
            <a:r>
              <a:t>》 在北京</a:t>
            </a:r>
            <a:r>
              <a:rPr u="sng">
                <a:solidFill>
                  <a:srgbClr val="0000FF"/>
                </a:solidFill>
                <a:uFill>
                  <a:solidFill>
                    <a:srgbClr val="0000FF"/>
                  </a:solidFill>
                </a:uFill>
              </a:rPr>
              <a:t>丰泰照相馆</a:t>
            </a:r>
            <a:r>
              <a:t>诞生，著名京剧老生</a:t>
            </a:r>
            <a:r>
              <a:rPr u="sng">
                <a:solidFill>
                  <a:srgbClr val="0000FF"/>
                </a:solidFill>
                <a:uFill>
                  <a:solidFill>
                    <a:srgbClr val="0000FF"/>
                  </a:solidFill>
                </a:uFill>
              </a:rPr>
              <a:t>谭鑫培</a:t>
            </a:r>
            <a:r>
              <a:t>在镜头前表演了自己最拿手的几个片断。片子随后被拿到前门大观楼熙攘的人群中放映，</a:t>
            </a:r>
            <a:r>
              <a:rPr u="sng">
                <a:solidFill>
                  <a:srgbClr val="0000FF"/>
                </a:solidFill>
                <a:uFill>
                  <a:solidFill>
                    <a:srgbClr val="0000FF"/>
                  </a:solidFill>
                </a:uFill>
              </a:rPr>
              <a:t>万人空巷</a:t>
            </a:r>
            <a:r>
              <a:t>，就此宣告中国电影的诞生。</a:t>
            </a: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41"/>
                                        </p:tgtEl>
                                        <p:attrNameLst>
                                          <p:attrName>style.visibility</p:attrName>
                                        </p:attrNameLst>
                                      </p:cBhvr>
                                      <p:to>
                                        <p:strVal val="visible"/>
                                      </p:to>
                                    </p:set>
                                    <p:anim calcmode="lin" valueType="num">
                                      <p:cBhvr>
                                        <p:cTn id="7" dur="750" fill="hold"/>
                                        <p:tgtEl>
                                          <p:spTgt spid="141"/>
                                        </p:tgtEl>
                                        <p:attrNameLst>
                                          <p:attrName>ppt_x</p:attrName>
                                        </p:attrNameLst>
                                      </p:cBhvr>
                                      <p:tavLst>
                                        <p:tav tm="0">
                                          <p:val>
                                            <p:strVal val="1+#ppt_w/2"/>
                                          </p:val>
                                        </p:tav>
                                        <p:tav tm="100000">
                                          <p:val>
                                            <p:strVal val="#ppt_x"/>
                                          </p:val>
                                        </p:tav>
                                      </p:tavLst>
                                    </p:anim>
                                    <p:anim calcmode="lin" valueType="num">
                                      <p:cBhvr>
                                        <p:cTn id="8" dur="750" fill="hold"/>
                                        <p:tgtEl>
                                          <p:spTgt spid="141"/>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134"/>
                                        </p:tgtEl>
                                        <p:attrNameLst>
                                          <p:attrName>style.visibility</p:attrName>
                                        </p:attrNameLst>
                                      </p:cBhvr>
                                      <p:to>
                                        <p:strVal val="visible"/>
                                      </p:to>
                                    </p:set>
                                    <p:animEffect transition="in" filter="wipe(right)">
                                      <p:cBhvr>
                                        <p:cTn id="12"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41" grpId="1" animBg="1" advAuto="0"/>
      <p:bldP spid="134" grpId="2"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光圈"/>
          <p:cNvSpPr txBox="1"/>
          <p:nvPr/>
        </p:nvSpPr>
        <p:spPr>
          <a:xfrm>
            <a:off x="5774378" y="75402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中国电影</a:t>
            </a:r>
          </a:p>
        </p:txBody>
      </p:sp>
      <p:grpSp>
        <p:nvGrpSpPr>
          <p:cNvPr id="147" name="成组"/>
          <p:cNvGrpSpPr/>
          <p:nvPr/>
        </p:nvGrpSpPr>
        <p:grpSpPr>
          <a:xfrm>
            <a:off x="396887" y="766739"/>
            <a:ext cx="5462043" cy="757931"/>
            <a:chOff x="-1" y="-1"/>
            <a:chExt cx="5462041" cy="757929"/>
          </a:xfrm>
        </p:grpSpPr>
        <p:sp>
          <p:nvSpPr>
            <p:cNvPr id="145" name="矩形"/>
            <p:cNvSpPr/>
            <p:nvPr/>
          </p:nvSpPr>
          <p:spPr>
            <a:xfrm>
              <a:off x="-2" y="16374"/>
              <a:ext cx="1048160" cy="497422"/>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146"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151" name="成组"/>
          <p:cNvGrpSpPr/>
          <p:nvPr/>
        </p:nvGrpSpPr>
        <p:grpSpPr>
          <a:xfrm>
            <a:off x="10924139" y="7463997"/>
            <a:ext cx="1214926" cy="757945"/>
            <a:chOff x="-1" y="0"/>
            <a:chExt cx="1214925" cy="757943"/>
          </a:xfrm>
        </p:grpSpPr>
        <p:sp>
          <p:nvSpPr>
            <p:cNvPr id="148"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149"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150"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152" name="第三章   影视鉴赏的声画元素…"/>
          <p:cNvSpPr txBox="1"/>
          <p:nvPr/>
        </p:nvSpPr>
        <p:spPr>
          <a:xfrm>
            <a:off x="2034029" y="1991619"/>
            <a:ext cx="9512350" cy="5291098"/>
          </a:xfrm>
          <a:prstGeom prst="rect">
            <a:avLst/>
          </a:prstGeom>
          <a:ln w="12700">
            <a:miter lim="400000"/>
          </a:ln>
        </p:spPr>
        <p:txBody>
          <a:bodyPr lIns="48765" tIns="48765" rIns="48765" bIns="48765">
            <a:spAutoFit/>
          </a:bodyPr>
          <a:lstStyle/>
          <a:p>
            <a:pPr defTabSz="457200">
              <a:defRPr sz="2300">
                <a:solidFill>
                  <a:srgbClr val="333333"/>
                </a:solidFill>
                <a:latin typeface="Verdana" panose="020B0604030504040204"/>
                <a:ea typeface="Verdana" panose="020B0604030504040204"/>
                <a:cs typeface="Verdana" panose="020B0604030504040204"/>
                <a:sym typeface="Verdana" panose="020B0604030504040204"/>
              </a:defRPr>
            </a:pPr>
            <a:r>
              <a:t>第一个产业时期</a:t>
            </a:r>
          </a:p>
          <a:p>
            <a:pPr defTabSz="457200">
              <a:defRPr sz="1800">
                <a:solidFill>
                  <a:srgbClr val="333333"/>
                </a:solidFill>
                <a:latin typeface="Verdana" panose="020B0604030504040204"/>
                <a:ea typeface="Verdana" panose="020B0604030504040204"/>
                <a:cs typeface="Verdana" panose="020B0604030504040204"/>
                <a:sym typeface="Verdana" panose="020B0604030504040204"/>
              </a:defRPr>
            </a:pPr>
          </a:p>
          <a:p>
            <a:pPr defTabSz="457200">
              <a:defRPr sz="1800">
                <a:solidFill>
                  <a:srgbClr val="333333"/>
                </a:solidFill>
                <a:latin typeface="Verdana" panose="020B0604030504040204"/>
                <a:ea typeface="Verdana" panose="020B0604030504040204"/>
                <a:cs typeface="Verdana" panose="020B0604030504040204"/>
                <a:sym typeface="Verdana" panose="020B0604030504040204"/>
              </a:defRPr>
            </a:pPr>
          </a:p>
          <a:p>
            <a:pPr defTabSz="457200">
              <a:defRPr sz="1400">
                <a:solidFill>
                  <a:srgbClr val="333333"/>
                </a:solidFill>
                <a:latin typeface="Arial" panose="020B0604020202020204"/>
                <a:ea typeface="Arial" panose="020B0604020202020204"/>
                <a:cs typeface="Arial" panose="020B0604020202020204"/>
                <a:sym typeface="Arial" panose="020B0604020202020204"/>
              </a:defRPr>
            </a:pPr>
            <a:r>
              <a:t>      </a:t>
            </a:r>
            <a:r>
              <a:rPr sz="1700"/>
              <a:t>中国电影第一个产业时期是1922年—1937年。</a:t>
            </a:r>
            <a:endParaRPr sz="1700"/>
          </a:p>
          <a:p>
            <a:pPr defTabSz="457200">
              <a:defRPr sz="1700">
                <a:solidFill>
                  <a:srgbClr val="333333"/>
                </a:solidFill>
                <a:latin typeface="Arial" panose="020B0604020202020204"/>
                <a:ea typeface="Arial" panose="020B0604020202020204"/>
                <a:cs typeface="Arial" panose="020B0604020202020204"/>
                <a:sym typeface="Arial" panose="020B0604020202020204"/>
              </a:defRPr>
            </a:pPr>
            <a:r>
              <a:t>      在世界电影诞生的第二年，1896年电影现身于上海。中国本土的电影业便从商业放映起步。   </a:t>
            </a:r>
          </a:p>
          <a:p>
            <a:pPr defTabSz="457200">
              <a:defRPr sz="1700">
                <a:solidFill>
                  <a:srgbClr val="333333"/>
                </a:solidFill>
                <a:latin typeface="Arial" panose="020B0604020202020204"/>
                <a:ea typeface="Arial" panose="020B0604020202020204"/>
                <a:cs typeface="Arial" panose="020B0604020202020204"/>
                <a:sym typeface="Arial" panose="020B0604020202020204"/>
              </a:defRPr>
            </a:pPr>
            <a:r>
              <a:t>     </a:t>
            </a:r>
            <a:r>
              <a:rPr b="1"/>
              <a:t> 资本：</a:t>
            </a:r>
            <a:r>
              <a:t>上世纪20年代，开始向私营化的产业发展，当时社会的资本环境与行业内的准备日渐成熟，民族工商业获得了空前的机遇得以迅猛发展，个人/社会资本，更准确地说是“游资”的逐渐充盈，使得很多资本家们投资的目标开始瞄准电影这一新兴行业。</a:t>
            </a:r>
          </a:p>
          <a:p>
            <a:pPr defTabSz="457200">
              <a:defRPr sz="1700">
                <a:solidFill>
                  <a:srgbClr val="333333"/>
                </a:solidFill>
                <a:latin typeface="Arial" panose="020B0604020202020204"/>
                <a:ea typeface="Arial" panose="020B0604020202020204"/>
                <a:cs typeface="Arial" panose="020B0604020202020204"/>
                <a:sym typeface="Arial" panose="020B0604020202020204"/>
              </a:defRPr>
            </a:pPr>
          </a:p>
          <a:p>
            <a:pPr defTabSz="457200">
              <a:defRPr sz="1700" b="1">
                <a:solidFill>
                  <a:srgbClr val="333333"/>
                </a:solidFill>
                <a:latin typeface="Arial" panose="020B0604020202020204"/>
                <a:ea typeface="Arial" panose="020B0604020202020204"/>
                <a:cs typeface="Arial" panose="020B0604020202020204"/>
                <a:sym typeface="Arial" panose="020B0604020202020204"/>
              </a:defRPr>
            </a:pPr>
            <a:r>
              <a:t>     人才</a:t>
            </a:r>
            <a:r>
              <a:rPr b="0"/>
              <a:t>在这个行业里，人才和技术上的储备正在丰满，</a:t>
            </a:r>
            <a:r>
              <a:rPr b="0" u="sng">
                <a:solidFill>
                  <a:srgbClr val="0000FF"/>
                </a:solidFill>
                <a:uFill>
                  <a:solidFill>
                    <a:srgbClr val="0000FF"/>
                  </a:solidFill>
                </a:uFill>
              </a:rPr>
              <a:t>张石川</a:t>
            </a:r>
            <a:r>
              <a:rPr b="0"/>
              <a:t>、</a:t>
            </a:r>
            <a:r>
              <a:rPr b="0" u="sng">
                <a:solidFill>
                  <a:srgbClr val="0000FF"/>
                </a:solidFill>
                <a:uFill>
                  <a:solidFill>
                    <a:srgbClr val="0000FF"/>
                  </a:solidFill>
                </a:uFill>
              </a:rPr>
              <a:t>郑正秋</a:t>
            </a:r>
            <a:r>
              <a:rPr b="0"/>
              <a:t>、</a:t>
            </a:r>
            <a:r>
              <a:rPr b="0" u="sng">
                <a:solidFill>
                  <a:srgbClr val="0000FF"/>
                </a:solidFill>
                <a:uFill>
                  <a:solidFill>
                    <a:srgbClr val="0000FF"/>
                  </a:solidFill>
                </a:uFill>
              </a:rPr>
              <a:t>罗明佑</a:t>
            </a:r>
            <a:r>
              <a:rPr b="0"/>
              <a:t>、</a:t>
            </a:r>
            <a:r>
              <a:rPr b="0" u="sng">
                <a:solidFill>
                  <a:srgbClr val="0000FF"/>
                </a:solidFill>
                <a:uFill>
                  <a:solidFill>
                    <a:srgbClr val="0000FF"/>
                  </a:solidFill>
                </a:uFill>
              </a:rPr>
              <a:t>黎民伟</a:t>
            </a:r>
            <a:r>
              <a:rPr b="0"/>
              <a:t>和后来的</a:t>
            </a:r>
            <a:r>
              <a:rPr b="0" u="sng">
                <a:solidFill>
                  <a:srgbClr val="0000FF"/>
                </a:solidFill>
                <a:uFill>
                  <a:solidFill>
                    <a:srgbClr val="0000FF"/>
                  </a:solidFill>
                </a:uFill>
              </a:rPr>
              <a:t>邵氏兄弟</a:t>
            </a:r>
            <a:r>
              <a:rPr b="0"/>
              <a:t>等一批电影人都是从摇篮期走过来的先驱者，他们各自不同程度地涉猎了电影行当中创作、制片甚至发行、放映几个方面，所积攒下来的经验使之成为上世纪二三十年代的电影中坚。</a:t>
            </a:r>
            <a:endParaRPr b="0"/>
          </a:p>
          <a:p>
            <a:pPr defTabSz="457200">
              <a:defRPr sz="1700">
                <a:solidFill>
                  <a:srgbClr val="333333"/>
                </a:solidFill>
                <a:latin typeface="Arial" panose="020B0604020202020204"/>
                <a:ea typeface="Arial" panose="020B0604020202020204"/>
                <a:cs typeface="Arial" panose="020B0604020202020204"/>
                <a:sym typeface="Arial" panose="020B0604020202020204"/>
              </a:defRPr>
            </a:pPr>
          </a:p>
          <a:p>
            <a:pPr defTabSz="457200">
              <a:defRPr sz="1700">
                <a:solidFill>
                  <a:srgbClr val="333333"/>
                </a:solidFill>
                <a:latin typeface="Arial" panose="020B0604020202020204"/>
                <a:ea typeface="Arial" panose="020B0604020202020204"/>
                <a:cs typeface="Arial" panose="020B0604020202020204"/>
                <a:sym typeface="Arial" panose="020B0604020202020204"/>
              </a:defRPr>
            </a:pPr>
            <a:r>
              <a:t>        </a:t>
            </a:r>
            <a:r>
              <a:rPr b="1"/>
              <a:t>技术：</a:t>
            </a:r>
            <a:r>
              <a:t>初期设备使用和摄制过程都要依靠外国技术人员，但有了像</a:t>
            </a:r>
            <a:r>
              <a:rPr u="sng">
                <a:solidFill>
                  <a:srgbClr val="0000FF"/>
                </a:solidFill>
                <a:uFill>
                  <a:solidFill>
                    <a:srgbClr val="0000FF"/>
                  </a:solidFill>
                </a:uFill>
              </a:rPr>
              <a:t>罗永祥</a:t>
            </a:r>
            <a:r>
              <a:t>、</a:t>
            </a:r>
            <a:r>
              <a:rPr u="sng">
                <a:solidFill>
                  <a:srgbClr val="0000FF"/>
                </a:solidFill>
                <a:uFill>
                  <a:solidFill>
                    <a:srgbClr val="0000FF"/>
                  </a:solidFill>
                </a:uFill>
              </a:rPr>
              <a:t>董克毅</a:t>
            </a:r>
            <a:r>
              <a:t>、</a:t>
            </a:r>
            <a:r>
              <a:rPr u="sng">
                <a:solidFill>
                  <a:srgbClr val="0000FF"/>
                </a:solidFill>
                <a:uFill>
                  <a:solidFill>
                    <a:srgbClr val="0000FF"/>
                  </a:solidFill>
                </a:uFill>
              </a:rPr>
              <a:t>吴蔚云</a:t>
            </a:r>
            <a:r>
              <a:t>等最早的一批技术人才的加盟，这一局面很快就被打破。具备了上述条件，1922年明星公司成立为标志，电影公司迅速增长，到1924—1926年达到了高峰，据统计中国共开设有175家电影公司，仅上海一地就有141家。</a:t>
            </a: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51"/>
                                        </p:tgtEl>
                                        <p:attrNameLst>
                                          <p:attrName>style.visibility</p:attrName>
                                        </p:attrNameLst>
                                      </p:cBhvr>
                                      <p:to>
                                        <p:strVal val="visible"/>
                                      </p:to>
                                    </p:set>
                                    <p:anim calcmode="lin" valueType="num">
                                      <p:cBhvr>
                                        <p:cTn id="7" dur="750" fill="hold"/>
                                        <p:tgtEl>
                                          <p:spTgt spid="151"/>
                                        </p:tgtEl>
                                        <p:attrNameLst>
                                          <p:attrName>ppt_x</p:attrName>
                                        </p:attrNameLst>
                                      </p:cBhvr>
                                      <p:tavLst>
                                        <p:tav tm="0">
                                          <p:val>
                                            <p:strVal val="1+#ppt_w/2"/>
                                          </p:val>
                                        </p:tav>
                                        <p:tav tm="100000">
                                          <p:val>
                                            <p:strVal val="#ppt_x"/>
                                          </p:val>
                                        </p:tav>
                                      </p:tavLst>
                                    </p:anim>
                                    <p:anim calcmode="lin" valueType="num">
                                      <p:cBhvr>
                                        <p:cTn id="8" dur="750" fill="hold"/>
                                        <p:tgtEl>
                                          <p:spTgt spid="151"/>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144"/>
                                        </p:tgtEl>
                                        <p:attrNameLst>
                                          <p:attrName>style.visibility</p:attrName>
                                        </p:attrNameLst>
                                      </p:cBhvr>
                                      <p:to>
                                        <p:strVal val="visible"/>
                                      </p:to>
                                    </p:set>
                                    <p:animEffect transition="in" filter="wipe(right)">
                                      <p:cBhvr>
                                        <p:cTn id="12" dur="1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51" grpId="1" animBg="1" advAuto="0"/>
      <p:bldP spid="144" grpId="2"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光圈"/>
          <p:cNvSpPr txBox="1"/>
          <p:nvPr/>
        </p:nvSpPr>
        <p:spPr>
          <a:xfrm>
            <a:off x="5774378" y="75402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中国电影</a:t>
            </a:r>
          </a:p>
        </p:txBody>
      </p:sp>
      <p:grpSp>
        <p:nvGrpSpPr>
          <p:cNvPr id="157" name="成组"/>
          <p:cNvGrpSpPr/>
          <p:nvPr/>
        </p:nvGrpSpPr>
        <p:grpSpPr>
          <a:xfrm>
            <a:off x="396887" y="766739"/>
            <a:ext cx="5462043" cy="757931"/>
            <a:chOff x="-1" y="-1"/>
            <a:chExt cx="5462041" cy="757929"/>
          </a:xfrm>
        </p:grpSpPr>
        <p:sp>
          <p:nvSpPr>
            <p:cNvPr id="155" name="矩形"/>
            <p:cNvSpPr/>
            <p:nvPr/>
          </p:nvSpPr>
          <p:spPr>
            <a:xfrm>
              <a:off x="-2" y="16374"/>
              <a:ext cx="1048160" cy="497422"/>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156"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161" name="成组"/>
          <p:cNvGrpSpPr/>
          <p:nvPr/>
        </p:nvGrpSpPr>
        <p:grpSpPr>
          <a:xfrm>
            <a:off x="10924139" y="7463997"/>
            <a:ext cx="1214926" cy="757945"/>
            <a:chOff x="-1" y="0"/>
            <a:chExt cx="1214925" cy="757943"/>
          </a:xfrm>
        </p:grpSpPr>
        <p:sp>
          <p:nvSpPr>
            <p:cNvPr id="158"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159"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160"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162" name="第三章   影视鉴赏的声画元素…"/>
          <p:cNvSpPr txBox="1"/>
          <p:nvPr/>
        </p:nvSpPr>
        <p:spPr>
          <a:xfrm>
            <a:off x="1586000" y="2017642"/>
            <a:ext cx="9832800" cy="5070598"/>
          </a:xfrm>
          <a:prstGeom prst="rect">
            <a:avLst/>
          </a:prstGeom>
          <a:ln w="12700">
            <a:miter lim="400000"/>
          </a:ln>
        </p:spPr>
        <p:txBody>
          <a:bodyPr lIns="48765" tIns="48765" rIns="48765" bIns="48765">
            <a:spAutoFit/>
          </a:bodyPr>
          <a:lstStyle/>
          <a:p>
            <a:pPr defTabSz="457200">
              <a:defRPr sz="2000">
                <a:solidFill>
                  <a:srgbClr val="333333"/>
                </a:solidFill>
                <a:latin typeface="Arial" panose="020B0604020202020204"/>
                <a:ea typeface="Arial" panose="020B0604020202020204"/>
                <a:cs typeface="Arial" panose="020B0604020202020204"/>
                <a:sym typeface="Arial" panose="020B0604020202020204"/>
              </a:defRPr>
            </a:pP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“明星”、“联华”、“天一”三大公司浮出水面构成了三足鼎立。</a:t>
            </a: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       老字号的“明星”在上海的成立是电影史上的一件大事，它始终当仁不让占据着第一把交椅，将个人资本的运营方式发挥到了极致；</a:t>
            </a: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       联华”1930年成立的，拥有院线的先天条件，形成“影院业与制片业之最初的联合阵线”。罗明佑率先在一家私营公司里实现了制—发—放一条龙，他的经营思想在现在看来都是先进的，他试图结束中国电影的个人资本经营时代，进入垄断金融资本的高级阶段。然而当这一超前的理念遇到战争炮火和尚在襁褓中的金融体系时，只能是被描绘在纸上的美好前景，罗明佑成了一位悲剧的人物；</a:t>
            </a: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       </a:t>
            </a:r>
            <a:r>
              <a:rPr b="1"/>
              <a:t> “天一”公司</a:t>
            </a:r>
            <a:r>
              <a:t>1925年成立的，以数量取胜的作风固然可圈可点，但它成功地开发了东南亚市场，发展到现如今的“邵氏”，其生命线之长足以独立支撑起一部私营公司发展脉络的活历史。与此同时，三大公司不同的制片策略也为中国电影奉献了不同的艺术形态，“明星”是“长篇正剧”的鼻祖、“联华”是“文艺片”的源头，而“天一”则把“稗史、神怪片”一脉发挥得淋漓尽致，这些影片的类型直至今日仍在延续。</a:t>
            </a: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61"/>
                                        </p:tgtEl>
                                        <p:attrNameLst>
                                          <p:attrName>style.visibility</p:attrName>
                                        </p:attrNameLst>
                                      </p:cBhvr>
                                      <p:to>
                                        <p:strVal val="visible"/>
                                      </p:to>
                                    </p:set>
                                    <p:anim calcmode="lin" valueType="num">
                                      <p:cBhvr>
                                        <p:cTn id="7" dur="750" fill="hold"/>
                                        <p:tgtEl>
                                          <p:spTgt spid="161"/>
                                        </p:tgtEl>
                                        <p:attrNameLst>
                                          <p:attrName>ppt_x</p:attrName>
                                        </p:attrNameLst>
                                      </p:cBhvr>
                                      <p:tavLst>
                                        <p:tav tm="0">
                                          <p:val>
                                            <p:strVal val="1+#ppt_w/2"/>
                                          </p:val>
                                        </p:tav>
                                        <p:tav tm="100000">
                                          <p:val>
                                            <p:strVal val="#ppt_x"/>
                                          </p:val>
                                        </p:tav>
                                      </p:tavLst>
                                    </p:anim>
                                    <p:anim calcmode="lin" valueType="num">
                                      <p:cBhvr>
                                        <p:cTn id="8" dur="750" fill="hold"/>
                                        <p:tgtEl>
                                          <p:spTgt spid="161"/>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154"/>
                                        </p:tgtEl>
                                        <p:attrNameLst>
                                          <p:attrName>style.visibility</p:attrName>
                                        </p:attrNameLst>
                                      </p:cBhvr>
                                      <p:to>
                                        <p:strVal val="visible"/>
                                      </p:to>
                                    </p:set>
                                    <p:animEffect transition="in" filter="wipe(right)">
                                      <p:cBhvr>
                                        <p:cTn id="12" dur="1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61" grpId="1" animBg="1" advAuto="0"/>
      <p:bldP spid="154" grpId="2"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光圈"/>
          <p:cNvSpPr txBox="1"/>
          <p:nvPr/>
        </p:nvSpPr>
        <p:spPr>
          <a:xfrm>
            <a:off x="5774378" y="75402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中国电影</a:t>
            </a:r>
          </a:p>
        </p:txBody>
      </p:sp>
      <p:grpSp>
        <p:nvGrpSpPr>
          <p:cNvPr id="167" name="成组"/>
          <p:cNvGrpSpPr/>
          <p:nvPr/>
        </p:nvGrpSpPr>
        <p:grpSpPr>
          <a:xfrm>
            <a:off x="396887" y="766739"/>
            <a:ext cx="5462043" cy="757931"/>
            <a:chOff x="-1" y="-1"/>
            <a:chExt cx="5462041" cy="757929"/>
          </a:xfrm>
        </p:grpSpPr>
        <p:sp>
          <p:nvSpPr>
            <p:cNvPr id="165" name="矩形"/>
            <p:cNvSpPr/>
            <p:nvPr/>
          </p:nvSpPr>
          <p:spPr>
            <a:xfrm>
              <a:off x="-2" y="16374"/>
              <a:ext cx="1048160" cy="497422"/>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166"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171" name="成组"/>
          <p:cNvGrpSpPr/>
          <p:nvPr/>
        </p:nvGrpSpPr>
        <p:grpSpPr>
          <a:xfrm>
            <a:off x="10924139" y="7463997"/>
            <a:ext cx="1214926" cy="757945"/>
            <a:chOff x="-1" y="0"/>
            <a:chExt cx="1214925" cy="757943"/>
          </a:xfrm>
        </p:grpSpPr>
        <p:sp>
          <p:nvSpPr>
            <p:cNvPr id="168"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169"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170"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172" name="第二个产业时期…"/>
          <p:cNvSpPr txBox="1"/>
          <p:nvPr/>
        </p:nvSpPr>
        <p:spPr>
          <a:xfrm>
            <a:off x="1347490" y="2134003"/>
            <a:ext cx="10568435" cy="4807475"/>
          </a:xfrm>
          <a:prstGeom prst="rect">
            <a:avLst/>
          </a:prstGeom>
          <a:ln w="12700">
            <a:miter lim="400000"/>
          </a:ln>
        </p:spPr>
        <p:txBody>
          <a:bodyPr lIns="48765" tIns="48765" rIns="48765" bIns="48765">
            <a:spAutoFit/>
          </a:bodyPr>
          <a:lstStyle/>
          <a:p>
            <a:pPr defTabSz="457200">
              <a:defRPr sz="1800">
                <a:solidFill>
                  <a:srgbClr val="333333"/>
                </a:solidFill>
                <a:latin typeface="Verdana" panose="020B0604030504040204"/>
                <a:ea typeface="Verdana" panose="020B0604030504040204"/>
                <a:cs typeface="Verdana" panose="020B0604030504040204"/>
                <a:sym typeface="Verdana" panose="020B0604030504040204"/>
              </a:defRPr>
            </a:pPr>
            <a:r>
              <a:t>第二个产业时期</a:t>
            </a:r>
          </a:p>
          <a:p>
            <a:pPr defTabSz="457200">
              <a:defRPr sz="1800">
                <a:solidFill>
                  <a:srgbClr val="333333"/>
                </a:solidFill>
                <a:latin typeface="Verdana" panose="020B0604030504040204"/>
                <a:ea typeface="Verdana" panose="020B0604030504040204"/>
                <a:cs typeface="Verdana" panose="020B0604030504040204"/>
                <a:sym typeface="Verdana" panose="020B0604030504040204"/>
              </a:defRPr>
            </a:pPr>
          </a:p>
          <a:p>
            <a:pPr defTabSz="457200">
              <a:lnSpc>
                <a:spcPct val="120000"/>
              </a:lnSpc>
              <a:defRPr sz="1800">
                <a:solidFill>
                  <a:srgbClr val="333333"/>
                </a:solidFill>
                <a:latin typeface="Arial" panose="020B0604020202020204"/>
                <a:ea typeface="Arial" panose="020B0604020202020204"/>
                <a:cs typeface="Arial" panose="020B0604020202020204"/>
                <a:sym typeface="Arial" panose="020B0604020202020204"/>
              </a:defRPr>
            </a:pPr>
            <a:r>
              <a:t>1937年后，上海电影业因时局波动而变化，以“明星”消亡、“联华”解体、“天一”南迁为标志，老影业逐步消亡。中国电影史上的一个黄金岁月和产业蓬勃时期在抗战炮火声中戛然而止。</a:t>
            </a:r>
          </a:p>
          <a:p>
            <a:pPr defTabSz="457200">
              <a:lnSpc>
                <a:spcPct val="120000"/>
              </a:lnSpc>
              <a:defRPr sz="1800">
                <a:solidFill>
                  <a:srgbClr val="333333"/>
                </a:solidFill>
                <a:latin typeface="Arial" panose="020B0604020202020204"/>
                <a:ea typeface="Arial" panose="020B0604020202020204"/>
                <a:cs typeface="Arial" panose="020B0604020202020204"/>
                <a:sym typeface="Arial" panose="020B0604020202020204"/>
              </a:defRPr>
            </a:pPr>
            <a:r>
              <a:t>以前苏联为模式，到1956年基本完成了“独立、完整的制片生产基地”为主要目标的体制建设任务。</a:t>
            </a:r>
          </a:p>
          <a:p>
            <a:pPr defTabSz="457200">
              <a:lnSpc>
                <a:spcPct val="120000"/>
              </a:lnSpc>
              <a:defRPr sz="1800">
                <a:solidFill>
                  <a:srgbClr val="333333"/>
                </a:solidFill>
                <a:latin typeface="Arial" panose="020B0604020202020204"/>
                <a:ea typeface="Arial" panose="020B0604020202020204"/>
                <a:cs typeface="Arial" panose="020B0604020202020204"/>
                <a:sym typeface="Arial" panose="020B0604020202020204"/>
              </a:defRPr>
            </a:pPr>
            <a:r>
              <a:t>1945年抗战胜利，憋了一肚子劲儿的电影人拍出了一批以《小城之春》为代表的杰作。</a:t>
            </a:r>
          </a:p>
          <a:p>
            <a:pPr defTabSz="457200">
              <a:lnSpc>
                <a:spcPct val="120000"/>
              </a:lnSpc>
              <a:defRPr sz="1800">
                <a:solidFill>
                  <a:srgbClr val="333333"/>
                </a:solidFill>
                <a:latin typeface="Arial" panose="020B0604020202020204"/>
                <a:ea typeface="Arial" panose="020B0604020202020204"/>
                <a:cs typeface="Arial" panose="020B0604020202020204"/>
                <a:sym typeface="Arial" panose="020B0604020202020204"/>
              </a:defRPr>
            </a:pPr>
            <a:r>
              <a:t>1949年2月，经过短期的筹备，在建国前夕的4月上旬，电影管理局在</a:t>
            </a:r>
            <a:r>
              <a:rPr u="sng">
                <a:solidFill>
                  <a:srgbClr val="0000FF"/>
                </a:solidFill>
                <a:uFill>
                  <a:solidFill>
                    <a:srgbClr val="0000FF"/>
                  </a:solidFill>
                </a:uFill>
              </a:rPr>
              <a:t>北平</a:t>
            </a:r>
            <a:r>
              <a:t>成立，隶属中共中央宣传部领导，袁牧之任局长。电影局成立后的第一个任务就是建立国家电影制片厂。</a:t>
            </a:r>
          </a:p>
          <a:p>
            <a:pPr defTabSz="457200">
              <a:lnSpc>
                <a:spcPct val="120000"/>
              </a:lnSpc>
              <a:defRPr sz="1800">
                <a:solidFill>
                  <a:srgbClr val="333333"/>
                </a:solidFill>
                <a:latin typeface="Arial" panose="020B0604020202020204"/>
                <a:ea typeface="Arial" panose="020B0604020202020204"/>
                <a:cs typeface="Arial" panose="020B0604020202020204"/>
                <a:sym typeface="Arial" panose="020B0604020202020204"/>
              </a:defRPr>
            </a:pPr>
            <a:r>
              <a:t>1950年，</a:t>
            </a:r>
            <a:r>
              <a:rPr u="sng">
                <a:solidFill>
                  <a:srgbClr val="0000FF"/>
                </a:solidFill>
                <a:uFill>
                  <a:solidFill>
                    <a:srgbClr val="0000FF"/>
                  </a:solidFill>
                </a:uFill>
              </a:rPr>
              <a:t>列宁</a:t>
            </a:r>
            <a:r>
              <a:t>和</a:t>
            </a:r>
            <a:r>
              <a:rPr u="sng">
                <a:solidFill>
                  <a:srgbClr val="0000FF"/>
                </a:solidFill>
                <a:uFill>
                  <a:solidFill>
                    <a:srgbClr val="0000FF"/>
                  </a:solidFill>
                </a:uFill>
              </a:rPr>
              <a:t>斯大林</a:t>
            </a:r>
            <a:r>
              <a:t>同志说着一口东北味儿普通话的苏联片《</a:t>
            </a:r>
            <a:r>
              <a:rPr u="sng">
                <a:solidFill>
                  <a:srgbClr val="0000FF"/>
                </a:solidFill>
                <a:uFill>
                  <a:solidFill>
                    <a:srgbClr val="0000FF"/>
                  </a:solidFill>
                </a:uFill>
              </a:rPr>
              <a:t>列宁在十月</a:t>
            </a:r>
            <a:r>
              <a:t>》上映。从此配音译制片变成中国电影的重要组成部分。</a:t>
            </a:r>
            <a:endParaRPr>
              <a:solidFill>
                <a:srgbClr val="3366CC"/>
              </a:solidFill>
            </a:endParaRPr>
          </a:p>
          <a:p>
            <a:pPr defTabSz="457200">
              <a:lnSpc>
                <a:spcPct val="120000"/>
              </a:lnSpc>
              <a:defRPr sz="1800">
                <a:solidFill>
                  <a:srgbClr val="3366CC"/>
                </a:solidFill>
                <a:latin typeface="Arial" panose="020B0604020202020204"/>
                <a:ea typeface="Arial" panose="020B0604020202020204"/>
                <a:cs typeface="Arial" panose="020B0604020202020204"/>
                <a:sym typeface="Arial" panose="020B0604020202020204"/>
              </a:defRPr>
            </a:pPr>
            <a:r>
              <a:t> </a:t>
            </a:r>
          </a:p>
          <a:p>
            <a:pPr defTabSz="457200">
              <a:lnSpc>
                <a:spcPct val="120000"/>
              </a:lnSpc>
              <a:defRPr sz="1800">
                <a:solidFill>
                  <a:srgbClr val="333333"/>
                </a:solidFill>
                <a:latin typeface="Arial" panose="020B0604020202020204"/>
                <a:ea typeface="Arial" panose="020B0604020202020204"/>
                <a:cs typeface="Arial" panose="020B0604020202020204"/>
                <a:sym typeface="Arial" panose="020B0604020202020204"/>
              </a:defRPr>
            </a:pPr>
            <a:r>
              <a:t>这个时期先后建立的</a:t>
            </a:r>
            <a:r>
              <a:rPr u="sng">
                <a:solidFill>
                  <a:srgbClr val="0000FF"/>
                </a:solidFill>
                <a:uFill>
                  <a:solidFill>
                    <a:srgbClr val="0000FF"/>
                  </a:solidFill>
                </a:uFill>
              </a:rPr>
              <a:t>东北电影制片厂</a:t>
            </a:r>
            <a:r>
              <a:t>、北平电影制片厂、</a:t>
            </a:r>
            <a:r>
              <a:rPr u="sng">
                <a:solidFill>
                  <a:srgbClr val="0000FF"/>
                </a:solidFill>
                <a:uFill>
                  <a:solidFill>
                    <a:srgbClr val="0000FF"/>
                  </a:solidFill>
                </a:uFill>
              </a:rPr>
              <a:t>上海电影制片厂</a:t>
            </a:r>
            <a:r>
              <a:t>三大国营电影企业在历史转折之际，为新中国电影事业走出了第一步。</a:t>
            </a: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71"/>
                                        </p:tgtEl>
                                        <p:attrNameLst>
                                          <p:attrName>style.visibility</p:attrName>
                                        </p:attrNameLst>
                                      </p:cBhvr>
                                      <p:to>
                                        <p:strVal val="visible"/>
                                      </p:to>
                                    </p:set>
                                    <p:anim calcmode="lin" valueType="num">
                                      <p:cBhvr>
                                        <p:cTn id="7" dur="750" fill="hold"/>
                                        <p:tgtEl>
                                          <p:spTgt spid="171"/>
                                        </p:tgtEl>
                                        <p:attrNameLst>
                                          <p:attrName>ppt_x</p:attrName>
                                        </p:attrNameLst>
                                      </p:cBhvr>
                                      <p:tavLst>
                                        <p:tav tm="0">
                                          <p:val>
                                            <p:strVal val="1+#ppt_w/2"/>
                                          </p:val>
                                        </p:tav>
                                        <p:tav tm="100000">
                                          <p:val>
                                            <p:strVal val="#ppt_x"/>
                                          </p:val>
                                        </p:tav>
                                      </p:tavLst>
                                    </p:anim>
                                    <p:anim calcmode="lin" valueType="num">
                                      <p:cBhvr>
                                        <p:cTn id="8" dur="750" fill="hold"/>
                                        <p:tgtEl>
                                          <p:spTgt spid="171"/>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164"/>
                                        </p:tgtEl>
                                        <p:attrNameLst>
                                          <p:attrName>style.visibility</p:attrName>
                                        </p:attrNameLst>
                                      </p:cBhvr>
                                      <p:to>
                                        <p:strVal val="visible"/>
                                      </p:to>
                                    </p:set>
                                    <p:animEffect transition="in" filter="wipe(right)">
                                      <p:cBhvr>
                                        <p:cTn id="12"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71" grpId="1" animBg="1" advAuto="0"/>
      <p:bldP spid="164" grpId="2"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光圈"/>
          <p:cNvSpPr txBox="1"/>
          <p:nvPr/>
        </p:nvSpPr>
        <p:spPr>
          <a:xfrm>
            <a:off x="5774378" y="75402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中国电影</a:t>
            </a:r>
          </a:p>
        </p:txBody>
      </p:sp>
      <p:grpSp>
        <p:nvGrpSpPr>
          <p:cNvPr id="177" name="成组"/>
          <p:cNvGrpSpPr/>
          <p:nvPr/>
        </p:nvGrpSpPr>
        <p:grpSpPr>
          <a:xfrm>
            <a:off x="396887" y="766739"/>
            <a:ext cx="5462043" cy="757931"/>
            <a:chOff x="-1" y="-1"/>
            <a:chExt cx="5462041" cy="757929"/>
          </a:xfrm>
        </p:grpSpPr>
        <p:sp>
          <p:nvSpPr>
            <p:cNvPr id="175" name="矩形"/>
            <p:cNvSpPr/>
            <p:nvPr/>
          </p:nvSpPr>
          <p:spPr>
            <a:xfrm>
              <a:off x="-2" y="16374"/>
              <a:ext cx="1048160" cy="497422"/>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176"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181" name="成组"/>
          <p:cNvGrpSpPr/>
          <p:nvPr/>
        </p:nvGrpSpPr>
        <p:grpSpPr>
          <a:xfrm>
            <a:off x="10924139" y="7463997"/>
            <a:ext cx="1214926" cy="757945"/>
            <a:chOff x="-1" y="0"/>
            <a:chExt cx="1214925" cy="757943"/>
          </a:xfrm>
        </p:grpSpPr>
        <p:sp>
          <p:nvSpPr>
            <p:cNvPr id="178"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179"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180"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182" name="第三个产业时期…"/>
          <p:cNvSpPr txBox="1"/>
          <p:nvPr/>
        </p:nvSpPr>
        <p:spPr>
          <a:xfrm>
            <a:off x="1573238" y="2110767"/>
            <a:ext cx="10086924" cy="6008374"/>
          </a:xfrm>
          <a:prstGeom prst="rect">
            <a:avLst/>
          </a:prstGeom>
          <a:ln w="12700">
            <a:miter lim="400000"/>
          </a:ln>
        </p:spPr>
        <p:txBody>
          <a:bodyPr lIns="48765" tIns="48765" rIns="48765" bIns="48765">
            <a:spAutoFit/>
          </a:bodyPr>
          <a:lstStyle/>
          <a:p>
            <a:pPr defTabSz="457200">
              <a:defRPr sz="2000">
                <a:solidFill>
                  <a:srgbClr val="333333"/>
                </a:solidFill>
                <a:latin typeface="Verdana" panose="020B0604030504040204"/>
                <a:ea typeface="Verdana" panose="020B0604030504040204"/>
                <a:cs typeface="Verdana" panose="020B0604030504040204"/>
                <a:sym typeface="Verdana" panose="020B0604030504040204"/>
              </a:defRPr>
            </a:pPr>
            <a:r>
              <a:t>第三个产业时期</a:t>
            </a: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        “文革”后百废待兴，随着中国性改革的不断深化，电影业开始重新审视市场的作用和力量。上世纪90年代的一连串的“突破”如同多米诺骨牌效应，促成了体制的变迁，进入21世纪后，对于电影业市场化的确定和认知，已经在全行业达成了思想的统一。</a:t>
            </a: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p>
          <a:p>
            <a:pPr defTabSz="457200">
              <a:lnSpc>
                <a:spcPct val="120000"/>
              </a:lnSpc>
              <a:defRPr sz="1800">
                <a:solidFill>
                  <a:srgbClr val="333333"/>
                </a:solidFill>
                <a:latin typeface="Arial" panose="020B0604020202020204"/>
                <a:ea typeface="Arial" panose="020B0604020202020204"/>
                <a:cs typeface="Arial" panose="020B0604020202020204"/>
                <a:sym typeface="Arial" panose="020B0604020202020204"/>
              </a:defRPr>
            </a:pPr>
            <a:r>
              <a:t>        中国电影业市场化的方向确定以后，在电影行业本身，打破了国有企业的单一主体，民营资本和境外资金开始进入，从制片业逐步扩展到发行放映业，呈现出多元化的趋势。2001年，华语电影《</a:t>
            </a:r>
            <a:r>
              <a:rPr u="sng">
                <a:solidFill>
                  <a:srgbClr val="0000FF"/>
                </a:solidFill>
                <a:uFill>
                  <a:solidFill>
                    <a:srgbClr val="0000FF"/>
                  </a:solidFill>
                </a:uFill>
              </a:rPr>
              <a:t>卧虎藏龙</a:t>
            </a:r>
            <a:r>
              <a:t>》冲进</a:t>
            </a:r>
            <a:r>
              <a:rPr u="sng">
                <a:solidFill>
                  <a:srgbClr val="0000FF"/>
                </a:solidFill>
                <a:uFill>
                  <a:solidFill>
                    <a:srgbClr val="0000FF"/>
                  </a:solidFill>
                </a:uFill>
              </a:rPr>
              <a:t>奥斯卡</a:t>
            </a:r>
            <a:r>
              <a:t>，斩获多个奖项，这给了中国人制作华语大片以前所未有的机会和信心。2001年到2003年，有着海外、本土双重投资背景的《</a:t>
            </a:r>
            <a:r>
              <a:rPr u="sng">
                <a:solidFill>
                  <a:srgbClr val="0000FF"/>
                </a:solidFill>
                <a:uFill>
                  <a:solidFill>
                    <a:srgbClr val="0000FF"/>
                  </a:solidFill>
                </a:uFill>
              </a:rPr>
              <a:t>大腕</a:t>
            </a:r>
            <a:r>
              <a:t>》、《</a:t>
            </a:r>
            <a:r>
              <a:rPr u="sng">
                <a:solidFill>
                  <a:srgbClr val="0000FF"/>
                </a:solidFill>
                <a:uFill>
                  <a:solidFill>
                    <a:srgbClr val="0000FF"/>
                  </a:solidFill>
                </a:uFill>
              </a:rPr>
              <a:t>英雄</a:t>
            </a:r>
            <a:r>
              <a:t>》、《</a:t>
            </a:r>
            <a:r>
              <a:rPr u="sng">
                <a:solidFill>
                  <a:srgbClr val="0000FF"/>
                </a:solidFill>
                <a:uFill>
                  <a:solidFill>
                    <a:srgbClr val="0000FF"/>
                  </a:solidFill>
                </a:uFill>
              </a:rPr>
              <a:t>天地英雄</a:t>
            </a:r>
            <a:r>
              <a:t>》、《</a:t>
            </a:r>
            <a:r>
              <a:rPr u="sng">
                <a:solidFill>
                  <a:srgbClr val="0000FF"/>
                </a:solidFill>
                <a:uFill>
                  <a:solidFill>
                    <a:srgbClr val="0000FF"/>
                  </a:solidFill>
                </a:uFill>
              </a:rPr>
              <a:t>手机</a:t>
            </a:r>
            <a:r>
              <a:t>》相继问世，《英雄》赢得了2.5亿的票房。2004年，具有同样资金组合方式的《</a:t>
            </a:r>
            <a:r>
              <a:rPr u="sng">
                <a:solidFill>
                  <a:srgbClr val="0000FF"/>
                </a:solidFill>
                <a:uFill>
                  <a:solidFill>
                    <a:srgbClr val="0000FF"/>
                  </a:solidFill>
                </a:uFill>
              </a:rPr>
              <a:t>十面埋伏</a:t>
            </a:r>
            <a:r>
              <a:t>》、《</a:t>
            </a:r>
            <a:r>
              <a:rPr u="sng">
                <a:solidFill>
                  <a:srgbClr val="0000FF"/>
                </a:solidFill>
                <a:uFill>
                  <a:solidFill>
                    <a:srgbClr val="0000FF"/>
                  </a:solidFill>
                </a:uFill>
              </a:rPr>
              <a:t>可可西里</a:t>
            </a:r>
            <a:r>
              <a:t>》、《</a:t>
            </a:r>
            <a:r>
              <a:rPr u="sng">
                <a:solidFill>
                  <a:srgbClr val="0000FF"/>
                </a:solidFill>
                <a:uFill>
                  <a:solidFill>
                    <a:srgbClr val="0000FF"/>
                  </a:solidFill>
                </a:uFill>
              </a:rPr>
              <a:t>天下无贼</a:t>
            </a:r>
            <a:r>
              <a:t>》及《</a:t>
            </a:r>
            <a:r>
              <a:rPr u="sng">
                <a:solidFill>
                  <a:srgbClr val="0000FF"/>
                </a:solidFill>
                <a:uFill>
                  <a:solidFill>
                    <a:srgbClr val="0000FF"/>
                  </a:solidFill>
                </a:uFill>
              </a:rPr>
              <a:t>功夫</a:t>
            </a:r>
            <a:r>
              <a:t>》，在票房榜上分别占据了前三名，《功夫》是1.7亿，《十面埋伏》是1.6亿，《天下无贼》为1.2亿。“借水行舟”使中国电影终于尝试着下了海，并且开始学习游泳</a:t>
            </a:r>
          </a:p>
          <a:p>
            <a:pPr defTabSz="457200">
              <a:lnSpc>
                <a:spcPct val="120000"/>
              </a:lnSpc>
              <a:defRPr sz="1800">
                <a:solidFill>
                  <a:srgbClr val="333333"/>
                </a:solidFill>
                <a:latin typeface="Arial" panose="020B0604020202020204"/>
                <a:ea typeface="Arial" panose="020B0604020202020204"/>
                <a:cs typeface="Arial" panose="020B0604020202020204"/>
                <a:sym typeface="Arial" panose="020B0604020202020204"/>
              </a:defRPr>
            </a:pPr>
            <a:r>
              <a:t>。《我和我的祖国》为30亿。</a:t>
            </a:r>
          </a:p>
          <a:p>
            <a:pPr defTabSz="457200">
              <a:lnSpc>
                <a:spcPct val="120000"/>
              </a:lnSpc>
              <a:defRPr sz="1200">
                <a:solidFill>
                  <a:srgbClr val="136EC2"/>
                </a:solidFill>
                <a:latin typeface="Arial" panose="020B0604020202020204"/>
                <a:ea typeface="Arial" panose="020B0604020202020204"/>
                <a:cs typeface="Arial" panose="020B0604020202020204"/>
                <a:sym typeface="Arial" panose="020B0604020202020204"/>
              </a:defRPr>
            </a:pPr>
          </a:p>
          <a:p>
            <a:pPr defTabSz="457200">
              <a:lnSpc>
                <a:spcPct val="120000"/>
              </a:lnSpc>
              <a:defRPr sz="1200">
                <a:solidFill>
                  <a:srgbClr val="136EC2"/>
                </a:solidFill>
                <a:latin typeface="Arial" panose="020B0604020202020204"/>
                <a:ea typeface="Arial" panose="020B0604020202020204"/>
                <a:cs typeface="Arial" panose="020B0604020202020204"/>
                <a:sym typeface="Arial" panose="020B0604020202020204"/>
              </a:defRPr>
            </a:pPr>
          </a:p>
          <a:p>
            <a:pPr defTabSz="457200">
              <a:defRPr sz="1200">
                <a:solidFill>
                  <a:srgbClr val="136EC2"/>
                </a:solidFill>
                <a:latin typeface="Arial" panose="020B0604020202020204"/>
                <a:ea typeface="Arial" panose="020B0604020202020204"/>
                <a:cs typeface="Arial" panose="020B0604020202020204"/>
                <a:sym typeface="Arial" panose="020B0604020202020204"/>
              </a:defRPr>
            </a:pP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81"/>
                                        </p:tgtEl>
                                        <p:attrNameLst>
                                          <p:attrName>style.visibility</p:attrName>
                                        </p:attrNameLst>
                                      </p:cBhvr>
                                      <p:to>
                                        <p:strVal val="visible"/>
                                      </p:to>
                                    </p:set>
                                    <p:anim calcmode="lin" valueType="num">
                                      <p:cBhvr>
                                        <p:cTn id="7" dur="750" fill="hold"/>
                                        <p:tgtEl>
                                          <p:spTgt spid="181"/>
                                        </p:tgtEl>
                                        <p:attrNameLst>
                                          <p:attrName>ppt_x</p:attrName>
                                        </p:attrNameLst>
                                      </p:cBhvr>
                                      <p:tavLst>
                                        <p:tav tm="0">
                                          <p:val>
                                            <p:strVal val="1+#ppt_w/2"/>
                                          </p:val>
                                        </p:tav>
                                        <p:tav tm="100000">
                                          <p:val>
                                            <p:strVal val="#ppt_x"/>
                                          </p:val>
                                        </p:tav>
                                      </p:tavLst>
                                    </p:anim>
                                    <p:anim calcmode="lin" valueType="num">
                                      <p:cBhvr>
                                        <p:cTn id="8" dur="750" fill="hold"/>
                                        <p:tgtEl>
                                          <p:spTgt spid="181"/>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174"/>
                                        </p:tgtEl>
                                        <p:attrNameLst>
                                          <p:attrName>style.visibility</p:attrName>
                                        </p:attrNameLst>
                                      </p:cBhvr>
                                      <p:to>
                                        <p:strVal val="visible"/>
                                      </p:to>
                                    </p:set>
                                    <p:animEffect transition="in" filter="wipe(right)">
                                      <p:cBhvr>
                                        <p:cTn id="12" dur="1000"/>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81" grpId="1" animBg="1" advAuto="0"/>
      <p:bldP spid="174" grpId="2"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光圈"/>
          <p:cNvSpPr txBox="1"/>
          <p:nvPr/>
        </p:nvSpPr>
        <p:spPr>
          <a:xfrm>
            <a:off x="9038279" y="7489913"/>
            <a:ext cx="8261272" cy="706114"/>
          </a:xfrm>
          <a:prstGeom prst="rect">
            <a:avLst/>
          </a:prstGeom>
          <a:ln w="12700">
            <a:miter lim="400000"/>
          </a:ln>
        </p:spPr>
        <p:txBody>
          <a:bodyPr lIns="48765" tIns="48765" rIns="48765" bIns="48765">
            <a:spAutoFit/>
          </a:bodyPr>
          <a:lstStyle>
            <a:lvl1pPr defTabSz="457200">
              <a:lnSpc>
                <a:spcPts val="4800"/>
              </a:lnSpc>
              <a:spcBef>
                <a:spcPts val="1200"/>
              </a:spcBef>
              <a:defRPr sz="2800">
                <a:solidFill>
                  <a:srgbClr val="333333"/>
                </a:solidFill>
                <a:latin typeface="Times"/>
                <a:ea typeface="Times"/>
                <a:cs typeface="Times"/>
                <a:sym typeface="Times"/>
              </a:defRPr>
            </a:lvl1pPr>
          </a:lstStyle>
          <a:p>
            <a:r>
              <a:t>中国电影 </a:t>
            </a:r>
          </a:p>
        </p:txBody>
      </p:sp>
      <p:grpSp>
        <p:nvGrpSpPr>
          <p:cNvPr id="187" name="成组"/>
          <p:cNvGrpSpPr/>
          <p:nvPr/>
        </p:nvGrpSpPr>
        <p:grpSpPr>
          <a:xfrm>
            <a:off x="396887" y="766739"/>
            <a:ext cx="5462043" cy="757931"/>
            <a:chOff x="-1" y="-1"/>
            <a:chExt cx="5462041" cy="757929"/>
          </a:xfrm>
        </p:grpSpPr>
        <p:sp>
          <p:nvSpPr>
            <p:cNvPr id="185" name="矩形"/>
            <p:cNvSpPr/>
            <p:nvPr/>
          </p:nvSpPr>
          <p:spPr>
            <a:xfrm>
              <a:off x="-2" y="16374"/>
              <a:ext cx="1048160" cy="497422"/>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186"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191" name="成组"/>
          <p:cNvGrpSpPr/>
          <p:nvPr/>
        </p:nvGrpSpPr>
        <p:grpSpPr>
          <a:xfrm>
            <a:off x="10924139" y="7463997"/>
            <a:ext cx="1214926" cy="757945"/>
            <a:chOff x="-1" y="0"/>
            <a:chExt cx="1214925" cy="757943"/>
          </a:xfrm>
        </p:grpSpPr>
        <p:sp>
          <p:nvSpPr>
            <p:cNvPr id="188"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189"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190"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192" name="第二章   电影美学思潮与流派…"/>
          <p:cNvSpPr txBox="1"/>
          <p:nvPr/>
        </p:nvSpPr>
        <p:spPr>
          <a:xfrm>
            <a:off x="1582315" y="2377406"/>
            <a:ext cx="8392370" cy="5069654"/>
          </a:xfrm>
          <a:prstGeom prst="rect">
            <a:avLst/>
          </a:prstGeom>
          <a:ln w="12700">
            <a:miter lim="400000"/>
          </a:ln>
        </p:spPr>
        <p:txBody>
          <a:bodyPr lIns="48765" tIns="48765" rIns="48765" bIns="48765">
            <a:spAutoFit/>
          </a:bodyPr>
          <a:lstStyle/>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a:t>
            </a:r>
            <a:r>
              <a:rPr u="sng">
                <a:solidFill>
                  <a:srgbClr val="0000FF"/>
                </a:solidFill>
                <a:uFill>
                  <a:solidFill>
                    <a:srgbClr val="0000FF"/>
                  </a:solidFill>
                </a:uFill>
              </a:rPr>
              <a:t>第一代导演</a:t>
            </a:r>
            <a:r>
              <a:t>”张石川、</a:t>
            </a:r>
            <a:r>
              <a:rPr u="sng">
                <a:solidFill>
                  <a:srgbClr val="0000FF"/>
                </a:solidFill>
                <a:uFill>
                  <a:solidFill>
                    <a:srgbClr val="0000FF"/>
                  </a:solidFill>
                </a:uFill>
              </a:rPr>
              <a:t>郑正秋</a:t>
            </a:r>
            <a:r>
              <a:t>、但杜宇、杨小仲、</a:t>
            </a:r>
            <a:r>
              <a:rPr u="sng">
                <a:solidFill>
                  <a:srgbClr val="0000FF"/>
                </a:solidFill>
                <a:uFill>
                  <a:solidFill>
                    <a:srgbClr val="0000FF"/>
                  </a:solidFill>
                </a:uFill>
              </a:rPr>
              <a:t>邵醉翁</a:t>
            </a:r>
            <a:r>
              <a:t>为代表，活动的时间大体是在二十世纪初到二十年代。“第一代导演”是中国电影的先驱，在拍摄条件非常简陋、艰苦，又缺乏经验的条件下，创作了中国第一批故事片。</a:t>
            </a: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“第二代导演”</a:t>
            </a:r>
            <a:r>
              <a:rPr u="sng">
                <a:solidFill>
                  <a:srgbClr val="0000FF"/>
                </a:solidFill>
                <a:uFill>
                  <a:solidFill>
                    <a:srgbClr val="0000FF"/>
                  </a:solidFill>
                </a:uFill>
              </a:rPr>
              <a:t>陈怀皑</a:t>
            </a:r>
            <a:r>
              <a:t>、 桑弧、</a:t>
            </a:r>
            <a:r>
              <a:rPr u="sng">
                <a:solidFill>
                  <a:srgbClr val="0000FF"/>
                </a:solidFill>
                <a:uFill>
                  <a:solidFill>
                    <a:srgbClr val="0000FF"/>
                  </a:solidFill>
                </a:uFill>
              </a:rPr>
              <a:t>崔嵬</a:t>
            </a:r>
            <a:r>
              <a:t>、袁牧之为代表，主要活动时间是在三、四十年代，部分导演一直到五、六十年，甚至八十年代，仍工作在电影岗位上。</a:t>
            </a: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“第三代导演”谢晋、</a:t>
            </a:r>
            <a:r>
              <a:rPr u="sng">
                <a:solidFill>
                  <a:srgbClr val="0000FF"/>
                </a:solidFill>
                <a:uFill>
                  <a:solidFill>
                    <a:srgbClr val="0000FF"/>
                  </a:solidFill>
                </a:uFill>
              </a:rPr>
              <a:t>谢铁骊</a:t>
            </a:r>
            <a:r>
              <a:t>为代表,1949年后致力于社会主义语境的表达。</a:t>
            </a: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“第四代导演”：黄蜀芹、</a:t>
            </a:r>
            <a:r>
              <a:rPr u="sng">
                <a:solidFill>
                  <a:srgbClr val="0000FF"/>
                </a:solidFill>
                <a:uFill>
                  <a:solidFill>
                    <a:srgbClr val="0000FF"/>
                  </a:solidFill>
                </a:uFill>
              </a:rPr>
              <a:t>谢飞</a:t>
            </a:r>
            <a:r>
              <a:t>、滕文骥，1979以后追求影像语言电影化。</a:t>
            </a: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“第五代导演”：</a:t>
            </a:r>
            <a:r>
              <a:rPr u="sng">
                <a:solidFill>
                  <a:srgbClr val="0000FF"/>
                </a:solidFill>
                <a:uFill>
                  <a:solidFill>
                    <a:srgbClr val="0000FF"/>
                  </a:solidFill>
                </a:uFill>
              </a:rPr>
              <a:t>陈凯歌</a:t>
            </a:r>
            <a:r>
              <a:t>、</a:t>
            </a:r>
            <a:r>
              <a:rPr u="sng">
                <a:solidFill>
                  <a:srgbClr val="0000FF"/>
                </a:solidFill>
                <a:uFill>
                  <a:solidFill>
                    <a:srgbClr val="0000FF"/>
                  </a:solidFill>
                </a:uFill>
              </a:rPr>
              <a:t>张艺谋</a:t>
            </a:r>
            <a:r>
              <a:t>、</a:t>
            </a:r>
            <a:r>
              <a:rPr u="sng">
                <a:solidFill>
                  <a:srgbClr val="0000FF"/>
                </a:solidFill>
                <a:uFill>
                  <a:solidFill>
                    <a:srgbClr val="0000FF"/>
                  </a:solidFill>
                </a:uFill>
              </a:rPr>
              <a:t>吴子牛</a:t>
            </a:r>
            <a:r>
              <a:t>、田壮壮、</a:t>
            </a:r>
            <a:r>
              <a:rPr u="sng">
                <a:solidFill>
                  <a:srgbClr val="0000FF"/>
                </a:solidFill>
                <a:uFill>
                  <a:solidFill>
                    <a:srgbClr val="0000FF"/>
                  </a:solidFill>
                </a:uFill>
              </a:rPr>
              <a:t>黄建新</a:t>
            </a:r>
            <a:r>
              <a:t>、</a:t>
            </a:r>
            <a:r>
              <a:rPr u="sng">
                <a:solidFill>
                  <a:srgbClr val="0000FF"/>
                </a:solidFill>
                <a:uFill>
                  <a:solidFill>
                    <a:srgbClr val="0000FF"/>
                  </a:solidFill>
                </a:uFill>
              </a:rPr>
              <a:t>李少红</a:t>
            </a:r>
            <a:r>
              <a:t>、</a:t>
            </a:r>
            <a:r>
              <a:rPr u="sng">
                <a:solidFill>
                  <a:srgbClr val="0000FF"/>
                </a:solidFill>
                <a:uFill>
                  <a:solidFill>
                    <a:srgbClr val="0000FF"/>
                  </a:solidFill>
                </a:uFill>
              </a:rPr>
              <a:t>胡玫</a:t>
            </a:r>
            <a:r>
              <a:t>等为代表，使中国电影走向国际化。</a:t>
            </a: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第六代导演。。。。</a:t>
            </a:r>
          </a:p>
          <a:p>
            <a:pPr defTabSz="457200">
              <a:defRPr sz="2000">
                <a:solidFill>
                  <a:srgbClr val="333333"/>
                </a:solidFill>
                <a:latin typeface="Arial" panose="020B0604020202020204"/>
                <a:ea typeface="Arial" panose="020B0604020202020204"/>
                <a:cs typeface="Arial" panose="020B0604020202020204"/>
                <a:sym typeface="Arial" panose="020B0604020202020204"/>
              </a:defRPr>
            </a:pPr>
            <a:r>
              <a:t>        90年代以后开始崭露头角的张元、贾樟柯、王小帅等导演</a:t>
            </a: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191"/>
                                        </p:tgtEl>
                                        <p:attrNameLst>
                                          <p:attrName>style.visibility</p:attrName>
                                        </p:attrNameLst>
                                      </p:cBhvr>
                                      <p:to>
                                        <p:strVal val="visible"/>
                                      </p:to>
                                    </p:set>
                                    <p:anim calcmode="lin" valueType="num">
                                      <p:cBhvr>
                                        <p:cTn id="7" dur="750" fill="hold"/>
                                        <p:tgtEl>
                                          <p:spTgt spid="191"/>
                                        </p:tgtEl>
                                        <p:attrNameLst>
                                          <p:attrName>ppt_x</p:attrName>
                                        </p:attrNameLst>
                                      </p:cBhvr>
                                      <p:tavLst>
                                        <p:tav tm="0">
                                          <p:val>
                                            <p:strVal val="1+#ppt_w/2"/>
                                          </p:val>
                                        </p:tav>
                                        <p:tav tm="100000">
                                          <p:val>
                                            <p:strVal val="#ppt_x"/>
                                          </p:val>
                                        </p:tav>
                                      </p:tavLst>
                                    </p:anim>
                                    <p:anim calcmode="lin" valueType="num">
                                      <p:cBhvr>
                                        <p:cTn id="8" dur="750" fill="hold"/>
                                        <p:tgtEl>
                                          <p:spTgt spid="191"/>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184"/>
                                        </p:tgtEl>
                                        <p:attrNameLst>
                                          <p:attrName>style.visibility</p:attrName>
                                        </p:attrNameLst>
                                      </p:cBhvr>
                                      <p:to>
                                        <p:strVal val="visible"/>
                                      </p:to>
                                    </p:set>
                                    <p:animEffect transition="in" filter="wipe(right)">
                                      <p:cBhvr>
                                        <p:cTn id="12" dur="10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191" grpId="1" animBg="1" advAuto="0"/>
      <p:bldP spid="184" grpId="2"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光圈"/>
          <p:cNvSpPr txBox="1"/>
          <p:nvPr/>
        </p:nvSpPr>
        <p:spPr>
          <a:xfrm>
            <a:off x="5240978" y="75402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中国电影</a:t>
            </a:r>
          </a:p>
        </p:txBody>
      </p:sp>
      <p:grpSp>
        <p:nvGrpSpPr>
          <p:cNvPr id="197" name="成组"/>
          <p:cNvGrpSpPr/>
          <p:nvPr/>
        </p:nvGrpSpPr>
        <p:grpSpPr>
          <a:xfrm>
            <a:off x="396887" y="766739"/>
            <a:ext cx="5462043" cy="757931"/>
            <a:chOff x="-1" y="-1"/>
            <a:chExt cx="5462041" cy="757929"/>
          </a:xfrm>
        </p:grpSpPr>
        <p:sp>
          <p:nvSpPr>
            <p:cNvPr id="195" name="矩形"/>
            <p:cNvSpPr/>
            <p:nvPr/>
          </p:nvSpPr>
          <p:spPr>
            <a:xfrm>
              <a:off x="-2" y="16374"/>
              <a:ext cx="1048160" cy="497422"/>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196"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201" name="成组"/>
          <p:cNvGrpSpPr/>
          <p:nvPr/>
        </p:nvGrpSpPr>
        <p:grpSpPr>
          <a:xfrm>
            <a:off x="10924139" y="7463997"/>
            <a:ext cx="1214926" cy="757945"/>
            <a:chOff x="-1" y="0"/>
            <a:chExt cx="1214925" cy="757943"/>
          </a:xfrm>
        </p:grpSpPr>
        <p:sp>
          <p:nvSpPr>
            <p:cNvPr id="198"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199"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200"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202" name="第四章   蒙太奇与长镜头…"/>
          <p:cNvSpPr txBox="1"/>
          <p:nvPr/>
        </p:nvSpPr>
        <p:spPr>
          <a:xfrm>
            <a:off x="3967885" y="2618743"/>
            <a:ext cx="4364731" cy="4516113"/>
          </a:xfrm>
          <a:prstGeom prst="rect">
            <a:avLst/>
          </a:prstGeom>
          <a:ln w="12700">
            <a:miter lim="400000"/>
          </a:ln>
        </p:spPr>
        <p:txBody>
          <a:bodyPr wrap="none" lIns="48765" tIns="48765" rIns="48765" bIns="48765">
            <a:spAutoFit/>
          </a:bodyPr>
          <a:lstStyle/>
          <a:p>
            <a:pPr defTabSz="457200">
              <a:lnSpc>
                <a:spcPts val="4800"/>
              </a:lnSpc>
              <a:spcBef>
                <a:spcPts val="1200"/>
              </a:spcBef>
              <a:defRPr sz="4100" b="1">
                <a:solidFill>
                  <a:srgbClr val="333333"/>
                </a:solidFill>
                <a:latin typeface="Times"/>
                <a:ea typeface="Times"/>
                <a:cs typeface="Times"/>
                <a:sym typeface="Times"/>
              </a:defRPr>
            </a:pPr>
            <a:r>
              <a:t>香港电影的多元性</a:t>
            </a:r>
            <a:endParaRPr sz="2800"/>
          </a:p>
          <a:p>
            <a:pPr defTabSz="457200">
              <a:lnSpc>
                <a:spcPts val="4800"/>
              </a:lnSpc>
              <a:spcBef>
                <a:spcPts val="1200"/>
              </a:spcBef>
              <a:defRPr sz="2800">
                <a:latin typeface="Times"/>
                <a:ea typeface="Times"/>
                <a:cs typeface="Times"/>
                <a:sym typeface="Times"/>
              </a:defRPr>
            </a:pPr>
            <a:r>
              <a:t>      徐   </a:t>
            </a:r>
            <a:r>
              <a:rPr>
                <a:solidFill>
                  <a:srgbClr val="333333"/>
                </a:solidFill>
              </a:rPr>
              <a:t>克    新武侠电影</a:t>
            </a:r>
            <a:endParaRPr>
              <a:solidFill>
                <a:srgbClr val="333333"/>
              </a:solidFill>
            </a:endParaRPr>
          </a:p>
          <a:p>
            <a:pPr defTabSz="457200">
              <a:lnSpc>
                <a:spcPts val="4800"/>
              </a:lnSpc>
              <a:spcBef>
                <a:spcPts val="1200"/>
              </a:spcBef>
              <a:defRPr sz="2800">
                <a:solidFill>
                  <a:srgbClr val="333333"/>
                </a:solidFill>
                <a:latin typeface="Times"/>
                <a:ea typeface="Times"/>
                <a:cs typeface="Times"/>
                <a:sym typeface="Times"/>
              </a:defRPr>
            </a:pPr>
            <a:r>
              <a:t>      </a:t>
            </a:r>
            <a:r>
              <a:rPr>
                <a:solidFill>
                  <a:srgbClr val="000000"/>
                </a:solidFill>
              </a:rPr>
              <a:t>王家卫    作者电影</a:t>
            </a:r>
            <a:endParaRPr>
              <a:solidFill>
                <a:srgbClr val="000000"/>
              </a:solidFill>
            </a:endParaRPr>
          </a:p>
          <a:p>
            <a:pPr defTabSz="457200">
              <a:lnSpc>
                <a:spcPts val="4800"/>
              </a:lnSpc>
              <a:spcBef>
                <a:spcPts val="1200"/>
              </a:spcBef>
              <a:defRPr sz="2800">
                <a:latin typeface="Times"/>
                <a:ea typeface="Times"/>
                <a:cs typeface="Times"/>
                <a:sym typeface="Times"/>
              </a:defRPr>
            </a:pPr>
            <a:r>
              <a:t>      周星驰    无厘头喜剧</a:t>
            </a:r>
          </a:p>
          <a:p>
            <a:pPr defTabSz="457200">
              <a:lnSpc>
                <a:spcPts val="4800"/>
              </a:lnSpc>
              <a:spcBef>
                <a:spcPts val="1200"/>
              </a:spcBef>
              <a:defRPr sz="2800">
                <a:latin typeface="Times"/>
                <a:ea typeface="Times"/>
                <a:cs typeface="Times"/>
                <a:sym typeface="Times"/>
              </a:defRPr>
            </a:pPr>
            <a:r>
              <a:t>      吴宇森    暴力美学</a:t>
            </a:r>
          </a:p>
          <a:p>
            <a:pPr defTabSz="457200">
              <a:lnSpc>
                <a:spcPts val="4800"/>
              </a:lnSpc>
              <a:spcBef>
                <a:spcPts val="1200"/>
              </a:spcBef>
              <a:defRPr sz="2800">
                <a:latin typeface="Times"/>
                <a:ea typeface="Times"/>
                <a:cs typeface="Times"/>
                <a:sym typeface="Times"/>
              </a:defRPr>
            </a:pPr>
            <a:r>
              <a:t>      许鞍华     伦理片</a:t>
            </a: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01"/>
                                        </p:tgtEl>
                                        <p:attrNameLst>
                                          <p:attrName>style.visibility</p:attrName>
                                        </p:attrNameLst>
                                      </p:cBhvr>
                                      <p:to>
                                        <p:strVal val="visible"/>
                                      </p:to>
                                    </p:set>
                                    <p:anim calcmode="lin" valueType="num">
                                      <p:cBhvr>
                                        <p:cTn id="7" dur="750" fill="hold"/>
                                        <p:tgtEl>
                                          <p:spTgt spid="201"/>
                                        </p:tgtEl>
                                        <p:attrNameLst>
                                          <p:attrName>ppt_x</p:attrName>
                                        </p:attrNameLst>
                                      </p:cBhvr>
                                      <p:tavLst>
                                        <p:tav tm="0">
                                          <p:val>
                                            <p:strVal val="1+#ppt_w/2"/>
                                          </p:val>
                                        </p:tav>
                                        <p:tav tm="100000">
                                          <p:val>
                                            <p:strVal val="#ppt_x"/>
                                          </p:val>
                                        </p:tav>
                                      </p:tavLst>
                                    </p:anim>
                                    <p:anim calcmode="lin" valueType="num">
                                      <p:cBhvr>
                                        <p:cTn id="8" dur="750" fill="hold"/>
                                        <p:tgtEl>
                                          <p:spTgt spid="201"/>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194"/>
                                        </p:tgtEl>
                                        <p:attrNameLst>
                                          <p:attrName>style.visibility</p:attrName>
                                        </p:attrNameLst>
                                      </p:cBhvr>
                                      <p:to>
                                        <p:strVal val="visible"/>
                                      </p:to>
                                    </p:set>
                                    <p:animEffect transition="in" filter="wipe(right)">
                                      <p:cBhvr>
                                        <p:cTn id="12" dur="10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01" grpId="1" animBg="1" advAuto="0"/>
      <p:bldP spid="194" grpId="2"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光圈"/>
          <p:cNvSpPr txBox="1"/>
          <p:nvPr/>
        </p:nvSpPr>
        <p:spPr>
          <a:xfrm>
            <a:off x="5774378" y="84165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看电影</a:t>
            </a:r>
          </a:p>
        </p:txBody>
      </p:sp>
      <p:grpSp>
        <p:nvGrpSpPr>
          <p:cNvPr id="207" name="成组"/>
          <p:cNvGrpSpPr/>
          <p:nvPr/>
        </p:nvGrpSpPr>
        <p:grpSpPr>
          <a:xfrm>
            <a:off x="350643" y="890059"/>
            <a:ext cx="5462043" cy="757931"/>
            <a:chOff x="-1" y="-1"/>
            <a:chExt cx="5462041" cy="757929"/>
          </a:xfrm>
        </p:grpSpPr>
        <p:sp>
          <p:nvSpPr>
            <p:cNvPr id="205" name="矩形"/>
            <p:cNvSpPr/>
            <p:nvPr/>
          </p:nvSpPr>
          <p:spPr>
            <a:xfrm>
              <a:off x="-2" y="16374"/>
              <a:ext cx="1048160" cy="497420"/>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206"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211" name="成组"/>
          <p:cNvGrpSpPr/>
          <p:nvPr/>
        </p:nvGrpSpPr>
        <p:grpSpPr>
          <a:xfrm>
            <a:off x="11152739" y="8340297"/>
            <a:ext cx="1214926" cy="757945"/>
            <a:chOff x="-1" y="0"/>
            <a:chExt cx="1214925" cy="757943"/>
          </a:xfrm>
        </p:grpSpPr>
        <p:sp>
          <p:nvSpPr>
            <p:cNvPr id="208"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209"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210"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212" name="看 电 影？"/>
          <p:cNvSpPr txBox="1"/>
          <p:nvPr/>
        </p:nvSpPr>
        <p:spPr>
          <a:xfrm>
            <a:off x="3879639" y="4403518"/>
            <a:ext cx="5245521" cy="946562"/>
          </a:xfrm>
          <a:prstGeom prst="rect">
            <a:avLst/>
          </a:prstGeom>
          <a:ln w="12700">
            <a:miter lim="400000"/>
          </a:ln>
        </p:spPr>
        <p:txBody>
          <a:bodyPr wrap="none" lIns="48765" tIns="48765" rIns="48765" bIns="48765">
            <a:spAutoFit/>
          </a:bodyPr>
          <a:lstStyle/>
          <a:p>
            <a:pPr defTabSz="457200">
              <a:lnSpc>
                <a:spcPts val="6900"/>
              </a:lnSpc>
              <a:spcBef>
                <a:spcPts val="1200"/>
              </a:spcBef>
              <a:defRPr sz="43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r>
              <a:t> 徐   </a:t>
            </a:r>
            <a:r>
              <a:rPr>
                <a:solidFill>
                  <a:srgbClr val="333333"/>
                </a:solidFill>
              </a:rPr>
              <a:t>克    新武侠电影</a:t>
            </a:r>
            <a:r>
              <a:rPr sz="2800"/>
              <a:t> </a:t>
            </a:r>
            <a:endParaRPr sz="2800"/>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11"/>
                                        </p:tgtEl>
                                        <p:attrNameLst>
                                          <p:attrName>style.visibility</p:attrName>
                                        </p:attrNameLst>
                                      </p:cBhvr>
                                      <p:to>
                                        <p:strVal val="visible"/>
                                      </p:to>
                                    </p:set>
                                    <p:anim calcmode="lin" valueType="num">
                                      <p:cBhvr>
                                        <p:cTn id="7" dur="750" fill="hold"/>
                                        <p:tgtEl>
                                          <p:spTgt spid="211"/>
                                        </p:tgtEl>
                                        <p:attrNameLst>
                                          <p:attrName>ppt_x</p:attrName>
                                        </p:attrNameLst>
                                      </p:cBhvr>
                                      <p:tavLst>
                                        <p:tav tm="0">
                                          <p:val>
                                            <p:strVal val="1+#ppt_w/2"/>
                                          </p:val>
                                        </p:tav>
                                        <p:tav tm="100000">
                                          <p:val>
                                            <p:strVal val="#ppt_x"/>
                                          </p:val>
                                        </p:tav>
                                      </p:tavLst>
                                    </p:anim>
                                    <p:anim calcmode="lin" valueType="num">
                                      <p:cBhvr>
                                        <p:cTn id="8" dur="750" fill="hold"/>
                                        <p:tgtEl>
                                          <p:spTgt spid="211"/>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04"/>
                                        </p:tgtEl>
                                        <p:attrNameLst>
                                          <p:attrName>style.visibility</p:attrName>
                                        </p:attrNameLst>
                                      </p:cBhvr>
                                      <p:to>
                                        <p:strVal val="visible"/>
                                      </p:to>
                                    </p:set>
                                    <p:animEffect transition="in" filter="wipe(right)">
                                      <p:cBhvr>
                                        <p:cTn id="12" dur="1000"/>
                                        <p:tgtEl>
                                          <p:spTgt spid="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11" grpId="1" animBg="1" advAuto="0"/>
      <p:bldP spid="204" grpId="2"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光圈"/>
          <p:cNvSpPr txBox="1"/>
          <p:nvPr/>
        </p:nvSpPr>
        <p:spPr>
          <a:xfrm>
            <a:off x="5774378" y="84165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看电影</a:t>
            </a:r>
          </a:p>
        </p:txBody>
      </p:sp>
      <p:grpSp>
        <p:nvGrpSpPr>
          <p:cNvPr id="217" name="成组"/>
          <p:cNvGrpSpPr/>
          <p:nvPr/>
        </p:nvGrpSpPr>
        <p:grpSpPr>
          <a:xfrm>
            <a:off x="350643" y="890059"/>
            <a:ext cx="5462043" cy="757931"/>
            <a:chOff x="-1" y="-1"/>
            <a:chExt cx="5462041" cy="757929"/>
          </a:xfrm>
        </p:grpSpPr>
        <p:sp>
          <p:nvSpPr>
            <p:cNvPr id="215" name="矩形"/>
            <p:cNvSpPr/>
            <p:nvPr/>
          </p:nvSpPr>
          <p:spPr>
            <a:xfrm>
              <a:off x="-2" y="16374"/>
              <a:ext cx="1048160" cy="497420"/>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216"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221" name="成组"/>
          <p:cNvGrpSpPr/>
          <p:nvPr/>
        </p:nvGrpSpPr>
        <p:grpSpPr>
          <a:xfrm>
            <a:off x="11152739" y="8340297"/>
            <a:ext cx="1214926" cy="757945"/>
            <a:chOff x="-1" y="0"/>
            <a:chExt cx="1214925" cy="757943"/>
          </a:xfrm>
        </p:grpSpPr>
        <p:sp>
          <p:nvSpPr>
            <p:cNvPr id="218"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219"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220"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222" name="第一课"/>
          <p:cNvSpPr txBox="1"/>
          <p:nvPr/>
        </p:nvSpPr>
        <p:spPr>
          <a:xfrm>
            <a:off x="4416671" y="3568725"/>
            <a:ext cx="583376" cy="2277027"/>
          </a:xfrm>
          <a:prstGeom prst="rect">
            <a:avLst/>
          </a:prstGeom>
          <a:ln w="12700">
            <a:miter lim="400000"/>
          </a:ln>
        </p:spPr>
        <p:txBody>
          <a:bodyPr lIns="48765" tIns="48765" rIns="48765" bIns="48765" anchor="ctr">
            <a:spAutoFit/>
          </a:bodyPr>
          <a:lstStyle>
            <a:lvl1pPr defTabSz="457200">
              <a:lnSpc>
                <a:spcPts val="5800"/>
              </a:lnSpc>
              <a:spcBef>
                <a:spcPts val="1200"/>
              </a:spcBef>
              <a:defRPr sz="34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r>
              <a:t>第一课</a:t>
            </a:r>
          </a:p>
        </p:txBody>
      </p:sp>
      <p:pic>
        <p:nvPicPr>
          <p:cNvPr id="223" name="屏幕快照 2019-12-19 17.41.46.png" descr="屏幕快照 2019-12-19 17.41.46.png"/>
          <p:cNvPicPr>
            <a:picLocks noChangeAspect="1"/>
          </p:cNvPicPr>
          <p:nvPr/>
        </p:nvPicPr>
        <p:blipFill>
          <a:blip r:embed="rId1"/>
          <a:srcRect t="30458" r="29788"/>
          <a:stretch>
            <a:fillRect/>
          </a:stretch>
        </p:blipFill>
        <p:spPr>
          <a:xfrm>
            <a:off x="1808211" y="2433144"/>
            <a:ext cx="9130905" cy="5652295"/>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21"/>
                                        </p:tgtEl>
                                        <p:attrNameLst>
                                          <p:attrName>style.visibility</p:attrName>
                                        </p:attrNameLst>
                                      </p:cBhvr>
                                      <p:to>
                                        <p:strVal val="visible"/>
                                      </p:to>
                                    </p:set>
                                    <p:anim calcmode="lin" valueType="num">
                                      <p:cBhvr>
                                        <p:cTn id="7" dur="750" fill="hold"/>
                                        <p:tgtEl>
                                          <p:spTgt spid="221"/>
                                        </p:tgtEl>
                                        <p:attrNameLst>
                                          <p:attrName>ppt_x</p:attrName>
                                        </p:attrNameLst>
                                      </p:cBhvr>
                                      <p:tavLst>
                                        <p:tav tm="0">
                                          <p:val>
                                            <p:strVal val="1+#ppt_w/2"/>
                                          </p:val>
                                        </p:tav>
                                        <p:tav tm="100000">
                                          <p:val>
                                            <p:strVal val="#ppt_x"/>
                                          </p:val>
                                        </p:tav>
                                      </p:tavLst>
                                    </p:anim>
                                    <p:anim calcmode="lin" valueType="num">
                                      <p:cBhvr>
                                        <p:cTn id="8" dur="750" fill="hold"/>
                                        <p:tgtEl>
                                          <p:spTgt spid="221"/>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14"/>
                                        </p:tgtEl>
                                        <p:attrNameLst>
                                          <p:attrName>style.visibility</p:attrName>
                                        </p:attrNameLst>
                                      </p:cBhvr>
                                      <p:to>
                                        <p:strVal val="visible"/>
                                      </p:to>
                                    </p:set>
                                    <p:animEffect transition="in" filter="wipe(right)">
                                      <p:cBhvr>
                                        <p:cTn id="12" dur="10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14" grpId="2" animBg="1" advAuto="0"/>
      <p:bldP spid="221" grpId="1"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光圈"/>
          <p:cNvSpPr txBox="1"/>
          <p:nvPr/>
        </p:nvSpPr>
        <p:spPr>
          <a:xfrm>
            <a:off x="5774378" y="84165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看电影</a:t>
            </a:r>
          </a:p>
        </p:txBody>
      </p:sp>
      <p:grpSp>
        <p:nvGrpSpPr>
          <p:cNvPr id="228" name="成组"/>
          <p:cNvGrpSpPr/>
          <p:nvPr/>
        </p:nvGrpSpPr>
        <p:grpSpPr>
          <a:xfrm>
            <a:off x="396887" y="766739"/>
            <a:ext cx="5462043" cy="757931"/>
            <a:chOff x="-1" y="-1"/>
            <a:chExt cx="5462041" cy="757929"/>
          </a:xfrm>
        </p:grpSpPr>
        <p:sp>
          <p:nvSpPr>
            <p:cNvPr id="226" name="矩形"/>
            <p:cNvSpPr/>
            <p:nvPr/>
          </p:nvSpPr>
          <p:spPr>
            <a:xfrm>
              <a:off x="-2" y="16374"/>
              <a:ext cx="1048160" cy="497422"/>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227"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232" name="成组"/>
          <p:cNvGrpSpPr/>
          <p:nvPr/>
        </p:nvGrpSpPr>
        <p:grpSpPr>
          <a:xfrm>
            <a:off x="11152739" y="8340297"/>
            <a:ext cx="1214926" cy="757945"/>
            <a:chOff x="-1" y="0"/>
            <a:chExt cx="1214925" cy="757943"/>
          </a:xfrm>
        </p:grpSpPr>
        <p:sp>
          <p:nvSpPr>
            <p:cNvPr id="229"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230"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231"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233" name="1､第一段张果果故事对于本片的意义？…"/>
          <p:cNvSpPr txBox="1"/>
          <p:nvPr/>
        </p:nvSpPr>
        <p:spPr>
          <a:xfrm>
            <a:off x="1408634" y="1746959"/>
            <a:ext cx="10187532" cy="6589017"/>
          </a:xfrm>
          <a:prstGeom prst="rect">
            <a:avLst/>
          </a:prstGeom>
          <a:ln w="12700">
            <a:miter lim="400000"/>
          </a:ln>
        </p:spPr>
        <p:txBody>
          <a:bodyPr lIns="48765" tIns="48765" rIns="48765" bIns="48765">
            <a:spAutoFit/>
          </a:bodyPr>
          <a:lstStyle/>
          <a:p>
            <a:pPr indent="406400" defTabSz="457200">
              <a:defRPr sz="1600" b="1">
                <a:solidFill>
                  <a:srgbClr val="333333"/>
                </a:solidFill>
                <a:latin typeface="Arial" panose="020B0604020202020204"/>
                <a:ea typeface="Arial" panose="020B0604020202020204"/>
                <a:cs typeface="Arial" panose="020B0604020202020204"/>
                <a:sym typeface="Arial" panose="020B0604020202020204"/>
              </a:defRPr>
            </a:pPr>
            <a:r>
              <a:t>商业传奇：张彻 《独臂刀》 1967年</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r>
              <a:t>商业化、平民化，他一年能拍十几部电影，不仅是票房的保证，也成就了“邵氏”武侠电影热潮的传奇，并真正让武侠片走进了千家万户，成为普通百姓喜闻乐见的电影类型。代表作《独臂刀》大开大合，粗粝热血，影响了徐克等后辈电影人。</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p>
          <a:p>
            <a:pPr indent="406400" defTabSz="457200">
              <a:defRPr sz="1600" b="1">
                <a:solidFill>
                  <a:srgbClr val="333333"/>
                </a:solidFill>
                <a:latin typeface="Arial" panose="020B0604020202020204"/>
                <a:ea typeface="Arial" panose="020B0604020202020204"/>
                <a:cs typeface="Arial" panose="020B0604020202020204"/>
                <a:sym typeface="Arial" panose="020B0604020202020204"/>
              </a:defRPr>
            </a:pPr>
            <a:r>
              <a:t>一代宗师：胡金铨 《侠女》1971年</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r>
              <a:t>说到胡金铨，相信业界都会竖起大拇指，他是第一位受到西方电影圈盛赞的中国导演，也是将武侠类型片发扬光大的一代宗师，其在电影中的武侠理念和拍摄手法影响了张彻、徐克等一代又一代的大导演。他的代表作《侠女》，是第一部在戛纳获得大奖的中国电影。而个人更为偏爱的《空山灵雨》则是诗意武侠的巅峰之作。</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p>
          <a:p>
            <a:pPr indent="406400" defTabSz="457200">
              <a:defRPr sz="1600" b="1">
                <a:solidFill>
                  <a:srgbClr val="333333"/>
                </a:solidFill>
                <a:latin typeface="Arial" panose="020B0604020202020204"/>
                <a:ea typeface="Arial" panose="020B0604020202020204"/>
                <a:cs typeface="Arial" panose="020B0604020202020204"/>
                <a:sym typeface="Arial" panose="020B0604020202020204"/>
              </a:defRPr>
            </a:pPr>
            <a:r>
              <a:t>鬼才导演：徐克 《东方不败》 1992年</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r>
              <a:t>极具先锋实验气质的、想象力异常丰富的《蝶变》、《黄飞鸿》系列、《笑傲江湖》系列、《新龙门客栈》，包括近些年扛起国产优质3D大旗的《龙门飞甲》、《狄仁杰》系列，都是影迷心中的经典。</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p>
          <a:p>
            <a:pPr indent="406400" defTabSz="457200">
              <a:defRPr sz="1600" b="1">
                <a:solidFill>
                  <a:srgbClr val="333333"/>
                </a:solidFill>
                <a:latin typeface="Arial" panose="020B0604020202020204"/>
                <a:ea typeface="Arial" panose="020B0604020202020204"/>
                <a:cs typeface="Arial" panose="020B0604020202020204"/>
                <a:sym typeface="Arial" panose="020B0604020202020204"/>
              </a:defRPr>
            </a:pPr>
            <a:r>
              <a:t>情爱武侠：王家卫 《东邪西毒》 1994年</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r>
              <a:t>文艺片大师王家卫将情欲与人心融入武侠，借用金庸笔下的人物，汲取古龙小说的神韵，以武侠为外壳，讲述了一个孤独与绝望的情爱故事。虽然严格意义上讲，《东邪西毒》更像是一部艺术电影，但是依然属于武打、侠义的范畴，且这种勇于创新的精神还是值得褒奖的，他为我们展现了一个与众不同的武侠世界。</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p>
          <a:p>
            <a:pPr indent="406400" defTabSz="457200">
              <a:defRPr sz="1600" b="1">
                <a:solidFill>
                  <a:srgbClr val="333333"/>
                </a:solidFill>
                <a:latin typeface="Arial" panose="020B0604020202020204"/>
                <a:ea typeface="Arial" panose="020B0604020202020204"/>
                <a:cs typeface="Arial" panose="020B0604020202020204"/>
                <a:sym typeface="Arial" panose="020B0604020202020204"/>
              </a:defRPr>
            </a:pPr>
            <a:r>
              <a:t>魔幻武侠：刘伟强 《风云之雄霸天下》 1999年</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r>
              <a:t>《风云雄霸天下》是香港第一部采用全计算机数码特技拍摄而成的影片，所以视觉特效相当炫目。导演刘伟强将魔幻因素引入武侠片，用特技渲染出神入化的武打对抗，用漫画风格的构图展现浓墨重彩的画面，改变了以往武侠片真刀真枪、贴身肉搏的写实风格，是新时代魔幻武侠的代表作。</a:t>
            </a: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32"/>
                                        </p:tgtEl>
                                        <p:attrNameLst>
                                          <p:attrName>style.visibility</p:attrName>
                                        </p:attrNameLst>
                                      </p:cBhvr>
                                      <p:to>
                                        <p:strVal val="visible"/>
                                      </p:to>
                                    </p:set>
                                    <p:anim calcmode="lin" valueType="num">
                                      <p:cBhvr>
                                        <p:cTn id="7" dur="750" fill="hold"/>
                                        <p:tgtEl>
                                          <p:spTgt spid="232"/>
                                        </p:tgtEl>
                                        <p:attrNameLst>
                                          <p:attrName>ppt_x</p:attrName>
                                        </p:attrNameLst>
                                      </p:cBhvr>
                                      <p:tavLst>
                                        <p:tav tm="0">
                                          <p:val>
                                            <p:strVal val="1+#ppt_w/2"/>
                                          </p:val>
                                        </p:tav>
                                        <p:tav tm="100000">
                                          <p:val>
                                            <p:strVal val="#ppt_x"/>
                                          </p:val>
                                        </p:tav>
                                      </p:tavLst>
                                    </p:anim>
                                    <p:anim calcmode="lin" valueType="num">
                                      <p:cBhvr>
                                        <p:cTn id="8" dur="750" fill="hold"/>
                                        <p:tgtEl>
                                          <p:spTgt spid="232"/>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25"/>
                                        </p:tgtEl>
                                        <p:attrNameLst>
                                          <p:attrName>style.visibility</p:attrName>
                                        </p:attrNameLst>
                                      </p:cBhvr>
                                      <p:to>
                                        <p:strVal val="visible"/>
                                      </p:to>
                                    </p:set>
                                    <p:animEffect transition="in" filter="wipe(right)">
                                      <p:cBhvr>
                                        <p:cTn id="12" dur="10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32" grpId="1" animBg="1" advAuto="0"/>
      <p:bldP spid="225" grpId="2"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光圈"/>
          <p:cNvSpPr txBox="1"/>
          <p:nvPr/>
        </p:nvSpPr>
        <p:spPr>
          <a:xfrm>
            <a:off x="6168078" y="9013404"/>
            <a:ext cx="8261272" cy="605531"/>
          </a:xfrm>
          <a:prstGeom prst="rect">
            <a:avLst/>
          </a:prstGeom>
          <a:ln w="12700">
            <a:miter lim="400000"/>
          </a:ln>
        </p:spPr>
        <p:txBody>
          <a:bodyPr lIns="48765" tIns="48765" rIns="48765" bIns="48765">
            <a:spAutoFit/>
          </a:bodyPr>
          <a:lstStyle>
            <a:lvl1pPr algn="ctr">
              <a:defRPr sz="28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看电影</a:t>
            </a:r>
          </a:p>
        </p:txBody>
      </p:sp>
      <p:grpSp>
        <p:nvGrpSpPr>
          <p:cNvPr id="238" name="成组"/>
          <p:cNvGrpSpPr/>
          <p:nvPr/>
        </p:nvGrpSpPr>
        <p:grpSpPr>
          <a:xfrm>
            <a:off x="396887" y="766739"/>
            <a:ext cx="5462043" cy="757931"/>
            <a:chOff x="-1" y="-1"/>
            <a:chExt cx="5462041" cy="757929"/>
          </a:xfrm>
        </p:grpSpPr>
        <p:sp>
          <p:nvSpPr>
            <p:cNvPr id="236" name="矩形"/>
            <p:cNvSpPr/>
            <p:nvPr/>
          </p:nvSpPr>
          <p:spPr>
            <a:xfrm>
              <a:off x="-2" y="16374"/>
              <a:ext cx="1048160" cy="497422"/>
            </a:xfrm>
            <a:prstGeom prst="rect">
              <a:avLst/>
            </a:prstGeom>
            <a:solidFill>
              <a:schemeClr val="accent1"/>
            </a:solidFill>
            <a:ln w="12700" cap="flat">
              <a:noFill/>
              <a:miter lim="400000"/>
            </a:ln>
            <a:effectLst/>
          </p:spPr>
          <p:txBody>
            <a:bodyPr wrap="square" lIns="48765" tIns="48765" rIns="48765" bIns="48765" numCol="1" anchor="ctr">
              <a:noAutofit/>
            </a:bodyPr>
            <a:lstStyle/>
            <a:p>
              <a:pPr algn="ctr">
                <a:defRPr>
                  <a:solidFill>
                    <a:srgbClr val="FFFFFF"/>
                  </a:solidFill>
                </a:defRPr>
              </a:pPr>
            </a:p>
          </p:txBody>
        </p:sp>
        <p:sp>
          <p:nvSpPr>
            <p:cNvPr id="237" name="影像的分享…"/>
            <p:cNvSpPr txBox="1"/>
            <p:nvPr/>
          </p:nvSpPr>
          <p:spPr>
            <a:xfrm>
              <a:off x="1048150" y="-2"/>
              <a:ext cx="4413891" cy="757931"/>
            </a:xfrm>
            <a:prstGeom prst="rect">
              <a:avLst/>
            </a:prstGeom>
            <a:noFill/>
            <a:ln w="12700" cap="flat">
              <a:noFill/>
              <a:miter lim="400000"/>
            </a:ln>
            <a:effectLst/>
          </p:spPr>
          <p:txBody>
            <a:bodyPr wrap="square" lIns="48765" tIns="48765" rIns="48765" bIns="48765" numCol="1" anchor="t">
              <a:spAutoFit/>
            </a:bodyPr>
            <a:lstStyle/>
            <a:p>
              <a:pP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影像的分享</a:t>
              </a:r>
            </a:p>
            <a:p>
              <a:pPr>
                <a:defRPr sz="1800">
                  <a:latin typeface="微软雅黑" panose="020B0503020204020204" charset="-122"/>
                  <a:ea typeface="微软雅黑" panose="020B0503020204020204" charset="-122"/>
                  <a:cs typeface="微软雅黑" panose="020B0503020204020204" charset="-122"/>
                  <a:sym typeface="微软雅黑" panose="020B0503020204020204" charset="-122"/>
                </a:defRPr>
              </a:pPr>
              <a:r>
                <a:t>Image sharing</a:t>
              </a:r>
            </a:p>
          </p:txBody>
        </p:sp>
      </p:grpSp>
      <p:grpSp>
        <p:nvGrpSpPr>
          <p:cNvPr id="242" name="成组"/>
          <p:cNvGrpSpPr/>
          <p:nvPr/>
        </p:nvGrpSpPr>
        <p:grpSpPr>
          <a:xfrm>
            <a:off x="11279739" y="8937197"/>
            <a:ext cx="1214926" cy="757945"/>
            <a:chOff x="-1" y="0"/>
            <a:chExt cx="1214925" cy="757943"/>
          </a:xfrm>
        </p:grpSpPr>
        <p:sp>
          <p:nvSpPr>
            <p:cNvPr id="239" name="成组"/>
            <p:cNvSpPr/>
            <p:nvPr/>
          </p:nvSpPr>
          <p:spPr>
            <a:xfrm flipH="1">
              <a:off x="-2" y="-1"/>
              <a:ext cx="1214927" cy="757945"/>
            </a:xfrm>
            <a:prstGeom prst="rightArrow">
              <a:avLst>
                <a:gd name="adj1" fmla="val 50000"/>
                <a:gd name="adj2" fmla="val 50000"/>
              </a:avLst>
            </a:prstGeom>
            <a:solidFill>
              <a:schemeClr val="accent1"/>
            </a:solidFill>
            <a:ln w="12700" cap="flat">
              <a:solidFill>
                <a:srgbClr val="FFFFFF"/>
              </a:solidFill>
              <a:prstDash val="solid"/>
              <a:miter lim="800000"/>
            </a:ln>
            <a:effectLst/>
          </p:spPr>
          <p:txBody>
            <a:bodyPr wrap="square" lIns="48765" tIns="48765" rIns="48765" bIns="48765" numCol="1" anchor="ctr">
              <a:noAutofit/>
            </a:bodyPr>
            <a:lstStyle/>
            <a:p>
              <a: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sp>
          <p:nvSpPr>
            <p:cNvPr id="240" name="线条"/>
            <p:cNvSpPr/>
            <p:nvPr/>
          </p:nvSpPr>
          <p:spPr>
            <a:xfrm>
              <a:off x="1047720" y="196017"/>
              <a:ext cx="9"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sp>
          <p:nvSpPr>
            <p:cNvPr id="241" name="线条"/>
            <p:cNvSpPr/>
            <p:nvPr/>
          </p:nvSpPr>
          <p:spPr>
            <a:xfrm>
              <a:off x="869384" y="196017"/>
              <a:ext cx="10" cy="369835"/>
            </a:xfrm>
            <a:prstGeom prst="line">
              <a:avLst/>
            </a:prstGeom>
            <a:solidFill>
              <a:schemeClr val="accent1"/>
            </a:solidFill>
            <a:ln w="139700" cap="flat">
              <a:solidFill>
                <a:srgbClr val="404040"/>
              </a:solidFill>
              <a:prstDash val="solid"/>
              <a:miter lim="800000"/>
            </a:ln>
            <a:effectLst/>
          </p:spPr>
          <p:txBody>
            <a:bodyPr wrap="square" lIns="45718" tIns="45718" rIns="45718" bIns="45718" numCol="1" anchor="t">
              <a:noAutofit/>
            </a:bodyPr>
            <a:lstStyle/>
            <a:p/>
          </p:txBody>
        </p:sp>
      </p:grpSp>
      <p:sp>
        <p:nvSpPr>
          <p:cNvPr id="243" name="1､第一段张果果故事对于本片的意义？…"/>
          <p:cNvSpPr txBox="1"/>
          <p:nvPr/>
        </p:nvSpPr>
        <p:spPr>
          <a:xfrm>
            <a:off x="1236926" y="1810460"/>
            <a:ext cx="11057633" cy="6602312"/>
          </a:xfrm>
          <a:prstGeom prst="rect">
            <a:avLst/>
          </a:prstGeom>
          <a:ln w="12700">
            <a:miter lim="400000"/>
          </a:ln>
        </p:spPr>
        <p:txBody>
          <a:bodyPr lIns="48765" tIns="48765" rIns="48765" bIns="48765">
            <a:spAutoFit/>
          </a:bodyPr>
          <a:lstStyle/>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p>
          <a:p>
            <a:pPr indent="406400" defTabSz="457200">
              <a:defRPr sz="1600" b="1">
                <a:solidFill>
                  <a:srgbClr val="333333"/>
                </a:solidFill>
                <a:latin typeface="Arial" panose="020B0604020202020204"/>
                <a:ea typeface="Arial" panose="020B0604020202020204"/>
                <a:cs typeface="Arial" panose="020B0604020202020204"/>
                <a:sym typeface="Arial" panose="020B0604020202020204"/>
              </a:defRPr>
            </a:pPr>
            <a:r>
              <a:rPr>
                <a:solidFill>
                  <a:srgbClr val="FF0000"/>
                </a:solidFill>
              </a:rPr>
              <a:t>文人情怀：李安 《卧虎藏龙》 2000年</a:t>
            </a:r>
            <a:endParaRPr>
              <a:solidFill>
                <a:srgbClr val="FF0000"/>
              </a:solidFill>
            </a:endParaRP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r>
              <a:t>文人风范贯穿于《卧虎藏龙》，其在意境上的营造以及艺术上的渲染堪称典范，尤其像飘逸唯美的竹林逐斗等段落，不仅传承了胡金铨诗意武侠的精髓，更融入了博大精深的中国文化，使得全片内涵饱满，意味深长。</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p>
          <a:p>
            <a:pPr indent="406400" defTabSz="457200">
              <a:defRPr sz="1600" b="1">
                <a:solidFill>
                  <a:srgbClr val="333333"/>
                </a:solidFill>
                <a:latin typeface="Arial" panose="020B0604020202020204"/>
                <a:ea typeface="Arial" panose="020B0604020202020204"/>
                <a:cs typeface="Arial" panose="020B0604020202020204"/>
                <a:sym typeface="Arial" panose="020B0604020202020204"/>
              </a:defRPr>
            </a:pPr>
            <a:r>
              <a:rPr>
                <a:solidFill>
                  <a:srgbClr val="FF0000"/>
                </a:solidFill>
              </a:rPr>
              <a:t>色彩大师：张艺谋 《英雄》 2002年</a:t>
            </a:r>
            <a:endParaRPr>
              <a:solidFill>
                <a:srgbClr val="FF0000"/>
              </a:solidFill>
            </a:endParaRP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r>
              <a:t>《英雄》开创了内地古装大片的先河，并成为内地电影营销的第一范本：投入2000多万元在人民大会堂举办盛大的首映式、包机在全国巡回宣传;创造中国电影史上2.5亿的票房奇迹。虽然外界对其形式大于内容的讨论褒贬不一，但老谋子所追求的色彩浓烈的影像风格是一场视听的盛宴。</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p>
          <a:p>
            <a:pPr indent="406400" defTabSz="457200">
              <a:defRPr sz="1600" b="1">
                <a:solidFill>
                  <a:srgbClr val="333333"/>
                </a:solidFill>
                <a:latin typeface="Arial" panose="020B0604020202020204"/>
                <a:ea typeface="Arial" panose="020B0604020202020204"/>
                <a:cs typeface="Arial" panose="020B0604020202020204"/>
                <a:sym typeface="Arial" panose="020B0604020202020204"/>
              </a:defRPr>
            </a:pPr>
            <a:r>
              <a:t>新任掌门：李仁港 《锦衣卫》 2010年</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r>
              <a:t>张彻曾对徐克说过：“你，跟我，跟仁港，是武侠片的老中青三代。”李仁港的武侠片，从《锦衣卫》到《见龙卸甲》，再到《鸿门宴》、《天降雄狮》，其义盖云天的英雄情怀是喷薄而出的，承接了张彻、徐克的意象、风格，又在服装、道具等细节方面形成独特的标识，堪称浪漫武侠派的第三代掌门。</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p>
          <a:p>
            <a:pPr indent="406400" defTabSz="457200">
              <a:defRPr sz="1600" b="1">
                <a:solidFill>
                  <a:srgbClr val="333333"/>
                </a:solidFill>
                <a:latin typeface="Arial" panose="020B0604020202020204"/>
                <a:ea typeface="Arial" panose="020B0604020202020204"/>
                <a:cs typeface="Arial" panose="020B0604020202020204"/>
                <a:sym typeface="Arial" panose="020B0604020202020204"/>
              </a:defRPr>
            </a:pPr>
            <a:r>
              <a:t>江湖大哥：吴宇森(本片监制) 《剑雨》 2010年   《赤壁》</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r>
              <a:t>拍惯了江湖恩怨，吴宇森终于将版图扩展至武侠世界，其实不管是黑社会，还是武林，有人的地方就有江湖，从这一点来讲，吴宇森之于武侠片，应该是信手拈来的。但是作为他生平第一部武侠片，《剑雨》却没有以往枪战片中的快意恩仇，更多的是古意古韵、古色古香。《剑雨》中主要人物举手投足颇有讲究，每次使出剑招必定捏着剑诀，其武打设计也是颇具章法，一招一式、行云流水，像是武学秘籍的动态图解。</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p>
          <a:p>
            <a:pPr indent="406400" defTabSz="457200">
              <a:defRPr sz="1600" b="1">
                <a:solidFill>
                  <a:srgbClr val="333333"/>
                </a:solidFill>
                <a:latin typeface="Arial" panose="020B0604020202020204"/>
                <a:ea typeface="Arial" panose="020B0604020202020204"/>
                <a:cs typeface="Arial" panose="020B0604020202020204"/>
                <a:sym typeface="Arial" panose="020B0604020202020204"/>
              </a:defRPr>
            </a:pPr>
            <a:r>
              <a:t>另类武侠：陈可辛 《武侠》 2011年</a:t>
            </a:r>
          </a:p>
          <a:p>
            <a:pPr indent="406400" defTabSz="457200">
              <a:defRPr sz="1600">
                <a:solidFill>
                  <a:srgbClr val="333333"/>
                </a:solidFill>
                <a:latin typeface="Arial" panose="020B0604020202020204"/>
                <a:ea typeface="Arial" panose="020B0604020202020204"/>
                <a:cs typeface="Arial" panose="020B0604020202020204"/>
                <a:sym typeface="Arial" panose="020B0604020202020204"/>
              </a:defRPr>
            </a:pPr>
            <a:r>
              <a:t>《武侠》这部电影，就像导演陈可辛本身一样，很难去给他归类。既有武侠片的元素，也融入了悬疑推理、人性探究。不仅看起来精彩过瘾，还引人深思、耐人寻味。这样的武侠片可能不会成为主流，但却是不可多得的成功实验。</a:t>
            </a: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1" nodeType="afterEffect">
                                  <p:stCondLst>
                                    <p:cond delay="0"/>
                                  </p:stCondLst>
                                  <p:iterate type="el">
                                    <p:tmAbs val="0"/>
                                  </p:iterate>
                                  <p:childTnLst>
                                    <p:set>
                                      <p:cBhvr>
                                        <p:cTn id="6" dur="indefinite" fill="hold"/>
                                        <p:tgtEl>
                                          <p:spTgt spid="242"/>
                                        </p:tgtEl>
                                        <p:attrNameLst>
                                          <p:attrName>style.visibility</p:attrName>
                                        </p:attrNameLst>
                                      </p:cBhvr>
                                      <p:to>
                                        <p:strVal val="visible"/>
                                      </p:to>
                                    </p:set>
                                    <p:anim calcmode="lin" valueType="num">
                                      <p:cBhvr>
                                        <p:cTn id="7" dur="750" fill="hold"/>
                                        <p:tgtEl>
                                          <p:spTgt spid="242"/>
                                        </p:tgtEl>
                                        <p:attrNameLst>
                                          <p:attrName>ppt_x</p:attrName>
                                        </p:attrNameLst>
                                      </p:cBhvr>
                                      <p:tavLst>
                                        <p:tav tm="0">
                                          <p:val>
                                            <p:strVal val="1+#ppt_w/2"/>
                                          </p:val>
                                        </p:tav>
                                        <p:tav tm="100000">
                                          <p:val>
                                            <p:strVal val="#ppt_x"/>
                                          </p:val>
                                        </p:tav>
                                      </p:tavLst>
                                    </p:anim>
                                    <p:anim calcmode="lin" valueType="num">
                                      <p:cBhvr>
                                        <p:cTn id="8" dur="750" fill="hold"/>
                                        <p:tgtEl>
                                          <p:spTgt spid="242"/>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2" presetClass="entr" presetSubtype="2" fill="hold" grpId="2" nodeType="afterEffect">
                                  <p:stCondLst>
                                    <p:cond delay="0"/>
                                  </p:stCondLst>
                                  <p:iterate type="el">
                                    <p:tmAbs val="0"/>
                                  </p:iterate>
                                  <p:childTnLst>
                                    <p:set>
                                      <p:cBhvr>
                                        <p:cTn id="11" dur="indefinite" fill="hold"/>
                                        <p:tgtEl>
                                          <p:spTgt spid="235"/>
                                        </p:tgtEl>
                                        <p:attrNameLst>
                                          <p:attrName>style.visibility</p:attrName>
                                        </p:attrNameLst>
                                      </p:cBhvr>
                                      <p:to>
                                        <p:strVal val="visible"/>
                                      </p:to>
                                    </p:set>
                                    <p:animEffect transition="in" filter="wipe(right)">
                                      <p:cBhvr>
                                        <p:cTn id="12"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242" grpId="1" animBg="1" advAuto="0"/>
      <p:bldP spid="235" grpId="2"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矩形"/>
          <p:cNvSpPr/>
          <p:nvPr/>
        </p:nvSpPr>
        <p:spPr>
          <a:xfrm>
            <a:off x="8346364" y="4552889"/>
            <a:ext cx="4658441" cy="1615907"/>
          </a:xfrm>
          <a:prstGeom prst="rect">
            <a:avLst/>
          </a:prstGeom>
          <a:solidFill>
            <a:schemeClr val="accent1">
              <a:alpha val="80000"/>
            </a:schemeClr>
          </a:solidFill>
          <a:ln w="12700">
            <a:miter lim="400000"/>
          </a:ln>
        </p:spPr>
        <p:txBody>
          <a:bodyPr lIns="48765" tIns="48765" rIns="48765" bIns="48765" anchor="ctr"/>
          <a:lstStyle/>
          <a:p>
            <a:pPr algn="ctr">
              <a:defRPr>
                <a:solidFill>
                  <a:srgbClr val="FFFFFF"/>
                </a:solidFill>
              </a:defRPr>
            </a:pPr>
          </a:p>
        </p:txBody>
      </p:sp>
      <p:sp>
        <p:nvSpPr>
          <p:cNvPr id="246" name="矩形"/>
          <p:cNvSpPr/>
          <p:nvPr/>
        </p:nvSpPr>
        <p:spPr>
          <a:xfrm>
            <a:off x="-368554" y="4473125"/>
            <a:ext cx="8346365" cy="1615907"/>
          </a:xfrm>
          <a:prstGeom prst="rect">
            <a:avLst/>
          </a:prstGeom>
          <a:solidFill>
            <a:srgbClr val="FFFFFF">
              <a:alpha val="70000"/>
            </a:srgbClr>
          </a:solidFill>
          <a:ln w="12700">
            <a:miter lim="400000"/>
          </a:ln>
        </p:spPr>
        <p:txBody>
          <a:bodyPr lIns="48765" tIns="48765" rIns="48765" bIns="48765" anchor="ctr"/>
          <a:lstStyle/>
          <a:p>
            <a:pPr algn="ctr">
              <a:defRPr>
                <a:solidFill>
                  <a:srgbClr val="FFFFFF"/>
                </a:solidFill>
              </a:defRPr>
            </a:pPr>
          </a:p>
        </p:txBody>
      </p:sp>
      <p:sp>
        <p:nvSpPr>
          <p:cNvPr id="247" name="THANKS"/>
          <p:cNvSpPr txBox="1"/>
          <p:nvPr/>
        </p:nvSpPr>
        <p:spPr>
          <a:xfrm>
            <a:off x="8828171" y="4791373"/>
            <a:ext cx="4257504" cy="1138931"/>
          </a:xfrm>
          <a:prstGeom prst="rect">
            <a:avLst/>
          </a:prstGeom>
          <a:ln w="12700">
            <a:miter lim="400000"/>
          </a:ln>
        </p:spPr>
        <p:txBody>
          <a:bodyPr lIns="48765" tIns="48765" rIns="48765" bIns="48765">
            <a:spAutoFit/>
          </a:bodyPr>
          <a:lstStyle>
            <a:lvl1pPr>
              <a:defRPr sz="6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THANKS</a:t>
            </a:r>
          </a:p>
        </p:txBody>
      </p:sp>
      <p:sp>
        <p:nvSpPr>
          <p:cNvPr id="248" name="FOR YOUR WATCHING"/>
          <p:cNvSpPr txBox="1"/>
          <p:nvPr/>
        </p:nvSpPr>
        <p:spPr>
          <a:xfrm>
            <a:off x="9031785" y="5686769"/>
            <a:ext cx="4257504" cy="465831"/>
          </a:xfrm>
          <a:prstGeom prst="rect">
            <a:avLst/>
          </a:prstGeom>
          <a:ln w="12700">
            <a:miter lim="400000"/>
          </a:ln>
        </p:spPr>
        <p:txBody>
          <a:bodyPr lIns="48765" tIns="48765" rIns="48765" bIns="48765">
            <a:spAutoFit/>
          </a:bodyPr>
          <a:lstStyle>
            <a:lvl1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FOR YOUR WATCHING</a:t>
            </a:r>
          </a:p>
        </p:txBody>
      </p:sp>
      <p:sp>
        <p:nvSpPr>
          <p:cNvPr id="249" name="tuhui2003@163.com…"/>
          <p:cNvSpPr txBox="1"/>
          <p:nvPr/>
        </p:nvSpPr>
        <p:spPr>
          <a:xfrm>
            <a:off x="1498157" y="5109621"/>
            <a:ext cx="6537891" cy="1138931"/>
          </a:xfrm>
          <a:prstGeom prst="rect">
            <a:avLst/>
          </a:prstGeom>
          <a:ln w="12700">
            <a:miter lim="400000"/>
          </a:ln>
        </p:spPr>
        <p:txBody>
          <a:bodyPr lIns="48765" tIns="48765" rIns="48765" bIns="48765">
            <a:spAutoFit/>
          </a:bodyPr>
          <a:lstStyle/>
          <a:p>
            <a:pPr algn="r">
              <a:defRPr sz="2200" u="sng">
                <a:solidFill>
                  <a:srgbClr val="0000FF"/>
                </a:solidFill>
                <a:uFill>
                  <a:solidFill>
                    <a:srgbClr val="0000FF"/>
                  </a:solidFill>
                </a:u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t>tuhui2003@163.com</a:t>
            </a:r>
            <a:endParaRPr>
              <a:solidFill>
                <a:srgbClr val="0563C1"/>
              </a:solidFill>
              <a:uFill>
                <a:solidFill>
                  <a:srgbClr val="0563C1"/>
                </a:solidFill>
              </a:uFill>
            </a:endParaRPr>
          </a:p>
          <a:p>
            <a:pPr algn="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15606622077</a:t>
            </a:r>
          </a:p>
          <a:p>
            <a:pPr algn="r">
              <a:defRPr sz="2200">
                <a:latin typeface="微软雅黑" panose="020B0503020204020204" charset="-122"/>
                <a:ea typeface="微软雅黑" panose="020B0503020204020204" charset="-122"/>
                <a:cs typeface="微软雅黑" panose="020B0503020204020204" charset="-122"/>
                <a:sym typeface="微软雅黑" panose="020B0503020204020204" charset="-122"/>
              </a:defRPr>
            </a:pPr>
            <a:r>
              <a:t>三条鱼365</a:t>
            </a:r>
          </a:p>
        </p:txBody>
      </p:sp>
    </p:spTree>
  </p:cSld>
  <p:clrMapOvr>
    <a:masterClrMapping/>
  </p:clrMapOvr>
  <mc:AlternateContent xmlns:mc="http://schemas.openxmlformats.org/markup-compatibility/2006">
    <mc:Choice xmlns:p14="http://schemas.microsoft.com/office/powerpoint/2010/main" Requires="p14">
      <p:transition spd="slow" p14:dur="1200">
        <p:wipe dir="d"/>
      </p:transition>
    </mc:Choice>
    <mc:Fallback>
      <p:transition spd="slow">
        <p:wipe dir="d"/>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1" nodeType="afterEffect">
                                  <p:stCondLst>
                                    <p:cond delay="0"/>
                                  </p:stCondLst>
                                  <p:iterate type="el">
                                    <p:tmAbs val="0"/>
                                  </p:iterate>
                                  <p:childTnLst>
                                    <p:set>
                                      <p:cBhvr>
                                        <p:cTn id="6" dur="indefinite" fill="hold"/>
                                        <p:tgtEl>
                                          <p:spTgt spid="245"/>
                                        </p:tgtEl>
                                        <p:attrNameLst>
                                          <p:attrName>style.visibility</p:attrName>
                                        </p:attrNameLst>
                                      </p:cBhvr>
                                      <p:to>
                                        <p:strVal val="visible"/>
                                      </p:to>
                                    </p:set>
                                    <p:animEffect transition="in" filter="wipe(right)">
                                      <p:cBhvr>
                                        <p:cTn id="7" dur="1000"/>
                                        <p:tgtEl>
                                          <p:spTgt spid="245"/>
                                        </p:tgtEl>
                                      </p:cBhvr>
                                    </p:animEffect>
                                  </p:childTnLst>
                                </p:cTn>
                              </p:par>
                            </p:childTnLst>
                          </p:cTn>
                        </p:par>
                        <p:par>
                          <p:cTn id="8" fill="hold">
                            <p:stCondLst>
                              <p:cond delay="1000"/>
                            </p:stCondLst>
                            <p:childTnLst>
                              <p:par>
                                <p:cTn id="9" presetID="22" presetClass="entr" presetSubtype="8" fill="hold" grpId="2" nodeType="afterEffect">
                                  <p:stCondLst>
                                    <p:cond delay="0"/>
                                  </p:stCondLst>
                                  <p:iterate type="el">
                                    <p:tmAbs val="0"/>
                                  </p:iterate>
                                  <p:childTnLst>
                                    <p:set>
                                      <p:cBhvr>
                                        <p:cTn id="10" dur="indefinite" fill="hold"/>
                                        <p:tgtEl>
                                          <p:spTgt spid="246"/>
                                        </p:tgtEl>
                                        <p:attrNameLst>
                                          <p:attrName>style.visibility</p:attrName>
                                        </p:attrNameLst>
                                      </p:cBhvr>
                                      <p:to>
                                        <p:strVal val="visible"/>
                                      </p:to>
                                    </p:set>
                                    <p:animEffect transition="in" filter="wipe(left)">
                                      <p:cBhvr>
                                        <p:cTn id="11" dur="1000"/>
                                        <p:tgtEl>
                                          <p:spTgt spid="246"/>
                                        </p:tgtEl>
                                      </p:cBhvr>
                                    </p:animEffect>
                                  </p:childTnLst>
                                </p:cTn>
                              </p:par>
                            </p:childTnLst>
                          </p:cTn>
                        </p:par>
                        <p:par>
                          <p:cTn id="12" fill="hold">
                            <p:stCondLst>
                              <p:cond delay="2000"/>
                            </p:stCondLst>
                            <p:childTnLst>
                              <p:par>
                                <p:cTn id="13" presetID="9" presetClass="entr" presetSubtype="0" fill="hold" grpId="3" nodeType="afterEffect">
                                  <p:stCondLst>
                                    <p:cond delay="0"/>
                                  </p:stCondLst>
                                  <p:iterate type="el">
                                    <p:tmAbs val="0"/>
                                  </p:iterate>
                                  <p:childTnLst>
                                    <p:set>
                                      <p:cBhvr>
                                        <p:cTn id="14" dur="indefinite" fill="hold"/>
                                        <p:tgtEl>
                                          <p:spTgt spid="247"/>
                                        </p:tgtEl>
                                        <p:attrNameLst>
                                          <p:attrName>style.visibility</p:attrName>
                                        </p:attrNameLst>
                                      </p:cBhvr>
                                      <p:to>
                                        <p:strVal val="visible"/>
                                      </p:to>
                                    </p:set>
                                    <p:animEffect transition="in" filter="dissolve">
                                      <p:cBhvr>
                                        <p:cTn id="15" dur="1000"/>
                                        <p:tgtEl>
                                          <p:spTgt spid="247"/>
                                        </p:tgtEl>
                                      </p:cBhvr>
                                    </p:animEffect>
                                  </p:childTnLst>
                                </p:cTn>
                              </p:par>
                            </p:childTnLst>
                          </p:cTn>
                        </p:par>
                        <p:par>
                          <p:cTn id="16" fill="hold">
                            <p:stCondLst>
                              <p:cond delay="3000"/>
                            </p:stCondLst>
                            <p:childTnLst>
                              <p:par>
                                <p:cTn id="17" presetID="9" presetClass="entr" presetSubtype="0" fill="hold" grpId="4" nodeType="afterEffect">
                                  <p:stCondLst>
                                    <p:cond delay="0"/>
                                  </p:stCondLst>
                                  <p:iterate type="el">
                                    <p:tmAbs val="0"/>
                                  </p:iterate>
                                  <p:childTnLst>
                                    <p:set>
                                      <p:cBhvr>
                                        <p:cTn id="18" dur="indefinite" fill="hold"/>
                                        <p:tgtEl>
                                          <p:spTgt spid="248"/>
                                        </p:tgtEl>
                                        <p:attrNameLst>
                                          <p:attrName>style.visibility</p:attrName>
                                        </p:attrNameLst>
                                      </p:cBhvr>
                                      <p:to>
                                        <p:strVal val="visible"/>
                                      </p:to>
                                    </p:set>
                                    <p:animEffect transition="in" filter="dissolve">
                                      <p:cBhvr>
                                        <p:cTn id="19" dur="1000"/>
                                        <p:tgtEl>
                                          <p:spTgt spid="248"/>
                                        </p:tgtEl>
                                      </p:cBhvr>
                                    </p:animEffect>
                                  </p:childTnLst>
                                </p:cTn>
                              </p:par>
                            </p:childTnLst>
                          </p:cTn>
                        </p:par>
                        <p:par>
                          <p:cTn id="20" fill="hold">
                            <p:stCondLst>
                              <p:cond delay="4000"/>
                            </p:stCondLst>
                            <p:childTnLst>
                              <p:par>
                                <p:cTn id="21" presetID="2" presetClass="entr" presetSubtype="8" fill="hold" grpId="5" nodeType="afterEffect">
                                  <p:stCondLst>
                                    <p:cond delay="0"/>
                                  </p:stCondLst>
                                  <p:iterate type="el">
                                    <p:tmAbs val="0"/>
                                  </p:iterate>
                                  <p:childTnLst>
                                    <p:set>
                                      <p:cBhvr>
                                        <p:cTn id="22" dur="indefinite" fill="hold"/>
                                        <p:tgtEl>
                                          <p:spTgt spid="249"/>
                                        </p:tgtEl>
                                        <p:attrNameLst>
                                          <p:attrName>style.visibility</p:attrName>
                                        </p:attrNameLst>
                                      </p:cBhvr>
                                      <p:to>
                                        <p:strVal val="visible"/>
                                      </p:to>
                                    </p:set>
                                    <p:anim calcmode="lin" valueType="num">
                                      <p:cBhvr>
                                        <p:cTn id="23" dur="1000" fill="hold"/>
                                        <p:tgtEl>
                                          <p:spTgt spid="249"/>
                                        </p:tgtEl>
                                        <p:attrNameLst>
                                          <p:attrName>ppt_x</p:attrName>
                                        </p:attrNameLst>
                                      </p:cBhvr>
                                      <p:tavLst>
                                        <p:tav tm="0">
                                          <p:val>
                                            <p:strVal val="0-#ppt_w/2"/>
                                          </p:val>
                                        </p:tav>
                                        <p:tav tm="100000">
                                          <p:val>
                                            <p:strVal val="#ppt_x"/>
                                          </p:val>
                                        </p:tav>
                                      </p:tavLst>
                                    </p:anim>
                                    <p:anim calcmode="lin" valueType="num">
                                      <p:cBhvr>
                                        <p:cTn id="24" dur="1000" fill="hold"/>
                                        <p:tgtEl>
                                          <p:spTgt spid="2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spid="249" grpId="5" animBg="1" advAuto="0"/>
      <p:bldP spid="247" grpId="3" animBg="1" advAuto="0"/>
      <p:bldP spid="246" grpId="2" animBg="1" advAuto="0"/>
      <p:bldP spid="245" grpId="1" animBg="1" advAuto="0"/>
      <p:bldP spid="248" grpId="4" animBg="1" advAuto="0"/>
    </p:bldLst>
  </p:timing>
</p:sld>
</file>

<file path=ppt/theme/theme1.xml><?xml version="1.0" encoding="utf-8"?>
<a:theme xmlns:a="http://schemas.openxmlformats.org/drawingml/2006/main" name="Office 主题">
  <a:themeElements>
    <a:clrScheme name="Office 主题">
      <a:dk1>
        <a:srgbClr val="000000"/>
      </a:dk1>
      <a:lt1>
        <a:srgbClr val="F8F8F8"/>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Calibri"/>
        <a:ea typeface="Calibri"/>
        <a:cs typeface="Calibri"/>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8F8F8"/>
        </a:solidFill>
        <a:ln w="25400" cap="flat">
          <a:solidFill>
            <a:schemeClr val="accent1"/>
          </a:solidFill>
          <a:prstDash val="solid"/>
          <a:round/>
        </a:ln>
      </a:spPr>
      <a:bodyPr rot="0" spcFirstLastPara="1" vertOverflow="overflow" horzOverflow="overflow" vert="horz" wrap="square" lIns="48765" tIns="48765" rIns="48765" bIns="48765" numCol="1" spcCol="38100" rtlCol="0" anchor="ctr" upright="0">
        <a:spAutoFit/>
      </a:bodyPr>
      <a:lstStyle>
        <a:def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8765" tIns="48765" rIns="48765" bIns="48765" numCol="1" spcCol="38100" rtlCol="0" anchor="t" upright="0">
        <a:spAutoFit/>
      </a:bodyPr>
      <a:lstStyle>
        <a:def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Calibri"/>
        <a:ea typeface="Calibri"/>
        <a:cs typeface="Calibri"/>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8F8F8"/>
        </a:solidFill>
        <a:ln w="25400" cap="flat">
          <a:solidFill>
            <a:schemeClr val="accent1"/>
          </a:solidFill>
          <a:prstDash val="solid"/>
          <a:round/>
        </a:ln>
      </a:spPr>
      <a:bodyPr rot="0" spcFirstLastPara="1" vertOverflow="overflow" horzOverflow="overflow" vert="horz" wrap="square" lIns="48765" tIns="48765" rIns="48765" bIns="48765" numCol="1" spcCol="38100" rtlCol="0" anchor="ctr" upright="0">
        <a:spAutoFit/>
      </a:bodyPr>
      <a:lstStyle>
        <a:def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8765" tIns="48765" rIns="48765" bIns="48765" numCol="1" spcCol="38100" rtlCol="0" anchor="t" upright="0">
        <a:spAutoFit/>
      </a:bodyPr>
      <a:lstStyle>
        <a:defPPr marL="0" marR="0" indent="0" algn="l" defTabSz="130048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4775</Words>
  <Application>WPS 演示</Application>
  <PresentationFormat/>
  <Paragraphs>178</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宋体</vt:lpstr>
      <vt:lpstr>Wingdings</vt:lpstr>
      <vt:lpstr>Calibri</vt:lpstr>
      <vt:lpstr>Calibri Light</vt:lpstr>
      <vt:lpstr>Arial</vt:lpstr>
      <vt:lpstr>微软雅黑</vt:lpstr>
      <vt:lpstr>Arial Unicode MS</vt:lpstr>
      <vt:lpstr>Times</vt:lpstr>
      <vt:lpstr>Times New Roman</vt:lpstr>
      <vt:lpstr>Verdana</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2</cp:revision>
  <dcterms:created xsi:type="dcterms:W3CDTF">2020-12-30T08:15:50Z</dcterms:created>
  <dcterms:modified xsi:type="dcterms:W3CDTF">2020-12-30T08:16:25Z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2052-11.1.0.9929</vt:lpwstr>
  </property>
</Properties>
</file>